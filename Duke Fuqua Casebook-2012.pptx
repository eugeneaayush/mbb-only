
<file path=[Content_Types].xml><?xml version="1.0" encoding="utf-8"?>
<Types xmlns="http://schemas.openxmlformats.org/package/2006/content-types">
  <Default Extension="png" ContentType="image/png"/>
  <Default Extension="jpeg" ContentType="image/jpeg"/>
  <Default Extension="emf" ContentType="image/x-emf"/>
  <Default Extension="xls" ContentType="application/vnd.ms-excel"/>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177"/>
  </p:notesMasterIdLst>
  <p:handoutMasterIdLst>
    <p:handoutMasterId r:id="rId178"/>
  </p:handoutMasterIdLst>
  <p:sldIdLst>
    <p:sldId id="803" r:id="rId2"/>
    <p:sldId id="801" r:id="rId3"/>
    <p:sldId id="802" r:id="rId4"/>
    <p:sldId id="811" r:id="rId5"/>
    <p:sldId id="820" r:id="rId6"/>
    <p:sldId id="821" r:id="rId7"/>
    <p:sldId id="822" r:id="rId8"/>
    <p:sldId id="823" r:id="rId9"/>
    <p:sldId id="824" r:id="rId10"/>
    <p:sldId id="825" r:id="rId11"/>
    <p:sldId id="826" r:id="rId12"/>
    <p:sldId id="827" r:id="rId13"/>
    <p:sldId id="828" r:id="rId14"/>
    <p:sldId id="829" r:id="rId15"/>
    <p:sldId id="347" r:id="rId16"/>
    <p:sldId id="830" r:id="rId17"/>
    <p:sldId id="831" r:id="rId18"/>
    <p:sldId id="832" r:id="rId19"/>
    <p:sldId id="833" r:id="rId20"/>
    <p:sldId id="834" r:id="rId21"/>
    <p:sldId id="835" r:id="rId22"/>
    <p:sldId id="836" r:id="rId23"/>
    <p:sldId id="837" r:id="rId24"/>
    <p:sldId id="838" r:id="rId25"/>
    <p:sldId id="839" r:id="rId26"/>
    <p:sldId id="840" r:id="rId27"/>
    <p:sldId id="841" r:id="rId28"/>
    <p:sldId id="842" r:id="rId29"/>
    <p:sldId id="901" r:id="rId30"/>
    <p:sldId id="759" r:id="rId31"/>
    <p:sldId id="760" r:id="rId32"/>
    <p:sldId id="761" r:id="rId33"/>
    <p:sldId id="902" r:id="rId34"/>
    <p:sldId id="339" r:id="rId35"/>
    <p:sldId id="843" r:id="rId36"/>
    <p:sldId id="844" r:id="rId37"/>
    <p:sldId id="845" r:id="rId38"/>
    <p:sldId id="846" r:id="rId39"/>
    <p:sldId id="847" r:id="rId40"/>
    <p:sldId id="848" r:id="rId41"/>
    <p:sldId id="918" r:id="rId42"/>
    <p:sldId id="762" r:id="rId43"/>
    <p:sldId id="763" r:id="rId44"/>
    <p:sldId id="764" r:id="rId45"/>
    <p:sldId id="903" r:id="rId46"/>
    <p:sldId id="322" r:id="rId47"/>
    <p:sldId id="732" r:id="rId48"/>
    <p:sldId id="734" r:id="rId49"/>
    <p:sldId id="735" r:id="rId50"/>
    <p:sldId id="736" r:id="rId51"/>
    <p:sldId id="888" r:id="rId52"/>
    <p:sldId id="904" r:id="rId53"/>
    <p:sldId id="849" r:id="rId54"/>
    <p:sldId id="898" r:id="rId55"/>
    <p:sldId id="850" r:id="rId56"/>
    <p:sldId id="851" r:id="rId57"/>
    <p:sldId id="852" r:id="rId58"/>
    <p:sldId id="899" r:id="rId59"/>
    <p:sldId id="853" r:id="rId60"/>
    <p:sldId id="889" r:id="rId61"/>
    <p:sldId id="905" r:id="rId62"/>
    <p:sldId id="689" r:id="rId63"/>
    <p:sldId id="690" r:id="rId64"/>
    <p:sldId id="691" r:id="rId65"/>
    <p:sldId id="692" r:id="rId66"/>
    <p:sldId id="693" r:id="rId67"/>
    <p:sldId id="694" r:id="rId68"/>
    <p:sldId id="695" r:id="rId69"/>
    <p:sldId id="906" r:id="rId70"/>
    <p:sldId id="857" r:id="rId71"/>
    <p:sldId id="858" r:id="rId72"/>
    <p:sldId id="859" r:id="rId73"/>
    <p:sldId id="860" r:id="rId74"/>
    <p:sldId id="861" r:id="rId75"/>
    <p:sldId id="862" r:id="rId76"/>
    <p:sldId id="907" r:id="rId77"/>
    <p:sldId id="755" r:id="rId78"/>
    <p:sldId id="756" r:id="rId79"/>
    <p:sldId id="757" r:id="rId80"/>
    <p:sldId id="758" r:id="rId81"/>
    <p:sldId id="908" r:id="rId82"/>
    <p:sldId id="863" r:id="rId83"/>
    <p:sldId id="864" r:id="rId84"/>
    <p:sldId id="865" r:id="rId85"/>
    <p:sldId id="866" r:id="rId86"/>
    <p:sldId id="867" r:id="rId87"/>
    <p:sldId id="868" r:id="rId88"/>
    <p:sldId id="869" r:id="rId89"/>
    <p:sldId id="890" r:id="rId90"/>
    <p:sldId id="909" r:id="rId91"/>
    <p:sldId id="394" r:id="rId92"/>
    <p:sldId id="683" r:id="rId93"/>
    <p:sldId id="684" r:id="rId94"/>
    <p:sldId id="685" r:id="rId95"/>
    <p:sldId id="686" r:id="rId96"/>
    <p:sldId id="687" r:id="rId97"/>
    <p:sldId id="688" r:id="rId98"/>
    <p:sldId id="891" r:id="rId99"/>
    <p:sldId id="910" r:id="rId100"/>
    <p:sldId id="647" r:id="rId101"/>
    <p:sldId id="677" r:id="rId102"/>
    <p:sldId id="678" r:id="rId103"/>
    <p:sldId id="679" r:id="rId104"/>
    <p:sldId id="680" r:id="rId105"/>
    <p:sldId id="681" r:id="rId106"/>
    <p:sldId id="682" r:id="rId107"/>
    <p:sldId id="911" r:id="rId108"/>
    <p:sldId id="648" r:id="rId109"/>
    <p:sldId id="653" r:id="rId110"/>
    <p:sldId id="652" r:id="rId111"/>
    <p:sldId id="654" r:id="rId112"/>
    <p:sldId id="650" r:id="rId113"/>
    <p:sldId id="912" r:id="rId114"/>
    <p:sldId id="926" r:id="rId115"/>
    <p:sldId id="927" r:id="rId116"/>
    <p:sldId id="929" r:id="rId117"/>
    <p:sldId id="945" r:id="rId118"/>
    <p:sldId id="930" r:id="rId119"/>
    <p:sldId id="931" r:id="rId120"/>
    <p:sldId id="925" r:id="rId121"/>
    <p:sldId id="717" r:id="rId122"/>
    <p:sldId id="718" r:id="rId123"/>
    <p:sldId id="719" r:id="rId124"/>
    <p:sldId id="720" r:id="rId125"/>
    <p:sldId id="900" r:id="rId126"/>
    <p:sldId id="721" r:id="rId127"/>
    <p:sldId id="722" r:id="rId128"/>
    <p:sldId id="723" r:id="rId129"/>
    <p:sldId id="913" r:id="rId130"/>
    <p:sldId id="870" r:id="rId131"/>
    <p:sldId id="871" r:id="rId132"/>
    <p:sldId id="872" r:id="rId133"/>
    <p:sldId id="873" r:id="rId134"/>
    <p:sldId id="874" r:id="rId135"/>
    <p:sldId id="932" r:id="rId136"/>
    <p:sldId id="933" r:id="rId137"/>
    <p:sldId id="877" r:id="rId138"/>
    <p:sldId id="914" r:id="rId139"/>
    <p:sldId id="878" r:id="rId140"/>
    <p:sldId id="879" r:id="rId141"/>
    <p:sldId id="880" r:id="rId142"/>
    <p:sldId id="881" r:id="rId143"/>
    <p:sldId id="882" r:id="rId144"/>
    <p:sldId id="883" r:id="rId145"/>
    <p:sldId id="884" r:id="rId146"/>
    <p:sldId id="885" r:id="rId147"/>
    <p:sldId id="886" r:id="rId148"/>
    <p:sldId id="887" r:id="rId149"/>
    <p:sldId id="915" r:id="rId150"/>
    <p:sldId id="770" r:id="rId151"/>
    <p:sldId id="771" r:id="rId152"/>
    <p:sldId id="772" r:id="rId153"/>
    <p:sldId id="773" r:id="rId154"/>
    <p:sldId id="774" r:id="rId155"/>
    <p:sldId id="775" r:id="rId156"/>
    <p:sldId id="776" r:id="rId157"/>
    <p:sldId id="777" r:id="rId158"/>
    <p:sldId id="778" r:id="rId159"/>
    <p:sldId id="779" r:id="rId160"/>
    <p:sldId id="780" r:id="rId161"/>
    <p:sldId id="919" r:id="rId162"/>
    <p:sldId id="934" r:id="rId163"/>
    <p:sldId id="935" r:id="rId164"/>
    <p:sldId id="936" r:id="rId165"/>
    <p:sldId id="937" r:id="rId166"/>
    <p:sldId id="938" r:id="rId167"/>
    <p:sldId id="939" r:id="rId168"/>
    <p:sldId id="916" r:id="rId169"/>
    <p:sldId id="704" r:id="rId170"/>
    <p:sldId id="940" r:id="rId171"/>
    <p:sldId id="941" r:id="rId172"/>
    <p:sldId id="942" r:id="rId173"/>
    <p:sldId id="943" r:id="rId174"/>
    <p:sldId id="944" r:id="rId175"/>
    <p:sldId id="917" r:id="rId176"/>
  </p:sldIdLst>
  <p:sldSz cx="9144000" cy="6858000" type="letter"/>
  <p:notesSz cx="7010400" cy="92964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113C9B"/>
    <a:srgbClr val="999999"/>
    <a:srgbClr val="B8C0DB"/>
    <a:srgbClr val="3A4AA0"/>
    <a:srgbClr val="6979B9"/>
    <a:srgbClr val="FFFF00"/>
    <a:srgbClr val="778B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8999" autoAdjust="0"/>
  </p:normalViewPr>
  <p:slideViewPr>
    <p:cSldViewPr snapToGrid="0" snapToObjects="1">
      <p:cViewPr varScale="1">
        <p:scale>
          <a:sx n="91" d="100"/>
          <a:sy n="91" d="100"/>
        </p:scale>
        <p:origin x="-930"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5224"/>
    </p:cViewPr>
  </p:sorterViewPr>
  <p:notesViewPr>
    <p:cSldViewPr>
      <p:cViewPr varScale="1">
        <p:scale>
          <a:sx n="57" d="100"/>
          <a:sy n="57" d="100"/>
        </p:scale>
        <p:origin x="-2520" y="-78"/>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Francisco%20Arruda\Documents\Volunteers%20Abroad%20-%201.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Macintosh%20HD:Users:franciscoarruda:Documents:Euro%20Logistic%20-%20Numbers.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0"/>
          <c:order val="0"/>
          <c:tx>
            <c:strRef>
              <c:f>Sheet1!$B$1</c:f>
              <c:strCache>
                <c:ptCount val="1"/>
                <c:pt idx="0">
                  <c:v>Client</c:v>
                </c:pt>
              </c:strCache>
            </c:strRef>
          </c:tx>
          <c:spPr>
            <a:solidFill>
              <a:schemeClr val="accent1">
                <a:lumMod val="75000"/>
              </a:schemeClr>
            </a:solidFill>
          </c:spPr>
          <c:invertIfNegative val="0"/>
          <c:dLbls>
            <c:txPr>
              <a:bodyPr/>
              <a:lstStyle/>
              <a:p>
                <a:pPr>
                  <a:defRPr sz="900"/>
                </a:pPr>
                <a:endParaRPr lang="en-US"/>
              </a:p>
            </c:txPr>
            <c:showLegendKey val="0"/>
            <c:showVal val="1"/>
            <c:showCatName val="0"/>
            <c:showSerName val="0"/>
            <c:showPercent val="0"/>
            <c:showBubbleSize val="0"/>
            <c:showLeaderLines val="0"/>
          </c:dLbls>
          <c:cat>
            <c:strRef>
              <c:f>Sheet1!$A$2:$A$6</c:f>
              <c:strCache>
                <c:ptCount val="5"/>
                <c:pt idx="0">
                  <c:v>Labor</c:v>
                </c:pt>
                <c:pt idx="1">
                  <c:v>IT Hardware and Software</c:v>
                </c:pt>
                <c:pt idx="2">
                  <c:v>Legal</c:v>
                </c:pt>
                <c:pt idx="3">
                  <c:v>Real Estate</c:v>
                </c:pt>
                <c:pt idx="4">
                  <c:v>Other</c:v>
                </c:pt>
              </c:strCache>
            </c:strRef>
          </c:cat>
          <c:val>
            <c:numRef>
              <c:f>Sheet1!$B$2:$B$6</c:f>
              <c:numCache>
                <c:formatCode>0%</c:formatCode>
                <c:ptCount val="5"/>
                <c:pt idx="0">
                  <c:v>0.4</c:v>
                </c:pt>
                <c:pt idx="1">
                  <c:v>0.27</c:v>
                </c:pt>
                <c:pt idx="2">
                  <c:v>0.08</c:v>
                </c:pt>
                <c:pt idx="3">
                  <c:v>0.03</c:v>
                </c:pt>
                <c:pt idx="4">
                  <c:v>0.22</c:v>
                </c:pt>
              </c:numCache>
            </c:numRef>
          </c:val>
        </c:ser>
        <c:ser>
          <c:idx val="1"/>
          <c:order val="1"/>
          <c:tx>
            <c:strRef>
              <c:f>Sheet1!$C$1</c:f>
              <c:strCache>
                <c:ptCount val="1"/>
                <c:pt idx="0">
                  <c:v>Industry Average</c:v>
                </c:pt>
              </c:strCache>
            </c:strRef>
          </c:tx>
          <c:spPr>
            <a:solidFill>
              <a:schemeClr val="tx1"/>
            </a:solidFill>
          </c:spPr>
          <c:invertIfNegative val="0"/>
          <c:dLbls>
            <c:txPr>
              <a:bodyPr/>
              <a:lstStyle/>
              <a:p>
                <a:pPr>
                  <a:defRPr sz="900"/>
                </a:pPr>
                <a:endParaRPr lang="en-US"/>
              </a:p>
            </c:txPr>
            <c:showLegendKey val="0"/>
            <c:showVal val="1"/>
            <c:showCatName val="0"/>
            <c:showSerName val="0"/>
            <c:showPercent val="0"/>
            <c:showBubbleSize val="0"/>
            <c:showLeaderLines val="0"/>
          </c:dLbls>
          <c:cat>
            <c:strRef>
              <c:f>Sheet1!$A$2:$A$6</c:f>
              <c:strCache>
                <c:ptCount val="5"/>
                <c:pt idx="0">
                  <c:v>Labor</c:v>
                </c:pt>
                <c:pt idx="1">
                  <c:v>IT Hardware and Software</c:v>
                </c:pt>
                <c:pt idx="2">
                  <c:v>Legal</c:v>
                </c:pt>
                <c:pt idx="3">
                  <c:v>Real Estate</c:v>
                </c:pt>
                <c:pt idx="4">
                  <c:v>Other</c:v>
                </c:pt>
              </c:strCache>
            </c:strRef>
          </c:cat>
          <c:val>
            <c:numRef>
              <c:f>Sheet1!$C$2:$C$6</c:f>
              <c:numCache>
                <c:formatCode>0%</c:formatCode>
                <c:ptCount val="5"/>
                <c:pt idx="0">
                  <c:v>0.42</c:v>
                </c:pt>
                <c:pt idx="1">
                  <c:v>0.16</c:v>
                </c:pt>
                <c:pt idx="2">
                  <c:v>0.08</c:v>
                </c:pt>
                <c:pt idx="3">
                  <c:v>0.04</c:v>
                </c:pt>
                <c:pt idx="4">
                  <c:v>0.3</c:v>
                </c:pt>
              </c:numCache>
            </c:numRef>
          </c:val>
        </c:ser>
        <c:dLbls>
          <c:showLegendKey val="0"/>
          <c:showVal val="0"/>
          <c:showCatName val="0"/>
          <c:showSerName val="0"/>
          <c:showPercent val="0"/>
          <c:showBubbleSize val="0"/>
        </c:dLbls>
        <c:gapWidth val="150"/>
        <c:axId val="95504256"/>
        <c:axId val="95505792"/>
      </c:barChart>
      <c:catAx>
        <c:axId val="95504256"/>
        <c:scaling>
          <c:orientation val="minMax"/>
        </c:scaling>
        <c:delete val="0"/>
        <c:axPos val="b"/>
        <c:majorTickMark val="out"/>
        <c:minorTickMark val="none"/>
        <c:tickLblPos val="nextTo"/>
        <c:txPr>
          <a:bodyPr/>
          <a:lstStyle/>
          <a:p>
            <a:pPr>
              <a:defRPr sz="1400"/>
            </a:pPr>
            <a:endParaRPr lang="en-US"/>
          </a:p>
        </c:txPr>
        <c:crossAx val="95505792"/>
        <c:crosses val="autoZero"/>
        <c:auto val="1"/>
        <c:lblAlgn val="ctr"/>
        <c:lblOffset val="100"/>
        <c:noMultiLvlLbl val="0"/>
      </c:catAx>
      <c:valAx>
        <c:axId val="95505792"/>
        <c:scaling>
          <c:orientation val="minMax"/>
          <c:max val="0.5"/>
        </c:scaling>
        <c:delete val="0"/>
        <c:axPos val="l"/>
        <c:majorGridlines/>
        <c:numFmt formatCode="0%" sourceLinked="1"/>
        <c:majorTickMark val="out"/>
        <c:minorTickMark val="none"/>
        <c:tickLblPos val="nextTo"/>
        <c:txPr>
          <a:bodyPr/>
          <a:lstStyle/>
          <a:p>
            <a:pPr>
              <a:defRPr sz="1400"/>
            </a:pPr>
            <a:endParaRPr lang="en-US"/>
          </a:p>
        </c:txPr>
        <c:crossAx val="95504256"/>
        <c:crosses val="autoZero"/>
        <c:crossBetween val="between"/>
        <c:majorUnit val="0.1"/>
      </c:valAx>
    </c:plotArea>
    <c:legend>
      <c:legendPos val="r"/>
      <c:layout/>
      <c:overlay val="0"/>
      <c:txPr>
        <a:bodyPr/>
        <a:lstStyle/>
        <a:p>
          <a:pPr>
            <a:defRPr sz="14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200" dirty="0"/>
              <a:t>Volunteers in the market (per year)</a:t>
            </a:r>
          </a:p>
        </c:rich>
      </c:tx>
      <c:overlay val="0"/>
    </c:title>
    <c:autoTitleDeleted val="0"/>
    <c:plotArea>
      <c:layout/>
      <c:scatterChart>
        <c:scatterStyle val="lineMarker"/>
        <c:varyColors val="0"/>
        <c:ser>
          <c:idx val="0"/>
          <c:order val="0"/>
          <c:tx>
            <c:strRef>
              <c:f>Sheet1!$B$22</c:f>
              <c:strCache>
                <c:ptCount val="1"/>
                <c:pt idx="0">
                  <c:v>Volunteers</c:v>
                </c:pt>
              </c:strCache>
            </c:strRef>
          </c:tx>
          <c:spPr>
            <a:ln>
              <a:solidFill>
                <a:schemeClr val="tx1"/>
              </a:solidFill>
            </a:ln>
          </c:spPr>
          <c:marker>
            <c:symbol val="none"/>
          </c:marker>
          <c:xVal>
            <c:numRef>
              <c:f>Sheet1!$A$23:$A$28</c:f>
              <c:numCache>
                <c:formatCode>General</c:formatCode>
                <c:ptCount val="6"/>
                <c:pt idx="0">
                  <c:v>2006</c:v>
                </c:pt>
                <c:pt idx="1">
                  <c:v>2007</c:v>
                </c:pt>
                <c:pt idx="2">
                  <c:v>2008</c:v>
                </c:pt>
                <c:pt idx="3">
                  <c:v>2009</c:v>
                </c:pt>
                <c:pt idx="4">
                  <c:v>2010</c:v>
                </c:pt>
                <c:pt idx="5">
                  <c:v>2011</c:v>
                </c:pt>
              </c:numCache>
            </c:numRef>
          </c:xVal>
          <c:yVal>
            <c:numRef>
              <c:f>Sheet1!$B$23:$B$28</c:f>
              <c:numCache>
                <c:formatCode>General</c:formatCode>
                <c:ptCount val="6"/>
                <c:pt idx="0">
                  <c:v>12000</c:v>
                </c:pt>
                <c:pt idx="1">
                  <c:v>13400</c:v>
                </c:pt>
                <c:pt idx="2">
                  <c:v>14500</c:v>
                </c:pt>
                <c:pt idx="3">
                  <c:v>16500</c:v>
                </c:pt>
                <c:pt idx="4">
                  <c:v>18000</c:v>
                </c:pt>
                <c:pt idx="5">
                  <c:v>20000</c:v>
                </c:pt>
              </c:numCache>
            </c:numRef>
          </c:yVal>
          <c:smooth val="0"/>
        </c:ser>
        <c:dLbls>
          <c:showLegendKey val="0"/>
          <c:showVal val="0"/>
          <c:showCatName val="0"/>
          <c:showSerName val="0"/>
          <c:showPercent val="0"/>
          <c:showBubbleSize val="0"/>
        </c:dLbls>
        <c:axId val="96703616"/>
        <c:axId val="96705536"/>
      </c:scatterChart>
      <c:valAx>
        <c:axId val="96703616"/>
        <c:scaling>
          <c:orientation val="minMax"/>
          <c:max val="2011"/>
          <c:min val="2006"/>
        </c:scaling>
        <c:delete val="0"/>
        <c:axPos val="b"/>
        <c:title>
          <c:tx>
            <c:rich>
              <a:bodyPr/>
              <a:lstStyle/>
              <a:p>
                <a:pPr>
                  <a:defRPr/>
                </a:pPr>
                <a:r>
                  <a:rPr lang="en-US" dirty="0" smtClean="0"/>
                  <a:t>Year</a:t>
                </a:r>
                <a:endParaRPr lang="en-US" dirty="0"/>
              </a:p>
            </c:rich>
          </c:tx>
          <c:overlay val="0"/>
        </c:title>
        <c:numFmt formatCode="General" sourceLinked="1"/>
        <c:majorTickMark val="out"/>
        <c:minorTickMark val="none"/>
        <c:tickLblPos val="nextTo"/>
        <c:txPr>
          <a:bodyPr/>
          <a:lstStyle/>
          <a:p>
            <a:pPr>
              <a:defRPr b="1"/>
            </a:pPr>
            <a:endParaRPr lang="en-US"/>
          </a:p>
        </c:txPr>
        <c:crossAx val="96705536"/>
        <c:crosses val="autoZero"/>
        <c:crossBetween val="midCat"/>
      </c:valAx>
      <c:valAx>
        <c:axId val="96705536"/>
        <c:scaling>
          <c:orientation val="minMax"/>
        </c:scaling>
        <c:delete val="0"/>
        <c:axPos val="l"/>
        <c:majorGridlines/>
        <c:title>
          <c:tx>
            <c:rich>
              <a:bodyPr rot="-5400000" vert="horz"/>
              <a:lstStyle/>
              <a:p>
                <a:pPr>
                  <a:defRPr/>
                </a:pPr>
                <a:r>
                  <a:rPr lang="en-US" dirty="0" smtClean="0"/>
                  <a:t># of volunteers in the Market</a:t>
                </a:r>
                <a:endParaRPr lang="en-US" dirty="0"/>
              </a:p>
            </c:rich>
          </c:tx>
          <c:layout>
            <c:manualLayout>
              <c:xMode val="edge"/>
              <c:yMode val="edge"/>
              <c:x val="3.8889207862050502E-2"/>
              <c:y val="9.2721889506530902E-2"/>
            </c:manualLayout>
          </c:layout>
          <c:overlay val="0"/>
        </c:title>
        <c:numFmt formatCode="#,##0" sourceLinked="0"/>
        <c:majorTickMark val="out"/>
        <c:minorTickMark val="none"/>
        <c:tickLblPos val="nextTo"/>
        <c:txPr>
          <a:bodyPr/>
          <a:lstStyle/>
          <a:p>
            <a:pPr>
              <a:defRPr b="1"/>
            </a:pPr>
            <a:endParaRPr lang="en-US"/>
          </a:p>
        </c:txPr>
        <c:crossAx val="96703616"/>
        <c:crosses val="autoZero"/>
        <c:crossBetween val="midCat"/>
      </c:valAx>
    </c:plotArea>
    <c:plotVisOnly val="1"/>
    <c:dispBlanksAs val="gap"/>
    <c:showDLblsOverMax val="0"/>
  </c:chart>
  <c:spPr>
    <a:ln>
      <a:solidFill>
        <a:schemeClr val="tx1"/>
      </a:solid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Germany</a:t>
            </a:r>
          </a:p>
        </c:rich>
      </c:tx>
      <c:overlay val="0"/>
    </c:title>
    <c:autoTitleDeleted val="0"/>
    <c:plotArea>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Sheet1!$B$2:$B$4</c:f>
              <c:strCache>
                <c:ptCount val="3"/>
                <c:pt idx="0">
                  <c:v>Delivery Time</c:v>
                </c:pt>
                <c:pt idx="1">
                  <c:v>Billing</c:v>
                </c:pt>
                <c:pt idx="2">
                  <c:v>Customer Service</c:v>
                </c:pt>
              </c:strCache>
            </c:strRef>
          </c:cat>
          <c:val>
            <c:numRef>
              <c:f>Sheet1!$C$2:$C$4</c:f>
              <c:numCache>
                <c:formatCode>General</c:formatCode>
                <c:ptCount val="3"/>
                <c:pt idx="0">
                  <c:v>68</c:v>
                </c:pt>
                <c:pt idx="1">
                  <c:v>80</c:v>
                </c:pt>
                <c:pt idx="2">
                  <c:v>90</c:v>
                </c:pt>
              </c:numCache>
            </c:numRef>
          </c:val>
        </c:ser>
        <c:dLbls>
          <c:showLegendKey val="0"/>
          <c:showVal val="0"/>
          <c:showCatName val="0"/>
          <c:showSerName val="0"/>
          <c:showPercent val="0"/>
          <c:showBubbleSize val="0"/>
        </c:dLbls>
        <c:gapWidth val="150"/>
        <c:axId val="95775744"/>
        <c:axId val="95806208"/>
      </c:barChart>
      <c:catAx>
        <c:axId val="95775744"/>
        <c:scaling>
          <c:orientation val="minMax"/>
        </c:scaling>
        <c:delete val="0"/>
        <c:axPos val="l"/>
        <c:majorTickMark val="out"/>
        <c:minorTickMark val="none"/>
        <c:tickLblPos val="nextTo"/>
        <c:crossAx val="95806208"/>
        <c:crosses val="autoZero"/>
        <c:auto val="1"/>
        <c:lblAlgn val="ctr"/>
        <c:lblOffset val="100"/>
        <c:noMultiLvlLbl val="0"/>
      </c:catAx>
      <c:valAx>
        <c:axId val="95806208"/>
        <c:scaling>
          <c:orientation val="minMax"/>
          <c:max val="100"/>
        </c:scaling>
        <c:delete val="0"/>
        <c:axPos val="b"/>
        <c:majorGridlines/>
        <c:numFmt formatCode="General" sourceLinked="1"/>
        <c:majorTickMark val="out"/>
        <c:minorTickMark val="none"/>
        <c:tickLblPos val="nextTo"/>
        <c:crossAx val="95775744"/>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England</a:t>
            </a:r>
          </a:p>
        </c:rich>
      </c:tx>
      <c:overlay val="0"/>
    </c:title>
    <c:autoTitleDeleted val="0"/>
    <c:plotArea>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Sheet1!$B$12:$B$14</c:f>
              <c:strCache>
                <c:ptCount val="3"/>
                <c:pt idx="0">
                  <c:v>Billing</c:v>
                </c:pt>
                <c:pt idx="1">
                  <c:v>Delivery time</c:v>
                </c:pt>
                <c:pt idx="2">
                  <c:v>Customer Service</c:v>
                </c:pt>
              </c:strCache>
            </c:strRef>
          </c:cat>
          <c:val>
            <c:numRef>
              <c:f>Sheet1!$C$12:$C$14</c:f>
              <c:numCache>
                <c:formatCode>General</c:formatCode>
                <c:ptCount val="3"/>
                <c:pt idx="0">
                  <c:v>65</c:v>
                </c:pt>
                <c:pt idx="1">
                  <c:v>70</c:v>
                </c:pt>
                <c:pt idx="2">
                  <c:v>80</c:v>
                </c:pt>
              </c:numCache>
            </c:numRef>
          </c:val>
        </c:ser>
        <c:dLbls>
          <c:showLegendKey val="0"/>
          <c:showVal val="0"/>
          <c:showCatName val="0"/>
          <c:showSerName val="0"/>
          <c:showPercent val="0"/>
          <c:showBubbleSize val="0"/>
        </c:dLbls>
        <c:gapWidth val="150"/>
        <c:axId val="95834880"/>
        <c:axId val="95836416"/>
      </c:barChart>
      <c:catAx>
        <c:axId val="95834880"/>
        <c:scaling>
          <c:orientation val="minMax"/>
        </c:scaling>
        <c:delete val="0"/>
        <c:axPos val="l"/>
        <c:majorTickMark val="out"/>
        <c:minorTickMark val="none"/>
        <c:tickLblPos val="nextTo"/>
        <c:crossAx val="95836416"/>
        <c:crosses val="autoZero"/>
        <c:auto val="1"/>
        <c:lblAlgn val="ctr"/>
        <c:lblOffset val="100"/>
        <c:noMultiLvlLbl val="0"/>
      </c:catAx>
      <c:valAx>
        <c:axId val="95836416"/>
        <c:scaling>
          <c:orientation val="minMax"/>
          <c:max val="100"/>
        </c:scaling>
        <c:delete val="0"/>
        <c:axPos val="b"/>
        <c:majorGridlines/>
        <c:numFmt formatCode="General" sourceLinked="1"/>
        <c:majorTickMark val="out"/>
        <c:minorTickMark val="none"/>
        <c:tickLblPos val="nextTo"/>
        <c:crossAx val="95834880"/>
        <c:crosses val="autoZero"/>
        <c:crossBetween val="between"/>
      </c:valAx>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Norway</a:t>
            </a:r>
          </a:p>
        </c:rich>
      </c:tx>
      <c:overlay val="0"/>
    </c:title>
    <c:autoTitleDeleted val="0"/>
    <c:plotArea>
      <c:layout>
        <c:manualLayout>
          <c:layoutTarget val="inner"/>
          <c:xMode val="edge"/>
          <c:yMode val="edge"/>
          <c:x val="0.44369325245827501"/>
          <c:y val="0.36615004133152801"/>
          <c:w val="0.45794559770937698"/>
          <c:h val="0.395154187998766"/>
        </c:manualLayout>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Sheet1!$B$17:$B$19</c:f>
              <c:strCache>
                <c:ptCount val="3"/>
                <c:pt idx="0">
                  <c:v>Order Tracking</c:v>
                </c:pt>
                <c:pt idx="1">
                  <c:v>Billing</c:v>
                </c:pt>
                <c:pt idx="2">
                  <c:v>Delivery Time</c:v>
                </c:pt>
              </c:strCache>
            </c:strRef>
          </c:cat>
          <c:val>
            <c:numRef>
              <c:f>Sheet1!$C$17:$C$19</c:f>
              <c:numCache>
                <c:formatCode>General</c:formatCode>
                <c:ptCount val="3"/>
                <c:pt idx="0">
                  <c:v>69</c:v>
                </c:pt>
                <c:pt idx="1">
                  <c:v>70</c:v>
                </c:pt>
                <c:pt idx="2">
                  <c:v>85</c:v>
                </c:pt>
              </c:numCache>
            </c:numRef>
          </c:val>
        </c:ser>
        <c:dLbls>
          <c:showLegendKey val="0"/>
          <c:showVal val="0"/>
          <c:showCatName val="0"/>
          <c:showSerName val="0"/>
          <c:showPercent val="0"/>
          <c:showBubbleSize val="0"/>
        </c:dLbls>
        <c:gapWidth val="150"/>
        <c:axId val="95844608"/>
        <c:axId val="97517568"/>
      </c:barChart>
      <c:catAx>
        <c:axId val="95844608"/>
        <c:scaling>
          <c:orientation val="minMax"/>
        </c:scaling>
        <c:delete val="0"/>
        <c:axPos val="l"/>
        <c:majorTickMark val="out"/>
        <c:minorTickMark val="none"/>
        <c:tickLblPos val="nextTo"/>
        <c:crossAx val="97517568"/>
        <c:crosses val="autoZero"/>
        <c:auto val="1"/>
        <c:lblAlgn val="ctr"/>
        <c:lblOffset val="100"/>
        <c:noMultiLvlLbl val="0"/>
      </c:catAx>
      <c:valAx>
        <c:axId val="97517568"/>
        <c:scaling>
          <c:orientation val="minMax"/>
          <c:max val="100"/>
        </c:scaling>
        <c:delete val="0"/>
        <c:axPos val="b"/>
        <c:majorGridlines/>
        <c:numFmt formatCode="General" sourceLinked="1"/>
        <c:majorTickMark val="out"/>
        <c:minorTickMark val="none"/>
        <c:tickLblPos val="nextTo"/>
        <c:crossAx val="95844608"/>
        <c:crosses val="autoZero"/>
        <c:crossBetween val="between"/>
        <c:majorUnit val="20"/>
      </c:valAx>
    </c:plotArea>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Sweden</a:t>
            </a:r>
          </a:p>
        </c:rich>
      </c:tx>
      <c:overlay val="0"/>
    </c:title>
    <c:autoTitleDeleted val="0"/>
    <c:plotArea>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Sheet1!$B$22:$B$24</c:f>
              <c:strCache>
                <c:ptCount val="3"/>
                <c:pt idx="0">
                  <c:v>Billing</c:v>
                </c:pt>
                <c:pt idx="1">
                  <c:v>Customer Service</c:v>
                </c:pt>
                <c:pt idx="2">
                  <c:v>Delivery time</c:v>
                </c:pt>
              </c:strCache>
            </c:strRef>
          </c:cat>
          <c:val>
            <c:numRef>
              <c:f>Sheet1!$C$22:$C$24</c:f>
              <c:numCache>
                <c:formatCode>General</c:formatCode>
                <c:ptCount val="3"/>
                <c:pt idx="0">
                  <c:v>70</c:v>
                </c:pt>
                <c:pt idx="1">
                  <c:v>80</c:v>
                </c:pt>
                <c:pt idx="2">
                  <c:v>90</c:v>
                </c:pt>
              </c:numCache>
            </c:numRef>
          </c:val>
        </c:ser>
        <c:dLbls>
          <c:showLegendKey val="0"/>
          <c:showVal val="0"/>
          <c:showCatName val="0"/>
          <c:showSerName val="0"/>
          <c:showPercent val="0"/>
          <c:showBubbleSize val="0"/>
        </c:dLbls>
        <c:gapWidth val="150"/>
        <c:axId val="97538048"/>
        <c:axId val="97539584"/>
      </c:barChart>
      <c:catAx>
        <c:axId val="97538048"/>
        <c:scaling>
          <c:orientation val="minMax"/>
        </c:scaling>
        <c:delete val="0"/>
        <c:axPos val="l"/>
        <c:majorTickMark val="out"/>
        <c:minorTickMark val="none"/>
        <c:tickLblPos val="nextTo"/>
        <c:crossAx val="97539584"/>
        <c:crosses val="autoZero"/>
        <c:auto val="1"/>
        <c:lblAlgn val="ctr"/>
        <c:lblOffset val="100"/>
        <c:noMultiLvlLbl val="0"/>
      </c:catAx>
      <c:valAx>
        <c:axId val="97539584"/>
        <c:scaling>
          <c:orientation val="minMax"/>
          <c:max val="100"/>
        </c:scaling>
        <c:delete val="0"/>
        <c:axPos val="b"/>
        <c:majorGridlines/>
        <c:numFmt formatCode="General" sourceLinked="1"/>
        <c:majorTickMark val="out"/>
        <c:minorTickMark val="none"/>
        <c:tickLblPos val="nextTo"/>
        <c:crossAx val="97538048"/>
        <c:crosses val="autoZero"/>
        <c:crossBetween val="between"/>
      </c:valAx>
    </c:plotArea>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Italy</a:t>
            </a:r>
          </a:p>
        </c:rich>
      </c:tx>
      <c:overlay val="0"/>
    </c:title>
    <c:autoTitleDeleted val="0"/>
    <c:plotArea>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Sheet1!$B$27:$B$29</c:f>
              <c:strCache>
                <c:ptCount val="3"/>
                <c:pt idx="0">
                  <c:v>Order Tracking</c:v>
                </c:pt>
                <c:pt idx="1">
                  <c:v>Delivery time</c:v>
                </c:pt>
                <c:pt idx="2">
                  <c:v>Customer Service</c:v>
                </c:pt>
              </c:strCache>
            </c:strRef>
          </c:cat>
          <c:val>
            <c:numRef>
              <c:f>Sheet1!$C$27:$C$29</c:f>
              <c:numCache>
                <c:formatCode>General</c:formatCode>
                <c:ptCount val="3"/>
                <c:pt idx="0">
                  <c:v>67</c:v>
                </c:pt>
                <c:pt idx="1">
                  <c:v>75</c:v>
                </c:pt>
                <c:pt idx="2">
                  <c:v>83</c:v>
                </c:pt>
              </c:numCache>
            </c:numRef>
          </c:val>
        </c:ser>
        <c:dLbls>
          <c:showLegendKey val="0"/>
          <c:showVal val="0"/>
          <c:showCatName val="0"/>
          <c:showSerName val="0"/>
          <c:showPercent val="0"/>
          <c:showBubbleSize val="0"/>
        </c:dLbls>
        <c:gapWidth val="150"/>
        <c:axId val="97572352"/>
        <c:axId val="97573888"/>
      </c:barChart>
      <c:catAx>
        <c:axId val="97572352"/>
        <c:scaling>
          <c:orientation val="minMax"/>
        </c:scaling>
        <c:delete val="0"/>
        <c:axPos val="l"/>
        <c:majorTickMark val="out"/>
        <c:minorTickMark val="none"/>
        <c:tickLblPos val="nextTo"/>
        <c:crossAx val="97573888"/>
        <c:crosses val="autoZero"/>
        <c:auto val="1"/>
        <c:lblAlgn val="ctr"/>
        <c:lblOffset val="100"/>
        <c:noMultiLvlLbl val="0"/>
      </c:catAx>
      <c:valAx>
        <c:axId val="97573888"/>
        <c:scaling>
          <c:orientation val="minMax"/>
          <c:max val="100"/>
        </c:scaling>
        <c:delete val="0"/>
        <c:axPos val="b"/>
        <c:majorGridlines/>
        <c:numFmt formatCode="General" sourceLinked="1"/>
        <c:majorTickMark val="out"/>
        <c:minorTickMark val="none"/>
        <c:tickLblPos val="nextTo"/>
        <c:crossAx val="97572352"/>
        <c:crosses val="autoZero"/>
        <c:crossBetween val="between"/>
      </c:valAx>
    </c:plotArea>
    <c:plotVisOnly val="1"/>
    <c:dispBlanksAs val="gap"/>
    <c:showDLblsOverMax val="0"/>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Netherlands</a:t>
            </a:r>
          </a:p>
        </c:rich>
      </c:tx>
      <c:overlay val="0"/>
    </c:title>
    <c:autoTitleDeleted val="0"/>
    <c:plotArea>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Sheet1!$B$32:$B$34</c:f>
              <c:strCache>
                <c:ptCount val="3"/>
                <c:pt idx="0">
                  <c:v>Billing</c:v>
                </c:pt>
                <c:pt idx="1">
                  <c:v>Customer Service</c:v>
                </c:pt>
                <c:pt idx="2">
                  <c:v>Delivery Time</c:v>
                </c:pt>
              </c:strCache>
            </c:strRef>
          </c:cat>
          <c:val>
            <c:numRef>
              <c:f>Sheet1!$C$32:$C$34</c:f>
              <c:numCache>
                <c:formatCode>General</c:formatCode>
                <c:ptCount val="3"/>
                <c:pt idx="0">
                  <c:v>65</c:v>
                </c:pt>
                <c:pt idx="1">
                  <c:v>75</c:v>
                </c:pt>
                <c:pt idx="2">
                  <c:v>80</c:v>
                </c:pt>
              </c:numCache>
            </c:numRef>
          </c:val>
        </c:ser>
        <c:dLbls>
          <c:showLegendKey val="0"/>
          <c:showVal val="0"/>
          <c:showCatName val="0"/>
          <c:showSerName val="0"/>
          <c:showPercent val="0"/>
          <c:showBubbleSize val="0"/>
        </c:dLbls>
        <c:gapWidth val="150"/>
        <c:axId val="97586176"/>
        <c:axId val="97608448"/>
      </c:barChart>
      <c:catAx>
        <c:axId val="97586176"/>
        <c:scaling>
          <c:orientation val="minMax"/>
        </c:scaling>
        <c:delete val="0"/>
        <c:axPos val="l"/>
        <c:majorTickMark val="out"/>
        <c:minorTickMark val="none"/>
        <c:tickLblPos val="nextTo"/>
        <c:crossAx val="97608448"/>
        <c:crosses val="autoZero"/>
        <c:auto val="1"/>
        <c:lblAlgn val="ctr"/>
        <c:lblOffset val="100"/>
        <c:noMultiLvlLbl val="0"/>
      </c:catAx>
      <c:valAx>
        <c:axId val="97608448"/>
        <c:scaling>
          <c:orientation val="minMax"/>
          <c:max val="100"/>
        </c:scaling>
        <c:delete val="0"/>
        <c:axPos val="b"/>
        <c:majorGridlines/>
        <c:numFmt formatCode="General" sourceLinked="1"/>
        <c:majorTickMark val="out"/>
        <c:minorTickMark val="none"/>
        <c:tickLblPos val="nextTo"/>
        <c:crossAx val="97586176"/>
        <c:crosses val="autoZero"/>
        <c:crossBetween val="between"/>
      </c:valAx>
    </c:plotArea>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Ireland</a:t>
            </a:r>
          </a:p>
        </c:rich>
      </c:tx>
      <c:overlay val="0"/>
    </c:title>
    <c:autoTitleDeleted val="0"/>
    <c:plotArea>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Sheet1!$B$37:$B$39</c:f>
              <c:strCache>
                <c:ptCount val="3"/>
                <c:pt idx="0">
                  <c:v>Billing</c:v>
                </c:pt>
                <c:pt idx="1">
                  <c:v>Customer Service</c:v>
                </c:pt>
                <c:pt idx="2">
                  <c:v>Order Tracking</c:v>
                </c:pt>
              </c:strCache>
            </c:strRef>
          </c:cat>
          <c:val>
            <c:numRef>
              <c:f>Sheet1!$C$37:$C$39</c:f>
              <c:numCache>
                <c:formatCode>General</c:formatCode>
                <c:ptCount val="3"/>
                <c:pt idx="0">
                  <c:v>65</c:v>
                </c:pt>
                <c:pt idx="1">
                  <c:v>67</c:v>
                </c:pt>
                <c:pt idx="2">
                  <c:v>73</c:v>
                </c:pt>
              </c:numCache>
            </c:numRef>
          </c:val>
        </c:ser>
        <c:dLbls>
          <c:showLegendKey val="0"/>
          <c:showVal val="0"/>
          <c:showCatName val="0"/>
          <c:showSerName val="0"/>
          <c:showPercent val="0"/>
          <c:showBubbleSize val="0"/>
        </c:dLbls>
        <c:gapWidth val="150"/>
        <c:axId val="97624832"/>
        <c:axId val="97626368"/>
      </c:barChart>
      <c:catAx>
        <c:axId val="97624832"/>
        <c:scaling>
          <c:orientation val="minMax"/>
        </c:scaling>
        <c:delete val="0"/>
        <c:axPos val="l"/>
        <c:majorTickMark val="out"/>
        <c:minorTickMark val="none"/>
        <c:tickLblPos val="nextTo"/>
        <c:crossAx val="97626368"/>
        <c:crosses val="autoZero"/>
        <c:auto val="1"/>
        <c:lblAlgn val="ctr"/>
        <c:lblOffset val="100"/>
        <c:noMultiLvlLbl val="0"/>
      </c:catAx>
      <c:valAx>
        <c:axId val="97626368"/>
        <c:scaling>
          <c:orientation val="minMax"/>
          <c:max val="100"/>
        </c:scaling>
        <c:delete val="0"/>
        <c:axPos val="b"/>
        <c:majorGridlines/>
        <c:numFmt formatCode="General" sourceLinked="1"/>
        <c:majorTickMark val="out"/>
        <c:minorTickMark val="none"/>
        <c:tickLblPos val="nextTo"/>
        <c:crossAx val="97624832"/>
        <c:crosses val="autoZero"/>
        <c:crossBetween val="between"/>
      </c:valAx>
    </c:plotArea>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Scotland</a:t>
            </a:r>
          </a:p>
        </c:rich>
      </c:tx>
      <c:overlay val="0"/>
    </c:title>
    <c:autoTitleDeleted val="0"/>
    <c:plotArea>
      <c:layout>
        <c:manualLayout>
          <c:layoutTarget val="inner"/>
          <c:xMode val="edge"/>
          <c:yMode val="edge"/>
          <c:x val="0.42561541649399098"/>
          <c:y val="0.36269171873245298"/>
          <c:w val="0.47602343367366201"/>
          <c:h val="0.40086701526759"/>
        </c:manualLayout>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Sheet1!$B$42:$B$44</c:f>
              <c:strCache>
                <c:ptCount val="3"/>
                <c:pt idx="0">
                  <c:v>Order tracking</c:v>
                </c:pt>
                <c:pt idx="1">
                  <c:v>Billing</c:v>
                </c:pt>
                <c:pt idx="2">
                  <c:v>Delivery Time</c:v>
                </c:pt>
              </c:strCache>
            </c:strRef>
          </c:cat>
          <c:val>
            <c:numRef>
              <c:f>Sheet1!$C$42:$C$44</c:f>
              <c:numCache>
                <c:formatCode>General</c:formatCode>
                <c:ptCount val="3"/>
                <c:pt idx="0">
                  <c:v>65</c:v>
                </c:pt>
                <c:pt idx="1">
                  <c:v>70</c:v>
                </c:pt>
                <c:pt idx="2">
                  <c:v>85</c:v>
                </c:pt>
              </c:numCache>
            </c:numRef>
          </c:val>
        </c:ser>
        <c:dLbls>
          <c:showLegendKey val="0"/>
          <c:showVal val="0"/>
          <c:showCatName val="0"/>
          <c:showSerName val="0"/>
          <c:showPercent val="0"/>
          <c:showBubbleSize val="0"/>
        </c:dLbls>
        <c:gapWidth val="150"/>
        <c:axId val="97650944"/>
        <c:axId val="97677312"/>
      </c:barChart>
      <c:catAx>
        <c:axId val="97650944"/>
        <c:scaling>
          <c:orientation val="minMax"/>
        </c:scaling>
        <c:delete val="0"/>
        <c:axPos val="l"/>
        <c:majorTickMark val="out"/>
        <c:minorTickMark val="none"/>
        <c:tickLblPos val="nextTo"/>
        <c:crossAx val="97677312"/>
        <c:crosses val="autoZero"/>
        <c:auto val="1"/>
        <c:lblAlgn val="ctr"/>
        <c:lblOffset val="100"/>
        <c:noMultiLvlLbl val="0"/>
      </c:catAx>
      <c:valAx>
        <c:axId val="97677312"/>
        <c:scaling>
          <c:orientation val="minMax"/>
          <c:max val="100"/>
        </c:scaling>
        <c:delete val="0"/>
        <c:axPos val="b"/>
        <c:majorGridlines/>
        <c:numFmt formatCode="General" sourceLinked="1"/>
        <c:majorTickMark val="out"/>
        <c:minorTickMark val="none"/>
        <c:tickLblPos val="nextTo"/>
        <c:crossAx val="97650944"/>
        <c:crosses val="autoZero"/>
        <c:crossBetween val="between"/>
        <c:majorUnit val="20"/>
      </c:valAx>
    </c:plotArea>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US" sz="1200"/>
              <a:t>France</a:t>
            </a:r>
          </a:p>
        </c:rich>
      </c:tx>
      <c:overlay val="0"/>
    </c:title>
    <c:autoTitleDeleted val="0"/>
    <c:plotArea>
      <c:layout/>
      <c:barChart>
        <c:barDir val="bar"/>
        <c:grouping val="clustered"/>
        <c:varyColors val="0"/>
        <c:ser>
          <c:idx val="0"/>
          <c:order val="0"/>
          <c:spPr>
            <a:solidFill>
              <a:schemeClr val="bg1">
                <a:lumMod val="75000"/>
              </a:schemeClr>
            </a:solidFill>
            <a:ln w="6350">
              <a:solidFill>
                <a:schemeClr val="tx1"/>
              </a:solidFill>
            </a:ln>
          </c:spPr>
          <c:invertIfNegative val="0"/>
          <c:dLbls>
            <c:showLegendKey val="0"/>
            <c:showVal val="1"/>
            <c:showCatName val="0"/>
            <c:showSerName val="0"/>
            <c:showPercent val="0"/>
            <c:showBubbleSize val="0"/>
            <c:showLeaderLines val="0"/>
          </c:dLbls>
          <c:cat>
            <c:strRef>
              <c:f>Sheet1!$B$7:$B$9</c:f>
              <c:strCache>
                <c:ptCount val="3"/>
                <c:pt idx="0">
                  <c:v>Order Tracking</c:v>
                </c:pt>
                <c:pt idx="1">
                  <c:v>Delivery Time</c:v>
                </c:pt>
                <c:pt idx="2">
                  <c:v>Customer Service</c:v>
                </c:pt>
              </c:strCache>
            </c:strRef>
          </c:cat>
          <c:val>
            <c:numRef>
              <c:f>Sheet1!$C$7:$C$9</c:f>
              <c:numCache>
                <c:formatCode>General</c:formatCode>
                <c:ptCount val="3"/>
                <c:pt idx="0">
                  <c:v>60</c:v>
                </c:pt>
                <c:pt idx="1">
                  <c:v>80</c:v>
                </c:pt>
                <c:pt idx="2">
                  <c:v>85</c:v>
                </c:pt>
              </c:numCache>
            </c:numRef>
          </c:val>
        </c:ser>
        <c:dLbls>
          <c:showLegendKey val="0"/>
          <c:showVal val="0"/>
          <c:showCatName val="0"/>
          <c:showSerName val="0"/>
          <c:showPercent val="0"/>
          <c:showBubbleSize val="0"/>
        </c:dLbls>
        <c:gapWidth val="150"/>
        <c:axId val="97693696"/>
        <c:axId val="97695232"/>
      </c:barChart>
      <c:catAx>
        <c:axId val="97693696"/>
        <c:scaling>
          <c:orientation val="minMax"/>
        </c:scaling>
        <c:delete val="0"/>
        <c:axPos val="l"/>
        <c:majorTickMark val="out"/>
        <c:minorTickMark val="none"/>
        <c:tickLblPos val="nextTo"/>
        <c:crossAx val="97695232"/>
        <c:crosses val="autoZero"/>
        <c:auto val="1"/>
        <c:lblAlgn val="ctr"/>
        <c:lblOffset val="100"/>
        <c:noMultiLvlLbl val="0"/>
      </c:catAx>
      <c:valAx>
        <c:axId val="97695232"/>
        <c:scaling>
          <c:orientation val="minMax"/>
          <c:max val="100"/>
        </c:scaling>
        <c:delete val="0"/>
        <c:axPos val="b"/>
        <c:majorGridlines/>
        <c:numFmt formatCode="General" sourceLinked="1"/>
        <c:majorTickMark val="out"/>
        <c:minorTickMark val="none"/>
        <c:tickLblPos val="nextTo"/>
        <c:crossAx val="97693696"/>
        <c:crosses val="autoZero"/>
        <c:crossBetween val="between"/>
      </c:valAx>
    </c:plotArea>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0"/>
          <c:order val="0"/>
          <c:spPr>
            <a:solidFill>
              <a:srgbClr val="113C9B"/>
            </a:solidFill>
          </c:spPr>
          <c:invertIfNegative val="0"/>
          <c:dLbls>
            <c:showLegendKey val="0"/>
            <c:showVal val="1"/>
            <c:showCatName val="0"/>
            <c:showSerName val="0"/>
            <c:showPercent val="0"/>
            <c:showBubbleSize val="0"/>
            <c:showLeaderLines val="0"/>
          </c:dLbls>
          <c:cat>
            <c:strRef>
              <c:f>Sheet1!$A$2:$A$10</c:f>
              <c:strCache>
                <c:ptCount val="9"/>
                <c:pt idx="0">
                  <c:v>Sector 1</c:v>
                </c:pt>
                <c:pt idx="1">
                  <c:v>Sector 2</c:v>
                </c:pt>
                <c:pt idx="2">
                  <c:v>Sector 3</c:v>
                </c:pt>
                <c:pt idx="3">
                  <c:v>Sector 4</c:v>
                </c:pt>
                <c:pt idx="4">
                  <c:v>Sector 5</c:v>
                </c:pt>
                <c:pt idx="5">
                  <c:v>Sector 6</c:v>
                </c:pt>
                <c:pt idx="6">
                  <c:v>Sector 7</c:v>
                </c:pt>
                <c:pt idx="7">
                  <c:v>Sector 8</c:v>
                </c:pt>
                <c:pt idx="8">
                  <c:v>Overall </c:v>
                </c:pt>
              </c:strCache>
            </c:strRef>
          </c:cat>
          <c:val>
            <c:numRef>
              <c:f>Sheet1!$B$2:$B$10</c:f>
              <c:numCache>
                <c:formatCode>0%</c:formatCode>
                <c:ptCount val="9"/>
                <c:pt idx="0">
                  <c:v>0.03</c:v>
                </c:pt>
                <c:pt idx="1">
                  <c:v>0.38</c:v>
                </c:pt>
                <c:pt idx="2">
                  <c:v>0.16</c:v>
                </c:pt>
                <c:pt idx="3">
                  <c:v>0.31</c:v>
                </c:pt>
                <c:pt idx="4">
                  <c:v>0.06</c:v>
                </c:pt>
                <c:pt idx="5">
                  <c:v>0.27</c:v>
                </c:pt>
                <c:pt idx="6">
                  <c:v>0.18</c:v>
                </c:pt>
                <c:pt idx="7">
                  <c:v>0.62</c:v>
                </c:pt>
                <c:pt idx="8">
                  <c:v>0.1</c:v>
                </c:pt>
              </c:numCache>
            </c:numRef>
          </c:val>
        </c:ser>
        <c:ser>
          <c:idx val="1"/>
          <c:order val="1"/>
          <c:spPr>
            <a:solidFill>
              <a:schemeClr val="bg1">
                <a:lumMod val="75000"/>
              </a:schemeClr>
            </a:solidFill>
          </c:spPr>
          <c:invertIfNegative val="0"/>
          <c:dLbls>
            <c:showLegendKey val="0"/>
            <c:showVal val="1"/>
            <c:showCatName val="0"/>
            <c:showSerName val="0"/>
            <c:showPercent val="0"/>
            <c:showBubbleSize val="0"/>
            <c:showLeaderLines val="0"/>
          </c:dLbls>
          <c:cat>
            <c:strRef>
              <c:f>Sheet1!$A$2:$A$10</c:f>
              <c:strCache>
                <c:ptCount val="9"/>
                <c:pt idx="0">
                  <c:v>Sector 1</c:v>
                </c:pt>
                <c:pt idx="1">
                  <c:v>Sector 2</c:v>
                </c:pt>
                <c:pt idx="2">
                  <c:v>Sector 3</c:v>
                </c:pt>
                <c:pt idx="3">
                  <c:v>Sector 4</c:v>
                </c:pt>
                <c:pt idx="4">
                  <c:v>Sector 5</c:v>
                </c:pt>
                <c:pt idx="5">
                  <c:v>Sector 6</c:v>
                </c:pt>
                <c:pt idx="6">
                  <c:v>Sector 7</c:v>
                </c:pt>
                <c:pt idx="7">
                  <c:v>Sector 8</c:v>
                </c:pt>
                <c:pt idx="8">
                  <c:v>Overall </c:v>
                </c:pt>
              </c:strCache>
            </c:strRef>
          </c:cat>
          <c:val>
            <c:numRef>
              <c:f>Sheet1!$C$2:$C$10</c:f>
              <c:numCache>
                <c:formatCode>0%</c:formatCode>
                <c:ptCount val="9"/>
                <c:pt idx="0">
                  <c:v>0.15</c:v>
                </c:pt>
                <c:pt idx="1">
                  <c:v>0.33</c:v>
                </c:pt>
                <c:pt idx="2">
                  <c:v>0.2</c:v>
                </c:pt>
                <c:pt idx="3">
                  <c:v>0.4</c:v>
                </c:pt>
                <c:pt idx="4">
                  <c:v>0.12</c:v>
                </c:pt>
                <c:pt idx="5">
                  <c:v>0.25</c:v>
                </c:pt>
                <c:pt idx="6">
                  <c:v>0.25</c:v>
                </c:pt>
                <c:pt idx="7">
                  <c:v>0.4</c:v>
                </c:pt>
                <c:pt idx="8">
                  <c:v>0.2</c:v>
                </c:pt>
              </c:numCache>
            </c:numRef>
          </c:val>
        </c:ser>
        <c:dLbls>
          <c:showLegendKey val="0"/>
          <c:showVal val="0"/>
          <c:showCatName val="0"/>
          <c:showSerName val="0"/>
          <c:showPercent val="0"/>
          <c:showBubbleSize val="0"/>
        </c:dLbls>
        <c:gapWidth val="150"/>
        <c:axId val="99176832"/>
        <c:axId val="99178368"/>
      </c:barChart>
      <c:catAx>
        <c:axId val="99176832"/>
        <c:scaling>
          <c:orientation val="minMax"/>
        </c:scaling>
        <c:delete val="0"/>
        <c:axPos val="b"/>
        <c:majorTickMark val="out"/>
        <c:minorTickMark val="none"/>
        <c:tickLblPos val="nextTo"/>
        <c:crossAx val="99178368"/>
        <c:crosses val="autoZero"/>
        <c:auto val="1"/>
        <c:lblAlgn val="ctr"/>
        <c:lblOffset val="100"/>
        <c:noMultiLvlLbl val="0"/>
      </c:catAx>
      <c:valAx>
        <c:axId val="99178368"/>
        <c:scaling>
          <c:orientation val="minMax"/>
        </c:scaling>
        <c:delete val="1"/>
        <c:axPos val="l"/>
        <c:numFmt formatCode="0%" sourceLinked="1"/>
        <c:majorTickMark val="out"/>
        <c:minorTickMark val="none"/>
        <c:tickLblPos val="nextTo"/>
        <c:crossAx val="99176832"/>
        <c:crosses val="autoZero"/>
        <c:crossBetween val="between"/>
      </c:valAx>
    </c:plotArea>
    <c:plotVisOnly val="1"/>
    <c:dispBlanksAs val="gap"/>
    <c:showDLblsOverMax val="0"/>
  </c:chart>
  <c:externalData r:id="rId1">
    <c:autoUpdate val="0"/>
  </c:externalData>
</c:chartSpace>
</file>

<file path=ppt/diagrams/_rels/data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image" Target="../media/image21.png"/></Relationships>
</file>

<file path=ppt/diagrams/_rels/data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 Id="rId4"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C485BC-7832-9E4E-86FB-2D1932765567}" type="doc">
      <dgm:prSet loTypeId="urn:microsoft.com/office/officeart/2008/layout/BendingPictureCaption" loCatId="" qsTypeId="urn:microsoft.com/office/officeart/2005/8/quickstyle/simple4" qsCatId="simple" csTypeId="urn:microsoft.com/office/officeart/2005/8/colors/accent4_5" csCatId="accent4" phldr="1"/>
      <dgm:spPr/>
      <dgm:t>
        <a:bodyPr/>
        <a:lstStyle/>
        <a:p>
          <a:endParaRPr lang="en-US"/>
        </a:p>
      </dgm:t>
    </dgm:pt>
    <dgm:pt modelId="{6E08D296-96B2-D543-A11E-C98184B69E5F}">
      <dgm:prSet phldrT="[Text]"/>
      <dgm:spPr/>
      <dgm:t>
        <a:bodyPr/>
        <a:lstStyle/>
        <a:p>
          <a:r>
            <a:rPr lang="en-US" b="0" dirty="0" smtClean="0"/>
            <a:t>PSV model used for fishing</a:t>
          </a:r>
          <a:endParaRPr lang="en-US" dirty="0"/>
        </a:p>
      </dgm:t>
    </dgm:pt>
    <dgm:pt modelId="{0671C1A7-DA3C-774D-ADB9-9B3D48C8F14A}" type="parTrans" cxnId="{1A37BEB0-D801-5E45-8B14-60DDCEA416DE}">
      <dgm:prSet/>
      <dgm:spPr/>
      <dgm:t>
        <a:bodyPr/>
        <a:lstStyle/>
        <a:p>
          <a:endParaRPr lang="en-US"/>
        </a:p>
      </dgm:t>
    </dgm:pt>
    <dgm:pt modelId="{56B14546-D2BF-FA42-8035-367D468ADFC8}" type="sibTrans" cxnId="{1A37BEB0-D801-5E45-8B14-60DDCEA416DE}">
      <dgm:prSet/>
      <dgm:spPr/>
      <dgm:t>
        <a:bodyPr/>
        <a:lstStyle/>
        <a:p>
          <a:endParaRPr lang="en-US"/>
        </a:p>
      </dgm:t>
    </dgm:pt>
    <dgm:pt modelId="{3E16D94B-2D12-1045-94D8-2DE251D2F8F3}">
      <dgm:prSet phldrT="[Text]"/>
      <dgm:spPr/>
      <dgm:t>
        <a:bodyPr/>
        <a:lstStyle/>
        <a:p>
          <a:r>
            <a:rPr lang="en-US" b="0" dirty="0" smtClean="0"/>
            <a:t>Military support platform</a:t>
          </a:r>
          <a:endParaRPr lang="en-US" dirty="0"/>
        </a:p>
      </dgm:t>
    </dgm:pt>
    <dgm:pt modelId="{AC8D9F96-DEBA-174E-AB09-CBCABF3510FD}" type="parTrans" cxnId="{474E7A06-FD69-5E41-A4C1-FD4F4BADB097}">
      <dgm:prSet/>
      <dgm:spPr/>
      <dgm:t>
        <a:bodyPr/>
        <a:lstStyle/>
        <a:p>
          <a:endParaRPr lang="en-US"/>
        </a:p>
      </dgm:t>
    </dgm:pt>
    <dgm:pt modelId="{E9ACD0E0-9B37-DC4A-B933-736C668C496A}" type="sibTrans" cxnId="{474E7A06-FD69-5E41-A4C1-FD4F4BADB097}">
      <dgm:prSet/>
      <dgm:spPr/>
      <dgm:t>
        <a:bodyPr/>
        <a:lstStyle/>
        <a:p>
          <a:endParaRPr lang="en-US"/>
        </a:p>
      </dgm:t>
    </dgm:pt>
    <dgm:pt modelId="{510DE6F1-BE8C-774F-8303-399DA4E57CFB}" type="pres">
      <dgm:prSet presAssocID="{53C485BC-7832-9E4E-86FB-2D1932765567}" presName="diagram" presStyleCnt="0">
        <dgm:presLayoutVars>
          <dgm:dir/>
        </dgm:presLayoutVars>
      </dgm:prSet>
      <dgm:spPr/>
      <dgm:t>
        <a:bodyPr/>
        <a:lstStyle/>
        <a:p>
          <a:endParaRPr lang="en-US"/>
        </a:p>
      </dgm:t>
    </dgm:pt>
    <dgm:pt modelId="{EF2D0E6C-075A-6B42-B74C-33983CB1A8C1}" type="pres">
      <dgm:prSet presAssocID="{6E08D296-96B2-D543-A11E-C98184B69E5F}" presName="composite" presStyleCnt="0"/>
      <dgm:spPr/>
    </dgm:pt>
    <dgm:pt modelId="{695845CC-CA65-F44B-B394-254B7F335AF8}" type="pres">
      <dgm:prSet presAssocID="{6E08D296-96B2-D543-A11E-C98184B69E5F}" presName="Image" presStyleLbl="bgShp" presStyleIdx="0" presStyleCnt="2"/>
      <dgm:spPr>
        <a:blipFill rotWithShape="1">
          <a:blip xmlns:r="http://schemas.openxmlformats.org/officeDocument/2006/relationships" r:embed="rId1"/>
          <a:stretch>
            <a:fillRect/>
          </a:stretch>
        </a:blipFill>
      </dgm:spPr>
    </dgm:pt>
    <dgm:pt modelId="{E61CFDAD-D66A-AF43-A4AA-E2E86DE831FD}" type="pres">
      <dgm:prSet presAssocID="{6E08D296-96B2-D543-A11E-C98184B69E5F}" presName="Parent" presStyleLbl="node0" presStyleIdx="0" presStyleCnt="2">
        <dgm:presLayoutVars>
          <dgm:bulletEnabled val="1"/>
        </dgm:presLayoutVars>
      </dgm:prSet>
      <dgm:spPr/>
      <dgm:t>
        <a:bodyPr/>
        <a:lstStyle/>
        <a:p>
          <a:endParaRPr lang="en-US"/>
        </a:p>
      </dgm:t>
    </dgm:pt>
    <dgm:pt modelId="{2600E9D3-6634-2E48-B74B-78983FC3631C}" type="pres">
      <dgm:prSet presAssocID="{56B14546-D2BF-FA42-8035-367D468ADFC8}" presName="sibTrans" presStyleCnt="0"/>
      <dgm:spPr/>
    </dgm:pt>
    <dgm:pt modelId="{EC16E19F-D106-A54A-8FE9-E65CECC0DED0}" type="pres">
      <dgm:prSet presAssocID="{3E16D94B-2D12-1045-94D8-2DE251D2F8F3}" presName="composite" presStyleCnt="0"/>
      <dgm:spPr/>
    </dgm:pt>
    <dgm:pt modelId="{0A7A23A8-71B4-924F-80AF-EEE58ADA7AAC}" type="pres">
      <dgm:prSet presAssocID="{3E16D94B-2D12-1045-94D8-2DE251D2F8F3}" presName="Image" presStyleLbl="bgShp" presStyleIdx="1" presStyleCnt="2"/>
      <dgm:spPr>
        <a:blipFill rotWithShape="1">
          <a:blip xmlns:r="http://schemas.openxmlformats.org/officeDocument/2006/relationships" r:embed="rId2"/>
          <a:stretch>
            <a:fillRect/>
          </a:stretch>
        </a:blipFill>
      </dgm:spPr>
    </dgm:pt>
    <dgm:pt modelId="{6669CE8F-47E7-CE41-AF4E-C780997323F8}" type="pres">
      <dgm:prSet presAssocID="{3E16D94B-2D12-1045-94D8-2DE251D2F8F3}" presName="Parent" presStyleLbl="node0" presStyleIdx="1" presStyleCnt="2">
        <dgm:presLayoutVars>
          <dgm:bulletEnabled val="1"/>
        </dgm:presLayoutVars>
      </dgm:prSet>
      <dgm:spPr/>
      <dgm:t>
        <a:bodyPr/>
        <a:lstStyle/>
        <a:p>
          <a:endParaRPr lang="en-US"/>
        </a:p>
      </dgm:t>
    </dgm:pt>
  </dgm:ptLst>
  <dgm:cxnLst>
    <dgm:cxn modelId="{474E7A06-FD69-5E41-A4C1-FD4F4BADB097}" srcId="{53C485BC-7832-9E4E-86FB-2D1932765567}" destId="{3E16D94B-2D12-1045-94D8-2DE251D2F8F3}" srcOrd="1" destOrd="0" parTransId="{AC8D9F96-DEBA-174E-AB09-CBCABF3510FD}" sibTransId="{E9ACD0E0-9B37-DC4A-B933-736C668C496A}"/>
    <dgm:cxn modelId="{1A37BEB0-D801-5E45-8B14-60DDCEA416DE}" srcId="{53C485BC-7832-9E4E-86FB-2D1932765567}" destId="{6E08D296-96B2-D543-A11E-C98184B69E5F}" srcOrd="0" destOrd="0" parTransId="{0671C1A7-DA3C-774D-ADB9-9B3D48C8F14A}" sibTransId="{56B14546-D2BF-FA42-8035-367D468ADFC8}"/>
    <dgm:cxn modelId="{62D0F671-E935-DE4F-9A77-5D80F88F1200}" type="presOf" srcId="{6E08D296-96B2-D543-A11E-C98184B69E5F}" destId="{E61CFDAD-D66A-AF43-A4AA-E2E86DE831FD}" srcOrd="0" destOrd="0" presId="urn:microsoft.com/office/officeart/2008/layout/BendingPictureCaption"/>
    <dgm:cxn modelId="{C4F3174E-0A58-E649-8238-2F50168EF647}" type="presOf" srcId="{3E16D94B-2D12-1045-94D8-2DE251D2F8F3}" destId="{6669CE8F-47E7-CE41-AF4E-C780997323F8}" srcOrd="0" destOrd="0" presId="urn:microsoft.com/office/officeart/2008/layout/BendingPictureCaption"/>
    <dgm:cxn modelId="{D446673D-6516-9F4F-B6F3-57A634EB5CA0}" type="presOf" srcId="{53C485BC-7832-9E4E-86FB-2D1932765567}" destId="{510DE6F1-BE8C-774F-8303-399DA4E57CFB}" srcOrd="0" destOrd="0" presId="urn:microsoft.com/office/officeart/2008/layout/BendingPictureCaption"/>
    <dgm:cxn modelId="{EBC98B26-AEB7-7B47-B949-ADB6116FE2D0}" type="presParOf" srcId="{510DE6F1-BE8C-774F-8303-399DA4E57CFB}" destId="{EF2D0E6C-075A-6B42-B74C-33983CB1A8C1}" srcOrd="0" destOrd="0" presId="urn:microsoft.com/office/officeart/2008/layout/BendingPictureCaption"/>
    <dgm:cxn modelId="{BC40D75E-E1FB-4749-948C-79A8A87D1B9E}" type="presParOf" srcId="{EF2D0E6C-075A-6B42-B74C-33983CB1A8C1}" destId="{695845CC-CA65-F44B-B394-254B7F335AF8}" srcOrd="0" destOrd="0" presId="urn:microsoft.com/office/officeart/2008/layout/BendingPictureCaption"/>
    <dgm:cxn modelId="{AB442D9D-D9C7-314C-A7EE-24968AE478EB}" type="presParOf" srcId="{EF2D0E6C-075A-6B42-B74C-33983CB1A8C1}" destId="{E61CFDAD-D66A-AF43-A4AA-E2E86DE831FD}" srcOrd="1" destOrd="0" presId="urn:microsoft.com/office/officeart/2008/layout/BendingPictureCaption"/>
    <dgm:cxn modelId="{9263AFFD-5583-5D49-9A3B-217F63C123D3}" type="presParOf" srcId="{510DE6F1-BE8C-774F-8303-399DA4E57CFB}" destId="{2600E9D3-6634-2E48-B74B-78983FC3631C}" srcOrd="1" destOrd="0" presId="urn:microsoft.com/office/officeart/2008/layout/BendingPictureCaption"/>
    <dgm:cxn modelId="{D1661AB4-EBC7-6149-B8BF-C016FEEE4A09}" type="presParOf" srcId="{510DE6F1-BE8C-774F-8303-399DA4E57CFB}" destId="{EC16E19F-D106-A54A-8FE9-E65CECC0DED0}" srcOrd="2" destOrd="0" presId="urn:microsoft.com/office/officeart/2008/layout/BendingPictureCaption"/>
    <dgm:cxn modelId="{E0BDE40B-9899-724E-9FA2-25ED31145CBE}" type="presParOf" srcId="{EC16E19F-D106-A54A-8FE9-E65CECC0DED0}" destId="{0A7A23A8-71B4-924F-80AF-EEE58ADA7AAC}" srcOrd="0" destOrd="0" presId="urn:microsoft.com/office/officeart/2008/layout/BendingPictureCaption"/>
    <dgm:cxn modelId="{E2B06BAA-B152-AE43-BACD-6F354DC28C03}" type="presParOf" srcId="{EC16E19F-D106-A54A-8FE9-E65CECC0DED0}" destId="{6669CE8F-47E7-CE41-AF4E-C780997323F8}"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95A545-BEDE-794F-8F2A-25C65CC3936E}" type="doc">
      <dgm:prSet loTypeId="urn:microsoft.com/office/officeart/2008/layout/CaptionedPictures" loCatId="" qsTypeId="urn:microsoft.com/office/officeart/2005/8/quickstyle/simple4" qsCatId="simple" csTypeId="urn:microsoft.com/office/officeart/2005/8/colors/accent1_2" csCatId="accent1" phldr="1"/>
      <dgm:spPr/>
      <dgm:t>
        <a:bodyPr/>
        <a:lstStyle/>
        <a:p>
          <a:endParaRPr lang="en-US"/>
        </a:p>
      </dgm:t>
    </dgm:pt>
    <dgm:pt modelId="{FCB2CFAC-1E82-8B40-BF9D-54CA44193F5C}">
      <dgm:prSet phldrT="[Text]"/>
      <dgm:spPr/>
      <dgm:t>
        <a:bodyPr/>
        <a:lstStyle/>
        <a:p>
          <a:r>
            <a:rPr lang="en-US" dirty="0" smtClean="0"/>
            <a:t>Electronic Defense (e.g. surveillance)</a:t>
          </a:r>
          <a:endParaRPr lang="en-US" dirty="0"/>
        </a:p>
      </dgm:t>
    </dgm:pt>
    <dgm:pt modelId="{C884D83F-5B70-2F4C-80D0-8FE7DF30AC3C}" type="parTrans" cxnId="{C58C96A9-BF4E-4F41-8AE8-94DCCA3F7BFF}">
      <dgm:prSet/>
      <dgm:spPr/>
      <dgm:t>
        <a:bodyPr/>
        <a:lstStyle/>
        <a:p>
          <a:endParaRPr lang="en-US"/>
        </a:p>
      </dgm:t>
    </dgm:pt>
    <dgm:pt modelId="{48E82660-BFC1-DE45-9200-6E9C4350EDFD}" type="sibTrans" cxnId="{C58C96A9-BF4E-4F41-8AE8-94DCCA3F7BFF}">
      <dgm:prSet/>
      <dgm:spPr/>
      <dgm:t>
        <a:bodyPr/>
        <a:lstStyle/>
        <a:p>
          <a:endParaRPr lang="en-US"/>
        </a:p>
      </dgm:t>
    </dgm:pt>
    <dgm:pt modelId="{D565C2F1-91E1-7B42-A353-DA7878EC3C9C}">
      <dgm:prSet phldrT="[Text]"/>
      <dgm:spPr/>
      <dgm:t>
        <a:bodyPr/>
        <a:lstStyle/>
        <a:p>
          <a:r>
            <a:rPr lang="en-US" dirty="0" smtClean="0"/>
            <a:t>IT</a:t>
          </a:r>
          <a:endParaRPr lang="en-US" dirty="0"/>
        </a:p>
      </dgm:t>
    </dgm:pt>
    <dgm:pt modelId="{AF7C2F74-81EA-EE48-886C-0B1CD6F2D3D1}" type="parTrans" cxnId="{824BAC83-66D3-3344-A7A8-E16087AC1B9C}">
      <dgm:prSet/>
      <dgm:spPr/>
      <dgm:t>
        <a:bodyPr/>
        <a:lstStyle/>
        <a:p>
          <a:endParaRPr lang="en-US"/>
        </a:p>
      </dgm:t>
    </dgm:pt>
    <dgm:pt modelId="{3ACB0520-6C2E-274A-92F6-777F641EDAF8}" type="sibTrans" cxnId="{824BAC83-66D3-3344-A7A8-E16087AC1B9C}">
      <dgm:prSet/>
      <dgm:spPr/>
      <dgm:t>
        <a:bodyPr/>
        <a:lstStyle/>
        <a:p>
          <a:endParaRPr lang="en-US"/>
        </a:p>
      </dgm:t>
    </dgm:pt>
    <dgm:pt modelId="{906C8C96-FCDF-0A48-9901-60DB1B35BB23}">
      <dgm:prSet phldrT="[Text]"/>
      <dgm:spPr/>
      <dgm:t>
        <a:bodyPr/>
        <a:lstStyle/>
        <a:p>
          <a:r>
            <a:rPr lang="en-US" dirty="0" smtClean="0"/>
            <a:t>Cyber Security</a:t>
          </a:r>
          <a:endParaRPr lang="en-US" dirty="0"/>
        </a:p>
      </dgm:t>
    </dgm:pt>
    <dgm:pt modelId="{2A59D3BF-0506-3548-B92F-6BD24AC1E45B}" type="parTrans" cxnId="{E57D5771-8A8B-6E4D-AC69-CB44CF746901}">
      <dgm:prSet/>
      <dgm:spPr/>
      <dgm:t>
        <a:bodyPr/>
        <a:lstStyle/>
        <a:p>
          <a:endParaRPr lang="en-US"/>
        </a:p>
      </dgm:t>
    </dgm:pt>
    <dgm:pt modelId="{C2C79A71-C03D-EC46-8397-EF62D165F479}" type="sibTrans" cxnId="{E57D5771-8A8B-6E4D-AC69-CB44CF746901}">
      <dgm:prSet/>
      <dgm:spPr/>
      <dgm:t>
        <a:bodyPr/>
        <a:lstStyle/>
        <a:p>
          <a:endParaRPr lang="en-US"/>
        </a:p>
      </dgm:t>
    </dgm:pt>
    <dgm:pt modelId="{6E3B5A06-2F90-7340-AAD8-5D52DBD7BE45}">
      <dgm:prSet phldrT="[Text]"/>
      <dgm:spPr/>
      <dgm:t>
        <a:bodyPr/>
        <a:lstStyle/>
        <a:p>
          <a:r>
            <a:rPr lang="en-US" dirty="0" smtClean="0"/>
            <a:t>Missile boat</a:t>
          </a:r>
          <a:endParaRPr lang="en-US" dirty="0"/>
        </a:p>
      </dgm:t>
    </dgm:pt>
    <dgm:pt modelId="{72D2821C-0899-664E-ABFC-EA59BBBF0819}" type="parTrans" cxnId="{E97F8A2E-3C82-7E47-BAC1-DE9E6DBE9763}">
      <dgm:prSet/>
      <dgm:spPr/>
      <dgm:t>
        <a:bodyPr/>
        <a:lstStyle/>
        <a:p>
          <a:endParaRPr lang="en-US"/>
        </a:p>
      </dgm:t>
    </dgm:pt>
    <dgm:pt modelId="{A1E273DF-7FC7-8142-A23E-B9DAC92B0C66}" type="sibTrans" cxnId="{E97F8A2E-3C82-7E47-BAC1-DE9E6DBE9763}">
      <dgm:prSet/>
      <dgm:spPr/>
      <dgm:t>
        <a:bodyPr/>
        <a:lstStyle/>
        <a:p>
          <a:endParaRPr lang="en-US"/>
        </a:p>
      </dgm:t>
    </dgm:pt>
    <dgm:pt modelId="{709D7268-25AE-E64F-81D2-50F0019AD44E}" type="pres">
      <dgm:prSet presAssocID="{4D95A545-BEDE-794F-8F2A-25C65CC3936E}" presName="Name0" presStyleCnt="0">
        <dgm:presLayoutVars>
          <dgm:chMax/>
          <dgm:chPref/>
          <dgm:dir/>
        </dgm:presLayoutVars>
      </dgm:prSet>
      <dgm:spPr/>
      <dgm:t>
        <a:bodyPr/>
        <a:lstStyle/>
        <a:p>
          <a:endParaRPr lang="en-US"/>
        </a:p>
      </dgm:t>
    </dgm:pt>
    <dgm:pt modelId="{30A9ACC8-FD5E-AA4F-AAB4-72685B617E69}" type="pres">
      <dgm:prSet presAssocID="{FCB2CFAC-1E82-8B40-BF9D-54CA44193F5C}" presName="composite" presStyleCnt="0">
        <dgm:presLayoutVars>
          <dgm:chMax val="1"/>
          <dgm:chPref val="1"/>
        </dgm:presLayoutVars>
      </dgm:prSet>
      <dgm:spPr/>
    </dgm:pt>
    <dgm:pt modelId="{C1C1668B-DD1B-DB46-9F4A-B5C5943BE551}" type="pres">
      <dgm:prSet presAssocID="{FCB2CFAC-1E82-8B40-BF9D-54CA44193F5C}" presName="Accent" presStyleLbl="trAlignAcc1" presStyleIdx="0" presStyleCnt="4">
        <dgm:presLayoutVars>
          <dgm:chMax val="0"/>
          <dgm:chPref val="0"/>
        </dgm:presLayoutVars>
      </dgm:prSet>
      <dgm:spPr/>
    </dgm:pt>
    <dgm:pt modelId="{9110DAD8-0C76-CB44-A5F6-0679F91C4A9E}" type="pres">
      <dgm:prSet presAssocID="{FCB2CFAC-1E82-8B40-BF9D-54CA44193F5C}" presName="Image" presStyleLbl="alignImgPlace1" presStyleIdx="0" presStyleCnt="4">
        <dgm:presLayoutVars>
          <dgm:chMax val="0"/>
          <dgm:chPref val="0"/>
        </dgm:presLayoutVars>
      </dgm:prSet>
      <dgm:spPr>
        <a:blipFill rotWithShape="1">
          <a:blip xmlns:r="http://schemas.openxmlformats.org/officeDocument/2006/relationships" r:embed="rId1"/>
          <a:stretch>
            <a:fillRect/>
          </a:stretch>
        </a:blipFill>
      </dgm:spPr>
    </dgm:pt>
    <dgm:pt modelId="{37E54D31-8B0A-4D42-9886-04B5D7C0BB3E}" type="pres">
      <dgm:prSet presAssocID="{FCB2CFAC-1E82-8B40-BF9D-54CA44193F5C}" presName="ChildComposite" presStyleCnt="0"/>
      <dgm:spPr/>
    </dgm:pt>
    <dgm:pt modelId="{A2421C27-26A5-E04F-A4F9-0B3EAE3641DA}" type="pres">
      <dgm:prSet presAssocID="{FCB2CFAC-1E82-8B40-BF9D-54CA44193F5C}" presName="Child" presStyleLbl="node1" presStyleIdx="0" presStyleCnt="0">
        <dgm:presLayoutVars>
          <dgm:chMax val="0"/>
          <dgm:chPref val="0"/>
          <dgm:bulletEnabled val="1"/>
        </dgm:presLayoutVars>
      </dgm:prSet>
      <dgm:spPr/>
    </dgm:pt>
    <dgm:pt modelId="{FB7349AD-E669-D446-B3E1-56587B76E83F}" type="pres">
      <dgm:prSet presAssocID="{FCB2CFAC-1E82-8B40-BF9D-54CA44193F5C}" presName="Parent" presStyleLbl="revTx" presStyleIdx="0" presStyleCnt="4">
        <dgm:presLayoutVars>
          <dgm:chMax val="1"/>
          <dgm:chPref val="0"/>
          <dgm:bulletEnabled val="1"/>
        </dgm:presLayoutVars>
      </dgm:prSet>
      <dgm:spPr/>
      <dgm:t>
        <a:bodyPr/>
        <a:lstStyle/>
        <a:p>
          <a:endParaRPr lang="en-US"/>
        </a:p>
      </dgm:t>
    </dgm:pt>
    <dgm:pt modelId="{78D85E52-011C-E14D-A957-093CFFE59BF1}" type="pres">
      <dgm:prSet presAssocID="{48E82660-BFC1-DE45-9200-6E9C4350EDFD}" presName="sibTrans" presStyleCnt="0"/>
      <dgm:spPr/>
    </dgm:pt>
    <dgm:pt modelId="{774CA8EA-67D0-5543-9F6A-47B98D900AFF}" type="pres">
      <dgm:prSet presAssocID="{D565C2F1-91E1-7B42-A353-DA7878EC3C9C}" presName="composite" presStyleCnt="0">
        <dgm:presLayoutVars>
          <dgm:chMax val="1"/>
          <dgm:chPref val="1"/>
        </dgm:presLayoutVars>
      </dgm:prSet>
      <dgm:spPr/>
    </dgm:pt>
    <dgm:pt modelId="{136603D1-2EA6-6444-B868-AEE41B2083F6}" type="pres">
      <dgm:prSet presAssocID="{D565C2F1-91E1-7B42-A353-DA7878EC3C9C}" presName="Accent" presStyleLbl="trAlignAcc1" presStyleIdx="1" presStyleCnt="4">
        <dgm:presLayoutVars>
          <dgm:chMax val="0"/>
          <dgm:chPref val="0"/>
        </dgm:presLayoutVars>
      </dgm:prSet>
      <dgm:spPr/>
    </dgm:pt>
    <dgm:pt modelId="{686A94A3-4DF2-FF45-B770-61E9E0B26917}" type="pres">
      <dgm:prSet presAssocID="{D565C2F1-91E1-7B42-A353-DA7878EC3C9C}" presName="Image" presStyleLbl="alignImgPlace1" presStyleIdx="1" presStyleCnt="4">
        <dgm:presLayoutVars>
          <dgm:chMax val="0"/>
          <dgm:chPref val="0"/>
        </dgm:presLayoutVars>
      </dgm:prSet>
      <dgm:spPr>
        <a:blipFill rotWithShape="1">
          <a:blip xmlns:r="http://schemas.openxmlformats.org/officeDocument/2006/relationships" r:embed="rId2"/>
          <a:stretch>
            <a:fillRect/>
          </a:stretch>
        </a:blipFill>
      </dgm:spPr>
    </dgm:pt>
    <dgm:pt modelId="{A6C1FE0B-10A8-2047-A23F-B5A9939DD453}" type="pres">
      <dgm:prSet presAssocID="{D565C2F1-91E1-7B42-A353-DA7878EC3C9C}" presName="ChildComposite" presStyleCnt="0"/>
      <dgm:spPr/>
    </dgm:pt>
    <dgm:pt modelId="{6E812CDA-2BA8-6B4C-9F6F-38431691E9BB}" type="pres">
      <dgm:prSet presAssocID="{D565C2F1-91E1-7B42-A353-DA7878EC3C9C}" presName="Child" presStyleLbl="node1" presStyleIdx="0" presStyleCnt="0">
        <dgm:presLayoutVars>
          <dgm:chMax val="0"/>
          <dgm:chPref val="0"/>
          <dgm:bulletEnabled val="1"/>
        </dgm:presLayoutVars>
      </dgm:prSet>
      <dgm:spPr/>
      <dgm:t>
        <a:bodyPr/>
        <a:lstStyle/>
        <a:p>
          <a:endParaRPr lang="en-US"/>
        </a:p>
      </dgm:t>
    </dgm:pt>
    <dgm:pt modelId="{FEC4616B-A036-1E42-9619-88C815B9E8BD}" type="pres">
      <dgm:prSet presAssocID="{D565C2F1-91E1-7B42-A353-DA7878EC3C9C}" presName="Parent" presStyleLbl="revTx" presStyleIdx="1" presStyleCnt="4">
        <dgm:presLayoutVars>
          <dgm:chMax val="1"/>
          <dgm:chPref val="0"/>
          <dgm:bulletEnabled val="1"/>
        </dgm:presLayoutVars>
      </dgm:prSet>
      <dgm:spPr/>
      <dgm:t>
        <a:bodyPr/>
        <a:lstStyle/>
        <a:p>
          <a:endParaRPr lang="en-US"/>
        </a:p>
      </dgm:t>
    </dgm:pt>
    <dgm:pt modelId="{9B6DBE5A-9085-AC45-A9DC-F078AEF5FE0C}" type="pres">
      <dgm:prSet presAssocID="{3ACB0520-6C2E-274A-92F6-777F641EDAF8}" presName="sibTrans" presStyleCnt="0"/>
      <dgm:spPr/>
    </dgm:pt>
    <dgm:pt modelId="{C3F1566C-F1C1-3B49-A350-4894D776572F}" type="pres">
      <dgm:prSet presAssocID="{906C8C96-FCDF-0A48-9901-60DB1B35BB23}" presName="composite" presStyleCnt="0">
        <dgm:presLayoutVars>
          <dgm:chMax val="1"/>
          <dgm:chPref val="1"/>
        </dgm:presLayoutVars>
      </dgm:prSet>
      <dgm:spPr/>
    </dgm:pt>
    <dgm:pt modelId="{FC8F1B2F-AEC2-1740-BAE9-30F4DBF6FB8C}" type="pres">
      <dgm:prSet presAssocID="{906C8C96-FCDF-0A48-9901-60DB1B35BB23}" presName="Accent" presStyleLbl="trAlignAcc1" presStyleIdx="2" presStyleCnt="4">
        <dgm:presLayoutVars>
          <dgm:chMax val="0"/>
          <dgm:chPref val="0"/>
        </dgm:presLayoutVars>
      </dgm:prSet>
      <dgm:spPr/>
    </dgm:pt>
    <dgm:pt modelId="{DD7DE5CF-D72A-DD4A-8C89-DC072871B1C8}" type="pres">
      <dgm:prSet presAssocID="{906C8C96-FCDF-0A48-9901-60DB1B35BB23}" presName="Image" presStyleLbl="alignImgPlace1" presStyleIdx="2" presStyleCnt="4">
        <dgm:presLayoutVars>
          <dgm:chMax val="0"/>
          <dgm:chPref val="0"/>
        </dgm:presLayoutVars>
      </dgm:prSet>
      <dgm:spPr>
        <a:blipFill rotWithShape="1">
          <a:blip xmlns:r="http://schemas.openxmlformats.org/officeDocument/2006/relationships" r:embed="rId3"/>
          <a:stretch>
            <a:fillRect/>
          </a:stretch>
        </a:blipFill>
      </dgm:spPr>
    </dgm:pt>
    <dgm:pt modelId="{717649EB-70C7-3D44-B621-06F182523A3C}" type="pres">
      <dgm:prSet presAssocID="{906C8C96-FCDF-0A48-9901-60DB1B35BB23}" presName="ChildComposite" presStyleCnt="0"/>
      <dgm:spPr/>
    </dgm:pt>
    <dgm:pt modelId="{1A9A72B0-5FBA-5745-8ECC-F0EE7D366B3D}" type="pres">
      <dgm:prSet presAssocID="{906C8C96-FCDF-0A48-9901-60DB1B35BB23}" presName="Child" presStyleLbl="node1" presStyleIdx="0" presStyleCnt="0">
        <dgm:presLayoutVars>
          <dgm:chMax val="0"/>
          <dgm:chPref val="0"/>
          <dgm:bulletEnabled val="1"/>
        </dgm:presLayoutVars>
      </dgm:prSet>
      <dgm:spPr/>
    </dgm:pt>
    <dgm:pt modelId="{277AE4CD-7E4D-C24B-AA30-082C914F1F18}" type="pres">
      <dgm:prSet presAssocID="{906C8C96-FCDF-0A48-9901-60DB1B35BB23}" presName="Parent" presStyleLbl="revTx" presStyleIdx="2" presStyleCnt="4">
        <dgm:presLayoutVars>
          <dgm:chMax val="1"/>
          <dgm:chPref val="0"/>
          <dgm:bulletEnabled val="1"/>
        </dgm:presLayoutVars>
      </dgm:prSet>
      <dgm:spPr/>
      <dgm:t>
        <a:bodyPr/>
        <a:lstStyle/>
        <a:p>
          <a:endParaRPr lang="en-US"/>
        </a:p>
      </dgm:t>
    </dgm:pt>
    <dgm:pt modelId="{14830C2E-D8A8-ED4A-BFDA-D2FEA069EC01}" type="pres">
      <dgm:prSet presAssocID="{C2C79A71-C03D-EC46-8397-EF62D165F479}" presName="sibTrans" presStyleCnt="0"/>
      <dgm:spPr/>
    </dgm:pt>
    <dgm:pt modelId="{09905C85-6804-364F-89EC-9E5FC8F745F7}" type="pres">
      <dgm:prSet presAssocID="{6E3B5A06-2F90-7340-AAD8-5D52DBD7BE45}" presName="composite" presStyleCnt="0">
        <dgm:presLayoutVars>
          <dgm:chMax val="1"/>
          <dgm:chPref val="1"/>
        </dgm:presLayoutVars>
      </dgm:prSet>
      <dgm:spPr/>
    </dgm:pt>
    <dgm:pt modelId="{7FAC2E81-6ECA-D14B-AC4A-C75B2E3E0159}" type="pres">
      <dgm:prSet presAssocID="{6E3B5A06-2F90-7340-AAD8-5D52DBD7BE45}" presName="Accent" presStyleLbl="trAlignAcc1" presStyleIdx="3" presStyleCnt="4">
        <dgm:presLayoutVars>
          <dgm:chMax val="0"/>
          <dgm:chPref val="0"/>
        </dgm:presLayoutVars>
      </dgm:prSet>
      <dgm:spPr/>
    </dgm:pt>
    <dgm:pt modelId="{62CF7A85-F885-964B-87D7-E2DADAFB3844}" type="pres">
      <dgm:prSet presAssocID="{6E3B5A06-2F90-7340-AAD8-5D52DBD7BE45}" presName="Image" presStyleLbl="alignImgPlace1" presStyleIdx="3" presStyleCnt="4">
        <dgm:presLayoutVars>
          <dgm:chMax val="0"/>
          <dgm:chPref val="0"/>
        </dgm:presLayoutVars>
      </dgm:prSet>
      <dgm:spPr>
        <a:blipFill rotWithShape="1">
          <a:blip xmlns:r="http://schemas.openxmlformats.org/officeDocument/2006/relationships" r:embed="rId4"/>
          <a:stretch>
            <a:fillRect/>
          </a:stretch>
        </a:blipFill>
      </dgm:spPr>
    </dgm:pt>
    <dgm:pt modelId="{83DFB0BE-AD40-4F49-83ED-44ABF970D0E4}" type="pres">
      <dgm:prSet presAssocID="{6E3B5A06-2F90-7340-AAD8-5D52DBD7BE45}" presName="ChildComposite" presStyleCnt="0"/>
      <dgm:spPr/>
    </dgm:pt>
    <dgm:pt modelId="{FC964FBD-E108-2C40-88DD-5F3F326989E7}" type="pres">
      <dgm:prSet presAssocID="{6E3B5A06-2F90-7340-AAD8-5D52DBD7BE45}" presName="Child" presStyleLbl="node1" presStyleIdx="0" presStyleCnt="0">
        <dgm:presLayoutVars>
          <dgm:chMax val="0"/>
          <dgm:chPref val="0"/>
          <dgm:bulletEnabled val="1"/>
        </dgm:presLayoutVars>
      </dgm:prSet>
      <dgm:spPr/>
    </dgm:pt>
    <dgm:pt modelId="{A5FA4F04-8098-0A4D-A854-FFC40C15F826}" type="pres">
      <dgm:prSet presAssocID="{6E3B5A06-2F90-7340-AAD8-5D52DBD7BE45}" presName="Parent" presStyleLbl="revTx" presStyleIdx="3" presStyleCnt="4">
        <dgm:presLayoutVars>
          <dgm:chMax val="1"/>
          <dgm:chPref val="0"/>
          <dgm:bulletEnabled val="1"/>
        </dgm:presLayoutVars>
      </dgm:prSet>
      <dgm:spPr/>
      <dgm:t>
        <a:bodyPr/>
        <a:lstStyle/>
        <a:p>
          <a:endParaRPr lang="en-US"/>
        </a:p>
      </dgm:t>
    </dgm:pt>
  </dgm:ptLst>
  <dgm:cxnLst>
    <dgm:cxn modelId="{C58C96A9-BF4E-4F41-8AE8-94DCCA3F7BFF}" srcId="{4D95A545-BEDE-794F-8F2A-25C65CC3936E}" destId="{FCB2CFAC-1E82-8B40-BF9D-54CA44193F5C}" srcOrd="0" destOrd="0" parTransId="{C884D83F-5B70-2F4C-80D0-8FE7DF30AC3C}" sibTransId="{48E82660-BFC1-DE45-9200-6E9C4350EDFD}"/>
    <dgm:cxn modelId="{A7E4389F-6958-C241-A13B-CA467D51D2A1}" type="presOf" srcId="{D565C2F1-91E1-7B42-A353-DA7878EC3C9C}" destId="{FEC4616B-A036-1E42-9619-88C815B9E8BD}" srcOrd="0" destOrd="0" presId="urn:microsoft.com/office/officeart/2008/layout/CaptionedPictures"/>
    <dgm:cxn modelId="{EE0041B5-566F-554C-9176-494563B06831}" type="presOf" srcId="{6E3B5A06-2F90-7340-AAD8-5D52DBD7BE45}" destId="{A5FA4F04-8098-0A4D-A854-FFC40C15F826}" srcOrd="0" destOrd="0" presId="urn:microsoft.com/office/officeart/2008/layout/CaptionedPictures"/>
    <dgm:cxn modelId="{824BAC83-66D3-3344-A7A8-E16087AC1B9C}" srcId="{4D95A545-BEDE-794F-8F2A-25C65CC3936E}" destId="{D565C2F1-91E1-7B42-A353-DA7878EC3C9C}" srcOrd="1" destOrd="0" parTransId="{AF7C2F74-81EA-EE48-886C-0B1CD6F2D3D1}" sibTransId="{3ACB0520-6C2E-274A-92F6-777F641EDAF8}"/>
    <dgm:cxn modelId="{FB6833EA-7F00-744D-ADB2-50A0CA214CF6}" type="presOf" srcId="{906C8C96-FCDF-0A48-9901-60DB1B35BB23}" destId="{277AE4CD-7E4D-C24B-AA30-082C914F1F18}" srcOrd="0" destOrd="0" presId="urn:microsoft.com/office/officeart/2008/layout/CaptionedPictures"/>
    <dgm:cxn modelId="{E57D5771-8A8B-6E4D-AC69-CB44CF746901}" srcId="{4D95A545-BEDE-794F-8F2A-25C65CC3936E}" destId="{906C8C96-FCDF-0A48-9901-60DB1B35BB23}" srcOrd="2" destOrd="0" parTransId="{2A59D3BF-0506-3548-B92F-6BD24AC1E45B}" sibTransId="{C2C79A71-C03D-EC46-8397-EF62D165F479}"/>
    <dgm:cxn modelId="{88AEE831-3397-3349-87F4-302D8C58620C}" type="presOf" srcId="{FCB2CFAC-1E82-8B40-BF9D-54CA44193F5C}" destId="{FB7349AD-E669-D446-B3E1-56587B76E83F}" srcOrd="0" destOrd="0" presId="urn:microsoft.com/office/officeart/2008/layout/CaptionedPictures"/>
    <dgm:cxn modelId="{F3180932-8B2C-EF4C-9E8C-188095974A0A}" type="presOf" srcId="{4D95A545-BEDE-794F-8F2A-25C65CC3936E}" destId="{709D7268-25AE-E64F-81D2-50F0019AD44E}" srcOrd="0" destOrd="0" presId="urn:microsoft.com/office/officeart/2008/layout/CaptionedPictures"/>
    <dgm:cxn modelId="{E97F8A2E-3C82-7E47-BAC1-DE9E6DBE9763}" srcId="{4D95A545-BEDE-794F-8F2A-25C65CC3936E}" destId="{6E3B5A06-2F90-7340-AAD8-5D52DBD7BE45}" srcOrd="3" destOrd="0" parTransId="{72D2821C-0899-664E-ABFC-EA59BBBF0819}" sibTransId="{A1E273DF-7FC7-8142-A23E-B9DAC92B0C66}"/>
    <dgm:cxn modelId="{F3E6B514-F7EE-F349-96DA-37CC51B15CD5}" type="presParOf" srcId="{709D7268-25AE-E64F-81D2-50F0019AD44E}" destId="{30A9ACC8-FD5E-AA4F-AAB4-72685B617E69}" srcOrd="0" destOrd="0" presId="urn:microsoft.com/office/officeart/2008/layout/CaptionedPictures"/>
    <dgm:cxn modelId="{419F7B9E-FEA8-4A40-B7BE-755DF507FD49}" type="presParOf" srcId="{30A9ACC8-FD5E-AA4F-AAB4-72685B617E69}" destId="{C1C1668B-DD1B-DB46-9F4A-B5C5943BE551}" srcOrd="0" destOrd="0" presId="urn:microsoft.com/office/officeart/2008/layout/CaptionedPictures"/>
    <dgm:cxn modelId="{F495B33D-A656-DD43-9262-FABBBDDDAF0B}" type="presParOf" srcId="{30A9ACC8-FD5E-AA4F-AAB4-72685B617E69}" destId="{9110DAD8-0C76-CB44-A5F6-0679F91C4A9E}" srcOrd="1" destOrd="0" presId="urn:microsoft.com/office/officeart/2008/layout/CaptionedPictures"/>
    <dgm:cxn modelId="{C51C4BBF-29E8-3D44-88D6-5E67B916E76B}" type="presParOf" srcId="{30A9ACC8-FD5E-AA4F-AAB4-72685B617E69}" destId="{37E54D31-8B0A-4D42-9886-04B5D7C0BB3E}" srcOrd="2" destOrd="0" presId="urn:microsoft.com/office/officeart/2008/layout/CaptionedPictures"/>
    <dgm:cxn modelId="{03F1320E-C0B5-E14E-A3FB-4E94AAC35A9B}" type="presParOf" srcId="{37E54D31-8B0A-4D42-9886-04B5D7C0BB3E}" destId="{A2421C27-26A5-E04F-A4F9-0B3EAE3641DA}" srcOrd="0" destOrd="0" presId="urn:microsoft.com/office/officeart/2008/layout/CaptionedPictures"/>
    <dgm:cxn modelId="{88CEDD19-B125-7E4E-A326-C3F3A3661C9A}" type="presParOf" srcId="{37E54D31-8B0A-4D42-9886-04B5D7C0BB3E}" destId="{FB7349AD-E669-D446-B3E1-56587B76E83F}" srcOrd="1" destOrd="0" presId="urn:microsoft.com/office/officeart/2008/layout/CaptionedPictures"/>
    <dgm:cxn modelId="{407A5609-23EB-AD45-B603-82948F892ACB}" type="presParOf" srcId="{709D7268-25AE-E64F-81D2-50F0019AD44E}" destId="{78D85E52-011C-E14D-A957-093CFFE59BF1}" srcOrd="1" destOrd="0" presId="urn:microsoft.com/office/officeart/2008/layout/CaptionedPictures"/>
    <dgm:cxn modelId="{FF03E3D3-5C40-094E-9B35-2894A348ECFB}" type="presParOf" srcId="{709D7268-25AE-E64F-81D2-50F0019AD44E}" destId="{774CA8EA-67D0-5543-9F6A-47B98D900AFF}" srcOrd="2" destOrd="0" presId="urn:microsoft.com/office/officeart/2008/layout/CaptionedPictures"/>
    <dgm:cxn modelId="{9CAF5EB1-DC83-7D44-BF15-860B6358184D}" type="presParOf" srcId="{774CA8EA-67D0-5543-9F6A-47B98D900AFF}" destId="{136603D1-2EA6-6444-B868-AEE41B2083F6}" srcOrd="0" destOrd="0" presId="urn:microsoft.com/office/officeart/2008/layout/CaptionedPictures"/>
    <dgm:cxn modelId="{EC7F3D3F-BD2B-034A-932E-D6990C331637}" type="presParOf" srcId="{774CA8EA-67D0-5543-9F6A-47B98D900AFF}" destId="{686A94A3-4DF2-FF45-B770-61E9E0B26917}" srcOrd="1" destOrd="0" presId="urn:microsoft.com/office/officeart/2008/layout/CaptionedPictures"/>
    <dgm:cxn modelId="{4B5FD20F-48FE-A840-8DEE-36C41D7B7CA2}" type="presParOf" srcId="{774CA8EA-67D0-5543-9F6A-47B98D900AFF}" destId="{A6C1FE0B-10A8-2047-A23F-B5A9939DD453}" srcOrd="2" destOrd="0" presId="urn:microsoft.com/office/officeart/2008/layout/CaptionedPictures"/>
    <dgm:cxn modelId="{94134B30-BCE5-EC4E-BFFF-31A60CD6C6B6}" type="presParOf" srcId="{A6C1FE0B-10A8-2047-A23F-B5A9939DD453}" destId="{6E812CDA-2BA8-6B4C-9F6F-38431691E9BB}" srcOrd="0" destOrd="0" presId="urn:microsoft.com/office/officeart/2008/layout/CaptionedPictures"/>
    <dgm:cxn modelId="{679FE8DA-E4A2-534A-AE5D-1A772F3EE760}" type="presParOf" srcId="{A6C1FE0B-10A8-2047-A23F-B5A9939DD453}" destId="{FEC4616B-A036-1E42-9619-88C815B9E8BD}" srcOrd="1" destOrd="0" presId="urn:microsoft.com/office/officeart/2008/layout/CaptionedPictures"/>
    <dgm:cxn modelId="{21720727-90EF-F74D-B510-CD7DDEE2E189}" type="presParOf" srcId="{709D7268-25AE-E64F-81D2-50F0019AD44E}" destId="{9B6DBE5A-9085-AC45-A9DC-F078AEF5FE0C}" srcOrd="3" destOrd="0" presId="urn:microsoft.com/office/officeart/2008/layout/CaptionedPictures"/>
    <dgm:cxn modelId="{F2DF8044-C76F-5544-AA03-72D9FEE2D535}" type="presParOf" srcId="{709D7268-25AE-E64F-81D2-50F0019AD44E}" destId="{C3F1566C-F1C1-3B49-A350-4894D776572F}" srcOrd="4" destOrd="0" presId="urn:microsoft.com/office/officeart/2008/layout/CaptionedPictures"/>
    <dgm:cxn modelId="{E0E56728-F8C9-384D-A5D7-4C91362D8D0D}" type="presParOf" srcId="{C3F1566C-F1C1-3B49-A350-4894D776572F}" destId="{FC8F1B2F-AEC2-1740-BAE9-30F4DBF6FB8C}" srcOrd="0" destOrd="0" presId="urn:microsoft.com/office/officeart/2008/layout/CaptionedPictures"/>
    <dgm:cxn modelId="{E0A4F86E-B784-A74F-AEA0-6AF8C9960934}" type="presParOf" srcId="{C3F1566C-F1C1-3B49-A350-4894D776572F}" destId="{DD7DE5CF-D72A-DD4A-8C89-DC072871B1C8}" srcOrd="1" destOrd="0" presId="urn:microsoft.com/office/officeart/2008/layout/CaptionedPictures"/>
    <dgm:cxn modelId="{F641D4D2-6B32-0A42-8073-2FB6A51F7125}" type="presParOf" srcId="{C3F1566C-F1C1-3B49-A350-4894D776572F}" destId="{717649EB-70C7-3D44-B621-06F182523A3C}" srcOrd="2" destOrd="0" presId="urn:microsoft.com/office/officeart/2008/layout/CaptionedPictures"/>
    <dgm:cxn modelId="{E2B32743-9A56-454F-AC9D-AD0E639F4F88}" type="presParOf" srcId="{717649EB-70C7-3D44-B621-06F182523A3C}" destId="{1A9A72B0-5FBA-5745-8ECC-F0EE7D366B3D}" srcOrd="0" destOrd="0" presId="urn:microsoft.com/office/officeart/2008/layout/CaptionedPictures"/>
    <dgm:cxn modelId="{407D9BD0-9674-214D-987A-B9735B50FCF3}" type="presParOf" srcId="{717649EB-70C7-3D44-B621-06F182523A3C}" destId="{277AE4CD-7E4D-C24B-AA30-082C914F1F18}" srcOrd="1" destOrd="0" presId="urn:microsoft.com/office/officeart/2008/layout/CaptionedPictures"/>
    <dgm:cxn modelId="{0E92D6EA-5A3E-FB40-99D2-BE0D52A2077E}" type="presParOf" srcId="{709D7268-25AE-E64F-81D2-50F0019AD44E}" destId="{14830C2E-D8A8-ED4A-BFDA-D2FEA069EC01}" srcOrd="5" destOrd="0" presId="urn:microsoft.com/office/officeart/2008/layout/CaptionedPictures"/>
    <dgm:cxn modelId="{9B852603-8C3B-FE4D-9D4A-56D565AA45D2}" type="presParOf" srcId="{709D7268-25AE-E64F-81D2-50F0019AD44E}" destId="{09905C85-6804-364F-89EC-9E5FC8F745F7}" srcOrd="6" destOrd="0" presId="urn:microsoft.com/office/officeart/2008/layout/CaptionedPictures"/>
    <dgm:cxn modelId="{A85F3091-3197-8740-BE90-AC65764EB003}" type="presParOf" srcId="{09905C85-6804-364F-89EC-9E5FC8F745F7}" destId="{7FAC2E81-6ECA-D14B-AC4A-C75B2E3E0159}" srcOrd="0" destOrd="0" presId="urn:microsoft.com/office/officeart/2008/layout/CaptionedPictures"/>
    <dgm:cxn modelId="{F17532B8-CC00-D940-B824-C13EA3E65A2C}" type="presParOf" srcId="{09905C85-6804-364F-89EC-9E5FC8F745F7}" destId="{62CF7A85-F885-964B-87D7-E2DADAFB3844}" srcOrd="1" destOrd="0" presId="urn:microsoft.com/office/officeart/2008/layout/CaptionedPictures"/>
    <dgm:cxn modelId="{7767D0C3-ED75-2341-B654-C2E5979A5A96}" type="presParOf" srcId="{09905C85-6804-364F-89EC-9E5FC8F745F7}" destId="{83DFB0BE-AD40-4F49-83ED-44ABF970D0E4}" srcOrd="2" destOrd="0" presId="urn:microsoft.com/office/officeart/2008/layout/CaptionedPictures"/>
    <dgm:cxn modelId="{202E1EBD-7471-5E42-83E2-63676DC8FEF7}" type="presParOf" srcId="{83DFB0BE-AD40-4F49-83ED-44ABF970D0E4}" destId="{FC964FBD-E108-2C40-88DD-5F3F326989E7}" srcOrd="0" destOrd="0" presId="urn:microsoft.com/office/officeart/2008/layout/CaptionedPictures"/>
    <dgm:cxn modelId="{15B7065A-BFF2-F64F-8A2D-A91370B128FE}" type="presParOf" srcId="{83DFB0BE-AD40-4F49-83ED-44ABF970D0E4}" destId="{A5FA4F04-8098-0A4D-A854-FFC40C15F82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2" y="0"/>
            <a:ext cx="3037840"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a:p>
        </p:txBody>
      </p:sp>
      <p:sp>
        <p:nvSpPr>
          <p:cNvPr id="44035" name="Rectangle 3"/>
          <p:cNvSpPr>
            <a:spLocks noGrp="1" noChangeArrowheads="1"/>
          </p:cNvSpPr>
          <p:nvPr>
            <p:ph type="dt" sz="quarter" idx="1"/>
          </p:nvPr>
        </p:nvSpPr>
        <p:spPr bwMode="auto">
          <a:xfrm>
            <a:off x="3970940" y="0"/>
            <a:ext cx="3037840"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74E8DE25-A96C-4784-9AF2-B7521031505D}" type="datetime1">
              <a:rPr lang="en-US"/>
              <a:pPr>
                <a:defRPr/>
              </a:pPr>
              <a:t>9/26/2012</a:t>
            </a:fld>
            <a:endParaRPr lang="en-US"/>
          </a:p>
        </p:txBody>
      </p:sp>
      <p:sp>
        <p:nvSpPr>
          <p:cNvPr id="44036" name="Rectangle 4"/>
          <p:cNvSpPr>
            <a:spLocks noGrp="1" noChangeArrowheads="1"/>
          </p:cNvSpPr>
          <p:nvPr>
            <p:ph type="ftr" sz="quarter" idx="2"/>
          </p:nvPr>
        </p:nvSpPr>
        <p:spPr bwMode="auto">
          <a:xfrm>
            <a:off x="2" y="8829967"/>
            <a:ext cx="3037840"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a:p>
        </p:txBody>
      </p:sp>
      <p:sp>
        <p:nvSpPr>
          <p:cNvPr id="44037" name="Rectangle 5"/>
          <p:cNvSpPr>
            <a:spLocks noGrp="1" noChangeArrowheads="1"/>
          </p:cNvSpPr>
          <p:nvPr>
            <p:ph type="sldNum" sz="quarter" idx="3"/>
          </p:nvPr>
        </p:nvSpPr>
        <p:spPr bwMode="auto">
          <a:xfrm>
            <a:off x="3970940" y="8829967"/>
            <a:ext cx="3037840"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78AC4344-9A57-4A61-B31C-7A5508CCB294}" type="slidenum">
              <a:rPr lang="en-US"/>
              <a:pPr>
                <a:defRPr/>
              </a:pPr>
              <a:t>‹#›</a:t>
            </a:fld>
            <a:endParaRPr lang="en-US"/>
          </a:p>
        </p:txBody>
      </p:sp>
    </p:spTree>
    <p:extLst>
      <p:ext uri="{BB962C8B-B14F-4D97-AF65-F5344CB8AC3E}">
        <p14:creationId xmlns:p14="http://schemas.microsoft.com/office/powerpoint/2010/main" val="4673171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2" y="0"/>
            <a:ext cx="3037840"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a:p>
        </p:txBody>
      </p:sp>
      <p:sp>
        <p:nvSpPr>
          <p:cNvPr id="53251" name="Rectangle 3"/>
          <p:cNvSpPr>
            <a:spLocks noGrp="1" noChangeArrowheads="1"/>
          </p:cNvSpPr>
          <p:nvPr>
            <p:ph type="dt" idx="1"/>
          </p:nvPr>
        </p:nvSpPr>
        <p:spPr bwMode="auto">
          <a:xfrm>
            <a:off x="3970940" y="0"/>
            <a:ext cx="3037840" cy="46482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4D17307E-A673-4CA3-8E6E-8EA722CE39DA}" type="datetime1">
              <a:rPr lang="en-US"/>
              <a:pPr>
                <a:defRPr/>
              </a:pPr>
              <a:t>9/26/2012</a:t>
            </a:fld>
            <a:endParaRPr lang="en-US"/>
          </a:p>
        </p:txBody>
      </p:sp>
      <p:sp>
        <p:nvSpPr>
          <p:cNvPr id="144388" name="Rectangle 4"/>
          <p:cNvSpPr>
            <a:spLocks noGrp="1" noRot="1" noChangeAspect="1" noChangeArrowheads="1" noTextEdit="1"/>
          </p:cNvSpPr>
          <p:nvPr>
            <p:ph type="sldImg" idx="2"/>
          </p:nvPr>
        </p:nvSpPr>
        <p:spPr bwMode="auto">
          <a:xfrm>
            <a:off x="1182688" y="696913"/>
            <a:ext cx="4648200" cy="3486150"/>
          </a:xfrm>
          <a:prstGeom prst="rect">
            <a:avLst/>
          </a:prstGeom>
          <a:noFill/>
          <a:ln w="9525">
            <a:solidFill>
              <a:srgbClr val="000000"/>
            </a:solidFill>
            <a:miter lim="800000"/>
            <a:headEnd/>
            <a:tailEnd/>
          </a:ln>
        </p:spPr>
      </p:sp>
      <p:sp>
        <p:nvSpPr>
          <p:cNvPr id="53253" name="Rectangle 5"/>
          <p:cNvSpPr>
            <a:spLocks noGrp="1" noChangeArrowheads="1"/>
          </p:cNvSpPr>
          <p:nvPr>
            <p:ph type="body" sz="quarter" idx="3"/>
          </p:nvPr>
        </p:nvSpPr>
        <p:spPr bwMode="auto">
          <a:xfrm>
            <a:off x="701041" y="4415790"/>
            <a:ext cx="5608320" cy="4183380"/>
          </a:xfrm>
          <a:prstGeom prst="rect">
            <a:avLst/>
          </a:prstGeom>
          <a:noFill/>
          <a:ln w="9525">
            <a:noFill/>
            <a:miter lim="800000"/>
            <a:headEnd/>
            <a:tailEnd/>
          </a:ln>
          <a:effectLst/>
        </p:spPr>
        <p:txBody>
          <a:bodyPr vert="horz" wrap="square" lIns="92444" tIns="46222" rIns="92444" bIns="4622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3254" name="Rectangle 6"/>
          <p:cNvSpPr>
            <a:spLocks noGrp="1" noChangeArrowheads="1"/>
          </p:cNvSpPr>
          <p:nvPr>
            <p:ph type="ftr" sz="quarter" idx="4"/>
          </p:nvPr>
        </p:nvSpPr>
        <p:spPr bwMode="auto">
          <a:xfrm>
            <a:off x="2" y="8829967"/>
            <a:ext cx="3037840"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a:p>
        </p:txBody>
      </p:sp>
      <p:sp>
        <p:nvSpPr>
          <p:cNvPr id="53255" name="Rectangle 7"/>
          <p:cNvSpPr>
            <a:spLocks noGrp="1" noChangeArrowheads="1"/>
          </p:cNvSpPr>
          <p:nvPr>
            <p:ph type="sldNum" sz="quarter" idx="5"/>
          </p:nvPr>
        </p:nvSpPr>
        <p:spPr bwMode="auto">
          <a:xfrm>
            <a:off x="3970940" y="8829967"/>
            <a:ext cx="3037840" cy="464820"/>
          </a:xfrm>
          <a:prstGeom prst="rect">
            <a:avLst/>
          </a:prstGeom>
          <a:noFill/>
          <a:ln w="9525">
            <a:noFill/>
            <a:miter lim="800000"/>
            <a:headEnd/>
            <a:tailEnd/>
          </a:ln>
          <a:effectLst/>
        </p:spPr>
        <p:txBody>
          <a:bodyPr vert="horz" wrap="square" lIns="92444" tIns="46222" rIns="92444" bIns="46222" numCol="1" anchor="b"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C3E0605D-1DE2-4A71-8779-0284BDF8C5AD}" type="slidenum">
              <a:rPr lang="en-US"/>
              <a:pPr>
                <a:defRPr/>
              </a:pPr>
              <a:t>‹#›</a:t>
            </a:fld>
            <a:endParaRPr lang="en-US"/>
          </a:p>
        </p:txBody>
      </p:sp>
    </p:spTree>
    <p:extLst>
      <p:ext uri="{BB962C8B-B14F-4D97-AF65-F5344CB8AC3E}">
        <p14:creationId xmlns:p14="http://schemas.microsoft.com/office/powerpoint/2010/main" val="3016137650"/>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1pPr>
    <a:lvl2pPr marL="4572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2pPr>
    <a:lvl3pPr marL="9144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3pPr>
    <a:lvl4pPr marL="13716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4pPr>
    <a:lvl5pPr marL="1828800" algn="l" defTabSz="457200" rtl="0" eaLnBrk="0" fontAlgn="base" hangingPunct="0">
      <a:spcBef>
        <a:spcPct val="30000"/>
      </a:spcBef>
      <a:spcAft>
        <a:spcPct val="0"/>
      </a:spcAft>
      <a:defRPr sz="1200" kern="1200">
        <a:solidFill>
          <a:schemeClr val="tx1"/>
        </a:solidFill>
        <a:latin typeface="Calibri" pitchFamily="34" charset="0"/>
        <a:ea typeface="ＭＳ Ｐゴシック"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pPr>
              <a:defRPr/>
            </a:pPr>
            <a:fld id="{8600B3CD-BB54-9649-A138-CAAC3F74618D}" type="slidenum">
              <a:rPr lang="en-US"/>
              <a:pPr>
                <a:defRPr/>
              </a:pPr>
              <a:t>1</a:t>
            </a:fld>
            <a:endParaRPr lang="en-US"/>
          </a:p>
        </p:txBody>
      </p:sp>
      <p:sp>
        <p:nvSpPr>
          <p:cNvPr id="1587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58723" name="Rectangle 3"/>
          <p:cNvSpPr>
            <a:spLocks noGrp="1" noChangeArrowheads="1"/>
          </p:cNvSpPr>
          <p:nvPr>
            <p:ph type="body" idx="1"/>
          </p:nvPr>
        </p:nvSpPr>
        <p:spPr/>
        <p:txBody>
          <a:bodyPr/>
          <a:lstStyle/>
          <a:p>
            <a:pPr eaLnBrk="1" hangingPunct="1">
              <a:defRPr/>
            </a:pPr>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C44110AE-A116-4B53-BC2C-7A1E2A5AD82B}" type="slidenum">
              <a:rPr lang="en-US" smtClean="0">
                <a:latin typeface="Arial" pitchFamily="34" charset="0"/>
                <a:ea typeface="ＭＳ Ｐゴシック" pitchFamily="34" charset="-128"/>
                <a:cs typeface="Arial" pitchFamily="34" charset="0"/>
              </a:rPr>
              <a:pPr/>
              <a:t>2</a:t>
            </a:fld>
            <a:endParaRPr lang="en-US" smtClean="0">
              <a:latin typeface="Arial" pitchFamily="34" charset="0"/>
              <a:ea typeface="ＭＳ Ｐゴシック" pitchFamily="34" charset="-128"/>
              <a:cs typeface="Arial" pitchFamily="34"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endParaRPr lang="en-US" smtClean="0">
              <a:latin typeface="Arial" pitchFamily="34" charset="0"/>
              <a:ea typeface="ＭＳ Ｐゴシック" pitchFamily="34" charset="-128"/>
              <a:cs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910BC6-259B-448A-9346-D8CB8C64E587}" type="slidenum">
              <a:rPr lang="en-US" smtClean="0"/>
              <a:t>135</a:t>
            </a:fld>
            <a:endParaRPr lang="en-US" dirty="0"/>
          </a:p>
        </p:txBody>
      </p:sp>
    </p:spTree>
    <p:extLst>
      <p:ext uri="{BB962C8B-B14F-4D97-AF65-F5344CB8AC3E}">
        <p14:creationId xmlns:p14="http://schemas.microsoft.com/office/powerpoint/2010/main" val="3125577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1910BC6-259B-448A-9346-D8CB8C64E587}" type="slidenum">
              <a:rPr lang="en-US" smtClean="0"/>
              <a:t>136</a:t>
            </a:fld>
            <a:endParaRPr lang="en-US" dirty="0"/>
          </a:p>
        </p:txBody>
      </p:sp>
    </p:spTree>
    <p:extLst>
      <p:ext uri="{BB962C8B-B14F-4D97-AF65-F5344CB8AC3E}">
        <p14:creationId xmlns:p14="http://schemas.microsoft.com/office/powerpoint/2010/main" val="31255772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Picture 4" descr="covernew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10594" name="Rectangle 2"/>
          <p:cNvSpPr>
            <a:spLocks noGrp="1" noChangeArrowheads="1"/>
          </p:cNvSpPr>
          <p:nvPr>
            <p:ph type="subTitle" idx="1"/>
          </p:nvPr>
        </p:nvSpPr>
        <p:spPr>
          <a:xfrm>
            <a:off x="304800" y="3810000"/>
            <a:ext cx="4573588" cy="1295400"/>
          </a:xfrm>
        </p:spPr>
        <p:txBody>
          <a:bodyPr/>
          <a:lstStyle>
            <a:lvl1pPr marL="0" indent="50800" algn="r">
              <a:buFontTx/>
              <a:buNone/>
              <a:defRPr smtClean="0">
                <a:solidFill>
                  <a:schemeClr val="bg1"/>
                </a:solidFill>
                <a:ea typeface="ＭＳ Ｐゴシック" pitchFamily="-65" charset="-128"/>
              </a:defRPr>
            </a:lvl1pPr>
          </a:lstStyle>
          <a:p>
            <a:r>
              <a:rPr lang="en-US" smtClean="0"/>
              <a:t>Click to edit Master subtitle style</a:t>
            </a:r>
          </a:p>
        </p:txBody>
      </p:sp>
      <p:sp>
        <p:nvSpPr>
          <p:cNvPr id="110595" name="Rectangle 3"/>
          <p:cNvSpPr>
            <a:spLocks noGrp="1" noChangeArrowheads="1"/>
          </p:cNvSpPr>
          <p:nvPr>
            <p:ph type="ctrTitle"/>
          </p:nvPr>
        </p:nvSpPr>
        <p:spPr>
          <a:xfrm>
            <a:off x="307975" y="2511425"/>
            <a:ext cx="4570413" cy="1143000"/>
          </a:xfrm>
        </p:spPr>
        <p:txBody>
          <a:bodyPr anchor="b"/>
          <a:lstStyle>
            <a:lvl1pPr algn="r">
              <a:defRPr sz="3600" smtClean="0">
                <a:solidFill>
                  <a:schemeClr val="bg1"/>
                </a:solidFill>
                <a:ea typeface="ＭＳ Ｐゴシック" pitchFamily="-65" charset="-128"/>
              </a:defRPr>
            </a:lvl1pPr>
          </a:lstStyle>
          <a:p>
            <a:r>
              <a:rPr lang="en-US" smtClean="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15"/>
          <p:cNvSpPr>
            <a:spLocks noGrp="1" noChangeArrowheads="1"/>
          </p:cNvSpPr>
          <p:nvPr>
            <p:ph type="ftr" sz="quarter" idx="10"/>
          </p:nvPr>
        </p:nvSpPr>
        <p:spPr>
          <a:ln/>
        </p:spPr>
        <p:txBody>
          <a:bodyPr/>
          <a:lstStyle>
            <a:lvl1pPr>
              <a:defRPr/>
            </a:lvl1pPr>
          </a:lstStyle>
          <a:p>
            <a:pPr>
              <a:defRPr/>
            </a:pPr>
            <a:endParaRPr lang="en-US"/>
          </a:p>
        </p:txBody>
      </p:sp>
      <p:sp>
        <p:nvSpPr>
          <p:cNvPr id="5" name="Rectangle 16"/>
          <p:cNvSpPr>
            <a:spLocks noGrp="1" noChangeArrowheads="1"/>
          </p:cNvSpPr>
          <p:nvPr>
            <p:ph type="sldNum" sz="quarter" idx="11"/>
          </p:nvPr>
        </p:nvSpPr>
        <p:spPr>
          <a:ln/>
        </p:spPr>
        <p:txBody>
          <a:bodyPr/>
          <a:lstStyle>
            <a:lvl1pPr>
              <a:defRPr/>
            </a:lvl1pPr>
          </a:lstStyle>
          <a:p>
            <a:pPr>
              <a:defRPr/>
            </a:pPr>
            <a:fld id="{D27468C5-B7D7-4747-8C9A-D2E8B4FA8FD8}"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15"/>
          <p:cNvSpPr>
            <a:spLocks noGrp="1" noChangeArrowheads="1"/>
          </p:cNvSpPr>
          <p:nvPr>
            <p:ph type="ftr" sz="quarter" idx="10"/>
          </p:nvPr>
        </p:nvSpPr>
        <p:spPr>
          <a:ln/>
        </p:spPr>
        <p:txBody>
          <a:bodyPr/>
          <a:lstStyle>
            <a:lvl1pPr>
              <a:defRPr/>
            </a:lvl1pPr>
          </a:lstStyle>
          <a:p>
            <a:pPr>
              <a:defRPr/>
            </a:pPr>
            <a:endParaRPr lang="en-US"/>
          </a:p>
        </p:txBody>
      </p:sp>
      <p:sp>
        <p:nvSpPr>
          <p:cNvPr id="5" name="Rectangle 16"/>
          <p:cNvSpPr>
            <a:spLocks noGrp="1" noChangeArrowheads="1"/>
          </p:cNvSpPr>
          <p:nvPr>
            <p:ph type="sldNum" sz="quarter" idx="11"/>
          </p:nvPr>
        </p:nvSpPr>
        <p:spPr>
          <a:ln/>
        </p:spPr>
        <p:txBody>
          <a:bodyPr/>
          <a:lstStyle>
            <a:lvl1pPr>
              <a:defRPr/>
            </a:lvl1pPr>
          </a:lstStyle>
          <a:p>
            <a:pPr>
              <a:defRPr/>
            </a:pPr>
            <a:fld id="{2E1E1E2A-88E9-4CB1-89D2-8ABF177DA4C4}"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5"/>
          <p:cNvSpPr>
            <a:spLocks noGrp="1" noChangeArrowheads="1"/>
          </p:cNvSpPr>
          <p:nvPr>
            <p:ph type="ftr" sz="quarter" idx="10"/>
          </p:nvPr>
        </p:nvSpPr>
        <p:spPr>
          <a:ln/>
        </p:spPr>
        <p:txBody>
          <a:bodyPr/>
          <a:lstStyle>
            <a:lvl1pPr>
              <a:defRPr/>
            </a:lvl1pPr>
          </a:lstStyle>
          <a:p>
            <a:pPr>
              <a:defRPr/>
            </a:pPr>
            <a:endParaRPr lang="en-US"/>
          </a:p>
        </p:txBody>
      </p:sp>
      <p:sp>
        <p:nvSpPr>
          <p:cNvPr id="5" name="Rectangle 16"/>
          <p:cNvSpPr>
            <a:spLocks noGrp="1" noChangeArrowheads="1"/>
          </p:cNvSpPr>
          <p:nvPr>
            <p:ph type="sldNum" sz="quarter" idx="11"/>
          </p:nvPr>
        </p:nvSpPr>
        <p:spPr>
          <a:ln/>
        </p:spPr>
        <p:txBody>
          <a:bodyPr/>
          <a:lstStyle>
            <a:lvl1pPr>
              <a:defRPr/>
            </a:lvl1pPr>
          </a:lstStyle>
          <a:p>
            <a:pPr>
              <a:defRPr/>
            </a:pPr>
            <a:fld id="{D759F432-5C29-46DF-8263-BF10542E1504}"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5"/>
          <p:cNvSpPr>
            <a:spLocks noGrp="1" noChangeArrowheads="1"/>
          </p:cNvSpPr>
          <p:nvPr>
            <p:ph type="ftr" sz="quarter" idx="10"/>
          </p:nvPr>
        </p:nvSpPr>
        <p:spPr>
          <a:ln/>
        </p:spPr>
        <p:txBody>
          <a:bodyPr/>
          <a:lstStyle>
            <a:lvl1pPr>
              <a:defRPr/>
            </a:lvl1pPr>
          </a:lstStyle>
          <a:p>
            <a:pPr>
              <a:defRPr/>
            </a:pPr>
            <a:endParaRPr lang="en-US"/>
          </a:p>
        </p:txBody>
      </p:sp>
      <p:sp>
        <p:nvSpPr>
          <p:cNvPr id="6" name="Rectangle 16"/>
          <p:cNvSpPr>
            <a:spLocks noGrp="1" noChangeArrowheads="1"/>
          </p:cNvSpPr>
          <p:nvPr>
            <p:ph type="sldNum" sz="quarter" idx="11"/>
          </p:nvPr>
        </p:nvSpPr>
        <p:spPr>
          <a:ln/>
        </p:spPr>
        <p:txBody>
          <a:bodyPr/>
          <a:lstStyle>
            <a:lvl1pPr>
              <a:defRPr/>
            </a:lvl1pPr>
          </a:lstStyle>
          <a:p>
            <a:pPr>
              <a:defRPr/>
            </a:pPr>
            <a:fld id="{877B509B-5EB0-4520-9B58-D8564FFB8F6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5"/>
          <p:cNvSpPr>
            <a:spLocks noGrp="1" noChangeArrowheads="1"/>
          </p:cNvSpPr>
          <p:nvPr>
            <p:ph type="ftr" sz="quarter" idx="10"/>
          </p:nvPr>
        </p:nvSpPr>
        <p:spPr>
          <a:ln/>
        </p:spPr>
        <p:txBody>
          <a:bodyPr/>
          <a:lstStyle>
            <a:lvl1pPr>
              <a:defRPr/>
            </a:lvl1pPr>
          </a:lstStyle>
          <a:p>
            <a:pPr>
              <a:defRPr/>
            </a:pPr>
            <a:endParaRPr lang="en-US"/>
          </a:p>
        </p:txBody>
      </p:sp>
      <p:sp>
        <p:nvSpPr>
          <p:cNvPr id="8" name="Rectangle 16"/>
          <p:cNvSpPr>
            <a:spLocks noGrp="1" noChangeArrowheads="1"/>
          </p:cNvSpPr>
          <p:nvPr>
            <p:ph type="sldNum" sz="quarter" idx="11"/>
          </p:nvPr>
        </p:nvSpPr>
        <p:spPr>
          <a:ln/>
        </p:spPr>
        <p:txBody>
          <a:bodyPr/>
          <a:lstStyle>
            <a:lvl1pPr>
              <a:defRPr/>
            </a:lvl1pPr>
          </a:lstStyle>
          <a:p>
            <a:pPr>
              <a:defRPr/>
            </a:pPr>
            <a:fld id="{BD29660B-BB27-443B-87F8-87C692B1521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Rectangle 15"/>
          <p:cNvSpPr>
            <a:spLocks noGrp="1" noChangeArrowheads="1"/>
          </p:cNvSpPr>
          <p:nvPr>
            <p:ph type="ftr" sz="quarter" idx="10"/>
          </p:nvPr>
        </p:nvSpPr>
        <p:spPr>
          <a:ln/>
        </p:spPr>
        <p:txBody>
          <a:bodyPr/>
          <a:lstStyle>
            <a:lvl1pPr>
              <a:defRPr/>
            </a:lvl1pPr>
          </a:lstStyle>
          <a:p>
            <a:pPr>
              <a:defRPr/>
            </a:pPr>
            <a:endParaRPr lang="en-US"/>
          </a:p>
        </p:txBody>
      </p:sp>
      <p:sp>
        <p:nvSpPr>
          <p:cNvPr id="4" name="Rectangle 16"/>
          <p:cNvSpPr>
            <a:spLocks noGrp="1" noChangeArrowheads="1"/>
          </p:cNvSpPr>
          <p:nvPr>
            <p:ph type="sldNum" sz="quarter" idx="11"/>
          </p:nvPr>
        </p:nvSpPr>
        <p:spPr>
          <a:ln/>
        </p:spPr>
        <p:txBody>
          <a:bodyPr/>
          <a:lstStyle>
            <a:lvl1pPr>
              <a:defRPr/>
            </a:lvl1pPr>
          </a:lstStyle>
          <a:p>
            <a:pPr>
              <a:defRPr/>
            </a:pPr>
            <a:fld id="{10901BB4-5089-4320-8756-C6A8E09E0B36}"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5"/>
          <p:cNvSpPr>
            <a:spLocks noGrp="1" noChangeArrowheads="1"/>
          </p:cNvSpPr>
          <p:nvPr>
            <p:ph type="ftr" sz="quarter" idx="10"/>
          </p:nvPr>
        </p:nvSpPr>
        <p:spPr>
          <a:ln/>
        </p:spPr>
        <p:txBody>
          <a:bodyPr/>
          <a:lstStyle>
            <a:lvl1pPr>
              <a:defRPr/>
            </a:lvl1pPr>
          </a:lstStyle>
          <a:p>
            <a:pPr>
              <a:defRPr/>
            </a:pPr>
            <a:endParaRPr lang="en-US"/>
          </a:p>
        </p:txBody>
      </p:sp>
      <p:sp>
        <p:nvSpPr>
          <p:cNvPr id="3" name="Rectangle 16"/>
          <p:cNvSpPr>
            <a:spLocks noGrp="1" noChangeArrowheads="1"/>
          </p:cNvSpPr>
          <p:nvPr>
            <p:ph type="sldNum" sz="quarter" idx="11"/>
          </p:nvPr>
        </p:nvSpPr>
        <p:spPr>
          <a:ln/>
        </p:spPr>
        <p:txBody>
          <a:bodyPr/>
          <a:lstStyle>
            <a:lvl1pPr>
              <a:defRPr/>
            </a:lvl1pPr>
          </a:lstStyle>
          <a:p>
            <a:pPr>
              <a:defRPr/>
            </a:pPr>
            <a:fld id="{BF285564-E1E5-4525-BB6A-2AFE653BA515}"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5"/>
          <p:cNvSpPr>
            <a:spLocks noGrp="1" noChangeArrowheads="1"/>
          </p:cNvSpPr>
          <p:nvPr>
            <p:ph type="ftr" sz="quarter" idx="10"/>
          </p:nvPr>
        </p:nvSpPr>
        <p:spPr>
          <a:ln/>
        </p:spPr>
        <p:txBody>
          <a:bodyPr/>
          <a:lstStyle>
            <a:lvl1pPr>
              <a:defRPr/>
            </a:lvl1pPr>
          </a:lstStyle>
          <a:p>
            <a:pPr>
              <a:defRPr/>
            </a:pPr>
            <a:endParaRPr lang="en-US"/>
          </a:p>
        </p:txBody>
      </p:sp>
      <p:sp>
        <p:nvSpPr>
          <p:cNvPr id="6" name="Rectangle 16"/>
          <p:cNvSpPr>
            <a:spLocks noGrp="1" noChangeArrowheads="1"/>
          </p:cNvSpPr>
          <p:nvPr>
            <p:ph type="sldNum" sz="quarter" idx="11"/>
          </p:nvPr>
        </p:nvSpPr>
        <p:spPr>
          <a:ln/>
        </p:spPr>
        <p:txBody>
          <a:bodyPr/>
          <a:lstStyle>
            <a:lvl1pPr>
              <a:defRPr/>
            </a:lvl1pPr>
          </a:lstStyle>
          <a:p>
            <a:pPr>
              <a:defRPr/>
            </a:pPr>
            <a:fld id="{52E31419-A6D4-4E8B-8D07-05C3D4125D25}"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5"/>
          <p:cNvSpPr>
            <a:spLocks noGrp="1" noChangeArrowheads="1"/>
          </p:cNvSpPr>
          <p:nvPr>
            <p:ph type="ftr" sz="quarter" idx="10"/>
          </p:nvPr>
        </p:nvSpPr>
        <p:spPr>
          <a:ln/>
        </p:spPr>
        <p:txBody>
          <a:bodyPr/>
          <a:lstStyle>
            <a:lvl1pPr>
              <a:defRPr/>
            </a:lvl1pPr>
          </a:lstStyle>
          <a:p>
            <a:pPr>
              <a:defRPr/>
            </a:pPr>
            <a:endParaRPr lang="en-US"/>
          </a:p>
        </p:txBody>
      </p:sp>
      <p:sp>
        <p:nvSpPr>
          <p:cNvPr id="6" name="Rectangle 16"/>
          <p:cNvSpPr>
            <a:spLocks noGrp="1" noChangeArrowheads="1"/>
          </p:cNvSpPr>
          <p:nvPr>
            <p:ph type="sldNum" sz="quarter" idx="11"/>
          </p:nvPr>
        </p:nvSpPr>
        <p:spPr>
          <a:ln/>
        </p:spPr>
        <p:txBody>
          <a:bodyPr/>
          <a:lstStyle>
            <a:lvl1pPr>
              <a:defRPr/>
            </a:lvl1pPr>
          </a:lstStyle>
          <a:p>
            <a:pPr>
              <a:defRPr/>
            </a:pPr>
            <a:fld id="{3F537DBD-422F-4D5C-A5EE-4E4F1057B9D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5"/>
          <p:cNvSpPr>
            <a:spLocks noGrp="1" noChangeArrowheads="1"/>
          </p:cNvSpPr>
          <p:nvPr>
            <p:ph type="ftr" sz="quarter" idx="10"/>
          </p:nvPr>
        </p:nvSpPr>
        <p:spPr>
          <a:ln/>
        </p:spPr>
        <p:txBody>
          <a:bodyPr/>
          <a:lstStyle>
            <a:lvl1pPr>
              <a:defRPr/>
            </a:lvl1pPr>
          </a:lstStyle>
          <a:p>
            <a:pPr>
              <a:defRPr/>
            </a:pPr>
            <a:endParaRPr lang="en-US"/>
          </a:p>
        </p:txBody>
      </p:sp>
      <p:sp>
        <p:nvSpPr>
          <p:cNvPr id="5" name="Rectangle 16"/>
          <p:cNvSpPr>
            <a:spLocks noGrp="1" noChangeArrowheads="1"/>
          </p:cNvSpPr>
          <p:nvPr>
            <p:ph type="sldNum" sz="quarter" idx="11"/>
          </p:nvPr>
        </p:nvSpPr>
        <p:spPr>
          <a:ln/>
        </p:spPr>
        <p:txBody>
          <a:bodyPr/>
          <a:lstStyle>
            <a:lvl1pPr>
              <a:defRPr/>
            </a:lvl1pPr>
          </a:lstStyle>
          <a:p>
            <a:pPr>
              <a:defRPr/>
            </a:pPr>
            <a:fld id="{ECA40AA0-10D0-4A0E-A264-B78F197B7B6A}"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5"/>
          <p:cNvSpPr>
            <a:spLocks noGrp="1" noChangeArrowheads="1"/>
          </p:cNvSpPr>
          <p:nvPr>
            <p:ph type="ftr" sz="quarter" idx="10"/>
          </p:nvPr>
        </p:nvSpPr>
        <p:spPr>
          <a:ln/>
        </p:spPr>
        <p:txBody>
          <a:bodyPr/>
          <a:lstStyle>
            <a:lvl1pPr>
              <a:defRPr/>
            </a:lvl1pPr>
          </a:lstStyle>
          <a:p>
            <a:pPr>
              <a:defRPr/>
            </a:pPr>
            <a:endParaRPr lang="en-US"/>
          </a:p>
        </p:txBody>
      </p:sp>
      <p:sp>
        <p:nvSpPr>
          <p:cNvPr id="5" name="Rectangle 16"/>
          <p:cNvSpPr>
            <a:spLocks noGrp="1" noChangeArrowheads="1"/>
          </p:cNvSpPr>
          <p:nvPr>
            <p:ph type="sldNum" sz="quarter" idx="11"/>
          </p:nvPr>
        </p:nvSpPr>
        <p:spPr>
          <a:ln/>
        </p:spPr>
        <p:txBody>
          <a:bodyPr/>
          <a:lstStyle>
            <a:lvl1pPr>
              <a:defRPr/>
            </a:lvl1pPr>
          </a:lstStyle>
          <a:p>
            <a:pPr>
              <a:defRPr/>
            </a:pPr>
            <a:fld id="{02D24644-5C3A-4E01-8B92-2A9696A0D21A}"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352524" y="244476"/>
            <a:ext cx="6242655" cy="12160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68690" y="1631950"/>
            <a:ext cx="8273143" cy="4667250"/>
          </a:xfrm>
        </p:spPr>
        <p:txBody>
          <a:bodyPr/>
          <a:lstStyle/>
          <a:p>
            <a:pPr lvl="0"/>
            <a:endParaRPr lang="en-US" noProof="0"/>
          </a:p>
        </p:txBody>
      </p:sp>
      <p:sp>
        <p:nvSpPr>
          <p:cNvPr id="4" name="Rectangle 16"/>
          <p:cNvSpPr>
            <a:spLocks noGrp="1" noChangeArrowheads="1"/>
          </p:cNvSpPr>
          <p:nvPr>
            <p:ph type="sldNum" sz="quarter" idx="10"/>
          </p:nvPr>
        </p:nvSpPr>
        <p:spPr/>
        <p:txBody>
          <a:bodyPr/>
          <a:lstStyle>
            <a:lvl1pPr algn="r" eaLnBrk="0" hangingPunct="0">
              <a:defRPr sz="1200">
                <a:latin typeface="Arial" charset="0"/>
                <a:ea typeface="ＭＳ Ｐゴシック" pitchFamily="-65" charset="-128"/>
              </a:defRPr>
            </a:lvl1pPr>
          </a:lstStyle>
          <a:p>
            <a:pPr>
              <a:defRPr/>
            </a:pPr>
            <a:fld id="{2C3620DA-591A-47C1-BA9B-670AF3E2C382}" type="slidenum">
              <a:rPr lang="en-US"/>
              <a:pPr>
                <a:defRPr/>
              </a:pPr>
              <a:t>‹#›</a:t>
            </a:fld>
            <a:endParaRPr lang="en-US" dirty="0"/>
          </a:p>
        </p:txBody>
      </p:sp>
    </p:spTree>
    <p:extLst>
      <p:ext uri="{BB962C8B-B14F-4D97-AF65-F5344CB8AC3E}">
        <p14:creationId xmlns:p14="http://schemas.microsoft.com/office/powerpoint/2010/main" val="938198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352602" y="1306077"/>
            <a:ext cx="8438797" cy="5096770"/>
          </a:xfrm>
          <a:prstGeom prst="rect">
            <a:avLst/>
          </a:prstGeom>
        </p:spPr>
        <p:txBody>
          <a:bodyPr>
            <a:normAutofit/>
          </a:bodyPr>
          <a:lstStyle>
            <a:lvl1pPr>
              <a:defRPr lang="en-US" altLang="zh-CN" sz="2200" kern="1200" baseline="0" noProof="1" dirty="0" smtClean="0">
                <a:solidFill>
                  <a:schemeClr val="tx1"/>
                </a:solidFill>
                <a:latin typeface="+mn-lt"/>
                <a:ea typeface="+mn-ea"/>
                <a:cs typeface="+mn-cs"/>
              </a:defRPr>
            </a:lvl1pPr>
          </a:lstStyle>
          <a:p>
            <a:pPr marL="251559" lvl="0" indent="-252922" algn="l" defTabSz="914068" rtl="0" eaLnBrk="1" fontAlgn="base" latinLnBrk="0" hangingPunct="1">
              <a:lnSpc>
                <a:spcPct val="150000"/>
              </a:lnSpc>
              <a:spcBef>
                <a:spcPts val="559"/>
              </a:spcBef>
              <a:spcAft>
                <a:spcPct val="0"/>
              </a:spcAft>
              <a:buClr>
                <a:schemeClr val="tx1"/>
              </a:buClr>
              <a:buSzPct val="100000"/>
              <a:buFont typeface="Verdana" pitchFamily="34" charset="0"/>
              <a:buChar char="•"/>
            </a:pPr>
            <a:r>
              <a:rPr lang="en-US" smtClean="0"/>
              <a:t>Click icon to add table</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62836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19" descr="layersvert"/>
          <p:cNvPicPr>
            <a:picLocks noChangeAspect="1" noChangeArrowheads="1"/>
          </p:cNvPicPr>
          <p:nvPr/>
        </p:nvPicPr>
        <p:blipFill>
          <a:blip r:embed="rId16">
            <a:lum bright="60000" contrast="-60000"/>
          </a:blip>
          <a:srcRect/>
          <a:stretch>
            <a:fillRect/>
          </a:stretch>
        </p:blipFill>
        <p:spPr bwMode="auto">
          <a:xfrm>
            <a:off x="0" y="3962400"/>
            <a:ext cx="9144000" cy="2908300"/>
          </a:xfrm>
          <a:prstGeom prst="rect">
            <a:avLst/>
          </a:prstGeom>
          <a:noFill/>
          <a:ln w="9525">
            <a:noFill/>
            <a:miter lim="800000"/>
            <a:headEnd/>
            <a:tailEnd/>
          </a:ln>
        </p:spPr>
      </p:pic>
      <p:sp>
        <p:nvSpPr>
          <p:cNvPr id="5123" name="Rectangle 4"/>
          <p:cNvSpPr>
            <a:spLocks noGrp="1" noChangeArrowheads="1"/>
          </p:cNvSpPr>
          <p:nvPr>
            <p:ph type="body" idx="1"/>
          </p:nvPr>
        </p:nvSpPr>
        <p:spPr bwMode="auto">
          <a:xfrm>
            <a:off x="228600" y="1143000"/>
            <a:ext cx="8610600" cy="5029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Text</a:t>
            </a:r>
          </a:p>
          <a:p>
            <a:pPr lvl="1"/>
            <a:r>
              <a:rPr lang="en-US" smtClean="0"/>
              <a:t>Second level</a:t>
            </a:r>
          </a:p>
          <a:p>
            <a:pPr lvl="2"/>
            <a:r>
              <a:rPr lang="en-US" smtClean="0"/>
              <a:t>Third level</a:t>
            </a:r>
          </a:p>
          <a:p>
            <a:pPr lvl="3"/>
            <a:r>
              <a:rPr lang="en-US" smtClean="0"/>
              <a:t>Fourth level</a:t>
            </a:r>
          </a:p>
        </p:txBody>
      </p:sp>
      <p:sp>
        <p:nvSpPr>
          <p:cNvPr id="5124" name="Rectangle 7"/>
          <p:cNvSpPr>
            <a:spLocks noGrp="1" noChangeArrowheads="1"/>
          </p:cNvSpPr>
          <p:nvPr>
            <p:ph type="title"/>
          </p:nvPr>
        </p:nvSpPr>
        <p:spPr bwMode="auto">
          <a:xfrm>
            <a:off x="228600" y="206375"/>
            <a:ext cx="7620000" cy="7842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Slide Title</a:t>
            </a:r>
          </a:p>
        </p:txBody>
      </p:sp>
      <p:pic>
        <p:nvPicPr>
          <p:cNvPr id="5125" name="Picture 6"/>
          <p:cNvPicPr>
            <a:picLocks noChangeAspect="1"/>
          </p:cNvPicPr>
          <p:nvPr/>
        </p:nvPicPr>
        <p:blipFill>
          <a:blip r:embed="rId17"/>
          <a:srcRect l="31718" t="17410" r="30782" b="13788"/>
          <a:stretch>
            <a:fillRect/>
          </a:stretch>
        </p:blipFill>
        <p:spPr bwMode="auto">
          <a:xfrm>
            <a:off x="8247063" y="206375"/>
            <a:ext cx="592137" cy="609600"/>
          </a:xfrm>
          <a:prstGeom prst="rect">
            <a:avLst/>
          </a:prstGeom>
          <a:noFill/>
          <a:ln w="9525">
            <a:noFill/>
            <a:miter lim="800000"/>
            <a:headEnd/>
            <a:tailEnd/>
          </a:ln>
        </p:spPr>
      </p:pic>
      <p:sp>
        <p:nvSpPr>
          <p:cNvPr id="1039" name="Rectangle 15"/>
          <p:cNvSpPr>
            <a:spLocks noGrp="1" noChangeArrowheads="1"/>
          </p:cNvSpPr>
          <p:nvPr>
            <p:ph type="ftr" sz="quarter" idx="3"/>
          </p:nvPr>
        </p:nvSpPr>
        <p:spPr bwMode="auto">
          <a:xfrm>
            <a:off x="228600" y="6540500"/>
            <a:ext cx="5105400" cy="17462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eaLnBrk="0" hangingPunct="0">
              <a:defRPr sz="1200">
                <a:latin typeface="Arial" charset="0"/>
                <a:ea typeface="ＭＳ Ｐゴシック" pitchFamily="-65" charset="-128"/>
              </a:defRPr>
            </a:lvl1pPr>
          </a:lstStyle>
          <a:p>
            <a:pPr>
              <a:defRPr/>
            </a:pPr>
            <a:endParaRPr lang="en-US"/>
          </a:p>
        </p:txBody>
      </p:sp>
      <p:sp>
        <p:nvSpPr>
          <p:cNvPr id="1040" name="Rectangle 16"/>
          <p:cNvSpPr>
            <a:spLocks noGrp="1" noChangeArrowheads="1"/>
          </p:cNvSpPr>
          <p:nvPr>
            <p:ph type="sldNum" sz="quarter" idx="4"/>
          </p:nvPr>
        </p:nvSpPr>
        <p:spPr bwMode="auto">
          <a:xfrm>
            <a:off x="8458200" y="6540500"/>
            <a:ext cx="381000" cy="2286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eaLnBrk="0" hangingPunct="0">
              <a:defRPr sz="1200">
                <a:latin typeface="Arial" charset="0"/>
                <a:ea typeface="ＭＳ Ｐゴシック" pitchFamily="-65" charset="-128"/>
              </a:defRPr>
            </a:lvl1pPr>
          </a:lstStyle>
          <a:p>
            <a:pPr>
              <a:defRPr/>
            </a:pPr>
            <a:fld id="{EEEB95DC-8C94-4E07-A3EA-4CA8B02B26BB}"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87"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9" r:id="rId13"/>
    <p:sldLayoutId id="2147483890" r:id="rId14"/>
  </p:sldLayoutIdLst>
  <p:hf hdr="0" ftr="0" dt="0"/>
  <p:txStyles>
    <p:titleStyle>
      <a:lvl1pPr algn="l" rtl="0" eaLnBrk="0" fontAlgn="base" hangingPunct="0">
        <a:spcBef>
          <a:spcPct val="0"/>
        </a:spcBef>
        <a:spcAft>
          <a:spcPct val="0"/>
        </a:spcAft>
        <a:defRPr sz="3200" b="1">
          <a:solidFill>
            <a:srgbClr val="113C9B"/>
          </a:solidFill>
          <a:latin typeface="+mj-lt"/>
          <a:ea typeface="ＭＳ Ｐゴシック" charset="-128"/>
          <a:cs typeface="ＭＳ Ｐゴシック" charset="-128"/>
        </a:defRPr>
      </a:lvl1pPr>
      <a:lvl2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2pPr>
      <a:lvl3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3pPr>
      <a:lvl4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4pPr>
      <a:lvl5pPr algn="l" rtl="0" eaLnBrk="0" fontAlgn="base" hangingPunct="0">
        <a:spcBef>
          <a:spcPct val="0"/>
        </a:spcBef>
        <a:spcAft>
          <a:spcPct val="0"/>
        </a:spcAft>
        <a:defRPr sz="3200" b="1">
          <a:solidFill>
            <a:srgbClr val="113C9B"/>
          </a:solidFill>
          <a:latin typeface="Arial"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jpg"/><Relationship Id="rId13" Type="http://schemas.openxmlformats.org/officeDocument/2006/relationships/image" Target="../media/image14.jpg"/><Relationship Id="rId3" Type="http://schemas.openxmlformats.org/officeDocument/2006/relationships/image" Target="../media/image4.png"/><Relationship Id="rId7" Type="http://schemas.openxmlformats.org/officeDocument/2006/relationships/image" Target="../media/image8.jpg"/><Relationship Id="rId12"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jpg"/><Relationship Id="rId5" Type="http://schemas.openxmlformats.org/officeDocument/2006/relationships/image" Target="../media/image6.jpg"/><Relationship Id="rId15" Type="http://schemas.openxmlformats.org/officeDocument/2006/relationships/image" Target="../media/image16.jpg"/><Relationship Id="rId10" Type="http://schemas.openxmlformats.org/officeDocument/2006/relationships/image" Target="../media/image11.jpg"/><Relationship Id="rId4" Type="http://schemas.openxmlformats.org/officeDocument/2006/relationships/image" Target="../media/image5.jpg"/><Relationship Id="rId9" Type="http://schemas.openxmlformats.org/officeDocument/2006/relationships/image" Target="../media/image10.jpg"/><Relationship Id="rId14" Type="http://schemas.openxmlformats.org/officeDocument/2006/relationships/image" Target="../media/image15.jp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 Target="slide47.xml"/><Relationship Id="rId13" Type="http://schemas.openxmlformats.org/officeDocument/2006/relationships/slide" Target="slide82.xml"/><Relationship Id="rId18" Type="http://schemas.openxmlformats.org/officeDocument/2006/relationships/slide" Target="slide121.xml"/><Relationship Id="rId3" Type="http://schemas.openxmlformats.org/officeDocument/2006/relationships/slide" Target="slide16.xml"/><Relationship Id="rId21" Type="http://schemas.openxmlformats.org/officeDocument/2006/relationships/slide" Target="slide150.xml"/><Relationship Id="rId7" Type="http://schemas.openxmlformats.org/officeDocument/2006/relationships/slide" Target="slide42.xml"/><Relationship Id="rId12" Type="http://schemas.openxmlformats.org/officeDocument/2006/relationships/slide" Target="slide77.xml"/><Relationship Id="rId17" Type="http://schemas.openxmlformats.org/officeDocument/2006/relationships/slide" Target="slide114.xml"/><Relationship Id="rId2" Type="http://schemas.openxmlformats.org/officeDocument/2006/relationships/image" Target="../media/image4.png"/><Relationship Id="rId16" Type="http://schemas.openxmlformats.org/officeDocument/2006/relationships/slide" Target="slide108.xml"/><Relationship Id="rId20" Type="http://schemas.openxmlformats.org/officeDocument/2006/relationships/slide" Target="slide139.xml"/><Relationship Id="rId1" Type="http://schemas.openxmlformats.org/officeDocument/2006/relationships/slideLayout" Target="../slideLayouts/slideLayout2.xml"/><Relationship Id="rId6" Type="http://schemas.openxmlformats.org/officeDocument/2006/relationships/slide" Target="slide35.xml"/><Relationship Id="rId11" Type="http://schemas.openxmlformats.org/officeDocument/2006/relationships/slide" Target="slide70.xml"/><Relationship Id="rId5" Type="http://schemas.openxmlformats.org/officeDocument/2006/relationships/slide" Target="slide30.xml"/><Relationship Id="rId15" Type="http://schemas.openxmlformats.org/officeDocument/2006/relationships/slide" Target="slide101.xml"/><Relationship Id="rId23" Type="http://schemas.openxmlformats.org/officeDocument/2006/relationships/slide" Target="slide170.xml"/><Relationship Id="rId10" Type="http://schemas.openxmlformats.org/officeDocument/2006/relationships/slide" Target="slide62.xml"/><Relationship Id="rId19" Type="http://schemas.openxmlformats.org/officeDocument/2006/relationships/slide" Target="slide130.xml"/><Relationship Id="rId4" Type="http://schemas.openxmlformats.org/officeDocument/2006/relationships/slide" Target="slide22.xml"/><Relationship Id="rId9" Type="http://schemas.openxmlformats.org/officeDocument/2006/relationships/slide" Target="slide53.xml"/><Relationship Id="rId14" Type="http://schemas.openxmlformats.org/officeDocument/2006/relationships/slide" Target="slide92.xml"/><Relationship Id="rId22" Type="http://schemas.openxmlformats.org/officeDocument/2006/relationships/slide" Target="slide16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18.emf"/><Relationship Id="rId4" Type="http://schemas.openxmlformats.org/officeDocument/2006/relationships/package" Target="../embeddings/Microsoft_Word_Document1.docx"/></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19.png"/><Relationship Id="rId4" Type="http://schemas.openxmlformats.org/officeDocument/2006/relationships/oleObject" Target="../embeddings/Microsoft_Excel_97-2003_Worksheet1.xls"/></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19.png"/><Relationship Id="rId4" Type="http://schemas.openxmlformats.org/officeDocument/2006/relationships/oleObject" Target="../embeddings/Microsoft_Excel_97-2003_Worksheet2.xls"/></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chart" Target="../charts/chart3.xml"/><Relationship Id="rId7" Type="http://schemas.openxmlformats.org/officeDocument/2006/relationships/chart" Target="../charts/chart7.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chart" Target="../charts/chart6.xml"/><Relationship Id="rId11" Type="http://schemas.openxmlformats.org/officeDocument/2006/relationships/chart" Target="../charts/chart11.xml"/><Relationship Id="rId5" Type="http://schemas.openxmlformats.org/officeDocument/2006/relationships/chart" Target="../charts/chart5.xml"/><Relationship Id="rId10" Type="http://schemas.openxmlformats.org/officeDocument/2006/relationships/chart" Target="../charts/chart10.xml"/><Relationship Id="rId4" Type="http://schemas.openxmlformats.org/officeDocument/2006/relationships/chart" Target="../charts/chart4.xml"/><Relationship Id="rId9" Type="http://schemas.openxmlformats.org/officeDocument/2006/relationships/chart" Target="../charts/chart9.xml"/></Relationships>
</file>

<file path=ppt/slides/_rels/slide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12.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4.png"/></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2.xml"/><Relationship Id="rId5" Type="http://schemas.openxmlformats.org/officeDocument/2006/relationships/image" Target="../media/image20.gif"/><Relationship Id="rId4" Type="http://schemas.openxmlformats.org/officeDocument/2006/relationships/image" Target="../media/image4.png"/></Relationships>
</file>

<file path=ppt/slides/_rels/slide1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tags" Target="../tags/tag28.xml"/><Relationship Id="rId39" Type="http://schemas.openxmlformats.org/officeDocument/2006/relationships/tags" Target="../tags/tag41.xml"/><Relationship Id="rId21" Type="http://schemas.openxmlformats.org/officeDocument/2006/relationships/tags" Target="../tags/tag23.xml"/><Relationship Id="rId34" Type="http://schemas.openxmlformats.org/officeDocument/2006/relationships/tags" Target="../tags/tag36.xml"/><Relationship Id="rId42" Type="http://schemas.openxmlformats.org/officeDocument/2006/relationships/tags" Target="../tags/tag44.xml"/><Relationship Id="rId47" Type="http://schemas.openxmlformats.org/officeDocument/2006/relationships/tags" Target="../tags/tag49.xml"/><Relationship Id="rId50" Type="http://schemas.openxmlformats.org/officeDocument/2006/relationships/tags" Target="../tags/tag52.xml"/><Relationship Id="rId55" Type="http://schemas.openxmlformats.org/officeDocument/2006/relationships/tags" Target="../tags/tag57.xml"/><Relationship Id="rId63" Type="http://schemas.openxmlformats.org/officeDocument/2006/relationships/tags" Target="../tags/tag65.xml"/><Relationship Id="rId68" Type="http://schemas.openxmlformats.org/officeDocument/2006/relationships/tags" Target="../tags/tag70.xml"/><Relationship Id="rId76" Type="http://schemas.openxmlformats.org/officeDocument/2006/relationships/tags" Target="../tags/tag78.xml"/><Relationship Id="rId7" Type="http://schemas.openxmlformats.org/officeDocument/2006/relationships/tags" Target="../tags/tag9.xml"/><Relationship Id="rId71" Type="http://schemas.openxmlformats.org/officeDocument/2006/relationships/tags" Target="../tags/tag73.xml"/><Relationship Id="rId2" Type="http://schemas.openxmlformats.org/officeDocument/2006/relationships/tags" Target="../tags/tag4.xml"/><Relationship Id="rId16" Type="http://schemas.openxmlformats.org/officeDocument/2006/relationships/tags" Target="../tags/tag18.xml"/><Relationship Id="rId29" Type="http://schemas.openxmlformats.org/officeDocument/2006/relationships/tags" Target="../tags/tag31.xml"/><Relationship Id="rId11" Type="http://schemas.openxmlformats.org/officeDocument/2006/relationships/tags" Target="../tags/tag13.xml"/><Relationship Id="rId24" Type="http://schemas.openxmlformats.org/officeDocument/2006/relationships/tags" Target="../tags/tag26.xml"/><Relationship Id="rId32" Type="http://schemas.openxmlformats.org/officeDocument/2006/relationships/tags" Target="../tags/tag34.xml"/><Relationship Id="rId37" Type="http://schemas.openxmlformats.org/officeDocument/2006/relationships/tags" Target="../tags/tag39.xml"/><Relationship Id="rId40" Type="http://schemas.openxmlformats.org/officeDocument/2006/relationships/tags" Target="../tags/tag42.xml"/><Relationship Id="rId45" Type="http://schemas.openxmlformats.org/officeDocument/2006/relationships/tags" Target="../tags/tag47.xml"/><Relationship Id="rId53" Type="http://schemas.openxmlformats.org/officeDocument/2006/relationships/tags" Target="../tags/tag55.xml"/><Relationship Id="rId58" Type="http://schemas.openxmlformats.org/officeDocument/2006/relationships/tags" Target="../tags/tag60.xml"/><Relationship Id="rId66" Type="http://schemas.openxmlformats.org/officeDocument/2006/relationships/tags" Target="../tags/tag68.xml"/><Relationship Id="rId74" Type="http://schemas.openxmlformats.org/officeDocument/2006/relationships/tags" Target="../tags/tag76.xml"/><Relationship Id="rId79" Type="http://schemas.openxmlformats.org/officeDocument/2006/relationships/tags" Target="../tags/tag81.xml"/><Relationship Id="rId5" Type="http://schemas.openxmlformats.org/officeDocument/2006/relationships/tags" Target="../tags/tag7.xml"/><Relationship Id="rId61" Type="http://schemas.openxmlformats.org/officeDocument/2006/relationships/tags" Target="../tags/tag63.xml"/><Relationship Id="rId10" Type="http://schemas.openxmlformats.org/officeDocument/2006/relationships/tags" Target="../tags/tag12.xml"/><Relationship Id="rId19" Type="http://schemas.openxmlformats.org/officeDocument/2006/relationships/tags" Target="../tags/tag21.xml"/><Relationship Id="rId31" Type="http://schemas.openxmlformats.org/officeDocument/2006/relationships/tags" Target="../tags/tag33.xml"/><Relationship Id="rId44" Type="http://schemas.openxmlformats.org/officeDocument/2006/relationships/tags" Target="../tags/tag46.xml"/><Relationship Id="rId52" Type="http://schemas.openxmlformats.org/officeDocument/2006/relationships/tags" Target="../tags/tag54.xml"/><Relationship Id="rId60" Type="http://schemas.openxmlformats.org/officeDocument/2006/relationships/tags" Target="../tags/tag62.xml"/><Relationship Id="rId65" Type="http://schemas.openxmlformats.org/officeDocument/2006/relationships/tags" Target="../tags/tag67.xml"/><Relationship Id="rId73" Type="http://schemas.openxmlformats.org/officeDocument/2006/relationships/tags" Target="../tags/tag75.xml"/><Relationship Id="rId78" Type="http://schemas.openxmlformats.org/officeDocument/2006/relationships/tags" Target="../tags/tag80.xml"/><Relationship Id="rId81" Type="http://schemas.openxmlformats.org/officeDocument/2006/relationships/image" Target="../media/image4.png"/><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tags" Target="../tags/tag32.xml"/><Relationship Id="rId35" Type="http://schemas.openxmlformats.org/officeDocument/2006/relationships/tags" Target="../tags/tag37.xml"/><Relationship Id="rId43" Type="http://schemas.openxmlformats.org/officeDocument/2006/relationships/tags" Target="../tags/tag45.xml"/><Relationship Id="rId48" Type="http://schemas.openxmlformats.org/officeDocument/2006/relationships/tags" Target="../tags/tag50.xml"/><Relationship Id="rId56" Type="http://schemas.openxmlformats.org/officeDocument/2006/relationships/tags" Target="../tags/tag58.xml"/><Relationship Id="rId64" Type="http://schemas.openxmlformats.org/officeDocument/2006/relationships/tags" Target="../tags/tag66.xml"/><Relationship Id="rId69" Type="http://schemas.openxmlformats.org/officeDocument/2006/relationships/tags" Target="../tags/tag71.xml"/><Relationship Id="rId77" Type="http://schemas.openxmlformats.org/officeDocument/2006/relationships/tags" Target="../tags/tag79.xml"/><Relationship Id="rId8" Type="http://schemas.openxmlformats.org/officeDocument/2006/relationships/tags" Target="../tags/tag10.xml"/><Relationship Id="rId51" Type="http://schemas.openxmlformats.org/officeDocument/2006/relationships/tags" Target="../tags/tag53.xml"/><Relationship Id="rId72" Type="http://schemas.openxmlformats.org/officeDocument/2006/relationships/tags" Target="../tags/tag74.xml"/><Relationship Id="rId80" Type="http://schemas.openxmlformats.org/officeDocument/2006/relationships/slideLayout" Target="../slideLayouts/slideLayout3.xml"/><Relationship Id="rId3" Type="http://schemas.openxmlformats.org/officeDocument/2006/relationships/tags" Target="../tags/tag5.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33" Type="http://schemas.openxmlformats.org/officeDocument/2006/relationships/tags" Target="../tags/tag35.xml"/><Relationship Id="rId38" Type="http://schemas.openxmlformats.org/officeDocument/2006/relationships/tags" Target="../tags/tag40.xml"/><Relationship Id="rId46" Type="http://schemas.openxmlformats.org/officeDocument/2006/relationships/tags" Target="../tags/tag48.xml"/><Relationship Id="rId59" Type="http://schemas.openxmlformats.org/officeDocument/2006/relationships/tags" Target="../tags/tag61.xml"/><Relationship Id="rId67" Type="http://schemas.openxmlformats.org/officeDocument/2006/relationships/tags" Target="../tags/tag69.xml"/><Relationship Id="rId20" Type="http://schemas.openxmlformats.org/officeDocument/2006/relationships/tags" Target="../tags/tag22.xml"/><Relationship Id="rId41" Type="http://schemas.openxmlformats.org/officeDocument/2006/relationships/tags" Target="../tags/tag43.xml"/><Relationship Id="rId54" Type="http://schemas.openxmlformats.org/officeDocument/2006/relationships/tags" Target="../tags/tag56.xml"/><Relationship Id="rId62" Type="http://schemas.openxmlformats.org/officeDocument/2006/relationships/tags" Target="../tags/tag64.xml"/><Relationship Id="rId70" Type="http://schemas.openxmlformats.org/officeDocument/2006/relationships/tags" Target="../tags/tag72.xml"/><Relationship Id="rId75" Type="http://schemas.openxmlformats.org/officeDocument/2006/relationships/tags" Target="../tags/tag77.xml"/><Relationship Id="rId1" Type="http://schemas.openxmlformats.org/officeDocument/2006/relationships/tags" Target="../tags/tag3.xml"/><Relationship Id="rId6" Type="http://schemas.openxmlformats.org/officeDocument/2006/relationships/tags" Target="../tags/tag8.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36" Type="http://schemas.openxmlformats.org/officeDocument/2006/relationships/tags" Target="../tags/tag38.xml"/><Relationship Id="rId49" Type="http://schemas.openxmlformats.org/officeDocument/2006/relationships/tags" Target="../tags/tag51.xml"/><Relationship Id="rId57" Type="http://schemas.openxmlformats.org/officeDocument/2006/relationships/tags" Target="../tags/tag59.xml"/></Relationships>
</file>

<file path=ppt/slides/_rels/slide15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tags" Target="../tags/tag99.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image" Target="../media/image4.png"/><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tags" Target="../tags/tag96.xml"/><Relationship Id="rId10" Type="http://schemas.openxmlformats.org/officeDocument/2006/relationships/tags" Target="../tags/tag91.xml"/><Relationship Id="rId19" Type="http://schemas.openxmlformats.org/officeDocument/2006/relationships/slideLayout" Target="../slideLayouts/slideLayout3.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s>
</file>

<file path=ppt/slides/_rels/slide159.xml.rels><?xml version="1.0" encoding="UTF-8" standalone="yes"?>
<Relationships xmlns="http://schemas.openxmlformats.org/package/2006/relationships"><Relationship Id="rId13" Type="http://schemas.openxmlformats.org/officeDocument/2006/relationships/tags" Target="../tags/tag112.xml"/><Relationship Id="rId18" Type="http://schemas.openxmlformats.org/officeDocument/2006/relationships/tags" Target="../tags/tag117.xml"/><Relationship Id="rId26" Type="http://schemas.openxmlformats.org/officeDocument/2006/relationships/tags" Target="../tags/tag125.xml"/><Relationship Id="rId39" Type="http://schemas.openxmlformats.org/officeDocument/2006/relationships/tags" Target="../tags/tag138.xml"/><Relationship Id="rId21" Type="http://schemas.openxmlformats.org/officeDocument/2006/relationships/tags" Target="../tags/tag120.xml"/><Relationship Id="rId34" Type="http://schemas.openxmlformats.org/officeDocument/2006/relationships/tags" Target="../tags/tag133.xml"/><Relationship Id="rId42" Type="http://schemas.openxmlformats.org/officeDocument/2006/relationships/tags" Target="../tags/tag141.xml"/><Relationship Id="rId47" Type="http://schemas.openxmlformats.org/officeDocument/2006/relationships/tags" Target="../tags/tag146.xml"/><Relationship Id="rId50" Type="http://schemas.openxmlformats.org/officeDocument/2006/relationships/tags" Target="../tags/tag149.xml"/><Relationship Id="rId55" Type="http://schemas.openxmlformats.org/officeDocument/2006/relationships/tags" Target="../tags/tag154.xml"/><Relationship Id="rId63" Type="http://schemas.openxmlformats.org/officeDocument/2006/relationships/tags" Target="../tags/tag162.xml"/><Relationship Id="rId68" Type="http://schemas.openxmlformats.org/officeDocument/2006/relationships/image" Target="../media/image29.png"/><Relationship Id="rId7" Type="http://schemas.openxmlformats.org/officeDocument/2006/relationships/tags" Target="../tags/tag106.xml"/><Relationship Id="rId2" Type="http://schemas.openxmlformats.org/officeDocument/2006/relationships/tags" Target="../tags/tag101.xml"/><Relationship Id="rId16" Type="http://schemas.openxmlformats.org/officeDocument/2006/relationships/tags" Target="../tags/tag115.xml"/><Relationship Id="rId29" Type="http://schemas.openxmlformats.org/officeDocument/2006/relationships/tags" Target="../tags/tag128.xml"/><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24" Type="http://schemas.openxmlformats.org/officeDocument/2006/relationships/tags" Target="../tags/tag123.xml"/><Relationship Id="rId32" Type="http://schemas.openxmlformats.org/officeDocument/2006/relationships/tags" Target="../tags/tag131.xml"/><Relationship Id="rId37" Type="http://schemas.openxmlformats.org/officeDocument/2006/relationships/tags" Target="../tags/tag136.xml"/><Relationship Id="rId40" Type="http://schemas.openxmlformats.org/officeDocument/2006/relationships/tags" Target="../tags/tag139.xml"/><Relationship Id="rId45" Type="http://schemas.openxmlformats.org/officeDocument/2006/relationships/tags" Target="../tags/tag144.xml"/><Relationship Id="rId53" Type="http://schemas.openxmlformats.org/officeDocument/2006/relationships/tags" Target="../tags/tag152.xml"/><Relationship Id="rId58" Type="http://schemas.openxmlformats.org/officeDocument/2006/relationships/tags" Target="../tags/tag157.xml"/><Relationship Id="rId66" Type="http://schemas.openxmlformats.org/officeDocument/2006/relationships/image" Target="../media/image4.png"/><Relationship Id="rId5" Type="http://schemas.openxmlformats.org/officeDocument/2006/relationships/tags" Target="../tags/tag104.xml"/><Relationship Id="rId15" Type="http://schemas.openxmlformats.org/officeDocument/2006/relationships/tags" Target="../tags/tag114.xml"/><Relationship Id="rId23" Type="http://schemas.openxmlformats.org/officeDocument/2006/relationships/tags" Target="../tags/tag122.xml"/><Relationship Id="rId28" Type="http://schemas.openxmlformats.org/officeDocument/2006/relationships/tags" Target="../tags/tag127.xml"/><Relationship Id="rId36" Type="http://schemas.openxmlformats.org/officeDocument/2006/relationships/tags" Target="../tags/tag135.xml"/><Relationship Id="rId49" Type="http://schemas.openxmlformats.org/officeDocument/2006/relationships/tags" Target="../tags/tag148.xml"/><Relationship Id="rId57" Type="http://schemas.openxmlformats.org/officeDocument/2006/relationships/tags" Target="../tags/tag156.xml"/><Relationship Id="rId61" Type="http://schemas.openxmlformats.org/officeDocument/2006/relationships/tags" Target="../tags/tag160.xml"/><Relationship Id="rId10" Type="http://schemas.openxmlformats.org/officeDocument/2006/relationships/tags" Target="../tags/tag109.xml"/><Relationship Id="rId19" Type="http://schemas.openxmlformats.org/officeDocument/2006/relationships/tags" Target="../tags/tag118.xml"/><Relationship Id="rId31" Type="http://schemas.openxmlformats.org/officeDocument/2006/relationships/tags" Target="../tags/tag130.xml"/><Relationship Id="rId44" Type="http://schemas.openxmlformats.org/officeDocument/2006/relationships/tags" Target="../tags/tag143.xml"/><Relationship Id="rId52" Type="http://schemas.openxmlformats.org/officeDocument/2006/relationships/tags" Target="../tags/tag151.xml"/><Relationship Id="rId60" Type="http://schemas.openxmlformats.org/officeDocument/2006/relationships/tags" Target="../tags/tag159.xml"/><Relationship Id="rId65" Type="http://schemas.openxmlformats.org/officeDocument/2006/relationships/slideLayout" Target="../slideLayouts/slideLayout3.xml"/><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tags" Target="../tags/tag113.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tags" Target="../tags/tag129.xml"/><Relationship Id="rId35" Type="http://schemas.openxmlformats.org/officeDocument/2006/relationships/tags" Target="../tags/tag134.xml"/><Relationship Id="rId43" Type="http://schemas.openxmlformats.org/officeDocument/2006/relationships/tags" Target="../tags/tag142.xml"/><Relationship Id="rId48" Type="http://schemas.openxmlformats.org/officeDocument/2006/relationships/tags" Target="../tags/tag147.xml"/><Relationship Id="rId56" Type="http://schemas.openxmlformats.org/officeDocument/2006/relationships/tags" Target="../tags/tag155.xml"/><Relationship Id="rId64" Type="http://schemas.openxmlformats.org/officeDocument/2006/relationships/tags" Target="../tags/tag163.xml"/><Relationship Id="rId69" Type="http://schemas.openxmlformats.org/officeDocument/2006/relationships/image" Target="../media/image30.png"/><Relationship Id="rId8" Type="http://schemas.openxmlformats.org/officeDocument/2006/relationships/tags" Target="../tags/tag107.xml"/><Relationship Id="rId51" Type="http://schemas.openxmlformats.org/officeDocument/2006/relationships/tags" Target="../tags/tag150.xml"/><Relationship Id="rId3" Type="http://schemas.openxmlformats.org/officeDocument/2006/relationships/tags" Target="../tags/tag102.xml"/><Relationship Id="rId12" Type="http://schemas.openxmlformats.org/officeDocument/2006/relationships/tags" Target="../tags/tag111.xml"/><Relationship Id="rId17" Type="http://schemas.openxmlformats.org/officeDocument/2006/relationships/tags" Target="../tags/tag116.xml"/><Relationship Id="rId25" Type="http://schemas.openxmlformats.org/officeDocument/2006/relationships/tags" Target="../tags/tag124.xml"/><Relationship Id="rId33" Type="http://schemas.openxmlformats.org/officeDocument/2006/relationships/tags" Target="../tags/tag132.xml"/><Relationship Id="rId38" Type="http://schemas.openxmlformats.org/officeDocument/2006/relationships/tags" Target="../tags/tag137.xml"/><Relationship Id="rId46" Type="http://schemas.openxmlformats.org/officeDocument/2006/relationships/tags" Target="../tags/tag145.xml"/><Relationship Id="rId59" Type="http://schemas.openxmlformats.org/officeDocument/2006/relationships/tags" Target="../tags/tag158.xml"/><Relationship Id="rId67" Type="http://schemas.openxmlformats.org/officeDocument/2006/relationships/image" Target="../media/image28.jpeg"/><Relationship Id="rId20" Type="http://schemas.openxmlformats.org/officeDocument/2006/relationships/tags" Target="../tags/tag119.xml"/><Relationship Id="rId41" Type="http://schemas.openxmlformats.org/officeDocument/2006/relationships/tags" Target="../tags/tag140.xml"/><Relationship Id="rId54" Type="http://schemas.openxmlformats.org/officeDocument/2006/relationships/tags" Target="../tags/tag153.xml"/><Relationship Id="rId62" Type="http://schemas.openxmlformats.org/officeDocument/2006/relationships/tags" Target="../tags/tag161.xml"/><Relationship Id="rId70" Type="http://schemas.openxmlformats.org/officeDocument/2006/relationships/image" Target="../media/image31.png"/></Relationships>
</file>

<file path=ppt/slides/_rels/slide160.xml.rels><?xml version="1.0" encoding="UTF-8" standalone="yes"?>
<Relationships xmlns="http://schemas.openxmlformats.org/package/2006/relationships"><Relationship Id="rId13" Type="http://schemas.openxmlformats.org/officeDocument/2006/relationships/tags" Target="../tags/tag176.xml"/><Relationship Id="rId18" Type="http://schemas.openxmlformats.org/officeDocument/2006/relationships/tags" Target="../tags/tag181.xml"/><Relationship Id="rId26" Type="http://schemas.openxmlformats.org/officeDocument/2006/relationships/tags" Target="../tags/tag189.xml"/><Relationship Id="rId39" Type="http://schemas.openxmlformats.org/officeDocument/2006/relationships/tags" Target="../tags/tag202.xml"/><Relationship Id="rId21" Type="http://schemas.openxmlformats.org/officeDocument/2006/relationships/tags" Target="../tags/tag184.xml"/><Relationship Id="rId34" Type="http://schemas.openxmlformats.org/officeDocument/2006/relationships/tags" Target="../tags/tag197.xml"/><Relationship Id="rId42" Type="http://schemas.openxmlformats.org/officeDocument/2006/relationships/tags" Target="../tags/tag205.xml"/><Relationship Id="rId47" Type="http://schemas.openxmlformats.org/officeDocument/2006/relationships/tags" Target="../tags/tag210.xml"/><Relationship Id="rId50" Type="http://schemas.openxmlformats.org/officeDocument/2006/relationships/tags" Target="../tags/tag213.xml"/><Relationship Id="rId55" Type="http://schemas.openxmlformats.org/officeDocument/2006/relationships/tags" Target="../tags/tag218.xml"/><Relationship Id="rId7" Type="http://schemas.openxmlformats.org/officeDocument/2006/relationships/tags" Target="../tags/tag170.xml"/><Relationship Id="rId2" Type="http://schemas.openxmlformats.org/officeDocument/2006/relationships/tags" Target="../tags/tag165.xml"/><Relationship Id="rId16" Type="http://schemas.openxmlformats.org/officeDocument/2006/relationships/tags" Target="../tags/tag179.xml"/><Relationship Id="rId20" Type="http://schemas.openxmlformats.org/officeDocument/2006/relationships/tags" Target="../tags/tag183.xml"/><Relationship Id="rId29" Type="http://schemas.openxmlformats.org/officeDocument/2006/relationships/tags" Target="../tags/tag192.xml"/><Relationship Id="rId41" Type="http://schemas.openxmlformats.org/officeDocument/2006/relationships/tags" Target="../tags/tag204.xml"/><Relationship Id="rId54" Type="http://schemas.openxmlformats.org/officeDocument/2006/relationships/tags" Target="../tags/tag217.xml"/><Relationship Id="rId62" Type="http://schemas.openxmlformats.org/officeDocument/2006/relationships/image" Target="../media/image31.png"/><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24" Type="http://schemas.openxmlformats.org/officeDocument/2006/relationships/tags" Target="../tags/tag187.xml"/><Relationship Id="rId32" Type="http://schemas.openxmlformats.org/officeDocument/2006/relationships/tags" Target="../tags/tag195.xml"/><Relationship Id="rId37" Type="http://schemas.openxmlformats.org/officeDocument/2006/relationships/tags" Target="../tags/tag200.xml"/><Relationship Id="rId40" Type="http://schemas.openxmlformats.org/officeDocument/2006/relationships/tags" Target="../tags/tag203.xml"/><Relationship Id="rId45" Type="http://schemas.openxmlformats.org/officeDocument/2006/relationships/tags" Target="../tags/tag208.xml"/><Relationship Id="rId53" Type="http://schemas.openxmlformats.org/officeDocument/2006/relationships/tags" Target="../tags/tag216.xml"/><Relationship Id="rId58" Type="http://schemas.openxmlformats.org/officeDocument/2006/relationships/image" Target="../media/image4.png"/><Relationship Id="rId5" Type="http://schemas.openxmlformats.org/officeDocument/2006/relationships/tags" Target="../tags/tag168.xml"/><Relationship Id="rId15" Type="http://schemas.openxmlformats.org/officeDocument/2006/relationships/tags" Target="../tags/tag178.xml"/><Relationship Id="rId23" Type="http://schemas.openxmlformats.org/officeDocument/2006/relationships/tags" Target="../tags/tag186.xml"/><Relationship Id="rId28" Type="http://schemas.openxmlformats.org/officeDocument/2006/relationships/tags" Target="../tags/tag191.xml"/><Relationship Id="rId36" Type="http://schemas.openxmlformats.org/officeDocument/2006/relationships/tags" Target="../tags/tag199.xml"/><Relationship Id="rId49" Type="http://schemas.openxmlformats.org/officeDocument/2006/relationships/tags" Target="../tags/tag212.xml"/><Relationship Id="rId57" Type="http://schemas.openxmlformats.org/officeDocument/2006/relationships/slideLayout" Target="../slideLayouts/slideLayout3.xml"/><Relationship Id="rId61" Type="http://schemas.openxmlformats.org/officeDocument/2006/relationships/image" Target="../media/image30.png"/><Relationship Id="rId10" Type="http://schemas.openxmlformats.org/officeDocument/2006/relationships/tags" Target="../tags/tag173.xml"/><Relationship Id="rId19" Type="http://schemas.openxmlformats.org/officeDocument/2006/relationships/tags" Target="../tags/tag182.xml"/><Relationship Id="rId31" Type="http://schemas.openxmlformats.org/officeDocument/2006/relationships/tags" Target="../tags/tag194.xml"/><Relationship Id="rId44" Type="http://schemas.openxmlformats.org/officeDocument/2006/relationships/tags" Target="../tags/tag207.xml"/><Relationship Id="rId52" Type="http://schemas.openxmlformats.org/officeDocument/2006/relationships/tags" Target="../tags/tag215.xml"/><Relationship Id="rId60" Type="http://schemas.openxmlformats.org/officeDocument/2006/relationships/image" Target="../media/image29.png"/><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tags" Target="../tags/tag177.xml"/><Relationship Id="rId22" Type="http://schemas.openxmlformats.org/officeDocument/2006/relationships/tags" Target="../tags/tag185.xml"/><Relationship Id="rId27" Type="http://schemas.openxmlformats.org/officeDocument/2006/relationships/tags" Target="../tags/tag190.xml"/><Relationship Id="rId30" Type="http://schemas.openxmlformats.org/officeDocument/2006/relationships/tags" Target="../tags/tag193.xml"/><Relationship Id="rId35" Type="http://schemas.openxmlformats.org/officeDocument/2006/relationships/tags" Target="../tags/tag198.xml"/><Relationship Id="rId43" Type="http://schemas.openxmlformats.org/officeDocument/2006/relationships/tags" Target="../tags/tag206.xml"/><Relationship Id="rId48" Type="http://schemas.openxmlformats.org/officeDocument/2006/relationships/tags" Target="../tags/tag211.xml"/><Relationship Id="rId56" Type="http://schemas.openxmlformats.org/officeDocument/2006/relationships/tags" Target="../tags/tag219.xml"/><Relationship Id="rId8" Type="http://schemas.openxmlformats.org/officeDocument/2006/relationships/tags" Target="../tags/tag171.xml"/><Relationship Id="rId51" Type="http://schemas.openxmlformats.org/officeDocument/2006/relationships/tags" Target="../tags/tag214.xml"/><Relationship Id="rId3" Type="http://schemas.openxmlformats.org/officeDocument/2006/relationships/tags" Target="../tags/tag166.xml"/><Relationship Id="rId12" Type="http://schemas.openxmlformats.org/officeDocument/2006/relationships/tags" Target="../tags/tag175.xml"/><Relationship Id="rId17" Type="http://schemas.openxmlformats.org/officeDocument/2006/relationships/tags" Target="../tags/tag180.xml"/><Relationship Id="rId25" Type="http://schemas.openxmlformats.org/officeDocument/2006/relationships/tags" Target="../tags/tag188.xml"/><Relationship Id="rId33" Type="http://schemas.openxmlformats.org/officeDocument/2006/relationships/tags" Target="../tags/tag196.xml"/><Relationship Id="rId38" Type="http://schemas.openxmlformats.org/officeDocument/2006/relationships/tags" Target="../tags/tag201.xml"/><Relationship Id="rId46" Type="http://schemas.openxmlformats.org/officeDocument/2006/relationships/tags" Target="../tags/tag209.xml"/><Relationship Id="rId59" Type="http://schemas.openxmlformats.org/officeDocument/2006/relationships/image" Target="../media/image28.jpeg"/></Relationships>
</file>

<file path=ppt/slides/_rels/slide1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4"/>
          <p:cNvSpPr>
            <a:spLocks noGrp="1" noChangeArrowheads="1"/>
          </p:cNvSpPr>
          <p:nvPr>
            <p:ph type="ctrTitle"/>
          </p:nvPr>
        </p:nvSpPr>
        <p:spPr/>
        <p:txBody>
          <a:bodyPr/>
          <a:lstStyle/>
          <a:p>
            <a:pPr>
              <a:defRPr/>
            </a:pPr>
            <a:r>
              <a:rPr lang="en-US" dirty="0" smtClean="0"/>
              <a:t>DMCC 2012-2013 Casebook</a:t>
            </a:r>
            <a:endParaRPr lang="en-US" dirty="0"/>
          </a:p>
        </p:txBody>
      </p:sp>
    </p:spTree>
    <p:extLst>
      <p:ext uri="{BB962C8B-B14F-4D97-AF65-F5344CB8AC3E}">
        <p14:creationId xmlns:p14="http://schemas.microsoft.com/office/powerpoint/2010/main" val="25644548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507" name="Group 11"/>
          <p:cNvGraphicFramePr>
            <a:graphicFrameLocks noGrp="1"/>
          </p:cNvGraphicFramePr>
          <p:nvPr>
            <p:ph idx="1"/>
            <p:extLst>
              <p:ext uri="{D42A27DB-BD31-4B8C-83A1-F6EECF244321}">
                <p14:modId xmlns:p14="http://schemas.microsoft.com/office/powerpoint/2010/main" val="448731226"/>
              </p:ext>
            </p:extLst>
          </p:nvPr>
        </p:nvGraphicFramePr>
        <p:xfrm>
          <a:off x="311150" y="1143000"/>
          <a:ext cx="8528050" cy="5489277"/>
        </p:xfrm>
        <a:graphic>
          <a:graphicData uri="http://schemas.openxmlformats.org/drawingml/2006/table">
            <a:tbl>
              <a:tblPr/>
              <a:tblGrid>
                <a:gridCol w="2411461"/>
                <a:gridCol w="6116589"/>
              </a:tblGrid>
              <a:tr h="5574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cs typeface="Arial" charset="0"/>
                        </a:rPr>
                        <a:t>Sponsor Categories</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28575"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cs typeface="Arial" charset="0"/>
                        </a:rPr>
                        <a:t>Firms</a:t>
                      </a: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28575"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8240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Platinum</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193546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Gold</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11603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Silver</a:t>
                      </a: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12700" cap="flat" cmpd="sng" algn="ctr">
                      <a:solidFill>
                        <a:schemeClr val="tx1"/>
                      </a:solidFill>
                      <a:prstDash val="solid"/>
                      <a:round/>
                      <a:headEnd type="none" w="lg" len="lg"/>
                      <a:tailEnd type="none" w="lg" len="lg"/>
                    </a:lnB>
                    <a:lnTlToBr>
                      <a:noFill/>
                    </a:lnTlToBr>
                    <a:lnBlToTr>
                      <a:noFill/>
                    </a:lnBlToTr>
                    <a:noFill/>
                  </a:tcPr>
                </a:tc>
              </a:tr>
              <a:tr h="9656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dirty="0" smtClean="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1" u="none" strike="noStrike" cap="none" normalizeH="0" baseline="0" dirty="0" smtClean="0">
                          <a:ln>
                            <a:noFill/>
                          </a:ln>
                          <a:solidFill>
                            <a:schemeClr val="tx1"/>
                          </a:solidFill>
                          <a:effectLst/>
                          <a:latin typeface="Arial" charset="0"/>
                          <a:cs typeface="Arial" charset="0"/>
                        </a:rPr>
                        <a:t>Resource</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1" i="1"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28575" cap="flat" cmpd="sng" algn="ctr">
                      <a:solidFill>
                        <a:schemeClr val="tx1"/>
                      </a:solidFill>
                      <a:prstDash val="solid"/>
                      <a:round/>
                      <a:headEnd type="none" w="lg" len="lg"/>
                      <a:tailEnd type="none" w="lg" len="lg"/>
                    </a:lnL>
                    <a:lnR w="12700"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28575" cap="flat" cmpd="sng" algn="ctr">
                      <a:solidFill>
                        <a:schemeClr val="tx1"/>
                      </a:solidFill>
                      <a:prstDash val="solid"/>
                      <a:round/>
                      <a:headEnd type="none" w="lg" len="lg"/>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Arial" charset="0"/>
                        <a:cs typeface="Arial" charset="0"/>
                      </a:endParaRPr>
                    </a:p>
                  </a:txBody>
                  <a:tcPr marL="87086" marR="87086" marT="91440" marB="91440" anchor="ctr" horzOverflow="overflow">
                    <a:lnL w="12700" cap="flat" cmpd="sng" algn="ctr">
                      <a:solidFill>
                        <a:schemeClr val="tx1"/>
                      </a:solidFill>
                      <a:prstDash val="solid"/>
                      <a:round/>
                      <a:headEnd type="none" w="lg" len="lg"/>
                      <a:tailEnd type="none" w="lg" len="lg"/>
                    </a:lnL>
                    <a:lnR w="28575" cap="flat" cmpd="sng" algn="ctr">
                      <a:solidFill>
                        <a:schemeClr val="tx1"/>
                      </a:solidFill>
                      <a:prstDash val="solid"/>
                      <a:round/>
                      <a:headEnd type="none" w="lg" len="lg"/>
                      <a:tailEnd type="none" w="lg" len="lg"/>
                    </a:lnR>
                    <a:lnT w="12700" cap="flat" cmpd="sng" algn="ctr">
                      <a:solidFill>
                        <a:schemeClr val="tx1"/>
                      </a:solidFill>
                      <a:prstDash val="solid"/>
                      <a:round/>
                      <a:headEnd type="none" w="lg" len="lg"/>
                      <a:tailEnd type="none" w="lg" len="lg"/>
                    </a:lnT>
                    <a:lnB w="28575" cap="flat" cmpd="sng" algn="ctr">
                      <a:solidFill>
                        <a:schemeClr val="tx1"/>
                      </a:solidFill>
                      <a:prstDash val="solid"/>
                      <a:round/>
                      <a:headEnd type="none" w="lg" len="lg"/>
                      <a:tailEnd type="none" w="lg" len="lg"/>
                    </a:lnB>
                    <a:lnTlToBr>
                      <a:noFill/>
                    </a:lnTlToBr>
                    <a:lnBlToTr>
                      <a:noFill/>
                    </a:lnBlToTr>
                    <a:noFill/>
                  </a:tcPr>
                </a:tc>
              </a:tr>
            </a:tbl>
          </a:graphicData>
        </a:graphic>
      </p:graphicFrame>
      <p:sp>
        <p:nvSpPr>
          <p:cNvPr id="8214" name="Rectangle 2"/>
          <p:cNvSpPr>
            <a:spLocks noGrp="1" noChangeArrowheads="1"/>
          </p:cNvSpPr>
          <p:nvPr>
            <p:ph type="title"/>
          </p:nvPr>
        </p:nvSpPr>
        <p:spPr>
          <a:xfrm>
            <a:off x="1752600" y="476250"/>
            <a:ext cx="6196013" cy="628650"/>
          </a:xfrm>
        </p:spPr>
        <p:txBody>
          <a:bodyPr/>
          <a:lstStyle/>
          <a:p>
            <a:pPr eaLnBrk="1" hangingPunct="1"/>
            <a:r>
              <a:rPr lang="en-US" dirty="0" smtClean="0">
                <a:ea typeface="ＭＳ Ｐゴシック" pitchFamily="34" charset="-128"/>
              </a:rPr>
              <a:t>DMCC 2012-2013 Sponsors</a:t>
            </a:r>
          </a:p>
        </p:txBody>
      </p:sp>
      <p:pic>
        <p:nvPicPr>
          <p:cNvPr id="8225" name="Picture 2"/>
          <p:cNvPicPr>
            <a:picLocks noChangeAspect="1" noChangeArrowheads="1"/>
          </p:cNvPicPr>
          <p:nvPr/>
        </p:nvPicPr>
        <p:blipFill>
          <a:blip r:embed="rId3"/>
          <a:srcRect/>
          <a:stretch>
            <a:fillRect/>
          </a:stretch>
        </p:blipFill>
        <p:spPr bwMode="auto">
          <a:xfrm>
            <a:off x="304800" y="228600"/>
            <a:ext cx="1200150" cy="635000"/>
          </a:xfrm>
          <a:prstGeom prst="rect">
            <a:avLst/>
          </a:prstGeom>
          <a:noFill/>
          <a:ln w="9525" algn="ctr">
            <a:noFill/>
            <a:miter lim="800000"/>
            <a:headEnd/>
            <a:tailEnd/>
          </a:ln>
        </p:spPr>
      </p:pic>
      <p:sp>
        <p:nvSpPr>
          <p:cNvPr id="15" name="Slide Number Placeholder 14"/>
          <p:cNvSpPr>
            <a:spLocks noGrp="1"/>
          </p:cNvSpPr>
          <p:nvPr>
            <p:ph type="sldNum" sz="quarter" idx="10"/>
          </p:nvPr>
        </p:nvSpPr>
        <p:spPr>
          <a:xfrm>
            <a:off x="8382000" y="6352286"/>
            <a:ext cx="381000" cy="228600"/>
          </a:xfrm>
        </p:spPr>
        <p:txBody>
          <a:bodyPr/>
          <a:lstStyle/>
          <a:p>
            <a:pPr>
              <a:defRPr/>
            </a:pPr>
            <a:fld id="{2C3620DA-591A-47C1-BA9B-670AF3E2C382}" type="slidenum">
              <a:rPr lang="en-US" smtClean="0"/>
              <a:pPr>
                <a:defRPr/>
              </a:pPr>
              <a:t>2</a:t>
            </a:fld>
            <a:endParaRPr lang="en-US" dirty="0"/>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t="22427" b="22427"/>
          <a:stretch/>
        </p:blipFill>
        <p:spPr>
          <a:xfrm>
            <a:off x="2743200" y="1716786"/>
            <a:ext cx="1798321" cy="793376"/>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43200" y="2554986"/>
            <a:ext cx="1219200" cy="913223"/>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8811" y="2554986"/>
            <a:ext cx="1343989" cy="839993"/>
          </a:xfrm>
          <a:prstGeom prst="rect">
            <a:avLst/>
          </a:prstGeom>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45108" y="2538401"/>
            <a:ext cx="1846092" cy="900113"/>
          </a:xfrm>
          <a:prstGeom prst="rect">
            <a:avLst/>
          </a:prstGeom>
        </p:spPr>
      </p:pic>
      <p:pic>
        <p:nvPicPr>
          <p:cNvPr id="6" name="Picture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71719" y="2560263"/>
            <a:ext cx="1438881" cy="944937"/>
          </a:xfrm>
          <a:prstGeom prst="rect">
            <a:avLst/>
          </a:prstGeom>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45697" y="3455099"/>
            <a:ext cx="1216703" cy="1004888"/>
          </a:xfrm>
          <a:prstGeom prst="rect">
            <a:avLst/>
          </a:prstGeom>
        </p:spPr>
      </p:pic>
      <p:pic>
        <p:nvPicPr>
          <p:cNvPr id="8" name="Picture 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28608" y="3469386"/>
            <a:ext cx="2014992" cy="960996"/>
          </a:xfrm>
          <a:prstGeom prst="rect">
            <a:avLst/>
          </a:prstGeom>
        </p:spPr>
      </p:pic>
      <p:pic>
        <p:nvPicPr>
          <p:cNvPr id="9" name="Picture 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01192" y="3438514"/>
            <a:ext cx="2785608" cy="946968"/>
          </a:xfrm>
          <a:prstGeom prst="rect">
            <a:avLst/>
          </a:prstGeom>
        </p:spPr>
      </p:pic>
      <p:pic>
        <p:nvPicPr>
          <p:cNvPr id="10" name="Picture 9"/>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3200" y="4461682"/>
            <a:ext cx="1141304" cy="1141304"/>
          </a:xfrm>
          <a:prstGeom prst="rect">
            <a:avLst/>
          </a:prstGeom>
        </p:spPr>
      </p:pic>
      <p:pic>
        <p:nvPicPr>
          <p:cNvPr id="11" name="Picture 1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962400" y="4495800"/>
            <a:ext cx="2370398" cy="1078475"/>
          </a:xfrm>
          <a:prstGeom prst="rect">
            <a:avLst/>
          </a:prstGeom>
        </p:spPr>
      </p:pic>
      <p:pic>
        <p:nvPicPr>
          <p:cNvPr id="12" name="Picture 1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5679186"/>
            <a:ext cx="2286000" cy="914400"/>
          </a:xfrm>
          <a:prstGeom prst="rect">
            <a:avLst/>
          </a:prstGeom>
        </p:spPr>
      </p:pic>
      <p:pic>
        <p:nvPicPr>
          <p:cNvPr id="13" name="Picture 1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064700" y="5616432"/>
            <a:ext cx="2388598" cy="977154"/>
          </a:xfrm>
          <a:prstGeom prst="rect">
            <a:avLst/>
          </a:prstGeom>
        </p:spPr>
      </p:pic>
    </p:spTree>
    <p:extLst>
      <p:ext uri="{BB962C8B-B14F-4D97-AF65-F5344CB8AC3E}">
        <p14:creationId xmlns:p14="http://schemas.microsoft.com/office/powerpoint/2010/main" val="302587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52400"/>
            <a:ext cx="7772400" cy="1470025"/>
          </a:xfrm>
        </p:spPr>
        <p:txBody>
          <a:bodyPr/>
          <a:lstStyle/>
          <a:p>
            <a:pPr algn="ctr"/>
            <a:r>
              <a:rPr lang="en-US" dirty="0" smtClean="0">
                <a:ea typeface="ＭＳ Ｐゴシック" pitchFamily="34" charset="-128"/>
              </a:rPr>
              <a:t>Editor’s Note</a:t>
            </a:r>
          </a:p>
        </p:txBody>
      </p:sp>
      <p:sp>
        <p:nvSpPr>
          <p:cNvPr id="9219" name="Subtitle 2"/>
          <p:cNvSpPr>
            <a:spLocks noGrp="1"/>
          </p:cNvSpPr>
          <p:nvPr>
            <p:ph type="subTitle" idx="1"/>
          </p:nvPr>
        </p:nvSpPr>
        <p:spPr>
          <a:xfrm>
            <a:off x="457200" y="1371600"/>
            <a:ext cx="8153400" cy="4800600"/>
          </a:xfrm>
        </p:spPr>
        <p:txBody>
          <a:bodyPr/>
          <a:lstStyle/>
          <a:p>
            <a:pPr algn="l"/>
            <a:r>
              <a:rPr lang="en-US" sz="1200" dirty="0" smtClean="0">
                <a:ea typeface="ＭＳ Ｐゴシック" pitchFamily="34" charset="-128"/>
              </a:rPr>
              <a:t>Welcome </a:t>
            </a:r>
            <a:r>
              <a:rPr lang="en-US" sz="1200" dirty="0">
                <a:ea typeface="ＭＳ Ｐゴシック" pitchFamily="34" charset="-128"/>
              </a:rPr>
              <a:t>s</a:t>
            </a:r>
            <a:r>
              <a:rPr lang="en-US" sz="1200" dirty="0" smtClean="0">
                <a:ea typeface="ＭＳ Ｐゴシック" pitchFamily="34" charset="-128"/>
              </a:rPr>
              <a:t>tudents</a:t>
            </a:r>
          </a:p>
          <a:p>
            <a:pPr algn="l"/>
            <a:endParaRPr lang="en-US" sz="1200" dirty="0" smtClean="0">
              <a:ea typeface="ＭＳ Ｐゴシック" pitchFamily="34" charset="-128"/>
            </a:endParaRPr>
          </a:p>
          <a:p>
            <a:pPr algn="l"/>
            <a:r>
              <a:rPr lang="en-US" sz="1200" dirty="0" smtClean="0">
                <a:ea typeface="ＭＳ Ｐゴシック" pitchFamily="34" charset="-128"/>
              </a:rPr>
              <a:t>The Duke MBA Consulting Club (DMCC) is proud to present the official 2012-2013 DMCC Casebook. This year we have included over 20 brand new cases. The objective of this book is to help you prepare for your upcoming consulting case interviews. Case interviews are an integral part of the hiring process for consulting firms. These interviews give you the opportunity to showcase your communication, client, creative and analytical skills to your interviewer. This book was developed to complement the Duke MBA Consulting Roadmap curriculum.  We hope that using both will help lead you to success during the upcoming recruiting season.</a:t>
            </a:r>
          </a:p>
          <a:p>
            <a:pPr algn="l"/>
            <a:endParaRPr lang="en-US" sz="1200" dirty="0" smtClean="0">
              <a:ea typeface="ＭＳ Ｐゴシック" pitchFamily="34" charset="-128"/>
            </a:endParaRPr>
          </a:p>
          <a:p>
            <a:pPr algn="l"/>
            <a:r>
              <a:rPr lang="en-US" sz="1200" dirty="0" smtClean="0">
                <a:ea typeface="ＭＳ Ｐゴシック" pitchFamily="34" charset="-128"/>
              </a:rPr>
              <a:t>This casebook could not have been completed without </a:t>
            </a:r>
            <a:r>
              <a:rPr lang="en-US" sz="1200" dirty="0" smtClean="0"/>
              <a:t>Francisco </a:t>
            </a:r>
            <a:r>
              <a:rPr lang="en-US" sz="1200" dirty="0"/>
              <a:t>Arruda and Kaberi </a:t>
            </a:r>
            <a:r>
              <a:rPr lang="en-US" sz="1200" dirty="0" smtClean="0"/>
              <a:t>Chowdhury and </a:t>
            </a:r>
            <a:r>
              <a:rPr lang="en-US" sz="1200" dirty="0">
                <a:ea typeface="ＭＳ Ｐゴシック" pitchFamily="34" charset="-128"/>
              </a:rPr>
              <a:t>the valuable contributions </a:t>
            </a:r>
            <a:r>
              <a:rPr lang="en-US" sz="1200" dirty="0" smtClean="0">
                <a:ea typeface="ＭＳ Ｐゴシック" pitchFamily="34" charset="-128"/>
              </a:rPr>
              <a:t>of </a:t>
            </a:r>
            <a:r>
              <a:rPr lang="en-US" sz="1200" dirty="0" smtClean="0"/>
              <a:t>Ganesh </a:t>
            </a:r>
            <a:r>
              <a:rPr lang="en-US" sz="1200" dirty="0"/>
              <a:t>Subramanian, James Dagonas, Jorge </a:t>
            </a:r>
            <a:r>
              <a:rPr lang="en-US" sz="1200" dirty="0" smtClean="0"/>
              <a:t>Mendes, Laura </a:t>
            </a:r>
            <a:r>
              <a:rPr lang="en-US" sz="1200" dirty="0"/>
              <a:t>Newman, Liz Carroll, Lluis Vivas, Mike Simone, Oi Yen Lam, Sam Mason, Shashi Kejriwal, Thomas Doerdelmann, Tony Toussaint, </a:t>
            </a:r>
            <a:r>
              <a:rPr lang="en-US" sz="1200" dirty="0" smtClean="0"/>
              <a:t>Whitney Arnold and the </a:t>
            </a:r>
            <a:r>
              <a:rPr lang="en-US" sz="1200" dirty="0" smtClean="0">
                <a:ea typeface="ＭＳ Ｐゴシック" pitchFamily="34" charset="-128"/>
              </a:rPr>
              <a:t>DMCC Cabinet Officers. We would also like to thank our friends at other MBA programs for sharing with us their old casebooks in order for us to continue to harvest new material.</a:t>
            </a:r>
          </a:p>
          <a:p>
            <a:pPr algn="l"/>
            <a:endParaRPr lang="en-US" sz="1200" dirty="0" smtClean="0">
              <a:ea typeface="ＭＳ Ｐゴシック" pitchFamily="34" charset="-128"/>
            </a:endParaRPr>
          </a:p>
          <a:p>
            <a:pPr algn="l"/>
            <a:r>
              <a:rPr lang="en-US" sz="1200" dirty="0" smtClean="0">
                <a:ea typeface="ＭＳ Ｐゴシック" pitchFamily="34" charset="-128"/>
              </a:rPr>
              <a:t>We wish you luck with your preparation and would like you to remember that your fellow DMCC members are here to help!  Please reach out to anyone on the cabinet if you feel that you are not “cracking the case”.  Lastly, to the students of other top MBA programs using this case book during their preparation, we warmly welcome you to “Team Fuqua”.</a:t>
            </a:r>
          </a:p>
          <a:p>
            <a:pPr algn="l"/>
            <a:endParaRPr lang="en-US" sz="1200" dirty="0" smtClean="0">
              <a:ea typeface="ＭＳ Ｐゴシック" pitchFamily="34" charset="-128"/>
            </a:endParaRPr>
          </a:p>
          <a:p>
            <a:pPr algn="l"/>
            <a:r>
              <a:rPr lang="en-US" sz="1200" dirty="0" smtClean="0">
                <a:ea typeface="ＭＳ Ｐゴシック" pitchFamily="34" charset="-128"/>
              </a:rPr>
              <a:t>Good luck!</a:t>
            </a:r>
          </a:p>
          <a:p>
            <a:pPr algn="l"/>
            <a:endParaRPr lang="en-US" sz="1200" dirty="0" smtClean="0">
              <a:ea typeface="ＭＳ Ｐゴシック" pitchFamily="34" charset="-128"/>
            </a:endParaRPr>
          </a:p>
          <a:p>
            <a:pPr algn="l"/>
            <a:r>
              <a:rPr lang="en-US" sz="1200" dirty="0" smtClean="0">
                <a:ea typeface="ＭＳ Ｐゴシック" pitchFamily="34" charset="-128"/>
              </a:rPr>
              <a:t>Laura Newman, </a:t>
            </a:r>
            <a:r>
              <a:rPr lang="en-US" sz="1200" dirty="0" smtClean="0"/>
              <a:t>Stani Grozdeva</a:t>
            </a:r>
            <a:r>
              <a:rPr lang="en-US" sz="1200" dirty="0" smtClean="0">
                <a:ea typeface="ＭＳ Ｐゴシック" pitchFamily="34" charset="-128"/>
              </a:rPr>
              <a:t> and the DMCC Class of 2013 Officers</a:t>
            </a:r>
          </a:p>
          <a:p>
            <a:pPr algn="l"/>
            <a:r>
              <a:rPr lang="en-US" sz="1200" dirty="0" smtClean="0">
                <a:ea typeface="ＭＳ Ｐゴシック" pitchFamily="34" charset="-128"/>
              </a:rPr>
              <a:t>www.fuquaconsulting.com</a:t>
            </a:r>
          </a:p>
          <a:p>
            <a:pPr algn="l"/>
            <a:endParaRPr lang="en-US" sz="1200" dirty="0" smtClean="0">
              <a:ea typeface="ＭＳ Ｐゴシック" pitchFamily="34" charset="-128"/>
            </a:endParaRPr>
          </a:p>
        </p:txBody>
      </p:sp>
      <p:sp>
        <p:nvSpPr>
          <p:cNvPr id="9220" name="Slide Number Placeholder 3"/>
          <p:cNvSpPr>
            <a:spLocks noGrp="1"/>
          </p:cNvSpPr>
          <p:nvPr>
            <p:ph type="sldNum" sz="quarter" idx="11"/>
          </p:nvPr>
        </p:nvSpPr>
        <p:spPr>
          <a:noFill/>
        </p:spPr>
        <p:txBody>
          <a:bodyPr/>
          <a:lstStyle/>
          <a:p>
            <a:fld id="{3C18BEB5-4822-4956-BFCE-379AAB47E060}" type="slidenum">
              <a:rPr lang="en-US" smtClean="0">
                <a:latin typeface="Arial" pitchFamily="34" charset="0"/>
                <a:ea typeface="ＭＳ Ｐゴシック" pitchFamily="34" charset="-128"/>
              </a:rPr>
              <a:pPr/>
              <a:t>3</a:t>
            </a:fld>
            <a:endParaRPr lang="en-US" smtClean="0">
              <a:latin typeface="Arial" pitchFamily="34" charset="0"/>
              <a:ea typeface="ＭＳ Ｐゴシック" pitchFamily="34" charset="-128"/>
            </a:endParaRPr>
          </a:p>
        </p:txBody>
      </p:sp>
      <p:pic>
        <p:nvPicPr>
          <p:cNvPr id="9221" name="Picture 2"/>
          <p:cNvPicPr>
            <a:picLocks noChangeAspect="1" noChangeArrowheads="1"/>
          </p:cNvPicPr>
          <p:nvPr/>
        </p:nvPicPr>
        <p:blipFill>
          <a:blip r:embed="rId2"/>
          <a:srcRect/>
          <a:stretch>
            <a:fillRect/>
          </a:stretch>
        </p:blipFill>
        <p:spPr bwMode="auto">
          <a:xfrm>
            <a:off x="304800" y="203200"/>
            <a:ext cx="1200150" cy="635000"/>
          </a:xfrm>
          <a:prstGeom prst="rect">
            <a:avLst/>
          </a:prstGeom>
          <a:noFill/>
          <a:ln w="9525" algn="ctr">
            <a:noFill/>
            <a:miter lim="800000"/>
            <a:headEnd/>
            <a:tailEnd/>
          </a:ln>
        </p:spPr>
      </p:pic>
    </p:spTree>
    <p:extLst>
      <p:ext uri="{BB962C8B-B14F-4D97-AF65-F5344CB8AC3E}">
        <p14:creationId xmlns:p14="http://schemas.microsoft.com/office/powerpoint/2010/main" val="16909380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852577" y="152400"/>
            <a:ext cx="7772400" cy="1470025"/>
          </a:xfrm>
        </p:spPr>
        <p:txBody>
          <a:bodyPr/>
          <a:lstStyle/>
          <a:p>
            <a:pPr algn="ctr"/>
            <a:r>
              <a:rPr lang="en-US" dirty="0" smtClean="0">
                <a:ea typeface="ＭＳ Ｐゴシック" pitchFamily="34" charset="-128"/>
              </a:rPr>
              <a:t>Case material table of contents</a:t>
            </a:r>
          </a:p>
        </p:txBody>
      </p:sp>
      <p:sp>
        <p:nvSpPr>
          <p:cNvPr id="9220" name="Slide Number Placeholder 3"/>
          <p:cNvSpPr>
            <a:spLocks noGrp="1"/>
          </p:cNvSpPr>
          <p:nvPr>
            <p:ph type="sldNum" sz="quarter" idx="11"/>
          </p:nvPr>
        </p:nvSpPr>
        <p:spPr>
          <a:noFill/>
        </p:spPr>
        <p:txBody>
          <a:bodyPr/>
          <a:lstStyle/>
          <a:p>
            <a:fld id="{3C18BEB5-4822-4956-BFCE-379AAB47E060}" type="slidenum">
              <a:rPr lang="en-US" smtClean="0">
                <a:latin typeface="Arial" pitchFamily="34" charset="0"/>
                <a:ea typeface="ＭＳ Ｐゴシック" pitchFamily="34" charset="-128"/>
              </a:rPr>
              <a:pPr/>
              <a:t>4</a:t>
            </a:fld>
            <a:endParaRPr lang="en-US" smtClean="0">
              <a:latin typeface="Arial" pitchFamily="34" charset="0"/>
              <a:ea typeface="ＭＳ Ｐゴシック" pitchFamily="34" charset="-128"/>
            </a:endParaRPr>
          </a:p>
        </p:txBody>
      </p:sp>
      <p:pic>
        <p:nvPicPr>
          <p:cNvPr id="9221" name="Picture 2"/>
          <p:cNvPicPr>
            <a:picLocks noChangeAspect="1" noChangeArrowheads="1"/>
          </p:cNvPicPr>
          <p:nvPr/>
        </p:nvPicPr>
        <p:blipFill>
          <a:blip r:embed="rId2"/>
          <a:srcRect/>
          <a:stretch>
            <a:fillRect/>
          </a:stretch>
        </p:blipFill>
        <p:spPr bwMode="auto">
          <a:xfrm>
            <a:off x="304800" y="203200"/>
            <a:ext cx="1200150" cy="635000"/>
          </a:xfrm>
          <a:prstGeom prst="rect">
            <a:avLst/>
          </a:prstGeom>
          <a:noFill/>
          <a:ln w="9525" algn="ctr">
            <a:noFill/>
            <a:miter lim="800000"/>
            <a:headEnd/>
            <a:tailEnd/>
          </a:ln>
        </p:spPr>
      </p:pic>
      <p:graphicFrame>
        <p:nvGraphicFramePr>
          <p:cNvPr id="6" name="Table 5"/>
          <p:cNvGraphicFramePr>
            <a:graphicFrameLocks noGrp="1"/>
          </p:cNvGraphicFramePr>
          <p:nvPr>
            <p:extLst>
              <p:ext uri="{D42A27DB-BD31-4B8C-83A1-F6EECF244321}">
                <p14:modId xmlns:p14="http://schemas.microsoft.com/office/powerpoint/2010/main" val="2605455444"/>
              </p:ext>
            </p:extLst>
          </p:nvPr>
        </p:nvGraphicFramePr>
        <p:xfrm>
          <a:off x="1917913" y="838198"/>
          <a:ext cx="5641729" cy="5702312"/>
        </p:xfrm>
        <a:graphic>
          <a:graphicData uri="http://schemas.openxmlformats.org/drawingml/2006/table">
            <a:tbl>
              <a:tblPr/>
              <a:tblGrid>
                <a:gridCol w="838702"/>
                <a:gridCol w="1374009"/>
                <a:gridCol w="2718500"/>
                <a:gridCol w="710518"/>
              </a:tblGrid>
              <a:tr h="259196">
                <a:tc>
                  <a:txBody>
                    <a:bodyPr/>
                    <a:lstStyle/>
                    <a:p>
                      <a:pPr algn="ctr" fontAlgn="b"/>
                      <a:r>
                        <a:rPr lang="en-US" sz="1600" b="1" i="0" u="none" strike="noStrike" dirty="0">
                          <a:solidFill>
                            <a:srgbClr val="000000"/>
                          </a:solidFill>
                          <a:effectLst/>
                          <a:latin typeface="Calibri"/>
                        </a:rPr>
                        <a:t>Case #</a:t>
                      </a:r>
                    </a:p>
                  </a:txBody>
                  <a:tcPr marL="8618" marR="8618" marT="8618" marB="0" anchor="b">
                    <a:lnL>
                      <a:noFill/>
                    </a:lnL>
                    <a:lnR>
                      <a:noFill/>
                    </a:lnR>
                    <a:lnT>
                      <a:noFill/>
                    </a:lnT>
                    <a:lnB>
                      <a:noFill/>
                    </a:lnB>
                    <a:solidFill>
                      <a:srgbClr val="D9D9D9"/>
                    </a:solidFill>
                  </a:tcPr>
                </a:tc>
                <a:tc>
                  <a:txBody>
                    <a:bodyPr/>
                    <a:lstStyle/>
                    <a:p>
                      <a:pPr algn="l" fontAlgn="b"/>
                      <a:r>
                        <a:rPr lang="en-US" sz="1600" b="1" i="0" u="none" strike="noStrike" dirty="0">
                          <a:solidFill>
                            <a:srgbClr val="000000"/>
                          </a:solidFill>
                          <a:effectLst/>
                          <a:latin typeface="Calibri"/>
                        </a:rPr>
                        <a:t>Type</a:t>
                      </a:r>
                    </a:p>
                  </a:txBody>
                  <a:tcPr marL="8618" marR="8618" marT="8618" marB="0" anchor="b">
                    <a:lnL>
                      <a:noFill/>
                    </a:lnL>
                    <a:lnR>
                      <a:noFill/>
                    </a:lnR>
                    <a:lnT>
                      <a:noFill/>
                    </a:lnT>
                    <a:lnB>
                      <a:noFill/>
                    </a:lnB>
                    <a:solidFill>
                      <a:srgbClr val="D9D9D9"/>
                    </a:solidFill>
                  </a:tcPr>
                </a:tc>
                <a:tc>
                  <a:txBody>
                    <a:bodyPr/>
                    <a:lstStyle/>
                    <a:p>
                      <a:pPr algn="l" fontAlgn="b"/>
                      <a:r>
                        <a:rPr lang="en-US" sz="1600" b="0" i="0" u="none" strike="noStrike" dirty="0">
                          <a:solidFill>
                            <a:schemeClr val="tx1"/>
                          </a:solidFill>
                          <a:effectLst/>
                          <a:latin typeface="Calibri"/>
                        </a:rPr>
                        <a:t>Name</a:t>
                      </a:r>
                    </a:p>
                  </a:txBody>
                  <a:tcPr marL="8618" marR="8618" marT="8618" marB="0" anchor="b">
                    <a:lnL>
                      <a:noFill/>
                    </a:lnL>
                    <a:lnR>
                      <a:noFill/>
                    </a:lnR>
                    <a:lnT>
                      <a:noFill/>
                    </a:lnT>
                    <a:lnB>
                      <a:noFill/>
                    </a:lnB>
                    <a:solidFill>
                      <a:srgbClr val="D9D9D9"/>
                    </a:solidFill>
                  </a:tcPr>
                </a:tc>
                <a:tc>
                  <a:txBody>
                    <a:bodyPr/>
                    <a:lstStyle/>
                    <a:p>
                      <a:pPr algn="ctr" fontAlgn="b"/>
                      <a:r>
                        <a:rPr lang="en-US" sz="1600" b="1" i="0" u="none" strike="noStrike" dirty="0">
                          <a:solidFill>
                            <a:srgbClr val="000000"/>
                          </a:solidFill>
                          <a:effectLst/>
                          <a:latin typeface="Calibri"/>
                        </a:rPr>
                        <a:t>Page</a:t>
                      </a:r>
                    </a:p>
                  </a:txBody>
                  <a:tcPr marL="8618" marR="8618" marT="8618" marB="0" anchor="b">
                    <a:lnL>
                      <a:noFill/>
                    </a:lnL>
                    <a:lnR>
                      <a:noFill/>
                    </a:lnR>
                    <a:lnT>
                      <a:noFill/>
                    </a:lnT>
                    <a:lnB>
                      <a:noFill/>
                    </a:lnB>
                    <a:solidFill>
                      <a:srgbClr val="D9D9D9"/>
                    </a:solidFill>
                  </a:tcPr>
                </a:tc>
              </a:tr>
              <a:tr h="259196">
                <a:tc>
                  <a:txBody>
                    <a:bodyPr/>
                    <a:lstStyle/>
                    <a:p>
                      <a:pPr algn="ctr" fontAlgn="b"/>
                      <a:r>
                        <a:rPr lang="en-US" sz="1600" b="0" i="0" u="none" strike="noStrike" dirty="0">
                          <a:solidFill>
                            <a:srgbClr val="000000"/>
                          </a:solidFill>
                          <a:effectLst/>
                          <a:latin typeface="Calibri"/>
                        </a:rPr>
                        <a:t>1</a:t>
                      </a:r>
                    </a:p>
                  </a:txBody>
                  <a:tcPr marL="8618" marR="8618" marT="8618" marB="0" anchor="b">
                    <a:lnL>
                      <a:noFill/>
                    </a:lnL>
                    <a:lnR>
                      <a:noFill/>
                    </a:lnR>
                    <a:lnT>
                      <a:noFill/>
                    </a:lnT>
                    <a:lnB>
                      <a:noFill/>
                    </a:lnB>
                    <a:solidFill>
                      <a:srgbClr val="DCE6F1"/>
                    </a:solidFill>
                  </a:tcPr>
                </a:tc>
                <a:tc>
                  <a:txBody>
                    <a:bodyPr/>
                    <a:lstStyle/>
                    <a:p>
                      <a:pPr algn="l" fontAlgn="b"/>
                      <a:r>
                        <a:rPr lang="en-US" sz="1600" b="0" i="0" u="none" strike="noStrike" dirty="0">
                          <a:solidFill>
                            <a:srgbClr val="000000"/>
                          </a:solidFill>
                          <a:effectLst/>
                          <a:latin typeface="Calibri"/>
                        </a:rPr>
                        <a:t>Market Sizing</a:t>
                      </a:r>
                    </a:p>
                  </a:txBody>
                  <a:tcPr marL="8618" marR="8618" marT="8618" marB="0" anchor="b">
                    <a:lnL>
                      <a:noFill/>
                    </a:lnL>
                    <a:lnR>
                      <a:noFill/>
                    </a:lnR>
                    <a:lnT>
                      <a:noFill/>
                    </a:lnT>
                    <a:lnB>
                      <a:noFill/>
                    </a:lnB>
                    <a:solidFill>
                      <a:srgbClr val="DCE6F1"/>
                    </a:solidFill>
                  </a:tcPr>
                </a:tc>
                <a:tc>
                  <a:txBody>
                    <a:bodyPr/>
                    <a:lstStyle/>
                    <a:p>
                      <a:pPr algn="l" fontAlgn="b"/>
                      <a:r>
                        <a:rPr lang="en-US" sz="1600" b="0" i="0" u="none" strike="noStrike" baseline="0" dirty="0">
                          <a:solidFill>
                            <a:schemeClr val="tx1"/>
                          </a:solidFill>
                          <a:effectLst/>
                          <a:latin typeface="Calibri"/>
                          <a:hlinkClick r:id="rId3" action="ppaction://hlinksldjump"/>
                        </a:rPr>
                        <a:t> Car Leasing</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DCE6F1"/>
                    </a:solidFill>
                  </a:tcPr>
                </a:tc>
                <a:tc>
                  <a:txBody>
                    <a:bodyPr/>
                    <a:lstStyle/>
                    <a:p>
                      <a:pPr algn="r" fontAlgn="b"/>
                      <a:r>
                        <a:rPr lang="en-US" sz="1600" b="0" i="0" u="none" strike="noStrike" dirty="0" smtClean="0">
                          <a:solidFill>
                            <a:srgbClr val="000000"/>
                          </a:solidFill>
                          <a:effectLst/>
                          <a:latin typeface="Calibri"/>
                        </a:rPr>
                        <a:t>16</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DCE6F1"/>
                    </a:solidFill>
                  </a:tcPr>
                </a:tc>
              </a:tr>
              <a:tr h="259196">
                <a:tc>
                  <a:txBody>
                    <a:bodyPr/>
                    <a:lstStyle/>
                    <a:p>
                      <a:pPr algn="ctr" fontAlgn="b"/>
                      <a:r>
                        <a:rPr lang="en-US" sz="1600" b="0" i="0" u="none" strike="noStrike" dirty="0">
                          <a:solidFill>
                            <a:srgbClr val="000000"/>
                          </a:solidFill>
                          <a:effectLst/>
                          <a:latin typeface="Calibri"/>
                        </a:rPr>
                        <a:t>2</a:t>
                      </a:r>
                    </a:p>
                  </a:txBody>
                  <a:tcPr marL="8618" marR="8618" marT="8618" marB="0" anchor="b">
                    <a:lnL>
                      <a:noFill/>
                    </a:lnL>
                    <a:lnR>
                      <a:noFill/>
                    </a:lnR>
                    <a:lnT>
                      <a:noFill/>
                    </a:lnT>
                    <a:lnB>
                      <a:noFill/>
                    </a:lnB>
                    <a:solidFill>
                      <a:srgbClr val="DCE6F1"/>
                    </a:solidFill>
                  </a:tcPr>
                </a:tc>
                <a:tc>
                  <a:txBody>
                    <a:bodyPr/>
                    <a:lstStyle/>
                    <a:p>
                      <a:pPr algn="l" fontAlgn="b"/>
                      <a:r>
                        <a:rPr lang="en-US" sz="1600" b="0" i="0" u="none" strike="noStrike" dirty="0">
                          <a:solidFill>
                            <a:srgbClr val="000000"/>
                          </a:solidFill>
                          <a:effectLst/>
                          <a:latin typeface="Calibri"/>
                        </a:rPr>
                        <a:t>Market Sizing</a:t>
                      </a:r>
                    </a:p>
                  </a:txBody>
                  <a:tcPr marL="8618" marR="8618" marT="8618" marB="0" anchor="b">
                    <a:lnL>
                      <a:noFill/>
                    </a:lnL>
                    <a:lnR>
                      <a:noFill/>
                    </a:lnR>
                    <a:lnT>
                      <a:noFill/>
                    </a:lnT>
                    <a:lnB>
                      <a:noFill/>
                    </a:lnB>
                    <a:solidFill>
                      <a:srgbClr val="DCE6F1"/>
                    </a:solidFill>
                  </a:tcPr>
                </a:tc>
                <a:tc>
                  <a:txBody>
                    <a:bodyPr/>
                    <a:lstStyle/>
                    <a:p>
                      <a:pPr algn="l" fontAlgn="b"/>
                      <a:r>
                        <a:rPr lang="en-US" sz="1600" b="0" i="0" u="none" strike="noStrike" baseline="0" dirty="0">
                          <a:solidFill>
                            <a:schemeClr val="tx1"/>
                          </a:solidFill>
                          <a:effectLst/>
                          <a:latin typeface="Calibri"/>
                          <a:hlinkClick r:id="rId4" action="ppaction://hlinksldjump"/>
                        </a:rPr>
                        <a:t> Penguins?!?</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DCE6F1"/>
                    </a:solidFill>
                  </a:tcPr>
                </a:tc>
                <a:tc>
                  <a:txBody>
                    <a:bodyPr/>
                    <a:lstStyle/>
                    <a:p>
                      <a:pPr algn="r" fontAlgn="b"/>
                      <a:r>
                        <a:rPr lang="en-US" sz="1600" b="0" i="0" u="none" strike="noStrike" dirty="0" smtClean="0">
                          <a:solidFill>
                            <a:srgbClr val="000000"/>
                          </a:solidFill>
                          <a:effectLst/>
                          <a:latin typeface="Calibri"/>
                        </a:rPr>
                        <a:t>22</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DCE6F1"/>
                    </a:solidFill>
                  </a:tcPr>
                </a:tc>
              </a:tr>
              <a:tr h="259196">
                <a:tc>
                  <a:txBody>
                    <a:bodyPr/>
                    <a:lstStyle/>
                    <a:p>
                      <a:pPr algn="ctr" fontAlgn="b"/>
                      <a:r>
                        <a:rPr lang="en-US" sz="1600" b="0" i="0" u="none" strike="noStrike" dirty="0">
                          <a:solidFill>
                            <a:srgbClr val="000000"/>
                          </a:solidFill>
                          <a:effectLst/>
                          <a:latin typeface="Calibri"/>
                        </a:rPr>
                        <a:t>3</a:t>
                      </a:r>
                    </a:p>
                  </a:txBody>
                  <a:tcPr marL="8618" marR="8618" marT="8618" marB="0" anchor="b">
                    <a:lnL>
                      <a:noFill/>
                    </a:lnL>
                    <a:lnR>
                      <a:noFill/>
                    </a:lnR>
                    <a:lnT>
                      <a:noFill/>
                    </a:lnT>
                    <a:lnB>
                      <a:noFill/>
                    </a:lnB>
                    <a:solidFill>
                      <a:srgbClr val="DCE6F1"/>
                    </a:solidFill>
                  </a:tcPr>
                </a:tc>
                <a:tc>
                  <a:txBody>
                    <a:bodyPr/>
                    <a:lstStyle/>
                    <a:p>
                      <a:pPr algn="l" fontAlgn="b"/>
                      <a:r>
                        <a:rPr lang="en-US" sz="1600" b="0" i="0" u="none" strike="noStrike" dirty="0">
                          <a:solidFill>
                            <a:srgbClr val="000000"/>
                          </a:solidFill>
                          <a:effectLst/>
                          <a:latin typeface="Calibri"/>
                        </a:rPr>
                        <a:t>Market Sizing</a:t>
                      </a:r>
                    </a:p>
                  </a:txBody>
                  <a:tcPr marL="8618" marR="8618" marT="8618" marB="0" anchor="b">
                    <a:lnL>
                      <a:noFill/>
                    </a:lnL>
                    <a:lnR>
                      <a:noFill/>
                    </a:lnR>
                    <a:lnT>
                      <a:noFill/>
                    </a:lnT>
                    <a:lnB>
                      <a:noFill/>
                    </a:lnB>
                    <a:solidFill>
                      <a:srgbClr val="DCE6F1"/>
                    </a:solidFill>
                  </a:tcPr>
                </a:tc>
                <a:tc>
                  <a:txBody>
                    <a:bodyPr/>
                    <a:lstStyle/>
                    <a:p>
                      <a:pPr algn="l" fontAlgn="b"/>
                      <a:r>
                        <a:rPr lang="en-US" sz="1600" b="0" i="0" u="none" strike="noStrike" baseline="0" dirty="0">
                          <a:solidFill>
                            <a:schemeClr val="tx1"/>
                          </a:solidFill>
                          <a:effectLst/>
                          <a:latin typeface="Calibri"/>
                          <a:hlinkClick r:id="rId5" action="ppaction://hlinksldjump"/>
                        </a:rPr>
                        <a:t> Pianos</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DCE6F1"/>
                    </a:solidFill>
                  </a:tcPr>
                </a:tc>
                <a:tc>
                  <a:txBody>
                    <a:bodyPr/>
                    <a:lstStyle/>
                    <a:p>
                      <a:pPr algn="r" fontAlgn="b"/>
                      <a:r>
                        <a:rPr lang="en-US" sz="1600" b="0" i="0" u="none" strike="noStrike" dirty="0" smtClean="0">
                          <a:solidFill>
                            <a:srgbClr val="000000"/>
                          </a:solidFill>
                          <a:effectLst/>
                          <a:latin typeface="Calibri"/>
                        </a:rPr>
                        <a:t>30</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DCE6F1"/>
                    </a:solidFill>
                  </a:tcPr>
                </a:tc>
              </a:tr>
              <a:tr h="259196">
                <a:tc>
                  <a:txBody>
                    <a:bodyPr/>
                    <a:lstStyle/>
                    <a:p>
                      <a:pPr algn="ctr" fontAlgn="b"/>
                      <a:r>
                        <a:rPr lang="en-US" sz="1600" b="0" i="0" u="none" strike="noStrike" dirty="0">
                          <a:solidFill>
                            <a:srgbClr val="000000"/>
                          </a:solidFill>
                          <a:effectLst/>
                          <a:latin typeface="Calibri"/>
                        </a:rPr>
                        <a:t>4</a:t>
                      </a:r>
                    </a:p>
                  </a:txBody>
                  <a:tcPr marL="8618" marR="8618" marT="8618" marB="0" anchor="b">
                    <a:lnL>
                      <a:noFill/>
                    </a:lnL>
                    <a:lnR>
                      <a:noFill/>
                    </a:lnR>
                    <a:lnT>
                      <a:noFill/>
                    </a:lnT>
                    <a:lnB>
                      <a:noFill/>
                    </a:lnB>
                    <a:solidFill>
                      <a:schemeClr val="accent2">
                        <a:lumMod val="20000"/>
                        <a:lumOff val="80000"/>
                      </a:schemeClr>
                    </a:solidFill>
                  </a:tcPr>
                </a:tc>
                <a:tc>
                  <a:txBody>
                    <a:bodyPr/>
                    <a:lstStyle/>
                    <a:p>
                      <a:pPr algn="l" fontAlgn="b"/>
                      <a:r>
                        <a:rPr lang="en-US" sz="1600" b="0" i="0" u="none" strike="noStrike" dirty="0">
                          <a:solidFill>
                            <a:srgbClr val="000000"/>
                          </a:solidFill>
                          <a:effectLst/>
                          <a:latin typeface="Calibri"/>
                        </a:rPr>
                        <a:t>Valuation</a:t>
                      </a:r>
                    </a:p>
                  </a:txBody>
                  <a:tcPr marL="8618" marR="8618" marT="8618" marB="0" anchor="b">
                    <a:lnL>
                      <a:noFill/>
                    </a:lnL>
                    <a:lnR>
                      <a:noFill/>
                    </a:lnR>
                    <a:lnT>
                      <a:noFill/>
                    </a:lnT>
                    <a:lnB>
                      <a:noFill/>
                    </a:lnB>
                    <a:solidFill>
                      <a:schemeClr val="accent2">
                        <a:lumMod val="20000"/>
                        <a:lumOff val="80000"/>
                      </a:schemeClr>
                    </a:solidFill>
                  </a:tcPr>
                </a:tc>
                <a:tc>
                  <a:txBody>
                    <a:bodyPr/>
                    <a:lstStyle/>
                    <a:p>
                      <a:pPr algn="l" fontAlgn="b"/>
                      <a:r>
                        <a:rPr lang="en-US" sz="1600" b="0" i="0" u="none" strike="noStrike" baseline="0" dirty="0">
                          <a:solidFill>
                            <a:schemeClr val="tx1"/>
                          </a:solidFill>
                          <a:effectLst/>
                          <a:latin typeface="Calibri"/>
                          <a:hlinkClick r:id="rId6" action="ppaction://hlinksldjump"/>
                        </a:rPr>
                        <a:t> US </a:t>
                      </a:r>
                      <a:r>
                        <a:rPr lang="en-US" sz="1600" b="0" i="0" u="none" strike="noStrike" baseline="0" dirty="0" err="1">
                          <a:solidFill>
                            <a:schemeClr val="tx1"/>
                          </a:solidFill>
                          <a:effectLst/>
                          <a:latin typeface="Calibri"/>
                          <a:hlinkClick r:id="rId6" action="ppaction://hlinksldjump"/>
                        </a:rPr>
                        <a:t>Pharma</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chemeClr val="accent2">
                        <a:lumMod val="20000"/>
                        <a:lumOff val="80000"/>
                      </a:schemeClr>
                    </a:solidFill>
                  </a:tcPr>
                </a:tc>
                <a:tc>
                  <a:txBody>
                    <a:bodyPr/>
                    <a:lstStyle/>
                    <a:p>
                      <a:pPr algn="r" fontAlgn="b"/>
                      <a:r>
                        <a:rPr lang="en-US" sz="1600" b="0" i="0" u="none" strike="noStrike" dirty="0">
                          <a:solidFill>
                            <a:srgbClr val="000000"/>
                          </a:solidFill>
                          <a:effectLst/>
                          <a:latin typeface="Calibri"/>
                        </a:rPr>
                        <a:t>3</a:t>
                      </a:r>
                      <a:r>
                        <a:rPr lang="en-US" sz="1600" b="0" i="0" u="none" strike="noStrike" dirty="0" smtClean="0">
                          <a:solidFill>
                            <a:srgbClr val="000000"/>
                          </a:solidFill>
                          <a:effectLst/>
                          <a:latin typeface="Calibri"/>
                        </a:rPr>
                        <a:t>5</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chemeClr val="accent2">
                        <a:lumMod val="20000"/>
                        <a:lumOff val="80000"/>
                      </a:schemeClr>
                    </a:solidFill>
                  </a:tcPr>
                </a:tc>
              </a:tr>
              <a:tr h="259196">
                <a:tc>
                  <a:txBody>
                    <a:bodyPr/>
                    <a:lstStyle/>
                    <a:p>
                      <a:pPr algn="ctr" fontAlgn="b"/>
                      <a:r>
                        <a:rPr lang="en-US" sz="1600" b="0" i="0" u="none" strike="noStrike" dirty="0">
                          <a:solidFill>
                            <a:srgbClr val="000000"/>
                          </a:solidFill>
                          <a:effectLst/>
                          <a:latin typeface="Calibri"/>
                        </a:rPr>
                        <a:t>5</a:t>
                      </a:r>
                    </a:p>
                  </a:txBody>
                  <a:tcPr marL="8618" marR="8618" marT="8618" marB="0" anchor="b">
                    <a:lnL>
                      <a:noFill/>
                    </a:lnL>
                    <a:lnR>
                      <a:noFill/>
                    </a:lnR>
                    <a:lnT>
                      <a:noFill/>
                    </a:lnT>
                    <a:lnB>
                      <a:noFill/>
                    </a:lnB>
                    <a:solidFill>
                      <a:schemeClr val="accent2">
                        <a:lumMod val="20000"/>
                        <a:lumOff val="80000"/>
                      </a:schemeClr>
                    </a:solidFill>
                  </a:tcPr>
                </a:tc>
                <a:tc>
                  <a:txBody>
                    <a:bodyPr/>
                    <a:lstStyle/>
                    <a:p>
                      <a:pPr algn="l" fontAlgn="b"/>
                      <a:r>
                        <a:rPr lang="en-US" sz="1600" b="0" i="0" u="none" strike="noStrike">
                          <a:solidFill>
                            <a:srgbClr val="000000"/>
                          </a:solidFill>
                          <a:effectLst/>
                          <a:latin typeface="Calibri"/>
                        </a:rPr>
                        <a:t>Valuation</a:t>
                      </a:r>
                    </a:p>
                  </a:txBody>
                  <a:tcPr marL="8618" marR="8618" marT="8618" marB="0" anchor="b">
                    <a:lnL>
                      <a:noFill/>
                    </a:lnL>
                    <a:lnR>
                      <a:noFill/>
                    </a:lnR>
                    <a:lnT>
                      <a:noFill/>
                    </a:lnT>
                    <a:lnB>
                      <a:noFill/>
                    </a:lnB>
                    <a:solidFill>
                      <a:schemeClr val="accent2">
                        <a:lumMod val="20000"/>
                        <a:lumOff val="80000"/>
                      </a:schemeClr>
                    </a:solidFill>
                  </a:tcPr>
                </a:tc>
                <a:tc>
                  <a:txBody>
                    <a:bodyPr/>
                    <a:lstStyle/>
                    <a:p>
                      <a:pPr algn="l" fontAlgn="b"/>
                      <a:r>
                        <a:rPr lang="en-US" sz="1600" b="0" i="0" u="none" strike="noStrike" baseline="0" dirty="0">
                          <a:solidFill>
                            <a:schemeClr val="tx1"/>
                          </a:solidFill>
                          <a:effectLst/>
                          <a:latin typeface="Calibri"/>
                          <a:hlinkClick r:id="rId7" action="ppaction://hlinksldjump"/>
                        </a:rPr>
                        <a:t> Satellite Co.</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chemeClr val="accent2">
                        <a:lumMod val="20000"/>
                        <a:lumOff val="80000"/>
                      </a:schemeClr>
                    </a:solidFill>
                  </a:tcPr>
                </a:tc>
                <a:tc>
                  <a:txBody>
                    <a:bodyPr/>
                    <a:lstStyle/>
                    <a:p>
                      <a:pPr algn="r" fontAlgn="b"/>
                      <a:r>
                        <a:rPr lang="en-US" sz="1600" b="0" i="0" u="none" strike="noStrike" dirty="0" smtClean="0">
                          <a:solidFill>
                            <a:srgbClr val="000000"/>
                          </a:solidFill>
                          <a:effectLst/>
                          <a:latin typeface="Calibri"/>
                        </a:rPr>
                        <a:t>42</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chemeClr val="accent2">
                        <a:lumMod val="20000"/>
                        <a:lumOff val="80000"/>
                      </a:schemeClr>
                    </a:solidFill>
                  </a:tcPr>
                </a:tc>
              </a:tr>
              <a:tr h="259196">
                <a:tc>
                  <a:txBody>
                    <a:bodyPr/>
                    <a:lstStyle/>
                    <a:p>
                      <a:pPr algn="ctr" fontAlgn="b"/>
                      <a:r>
                        <a:rPr lang="en-US" sz="1600" b="0" i="0" u="none" strike="noStrike" dirty="0">
                          <a:solidFill>
                            <a:srgbClr val="000000"/>
                          </a:solidFill>
                          <a:effectLst/>
                          <a:latin typeface="Calibri"/>
                        </a:rPr>
                        <a:t>6</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dirty="0">
                          <a:solidFill>
                            <a:srgbClr val="000000"/>
                          </a:solidFill>
                          <a:effectLst/>
                          <a:latin typeface="Calibri"/>
                        </a:rPr>
                        <a:t>Profitability</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baseline="0" dirty="0">
                          <a:solidFill>
                            <a:schemeClr val="tx1"/>
                          </a:solidFill>
                          <a:effectLst/>
                          <a:latin typeface="Calibri"/>
                          <a:hlinkClick r:id="rId8" action="ppaction://hlinksldjump"/>
                        </a:rPr>
                        <a:t> Elevator manufacturer</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F2DCDB"/>
                    </a:solidFill>
                  </a:tcPr>
                </a:tc>
                <a:tc>
                  <a:txBody>
                    <a:bodyPr/>
                    <a:lstStyle/>
                    <a:p>
                      <a:pPr algn="r" fontAlgn="b"/>
                      <a:r>
                        <a:rPr lang="en-US" sz="1600" b="0" i="0" u="none" strike="noStrike" dirty="0" smtClean="0">
                          <a:solidFill>
                            <a:srgbClr val="000000"/>
                          </a:solidFill>
                          <a:effectLst/>
                          <a:latin typeface="Calibri"/>
                        </a:rPr>
                        <a:t>47</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F2DCDB"/>
                    </a:solidFill>
                  </a:tcPr>
                </a:tc>
              </a:tr>
              <a:tr h="259196">
                <a:tc>
                  <a:txBody>
                    <a:bodyPr/>
                    <a:lstStyle/>
                    <a:p>
                      <a:pPr algn="ctr" fontAlgn="b"/>
                      <a:r>
                        <a:rPr lang="en-US" sz="1600" b="0" i="0" u="none" strike="noStrike" dirty="0">
                          <a:solidFill>
                            <a:srgbClr val="000000"/>
                          </a:solidFill>
                          <a:effectLst/>
                          <a:latin typeface="Calibri"/>
                        </a:rPr>
                        <a:t>7</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dirty="0">
                          <a:solidFill>
                            <a:srgbClr val="000000"/>
                          </a:solidFill>
                          <a:effectLst/>
                          <a:latin typeface="Calibri"/>
                        </a:rPr>
                        <a:t>Profitability</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baseline="0" dirty="0">
                          <a:solidFill>
                            <a:schemeClr val="tx1"/>
                          </a:solidFill>
                          <a:effectLst/>
                          <a:latin typeface="Calibri"/>
                          <a:hlinkClick r:id="rId9" action="ppaction://hlinksldjump"/>
                        </a:rPr>
                        <a:t> Global Bank Corp.</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F2DCDB"/>
                    </a:solidFill>
                  </a:tcPr>
                </a:tc>
                <a:tc>
                  <a:txBody>
                    <a:bodyPr/>
                    <a:lstStyle/>
                    <a:p>
                      <a:pPr algn="r" fontAlgn="b"/>
                      <a:r>
                        <a:rPr lang="en-US" sz="1600" b="0" i="0" u="none" strike="noStrike" dirty="0" smtClean="0">
                          <a:solidFill>
                            <a:srgbClr val="000000"/>
                          </a:solidFill>
                          <a:effectLst/>
                          <a:latin typeface="Calibri"/>
                        </a:rPr>
                        <a:t>53</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F2DCDB"/>
                    </a:solidFill>
                  </a:tcPr>
                </a:tc>
              </a:tr>
              <a:tr h="259196">
                <a:tc>
                  <a:txBody>
                    <a:bodyPr/>
                    <a:lstStyle/>
                    <a:p>
                      <a:pPr algn="ctr" fontAlgn="b"/>
                      <a:r>
                        <a:rPr lang="en-US" sz="1600" b="0" i="0" u="none" strike="noStrike" dirty="0">
                          <a:solidFill>
                            <a:srgbClr val="000000"/>
                          </a:solidFill>
                          <a:effectLst/>
                          <a:latin typeface="Calibri"/>
                        </a:rPr>
                        <a:t>8</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a:solidFill>
                            <a:srgbClr val="000000"/>
                          </a:solidFill>
                          <a:effectLst/>
                          <a:latin typeface="Calibri"/>
                        </a:rPr>
                        <a:t>Profitability</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baseline="0" dirty="0">
                          <a:solidFill>
                            <a:schemeClr val="tx1"/>
                          </a:solidFill>
                          <a:effectLst/>
                          <a:latin typeface="Calibri"/>
                          <a:hlinkClick r:id="rId10" action="ppaction://hlinksldjump"/>
                        </a:rPr>
                        <a:t> Milk &amp; Cheese, Inc.</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F2DCDB"/>
                    </a:solidFill>
                  </a:tcPr>
                </a:tc>
                <a:tc>
                  <a:txBody>
                    <a:bodyPr/>
                    <a:lstStyle/>
                    <a:p>
                      <a:pPr algn="r" fontAlgn="b"/>
                      <a:r>
                        <a:rPr lang="en-US" sz="1600" b="0" i="0" u="none" strike="noStrike" dirty="0" smtClean="0">
                          <a:solidFill>
                            <a:srgbClr val="000000"/>
                          </a:solidFill>
                          <a:effectLst/>
                          <a:latin typeface="Calibri"/>
                        </a:rPr>
                        <a:t>62</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F2DCDB"/>
                    </a:solidFill>
                  </a:tcPr>
                </a:tc>
              </a:tr>
              <a:tr h="259196">
                <a:tc>
                  <a:txBody>
                    <a:bodyPr/>
                    <a:lstStyle/>
                    <a:p>
                      <a:pPr algn="ctr" fontAlgn="b"/>
                      <a:r>
                        <a:rPr lang="en-US" sz="1600" b="0" i="0" u="none" strike="noStrike" dirty="0">
                          <a:solidFill>
                            <a:srgbClr val="000000"/>
                          </a:solidFill>
                          <a:effectLst/>
                          <a:latin typeface="Calibri"/>
                        </a:rPr>
                        <a:t>9</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a:solidFill>
                            <a:srgbClr val="000000"/>
                          </a:solidFill>
                          <a:effectLst/>
                          <a:latin typeface="Calibri"/>
                        </a:rPr>
                        <a:t>Profitability</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baseline="0" dirty="0">
                          <a:solidFill>
                            <a:schemeClr val="tx1"/>
                          </a:solidFill>
                          <a:effectLst/>
                          <a:latin typeface="Calibri"/>
                          <a:hlinkClick r:id="rId11" action="ppaction://hlinksldjump"/>
                        </a:rPr>
                        <a:t> American Airlines</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F2DCDB"/>
                    </a:solidFill>
                  </a:tcPr>
                </a:tc>
                <a:tc>
                  <a:txBody>
                    <a:bodyPr/>
                    <a:lstStyle/>
                    <a:p>
                      <a:pPr algn="r" fontAlgn="b"/>
                      <a:r>
                        <a:rPr lang="en-US" sz="1600" b="0" i="0" u="none" strike="noStrike" dirty="0" smtClean="0">
                          <a:solidFill>
                            <a:srgbClr val="000000"/>
                          </a:solidFill>
                          <a:effectLst/>
                          <a:latin typeface="Calibri"/>
                        </a:rPr>
                        <a:t>70</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F2DCDB"/>
                    </a:solidFill>
                  </a:tcPr>
                </a:tc>
              </a:tr>
              <a:tr h="259196">
                <a:tc>
                  <a:txBody>
                    <a:bodyPr/>
                    <a:lstStyle/>
                    <a:p>
                      <a:pPr algn="ctr" fontAlgn="b"/>
                      <a:r>
                        <a:rPr lang="en-US" sz="1600" b="0" i="0" u="none" strike="noStrike" dirty="0">
                          <a:solidFill>
                            <a:srgbClr val="000000"/>
                          </a:solidFill>
                          <a:effectLst/>
                          <a:latin typeface="Calibri"/>
                        </a:rPr>
                        <a:t>10</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a:solidFill>
                            <a:srgbClr val="000000"/>
                          </a:solidFill>
                          <a:effectLst/>
                          <a:latin typeface="Calibri"/>
                        </a:rPr>
                        <a:t>Profitability</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baseline="0" dirty="0">
                          <a:solidFill>
                            <a:schemeClr val="tx1"/>
                          </a:solidFill>
                          <a:effectLst/>
                          <a:latin typeface="Calibri"/>
                          <a:hlinkClick r:id="rId12" action="ppaction://hlinksldjump"/>
                        </a:rPr>
                        <a:t> Piedmont Health</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F2DCDB"/>
                    </a:solidFill>
                  </a:tcPr>
                </a:tc>
                <a:tc>
                  <a:txBody>
                    <a:bodyPr/>
                    <a:lstStyle/>
                    <a:p>
                      <a:pPr algn="r" fontAlgn="b"/>
                      <a:r>
                        <a:rPr lang="en-US" sz="1600" b="0" i="0" u="none" strike="noStrike" dirty="0" smtClean="0">
                          <a:solidFill>
                            <a:srgbClr val="000000"/>
                          </a:solidFill>
                          <a:effectLst/>
                          <a:latin typeface="Calibri"/>
                        </a:rPr>
                        <a:t>77</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F2DCDB"/>
                    </a:solidFill>
                  </a:tcPr>
                </a:tc>
              </a:tr>
              <a:tr h="259196">
                <a:tc>
                  <a:txBody>
                    <a:bodyPr/>
                    <a:lstStyle/>
                    <a:p>
                      <a:pPr algn="ctr" fontAlgn="b"/>
                      <a:r>
                        <a:rPr lang="en-US" sz="1600" b="0" i="0" u="none" strike="noStrike" dirty="0">
                          <a:solidFill>
                            <a:srgbClr val="000000"/>
                          </a:solidFill>
                          <a:effectLst/>
                          <a:latin typeface="Calibri"/>
                        </a:rPr>
                        <a:t>11</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a:solidFill>
                            <a:srgbClr val="000000"/>
                          </a:solidFill>
                          <a:effectLst/>
                          <a:latin typeface="Calibri"/>
                        </a:rPr>
                        <a:t>Profitability</a:t>
                      </a:r>
                    </a:p>
                  </a:txBody>
                  <a:tcPr marL="8618" marR="8618" marT="8618" marB="0" anchor="b">
                    <a:lnL>
                      <a:noFill/>
                    </a:lnL>
                    <a:lnR>
                      <a:noFill/>
                    </a:lnR>
                    <a:lnT>
                      <a:noFill/>
                    </a:lnT>
                    <a:lnB>
                      <a:noFill/>
                    </a:lnB>
                    <a:solidFill>
                      <a:srgbClr val="F2DCDB"/>
                    </a:solidFill>
                  </a:tcPr>
                </a:tc>
                <a:tc>
                  <a:txBody>
                    <a:bodyPr/>
                    <a:lstStyle/>
                    <a:p>
                      <a:pPr algn="l" fontAlgn="b"/>
                      <a:r>
                        <a:rPr lang="en-US" sz="1600" b="0" i="0" u="none" strike="noStrike" baseline="0" dirty="0">
                          <a:solidFill>
                            <a:schemeClr val="tx1"/>
                          </a:solidFill>
                          <a:effectLst/>
                          <a:latin typeface="Calibri"/>
                          <a:hlinkClick r:id="rId13" action="ppaction://hlinksldjump"/>
                        </a:rPr>
                        <a:t> Volunteers Abroad</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F2DCDB"/>
                    </a:solidFill>
                  </a:tcPr>
                </a:tc>
                <a:tc>
                  <a:txBody>
                    <a:bodyPr/>
                    <a:lstStyle/>
                    <a:p>
                      <a:pPr algn="r" fontAlgn="b"/>
                      <a:r>
                        <a:rPr lang="en-US" sz="1600" b="0" i="0" u="none" strike="noStrike" dirty="0" smtClean="0">
                          <a:solidFill>
                            <a:srgbClr val="000000"/>
                          </a:solidFill>
                          <a:effectLst/>
                          <a:latin typeface="Calibri"/>
                        </a:rPr>
                        <a:t>82</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F2DCDB"/>
                    </a:solidFill>
                  </a:tcPr>
                </a:tc>
              </a:tr>
              <a:tr h="259196">
                <a:tc>
                  <a:txBody>
                    <a:bodyPr/>
                    <a:lstStyle/>
                    <a:p>
                      <a:pPr algn="ctr" fontAlgn="b"/>
                      <a:r>
                        <a:rPr lang="en-US" sz="1600" b="0" i="0" u="none" strike="noStrike" dirty="0">
                          <a:solidFill>
                            <a:srgbClr val="000000"/>
                          </a:solidFill>
                          <a:effectLst/>
                          <a:latin typeface="Calibri"/>
                        </a:rPr>
                        <a:t>12</a:t>
                      </a:r>
                    </a:p>
                  </a:txBody>
                  <a:tcPr marL="8618" marR="8618" marT="8618" marB="0" anchor="b">
                    <a:lnL>
                      <a:noFill/>
                    </a:lnL>
                    <a:lnR>
                      <a:noFill/>
                    </a:lnR>
                    <a:lnT>
                      <a:noFill/>
                    </a:lnT>
                    <a:lnB>
                      <a:noFill/>
                    </a:lnB>
                    <a:solidFill>
                      <a:srgbClr val="DA9694"/>
                    </a:solidFill>
                  </a:tcPr>
                </a:tc>
                <a:tc>
                  <a:txBody>
                    <a:bodyPr/>
                    <a:lstStyle/>
                    <a:p>
                      <a:pPr algn="l" fontAlgn="b"/>
                      <a:r>
                        <a:rPr lang="en-US" sz="1600" b="0" i="0" u="none" strike="noStrike">
                          <a:solidFill>
                            <a:srgbClr val="000000"/>
                          </a:solidFill>
                          <a:effectLst/>
                          <a:latin typeface="Calibri"/>
                        </a:rPr>
                        <a:t>Market Entry</a:t>
                      </a:r>
                    </a:p>
                  </a:txBody>
                  <a:tcPr marL="8618" marR="8618" marT="8618" marB="0" anchor="b">
                    <a:lnL>
                      <a:noFill/>
                    </a:lnL>
                    <a:lnR>
                      <a:noFill/>
                    </a:lnR>
                    <a:lnT>
                      <a:noFill/>
                    </a:lnT>
                    <a:lnB>
                      <a:noFill/>
                    </a:lnB>
                    <a:solidFill>
                      <a:srgbClr val="DA9694"/>
                    </a:solidFill>
                  </a:tcPr>
                </a:tc>
                <a:tc>
                  <a:txBody>
                    <a:bodyPr/>
                    <a:lstStyle/>
                    <a:p>
                      <a:pPr algn="l" fontAlgn="b"/>
                      <a:r>
                        <a:rPr lang="en-US" sz="1600" b="0" i="0" u="none" strike="noStrike" baseline="0" dirty="0">
                          <a:solidFill>
                            <a:schemeClr val="tx1"/>
                          </a:solidFill>
                          <a:effectLst/>
                          <a:latin typeface="Calibri"/>
                          <a:hlinkClick r:id="rId14" action="ppaction://hlinksldjump"/>
                        </a:rPr>
                        <a:t> </a:t>
                      </a:r>
                      <a:r>
                        <a:rPr lang="en-US" sz="1600" b="0" i="0" u="none" strike="noStrike" baseline="0" dirty="0" err="1">
                          <a:solidFill>
                            <a:schemeClr val="tx1"/>
                          </a:solidFill>
                          <a:effectLst/>
                          <a:latin typeface="Calibri"/>
                          <a:hlinkClick r:id="rId14" action="ppaction://hlinksldjump"/>
                        </a:rPr>
                        <a:t>Walmart</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DA9694"/>
                    </a:solidFill>
                  </a:tcPr>
                </a:tc>
                <a:tc>
                  <a:txBody>
                    <a:bodyPr/>
                    <a:lstStyle/>
                    <a:p>
                      <a:pPr algn="r" fontAlgn="b"/>
                      <a:r>
                        <a:rPr lang="en-US" sz="1600" b="0" i="0" u="none" strike="noStrike" dirty="0" smtClean="0">
                          <a:solidFill>
                            <a:srgbClr val="000000"/>
                          </a:solidFill>
                          <a:effectLst/>
                          <a:latin typeface="Calibri"/>
                        </a:rPr>
                        <a:t>92</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DA9694"/>
                    </a:solidFill>
                  </a:tcPr>
                </a:tc>
              </a:tr>
              <a:tr h="259196">
                <a:tc>
                  <a:txBody>
                    <a:bodyPr/>
                    <a:lstStyle/>
                    <a:p>
                      <a:pPr algn="ctr" fontAlgn="b"/>
                      <a:r>
                        <a:rPr lang="en-US" sz="1600" b="0" i="0" u="none" strike="noStrike" dirty="0">
                          <a:solidFill>
                            <a:srgbClr val="000000"/>
                          </a:solidFill>
                          <a:effectLst/>
                          <a:latin typeface="Calibri"/>
                        </a:rPr>
                        <a:t>13</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15" action="ppaction://hlinksldjump"/>
                        </a:rPr>
                        <a:t> Euro Logistics</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101</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14</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16" action="ppaction://hlinksldjump"/>
                        </a:rPr>
                        <a:t> ATM Company</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108</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15</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17" action="ppaction://hlinksldjump"/>
                        </a:rPr>
                        <a:t> </a:t>
                      </a:r>
                      <a:r>
                        <a:rPr lang="en-US" sz="1600" b="0" i="0" u="none" strike="noStrike" baseline="0" dirty="0" err="1">
                          <a:solidFill>
                            <a:schemeClr val="tx1"/>
                          </a:solidFill>
                          <a:effectLst/>
                          <a:latin typeface="Calibri"/>
                          <a:hlinkClick r:id="rId17" action="ppaction://hlinksldjump"/>
                        </a:rPr>
                        <a:t>Pharma</a:t>
                      </a:r>
                      <a:r>
                        <a:rPr lang="en-US" sz="1600" b="0" i="0" u="none" strike="noStrike" baseline="0" dirty="0">
                          <a:solidFill>
                            <a:schemeClr val="tx1"/>
                          </a:solidFill>
                          <a:effectLst/>
                          <a:latin typeface="Calibri"/>
                          <a:hlinkClick r:id="rId17" action="ppaction://hlinksldjump"/>
                        </a:rPr>
                        <a:t> Corp</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114</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16</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18" action="ppaction://hlinksldjump"/>
                        </a:rPr>
                        <a:t> Blackouts in Uganda</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121</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17</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19" action="ppaction://hlinksldjump"/>
                        </a:rPr>
                        <a:t> Contract Manufacturer Co.</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130</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18</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20" action="ppaction://hlinksldjump"/>
                        </a:rPr>
                        <a:t> Online Automotive Marketplace</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139</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19</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21" action="ppaction://hlinksldjump"/>
                        </a:rPr>
                        <a:t> Russian Shipbuilding</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150</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20</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a:solidFill>
                            <a:srgbClr val="000000"/>
                          </a:solidFill>
                          <a:effectLst/>
                          <a:latin typeface="Calibri"/>
                        </a:rPr>
                        <a:t>Strategy</a:t>
                      </a:r>
                    </a:p>
                  </a:txBody>
                  <a:tcPr marL="8618" marR="8618" marT="8618" marB="0" anchor="b">
                    <a:lnL>
                      <a:noFill/>
                    </a:lnL>
                    <a:lnR>
                      <a:noFill/>
                    </a:lnR>
                    <a:lnT>
                      <a:noFill/>
                    </a:lnT>
                    <a:lnB>
                      <a:noFill/>
                    </a:lnB>
                    <a:solidFill>
                      <a:srgbClr val="EBF1DE"/>
                    </a:solidFill>
                  </a:tcPr>
                </a:tc>
                <a:tc>
                  <a:txBody>
                    <a:bodyPr/>
                    <a:lstStyle/>
                    <a:p>
                      <a:pPr algn="l" fontAlgn="b"/>
                      <a:r>
                        <a:rPr lang="en-US" sz="1600" b="0" i="0" u="none" strike="noStrike" baseline="0" dirty="0">
                          <a:solidFill>
                            <a:schemeClr val="tx1"/>
                          </a:solidFill>
                          <a:effectLst/>
                          <a:latin typeface="Calibri"/>
                          <a:hlinkClick r:id="rId22" action="ppaction://hlinksldjump"/>
                        </a:rPr>
                        <a:t> Online University</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EBF1DE"/>
                    </a:solidFill>
                  </a:tcPr>
                </a:tc>
                <a:tc>
                  <a:txBody>
                    <a:bodyPr/>
                    <a:lstStyle/>
                    <a:p>
                      <a:pPr algn="r" fontAlgn="b"/>
                      <a:r>
                        <a:rPr lang="en-US" sz="1600" b="0" i="0" u="none" strike="noStrike" dirty="0" smtClean="0">
                          <a:solidFill>
                            <a:srgbClr val="000000"/>
                          </a:solidFill>
                          <a:effectLst/>
                          <a:latin typeface="Calibri"/>
                        </a:rPr>
                        <a:t>162</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EBF1DE"/>
                    </a:solidFill>
                  </a:tcPr>
                </a:tc>
              </a:tr>
              <a:tr h="259196">
                <a:tc>
                  <a:txBody>
                    <a:bodyPr/>
                    <a:lstStyle/>
                    <a:p>
                      <a:pPr algn="ctr" fontAlgn="b"/>
                      <a:r>
                        <a:rPr lang="en-US" sz="1600" b="0" i="0" u="none" strike="noStrike" dirty="0">
                          <a:solidFill>
                            <a:srgbClr val="000000"/>
                          </a:solidFill>
                          <a:effectLst/>
                          <a:latin typeface="Calibri"/>
                        </a:rPr>
                        <a:t>21</a:t>
                      </a:r>
                    </a:p>
                  </a:txBody>
                  <a:tcPr marL="8618" marR="8618" marT="8618" marB="0" anchor="b">
                    <a:lnL>
                      <a:noFill/>
                    </a:lnL>
                    <a:lnR>
                      <a:noFill/>
                    </a:lnR>
                    <a:lnT>
                      <a:noFill/>
                    </a:lnT>
                    <a:lnB>
                      <a:noFill/>
                    </a:lnB>
                    <a:solidFill>
                      <a:srgbClr val="C4D79B"/>
                    </a:solidFill>
                  </a:tcPr>
                </a:tc>
                <a:tc>
                  <a:txBody>
                    <a:bodyPr/>
                    <a:lstStyle/>
                    <a:p>
                      <a:pPr algn="l" fontAlgn="b"/>
                      <a:r>
                        <a:rPr lang="en-US" sz="1600" b="0" i="0" u="none" strike="noStrike">
                          <a:solidFill>
                            <a:srgbClr val="000000"/>
                          </a:solidFill>
                          <a:effectLst/>
                          <a:latin typeface="Calibri"/>
                        </a:rPr>
                        <a:t>Operations</a:t>
                      </a:r>
                    </a:p>
                  </a:txBody>
                  <a:tcPr marL="8618" marR="8618" marT="8618" marB="0" anchor="b">
                    <a:lnL>
                      <a:noFill/>
                    </a:lnL>
                    <a:lnR>
                      <a:noFill/>
                    </a:lnR>
                    <a:lnT>
                      <a:noFill/>
                    </a:lnT>
                    <a:lnB>
                      <a:noFill/>
                    </a:lnB>
                    <a:solidFill>
                      <a:srgbClr val="C4D79B"/>
                    </a:solidFill>
                  </a:tcPr>
                </a:tc>
                <a:tc>
                  <a:txBody>
                    <a:bodyPr/>
                    <a:lstStyle/>
                    <a:p>
                      <a:pPr algn="l" fontAlgn="b"/>
                      <a:r>
                        <a:rPr lang="en-US" sz="1600" b="0" i="0" u="none" strike="noStrike" baseline="0" dirty="0">
                          <a:solidFill>
                            <a:schemeClr val="tx1"/>
                          </a:solidFill>
                          <a:effectLst/>
                          <a:latin typeface="Calibri"/>
                          <a:hlinkClick r:id="rId23" action="ppaction://hlinksldjump"/>
                        </a:rPr>
                        <a:t> Beta Peaks</a:t>
                      </a:r>
                      <a:endParaRPr lang="en-US" sz="1600" b="0" i="0" u="none" strike="noStrike" baseline="0" dirty="0">
                        <a:solidFill>
                          <a:schemeClr val="tx1"/>
                        </a:solidFill>
                        <a:effectLst/>
                        <a:latin typeface="Calibri"/>
                      </a:endParaRPr>
                    </a:p>
                  </a:txBody>
                  <a:tcPr marL="8618" marR="8618" marT="8618" marB="0" anchor="b">
                    <a:lnL>
                      <a:noFill/>
                    </a:lnL>
                    <a:lnR>
                      <a:noFill/>
                    </a:lnR>
                    <a:lnT>
                      <a:noFill/>
                    </a:lnT>
                    <a:lnB>
                      <a:noFill/>
                    </a:lnB>
                    <a:solidFill>
                      <a:srgbClr val="C4D79B"/>
                    </a:solidFill>
                  </a:tcPr>
                </a:tc>
                <a:tc>
                  <a:txBody>
                    <a:bodyPr/>
                    <a:lstStyle/>
                    <a:p>
                      <a:pPr algn="r" fontAlgn="b"/>
                      <a:r>
                        <a:rPr lang="en-US" sz="1600" b="0" i="0" u="none" strike="noStrike" dirty="0" smtClean="0">
                          <a:solidFill>
                            <a:srgbClr val="000000"/>
                          </a:solidFill>
                          <a:effectLst/>
                          <a:latin typeface="Calibri"/>
                        </a:rPr>
                        <a:t>170</a:t>
                      </a:r>
                      <a:endParaRPr lang="en-US" sz="1600" b="0" i="0" u="none" strike="noStrike" dirty="0">
                        <a:solidFill>
                          <a:srgbClr val="000000"/>
                        </a:solidFill>
                        <a:effectLst/>
                        <a:latin typeface="Calibri"/>
                      </a:endParaRPr>
                    </a:p>
                  </a:txBody>
                  <a:tcPr marL="8618" marR="8618" marT="8618" marB="0" anchor="b">
                    <a:lnL>
                      <a:noFill/>
                    </a:lnL>
                    <a:lnR>
                      <a:noFill/>
                    </a:lnR>
                    <a:lnT>
                      <a:noFill/>
                    </a:lnT>
                    <a:lnB>
                      <a:noFill/>
                    </a:lnB>
                    <a:solidFill>
                      <a:srgbClr val="C4D79B"/>
                    </a:solidFill>
                  </a:tcPr>
                </a:tc>
              </a:tr>
            </a:tbl>
          </a:graphicData>
        </a:graphic>
      </p:graphicFrame>
    </p:spTree>
    <p:extLst>
      <p:ext uri="{BB962C8B-B14F-4D97-AF65-F5344CB8AC3E}">
        <p14:creationId xmlns:p14="http://schemas.microsoft.com/office/powerpoint/2010/main" val="2378023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ctrTitle"/>
          </p:nvPr>
        </p:nvSpPr>
        <p:spPr/>
        <p:txBody>
          <a:bodyPr anchor="ctr"/>
          <a:lstStyle/>
          <a:p>
            <a:pPr algn="ctr"/>
            <a:r>
              <a:rPr lang="en-US" dirty="0" smtClean="0">
                <a:ea typeface="ＭＳ Ｐゴシック" pitchFamily="34" charset="-128"/>
              </a:rPr>
              <a:t>Industry Overviews</a:t>
            </a:r>
          </a:p>
        </p:txBody>
      </p:sp>
      <p:sp>
        <p:nvSpPr>
          <p:cNvPr id="34820" name="Slide Number Placeholder 3"/>
          <p:cNvSpPr>
            <a:spLocks noGrp="1"/>
          </p:cNvSpPr>
          <p:nvPr>
            <p:ph type="sldNum" sz="quarter" idx="11"/>
          </p:nvPr>
        </p:nvSpPr>
        <p:spPr>
          <a:noFill/>
        </p:spPr>
        <p:txBody>
          <a:bodyPr/>
          <a:lstStyle/>
          <a:p>
            <a:fld id="{5E69FAA3-DA39-4060-B8C8-9768DE7C1D7C}" type="slidenum">
              <a:rPr lang="en-US" smtClean="0">
                <a:latin typeface="Arial" pitchFamily="34" charset="0"/>
                <a:ea typeface="ＭＳ Ｐゴシック" pitchFamily="34" charset="-128"/>
              </a:rPr>
              <a:pPr/>
              <a:t>5</a:t>
            </a:fld>
            <a:endParaRPr 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3630718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5486400" cy="457200"/>
          </a:xfrm>
          <a:prstGeom prst="rect">
            <a:avLst/>
          </a:prstGeom>
          <a:noFill/>
          <a:ln w="9525">
            <a:noFill/>
            <a:miter lim="800000"/>
            <a:headEnd/>
            <a:tailEnd/>
          </a:ln>
        </p:spPr>
        <p:txBody>
          <a:bodyPr>
            <a:spAutoFit/>
          </a:bodyPr>
          <a:lstStyle/>
          <a:p>
            <a:r>
              <a:rPr lang="en-US" sz="2400" b="1" dirty="0" smtClean="0"/>
              <a:t>Airlines</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88100"/>
            <a:ext cx="381000" cy="228600"/>
          </a:xfrm>
        </p:spPr>
        <p:txBody>
          <a:bodyPr/>
          <a:lstStyle/>
          <a:p>
            <a:pPr>
              <a:defRPr/>
            </a:pPr>
            <a:fld id="{2E1E1E2A-88E9-4CB1-89D2-8ABF177DA4C4}" type="slidenum">
              <a:rPr lang="en-US" smtClean="0"/>
              <a:pPr>
                <a:defRPr/>
              </a:pPr>
              <a:t>6</a:t>
            </a:fld>
            <a:endParaRPr lang="en-US" dirty="0"/>
          </a:p>
        </p:txBody>
      </p:sp>
      <p:sp>
        <p:nvSpPr>
          <p:cNvPr id="15" name="KMATable0TextBox1"/>
          <p:cNvSpPr>
            <a:spLocks noChangeArrowheads="1"/>
          </p:cNvSpPr>
          <p:nvPr/>
        </p:nvSpPr>
        <p:spPr bwMode="auto">
          <a:xfrm>
            <a:off x="182563" y="16764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2667911"/>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3658511"/>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431624"/>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82563" y="5334911"/>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74560"/>
            <a:ext cx="6400800" cy="276999"/>
          </a:xfrm>
          <a:prstGeom prst="rect">
            <a:avLst/>
          </a:prstGeom>
        </p:spPr>
        <p:txBody>
          <a:bodyPr wrap="square">
            <a:spAutoFit/>
          </a:bodyPr>
          <a:lstStyle/>
          <a:p>
            <a:r>
              <a:rPr lang="en-US" sz="1200" dirty="0" smtClean="0"/>
              <a:t>• Airlines provide air transport services for passengers and/or freight</a:t>
            </a:r>
            <a:endParaRPr lang="en-US" sz="1200" dirty="0"/>
          </a:p>
        </p:txBody>
      </p:sp>
      <p:sp>
        <p:nvSpPr>
          <p:cNvPr id="22" name="Rectangle 21"/>
          <p:cNvSpPr/>
          <p:nvPr/>
        </p:nvSpPr>
        <p:spPr>
          <a:xfrm>
            <a:off x="2286000" y="1600200"/>
            <a:ext cx="6477000" cy="830997"/>
          </a:xfrm>
          <a:prstGeom prst="rect">
            <a:avLst/>
          </a:prstGeom>
        </p:spPr>
        <p:txBody>
          <a:bodyPr wrap="square">
            <a:spAutoFit/>
          </a:bodyPr>
          <a:lstStyle/>
          <a:p>
            <a:r>
              <a:rPr lang="en-US" sz="1200" dirty="0" smtClean="0"/>
              <a:t>• Consolidation - multiple high-profile mergers</a:t>
            </a:r>
          </a:p>
          <a:p>
            <a:r>
              <a:rPr lang="en-US" sz="1200" dirty="0" smtClean="0"/>
              <a:t>• Fare competition – airlines compete to undercut one another on competitive routes</a:t>
            </a:r>
          </a:p>
          <a:p>
            <a:r>
              <a:rPr lang="en-US" sz="1200" dirty="0" smtClean="0"/>
              <a:t>• Low-cost carriers - recent entrance by smaller carriers trying to replicate Southwest Airlines’ low-cost model</a:t>
            </a:r>
            <a:endParaRPr lang="en-US" sz="1200" dirty="0"/>
          </a:p>
        </p:txBody>
      </p:sp>
      <p:sp>
        <p:nvSpPr>
          <p:cNvPr id="23" name="Rectangle 22"/>
          <p:cNvSpPr/>
          <p:nvPr/>
        </p:nvSpPr>
        <p:spPr>
          <a:xfrm>
            <a:off x="2286000" y="2602824"/>
            <a:ext cx="6705600" cy="830997"/>
          </a:xfrm>
          <a:prstGeom prst="rect">
            <a:avLst/>
          </a:prstGeom>
        </p:spPr>
        <p:txBody>
          <a:bodyPr wrap="square">
            <a:spAutoFit/>
          </a:bodyPr>
          <a:lstStyle/>
          <a:p>
            <a:pPr>
              <a:buFont typeface="Arial" pitchFamily="34" charset="0"/>
              <a:buChar char="•"/>
            </a:pPr>
            <a:r>
              <a:rPr lang="en-US" sz="1200" dirty="0" smtClean="0"/>
              <a:t> Established legacy carriers (e.g., Delta, American, United) compete with each other and with low-cost operators on multiple domestic routes; price is usually the major competitive factor. Some domestic carriers also operate international routes, placing them in competition with overseas airlines</a:t>
            </a:r>
            <a:endParaRPr lang="en-US" sz="1200" dirty="0"/>
          </a:p>
        </p:txBody>
      </p:sp>
      <p:sp>
        <p:nvSpPr>
          <p:cNvPr id="24" name="Rectangle 23"/>
          <p:cNvSpPr/>
          <p:nvPr/>
        </p:nvSpPr>
        <p:spPr>
          <a:xfrm>
            <a:off x="2286000" y="3593424"/>
            <a:ext cx="6400800" cy="646331"/>
          </a:xfrm>
          <a:prstGeom prst="rect">
            <a:avLst/>
          </a:prstGeom>
        </p:spPr>
        <p:txBody>
          <a:bodyPr wrap="square">
            <a:spAutoFit/>
          </a:bodyPr>
          <a:lstStyle/>
          <a:p>
            <a:r>
              <a:rPr lang="en-US" sz="1200" dirty="0" smtClean="0"/>
              <a:t>• Individual consumers</a:t>
            </a:r>
          </a:p>
          <a:p>
            <a:r>
              <a:rPr lang="en-US" sz="1200" dirty="0" smtClean="0"/>
              <a:t>• Corporations/small businesses</a:t>
            </a:r>
          </a:p>
          <a:p>
            <a:r>
              <a:rPr lang="en-US" sz="1200" dirty="0" smtClean="0"/>
              <a:t>• Travel web sites/resellers</a:t>
            </a:r>
            <a:endParaRPr lang="en-US" sz="1200" dirty="0"/>
          </a:p>
        </p:txBody>
      </p:sp>
      <p:sp>
        <p:nvSpPr>
          <p:cNvPr id="29" name="Rectangle 28"/>
          <p:cNvSpPr/>
          <p:nvPr/>
        </p:nvSpPr>
        <p:spPr>
          <a:xfrm>
            <a:off x="2286000" y="4355424"/>
            <a:ext cx="6400800" cy="830997"/>
          </a:xfrm>
          <a:prstGeom prst="rect">
            <a:avLst/>
          </a:prstGeom>
        </p:spPr>
        <p:txBody>
          <a:bodyPr wrap="square">
            <a:spAutoFit/>
          </a:bodyPr>
          <a:lstStyle/>
          <a:p>
            <a:r>
              <a:rPr lang="en-US" sz="1200" dirty="0" smtClean="0"/>
              <a:t>• Internet – airline websites, online ticket resellers</a:t>
            </a:r>
          </a:p>
          <a:p>
            <a:r>
              <a:rPr lang="en-US" sz="1200" dirty="0" smtClean="0"/>
              <a:t>• Telephone – airline call center agents</a:t>
            </a:r>
          </a:p>
          <a:p>
            <a:r>
              <a:rPr lang="en-US" sz="1200" dirty="0" smtClean="0"/>
              <a:t>• Travel agents</a:t>
            </a:r>
          </a:p>
          <a:p>
            <a:r>
              <a:rPr lang="en-US" sz="1200" dirty="0" smtClean="0"/>
              <a:t>• Over-the-counter – walkups at airports</a:t>
            </a:r>
            <a:endParaRPr lang="en-US" sz="1200" dirty="0"/>
          </a:p>
        </p:txBody>
      </p:sp>
      <p:sp>
        <p:nvSpPr>
          <p:cNvPr id="30" name="Rectangle 29"/>
          <p:cNvSpPr/>
          <p:nvPr/>
        </p:nvSpPr>
        <p:spPr>
          <a:xfrm>
            <a:off x="2286000" y="5346024"/>
            <a:ext cx="6553200" cy="646331"/>
          </a:xfrm>
          <a:prstGeom prst="rect">
            <a:avLst/>
          </a:prstGeom>
        </p:spPr>
        <p:txBody>
          <a:bodyPr wrap="square">
            <a:spAutoFit/>
          </a:bodyPr>
          <a:lstStyle/>
          <a:p>
            <a:r>
              <a:rPr lang="en-US" sz="1200" dirty="0" smtClean="0"/>
              <a:t>• Revenue: Ticket revenues, excess/oversize baggage fees, food and beverage sales</a:t>
            </a:r>
          </a:p>
          <a:p>
            <a:r>
              <a:rPr lang="en-US" sz="1200" dirty="0" smtClean="0"/>
              <a:t>• Costs: VC: fuel, food and beverage, ground crew/hourly employees FC: aircraft leases, airport gate leases, IT/admin costs, salaried employees (i.e., pilots)</a:t>
            </a:r>
            <a:endParaRPr lang="en-US" sz="1200" dirty="0"/>
          </a:p>
        </p:txBody>
      </p:sp>
      <p:cxnSp>
        <p:nvCxnSpPr>
          <p:cNvPr id="32" name="Straight Connector 31"/>
          <p:cNvCxnSpPr/>
          <p:nvPr/>
        </p:nvCxnSpPr>
        <p:spPr>
          <a:xfrm>
            <a:off x="2362200" y="15240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2526624"/>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593424"/>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355424"/>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269824"/>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5420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5486400" cy="457200"/>
          </a:xfrm>
          <a:prstGeom prst="rect">
            <a:avLst/>
          </a:prstGeom>
          <a:noFill/>
          <a:ln w="9525">
            <a:noFill/>
            <a:miter lim="800000"/>
            <a:headEnd/>
            <a:tailEnd/>
          </a:ln>
        </p:spPr>
        <p:txBody>
          <a:bodyPr>
            <a:spAutoFit/>
          </a:bodyPr>
          <a:lstStyle/>
          <a:p>
            <a:r>
              <a:rPr lang="en-US" sz="2400" b="1" dirty="0" smtClean="0"/>
              <a:t>Consumer Packaged Goods (CPG)</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88100"/>
            <a:ext cx="381000" cy="228600"/>
          </a:xfrm>
        </p:spPr>
        <p:txBody>
          <a:bodyPr/>
          <a:lstStyle/>
          <a:p>
            <a:pPr>
              <a:defRPr/>
            </a:pPr>
            <a:fld id="{2E1E1E2A-88E9-4CB1-89D2-8ABF177DA4C4}" type="slidenum">
              <a:rPr lang="en-US" smtClean="0"/>
              <a:pPr>
                <a:defRPr/>
              </a:pPr>
              <a:t>7</a:t>
            </a:fld>
            <a:endParaRPr lang="en-US" dirty="0"/>
          </a:p>
        </p:txBody>
      </p:sp>
      <p:sp>
        <p:nvSpPr>
          <p:cNvPr id="15" name="KMATable0TextBox1"/>
          <p:cNvSpPr>
            <a:spLocks noChangeArrowheads="1"/>
          </p:cNvSpPr>
          <p:nvPr/>
        </p:nvSpPr>
        <p:spPr bwMode="auto">
          <a:xfrm>
            <a:off x="182563" y="16764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3044895"/>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3883095"/>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797495"/>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82563" y="5559495"/>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400800" cy="461665"/>
          </a:xfrm>
          <a:prstGeom prst="rect">
            <a:avLst/>
          </a:prstGeom>
        </p:spPr>
        <p:txBody>
          <a:bodyPr wrap="square">
            <a:spAutoFit/>
          </a:bodyPr>
          <a:lstStyle/>
          <a:p>
            <a:r>
              <a:rPr lang="en-US" sz="1200" dirty="0" smtClean="0"/>
              <a:t>• CPG companies provide consumers with a range of household products (soaps, pet supplies, snack foods, etc.)</a:t>
            </a:r>
            <a:endParaRPr lang="en-US" sz="1200" dirty="0"/>
          </a:p>
        </p:txBody>
      </p:sp>
      <p:sp>
        <p:nvSpPr>
          <p:cNvPr id="22" name="Rectangle 21"/>
          <p:cNvSpPr/>
          <p:nvPr/>
        </p:nvSpPr>
        <p:spPr>
          <a:xfrm>
            <a:off x="2286000" y="1620256"/>
            <a:ext cx="6477000" cy="1384995"/>
          </a:xfrm>
          <a:prstGeom prst="rect">
            <a:avLst/>
          </a:prstGeom>
        </p:spPr>
        <p:txBody>
          <a:bodyPr wrap="square">
            <a:spAutoFit/>
          </a:bodyPr>
          <a:lstStyle/>
          <a:p>
            <a:r>
              <a:rPr lang="en-US" sz="1200" dirty="0" smtClean="0"/>
              <a:t>• Lifestyle/consumer behavior: e.g. aging population, social networks, online advertising, go green, economic downturn</a:t>
            </a:r>
          </a:p>
          <a:p>
            <a:r>
              <a:rPr lang="en-US" sz="1200" dirty="0" smtClean="0"/>
              <a:t>• New products critical to success</a:t>
            </a:r>
          </a:p>
          <a:p>
            <a:r>
              <a:rPr lang="en-US" sz="1200" dirty="0" smtClean="0"/>
              <a:t>• Completely new, slightly improved, product line extensions</a:t>
            </a:r>
          </a:p>
          <a:p>
            <a:r>
              <a:rPr lang="en-US" sz="1200" dirty="0" smtClean="0"/>
              <a:t>• In addition, companies driving ‘outside-in’ product innovation (from outside of R&amp;D division)</a:t>
            </a:r>
          </a:p>
          <a:p>
            <a:r>
              <a:rPr lang="en-US" sz="1200" dirty="0" smtClean="0"/>
              <a:t>• Product mix and brand management are critical to CPG companies</a:t>
            </a:r>
          </a:p>
          <a:p>
            <a:r>
              <a:rPr lang="en-US" sz="1200" dirty="0" smtClean="0"/>
              <a:t>• Emerging markets – India &amp; China – seen as important source of future growth</a:t>
            </a:r>
            <a:endParaRPr lang="en-US" sz="1200" dirty="0"/>
          </a:p>
        </p:txBody>
      </p:sp>
      <p:sp>
        <p:nvSpPr>
          <p:cNvPr id="23" name="Rectangle 22"/>
          <p:cNvSpPr/>
          <p:nvPr/>
        </p:nvSpPr>
        <p:spPr>
          <a:xfrm>
            <a:off x="2286000" y="3088096"/>
            <a:ext cx="6705600" cy="646331"/>
          </a:xfrm>
          <a:prstGeom prst="rect">
            <a:avLst/>
          </a:prstGeom>
        </p:spPr>
        <p:txBody>
          <a:bodyPr wrap="square">
            <a:spAutoFit/>
          </a:bodyPr>
          <a:lstStyle/>
          <a:p>
            <a:pPr>
              <a:buFont typeface="Arial" pitchFamily="34" charset="0"/>
              <a:buChar char="•"/>
            </a:pPr>
            <a:r>
              <a:rPr lang="en-US" sz="1200" dirty="0" smtClean="0"/>
              <a:t>Proctor and Gamble (P&amp;G), Unilever, Clorox, Kellogg’s, Campbell’s, Frito Lay, ConAgra Foods, Colgate-Palmolive</a:t>
            </a:r>
          </a:p>
          <a:p>
            <a:pPr>
              <a:buFont typeface="Arial" pitchFamily="34" charset="0"/>
              <a:buChar char="•"/>
            </a:pPr>
            <a:r>
              <a:rPr lang="en-US" sz="1200" dirty="0" smtClean="0"/>
              <a:t>L’Oreal, Estee Lauder</a:t>
            </a:r>
            <a:endParaRPr lang="en-US" sz="1200" dirty="0"/>
          </a:p>
        </p:txBody>
      </p:sp>
      <p:sp>
        <p:nvSpPr>
          <p:cNvPr id="24" name="Rectangle 23"/>
          <p:cNvSpPr/>
          <p:nvPr/>
        </p:nvSpPr>
        <p:spPr>
          <a:xfrm>
            <a:off x="2286000" y="3838461"/>
            <a:ext cx="6400800" cy="830997"/>
          </a:xfrm>
          <a:prstGeom prst="rect">
            <a:avLst/>
          </a:prstGeom>
        </p:spPr>
        <p:txBody>
          <a:bodyPr wrap="square">
            <a:spAutoFit/>
          </a:bodyPr>
          <a:lstStyle/>
          <a:p>
            <a:r>
              <a:rPr lang="en-US" sz="1200" dirty="0" smtClean="0"/>
              <a:t>• Individual customers</a:t>
            </a:r>
          </a:p>
          <a:p>
            <a:r>
              <a:rPr lang="en-US" sz="1200" dirty="0" smtClean="0"/>
              <a:t>• Discount wholesalers (Sam’s Club, Costco)</a:t>
            </a:r>
          </a:p>
          <a:p>
            <a:r>
              <a:rPr lang="en-US" sz="1200" dirty="0" smtClean="0"/>
              <a:t>• Large box retail (</a:t>
            </a:r>
            <a:r>
              <a:rPr lang="en-US" sz="1200" dirty="0" err="1" smtClean="0"/>
              <a:t>Wal</a:t>
            </a:r>
            <a:r>
              <a:rPr lang="en-US" sz="1200" dirty="0" smtClean="0"/>
              <a:t>-mart ,Target, Safeway)</a:t>
            </a:r>
          </a:p>
          <a:p>
            <a:r>
              <a:rPr lang="en-US" sz="1200" dirty="0" smtClean="0"/>
              <a:t>• Convenience retail (7-11, Rite-Aid)</a:t>
            </a:r>
            <a:endParaRPr lang="en-US" sz="1200" dirty="0"/>
          </a:p>
        </p:txBody>
      </p:sp>
      <p:sp>
        <p:nvSpPr>
          <p:cNvPr id="29" name="Rectangle 28"/>
          <p:cNvSpPr/>
          <p:nvPr/>
        </p:nvSpPr>
        <p:spPr>
          <a:xfrm>
            <a:off x="2286000" y="4815904"/>
            <a:ext cx="6400800" cy="646331"/>
          </a:xfrm>
          <a:prstGeom prst="rect">
            <a:avLst/>
          </a:prstGeom>
        </p:spPr>
        <p:txBody>
          <a:bodyPr wrap="square">
            <a:spAutoFit/>
          </a:bodyPr>
          <a:lstStyle/>
          <a:p>
            <a:r>
              <a:rPr lang="en-US" sz="1200" dirty="0" smtClean="0"/>
              <a:t>• Retail</a:t>
            </a:r>
          </a:p>
          <a:p>
            <a:r>
              <a:rPr lang="en-US" sz="1200" dirty="0" smtClean="0"/>
              <a:t>• Wholesale</a:t>
            </a:r>
          </a:p>
          <a:p>
            <a:r>
              <a:rPr lang="en-US" sz="1200" dirty="0" smtClean="0"/>
              <a:t>• Direct (web and mail order)</a:t>
            </a:r>
            <a:endParaRPr lang="en-US" sz="1200" dirty="0"/>
          </a:p>
        </p:txBody>
      </p:sp>
      <p:sp>
        <p:nvSpPr>
          <p:cNvPr id="30" name="Rectangle 29"/>
          <p:cNvSpPr/>
          <p:nvPr/>
        </p:nvSpPr>
        <p:spPr>
          <a:xfrm>
            <a:off x="2286000" y="5577904"/>
            <a:ext cx="6553200" cy="461665"/>
          </a:xfrm>
          <a:prstGeom prst="rect">
            <a:avLst/>
          </a:prstGeom>
        </p:spPr>
        <p:txBody>
          <a:bodyPr wrap="square">
            <a:spAutoFit/>
          </a:bodyPr>
          <a:lstStyle/>
          <a:p>
            <a:r>
              <a:rPr lang="en-US" sz="1200" dirty="0" smtClean="0"/>
              <a:t>• Revenue: Volume of goods sold; Price premium on branded goods</a:t>
            </a:r>
          </a:p>
          <a:p>
            <a:r>
              <a:rPr lang="en-US" sz="1200" dirty="0" smtClean="0"/>
              <a:t>• Costs: Branding, Sales and Marketing, COGS (commodity costs – raw &amp; packaging material)</a:t>
            </a:r>
            <a:endParaRPr lang="en-US" sz="1200" dirty="0"/>
          </a:p>
        </p:txBody>
      </p:sp>
      <p:cxnSp>
        <p:nvCxnSpPr>
          <p:cNvPr id="32" name="Straight Connector 31"/>
          <p:cNvCxnSpPr/>
          <p:nvPr/>
        </p:nvCxnSpPr>
        <p:spPr>
          <a:xfrm>
            <a:off x="2362200" y="1572128"/>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3039968"/>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801968"/>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792568"/>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554568"/>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34294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Financial Services: Consumer Banking</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88100"/>
            <a:ext cx="381000" cy="228600"/>
          </a:xfrm>
        </p:spPr>
        <p:txBody>
          <a:bodyPr/>
          <a:lstStyle/>
          <a:p>
            <a:pPr>
              <a:defRPr/>
            </a:pPr>
            <a:fld id="{2E1E1E2A-88E9-4CB1-89D2-8ABF177DA4C4}" type="slidenum">
              <a:rPr lang="en-US" smtClean="0"/>
              <a:pPr>
                <a:defRPr/>
              </a:pPr>
              <a:t>8</a:t>
            </a:fld>
            <a:endParaRPr lang="en-US" dirty="0"/>
          </a:p>
        </p:txBody>
      </p:sp>
      <p:sp>
        <p:nvSpPr>
          <p:cNvPr id="15" name="KMATable0TextBox1"/>
          <p:cNvSpPr>
            <a:spLocks noChangeArrowheads="1"/>
          </p:cNvSpPr>
          <p:nvPr/>
        </p:nvSpPr>
        <p:spPr bwMode="auto">
          <a:xfrm>
            <a:off x="182563" y="17414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2835432"/>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3814919"/>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816632"/>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82563" y="5643719"/>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553200" cy="646331"/>
          </a:xfrm>
          <a:prstGeom prst="rect">
            <a:avLst/>
          </a:prstGeom>
        </p:spPr>
        <p:txBody>
          <a:bodyPr wrap="square">
            <a:spAutoFit/>
          </a:bodyPr>
          <a:lstStyle/>
          <a:p>
            <a:r>
              <a:rPr lang="en-US" sz="1200" dirty="0" smtClean="0"/>
              <a:t>• Provide deposit-based services, credit cards, consumer loans, payments etc.</a:t>
            </a:r>
          </a:p>
          <a:p>
            <a:r>
              <a:rPr lang="en-US" sz="1200" dirty="0" smtClean="0"/>
              <a:t>• Range of financial products are sold by banks whose main function is to collect money from those who have savings and lend money to those who need it</a:t>
            </a:r>
            <a:endParaRPr lang="en-US" sz="1200" dirty="0"/>
          </a:p>
        </p:txBody>
      </p:sp>
      <p:sp>
        <p:nvSpPr>
          <p:cNvPr id="22" name="Rectangle 21"/>
          <p:cNvSpPr/>
          <p:nvPr/>
        </p:nvSpPr>
        <p:spPr>
          <a:xfrm>
            <a:off x="2286000" y="1676162"/>
            <a:ext cx="6477000" cy="1015663"/>
          </a:xfrm>
          <a:prstGeom prst="rect">
            <a:avLst/>
          </a:prstGeom>
        </p:spPr>
        <p:txBody>
          <a:bodyPr wrap="square">
            <a:spAutoFit/>
          </a:bodyPr>
          <a:lstStyle/>
          <a:p>
            <a:r>
              <a:rPr lang="en-US" sz="1200" dirty="0" smtClean="0"/>
              <a:t>• Credit crisis / financial meltdown threatened solvency of industry due to illiquid assets difficult to value</a:t>
            </a:r>
          </a:p>
          <a:p>
            <a:r>
              <a:rPr lang="en-US" sz="1200" dirty="0" smtClean="0"/>
              <a:t>• Consolidated, mature industry with primary growth through acquisitions</a:t>
            </a:r>
          </a:p>
          <a:p>
            <a:r>
              <a:rPr lang="en-US" sz="1200" dirty="0" smtClean="0"/>
              <a:t>• Baby boomer aging creating large market for retirement products</a:t>
            </a:r>
          </a:p>
          <a:p>
            <a:r>
              <a:rPr lang="en-US" sz="1200" dirty="0" smtClean="0"/>
              <a:t>• Off-shoring of various functions to reduce expenses (e.g. call centers, back office functions)</a:t>
            </a:r>
            <a:endParaRPr lang="en-US" sz="1200" dirty="0"/>
          </a:p>
        </p:txBody>
      </p:sp>
      <p:sp>
        <p:nvSpPr>
          <p:cNvPr id="23" name="Rectangle 22"/>
          <p:cNvSpPr/>
          <p:nvPr/>
        </p:nvSpPr>
        <p:spPr>
          <a:xfrm>
            <a:off x="2286000" y="2795725"/>
            <a:ext cx="6705600" cy="646331"/>
          </a:xfrm>
          <a:prstGeom prst="rect">
            <a:avLst/>
          </a:prstGeom>
        </p:spPr>
        <p:txBody>
          <a:bodyPr wrap="square">
            <a:spAutoFit/>
          </a:bodyPr>
          <a:lstStyle/>
          <a:p>
            <a:pPr>
              <a:buFont typeface="Arial" pitchFamily="34" charset="0"/>
              <a:buChar char="•"/>
            </a:pPr>
            <a:r>
              <a:rPr lang="en-US" sz="1200" dirty="0" smtClean="0"/>
              <a:t> Large national players (Bank of America, </a:t>
            </a:r>
            <a:r>
              <a:rPr lang="en-US" sz="1200" dirty="0" err="1" smtClean="0"/>
              <a:t>Citi</a:t>
            </a:r>
            <a:r>
              <a:rPr lang="en-US" sz="1200" dirty="0" smtClean="0"/>
              <a:t>) compete with regional banks</a:t>
            </a:r>
          </a:p>
          <a:p>
            <a:pPr>
              <a:buFont typeface="Arial" pitchFamily="34" charset="0"/>
              <a:buChar char="•"/>
            </a:pPr>
            <a:r>
              <a:rPr lang="en-US" sz="1200" dirty="0" smtClean="0"/>
              <a:t> Largest players services extend well beyond commercial banking to investment banking, securitization, proprietary trading, with services that are increasingly opaque</a:t>
            </a:r>
            <a:endParaRPr lang="en-US" sz="1200" dirty="0"/>
          </a:p>
        </p:txBody>
      </p:sp>
      <p:sp>
        <p:nvSpPr>
          <p:cNvPr id="24" name="Rectangle 23"/>
          <p:cNvSpPr/>
          <p:nvPr/>
        </p:nvSpPr>
        <p:spPr>
          <a:xfrm>
            <a:off x="2286000" y="3749832"/>
            <a:ext cx="6477000" cy="830997"/>
          </a:xfrm>
          <a:prstGeom prst="rect">
            <a:avLst/>
          </a:prstGeom>
        </p:spPr>
        <p:txBody>
          <a:bodyPr wrap="square">
            <a:spAutoFit/>
          </a:bodyPr>
          <a:lstStyle/>
          <a:p>
            <a:r>
              <a:rPr lang="en-US" sz="1200" dirty="0" smtClean="0"/>
              <a:t>• Individual consumers</a:t>
            </a:r>
          </a:p>
          <a:p>
            <a:r>
              <a:rPr lang="en-US" sz="1200" dirty="0" smtClean="0"/>
              <a:t>• High net worth consumers (priority segment)</a:t>
            </a:r>
          </a:p>
          <a:p>
            <a:r>
              <a:rPr lang="en-US" sz="1200" dirty="0" smtClean="0"/>
              <a:t>• Small/medium businesses without sufficient size for larger investment banking financing services</a:t>
            </a:r>
            <a:endParaRPr lang="en-US" sz="1200" dirty="0"/>
          </a:p>
        </p:txBody>
      </p:sp>
      <p:sp>
        <p:nvSpPr>
          <p:cNvPr id="29" name="Rectangle 28"/>
          <p:cNvSpPr/>
          <p:nvPr/>
        </p:nvSpPr>
        <p:spPr>
          <a:xfrm>
            <a:off x="2286000" y="4664232"/>
            <a:ext cx="6400800" cy="646331"/>
          </a:xfrm>
          <a:prstGeom prst="rect">
            <a:avLst/>
          </a:prstGeom>
        </p:spPr>
        <p:txBody>
          <a:bodyPr wrap="square">
            <a:spAutoFit/>
          </a:bodyPr>
          <a:lstStyle/>
          <a:p>
            <a:r>
              <a:rPr lang="en-US" sz="1200" dirty="0" smtClean="0"/>
              <a:t>• Still large face-to-face presence with bank branches, tellers, etc.</a:t>
            </a:r>
          </a:p>
          <a:p>
            <a:r>
              <a:rPr lang="en-US" sz="1200" dirty="0" smtClean="0"/>
              <a:t>• Increasing use of ATM services, online banking</a:t>
            </a:r>
          </a:p>
          <a:p>
            <a:r>
              <a:rPr lang="en-US" sz="1200" dirty="0" smtClean="0"/>
              <a:t>• Banks increasingly offer credit cards, home loans, etc. as means to increase asset base</a:t>
            </a:r>
            <a:endParaRPr lang="en-US" sz="1200" dirty="0"/>
          </a:p>
        </p:txBody>
      </p:sp>
      <p:sp>
        <p:nvSpPr>
          <p:cNvPr id="30" name="Rectangle 29"/>
          <p:cNvSpPr/>
          <p:nvPr/>
        </p:nvSpPr>
        <p:spPr>
          <a:xfrm>
            <a:off x="2286000" y="5601968"/>
            <a:ext cx="6553200" cy="646331"/>
          </a:xfrm>
          <a:prstGeom prst="rect">
            <a:avLst/>
          </a:prstGeom>
        </p:spPr>
        <p:txBody>
          <a:bodyPr wrap="square">
            <a:spAutoFit/>
          </a:bodyPr>
          <a:lstStyle/>
          <a:p>
            <a:r>
              <a:rPr lang="en-US" sz="1200" dirty="0" smtClean="0"/>
              <a:t>• Revenue: Net revenue is the spread between bank’s borrowing cost and the rates charged to borrowers; fees</a:t>
            </a:r>
          </a:p>
          <a:p>
            <a:r>
              <a:rPr lang="en-US" sz="1200" dirty="0" smtClean="0"/>
              <a:t>• Costs: Overhead (branches, administration, compliance); salaries; </a:t>
            </a:r>
            <a:r>
              <a:rPr lang="en-US" sz="1200" dirty="0"/>
              <a:t>b</a:t>
            </a:r>
            <a:r>
              <a:rPr lang="en-US" sz="1200" dirty="0" smtClean="0"/>
              <a:t>ad </a:t>
            </a:r>
            <a:r>
              <a:rPr lang="en-US" sz="1200" dirty="0"/>
              <a:t>d</a:t>
            </a:r>
            <a:r>
              <a:rPr lang="en-US" sz="1200" dirty="0" smtClean="0"/>
              <a:t>ebt </a:t>
            </a:r>
            <a:r>
              <a:rPr lang="en-US" sz="1200" dirty="0"/>
              <a:t>e</a:t>
            </a:r>
            <a:r>
              <a:rPr lang="en-US" sz="1200" dirty="0" smtClean="0"/>
              <a:t>xpense</a:t>
            </a:r>
            <a:endParaRPr lang="en-US" sz="1200" dirty="0"/>
          </a:p>
        </p:txBody>
      </p:sp>
      <p:cxnSp>
        <p:nvCxnSpPr>
          <p:cNvPr id="32" name="Straight Connector 31"/>
          <p:cNvCxnSpPr/>
          <p:nvPr/>
        </p:nvCxnSpPr>
        <p:spPr>
          <a:xfrm>
            <a:off x="2362200" y="16764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2759232"/>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749832"/>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664232"/>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578632"/>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3274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Financial Services: Insurance</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88100"/>
            <a:ext cx="381000" cy="228600"/>
          </a:xfrm>
        </p:spPr>
        <p:txBody>
          <a:bodyPr/>
          <a:lstStyle/>
          <a:p>
            <a:pPr>
              <a:defRPr/>
            </a:pPr>
            <a:fld id="{2E1E1E2A-88E9-4CB1-89D2-8ABF177DA4C4}" type="slidenum">
              <a:rPr lang="en-US" smtClean="0"/>
              <a:pPr>
                <a:defRPr/>
              </a:pPr>
              <a:t>9</a:t>
            </a:fld>
            <a:endParaRPr lang="en-US" dirty="0"/>
          </a:p>
        </p:txBody>
      </p:sp>
      <p:sp>
        <p:nvSpPr>
          <p:cNvPr id="15" name="KMATable0TextBox1"/>
          <p:cNvSpPr>
            <a:spLocks noChangeArrowheads="1"/>
          </p:cNvSpPr>
          <p:nvPr/>
        </p:nvSpPr>
        <p:spPr bwMode="auto">
          <a:xfrm>
            <a:off x="182563" y="21224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32654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39624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7244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82563" y="5703879"/>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553200" cy="1015663"/>
          </a:xfrm>
          <a:prstGeom prst="rect">
            <a:avLst/>
          </a:prstGeom>
        </p:spPr>
        <p:txBody>
          <a:bodyPr wrap="square">
            <a:spAutoFit/>
          </a:bodyPr>
          <a:lstStyle/>
          <a:p>
            <a:r>
              <a:rPr lang="en-US" sz="1200" dirty="0" smtClean="0"/>
              <a:t>• Insurance is fundamentally about underwriting various types of risks. Customers make regular payments (premiums) to the insurer for coverage when unforeseen events, e.g. car crash; fire damage; death; credit default) occur</a:t>
            </a:r>
          </a:p>
          <a:p>
            <a:r>
              <a:rPr lang="en-US" sz="1200" dirty="0" smtClean="0"/>
              <a:t>• The insurer invests premiums to generate sufficient income to match future assets with future liabilities</a:t>
            </a:r>
            <a:endParaRPr lang="en-US" sz="1200" dirty="0"/>
          </a:p>
        </p:txBody>
      </p:sp>
      <p:sp>
        <p:nvSpPr>
          <p:cNvPr id="22" name="Rectangle 21"/>
          <p:cNvSpPr/>
          <p:nvPr/>
        </p:nvSpPr>
        <p:spPr>
          <a:xfrm>
            <a:off x="2286000" y="2057400"/>
            <a:ext cx="6477000" cy="1015663"/>
          </a:xfrm>
          <a:prstGeom prst="rect">
            <a:avLst/>
          </a:prstGeom>
        </p:spPr>
        <p:txBody>
          <a:bodyPr wrap="square">
            <a:spAutoFit/>
          </a:bodyPr>
          <a:lstStyle/>
          <a:p>
            <a:r>
              <a:rPr lang="en-US" sz="1200" dirty="0" smtClean="0"/>
              <a:t>• Credit crisis / financial meltdown threatened solvency of industry due to illiquid assets difficult to value</a:t>
            </a:r>
          </a:p>
          <a:p>
            <a:r>
              <a:rPr lang="en-US" sz="1200" dirty="0" smtClean="0"/>
              <a:t>• US national healthcare policy changes could completely change the landscape of the health insurance market</a:t>
            </a:r>
          </a:p>
          <a:p>
            <a:r>
              <a:rPr lang="en-US" sz="1200" dirty="0" smtClean="0"/>
              <a:t>• Companies focused on managing risk and controlling costs</a:t>
            </a:r>
            <a:endParaRPr lang="en-US" sz="1200" dirty="0"/>
          </a:p>
        </p:txBody>
      </p:sp>
      <p:sp>
        <p:nvSpPr>
          <p:cNvPr id="23" name="Rectangle 22"/>
          <p:cNvSpPr/>
          <p:nvPr/>
        </p:nvSpPr>
        <p:spPr>
          <a:xfrm>
            <a:off x="2286000" y="3200400"/>
            <a:ext cx="6705600" cy="646331"/>
          </a:xfrm>
          <a:prstGeom prst="rect">
            <a:avLst/>
          </a:prstGeom>
        </p:spPr>
        <p:txBody>
          <a:bodyPr wrap="square">
            <a:spAutoFit/>
          </a:bodyPr>
          <a:lstStyle/>
          <a:p>
            <a:pPr>
              <a:buFont typeface="Arial" pitchFamily="34" charset="0"/>
              <a:buChar char="•"/>
            </a:pPr>
            <a:r>
              <a:rPr lang="en-US" sz="1200" dirty="0" smtClean="0"/>
              <a:t> Several large, integrated players operating across multiple parts of the industry (AIG, Prudential, etc.)</a:t>
            </a:r>
          </a:p>
          <a:p>
            <a:pPr>
              <a:buFont typeface="Arial" pitchFamily="34" charset="0"/>
              <a:buChar char="•"/>
            </a:pPr>
            <a:r>
              <a:rPr lang="en-US" sz="1200" dirty="0" smtClean="0"/>
              <a:t> Some niche players focusing in a particular segment (</a:t>
            </a:r>
            <a:r>
              <a:rPr lang="en-US" sz="1200" dirty="0" err="1" smtClean="0"/>
              <a:t>Geico</a:t>
            </a:r>
            <a:r>
              <a:rPr lang="en-US" sz="1200" dirty="0" smtClean="0"/>
              <a:t>)</a:t>
            </a:r>
            <a:endParaRPr lang="en-US" sz="1200" dirty="0"/>
          </a:p>
        </p:txBody>
      </p:sp>
      <p:sp>
        <p:nvSpPr>
          <p:cNvPr id="24" name="Rectangle 23"/>
          <p:cNvSpPr/>
          <p:nvPr/>
        </p:nvSpPr>
        <p:spPr>
          <a:xfrm>
            <a:off x="2286000" y="3962400"/>
            <a:ext cx="6400800" cy="461665"/>
          </a:xfrm>
          <a:prstGeom prst="rect">
            <a:avLst/>
          </a:prstGeom>
        </p:spPr>
        <p:txBody>
          <a:bodyPr wrap="square">
            <a:spAutoFit/>
          </a:bodyPr>
          <a:lstStyle/>
          <a:p>
            <a:r>
              <a:rPr lang="en-US" sz="1200" dirty="0" smtClean="0"/>
              <a:t>• Small/medium/large businesses seeking to manage risks of property damage, liability, etc</a:t>
            </a:r>
          </a:p>
          <a:p>
            <a:pPr>
              <a:buFont typeface="Arial" pitchFamily="34" charset="0"/>
              <a:buChar char="•"/>
            </a:pPr>
            <a:r>
              <a:rPr lang="en-US" sz="1200" dirty="0" smtClean="0"/>
              <a:t> Individual consumers seeking to manage risk at home /on the road</a:t>
            </a:r>
            <a:endParaRPr lang="en-US" sz="1200" dirty="0"/>
          </a:p>
        </p:txBody>
      </p:sp>
      <p:sp>
        <p:nvSpPr>
          <p:cNvPr id="29" name="Rectangle 28"/>
          <p:cNvSpPr/>
          <p:nvPr/>
        </p:nvSpPr>
        <p:spPr>
          <a:xfrm>
            <a:off x="2286000" y="4697849"/>
            <a:ext cx="6400800" cy="830997"/>
          </a:xfrm>
          <a:prstGeom prst="rect">
            <a:avLst/>
          </a:prstGeom>
        </p:spPr>
        <p:txBody>
          <a:bodyPr wrap="square">
            <a:spAutoFit/>
          </a:bodyPr>
          <a:lstStyle/>
          <a:p>
            <a:r>
              <a:rPr lang="en-US" sz="1200" dirty="0" smtClean="0"/>
              <a:t>• Insurance agents (sales force) still manage much of the front-end sales process to businesses/individuals</a:t>
            </a:r>
          </a:p>
          <a:p>
            <a:r>
              <a:rPr lang="en-US" sz="1200" dirty="0" smtClean="0"/>
              <a:t>• Online sales becoming easier with better websites and aggressive marketing</a:t>
            </a:r>
          </a:p>
          <a:p>
            <a:r>
              <a:rPr lang="en-US" sz="1200" dirty="0" smtClean="0"/>
              <a:t>• Direct marketing to employees via in-office demonstrations</a:t>
            </a:r>
            <a:endParaRPr lang="en-US" sz="1200" dirty="0"/>
          </a:p>
        </p:txBody>
      </p:sp>
      <p:sp>
        <p:nvSpPr>
          <p:cNvPr id="30" name="Rectangle 29"/>
          <p:cNvSpPr/>
          <p:nvPr/>
        </p:nvSpPr>
        <p:spPr>
          <a:xfrm>
            <a:off x="2286000" y="5662128"/>
            <a:ext cx="6553200" cy="646331"/>
          </a:xfrm>
          <a:prstGeom prst="rect">
            <a:avLst/>
          </a:prstGeom>
        </p:spPr>
        <p:txBody>
          <a:bodyPr wrap="square">
            <a:spAutoFit/>
          </a:bodyPr>
          <a:lstStyle/>
          <a:p>
            <a:r>
              <a:rPr lang="en-US" sz="1200" dirty="0" smtClean="0"/>
              <a:t>• Revenue: Net revenue is the spread between premiums collected and claims/payments made over time</a:t>
            </a:r>
          </a:p>
          <a:p>
            <a:r>
              <a:rPr lang="en-US" sz="1200" dirty="0" smtClean="0"/>
              <a:t>• Costs: Overhead (administration, compliance); Salaries; Sales Commissions; Marketing</a:t>
            </a:r>
            <a:endParaRPr lang="en-US" sz="1200" dirty="0"/>
          </a:p>
        </p:txBody>
      </p:sp>
      <p:cxnSp>
        <p:nvCxnSpPr>
          <p:cNvPr id="32" name="Straight Connector 31"/>
          <p:cNvCxnSpPr/>
          <p:nvPr/>
        </p:nvCxnSpPr>
        <p:spPr>
          <a:xfrm>
            <a:off x="2362200" y="20574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32004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9624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7244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638792"/>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87771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Manufacturing</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15908"/>
            <a:ext cx="381000" cy="228600"/>
          </a:xfrm>
        </p:spPr>
        <p:txBody>
          <a:bodyPr/>
          <a:lstStyle/>
          <a:p>
            <a:pPr>
              <a:defRPr/>
            </a:pPr>
            <a:fld id="{2E1E1E2A-88E9-4CB1-89D2-8ABF177DA4C4}" type="slidenum">
              <a:rPr lang="en-US" smtClean="0"/>
              <a:pPr>
                <a:defRPr/>
              </a:pPr>
              <a:t>10</a:t>
            </a:fld>
            <a:endParaRPr lang="en-US" dirty="0"/>
          </a:p>
        </p:txBody>
      </p:sp>
      <p:sp>
        <p:nvSpPr>
          <p:cNvPr id="15" name="KMATable0TextBox1"/>
          <p:cNvSpPr>
            <a:spLocks noChangeArrowheads="1"/>
          </p:cNvSpPr>
          <p:nvPr/>
        </p:nvSpPr>
        <p:spPr bwMode="auto">
          <a:xfrm>
            <a:off x="182563" y="19700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3000394"/>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38750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77252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82563" y="5462328"/>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705600" cy="830997"/>
          </a:xfrm>
          <a:prstGeom prst="rect">
            <a:avLst/>
          </a:prstGeom>
        </p:spPr>
        <p:txBody>
          <a:bodyPr wrap="square">
            <a:spAutoFit/>
          </a:bodyPr>
          <a:lstStyle/>
          <a:p>
            <a:pPr>
              <a:buFont typeface="Arial" pitchFamily="34" charset="0"/>
              <a:buChar char="•"/>
            </a:pPr>
            <a:r>
              <a:rPr lang="en-US" sz="1200" dirty="0" smtClean="0"/>
              <a:t> Manufacturing sector includes companies that are in the business of mechanical, physical, or chemical transformation of materials/substances into new products</a:t>
            </a:r>
          </a:p>
          <a:p>
            <a:r>
              <a:rPr lang="en-US" sz="1200" dirty="0" smtClean="0"/>
              <a:t>• Subsectors include: textile, paper, chemical, computer/electronics, transportation equipment, machinery</a:t>
            </a:r>
            <a:endParaRPr lang="en-US" sz="1200" dirty="0"/>
          </a:p>
        </p:txBody>
      </p:sp>
      <p:sp>
        <p:nvSpPr>
          <p:cNvPr id="22" name="Rectangle 21"/>
          <p:cNvSpPr/>
          <p:nvPr/>
        </p:nvSpPr>
        <p:spPr>
          <a:xfrm>
            <a:off x="2286000" y="1941493"/>
            <a:ext cx="6477000" cy="830997"/>
          </a:xfrm>
          <a:prstGeom prst="rect">
            <a:avLst/>
          </a:prstGeom>
        </p:spPr>
        <p:txBody>
          <a:bodyPr wrap="square">
            <a:spAutoFit/>
          </a:bodyPr>
          <a:lstStyle/>
          <a:p>
            <a:r>
              <a:rPr lang="en-US" sz="1200" dirty="0" smtClean="0"/>
              <a:t>• Manufacturing is highly cyclical in most sectors</a:t>
            </a:r>
          </a:p>
          <a:p>
            <a:r>
              <a:rPr lang="en-US" sz="1200" dirty="0" smtClean="0"/>
              <a:t>• US manufacturing, traditional strength of US economic growth, has suffered due to higher cost structure (labor in many cases) as companies outsource manufacturing to lower-cost regions of the world</a:t>
            </a:r>
            <a:endParaRPr lang="en-US" sz="1200" dirty="0"/>
          </a:p>
        </p:txBody>
      </p:sp>
      <p:sp>
        <p:nvSpPr>
          <p:cNvPr id="23" name="Rectangle 22"/>
          <p:cNvSpPr/>
          <p:nvPr/>
        </p:nvSpPr>
        <p:spPr>
          <a:xfrm>
            <a:off x="2286000" y="2895600"/>
            <a:ext cx="6705600" cy="830997"/>
          </a:xfrm>
          <a:prstGeom prst="rect">
            <a:avLst/>
          </a:prstGeom>
        </p:spPr>
        <p:txBody>
          <a:bodyPr wrap="square">
            <a:spAutoFit/>
          </a:bodyPr>
          <a:lstStyle/>
          <a:p>
            <a:pPr>
              <a:buFont typeface="Arial" pitchFamily="34" charset="0"/>
              <a:buChar char="•"/>
            </a:pPr>
            <a:r>
              <a:rPr lang="en-US" sz="1200" dirty="0" smtClean="0"/>
              <a:t> </a:t>
            </a:r>
            <a:r>
              <a:rPr lang="sv-SE" sz="1200" dirty="0" smtClean="0"/>
              <a:t>General Motors, Chrysler, Ford, Toyota, Honda</a:t>
            </a:r>
            <a:r>
              <a:rPr lang="en-US" sz="1200" dirty="0" smtClean="0"/>
              <a:t> </a:t>
            </a:r>
          </a:p>
          <a:p>
            <a:pPr>
              <a:buFont typeface="Arial" pitchFamily="34" charset="0"/>
              <a:buChar char="•"/>
            </a:pPr>
            <a:r>
              <a:rPr lang="en-US" sz="1200" dirty="0" smtClean="0"/>
              <a:t> Boeing, Airbus</a:t>
            </a:r>
          </a:p>
          <a:p>
            <a:pPr>
              <a:buFont typeface="Arial" pitchFamily="34" charset="0"/>
              <a:buChar char="•"/>
            </a:pPr>
            <a:r>
              <a:rPr lang="en-US" sz="1200" dirty="0" smtClean="0"/>
              <a:t> GE, Phillips, Siemens</a:t>
            </a:r>
          </a:p>
          <a:p>
            <a:pPr>
              <a:buFont typeface="Arial" pitchFamily="34" charset="0"/>
              <a:buChar char="•"/>
            </a:pPr>
            <a:r>
              <a:rPr lang="en-US" sz="1200" dirty="0" smtClean="0"/>
              <a:t> Honeywell, Dow, Corning</a:t>
            </a:r>
            <a:endParaRPr lang="en-US" sz="1200" dirty="0"/>
          </a:p>
        </p:txBody>
      </p:sp>
      <p:sp>
        <p:nvSpPr>
          <p:cNvPr id="24" name="Rectangle 23"/>
          <p:cNvSpPr/>
          <p:nvPr/>
        </p:nvSpPr>
        <p:spPr>
          <a:xfrm>
            <a:off x="2286000" y="3810000"/>
            <a:ext cx="6400800" cy="830997"/>
          </a:xfrm>
          <a:prstGeom prst="rect">
            <a:avLst/>
          </a:prstGeom>
        </p:spPr>
        <p:txBody>
          <a:bodyPr wrap="square">
            <a:spAutoFit/>
          </a:bodyPr>
          <a:lstStyle/>
          <a:p>
            <a:r>
              <a:rPr lang="en-US" sz="1200" dirty="0" smtClean="0"/>
              <a:t>• Varies by industry, can be end-consumer, OEM (original equipment manufacturer) – B2B (business to business)</a:t>
            </a:r>
          </a:p>
          <a:p>
            <a:r>
              <a:rPr lang="en-US" sz="1200" dirty="0" smtClean="0"/>
              <a:t>• Automotive: Primarily end consumer; Metal: airplane, automotive, tool/die manufacturing; Apparel: end consumer; Plastics: medical industry, machinery manufacturing</a:t>
            </a:r>
            <a:endParaRPr lang="en-US" sz="1200" dirty="0"/>
          </a:p>
        </p:txBody>
      </p:sp>
      <p:sp>
        <p:nvSpPr>
          <p:cNvPr id="29" name="Rectangle 28"/>
          <p:cNvSpPr/>
          <p:nvPr/>
        </p:nvSpPr>
        <p:spPr>
          <a:xfrm>
            <a:off x="2302040" y="4783633"/>
            <a:ext cx="6841960" cy="461665"/>
          </a:xfrm>
          <a:prstGeom prst="rect">
            <a:avLst/>
          </a:prstGeom>
        </p:spPr>
        <p:txBody>
          <a:bodyPr wrap="square">
            <a:spAutoFit/>
          </a:bodyPr>
          <a:lstStyle/>
          <a:p>
            <a:pPr>
              <a:buFont typeface="Arial" pitchFamily="34" charset="0"/>
              <a:buChar char="•"/>
            </a:pPr>
            <a:r>
              <a:rPr lang="en-US" sz="1200" dirty="0" smtClean="0"/>
              <a:t> Retail (Automotive, Apparel – industries where end-consumer is primary customer)</a:t>
            </a:r>
          </a:p>
          <a:p>
            <a:r>
              <a:rPr lang="en-US" sz="1200" dirty="0" smtClean="0"/>
              <a:t>• Wholesale – B2B (Plastics, Chemicals, Pharmaceuticals, Metal, Machinery)</a:t>
            </a:r>
            <a:endParaRPr lang="en-US" sz="1200" dirty="0"/>
          </a:p>
        </p:txBody>
      </p:sp>
      <p:sp>
        <p:nvSpPr>
          <p:cNvPr id="30" name="Rectangle 29"/>
          <p:cNvSpPr/>
          <p:nvPr/>
        </p:nvSpPr>
        <p:spPr>
          <a:xfrm>
            <a:off x="2286000" y="5409464"/>
            <a:ext cx="6858000" cy="1015663"/>
          </a:xfrm>
          <a:prstGeom prst="rect">
            <a:avLst/>
          </a:prstGeom>
        </p:spPr>
        <p:txBody>
          <a:bodyPr wrap="square">
            <a:spAutoFit/>
          </a:bodyPr>
          <a:lstStyle/>
          <a:p>
            <a:r>
              <a:rPr lang="en-US" sz="1200" dirty="0" smtClean="0"/>
              <a:t>• Revenue: diversity of customers, volume (automotive: high, airplane mfg: low), emerging markets, adjacent industries, new technologies, end-consumer demands</a:t>
            </a:r>
          </a:p>
          <a:p>
            <a:r>
              <a:rPr lang="en-US" sz="1200" dirty="0" smtClean="0"/>
              <a:t>• Cost: outsourcing (potential quality), process efficiency, supply chain management (inventory turns), labor (unions), raw materials/commodities, channel management (i.e. auto dealers), marketing, capital investment</a:t>
            </a:r>
            <a:endParaRPr lang="en-US" sz="1200" dirty="0"/>
          </a:p>
        </p:txBody>
      </p:sp>
      <p:cxnSp>
        <p:nvCxnSpPr>
          <p:cNvPr id="32" name="Straight Connector 31"/>
          <p:cNvCxnSpPr/>
          <p:nvPr/>
        </p:nvCxnSpPr>
        <p:spPr>
          <a:xfrm>
            <a:off x="2362200" y="19050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28956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8100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77252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386128"/>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23270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Media</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88100"/>
            <a:ext cx="381000" cy="228600"/>
          </a:xfrm>
        </p:spPr>
        <p:txBody>
          <a:bodyPr/>
          <a:lstStyle/>
          <a:p>
            <a:pPr>
              <a:defRPr/>
            </a:pPr>
            <a:fld id="{2E1E1E2A-88E9-4CB1-89D2-8ABF177DA4C4}" type="slidenum">
              <a:rPr lang="en-US" smtClean="0"/>
              <a:pPr>
                <a:defRPr/>
              </a:pPr>
              <a:t>11</a:t>
            </a:fld>
            <a:endParaRPr lang="en-US" dirty="0"/>
          </a:p>
        </p:txBody>
      </p:sp>
      <p:sp>
        <p:nvSpPr>
          <p:cNvPr id="15" name="KMATable0TextBox1"/>
          <p:cNvSpPr>
            <a:spLocks noChangeArrowheads="1"/>
          </p:cNvSpPr>
          <p:nvPr/>
        </p:nvSpPr>
        <p:spPr bwMode="auto">
          <a:xfrm>
            <a:off x="182563" y="19700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3141151"/>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3750751"/>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676264"/>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52400" y="547475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705600" cy="830997"/>
          </a:xfrm>
          <a:prstGeom prst="rect">
            <a:avLst/>
          </a:prstGeom>
        </p:spPr>
        <p:txBody>
          <a:bodyPr wrap="square">
            <a:spAutoFit/>
          </a:bodyPr>
          <a:lstStyle/>
          <a:p>
            <a:pPr>
              <a:buFont typeface="Arial" pitchFamily="34" charset="0"/>
              <a:buChar char="•"/>
            </a:pPr>
            <a:r>
              <a:rPr lang="en-US" sz="1200" dirty="0" smtClean="0"/>
              <a:t> The media sector includes print, audio and video content generation and dissemination. The various subsectors are unique yet have overlapping attributes. Primarily an advertising-supported industry, the media space faces unprecedented challenges as online media continues to disrupt traditional business models.</a:t>
            </a:r>
            <a:endParaRPr lang="en-US" sz="1200" dirty="0"/>
          </a:p>
        </p:txBody>
      </p:sp>
      <p:sp>
        <p:nvSpPr>
          <p:cNvPr id="22" name="Rectangle 21"/>
          <p:cNvSpPr/>
          <p:nvPr/>
        </p:nvSpPr>
        <p:spPr>
          <a:xfrm>
            <a:off x="2286000" y="1967805"/>
            <a:ext cx="6477000" cy="1015663"/>
          </a:xfrm>
          <a:prstGeom prst="rect">
            <a:avLst/>
          </a:prstGeom>
        </p:spPr>
        <p:txBody>
          <a:bodyPr wrap="square">
            <a:spAutoFit/>
          </a:bodyPr>
          <a:lstStyle/>
          <a:p>
            <a:r>
              <a:rPr lang="en-US" sz="1200" dirty="0" smtClean="0"/>
              <a:t>• The digitization of media has required considerable capital investment by media content generators. The rapidly improving speed of wireless devices creates questions about how media will ultimately be consumed – via internet, via cable, via mobile? Service providers may converge. The proliferation of “free” content has harmed content generators but created opportunities for new channels.</a:t>
            </a:r>
            <a:endParaRPr lang="en-US" sz="1200" dirty="0"/>
          </a:p>
        </p:txBody>
      </p:sp>
      <p:sp>
        <p:nvSpPr>
          <p:cNvPr id="23" name="Rectangle 22"/>
          <p:cNvSpPr/>
          <p:nvPr/>
        </p:nvSpPr>
        <p:spPr>
          <a:xfrm>
            <a:off x="2286000" y="3099400"/>
            <a:ext cx="6705600" cy="461665"/>
          </a:xfrm>
          <a:prstGeom prst="rect">
            <a:avLst/>
          </a:prstGeom>
        </p:spPr>
        <p:txBody>
          <a:bodyPr wrap="square">
            <a:spAutoFit/>
          </a:bodyPr>
          <a:lstStyle/>
          <a:p>
            <a:pPr>
              <a:buFont typeface="Arial" pitchFamily="34" charset="0"/>
              <a:buChar char="•"/>
            </a:pPr>
            <a:r>
              <a:rPr lang="en-US" sz="1200" dirty="0" smtClean="0"/>
              <a:t> Landscape is very competitive with a few major players owning integrated portfolios across the entire media universe (Disney, Viacom, News Corp, etc.)</a:t>
            </a:r>
            <a:endParaRPr lang="en-US" sz="1200" dirty="0"/>
          </a:p>
        </p:txBody>
      </p:sp>
      <p:sp>
        <p:nvSpPr>
          <p:cNvPr id="24" name="Rectangle 23"/>
          <p:cNvSpPr/>
          <p:nvPr/>
        </p:nvSpPr>
        <p:spPr>
          <a:xfrm>
            <a:off x="2286000" y="3645957"/>
            <a:ext cx="6858000" cy="830997"/>
          </a:xfrm>
          <a:prstGeom prst="rect">
            <a:avLst/>
          </a:prstGeom>
        </p:spPr>
        <p:txBody>
          <a:bodyPr wrap="square">
            <a:spAutoFit/>
          </a:bodyPr>
          <a:lstStyle/>
          <a:p>
            <a:pPr>
              <a:buFont typeface="Arial" pitchFamily="34" charset="0"/>
              <a:buChar char="•"/>
            </a:pPr>
            <a:r>
              <a:rPr lang="en-US" sz="1200" dirty="0" smtClean="0"/>
              <a:t> While individual consumers seem to be the customers, in reality consumers are part of the product. Audience reach, ratings, circulation measures are utilized to sell advertising. Potential advertisers are the real customers in traditional models although individual consumers may be the customers for some subscription models.</a:t>
            </a:r>
            <a:endParaRPr lang="en-US" sz="1200" dirty="0"/>
          </a:p>
        </p:txBody>
      </p:sp>
      <p:sp>
        <p:nvSpPr>
          <p:cNvPr id="29" name="Rectangle 28"/>
          <p:cNvSpPr/>
          <p:nvPr/>
        </p:nvSpPr>
        <p:spPr>
          <a:xfrm>
            <a:off x="2286000" y="4623400"/>
            <a:ext cx="6400800" cy="646331"/>
          </a:xfrm>
          <a:prstGeom prst="rect">
            <a:avLst/>
          </a:prstGeom>
        </p:spPr>
        <p:txBody>
          <a:bodyPr wrap="square">
            <a:spAutoFit/>
          </a:bodyPr>
          <a:lstStyle/>
          <a:p>
            <a:pPr>
              <a:buFont typeface="Arial" pitchFamily="34" charset="0"/>
              <a:buChar char="•"/>
            </a:pPr>
            <a:r>
              <a:rPr lang="en-US" sz="1200" dirty="0" smtClean="0"/>
              <a:t> Print: traditional paper product &amp; online/mobile</a:t>
            </a:r>
          </a:p>
          <a:p>
            <a:r>
              <a:rPr lang="en-US" sz="1200" dirty="0" smtClean="0"/>
              <a:t>• Television: traditional broadcast/cable/satellite &amp; online/mobile</a:t>
            </a:r>
          </a:p>
          <a:p>
            <a:r>
              <a:rPr lang="en-US" sz="1200" dirty="0" smtClean="0"/>
              <a:t>• Movies: traditional theatres, rentals &amp; online (to a growing extent)</a:t>
            </a:r>
            <a:endParaRPr lang="en-US" sz="1200" dirty="0"/>
          </a:p>
        </p:txBody>
      </p:sp>
      <p:sp>
        <p:nvSpPr>
          <p:cNvPr id="30" name="Rectangle 29"/>
          <p:cNvSpPr/>
          <p:nvPr/>
        </p:nvSpPr>
        <p:spPr>
          <a:xfrm>
            <a:off x="2286000" y="5398557"/>
            <a:ext cx="6858000" cy="830997"/>
          </a:xfrm>
          <a:prstGeom prst="rect">
            <a:avLst/>
          </a:prstGeom>
        </p:spPr>
        <p:txBody>
          <a:bodyPr wrap="square">
            <a:spAutoFit/>
          </a:bodyPr>
          <a:lstStyle/>
          <a:p>
            <a:r>
              <a:rPr lang="en-US" sz="1200" dirty="0" smtClean="0"/>
              <a:t>• Revenue Drivers: advertising, subscriptions in some cases (there is talk about moving to higher subscription model for premium content)</a:t>
            </a:r>
          </a:p>
          <a:p>
            <a:r>
              <a:rPr lang="en-US" sz="1200" dirty="0" smtClean="0"/>
              <a:t>• Cost Drivers: VC: production costs (salaries of staff, technology); FC: capital costs (studios, printing presses); overhead, marketing &amp; advertising</a:t>
            </a:r>
            <a:endParaRPr lang="en-US" sz="1200" dirty="0"/>
          </a:p>
        </p:txBody>
      </p:sp>
      <p:cxnSp>
        <p:nvCxnSpPr>
          <p:cNvPr id="32" name="Straight Connector 31"/>
          <p:cNvCxnSpPr/>
          <p:nvPr/>
        </p:nvCxnSpPr>
        <p:spPr>
          <a:xfrm>
            <a:off x="2362200" y="19050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3076064"/>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609464"/>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600064"/>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362064"/>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1649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Pharmaceuticals</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88100"/>
            <a:ext cx="381000" cy="228600"/>
          </a:xfrm>
        </p:spPr>
        <p:txBody>
          <a:bodyPr/>
          <a:lstStyle/>
          <a:p>
            <a:pPr>
              <a:defRPr/>
            </a:pPr>
            <a:fld id="{2E1E1E2A-88E9-4CB1-89D2-8ABF177DA4C4}" type="slidenum">
              <a:rPr lang="en-US" smtClean="0"/>
              <a:pPr>
                <a:defRPr/>
              </a:pPr>
              <a:t>12</a:t>
            </a:fld>
            <a:endParaRPr lang="en-US" dirty="0"/>
          </a:p>
        </p:txBody>
      </p:sp>
      <p:sp>
        <p:nvSpPr>
          <p:cNvPr id="15" name="KMATable0TextBox1"/>
          <p:cNvSpPr>
            <a:spLocks noChangeArrowheads="1"/>
          </p:cNvSpPr>
          <p:nvPr/>
        </p:nvSpPr>
        <p:spPr bwMode="auto">
          <a:xfrm>
            <a:off x="182563" y="19700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2919648"/>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3885978"/>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519848"/>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52400" y="5346935"/>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705600" cy="830997"/>
          </a:xfrm>
          <a:prstGeom prst="rect">
            <a:avLst/>
          </a:prstGeom>
        </p:spPr>
        <p:txBody>
          <a:bodyPr wrap="square">
            <a:spAutoFit/>
          </a:bodyPr>
          <a:lstStyle/>
          <a:p>
            <a:pPr>
              <a:buFont typeface="Arial" pitchFamily="34" charset="0"/>
              <a:buChar char="•"/>
            </a:pPr>
            <a:r>
              <a:rPr lang="en-US" sz="1200" dirty="0" smtClean="0"/>
              <a:t> Branded/Ethical/Originator drug producers produce original patent-protected (for a certain period of time) drugs for human and animal diseases</a:t>
            </a:r>
          </a:p>
          <a:p>
            <a:r>
              <a:rPr lang="en-US" sz="1200" dirty="0" smtClean="0"/>
              <a:t>• Generic drug producers produce ‘copy-cat’ drugs (with the same medical result) at a lower development cost until the originator drug’s patent expires</a:t>
            </a:r>
            <a:endParaRPr lang="en-US" sz="1200" dirty="0"/>
          </a:p>
        </p:txBody>
      </p:sp>
      <p:sp>
        <p:nvSpPr>
          <p:cNvPr id="22" name="Rectangle 21"/>
          <p:cNvSpPr/>
          <p:nvPr/>
        </p:nvSpPr>
        <p:spPr>
          <a:xfrm>
            <a:off x="2286000" y="1891605"/>
            <a:ext cx="6477000" cy="830997"/>
          </a:xfrm>
          <a:prstGeom prst="rect">
            <a:avLst/>
          </a:prstGeom>
        </p:spPr>
        <p:txBody>
          <a:bodyPr wrap="square">
            <a:spAutoFit/>
          </a:bodyPr>
          <a:lstStyle/>
          <a:p>
            <a:r>
              <a:rPr lang="en-US" sz="1200" dirty="0" smtClean="0"/>
              <a:t>• Price competition from generic drug manufacturers</a:t>
            </a:r>
          </a:p>
          <a:p>
            <a:r>
              <a:rPr lang="en-US" sz="1200" dirty="0" smtClean="0"/>
              <a:t>• Increasing pressure from health insurance companies and hospital chains to reduce prices</a:t>
            </a:r>
          </a:p>
          <a:p>
            <a:r>
              <a:rPr lang="en-US" sz="1200" dirty="0" smtClean="0"/>
              <a:t>• R&amp;D challenge of finding high revenue drugs (‘Blockbusters’ have annual sales &gt; $1B)</a:t>
            </a:r>
          </a:p>
          <a:p>
            <a:r>
              <a:rPr lang="en-US" sz="1200" dirty="0" smtClean="0"/>
              <a:t>• Loss of patent on key drugs for many large </a:t>
            </a:r>
            <a:r>
              <a:rPr lang="en-US" sz="1200" dirty="0" err="1" smtClean="0"/>
              <a:t>Pharma</a:t>
            </a:r>
            <a:r>
              <a:rPr lang="en-US" sz="1200" dirty="0" smtClean="0"/>
              <a:t> Cos. during 2010-2016</a:t>
            </a:r>
            <a:endParaRPr lang="en-US" sz="1200" dirty="0"/>
          </a:p>
        </p:txBody>
      </p:sp>
      <p:sp>
        <p:nvSpPr>
          <p:cNvPr id="23" name="Rectangle 22"/>
          <p:cNvSpPr/>
          <p:nvPr/>
        </p:nvSpPr>
        <p:spPr>
          <a:xfrm>
            <a:off x="2286000" y="2843448"/>
            <a:ext cx="6705600" cy="830997"/>
          </a:xfrm>
          <a:prstGeom prst="rect">
            <a:avLst/>
          </a:prstGeom>
        </p:spPr>
        <p:txBody>
          <a:bodyPr wrap="square">
            <a:spAutoFit/>
          </a:bodyPr>
          <a:lstStyle/>
          <a:p>
            <a:r>
              <a:rPr lang="en-US" sz="1200" dirty="0" smtClean="0"/>
              <a:t>• Key success factor comes down to one thing: products</a:t>
            </a:r>
          </a:p>
          <a:p>
            <a:r>
              <a:rPr lang="en-US" sz="1200" dirty="0" smtClean="0"/>
              <a:t>• Products target various treatment areas (TA): cancer, cardiovascular, psychology </a:t>
            </a:r>
          </a:p>
          <a:p>
            <a:r>
              <a:rPr lang="en-US" sz="1200" dirty="0" smtClean="0"/>
              <a:t>• US, Europe and Japan are largest markets although emerging market opportunity (e.g. China) is growing</a:t>
            </a:r>
            <a:endParaRPr lang="en-US" sz="1200" dirty="0"/>
          </a:p>
        </p:txBody>
      </p:sp>
      <p:sp>
        <p:nvSpPr>
          <p:cNvPr id="24" name="Rectangle 23"/>
          <p:cNvSpPr/>
          <p:nvPr/>
        </p:nvSpPr>
        <p:spPr>
          <a:xfrm>
            <a:off x="2286000" y="3757848"/>
            <a:ext cx="6858000" cy="646331"/>
          </a:xfrm>
          <a:prstGeom prst="rect">
            <a:avLst/>
          </a:prstGeom>
        </p:spPr>
        <p:txBody>
          <a:bodyPr wrap="square">
            <a:spAutoFit/>
          </a:bodyPr>
          <a:lstStyle/>
          <a:p>
            <a:r>
              <a:rPr lang="en-US" sz="1200" dirty="0" smtClean="0"/>
              <a:t>• Doctors who prescribe these medicines</a:t>
            </a:r>
          </a:p>
          <a:p>
            <a:r>
              <a:rPr lang="en-US" sz="1200" dirty="0" smtClean="0"/>
              <a:t>• Insurance companies that pay for them</a:t>
            </a:r>
          </a:p>
          <a:p>
            <a:r>
              <a:rPr lang="en-US" sz="1200" dirty="0" smtClean="0"/>
              <a:t>• Patients/consumers who need these drugs/medicines</a:t>
            </a:r>
          </a:p>
        </p:txBody>
      </p:sp>
      <p:sp>
        <p:nvSpPr>
          <p:cNvPr id="29" name="Rectangle 28"/>
          <p:cNvSpPr/>
          <p:nvPr/>
        </p:nvSpPr>
        <p:spPr>
          <a:xfrm>
            <a:off x="2286000" y="4466984"/>
            <a:ext cx="6400800" cy="830997"/>
          </a:xfrm>
          <a:prstGeom prst="rect">
            <a:avLst/>
          </a:prstGeom>
        </p:spPr>
        <p:txBody>
          <a:bodyPr wrap="square">
            <a:spAutoFit/>
          </a:bodyPr>
          <a:lstStyle/>
          <a:p>
            <a:r>
              <a:rPr lang="en-US" sz="1200" dirty="0" smtClean="0"/>
              <a:t>• Over the counter (“OTC”, can be sold without prescription): Retail outlets – CVS, Walgreens; Mail order</a:t>
            </a:r>
          </a:p>
          <a:p>
            <a:r>
              <a:rPr lang="en-US" sz="1200" dirty="0" smtClean="0"/>
              <a:t>• Prescription drugs: Hospitals, pharmacies</a:t>
            </a:r>
          </a:p>
          <a:p>
            <a:r>
              <a:rPr lang="en-US" sz="1200" dirty="0" smtClean="0"/>
              <a:t>• B2B: Distributors/intermediaries, hospitals, pharmacies</a:t>
            </a:r>
            <a:endParaRPr lang="en-US" sz="1200" dirty="0"/>
          </a:p>
        </p:txBody>
      </p:sp>
      <p:sp>
        <p:nvSpPr>
          <p:cNvPr id="30" name="Rectangle 29"/>
          <p:cNvSpPr/>
          <p:nvPr/>
        </p:nvSpPr>
        <p:spPr>
          <a:xfrm>
            <a:off x="2286000" y="5394541"/>
            <a:ext cx="6858000" cy="830997"/>
          </a:xfrm>
          <a:prstGeom prst="rect">
            <a:avLst/>
          </a:prstGeom>
        </p:spPr>
        <p:txBody>
          <a:bodyPr wrap="square">
            <a:spAutoFit/>
          </a:bodyPr>
          <a:lstStyle/>
          <a:p>
            <a:r>
              <a:rPr lang="en-US" sz="1200" dirty="0" smtClean="0"/>
              <a:t>• Revenue Drivers: Size of specific treatment area / level of competition; Buy-in from doctors; Speed to market/ expertise in difficult products (for generics)</a:t>
            </a:r>
          </a:p>
          <a:p>
            <a:r>
              <a:rPr lang="en-US" sz="1200" dirty="0" smtClean="0"/>
              <a:t>• Cost Drivers: VC: sales and marketing (doctor visits, sponsored studies); </a:t>
            </a:r>
          </a:p>
          <a:p>
            <a:r>
              <a:rPr lang="en-US" sz="1200" dirty="0" smtClean="0"/>
              <a:t>FC: R&amp;D (drug discovery, formulation, clinical trials)</a:t>
            </a:r>
            <a:endParaRPr lang="en-US" sz="1200" dirty="0"/>
          </a:p>
        </p:txBody>
      </p:sp>
      <p:cxnSp>
        <p:nvCxnSpPr>
          <p:cNvPr id="32" name="Straight Connector 31"/>
          <p:cNvCxnSpPr/>
          <p:nvPr/>
        </p:nvCxnSpPr>
        <p:spPr>
          <a:xfrm>
            <a:off x="2362200" y="18288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2843448"/>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3757848"/>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443648"/>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358048"/>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93211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Technology</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88100"/>
            <a:ext cx="381000" cy="228600"/>
          </a:xfrm>
        </p:spPr>
        <p:txBody>
          <a:bodyPr/>
          <a:lstStyle/>
          <a:p>
            <a:pPr>
              <a:defRPr/>
            </a:pPr>
            <a:fld id="{2E1E1E2A-88E9-4CB1-89D2-8ABF177DA4C4}" type="slidenum">
              <a:rPr lang="en-US" smtClean="0"/>
              <a:pPr>
                <a:defRPr/>
              </a:pPr>
              <a:t>13</a:t>
            </a:fld>
            <a:endParaRPr lang="en-US" dirty="0"/>
          </a:p>
        </p:txBody>
      </p:sp>
      <p:sp>
        <p:nvSpPr>
          <p:cNvPr id="15" name="KMATable0TextBox1"/>
          <p:cNvSpPr>
            <a:spLocks noChangeArrowheads="1"/>
          </p:cNvSpPr>
          <p:nvPr/>
        </p:nvSpPr>
        <p:spPr bwMode="auto">
          <a:xfrm>
            <a:off x="182563" y="1678682"/>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3097649"/>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42560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9530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52400" y="5627687"/>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705600" cy="461665"/>
          </a:xfrm>
          <a:prstGeom prst="rect">
            <a:avLst/>
          </a:prstGeom>
        </p:spPr>
        <p:txBody>
          <a:bodyPr wrap="square">
            <a:spAutoFit/>
          </a:bodyPr>
          <a:lstStyle/>
          <a:p>
            <a:pPr>
              <a:buFont typeface="Arial" pitchFamily="34" charset="0"/>
              <a:buChar char="•"/>
            </a:pPr>
            <a:r>
              <a:rPr lang="en-US" sz="1200" dirty="0" smtClean="0"/>
              <a:t> The technology industry broadly consists of the systems (PCs, servers), semiconductors, communications equipment, software, internet and IT services subsectors</a:t>
            </a:r>
            <a:endParaRPr lang="en-US" sz="1200" dirty="0"/>
          </a:p>
        </p:txBody>
      </p:sp>
      <p:sp>
        <p:nvSpPr>
          <p:cNvPr id="22" name="Rectangle 21"/>
          <p:cNvSpPr/>
          <p:nvPr/>
        </p:nvSpPr>
        <p:spPr>
          <a:xfrm>
            <a:off x="2286000" y="1600200"/>
            <a:ext cx="6477000" cy="1200329"/>
          </a:xfrm>
          <a:prstGeom prst="rect">
            <a:avLst/>
          </a:prstGeom>
        </p:spPr>
        <p:txBody>
          <a:bodyPr wrap="square">
            <a:spAutoFit/>
          </a:bodyPr>
          <a:lstStyle/>
          <a:p>
            <a:pPr>
              <a:buFont typeface="Arial" pitchFamily="34" charset="0"/>
              <a:buChar char="•"/>
            </a:pPr>
            <a:r>
              <a:rPr lang="en-US" sz="1200" dirty="0" smtClean="0"/>
              <a:t> Increasing M&amp;A Activity: As growth has slowed in certain subsectors (systems, software), leading vendors have utilized M&amp;A for growth, offering customers a one stop shop proposition (i.e. HP/Compaq, Oracle/</a:t>
            </a:r>
            <a:r>
              <a:rPr lang="en-US" sz="1200" dirty="0" err="1" smtClean="0"/>
              <a:t>Peoplesoft</a:t>
            </a:r>
            <a:r>
              <a:rPr lang="en-US" sz="1200" dirty="0" smtClean="0"/>
              <a:t>)</a:t>
            </a:r>
          </a:p>
          <a:p>
            <a:r>
              <a:rPr lang="en-US" sz="1200" dirty="0" smtClean="0"/>
              <a:t>• Co-</a:t>
            </a:r>
            <a:r>
              <a:rPr lang="en-US" sz="1200" dirty="0" err="1" smtClean="0"/>
              <a:t>opetition</a:t>
            </a:r>
            <a:r>
              <a:rPr lang="en-US" sz="1200" dirty="0" smtClean="0"/>
              <a:t>: Leading vendors co-exist as competitors and collaborators. Examples include: Microsoft/Intel, Oracle/IBM</a:t>
            </a:r>
          </a:p>
          <a:p>
            <a:r>
              <a:rPr lang="en-US" sz="1200" dirty="0" smtClean="0"/>
              <a:t>• Cloud Computing: Offering IT as outsourced utility</a:t>
            </a:r>
            <a:endParaRPr lang="en-US" sz="1200" dirty="0"/>
          </a:p>
        </p:txBody>
      </p:sp>
      <p:sp>
        <p:nvSpPr>
          <p:cNvPr id="23" name="Rectangle 22"/>
          <p:cNvSpPr/>
          <p:nvPr/>
        </p:nvSpPr>
        <p:spPr>
          <a:xfrm>
            <a:off x="2286000" y="3021449"/>
            <a:ext cx="6705600" cy="1015663"/>
          </a:xfrm>
          <a:prstGeom prst="rect">
            <a:avLst/>
          </a:prstGeom>
        </p:spPr>
        <p:txBody>
          <a:bodyPr wrap="square">
            <a:spAutoFit/>
          </a:bodyPr>
          <a:lstStyle/>
          <a:p>
            <a:r>
              <a:rPr lang="en-US" sz="1200" dirty="0" smtClean="0"/>
              <a:t>• Systems: IBM, Hewlett-Packard, Dell</a:t>
            </a:r>
          </a:p>
          <a:p>
            <a:r>
              <a:rPr lang="en-US" sz="1200" dirty="0" smtClean="0"/>
              <a:t>• Semiconductors: Intel, Samsung, Toshiba, Texas Instruments</a:t>
            </a:r>
          </a:p>
          <a:p>
            <a:r>
              <a:rPr lang="en-US" sz="1200" dirty="0" smtClean="0"/>
              <a:t>• Communications Equipment: Cisco, Nokia, Samsung</a:t>
            </a:r>
          </a:p>
          <a:p>
            <a:r>
              <a:rPr lang="en-US" sz="1200" dirty="0" smtClean="0"/>
              <a:t>• Software: Microsoft, IBM, Oracle / Internet Software: Google, Yahoo!, Microsoft</a:t>
            </a:r>
          </a:p>
          <a:p>
            <a:r>
              <a:rPr lang="en-US" sz="1200" dirty="0" smtClean="0"/>
              <a:t>• IT Services: Accenture, IBM, HP/EDS</a:t>
            </a:r>
            <a:endParaRPr lang="en-US" sz="1200" dirty="0"/>
          </a:p>
        </p:txBody>
      </p:sp>
      <p:sp>
        <p:nvSpPr>
          <p:cNvPr id="24" name="Rectangle 23"/>
          <p:cNvSpPr/>
          <p:nvPr/>
        </p:nvSpPr>
        <p:spPr>
          <a:xfrm>
            <a:off x="2286000" y="4267200"/>
            <a:ext cx="6858000" cy="461665"/>
          </a:xfrm>
          <a:prstGeom prst="rect">
            <a:avLst/>
          </a:prstGeom>
        </p:spPr>
        <p:txBody>
          <a:bodyPr wrap="square">
            <a:spAutoFit/>
          </a:bodyPr>
          <a:lstStyle/>
          <a:p>
            <a:r>
              <a:rPr lang="en-US" sz="1200" dirty="0" smtClean="0"/>
              <a:t>• By size: Enterprise, SMB (small/medium businesses), Retail</a:t>
            </a:r>
          </a:p>
          <a:p>
            <a:r>
              <a:rPr lang="en-US" sz="1200" dirty="0" smtClean="0"/>
              <a:t>• By type: Business vs. consumer</a:t>
            </a:r>
          </a:p>
        </p:txBody>
      </p:sp>
      <p:sp>
        <p:nvSpPr>
          <p:cNvPr id="29" name="Rectangle 28"/>
          <p:cNvSpPr/>
          <p:nvPr/>
        </p:nvSpPr>
        <p:spPr>
          <a:xfrm>
            <a:off x="2286000" y="4876800"/>
            <a:ext cx="6400800" cy="461665"/>
          </a:xfrm>
          <a:prstGeom prst="rect">
            <a:avLst/>
          </a:prstGeom>
        </p:spPr>
        <p:txBody>
          <a:bodyPr wrap="square">
            <a:spAutoFit/>
          </a:bodyPr>
          <a:lstStyle/>
          <a:p>
            <a:pPr>
              <a:buFont typeface="Arial" pitchFamily="34" charset="0"/>
              <a:buChar char="•"/>
            </a:pPr>
            <a:r>
              <a:rPr lang="en-US" sz="1200" dirty="0" smtClean="0"/>
              <a:t> Varies by customer focus. Business/Enterprise-focused players tend to rely on direct sales force. SMB/Retail/Consumer tend to rely Channels on indirect channels.</a:t>
            </a:r>
            <a:endParaRPr lang="en-US" sz="1200" dirty="0"/>
          </a:p>
        </p:txBody>
      </p:sp>
      <p:sp>
        <p:nvSpPr>
          <p:cNvPr id="30" name="Rectangle 29"/>
          <p:cNvSpPr/>
          <p:nvPr/>
        </p:nvSpPr>
        <p:spPr>
          <a:xfrm>
            <a:off x="2286000" y="5562600"/>
            <a:ext cx="6858000" cy="1015663"/>
          </a:xfrm>
          <a:prstGeom prst="rect">
            <a:avLst/>
          </a:prstGeom>
        </p:spPr>
        <p:txBody>
          <a:bodyPr wrap="square">
            <a:spAutoFit/>
          </a:bodyPr>
          <a:lstStyle/>
          <a:p>
            <a:r>
              <a:rPr lang="en-US" sz="1200" dirty="0" smtClean="0"/>
              <a:t>• Software: license/maintenance versus subscription service model; renewal rates; high gross margins, but high R&amp;D expenses</a:t>
            </a:r>
          </a:p>
          <a:p>
            <a:r>
              <a:rPr lang="en-US" sz="1200" dirty="0" smtClean="0"/>
              <a:t>• IT Services: staff utilization; revenue per employee</a:t>
            </a:r>
          </a:p>
          <a:p>
            <a:r>
              <a:rPr lang="en-US" sz="1200" dirty="0" smtClean="0"/>
              <a:t>• Internet: revenue per click</a:t>
            </a:r>
          </a:p>
          <a:p>
            <a:pPr>
              <a:buFont typeface="Arial" pitchFamily="34" charset="0"/>
              <a:buChar char="•"/>
            </a:pPr>
            <a:r>
              <a:rPr lang="en-US" sz="1200" dirty="0" smtClean="0"/>
              <a:t> Semiconductors: High fixed costs and highly cyclical; manufacturing utilization</a:t>
            </a:r>
            <a:endParaRPr lang="en-US" sz="1200" dirty="0"/>
          </a:p>
        </p:txBody>
      </p:sp>
      <p:cxnSp>
        <p:nvCxnSpPr>
          <p:cNvPr id="32" name="Straight Connector 31"/>
          <p:cNvCxnSpPr/>
          <p:nvPr/>
        </p:nvCxnSpPr>
        <p:spPr>
          <a:xfrm>
            <a:off x="2362200" y="16002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29718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4204157"/>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8006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562600"/>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39152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9"/>
          <p:cNvSpPr txBox="1">
            <a:spLocks noChangeArrowheads="1"/>
          </p:cNvSpPr>
          <p:nvPr/>
        </p:nvSpPr>
        <p:spPr bwMode="auto">
          <a:xfrm>
            <a:off x="152400" y="376238"/>
            <a:ext cx="6324600" cy="461665"/>
          </a:xfrm>
          <a:prstGeom prst="rect">
            <a:avLst/>
          </a:prstGeom>
          <a:noFill/>
          <a:ln w="9525">
            <a:noFill/>
            <a:miter lim="800000"/>
            <a:headEnd/>
            <a:tailEnd/>
          </a:ln>
        </p:spPr>
        <p:txBody>
          <a:bodyPr wrap="square">
            <a:spAutoFit/>
          </a:bodyPr>
          <a:lstStyle/>
          <a:p>
            <a:r>
              <a:rPr lang="en-US" sz="2400" b="1" dirty="0" smtClean="0"/>
              <a:t>Telecommunications / Mobile</a:t>
            </a:r>
            <a:endParaRPr lang="en-US" sz="2400" b="1" dirty="0"/>
          </a:p>
        </p:txBody>
      </p:sp>
      <p:sp>
        <p:nvSpPr>
          <p:cNvPr id="16388" name="Notes"/>
          <p:cNvSpPr txBox="1">
            <a:spLocks noChangeArrowheads="1"/>
          </p:cNvSpPr>
          <p:nvPr/>
        </p:nvSpPr>
        <p:spPr bwMode="auto">
          <a:xfrm>
            <a:off x="525463" y="6921500"/>
            <a:ext cx="6350000" cy="152400"/>
          </a:xfrm>
          <a:prstGeom prst="rect">
            <a:avLst/>
          </a:prstGeom>
          <a:noFill/>
          <a:ln w="9525">
            <a:noFill/>
            <a:miter lim="800000"/>
            <a:headEnd/>
            <a:tailEnd/>
          </a:ln>
        </p:spPr>
        <p:txBody>
          <a:bodyPr lIns="0" tIns="0" rIns="0" bIns="0">
            <a:spAutoFit/>
          </a:bodyPr>
          <a:lstStyle/>
          <a:p>
            <a:pPr marL="190500" indent="-190500" fontAlgn="t"/>
            <a:r>
              <a:rPr lang="en-US" sz="1000"/>
              <a:t> </a:t>
            </a:r>
          </a:p>
        </p:txBody>
      </p:sp>
      <p:sp>
        <p:nvSpPr>
          <p:cNvPr id="16406" name="KMATable0TextBox1"/>
          <p:cNvSpPr>
            <a:spLocks noChangeArrowheads="1"/>
          </p:cNvSpPr>
          <p:nvPr/>
        </p:nvSpPr>
        <p:spPr bwMode="auto">
          <a:xfrm>
            <a:off x="182563" y="990600"/>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Overview / Products &amp; Services</a:t>
            </a:r>
            <a:endParaRPr lang="en-US" sz="1200" b="1" dirty="0">
              <a:solidFill>
                <a:schemeClr val="bg1"/>
              </a:solidFill>
            </a:endParaRPr>
          </a:p>
        </p:txBody>
      </p:sp>
      <p:sp>
        <p:nvSpPr>
          <p:cNvPr id="14" name="Slide Number Placeholder 13"/>
          <p:cNvSpPr>
            <a:spLocks noGrp="1"/>
          </p:cNvSpPr>
          <p:nvPr>
            <p:ph type="sldNum" sz="quarter" idx="11"/>
          </p:nvPr>
        </p:nvSpPr>
        <p:spPr>
          <a:xfrm>
            <a:off x="8458200" y="6364036"/>
            <a:ext cx="381000" cy="228600"/>
          </a:xfrm>
        </p:spPr>
        <p:txBody>
          <a:bodyPr/>
          <a:lstStyle/>
          <a:p>
            <a:pPr>
              <a:defRPr/>
            </a:pPr>
            <a:fld id="{2E1E1E2A-88E9-4CB1-89D2-8ABF177DA4C4}" type="slidenum">
              <a:rPr lang="en-US" smtClean="0"/>
              <a:pPr>
                <a:defRPr/>
              </a:pPr>
              <a:t>14</a:t>
            </a:fld>
            <a:endParaRPr lang="en-US" dirty="0"/>
          </a:p>
        </p:txBody>
      </p:sp>
      <p:sp>
        <p:nvSpPr>
          <p:cNvPr id="15" name="KMATable0TextBox1"/>
          <p:cNvSpPr>
            <a:spLocks noChangeArrowheads="1"/>
          </p:cNvSpPr>
          <p:nvPr/>
        </p:nvSpPr>
        <p:spPr bwMode="auto">
          <a:xfrm>
            <a:off x="182563" y="1777583"/>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Key Trends</a:t>
            </a:r>
            <a:endParaRPr lang="en-US" sz="1200" b="1" dirty="0">
              <a:solidFill>
                <a:schemeClr val="bg1"/>
              </a:solidFill>
            </a:endParaRPr>
          </a:p>
        </p:txBody>
      </p:sp>
      <p:sp>
        <p:nvSpPr>
          <p:cNvPr id="17" name="KMATable0TextBox1"/>
          <p:cNvSpPr>
            <a:spLocks noChangeArrowheads="1"/>
          </p:cNvSpPr>
          <p:nvPr/>
        </p:nvSpPr>
        <p:spPr bwMode="auto">
          <a:xfrm>
            <a:off x="182563" y="2893105"/>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Competitive Landscape</a:t>
            </a:r>
            <a:endParaRPr lang="en-US" sz="1200" b="1" dirty="0">
              <a:solidFill>
                <a:schemeClr val="bg1"/>
              </a:solidFill>
            </a:endParaRPr>
          </a:p>
        </p:txBody>
      </p:sp>
      <p:sp>
        <p:nvSpPr>
          <p:cNvPr id="18" name="KMATable0TextBox1"/>
          <p:cNvSpPr>
            <a:spLocks noChangeArrowheads="1"/>
          </p:cNvSpPr>
          <p:nvPr/>
        </p:nvSpPr>
        <p:spPr bwMode="auto">
          <a:xfrm>
            <a:off x="182563" y="4280143"/>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Customers</a:t>
            </a:r>
            <a:endParaRPr lang="en-US" sz="1200" b="1" dirty="0">
              <a:solidFill>
                <a:schemeClr val="bg1"/>
              </a:solidFill>
            </a:endParaRPr>
          </a:p>
        </p:txBody>
      </p:sp>
      <p:sp>
        <p:nvSpPr>
          <p:cNvPr id="19" name="KMATable0TextBox1"/>
          <p:cNvSpPr>
            <a:spLocks noChangeArrowheads="1"/>
          </p:cNvSpPr>
          <p:nvPr/>
        </p:nvSpPr>
        <p:spPr bwMode="auto">
          <a:xfrm>
            <a:off x="182563" y="4889743"/>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Channels</a:t>
            </a:r>
            <a:endParaRPr lang="en-US" sz="1200" b="1" dirty="0">
              <a:solidFill>
                <a:schemeClr val="bg1"/>
              </a:solidFill>
            </a:endParaRPr>
          </a:p>
        </p:txBody>
      </p:sp>
      <p:sp>
        <p:nvSpPr>
          <p:cNvPr id="20" name="KMATable0TextBox1"/>
          <p:cNvSpPr>
            <a:spLocks noChangeArrowheads="1"/>
          </p:cNvSpPr>
          <p:nvPr/>
        </p:nvSpPr>
        <p:spPr bwMode="auto">
          <a:xfrm>
            <a:off x="173038" y="5535836"/>
            <a:ext cx="2036762" cy="544513"/>
          </a:xfrm>
          <a:prstGeom prst="rect">
            <a:avLst/>
          </a:prstGeom>
          <a:solidFill>
            <a:srgbClr val="003399"/>
          </a:solidFill>
          <a:ln w="9525">
            <a:solidFill>
              <a:srgbClr val="000000"/>
            </a:solidFill>
            <a:miter lim="800000"/>
            <a:headEnd/>
            <a:tailEnd/>
          </a:ln>
        </p:spPr>
        <p:txBody>
          <a:bodyPr anchor="ctr"/>
          <a:lstStyle/>
          <a:p>
            <a:pPr algn="ctr" eaLnBrk="0" hangingPunct="0">
              <a:spcBef>
                <a:spcPct val="20000"/>
              </a:spcBef>
            </a:pPr>
            <a:r>
              <a:rPr lang="en-US" sz="1200" b="1" dirty="0" smtClean="0">
                <a:solidFill>
                  <a:schemeClr val="bg1"/>
                </a:solidFill>
              </a:rPr>
              <a:t>Profit Summary</a:t>
            </a:r>
            <a:endParaRPr lang="en-US" sz="1200" b="1" dirty="0">
              <a:solidFill>
                <a:schemeClr val="bg1"/>
              </a:solidFill>
            </a:endParaRPr>
          </a:p>
        </p:txBody>
      </p:sp>
      <p:sp>
        <p:nvSpPr>
          <p:cNvPr id="21" name="Rectangle 20"/>
          <p:cNvSpPr/>
          <p:nvPr/>
        </p:nvSpPr>
        <p:spPr>
          <a:xfrm>
            <a:off x="2286000" y="914400"/>
            <a:ext cx="6705600" cy="646331"/>
          </a:xfrm>
          <a:prstGeom prst="rect">
            <a:avLst/>
          </a:prstGeom>
        </p:spPr>
        <p:txBody>
          <a:bodyPr wrap="square">
            <a:spAutoFit/>
          </a:bodyPr>
          <a:lstStyle/>
          <a:p>
            <a:pPr>
              <a:buFont typeface="Arial" pitchFamily="34" charset="0"/>
              <a:buChar char="•"/>
            </a:pPr>
            <a:r>
              <a:rPr lang="en-US" sz="1200" dirty="0" smtClean="0"/>
              <a:t> Telecommunications is a mammoth industry, comprising companies that make hardware, produce software, and provide services. Hardware includes a vast range of products that enable communication across the globe</a:t>
            </a:r>
            <a:endParaRPr lang="en-US" sz="1200" dirty="0"/>
          </a:p>
        </p:txBody>
      </p:sp>
      <p:sp>
        <p:nvSpPr>
          <p:cNvPr id="22" name="Rectangle 21"/>
          <p:cNvSpPr/>
          <p:nvPr/>
        </p:nvSpPr>
        <p:spPr>
          <a:xfrm>
            <a:off x="2286000" y="1699101"/>
            <a:ext cx="6477000" cy="1015663"/>
          </a:xfrm>
          <a:prstGeom prst="rect">
            <a:avLst/>
          </a:prstGeom>
        </p:spPr>
        <p:txBody>
          <a:bodyPr wrap="square">
            <a:spAutoFit/>
          </a:bodyPr>
          <a:lstStyle/>
          <a:p>
            <a:r>
              <a:rPr lang="en-US" sz="1200" dirty="0" smtClean="0"/>
              <a:t>• The industry has grown and evolved at an incredible pace for the last 20 years. Mobile phone penetration approaching 50% globally; Mobile broadband subscribership has topped 210 million worldwide; rollout of 3G networks in emerging markets causing mobile broadband subscribers to outnumber fixed-line broadband subscribers</a:t>
            </a:r>
          </a:p>
          <a:p>
            <a:pPr>
              <a:buFont typeface="Arial" pitchFamily="34" charset="0"/>
              <a:buChar char="•"/>
            </a:pPr>
            <a:r>
              <a:rPr lang="en-US" sz="1200" dirty="0" smtClean="0"/>
              <a:t> Many households are giving up their landline, preferring to use a cell phone</a:t>
            </a:r>
            <a:endParaRPr lang="en-US" sz="1200" dirty="0"/>
          </a:p>
        </p:txBody>
      </p:sp>
      <p:sp>
        <p:nvSpPr>
          <p:cNvPr id="23" name="Rectangle 22"/>
          <p:cNvSpPr/>
          <p:nvPr/>
        </p:nvSpPr>
        <p:spPr>
          <a:xfrm>
            <a:off x="2286000" y="2906261"/>
            <a:ext cx="6705600" cy="1200329"/>
          </a:xfrm>
          <a:prstGeom prst="rect">
            <a:avLst/>
          </a:prstGeom>
        </p:spPr>
        <p:txBody>
          <a:bodyPr wrap="square">
            <a:spAutoFit/>
          </a:bodyPr>
          <a:lstStyle/>
          <a:p>
            <a:r>
              <a:rPr lang="en-US" sz="1200" dirty="0" smtClean="0"/>
              <a:t>• Landscape is very competitive and wireless carriers have undergone a wave of consolidation: In recent times, Cingular acquired AT&amp;T Wireless; Sprint joined Nextel; and ALLTEL acquired Western Wireless</a:t>
            </a:r>
          </a:p>
          <a:p>
            <a:r>
              <a:rPr lang="en-US" sz="1200" dirty="0" smtClean="0"/>
              <a:t>• Big 4 cellular players are AT&amp;T, Verizon, T-Mobile and Sprint Nextel</a:t>
            </a:r>
          </a:p>
          <a:p>
            <a:r>
              <a:rPr lang="en-US" sz="1200" dirty="0" smtClean="0"/>
              <a:t>• Cable companies attempting to capture wireless customers through wireless service offerings of their own</a:t>
            </a:r>
            <a:endParaRPr lang="en-US" sz="1200" dirty="0"/>
          </a:p>
        </p:txBody>
      </p:sp>
      <p:sp>
        <p:nvSpPr>
          <p:cNvPr id="24" name="Rectangle 23"/>
          <p:cNvSpPr/>
          <p:nvPr/>
        </p:nvSpPr>
        <p:spPr>
          <a:xfrm>
            <a:off x="2286000" y="4288279"/>
            <a:ext cx="6858000" cy="276999"/>
          </a:xfrm>
          <a:prstGeom prst="rect">
            <a:avLst/>
          </a:prstGeom>
        </p:spPr>
        <p:txBody>
          <a:bodyPr wrap="square">
            <a:spAutoFit/>
          </a:bodyPr>
          <a:lstStyle/>
          <a:p>
            <a:r>
              <a:rPr lang="en-US" sz="1200" dirty="0" smtClean="0"/>
              <a:t>• Individuals, companies and governments</a:t>
            </a:r>
          </a:p>
        </p:txBody>
      </p:sp>
      <p:sp>
        <p:nvSpPr>
          <p:cNvPr id="29" name="Rectangle 28"/>
          <p:cNvSpPr/>
          <p:nvPr/>
        </p:nvSpPr>
        <p:spPr>
          <a:xfrm>
            <a:off x="2286000" y="4771792"/>
            <a:ext cx="6400800" cy="646331"/>
          </a:xfrm>
          <a:prstGeom prst="rect">
            <a:avLst/>
          </a:prstGeom>
        </p:spPr>
        <p:txBody>
          <a:bodyPr wrap="square">
            <a:spAutoFit/>
          </a:bodyPr>
          <a:lstStyle/>
          <a:p>
            <a:r>
              <a:rPr lang="en-US" sz="1200" dirty="0" smtClean="0"/>
              <a:t>• Carrier-owned stores and leading retailers like Wal-Mart, RadioShack and Best Buy are significant channels for mobile phone sales and service</a:t>
            </a:r>
          </a:p>
          <a:p>
            <a:r>
              <a:rPr lang="en-US" sz="1200" dirty="0" smtClean="0"/>
              <a:t>• Major carriers have online stores for phone and service purchases </a:t>
            </a:r>
            <a:endParaRPr lang="en-US" sz="1200" dirty="0"/>
          </a:p>
        </p:txBody>
      </p:sp>
      <p:sp>
        <p:nvSpPr>
          <p:cNvPr id="30" name="Rectangle 29"/>
          <p:cNvSpPr/>
          <p:nvPr/>
        </p:nvSpPr>
        <p:spPr>
          <a:xfrm>
            <a:off x="2286000" y="5546949"/>
            <a:ext cx="6858000" cy="830997"/>
          </a:xfrm>
          <a:prstGeom prst="rect">
            <a:avLst/>
          </a:prstGeom>
        </p:spPr>
        <p:txBody>
          <a:bodyPr wrap="square">
            <a:spAutoFit/>
          </a:bodyPr>
          <a:lstStyle/>
          <a:p>
            <a:r>
              <a:rPr lang="en-US" sz="1200" dirty="0" smtClean="0"/>
              <a:t>•Revenue Drivers: Subscriptions, data services (SMS, email and internet access on cell phones), mobile advertising, app stores</a:t>
            </a:r>
          </a:p>
          <a:p>
            <a:r>
              <a:rPr lang="en-US" sz="1200" dirty="0" smtClean="0"/>
              <a:t>•Cost Drivers: VC: marketing &amp; advertising, salaries; FC: capital costs (equipment, infrastructure – cell towers, network maintenance, stores); overhead</a:t>
            </a:r>
            <a:endParaRPr lang="en-US" sz="1200" dirty="0"/>
          </a:p>
        </p:txBody>
      </p:sp>
      <p:cxnSp>
        <p:nvCxnSpPr>
          <p:cNvPr id="32" name="Straight Connector 31"/>
          <p:cNvCxnSpPr/>
          <p:nvPr/>
        </p:nvCxnSpPr>
        <p:spPr>
          <a:xfrm>
            <a:off x="2362200" y="1676400"/>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2362200" y="2843456"/>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2362200" y="4291256"/>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362200" y="4748456"/>
            <a:ext cx="6172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2362200" y="5510456"/>
            <a:ext cx="61722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14797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ctrTitle"/>
          </p:nvPr>
        </p:nvSpPr>
        <p:spPr/>
        <p:txBody>
          <a:bodyPr anchor="ctr"/>
          <a:lstStyle/>
          <a:p>
            <a:pPr algn="ctr"/>
            <a:r>
              <a:rPr lang="en-US" dirty="0" smtClean="0">
                <a:ea typeface="ＭＳ Ｐゴシック" pitchFamily="34" charset="-128"/>
              </a:rPr>
              <a:t>Market Sizing</a:t>
            </a:r>
          </a:p>
        </p:txBody>
      </p:sp>
      <p:sp>
        <p:nvSpPr>
          <p:cNvPr id="41988" name="Slide Number Placeholder 3"/>
          <p:cNvSpPr>
            <a:spLocks noGrp="1"/>
          </p:cNvSpPr>
          <p:nvPr>
            <p:ph type="sldNum" sz="quarter" idx="11"/>
          </p:nvPr>
        </p:nvSpPr>
        <p:spPr>
          <a:noFill/>
        </p:spPr>
        <p:txBody>
          <a:bodyPr/>
          <a:lstStyle/>
          <a:p>
            <a:fld id="{70846263-4D84-45AC-8E61-C5992CABBA96}" type="slidenum">
              <a:rPr lang="en-US" smtClean="0">
                <a:latin typeface="Arial" pitchFamily="34" charset="0"/>
                <a:ea typeface="ＭＳ Ｐゴシック" pitchFamily="34" charset="-128"/>
              </a:rPr>
              <a:pPr/>
              <a:t>15</a:t>
            </a:fld>
            <a:endParaRPr lang="en-US" smtClean="0">
              <a:latin typeface="Arial" pitchFamily="34" charset="0"/>
              <a:ea typeface="ＭＳ Ｐゴシック" pitchFamily="34" charset="-128"/>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 Car Leasing</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957749868"/>
              </p:ext>
            </p:extLst>
          </p:nvPr>
        </p:nvGraphicFramePr>
        <p:xfrm>
          <a:off x="304800" y="1381125"/>
          <a:ext cx="8534400" cy="475488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Our client is a large car manufacturer that</a:t>
                      </a:r>
                      <a:r>
                        <a:rPr lang="en-US" sz="1200" b="0" i="0" kern="1200" baseline="0" dirty="0" smtClean="0">
                          <a:solidFill>
                            <a:schemeClr val="tx1"/>
                          </a:solidFill>
                          <a:latin typeface="+mj-lt"/>
                          <a:ea typeface="+mn-ea"/>
                          <a:cs typeface="+mn-cs"/>
                        </a:rPr>
                        <a:t> has been facing financial stress for the past few years.</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To overcome this crisis, they bought a small bank and started offering a lease at a lower rate than the other car manufactures. This  move has positioned our client strategically in the market and has helped them regain market share.</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However, the problem they are facing now is that the costumers are complaining of poor customer service in the banking division.</a:t>
                      </a:r>
                    </a:p>
                    <a:p>
                      <a:endParaRPr lang="en-US" sz="1200" b="0" i="0" kern="1200" baseline="0" dirty="0" smtClean="0">
                        <a:solidFill>
                          <a:schemeClr val="tx1"/>
                        </a:solidFill>
                        <a:latin typeface="+mj-lt"/>
                        <a:ea typeface="+mn-ea"/>
                        <a:cs typeface="+mn-cs"/>
                      </a:endParaRPr>
                    </a:p>
                    <a:p>
                      <a:r>
                        <a:rPr lang="pt-BR" sz="1200" b="0" i="0" kern="1200" baseline="0" dirty="0" smtClean="0">
                          <a:solidFill>
                            <a:schemeClr val="tx1"/>
                          </a:solidFill>
                          <a:latin typeface="+mj-lt"/>
                          <a:ea typeface="+mn-ea"/>
                          <a:cs typeface="+mn-cs"/>
                        </a:rPr>
                        <a:t>The client reached us to help them improve their banking division customer service. In particular, they want to create a call center </a:t>
                      </a:r>
                      <a:r>
                        <a:rPr lang="en-US" sz="1200" b="0" i="0" kern="1200" baseline="0" dirty="0" smtClean="0">
                          <a:solidFill>
                            <a:schemeClr val="tx1"/>
                          </a:solidFill>
                          <a:latin typeface="+mj-lt"/>
                          <a:ea typeface="+mn-ea"/>
                          <a:cs typeface="+mn-cs"/>
                        </a:rPr>
                        <a:t>to provide support to all lease customers, but they don’t know how big this call center should be.</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n-lt"/>
                          <a:ea typeface="+mn-ea"/>
                          <a:cs typeface="+mn-cs"/>
                        </a:rPr>
                        <a:t>How many employees do they need to hire for this call center?</a:t>
                      </a:r>
                      <a:endParaRPr lang="en-US" sz="1200" b="1" i="0" kern="1200" dirty="0" smtClean="0">
                        <a:solidFill>
                          <a:schemeClr val="tx1"/>
                        </a:solidFill>
                        <a:latin typeface="+mn-lt"/>
                        <a:ea typeface="+mn-ea"/>
                        <a:cs typeface="+mn-cs"/>
                      </a:endParaRPr>
                    </a:p>
                    <a:p>
                      <a:endParaRPr lang="en-US" sz="1200" b="0" i="1"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 goal of this case is to calculate how many employees the call center must have. To do so, the candidate will have to calculate how many cars are sold in US, ask the client’s market share, the percentage of customers that sign the lease and the length of the lease.</a:t>
                      </a:r>
                      <a:endParaRPr lang="en-US" sz="1200" b="1"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Provide</a:t>
                      </a:r>
                      <a:r>
                        <a:rPr lang="en-US" sz="1200" b="0" i="0" kern="1200" baseline="0" dirty="0" smtClean="0">
                          <a:solidFill>
                            <a:schemeClr val="tx1"/>
                          </a:solidFill>
                          <a:latin typeface="+mj-lt"/>
                          <a:ea typeface="+mn-ea"/>
                          <a:cs typeface="+mn-cs"/>
                        </a:rPr>
                        <a:t> the following information </a:t>
                      </a:r>
                      <a:r>
                        <a:rPr lang="en-US" sz="1200" b="0" i="0" u="none" kern="1200" baseline="0" dirty="0" smtClean="0">
                          <a:solidFill>
                            <a:schemeClr val="tx1"/>
                          </a:solidFill>
                          <a:latin typeface="+mj-lt"/>
                          <a:ea typeface="+mn-ea"/>
                          <a:cs typeface="+mn-cs"/>
                        </a:rPr>
                        <a:t>upon request</a:t>
                      </a:r>
                      <a:r>
                        <a:rPr lang="en-US" sz="1200" b="0" i="0" kern="1200" baseline="0" dirty="0" smtClean="0">
                          <a:solidFill>
                            <a:schemeClr val="tx1"/>
                          </a:solidFill>
                          <a:latin typeface="+mj-lt"/>
                          <a:ea typeface="+mn-ea"/>
                          <a:cs typeface="+mn-cs"/>
                        </a:rPr>
                        <a: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Company: The bank offers the lease only for cars from its parent company. Call center: The call center is focused only on clients that have already signed the lease contract. It does not attend to prospective customers.</a:t>
                      </a:r>
                      <a:endParaRPr lang="en-US" sz="1200" b="0" i="1"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Bain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16</a:t>
            </a:fld>
            <a:endParaRPr lang="en-US" dirty="0"/>
          </a:p>
        </p:txBody>
      </p:sp>
    </p:spTree>
    <p:extLst>
      <p:ext uri="{BB962C8B-B14F-4D97-AF65-F5344CB8AC3E}">
        <p14:creationId xmlns:p14="http://schemas.microsoft.com/office/powerpoint/2010/main" val="33005595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17</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283800490"/>
              </p:ext>
            </p:extLst>
          </p:nvPr>
        </p:nvGraphicFramePr>
        <p:xfrm>
          <a:off x="304800" y="1295400"/>
          <a:ext cx="8686800" cy="466344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Drive the candidate to</a:t>
                      </a:r>
                      <a:r>
                        <a:rPr lang="en-US" sz="1200" b="0" i="0" kern="1200" baseline="0" dirty="0" smtClean="0">
                          <a:solidFill>
                            <a:schemeClr val="tx1"/>
                          </a:solidFill>
                          <a:latin typeface="+mj-lt"/>
                          <a:ea typeface="+mn-ea"/>
                          <a:cs typeface="+mn-cs"/>
                        </a:rPr>
                        <a:t> calculate the number of cars the client sell per year and how many customers uses the lease. The other points of his/her framework will be touched upon later.</a:t>
                      </a: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Information</a:t>
                      </a:r>
                      <a:r>
                        <a:rPr lang="en-US" sz="1200" b="0" i="0" kern="1200" baseline="0" dirty="0" smtClean="0">
                          <a:solidFill>
                            <a:schemeClr val="tx1"/>
                          </a:solidFill>
                          <a:latin typeface="+mj-lt"/>
                          <a:ea typeface="+mn-ea"/>
                          <a:cs typeface="+mn-cs"/>
                        </a:rPr>
                        <a:t> to be given upon request: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Population in USA: 300 Million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Age range that buy new cars: from 20 to 60 years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The life expectancy in US is 80 years and the population is uniformly distributed among all ages.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dirty="0" smtClean="0">
                          <a:solidFill>
                            <a:schemeClr val="tx1"/>
                          </a:solidFill>
                          <a:latin typeface="+mj-lt"/>
                          <a:ea typeface="+mn-ea"/>
                          <a:cs typeface="+mn-cs"/>
                        </a:rPr>
                        <a:t>With the current crisis,</a:t>
                      </a:r>
                      <a:r>
                        <a:rPr lang="en-US" sz="1200" b="0" i="0" kern="1200" baseline="0" dirty="0" smtClean="0">
                          <a:solidFill>
                            <a:schemeClr val="tx1"/>
                          </a:solidFill>
                          <a:latin typeface="+mj-lt"/>
                          <a:ea typeface="+mn-ea"/>
                          <a:cs typeface="+mn-cs"/>
                        </a:rPr>
                        <a:t> only 50% of the population is willing to buy new cars. The remainder prefers to buy used cars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Average lifetime of a car: 5 years</a:t>
                      </a:r>
                      <a:endParaRPr lang="en-US" sz="1200" b="0" i="0" kern="120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dirty="0" smtClean="0">
                          <a:solidFill>
                            <a:schemeClr val="tx1"/>
                          </a:solidFill>
                          <a:latin typeface="+mj-lt"/>
                          <a:ea typeface="+mn-ea"/>
                          <a:cs typeface="+mn-cs"/>
                        </a:rPr>
                        <a:t>The client has 10%</a:t>
                      </a:r>
                      <a:r>
                        <a:rPr lang="en-US" sz="1200" b="0" i="0" kern="1200" baseline="0" dirty="0" smtClean="0">
                          <a:solidFill>
                            <a:schemeClr val="tx1"/>
                          </a:solidFill>
                          <a:latin typeface="+mj-lt"/>
                          <a:ea typeface="+mn-ea"/>
                          <a:cs typeface="+mn-cs"/>
                        </a:rPr>
                        <a:t> of Market Share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40% of the clients customers uses the Lease to acquire the car.</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dirty="0" smtClean="0">
                          <a:solidFill>
                            <a:schemeClr val="tx1"/>
                          </a:solidFill>
                          <a:latin typeface="+mj-lt"/>
                          <a:ea typeface="+mn-ea"/>
                          <a:cs typeface="+mn-cs"/>
                        </a:rPr>
                        <a:t>Length of the lease: 3 years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Calculation: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Number of cars sold in US: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(Population x People</a:t>
                      </a:r>
                      <a:r>
                        <a:rPr lang="en-US" sz="1200" b="0" kern="1200" baseline="0" dirty="0" smtClean="0">
                          <a:solidFill>
                            <a:schemeClr val="tx1"/>
                          </a:solidFill>
                          <a:latin typeface="+mn-lt"/>
                          <a:ea typeface="+mn-ea"/>
                          <a:cs typeface="+mn-cs"/>
                        </a:rPr>
                        <a:t> in the Age Range x People that buy new cars) / Lifetime of a car</a:t>
                      </a:r>
                      <a:endParaRPr lang="en-US" sz="1200" b="0" kern="1200" dirty="0" smtClean="0">
                        <a:solidFill>
                          <a:schemeClr val="tx1"/>
                        </a:solidFill>
                        <a:latin typeface="+mn-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Wingdings" charset="0"/>
                        <a:buChar char="è"/>
                        <a:tabLst/>
                        <a:defRPr/>
                      </a:pPr>
                      <a:r>
                        <a:rPr lang="en-US" sz="1200" b="0" kern="1200" dirty="0" smtClean="0">
                          <a:solidFill>
                            <a:schemeClr val="tx1"/>
                          </a:solidFill>
                          <a:latin typeface="+mn-lt"/>
                          <a:ea typeface="+mn-ea"/>
                          <a:cs typeface="+mn-cs"/>
                          <a:sym typeface="Wingdings"/>
                        </a:rPr>
                        <a:t>Number of cars sold in US = </a:t>
                      </a:r>
                      <a:r>
                        <a:rPr lang="en-US" sz="1200" b="0" kern="1200" dirty="0" smtClean="0">
                          <a:solidFill>
                            <a:schemeClr val="tx1"/>
                          </a:solidFill>
                          <a:latin typeface="+mn-lt"/>
                          <a:ea typeface="+mn-ea"/>
                          <a:cs typeface="+mn-cs"/>
                        </a:rPr>
                        <a:t>(300 M x 50% x</a:t>
                      </a:r>
                      <a:r>
                        <a:rPr lang="en-US" sz="1200" b="0" kern="1200" baseline="0" dirty="0" smtClean="0">
                          <a:solidFill>
                            <a:schemeClr val="tx1"/>
                          </a:solidFill>
                          <a:latin typeface="+mn-lt"/>
                          <a:ea typeface="+mn-ea"/>
                          <a:cs typeface="+mn-cs"/>
                        </a:rPr>
                        <a:t> 50%) / 5 = 15 M cars per year</a:t>
                      </a:r>
                    </a:p>
                    <a:p>
                      <a:pPr marL="171450" marR="0" indent="-171450" algn="l" defTabSz="457200" rtl="0" eaLnBrk="1" fontAlgn="auto" latinLnBrk="0" hangingPunct="1">
                        <a:lnSpc>
                          <a:spcPct val="100000"/>
                        </a:lnSpc>
                        <a:spcBef>
                          <a:spcPts val="0"/>
                        </a:spcBef>
                        <a:spcAft>
                          <a:spcPts val="0"/>
                        </a:spcAft>
                        <a:buClrTx/>
                        <a:buSzTx/>
                        <a:buFont typeface="Wingdings" charset="0"/>
                        <a:buChar char="è"/>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kern="1200" baseline="0" dirty="0" smtClean="0">
                          <a:solidFill>
                            <a:schemeClr val="tx1"/>
                          </a:solidFill>
                          <a:latin typeface="+mn-lt"/>
                          <a:ea typeface="+mn-ea"/>
                          <a:cs typeface="+mn-cs"/>
                        </a:rPr>
                        <a:t>Client’s Market Share: 10% </a:t>
                      </a:r>
                      <a:r>
                        <a:rPr lang="en-US" sz="1200" b="0" kern="1200" baseline="0" dirty="0" smtClean="0">
                          <a:solidFill>
                            <a:schemeClr val="tx1"/>
                          </a:solidFill>
                          <a:latin typeface="+mn-lt"/>
                          <a:ea typeface="+mn-ea"/>
                          <a:cs typeface="+mn-cs"/>
                          <a:sym typeface="Wingdings"/>
                        </a:rPr>
                        <a:t> Cars sold by the client = 15 M x 10% = 1.5 M</a:t>
                      </a:r>
                      <a:r>
                        <a:rPr lang="en-US" sz="1200" b="0" kern="1200" baseline="0" dirty="0" smtClean="0">
                          <a:solidFill>
                            <a:schemeClr val="tx1"/>
                          </a:solidFill>
                          <a:latin typeface="+mn-lt"/>
                          <a:ea typeface="+mn-ea"/>
                          <a:cs typeface="+mn-cs"/>
                        </a:rPr>
                        <a:t> cars  per year</a:t>
                      </a:r>
                    </a:p>
                    <a:p>
                      <a:pPr marL="0" marR="0" indent="0" algn="l" defTabSz="457200" rtl="0" eaLnBrk="1" fontAlgn="auto" latinLnBrk="0" hangingPunct="1">
                        <a:lnSpc>
                          <a:spcPct val="100000"/>
                        </a:lnSpc>
                        <a:spcBef>
                          <a:spcPts val="0"/>
                        </a:spcBef>
                        <a:spcAft>
                          <a:spcPts val="0"/>
                        </a:spcAft>
                        <a:buClrTx/>
                        <a:buSzTx/>
                        <a:buFont typeface="Wingdings" charset="0"/>
                        <a:buNone/>
                        <a:tabLst/>
                        <a:defRPr/>
                      </a:pPr>
                      <a:endParaRPr lang="en-US" sz="1200" b="0" kern="1200" baseline="0" dirty="0" smtClean="0">
                        <a:solidFill>
                          <a:schemeClr val="tx1"/>
                        </a:solidFill>
                        <a:latin typeface="+mn-lt"/>
                        <a:ea typeface="+mn-ea"/>
                        <a:cs typeface="+mn-cs"/>
                        <a:sym typeface="Wingdings"/>
                      </a:endParaRP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kern="1200" baseline="0" dirty="0" smtClean="0">
                          <a:solidFill>
                            <a:schemeClr val="tx1"/>
                          </a:solidFill>
                          <a:latin typeface="+mn-lt"/>
                          <a:ea typeface="+mn-ea"/>
                          <a:cs typeface="+mn-cs"/>
                          <a:sym typeface="Wingdings"/>
                        </a:rPr>
                        <a:t>Customers that signs the lease = 1.5 M x 40% = 0.6 M customers per year</a:t>
                      </a:r>
                    </a:p>
                    <a:p>
                      <a:pPr marL="0" marR="0" indent="0" algn="l" defTabSz="457200" rtl="0" eaLnBrk="1" fontAlgn="auto" latinLnBrk="0" hangingPunct="1">
                        <a:lnSpc>
                          <a:spcPct val="100000"/>
                        </a:lnSpc>
                        <a:spcBef>
                          <a:spcPts val="0"/>
                        </a:spcBef>
                        <a:spcAft>
                          <a:spcPts val="0"/>
                        </a:spcAft>
                        <a:buClrTx/>
                        <a:buSzTx/>
                        <a:buFont typeface="Wingdings" charset="0"/>
                        <a:buNone/>
                        <a:tabLst/>
                        <a:defRPr/>
                      </a:pPr>
                      <a:endParaRPr lang="en-US" sz="1200" b="1" i="1" kern="120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 Car Leasing</a:t>
            </a:r>
            <a:endParaRPr lang="en-US" sz="2400" b="1" dirty="0"/>
          </a:p>
        </p:txBody>
      </p:sp>
    </p:spTree>
    <p:extLst>
      <p:ext uri="{BB962C8B-B14F-4D97-AF65-F5344CB8AC3E}">
        <p14:creationId xmlns:p14="http://schemas.microsoft.com/office/powerpoint/2010/main" val="10346130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18</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142339915"/>
              </p:ext>
            </p:extLst>
          </p:nvPr>
        </p:nvGraphicFramePr>
        <p:xfrm>
          <a:off x="304800" y="1295400"/>
          <a:ext cx="8686800" cy="521208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Now that the candidate calculated the number of clients that signs the lease per year,</a:t>
                      </a:r>
                      <a:r>
                        <a:rPr lang="en-US" sz="1200" b="0" i="0" kern="1200" baseline="0" dirty="0" smtClean="0">
                          <a:solidFill>
                            <a:schemeClr val="tx1"/>
                          </a:solidFill>
                          <a:latin typeface="+mj-lt"/>
                          <a:ea typeface="+mn-ea"/>
                          <a:cs typeface="+mn-cs"/>
                        </a:rPr>
                        <a:t> he/she will have to calculate the number of employees that the client needs to hire. Note that t</a:t>
                      </a:r>
                      <a:r>
                        <a:rPr lang="en-US" sz="1200" b="0" i="0" kern="1200" baseline="0" dirty="0" smtClean="0">
                          <a:solidFill>
                            <a:schemeClr val="tx1"/>
                          </a:solidFill>
                          <a:latin typeface="+mn-lt"/>
                          <a:ea typeface="+mn-ea"/>
                          <a:cs typeface="+mn-cs"/>
                        </a:rPr>
                        <a:t>he call center must service every call.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Information</a:t>
                      </a:r>
                      <a:r>
                        <a:rPr lang="en-US" sz="1200" b="0" i="0" kern="1200" baseline="0" dirty="0" smtClean="0">
                          <a:solidFill>
                            <a:schemeClr val="tx1"/>
                          </a:solidFill>
                          <a:latin typeface="+mj-lt"/>
                          <a:ea typeface="+mn-ea"/>
                          <a:cs typeface="+mn-cs"/>
                        </a:rPr>
                        <a:t> to be given upon request: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The client expects that the customers will call the call center only once a year until the end of the lease contract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The candidate can assume that all calls will be uniformly distributed throughout the year and during the day (there will be no peak of calls)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Union contract states that employees can only work 6 hours per day, 6 days per week</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The call center will receive calls only from 8am to 8pm, Monday to Sunday</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On average, each call will be 5 minutes long</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Days in a year = 360 days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Holidays can be ignored</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j-lt"/>
                          <a:ea typeface="+mn-ea"/>
                          <a:cs typeface="+mn-cs"/>
                        </a:rPr>
                        <a:t>Calculation:</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Calls</a:t>
                      </a:r>
                      <a:r>
                        <a:rPr lang="en-US" sz="1200" b="0" kern="1200" baseline="0" dirty="0" smtClean="0">
                          <a:solidFill>
                            <a:schemeClr val="tx1"/>
                          </a:solidFill>
                          <a:latin typeface="+mn-lt"/>
                          <a:ea typeface="+mn-ea"/>
                          <a:cs typeface="+mn-cs"/>
                        </a:rPr>
                        <a:t> per year = Customers per Year x Length of the Contract = 0.6 M x 3 = 1.8 M calls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Calls per day = 1.8 M / 360 = 5,000</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Demand per day (in minutes) = 5,000 calls x 5 minutes = 25,000 minutes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 of employees to answer all calls on a day = (25,000 / 360) ≈ 70 employees (exactly 69.44 employees)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Remember that the employees work only 6 days</a:t>
                      </a:r>
                      <a:r>
                        <a:rPr lang="en-US" sz="1200" b="0" kern="1200" baseline="0" dirty="0" smtClean="0">
                          <a:solidFill>
                            <a:schemeClr val="tx1"/>
                          </a:solidFill>
                          <a:latin typeface="+mn-lt"/>
                          <a:ea typeface="+mn-ea"/>
                          <a:cs typeface="+mn-cs"/>
                        </a:rPr>
                        <a:t> per week, but the call center is open for 7 days and that adjusting the number of employees: 70 + 70 x 1/6 ≈ 82 employees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Since</a:t>
                      </a:r>
                      <a:r>
                        <a:rPr lang="en-US" sz="1200" b="0" kern="1200" baseline="0" dirty="0" smtClean="0">
                          <a:solidFill>
                            <a:schemeClr val="tx1"/>
                          </a:solidFill>
                          <a:latin typeface="+mn-lt"/>
                          <a:ea typeface="+mn-ea"/>
                          <a:cs typeface="+mn-cs"/>
                        </a:rPr>
                        <a:t> the employees can work only for 6 days per week, the client will need to hire an additional 1/6 to compensate the day-offs</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 Car Leasing</a:t>
            </a:r>
            <a:endParaRPr lang="en-US" sz="2400" b="1" dirty="0"/>
          </a:p>
        </p:txBody>
      </p:sp>
    </p:spTree>
    <p:extLst>
      <p:ext uri="{BB962C8B-B14F-4D97-AF65-F5344CB8AC3E}">
        <p14:creationId xmlns:p14="http://schemas.microsoft.com/office/powerpoint/2010/main" val="1064790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 Car Leasing</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505714364"/>
              </p:ext>
            </p:extLst>
          </p:nvPr>
        </p:nvGraphicFramePr>
        <p:xfrm>
          <a:off x="304800" y="1381125"/>
          <a:ext cx="8534400" cy="351028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1" i="0" kern="1200" baseline="0" dirty="0" smtClean="0">
                          <a:solidFill>
                            <a:schemeClr val="tx1"/>
                          </a:solidFill>
                          <a:latin typeface="+mj-lt"/>
                          <a:ea typeface="+mn-ea"/>
                          <a:cs typeface="+mn-cs"/>
                        </a:rPr>
                        <a:t>The client does not have enough money in their budget to hire all the 82 employees. What would you suggest to reduce the number of employees? </a:t>
                      </a:r>
                      <a:endParaRPr lang="en-US" sz="1200" b="1" i="0"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This is a regular “what else” question. To reduce the number of employees, the client will have to reduce the number of calls they receive and/or decrease the average length of each call</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Some ideas: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Reducing the number of call:</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Develop a customer website that easily provides information directly</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Map the most common questions and provide a FAQ on the customer’s website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Offer another communication channel (e.g. chat)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Reducing the length of the calls:</a:t>
                      </a:r>
                      <a:endParaRPr lang="en-US"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Invest in technology such as voice recognition to faster identify the customer’s problem before he/she is directed to an operator</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Train the employees to faster solve the customer’s problem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19</a:t>
            </a:fld>
            <a:endParaRPr lang="en-US" dirty="0"/>
          </a:p>
        </p:txBody>
      </p:sp>
    </p:spTree>
    <p:extLst>
      <p:ext uri="{BB962C8B-B14F-4D97-AF65-F5344CB8AC3E}">
        <p14:creationId xmlns:p14="http://schemas.microsoft.com/office/powerpoint/2010/main" val="16427318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20</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943160859"/>
              </p:ext>
            </p:extLst>
          </p:nvPr>
        </p:nvGraphicFramePr>
        <p:xfrm>
          <a:off x="304800" y="1371600"/>
          <a:ext cx="8534400" cy="301752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Correctly calculates the number of cars sold by the client</a:t>
                      </a:r>
                    </a:p>
                    <a:p>
                      <a:pPr marL="225425" indent="-225425">
                        <a:buFont typeface="Arial" pitchFamily="34" charset="0"/>
                        <a:buChar char="•"/>
                      </a:pPr>
                      <a:r>
                        <a:rPr lang="en-US" sz="1200" b="0" i="0" kern="1200" baseline="0" dirty="0" smtClean="0">
                          <a:solidFill>
                            <a:schemeClr val="tx1"/>
                          </a:solidFill>
                          <a:latin typeface="+mj-lt"/>
                          <a:ea typeface="+mn-ea"/>
                          <a:cs typeface="+mn-cs"/>
                        </a:rPr>
                        <a:t>Calculates the number of employees needed, but not considering the days off</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some ideas for reducing the number of employees needed</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Does not need much assistance from the interviewer to solve the case</a:t>
                      </a:r>
                    </a:p>
                    <a:p>
                      <a:pPr marL="225425" indent="-225425">
                        <a:buFont typeface="Arial" pitchFamily="34" charset="0"/>
                        <a:buChar char="•"/>
                      </a:pPr>
                      <a:r>
                        <a:rPr lang="en-US" sz="1200" b="0" i="0" kern="1200" baseline="0" dirty="0" smtClean="0">
                          <a:solidFill>
                            <a:schemeClr val="tx1"/>
                          </a:solidFill>
                          <a:latin typeface="+mj-lt"/>
                          <a:ea typeface="+mn-ea"/>
                          <a:cs typeface="+mn-cs"/>
                        </a:rPr>
                        <a:t>Needs assistance to perform the days off adjust</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“Good “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Realizes by him/herself that the number of employees must be adjusted to consider the days off and correctly perform this adjust</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creative ideas to reduce the number of employees needed</a:t>
                      </a:r>
                    </a:p>
                    <a:p>
                      <a:pPr marL="225425" indent="-225425">
                        <a:buFont typeface="Arial" pitchFamily="34" charset="0"/>
                        <a:buChar char="•"/>
                      </a:pPr>
                      <a:endParaRPr lang="en-US" sz="1200" b="0" i="0" kern="1200" baseline="0" dirty="0" smtClean="0">
                        <a:solidFill>
                          <a:schemeClr val="tx1"/>
                        </a:solidFill>
                        <a:latin typeface="+mj-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2"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40974"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 </a:t>
            </a:r>
            <a:r>
              <a:rPr lang="en-US" sz="2400" b="1" dirty="0"/>
              <a:t>Car Leasing</a:t>
            </a:r>
          </a:p>
        </p:txBody>
      </p:sp>
    </p:spTree>
    <p:extLst>
      <p:ext uri="{BB962C8B-B14F-4D97-AF65-F5344CB8AC3E}">
        <p14:creationId xmlns:p14="http://schemas.microsoft.com/office/powerpoint/2010/main" val="923932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21</a:t>
            </a:fld>
            <a:endParaRPr lang="en-US" dirty="0"/>
          </a:p>
        </p:txBody>
      </p:sp>
    </p:spTree>
    <p:extLst>
      <p:ext uri="{BB962C8B-B14F-4D97-AF65-F5344CB8AC3E}">
        <p14:creationId xmlns:p14="http://schemas.microsoft.com/office/powerpoint/2010/main" val="8538423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22</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123493898"/>
              </p:ext>
            </p:extLst>
          </p:nvPr>
        </p:nvGraphicFramePr>
        <p:xfrm>
          <a:off x="304800" y="1295400"/>
          <a:ext cx="8686800" cy="393192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Important: </a:t>
                      </a:r>
                      <a:r>
                        <a:rPr lang="en-US" sz="1200" b="0" i="0" u="none" kern="1200" baseline="0" dirty="0" smtClean="0">
                          <a:solidFill>
                            <a:schemeClr val="tx1"/>
                          </a:solidFill>
                          <a:latin typeface="+mn-lt"/>
                          <a:ea typeface="+mn-ea"/>
                          <a:cs typeface="+mn-cs"/>
                        </a:rPr>
                        <a:t>Try not to laugh… T</a:t>
                      </a:r>
                      <a:r>
                        <a:rPr lang="en-US" sz="1200" b="0" i="0" u="none" kern="1200" baseline="0" dirty="0" smtClean="0">
                          <a:solidFill>
                            <a:schemeClr val="tx1"/>
                          </a:solidFill>
                          <a:latin typeface="+mj-lt"/>
                          <a:ea typeface="+mn-ea"/>
                          <a:cs typeface="+mn-cs"/>
                        </a:rPr>
                        <a:t>his is a real case from Bain &amp; Company. </a:t>
                      </a:r>
                      <a:r>
                        <a:rPr lang="en-US" sz="1200" b="0" i="0" u="none" kern="1200" dirty="0" smtClean="0">
                          <a:solidFill>
                            <a:schemeClr val="tx1"/>
                          </a:solidFill>
                          <a:latin typeface="+mj-lt"/>
                          <a:ea typeface="+mn-ea"/>
                          <a:cs typeface="+mn-cs"/>
                        </a:rPr>
                        <a:t>It’s a hard case. The candidate will have to think out of the box to solve it. Therefore, it’s not a case for beginners.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u="none"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Before the candidate start his/her framework, ask him/her what he/she knows about penguins.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u="none" kern="1200" dirty="0" smtClean="0">
                        <a:solidFill>
                          <a:schemeClr val="tx1"/>
                        </a:solidFill>
                        <a:latin typeface="+mj-lt"/>
                        <a:ea typeface="+mn-ea"/>
                        <a:cs typeface="+mn-cs"/>
                      </a:endParaRPr>
                    </a:p>
                  </a:txBody>
                  <a:tcPr>
                    <a:solidFill>
                      <a:schemeClr val="accent1"/>
                    </a:solidFill>
                  </a:tcPr>
                </a:tc>
              </a:tr>
              <a:tr h="731520">
                <a:tc>
                  <a:txBody>
                    <a:bodyPr/>
                    <a:lstStyle/>
                    <a:p>
                      <a:pPr algn="ctr"/>
                      <a:r>
                        <a:rPr lang="en-US" b="1" i="0" dirty="0" smtClean="0"/>
                        <a:t>Prompt</a:t>
                      </a:r>
                      <a:endParaRPr lang="en-US" sz="1000" i="0" dirty="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j-lt"/>
                          <a:ea typeface="+mn-ea"/>
                          <a:cs typeface="+mn-cs"/>
                        </a:rPr>
                        <a:t>Penguins have evolved. Now</a:t>
                      </a:r>
                      <a:r>
                        <a:rPr lang="en-US" sz="1200" b="0" kern="1200" baseline="0" dirty="0" smtClean="0">
                          <a:solidFill>
                            <a:schemeClr val="tx1"/>
                          </a:solidFill>
                          <a:latin typeface="+mj-lt"/>
                          <a:ea typeface="+mn-ea"/>
                          <a:cs typeface="+mn-cs"/>
                        </a:rPr>
                        <a:t> they can talk and they are organized as an advanced society.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j-lt"/>
                          <a:ea typeface="+mn-ea"/>
                          <a:cs typeface="+mn-cs"/>
                        </a:rPr>
                        <a:t>The ambassador of </a:t>
                      </a:r>
                      <a:r>
                        <a:rPr lang="en-US" sz="1200" b="0" kern="1200" baseline="0" dirty="0" err="1" smtClean="0">
                          <a:solidFill>
                            <a:schemeClr val="tx1"/>
                          </a:solidFill>
                          <a:latin typeface="+mj-lt"/>
                          <a:ea typeface="+mn-ea"/>
                          <a:cs typeface="+mn-cs"/>
                        </a:rPr>
                        <a:t>Penguinland</a:t>
                      </a:r>
                      <a:r>
                        <a:rPr lang="en-US" sz="1200" b="0" kern="1200" baseline="0" dirty="0" smtClean="0">
                          <a:solidFill>
                            <a:schemeClr val="tx1"/>
                          </a:solidFill>
                          <a:latin typeface="+mj-lt"/>
                          <a:ea typeface="+mn-ea"/>
                          <a:cs typeface="+mn-cs"/>
                        </a:rPr>
                        <a:t> (former Antarctica) has reached out to Bain &amp; Company because he is worried about the growing population growth of penguins. Currently, there are about 23 million penguins and the population is growing 32% per year.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j-lt"/>
                          <a:ea typeface="+mn-ea"/>
                          <a:cs typeface="+mn-cs"/>
                        </a:rPr>
                        <a:t>How many penguins can live at </a:t>
                      </a:r>
                      <a:r>
                        <a:rPr lang="en-US" sz="1200" b="1" kern="1200" baseline="0" dirty="0" err="1" smtClean="0">
                          <a:solidFill>
                            <a:schemeClr val="tx1"/>
                          </a:solidFill>
                          <a:latin typeface="+mj-lt"/>
                          <a:ea typeface="+mn-ea"/>
                          <a:cs typeface="+mn-cs"/>
                        </a:rPr>
                        <a:t>Penguinland</a:t>
                      </a:r>
                      <a:r>
                        <a:rPr lang="en-US" sz="1200" b="1" kern="1200" baseline="0" dirty="0" smtClean="0">
                          <a:solidFill>
                            <a:schemeClr val="tx1"/>
                          </a:solidFill>
                          <a:latin typeface="+mj-lt"/>
                          <a:ea typeface="+mn-ea"/>
                          <a:cs typeface="+mn-cs"/>
                        </a:rPr>
                        <a:t> and what is the best way to accommodate everyone?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j-lt"/>
                          <a:ea typeface="+mn-ea"/>
                          <a:cs typeface="+mn-cs"/>
                        </a:rPr>
                        <a:t>The candidate must calculate how many penguins can live in Antarctica. That means, the candidate should be thinking on what the penguins eat (fish), how far can they be from the ocean, etc.</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The penguins are not involved in commercial activities. They still act as penguins.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j-lt"/>
                          <a:ea typeface="+mn-ea"/>
                          <a:cs typeface="+mn-cs"/>
                        </a:rPr>
                        <a:t>Orient the candidate to think out of the box.</a:t>
                      </a:r>
                    </a:p>
                  </a:txBody>
                  <a:tcPr>
                    <a:solidFill>
                      <a:schemeClr val="bg1">
                        <a:lumMod val="75000"/>
                      </a:schemeClr>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 Penguins?!?</a:t>
            </a:r>
            <a:endParaRPr lang="en-US" sz="2400" b="1" dirty="0"/>
          </a:p>
        </p:txBody>
      </p:sp>
    </p:spTree>
    <p:extLst>
      <p:ext uri="{BB962C8B-B14F-4D97-AF65-F5344CB8AC3E}">
        <p14:creationId xmlns:p14="http://schemas.microsoft.com/office/powerpoint/2010/main" val="2532399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23</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79260197"/>
              </p:ext>
            </p:extLst>
          </p:nvPr>
        </p:nvGraphicFramePr>
        <p:xfrm>
          <a:off x="304800" y="1295400"/>
          <a:ext cx="8686800" cy="320040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The candidate should present a framework touching on food habits, predators, space for building</a:t>
                      </a:r>
                      <a:r>
                        <a:rPr lang="en-US" sz="1200" b="0" i="0" u="none" kern="1200" baseline="0" dirty="0" smtClean="0">
                          <a:solidFill>
                            <a:schemeClr val="tx1"/>
                          </a:solidFill>
                          <a:latin typeface="+mj-lt"/>
                          <a:ea typeface="+mn-ea"/>
                          <a:cs typeface="+mn-cs"/>
                        </a:rPr>
                        <a:t> their nests, etc. </a:t>
                      </a:r>
                      <a:r>
                        <a:rPr lang="en-US" sz="1200" b="0" i="0" u="none" kern="1200" dirty="0" smtClean="0">
                          <a:solidFill>
                            <a:schemeClr val="tx1"/>
                          </a:solidFill>
                          <a:latin typeface="+mj-lt"/>
                          <a:ea typeface="+mn-ea"/>
                          <a:cs typeface="+mn-cs"/>
                        </a:rPr>
                        <a:t>The</a:t>
                      </a:r>
                      <a:r>
                        <a:rPr lang="en-US" sz="1200" b="0" i="0" u="none" kern="1200" baseline="0" dirty="0" smtClean="0">
                          <a:solidFill>
                            <a:schemeClr val="tx1"/>
                          </a:solidFill>
                          <a:latin typeface="+mj-lt"/>
                          <a:ea typeface="+mn-ea"/>
                          <a:cs typeface="+mn-cs"/>
                        </a:rPr>
                        <a:t> key driver in this case is how far they can live from the ocean.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u="none"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baseline="0" dirty="0" smtClean="0">
                          <a:solidFill>
                            <a:schemeClr val="tx1"/>
                          </a:solidFill>
                          <a:latin typeface="+mj-lt"/>
                          <a:ea typeface="+mn-ea"/>
                          <a:cs typeface="+mn-cs"/>
                        </a:rPr>
                        <a:t>Information to be given upon request: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Predators: the penguins negotiated with all predators. The polar bears now live in a Zoo in San Diego and the whales lives at Sea World.</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Food: There are a lot all over the ocean. It’s more than enough to feed every penguin.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Penguin habits: </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They are all married and have a baby penguin </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They need space for both penguins to live and a nest for the baby</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Penguins do not need space for leisure. They need space just to sleep</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Penguins must eat everyday</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err="1" smtClean="0">
                          <a:solidFill>
                            <a:schemeClr val="tx1"/>
                          </a:solidFill>
                          <a:latin typeface="+mn-lt"/>
                          <a:ea typeface="+mn-ea"/>
                          <a:cs typeface="+mn-cs"/>
                        </a:rPr>
                        <a:t>Penguinland</a:t>
                      </a:r>
                      <a:r>
                        <a:rPr lang="en-US" sz="1200" b="0" i="0" u="none" kern="1200" baseline="0" dirty="0" smtClean="0">
                          <a:solidFill>
                            <a:schemeClr val="tx1"/>
                          </a:solidFill>
                          <a:latin typeface="+mn-lt"/>
                          <a:ea typeface="+mn-ea"/>
                          <a:cs typeface="+mn-cs"/>
                        </a:rPr>
                        <a:t> (Antarctica) area: Provide exhibit 1. Allow the candidate to approximate the map to a square.</a:t>
                      </a:r>
                    </a:p>
                    <a:p>
                      <a:pPr marL="457200" marR="0" lvl="1" indent="0" algn="l" defTabSz="457200" rtl="0" eaLnBrk="1" fontAlgn="auto" latinLnBrk="0" hangingPunct="1">
                        <a:lnSpc>
                          <a:spcPct val="100000"/>
                        </a:lnSpc>
                        <a:spcBef>
                          <a:spcPts val="0"/>
                        </a:spcBef>
                        <a:spcAft>
                          <a:spcPts val="0"/>
                        </a:spcAft>
                        <a:buClrTx/>
                        <a:buSzTx/>
                        <a:buFont typeface="Arial"/>
                        <a:buNone/>
                        <a:tabLst/>
                        <a:defRPr/>
                      </a:pPr>
                      <a:endParaRPr lang="en-US" sz="1200" b="0" i="0" u="none"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b="0" i="0" u="none" kern="1200" baseline="0" dirty="0" smtClean="0">
                          <a:solidFill>
                            <a:schemeClr val="tx1"/>
                          </a:solidFill>
                          <a:latin typeface="+mj-lt"/>
                          <a:ea typeface="+mn-ea"/>
                          <a:cs typeface="+mn-cs"/>
                        </a:rPr>
                        <a:t>If the candidate does not realize that he needs to calculate the Antarctica area, ask him to do so.</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lang="en-US" sz="1200" b="1" i="1" kern="1200" baseline="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2: Penguins?!?</a:t>
            </a:r>
          </a:p>
        </p:txBody>
      </p:sp>
    </p:spTree>
    <p:extLst>
      <p:ext uri="{BB962C8B-B14F-4D97-AF65-F5344CB8AC3E}">
        <p14:creationId xmlns:p14="http://schemas.microsoft.com/office/powerpoint/2010/main" val="40037524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24</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2: Penguins?!?</a:t>
            </a:r>
          </a:p>
        </p:txBody>
      </p:sp>
      <p:pic>
        <p:nvPicPr>
          <p:cNvPr id="2" name="Picture 1" descr="541px-Location_Antarctica.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301" y="1765300"/>
            <a:ext cx="4292600" cy="4292600"/>
          </a:xfrm>
          <a:prstGeom prst="rect">
            <a:avLst/>
          </a:prstGeom>
        </p:spPr>
      </p:pic>
      <p:sp>
        <p:nvSpPr>
          <p:cNvPr id="3" name="Right Brace 2"/>
          <p:cNvSpPr/>
          <p:nvPr/>
        </p:nvSpPr>
        <p:spPr>
          <a:xfrm rot="16200000">
            <a:off x="4394200" y="2336799"/>
            <a:ext cx="393700" cy="1841500"/>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TextBox 3"/>
          <p:cNvSpPr txBox="1"/>
          <p:nvPr/>
        </p:nvSpPr>
        <p:spPr>
          <a:xfrm>
            <a:off x="4089400" y="2667000"/>
            <a:ext cx="1524000" cy="369332"/>
          </a:xfrm>
          <a:prstGeom prst="rect">
            <a:avLst/>
          </a:prstGeom>
          <a:noFill/>
        </p:spPr>
        <p:txBody>
          <a:bodyPr wrap="square" rtlCol="0">
            <a:spAutoFit/>
          </a:bodyPr>
          <a:lstStyle/>
          <a:p>
            <a:r>
              <a:rPr lang="en-US" dirty="0" smtClean="0"/>
              <a:t>4,000 Km</a:t>
            </a:r>
            <a:endParaRPr lang="en-US" dirty="0"/>
          </a:p>
        </p:txBody>
      </p:sp>
      <p:sp>
        <p:nvSpPr>
          <p:cNvPr id="5" name="TextBox 4"/>
          <p:cNvSpPr txBox="1"/>
          <p:nvPr/>
        </p:nvSpPr>
        <p:spPr>
          <a:xfrm>
            <a:off x="304800" y="1315303"/>
            <a:ext cx="3931786" cy="461665"/>
          </a:xfrm>
          <a:prstGeom prst="rect">
            <a:avLst/>
          </a:prstGeom>
          <a:noFill/>
        </p:spPr>
        <p:txBody>
          <a:bodyPr wrap="none" rtlCol="0">
            <a:spAutoFit/>
          </a:bodyPr>
          <a:lstStyle/>
          <a:p>
            <a:r>
              <a:rPr lang="en-US" sz="2400" dirty="0" smtClean="0"/>
              <a:t>Exhibit 1: </a:t>
            </a:r>
            <a:r>
              <a:rPr lang="en-US" sz="2400" dirty="0" err="1" smtClean="0"/>
              <a:t>Penguinland</a:t>
            </a:r>
            <a:r>
              <a:rPr lang="en-US" sz="2400" dirty="0" smtClean="0"/>
              <a:t> Map</a:t>
            </a:r>
            <a:endParaRPr lang="en-US" sz="2400" dirty="0"/>
          </a:p>
        </p:txBody>
      </p:sp>
    </p:spTree>
    <p:extLst>
      <p:ext uri="{BB962C8B-B14F-4D97-AF65-F5344CB8AC3E}">
        <p14:creationId xmlns:p14="http://schemas.microsoft.com/office/powerpoint/2010/main" val="19617177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25</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724898014"/>
              </p:ext>
            </p:extLst>
          </p:nvPr>
        </p:nvGraphicFramePr>
        <p:xfrm>
          <a:off x="304800" y="1295400"/>
          <a:ext cx="8686800" cy="484632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Calculation:</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Approximating the map to a square: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Area = 4,000 x 4,000 = 16,0000,000 km</a:t>
                      </a:r>
                      <a:r>
                        <a:rPr lang="en-US" sz="1200" b="0" i="0" kern="1200" baseline="30000" dirty="0" smtClean="0">
                          <a:solidFill>
                            <a:schemeClr val="tx1"/>
                          </a:solidFill>
                          <a:latin typeface="+mn-lt"/>
                          <a:ea typeface="+mn-ea"/>
                          <a:cs typeface="+mn-cs"/>
                        </a:rPr>
                        <a:t>2</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Now that the candidate has calculated the Antarctica area, he needs to calculate how far can a penguin live from the ocean. He/she will need to calculate how fast can a penguin walk and how many hours per day can a penguin walk.</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Information to be given: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Penguins only walk and eat during the day. They must sleep the whole night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Penguins must eat every day or they will die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Even if a penguin stays in the ocean for only 1 second, it’s enough to eat one fish</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longest day of the year has 22 hours of sunlight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average size of penguin leg is 20cm. The average size of a human leg is 1m</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Humans can walk at an average of 5km per hour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 must realize that the walking speed can be written as a function of the leg length.</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Therefore, if a penguin has a leg that is 1/5 of a human’s, the penguin speed will also be 1/5 of the human’s speed. In this case: 1 km per hour.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Since the longest day of the year has 22 hours of sun light (and 2 hours of night), the shortest day of the year has only 2 hours of sunlight.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Since the penguins must walk from their nest to the sea and from the sea to their nest, they cannot live from more than 1 hour (1km) from the sea.</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solidFill>
                      <a:schemeClr val="bg1">
                        <a:lumMod val="75000"/>
                      </a:schemeClr>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2: Penguins?!?</a:t>
            </a:r>
          </a:p>
        </p:txBody>
      </p:sp>
    </p:spTree>
    <p:extLst>
      <p:ext uri="{BB962C8B-B14F-4D97-AF65-F5344CB8AC3E}">
        <p14:creationId xmlns:p14="http://schemas.microsoft.com/office/powerpoint/2010/main" val="10626997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26</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271258876"/>
              </p:ext>
            </p:extLst>
          </p:nvPr>
        </p:nvGraphicFramePr>
        <p:xfrm>
          <a:off x="304800" y="1295400"/>
          <a:ext cx="8686800" cy="521208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000" i="0" dirty="0"/>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Now that the candidate figured that the penguins can live only 1km away from the sea, he/she needs to calculate the total habitable area and how many penguins can be fit in this area.</a:t>
                      </a: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j-lt"/>
                          <a:ea typeface="+mn-ea"/>
                          <a:cs typeface="+mn-cs"/>
                        </a:rPr>
                        <a:t>The total habitable area can be approximated* to 4 rectangles of 1km by 4,000km.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j-lt"/>
                          <a:ea typeface="+mn-ea"/>
                          <a:cs typeface="+mn-cs"/>
                        </a:rPr>
                        <a:t>Area = (1 x 4,000) x 4 = 16,000 km</a:t>
                      </a:r>
                      <a:r>
                        <a:rPr lang="en-US" sz="1200" b="0" kern="1200" baseline="30000" dirty="0" smtClean="0">
                          <a:solidFill>
                            <a:schemeClr val="tx1"/>
                          </a:solidFill>
                          <a:latin typeface="+mj-lt"/>
                          <a:ea typeface="+mn-ea"/>
                          <a:cs typeface="+mn-cs"/>
                        </a:rPr>
                        <a:t>2</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pt-BR"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pt-BR"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pt-BR"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pt-BR"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pt-BR" sz="1200" b="0" kern="1200" baseline="0" dirty="0" smtClean="0">
                          <a:solidFill>
                            <a:schemeClr val="tx1"/>
                          </a:solidFill>
                          <a:latin typeface="+mj-lt"/>
                          <a:ea typeface="+mn-ea"/>
                          <a:cs typeface="+mn-cs"/>
                        </a:rPr>
                        <a:t>*Note: The correct area calculation is (4,000 km x 1 km) + </a:t>
                      </a:r>
                      <a:r>
                        <a:rPr lang="pt-BR" sz="1200" b="0" kern="1200" baseline="0" dirty="0" smtClean="0">
                          <a:solidFill>
                            <a:schemeClr val="tx1"/>
                          </a:solidFill>
                          <a:latin typeface="+mn-lt"/>
                          <a:ea typeface="+mn-ea"/>
                          <a:cs typeface="+mn-cs"/>
                        </a:rPr>
                        <a:t>(4,000 km x 1 km) + (3,998 km x 1 km) + (3,998 km x 1 km) = 15,996 </a:t>
                      </a:r>
                      <a:r>
                        <a:rPr lang="en-US" sz="1200" b="0" kern="1200" baseline="0" dirty="0" smtClean="0">
                          <a:solidFill>
                            <a:schemeClr val="tx1"/>
                          </a:solidFill>
                          <a:latin typeface="+mn-lt"/>
                          <a:ea typeface="+mn-ea"/>
                          <a:cs typeface="+mn-cs"/>
                        </a:rPr>
                        <a:t>km</a:t>
                      </a:r>
                      <a:r>
                        <a:rPr lang="en-US" sz="1200" b="0" kern="1200" baseline="30000" dirty="0" smtClean="0">
                          <a:solidFill>
                            <a:schemeClr val="tx1"/>
                          </a:solidFill>
                          <a:latin typeface="+mn-lt"/>
                          <a:ea typeface="+mn-ea"/>
                          <a:cs typeface="+mn-cs"/>
                        </a:rPr>
                        <a:t>2</a:t>
                      </a:r>
                      <a:r>
                        <a:rPr lang="pt-BR" sz="1200" b="0" kern="1200" baseline="0" dirty="0" smtClean="0">
                          <a:solidFill>
                            <a:schemeClr val="tx1"/>
                          </a:solidFill>
                          <a:latin typeface="+mn-lt"/>
                          <a:ea typeface="+mn-ea"/>
                          <a:cs typeface="+mn-cs"/>
                        </a:rPr>
                        <a:t>, but is ok to round to 16,000 </a:t>
                      </a:r>
                      <a:r>
                        <a:rPr lang="en-US" sz="1200" b="0" kern="1200" baseline="0" dirty="0" smtClean="0">
                          <a:solidFill>
                            <a:schemeClr val="tx1"/>
                          </a:solidFill>
                          <a:latin typeface="+mn-lt"/>
                          <a:ea typeface="+mn-ea"/>
                          <a:cs typeface="+mn-cs"/>
                        </a:rPr>
                        <a:t>km</a:t>
                      </a:r>
                      <a:r>
                        <a:rPr lang="en-US" sz="1200" b="0" kern="1200" baseline="30000" dirty="0" smtClean="0">
                          <a:solidFill>
                            <a:schemeClr val="tx1"/>
                          </a:solidFill>
                          <a:latin typeface="+mn-lt"/>
                          <a:ea typeface="+mn-ea"/>
                          <a:cs typeface="+mn-cs"/>
                        </a:rPr>
                        <a:t>2</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300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Orient the candidate to estimate the number of penguins. He/she will need to know the size of the penguins.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Information to be given upon request:</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Penguin size = 1 m</a:t>
                      </a:r>
                      <a:r>
                        <a:rPr lang="en-US" sz="1200" b="0" kern="1200" baseline="30000" dirty="0" smtClean="0">
                          <a:solidFill>
                            <a:schemeClr val="tx1"/>
                          </a:solidFill>
                          <a:latin typeface="+mn-lt"/>
                          <a:ea typeface="+mn-ea"/>
                          <a:cs typeface="+mn-cs"/>
                        </a:rPr>
                        <a:t>2</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Nest size = 1 m</a:t>
                      </a:r>
                      <a:r>
                        <a:rPr lang="en-US" sz="1200" b="0" kern="1200" baseline="30000" dirty="0" smtClean="0">
                          <a:solidFill>
                            <a:schemeClr val="tx1"/>
                          </a:solidFill>
                          <a:latin typeface="+mn-lt"/>
                          <a:ea typeface="+mn-ea"/>
                          <a:cs typeface="+mn-cs"/>
                        </a:rPr>
                        <a:t>2</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300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Remember the candidate that the penguins need space to move from their nests to the sea. Therefore, they will need roads.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30000" dirty="0" smtClean="0">
                        <a:solidFill>
                          <a:schemeClr val="tx1"/>
                        </a:solidFill>
                        <a:latin typeface="+mn-lt"/>
                        <a:ea typeface="+mn-ea"/>
                        <a:cs typeface="+mn-cs"/>
                      </a:endParaRPr>
                    </a:p>
                  </a:txBody>
                  <a:tcPr>
                    <a:solidFill>
                      <a:srgbClr val="CCCCCC"/>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2: Penguins?!?</a:t>
            </a:r>
          </a:p>
        </p:txBody>
      </p:sp>
      <p:sp>
        <p:nvSpPr>
          <p:cNvPr id="2" name="Rectangle 1"/>
          <p:cNvSpPr/>
          <p:nvPr/>
        </p:nvSpPr>
        <p:spPr>
          <a:xfrm>
            <a:off x="4784552" y="2561662"/>
            <a:ext cx="1981200" cy="15367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cap="all" dirty="0" err="1"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Penguinland</a:t>
            </a:r>
            <a:endParaRPr 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3" name="Left Brace 2"/>
          <p:cNvSpPr/>
          <p:nvPr/>
        </p:nvSpPr>
        <p:spPr>
          <a:xfrm>
            <a:off x="4577905" y="2524755"/>
            <a:ext cx="190500" cy="1536700"/>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p:cNvSpPr/>
          <p:nvPr/>
        </p:nvSpPr>
        <p:spPr>
          <a:xfrm rot="5400000">
            <a:off x="4797252" y="2315205"/>
            <a:ext cx="234950" cy="260350"/>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TextBox 3"/>
          <p:cNvSpPr txBox="1"/>
          <p:nvPr/>
        </p:nvSpPr>
        <p:spPr>
          <a:xfrm>
            <a:off x="4654105" y="2101850"/>
            <a:ext cx="490351" cy="261610"/>
          </a:xfrm>
          <a:prstGeom prst="rect">
            <a:avLst/>
          </a:prstGeom>
          <a:noFill/>
        </p:spPr>
        <p:txBody>
          <a:bodyPr wrap="none" rtlCol="0">
            <a:spAutoFit/>
          </a:bodyPr>
          <a:lstStyle/>
          <a:p>
            <a:r>
              <a:rPr lang="en-US" sz="1100" dirty="0" smtClean="0"/>
              <a:t>1 km</a:t>
            </a:r>
            <a:endParaRPr lang="en-US" sz="1100" dirty="0"/>
          </a:p>
        </p:txBody>
      </p:sp>
      <p:sp>
        <p:nvSpPr>
          <p:cNvPr id="12" name="TextBox 11"/>
          <p:cNvSpPr txBox="1"/>
          <p:nvPr/>
        </p:nvSpPr>
        <p:spPr>
          <a:xfrm>
            <a:off x="3889202" y="2499872"/>
            <a:ext cx="764903" cy="261610"/>
          </a:xfrm>
          <a:prstGeom prst="rect">
            <a:avLst/>
          </a:prstGeom>
          <a:noFill/>
        </p:spPr>
        <p:txBody>
          <a:bodyPr wrap="none" rtlCol="0">
            <a:spAutoFit/>
          </a:bodyPr>
          <a:lstStyle/>
          <a:p>
            <a:r>
              <a:rPr lang="en-US" sz="1100" dirty="0" smtClean="0"/>
              <a:t>4,000 km</a:t>
            </a:r>
            <a:endParaRPr lang="en-US" sz="1100" dirty="0"/>
          </a:p>
        </p:txBody>
      </p:sp>
    </p:spTree>
    <p:extLst>
      <p:ext uri="{BB962C8B-B14F-4D97-AF65-F5344CB8AC3E}">
        <p14:creationId xmlns:p14="http://schemas.microsoft.com/office/powerpoint/2010/main" val="19312602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27</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487672628"/>
              </p:ext>
            </p:extLst>
          </p:nvPr>
        </p:nvGraphicFramePr>
        <p:xfrm>
          <a:off x="304800" y="1295400"/>
          <a:ext cx="8686800" cy="448056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Tip: the penguins will need roads. Ideally, they will need 2 roads, so some penguins can go to the sea while others are coming back the their nests.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optimum solution is to allocate the penguin as follow:</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According to this layout, it’s possible to accommodate 3 penguins (1 male, 1 female and 1 baby) for each 5 square meters.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300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300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3000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3"/>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2: Penguins?!?</a:t>
            </a:r>
          </a:p>
        </p:txBody>
      </p:sp>
      <p:sp>
        <p:nvSpPr>
          <p:cNvPr id="2" name="TextBox 1"/>
          <p:cNvSpPr txBox="1"/>
          <p:nvPr/>
        </p:nvSpPr>
        <p:spPr>
          <a:xfrm>
            <a:off x="1803400" y="2794000"/>
            <a:ext cx="1155700" cy="523220"/>
          </a:xfrm>
          <a:prstGeom prst="rect">
            <a:avLst/>
          </a:prstGeom>
          <a:solidFill>
            <a:schemeClr val="bg1"/>
          </a:solidFill>
          <a:ln>
            <a:solidFill>
              <a:schemeClr val="tx1"/>
            </a:solidFill>
          </a:ln>
        </p:spPr>
        <p:txBody>
          <a:bodyPr wrap="square" rtlCol="0">
            <a:spAutoFit/>
          </a:bodyPr>
          <a:lstStyle/>
          <a:p>
            <a:pPr algn="ctr"/>
            <a:r>
              <a:rPr lang="en-US" sz="1400" b="1" dirty="0" smtClean="0"/>
              <a:t>Male Penguin</a:t>
            </a:r>
            <a:endParaRPr lang="en-US" sz="1400" b="1" dirty="0"/>
          </a:p>
        </p:txBody>
      </p:sp>
      <p:sp>
        <p:nvSpPr>
          <p:cNvPr id="14" name="TextBox 13"/>
          <p:cNvSpPr txBox="1"/>
          <p:nvPr/>
        </p:nvSpPr>
        <p:spPr>
          <a:xfrm>
            <a:off x="3067050" y="2788334"/>
            <a:ext cx="1155700" cy="523220"/>
          </a:xfrm>
          <a:prstGeom prst="rect">
            <a:avLst/>
          </a:prstGeom>
          <a:solidFill>
            <a:schemeClr val="bg1"/>
          </a:solidFill>
          <a:ln>
            <a:solidFill>
              <a:schemeClr val="tx1"/>
            </a:solidFill>
          </a:ln>
        </p:spPr>
        <p:txBody>
          <a:bodyPr wrap="square" rtlCol="0">
            <a:spAutoFit/>
          </a:bodyPr>
          <a:lstStyle/>
          <a:p>
            <a:pPr algn="ctr"/>
            <a:r>
              <a:rPr lang="en-US" sz="1400" b="1" dirty="0" smtClean="0"/>
              <a:t>Female Penguin</a:t>
            </a:r>
            <a:endParaRPr lang="en-US" sz="1400" b="1" dirty="0"/>
          </a:p>
        </p:txBody>
      </p:sp>
      <p:sp>
        <p:nvSpPr>
          <p:cNvPr id="15" name="TextBox 14"/>
          <p:cNvSpPr txBox="1"/>
          <p:nvPr/>
        </p:nvSpPr>
        <p:spPr>
          <a:xfrm>
            <a:off x="4368800" y="2794000"/>
            <a:ext cx="1155700" cy="523220"/>
          </a:xfrm>
          <a:prstGeom prst="rect">
            <a:avLst/>
          </a:prstGeom>
          <a:solidFill>
            <a:schemeClr val="bg1"/>
          </a:solidFill>
          <a:ln>
            <a:solidFill>
              <a:schemeClr val="tx1"/>
            </a:solidFill>
          </a:ln>
        </p:spPr>
        <p:txBody>
          <a:bodyPr wrap="square" rtlCol="0">
            <a:spAutoFit/>
          </a:bodyPr>
          <a:lstStyle/>
          <a:p>
            <a:pPr algn="ctr"/>
            <a:r>
              <a:rPr lang="en-US" sz="1400" b="1" dirty="0" smtClean="0"/>
              <a:t>Nest &amp; Baby</a:t>
            </a:r>
            <a:endParaRPr lang="en-US" sz="1400" b="1" dirty="0"/>
          </a:p>
        </p:txBody>
      </p:sp>
      <p:sp>
        <p:nvSpPr>
          <p:cNvPr id="16" name="TextBox 15"/>
          <p:cNvSpPr txBox="1"/>
          <p:nvPr/>
        </p:nvSpPr>
        <p:spPr>
          <a:xfrm>
            <a:off x="5651500" y="2781300"/>
            <a:ext cx="1155700" cy="523220"/>
          </a:xfrm>
          <a:prstGeom prst="rect">
            <a:avLst/>
          </a:prstGeom>
          <a:solidFill>
            <a:schemeClr val="bg1"/>
          </a:solidFill>
          <a:ln>
            <a:solidFill>
              <a:schemeClr val="tx1"/>
            </a:solidFill>
          </a:ln>
        </p:spPr>
        <p:txBody>
          <a:bodyPr wrap="square" rtlCol="0">
            <a:spAutoFit/>
          </a:bodyPr>
          <a:lstStyle/>
          <a:p>
            <a:pPr algn="ctr"/>
            <a:r>
              <a:rPr lang="en-US" sz="1400" b="1" dirty="0" smtClean="0"/>
              <a:t>Road 1</a:t>
            </a:r>
          </a:p>
          <a:p>
            <a:pPr algn="ctr"/>
            <a:endParaRPr lang="en-US" sz="1400" b="1" dirty="0"/>
          </a:p>
        </p:txBody>
      </p:sp>
      <p:sp>
        <p:nvSpPr>
          <p:cNvPr id="17" name="TextBox 16"/>
          <p:cNvSpPr txBox="1"/>
          <p:nvPr/>
        </p:nvSpPr>
        <p:spPr>
          <a:xfrm>
            <a:off x="6959600" y="2775634"/>
            <a:ext cx="1155700" cy="523220"/>
          </a:xfrm>
          <a:prstGeom prst="rect">
            <a:avLst/>
          </a:prstGeom>
          <a:solidFill>
            <a:schemeClr val="bg1"/>
          </a:solidFill>
          <a:ln>
            <a:solidFill>
              <a:schemeClr val="tx1"/>
            </a:solidFill>
          </a:ln>
        </p:spPr>
        <p:txBody>
          <a:bodyPr wrap="square" rtlCol="0">
            <a:spAutoFit/>
          </a:bodyPr>
          <a:lstStyle/>
          <a:p>
            <a:pPr algn="ctr"/>
            <a:r>
              <a:rPr lang="en-US" sz="1400" b="1" dirty="0" smtClean="0"/>
              <a:t>Road 2</a:t>
            </a:r>
          </a:p>
          <a:p>
            <a:pPr algn="ctr"/>
            <a:endParaRPr lang="en-US" sz="1400" b="1" dirty="0"/>
          </a:p>
        </p:txBody>
      </p:sp>
      <p:sp>
        <p:nvSpPr>
          <p:cNvPr id="18" name="Left Brace 17"/>
          <p:cNvSpPr/>
          <p:nvPr/>
        </p:nvSpPr>
        <p:spPr>
          <a:xfrm rot="5400000">
            <a:off x="2264404" y="2099306"/>
            <a:ext cx="259092" cy="1130300"/>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p:cNvSpPr txBox="1"/>
          <p:nvPr/>
        </p:nvSpPr>
        <p:spPr>
          <a:xfrm>
            <a:off x="2096746" y="2308855"/>
            <a:ext cx="662893" cy="261610"/>
          </a:xfrm>
          <a:prstGeom prst="rect">
            <a:avLst/>
          </a:prstGeom>
          <a:noFill/>
        </p:spPr>
        <p:txBody>
          <a:bodyPr wrap="none" rtlCol="0">
            <a:spAutoFit/>
          </a:bodyPr>
          <a:lstStyle/>
          <a:p>
            <a:r>
              <a:rPr lang="en-US" sz="1100" dirty="0" smtClean="0"/>
              <a:t>1 meter</a:t>
            </a:r>
            <a:endParaRPr lang="en-US" sz="1100" dirty="0"/>
          </a:p>
        </p:txBody>
      </p:sp>
      <p:sp>
        <p:nvSpPr>
          <p:cNvPr id="20" name="Left Brace 19"/>
          <p:cNvSpPr/>
          <p:nvPr/>
        </p:nvSpPr>
        <p:spPr>
          <a:xfrm rot="5400000">
            <a:off x="3481111" y="2120901"/>
            <a:ext cx="259092" cy="1130300"/>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p:cNvSpPr txBox="1"/>
          <p:nvPr/>
        </p:nvSpPr>
        <p:spPr>
          <a:xfrm>
            <a:off x="3313453" y="2330450"/>
            <a:ext cx="662893" cy="261610"/>
          </a:xfrm>
          <a:prstGeom prst="rect">
            <a:avLst/>
          </a:prstGeom>
          <a:noFill/>
        </p:spPr>
        <p:txBody>
          <a:bodyPr wrap="none" rtlCol="0">
            <a:spAutoFit/>
          </a:bodyPr>
          <a:lstStyle/>
          <a:p>
            <a:r>
              <a:rPr lang="en-US" sz="1100" dirty="0" smtClean="0"/>
              <a:t>1 meter</a:t>
            </a:r>
            <a:endParaRPr lang="en-US" sz="1100" dirty="0"/>
          </a:p>
        </p:txBody>
      </p:sp>
      <p:sp>
        <p:nvSpPr>
          <p:cNvPr id="22" name="Left Brace 21"/>
          <p:cNvSpPr/>
          <p:nvPr/>
        </p:nvSpPr>
        <p:spPr>
          <a:xfrm rot="5400000">
            <a:off x="4805650" y="2113266"/>
            <a:ext cx="259092" cy="1130300"/>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TextBox 22"/>
          <p:cNvSpPr txBox="1"/>
          <p:nvPr/>
        </p:nvSpPr>
        <p:spPr>
          <a:xfrm>
            <a:off x="4637992" y="2322815"/>
            <a:ext cx="662893" cy="261610"/>
          </a:xfrm>
          <a:prstGeom prst="rect">
            <a:avLst/>
          </a:prstGeom>
          <a:noFill/>
        </p:spPr>
        <p:txBody>
          <a:bodyPr wrap="none" rtlCol="0">
            <a:spAutoFit/>
          </a:bodyPr>
          <a:lstStyle/>
          <a:p>
            <a:r>
              <a:rPr lang="en-US" sz="1100" dirty="0" smtClean="0"/>
              <a:t>1 meter</a:t>
            </a:r>
            <a:endParaRPr lang="en-US" sz="1100" dirty="0"/>
          </a:p>
        </p:txBody>
      </p:sp>
      <p:sp>
        <p:nvSpPr>
          <p:cNvPr id="26" name="Left Brace 25"/>
          <p:cNvSpPr/>
          <p:nvPr/>
        </p:nvSpPr>
        <p:spPr>
          <a:xfrm rot="5400000">
            <a:off x="6098558" y="2128511"/>
            <a:ext cx="259092" cy="1130300"/>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TextBox 26"/>
          <p:cNvSpPr txBox="1"/>
          <p:nvPr/>
        </p:nvSpPr>
        <p:spPr>
          <a:xfrm>
            <a:off x="5930900" y="2338060"/>
            <a:ext cx="662893" cy="261610"/>
          </a:xfrm>
          <a:prstGeom prst="rect">
            <a:avLst/>
          </a:prstGeom>
          <a:noFill/>
        </p:spPr>
        <p:txBody>
          <a:bodyPr wrap="none" rtlCol="0">
            <a:spAutoFit/>
          </a:bodyPr>
          <a:lstStyle/>
          <a:p>
            <a:r>
              <a:rPr lang="en-US" sz="1100" dirty="0" smtClean="0"/>
              <a:t>1 meter</a:t>
            </a:r>
            <a:endParaRPr lang="en-US" sz="1100" dirty="0"/>
          </a:p>
        </p:txBody>
      </p:sp>
      <p:sp>
        <p:nvSpPr>
          <p:cNvPr id="28" name="Left Brace 27"/>
          <p:cNvSpPr/>
          <p:nvPr/>
        </p:nvSpPr>
        <p:spPr>
          <a:xfrm rot="5400000">
            <a:off x="7395204" y="2103111"/>
            <a:ext cx="259092" cy="1130300"/>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p:cNvSpPr txBox="1"/>
          <p:nvPr/>
        </p:nvSpPr>
        <p:spPr>
          <a:xfrm>
            <a:off x="7227546" y="2312660"/>
            <a:ext cx="662893" cy="261610"/>
          </a:xfrm>
          <a:prstGeom prst="rect">
            <a:avLst/>
          </a:prstGeom>
          <a:noFill/>
        </p:spPr>
        <p:txBody>
          <a:bodyPr wrap="none" rtlCol="0">
            <a:spAutoFit/>
          </a:bodyPr>
          <a:lstStyle/>
          <a:p>
            <a:r>
              <a:rPr lang="en-US" sz="1100" dirty="0" smtClean="0"/>
              <a:t>1 meter</a:t>
            </a:r>
            <a:endParaRPr lang="en-US" sz="1100" dirty="0"/>
          </a:p>
        </p:txBody>
      </p:sp>
      <p:sp>
        <p:nvSpPr>
          <p:cNvPr id="30" name="Left Brace 29"/>
          <p:cNvSpPr/>
          <p:nvPr/>
        </p:nvSpPr>
        <p:spPr>
          <a:xfrm rot="10800000">
            <a:off x="8127998" y="2723695"/>
            <a:ext cx="279427" cy="614046"/>
          </a:xfrm>
          <a:prstGeom prst="leftBrace">
            <a:avLst/>
          </a:prstGeom>
          <a:ln w="1524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TextBox 30"/>
          <p:cNvSpPr txBox="1"/>
          <p:nvPr/>
        </p:nvSpPr>
        <p:spPr>
          <a:xfrm>
            <a:off x="8360364" y="2888836"/>
            <a:ext cx="662893" cy="261610"/>
          </a:xfrm>
          <a:prstGeom prst="rect">
            <a:avLst/>
          </a:prstGeom>
          <a:noFill/>
        </p:spPr>
        <p:txBody>
          <a:bodyPr wrap="none" rtlCol="0">
            <a:spAutoFit/>
          </a:bodyPr>
          <a:lstStyle/>
          <a:p>
            <a:r>
              <a:rPr lang="en-US" sz="1100" dirty="0" smtClean="0"/>
              <a:t>1 meter</a:t>
            </a:r>
            <a:endParaRPr lang="en-US" sz="1100" dirty="0"/>
          </a:p>
        </p:txBody>
      </p:sp>
      <p:graphicFrame>
        <p:nvGraphicFramePr>
          <p:cNvPr id="3" name="Object 2"/>
          <p:cNvGraphicFramePr>
            <a:graphicFrameLocks noChangeAspect="1"/>
          </p:cNvGraphicFramePr>
          <p:nvPr>
            <p:extLst>
              <p:ext uri="{D42A27DB-BD31-4B8C-83A1-F6EECF244321}">
                <p14:modId xmlns:p14="http://schemas.microsoft.com/office/powerpoint/2010/main" val="1266265202"/>
              </p:ext>
            </p:extLst>
          </p:nvPr>
        </p:nvGraphicFramePr>
        <p:xfrm>
          <a:off x="2557463" y="4329113"/>
          <a:ext cx="5486400" cy="1295400"/>
        </p:xfrm>
        <a:graphic>
          <a:graphicData uri="http://schemas.openxmlformats.org/presentationml/2006/ole">
            <mc:AlternateContent xmlns:mc="http://schemas.openxmlformats.org/markup-compatibility/2006">
              <mc:Choice xmlns:v="urn:schemas-microsoft-com:vml" Requires="v">
                <p:oleObj spid="_x0000_s4255" name="Document" r:id="rId4" imgW="5476320" imgH="1279800" progId="Word.Document.12">
                  <p:embed/>
                </p:oleObj>
              </mc:Choice>
              <mc:Fallback>
                <p:oleObj name="Document" r:id="rId4" imgW="5476320" imgH="1279800" progId="Word.Document.12">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7463" y="4329113"/>
                        <a:ext cx="5486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856853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28</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361427749"/>
              </p:ext>
            </p:extLst>
          </p:nvPr>
        </p:nvGraphicFramePr>
        <p:xfrm>
          <a:off x="304800" y="1371600"/>
          <a:ext cx="8534400" cy="320040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Correctly calculates the number of penguins</a:t>
                      </a:r>
                    </a:p>
                    <a:p>
                      <a:pPr marL="225425" indent="-225425">
                        <a:buFont typeface="Arial" pitchFamily="34" charset="0"/>
                        <a:buChar char="•"/>
                      </a:pPr>
                      <a:r>
                        <a:rPr lang="en-US" sz="1200" b="0" i="0" kern="1200" baseline="0" dirty="0" smtClean="0">
                          <a:solidFill>
                            <a:schemeClr val="tx1"/>
                          </a:solidFill>
                          <a:latin typeface="+mj-lt"/>
                          <a:ea typeface="+mn-ea"/>
                          <a:cs typeface="+mn-cs"/>
                        </a:rPr>
                        <a:t>Needed some help to understand the drivers to calculate the maximum penguin population</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Suggests that the map can be approximated to a square or circle</a:t>
                      </a:r>
                    </a:p>
                    <a:p>
                      <a:pPr marL="225425" indent="-225425">
                        <a:buFont typeface="Arial" pitchFamily="34" charset="0"/>
                        <a:buChar char="•"/>
                      </a:pPr>
                      <a:r>
                        <a:rPr lang="en-US" sz="1200" b="0" i="0" kern="1200" baseline="0" dirty="0" smtClean="0">
                          <a:solidFill>
                            <a:schemeClr val="tx1"/>
                          </a:solidFill>
                          <a:latin typeface="+mj-lt"/>
                          <a:ea typeface="+mn-ea"/>
                          <a:cs typeface="+mn-cs"/>
                        </a:rPr>
                        <a:t>Develops a framework that contains important issues such as Predators, Feeding Habits, etc.</a:t>
                      </a:r>
                    </a:p>
                    <a:p>
                      <a:pPr marL="225425" indent="-225425">
                        <a:buFont typeface="Arial" pitchFamily="34" charset="0"/>
                        <a:buChar char="•"/>
                      </a:pPr>
                      <a:r>
                        <a:rPr lang="en-US" sz="1200" b="0" i="0" kern="1200" baseline="0" dirty="0" smtClean="0">
                          <a:solidFill>
                            <a:schemeClr val="tx1"/>
                          </a:solidFill>
                          <a:latin typeface="+mj-lt"/>
                          <a:ea typeface="+mn-ea"/>
                          <a:cs typeface="+mn-cs"/>
                        </a:rPr>
                        <a:t>Understands that the penguins must walk 1km to reach the sea and then they need to come back</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“Good“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Understands that the calculations must consider the shortest day of the year</a:t>
                      </a:r>
                    </a:p>
                    <a:p>
                      <a:pPr marL="225425" indent="-225425">
                        <a:buFont typeface="Arial" pitchFamily="34" charset="0"/>
                        <a:buChar char="•"/>
                      </a:pPr>
                      <a:r>
                        <a:rPr lang="en-US" sz="1200" b="0" i="0" kern="1200" baseline="0" dirty="0" smtClean="0">
                          <a:solidFill>
                            <a:schemeClr val="tx1"/>
                          </a:solidFill>
                          <a:latin typeface="+mj-lt"/>
                          <a:ea typeface="+mn-ea"/>
                          <a:cs typeface="+mn-cs"/>
                        </a:rPr>
                        <a:t>Suggests the same allocation layout</a:t>
                      </a:r>
                    </a:p>
                    <a:p>
                      <a:pPr marL="225425" indent="-225425">
                        <a:buFont typeface="Arial" pitchFamily="34" charset="0"/>
                        <a:buChar char="•"/>
                      </a:pPr>
                      <a:r>
                        <a:rPr lang="en-US" sz="1200" b="0" i="0" kern="1200" baseline="0" dirty="0" smtClean="0">
                          <a:solidFill>
                            <a:schemeClr val="tx1"/>
                          </a:solidFill>
                          <a:latin typeface="+mj-lt"/>
                          <a:ea typeface="+mn-ea"/>
                          <a:cs typeface="+mn-cs"/>
                        </a:rPr>
                        <a:t>Could solve the case without much help from the interviewer</a:t>
                      </a:r>
                    </a:p>
                    <a:p>
                      <a:pPr marL="225425" indent="-225425">
                        <a:buFont typeface="Arial" pitchFamily="34" charset="0"/>
                        <a:buChar char="•"/>
                      </a:pPr>
                      <a:endParaRPr lang="en-US" sz="1200" b="0" i="0" kern="1200" baseline="0" dirty="0" smtClean="0">
                        <a:solidFill>
                          <a:schemeClr val="tx1"/>
                        </a:solidFill>
                        <a:latin typeface="+mj-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2"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Sizing</a:t>
            </a:r>
            <a:endParaRPr lang="en-US" sz="1400" i="1" dirty="0"/>
          </a:p>
        </p:txBody>
      </p:sp>
      <p:sp>
        <p:nvSpPr>
          <p:cNvPr id="40974"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2: Penguins?!?</a:t>
            </a:r>
          </a:p>
        </p:txBody>
      </p:sp>
    </p:spTree>
    <p:extLst>
      <p:ext uri="{BB962C8B-B14F-4D97-AF65-F5344CB8AC3E}">
        <p14:creationId xmlns:p14="http://schemas.microsoft.com/office/powerpoint/2010/main" val="31144419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29</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8131" name="TextBox 6"/>
          <p:cNvSpPr txBox="1">
            <a:spLocks noChangeArrowheads="1"/>
          </p:cNvSpPr>
          <p:nvPr/>
        </p:nvSpPr>
        <p:spPr bwMode="auto">
          <a:xfrm>
            <a:off x="228600" y="990600"/>
            <a:ext cx="2209800" cy="307777"/>
          </a:xfrm>
          <a:prstGeom prst="rect">
            <a:avLst/>
          </a:prstGeom>
          <a:noFill/>
          <a:ln w="9525">
            <a:noFill/>
            <a:miter lim="800000"/>
            <a:headEnd/>
            <a:tailEnd/>
          </a:ln>
        </p:spPr>
        <p:txBody>
          <a:bodyPr wrap="square">
            <a:spAutoFit/>
          </a:bodyPr>
          <a:lstStyle/>
          <a:p>
            <a:r>
              <a:rPr lang="en-US" sz="1400" i="1" dirty="0" smtClean="0"/>
              <a:t>Market Sizing</a:t>
            </a:r>
            <a:endParaRPr lang="en-US" sz="1400" i="1" dirty="0"/>
          </a:p>
        </p:txBody>
      </p:sp>
      <p:sp>
        <p:nvSpPr>
          <p:cNvPr id="48134"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3: Pianos</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591218369"/>
              </p:ext>
            </p:extLst>
          </p:nvPr>
        </p:nvGraphicFramePr>
        <p:xfrm>
          <a:off x="304800" y="1295400"/>
          <a:ext cx="8534400" cy="5120640"/>
        </p:xfrm>
        <a:graphic>
          <a:graphicData uri="http://schemas.openxmlformats.org/drawingml/2006/table">
            <a:tbl>
              <a:tblPr firstRow="1" bandRow="1">
                <a:tableStyleId>{616DA210-FB5B-4158-B5E0-FEB733F419BA}</a:tableStyleId>
              </a:tblPr>
              <a:tblGrid>
                <a:gridCol w="1600200"/>
                <a:gridCol w="6934200"/>
              </a:tblGrid>
              <a:tr h="152400">
                <a:tc>
                  <a:txBody>
                    <a:bodyPr/>
                    <a:lstStyle/>
                    <a:p>
                      <a:pPr algn="ctr"/>
                      <a:r>
                        <a:rPr lang="en-US" dirty="0" smtClean="0"/>
                        <a:t>Prompt</a:t>
                      </a:r>
                      <a:endParaRPr lang="en-US" dirty="0"/>
                    </a:p>
                  </a:txBody>
                  <a:tcPr anchor="ctr"/>
                </a:tc>
                <a:tc>
                  <a:txBody>
                    <a:bodyPr/>
                    <a:lstStyle/>
                    <a:p>
                      <a:r>
                        <a:rPr lang="en-US" sz="1200" b="1" kern="1200" dirty="0" smtClean="0"/>
                        <a:t>What is the 2012</a:t>
                      </a:r>
                      <a:r>
                        <a:rPr lang="en-US" sz="1200" b="1" kern="1200" baseline="0" dirty="0" smtClean="0"/>
                        <a:t> </a:t>
                      </a:r>
                      <a:r>
                        <a:rPr lang="en-US" sz="1200" b="1" kern="1200" dirty="0" smtClean="0"/>
                        <a:t>market</a:t>
                      </a:r>
                      <a:r>
                        <a:rPr lang="en-US" sz="1200" b="1" kern="1200" baseline="0" dirty="0" smtClean="0"/>
                        <a:t> size of acoustic pianos in the state of New Hampshire?</a:t>
                      </a:r>
                      <a:endParaRPr lang="en-US" sz="1200" b="1" kern="1200" dirty="0" smtClean="0"/>
                    </a:p>
                    <a:p>
                      <a:endParaRPr lang="en-US" sz="1200" b="0" i="1" kern="1200" dirty="0" smtClean="0">
                        <a:solidFill>
                          <a:schemeClr val="tx1"/>
                        </a:solidFill>
                        <a:latin typeface="Calibri" pitchFamily="34" charset="0"/>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r>
                        <a:rPr lang="en-US" sz="1200" i="0" kern="1200" dirty="0" smtClean="0">
                          <a:solidFill>
                            <a:schemeClr val="tx1"/>
                          </a:solidFill>
                          <a:latin typeface="+mn-lt"/>
                          <a:ea typeface="+mn-ea"/>
                          <a:cs typeface="+mn-cs"/>
                        </a:rPr>
                        <a:t>This is a market estimation case. The suggested analysis is one way that it could</a:t>
                      </a:r>
                      <a:r>
                        <a:rPr lang="en-US" sz="1200" i="0" kern="1200" baseline="0" dirty="0" smtClean="0">
                          <a:solidFill>
                            <a:schemeClr val="tx1"/>
                          </a:solidFill>
                          <a:latin typeface="+mn-lt"/>
                          <a:ea typeface="+mn-ea"/>
                          <a:cs typeface="+mn-cs"/>
                        </a:rPr>
                        <a:t> be solved, and the information may be provided if requested. It is also acceptable for the candidate to make many of these assumptions for his/herself , as long as you find them reasonable.</a:t>
                      </a:r>
                    </a:p>
                    <a:p>
                      <a:endParaRPr lang="en-US" sz="1200" i="0" kern="1200" baseline="0" dirty="0" smtClean="0">
                        <a:solidFill>
                          <a:schemeClr val="tx1"/>
                        </a:solidFill>
                        <a:latin typeface="+mn-lt"/>
                        <a:ea typeface="+mn-ea"/>
                        <a:cs typeface="+mn-cs"/>
                      </a:endParaRPr>
                    </a:p>
                    <a:p>
                      <a:r>
                        <a:rPr lang="en-US" sz="1200" i="0" kern="1200" baseline="0" dirty="0" smtClean="0">
                          <a:solidFill>
                            <a:schemeClr val="tx1"/>
                          </a:solidFill>
                          <a:latin typeface="+mn-lt"/>
                          <a:ea typeface="+mn-ea"/>
                          <a:cs typeface="+mn-cs"/>
                        </a:rPr>
                        <a:t>Either way, ask the candidate to walk you through his/her thought process for solving the problem before embarking on the calculations. Once you are comfortable with his/her approach, ask him/her to find the answer, explaining as he/she goes.  </a:t>
                      </a:r>
                    </a:p>
                    <a:p>
                      <a:endParaRPr lang="en-US" sz="1200" i="0" kern="1200" baseline="0" dirty="0" smtClean="0">
                        <a:solidFill>
                          <a:schemeClr val="tx1"/>
                        </a:solidFill>
                        <a:latin typeface="+mn-lt"/>
                        <a:ea typeface="+mn-ea"/>
                        <a:cs typeface="+mn-cs"/>
                      </a:endParaRPr>
                    </a:p>
                    <a:p>
                      <a:r>
                        <a:rPr lang="en-US" sz="1200" b="0" i="0" kern="1200" baseline="0" dirty="0" smtClean="0">
                          <a:solidFill>
                            <a:schemeClr val="tx1"/>
                          </a:solidFill>
                          <a:latin typeface="+mn-lt"/>
                          <a:ea typeface="+mn-ea"/>
                          <a:cs typeface="+mn-cs"/>
                        </a:rPr>
                        <a:t>In this case, it is safe to estimate the residential market size for acoustic pianos (i.e. ignoring concert halls, inventory in retail stores, etc.).</a:t>
                      </a:r>
                    </a:p>
                    <a:p>
                      <a:endParaRPr lang="en-US" sz="1200" b="0" i="0" kern="1200" baseline="0" dirty="0" smtClean="0">
                        <a:solidFill>
                          <a:schemeClr val="tx1"/>
                        </a:solidFill>
                        <a:latin typeface="+mn-lt"/>
                        <a:ea typeface="+mn-ea"/>
                        <a:cs typeface="+mn-cs"/>
                      </a:endParaRPr>
                    </a:p>
                    <a:p>
                      <a:r>
                        <a:rPr lang="en-US" sz="1200" b="0" i="0" kern="1200" baseline="0" dirty="0" smtClean="0">
                          <a:solidFill>
                            <a:schemeClr val="tx1"/>
                          </a:solidFill>
                          <a:latin typeface="+mn-lt"/>
                          <a:ea typeface="+mn-ea"/>
                          <a:cs typeface="+mn-cs"/>
                        </a:rPr>
                        <a:t>Definition: Acoustic piano – includes upright, grand, and baby grand pianos. Digital keyboards are out of scope.</a:t>
                      </a:r>
                    </a:p>
                    <a:p>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latin typeface="+mn-lt"/>
                          <a:ea typeface="+mn-ea"/>
                          <a:cs typeface="+mn-cs"/>
                        </a:rPr>
                        <a:t>The candidate should generate the following calculation. If he/she is stuck, assist him/her in arriving at this equation.</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latin typeface="+mn-lt"/>
                          <a:ea typeface="+mn-ea"/>
                          <a:cs typeface="+mn-cs"/>
                        </a:rPr>
                        <a:t>Market size = (Population of NH / Average Household size) *% Owning Piano *Average Piano Price *Replacement Rate of Pianos</a:t>
                      </a:r>
                    </a:p>
                    <a:p>
                      <a:pPr marL="0" marR="0" indent="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latin typeface="+mn-lt"/>
                          <a:ea typeface="+mn-ea"/>
                          <a:cs typeface="+mn-cs"/>
                        </a:rPr>
                        <a:t>Population of NH</a:t>
                      </a:r>
                    </a:p>
                    <a:p>
                      <a:pPr marL="111125" marR="0" indent="-111125" algn="l" defTabSz="457200" rtl="0" eaLnBrk="1" fontAlgn="auto" latinLnBrk="0" hangingPunct="1">
                        <a:lnSpc>
                          <a:spcPct val="100000"/>
                        </a:lnSpc>
                        <a:spcBef>
                          <a:spcPts val="0"/>
                        </a:spcBef>
                        <a:spcAft>
                          <a:spcPts val="0"/>
                        </a:spcAft>
                        <a:buClrTx/>
                        <a:buSzTx/>
                        <a:buFont typeface="Wingdings" pitchFamily="2" charset="2"/>
                        <a:buChar char="§"/>
                        <a:tabLst/>
                        <a:defRPr/>
                      </a:pPr>
                      <a:r>
                        <a:rPr lang="en-US" sz="1200" b="0" i="0" kern="1200" baseline="0" dirty="0" smtClean="0">
                          <a:solidFill>
                            <a:schemeClr val="tx1"/>
                          </a:solidFill>
                          <a:latin typeface="+mn-lt"/>
                          <a:ea typeface="+mn-ea"/>
                          <a:cs typeface="+mn-cs"/>
                        </a:rPr>
                        <a:t> Population of the United States:  300 million </a:t>
                      </a:r>
                    </a:p>
                    <a:p>
                      <a:pPr marL="111125" marR="0" indent="-111125" algn="l" defTabSz="457200" rtl="0" eaLnBrk="1" fontAlgn="auto" latinLnBrk="0" hangingPunct="1">
                        <a:lnSpc>
                          <a:spcPct val="100000"/>
                        </a:lnSpc>
                        <a:spcBef>
                          <a:spcPts val="0"/>
                        </a:spcBef>
                        <a:spcAft>
                          <a:spcPts val="0"/>
                        </a:spcAft>
                        <a:buClrTx/>
                        <a:buSzTx/>
                        <a:buFont typeface="Wingdings" pitchFamily="2" charset="2"/>
                        <a:buChar char="§"/>
                        <a:tabLst/>
                        <a:defRPr/>
                      </a:pPr>
                      <a:r>
                        <a:rPr lang="en-US" sz="1200" b="0" i="0" kern="1200" baseline="0" dirty="0" smtClean="0">
                          <a:solidFill>
                            <a:schemeClr val="tx1"/>
                          </a:solidFill>
                          <a:latin typeface="+mn-lt"/>
                          <a:ea typeface="+mn-ea"/>
                          <a:cs typeface="+mn-cs"/>
                        </a:rPr>
                        <a:t> The US has 50 states; therefore, the average population per state is 6 million. The candidate should reason that NH is one of the smallest states.  A reasonable population estimate is 1-2M. </a:t>
                      </a:r>
                    </a:p>
                    <a:p>
                      <a:endParaRPr lang="en-US" sz="1200" i="1" kern="1200" baseline="0" dirty="0" smtClean="0">
                        <a:solidFill>
                          <a:schemeClr val="tx1"/>
                        </a:solidFill>
                        <a:latin typeface="+mn-lt"/>
                        <a:ea typeface="+mn-ea"/>
                        <a:cs typeface="+mn-cs"/>
                      </a:endParaRPr>
                    </a:p>
                  </a:txBody>
                  <a:tcPr/>
                </a:tc>
              </a:tr>
            </a:tbl>
          </a:graphicData>
        </a:graphic>
      </p:graphicFrame>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30</a:t>
            </a:fld>
            <a:endParaRPr lang="en-US" dirty="0"/>
          </a:p>
        </p:txBody>
      </p:sp>
    </p:spTree>
    <p:extLst>
      <p:ext uri="{BB962C8B-B14F-4D97-AF65-F5344CB8AC3E}">
        <p14:creationId xmlns:p14="http://schemas.microsoft.com/office/powerpoint/2010/main" val="41463855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3922023577"/>
              </p:ext>
            </p:extLst>
          </p:nvPr>
        </p:nvGraphicFramePr>
        <p:xfrm>
          <a:off x="304800" y="1295400"/>
          <a:ext cx="8534400" cy="5029200"/>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sz="1800" i="0" dirty="0" smtClean="0">
                          <a:latin typeface="+mj-lt"/>
                        </a:rPr>
                        <a:t>Guidance</a:t>
                      </a:r>
                      <a:endParaRPr lang="en-US" sz="1800" i="0" dirty="0">
                        <a:latin typeface="+mj-lt"/>
                      </a:endParaRPr>
                    </a:p>
                  </a:txBody>
                  <a:tcPr anchor="ctr">
                    <a:solidFill>
                      <a:srgbClr val="CCCCCC"/>
                    </a:solidFill>
                  </a:tcPr>
                </a:tc>
                <a:tc>
                  <a:txBody>
                    <a:bodyPr/>
                    <a:lstStyle/>
                    <a:p>
                      <a:r>
                        <a:rPr lang="en-US" sz="1200" b="0" i="0" u="none" kern="1200" dirty="0" smtClean="0">
                          <a:solidFill>
                            <a:schemeClr val="tx1"/>
                          </a:solidFill>
                          <a:latin typeface="+mj-lt"/>
                          <a:ea typeface="+mn-ea"/>
                          <a:cs typeface="+mn-cs"/>
                        </a:rPr>
                        <a:t>Average Household</a:t>
                      </a:r>
                      <a:r>
                        <a:rPr lang="en-US" sz="1200" b="0" i="0" u="none" kern="1200" baseline="0" dirty="0" smtClean="0">
                          <a:solidFill>
                            <a:schemeClr val="tx1"/>
                          </a:solidFill>
                          <a:latin typeface="+mj-lt"/>
                          <a:ea typeface="+mn-ea"/>
                          <a:cs typeface="+mn-cs"/>
                        </a:rPr>
                        <a:t> Size:</a:t>
                      </a:r>
                    </a:p>
                    <a:p>
                      <a:pPr marL="171450" indent="-171450">
                        <a:buFont typeface="Arial" pitchFamily="34" charset="0"/>
                        <a:buChar char="•"/>
                      </a:pPr>
                      <a:r>
                        <a:rPr lang="en-US" sz="1200" b="0" i="0" u="none" kern="1200" dirty="0" smtClean="0">
                          <a:solidFill>
                            <a:schemeClr val="tx1"/>
                          </a:solidFill>
                          <a:latin typeface="+mj-lt"/>
                          <a:ea typeface="+mn-ea"/>
                          <a:cs typeface="+mn-cs"/>
                        </a:rPr>
                        <a:t>Reasonable</a:t>
                      </a:r>
                      <a:r>
                        <a:rPr lang="en-US" sz="1200" b="0" i="0" u="none" kern="1200" baseline="0" dirty="0" smtClean="0">
                          <a:solidFill>
                            <a:schemeClr val="tx1"/>
                          </a:solidFill>
                          <a:latin typeface="+mj-lt"/>
                          <a:ea typeface="+mn-ea"/>
                          <a:cs typeface="+mn-cs"/>
                        </a:rPr>
                        <a:t> estimate = US average of ~2.5 is acceptable (or 2-3 if candidate chooses to round)</a:t>
                      </a:r>
                    </a:p>
                    <a:p>
                      <a:pPr marL="171450" indent="-171450">
                        <a:buFont typeface="Arial" pitchFamily="34" charset="0"/>
                        <a:buChar char="•"/>
                      </a:pPr>
                      <a:endParaRPr lang="en-US" sz="1200" b="0" i="0" u="none" kern="1200" baseline="0" dirty="0" smtClean="0">
                        <a:solidFill>
                          <a:schemeClr val="tx1"/>
                        </a:solidFill>
                        <a:latin typeface="+mj-lt"/>
                        <a:ea typeface="+mn-ea"/>
                        <a:cs typeface="+mn-cs"/>
                      </a:endParaRPr>
                    </a:p>
                    <a:p>
                      <a:pPr marL="0" indent="0">
                        <a:buFont typeface="Arial" pitchFamily="34" charset="0"/>
                        <a:buNone/>
                      </a:pPr>
                      <a:r>
                        <a:rPr lang="en-US" sz="1200" b="0" i="0" u="none" kern="1200" baseline="0" dirty="0" smtClean="0">
                          <a:solidFill>
                            <a:schemeClr val="tx1"/>
                          </a:solidFill>
                          <a:latin typeface="+mj-lt"/>
                          <a:ea typeface="+mn-ea"/>
                          <a:cs typeface="+mn-cs"/>
                        </a:rPr>
                        <a:t>% of Households with an acoustic piano:</a:t>
                      </a:r>
                    </a:p>
                    <a:p>
                      <a:pPr marL="171450" indent="-171450">
                        <a:buFont typeface="Arial" pitchFamily="34" charset="0"/>
                        <a:buChar char="•"/>
                      </a:pPr>
                      <a:r>
                        <a:rPr lang="en-US" sz="1200" b="0" i="0" u="none" kern="1200" dirty="0" smtClean="0">
                          <a:solidFill>
                            <a:schemeClr val="tx1"/>
                          </a:solidFill>
                          <a:latin typeface="+mj-lt"/>
                          <a:ea typeface="+mn-ea"/>
                          <a:cs typeface="+mn-cs"/>
                        </a:rPr>
                        <a:t>Here</a:t>
                      </a:r>
                      <a:r>
                        <a:rPr lang="en-US" sz="1200" b="0" i="0" u="none" kern="1200" baseline="0" dirty="0" smtClean="0">
                          <a:solidFill>
                            <a:schemeClr val="tx1"/>
                          </a:solidFill>
                          <a:latin typeface="+mj-lt"/>
                          <a:ea typeface="+mn-ea"/>
                          <a:cs typeface="+mn-cs"/>
                        </a:rPr>
                        <a:t> you should have the candidate talk through what the factors are in piano ownership:</a:t>
                      </a:r>
                    </a:p>
                    <a:p>
                      <a:pPr marL="628650" lvl="1" indent="-171450">
                        <a:buFont typeface="Arial" pitchFamily="34" charset="0"/>
                        <a:buChar char="−"/>
                      </a:pPr>
                      <a:r>
                        <a:rPr lang="en-US" sz="1200" b="0" i="0" u="none" kern="1200" baseline="0" dirty="0" smtClean="0">
                          <a:solidFill>
                            <a:schemeClr val="tx1"/>
                          </a:solidFill>
                          <a:latin typeface="+mj-lt"/>
                          <a:ea typeface="+mn-ea"/>
                          <a:cs typeface="+mn-cs"/>
                        </a:rPr>
                        <a:t>Average wealth of households in NH (relatively higher than other states in the US)</a:t>
                      </a:r>
                    </a:p>
                    <a:p>
                      <a:pPr marL="628650" lvl="1" indent="-171450">
                        <a:buFont typeface="Arial" pitchFamily="34" charset="0"/>
                        <a:buChar char="−"/>
                      </a:pPr>
                      <a:r>
                        <a:rPr lang="en-US" sz="1200" b="0" i="0" u="none" kern="1200" baseline="0" dirty="0" smtClean="0">
                          <a:solidFill>
                            <a:schemeClr val="tx1"/>
                          </a:solidFill>
                          <a:latin typeface="+mj-lt"/>
                          <a:ea typeface="+mn-ea"/>
                          <a:cs typeface="+mn-cs"/>
                        </a:rPr>
                        <a:t>Mix of electric keyboards vs. acoustic pianos</a:t>
                      </a:r>
                    </a:p>
                    <a:p>
                      <a:pPr marL="628650" lvl="1" indent="-171450">
                        <a:buFont typeface="Arial" pitchFamily="34" charset="0"/>
                        <a:buChar char="−"/>
                      </a:pPr>
                      <a:r>
                        <a:rPr lang="en-US" sz="1200" b="0" i="0" u="none" kern="1200" baseline="0" dirty="0" smtClean="0">
                          <a:solidFill>
                            <a:schemeClr val="tx1"/>
                          </a:solidFill>
                          <a:latin typeface="+mj-lt"/>
                          <a:ea typeface="+mn-ea"/>
                          <a:cs typeface="+mn-cs"/>
                        </a:rPr>
                        <a:t>Macroeconomic impacts on piano purchases (e.g. elastic demand for pianos)</a:t>
                      </a:r>
                    </a:p>
                    <a:p>
                      <a:pPr marL="171450" lvl="0" indent="-171450">
                        <a:buFont typeface="Arial" pitchFamily="34" charset="0"/>
                        <a:buChar char="•"/>
                      </a:pPr>
                      <a:r>
                        <a:rPr lang="en-US" sz="1200" b="0" i="0" u="none" kern="1200" baseline="0" dirty="0" smtClean="0">
                          <a:solidFill>
                            <a:schemeClr val="tx1"/>
                          </a:solidFill>
                          <a:latin typeface="+mj-lt"/>
                          <a:ea typeface="+mn-ea"/>
                          <a:cs typeface="+mn-cs"/>
                        </a:rPr>
                        <a:t>Reasonable estimate: likely under 5% of all US households. Acceptable answers from candidates range from 3-10% of households, given reasons listed above</a:t>
                      </a:r>
                    </a:p>
                    <a:p>
                      <a:pPr marL="171450" lvl="0" indent="-171450">
                        <a:buFont typeface="Arial" pitchFamily="34" charset="0"/>
                        <a:buChar char="•"/>
                      </a:pPr>
                      <a:endParaRPr lang="en-US" sz="1200" b="0" i="0" u="none" kern="1200" baseline="0" dirty="0" smtClean="0">
                        <a:solidFill>
                          <a:schemeClr val="tx1"/>
                        </a:solidFill>
                        <a:latin typeface="+mj-lt"/>
                        <a:ea typeface="+mn-ea"/>
                        <a:cs typeface="+mn-cs"/>
                      </a:endParaRPr>
                    </a:p>
                    <a:p>
                      <a:pPr marL="0" lvl="0" indent="0">
                        <a:buFont typeface="Arial" pitchFamily="34" charset="0"/>
                        <a:buNone/>
                      </a:pPr>
                      <a:r>
                        <a:rPr lang="en-US" sz="1200" b="0" i="0" u="none" kern="1200" baseline="0" dirty="0" smtClean="0">
                          <a:solidFill>
                            <a:schemeClr val="tx1"/>
                          </a:solidFill>
                          <a:latin typeface="+mj-lt"/>
                          <a:ea typeface="+mn-ea"/>
                          <a:cs typeface="+mn-cs"/>
                        </a:rPr>
                        <a:t>Average price of piano:</a:t>
                      </a:r>
                    </a:p>
                    <a:p>
                      <a:pPr marL="171450" lvl="0" indent="-171450">
                        <a:buFont typeface="Arial" pitchFamily="34" charset="0"/>
                        <a:buChar char="•"/>
                      </a:pPr>
                      <a:r>
                        <a:rPr lang="en-US" sz="1200" b="0" i="0" u="none" kern="1200" baseline="0" dirty="0" smtClean="0">
                          <a:solidFill>
                            <a:schemeClr val="tx1"/>
                          </a:solidFill>
                          <a:latin typeface="+mj-lt"/>
                          <a:ea typeface="+mn-ea"/>
                          <a:cs typeface="+mn-cs"/>
                        </a:rPr>
                        <a:t>Prices of pianos vary by piano type (i.e. upright pianos are less expensive than grand pianos)</a:t>
                      </a:r>
                    </a:p>
                    <a:p>
                      <a:pPr marL="171450" lvl="0" indent="-171450">
                        <a:buFont typeface="Arial" pitchFamily="34" charset="0"/>
                        <a:buChar char="•"/>
                      </a:pPr>
                      <a:r>
                        <a:rPr lang="en-US" sz="1200" b="0" i="0" u="none" kern="1200" baseline="0" dirty="0" smtClean="0">
                          <a:solidFill>
                            <a:schemeClr val="tx1"/>
                          </a:solidFill>
                          <a:latin typeface="+mj-lt"/>
                          <a:ea typeface="+mn-ea"/>
                          <a:cs typeface="+mn-cs"/>
                        </a:rPr>
                        <a:t>Reasonable estimate: $5,000-$10,000</a:t>
                      </a:r>
                    </a:p>
                    <a:p>
                      <a:pPr marL="0" lvl="0" indent="0">
                        <a:buFont typeface="Arial" pitchFamily="34" charset="0"/>
                        <a:buNone/>
                      </a:pPr>
                      <a:endParaRPr lang="en-US" sz="1200" b="0" i="0" u="none" kern="1200" dirty="0" smtClean="0">
                        <a:solidFill>
                          <a:schemeClr val="tx1"/>
                        </a:solidFill>
                        <a:latin typeface="+mj-lt"/>
                        <a:ea typeface="+mn-ea"/>
                        <a:cs typeface="+mn-cs"/>
                      </a:endParaRPr>
                    </a:p>
                    <a:p>
                      <a:pPr marL="0" lvl="0" indent="0">
                        <a:buFont typeface="Arial" pitchFamily="34" charset="0"/>
                        <a:buNone/>
                      </a:pPr>
                      <a:r>
                        <a:rPr lang="en-US" sz="1200" b="0" i="0" u="none" kern="1200" dirty="0" smtClean="0">
                          <a:solidFill>
                            <a:schemeClr val="tx1"/>
                          </a:solidFill>
                          <a:latin typeface="+mj-lt"/>
                          <a:ea typeface="+mn-ea"/>
                          <a:cs typeface="+mn-cs"/>
                        </a:rPr>
                        <a:t>Replacement rate of pianos:</a:t>
                      </a:r>
                    </a:p>
                    <a:p>
                      <a:pPr marL="171450" lvl="0" indent="-171450">
                        <a:buFont typeface="Arial" pitchFamily="34" charset="0"/>
                        <a:buChar char="•"/>
                      </a:pPr>
                      <a:r>
                        <a:rPr lang="en-US" sz="1200" b="0" i="0" u="none" kern="1200" dirty="0" smtClean="0">
                          <a:solidFill>
                            <a:schemeClr val="tx1"/>
                          </a:solidFill>
                          <a:latin typeface="+mj-lt"/>
                          <a:ea typeface="+mn-ea"/>
                          <a:cs typeface="+mn-cs"/>
                        </a:rPr>
                        <a:t>Candidate should reason that  households will not purchase a piano each year and should divide the number they have arrived at thus far by the average life of a piano (or</a:t>
                      </a:r>
                      <a:r>
                        <a:rPr lang="en-US" sz="1200" b="0" i="0" u="none" kern="1200" baseline="0" dirty="0" smtClean="0">
                          <a:solidFill>
                            <a:schemeClr val="tx1"/>
                          </a:solidFill>
                          <a:latin typeface="+mj-lt"/>
                          <a:ea typeface="+mn-ea"/>
                          <a:cs typeface="+mn-cs"/>
                        </a:rPr>
                        <a:t> multiply by the replacement rate)</a:t>
                      </a:r>
                    </a:p>
                    <a:p>
                      <a:pPr marL="171450" lvl="0" indent="-171450">
                        <a:buFont typeface="Arial" pitchFamily="34" charset="0"/>
                        <a:buChar char="•"/>
                      </a:pPr>
                      <a:r>
                        <a:rPr lang="en-US" sz="1200" b="0" i="0" u="none" kern="1200" baseline="0" dirty="0" smtClean="0">
                          <a:solidFill>
                            <a:schemeClr val="tx1"/>
                          </a:solidFill>
                          <a:latin typeface="+mj-lt"/>
                          <a:ea typeface="+mn-ea"/>
                          <a:cs typeface="+mn-cs"/>
                        </a:rPr>
                        <a:t>Candidate should further reason that pianos are on the more durable side of musical instruments</a:t>
                      </a:r>
                    </a:p>
                    <a:p>
                      <a:pPr marL="171450" lvl="0" indent="-171450">
                        <a:buFont typeface="Arial" pitchFamily="34" charset="0"/>
                        <a:buChar char="•"/>
                      </a:pPr>
                      <a:r>
                        <a:rPr lang="en-US" sz="1200" b="0" i="0" u="none" kern="1200" baseline="0" dirty="0" smtClean="0">
                          <a:solidFill>
                            <a:schemeClr val="tx1"/>
                          </a:solidFill>
                          <a:latin typeface="+mj-lt"/>
                          <a:ea typeface="+mn-ea"/>
                          <a:cs typeface="+mn-cs"/>
                        </a:rPr>
                        <a:t>Reasonable estimate: pianos should last 30-50 years</a:t>
                      </a:r>
                    </a:p>
                    <a:p>
                      <a:pPr marL="171450" lvl="0" indent="-171450">
                        <a:buFont typeface="Arial" pitchFamily="34" charset="0"/>
                        <a:buChar char="•"/>
                      </a:pPr>
                      <a:endParaRPr lang="en-US" sz="1200" b="0" i="0" u="none" kern="1200" baseline="0" dirty="0" smtClean="0">
                        <a:solidFill>
                          <a:schemeClr val="tx1"/>
                        </a:solidFill>
                        <a:latin typeface="+mj-lt"/>
                        <a:ea typeface="+mn-ea"/>
                        <a:cs typeface="+mn-cs"/>
                      </a:endParaRPr>
                    </a:p>
                    <a:p>
                      <a:pPr marL="0" lvl="0" indent="0">
                        <a:buFont typeface="Arial" pitchFamily="34" charset="0"/>
                        <a:buNone/>
                      </a:pPr>
                      <a:r>
                        <a:rPr lang="en-US" sz="1200" b="0" i="0" u="none" kern="1200" baseline="0" dirty="0" smtClean="0">
                          <a:solidFill>
                            <a:schemeClr val="tx1"/>
                          </a:solidFill>
                          <a:latin typeface="+mj-lt"/>
                          <a:ea typeface="+mn-ea"/>
                          <a:cs typeface="+mn-cs"/>
                        </a:rPr>
                        <a:t>Calculation:</a:t>
                      </a:r>
                    </a:p>
                    <a:p>
                      <a:pPr marL="0" lvl="0" indent="0">
                        <a:buFont typeface="Arial" pitchFamily="34" charset="0"/>
                        <a:buNone/>
                      </a:pPr>
                      <a:r>
                        <a:rPr lang="en-US" sz="1200" b="0" i="0" u="none" kern="1200" baseline="0" dirty="0" smtClean="0">
                          <a:solidFill>
                            <a:schemeClr val="tx1"/>
                          </a:solidFill>
                          <a:latin typeface="+mj-lt"/>
                          <a:ea typeface="+mn-ea"/>
                          <a:cs typeface="+mn-cs"/>
                        </a:rPr>
                        <a:t>(1.5 Million People / 2.5 People per HH) = 600,000 HH * 5% Piano Ownership = </a:t>
                      </a:r>
                    </a:p>
                    <a:p>
                      <a:pPr marL="0" lvl="0" indent="0">
                        <a:buFont typeface="Arial" pitchFamily="34" charset="0"/>
                        <a:buNone/>
                      </a:pPr>
                      <a:r>
                        <a:rPr lang="en-US" sz="1200" b="0" i="0" u="none" kern="1200" baseline="0" dirty="0" smtClean="0">
                          <a:solidFill>
                            <a:schemeClr val="tx1"/>
                          </a:solidFill>
                          <a:latin typeface="+mj-lt"/>
                          <a:ea typeface="+mn-ea"/>
                          <a:cs typeface="+mn-cs"/>
                        </a:rPr>
                        <a:t>30,000 Piano HH * $7,500 per piano = $225,000,000 Total Market Size / 40 years = </a:t>
                      </a:r>
                    </a:p>
                    <a:p>
                      <a:pPr marL="0" lvl="0" indent="0">
                        <a:buFont typeface="Arial" pitchFamily="34" charset="0"/>
                        <a:buNone/>
                      </a:pPr>
                      <a:r>
                        <a:rPr lang="en-US" sz="1200" b="0" i="0" u="none" kern="1200" baseline="0" dirty="0" smtClean="0">
                          <a:solidFill>
                            <a:schemeClr val="tx1"/>
                          </a:solidFill>
                          <a:latin typeface="+mj-lt"/>
                          <a:ea typeface="+mn-ea"/>
                          <a:cs typeface="+mn-cs"/>
                        </a:rPr>
                        <a:t>$5.6 MM / Year</a:t>
                      </a:r>
                    </a:p>
                    <a:p>
                      <a:pPr marL="171450" lvl="0" indent="-171450">
                        <a:buFont typeface="Arial" pitchFamily="34" charset="0"/>
                        <a:buChar char="•"/>
                      </a:pPr>
                      <a:endParaRPr lang="en-US" sz="1200" b="1" i="0" kern="1200" dirty="0" smtClean="0">
                        <a:solidFill>
                          <a:schemeClr val="tx1"/>
                        </a:solidFill>
                        <a:latin typeface="+mj-lt"/>
                        <a:ea typeface="+mn-ea"/>
                        <a:cs typeface="+mn-cs"/>
                      </a:endParaRPr>
                    </a:p>
                  </a:txBody>
                  <a:tcPr>
                    <a:solidFill>
                      <a:srgbClr val="CCCCCC"/>
                    </a:solidFill>
                  </a:tcPr>
                </a:tc>
              </a:tr>
            </a:tbl>
          </a:graphicData>
        </a:graphic>
      </p:graphicFrame>
      <p:pic>
        <p:nvPicPr>
          <p:cNvPr id="49162"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9163" name="TextBox 6"/>
          <p:cNvSpPr txBox="1">
            <a:spLocks noChangeArrowheads="1"/>
          </p:cNvSpPr>
          <p:nvPr/>
        </p:nvSpPr>
        <p:spPr bwMode="auto">
          <a:xfrm>
            <a:off x="228600" y="990600"/>
            <a:ext cx="2133600" cy="307777"/>
          </a:xfrm>
          <a:prstGeom prst="rect">
            <a:avLst/>
          </a:prstGeom>
          <a:noFill/>
          <a:ln w="9525">
            <a:noFill/>
            <a:miter lim="800000"/>
            <a:headEnd/>
            <a:tailEnd/>
          </a:ln>
        </p:spPr>
        <p:txBody>
          <a:bodyPr wrap="square">
            <a:spAutoFit/>
          </a:bodyPr>
          <a:lstStyle/>
          <a:p>
            <a:r>
              <a:rPr lang="en-US" sz="1400" i="1" dirty="0" smtClean="0"/>
              <a:t>Market Sizing</a:t>
            </a:r>
            <a:endParaRPr lang="en-US" sz="1400" i="1" dirty="0"/>
          </a:p>
        </p:txBody>
      </p:sp>
      <p:sp>
        <p:nvSpPr>
          <p:cNvPr id="49166"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3: Pianos</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31</a:t>
            </a:fld>
            <a:endParaRPr lang="en-US" dirty="0"/>
          </a:p>
        </p:txBody>
      </p:sp>
    </p:spTree>
    <p:extLst>
      <p:ext uri="{BB962C8B-B14F-4D97-AF65-F5344CB8AC3E}">
        <p14:creationId xmlns:p14="http://schemas.microsoft.com/office/powerpoint/2010/main" val="30413820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487876592"/>
              </p:ext>
            </p:extLst>
          </p:nvPr>
        </p:nvGraphicFramePr>
        <p:xfrm>
          <a:off x="304800" y="1295400"/>
          <a:ext cx="8534400" cy="2651760"/>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b="1" i="0" dirty="0" smtClean="0">
                          <a:latin typeface="+mj-lt"/>
                        </a:rPr>
                        <a:t>Performance Evaluation</a:t>
                      </a:r>
                      <a:endParaRPr lang="en-US" sz="1000" i="0" dirty="0">
                        <a:latin typeface="+mj-lt"/>
                      </a:endParaRPr>
                    </a:p>
                  </a:txBody>
                  <a:tcPr anchor="ctr">
                    <a:solidFill>
                      <a:srgbClr val="FFFFFF"/>
                    </a:solidFill>
                  </a:tcP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indent="-171450">
                        <a:buFont typeface="Arial" pitchFamily="34" charset="0"/>
                        <a:buChar char="•"/>
                      </a:pPr>
                      <a:r>
                        <a:rPr lang="en-US" sz="1200" b="0" i="0" kern="1200" baseline="0" dirty="0" smtClean="0">
                          <a:solidFill>
                            <a:schemeClr val="tx1"/>
                          </a:solidFill>
                          <a:latin typeface="+mj-lt"/>
                          <a:ea typeface="+mn-ea"/>
                          <a:cs typeface="+mn-cs"/>
                        </a:rPr>
                        <a:t>Candidate develops a structured approach to finding a solution</a:t>
                      </a:r>
                    </a:p>
                    <a:p>
                      <a:pPr marL="171450" indent="-171450">
                        <a:buFont typeface="Arial" pitchFamily="34" charset="0"/>
                        <a:buChar char="•"/>
                      </a:pPr>
                      <a:r>
                        <a:rPr lang="en-US" sz="1200" b="0" i="0" kern="1200" baseline="0" dirty="0" smtClean="0">
                          <a:solidFill>
                            <a:schemeClr val="tx1"/>
                          </a:solidFill>
                          <a:latin typeface="+mj-lt"/>
                          <a:ea typeface="+mn-ea"/>
                          <a:cs typeface="+mn-cs"/>
                        </a:rPr>
                        <a:t>Clarifies assumptions that he/she makes based on reasonable logic</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Completes all “Expected” requirements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Picks easy numbers or rounds appropriately to simplify calculations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Clearly walk the interviewer through the calculations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Completes all “Excellent” requirements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Arrives confidently at the final number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Provides an explanation as to how changes to assumptions would affect the estimation</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dirty="0" smtClean="0">
                        <a:solidFill>
                          <a:schemeClr val="tx1"/>
                        </a:solidFill>
                        <a:latin typeface="+mj-lt"/>
                        <a:ea typeface="+mn-ea"/>
                        <a:cs typeface="+mn-cs"/>
                      </a:endParaRPr>
                    </a:p>
                  </a:txBody>
                  <a:tcPr>
                    <a:solidFill>
                      <a:srgbClr val="FFFFFF"/>
                    </a:solidFill>
                  </a:tcPr>
                </a:tc>
              </a:tr>
            </a:tbl>
          </a:graphicData>
        </a:graphic>
      </p:graphicFrame>
      <p:pic>
        <p:nvPicPr>
          <p:cNvPr id="49162"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9163" name="TextBox 6"/>
          <p:cNvSpPr txBox="1">
            <a:spLocks noChangeArrowheads="1"/>
          </p:cNvSpPr>
          <p:nvPr/>
        </p:nvSpPr>
        <p:spPr bwMode="auto">
          <a:xfrm>
            <a:off x="228600" y="990600"/>
            <a:ext cx="2133600" cy="307777"/>
          </a:xfrm>
          <a:prstGeom prst="rect">
            <a:avLst/>
          </a:prstGeom>
          <a:noFill/>
          <a:ln w="9525">
            <a:noFill/>
            <a:miter lim="800000"/>
            <a:headEnd/>
            <a:tailEnd/>
          </a:ln>
        </p:spPr>
        <p:txBody>
          <a:bodyPr wrap="square">
            <a:spAutoFit/>
          </a:bodyPr>
          <a:lstStyle/>
          <a:p>
            <a:r>
              <a:rPr lang="en-US" sz="1400" i="1" dirty="0" smtClean="0"/>
              <a:t>Market Sizing</a:t>
            </a:r>
            <a:endParaRPr lang="en-US" sz="1400" i="1" dirty="0"/>
          </a:p>
        </p:txBody>
      </p:sp>
      <p:sp>
        <p:nvSpPr>
          <p:cNvPr id="49166"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3: Pianos</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32</a:t>
            </a:fld>
            <a:endParaRPr lang="en-US" dirty="0"/>
          </a:p>
        </p:txBody>
      </p:sp>
    </p:spTree>
    <p:extLst>
      <p:ext uri="{BB962C8B-B14F-4D97-AF65-F5344CB8AC3E}">
        <p14:creationId xmlns:p14="http://schemas.microsoft.com/office/powerpoint/2010/main" val="25948632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33</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ctrTitle"/>
          </p:nvPr>
        </p:nvSpPr>
        <p:spPr/>
        <p:txBody>
          <a:bodyPr anchor="ctr"/>
          <a:lstStyle/>
          <a:p>
            <a:pPr algn="ctr"/>
            <a:r>
              <a:rPr lang="en-US" dirty="0" smtClean="0">
                <a:ea typeface="ＭＳ Ｐゴシック" pitchFamily="34" charset="-128"/>
              </a:rPr>
              <a:t>Valuation</a:t>
            </a:r>
          </a:p>
        </p:txBody>
      </p:sp>
      <p:sp>
        <p:nvSpPr>
          <p:cNvPr id="52228" name="Slide Number Placeholder 3"/>
          <p:cNvSpPr>
            <a:spLocks noGrp="1"/>
          </p:cNvSpPr>
          <p:nvPr>
            <p:ph type="sldNum" sz="quarter" idx="11"/>
          </p:nvPr>
        </p:nvSpPr>
        <p:spPr>
          <a:noFill/>
        </p:spPr>
        <p:txBody>
          <a:bodyPr/>
          <a:lstStyle/>
          <a:p>
            <a:fld id="{C2F0E5DA-D40C-4DA4-B788-426C9DE1064D}" type="slidenum">
              <a:rPr lang="en-US" smtClean="0">
                <a:latin typeface="Arial" pitchFamily="34" charset="0"/>
                <a:ea typeface="ＭＳ Ｐゴシック" pitchFamily="34" charset="-128"/>
              </a:rPr>
              <a:pPr/>
              <a:t>34</a:t>
            </a:fld>
            <a:endParaRPr lang="en-US" smtClean="0">
              <a:latin typeface="Arial" pitchFamily="34" charset="0"/>
              <a:ea typeface="ＭＳ Ｐゴシック" pitchFamily="34" charset="-128"/>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4: US </a:t>
            </a:r>
            <a:r>
              <a:rPr lang="en-US" sz="2400" b="1" dirty="0" err="1" smtClean="0"/>
              <a:t>Pharma</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1756811807"/>
              </p:ext>
            </p:extLst>
          </p:nvPr>
        </p:nvGraphicFramePr>
        <p:xfrm>
          <a:off x="304800" y="1381125"/>
          <a:ext cx="8534400" cy="365760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Your client is pharmaceutical company</a:t>
                      </a:r>
                      <a:r>
                        <a:rPr lang="en-US" sz="1200" b="0" i="0" kern="1200" baseline="0" dirty="0" smtClean="0">
                          <a:solidFill>
                            <a:schemeClr val="tx1"/>
                          </a:solidFill>
                          <a:latin typeface="+mj-lt"/>
                          <a:ea typeface="+mn-ea"/>
                          <a:cs typeface="+mn-cs"/>
                        </a:rPr>
                        <a:t> called </a:t>
                      </a:r>
                      <a:r>
                        <a:rPr lang="en-US" sz="1200" b="0" i="0" kern="1200" baseline="0" dirty="0" smtClean="0">
                          <a:solidFill>
                            <a:schemeClr val="tx1"/>
                          </a:solidFill>
                          <a:latin typeface="+mn-lt"/>
                          <a:ea typeface="+mn-ea"/>
                          <a:cs typeface="+mn-cs"/>
                        </a:rPr>
                        <a:t>US </a:t>
                      </a:r>
                      <a:r>
                        <a:rPr lang="en-US" sz="1200" b="0" i="0" kern="1200" baseline="0" dirty="0" err="1" smtClean="0">
                          <a:solidFill>
                            <a:schemeClr val="tx1"/>
                          </a:solidFill>
                          <a:latin typeface="+mn-lt"/>
                          <a:ea typeface="+mn-ea"/>
                          <a:cs typeface="+mn-cs"/>
                        </a:rPr>
                        <a:t>Pharma</a:t>
                      </a:r>
                      <a:r>
                        <a:rPr lang="en-US" sz="1200" b="0" i="0" kern="1200" baseline="0" dirty="0" smtClean="0">
                          <a:solidFill>
                            <a:schemeClr val="tx1"/>
                          </a:solidFill>
                          <a:latin typeface="+mj-lt"/>
                          <a:ea typeface="+mn-ea"/>
                          <a:cs typeface="+mn-cs"/>
                        </a:rPr>
                        <a:t>. They just got FDA approval for a new anti-depressant drug that is expected to become a big hit for the company. </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A previous market study shows that the demand will be very high for this new drug. Therefore, US </a:t>
                      </a:r>
                      <a:r>
                        <a:rPr lang="en-US" sz="1200" b="0" i="0" kern="1200" baseline="0" dirty="0" err="1" smtClean="0">
                          <a:solidFill>
                            <a:schemeClr val="tx1"/>
                          </a:solidFill>
                          <a:latin typeface="+mj-lt"/>
                          <a:ea typeface="+mn-ea"/>
                          <a:cs typeface="+mn-cs"/>
                        </a:rPr>
                        <a:t>Pharma</a:t>
                      </a:r>
                      <a:r>
                        <a:rPr lang="en-US" sz="1200" b="0" i="0" kern="1200" baseline="0" dirty="0" smtClean="0">
                          <a:solidFill>
                            <a:schemeClr val="tx1"/>
                          </a:solidFill>
                          <a:latin typeface="+mj-lt"/>
                          <a:ea typeface="+mn-ea"/>
                          <a:cs typeface="+mn-cs"/>
                        </a:rPr>
                        <a:t> will have to either expand its current factory in Texas or build a new one in Virginia, closer to the port.</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How will you approach this problem and help your client make a decision?</a:t>
                      </a:r>
                    </a:p>
                    <a:p>
                      <a:endParaRPr lang="en-US" sz="1200" b="1" i="0" kern="1200" baseline="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This a investment</a:t>
                      </a:r>
                      <a:r>
                        <a:rPr lang="en-US" sz="1200" b="0" i="0" u="none" kern="1200" baseline="0" dirty="0" smtClean="0">
                          <a:solidFill>
                            <a:schemeClr val="tx1"/>
                          </a:solidFill>
                          <a:latin typeface="+mj-lt"/>
                          <a:ea typeface="+mn-ea"/>
                          <a:cs typeface="+mn-cs"/>
                        </a:rPr>
                        <a:t> decision</a:t>
                      </a:r>
                      <a:r>
                        <a:rPr lang="en-US" sz="1200" b="0" i="0" u="none" kern="1200" dirty="0" smtClean="0">
                          <a:solidFill>
                            <a:schemeClr val="tx1"/>
                          </a:solidFill>
                          <a:latin typeface="+mj-lt"/>
                          <a:ea typeface="+mn-ea"/>
                          <a:cs typeface="+mn-cs"/>
                        </a:rPr>
                        <a:t> case and </a:t>
                      </a:r>
                      <a:r>
                        <a:rPr lang="en-US" sz="1200" b="0" i="0" kern="1200" baseline="0" dirty="0" smtClean="0">
                          <a:solidFill>
                            <a:schemeClr val="tx1"/>
                          </a:solidFill>
                          <a:latin typeface="+mn-lt"/>
                          <a:ea typeface="+mn-ea"/>
                          <a:cs typeface="+mn-cs"/>
                        </a:rPr>
                        <a:t>the company wants to invest in the higher NPV option. </a:t>
                      </a: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 company s</a:t>
                      </a:r>
                      <a:r>
                        <a:rPr lang="en-US" sz="1200" b="0" i="0" kern="1200" baseline="0" dirty="0" smtClean="0">
                          <a:solidFill>
                            <a:schemeClr val="tx1"/>
                          </a:solidFill>
                          <a:latin typeface="+mj-lt"/>
                          <a:ea typeface="+mn-ea"/>
                          <a:cs typeface="+mn-cs"/>
                        </a:rPr>
                        <a:t>ells many kind of drugs in US and Europe, their second largest market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 new drug is also approved to be sold in Europe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Orient the candidate to focus only on the new anti-depressant drug. The other drugs are not important in this case. Ask the candidate to present his/her framework first before providing any information from the following page.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Valuation</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35</a:t>
            </a:fld>
            <a:endParaRPr lang="en-US" dirty="0"/>
          </a:p>
        </p:txBody>
      </p:sp>
    </p:spTree>
    <p:extLst>
      <p:ext uri="{BB962C8B-B14F-4D97-AF65-F5344CB8AC3E}">
        <p14:creationId xmlns:p14="http://schemas.microsoft.com/office/powerpoint/2010/main" val="1004175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36</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328641563"/>
              </p:ext>
            </p:extLst>
          </p:nvPr>
        </p:nvGraphicFramePr>
        <p:xfrm>
          <a:off x="304800" y="1295400"/>
          <a:ext cx="8765628" cy="5394960"/>
        </p:xfrm>
        <a:graphic>
          <a:graphicData uri="http://schemas.openxmlformats.org/drawingml/2006/table">
            <a:tbl>
              <a:tblPr firstRow="1" bandRow="1">
                <a:tableStyleId>{616DA210-FB5B-4158-B5E0-FEB733F419BA}</a:tableStyleId>
              </a:tblPr>
              <a:tblGrid>
                <a:gridCol w="1460938"/>
                <a:gridCol w="730469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u="none" kern="1200" baseline="0" dirty="0" smtClean="0">
                          <a:solidFill>
                            <a:schemeClr val="tx1"/>
                          </a:solidFill>
                          <a:latin typeface="+mn-lt"/>
                          <a:ea typeface="+mn-ea"/>
                          <a:cs typeface="+mn-cs"/>
                        </a:rPr>
                        <a:t>Investment:</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Expand facility in Texas: $ 36 M</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Build a new facility in Virginia: $ 50 M</a:t>
                      </a:r>
                      <a:endParaRPr lang="en-US" sz="1200" b="0" i="0" u="none"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lang="en-US" sz="1200" b="0" i="0" u="none" kern="1200" baseline="0" dirty="0" smtClean="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b="0" i="0" u="none" kern="1200" baseline="0" dirty="0" smtClean="0">
                          <a:solidFill>
                            <a:schemeClr val="tx1"/>
                          </a:solidFill>
                          <a:latin typeface="+mn-lt"/>
                          <a:ea typeface="+mn-ea"/>
                          <a:cs typeface="+mn-cs"/>
                        </a:rPr>
                        <a:t>Demand:</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10,000,000 pills in US and 5,000,000 pills in Europe</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Price: Average price per pill: $ 2 in US and $ 3 in Europe</a:t>
                      </a:r>
                      <a:endParaRPr lang="en-US" sz="1200" b="0" i="0" u="none"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u="none"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Costs: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Labor cost:</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Texas: $50,000 per year per employee</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Virginia: It is expected that in Virginia, the labor cost will be 10% lower</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Both plants will need 100 employees</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SG&amp;A: $250,000 per year for each option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Raw materials: to produce the drug, US </a:t>
                      </a:r>
                      <a:r>
                        <a:rPr lang="en-US" sz="1200" b="0" i="0" u="none" kern="1200" baseline="0" dirty="0" err="1" smtClean="0">
                          <a:solidFill>
                            <a:schemeClr val="tx1"/>
                          </a:solidFill>
                          <a:latin typeface="+mj-lt"/>
                          <a:ea typeface="+mn-ea"/>
                          <a:cs typeface="+mn-cs"/>
                        </a:rPr>
                        <a:t>Pharma</a:t>
                      </a:r>
                      <a:r>
                        <a:rPr lang="en-US" sz="1200" b="0" i="0" u="none" kern="1200" baseline="0" dirty="0" smtClean="0">
                          <a:solidFill>
                            <a:schemeClr val="tx1"/>
                          </a:solidFill>
                          <a:latin typeface="+mj-lt"/>
                          <a:ea typeface="+mn-ea"/>
                          <a:cs typeface="+mn-cs"/>
                        </a:rPr>
                        <a:t> needs 3 compounds: A, B and C</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Compound A: $ 0.1 per pill</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Compound B: $ 0.7 per pill</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Compound C: $ 0.2 per pill</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Production cost: $ 0.5 per pill (same for both options)</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Inbound transportation Cost (transportation from the supplier to the factory):</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Texas: 10% of the compound cost</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Virginia: 5% (all the compounds are imported and enter the US throughout the port in Virginia)</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pt-BR" sz="1200" b="0" i="0" u="none" kern="1200" baseline="0" dirty="0" smtClean="0">
                          <a:solidFill>
                            <a:schemeClr val="tx1"/>
                          </a:solidFill>
                          <a:latin typeface="+mj-lt"/>
                          <a:ea typeface="+mn-ea"/>
                          <a:cs typeface="+mn-cs"/>
                        </a:rPr>
                        <a:t>Outbound transportation cost (transportation from the factory to the distributors): Not relevant</a:t>
                      </a:r>
                      <a:endParaRPr lang="en-US" sz="1200" b="0" i="0" u="none" kern="1200" baseline="0" dirty="0" smtClean="0">
                        <a:solidFill>
                          <a:schemeClr val="tx1"/>
                        </a:solidFill>
                        <a:latin typeface="+mj-lt"/>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Depreciation: Straight line depreciation. The total investment will be fully depreciated in 10 years</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Taxes: 33% for both options</a:t>
                      </a:r>
                      <a:endParaRPr lang="en-US" sz="1200" b="0" i="0" u="none" kern="1200" baseline="0" dirty="0" smtClean="0">
                        <a:solidFill>
                          <a:schemeClr val="tx1"/>
                        </a:solidFill>
                        <a:latin typeface="+mj-lt"/>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Cost of capital: 10% per year</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u="none"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b="0" i="0" u="none" kern="1200" baseline="0" dirty="0" smtClean="0">
                          <a:solidFill>
                            <a:schemeClr val="tx1"/>
                          </a:solidFill>
                          <a:latin typeface="+mj-lt"/>
                          <a:ea typeface="+mn-ea"/>
                          <a:cs typeface="+mn-cs"/>
                        </a:rPr>
                        <a:t>There is no change in the working capital and capital expenditure. The candidate can assume that the earnings of this year will repeat in a perpetuity.</a:t>
                      </a: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Valuation</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4: US </a:t>
            </a:r>
            <a:r>
              <a:rPr lang="en-US" sz="2400" b="1" dirty="0" err="1"/>
              <a:t>Pharma</a:t>
            </a:r>
            <a:endParaRPr lang="en-US" sz="2400" b="1" dirty="0"/>
          </a:p>
        </p:txBody>
      </p:sp>
    </p:spTree>
    <p:extLst>
      <p:ext uri="{BB962C8B-B14F-4D97-AF65-F5344CB8AC3E}">
        <p14:creationId xmlns:p14="http://schemas.microsoft.com/office/powerpoint/2010/main" val="34659490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4: US </a:t>
            </a:r>
            <a:r>
              <a:rPr lang="en-US" sz="2400" b="1" dirty="0" err="1"/>
              <a:t>Pharma</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203663023"/>
              </p:ext>
            </p:extLst>
          </p:nvPr>
        </p:nvGraphicFramePr>
        <p:xfrm>
          <a:off x="304800" y="1381125"/>
          <a:ext cx="8534400" cy="448056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i="0" dirty="0" smtClean="0"/>
                        <a:t>Guidance</a:t>
                      </a:r>
                      <a:endParaRPr lang="en-US" i="0" dirty="0"/>
                    </a:p>
                  </a:txBody>
                  <a:tcPr anchor="ctr">
                    <a:solidFill>
                      <a:srgbClr val="CCCCCC"/>
                    </a:solidFill>
                  </a:tcPr>
                </a:tc>
                <a:tc>
                  <a:txBody>
                    <a:bodyPr/>
                    <a:lstStyle/>
                    <a:p>
                      <a:r>
                        <a:rPr lang="en-US" sz="1200" b="0" i="0" kern="1200" baseline="0" dirty="0" smtClean="0">
                          <a:solidFill>
                            <a:schemeClr val="tx1"/>
                          </a:solidFill>
                          <a:latin typeface="+mj-lt"/>
                          <a:ea typeface="+mn-ea"/>
                          <a:cs typeface="+mn-cs"/>
                        </a:rPr>
                        <a:t>Revenue = Revenue in US + Revenue in Europe = $2 x 10M + $3 x 5M = 35M (for both options)</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Costs: </a:t>
                      </a:r>
                    </a:p>
                    <a:p>
                      <a:r>
                        <a:rPr lang="en-US" sz="1200" b="0" i="0" kern="1200" baseline="0" dirty="0" smtClean="0">
                          <a:solidFill>
                            <a:schemeClr val="tx1"/>
                          </a:solidFill>
                          <a:latin typeface="+mj-lt"/>
                          <a:ea typeface="+mn-ea"/>
                          <a:cs typeface="+mn-cs"/>
                        </a:rPr>
                        <a:t>Labor cost in Texas= $50,000 x 100 = $5 M</a:t>
                      </a:r>
                    </a:p>
                    <a:p>
                      <a:r>
                        <a:rPr lang="en-US" sz="1200" b="0" i="0" kern="1200" baseline="0" dirty="0" smtClean="0">
                          <a:solidFill>
                            <a:schemeClr val="tx1"/>
                          </a:solidFill>
                          <a:latin typeface="+mj-lt"/>
                          <a:ea typeface="+mn-ea"/>
                          <a:cs typeface="+mn-cs"/>
                        </a:rPr>
                        <a:t>Labor cost in Virginia = $5 M x 90% = $4.5 M</a:t>
                      </a:r>
                    </a:p>
                    <a:p>
                      <a:r>
                        <a:rPr lang="en-US" sz="1200" b="0" i="0" kern="1200" baseline="0" dirty="0" smtClean="0">
                          <a:solidFill>
                            <a:schemeClr val="tx1"/>
                          </a:solidFill>
                          <a:latin typeface="+mj-lt"/>
                          <a:ea typeface="+mn-ea"/>
                          <a:cs typeface="+mn-cs"/>
                        </a:rPr>
                        <a:t>Compounds cost = (</a:t>
                      </a:r>
                      <a:r>
                        <a:rPr lang="en-US" sz="1200" b="0" i="0" kern="1200" baseline="0" dirty="0" smtClean="0">
                          <a:solidFill>
                            <a:schemeClr val="tx1"/>
                          </a:solidFill>
                          <a:latin typeface="+mn-lt"/>
                          <a:ea typeface="+mn-ea"/>
                          <a:cs typeface="+mn-cs"/>
                        </a:rPr>
                        <a:t>0.1 + 0.7 + 0.2) x 15 M pills = $15 M (for both options)</a:t>
                      </a:r>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Production cost = $0.5 x 15 M pills = $7.5 M (for both options)</a:t>
                      </a:r>
                    </a:p>
                    <a:p>
                      <a:r>
                        <a:rPr lang="en-US" sz="1200" b="0" i="0" kern="1200" baseline="0" dirty="0" smtClean="0">
                          <a:solidFill>
                            <a:schemeClr val="tx1"/>
                          </a:solidFill>
                          <a:latin typeface="+mj-lt"/>
                          <a:ea typeface="+mn-ea"/>
                          <a:cs typeface="+mn-cs"/>
                        </a:rPr>
                        <a:t>Logistics cost in Texas = 10% x $15 M = $1.5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Logistics cost in Virginia = 5% x $15 M = $0.75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Depreciation in Texas = $36 M x 10% = $3.6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Depreciation in Virginia = $50 M x 10% = $5 M</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SG&amp;A = $0.25 K (for both options)</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Total cost in Texas = $5 M + $15 M + $7.5 M + $1.5M + $3.6 M + $0.25 M = $ 32.85 M</a:t>
                      </a:r>
                    </a:p>
                    <a:p>
                      <a:r>
                        <a:rPr lang="en-US" sz="1200" b="0" i="0" kern="1200" baseline="0" dirty="0" smtClean="0">
                          <a:solidFill>
                            <a:schemeClr val="tx1"/>
                          </a:solidFill>
                          <a:latin typeface="+mj-lt"/>
                          <a:ea typeface="+mn-ea"/>
                          <a:cs typeface="+mn-cs"/>
                        </a:rPr>
                        <a:t>Operational profit in Texas = $35M - $32.85 = $2.15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Taxes in Texas = </a:t>
                      </a:r>
                      <a:r>
                        <a:rPr lang="en-US" sz="1200" b="0" i="0" kern="1200" baseline="0" dirty="0" smtClean="0">
                          <a:solidFill>
                            <a:schemeClr val="tx1"/>
                          </a:solidFill>
                          <a:latin typeface="+mn-lt"/>
                          <a:ea typeface="+mn-ea"/>
                          <a:cs typeface="+mn-cs"/>
                        </a:rPr>
                        <a:t> $2.15 M x 33% = $0.71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Net earnings in Texas = $2.15 M - $0.71 M = $1.44 M</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n-lt"/>
                          <a:ea typeface="+mn-ea"/>
                          <a:cs typeface="+mn-cs"/>
                        </a:rPr>
                        <a:t>Total cost in Virginia = $4.5 M + $15 M + $7.5 M + $0.75M + $5 M + $0.25 M = $ 33.00 M</a:t>
                      </a:r>
                    </a:p>
                    <a:p>
                      <a:r>
                        <a:rPr lang="en-US" sz="1200" b="0" i="0" kern="1200" baseline="0" dirty="0" smtClean="0">
                          <a:solidFill>
                            <a:schemeClr val="tx1"/>
                          </a:solidFill>
                          <a:latin typeface="+mn-lt"/>
                          <a:ea typeface="+mn-ea"/>
                          <a:cs typeface="+mn-cs"/>
                        </a:rPr>
                        <a:t>Operational profit in Virginia = $35M - $33.00 = $2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Taxes in Virginia =  $2 M x 33% = $0.66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Net earnings in Virginia = $2 M - $0.66 M = $1.34 M</a:t>
                      </a:r>
                    </a:p>
                    <a:p>
                      <a:endParaRPr lang="en-US" sz="1200" b="0" i="0" kern="1200" baseline="0" dirty="0" smtClean="0">
                        <a:solidFill>
                          <a:schemeClr val="tx1"/>
                        </a:solidFill>
                        <a:latin typeface="+mj-lt"/>
                        <a:ea typeface="+mn-ea"/>
                        <a:cs typeface="+mn-cs"/>
                      </a:endParaRPr>
                    </a:p>
                  </a:txBody>
                  <a:tcPr>
                    <a:solidFill>
                      <a:srgbClr val="CCCCCC"/>
                    </a:solidFill>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Valuation</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37</a:t>
            </a:fld>
            <a:endParaRPr lang="en-US" dirty="0"/>
          </a:p>
        </p:txBody>
      </p:sp>
    </p:spTree>
    <p:extLst>
      <p:ext uri="{BB962C8B-B14F-4D97-AF65-F5344CB8AC3E}">
        <p14:creationId xmlns:p14="http://schemas.microsoft.com/office/powerpoint/2010/main" val="421782919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4: US </a:t>
            </a:r>
            <a:r>
              <a:rPr lang="en-US" sz="2400" b="1" dirty="0" err="1"/>
              <a:t>Pharma</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489132902"/>
              </p:ext>
            </p:extLst>
          </p:nvPr>
        </p:nvGraphicFramePr>
        <p:xfrm>
          <a:off x="304800" y="1381125"/>
          <a:ext cx="8534400" cy="28346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Guidance</a:t>
                      </a:r>
                      <a:endParaRPr lang="en-US" dirty="0"/>
                    </a:p>
                  </a:txBody>
                  <a:tcPr anchor="ctr"/>
                </a:tc>
                <a:tc>
                  <a:txBody>
                    <a:bodyPr/>
                    <a:lstStyle/>
                    <a:p>
                      <a:r>
                        <a:rPr lang="en-US" sz="1200" b="0" i="0" kern="1200" baseline="0" dirty="0" smtClean="0">
                          <a:solidFill>
                            <a:schemeClr val="tx1"/>
                          </a:solidFill>
                          <a:latin typeface="+mn-lt"/>
                          <a:ea typeface="+mn-ea"/>
                          <a:cs typeface="+mn-cs"/>
                        </a:rPr>
                        <a:t>Calculating free cash flow:</a:t>
                      </a:r>
                    </a:p>
                    <a:p>
                      <a:r>
                        <a:rPr lang="en-US" sz="1200" b="0" i="0" kern="1200" baseline="0" dirty="0" smtClean="0">
                          <a:solidFill>
                            <a:schemeClr val="tx1"/>
                          </a:solidFill>
                          <a:latin typeface="+mn-lt"/>
                          <a:ea typeface="+mn-ea"/>
                          <a:cs typeface="+mn-cs"/>
                        </a:rPr>
                        <a:t>Free cash flow = Net earnings + Depreciation – Change in working capital – CAPEX</a:t>
                      </a:r>
                    </a:p>
                    <a:p>
                      <a:r>
                        <a:rPr lang="en-US" sz="1200" b="0" i="0" kern="1200" baseline="0" dirty="0" smtClean="0">
                          <a:solidFill>
                            <a:schemeClr val="tx1"/>
                          </a:solidFill>
                          <a:latin typeface="+mn-lt"/>
                          <a:ea typeface="+mn-ea"/>
                          <a:cs typeface="+mn-cs"/>
                        </a:rPr>
                        <a:t>Free cash flow in Texas = $1.44 M + $3.6 M + $0 + $0 = $5.04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Free cash flow in Virginia = $1.34 M + $5 M + $0 + $0 = $6.34 M</a:t>
                      </a:r>
                    </a:p>
                    <a:p>
                      <a:endParaRPr lang="en-US" sz="1200" b="0" i="0" kern="1200" baseline="0" dirty="0" smtClean="0">
                        <a:solidFill>
                          <a:schemeClr val="tx1"/>
                        </a:solidFill>
                        <a:latin typeface="+mn-lt"/>
                        <a:ea typeface="+mn-ea"/>
                        <a:cs typeface="+mn-cs"/>
                      </a:endParaRPr>
                    </a:p>
                    <a:p>
                      <a:r>
                        <a:rPr lang="en-US" sz="1200" b="0" i="0" kern="1200" baseline="0" dirty="0" smtClean="0">
                          <a:solidFill>
                            <a:schemeClr val="tx1"/>
                          </a:solidFill>
                          <a:latin typeface="+mn-lt"/>
                          <a:ea typeface="+mn-ea"/>
                          <a:cs typeface="+mn-cs"/>
                        </a:rPr>
                        <a:t>Calculating the NPV:</a:t>
                      </a:r>
                    </a:p>
                    <a:p>
                      <a:r>
                        <a:rPr lang="en-US" sz="1200" b="0" i="0" kern="1200" baseline="0" dirty="0" smtClean="0">
                          <a:solidFill>
                            <a:schemeClr val="tx1"/>
                          </a:solidFill>
                          <a:latin typeface="+mn-lt"/>
                          <a:ea typeface="+mn-ea"/>
                          <a:cs typeface="+mn-cs"/>
                        </a:rPr>
                        <a:t>NPV = (Free cash flow/Cost of capital) - Investment</a:t>
                      </a:r>
                    </a:p>
                    <a:p>
                      <a:r>
                        <a:rPr lang="en-US" sz="1200" b="0" i="0" kern="1200" baseline="0" dirty="0" smtClean="0">
                          <a:solidFill>
                            <a:schemeClr val="tx1"/>
                          </a:solidFill>
                          <a:latin typeface="+mn-lt"/>
                          <a:ea typeface="+mn-ea"/>
                          <a:cs typeface="+mn-cs"/>
                        </a:rPr>
                        <a:t>NPV in Texas = ($5.04 M / 10%) – $36 M = $50.4 M - $36 M = $14.4 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NPV in Virginia = ($6.34 M / 10%) – $50 M = $63.4 M - $50 M = $ 13.4 M</a:t>
                      </a:r>
                    </a:p>
                    <a:p>
                      <a:pPr marL="0" marR="0" indent="0" algn="l" defTabSz="457200" rtl="0" eaLnBrk="1" fontAlgn="auto" latinLnBrk="0" hangingPunct="1">
                        <a:lnSpc>
                          <a:spcPct val="100000"/>
                        </a:lnSpc>
                        <a:spcBef>
                          <a:spcPts val="0"/>
                        </a:spcBef>
                        <a:spcAft>
                          <a:spcPts val="0"/>
                        </a:spcAft>
                        <a:buClrTx/>
                        <a:buSzTx/>
                        <a:buFont typeface="Arial"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charset="0"/>
                        <a:buNone/>
                        <a:tabLst/>
                        <a:defRPr/>
                      </a:pPr>
                      <a:r>
                        <a:rPr lang="en-US" sz="1200" b="0" i="0" kern="1200" baseline="0" dirty="0" smtClean="0">
                          <a:solidFill>
                            <a:schemeClr val="tx1"/>
                          </a:solidFill>
                          <a:latin typeface="+mn-lt"/>
                          <a:ea typeface="+mn-ea"/>
                          <a:cs typeface="+mn-cs"/>
                        </a:rPr>
                        <a:t>Note: if the candidate forgets to add back the depreciation, both options will have a negative NPV.</a:t>
                      </a:r>
                    </a:p>
                    <a:p>
                      <a:pPr marL="0" marR="0" indent="0" algn="l" defTabSz="457200" rtl="0" eaLnBrk="1" fontAlgn="auto" latinLnBrk="0" hangingPunct="1">
                        <a:lnSpc>
                          <a:spcPct val="100000"/>
                        </a:lnSpc>
                        <a:spcBef>
                          <a:spcPts val="0"/>
                        </a:spcBef>
                        <a:spcAft>
                          <a:spcPts val="0"/>
                        </a:spcAft>
                        <a:buClrTx/>
                        <a:buSzTx/>
                        <a:buFont typeface="Arial"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charset="0"/>
                        <a:buNone/>
                        <a:tabLst/>
                        <a:defRPr/>
                      </a:pPr>
                      <a:r>
                        <a:rPr lang="en-US" sz="1200" b="0" i="0" kern="1200" baseline="0" dirty="0" smtClean="0">
                          <a:solidFill>
                            <a:schemeClr val="tx1"/>
                          </a:solidFill>
                          <a:latin typeface="+mn-lt"/>
                          <a:ea typeface="+mn-ea"/>
                          <a:cs typeface="+mn-cs"/>
                        </a:rPr>
                        <a:t>Eventually, he/she should conclude that </a:t>
                      </a:r>
                      <a:r>
                        <a:rPr lang="x-none" sz="1200" b="0" i="0" kern="1200" baseline="0" smtClean="0">
                          <a:solidFill>
                            <a:schemeClr val="tx1"/>
                          </a:solidFill>
                          <a:latin typeface="+mn-lt"/>
                          <a:ea typeface="+mn-ea"/>
                          <a:cs typeface="+mn-cs"/>
                        </a:rPr>
                        <a:t>US Pharma should expand the facility in Texas, because that’s the option </a:t>
                      </a:r>
                      <a:r>
                        <a:rPr lang="en-US" sz="1200" b="0" i="0" kern="1200" baseline="0" dirty="0" smtClean="0">
                          <a:solidFill>
                            <a:schemeClr val="tx1"/>
                          </a:solidFill>
                          <a:latin typeface="+mn-lt"/>
                          <a:ea typeface="+mn-ea"/>
                          <a:cs typeface="+mn-cs"/>
                        </a:rPr>
                        <a:t>with t</a:t>
                      </a:r>
                      <a:r>
                        <a:rPr lang="x-none" sz="1200" b="0" i="0" kern="1200" baseline="0" smtClean="0">
                          <a:solidFill>
                            <a:schemeClr val="tx1"/>
                          </a:solidFill>
                          <a:latin typeface="+mn-lt"/>
                          <a:ea typeface="+mn-ea"/>
                          <a:cs typeface="+mn-cs"/>
                        </a:rPr>
                        <a:t>he highest NPV.</a:t>
                      </a:r>
                    </a:p>
                    <a:p>
                      <a:pPr marL="0" marR="0" indent="0" algn="l" defTabSz="457200" rtl="0" eaLnBrk="1" fontAlgn="auto" latinLnBrk="0" hangingPunct="1">
                        <a:lnSpc>
                          <a:spcPct val="100000"/>
                        </a:lnSpc>
                        <a:spcBef>
                          <a:spcPts val="0"/>
                        </a:spcBef>
                        <a:spcAft>
                          <a:spcPts val="0"/>
                        </a:spcAft>
                        <a:buClrTx/>
                        <a:buSzTx/>
                        <a:buFont typeface="Arial" charset="0"/>
                        <a:buNone/>
                        <a:tabLst/>
                        <a:defRP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Valuation</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38</a:t>
            </a:fld>
            <a:endParaRPr lang="en-US" dirty="0"/>
          </a:p>
        </p:txBody>
      </p:sp>
    </p:spTree>
    <p:extLst>
      <p:ext uri="{BB962C8B-B14F-4D97-AF65-F5344CB8AC3E}">
        <p14:creationId xmlns:p14="http://schemas.microsoft.com/office/powerpoint/2010/main" val="10550346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4: US </a:t>
            </a:r>
            <a:r>
              <a:rPr lang="en-US" sz="2400" b="1" dirty="0" err="1"/>
              <a:t>Pharma</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1327451815"/>
              </p:ext>
            </p:extLst>
          </p:nvPr>
        </p:nvGraphicFramePr>
        <p:xfrm>
          <a:off x="304800" y="1381125"/>
          <a:ext cx="8534400" cy="38760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1" i="0" kern="1200" baseline="0" dirty="0" smtClean="0">
                          <a:solidFill>
                            <a:schemeClr val="tx1"/>
                          </a:solidFill>
                          <a:latin typeface="+mn-lt"/>
                          <a:ea typeface="+mn-ea"/>
                          <a:cs typeface="+mn-cs"/>
                        </a:rPr>
                        <a:t>Besides the fact that expanding the factory in Texas has the highest NPV, what other benefits may US </a:t>
                      </a:r>
                      <a:r>
                        <a:rPr lang="en-US" sz="1200" b="1" i="0" kern="1200" baseline="0" dirty="0" err="1" smtClean="0">
                          <a:solidFill>
                            <a:schemeClr val="tx1"/>
                          </a:solidFill>
                          <a:latin typeface="+mn-lt"/>
                          <a:ea typeface="+mn-ea"/>
                          <a:cs typeface="+mn-cs"/>
                        </a:rPr>
                        <a:t>Pharma</a:t>
                      </a:r>
                      <a:r>
                        <a:rPr lang="en-US" sz="1200" b="1" i="0" kern="1200" baseline="0" dirty="0" smtClean="0">
                          <a:solidFill>
                            <a:schemeClr val="tx1"/>
                          </a:solidFill>
                          <a:latin typeface="+mn-lt"/>
                          <a:ea typeface="+mn-ea"/>
                          <a:cs typeface="+mn-cs"/>
                        </a:rPr>
                        <a:t> get by choosing this option?</a:t>
                      </a: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x-none" sz="1200" b="0" i="0" kern="1200" baseline="0" smtClean="0">
                          <a:solidFill>
                            <a:schemeClr val="tx1"/>
                          </a:solidFill>
                          <a:latin typeface="+mj-lt"/>
                          <a:ea typeface="+mn-ea"/>
                          <a:cs typeface="+mn-cs"/>
                        </a:rPr>
                        <a:t>This </a:t>
                      </a:r>
                      <a:r>
                        <a:rPr lang="x-none" sz="1200" b="0" i="0" kern="1200" baseline="0" dirty="0" smtClean="0">
                          <a:solidFill>
                            <a:schemeClr val="tx1"/>
                          </a:solidFill>
                          <a:latin typeface="+mj-lt"/>
                          <a:ea typeface="+mn-ea"/>
                          <a:cs typeface="+mn-cs"/>
                        </a:rPr>
                        <a:t>is a brain storming question (the “what else </a:t>
                      </a:r>
                      <a:r>
                        <a:rPr lang="x-none" sz="1200" b="0" i="0" kern="1200" baseline="0" smtClean="0">
                          <a:solidFill>
                            <a:schemeClr val="tx1"/>
                          </a:solidFill>
                          <a:latin typeface="+mj-lt"/>
                          <a:ea typeface="+mn-ea"/>
                          <a:cs typeface="+mn-cs"/>
                        </a:rPr>
                        <a:t>part”).</a:t>
                      </a:r>
                      <a:r>
                        <a:rPr lang="en-US" sz="1200" b="0" i="0" kern="1200" baseline="0" dirty="0" smtClean="0">
                          <a:solidFill>
                            <a:schemeClr val="tx1"/>
                          </a:solidFill>
                          <a:latin typeface="+mj-lt"/>
                          <a:ea typeface="+mn-ea"/>
                          <a:cs typeface="+mn-cs"/>
                        </a:rPr>
                        <a:t> </a:t>
                      </a:r>
                      <a:r>
                        <a:rPr lang="x-none" sz="1200" b="0" i="0" kern="1200" baseline="0" smtClean="0">
                          <a:solidFill>
                            <a:schemeClr val="tx1"/>
                          </a:solidFill>
                          <a:latin typeface="+mj-lt"/>
                          <a:ea typeface="+mn-ea"/>
                          <a:cs typeface="+mn-cs"/>
                        </a:rPr>
                        <a:t>One </a:t>
                      </a:r>
                      <a:r>
                        <a:rPr lang="x-none" sz="1200" b="0" i="0" kern="1200" baseline="0" dirty="0" smtClean="0">
                          <a:solidFill>
                            <a:schemeClr val="tx1"/>
                          </a:solidFill>
                          <a:latin typeface="+mj-lt"/>
                          <a:ea typeface="+mn-ea"/>
                          <a:cs typeface="+mn-cs"/>
                        </a:rPr>
                        <a:t>good approach for this question is use the Profit formula: Profit = Revenues </a:t>
                      </a:r>
                      <a:r>
                        <a:rPr lang="x-none" sz="1200" b="0" i="0" kern="1200" baseline="0" smtClean="0">
                          <a:solidFill>
                            <a:schemeClr val="tx1"/>
                          </a:solidFill>
                          <a:latin typeface="+mj-lt"/>
                          <a:ea typeface="+mn-ea"/>
                          <a:cs typeface="+mn-cs"/>
                        </a:rPr>
                        <a:t>– Cost</a:t>
                      </a:r>
                      <a:r>
                        <a:rPr lang="en-US" sz="1200" b="0" i="0" kern="1200" baseline="0" dirty="0" smtClean="0">
                          <a:solidFill>
                            <a:schemeClr val="tx1"/>
                          </a:solidFill>
                          <a:latin typeface="+mj-lt"/>
                          <a:ea typeface="+mn-ea"/>
                          <a:cs typeface="+mn-cs"/>
                        </a:rPr>
                        <a:t>. </a:t>
                      </a:r>
                      <a:r>
                        <a:rPr lang="x-none" sz="1200" b="0" i="0" kern="1200" baseline="0" smtClean="0">
                          <a:solidFill>
                            <a:schemeClr val="tx1"/>
                          </a:solidFill>
                          <a:latin typeface="+mj-lt"/>
                          <a:ea typeface="+mn-ea"/>
                          <a:cs typeface="+mn-cs"/>
                        </a:rPr>
                        <a:t>The </a:t>
                      </a:r>
                      <a:r>
                        <a:rPr lang="x-none" sz="1200" b="0" i="0" kern="1200" baseline="0" dirty="0" smtClean="0">
                          <a:solidFill>
                            <a:schemeClr val="tx1"/>
                          </a:solidFill>
                          <a:latin typeface="+mj-lt"/>
                          <a:ea typeface="+mn-ea"/>
                          <a:cs typeface="+mn-cs"/>
                        </a:rPr>
                        <a:t>candidate can provide ideas to increase revenues and reduce costs.</a:t>
                      </a:r>
                    </a:p>
                    <a:p>
                      <a:pPr marL="0" marR="0" indent="0" algn="l" defTabSz="457200" rtl="0" eaLnBrk="1" fontAlgn="auto" latinLnBrk="0" hangingPunct="1">
                        <a:lnSpc>
                          <a:spcPct val="100000"/>
                        </a:lnSpc>
                        <a:spcBef>
                          <a:spcPts val="0"/>
                        </a:spcBef>
                        <a:spcAft>
                          <a:spcPts val="0"/>
                        </a:spcAft>
                        <a:buClrTx/>
                        <a:buSzTx/>
                        <a:buFontTx/>
                        <a:buNone/>
                        <a:tabLst/>
                        <a:defRPr/>
                      </a:pPr>
                      <a:endParaRPr lang="x-none"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x-none" sz="1200" b="0" i="0" kern="1200" baseline="0" smtClean="0">
                          <a:solidFill>
                            <a:schemeClr val="tx1"/>
                          </a:solidFill>
                          <a:latin typeface="+mj-lt"/>
                          <a:ea typeface="+mn-ea"/>
                          <a:cs typeface="+mn-cs"/>
                        </a:rPr>
                        <a:t>Revenue</a:t>
                      </a:r>
                      <a:r>
                        <a:rPr lang="en-US" sz="1200" b="0" i="0" kern="1200" baseline="0" dirty="0" smtClean="0">
                          <a:solidFill>
                            <a:schemeClr val="tx1"/>
                          </a:solidFill>
                          <a:latin typeface="+mj-lt"/>
                          <a:ea typeface="+mn-ea"/>
                          <a:cs typeface="+mn-cs"/>
                        </a:rPr>
                        <a:t> s</a:t>
                      </a:r>
                      <a:r>
                        <a:rPr lang="x-none" sz="1200" b="0" i="0" kern="1200" baseline="0" smtClean="0">
                          <a:solidFill>
                            <a:schemeClr val="tx1"/>
                          </a:solidFill>
                          <a:latin typeface="+mj-lt"/>
                          <a:ea typeface="+mn-ea"/>
                          <a:cs typeface="+mn-cs"/>
                        </a:rPr>
                        <a:t>ide</a:t>
                      </a:r>
                      <a:r>
                        <a:rPr lang="x-none" sz="1200" b="0" i="0" kern="1200" baseline="0" dirty="0" smtClean="0">
                          <a:solidFill>
                            <a:schemeClr val="tx1"/>
                          </a:solidFill>
                          <a:latin typeface="+mj-lt"/>
                          <a:ea typeface="+mn-ea"/>
                          <a:cs typeface="+mn-cs"/>
                        </a:rPr>
                        <a:t>:</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x-none" sz="1200" b="0" i="0" kern="1200" baseline="0" dirty="0" smtClean="0">
                          <a:solidFill>
                            <a:schemeClr val="tx1"/>
                          </a:solidFill>
                          <a:latin typeface="+mj-lt"/>
                          <a:ea typeface="+mn-ea"/>
                          <a:cs typeface="+mn-cs"/>
                        </a:rPr>
                        <a:t>Time </a:t>
                      </a:r>
                      <a:r>
                        <a:rPr lang="x-none" sz="1200" b="0" i="0" kern="1200" baseline="0" smtClean="0">
                          <a:solidFill>
                            <a:schemeClr val="tx1"/>
                          </a:solidFill>
                          <a:latin typeface="+mj-lt"/>
                          <a:ea typeface="+mn-ea"/>
                          <a:cs typeface="+mn-cs"/>
                        </a:rPr>
                        <a:t>to </a:t>
                      </a:r>
                      <a:r>
                        <a:rPr lang="en-US" sz="1200" b="0" i="0" kern="1200" baseline="0" dirty="0" smtClean="0">
                          <a:solidFill>
                            <a:schemeClr val="tx1"/>
                          </a:solidFill>
                          <a:latin typeface="+mj-lt"/>
                          <a:ea typeface="+mn-ea"/>
                          <a:cs typeface="+mn-cs"/>
                        </a:rPr>
                        <a:t>m</a:t>
                      </a:r>
                      <a:r>
                        <a:rPr lang="x-none" sz="1200" b="0" i="0" kern="1200" baseline="0" smtClean="0">
                          <a:solidFill>
                            <a:schemeClr val="tx1"/>
                          </a:solidFill>
                          <a:latin typeface="+mj-lt"/>
                          <a:ea typeface="+mn-ea"/>
                          <a:cs typeface="+mn-cs"/>
                        </a:rPr>
                        <a:t>arket: </a:t>
                      </a:r>
                      <a:r>
                        <a:rPr lang="en-US" sz="1200" b="0" i="0" kern="1200" baseline="0" dirty="0" smtClean="0">
                          <a:solidFill>
                            <a:schemeClr val="tx1"/>
                          </a:solidFill>
                          <a:latin typeface="+mj-lt"/>
                          <a:ea typeface="+mn-ea"/>
                          <a:cs typeface="+mn-cs"/>
                        </a:rPr>
                        <a:t>e</a:t>
                      </a:r>
                      <a:r>
                        <a:rPr lang="x-none" sz="1200" b="0" i="0" kern="1200" baseline="0" smtClean="0">
                          <a:solidFill>
                            <a:schemeClr val="tx1"/>
                          </a:solidFill>
                          <a:latin typeface="+mj-lt"/>
                          <a:ea typeface="+mn-ea"/>
                          <a:cs typeface="+mn-cs"/>
                        </a:rPr>
                        <a:t>xpanding </a:t>
                      </a:r>
                      <a:r>
                        <a:rPr lang="x-none" sz="1200" b="0" i="0" kern="1200" baseline="0" dirty="0" smtClean="0">
                          <a:solidFill>
                            <a:schemeClr val="tx1"/>
                          </a:solidFill>
                          <a:latin typeface="+mj-lt"/>
                          <a:ea typeface="+mn-ea"/>
                          <a:cs typeface="+mn-cs"/>
                        </a:rPr>
                        <a:t>the factory may be faster than building a </a:t>
                      </a:r>
                      <a:r>
                        <a:rPr lang="x-none" sz="1200" b="0" i="0" kern="1200" baseline="0" smtClean="0">
                          <a:solidFill>
                            <a:schemeClr val="tx1"/>
                          </a:solidFill>
                          <a:latin typeface="+mj-lt"/>
                          <a:ea typeface="+mn-ea"/>
                          <a:cs typeface="+mn-cs"/>
                        </a:rPr>
                        <a:t>new facility</a:t>
                      </a:r>
                      <a:endParaRPr lang="x-none" sz="1200" b="0" i="0" kern="1200" baseline="0" dirty="0" smtClean="0">
                        <a:solidFill>
                          <a:schemeClr val="tx1"/>
                        </a:solidFill>
                        <a:latin typeface="+mj-lt"/>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x-none" sz="1200" b="0" i="0" kern="1200" baseline="0" dirty="0" smtClean="0">
                          <a:solidFill>
                            <a:schemeClr val="tx1"/>
                          </a:solidFill>
                          <a:latin typeface="+mj-lt"/>
                          <a:ea typeface="+mn-ea"/>
                          <a:cs typeface="+mn-cs"/>
                        </a:rPr>
                        <a:t>Introducing the drug faster may guarantee a faster costumer fidelization, avoiding the entrance of </a:t>
                      </a:r>
                      <a:r>
                        <a:rPr lang="x-none" sz="1200" b="0" i="0" kern="1200" baseline="0" smtClean="0">
                          <a:solidFill>
                            <a:schemeClr val="tx1"/>
                          </a:solidFill>
                          <a:latin typeface="+mj-lt"/>
                          <a:ea typeface="+mn-ea"/>
                          <a:cs typeface="+mn-cs"/>
                        </a:rPr>
                        <a:t>new competitors</a:t>
                      </a:r>
                      <a:endParaRPr lang="x-none" sz="1200" b="0" i="0" kern="1200" baseline="0" dirty="0" smtClean="0">
                        <a:solidFill>
                          <a:schemeClr val="tx1"/>
                        </a:solidFill>
                        <a:latin typeface="+mj-lt"/>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endParaRPr lang="x-none" sz="1200" b="0" i="0" kern="1200" baseline="0" dirty="0" smtClean="0">
                        <a:solidFill>
                          <a:schemeClr val="tx1"/>
                        </a:solidFill>
                        <a:latin typeface="+mj-lt"/>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x-none" sz="1200" b="0" i="0" kern="1200" baseline="0" smtClean="0">
                          <a:solidFill>
                            <a:schemeClr val="tx1"/>
                          </a:solidFill>
                          <a:latin typeface="+mj-lt"/>
                          <a:ea typeface="+mn-ea"/>
                          <a:cs typeface="+mn-cs"/>
                        </a:rPr>
                        <a:t>Cost</a:t>
                      </a:r>
                      <a:r>
                        <a:rPr lang="en-US" sz="1200" b="0" i="0" kern="1200" baseline="0" dirty="0" smtClean="0">
                          <a:solidFill>
                            <a:schemeClr val="tx1"/>
                          </a:solidFill>
                          <a:latin typeface="+mj-lt"/>
                          <a:ea typeface="+mn-ea"/>
                          <a:cs typeface="+mn-cs"/>
                        </a:rPr>
                        <a:t> s</a:t>
                      </a:r>
                      <a:r>
                        <a:rPr lang="x-none" sz="1200" b="0" i="0" kern="1200" baseline="0" smtClean="0">
                          <a:solidFill>
                            <a:schemeClr val="tx1"/>
                          </a:solidFill>
                          <a:latin typeface="+mj-lt"/>
                          <a:ea typeface="+mn-ea"/>
                          <a:cs typeface="+mn-cs"/>
                        </a:rPr>
                        <a:t>ide</a:t>
                      </a:r>
                      <a:r>
                        <a:rPr lang="x-none" sz="1200" b="0" i="0" kern="1200" baseline="0" dirty="0" smtClean="0">
                          <a:solidFill>
                            <a:schemeClr val="tx1"/>
                          </a:solidFill>
                          <a:latin typeface="+mj-lt"/>
                          <a:ea typeface="+mn-ea"/>
                          <a:cs typeface="+mn-cs"/>
                        </a:rPr>
                        <a:t>:</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x-none" sz="1200" b="0" i="0" kern="1200" baseline="0" dirty="0" smtClean="0">
                          <a:solidFill>
                            <a:schemeClr val="tx1"/>
                          </a:solidFill>
                          <a:latin typeface="+mj-lt"/>
                          <a:ea typeface="+mn-ea"/>
                          <a:cs typeface="+mn-cs"/>
                        </a:rPr>
                        <a:t>US Pharma can reduce some distribution costs, by using the same companies that already distributes the other drugs to distribute this </a:t>
                      </a:r>
                      <a:r>
                        <a:rPr lang="x-none" sz="1200" b="0" i="0" kern="1200" baseline="0" smtClean="0">
                          <a:solidFill>
                            <a:schemeClr val="tx1"/>
                          </a:solidFill>
                          <a:latin typeface="+mj-lt"/>
                          <a:ea typeface="+mn-ea"/>
                          <a:cs typeface="+mn-cs"/>
                        </a:rPr>
                        <a:t>new anti-</a:t>
                      </a:r>
                      <a:r>
                        <a:rPr lang="en-US" sz="1200" b="0" i="0" kern="1200" baseline="0" dirty="0" smtClean="0">
                          <a:solidFill>
                            <a:schemeClr val="tx1"/>
                          </a:solidFill>
                          <a:latin typeface="+mj-lt"/>
                          <a:ea typeface="+mn-ea"/>
                          <a:cs typeface="+mn-cs"/>
                        </a:rPr>
                        <a:t>depressant </a:t>
                      </a:r>
                      <a:r>
                        <a:rPr lang="x-none" sz="1200" b="0" i="0" kern="1200" baseline="0" smtClean="0">
                          <a:solidFill>
                            <a:schemeClr val="tx1"/>
                          </a:solidFill>
                          <a:latin typeface="+mj-lt"/>
                          <a:ea typeface="+mn-ea"/>
                          <a:cs typeface="+mn-cs"/>
                        </a:rPr>
                        <a:t>drug</a:t>
                      </a:r>
                      <a:endParaRPr lang="x-none" sz="1200" b="0" i="0" kern="1200" baseline="0" dirty="0" smtClean="0">
                        <a:solidFill>
                          <a:schemeClr val="tx1"/>
                        </a:solidFill>
                        <a:latin typeface="+mj-lt"/>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x-none" sz="1200" b="0" i="0" kern="1200" baseline="0" dirty="0" smtClean="0">
                          <a:solidFill>
                            <a:schemeClr val="tx1"/>
                          </a:solidFill>
                          <a:latin typeface="+mj-lt"/>
                          <a:ea typeface="+mn-ea"/>
                          <a:cs typeface="+mn-cs"/>
                        </a:rPr>
                        <a:t>Reduction in </a:t>
                      </a:r>
                      <a:r>
                        <a:rPr lang="x-none" sz="1200" b="0" i="0" kern="1200" baseline="0" smtClean="0">
                          <a:solidFill>
                            <a:schemeClr val="tx1"/>
                          </a:solidFill>
                          <a:latin typeface="+mj-lt"/>
                          <a:ea typeface="+mn-ea"/>
                          <a:cs typeface="+mn-cs"/>
                        </a:rPr>
                        <a:t>production cost</a:t>
                      </a:r>
                      <a:r>
                        <a:rPr lang="en-US" sz="1200" b="0" i="0" kern="1200" baseline="0" dirty="0" smtClean="0">
                          <a:solidFill>
                            <a:schemeClr val="tx1"/>
                          </a:solidFill>
                          <a:latin typeface="+mj-lt"/>
                          <a:ea typeface="+mn-ea"/>
                          <a:cs typeface="+mn-cs"/>
                        </a:rPr>
                        <a:t>: </a:t>
                      </a:r>
                      <a:r>
                        <a:rPr lang="x-none" sz="1200" b="0" i="0" kern="1200" baseline="0" smtClean="0">
                          <a:solidFill>
                            <a:schemeClr val="tx1"/>
                          </a:solidFill>
                          <a:latin typeface="+mj-lt"/>
                          <a:ea typeface="+mn-ea"/>
                          <a:cs typeface="+mn-cs"/>
                          <a:sym typeface="Wingdings"/>
                        </a:rPr>
                        <a:t>t</a:t>
                      </a:r>
                      <a:r>
                        <a:rPr lang="x-none" sz="1200" b="0" i="0" kern="1200" baseline="0" smtClean="0">
                          <a:solidFill>
                            <a:schemeClr val="tx1"/>
                          </a:solidFill>
                          <a:latin typeface="+mj-lt"/>
                          <a:ea typeface="+mn-ea"/>
                          <a:cs typeface="+mn-cs"/>
                        </a:rPr>
                        <a:t>here </a:t>
                      </a:r>
                      <a:r>
                        <a:rPr lang="x-none" sz="1200" b="0" i="0" kern="1200" baseline="0" dirty="0" smtClean="0">
                          <a:solidFill>
                            <a:schemeClr val="tx1"/>
                          </a:solidFill>
                          <a:latin typeface="+mj-lt"/>
                          <a:ea typeface="+mn-ea"/>
                          <a:cs typeface="+mn-cs"/>
                        </a:rPr>
                        <a:t>may be some sinergies between the production of this new drug and the other drugs</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x-none" sz="1200" b="0" i="0" kern="1200" baseline="0" smtClean="0">
                          <a:solidFill>
                            <a:schemeClr val="tx1"/>
                          </a:solidFill>
                          <a:latin typeface="+mj-lt"/>
                          <a:ea typeface="+mn-ea"/>
                          <a:cs typeface="+mn-cs"/>
                        </a:rPr>
                        <a:t>Economies of </a:t>
                      </a:r>
                      <a:r>
                        <a:rPr lang="en-US" sz="1200" b="0" i="0" kern="1200" baseline="0" dirty="0" smtClean="0">
                          <a:solidFill>
                            <a:schemeClr val="tx1"/>
                          </a:solidFill>
                          <a:latin typeface="+mj-lt"/>
                          <a:ea typeface="+mn-ea"/>
                          <a:cs typeface="+mn-cs"/>
                        </a:rPr>
                        <a:t>s</a:t>
                      </a:r>
                      <a:r>
                        <a:rPr lang="x-none" sz="1200" b="0" i="0" kern="1200" baseline="0" smtClean="0">
                          <a:solidFill>
                            <a:schemeClr val="tx1"/>
                          </a:solidFill>
                          <a:latin typeface="+mj-lt"/>
                          <a:ea typeface="+mn-ea"/>
                          <a:cs typeface="+mn-cs"/>
                        </a:rPr>
                        <a:t>cale</a:t>
                      </a:r>
                      <a:r>
                        <a:rPr lang="en-US" sz="1200" b="0" i="0" kern="1200" baseline="0" dirty="0" smtClean="0">
                          <a:solidFill>
                            <a:schemeClr val="tx1"/>
                          </a:solidFill>
                          <a:latin typeface="+mj-lt"/>
                          <a:ea typeface="+mn-ea"/>
                          <a:cs typeface="+mn-cs"/>
                        </a:rPr>
                        <a:t>: </a:t>
                      </a:r>
                      <a:r>
                        <a:rPr lang="x-none" sz="1200" b="0" i="0" kern="1200" baseline="0" smtClean="0">
                          <a:solidFill>
                            <a:schemeClr val="tx1"/>
                          </a:solidFill>
                          <a:latin typeface="+mj-lt"/>
                          <a:ea typeface="+mn-ea"/>
                          <a:cs typeface="+mn-cs"/>
                          <a:sym typeface="Wingdings"/>
                        </a:rPr>
                        <a:t>US </a:t>
                      </a:r>
                      <a:r>
                        <a:rPr lang="x-none" sz="1200" b="0" i="0" kern="1200" baseline="0" dirty="0" smtClean="0">
                          <a:solidFill>
                            <a:schemeClr val="tx1"/>
                          </a:solidFill>
                          <a:latin typeface="+mj-lt"/>
                          <a:ea typeface="+mn-ea"/>
                          <a:cs typeface="+mn-cs"/>
                          <a:sym typeface="Wingdings"/>
                        </a:rPr>
                        <a:t>Pharma may be able to buy from the same suppliers that provides compounds for the </a:t>
                      </a:r>
                      <a:r>
                        <a:rPr lang="x-none" sz="1200" b="0" i="0" kern="1200" baseline="0" smtClean="0">
                          <a:solidFill>
                            <a:schemeClr val="tx1"/>
                          </a:solidFill>
                          <a:latin typeface="+mj-lt"/>
                          <a:ea typeface="+mn-ea"/>
                          <a:cs typeface="+mn-cs"/>
                          <a:sym typeface="Wingdings"/>
                        </a:rPr>
                        <a:t>other drugs</a:t>
                      </a:r>
                      <a:r>
                        <a:rPr lang="en-US" sz="1200" b="0" i="0" kern="1200" baseline="0" dirty="0" smtClean="0">
                          <a:solidFill>
                            <a:schemeClr val="tx1"/>
                          </a:solidFill>
                          <a:latin typeface="+mj-lt"/>
                          <a:ea typeface="+mn-ea"/>
                          <a:cs typeface="+mn-cs"/>
                          <a:sym typeface="Wingdings"/>
                        </a:rPr>
                        <a:t>, which lead to reduced</a:t>
                      </a:r>
                      <a:r>
                        <a:rPr lang="x-none" sz="1200" b="0" i="0" kern="1200" baseline="0" smtClean="0">
                          <a:solidFill>
                            <a:schemeClr val="tx1"/>
                          </a:solidFill>
                          <a:latin typeface="+mj-lt"/>
                          <a:ea typeface="+mn-ea"/>
                          <a:cs typeface="+mn-cs"/>
                          <a:sym typeface="Wingdings"/>
                        </a:rPr>
                        <a:t> COGS</a:t>
                      </a:r>
                      <a:endParaRPr lang="x-none" sz="1200" b="0"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x-none" sz="1200" b="0" i="1"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Valuation</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39</a:t>
            </a:fld>
            <a:endParaRPr lang="en-US" dirty="0"/>
          </a:p>
        </p:txBody>
      </p:sp>
    </p:spTree>
    <p:extLst>
      <p:ext uri="{BB962C8B-B14F-4D97-AF65-F5344CB8AC3E}">
        <p14:creationId xmlns:p14="http://schemas.microsoft.com/office/powerpoint/2010/main" val="9865337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4: US </a:t>
            </a:r>
            <a:r>
              <a:rPr lang="en-US" sz="2400" b="1" dirty="0" err="1"/>
              <a:t>Pharma</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568518221"/>
              </p:ext>
            </p:extLst>
          </p:nvPr>
        </p:nvGraphicFramePr>
        <p:xfrm>
          <a:off x="304800" y="1381125"/>
          <a:ext cx="8534400" cy="30175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225425" indent="-225425">
                        <a:buFont typeface="Arial" pitchFamily="34" charset="0"/>
                        <a:buChar char="•"/>
                      </a:pPr>
                      <a:r>
                        <a:rPr lang="en-US" sz="1200" b="0" i="0" kern="1200" baseline="0" dirty="0" smtClean="0">
                          <a:solidFill>
                            <a:schemeClr val="tx1"/>
                          </a:solidFill>
                          <a:latin typeface="+mn-lt"/>
                          <a:ea typeface="+mn-ea"/>
                          <a:cs typeface="+mn-cs"/>
                        </a:rPr>
                        <a:t>Correctly calculates the net earnings</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recommends the expansion in Texas</a:t>
                      </a:r>
                    </a:p>
                    <a:p>
                      <a:pPr marL="225425" indent="-225425">
                        <a:buFont typeface="Arial" pitchFamily="34" charset="0"/>
                        <a:buChar char="•"/>
                      </a:pPr>
                      <a:r>
                        <a:rPr lang="en-US" sz="1200" b="0" i="0" kern="1200" baseline="0" dirty="0" smtClean="0">
                          <a:solidFill>
                            <a:schemeClr val="tx1"/>
                          </a:solidFill>
                          <a:latin typeface="+mn-lt"/>
                          <a:ea typeface="+mn-ea"/>
                          <a:cs typeface="+mn-cs"/>
                        </a:rPr>
                        <a:t>Provides some benefits for expanding the factory in Texas</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calculates the free cash flow</a:t>
                      </a:r>
                    </a:p>
                    <a:p>
                      <a:pPr marL="225425" indent="-225425">
                        <a:buFont typeface="Arial" pitchFamily="34" charset="0"/>
                        <a:buChar char="•"/>
                      </a:pPr>
                      <a:r>
                        <a:rPr lang="en-US" sz="1200" b="0" i="0" kern="1200" baseline="0" dirty="0" smtClean="0">
                          <a:solidFill>
                            <a:schemeClr val="tx1"/>
                          </a:solidFill>
                          <a:latin typeface="+mn-lt"/>
                          <a:ea typeface="+mn-ea"/>
                          <a:cs typeface="+mn-cs"/>
                        </a:rPr>
                        <a:t>Provides most corrective actions listed with minimal prompting</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“Good “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Provides an organized earnings statement</a:t>
                      </a:r>
                    </a:p>
                    <a:p>
                      <a:pPr marL="225425" indent="-225425">
                        <a:buFont typeface="Arial" pitchFamily="34" charset="0"/>
                        <a:buChar char="•"/>
                      </a:pPr>
                      <a:r>
                        <a:rPr lang="en-US" sz="1200" b="0" i="0" kern="1200" baseline="0" dirty="0" smtClean="0">
                          <a:solidFill>
                            <a:schemeClr val="tx1"/>
                          </a:solidFill>
                          <a:latin typeface="+mn-lt"/>
                          <a:ea typeface="+mn-ea"/>
                          <a:cs typeface="+mn-cs"/>
                        </a:rPr>
                        <a:t>On the final recommendation, provides some risks of expanding the facility in Texas and proposes some next steps</a:t>
                      </a:r>
                    </a:p>
                    <a:p>
                      <a:pPr marL="225425" indent="-225425">
                        <a:buFont typeface="Arial" pitchFamily="34" charset="0"/>
                        <a:buChar cha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Valuation</a:t>
            </a:r>
            <a:endParaRPr lang="en-US" sz="1400" i="1" dirty="0"/>
          </a:p>
        </p:txBody>
      </p:sp>
      <p:sp>
        <p:nvSpPr>
          <p:cNvPr id="38929" name="TextBox 6"/>
          <p:cNvSpPr txBox="1">
            <a:spLocks noChangeArrowheads="1"/>
          </p:cNvSpPr>
          <p:nvPr/>
        </p:nvSpPr>
        <p:spPr bwMode="auto">
          <a:xfrm>
            <a:off x="3657600" y="990600"/>
            <a:ext cx="2286000" cy="307777"/>
          </a:xfrm>
          <a:prstGeom prst="rect">
            <a:avLst/>
          </a:prstGeom>
          <a:noFill/>
          <a:ln w="9525">
            <a:noFill/>
            <a:miter lim="800000"/>
            <a:headEnd/>
            <a:tailEnd/>
          </a:ln>
        </p:spPr>
        <p:txBody>
          <a:bodyPr>
            <a:spAutoFit/>
          </a:bodyPr>
          <a:lstStyle/>
          <a:p>
            <a:pPr algn="ctr"/>
            <a:r>
              <a:rPr lang="en-US" sz="1400" i="1" dirty="0"/>
              <a:t>McKinsey &amp; </a:t>
            </a:r>
            <a:r>
              <a:rPr lang="en-US" sz="1400" i="1" dirty="0" smtClean="0"/>
              <a:t>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40</a:t>
            </a:fld>
            <a:endParaRPr lang="en-US" dirty="0"/>
          </a:p>
        </p:txBody>
      </p:sp>
    </p:spTree>
    <p:extLst>
      <p:ext uri="{BB962C8B-B14F-4D97-AF65-F5344CB8AC3E}">
        <p14:creationId xmlns:p14="http://schemas.microsoft.com/office/powerpoint/2010/main" val="186757119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41</a:t>
            </a:fld>
            <a:endParaRPr lang="en-US" dirty="0"/>
          </a:p>
        </p:txBody>
      </p:sp>
    </p:spTree>
    <p:extLst>
      <p:ext uri="{BB962C8B-B14F-4D97-AF65-F5344CB8AC3E}">
        <p14:creationId xmlns:p14="http://schemas.microsoft.com/office/powerpoint/2010/main" val="127662298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53251" name="TextBox 6"/>
          <p:cNvSpPr txBox="1">
            <a:spLocks noChangeArrowheads="1"/>
          </p:cNvSpPr>
          <p:nvPr/>
        </p:nvSpPr>
        <p:spPr bwMode="auto">
          <a:xfrm>
            <a:off x="228600" y="990600"/>
            <a:ext cx="1447800" cy="307975"/>
          </a:xfrm>
          <a:prstGeom prst="rect">
            <a:avLst/>
          </a:prstGeom>
          <a:noFill/>
          <a:ln w="9525">
            <a:noFill/>
            <a:miter lim="800000"/>
            <a:headEnd/>
            <a:tailEnd/>
          </a:ln>
        </p:spPr>
        <p:txBody>
          <a:bodyPr>
            <a:spAutoFit/>
          </a:bodyPr>
          <a:lstStyle/>
          <a:p>
            <a:r>
              <a:rPr lang="en-US" sz="1400" i="1"/>
              <a:t>Valuation</a:t>
            </a:r>
          </a:p>
        </p:txBody>
      </p:sp>
      <p:sp>
        <p:nvSpPr>
          <p:cNvPr id="53254"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5: Satellite 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237009201"/>
              </p:ext>
            </p:extLst>
          </p:nvPr>
        </p:nvGraphicFramePr>
        <p:xfrm>
          <a:off x="304800" y="1295400"/>
          <a:ext cx="8442158" cy="5254450"/>
        </p:xfrm>
        <a:graphic>
          <a:graphicData uri="http://schemas.openxmlformats.org/drawingml/2006/table">
            <a:tbl>
              <a:tblPr firstRow="1" bandRow="1">
                <a:tableStyleId>{616DA210-FB5B-4158-B5E0-FEB733F419BA}</a:tableStyleId>
              </a:tblPr>
              <a:tblGrid>
                <a:gridCol w="1582905"/>
                <a:gridCol w="6859253"/>
              </a:tblGrid>
              <a:tr h="1545130">
                <a:tc>
                  <a:txBody>
                    <a:bodyPr/>
                    <a:lstStyle/>
                    <a:p>
                      <a:pPr algn="ctr"/>
                      <a:r>
                        <a:rPr lang="en-US" dirty="0" smtClean="0"/>
                        <a:t>Prompt</a:t>
                      </a:r>
                      <a:endParaRPr lang="en-US" dirty="0"/>
                    </a:p>
                  </a:txBody>
                  <a:tcPr anchor="ctr"/>
                </a:tc>
                <a:tc>
                  <a:txBody>
                    <a:bodyPr/>
                    <a:lstStyle/>
                    <a:p>
                      <a:pPr marL="6350" lvl="1" indent="0">
                        <a:buClr>
                          <a:srgbClr val="000000"/>
                        </a:buClr>
                      </a:pPr>
                      <a:r>
                        <a:rPr lang="en-US" sz="1200" b="0" dirty="0" smtClean="0">
                          <a:solidFill>
                            <a:srgbClr val="000000"/>
                          </a:solidFill>
                          <a:latin typeface="+mn-lt"/>
                        </a:rPr>
                        <a:t>Your client is a U.S. telecom provider with $30B in revenues. The firm is considering moving into the television business by acquiring a satellite television operator that operates in the U.S. They have hired our firm to determine whether this is an attractive target. Your</a:t>
                      </a:r>
                      <a:r>
                        <a:rPr lang="en-US" sz="1200" b="0" baseline="0" dirty="0" smtClean="0">
                          <a:solidFill>
                            <a:srgbClr val="000000"/>
                          </a:solidFill>
                          <a:latin typeface="+mn-lt"/>
                        </a:rPr>
                        <a:t> firm </a:t>
                      </a:r>
                      <a:r>
                        <a:rPr lang="en-US" sz="1200" b="0" dirty="0" smtClean="0">
                          <a:solidFill>
                            <a:srgbClr val="000000"/>
                          </a:solidFill>
                          <a:latin typeface="+mn-lt"/>
                        </a:rPr>
                        <a:t>has determined that the acquisition is attractive if the value of the company exceeds $3B. </a:t>
                      </a:r>
                    </a:p>
                    <a:p>
                      <a:pPr marL="6350" lvl="1" indent="0">
                        <a:buClr>
                          <a:srgbClr val="000000"/>
                        </a:buClr>
                      </a:pPr>
                      <a:endParaRPr lang="en-US" sz="1200" b="0" dirty="0" smtClean="0">
                        <a:solidFill>
                          <a:srgbClr val="000000"/>
                        </a:solidFill>
                        <a:latin typeface="+mn-lt"/>
                      </a:endParaRPr>
                    </a:p>
                    <a:p>
                      <a:pPr marL="6350" lvl="1" indent="0">
                        <a:buClr>
                          <a:srgbClr val="000000"/>
                        </a:buClr>
                      </a:pPr>
                      <a:r>
                        <a:rPr lang="en-US" sz="1200" b="1" dirty="0" smtClean="0">
                          <a:solidFill>
                            <a:srgbClr val="000000"/>
                          </a:solidFill>
                          <a:latin typeface="+mn-lt"/>
                        </a:rPr>
                        <a:t>The opportunity to bid on this target closes shortly, and you need to advise the client on whether they should proceed with the acquisition.</a:t>
                      </a:r>
                    </a:p>
                    <a:p>
                      <a:pPr marL="6350" lvl="1" indent="0">
                        <a:buClr>
                          <a:srgbClr val="000000"/>
                        </a:buClr>
                      </a:pPr>
                      <a:endParaRPr lang="en-US" sz="1200" dirty="0" smtClean="0">
                        <a:solidFill>
                          <a:srgbClr val="000000"/>
                        </a:solidFill>
                        <a:latin typeface="+mn-lt"/>
                      </a:endParaRPr>
                    </a:p>
                  </a:txBody>
                  <a:tcPr/>
                </a:tc>
              </a:tr>
              <a:tr h="3699970">
                <a:tc>
                  <a:txBody>
                    <a:bodyPr/>
                    <a:lstStyle/>
                    <a:p>
                      <a:pPr algn="ctr"/>
                      <a:r>
                        <a:rPr lang="en-US" b="1" dirty="0" smtClean="0"/>
                        <a:t>Guidance</a:t>
                      </a:r>
                      <a:endParaRPr lang="en-US" b="1" baseline="0" dirty="0" smtClean="0"/>
                    </a:p>
                  </a:txBody>
                  <a:tcPr anchor="ctr"/>
                </a:tc>
                <a:tc>
                  <a:txBody>
                    <a:bodyPr/>
                    <a:lstStyle/>
                    <a:p>
                      <a:pPr>
                        <a:buClr>
                          <a:srgbClr val="000000"/>
                        </a:buClr>
                      </a:pPr>
                      <a:r>
                        <a:rPr lang="en-US" sz="1200" dirty="0" smtClean="0">
                          <a:solidFill>
                            <a:srgbClr val="000000"/>
                          </a:solidFill>
                          <a:latin typeface="+mn-lt"/>
                        </a:rPr>
                        <a:t>This case can be broken into 2 parts; a short market/competitive</a:t>
                      </a:r>
                      <a:r>
                        <a:rPr lang="en-US" sz="1200" baseline="0" dirty="0" smtClean="0">
                          <a:solidFill>
                            <a:srgbClr val="000000"/>
                          </a:solidFill>
                          <a:latin typeface="+mn-lt"/>
                        </a:rPr>
                        <a:t> </a:t>
                      </a:r>
                      <a:r>
                        <a:rPr lang="en-US" sz="1200" dirty="0" smtClean="0">
                          <a:solidFill>
                            <a:srgbClr val="000000"/>
                          </a:solidFill>
                          <a:latin typeface="+mn-lt"/>
                        </a:rPr>
                        <a:t>analysis and a valuation. Provide</a:t>
                      </a:r>
                      <a:r>
                        <a:rPr lang="en-US" sz="1200" baseline="0" dirty="0" smtClean="0">
                          <a:solidFill>
                            <a:srgbClr val="000000"/>
                          </a:solidFill>
                          <a:latin typeface="+mn-lt"/>
                        </a:rPr>
                        <a:t> the following information upon request:</a:t>
                      </a:r>
                      <a:endParaRPr lang="en-US" sz="1200" dirty="0" smtClean="0">
                        <a:solidFill>
                          <a:srgbClr val="000000"/>
                        </a:solidFill>
                        <a:latin typeface="+mn-lt"/>
                      </a:endParaRPr>
                    </a:p>
                    <a:p>
                      <a:pPr>
                        <a:buClr>
                          <a:srgbClr val="000000"/>
                        </a:buClr>
                      </a:pPr>
                      <a:endParaRPr lang="en-US" sz="1200" dirty="0" smtClean="0">
                        <a:solidFill>
                          <a:srgbClr val="000000"/>
                        </a:solidFill>
                        <a:latin typeface="+mn-lt"/>
                      </a:endParaRPr>
                    </a:p>
                    <a:p>
                      <a:pPr>
                        <a:buClr>
                          <a:srgbClr val="000000"/>
                        </a:buClr>
                      </a:pPr>
                      <a:r>
                        <a:rPr lang="en-US" sz="1200" dirty="0" smtClean="0">
                          <a:solidFill>
                            <a:srgbClr val="000000"/>
                          </a:solidFill>
                          <a:latin typeface="+mn-lt"/>
                        </a:rPr>
                        <a:t>Market/competitive analysis:</a:t>
                      </a:r>
                    </a:p>
                    <a:p>
                      <a:pPr marL="171450" indent="-171450">
                        <a:buClr>
                          <a:srgbClr val="000000"/>
                        </a:buClr>
                        <a:buFont typeface="Arial" pitchFamily="34" charset="0"/>
                        <a:buChar char="•"/>
                      </a:pPr>
                      <a:r>
                        <a:rPr lang="en-US" sz="1200" dirty="0" smtClean="0">
                          <a:solidFill>
                            <a:srgbClr val="000000"/>
                          </a:solidFill>
                          <a:latin typeface="+mn-lt"/>
                        </a:rPr>
                        <a:t>Customers are any residential household in the U.S</a:t>
                      </a:r>
                    </a:p>
                    <a:p>
                      <a:pPr marL="171450" indent="-171450">
                        <a:buClr>
                          <a:srgbClr val="000000"/>
                        </a:buClr>
                        <a:buFont typeface="Arial" pitchFamily="34" charset="0"/>
                        <a:buChar char="•"/>
                      </a:pPr>
                      <a:r>
                        <a:rPr lang="en-US" sz="1200" dirty="0" smtClean="0">
                          <a:solidFill>
                            <a:srgbClr val="000000"/>
                          </a:solidFill>
                          <a:latin typeface="+mn-lt"/>
                        </a:rPr>
                        <a:t>No option to expand internationally at this time</a:t>
                      </a:r>
                    </a:p>
                    <a:p>
                      <a:pPr marL="171450" indent="-171450">
                        <a:buClr>
                          <a:srgbClr val="000000"/>
                        </a:buClr>
                        <a:buFont typeface="Arial" pitchFamily="34" charset="0"/>
                        <a:buChar char="•"/>
                      </a:pPr>
                      <a:r>
                        <a:rPr lang="en-US" sz="1200" dirty="0" smtClean="0">
                          <a:solidFill>
                            <a:srgbClr val="000000"/>
                          </a:solidFill>
                          <a:latin typeface="+mn-lt"/>
                        </a:rPr>
                        <a:t>Target competes with 2 other satellite operators, national and regional cable companies, and telecom providers that offer television services</a:t>
                      </a:r>
                    </a:p>
                    <a:p>
                      <a:pPr marL="171450" indent="-171450">
                        <a:buClr>
                          <a:srgbClr val="000000"/>
                        </a:buClr>
                        <a:buFont typeface="Arial" pitchFamily="34" charset="0"/>
                        <a:buChar char="•"/>
                      </a:pPr>
                      <a:r>
                        <a:rPr lang="en-US" sz="1200" dirty="0" smtClean="0">
                          <a:solidFill>
                            <a:srgbClr val="000000"/>
                          </a:solidFill>
                          <a:latin typeface="+mn-lt"/>
                        </a:rPr>
                        <a:t>The market is crowded and high barriers to entry means there is not threat of competitive entry</a:t>
                      </a:r>
                    </a:p>
                    <a:p>
                      <a:pPr marL="171450" indent="-171450">
                        <a:buClr>
                          <a:srgbClr val="000000"/>
                        </a:buClr>
                        <a:buFont typeface="Arial" pitchFamily="34" charset="0"/>
                        <a:buChar char="•"/>
                      </a:pPr>
                      <a:r>
                        <a:rPr lang="en-US" sz="1200" dirty="0" smtClean="0">
                          <a:solidFill>
                            <a:srgbClr val="000000"/>
                          </a:solidFill>
                          <a:latin typeface="+mn-lt"/>
                        </a:rPr>
                        <a:t>Target offers three tiers of service; basic, premium, ultra premium</a:t>
                      </a:r>
                    </a:p>
                    <a:p>
                      <a:pPr marL="171450" indent="-171450">
                        <a:buClr>
                          <a:srgbClr val="000000"/>
                        </a:buClr>
                        <a:buFont typeface="Arial" pitchFamily="34" charset="0"/>
                        <a:buChar char="•"/>
                      </a:pPr>
                      <a:endParaRPr lang="en-US" sz="1200" dirty="0" smtClean="0">
                        <a:solidFill>
                          <a:srgbClr val="000000"/>
                        </a:solidFill>
                        <a:latin typeface="+mn-lt"/>
                      </a:endParaRPr>
                    </a:p>
                    <a:p>
                      <a:pPr marL="0" indent="0">
                        <a:buClr>
                          <a:srgbClr val="000000"/>
                        </a:buClr>
                        <a:buFont typeface="Arial" pitchFamily="34" charset="0"/>
                        <a:buNone/>
                      </a:pPr>
                      <a:r>
                        <a:rPr lang="en-US" sz="1200" dirty="0" smtClean="0">
                          <a:solidFill>
                            <a:srgbClr val="000000"/>
                          </a:solidFill>
                          <a:latin typeface="+mn-lt"/>
                        </a:rPr>
                        <a:t>Valuation:</a:t>
                      </a:r>
                    </a:p>
                    <a:p>
                      <a:pPr marL="171450" indent="-171450">
                        <a:buClr>
                          <a:srgbClr val="000000"/>
                        </a:buClr>
                        <a:buFont typeface="Arial" pitchFamily="34" charset="0"/>
                        <a:buChar char="•"/>
                      </a:pPr>
                      <a:r>
                        <a:rPr lang="en-US" sz="1200" dirty="0" smtClean="0">
                          <a:solidFill>
                            <a:srgbClr val="000000"/>
                          </a:solidFill>
                          <a:latin typeface="+mn-lt"/>
                        </a:rPr>
                        <a:t>Need to calculate total revenues and total costs</a:t>
                      </a:r>
                    </a:p>
                    <a:p>
                      <a:pPr marL="171450" indent="-171450">
                        <a:buClr>
                          <a:srgbClr val="000000"/>
                        </a:buClr>
                        <a:buFont typeface="Arial" pitchFamily="34" charset="0"/>
                        <a:buChar char="•"/>
                      </a:pPr>
                      <a:r>
                        <a:rPr lang="en-US" sz="1200" dirty="0" smtClean="0">
                          <a:solidFill>
                            <a:srgbClr val="000000"/>
                          </a:solidFill>
                          <a:latin typeface="+mn-lt"/>
                        </a:rPr>
                        <a:t>Revenues from three tiers of service and DVR box rental. All customers rent the DVR box</a:t>
                      </a:r>
                    </a:p>
                    <a:p>
                      <a:pPr marL="171450" indent="-171450">
                        <a:buClr>
                          <a:srgbClr val="000000"/>
                        </a:buClr>
                        <a:buFont typeface="Arial" pitchFamily="34" charset="0"/>
                        <a:buChar char="•"/>
                      </a:pPr>
                      <a:r>
                        <a:rPr lang="en-US" sz="1200" dirty="0" smtClean="0">
                          <a:solidFill>
                            <a:srgbClr val="000000"/>
                          </a:solidFill>
                          <a:latin typeface="+mn-lt"/>
                        </a:rPr>
                        <a:t>Costs include programming cost, service cost, and other costs</a:t>
                      </a:r>
                    </a:p>
                    <a:p>
                      <a:pPr marL="171450" indent="-171450">
                        <a:buClr>
                          <a:srgbClr val="000000"/>
                        </a:buClr>
                        <a:buFont typeface="Arial" pitchFamily="34" charset="0"/>
                        <a:buChar char="•"/>
                      </a:pPr>
                      <a:r>
                        <a:rPr lang="en-US" sz="1200" dirty="0" smtClean="0">
                          <a:solidFill>
                            <a:srgbClr val="000000"/>
                          </a:solidFill>
                          <a:latin typeface="+mn-lt"/>
                        </a:rPr>
                        <a:t>Utilize profitability to drive valuation</a:t>
                      </a:r>
                    </a:p>
                    <a:p>
                      <a:pPr marL="171450" indent="-171450">
                        <a:buClr>
                          <a:srgbClr val="000000"/>
                        </a:buClr>
                        <a:buFont typeface="Arial" pitchFamily="34" charset="0"/>
                        <a:buChar char="•"/>
                      </a:pPr>
                      <a:r>
                        <a:rPr lang="en-US" sz="1200" dirty="0" smtClean="0">
                          <a:solidFill>
                            <a:srgbClr val="000000"/>
                          </a:solidFill>
                          <a:latin typeface="+mn-lt"/>
                        </a:rPr>
                        <a:t>Profit is growing at 5% annually</a:t>
                      </a:r>
                    </a:p>
                    <a:p>
                      <a:pPr marL="171450" indent="-171450">
                        <a:buClr>
                          <a:srgbClr val="000000"/>
                        </a:buClr>
                        <a:buFont typeface="Arial" pitchFamily="34" charset="0"/>
                        <a:buChar char="•"/>
                      </a:pPr>
                      <a:r>
                        <a:rPr lang="en-US" sz="1200" dirty="0" smtClean="0">
                          <a:solidFill>
                            <a:srgbClr val="000000"/>
                          </a:solidFill>
                          <a:latin typeface="+mn-lt"/>
                        </a:rPr>
                        <a:t>U.S. population is 300 million and on average 3 people/household = 100 million households</a:t>
                      </a:r>
                    </a:p>
                    <a:p>
                      <a:pPr marL="171450" indent="-171450">
                        <a:buClr>
                          <a:srgbClr val="000000"/>
                        </a:buClr>
                        <a:buFont typeface="Arial" pitchFamily="34" charset="0"/>
                        <a:buChar char="•"/>
                      </a:pPr>
                      <a:r>
                        <a:rPr lang="en-US" sz="1200" dirty="0" smtClean="0">
                          <a:solidFill>
                            <a:srgbClr val="000000"/>
                          </a:solidFill>
                          <a:latin typeface="+mn-lt"/>
                        </a:rPr>
                        <a:t>The company has 2% penetration across all U.S. households = 2 million households</a:t>
                      </a:r>
                    </a:p>
                  </a:txBody>
                  <a:tcPr/>
                </a:tc>
              </a:tr>
            </a:tbl>
          </a:graphicData>
        </a:graphic>
      </p:graphicFrame>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42</a:t>
            </a:fld>
            <a:endParaRPr lang="en-US" dirty="0"/>
          </a:p>
        </p:txBody>
      </p:sp>
    </p:spTree>
    <p:extLst>
      <p:ext uri="{BB962C8B-B14F-4D97-AF65-F5344CB8AC3E}">
        <p14:creationId xmlns:p14="http://schemas.microsoft.com/office/powerpoint/2010/main" val="15457969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p:cNvSpPr>
            <a:spLocks noGrp="1"/>
          </p:cNvSpPr>
          <p:nvPr>
            <p:ph type="sldNum" sz="quarter" idx="11"/>
          </p:nvPr>
        </p:nvSpPr>
        <p:spPr>
          <a:noFill/>
        </p:spPr>
        <p:txBody>
          <a:bodyPr/>
          <a:lstStyle/>
          <a:p>
            <a:fld id="{A1BD9409-3165-4B58-BC7D-AB185F22D5E1}" type="slidenum">
              <a:rPr lang="en-US" smtClean="0">
                <a:latin typeface="Arial" pitchFamily="34" charset="0"/>
                <a:ea typeface="ＭＳ Ｐゴシック" pitchFamily="34" charset="-128"/>
              </a:rPr>
              <a:pPr/>
              <a:t>43</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876777097"/>
              </p:ext>
            </p:extLst>
          </p:nvPr>
        </p:nvGraphicFramePr>
        <p:xfrm>
          <a:off x="228600" y="1295400"/>
          <a:ext cx="8534400" cy="5410200"/>
        </p:xfrm>
        <a:graphic>
          <a:graphicData uri="http://schemas.openxmlformats.org/drawingml/2006/table">
            <a:tbl>
              <a:tblPr firstRow="1" bandRow="1">
                <a:tableStyleId>{616DA210-FB5B-4158-B5E0-FEB733F419BA}</a:tableStyleId>
              </a:tblPr>
              <a:tblGrid>
                <a:gridCol w="1600200"/>
                <a:gridCol w="6934200"/>
              </a:tblGrid>
              <a:tr h="5410200">
                <a:tc>
                  <a:txBody>
                    <a:bodyPr/>
                    <a:lstStyle/>
                    <a:p>
                      <a:pPr algn="ctr"/>
                      <a:r>
                        <a:rPr lang="en-US" b="1" i="0" dirty="0" smtClean="0"/>
                        <a:t>Guidance</a:t>
                      </a:r>
                      <a:endParaRPr lang="en-US" sz="1000" i="0" dirty="0"/>
                    </a:p>
                  </a:txBody>
                  <a:tcPr anchor="ctr">
                    <a:noFill/>
                  </a:tcPr>
                </a:tc>
                <a:tc>
                  <a:txBody>
                    <a:bodyPr/>
                    <a:lstStyle/>
                    <a:p>
                      <a:endParaRPr lang="en-US" sz="1200" i="1" kern="1200" dirty="0" smtClean="0">
                        <a:solidFill>
                          <a:schemeClr val="tx1"/>
                        </a:solidFill>
                        <a:latin typeface="+mn-lt"/>
                        <a:ea typeface="+mn-ea"/>
                        <a:cs typeface="+mn-cs"/>
                      </a:endParaRPr>
                    </a:p>
                    <a:p>
                      <a:r>
                        <a:rPr lang="en-US" sz="1200" i="1" kern="1200" dirty="0" smtClean="0">
                          <a:solidFill>
                            <a:schemeClr val="tx1"/>
                          </a:solidFill>
                          <a:latin typeface="+mn-lt"/>
                          <a:ea typeface="+mn-ea"/>
                          <a:cs typeface="+mn-cs"/>
                        </a:rPr>
                        <a:t> </a:t>
                      </a:r>
                      <a:endParaRPr lang="en-US" sz="1200" b="0" i="1" kern="1200" dirty="0">
                        <a:solidFill>
                          <a:schemeClr val="tx1"/>
                        </a:solidFill>
                        <a:latin typeface="Calibri" pitchFamily="34" charset="0"/>
                        <a:ea typeface="+mn-ea"/>
                        <a:cs typeface="+mn-cs"/>
                      </a:endParaRPr>
                    </a:p>
                  </a:txBody>
                  <a:tcPr>
                    <a:noFill/>
                  </a:tcPr>
                </a:tc>
              </a:tr>
            </a:tbl>
          </a:graphicData>
        </a:graphic>
      </p:graphicFrame>
      <p:pic>
        <p:nvPicPr>
          <p:cNvPr id="5428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54290" name="TextBox 6"/>
          <p:cNvSpPr txBox="1">
            <a:spLocks noChangeArrowheads="1"/>
          </p:cNvSpPr>
          <p:nvPr/>
        </p:nvSpPr>
        <p:spPr bwMode="auto">
          <a:xfrm>
            <a:off x="228600" y="990600"/>
            <a:ext cx="1447800" cy="307975"/>
          </a:xfrm>
          <a:prstGeom prst="rect">
            <a:avLst/>
          </a:prstGeom>
          <a:noFill/>
          <a:ln w="9525">
            <a:noFill/>
            <a:miter lim="800000"/>
            <a:headEnd/>
            <a:tailEnd/>
          </a:ln>
        </p:spPr>
        <p:txBody>
          <a:bodyPr>
            <a:spAutoFit/>
          </a:bodyPr>
          <a:lstStyle/>
          <a:p>
            <a:r>
              <a:rPr lang="en-US" sz="1400" i="1" dirty="0"/>
              <a:t>Valuation</a:t>
            </a:r>
          </a:p>
        </p:txBody>
      </p:sp>
      <p:graphicFrame>
        <p:nvGraphicFramePr>
          <p:cNvPr id="8" name="Table 7"/>
          <p:cNvGraphicFramePr>
            <a:graphicFrameLocks noGrp="1"/>
          </p:cNvGraphicFramePr>
          <p:nvPr>
            <p:extLst>
              <p:ext uri="{D42A27DB-BD31-4B8C-83A1-F6EECF244321}">
                <p14:modId xmlns:p14="http://schemas.microsoft.com/office/powerpoint/2010/main" val="1937640570"/>
              </p:ext>
            </p:extLst>
          </p:nvPr>
        </p:nvGraphicFramePr>
        <p:xfrm>
          <a:off x="2009509" y="1414289"/>
          <a:ext cx="6544947" cy="5095752"/>
        </p:xfrm>
        <a:graphic>
          <a:graphicData uri="http://schemas.openxmlformats.org/drawingml/2006/table">
            <a:tbl>
              <a:tblPr/>
              <a:tblGrid>
                <a:gridCol w="1284358"/>
                <a:gridCol w="1882553"/>
                <a:gridCol w="844509"/>
                <a:gridCol w="844509"/>
                <a:gridCol w="844509"/>
                <a:gridCol w="844509"/>
              </a:tblGrid>
              <a:tr h="355719">
                <a:tc>
                  <a:txBody>
                    <a:bodyPr/>
                    <a:lstStyle/>
                    <a:p>
                      <a:pPr algn="l" fontAlgn="b"/>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1100" b="1" i="0" u="sng" strike="noStrike" dirty="0" smtClean="0">
                          <a:solidFill>
                            <a:srgbClr val="000000"/>
                          </a:solidFill>
                          <a:effectLst/>
                          <a:latin typeface="+mj-lt"/>
                        </a:rPr>
                        <a:t>Tier</a:t>
                      </a:r>
                      <a:endParaRPr lang="en-US" sz="1100" b="1" i="0" u="sng"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1" i="0" u="sng" strike="noStrike" dirty="0" smtClean="0">
                          <a:solidFill>
                            <a:srgbClr val="000000"/>
                          </a:solidFill>
                          <a:effectLst/>
                          <a:latin typeface="+mj-lt"/>
                        </a:rPr>
                        <a:t>Basic</a:t>
                      </a:r>
                      <a:endParaRPr lang="en-US" sz="1100" b="1" i="0" u="sng"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1" i="0" u="sng" strike="noStrike" dirty="0" smtClean="0">
                          <a:solidFill>
                            <a:srgbClr val="000000"/>
                          </a:solidFill>
                          <a:effectLst/>
                          <a:latin typeface="+mj-lt"/>
                        </a:rPr>
                        <a:t>Premium</a:t>
                      </a:r>
                      <a:endParaRPr lang="en-US" sz="1100" b="1" i="0" u="sng"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1" i="0" u="sng" strike="noStrike" dirty="0" smtClean="0">
                          <a:solidFill>
                            <a:srgbClr val="000000"/>
                          </a:solidFill>
                          <a:effectLst/>
                          <a:latin typeface="+mj-lt"/>
                        </a:rPr>
                        <a:t>Ultra Premium</a:t>
                      </a:r>
                      <a:endParaRPr lang="en-US" sz="1100" b="1" i="0" u="sng"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1" i="0" u="sng" strike="noStrike" dirty="0" smtClean="0">
                          <a:solidFill>
                            <a:srgbClr val="000000"/>
                          </a:solidFill>
                          <a:effectLst/>
                          <a:latin typeface="+mj-lt"/>
                        </a:rPr>
                        <a:t>Total</a:t>
                      </a:r>
                      <a:endParaRPr lang="en-US" sz="1100" b="1" i="0" u="sng"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r>
              <a:tr h="182773">
                <a:tc>
                  <a:txBody>
                    <a:bodyPr/>
                    <a:lstStyle/>
                    <a:p>
                      <a:pPr algn="l" fontAlgn="b"/>
                      <a:endParaRPr lang="en-US" sz="1100" b="0" i="0" u="none" strike="noStrike" dirty="0">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l" fontAlgn="b"/>
                      <a:r>
                        <a:rPr lang="en-US" sz="1100" b="1" i="1" u="none" strike="noStrike" dirty="0" smtClean="0">
                          <a:solidFill>
                            <a:srgbClr val="000000"/>
                          </a:solidFill>
                          <a:effectLst/>
                          <a:latin typeface="+mj-lt"/>
                        </a:rPr>
                        <a:t>Customer %</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20%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75%</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5%</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endParaRPr lang="en-US" sz="1100" b="0" i="1"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r>
              <a:tr h="182773">
                <a:tc>
                  <a:txBody>
                    <a:bodyPr/>
                    <a:lstStyle/>
                    <a:p>
                      <a:pPr algn="l" fontAlgn="b"/>
                      <a:endParaRPr lang="en-US" sz="1100" b="0" i="0" u="none" strike="noStrike" dirty="0">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mj-lt"/>
                        </a:rPr>
                        <a:t>Customers </a:t>
                      </a:r>
                      <a:r>
                        <a:rPr lang="en-US" sz="1100" b="0" i="0" u="none" strike="noStrike" dirty="0">
                          <a:solidFill>
                            <a:srgbClr val="000000"/>
                          </a:solidFill>
                          <a:effectLst/>
                          <a:latin typeface="+mj-lt"/>
                        </a:rPr>
                        <a:t>(</a:t>
                      </a:r>
                      <a:r>
                        <a:rPr lang="en-US" sz="1100" b="0" i="0" u="none" strike="noStrike" dirty="0" smtClean="0">
                          <a:solidFill>
                            <a:srgbClr val="000000"/>
                          </a:solidFill>
                          <a:effectLst/>
                          <a:latin typeface="+mj-lt"/>
                        </a:rPr>
                        <a:t>million)</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0.4</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1.5</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mj-lt"/>
                        </a:rPr>
                        <a:t>0.1</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r>
              <a:tr h="182773">
                <a:tc rowSpan="3">
                  <a:txBody>
                    <a:bodyPr/>
                    <a:lstStyle/>
                    <a:p>
                      <a:pPr algn="ctr" fontAlgn="ctr"/>
                      <a:r>
                        <a:rPr lang="en-US" sz="1100" b="1" i="0" u="none" strike="noStrike" dirty="0" smtClean="0">
                          <a:solidFill>
                            <a:srgbClr val="000000"/>
                          </a:solidFill>
                          <a:effectLst/>
                          <a:latin typeface="+mj-lt"/>
                        </a:rPr>
                        <a:t>Service </a:t>
                      </a:r>
                      <a:r>
                        <a:rPr lang="en-US" sz="1100" b="1" i="0" u="none" strike="noStrike" dirty="0">
                          <a:solidFill>
                            <a:srgbClr val="000000"/>
                          </a:solidFill>
                          <a:effectLst/>
                          <a:latin typeface="+mj-lt"/>
                        </a:rPr>
                        <a:t>revenue</a:t>
                      </a:r>
                    </a:p>
                  </a:txBody>
                  <a:tcPr marL="9525" marR="9525" marT="9525" marB="0" vert="vert27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1" i="1" u="none" strike="noStrike" dirty="0" smtClean="0">
                          <a:solidFill>
                            <a:srgbClr val="000000"/>
                          </a:solidFill>
                          <a:effectLst/>
                          <a:latin typeface="+mj-lt"/>
                        </a:rPr>
                        <a:t>Monthly</a:t>
                      </a:r>
                      <a:r>
                        <a:rPr lang="en-US" sz="1100" b="1" i="1" u="none" strike="noStrike" baseline="0" dirty="0" smtClean="0">
                          <a:solidFill>
                            <a:srgbClr val="000000"/>
                          </a:solidFill>
                          <a:effectLst/>
                          <a:latin typeface="+mj-lt"/>
                        </a:rPr>
                        <a:t> s</a:t>
                      </a:r>
                      <a:r>
                        <a:rPr lang="en-US" sz="1100" b="1" i="1" u="none" strike="noStrike" dirty="0" smtClean="0">
                          <a:solidFill>
                            <a:srgbClr val="000000"/>
                          </a:solidFill>
                          <a:effectLst/>
                          <a:latin typeface="+mj-lt"/>
                        </a:rPr>
                        <a:t>ervice price</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$20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$50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$100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endParaRPr lang="en-US" sz="1100" b="0" i="1"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r>
              <a:tr h="182773">
                <a:tc vMerge="1">
                  <a:txBody>
                    <a:bodyPr/>
                    <a:lstStyle/>
                    <a:p>
                      <a:endParaRPr lang="en-US"/>
                    </a:p>
                  </a:txBody>
                  <a:tcPr/>
                </a:tc>
                <a:tc>
                  <a:txBody>
                    <a:bodyPr/>
                    <a:lstStyle/>
                    <a:p>
                      <a:pPr algn="l" fontAlgn="b"/>
                      <a:r>
                        <a:rPr lang="en-US" sz="1100" b="0" i="0" u="none" strike="noStrike" dirty="0" smtClean="0">
                          <a:solidFill>
                            <a:srgbClr val="000000"/>
                          </a:solidFill>
                          <a:effectLst/>
                          <a:latin typeface="+mj-lt"/>
                        </a:rPr>
                        <a:t>Annual</a:t>
                      </a:r>
                      <a:r>
                        <a:rPr lang="en-US" sz="1100" b="0" i="0" u="none" strike="noStrike" baseline="0" dirty="0" smtClean="0">
                          <a:solidFill>
                            <a:srgbClr val="000000"/>
                          </a:solidFill>
                          <a:effectLst/>
                          <a:latin typeface="+mj-lt"/>
                        </a:rPr>
                        <a:t> s</a:t>
                      </a:r>
                      <a:r>
                        <a:rPr lang="en-US" sz="1100" b="0" i="0" u="none" strike="noStrike" dirty="0" smtClean="0">
                          <a:solidFill>
                            <a:srgbClr val="000000"/>
                          </a:solidFill>
                          <a:effectLst/>
                          <a:latin typeface="+mj-lt"/>
                        </a:rPr>
                        <a:t>ervice</a:t>
                      </a:r>
                      <a:r>
                        <a:rPr lang="en-US" sz="1100" b="0" i="0" u="none" strike="noStrike" baseline="0" dirty="0" smtClean="0">
                          <a:solidFill>
                            <a:srgbClr val="000000"/>
                          </a:solidFill>
                          <a:effectLst/>
                          <a:latin typeface="+mj-lt"/>
                        </a:rPr>
                        <a:t> p</a:t>
                      </a:r>
                      <a:r>
                        <a:rPr lang="en-US" sz="1100" b="0" i="0" u="none" strike="noStrike" dirty="0" smtClean="0">
                          <a:solidFill>
                            <a:srgbClr val="000000"/>
                          </a:solidFill>
                          <a:effectLst/>
                          <a:latin typeface="+mj-lt"/>
                        </a:rPr>
                        <a:t>rice</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$240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$600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$1,200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tcPr>
                </a:tc>
              </a:tr>
              <a:tr h="355719">
                <a:tc vMerge="1">
                  <a:txBody>
                    <a:bodyPr/>
                    <a:lstStyle/>
                    <a:p>
                      <a:endParaRPr lang="en-US"/>
                    </a:p>
                  </a:txBody>
                  <a:tcPr/>
                </a:tc>
                <a:tc>
                  <a:txBody>
                    <a:bodyPr/>
                    <a:lstStyle/>
                    <a:p>
                      <a:pPr algn="l" fontAlgn="b"/>
                      <a:r>
                        <a:rPr lang="en-US" sz="1100" b="0" i="0" u="none" strike="noStrike" dirty="0" smtClean="0">
                          <a:solidFill>
                            <a:srgbClr val="000000"/>
                          </a:solidFill>
                          <a:effectLst/>
                          <a:latin typeface="+mj-lt"/>
                        </a:rPr>
                        <a:t>Annual service revenue (millions)</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$96</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$900</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$120</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$1,116</a:t>
                      </a:r>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r>
              <a:tr h="182773">
                <a:tc rowSpan="3">
                  <a:txBody>
                    <a:bodyPr/>
                    <a:lstStyle/>
                    <a:p>
                      <a:pPr algn="ctr" fontAlgn="ctr"/>
                      <a:r>
                        <a:rPr lang="en-US" sz="1100" b="1" i="0" u="none" strike="noStrike" dirty="0" smtClean="0">
                          <a:solidFill>
                            <a:srgbClr val="000000"/>
                          </a:solidFill>
                          <a:effectLst/>
                          <a:latin typeface="+mj-lt"/>
                        </a:rPr>
                        <a:t>DVR </a:t>
                      </a:r>
                      <a:r>
                        <a:rPr lang="en-US" sz="1100" b="1" i="0" u="none" strike="noStrike" dirty="0">
                          <a:solidFill>
                            <a:srgbClr val="000000"/>
                          </a:solidFill>
                          <a:effectLst/>
                          <a:latin typeface="+mj-lt"/>
                        </a:rPr>
                        <a:t>revenue</a:t>
                      </a:r>
                    </a:p>
                  </a:txBody>
                  <a:tcPr marL="9525" marR="9525" marT="9525" marB="0" vert="vert27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1" i="1" u="none" strike="noStrike" dirty="0" smtClean="0">
                          <a:solidFill>
                            <a:srgbClr val="000000"/>
                          </a:solidFill>
                          <a:effectLst/>
                          <a:latin typeface="+mj-lt"/>
                        </a:rPr>
                        <a:t>Monthly DVR price</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$20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$30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$40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r>
              <a:tr h="182773">
                <a:tc vMerge="1">
                  <a:txBody>
                    <a:bodyPr/>
                    <a:lstStyle/>
                    <a:p>
                      <a:endParaRPr lang="en-US"/>
                    </a:p>
                  </a:txBody>
                  <a:tcPr/>
                </a:tc>
                <a:tc>
                  <a:txBody>
                    <a:bodyPr/>
                    <a:lstStyle/>
                    <a:p>
                      <a:pPr algn="l" fontAlgn="b"/>
                      <a:r>
                        <a:rPr lang="en-US" sz="1100" b="0" i="0" u="none" strike="noStrike" dirty="0" smtClean="0">
                          <a:solidFill>
                            <a:srgbClr val="000000"/>
                          </a:solidFill>
                          <a:effectLst/>
                          <a:latin typeface="+mj-lt"/>
                        </a:rPr>
                        <a:t>Annual DVR</a:t>
                      </a:r>
                      <a:r>
                        <a:rPr lang="en-US" sz="1100" b="0" i="0" u="none" strike="noStrike" baseline="0" dirty="0" smtClean="0">
                          <a:solidFill>
                            <a:srgbClr val="000000"/>
                          </a:solidFill>
                          <a:effectLst/>
                          <a:latin typeface="+mj-lt"/>
                        </a:rPr>
                        <a:t> price</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$240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$360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$480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tcPr>
                </a:tc>
              </a:tr>
              <a:tr h="249324">
                <a:tc vMerge="1">
                  <a:txBody>
                    <a:bodyPr/>
                    <a:lstStyle/>
                    <a:p>
                      <a:endParaRPr lang="en-US"/>
                    </a:p>
                  </a:txBody>
                  <a:tcPr/>
                </a:tc>
                <a:tc>
                  <a:txBody>
                    <a:bodyPr/>
                    <a:lstStyle/>
                    <a:p>
                      <a:pPr algn="l" fontAlgn="b"/>
                      <a:r>
                        <a:rPr lang="en-US" sz="1100" b="0" i="0" u="none" strike="noStrike" dirty="0" smtClean="0">
                          <a:solidFill>
                            <a:srgbClr val="000000"/>
                          </a:solidFill>
                          <a:effectLst/>
                          <a:latin typeface="+mj-lt"/>
                        </a:rPr>
                        <a:t>Annual</a:t>
                      </a:r>
                      <a:r>
                        <a:rPr lang="en-US" sz="1100" b="0" i="0" u="none" strike="noStrike" baseline="0" dirty="0" smtClean="0">
                          <a:solidFill>
                            <a:srgbClr val="000000"/>
                          </a:solidFill>
                          <a:effectLst/>
                          <a:latin typeface="+mj-lt"/>
                        </a:rPr>
                        <a:t> DVR revenue</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$96</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$540</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$48</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$684</a:t>
                      </a:r>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r>
              <a:tr h="355719">
                <a:tc>
                  <a:txBody>
                    <a:bodyPr/>
                    <a:lstStyle/>
                    <a:p>
                      <a:pPr algn="l" fontAlgn="b"/>
                      <a:r>
                        <a:rPr lang="en-US" sz="1100" b="1" i="0" u="none" strike="noStrike" dirty="0" smtClean="0">
                          <a:solidFill>
                            <a:srgbClr val="000000"/>
                          </a:solidFill>
                          <a:effectLst/>
                          <a:latin typeface="+mj-lt"/>
                        </a:rPr>
                        <a:t>Total annual </a:t>
                      </a:r>
                      <a:r>
                        <a:rPr lang="en-US" sz="1100" b="1" i="0" u="none" strike="noStrike" dirty="0">
                          <a:solidFill>
                            <a:srgbClr val="000000"/>
                          </a:solidFill>
                          <a:effectLst/>
                          <a:latin typeface="+mj-lt"/>
                        </a:rPr>
                        <a:t>revenue</a:t>
                      </a: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smtClean="0">
                          <a:solidFill>
                            <a:srgbClr val="000000"/>
                          </a:solidFill>
                          <a:effectLst/>
                          <a:latin typeface="+mj-lt"/>
                        </a:rPr>
                        <a:t>$192</a:t>
                      </a:r>
                      <a:endParaRPr lang="en-US" sz="1100" b="1" i="0"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smtClean="0">
                          <a:solidFill>
                            <a:srgbClr val="000000"/>
                          </a:solidFill>
                          <a:effectLst/>
                          <a:latin typeface="+mj-lt"/>
                        </a:rPr>
                        <a:t>$1,440</a:t>
                      </a:r>
                      <a:endParaRPr lang="en-US" sz="1100" b="1" i="0"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smtClean="0">
                          <a:solidFill>
                            <a:srgbClr val="000000"/>
                          </a:solidFill>
                          <a:effectLst/>
                          <a:latin typeface="+mj-lt"/>
                        </a:rPr>
                        <a:t>$168</a:t>
                      </a:r>
                      <a:endParaRPr lang="en-US" sz="1100" b="1" i="0"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smtClean="0">
                          <a:solidFill>
                            <a:srgbClr val="000000"/>
                          </a:solidFill>
                          <a:effectLst/>
                          <a:latin typeface="+mj-lt"/>
                        </a:rPr>
                        <a:t>$1,800</a:t>
                      </a:r>
                      <a:endParaRPr lang="en-US" sz="1100" b="1"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5719">
                <a:tc rowSpan="3">
                  <a:txBody>
                    <a:bodyPr/>
                    <a:lstStyle/>
                    <a:p>
                      <a:pPr algn="ctr" fontAlgn="ctr"/>
                      <a:r>
                        <a:rPr lang="en-US" sz="1100" b="1" i="0" u="none" strike="noStrike" dirty="0">
                          <a:solidFill>
                            <a:srgbClr val="000000"/>
                          </a:solidFill>
                          <a:effectLst/>
                          <a:latin typeface="+mj-lt"/>
                        </a:rPr>
                        <a:t>variable </a:t>
                      </a:r>
                      <a:endParaRPr lang="en-US" sz="1100" b="1" i="0" u="none" strike="noStrike" dirty="0" smtClean="0">
                        <a:solidFill>
                          <a:srgbClr val="000000"/>
                        </a:solidFill>
                        <a:effectLst/>
                        <a:latin typeface="+mj-lt"/>
                      </a:endParaRPr>
                    </a:p>
                    <a:p>
                      <a:pPr algn="ctr" fontAlgn="ctr"/>
                      <a:r>
                        <a:rPr lang="en-US" sz="1100" b="1" i="0" u="none" strike="noStrike" dirty="0" smtClean="0">
                          <a:solidFill>
                            <a:srgbClr val="000000"/>
                          </a:solidFill>
                          <a:effectLst/>
                          <a:latin typeface="+mj-lt"/>
                        </a:rPr>
                        <a:t>costs</a:t>
                      </a:r>
                      <a:endParaRPr lang="en-US" sz="1100" b="1" i="0" u="none" strike="noStrike" dirty="0">
                        <a:solidFill>
                          <a:srgbClr val="000000"/>
                        </a:solidFill>
                        <a:effectLst/>
                        <a:latin typeface="+mj-lt"/>
                      </a:endParaRPr>
                    </a:p>
                  </a:txBody>
                  <a:tcPr marL="9525" marR="9525" marT="9525" marB="0" vert="vert27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1" i="1" u="none" strike="noStrike" dirty="0" smtClean="0">
                          <a:solidFill>
                            <a:srgbClr val="000000"/>
                          </a:solidFill>
                          <a:effectLst/>
                          <a:latin typeface="+mj-lt"/>
                        </a:rPr>
                        <a:t>Monthly service cost/customer</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$5</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$10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smtClean="0">
                          <a:solidFill>
                            <a:srgbClr val="000000"/>
                          </a:solidFill>
                          <a:effectLst/>
                          <a:latin typeface="+mj-lt"/>
                        </a:rPr>
                        <a:t>$10</a:t>
                      </a:r>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r>
              <a:tr h="355719">
                <a:tc vMerge="1">
                  <a:txBody>
                    <a:bodyPr/>
                    <a:lstStyle/>
                    <a:p>
                      <a:endParaRPr lang="en-US"/>
                    </a:p>
                  </a:txBody>
                  <a:tcPr/>
                </a:tc>
                <a:tc>
                  <a:txBody>
                    <a:bodyPr/>
                    <a:lstStyle/>
                    <a:p>
                      <a:pPr algn="l" fontAlgn="b"/>
                      <a:r>
                        <a:rPr lang="en-US" sz="1100" b="0" i="0" u="none" strike="noStrike" dirty="0" smtClean="0">
                          <a:solidFill>
                            <a:srgbClr val="000000"/>
                          </a:solidFill>
                          <a:effectLst/>
                          <a:latin typeface="+mj-lt"/>
                        </a:rPr>
                        <a:t>Annual service cost/customer</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$60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$120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$120</a:t>
                      </a:r>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tcPr>
                </a:tc>
              </a:tr>
              <a:tr h="355719">
                <a:tc vMerge="1">
                  <a:txBody>
                    <a:bodyPr/>
                    <a:lstStyle/>
                    <a:p>
                      <a:endParaRPr lang="en-US"/>
                    </a:p>
                  </a:txBody>
                  <a:tcPr/>
                </a:tc>
                <a:tc>
                  <a:txBody>
                    <a:bodyPr/>
                    <a:lstStyle/>
                    <a:p>
                      <a:pPr algn="l" fontAlgn="b"/>
                      <a:r>
                        <a:rPr lang="en-US" sz="1100" b="0" i="0" u="none" strike="noStrike" dirty="0" smtClean="0">
                          <a:solidFill>
                            <a:srgbClr val="000000"/>
                          </a:solidFill>
                          <a:effectLst/>
                          <a:latin typeface="+mj-lt"/>
                        </a:rPr>
                        <a:t>Annual service costs </a:t>
                      </a:r>
                      <a:r>
                        <a:rPr lang="en-US" sz="1100" b="0" i="0" u="none" strike="noStrike" baseline="0" dirty="0" smtClean="0">
                          <a:solidFill>
                            <a:srgbClr val="000000"/>
                          </a:solidFill>
                          <a:effectLst/>
                          <a:latin typeface="+mj-lt"/>
                        </a:rPr>
                        <a:t> (millions)</a:t>
                      </a:r>
                      <a:endParaRPr lang="en-US" sz="1100" b="0" i="0" u="none" strike="noStrike" dirty="0" smtClean="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$24</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$180</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$12</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$216</a:t>
                      </a:r>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r>
              <a:tr h="355719">
                <a:tc>
                  <a:txBody>
                    <a:bodyPr/>
                    <a:lstStyle/>
                    <a:p>
                      <a:pPr algn="l" fontAlgn="b"/>
                      <a:endParaRPr lang="en-US" sz="1100" b="0" i="0" u="none" strike="noStrike" dirty="0">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a:txBody>
                    <a:bodyPr/>
                    <a:lstStyle/>
                    <a:p>
                      <a:pPr algn="l" fontAlgn="b"/>
                      <a:r>
                        <a:rPr lang="en-US" sz="1100" b="1" i="1" u="none" strike="noStrike" dirty="0">
                          <a:solidFill>
                            <a:srgbClr val="000000"/>
                          </a:solidFill>
                          <a:effectLst/>
                          <a:latin typeface="+mj-lt"/>
                        </a:rPr>
                        <a:t>Programming </a:t>
                      </a:r>
                      <a:r>
                        <a:rPr lang="en-US" sz="1100" b="1" i="1" u="none" strike="noStrike" dirty="0" smtClean="0">
                          <a:solidFill>
                            <a:srgbClr val="000000"/>
                          </a:solidFill>
                          <a:effectLst/>
                          <a:latin typeface="+mj-lt"/>
                        </a:rPr>
                        <a:t>costs (% of revenue)</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1100" b="1" i="1"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r>
                        <a:rPr lang="en-US" sz="1100" b="1" i="1" u="none" strike="noStrike" dirty="0">
                          <a:solidFill>
                            <a:srgbClr val="000000"/>
                          </a:solidFill>
                          <a:effectLst/>
                          <a:latin typeface="+mj-lt"/>
                        </a:rPr>
                        <a:t>50%</a:t>
                      </a: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r>
              <a:tr h="182773">
                <a:tc>
                  <a:txBody>
                    <a:bodyPr/>
                    <a:lstStyle/>
                    <a:p>
                      <a:pPr algn="l" fontAlgn="b"/>
                      <a:endParaRPr lang="en-US" sz="1100" b="0" i="0" u="none" strike="noStrike">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a:noFill/>
                    </a:lnT>
                    <a:lnB>
                      <a:noFill/>
                    </a:lnB>
                  </a:tcPr>
                </a:tc>
                <a:tc>
                  <a:txBody>
                    <a:bodyPr/>
                    <a:lstStyle/>
                    <a:p>
                      <a:pPr algn="l" fontAlgn="b"/>
                      <a:r>
                        <a:rPr lang="en-US" sz="1100" b="0" i="0" u="none" strike="noStrike" dirty="0">
                          <a:solidFill>
                            <a:srgbClr val="000000"/>
                          </a:solidFill>
                          <a:effectLst/>
                          <a:latin typeface="+mj-lt"/>
                        </a:rPr>
                        <a:t>Total program </a:t>
                      </a:r>
                      <a:r>
                        <a:rPr lang="en-US" sz="1100" b="0" i="0" u="none" strike="noStrike" dirty="0" smtClean="0">
                          <a:solidFill>
                            <a:srgbClr val="000000"/>
                          </a:solidFill>
                          <a:effectLst/>
                          <a:latin typeface="+mj-lt"/>
                        </a:rPr>
                        <a:t>costs (millions)</a:t>
                      </a:r>
                    </a:p>
                  </a:txBody>
                  <a:tcPr marL="9525" marR="9525" marT="952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0" i="0" u="none" strike="noStrike" dirty="0" smtClean="0">
                          <a:solidFill>
                            <a:srgbClr val="000000"/>
                          </a:solidFill>
                          <a:effectLst/>
                          <a:latin typeface="+mj-lt"/>
                        </a:rPr>
                        <a:t>$900</a:t>
                      </a:r>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tcPr>
                </a:tc>
              </a:tr>
              <a:tr h="182773">
                <a:tc>
                  <a:txBody>
                    <a:bodyPr/>
                    <a:lstStyle/>
                    <a:p>
                      <a:pPr algn="l" fontAlgn="b"/>
                      <a:endParaRPr lang="en-US" sz="1100" b="0" i="0" u="none" strike="noStrike">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a:noFill/>
                    </a:lnT>
                    <a:lnB>
                      <a:noFill/>
                    </a:lnB>
                  </a:tcPr>
                </a:tc>
                <a:tc>
                  <a:txBody>
                    <a:bodyPr/>
                    <a:lstStyle/>
                    <a:p>
                      <a:pPr algn="l" fontAlgn="b"/>
                      <a:r>
                        <a:rPr lang="en-US" sz="1100" b="1" i="1" u="none" strike="noStrike" dirty="0">
                          <a:solidFill>
                            <a:srgbClr val="000000"/>
                          </a:solidFill>
                          <a:effectLst/>
                          <a:latin typeface="+mj-lt"/>
                        </a:rPr>
                        <a:t>Other </a:t>
                      </a:r>
                      <a:r>
                        <a:rPr lang="en-US" sz="1100" b="1" i="1" u="none" strike="noStrike" dirty="0" smtClean="0">
                          <a:solidFill>
                            <a:srgbClr val="000000"/>
                          </a:solidFill>
                          <a:effectLst/>
                          <a:latin typeface="+mj-lt"/>
                        </a:rPr>
                        <a:t>costs (% of revenue)</a:t>
                      </a:r>
                      <a:endParaRPr lang="en-US" sz="1100" b="1" i="1"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l" fontAlgn="b"/>
                      <a:endParaRPr lang="en-US" sz="1100" b="1" i="1"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l" fontAlgn="b"/>
                      <a:endParaRPr lang="en-US" sz="1100" b="1" i="1"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l" fontAlgn="b"/>
                      <a:endParaRPr lang="en-US" sz="1100" b="1" i="1" u="none" strike="noStrike" dirty="0">
                        <a:solidFill>
                          <a:srgbClr val="000000"/>
                        </a:solidFill>
                        <a:effectLst/>
                        <a:latin typeface="+mj-lt"/>
                      </a:endParaRPr>
                    </a:p>
                  </a:txBody>
                  <a:tcPr marL="9525" marR="9525" marT="9525" marB="0" anchor="b">
                    <a:lnL>
                      <a:noFill/>
                    </a:lnL>
                    <a:lnR>
                      <a:noFill/>
                    </a:lnR>
                    <a:lnT>
                      <a:noFill/>
                    </a:lnT>
                    <a:lnB>
                      <a:noFill/>
                    </a:lnB>
                  </a:tcPr>
                </a:tc>
                <a:tc>
                  <a:txBody>
                    <a:bodyPr/>
                    <a:lstStyle/>
                    <a:p>
                      <a:pPr algn="ctr" fontAlgn="b"/>
                      <a:r>
                        <a:rPr lang="en-US" sz="1100" b="1" i="1" u="none" strike="noStrike" dirty="0">
                          <a:solidFill>
                            <a:srgbClr val="000000"/>
                          </a:solidFill>
                          <a:effectLst/>
                          <a:latin typeface="+mj-lt"/>
                        </a:rPr>
                        <a:t>20%</a:t>
                      </a: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tcPr>
                </a:tc>
              </a:tr>
              <a:tr h="182773">
                <a:tc>
                  <a:txBody>
                    <a:bodyPr/>
                    <a:lstStyle/>
                    <a:p>
                      <a:pPr algn="l" fontAlgn="b"/>
                      <a:endParaRPr lang="en-US" sz="1100" b="0" i="0" u="none" strike="noStrike">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mj-lt"/>
                        </a:rPr>
                        <a:t>Total other </a:t>
                      </a:r>
                      <a:r>
                        <a:rPr lang="en-US" sz="1100" b="0" i="0" u="none" strike="noStrike" dirty="0" smtClean="0">
                          <a:solidFill>
                            <a:srgbClr val="000000"/>
                          </a:solidFill>
                          <a:effectLst/>
                          <a:latin typeface="+mj-lt"/>
                        </a:rPr>
                        <a:t>costs (millions)</a:t>
                      </a:r>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latin typeface="+mj-lt"/>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smtClean="0">
                          <a:solidFill>
                            <a:srgbClr val="000000"/>
                          </a:solidFill>
                          <a:effectLst/>
                          <a:latin typeface="+mj-lt"/>
                        </a:rPr>
                        <a:t>$360</a:t>
                      </a:r>
                      <a:endParaRPr lang="en-US" sz="1100" b="0"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r>
              <a:tr h="355719">
                <a:tc>
                  <a:txBody>
                    <a:bodyPr/>
                    <a:lstStyle/>
                    <a:p>
                      <a:pPr algn="l" fontAlgn="b"/>
                      <a:r>
                        <a:rPr lang="en-US" sz="1100" b="1" i="0" u="none" strike="noStrike" dirty="0">
                          <a:solidFill>
                            <a:srgbClr val="000000"/>
                          </a:solidFill>
                          <a:effectLst/>
                          <a:latin typeface="+mj-lt"/>
                        </a:rPr>
                        <a:t>Total </a:t>
                      </a:r>
                      <a:r>
                        <a:rPr lang="en-US" sz="1100" b="1" i="0" u="none" strike="noStrike" dirty="0" smtClean="0">
                          <a:solidFill>
                            <a:srgbClr val="000000"/>
                          </a:solidFill>
                          <a:effectLst/>
                          <a:latin typeface="+mj-lt"/>
                        </a:rPr>
                        <a:t>costs (millions)</a:t>
                      </a:r>
                      <a:endParaRPr lang="en-US" sz="1100" b="1" i="0" u="none" strike="noStrike" dirty="0">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smtClean="0">
                          <a:solidFill>
                            <a:srgbClr val="000000"/>
                          </a:solidFill>
                          <a:effectLst/>
                          <a:latin typeface="+mj-lt"/>
                        </a:rPr>
                        <a:t>$1,476</a:t>
                      </a:r>
                      <a:endParaRPr lang="en-US" sz="1100" b="1"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55719">
                <a:tc>
                  <a:txBody>
                    <a:bodyPr/>
                    <a:lstStyle/>
                    <a:p>
                      <a:pPr algn="l" fontAlgn="b"/>
                      <a:r>
                        <a:rPr lang="en-US" sz="1100" b="1" i="0" u="none" strike="noStrike" dirty="0">
                          <a:solidFill>
                            <a:srgbClr val="000000"/>
                          </a:solidFill>
                          <a:effectLst/>
                          <a:latin typeface="+mj-lt"/>
                        </a:rPr>
                        <a:t>Total </a:t>
                      </a:r>
                      <a:r>
                        <a:rPr lang="en-US" sz="1100" b="1" i="0" u="none" strike="noStrike" dirty="0" smtClean="0">
                          <a:solidFill>
                            <a:srgbClr val="000000"/>
                          </a:solidFill>
                          <a:effectLst/>
                          <a:latin typeface="+mj-lt"/>
                        </a:rPr>
                        <a:t>profit (millions)</a:t>
                      </a:r>
                      <a:endParaRPr lang="en-US" sz="1100" b="1" i="0" u="none" strike="noStrike" dirty="0">
                        <a:solidFill>
                          <a:srgbClr val="000000"/>
                        </a:solidFill>
                        <a:effectLst/>
                        <a:latin typeface="+mj-lt"/>
                      </a:endParaRP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dirty="0">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100" b="1" i="0" u="none" strike="noStrike">
                        <a:solidFill>
                          <a:srgbClr val="000000"/>
                        </a:solidFill>
                        <a:effectLst/>
                        <a:latin typeface="+mj-lt"/>
                      </a:endParaRPr>
                    </a:p>
                  </a:txBody>
                  <a:tcPr marL="9525" marR="9525" marT="952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1" i="0" u="none" strike="noStrike" dirty="0" smtClean="0">
                          <a:solidFill>
                            <a:srgbClr val="000000"/>
                          </a:solidFill>
                          <a:effectLst/>
                          <a:latin typeface="+mj-lt"/>
                        </a:rPr>
                        <a:t>$324</a:t>
                      </a:r>
                      <a:endParaRPr lang="en-US" sz="1100" b="1" i="0" u="none" strike="noStrike" dirty="0">
                        <a:solidFill>
                          <a:srgbClr val="000000"/>
                        </a:solidFill>
                        <a:effectLst/>
                        <a:latin typeface="+mj-lt"/>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5: Satellite Co.</a:t>
            </a:r>
          </a:p>
        </p:txBody>
      </p:sp>
    </p:spTree>
    <p:extLst>
      <p:ext uri="{BB962C8B-B14F-4D97-AF65-F5344CB8AC3E}">
        <p14:creationId xmlns:p14="http://schemas.microsoft.com/office/powerpoint/2010/main" val="114710599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1"/>
          </p:nvPr>
        </p:nvSpPr>
        <p:spPr>
          <a:noFill/>
        </p:spPr>
        <p:txBody>
          <a:bodyPr/>
          <a:lstStyle/>
          <a:p>
            <a:fld id="{E756E25E-4EB7-487C-AEFF-67FD1ABADCA9}" type="slidenum">
              <a:rPr lang="en-US" smtClean="0">
                <a:latin typeface="Arial" pitchFamily="34" charset="0"/>
                <a:ea typeface="ＭＳ Ｐゴシック" pitchFamily="34" charset="-128"/>
              </a:rPr>
              <a:pPr/>
              <a:t>44</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466081427"/>
              </p:ext>
            </p:extLst>
          </p:nvPr>
        </p:nvGraphicFramePr>
        <p:xfrm>
          <a:off x="228600" y="1300651"/>
          <a:ext cx="8686799" cy="5120640"/>
        </p:xfrm>
        <a:graphic>
          <a:graphicData uri="http://schemas.openxmlformats.org/drawingml/2006/table">
            <a:tbl>
              <a:tblPr firstRow="1" bandRow="1">
                <a:tableStyleId>{616DA210-FB5B-4158-B5E0-FEB733F419BA}</a:tableStyleId>
              </a:tblPr>
              <a:tblGrid>
                <a:gridCol w="1628775"/>
                <a:gridCol w="7058024"/>
              </a:tblGrid>
              <a:tr h="1541350">
                <a:tc>
                  <a:txBody>
                    <a:bodyPr/>
                    <a:lstStyle/>
                    <a:p>
                      <a:pPr algn="ctr"/>
                      <a:r>
                        <a:rPr lang="en-US" b="1" i="0" dirty="0" smtClean="0"/>
                        <a:t>Guidance</a:t>
                      </a:r>
                      <a:endParaRPr lang="en-US" sz="1000" i="0" dirty="0"/>
                    </a:p>
                  </a:txBody>
                  <a:tcPr anchor="ctr">
                    <a:noFill/>
                  </a:tcPr>
                </a:tc>
                <a:tc>
                  <a:txBody>
                    <a:bodyPr/>
                    <a:lstStyle/>
                    <a:p>
                      <a:r>
                        <a:rPr lang="en-US" sz="1200" b="0" i="0" kern="1200" dirty="0" smtClean="0">
                          <a:solidFill>
                            <a:schemeClr val="tx1"/>
                          </a:solidFill>
                          <a:latin typeface="+mj-lt"/>
                          <a:ea typeface="+mn-ea"/>
                          <a:cs typeface="+mn-cs"/>
                        </a:rPr>
                        <a:t>For</a:t>
                      </a:r>
                      <a:r>
                        <a:rPr lang="en-US" sz="1200" b="0" i="0" kern="1200" baseline="0" dirty="0" smtClean="0">
                          <a:solidFill>
                            <a:schemeClr val="tx1"/>
                          </a:solidFill>
                          <a:latin typeface="+mj-lt"/>
                          <a:ea typeface="+mn-ea"/>
                          <a:cs typeface="+mn-cs"/>
                        </a:rPr>
                        <a:t> the </a:t>
                      </a:r>
                      <a:r>
                        <a:rPr lang="en-US" sz="1200" b="0" i="0" kern="1200" dirty="0" smtClean="0">
                          <a:solidFill>
                            <a:schemeClr val="tx1"/>
                          </a:solidFill>
                          <a:latin typeface="+mj-lt"/>
                          <a:ea typeface="+mn-ea"/>
                          <a:cs typeface="+mn-cs"/>
                        </a:rPr>
                        <a:t>valuation part, the candidate must estimate the cash flows from the business and discount them back using a perpetuity formula. The discount rate that</a:t>
                      </a:r>
                      <a:r>
                        <a:rPr lang="en-US" sz="1200" b="0" i="0" kern="1200" baseline="0" dirty="0" smtClean="0">
                          <a:solidFill>
                            <a:schemeClr val="tx1"/>
                          </a:solidFill>
                          <a:latin typeface="+mj-lt"/>
                          <a:ea typeface="+mn-ea"/>
                          <a:cs typeface="+mn-cs"/>
                        </a:rPr>
                        <a:t> should be</a:t>
                      </a:r>
                      <a:r>
                        <a:rPr lang="en-US" sz="1200" b="0" i="0" kern="1200" dirty="0" smtClean="0">
                          <a:solidFill>
                            <a:schemeClr val="tx1"/>
                          </a:solidFill>
                          <a:latin typeface="+mj-lt"/>
                          <a:ea typeface="+mn-ea"/>
                          <a:cs typeface="+mn-cs"/>
                        </a:rPr>
                        <a:t> used is 15%.</a:t>
                      </a:r>
                      <a:r>
                        <a:rPr lang="en-US" sz="1200" b="0" i="0" kern="1200" baseline="0" dirty="0" smtClean="0">
                          <a:solidFill>
                            <a:schemeClr val="tx1"/>
                          </a:solidFill>
                          <a:latin typeface="+mj-lt"/>
                          <a:ea typeface="+mn-ea"/>
                          <a:cs typeface="+mn-cs"/>
                        </a:rPr>
                        <a:t> </a:t>
                      </a:r>
                      <a:r>
                        <a:rPr lang="en-US" sz="1200" b="0" i="0" kern="1200" dirty="0" smtClean="0">
                          <a:solidFill>
                            <a:schemeClr val="tx1"/>
                          </a:solidFill>
                          <a:latin typeface="+mj-lt"/>
                          <a:ea typeface="+mn-ea"/>
                          <a:cs typeface="+mn-cs"/>
                        </a:rPr>
                        <a:t>When the candidate inquires about growth rates, say the company’s profit is growing at 5%,</a:t>
                      </a:r>
                      <a:r>
                        <a:rPr lang="en-US" sz="1200" b="0" i="0" kern="1200" baseline="0" dirty="0" smtClean="0">
                          <a:solidFill>
                            <a:schemeClr val="tx1"/>
                          </a:solidFill>
                          <a:latin typeface="+mj-lt"/>
                          <a:ea typeface="+mn-ea"/>
                          <a:cs typeface="+mn-cs"/>
                        </a:rPr>
                        <a:t> </a:t>
                      </a:r>
                      <a:r>
                        <a:rPr lang="en-US" sz="1200" b="0" i="0" kern="1200" dirty="0" smtClean="0">
                          <a:solidFill>
                            <a:schemeClr val="tx1"/>
                          </a:solidFill>
                          <a:latin typeface="+mj-lt"/>
                          <a:ea typeface="+mn-ea"/>
                          <a:cs typeface="+mn-cs"/>
                        </a:rPr>
                        <a:t>above</a:t>
                      </a:r>
                      <a:r>
                        <a:rPr lang="en-US" sz="1200" b="0" i="0" kern="1200" baseline="0" dirty="0" smtClean="0">
                          <a:solidFill>
                            <a:schemeClr val="tx1"/>
                          </a:solidFill>
                          <a:latin typeface="+mj-lt"/>
                          <a:ea typeface="+mn-ea"/>
                          <a:cs typeface="+mn-cs"/>
                        </a:rPr>
                        <a:t> </a:t>
                      </a:r>
                      <a:r>
                        <a:rPr lang="en-US" sz="1200" b="0" i="0" kern="1200" dirty="0" smtClean="0">
                          <a:solidFill>
                            <a:schemeClr val="tx1"/>
                          </a:solidFill>
                          <a:latin typeface="+mj-lt"/>
                          <a:ea typeface="+mn-ea"/>
                          <a:cs typeface="+mn-cs"/>
                        </a:rPr>
                        <a:t>the rate of inflation. Therefore, whatever numerator the candidate arrives at should be divided by 0.15 - 0.05 = .10, an easy calculation. Use the CF / (r – g) formula for a perpetuity. In this case, the answer is around $324m / 0.10, or $3.24</a:t>
                      </a:r>
                      <a:r>
                        <a:rPr lang="en-US" sz="1200" b="0" i="0" kern="1200" baseline="0" dirty="0" smtClean="0">
                          <a:solidFill>
                            <a:schemeClr val="tx1"/>
                          </a:solidFill>
                          <a:latin typeface="+mj-lt"/>
                          <a:ea typeface="+mn-ea"/>
                          <a:cs typeface="+mn-cs"/>
                        </a:rPr>
                        <a:t> b</a:t>
                      </a:r>
                      <a:r>
                        <a:rPr lang="en-US" sz="1200" b="0" i="0" kern="1200" dirty="0" smtClean="0">
                          <a:solidFill>
                            <a:schemeClr val="tx1"/>
                          </a:solidFill>
                          <a:latin typeface="+mj-lt"/>
                          <a:ea typeface="+mn-ea"/>
                          <a:cs typeface="+mn-cs"/>
                        </a:rPr>
                        <a:t>illion.</a:t>
                      </a:r>
                    </a:p>
                    <a:p>
                      <a:endParaRPr lang="en-US" sz="1200" b="0" i="0" kern="1200" dirty="0" smtClean="0">
                        <a:solidFill>
                          <a:schemeClr val="tx1"/>
                        </a:solidFill>
                        <a:latin typeface="+mj-lt"/>
                        <a:ea typeface="+mn-ea"/>
                        <a:cs typeface="+mn-cs"/>
                      </a:endParaRPr>
                    </a:p>
                    <a:p>
                      <a:r>
                        <a:rPr lang="en-US" sz="1200" b="0" i="0" kern="1200" dirty="0" smtClean="0">
                          <a:solidFill>
                            <a:schemeClr val="tx1"/>
                          </a:solidFill>
                          <a:latin typeface="+mj-lt"/>
                          <a:ea typeface="+mn-ea"/>
                          <a:cs typeface="+mn-cs"/>
                        </a:rPr>
                        <a:t>After</a:t>
                      </a:r>
                      <a:r>
                        <a:rPr lang="en-US" sz="1200" b="0" i="0" kern="1200" baseline="0" dirty="0" smtClean="0">
                          <a:solidFill>
                            <a:schemeClr val="tx1"/>
                          </a:solidFill>
                          <a:latin typeface="+mj-lt"/>
                          <a:ea typeface="+mn-ea"/>
                          <a:cs typeface="+mn-cs"/>
                        </a:rPr>
                        <a:t> the value of the company is obtained, ask the candidate what other types of analyses should be done before giving the client the recommendation.</a:t>
                      </a:r>
                    </a:p>
                    <a:p>
                      <a:endParaRPr lang="en-US" sz="1200" i="0" kern="1200" dirty="0" smtClean="0">
                        <a:solidFill>
                          <a:schemeClr val="tx1"/>
                        </a:solidFill>
                        <a:latin typeface="+mj-lt"/>
                        <a:ea typeface="+mn-ea"/>
                        <a:cs typeface="+mn-cs"/>
                      </a:endParaRPr>
                    </a:p>
                  </a:txBody>
                  <a:tcPr>
                    <a:noFill/>
                  </a:tcPr>
                </a:tc>
              </a:tr>
              <a:tr h="1695423">
                <a:tc>
                  <a:txBody>
                    <a:bodyPr/>
                    <a:lstStyle/>
                    <a:p>
                      <a:pPr algn="ctr"/>
                      <a:r>
                        <a:rPr lang="en-US" b="1" i="0" dirty="0" smtClean="0"/>
                        <a:t>Performance Evaluation</a:t>
                      </a:r>
                      <a:endParaRPr lang="en-US" sz="1000" i="0" dirty="0"/>
                    </a:p>
                  </a:txBody>
                  <a:tcPr anchor="ctr">
                    <a:solidFill>
                      <a:schemeClr val="accent1"/>
                    </a:solidFill>
                  </a:tcP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indent="-171450">
                        <a:buFont typeface="Arial" pitchFamily="34" charset="0"/>
                        <a:buChar char="•"/>
                      </a:pPr>
                      <a:r>
                        <a:rPr lang="en-US" sz="1200" b="0" i="0" kern="1200" baseline="0" dirty="0" smtClean="0">
                          <a:solidFill>
                            <a:schemeClr val="tx1"/>
                          </a:solidFill>
                          <a:latin typeface="+mj-lt"/>
                          <a:ea typeface="+mn-ea"/>
                          <a:cs typeface="+mn-cs"/>
                        </a:rPr>
                        <a:t>Completes all math accurately</a:t>
                      </a:r>
                    </a:p>
                    <a:p>
                      <a:pPr marL="171450" indent="-171450">
                        <a:buFont typeface="Arial" pitchFamily="34" charset="0"/>
                        <a:buChar char="•"/>
                      </a:pPr>
                      <a:r>
                        <a:rPr lang="en-US" sz="1200" b="0" i="0" kern="1200" baseline="0" dirty="0" smtClean="0">
                          <a:solidFill>
                            <a:schemeClr val="tx1"/>
                          </a:solidFill>
                          <a:latin typeface="+mj-lt"/>
                          <a:ea typeface="+mn-ea"/>
                          <a:cs typeface="+mn-cs"/>
                        </a:rPr>
                        <a:t>Proceeds through the process to the answer with some prompting</a:t>
                      </a:r>
                    </a:p>
                    <a:p>
                      <a:r>
                        <a:rPr lang="en-US" sz="1200" b="0" i="0" kern="1200" baseline="0" dirty="0" smtClean="0">
                          <a:solidFill>
                            <a:schemeClr val="tx1"/>
                          </a:solidFill>
                          <a:latin typeface="+mj-lt"/>
                          <a:ea typeface="+mn-ea"/>
                          <a:cs typeface="+mn-cs"/>
                        </a:rPr>
                        <a:t> </a:t>
                      </a:r>
                    </a:p>
                    <a:p>
                      <a:r>
                        <a:rPr lang="en-US" sz="1200" b="1" i="0" kern="1200" baseline="0" dirty="0" smtClean="0">
                          <a:solidFill>
                            <a:schemeClr val="tx1"/>
                          </a:solidFill>
                          <a:latin typeface="+mj-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Completes all “Expected” requirements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Is able to drive the process forward, covering the necessary points with minimal prompting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Walks the interviewer clearly through the math</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Completes all “Good” requirements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D</a:t>
                      </a:r>
                      <a:r>
                        <a:rPr lang="en-US" sz="1200" b="0" i="0" kern="1200" dirty="0" smtClean="0">
                          <a:solidFill>
                            <a:schemeClr val="tx1"/>
                          </a:solidFill>
                          <a:latin typeface="+mj-lt"/>
                          <a:ea typeface="+mn-ea"/>
                          <a:cs typeface="+mn-cs"/>
                        </a:rPr>
                        <a:t>rives the process forward while recognizing</a:t>
                      </a:r>
                      <a:r>
                        <a:rPr lang="en-US" sz="1200" b="0" i="0" kern="1200" baseline="0" dirty="0" smtClean="0">
                          <a:solidFill>
                            <a:schemeClr val="tx1"/>
                          </a:solidFill>
                          <a:latin typeface="+mj-lt"/>
                          <a:ea typeface="+mn-ea"/>
                          <a:cs typeface="+mn-cs"/>
                        </a:rPr>
                        <a:t> </a:t>
                      </a:r>
                      <a:r>
                        <a:rPr lang="en-US" sz="1200" b="0" i="0" kern="1200" dirty="0" smtClean="0">
                          <a:solidFill>
                            <a:schemeClr val="tx1"/>
                          </a:solidFill>
                          <a:latin typeface="+mj-lt"/>
                          <a:ea typeface="+mn-ea"/>
                          <a:cs typeface="+mn-cs"/>
                        </a:rPr>
                        <a:t>that they need to figure out a stream of cash flows to go forward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latin typeface="+mj-lt"/>
                          <a:ea typeface="+mn-ea"/>
                          <a:cs typeface="+mn-cs"/>
                        </a:rPr>
                        <a:t>P</a:t>
                      </a:r>
                      <a:r>
                        <a:rPr lang="en-US" sz="1200" b="0" i="0" kern="1200" baseline="0" dirty="0" smtClean="0">
                          <a:solidFill>
                            <a:schemeClr val="tx1"/>
                          </a:solidFill>
                          <a:latin typeface="+mj-lt"/>
                          <a:ea typeface="+mn-ea"/>
                          <a:cs typeface="+mn-cs"/>
                        </a:rPr>
                        <a:t>erforms an a</a:t>
                      </a:r>
                      <a:r>
                        <a:rPr lang="en-US" sz="1200" b="0" i="0" kern="1200" dirty="0" smtClean="0">
                          <a:solidFill>
                            <a:schemeClr val="tx1"/>
                          </a:solidFill>
                          <a:latin typeface="+mj-lt"/>
                          <a:ea typeface="+mn-ea"/>
                          <a:cs typeface="+mn-cs"/>
                        </a:rPr>
                        <a:t>ccurate valuation</a:t>
                      </a:r>
                      <a:r>
                        <a:rPr lang="en-US" sz="1200" b="0" i="0" kern="1200" baseline="0" dirty="0" smtClean="0">
                          <a:solidFill>
                            <a:schemeClr val="tx1"/>
                          </a:solidFill>
                          <a:latin typeface="+mj-lt"/>
                          <a:ea typeface="+mn-ea"/>
                          <a:cs typeface="+mn-cs"/>
                        </a:rPr>
                        <a:t> given assumptions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Thoughtfully discusses other types of analyses that should be completed before making a recommendation to the client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dirty="0">
                        <a:solidFill>
                          <a:schemeClr val="tx1"/>
                        </a:solidFill>
                        <a:latin typeface="+mj-lt"/>
                        <a:ea typeface="+mn-ea"/>
                        <a:cs typeface="+mn-cs"/>
                      </a:endParaRPr>
                    </a:p>
                  </a:txBody>
                  <a:tcPr>
                    <a:solidFill>
                      <a:schemeClr val="accent1"/>
                    </a:solidFill>
                  </a:tcPr>
                </a:tc>
              </a:tr>
            </a:tbl>
          </a:graphicData>
        </a:graphic>
      </p:graphicFrame>
      <p:pic>
        <p:nvPicPr>
          <p:cNvPr id="5531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5: Satellite Co.</a:t>
            </a:r>
          </a:p>
        </p:txBody>
      </p:sp>
      <p:sp>
        <p:nvSpPr>
          <p:cNvPr id="8" name="TextBox 6"/>
          <p:cNvSpPr txBox="1">
            <a:spLocks noChangeArrowheads="1"/>
          </p:cNvSpPr>
          <p:nvPr/>
        </p:nvSpPr>
        <p:spPr bwMode="auto">
          <a:xfrm>
            <a:off x="228600" y="990600"/>
            <a:ext cx="1447800" cy="307975"/>
          </a:xfrm>
          <a:prstGeom prst="rect">
            <a:avLst/>
          </a:prstGeom>
          <a:noFill/>
          <a:ln w="9525">
            <a:noFill/>
            <a:miter lim="800000"/>
            <a:headEnd/>
            <a:tailEnd/>
          </a:ln>
        </p:spPr>
        <p:txBody>
          <a:bodyPr>
            <a:spAutoFit/>
          </a:bodyPr>
          <a:lstStyle/>
          <a:p>
            <a:r>
              <a:rPr lang="en-US" sz="1400" i="1" dirty="0"/>
              <a:t>Valuation</a:t>
            </a:r>
          </a:p>
        </p:txBody>
      </p:sp>
    </p:spTree>
    <p:extLst>
      <p:ext uri="{BB962C8B-B14F-4D97-AF65-F5344CB8AC3E}">
        <p14:creationId xmlns:p14="http://schemas.microsoft.com/office/powerpoint/2010/main" val="214580402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45</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ctrTitle"/>
          </p:nvPr>
        </p:nvSpPr>
        <p:spPr/>
        <p:txBody>
          <a:bodyPr anchor="ctr"/>
          <a:lstStyle/>
          <a:p>
            <a:pPr algn="ctr"/>
            <a:r>
              <a:rPr lang="en-US" dirty="0" smtClean="0">
                <a:ea typeface="ＭＳ Ｐゴシック" pitchFamily="34" charset="-128"/>
              </a:rPr>
              <a:t>Profitability</a:t>
            </a:r>
          </a:p>
        </p:txBody>
      </p:sp>
      <p:sp>
        <p:nvSpPr>
          <p:cNvPr id="68612" name="Slide Number Placeholder 3"/>
          <p:cNvSpPr>
            <a:spLocks noGrp="1"/>
          </p:cNvSpPr>
          <p:nvPr>
            <p:ph type="sldNum" sz="quarter" idx="11"/>
          </p:nvPr>
        </p:nvSpPr>
        <p:spPr>
          <a:noFill/>
        </p:spPr>
        <p:txBody>
          <a:bodyPr/>
          <a:lstStyle/>
          <a:p>
            <a:fld id="{B9E7A42D-ECDA-4C2F-994F-98CCABA17F94}" type="slidenum">
              <a:rPr lang="en-US" smtClean="0">
                <a:latin typeface="Arial" pitchFamily="34" charset="0"/>
                <a:ea typeface="ＭＳ Ｐゴシック" pitchFamily="34" charset="-128"/>
              </a:rPr>
              <a:pPr/>
              <a:t>46</a:t>
            </a:fld>
            <a:endParaRPr lang="en-US" smtClean="0">
              <a:latin typeface="Arial" pitchFamily="34" charset="0"/>
              <a:ea typeface="ＭＳ Ｐゴシック" pitchFamily="34" charset="-128"/>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47</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175849888"/>
              </p:ext>
            </p:extLst>
          </p:nvPr>
        </p:nvGraphicFramePr>
        <p:xfrm>
          <a:off x="304800" y="1295400"/>
          <a:ext cx="8686800" cy="512064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lang="en-US" b="1" i="0" dirty="0" smtClean="0"/>
                        <a:t>Prompt</a:t>
                      </a:r>
                      <a:endParaRPr lang="en-US" sz="1000" i="0" dirty="0"/>
                    </a:p>
                  </a:txBody>
                  <a:tcPr anchor="ctr">
                    <a:noFill/>
                  </a:tcPr>
                </a:tc>
                <a:tc>
                  <a:txBody>
                    <a:bodyPr/>
                    <a:lstStyle/>
                    <a:p>
                      <a:pPr fontAlgn="auto">
                        <a:spcAft>
                          <a:spcPts val="0"/>
                        </a:spcAft>
                        <a:buFont typeface="Arial"/>
                        <a:buNone/>
                        <a:defRPr/>
                      </a:pPr>
                      <a:r>
                        <a:rPr lang="en-US" sz="1200" b="0" dirty="0" smtClean="0">
                          <a:ea typeface="+mn-ea"/>
                          <a:cs typeface="+mn-cs"/>
                        </a:rPr>
                        <a:t>Your client builds elevators for both residential and commercial buildings. The CEO is worried because in the last couple of months they have been losing money</a:t>
                      </a:r>
                      <a:r>
                        <a:rPr lang="en-US" sz="1200" b="0" baseline="0" dirty="0" smtClean="0">
                          <a:ea typeface="+mn-ea"/>
                          <a:cs typeface="+mn-cs"/>
                        </a:rPr>
                        <a:t> even though t</a:t>
                      </a:r>
                      <a:r>
                        <a:rPr lang="en-US" sz="1200" b="0" dirty="0" smtClean="0">
                          <a:ea typeface="+mn-ea"/>
                          <a:cs typeface="+mn-cs"/>
                        </a:rPr>
                        <a:t>otal sales have remained almost at the same level. </a:t>
                      </a:r>
                    </a:p>
                    <a:p>
                      <a:pPr fontAlgn="auto">
                        <a:spcAft>
                          <a:spcPts val="0"/>
                        </a:spcAft>
                        <a:buFont typeface="Arial"/>
                        <a:buNone/>
                        <a:defRPr/>
                      </a:pPr>
                      <a:endParaRPr lang="en-US" sz="1200" b="0" dirty="0" smtClean="0">
                        <a:ea typeface="+mn-ea"/>
                        <a:cs typeface="+mn-cs"/>
                      </a:endParaRPr>
                    </a:p>
                    <a:p>
                      <a:pPr fontAlgn="auto">
                        <a:spcAft>
                          <a:spcPts val="0"/>
                        </a:spcAft>
                        <a:buFont typeface="Arial"/>
                        <a:buNone/>
                        <a:defRPr/>
                      </a:pPr>
                      <a:r>
                        <a:rPr lang="en-US" sz="1200" b="1" dirty="0" smtClean="0">
                          <a:ea typeface="+mn-ea"/>
                          <a:cs typeface="+mn-cs"/>
                        </a:rPr>
                        <a:t>What is wrong and how can it</a:t>
                      </a:r>
                      <a:r>
                        <a:rPr lang="en-US" sz="1200" b="1" baseline="0" dirty="0" smtClean="0">
                          <a:ea typeface="+mn-ea"/>
                          <a:cs typeface="+mn-cs"/>
                        </a:rPr>
                        <a:t> be </a:t>
                      </a:r>
                      <a:r>
                        <a:rPr lang="en-US" sz="1200" b="1" dirty="0" smtClean="0">
                          <a:ea typeface="+mn-ea"/>
                          <a:cs typeface="+mn-cs"/>
                        </a:rPr>
                        <a:t>rectified?</a:t>
                      </a:r>
                    </a:p>
                    <a:p>
                      <a:pPr fontAlgn="auto">
                        <a:spcAft>
                          <a:spcPts val="0"/>
                        </a:spcAft>
                        <a:buFont typeface="Arial"/>
                        <a:buNone/>
                        <a:defRPr/>
                      </a:pPr>
                      <a:endParaRPr lang="en-US" sz="1200" b="0"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Provide</a:t>
                      </a:r>
                      <a:r>
                        <a:rPr lang="en-US" sz="1200" b="0" i="0" kern="1200" baseline="0" dirty="0" smtClean="0">
                          <a:solidFill>
                            <a:schemeClr val="tx1"/>
                          </a:solidFill>
                          <a:latin typeface="+mn-lt"/>
                          <a:ea typeface="+mn-ea"/>
                          <a:cs typeface="+mn-cs"/>
                        </a:rPr>
                        <a:t> the following information </a:t>
                      </a:r>
                      <a:r>
                        <a:rPr lang="en-US" sz="1200" b="0" i="0" u="none" kern="1200" baseline="0" dirty="0" smtClean="0">
                          <a:solidFill>
                            <a:schemeClr val="tx1"/>
                          </a:solidFill>
                          <a:latin typeface="+mn-lt"/>
                          <a:ea typeface="+mn-ea"/>
                          <a:cs typeface="+mn-cs"/>
                        </a:rPr>
                        <a:t>upon request: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The client is the largest residential elevator manufacturer in the U.S. It also recently grew to become the second largest commercial elevator manufacturer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Originally, they sold mainly to residential buildings. Due to the downturn, residential building sales have dropped. On the other hand, they have sold more elevators to commercial buildings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After the candidate presents his/her framework and asks about the cost structure and revenue distribution, provide Exhibit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6: </a:t>
            </a:r>
            <a:r>
              <a:rPr lang="en-US" sz="2400" b="1" dirty="0"/>
              <a:t>Elevator manufacturer</a:t>
            </a:r>
          </a:p>
        </p:txBody>
      </p:sp>
      <p:sp>
        <p:nvSpPr>
          <p:cNvPr id="7" name="TextBox 6"/>
          <p:cNvSpPr txBox="1"/>
          <p:nvPr/>
        </p:nvSpPr>
        <p:spPr>
          <a:xfrm>
            <a:off x="2013282" y="4130701"/>
            <a:ext cx="4158511" cy="307777"/>
          </a:xfrm>
          <a:prstGeom prst="rect">
            <a:avLst/>
          </a:prstGeom>
          <a:noFill/>
        </p:spPr>
        <p:txBody>
          <a:bodyPr wrap="none" rtlCol="0">
            <a:spAutoFit/>
          </a:bodyPr>
          <a:lstStyle/>
          <a:p>
            <a:r>
              <a:rPr lang="en-US" sz="1400" b="1" dirty="0" smtClean="0"/>
              <a:t>Exhibit 1: Cost structure and sales distribution</a:t>
            </a:r>
            <a:endParaRPr lang="en-US" sz="1400" b="1" dirty="0"/>
          </a:p>
        </p:txBody>
      </p:sp>
      <p:graphicFrame>
        <p:nvGraphicFramePr>
          <p:cNvPr id="8" name="Table 7"/>
          <p:cNvGraphicFramePr>
            <a:graphicFrameLocks noGrp="1"/>
          </p:cNvGraphicFramePr>
          <p:nvPr>
            <p:extLst>
              <p:ext uri="{D42A27DB-BD31-4B8C-83A1-F6EECF244321}">
                <p14:modId xmlns:p14="http://schemas.microsoft.com/office/powerpoint/2010/main" val="2510269039"/>
              </p:ext>
            </p:extLst>
          </p:nvPr>
        </p:nvGraphicFramePr>
        <p:xfrm>
          <a:off x="2085474" y="4493338"/>
          <a:ext cx="3984538" cy="1669848"/>
        </p:xfrm>
        <a:graphic>
          <a:graphicData uri="http://schemas.openxmlformats.org/drawingml/2006/table">
            <a:tbl>
              <a:tblPr/>
              <a:tblGrid>
                <a:gridCol w="1758851"/>
                <a:gridCol w="1111237"/>
                <a:gridCol w="1114450"/>
              </a:tblGrid>
              <a:tr h="278308">
                <a:tc>
                  <a:txBody>
                    <a:bodyPr/>
                    <a:lstStyle/>
                    <a:p>
                      <a:pPr algn="l" fontAlgn="ctr"/>
                      <a:r>
                        <a:rPr lang="en-US" sz="1400" b="1" i="0" u="none" strike="noStrike" dirty="0">
                          <a:solidFill>
                            <a:srgbClr val="000000"/>
                          </a:solidFill>
                          <a:effectLst/>
                          <a:latin typeface="Calibri"/>
                        </a:rPr>
                        <a:t>Costs (as % of sales):</a:t>
                      </a:r>
                    </a:p>
                  </a:txBody>
                  <a:tcPr marL="12700" marR="12700" marT="12700" marB="0" anchor="ctr">
                    <a:lnL>
                      <a:noFill/>
                    </a:lnL>
                    <a:lnR>
                      <a:noFill/>
                    </a:lnR>
                    <a:lnT>
                      <a:noFill/>
                    </a:lnT>
                    <a:lnB>
                      <a:noFill/>
                    </a:lnB>
                  </a:tcPr>
                </a:tc>
                <a:tc>
                  <a:txBody>
                    <a:bodyPr/>
                    <a:lstStyle/>
                    <a:p>
                      <a:pPr algn="ctr" fontAlgn="ctr"/>
                      <a:r>
                        <a:rPr lang="en-US" sz="1400" b="1" i="0" u="none" strike="noStrike" dirty="0">
                          <a:solidFill>
                            <a:srgbClr val="000000"/>
                          </a:solidFill>
                          <a:effectLst/>
                          <a:latin typeface="Calibri"/>
                        </a:rPr>
                        <a:t>Residential</a:t>
                      </a:r>
                    </a:p>
                  </a:txBody>
                  <a:tcPr marL="12700" marR="12700" marT="12700" marB="0" anchor="ctr">
                    <a:lnL>
                      <a:noFill/>
                    </a:lnL>
                    <a:lnR>
                      <a:noFill/>
                    </a:lnR>
                    <a:lnT>
                      <a:noFill/>
                    </a:lnT>
                    <a:lnB>
                      <a:noFill/>
                    </a:lnB>
                  </a:tcPr>
                </a:tc>
                <a:tc>
                  <a:txBody>
                    <a:bodyPr/>
                    <a:lstStyle/>
                    <a:p>
                      <a:pPr algn="ctr" fontAlgn="ctr"/>
                      <a:r>
                        <a:rPr lang="en-US" sz="1400" b="1" i="0" u="none" strike="noStrike">
                          <a:solidFill>
                            <a:srgbClr val="000000"/>
                          </a:solidFill>
                          <a:effectLst/>
                          <a:latin typeface="Calibri"/>
                        </a:rPr>
                        <a:t>Commercial</a:t>
                      </a:r>
                    </a:p>
                  </a:txBody>
                  <a:tcPr marL="12700" marR="12700" marT="12700" marB="0" anchor="ctr">
                    <a:lnL>
                      <a:noFill/>
                    </a:lnL>
                    <a:lnR>
                      <a:noFill/>
                    </a:lnR>
                    <a:lnT>
                      <a:noFill/>
                    </a:lnT>
                    <a:lnB>
                      <a:noFill/>
                    </a:lnB>
                  </a:tcPr>
                </a:tc>
              </a:tr>
              <a:tr h="278308">
                <a:tc>
                  <a:txBody>
                    <a:bodyPr/>
                    <a:lstStyle/>
                    <a:p>
                      <a:pPr algn="l" fontAlgn="b"/>
                      <a:r>
                        <a:rPr lang="en-US" sz="1400" b="0" i="0" u="none" strike="noStrike">
                          <a:solidFill>
                            <a:srgbClr val="000000"/>
                          </a:solidFill>
                          <a:effectLst/>
                          <a:latin typeface="Calibri"/>
                        </a:rPr>
                        <a:t>Material</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20%</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24%</a:t>
                      </a:r>
                    </a:p>
                  </a:txBody>
                  <a:tcPr marL="12700" marR="12700" marT="12700" marB="0" anchor="b">
                    <a:lnL>
                      <a:noFill/>
                    </a:lnL>
                    <a:lnR>
                      <a:noFill/>
                    </a:lnR>
                    <a:lnT>
                      <a:noFill/>
                    </a:lnT>
                    <a:lnB>
                      <a:noFill/>
                    </a:lnB>
                  </a:tcPr>
                </a:tc>
              </a:tr>
              <a:tr h="278308">
                <a:tc>
                  <a:txBody>
                    <a:bodyPr/>
                    <a:lstStyle/>
                    <a:p>
                      <a:pPr algn="l" fontAlgn="b"/>
                      <a:r>
                        <a:rPr lang="en-US" sz="1400" b="0" i="0" u="none" strike="noStrike" dirty="0">
                          <a:solidFill>
                            <a:srgbClr val="000000"/>
                          </a:solidFill>
                          <a:effectLst/>
                          <a:latin typeface="Calibri"/>
                        </a:rPr>
                        <a:t>Manufacture</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20%</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29%</a:t>
                      </a:r>
                    </a:p>
                  </a:txBody>
                  <a:tcPr marL="12700" marR="12700" marT="12700" marB="0" anchor="b">
                    <a:lnL>
                      <a:noFill/>
                    </a:lnL>
                    <a:lnR>
                      <a:noFill/>
                    </a:lnR>
                    <a:lnT>
                      <a:noFill/>
                    </a:lnT>
                    <a:lnB>
                      <a:noFill/>
                    </a:lnB>
                  </a:tcPr>
                </a:tc>
              </a:tr>
              <a:tr h="278308">
                <a:tc>
                  <a:txBody>
                    <a:bodyPr/>
                    <a:lstStyle/>
                    <a:p>
                      <a:pPr algn="l" fontAlgn="b"/>
                      <a:r>
                        <a:rPr lang="en-US" sz="1400" b="0" i="0" u="none" strike="noStrike">
                          <a:solidFill>
                            <a:srgbClr val="000000"/>
                          </a:solidFill>
                          <a:effectLst/>
                          <a:latin typeface="Calibri"/>
                        </a:rPr>
                        <a:t>Labor</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30%</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30%</a:t>
                      </a:r>
                    </a:p>
                  </a:txBody>
                  <a:tcPr marL="12700" marR="12700" marT="12700" marB="0" anchor="b">
                    <a:lnL>
                      <a:noFill/>
                    </a:lnL>
                    <a:lnR>
                      <a:noFill/>
                    </a:lnR>
                    <a:lnT>
                      <a:noFill/>
                    </a:lnT>
                    <a:lnB>
                      <a:noFill/>
                    </a:lnB>
                  </a:tcPr>
                </a:tc>
              </a:tr>
              <a:tr h="278308">
                <a:tc>
                  <a:txBody>
                    <a:bodyPr/>
                    <a:lstStyle/>
                    <a:p>
                      <a:pPr algn="l" fontAlgn="b"/>
                      <a:r>
                        <a:rPr lang="en-US" sz="1400" b="0" i="0" u="none" strike="noStrike">
                          <a:solidFill>
                            <a:srgbClr val="000000"/>
                          </a:solidFill>
                          <a:effectLst/>
                          <a:latin typeface="Calibri"/>
                        </a:rPr>
                        <a:t>Plant</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19%</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19%</a:t>
                      </a:r>
                    </a:p>
                  </a:txBody>
                  <a:tcPr marL="12700" marR="12700" marT="12700" marB="0" anchor="b">
                    <a:lnL>
                      <a:noFill/>
                    </a:lnL>
                    <a:lnR>
                      <a:noFill/>
                    </a:lnR>
                    <a:lnT>
                      <a:noFill/>
                    </a:lnT>
                    <a:lnB>
                      <a:noFill/>
                    </a:lnB>
                  </a:tcPr>
                </a:tc>
              </a:tr>
              <a:tr h="278308">
                <a:tc>
                  <a:txBody>
                    <a:bodyPr/>
                    <a:lstStyle/>
                    <a:p>
                      <a:pPr algn="l" fontAlgn="b"/>
                      <a:r>
                        <a:rPr lang="en-US" sz="1400" b="0" i="0" u="none" strike="noStrike">
                          <a:solidFill>
                            <a:srgbClr val="000000"/>
                          </a:solidFill>
                          <a:effectLst/>
                          <a:latin typeface="Calibri"/>
                        </a:rPr>
                        <a:t>Sales commissions </a:t>
                      </a:r>
                    </a:p>
                  </a:txBody>
                  <a:tcPr marL="12700" marR="12700" marT="12700" marB="0" anchor="b">
                    <a:lnL>
                      <a:noFill/>
                    </a:lnL>
                    <a:lnR>
                      <a:noFill/>
                    </a:lnR>
                    <a:lnT>
                      <a:noFill/>
                    </a:lnT>
                    <a:lnB>
                      <a:noFill/>
                    </a:lnB>
                  </a:tcPr>
                </a:tc>
                <a:tc>
                  <a:txBody>
                    <a:bodyPr/>
                    <a:lstStyle/>
                    <a:p>
                      <a:pPr algn="ctr" fontAlgn="b"/>
                      <a:r>
                        <a:rPr lang="en-US" sz="1400" b="0" i="0" u="none" strike="noStrike">
                          <a:solidFill>
                            <a:srgbClr val="000000"/>
                          </a:solidFill>
                          <a:effectLst/>
                          <a:latin typeface="Calibri"/>
                        </a:rPr>
                        <a:t>7%</a:t>
                      </a:r>
                    </a:p>
                  </a:txBody>
                  <a:tcPr marL="12700" marR="12700" marT="12700" marB="0" anchor="b">
                    <a:lnL>
                      <a:noFill/>
                    </a:lnL>
                    <a:lnR>
                      <a:noFill/>
                    </a:lnR>
                    <a:lnT>
                      <a:noFill/>
                    </a:lnT>
                    <a:lnB>
                      <a:noFill/>
                    </a:lnB>
                  </a:tcPr>
                </a:tc>
                <a:tc>
                  <a:txBody>
                    <a:bodyPr/>
                    <a:lstStyle/>
                    <a:p>
                      <a:pPr algn="ctr" fontAlgn="b"/>
                      <a:r>
                        <a:rPr lang="en-US" sz="1400" b="0" i="0" u="none" strike="noStrike" dirty="0">
                          <a:solidFill>
                            <a:srgbClr val="000000"/>
                          </a:solidFill>
                          <a:effectLst/>
                          <a:latin typeface="Calibri"/>
                        </a:rPr>
                        <a:t>7%</a:t>
                      </a:r>
                    </a:p>
                  </a:txBody>
                  <a:tcPr marL="12700" marR="12700" marT="12700" marB="0" anchor="b">
                    <a:lnL>
                      <a:noFill/>
                    </a:lnL>
                    <a:lnR>
                      <a:noFill/>
                    </a:lnR>
                    <a:lnT>
                      <a:noFill/>
                    </a:lnT>
                    <a:lnB>
                      <a:noFill/>
                    </a:lnB>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756246950"/>
              </p:ext>
            </p:extLst>
          </p:nvPr>
        </p:nvGraphicFramePr>
        <p:xfrm>
          <a:off x="6310644" y="5392732"/>
          <a:ext cx="2255841" cy="712842"/>
        </p:xfrm>
        <a:graphic>
          <a:graphicData uri="http://schemas.openxmlformats.org/drawingml/2006/table">
            <a:tbl>
              <a:tblPr/>
              <a:tblGrid>
                <a:gridCol w="2255841"/>
              </a:tblGrid>
              <a:tr h="237614">
                <a:tc>
                  <a:txBody>
                    <a:bodyPr/>
                    <a:lstStyle/>
                    <a:p>
                      <a:pPr algn="r" fontAlgn="ctr"/>
                      <a:r>
                        <a:rPr lang="en-US" sz="1400" b="1" i="0" u="none" strike="noStrike" dirty="0">
                          <a:solidFill>
                            <a:srgbClr val="000000"/>
                          </a:solidFill>
                          <a:effectLst/>
                          <a:latin typeface="Calibri"/>
                        </a:rPr>
                        <a:t>Current Sales:</a:t>
                      </a:r>
                    </a:p>
                  </a:txBody>
                  <a:tcPr marL="12700" marR="12700" marT="12700" marB="0" anchor="ctr">
                    <a:lnL>
                      <a:noFill/>
                    </a:lnL>
                    <a:lnR>
                      <a:noFill/>
                    </a:lnR>
                    <a:lnT>
                      <a:noFill/>
                    </a:lnT>
                    <a:lnB>
                      <a:noFill/>
                    </a:lnB>
                  </a:tcPr>
                </a:tc>
              </a:tr>
              <a:tr h="237614">
                <a:tc>
                  <a:txBody>
                    <a:bodyPr/>
                    <a:lstStyle/>
                    <a:p>
                      <a:pPr algn="r" fontAlgn="ctr"/>
                      <a:r>
                        <a:rPr lang="en-US" sz="1400" b="0" i="0" u="none" strike="noStrike" dirty="0">
                          <a:solidFill>
                            <a:srgbClr val="000000"/>
                          </a:solidFill>
                          <a:effectLst/>
                          <a:latin typeface="Calibri"/>
                        </a:rPr>
                        <a:t>Residential: 24%</a:t>
                      </a:r>
                    </a:p>
                  </a:txBody>
                  <a:tcPr marL="12700" marR="12700" marT="12700" marB="0" anchor="ctr">
                    <a:lnL>
                      <a:noFill/>
                    </a:lnL>
                    <a:lnR>
                      <a:noFill/>
                    </a:lnR>
                    <a:lnT>
                      <a:noFill/>
                    </a:lnT>
                    <a:lnB>
                      <a:noFill/>
                    </a:lnB>
                  </a:tcPr>
                </a:tc>
              </a:tr>
              <a:tr h="237614">
                <a:tc>
                  <a:txBody>
                    <a:bodyPr/>
                    <a:lstStyle/>
                    <a:p>
                      <a:pPr algn="r" fontAlgn="ctr"/>
                      <a:r>
                        <a:rPr lang="en-US" sz="1400" b="0" i="0" u="none" strike="noStrike" dirty="0">
                          <a:solidFill>
                            <a:srgbClr val="000000"/>
                          </a:solidFill>
                          <a:effectLst/>
                          <a:latin typeface="Calibri"/>
                        </a:rPr>
                        <a:t>Commercial: 55%</a:t>
                      </a:r>
                    </a:p>
                  </a:txBody>
                  <a:tcPr marL="12700" marR="12700" marT="12700" marB="0" anchor="ctr">
                    <a:lnL>
                      <a:noFill/>
                    </a:lnL>
                    <a:lnR>
                      <a:noFill/>
                    </a:lnR>
                    <a:lnT>
                      <a:noFill/>
                    </a:lnT>
                    <a:lnB>
                      <a:noFill/>
                    </a:lnB>
                  </a:tcPr>
                </a:tc>
              </a:tr>
            </a:tbl>
          </a:graphicData>
        </a:graphic>
      </p:graphicFrame>
    </p:spTree>
    <p:extLst>
      <p:ext uri="{BB962C8B-B14F-4D97-AF65-F5344CB8AC3E}">
        <p14:creationId xmlns:p14="http://schemas.microsoft.com/office/powerpoint/2010/main" val="22393282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48</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803998519"/>
              </p:ext>
            </p:extLst>
          </p:nvPr>
        </p:nvGraphicFramePr>
        <p:xfrm>
          <a:off x="304800" y="1295400"/>
          <a:ext cx="8686800" cy="2540267"/>
        </p:xfrm>
        <a:graphic>
          <a:graphicData uri="http://schemas.openxmlformats.org/drawingml/2006/table">
            <a:tbl>
              <a:tblPr firstRow="1" bandRow="1">
                <a:tableStyleId>{616DA210-FB5B-4158-B5E0-FEB733F419BA}</a:tableStyleId>
              </a:tblPr>
              <a:tblGrid>
                <a:gridCol w="1447800"/>
                <a:gridCol w="7239000"/>
              </a:tblGrid>
              <a:tr h="437147">
                <a:tc>
                  <a:txBody>
                    <a:bodyPr/>
                    <a:lstStyle/>
                    <a:p>
                      <a:pPr algn="ctr"/>
                      <a:r>
                        <a:rPr lang="en-US" b="1" i="0" dirty="0" smtClean="0"/>
                        <a:t>Prompt</a:t>
                      </a:r>
                      <a:endParaRPr lang="en-US" sz="1000" i="0" dirty="0"/>
                    </a:p>
                  </a:txBody>
                  <a:tcPr anchor="ctr">
                    <a:noFill/>
                  </a:tcPr>
                </a:tc>
                <a:tc>
                  <a:txBody>
                    <a:bodyPr/>
                    <a:lstStyle/>
                    <a:p>
                      <a:pPr fontAlgn="auto">
                        <a:spcAft>
                          <a:spcPts val="0"/>
                        </a:spcAft>
                        <a:buFont typeface="Arial"/>
                        <a:buNone/>
                        <a:defRPr/>
                      </a:pPr>
                      <a:r>
                        <a:rPr lang="en-US" sz="1200" b="1" dirty="0" smtClean="0">
                          <a:ea typeface="+mn-ea"/>
                          <a:cs typeface="+mn-cs"/>
                        </a:rPr>
                        <a:t>How would you get profits from commercial elevators and what would the margin goal be?</a:t>
                      </a:r>
                      <a:endParaRPr lang="en-US" sz="1200" b="1"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From Exhibit</a:t>
                      </a:r>
                      <a:r>
                        <a:rPr lang="en-US" sz="1200" b="0" i="0" kern="1200" baseline="0" dirty="0" smtClean="0">
                          <a:solidFill>
                            <a:schemeClr val="tx1"/>
                          </a:solidFill>
                          <a:latin typeface="+mn-lt"/>
                          <a:ea typeface="+mn-ea"/>
                          <a:cs typeface="+mn-cs"/>
                        </a:rPr>
                        <a:t> 1, t</a:t>
                      </a:r>
                      <a:r>
                        <a:rPr lang="en-US" sz="1200" b="0" i="0" kern="1200" dirty="0" smtClean="0">
                          <a:solidFill>
                            <a:schemeClr val="tx1"/>
                          </a:solidFill>
                          <a:latin typeface="+mn-lt"/>
                          <a:ea typeface="+mn-ea"/>
                          <a:cs typeface="+mn-cs"/>
                        </a:rPr>
                        <a:t>he candidate</a:t>
                      </a:r>
                      <a:r>
                        <a:rPr lang="en-US" sz="1200" b="0" i="0" kern="1200" baseline="0" dirty="0" smtClean="0">
                          <a:solidFill>
                            <a:schemeClr val="tx1"/>
                          </a:solidFill>
                          <a:latin typeface="+mn-lt"/>
                          <a:ea typeface="+mn-ea"/>
                          <a:cs typeface="+mn-cs"/>
                        </a:rPr>
                        <a:t> should realize the following: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Commercial elevators have a negative margin of -9% and commercial sales account for 55% of total</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Commercial elevators have a higher material and manufacture costs when compared to residential elevators (material cost is 20% higher and manufacture cost is 45% higher)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Therefore, the client should think of ways costs can reduced:</a:t>
                      </a:r>
                    </a:p>
                    <a:p>
                      <a:pPr marL="628650" marR="0" lvl="1"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Negotiating with suppliers</a:t>
                      </a:r>
                    </a:p>
                    <a:p>
                      <a:pPr marL="628650" marR="0" lvl="1"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Reducing labor</a:t>
                      </a:r>
                    </a:p>
                    <a:p>
                      <a:pPr marL="628650" marR="0" lvl="1"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Investing in different or more equipment</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Since the residential elevators have a margin of 4%, the commercial elevator’s margin should be at least 4%, if not more</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j-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6: Elevator manufacturer</a:t>
            </a:r>
          </a:p>
        </p:txBody>
      </p:sp>
    </p:spTree>
    <p:extLst>
      <p:ext uri="{BB962C8B-B14F-4D97-AF65-F5344CB8AC3E}">
        <p14:creationId xmlns:p14="http://schemas.microsoft.com/office/powerpoint/2010/main" val="6318305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49</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279373866"/>
              </p:ext>
            </p:extLst>
          </p:nvPr>
        </p:nvGraphicFramePr>
        <p:xfrm>
          <a:off x="304800" y="1295400"/>
          <a:ext cx="8686800" cy="2377440"/>
        </p:xfrm>
        <a:graphic>
          <a:graphicData uri="http://schemas.openxmlformats.org/drawingml/2006/table">
            <a:tbl>
              <a:tblPr firstRow="1" bandRow="1">
                <a:tableStyleId>{616DA210-FB5B-4158-B5E0-FEB733F419BA}</a:tableStyleId>
              </a:tblPr>
              <a:tblGrid>
                <a:gridCol w="1447800"/>
                <a:gridCol w="7239000"/>
              </a:tblGrid>
              <a:tr h="569495">
                <a:tc>
                  <a:txBody>
                    <a:bodyPr/>
                    <a:lstStyle/>
                    <a:p>
                      <a:pPr algn="ctr"/>
                      <a:r>
                        <a:rPr lang="en-US" b="1" i="0" dirty="0" smtClean="0"/>
                        <a:t>Prompt</a:t>
                      </a:r>
                      <a:endParaRPr lang="en-US" sz="1000" i="0" dirty="0"/>
                    </a:p>
                  </a:txBody>
                  <a:tcPr anchor="ctr">
                    <a:noFill/>
                  </a:tcPr>
                </a:tc>
                <a:tc>
                  <a:txBody>
                    <a:bodyPr/>
                    <a:lstStyle/>
                    <a:p>
                      <a:pPr fontAlgn="auto">
                        <a:spcAft>
                          <a:spcPts val="0"/>
                        </a:spcAft>
                        <a:buFont typeface="Arial"/>
                        <a:buNone/>
                        <a:defRPr/>
                      </a:pPr>
                      <a:r>
                        <a:rPr lang="en-US" sz="1200" b="1" dirty="0" smtClean="0">
                          <a:ea typeface="+mn-ea"/>
                          <a:cs typeface="+mn-cs"/>
                        </a:rPr>
                        <a:t>A new customer arrives with a draft of a new commercial skyscraper and wants your services at current prices. Would you advise your client to sell to them?</a:t>
                      </a:r>
                    </a:p>
                    <a:p>
                      <a:pPr fontAlgn="auto">
                        <a:spcAft>
                          <a:spcPts val="0"/>
                        </a:spcAft>
                        <a:buFont typeface="Arial"/>
                        <a:buNone/>
                        <a:defRPr/>
                      </a:pPr>
                      <a:endParaRPr lang="en-US" sz="1200" b="0"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The answer here should</a:t>
                      </a:r>
                      <a:r>
                        <a:rPr lang="en-US" sz="1200" b="0" i="0" kern="1200" baseline="0" dirty="0" smtClean="0">
                          <a:solidFill>
                            <a:schemeClr val="tx1"/>
                          </a:solidFill>
                          <a:latin typeface="+mn-lt"/>
                          <a:ea typeface="+mn-ea"/>
                          <a:cs typeface="+mn-cs"/>
                        </a:rPr>
                        <a:t> be “it depends”. The current prices results in a loss of 9% for each commercial elevator sold. Therefore, the client will lose money with this deal.</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However, selling a elevator to an important project such as this skyscraper may be a good marketing strategy and result in future contracts at a higher margin.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Therefore, the client should sell the elevator only if they can use it as a marketing strategy to leverage their brand and gain a recognition that permits them to sell the elevators at a higher price.</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6: Elevator manufacturer</a:t>
            </a:r>
          </a:p>
        </p:txBody>
      </p:sp>
    </p:spTree>
    <p:extLst>
      <p:ext uri="{BB962C8B-B14F-4D97-AF65-F5344CB8AC3E}">
        <p14:creationId xmlns:p14="http://schemas.microsoft.com/office/powerpoint/2010/main" val="219629609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50</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144883914"/>
              </p:ext>
            </p:extLst>
          </p:nvPr>
        </p:nvGraphicFramePr>
        <p:xfrm>
          <a:off x="304800" y="1295400"/>
          <a:ext cx="8686800" cy="2367013"/>
        </p:xfrm>
        <a:graphic>
          <a:graphicData uri="http://schemas.openxmlformats.org/drawingml/2006/table">
            <a:tbl>
              <a:tblPr firstRow="1" bandRow="1">
                <a:tableStyleId>{616DA210-FB5B-4158-B5E0-FEB733F419BA}</a:tableStyleId>
              </a:tblPr>
              <a:tblGrid>
                <a:gridCol w="1447800"/>
                <a:gridCol w="7239000"/>
              </a:tblGrid>
              <a:tr h="629653">
                <a:tc>
                  <a:txBody>
                    <a:bodyPr/>
                    <a:lstStyle/>
                    <a:p>
                      <a:pPr algn="ctr"/>
                      <a:r>
                        <a:rPr lang="en-US" b="1" i="0" dirty="0" smtClean="0"/>
                        <a:t>Prompt</a:t>
                      </a:r>
                      <a:endParaRPr lang="en-US" sz="1000" i="0" dirty="0"/>
                    </a:p>
                  </a:txBody>
                  <a:tcPr anchor="ctr">
                    <a:noFill/>
                  </a:tcPr>
                </a:tc>
                <a:tc>
                  <a:txBody>
                    <a:bodyPr/>
                    <a:lstStyle/>
                    <a:p>
                      <a:pPr fontAlgn="auto">
                        <a:spcAft>
                          <a:spcPts val="0"/>
                        </a:spcAft>
                        <a:buFont typeface="Arial"/>
                        <a:buNone/>
                        <a:defRPr/>
                      </a:pPr>
                      <a:r>
                        <a:rPr lang="en-US" sz="1200" b="1" dirty="0" smtClean="0">
                          <a:ea typeface="+mn-ea"/>
                          <a:cs typeface="+mn-cs"/>
                        </a:rPr>
                        <a:t>The CEO will come into the room in a minute and wants you to give him a summary of progress to date.</a:t>
                      </a:r>
                      <a:endParaRPr lang="en-US" sz="1200" b="1"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 candidate should briefly summarize all questions and come up with insights derived from the case: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Currently, the profit coming from the residential sector is not high enough to compensate the losses from the commercial sector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 client should invest to decrease material and manufacturing costs from the commercial elevator. By doing so, the client may achieve in the commercial sector the same profit margin as in the residential sector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Regarding the skyscraper sale, they should analyze if this deal will increase their brand awareness and will allow the client to sell at higher margins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6: Elevator manufacturer</a:t>
            </a:r>
          </a:p>
        </p:txBody>
      </p:sp>
    </p:spTree>
    <p:extLst>
      <p:ext uri="{BB962C8B-B14F-4D97-AF65-F5344CB8AC3E}">
        <p14:creationId xmlns:p14="http://schemas.microsoft.com/office/powerpoint/2010/main" val="26721814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6: Elevator manufacturer</a:t>
            </a:r>
          </a:p>
        </p:txBody>
      </p:sp>
      <p:graphicFrame>
        <p:nvGraphicFramePr>
          <p:cNvPr id="12" name="Table 11"/>
          <p:cNvGraphicFramePr>
            <a:graphicFrameLocks noGrp="1"/>
          </p:cNvGraphicFramePr>
          <p:nvPr>
            <p:extLst>
              <p:ext uri="{D42A27DB-BD31-4B8C-83A1-F6EECF244321}">
                <p14:modId xmlns:p14="http://schemas.microsoft.com/office/powerpoint/2010/main" val="92742693"/>
              </p:ext>
            </p:extLst>
          </p:nvPr>
        </p:nvGraphicFramePr>
        <p:xfrm>
          <a:off x="304800" y="1381125"/>
          <a:ext cx="8534400" cy="28346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225425" indent="-225425">
                        <a:buFont typeface="Arial" pitchFamily="34" charset="0"/>
                        <a:buChar char="•"/>
                      </a:pPr>
                      <a:r>
                        <a:rPr lang="en-US" sz="1200" b="0" i="0" kern="1200" baseline="0" dirty="0" smtClean="0">
                          <a:solidFill>
                            <a:schemeClr val="tx1"/>
                          </a:solidFill>
                          <a:latin typeface="+mn-lt"/>
                          <a:ea typeface="+mn-ea"/>
                          <a:cs typeface="+mn-cs"/>
                        </a:rPr>
                        <a:t>Correctly answer all questions on the case</a:t>
                      </a:r>
                    </a:p>
                    <a:p>
                      <a:pPr marL="225425" indent="-225425">
                        <a:buFont typeface="Arial" pitchFamily="34" charset="0"/>
                        <a:buChar char="•"/>
                      </a:pPr>
                      <a:r>
                        <a:rPr lang="en-US" sz="1200" b="0" i="0" kern="1200" baseline="0" dirty="0" smtClean="0">
                          <a:solidFill>
                            <a:schemeClr val="tx1"/>
                          </a:solidFill>
                          <a:latin typeface="+mn-lt"/>
                          <a:ea typeface="+mn-ea"/>
                          <a:cs typeface="+mn-cs"/>
                        </a:rPr>
                        <a:t>Provide a MECE framework</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Ask relevant clarification questions regarding the client and the market before working on the framework</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Provide a direct recommendation based on the facts analyzed during the case</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“Good “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Keep the interviewer engaged and demonstrate great communication skills</a:t>
                      </a:r>
                    </a:p>
                    <a:p>
                      <a:pPr marL="225425" indent="-225425">
                        <a:buFont typeface="Arial" pitchFamily="34" charset="0"/>
                        <a:buChar char="•"/>
                      </a:pPr>
                      <a:endParaRPr lang="en-US" sz="1200" b="0" i="0" kern="1200" baseline="0" dirty="0" smtClean="0">
                        <a:solidFill>
                          <a:schemeClr val="tx1"/>
                        </a:solidFill>
                        <a:latin typeface="+mn-lt"/>
                        <a:ea typeface="+mn-ea"/>
                        <a:cs typeface="+mn-cs"/>
                      </a:endParaRPr>
                    </a:p>
                    <a:p>
                      <a:pPr marL="225425" indent="-225425">
                        <a:buFont typeface="Arial" pitchFamily="34" charset="0"/>
                        <a:buChar cha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51</a:t>
            </a:fld>
            <a:endParaRPr lang="en-US" dirty="0"/>
          </a:p>
        </p:txBody>
      </p:sp>
    </p:spTree>
    <p:extLst>
      <p:ext uri="{BB962C8B-B14F-4D97-AF65-F5344CB8AC3E}">
        <p14:creationId xmlns:p14="http://schemas.microsoft.com/office/powerpoint/2010/main" val="21091441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52</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53</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068863676"/>
              </p:ext>
            </p:extLst>
          </p:nvPr>
        </p:nvGraphicFramePr>
        <p:xfrm>
          <a:off x="304800" y="1295400"/>
          <a:ext cx="8686800" cy="420624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lang="en-US" b="1" i="0" dirty="0" smtClean="0"/>
                        <a:t>Prompt</a:t>
                      </a:r>
                      <a:endParaRPr lang="en-US" sz="1000" i="0" dirty="0"/>
                    </a:p>
                  </a:txBody>
                  <a:tcPr anchor="ctr">
                    <a:noFill/>
                  </a:tcPr>
                </a:tc>
                <a:tc>
                  <a:txBody>
                    <a:bodyPr/>
                    <a:lstStyle/>
                    <a:p>
                      <a:pPr fontAlgn="auto">
                        <a:spcAft>
                          <a:spcPts val="0"/>
                        </a:spcAft>
                        <a:buFont typeface="Arial"/>
                        <a:buNone/>
                        <a:defRPr/>
                      </a:pPr>
                      <a:r>
                        <a:rPr lang="en-US" sz="1200" b="0" dirty="0" smtClean="0">
                          <a:ea typeface="+mn-ea"/>
                          <a:cs typeface="+mn-cs"/>
                        </a:rPr>
                        <a:t>Your client is a large multi-national financial services company. A drop in financial activity as well as increasing regulation has caused its profitability to drop for 2 years in a row</a:t>
                      </a:r>
                    </a:p>
                    <a:p>
                      <a:pPr fontAlgn="auto">
                        <a:spcAft>
                          <a:spcPts val="0"/>
                        </a:spcAft>
                        <a:buFont typeface="Arial"/>
                        <a:buNone/>
                        <a:defRPr/>
                      </a:pPr>
                      <a:endParaRPr lang="en-US" sz="1200" b="0" dirty="0" smtClean="0">
                        <a:ea typeface="+mn-ea"/>
                        <a:cs typeface="+mn-cs"/>
                      </a:endParaRPr>
                    </a:p>
                    <a:p>
                      <a:pPr fontAlgn="auto">
                        <a:spcAft>
                          <a:spcPts val="0"/>
                        </a:spcAft>
                        <a:buFont typeface="Arial"/>
                        <a:buNone/>
                        <a:defRPr/>
                      </a:pPr>
                      <a:r>
                        <a:rPr lang="en-US" sz="1200" b="1" dirty="0" smtClean="0">
                          <a:ea typeface="+mn-ea"/>
                          <a:cs typeface="+mn-cs"/>
                        </a:rPr>
                        <a:t>How would you recommend that the client reverse this trend?</a:t>
                      </a:r>
                    </a:p>
                    <a:p>
                      <a:pPr fontAlgn="auto">
                        <a:spcAft>
                          <a:spcPts val="0"/>
                        </a:spcAft>
                        <a:buFont typeface="Arial"/>
                        <a:buNone/>
                        <a:defRPr/>
                      </a:pPr>
                      <a:endParaRPr lang="en-US" sz="1200" b="0"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If the candidate asks for more information on the type of financial institution, mention that it focuses mainly on asset servicing and asset management.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The candidate should outline a standard profitability framework (P*Q- (FC+VC*Q)) and mention that he/she wants to dig deeper into current revenues and costs. The candidate may also bring up other factors, such as looking at ways to decrease regulation, or the potential of exploring M&amp;A. Steer them towards exploring revenues and costs and show them Exhibit 1, then ask how he/she would like to proceed.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dirty="0" smtClean="0">
                        <a:solidFill>
                          <a:schemeClr val="tx1"/>
                        </a:solidFill>
                        <a:latin typeface="+mn-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smtClean="0"/>
              <a:t>Case 7: </a:t>
            </a:r>
            <a:r>
              <a:rPr lang="en-US" sz="2400" b="1" dirty="0"/>
              <a:t>Global Bank Corp</a:t>
            </a:r>
            <a:r>
              <a:rPr lang="en-US" sz="2400" b="1" dirty="0" smtClean="0"/>
              <a:t>.</a:t>
            </a:r>
            <a:endParaRPr lang="en-US" sz="2400" b="1" dirty="0"/>
          </a:p>
        </p:txBody>
      </p:sp>
      <p:sp>
        <p:nvSpPr>
          <p:cNvPr id="7" name="TextBox 6"/>
          <p:cNvSpPr txBox="1"/>
          <p:nvPr/>
        </p:nvSpPr>
        <p:spPr>
          <a:xfrm>
            <a:off x="2470535" y="3878041"/>
            <a:ext cx="3682418" cy="307777"/>
          </a:xfrm>
          <a:prstGeom prst="rect">
            <a:avLst/>
          </a:prstGeom>
          <a:noFill/>
        </p:spPr>
        <p:txBody>
          <a:bodyPr wrap="none" rtlCol="0">
            <a:spAutoFit/>
          </a:bodyPr>
          <a:lstStyle/>
          <a:p>
            <a:r>
              <a:rPr lang="en-US" sz="1400" b="1" dirty="0" smtClean="0"/>
              <a:t>Exhibit 1: </a:t>
            </a:r>
            <a:r>
              <a:rPr lang="en-US" sz="1400" b="1" dirty="0"/>
              <a:t>Client Revenues and Expenses</a:t>
            </a:r>
          </a:p>
        </p:txBody>
      </p:sp>
      <p:graphicFrame>
        <p:nvGraphicFramePr>
          <p:cNvPr id="8" name="Table 7"/>
          <p:cNvGraphicFramePr>
            <a:graphicFrameLocks noGrp="1"/>
          </p:cNvGraphicFramePr>
          <p:nvPr>
            <p:extLst>
              <p:ext uri="{D42A27DB-BD31-4B8C-83A1-F6EECF244321}">
                <p14:modId xmlns:p14="http://schemas.microsoft.com/office/powerpoint/2010/main" val="4101344549"/>
              </p:ext>
            </p:extLst>
          </p:nvPr>
        </p:nvGraphicFramePr>
        <p:xfrm>
          <a:off x="2522631" y="4246835"/>
          <a:ext cx="4611393" cy="822960"/>
        </p:xfrm>
        <a:graphic>
          <a:graphicData uri="http://schemas.openxmlformats.org/drawingml/2006/table">
            <a:tbl>
              <a:tblPr firstRow="1" bandRow="1">
                <a:tableStyleId>{073A0DAA-6AF3-43AB-8588-CEC1D06C72B9}</a:tableStyleId>
              </a:tblPr>
              <a:tblGrid>
                <a:gridCol w="1537131"/>
                <a:gridCol w="1537131"/>
                <a:gridCol w="1537131"/>
              </a:tblGrid>
              <a:tr h="264799">
                <a:tc>
                  <a:txBody>
                    <a:bodyPr/>
                    <a:lstStyle/>
                    <a:p>
                      <a:endParaRPr lang="en-US" sz="1200" dirty="0"/>
                    </a:p>
                  </a:txBody>
                  <a:tcPr/>
                </a:tc>
                <a:tc>
                  <a:txBody>
                    <a:bodyPr/>
                    <a:lstStyle/>
                    <a:p>
                      <a:r>
                        <a:rPr lang="en-US" sz="1200" dirty="0" smtClean="0"/>
                        <a:t>2010</a:t>
                      </a:r>
                      <a:endParaRPr lang="en-US" sz="1200" dirty="0">
                        <a:solidFill>
                          <a:srgbClr val="000000"/>
                        </a:solidFill>
                      </a:endParaRPr>
                    </a:p>
                  </a:txBody>
                  <a:tcPr/>
                </a:tc>
                <a:tc>
                  <a:txBody>
                    <a:bodyPr/>
                    <a:lstStyle/>
                    <a:p>
                      <a:r>
                        <a:rPr lang="en-US" sz="1200" dirty="0" smtClean="0"/>
                        <a:t>2011</a:t>
                      </a:r>
                      <a:endParaRPr lang="en-US" sz="1200" dirty="0">
                        <a:solidFill>
                          <a:srgbClr val="000000"/>
                        </a:solidFill>
                      </a:endParaRPr>
                    </a:p>
                  </a:txBody>
                  <a:tcPr/>
                </a:tc>
              </a:tr>
              <a:tr h="264799">
                <a:tc>
                  <a:txBody>
                    <a:bodyPr/>
                    <a:lstStyle/>
                    <a:p>
                      <a:r>
                        <a:rPr lang="en-US" sz="1200" dirty="0" smtClean="0"/>
                        <a:t>Total Revenue</a:t>
                      </a:r>
                      <a:endParaRPr lang="en-US" sz="1200" dirty="0"/>
                    </a:p>
                  </a:txBody>
                  <a:tcPr/>
                </a:tc>
                <a:tc>
                  <a:txBody>
                    <a:bodyPr/>
                    <a:lstStyle/>
                    <a:p>
                      <a:r>
                        <a:rPr lang="en-US" sz="1200" dirty="0" smtClean="0"/>
                        <a:t>$1200 MM</a:t>
                      </a:r>
                      <a:endParaRPr lang="en-US" sz="1200" dirty="0"/>
                    </a:p>
                  </a:txBody>
                  <a:tcPr/>
                </a:tc>
                <a:tc>
                  <a:txBody>
                    <a:bodyPr/>
                    <a:lstStyle/>
                    <a:p>
                      <a:r>
                        <a:rPr lang="en-US" sz="1200" dirty="0" smtClean="0"/>
                        <a:t>$1205 MM</a:t>
                      </a:r>
                      <a:endParaRPr lang="en-US" sz="1200" dirty="0"/>
                    </a:p>
                  </a:txBody>
                  <a:tcPr/>
                </a:tc>
              </a:tr>
              <a:tr h="264799">
                <a:tc>
                  <a:txBody>
                    <a:bodyPr/>
                    <a:lstStyle/>
                    <a:p>
                      <a:r>
                        <a:rPr lang="en-US" sz="1200" dirty="0" smtClean="0"/>
                        <a:t>Total Expenses</a:t>
                      </a:r>
                      <a:endParaRPr lang="en-US" sz="1200" dirty="0"/>
                    </a:p>
                  </a:txBody>
                  <a:tcPr/>
                </a:tc>
                <a:tc>
                  <a:txBody>
                    <a:bodyPr/>
                    <a:lstStyle/>
                    <a:p>
                      <a:r>
                        <a:rPr lang="en-US" sz="1200" dirty="0" smtClean="0"/>
                        <a:t>$890 MM</a:t>
                      </a:r>
                      <a:endParaRPr lang="en-US" sz="1200" dirty="0"/>
                    </a:p>
                  </a:txBody>
                  <a:tcPr/>
                </a:tc>
                <a:tc>
                  <a:txBody>
                    <a:bodyPr/>
                    <a:lstStyle/>
                    <a:p>
                      <a:r>
                        <a:rPr lang="en-US" sz="1200" dirty="0" smtClean="0"/>
                        <a:t>$910 MM</a:t>
                      </a:r>
                      <a:endParaRPr lang="en-US" sz="1200" dirty="0"/>
                    </a:p>
                  </a:txBody>
                  <a:tcPr/>
                </a:tc>
              </a:tr>
            </a:tbl>
          </a:graphicData>
        </a:graphic>
      </p:graphicFrame>
    </p:spTree>
    <p:extLst>
      <p:ext uri="{BB962C8B-B14F-4D97-AF65-F5344CB8AC3E}">
        <p14:creationId xmlns:p14="http://schemas.microsoft.com/office/powerpoint/2010/main" val="264791537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54</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423760100"/>
              </p:ext>
            </p:extLst>
          </p:nvPr>
        </p:nvGraphicFramePr>
        <p:xfrm>
          <a:off x="304800" y="1295400"/>
          <a:ext cx="8686800" cy="502920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If the candidate asks to start with revenues, mention that the client believes it has already exhausted all possible avenues of increase. When the candidate asks about the major costs, ask him/her to brainstorm the major types, then show them Exhibit 2.</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dirty="0" smtClean="0">
                        <a:solidFill>
                          <a:schemeClr val="tx1"/>
                        </a:solidFill>
                        <a:latin typeface="+mn-lt"/>
                        <a:ea typeface="+mn-ea"/>
                        <a:cs typeface="+mn-cs"/>
                      </a:endParaRPr>
                    </a:p>
                  </a:txBody>
                  <a:tcPr>
                    <a:no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smtClean="0"/>
              <a:t>Case 7: </a:t>
            </a:r>
            <a:r>
              <a:rPr lang="en-US" sz="2400" b="1" dirty="0"/>
              <a:t>Global Bank Corp</a:t>
            </a:r>
            <a:r>
              <a:rPr lang="en-US" sz="2400" b="1" dirty="0" smtClean="0"/>
              <a:t>.</a:t>
            </a:r>
            <a:endParaRPr lang="en-US" sz="2400" b="1" dirty="0"/>
          </a:p>
        </p:txBody>
      </p:sp>
      <p:sp>
        <p:nvSpPr>
          <p:cNvPr id="9" name="TextBox 8"/>
          <p:cNvSpPr txBox="1"/>
          <p:nvPr/>
        </p:nvSpPr>
        <p:spPr>
          <a:xfrm>
            <a:off x="1841846" y="1978396"/>
            <a:ext cx="5119543" cy="307777"/>
          </a:xfrm>
          <a:prstGeom prst="rect">
            <a:avLst/>
          </a:prstGeom>
          <a:noFill/>
        </p:spPr>
        <p:txBody>
          <a:bodyPr wrap="none" rtlCol="0">
            <a:spAutoFit/>
          </a:bodyPr>
          <a:lstStyle/>
          <a:p>
            <a:r>
              <a:rPr lang="en-US" sz="1400" b="1" dirty="0" smtClean="0"/>
              <a:t>Exhibit 2:</a:t>
            </a:r>
            <a:r>
              <a:rPr lang="en-US" sz="1400" b="1" dirty="0"/>
              <a:t> Costs as a Percentage of Total </a:t>
            </a:r>
            <a:r>
              <a:rPr lang="en-US" sz="1400" b="1" dirty="0" smtClean="0"/>
              <a:t>Expenses (2011) </a:t>
            </a:r>
            <a:endParaRPr lang="en-US" sz="1400" b="1" dirty="0"/>
          </a:p>
        </p:txBody>
      </p:sp>
      <p:graphicFrame>
        <p:nvGraphicFramePr>
          <p:cNvPr id="10" name="Chart 9"/>
          <p:cNvGraphicFramePr/>
          <p:nvPr>
            <p:extLst>
              <p:ext uri="{D42A27DB-BD31-4B8C-83A1-F6EECF244321}">
                <p14:modId xmlns:p14="http://schemas.microsoft.com/office/powerpoint/2010/main" val="2674869819"/>
              </p:ext>
            </p:extLst>
          </p:nvPr>
        </p:nvGraphicFramePr>
        <p:xfrm>
          <a:off x="2045368" y="2462527"/>
          <a:ext cx="5911528" cy="37457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7190592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55</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342644658"/>
              </p:ext>
            </p:extLst>
          </p:nvPr>
        </p:nvGraphicFramePr>
        <p:xfrm>
          <a:off x="304800" y="1295400"/>
          <a:ext cx="8686800" cy="265176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lang="en-US" b="1" i="0" dirty="0" smtClean="0"/>
                        <a:t>Guidance</a:t>
                      </a:r>
                      <a:endParaRPr lang="en-US" sz="1000" i="0" dirty="0"/>
                    </a:p>
                  </a:txBody>
                  <a:tcPr anchor="ctr">
                    <a:solidFill>
                      <a:srgbClr val="CCCCCC"/>
                    </a:solidFill>
                  </a:tcPr>
                </a:tc>
                <a:tc>
                  <a:txBody>
                    <a:bodyPr/>
                    <a:lstStyle/>
                    <a:p>
                      <a:pPr fontAlgn="auto">
                        <a:spcAft>
                          <a:spcPts val="0"/>
                        </a:spcAft>
                        <a:buFont typeface="Arial"/>
                        <a:buNone/>
                        <a:defRPr/>
                      </a:pPr>
                      <a:r>
                        <a:rPr lang="en-US" sz="1200" b="0" dirty="0" smtClean="0">
                          <a:ea typeface="+mn-ea"/>
                          <a:cs typeface="+mn-cs"/>
                        </a:rPr>
                        <a:t>The candidate should focus on IT Hardware and Software and note that there is a significant gap between the client’s costs and the industry average. </a:t>
                      </a:r>
                    </a:p>
                    <a:p>
                      <a:pPr fontAlgn="auto">
                        <a:spcAft>
                          <a:spcPts val="0"/>
                        </a:spcAft>
                        <a:buFont typeface="Arial"/>
                        <a:buNone/>
                        <a:defRPr/>
                      </a:pPr>
                      <a:endParaRPr lang="en-US" sz="1200" b="0" i="0" dirty="0" smtClean="0">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baseline="0" dirty="0" smtClean="0">
                          <a:latin typeface="+mn-lt"/>
                          <a:cs typeface="Arial"/>
                        </a:rPr>
                        <a:t>Note: The candidate may ask to focus on labor before IT hardware and software, since it is by far the largest cost. Mention that the company recently laid off about 5% of its staff and has capped compensation and does not believe it can reduce labor expense any further.</a:t>
                      </a:r>
                    </a:p>
                    <a:p>
                      <a:pPr fontAlgn="auto">
                        <a:spcAft>
                          <a:spcPts val="0"/>
                        </a:spcAft>
                        <a:buFont typeface="Arial"/>
                        <a:buNone/>
                        <a:defRPr/>
                      </a:pPr>
                      <a:endParaRPr lang="en-US" sz="1200" b="0" dirty="0" smtClean="0">
                        <a:ea typeface="+mn-ea"/>
                        <a:cs typeface="+mn-cs"/>
                      </a:endParaRPr>
                    </a:p>
                    <a:p>
                      <a:pPr fontAlgn="auto">
                        <a:spcAft>
                          <a:spcPts val="0"/>
                        </a:spcAft>
                        <a:buFont typeface="Arial"/>
                        <a:buNone/>
                        <a:defRPr/>
                      </a:pPr>
                      <a:r>
                        <a:rPr lang="en-US" sz="1200" b="0" dirty="0" smtClean="0">
                          <a:ea typeface="+mn-ea"/>
                          <a:cs typeface="+mn-cs"/>
                        </a:rPr>
                        <a:t>If the candidate doesn’t automatically calculate the potential savings that would result from bringing IT costs down to the industry average, prompt them to. Savings at 2011 expense levels are equal to:</a:t>
                      </a:r>
                    </a:p>
                    <a:p>
                      <a:pPr fontAlgn="auto">
                        <a:spcAft>
                          <a:spcPts val="0"/>
                        </a:spcAft>
                        <a:buFont typeface="Arial"/>
                        <a:buNone/>
                        <a:defRPr/>
                      </a:pPr>
                      <a:r>
                        <a:rPr lang="en-US" sz="1200" b="0" dirty="0" smtClean="0">
                          <a:ea typeface="+mn-ea"/>
                          <a:cs typeface="+mn-cs"/>
                        </a:rPr>
                        <a:t>(27%*910 MM)-(16%*910 MM) = 100.1 MM</a:t>
                      </a:r>
                    </a:p>
                    <a:p>
                      <a:pPr fontAlgn="auto">
                        <a:spcAft>
                          <a:spcPts val="0"/>
                        </a:spcAft>
                        <a:buFont typeface="Arial"/>
                        <a:buNone/>
                        <a:defRPr/>
                      </a:pPr>
                      <a:endParaRPr lang="en-US" sz="1200" b="0" kern="1200" baseline="0" dirty="0" smtClean="0">
                        <a:solidFill>
                          <a:schemeClr val="tx1"/>
                        </a:solidFill>
                        <a:latin typeface="+mj-lt"/>
                        <a:ea typeface="+mn-ea"/>
                        <a:cs typeface="+mn-cs"/>
                      </a:endParaRPr>
                    </a:p>
                    <a:p>
                      <a:r>
                        <a:rPr lang="en-US" sz="1200" b="0" baseline="0" dirty="0" smtClean="0">
                          <a:latin typeface="+mn-lt"/>
                          <a:cs typeface="Arial"/>
                        </a:rPr>
                        <a:t>If the candidate does not also calculate what percent increase in profit that would mean, ask them to.</a:t>
                      </a:r>
                    </a:p>
                    <a:p>
                      <a:r>
                        <a:rPr lang="en-US" sz="1200" b="0" baseline="0" dirty="0" smtClean="0">
                          <a:latin typeface="+mn-lt"/>
                          <a:cs typeface="Arial"/>
                        </a:rPr>
                        <a:t>Increase in Profit = 100.1 MM/(1205 MM - 910 MM) = 33.9%</a:t>
                      </a:r>
                    </a:p>
                    <a:p>
                      <a:pPr fontAlgn="auto">
                        <a:spcAft>
                          <a:spcPts val="0"/>
                        </a:spcAft>
                        <a:buFont typeface="Arial"/>
                        <a:buNone/>
                        <a:defRPr/>
                      </a:pPr>
                      <a:endParaRPr lang="en-US" sz="1200" b="0" kern="1200" dirty="0" smtClean="0">
                        <a:solidFill>
                          <a:schemeClr val="tx1"/>
                        </a:solidFill>
                        <a:latin typeface="+mn-lt"/>
                        <a:ea typeface="+mn-ea"/>
                        <a:cs typeface="+mn-cs"/>
                      </a:endParaRPr>
                    </a:p>
                  </a:txBody>
                  <a:tcPr>
                    <a:solidFill>
                      <a:srgbClr val="CCCCCC"/>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7: Global Bank Corp.</a:t>
            </a:r>
          </a:p>
        </p:txBody>
      </p:sp>
    </p:spTree>
    <p:extLst>
      <p:ext uri="{BB962C8B-B14F-4D97-AF65-F5344CB8AC3E}">
        <p14:creationId xmlns:p14="http://schemas.microsoft.com/office/powerpoint/2010/main" val="9464261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56</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970663298"/>
              </p:ext>
            </p:extLst>
          </p:nvPr>
        </p:nvGraphicFramePr>
        <p:xfrm>
          <a:off x="304800" y="1295400"/>
          <a:ext cx="8686800" cy="228600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lang="en-US" b="1" i="0" dirty="0" smtClean="0"/>
                        <a:t>Prompt</a:t>
                      </a:r>
                      <a:endParaRPr lang="en-US" sz="1000" i="0" dirty="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baseline="0" dirty="0" smtClean="0">
                          <a:latin typeface="+mn-lt"/>
                          <a:cs typeface="Arial"/>
                        </a:rPr>
                        <a:t>Could you provide some reasons as to why your client’s costs might be higher than competitors and what the client can do to bring costs down?</a:t>
                      </a:r>
                    </a:p>
                    <a:p>
                      <a:pPr fontAlgn="auto">
                        <a:spcAft>
                          <a:spcPts val="0"/>
                        </a:spcAft>
                        <a:buFont typeface="Arial"/>
                        <a:buNone/>
                        <a:defRPr/>
                      </a:pPr>
                      <a:endParaRPr lang="en-US" sz="1200" b="0"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aseline="0" dirty="0" smtClean="0">
                          <a:latin typeface="+mn-lt"/>
                          <a:cs typeface="Arial"/>
                        </a:rPr>
                        <a:t>Possible reasons include: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smtClean="0">
                          <a:latin typeface="+mn-lt"/>
                          <a:cs typeface="Arial"/>
                        </a:rPr>
                        <a:t>The client is paying higher prices than its competitors on the same hardware and software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smtClean="0">
                          <a:latin typeface="+mn-lt"/>
                          <a:cs typeface="Arial"/>
                        </a:rPr>
                        <a:t>The client is buying higher performance hardware and therefore paying more (perhaps opening up an opportunity to reduce specifications)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smtClean="0">
                          <a:latin typeface="+mn-lt"/>
                          <a:cs typeface="Arial"/>
                        </a:rPr>
                        <a:t>The client is buying more hardware or software—perhaps they give employees multiple computers or have not maximized utilization of their servers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dirty="0" smtClean="0">
                        <a:solidFill>
                          <a:schemeClr val="tx1"/>
                        </a:solidFill>
                        <a:latin typeface="+mn-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7: Global Bank Corp.</a:t>
            </a:r>
          </a:p>
        </p:txBody>
      </p:sp>
    </p:spTree>
    <p:extLst>
      <p:ext uri="{BB962C8B-B14F-4D97-AF65-F5344CB8AC3E}">
        <p14:creationId xmlns:p14="http://schemas.microsoft.com/office/powerpoint/2010/main" val="288994251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57</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582866123"/>
              </p:ext>
            </p:extLst>
          </p:nvPr>
        </p:nvGraphicFramePr>
        <p:xfrm>
          <a:off x="304800" y="1295400"/>
          <a:ext cx="8686800" cy="4888832"/>
        </p:xfrm>
        <a:graphic>
          <a:graphicData uri="http://schemas.openxmlformats.org/drawingml/2006/table">
            <a:tbl>
              <a:tblPr firstRow="1" bandRow="1">
                <a:tableStyleId>{616DA210-FB5B-4158-B5E0-FEB733F419BA}</a:tableStyleId>
              </a:tblPr>
              <a:tblGrid>
                <a:gridCol w="1447800"/>
                <a:gridCol w="7239000"/>
              </a:tblGrid>
              <a:tr h="1141474">
                <a:tc>
                  <a:txBody>
                    <a:bodyPr/>
                    <a:lstStyle/>
                    <a:p>
                      <a:pPr algn="ctr"/>
                      <a:r>
                        <a:rPr lang="en-US" b="1" i="0" dirty="0" smtClean="0"/>
                        <a:t>Prompt</a:t>
                      </a:r>
                      <a:endParaRPr lang="en-US" sz="1000" i="0" dirty="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baseline="0" dirty="0" smtClean="0">
                          <a:latin typeface="+mn-lt"/>
                          <a:cs typeface="Arial"/>
                        </a:rPr>
                        <a:t>The client completed a major merger in 2005, following which, it renegotiated many of its contracts, and it has not renegotiated any major contract since then.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n-lt"/>
                          <a:ea typeface="+mn-ea"/>
                          <a:cs typeface="Arial"/>
                        </a:rPr>
                        <a:t>How much would the client save if they renegotiate the IT hardware contracts to the industry average level?</a:t>
                      </a:r>
                      <a:endParaRPr lang="en-US" sz="1600" b="1" kern="1200" baseline="0" dirty="0" smtClean="0">
                        <a:solidFill>
                          <a:schemeClr val="tx1"/>
                        </a:solidFill>
                        <a:latin typeface="+mj-lt"/>
                        <a:ea typeface="+mn-ea"/>
                        <a:cs typeface="+mn-cs"/>
                      </a:endParaRPr>
                    </a:p>
                  </a:txBody>
                  <a:tcPr>
                    <a:noFill/>
                  </a:tcPr>
                </a:tc>
              </a:tr>
              <a:tr h="3747358">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aseline="0" dirty="0" smtClean="0">
                          <a:latin typeface="+mn-lt"/>
                          <a:cs typeface="Arial"/>
                        </a:rPr>
                        <a:t>Provide the candidate with Exhibit 3 for them to do calculations: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7: Global Bank Corp.</a:t>
            </a:r>
          </a:p>
        </p:txBody>
      </p:sp>
      <p:sp>
        <p:nvSpPr>
          <p:cNvPr id="9" name="TextBox 8"/>
          <p:cNvSpPr txBox="1"/>
          <p:nvPr/>
        </p:nvSpPr>
        <p:spPr>
          <a:xfrm>
            <a:off x="2026084" y="2961855"/>
            <a:ext cx="3167598" cy="307777"/>
          </a:xfrm>
          <a:prstGeom prst="rect">
            <a:avLst/>
          </a:prstGeom>
          <a:noFill/>
        </p:spPr>
        <p:txBody>
          <a:bodyPr wrap="none" rtlCol="0">
            <a:spAutoFit/>
          </a:bodyPr>
          <a:lstStyle/>
          <a:p>
            <a:r>
              <a:rPr lang="en-US" sz="1400" b="1" dirty="0" smtClean="0"/>
              <a:t>Exhibit 3</a:t>
            </a:r>
            <a:r>
              <a:rPr lang="en-US" sz="1400" b="1" dirty="0"/>
              <a:t>: IT Hardware </a:t>
            </a:r>
            <a:r>
              <a:rPr lang="en-US" sz="1400" b="1" dirty="0" smtClean="0"/>
              <a:t>Costs (2011)</a:t>
            </a:r>
            <a:endParaRPr lang="en-US" sz="1400" b="1" dirty="0"/>
          </a:p>
        </p:txBody>
      </p:sp>
      <p:graphicFrame>
        <p:nvGraphicFramePr>
          <p:cNvPr id="10" name="Table 9"/>
          <p:cNvGraphicFramePr>
            <a:graphicFrameLocks noGrp="1"/>
          </p:cNvGraphicFramePr>
          <p:nvPr>
            <p:extLst>
              <p:ext uri="{D42A27DB-BD31-4B8C-83A1-F6EECF244321}">
                <p14:modId xmlns:p14="http://schemas.microsoft.com/office/powerpoint/2010/main" val="445552737"/>
              </p:ext>
            </p:extLst>
          </p:nvPr>
        </p:nvGraphicFramePr>
        <p:xfrm>
          <a:off x="2026084" y="3293696"/>
          <a:ext cx="5549031" cy="2585720"/>
        </p:xfrm>
        <a:graphic>
          <a:graphicData uri="http://schemas.openxmlformats.org/drawingml/2006/table">
            <a:tbl>
              <a:tblPr firstRow="1" bandRow="1">
                <a:tableStyleId>{5C22544A-7EE6-4342-B048-85BDC9FD1C3A}</a:tableStyleId>
              </a:tblPr>
              <a:tblGrid>
                <a:gridCol w="1325946"/>
                <a:gridCol w="1227221"/>
                <a:gridCol w="1552074"/>
                <a:gridCol w="1443790"/>
              </a:tblGrid>
              <a:tr h="370840">
                <a:tc>
                  <a:txBody>
                    <a:bodyPr/>
                    <a:lstStyle/>
                    <a:p>
                      <a:r>
                        <a:rPr lang="en-US" sz="1400" dirty="0" smtClean="0">
                          <a:solidFill>
                            <a:srgbClr val="000000"/>
                          </a:solidFill>
                        </a:rPr>
                        <a:t>Category</a:t>
                      </a:r>
                    </a:p>
                  </a:txBody>
                  <a:tcPr anchor="ctr"/>
                </a:tc>
                <a:tc>
                  <a:txBody>
                    <a:bodyPr/>
                    <a:lstStyle/>
                    <a:p>
                      <a:r>
                        <a:rPr lang="en-US" sz="1400" dirty="0" smtClean="0">
                          <a:solidFill>
                            <a:srgbClr val="000000"/>
                          </a:solidFill>
                        </a:rPr>
                        <a:t>Client</a:t>
                      </a:r>
                      <a:endParaRPr lang="en-US" sz="1400" dirty="0">
                        <a:solidFill>
                          <a:srgbClr val="000000"/>
                        </a:solidFill>
                      </a:endParaRPr>
                    </a:p>
                  </a:txBody>
                  <a:tcPr anchor="ctr"/>
                </a:tc>
                <a:tc>
                  <a:txBody>
                    <a:bodyPr/>
                    <a:lstStyle/>
                    <a:p>
                      <a:r>
                        <a:rPr lang="en-US" sz="1400" dirty="0" smtClean="0">
                          <a:solidFill>
                            <a:srgbClr val="000000"/>
                          </a:solidFill>
                        </a:rPr>
                        <a:t>Industry Average</a:t>
                      </a:r>
                      <a:endParaRPr lang="en-US" sz="1400" dirty="0">
                        <a:solidFill>
                          <a:srgbClr val="000000"/>
                        </a:solidFill>
                      </a:endParaRPr>
                    </a:p>
                  </a:txBody>
                  <a:tcPr anchor="ctr"/>
                </a:tc>
                <a:tc>
                  <a:txBody>
                    <a:bodyPr/>
                    <a:lstStyle/>
                    <a:p>
                      <a:r>
                        <a:rPr lang="en-US" sz="1400" dirty="0" smtClean="0">
                          <a:solidFill>
                            <a:srgbClr val="000000"/>
                          </a:solidFill>
                        </a:rPr>
                        <a:t>Annual</a:t>
                      </a:r>
                      <a:r>
                        <a:rPr lang="en-US" sz="1400" baseline="0" dirty="0" smtClean="0">
                          <a:solidFill>
                            <a:srgbClr val="000000"/>
                          </a:solidFill>
                        </a:rPr>
                        <a:t> Quantity Purchased</a:t>
                      </a:r>
                      <a:endParaRPr lang="en-US" sz="1400" dirty="0">
                        <a:solidFill>
                          <a:srgbClr val="000000"/>
                        </a:solidFill>
                      </a:endParaRPr>
                    </a:p>
                  </a:txBody>
                  <a:tcPr anchor="ctr"/>
                </a:tc>
              </a:tr>
              <a:tr h="370840">
                <a:tc>
                  <a:txBody>
                    <a:bodyPr/>
                    <a:lstStyle/>
                    <a:p>
                      <a:r>
                        <a:rPr lang="en-US" sz="1400" dirty="0" smtClean="0"/>
                        <a:t>Desktops</a:t>
                      </a:r>
                    </a:p>
                  </a:txBody>
                  <a:tcPr/>
                </a:tc>
                <a:tc>
                  <a:txBody>
                    <a:bodyPr/>
                    <a:lstStyle/>
                    <a:p>
                      <a:r>
                        <a:rPr lang="en-US" sz="1400" dirty="0" smtClean="0"/>
                        <a:t>$883</a:t>
                      </a:r>
                      <a:endParaRPr lang="en-US" sz="1400" dirty="0"/>
                    </a:p>
                  </a:txBody>
                  <a:tcPr/>
                </a:tc>
                <a:tc>
                  <a:txBody>
                    <a:bodyPr/>
                    <a:lstStyle/>
                    <a:p>
                      <a:r>
                        <a:rPr lang="en-US" sz="1400" dirty="0" smtClean="0"/>
                        <a:t>$826</a:t>
                      </a:r>
                      <a:endParaRPr lang="en-US" sz="1400" dirty="0"/>
                    </a:p>
                  </a:txBody>
                  <a:tcPr/>
                </a:tc>
                <a:tc>
                  <a:txBody>
                    <a:bodyPr/>
                    <a:lstStyle/>
                    <a:p>
                      <a:r>
                        <a:rPr lang="en-US" sz="1400" dirty="0" smtClean="0"/>
                        <a:t>14,500</a:t>
                      </a:r>
                      <a:endParaRPr lang="en-US" sz="1400" dirty="0"/>
                    </a:p>
                  </a:txBody>
                  <a:tcPr/>
                </a:tc>
              </a:tr>
              <a:tr h="370840">
                <a:tc>
                  <a:txBody>
                    <a:bodyPr/>
                    <a:lstStyle/>
                    <a:p>
                      <a:r>
                        <a:rPr lang="en-US" sz="1400" dirty="0" smtClean="0"/>
                        <a:t>Laptops</a:t>
                      </a:r>
                      <a:endParaRPr lang="en-US" sz="1400" dirty="0"/>
                    </a:p>
                  </a:txBody>
                  <a:tcPr/>
                </a:tc>
                <a:tc>
                  <a:txBody>
                    <a:bodyPr/>
                    <a:lstStyle/>
                    <a:p>
                      <a:r>
                        <a:rPr lang="en-US" sz="1400" dirty="0" smtClean="0"/>
                        <a:t>$1,225</a:t>
                      </a:r>
                      <a:endParaRPr lang="en-US" sz="1400" dirty="0"/>
                    </a:p>
                  </a:txBody>
                  <a:tcPr/>
                </a:tc>
                <a:tc>
                  <a:txBody>
                    <a:bodyPr/>
                    <a:lstStyle/>
                    <a:p>
                      <a:r>
                        <a:rPr lang="en-US" sz="1400" dirty="0" smtClean="0"/>
                        <a:t>$1,173</a:t>
                      </a:r>
                      <a:endParaRPr lang="en-US" sz="1400" dirty="0"/>
                    </a:p>
                  </a:txBody>
                  <a:tcPr/>
                </a:tc>
                <a:tc>
                  <a:txBody>
                    <a:bodyPr/>
                    <a:lstStyle/>
                    <a:p>
                      <a:r>
                        <a:rPr lang="en-US" sz="1400" dirty="0" smtClean="0"/>
                        <a:t>6,000</a:t>
                      </a:r>
                      <a:endParaRPr lang="en-US" sz="1400" dirty="0"/>
                    </a:p>
                  </a:txBody>
                  <a:tcPr/>
                </a:tc>
              </a:tr>
              <a:tr h="370840">
                <a:tc>
                  <a:txBody>
                    <a:bodyPr/>
                    <a:lstStyle/>
                    <a:p>
                      <a:r>
                        <a:rPr lang="en-US" sz="1400" dirty="0" smtClean="0"/>
                        <a:t>Servers</a:t>
                      </a:r>
                      <a:endParaRPr lang="en-US" sz="1400" dirty="0"/>
                    </a:p>
                  </a:txBody>
                  <a:tcPr/>
                </a:tc>
                <a:tc>
                  <a:txBody>
                    <a:bodyPr/>
                    <a:lstStyle/>
                    <a:p>
                      <a:r>
                        <a:rPr lang="en-US" sz="1400" dirty="0" smtClean="0"/>
                        <a:t>$7,201</a:t>
                      </a:r>
                      <a:endParaRPr lang="en-US" sz="1400" dirty="0"/>
                    </a:p>
                  </a:txBody>
                  <a:tcPr/>
                </a:tc>
                <a:tc>
                  <a:txBody>
                    <a:bodyPr/>
                    <a:lstStyle/>
                    <a:p>
                      <a:r>
                        <a:rPr lang="en-US" sz="1400" dirty="0" smtClean="0"/>
                        <a:t>$6,760</a:t>
                      </a:r>
                      <a:endParaRPr lang="en-US" sz="1400" dirty="0"/>
                    </a:p>
                  </a:txBody>
                  <a:tcPr/>
                </a:tc>
                <a:tc>
                  <a:txBody>
                    <a:bodyPr/>
                    <a:lstStyle/>
                    <a:p>
                      <a:r>
                        <a:rPr lang="en-US" sz="1400" dirty="0" smtClean="0"/>
                        <a:t>5,500</a:t>
                      </a:r>
                      <a:endParaRPr lang="en-US" sz="1400" dirty="0"/>
                    </a:p>
                  </a:txBody>
                  <a:tcPr/>
                </a:tc>
              </a:tr>
              <a:tr h="370840">
                <a:tc>
                  <a:txBody>
                    <a:bodyPr/>
                    <a:lstStyle/>
                    <a:p>
                      <a:r>
                        <a:rPr lang="en-US" sz="1400" dirty="0" smtClean="0"/>
                        <a:t>Routers</a:t>
                      </a:r>
                      <a:endParaRPr lang="en-US" sz="1400" dirty="0"/>
                    </a:p>
                  </a:txBody>
                  <a:tcPr/>
                </a:tc>
                <a:tc>
                  <a:txBody>
                    <a:bodyPr/>
                    <a:lstStyle/>
                    <a:p>
                      <a:r>
                        <a:rPr lang="en-US" sz="1400" dirty="0" smtClean="0"/>
                        <a:t>$7,527</a:t>
                      </a:r>
                      <a:endParaRPr lang="en-US" sz="1400" dirty="0"/>
                    </a:p>
                  </a:txBody>
                  <a:tcPr/>
                </a:tc>
                <a:tc>
                  <a:txBody>
                    <a:bodyPr/>
                    <a:lstStyle/>
                    <a:p>
                      <a:r>
                        <a:rPr lang="en-US" sz="1400" dirty="0" smtClean="0"/>
                        <a:t>$7,200</a:t>
                      </a:r>
                      <a:endParaRPr lang="en-US" sz="1400" dirty="0"/>
                    </a:p>
                  </a:txBody>
                  <a:tcPr/>
                </a:tc>
                <a:tc>
                  <a:txBody>
                    <a:bodyPr/>
                    <a:lstStyle/>
                    <a:p>
                      <a:r>
                        <a:rPr lang="en-US" sz="1400" dirty="0" smtClean="0"/>
                        <a:t>900</a:t>
                      </a:r>
                      <a:endParaRPr lang="en-US" sz="1400" dirty="0"/>
                    </a:p>
                  </a:txBody>
                  <a:tcPr/>
                </a:tc>
              </a:tr>
              <a:tr h="370840">
                <a:tc>
                  <a:txBody>
                    <a:bodyPr/>
                    <a:lstStyle/>
                    <a:p>
                      <a:r>
                        <a:rPr lang="en-US" sz="1400" dirty="0" smtClean="0"/>
                        <a:t>Switches</a:t>
                      </a:r>
                      <a:endParaRPr lang="en-US" sz="1400" dirty="0"/>
                    </a:p>
                  </a:txBody>
                  <a:tcPr/>
                </a:tc>
                <a:tc>
                  <a:txBody>
                    <a:bodyPr/>
                    <a:lstStyle/>
                    <a:p>
                      <a:r>
                        <a:rPr lang="en-US" sz="1400" dirty="0" smtClean="0"/>
                        <a:t>$3,068</a:t>
                      </a:r>
                      <a:endParaRPr lang="en-US" sz="1400" dirty="0"/>
                    </a:p>
                  </a:txBody>
                  <a:tcPr/>
                </a:tc>
                <a:tc>
                  <a:txBody>
                    <a:bodyPr/>
                    <a:lstStyle/>
                    <a:p>
                      <a:r>
                        <a:rPr lang="en-US" sz="1400" dirty="0" smtClean="0"/>
                        <a:t>$2,705</a:t>
                      </a:r>
                      <a:endParaRPr lang="en-US" sz="1400" dirty="0"/>
                    </a:p>
                  </a:txBody>
                  <a:tcPr/>
                </a:tc>
                <a:tc>
                  <a:txBody>
                    <a:bodyPr/>
                    <a:lstStyle/>
                    <a:p>
                      <a:r>
                        <a:rPr lang="en-US" sz="1400" dirty="0" smtClean="0"/>
                        <a:t>1,300</a:t>
                      </a:r>
                      <a:endParaRPr lang="en-US" sz="1400" dirty="0"/>
                    </a:p>
                  </a:txBody>
                  <a:tcPr/>
                </a:tc>
              </a:tr>
            </a:tbl>
          </a:graphicData>
        </a:graphic>
      </p:graphicFrame>
    </p:spTree>
    <p:extLst>
      <p:ext uri="{BB962C8B-B14F-4D97-AF65-F5344CB8AC3E}">
        <p14:creationId xmlns:p14="http://schemas.microsoft.com/office/powerpoint/2010/main" val="188726612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58</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536114437"/>
              </p:ext>
            </p:extLst>
          </p:nvPr>
        </p:nvGraphicFramePr>
        <p:xfrm>
          <a:off x="304800" y="1295400"/>
          <a:ext cx="8686800" cy="4114800"/>
        </p:xfrm>
        <a:graphic>
          <a:graphicData uri="http://schemas.openxmlformats.org/drawingml/2006/table">
            <a:tbl>
              <a:tblPr firstRow="1" bandRow="1">
                <a:tableStyleId>{616DA210-FB5B-4158-B5E0-FEB733F419BA}</a:tableStyleId>
              </a:tblPr>
              <a:tblGrid>
                <a:gridCol w="1447800"/>
                <a:gridCol w="7239000"/>
              </a:tblGrid>
              <a:tr h="3884029">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baseline="0" dirty="0" smtClean="0">
                          <a:latin typeface="+mn-lt"/>
                          <a:cs typeface="Arial"/>
                        </a:rPr>
                        <a:t>The candidate should perform the following calculations (if they ask to round, that’s ok unless you’d like to challenge their math):</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aseline="0" dirty="0" smtClean="0">
                        <a:latin typeface="+mn-lt"/>
                        <a:cs typeface="Arial"/>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7: Global Bank Corp.</a:t>
            </a:r>
          </a:p>
        </p:txBody>
      </p:sp>
      <p:graphicFrame>
        <p:nvGraphicFramePr>
          <p:cNvPr id="7" name="Table 6"/>
          <p:cNvGraphicFramePr>
            <a:graphicFrameLocks noGrp="1"/>
          </p:cNvGraphicFramePr>
          <p:nvPr>
            <p:extLst>
              <p:ext uri="{D42A27DB-BD31-4B8C-83A1-F6EECF244321}">
                <p14:modId xmlns:p14="http://schemas.microsoft.com/office/powerpoint/2010/main" val="1670681115"/>
              </p:ext>
            </p:extLst>
          </p:nvPr>
        </p:nvGraphicFramePr>
        <p:xfrm>
          <a:off x="1844665" y="2157575"/>
          <a:ext cx="7032011" cy="3048000"/>
        </p:xfrm>
        <a:graphic>
          <a:graphicData uri="http://schemas.openxmlformats.org/drawingml/2006/table">
            <a:tbl>
              <a:tblPr firstRow="1" bandRow="1">
                <a:tableStyleId>{2D5ABB26-0587-4C30-8999-92F81FD0307C}</a:tableStyleId>
              </a:tblPr>
              <a:tblGrid>
                <a:gridCol w="1401369"/>
                <a:gridCol w="804568"/>
                <a:gridCol w="1019744"/>
                <a:gridCol w="1178744"/>
                <a:gridCol w="1043183"/>
                <a:gridCol w="1584403"/>
              </a:tblGrid>
              <a:tr h="724635">
                <a:tc>
                  <a:txBody>
                    <a:bodyPr/>
                    <a:lstStyle/>
                    <a:p>
                      <a:r>
                        <a:rPr lang="en-US" sz="1200" b="1" dirty="0" smtClean="0"/>
                        <a:t>Category</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D9D9D9"/>
                    </a:solidFill>
                  </a:tcPr>
                </a:tc>
                <a:tc>
                  <a:txBody>
                    <a:bodyPr/>
                    <a:lstStyle/>
                    <a:p>
                      <a:r>
                        <a:rPr lang="en-US" sz="1200" b="1" dirty="0" smtClean="0"/>
                        <a:t>Client</a:t>
                      </a:r>
                      <a:endParaRPr lang="en-US" sz="1200" b="1"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D9D9D9"/>
                    </a:solidFill>
                  </a:tcPr>
                </a:tc>
                <a:tc>
                  <a:txBody>
                    <a:bodyPr/>
                    <a:lstStyle/>
                    <a:p>
                      <a:r>
                        <a:rPr lang="en-US" sz="1200" b="1" dirty="0" smtClean="0"/>
                        <a:t>Industry Average</a:t>
                      </a:r>
                      <a:endParaRPr lang="en-US" sz="1200" b="1"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D9D9D9"/>
                    </a:solidFill>
                  </a:tcPr>
                </a:tc>
                <a:tc>
                  <a:txBody>
                    <a:bodyPr/>
                    <a:lstStyle/>
                    <a:p>
                      <a:r>
                        <a:rPr lang="en-US" sz="1200" b="1" dirty="0" smtClean="0"/>
                        <a:t>Difference (Client – Industry </a:t>
                      </a:r>
                      <a:r>
                        <a:rPr lang="en-US" sz="1200" b="1" dirty="0" err="1" smtClean="0"/>
                        <a:t>Avg</a:t>
                      </a:r>
                      <a:r>
                        <a:rPr lang="en-US" sz="1200" b="1" dirty="0" smtClean="0"/>
                        <a:t>)</a:t>
                      </a:r>
                      <a:endParaRPr lang="en-US" sz="1200" b="1"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c>
                  <a:txBody>
                    <a:bodyPr/>
                    <a:lstStyle/>
                    <a:p>
                      <a:r>
                        <a:rPr lang="en-US" sz="1200" b="1" dirty="0" smtClean="0"/>
                        <a:t>Annual</a:t>
                      </a:r>
                      <a:r>
                        <a:rPr lang="en-US" sz="1200" b="1" baseline="0" dirty="0" smtClean="0"/>
                        <a:t> Quantity Purchased</a:t>
                      </a:r>
                      <a:endParaRPr lang="en-US" sz="1200" b="1"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D9D9D9"/>
                    </a:solidFill>
                  </a:tcPr>
                </a:tc>
                <a:tc>
                  <a:txBody>
                    <a:bodyPr/>
                    <a:lstStyle/>
                    <a:p>
                      <a:r>
                        <a:rPr lang="en-US" sz="1200" b="1" dirty="0" smtClean="0"/>
                        <a:t>Annual Savings</a:t>
                      </a:r>
                      <a:r>
                        <a:rPr lang="en-US" sz="1200" b="1" baseline="0" dirty="0" smtClean="0"/>
                        <a:t> at industry average</a:t>
                      </a:r>
                    </a:p>
                    <a:p>
                      <a:r>
                        <a:rPr lang="pt-BR" sz="1200" b="1" baseline="0" dirty="0" smtClean="0"/>
                        <a:t>(Difference x Annual Purchases)</a:t>
                      </a:r>
                      <a:endParaRPr lang="en-US" sz="1200" b="1" dirty="0"/>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r>
              <a:tr h="370840">
                <a:tc>
                  <a:txBody>
                    <a:bodyPr/>
                    <a:lstStyle/>
                    <a:p>
                      <a:r>
                        <a:rPr lang="en-US" sz="1200" dirty="0" smtClean="0"/>
                        <a:t>Desktops</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883</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826</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883–826 = 57</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c>
                  <a:txBody>
                    <a:bodyPr/>
                    <a:lstStyle/>
                    <a:p>
                      <a:r>
                        <a:rPr lang="en-US" sz="1200" dirty="0" smtClean="0"/>
                        <a:t>14,500</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57x14,500=826,500</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r>
              <a:tr h="370840">
                <a:tc>
                  <a:txBody>
                    <a:bodyPr/>
                    <a:lstStyle/>
                    <a:p>
                      <a:r>
                        <a:rPr lang="en-US" sz="1200" dirty="0" smtClean="0"/>
                        <a:t>Laptops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1,225</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1,173</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52</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c>
                  <a:txBody>
                    <a:bodyPr/>
                    <a:lstStyle/>
                    <a:p>
                      <a:r>
                        <a:rPr lang="en-US" sz="1200" dirty="0" smtClean="0"/>
                        <a:t>6,000</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312,000</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r>
              <a:tr h="370840">
                <a:tc>
                  <a:txBody>
                    <a:bodyPr/>
                    <a:lstStyle/>
                    <a:p>
                      <a:r>
                        <a:rPr lang="en-US" sz="1200" dirty="0" smtClean="0"/>
                        <a:t>Servers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7,201</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6,760</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441</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c>
                  <a:txBody>
                    <a:bodyPr/>
                    <a:lstStyle/>
                    <a:p>
                      <a:r>
                        <a:rPr lang="en-US" sz="1200" dirty="0" smtClean="0"/>
                        <a:t>5,500</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2,425,500</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r>
              <a:tr h="370840">
                <a:tc>
                  <a:txBody>
                    <a:bodyPr/>
                    <a:lstStyle/>
                    <a:p>
                      <a:r>
                        <a:rPr lang="en-US" sz="1200" dirty="0" smtClean="0"/>
                        <a:t>Routers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7,527</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7,200</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327</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c>
                  <a:txBody>
                    <a:bodyPr/>
                    <a:lstStyle/>
                    <a:p>
                      <a:r>
                        <a:rPr lang="en-US" sz="1200" dirty="0" smtClean="0"/>
                        <a:t>900</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294,300</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r>
              <a:tr h="370840">
                <a:tc>
                  <a:txBody>
                    <a:bodyPr/>
                    <a:lstStyle/>
                    <a:p>
                      <a:r>
                        <a:rPr lang="en-US" sz="1200" dirty="0" smtClean="0"/>
                        <a:t>Switches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3,068</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dirty="0" smtClean="0"/>
                        <a:t>2,705</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363</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c>
                  <a:txBody>
                    <a:bodyPr/>
                    <a:lstStyle/>
                    <a:p>
                      <a:r>
                        <a:rPr lang="en-US" sz="1200" dirty="0" smtClean="0"/>
                        <a:t>1,300</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471,900</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r>
              <a:tr h="370840">
                <a:tc>
                  <a:txBody>
                    <a:bodyPr/>
                    <a:lstStyle/>
                    <a:p>
                      <a:r>
                        <a:rPr lang="en-US" sz="1200" dirty="0" smtClean="0"/>
                        <a:t>Total Savings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c>
                  <a:txBody>
                    <a:bodyPr/>
                    <a:lstStyle/>
                    <a:p>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r>
                        <a:rPr lang="en-US" sz="1200" b="1" dirty="0" smtClean="0"/>
                        <a:t>4,330,200</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lumMod val="85000"/>
                      </a:schemeClr>
                    </a:solidFill>
                  </a:tcPr>
                </a:tc>
              </a:tr>
            </a:tbl>
          </a:graphicData>
        </a:graphic>
      </p:graphicFrame>
      <p:sp>
        <p:nvSpPr>
          <p:cNvPr id="9" name="TextBox 8"/>
          <p:cNvSpPr txBox="1"/>
          <p:nvPr/>
        </p:nvSpPr>
        <p:spPr>
          <a:xfrm>
            <a:off x="1754150" y="1806839"/>
            <a:ext cx="3167598" cy="307777"/>
          </a:xfrm>
          <a:prstGeom prst="rect">
            <a:avLst/>
          </a:prstGeom>
          <a:noFill/>
        </p:spPr>
        <p:txBody>
          <a:bodyPr wrap="none" rtlCol="0">
            <a:spAutoFit/>
          </a:bodyPr>
          <a:lstStyle/>
          <a:p>
            <a:r>
              <a:rPr lang="en-US" sz="1400" b="1" dirty="0" smtClean="0"/>
              <a:t>Exhibit 3</a:t>
            </a:r>
            <a:r>
              <a:rPr lang="en-US" sz="1400" b="1" dirty="0"/>
              <a:t>: IT Hardware </a:t>
            </a:r>
            <a:r>
              <a:rPr lang="en-US" sz="1400" b="1" dirty="0" smtClean="0"/>
              <a:t>Costs (2011)</a:t>
            </a:r>
            <a:endParaRPr lang="en-US" sz="1400" b="1" dirty="0"/>
          </a:p>
        </p:txBody>
      </p:sp>
    </p:spTree>
    <p:extLst>
      <p:ext uri="{BB962C8B-B14F-4D97-AF65-F5344CB8AC3E}">
        <p14:creationId xmlns:p14="http://schemas.microsoft.com/office/powerpoint/2010/main" val="106670443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59</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333754146"/>
              </p:ext>
            </p:extLst>
          </p:nvPr>
        </p:nvGraphicFramePr>
        <p:xfrm>
          <a:off x="304800" y="1295400"/>
          <a:ext cx="8686800" cy="1941095"/>
        </p:xfrm>
        <a:graphic>
          <a:graphicData uri="http://schemas.openxmlformats.org/drawingml/2006/table">
            <a:tbl>
              <a:tblPr firstRow="1" bandRow="1">
                <a:tableStyleId>{616DA210-FB5B-4158-B5E0-FEB733F419BA}</a:tableStyleId>
              </a:tblPr>
              <a:tblGrid>
                <a:gridCol w="1447800"/>
                <a:gridCol w="7239000"/>
              </a:tblGrid>
              <a:tr h="569495">
                <a:tc>
                  <a:txBody>
                    <a:bodyPr/>
                    <a:lstStyle/>
                    <a:p>
                      <a:pPr algn="ctr"/>
                      <a:r>
                        <a:rPr lang="en-US" b="1" i="0" dirty="0" smtClean="0"/>
                        <a:t>Prompt</a:t>
                      </a:r>
                      <a:endParaRPr lang="en-US" sz="1000" i="0" dirty="0"/>
                    </a:p>
                  </a:txBody>
                  <a:tcPr anchor="ctr">
                    <a:noFill/>
                  </a:tcPr>
                </a:tc>
                <a:tc>
                  <a:txBody>
                    <a:bodyPr/>
                    <a:lstStyle/>
                    <a:p>
                      <a:r>
                        <a:rPr lang="en-US" sz="1200" baseline="0" dirty="0" smtClean="0">
                          <a:latin typeface="+mn-lt"/>
                          <a:cs typeface="Arial"/>
                        </a:rPr>
                        <a:t>Please wrap up the case and make your final recommendations to the client.</a:t>
                      </a:r>
                      <a:endParaRPr lang="en-US" sz="1200" b="0"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r>
                        <a:rPr lang="en-US" sz="1200" baseline="0" dirty="0" smtClean="0">
                          <a:latin typeface="+mn-lt"/>
                          <a:cs typeface="Arial"/>
                        </a:rPr>
                        <a:t>The recommendation should include the following:</a:t>
                      </a:r>
                    </a:p>
                    <a:p>
                      <a:pPr marL="171450" indent="-171450">
                        <a:buFont typeface="Arial" pitchFamily="34" charset="0"/>
                        <a:buChar char="•"/>
                      </a:pPr>
                      <a:r>
                        <a:rPr lang="en-US" sz="1200" baseline="0" dirty="0" smtClean="0">
                          <a:latin typeface="+mn-lt"/>
                          <a:cs typeface="Arial"/>
                        </a:rPr>
                        <a:t>The pricing of IT hardware contracts should meet the industry average</a:t>
                      </a:r>
                    </a:p>
                    <a:p>
                      <a:pPr marL="171450" indent="-171450">
                        <a:buFont typeface="Arial" pitchFamily="34" charset="0"/>
                        <a:buChar char="•"/>
                      </a:pPr>
                      <a:r>
                        <a:rPr lang="en-US" sz="1200" baseline="0" dirty="0" smtClean="0">
                          <a:latin typeface="+mn-lt"/>
                          <a:cs typeface="Arial"/>
                        </a:rPr>
                        <a:t>The client should investigate the possibility of reducing specifications on the equipment for further savings</a:t>
                      </a:r>
                    </a:p>
                    <a:p>
                      <a:pPr marL="171450" indent="-171450">
                        <a:buFont typeface="Arial" pitchFamily="34" charset="0"/>
                        <a:buChar char="•"/>
                      </a:pPr>
                      <a:r>
                        <a:rPr lang="en-US" sz="1200" baseline="0" dirty="0" smtClean="0">
                          <a:latin typeface="+mn-lt"/>
                          <a:cs typeface="Arial"/>
                        </a:rPr>
                        <a:t>Next steps should include looking at other types of contracts they may be able to renegotiate, as other savings are possible</a:t>
                      </a:r>
                    </a:p>
                    <a:p>
                      <a:pPr marL="171450" indent="-171450">
                        <a:buFont typeface="Arial" pitchFamily="34" charset="0"/>
                        <a:buChar char="•"/>
                      </a:pPr>
                      <a:endParaRPr lang="en-US" sz="1200" b="1" i="1" kern="1200" dirty="0" smtClean="0">
                        <a:solidFill>
                          <a:schemeClr val="tx1"/>
                        </a:solidFill>
                        <a:latin typeface="+mn-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7: Global Bank Corp.</a:t>
            </a:r>
          </a:p>
        </p:txBody>
      </p:sp>
    </p:spTree>
    <p:extLst>
      <p:ext uri="{BB962C8B-B14F-4D97-AF65-F5344CB8AC3E}">
        <p14:creationId xmlns:p14="http://schemas.microsoft.com/office/powerpoint/2010/main" val="124009578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7: Global Bank Corp.</a:t>
            </a:r>
          </a:p>
        </p:txBody>
      </p:sp>
      <p:graphicFrame>
        <p:nvGraphicFramePr>
          <p:cNvPr id="12" name="Table 11"/>
          <p:cNvGraphicFramePr>
            <a:graphicFrameLocks noGrp="1"/>
          </p:cNvGraphicFramePr>
          <p:nvPr>
            <p:extLst>
              <p:ext uri="{D42A27DB-BD31-4B8C-83A1-F6EECF244321}">
                <p14:modId xmlns:p14="http://schemas.microsoft.com/office/powerpoint/2010/main" val="747901578"/>
              </p:ext>
            </p:extLst>
          </p:nvPr>
        </p:nvGraphicFramePr>
        <p:xfrm>
          <a:off x="304800" y="1381125"/>
          <a:ext cx="8534400" cy="28346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Provides a MECE framework</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answers all questions</a:t>
                      </a:r>
                    </a:p>
                    <a:p>
                      <a:pPr marL="225425" indent="-225425">
                        <a:buFont typeface="Arial" pitchFamily="34" charset="0"/>
                        <a:buChar char="•"/>
                      </a:pPr>
                      <a:r>
                        <a:rPr lang="en-US" sz="1200" b="0" i="0" kern="1200" baseline="0" dirty="0" smtClean="0">
                          <a:solidFill>
                            <a:schemeClr val="tx1"/>
                          </a:solidFill>
                          <a:latin typeface="+mn-lt"/>
                          <a:ea typeface="+mn-ea"/>
                          <a:cs typeface="+mn-cs"/>
                        </a:rPr>
                        <a:t>Analyzes the exhibits with minimum assistance</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calculates the potential cost savings</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Provides a direct recommendation based on the facts analyzed during the case</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“Good “ requirements</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After the second prompt, quickly draws a framework to support the brainstorming part</a:t>
                      </a:r>
                    </a:p>
                    <a:p>
                      <a:pPr marL="225425" indent="-225425">
                        <a:buFont typeface="Arial" pitchFamily="34" charset="0"/>
                        <a:buChar char="•"/>
                      </a:pPr>
                      <a:r>
                        <a:rPr lang="en-US" sz="1200" b="0" i="0" kern="1200" baseline="0" dirty="0" smtClean="0">
                          <a:solidFill>
                            <a:schemeClr val="tx1"/>
                          </a:solidFill>
                          <a:latin typeface="+mn-lt"/>
                          <a:ea typeface="+mn-ea"/>
                          <a:cs typeface="+mn-cs"/>
                        </a:rPr>
                        <a:t>Keeps the interviewer engaged and demonstrates great communication skills</a:t>
                      </a:r>
                    </a:p>
                    <a:p>
                      <a:pPr marL="225425" indent="-225425">
                        <a:buFont typeface="Arial" pitchFamily="34" charset="0"/>
                        <a:buChar cha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60</a:t>
            </a:fld>
            <a:endParaRPr lang="en-US" dirty="0"/>
          </a:p>
        </p:txBody>
      </p:sp>
    </p:spTree>
    <p:extLst>
      <p:ext uri="{BB962C8B-B14F-4D97-AF65-F5344CB8AC3E}">
        <p14:creationId xmlns:p14="http://schemas.microsoft.com/office/powerpoint/2010/main" val="388815933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61</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62</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806683934"/>
              </p:ext>
            </p:extLst>
          </p:nvPr>
        </p:nvGraphicFramePr>
        <p:xfrm>
          <a:off x="304800" y="1295400"/>
          <a:ext cx="8686800" cy="329184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lang="en-US" b="1" i="0" dirty="0" smtClean="0"/>
                        <a:t>Prompt</a:t>
                      </a:r>
                      <a:endParaRPr lang="en-US" sz="1000" i="0" dirty="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j-lt"/>
                          <a:ea typeface="+mn-ea"/>
                          <a:cs typeface="+mn-cs"/>
                        </a:rPr>
                        <a:t>Milk</a:t>
                      </a:r>
                      <a:r>
                        <a:rPr lang="en-US" sz="1200" b="0" kern="1200" baseline="0" dirty="0" smtClean="0">
                          <a:solidFill>
                            <a:schemeClr val="tx1"/>
                          </a:solidFill>
                          <a:latin typeface="+mj-lt"/>
                          <a:ea typeface="+mn-ea"/>
                          <a:cs typeface="+mn-cs"/>
                        </a:rPr>
                        <a:t> &amp; </a:t>
                      </a:r>
                      <a:r>
                        <a:rPr lang="en-US" sz="1200" b="0" dirty="0" smtClean="0">
                          <a:ea typeface="+mn-ea"/>
                          <a:cs typeface="+mn-cs"/>
                        </a:rPr>
                        <a:t>Cheese, Inc. (MCI) is a leading producer of dairy, ham</a:t>
                      </a:r>
                      <a:r>
                        <a:rPr lang="en-US" sz="1200" b="0" baseline="0" dirty="0" smtClean="0">
                          <a:ea typeface="+mn-ea"/>
                          <a:cs typeface="+mn-cs"/>
                        </a:rPr>
                        <a:t> and</a:t>
                      </a:r>
                      <a:r>
                        <a:rPr lang="en-US" sz="1200" b="0" dirty="0" smtClean="0">
                          <a:ea typeface="+mn-ea"/>
                          <a:cs typeface="+mn-cs"/>
                        </a:rPr>
                        <a:t> sausages in the US. Currently,</a:t>
                      </a:r>
                      <a:r>
                        <a:rPr lang="en-US" sz="1200" b="0" baseline="0" dirty="0" smtClean="0">
                          <a:ea typeface="+mn-ea"/>
                          <a:cs typeface="+mn-cs"/>
                        </a:rPr>
                        <a:t> </a:t>
                      </a:r>
                      <a:r>
                        <a:rPr lang="en-US" sz="1200" b="0" dirty="0" smtClean="0">
                          <a:ea typeface="+mn-ea"/>
                          <a:cs typeface="+mn-cs"/>
                        </a:rPr>
                        <a:t>it produces more than 1,000 products. MCI</a:t>
                      </a:r>
                      <a:r>
                        <a:rPr lang="en-US" sz="1200" b="0" baseline="0" dirty="0" smtClean="0">
                          <a:ea typeface="+mn-ea"/>
                          <a:cs typeface="+mn-cs"/>
                        </a:rPr>
                        <a:t> and two competitors dominate this market.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ea typeface="+mn-ea"/>
                          <a:cs typeface="+mn-cs"/>
                        </a:rPr>
                        <a:t>MCI wants to increase its profits.</a:t>
                      </a:r>
                      <a:r>
                        <a:rPr lang="en-US" sz="1200" baseline="0" dirty="0" smtClean="0">
                          <a:ea typeface="+mn-ea"/>
                          <a:cs typeface="+mn-cs"/>
                        </a:rPr>
                        <a:t> It has hired your firm </a:t>
                      </a:r>
                      <a:r>
                        <a:rPr lang="en-US" sz="1200" dirty="0" smtClean="0">
                          <a:ea typeface="+mn-ea"/>
                          <a:cs typeface="+mn-cs"/>
                        </a:rPr>
                        <a:t>to help on this matter. How would you approach the</a:t>
                      </a:r>
                      <a:r>
                        <a:rPr lang="en-US" sz="1200" baseline="0" dirty="0" smtClean="0">
                          <a:ea typeface="+mn-ea"/>
                          <a:cs typeface="+mn-cs"/>
                        </a:rPr>
                        <a:t> problem</a:t>
                      </a:r>
                      <a:r>
                        <a:rPr lang="en-US" sz="1200" dirty="0" smtClean="0">
                          <a:ea typeface="+mn-ea"/>
                          <a:cs typeface="+mn-cs"/>
                        </a:rPr>
                        <a: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smtClean="0">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The</a:t>
                      </a:r>
                      <a:r>
                        <a:rPr lang="en-US" sz="1200" b="0" i="0" kern="1200" baseline="0" dirty="0" smtClean="0">
                          <a:solidFill>
                            <a:schemeClr val="tx1"/>
                          </a:solidFill>
                          <a:latin typeface="+mn-lt"/>
                          <a:ea typeface="+mn-ea"/>
                          <a:cs typeface="+mn-cs"/>
                        </a:rPr>
                        <a:t> main idea in this case is to bring the graph into discussion and analyze it. Do not share this information with the candidate. The case should be a fast paced conversation and he/s</a:t>
                      </a:r>
                      <a:r>
                        <a:rPr lang="en-US" sz="1200" b="0" i="0" kern="1200" baseline="0" dirty="0" smtClean="0">
                          <a:solidFill>
                            <a:schemeClr val="tx1"/>
                          </a:solidFill>
                          <a:latin typeface="+mj-lt"/>
                          <a:ea typeface="+mn-ea"/>
                          <a:cs typeface="+mn-cs"/>
                        </a:rPr>
                        <a:t>he must structure the case like any profitability case: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Revenue Streams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Respective COGS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SG&amp;A</a:t>
                      </a:r>
                    </a:p>
                    <a:p>
                      <a:pPr marL="171450" marR="0" indent="-171450" algn="l" defTabSz="457200" rtl="0" eaLnBrk="1" fontAlgn="auto" latinLnBrk="0" hangingPunct="1">
                        <a:lnSpc>
                          <a:spcPct val="100000"/>
                        </a:lnSpc>
                        <a:spcBef>
                          <a:spcPts val="0"/>
                        </a:spcBef>
                        <a:spcAft>
                          <a:spcPts val="0"/>
                        </a:spcAft>
                        <a:buClrTx/>
                        <a:buSzTx/>
                        <a:buFontTx/>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Considering market trends, the economic environment and competitors’ moves are not wrong, but the candidate must include the abovementioned topics. It is a profitability case. If asked, tell the candidate that MCI is not interested in acquiring a competitor or expanding overseas.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kern="1200" baseline="0" dirty="0" smtClean="0">
                        <a:solidFill>
                          <a:schemeClr val="tx1"/>
                        </a:solidFill>
                        <a:latin typeface="+mj-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0"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2357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8: Milk &amp; Cheese, Inc.</a:t>
            </a:r>
            <a:endParaRPr lang="en-US" sz="2400" b="1" dirty="0"/>
          </a:p>
        </p:txBody>
      </p:sp>
    </p:spTree>
    <p:extLst>
      <p:ext uri="{BB962C8B-B14F-4D97-AF65-F5344CB8AC3E}">
        <p14:creationId xmlns:p14="http://schemas.microsoft.com/office/powerpoint/2010/main" val="71419995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p:cNvSpPr>
            <a:spLocks noGrp="1"/>
          </p:cNvSpPr>
          <p:nvPr>
            <p:ph type="sldNum" sz="quarter" idx="11"/>
          </p:nvPr>
        </p:nvSpPr>
        <p:spPr>
          <a:noFill/>
        </p:spPr>
        <p:txBody>
          <a:bodyPr/>
          <a:lstStyle/>
          <a:p>
            <a:fld id="{1C74FBA0-D0FC-4439-826C-09BC218A9370}" type="slidenum">
              <a:rPr lang="en-US" smtClean="0">
                <a:ea typeface="ＭＳ Ｐゴシック" pitchFamily="34" charset="-128"/>
              </a:rPr>
              <a:pPr/>
              <a:t>63</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73154045"/>
              </p:ext>
            </p:extLst>
          </p:nvPr>
        </p:nvGraphicFramePr>
        <p:xfrm>
          <a:off x="304800" y="1295400"/>
          <a:ext cx="8686800" cy="365760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lang="en-US" b="1" i="0" dirty="0" smtClean="0"/>
                        <a:t>Prompt</a:t>
                      </a:r>
                      <a:endParaRPr lang="en-US" sz="1000" i="0" dirty="0"/>
                    </a:p>
                  </a:txBody>
                  <a:tcPr anchor="ctr">
                    <a:noFill/>
                  </a:tcPr>
                </a:tc>
                <a:tc>
                  <a:txBody>
                    <a:bodyPr/>
                    <a:lstStyle/>
                    <a:p>
                      <a:pPr fontAlgn="auto">
                        <a:spcAft>
                          <a:spcPts val="0"/>
                        </a:spcAft>
                        <a:buFont typeface="Arial"/>
                        <a:buNone/>
                        <a:defRPr/>
                      </a:pPr>
                      <a:r>
                        <a:rPr lang="en-US" sz="1200" b="0" dirty="0" smtClean="0">
                          <a:ea typeface="+mn-ea"/>
                          <a:cs typeface="+mn-cs"/>
                        </a:rPr>
                        <a:t>Another team in your firm is already</a:t>
                      </a:r>
                      <a:r>
                        <a:rPr lang="en-US" sz="1200" b="0" baseline="0" dirty="0" smtClean="0">
                          <a:ea typeface="+mn-ea"/>
                          <a:cs typeface="+mn-cs"/>
                        </a:rPr>
                        <a:t> working on costs and expenses. Your team is focusing on MCI portfolio. </a:t>
                      </a:r>
                    </a:p>
                    <a:p>
                      <a:pPr fontAlgn="auto">
                        <a:spcAft>
                          <a:spcPts val="0"/>
                        </a:spcAft>
                        <a:buFont typeface="Arial"/>
                        <a:buNone/>
                        <a:defRPr/>
                      </a:pPr>
                      <a:endParaRPr lang="en-US" sz="1200" b="0" baseline="0" dirty="0" smtClean="0">
                        <a:ea typeface="+mn-ea"/>
                        <a:cs typeface="+mn-cs"/>
                      </a:endParaRPr>
                    </a:p>
                    <a:p>
                      <a:pPr fontAlgn="auto">
                        <a:spcAft>
                          <a:spcPts val="0"/>
                        </a:spcAft>
                        <a:buFont typeface="Arial"/>
                        <a:buNone/>
                        <a:defRPr/>
                      </a:pPr>
                      <a:r>
                        <a:rPr lang="en-US" sz="1200" b="1" dirty="0" smtClean="0">
                          <a:ea typeface="+mn-ea"/>
                          <a:cs typeface="+mn-cs"/>
                        </a:rPr>
                        <a:t>Your role is to analyze which, if any, products MCI should stop producing/selling. How would</a:t>
                      </a:r>
                      <a:r>
                        <a:rPr lang="en-US" sz="1200" b="1" baseline="0" dirty="0" smtClean="0">
                          <a:ea typeface="+mn-ea"/>
                          <a:cs typeface="+mn-cs"/>
                        </a:rPr>
                        <a:t> you do that?</a:t>
                      </a:r>
                      <a:endParaRPr lang="en-US" sz="1200" b="1" dirty="0" smtClean="0">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txBody>
                  <a:tcPr>
                    <a:noFill/>
                  </a:tcPr>
                </a:tc>
              </a:tr>
              <a:tr h="731520">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chemeClr val="bg1">
                        <a:lumMod val="75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 must consider that MCI has a portfolio of 1,000+ products.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That being said, the candidate should understand that, in the real world, it would be spreadsheet with 1,000+ lines, and columns describing the product and one of the following options: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Revenue and COGS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Price, Cost/unit and Volume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Margin and Volume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Margin and Revenue</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last one is easier to work in this case, but we will use margin vs. volume, and considering that there is no relevant difference in prices among the products. Therefore, a scatter plot is the best option. Once the candidate asks for it, show him/her the graph on the next page.</a:t>
                      </a:r>
                    </a:p>
                    <a:p>
                      <a:pPr marL="171450" marR="0" indent="-171450" algn="l" defTabSz="457200" rtl="0" eaLnBrk="1" fontAlgn="auto" latinLnBrk="0" hangingPunct="1">
                        <a:lnSpc>
                          <a:spcPct val="100000"/>
                        </a:lnSpc>
                        <a:spcBef>
                          <a:spcPts val="0"/>
                        </a:spcBef>
                        <a:spcAft>
                          <a:spcPts val="0"/>
                        </a:spcAft>
                        <a:buClrTx/>
                        <a:buSzTx/>
                        <a:buFontTx/>
                        <a:buChar char="-"/>
                        <a:tabLst/>
                        <a:defRPr/>
                      </a:pPr>
                      <a:endParaRPr lang="en-US" sz="1200" b="0" i="0" kern="1200" baseline="0" dirty="0" smtClean="0">
                        <a:solidFill>
                          <a:schemeClr val="tx1"/>
                        </a:solidFill>
                        <a:latin typeface="+mj-lt"/>
                        <a:ea typeface="+mn-ea"/>
                        <a:cs typeface="+mn-cs"/>
                      </a:endParaRPr>
                    </a:p>
                  </a:txBody>
                  <a:tcPr>
                    <a:solidFill>
                      <a:schemeClr val="bg1">
                        <a:lumMod val="75000"/>
                      </a:schemeClr>
                    </a:solidFill>
                  </a:tcPr>
                </a:tc>
              </a:tr>
            </a:tbl>
          </a:graphicData>
        </a:graphic>
      </p:graphicFrame>
      <p:pic>
        <p:nvPicPr>
          <p:cNvPr id="23568"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356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3570"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2357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8: Milk &amp; Cheese, Inc.</a:t>
            </a:r>
          </a:p>
        </p:txBody>
      </p:sp>
    </p:spTree>
    <p:extLst>
      <p:ext uri="{BB962C8B-B14F-4D97-AF65-F5344CB8AC3E}">
        <p14:creationId xmlns:p14="http://schemas.microsoft.com/office/powerpoint/2010/main" val="255907857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3"/>
          <p:cNvSpPr>
            <a:spLocks noGrp="1"/>
          </p:cNvSpPr>
          <p:nvPr>
            <p:ph type="sldNum" sz="quarter" idx="11"/>
          </p:nvPr>
        </p:nvSpPr>
        <p:spPr>
          <a:noFill/>
        </p:spPr>
        <p:txBody>
          <a:bodyPr/>
          <a:lstStyle/>
          <a:p>
            <a:fld id="{5CFEA461-09BB-444E-87DB-7813E40AEFAD}" type="slidenum">
              <a:rPr lang="en-US" smtClean="0">
                <a:ea typeface="ＭＳ Ｐゴシック" pitchFamily="34" charset="-128"/>
              </a:rPr>
              <a:pPr/>
              <a:t>64</a:t>
            </a:fld>
            <a:endParaRPr lang="en-US" smtClean="0">
              <a:ea typeface="ＭＳ Ｐゴシック" pitchFamily="34" charset="-128"/>
            </a:endParaRPr>
          </a:p>
        </p:txBody>
      </p:sp>
      <p:pic>
        <p:nvPicPr>
          <p:cNvPr id="24586" name="Picture 2"/>
          <p:cNvPicPr>
            <a:picLocks noChangeAspect="1" noChangeArrowheads="1"/>
          </p:cNvPicPr>
          <p:nvPr/>
        </p:nvPicPr>
        <p:blipFill>
          <a:blip r:embed="rId3"/>
          <a:srcRect/>
          <a:stretch>
            <a:fillRect/>
          </a:stretch>
        </p:blipFill>
        <p:spPr bwMode="auto">
          <a:xfrm>
            <a:off x="304800" y="228600"/>
            <a:ext cx="1200150" cy="635000"/>
          </a:xfrm>
          <a:prstGeom prst="rect">
            <a:avLst/>
          </a:prstGeom>
          <a:noFill/>
          <a:ln w="9525" algn="ctr">
            <a:noFill/>
            <a:miter lim="800000"/>
            <a:headEnd/>
            <a:tailEnd/>
          </a:ln>
        </p:spPr>
      </p:pic>
      <p:sp>
        <p:nvSpPr>
          <p:cNvPr id="2458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4588"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24589"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8: Milk &amp; Cheese, Inc.</a:t>
            </a:r>
          </a:p>
        </p:txBody>
      </p:sp>
      <p:graphicFrame>
        <p:nvGraphicFramePr>
          <p:cNvPr id="52" name="Content Placeholder 3"/>
          <p:cNvGraphicFramePr>
            <a:graphicFrameLocks noGrp="1"/>
          </p:cNvGraphicFramePr>
          <p:nvPr>
            <p:ph idx="1"/>
            <p:extLst>
              <p:ext uri="{D42A27DB-BD31-4B8C-83A1-F6EECF244321}">
                <p14:modId xmlns:p14="http://schemas.microsoft.com/office/powerpoint/2010/main" val="2445830118"/>
              </p:ext>
            </p:extLst>
          </p:nvPr>
        </p:nvGraphicFramePr>
        <p:xfrm>
          <a:off x="902362" y="1549400"/>
          <a:ext cx="7678821" cy="4009189"/>
        </p:xfrm>
        <a:graphic>
          <a:graphicData uri="http://schemas.openxmlformats.org/presentationml/2006/ole">
            <mc:AlternateContent xmlns:mc="http://schemas.openxmlformats.org/markup-compatibility/2006">
              <mc:Choice xmlns:v="urn:schemas-microsoft-com:vml" Requires="v">
                <p:oleObj spid="_x0000_s2278" name="Worksheet" r:id="rId4" imgW="8326448" imgH="4626482" progId="Excel.Sheet.8">
                  <p:embed/>
                </p:oleObj>
              </mc:Choice>
              <mc:Fallback>
                <p:oleObj name="Worksheet" r:id="rId4" imgW="8326448" imgH="4626482" progId="Excel.Sheet.8">
                  <p:embed/>
                  <p:pic>
                    <p:nvPicPr>
                      <p:cNvPr id="0" name=""/>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2362" y="1549400"/>
                        <a:ext cx="7678821" cy="4009189"/>
                      </a:xfrm>
                      <a:prstGeom prst="rect">
                        <a:avLst/>
                      </a:prstGeom>
                      <a:noFill/>
                      <a:extLst/>
                    </p:spPr>
                  </p:pic>
                </p:oleObj>
              </mc:Fallback>
            </mc:AlternateContent>
          </a:graphicData>
        </a:graphic>
      </p:graphicFrame>
    </p:spTree>
    <p:extLst>
      <p:ext uri="{BB962C8B-B14F-4D97-AF65-F5344CB8AC3E}">
        <p14:creationId xmlns:p14="http://schemas.microsoft.com/office/powerpoint/2010/main" val="393448451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3"/>
          <p:cNvSpPr>
            <a:spLocks noGrp="1"/>
          </p:cNvSpPr>
          <p:nvPr>
            <p:ph type="sldNum" sz="quarter" idx="11"/>
          </p:nvPr>
        </p:nvSpPr>
        <p:spPr>
          <a:noFill/>
        </p:spPr>
        <p:txBody>
          <a:bodyPr/>
          <a:lstStyle/>
          <a:p>
            <a:fld id="{5CFEA461-09BB-444E-87DB-7813E40AEFAD}" type="slidenum">
              <a:rPr lang="en-US" smtClean="0">
                <a:ea typeface="ＭＳ Ｐゴシック" pitchFamily="34" charset="-128"/>
              </a:rPr>
              <a:pPr/>
              <a:t>65</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070058327"/>
              </p:ext>
            </p:extLst>
          </p:nvPr>
        </p:nvGraphicFramePr>
        <p:xfrm>
          <a:off x="304800" y="1295400"/>
          <a:ext cx="8686800" cy="1554480"/>
        </p:xfrm>
        <a:graphic>
          <a:graphicData uri="http://schemas.openxmlformats.org/drawingml/2006/table">
            <a:tbl>
              <a:tblPr/>
              <a:tblGrid>
                <a:gridCol w="1447800"/>
                <a:gridCol w="7239000"/>
              </a:tblGrid>
              <a:tr h="53340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000000"/>
                          </a:solidFill>
                          <a:effectLst/>
                          <a:latin typeface="Arial" charset="0"/>
                          <a:ea typeface="ＭＳ Ｐゴシック" pitchFamily="34" charset="-128"/>
                        </a:rPr>
                        <a:t>Guidance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If the candidate asks, provide the following information:</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SG&amp;A is not affected by the potential changes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Average volume is 35k tons</a:t>
                      </a:r>
                    </a:p>
                    <a:p>
                      <a:pPr marL="171450" marR="0" lvl="0" indent="-171450" algn="l" defTabSz="4572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Average Margin is 16%</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Arial" charset="0"/>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The candidate must do his/her own graphs: Pareto (80/20) or dividing the prior graph in four squares, using the averages as axis. If the candidate does not realize it, show him/her the next page.</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1" i="1" u="none" strike="noStrike" cap="none" normalizeH="0" baseline="0" dirty="0" smtClean="0">
                        <a:ln>
                          <a:noFill/>
                        </a:ln>
                        <a:solidFill>
                          <a:schemeClr val="tx1"/>
                        </a:solidFill>
                        <a:effectLst/>
                        <a:latin typeface="Arial"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pic>
        <p:nvPicPr>
          <p:cNvPr id="2458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2458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4588"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24589"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8: Milk &amp; Cheese, Inc.</a:t>
            </a:r>
          </a:p>
        </p:txBody>
      </p:sp>
    </p:spTree>
    <p:extLst>
      <p:ext uri="{BB962C8B-B14F-4D97-AF65-F5344CB8AC3E}">
        <p14:creationId xmlns:p14="http://schemas.microsoft.com/office/powerpoint/2010/main" val="132048801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3"/>
          <p:cNvSpPr>
            <a:spLocks noGrp="1"/>
          </p:cNvSpPr>
          <p:nvPr>
            <p:ph type="sldNum" sz="quarter" idx="11"/>
          </p:nvPr>
        </p:nvSpPr>
        <p:spPr>
          <a:xfrm>
            <a:off x="8513016" y="6428878"/>
            <a:ext cx="381000" cy="228600"/>
          </a:xfrm>
          <a:noFill/>
        </p:spPr>
        <p:txBody>
          <a:bodyPr/>
          <a:lstStyle/>
          <a:p>
            <a:fld id="{5CFEA461-09BB-444E-87DB-7813E40AEFAD}" type="slidenum">
              <a:rPr lang="en-US" smtClean="0">
                <a:ea typeface="ＭＳ Ｐゴシック" pitchFamily="34" charset="-128"/>
              </a:rPr>
              <a:pPr/>
              <a:t>66</a:t>
            </a:fld>
            <a:endParaRPr lang="en-US" dirty="0" smtClean="0">
              <a:ea typeface="ＭＳ Ｐゴシック" pitchFamily="34" charset="-128"/>
            </a:endParaRPr>
          </a:p>
        </p:txBody>
      </p:sp>
      <p:pic>
        <p:nvPicPr>
          <p:cNvPr id="24586" name="Picture 2"/>
          <p:cNvPicPr>
            <a:picLocks noChangeAspect="1" noChangeArrowheads="1"/>
          </p:cNvPicPr>
          <p:nvPr/>
        </p:nvPicPr>
        <p:blipFill>
          <a:blip r:embed="rId3"/>
          <a:srcRect/>
          <a:stretch>
            <a:fillRect/>
          </a:stretch>
        </p:blipFill>
        <p:spPr bwMode="auto">
          <a:xfrm>
            <a:off x="304800" y="228600"/>
            <a:ext cx="1200150" cy="635000"/>
          </a:xfrm>
          <a:prstGeom prst="rect">
            <a:avLst/>
          </a:prstGeom>
          <a:noFill/>
          <a:ln w="9525" algn="ctr">
            <a:noFill/>
            <a:miter lim="800000"/>
            <a:headEnd/>
            <a:tailEnd/>
          </a:ln>
        </p:spPr>
      </p:pic>
      <p:sp>
        <p:nvSpPr>
          <p:cNvPr id="2458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24588"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24589"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8: Milk &amp; Cheese, Inc.</a:t>
            </a:r>
          </a:p>
        </p:txBody>
      </p:sp>
      <p:cxnSp>
        <p:nvCxnSpPr>
          <p:cNvPr id="8" name="Straight Connector 7"/>
          <p:cNvCxnSpPr/>
          <p:nvPr/>
        </p:nvCxnSpPr>
        <p:spPr>
          <a:xfrm>
            <a:off x="1085792" y="4375866"/>
            <a:ext cx="2786380" cy="0"/>
          </a:xfrm>
          <a:prstGeom prst="line">
            <a:avLst/>
          </a:prstGeom>
          <a:ln>
            <a:tailEnd type="triangle" w="lg"/>
          </a:ln>
        </p:spPr>
        <p:style>
          <a:lnRef idx="2">
            <a:schemeClr val="dk1"/>
          </a:lnRef>
          <a:fillRef idx="0">
            <a:schemeClr val="dk1"/>
          </a:fillRef>
          <a:effectRef idx="1">
            <a:schemeClr val="dk1"/>
          </a:effectRef>
          <a:fontRef idx="minor">
            <a:schemeClr val="tx1"/>
          </a:fontRef>
        </p:style>
      </p:cxnSp>
      <p:cxnSp>
        <p:nvCxnSpPr>
          <p:cNvPr id="3" name="Straight Arrow Connector 2"/>
          <p:cNvCxnSpPr/>
          <p:nvPr/>
        </p:nvCxnSpPr>
        <p:spPr>
          <a:xfrm flipV="1">
            <a:off x="1085792" y="2453086"/>
            <a:ext cx="0" cy="192278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Curved Connector 11"/>
          <p:cNvCxnSpPr/>
          <p:nvPr/>
        </p:nvCxnSpPr>
        <p:spPr>
          <a:xfrm rot="10800000" flipV="1">
            <a:off x="1085792" y="2732486"/>
            <a:ext cx="2425700" cy="1643380"/>
          </a:xfrm>
          <a:prstGeom prst="curvedConnector3">
            <a:avLst>
              <a:gd name="adj1" fmla="val 87172"/>
            </a:avLst>
          </a:prstGeom>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a:off x="1746192" y="2453086"/>
            <a:ext cx="0" cy="1922780"/>
          </a:xfrm>
          <a:prstGeom prst="line">
            <a:avLst/>
          </a:prstGeom>
        </p:spPr>
        <p:style>
          <a:lnRef idx="1">
            <a:schemeClr val="dk1"/>
          </a:lnRef>
          <a:fillRef idx="0">
            <a:schemeClr val="dk1"/>
          </a:fillRef>
          <a:effectRef idx="0">
            <a:schemeClr val="dk1"/>
          </a:effectRef>
          <a:fontRef idx="minor">
            <a:schemeClr val="tx1"/>
          </a:fontRef>
        </p:style>
      </p:cxnSp>
      <p:sp>
        <p:nvSpPr>
          <p:cNvPr id="24576" name="TextBox 24575"/>
          <p:cNvSpPr txBox="1"/>
          <p:nvPr/>
        </p:nvSpPr>
        <p:spPr>
          <a:xfrm>
            <a:off x="529624" y="2980066"/>
            <a:ext cx="492668" cy="276999"/>
          </a:xfrm>
          <a:prstGeom prst="rect">
            <a:avLst/>
          </a:prstGeom>
          <a:noFill/>
        </p:spPr>
        <p:txBody>
          <a:bodyPr wrap="none" rtlCol="0">
            <a:spAutoFit/>
          </a:bodyPr>
          <a:lstStyle/>
          <a:p>
            <a:r>
              <a:rPr lang="en-US" sz="1200" dirty="0" smtClean="0"/>
              <a:t>80%</a:t>
            </a:r>
            <a:endParaRPr lang="en-US" sz="1200" dirty="0"/>
          </a:p>
        </p:txBody>
      </p:sp>
      <p:sp>
        <p:nvSpPr>
          <p:cNvPr id="38" name="TextBox 37"/>
          <p:cNvSpPr txBox="1"/>
          <p:nvPr/>
        </p:nvSpPr>
        <p:spPr>
          <a:xfrm>
            <a:off x="1499858" y="4478666"/>
            <a:ext cx="492668" cy="276999"/>
          </a:xfrm>
          <a:prstGeom prst="rect">
            <a:avLst/>
          </a:prstGeom>
          <a:noFill/>
        </p:spPr>
        <p:txBody>
          <a:bodyPr wrap="none" rtlCol="0">
            <a:spAutoFit/>
          </a:bodyPr>
          <a:lstStyle/>
          <a:p>
            <a:r>
              <a:rPr lang="en-US" sz="1200" dirty="0" smtClean="0"/>
              <a:t>20%</a:t>
            </a:r>
            <a:endParaRPr lang="en-US" sz="1200" dirty="0"/>
          </a:p>
        </p:txBody>
      </p:sp>
      <p:sp>
        <p:nvSpPr>
          <p:cNvPr id="24578" name="TextBox 24577"/>
          <p:cNvSpPr txBox="1"/>
          <p:nvPr/>
        </p:nvSpPr>
        <p:spPr>
          <a:xfrm>
            <a:off x="2978092" y="4478666"/>
            <a:ext cx="894080" cy="307777"/>
          </a:xfrm>
          <a:prstGeom prst="rect">
            <a:avLst/>
          </a:prstGeom>
          <a:noFill/>
        </p:spPr>
        <p:txBody>
          <a:bodyPr wrap="square" rtlCol="0">
            <a:spAutoFit/>
          </a:bodyPr>
          <a:lstStyle/>
          <a:p>
            <a:r>
              <a:rPr lang="en-US" sz="1400" dirty="0" smtClean="0"/>
              <a:t>Products</a:t>
            </a:r>
            <a:endParaRPr lang="en-US" sz="1400" dirty="0"/>
          </a:p>
        </p:txBody>
      </p:sp>
      <p:sp>
        <p:nvSpPr>
          <p:cNvPr id="40" name="TextBox 39"/>
          <p:cNvSpPr txBox="1"/>
          <p:nvPr/>
        </p:nvSpPr>
        <p:spPr>
          <a:xfrm>
            <a:off x="463492" y="2472066"/>
            <a:ext cx="894080" cy="415498"/>
          </a:xfrm>
          <a:prstGeom prst="rect">
            <a:avLst/>
          </a:prstGeom>
          <a:noFill/>
        </p:spPr>
        <p:txBody>
          <a:bodyPr wrap="square" rtlCol="0">
            <a:spAutoFit/>
          </a:bodyPr>
          <a:lstStyle/>
          <a:p>
            <a:r>
              <a:rPr lang="en-US" sz="1400" dirty="0" smtClean="0"/>
              <a:t>Profit</a:t>
            </a:r>
          </a:p>
          <a:p>
            <a:r>
              <a:rPr lang="en-US" sz="700" dirty="0" smtClean="0"/>
              <a:t>(Cumulative)</a:t>
            </a:r>
            <a:endParaRPr lang="en-US" sz="700" dirty="0"/>
          </a:p>
        </p:txBody>
      </p:sp>
      <p:graphicFrame>
        <p:nvGraphicFramePr>
          <p:cNvPr id="41" name="Content Placeholder 3"/>
          <p:cNvGraphicFramePr>
            <a:graphicFrameLocks noGrp="1"/>
          </p:cNvGraphicFramePr>
          <p:nvPr>
            <p:ph idx="1"/>
            <p:extLst>
              <p:ext uri="{D42A27DB-BD31-4B8C-83A1-F6EECF244321}">
                <p14:modId xmlns:p14="http://schemas.microsoft.com/office/powerpoint/2010/main" val="1471175647"/>
              </p:ext>
            </p:extLst>
          </p:nvPr>
        </p:nvGraphicFramePr>
        <p:xfrm>
          <a:off x="4234444" y="1911646"/>
          <a:ext cx="4305300" cy="2938463"/>
        </p:xfrm>
        <a:graphic>
          <a:graphicData uri="http://schemas.openxmlformats.org/presentationml/2006/ole">
            <mc:AlternateContent xmlns:mc="http://schemas.openxmlformats.org/markup-compatibility/2006">
              <mc:Choice xmlns:v="urn:schemas-microsoft-com:vml" Requires="v">
                <p:oleObj spid="_x0000_s3302" name="Worksheet" r:id="rId4" imgW="8326448" imgH="4626482" progId="Excel.Sheet.8">
                  <p:embed/>
                </p:oleObj>
              </mc:Choice>
              <mc:Fallback>
                <p:oleObj name="Worksheet" r:id="rId4" imgW="8326448" imgH="4626482" progId="Excel.Sheet.8">
                  <p:embed/>
                  <p:pic>
                    <p:nvPicPr>
                      <p:cNvPr id="0" name=""/>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4444" y="1911646"/>
                        <a:ext cx="4305300" cy="2938463"/>
                      </a:xfrm>
                      <a:prstGeom prst="rect">
                        <a:avLst/>
                      </a:prstGeom>
                      <a:noFill/>
                    </p:spPr>
                  </p:pic>
                </p:oleObj>
              </mc:Fallback>
            </mc:AlternateContent>
          </a:graphicData>
        </a:graphic>
      </p:graphicFrame>
      <p:cxnSp>
        <p:nvCxnSpPr>
          <p:cNvPr id="42" name="Straight Connector 41"/>
          <p:cNvCxnSpPr/>
          <p:nvPr/>
        </p:nvCxnSpPr>
        <p:spPr>
          <a:xfrm>
            <a:off x="6654800" y="2540902"/>
            <a:ext cx="0" cy="2183200"/>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a:off x="4660900" y="3982422"/>
            <a:ext cx="3797300" cy="0"/>
          </a:xfrm>
          <a:prstGeom prst="line">
            <a:avLst/>
          </a:prstGeom>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222332" y="2835679"/>
            <a:ext cx="300082" cy="276999"/>
          </a:xfrm>
          <a:prstGeom prst="rect">
            <a:avLst/>
          </a:prstGeom>
          <a:noFill/>
        </p:spPr>
        <p:txBody>
          <a:bodyPr wrap="none" rtlCol="0">
            <a:spAutoFit/>
          </a:bodyPr>
          <a:lstStyle/>
          <a:p>
            <a:r>
              <a:rPr lang="en-US" sz="1200" dirty="0" smtClean="0"/>
              <a:t>A</a:t>
            </a:r>
            <a:endParaRPr lang="en-US" sz="1200" dirty="0"/>
          </a:p>
        </p:txBody>
      </p:sp>
      <p:sp>
        <p:nvSpPr>
          <p:cNvPr id="48" name="TextBox 47"/>
          <p:cNvSpPr txBox="1"/>
          <p:nvPr/>
        </p:nvSpPr>
        <p:spPr>
          <a:xfrm>
            <a:off x="7424466" y="2817900"/>
            <a:ext cx="287308" cy="276999"/>
          </a:xfrm>
          <a:prstGeom prst="rect">
            <a:avLst/>
          </a:prstGeom>
          <a:noFill/>
        </p:spPr>
        <p:txBody>
          <a:bodyPr wrap="none" rtlCol="0">
            <a:spAutoFit/>
          </a:bodyPr>
          <a:lstStyle/>
          <a:p>
            <a:r>
              <a:rPr lang="en-US" sz="1200" dirty="0" smtClean="0"/>
              <a:t>B</a:t>
            </a:r>
            <a:endParaRPr lang="en-US" sz="1200" dirty="0"/>
          </a:p>
        </p:txBody>
      </p:sp>
      <p:sp>
        <p:nvSpPr>
          <p:cNvPr id="49" name="TextBox 48"/>
          <p:cNvSpPr txBox="1"/>
          <p:nvPr/>
        </p:nvSpPr>
        <p:spPr>
          <a:xfrm>
            <a:off x="5222332" y="4302459"/>
            <a:ext cx="295799" cy="276999"/>
          </a:xfrm>
          <a:prstGeom prst="rect">
            <a:avLst/>
          </a:prstGeom>
          <a:noFill/>
        </p:spPr>
        <p:txBody>
          <a:bodyPr wrap="none" rtlCol="0">
            <a:spAutoFit/>
          </a:bodyPr>
          <a:lstStyle/>
          <a:p>
            <a:r>
              <a:rPr lang="en-US" sz="1200" dirty="0" smtClean="0"/>
              <a:t>D</a:t>
            </a:r>
            <a:endParaRPr lang="en-US" sz="1200" dirty="0"/>
          </a:p>
        </p:txBody>
      </p:sp>
      <p:sp>
        <p:nvSpPr>
          <p:cNvPr id="50" name="TextBox 49"/>
          <p:cNvSpPr txBox="1"/>
          <p:nvPr/>
        </p:nvSpPr>
        <p:spPr>
          <a:xfrm>
            <a:off x="7424466" y="4409002"/>
            <a:ext cx="295799" cy="276999"/>
          </a:xfrm>
          <a:prstGeom prst="rect">
            <a:avLst/>
          </a:prstGeom>
          <a:noFill/>
        </p:spPr>
        <p:txBody>
          <a:bodyPr wrap="none" rtlCol="0">
            <a:spAutoFit/>
          </a:bodyPr>
          <a:lstStyle/>
          <a:p>
            <a:r>
              <a:rPr lang="en-US" sz="1200" dirty="0" smtClean="0"/>
              <a:t>C</a:t>
            </a:r>
            <a:endParaRPr lang="en-US" sz="1200" dirty="0"/>
          </a:p>
        </p:txBody>
      </p:sp>
      <p:sp>
        <p:nvSpPr>
          <p:cNvPr id="23" name="TextBox 22"/>
          <p:cNvSpPr txBox="1"/>
          <p:nvPr/>
        </p:nvSpPr>
        <p:spPr>
          <a:xfrm>
            <a:off x="1349817" y="2703067"/>
            <a:ext cx="227421" cy="276999"/>
          </a:xfrm>
          <a:prstGeom prst="rect">
            <a:avLst/>
          </a:prstGeom>
          <a:noFill/>
        </p:spPr>
        <p:txBody>
          <a:bodyPr wrap="none" rtlCol="0">
            <a:spAutoFit/>
          </a:bodyPr>
          <a:lstStyle/>
          <a:p>
            <a:r>
              <a:rPr lang="en-US" sz="1200" dirty="0"/>
              <a:t>I</a:t>
            </a:r>
          </a:p>
        </p:txBody>
      </p:sp>
      <p:sp>
        <p:nvSpPr>
          <p:cNvPr id="24" name="TextBox 23"/>
          <p:cNvSpPr txBox="1"/>
          <p:nvPr/>
        </p:nvSpPr>
        <p:spPr>
          <a:xfrm>
            <a:off x="2667942" y="2980066"/>
            <a:ext cx="270176" cy="276999"/>
          </a:xfrm>
          <a:prstGeom prst="rect">
            <a:avLst/>
          </a:prstGeom>
          <a:noFill/>
        </p:spPr>
        <p:txBody>
          <a:bodyPr wrap="none" rtlCol="0">
            <a:spAutoFit/>
          </a:bodyPr>
          <a:lstStyle/>
          <a:p>
            <a:r>
              <a:rPr lang="en-US" sz="1200" dirty="0" smtClean="0"/>
              <a:t>II</a:t>
            </a:r>
            <a:endParaRPr lang="en-US" sz="1200" dirty="0"/>
          </a:p>
        </p:txBody>
      </p:sp>
    </p:spTree>
    <p:extLst>
      <p:ext uri="{BB962C8B-B14F-4D97-AF65-F5344CB8AC3E}">
        <p14:creationId xmlns:p14="http://schemas.microsoft.com/office/powerpoint/2010/main" val="289699330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Slide Number Placeholder 3"/>
          <p:cNvSpPr>
            <a:spLocks noGrp="1"/>
          </p:cNvSpPr>
          <p:nvPr>
            <p:ph type="sldNum" sz="quarter" idx="11"/>
          </p:nvPr>
        </p:nvSpPr>
        <p:spPr>
          <a:noFill/>
        </p:spPr>
        <p:txBody>
          <a:bodyPr/>
          <a:lstStyle/>
          <a:p>
            <a:fld id="{93F3D20E-FB64-4431-94E8-199B75440B96}" type="slidenum">
              <a:rPr lang="en-US" smtClean="0">
                <a:ea typeface="ＭＳ Ｐゴシック" pitchFamily="34" charset="-128"/>
              </a:rPr>
              <a:pPr/>
              <a:t>67</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307366614"/>
              </p:ext>
            </p:extLst>
          </p:nvPr>
        </p:nvGraphicFramePr>
        <p:xfrm>
          <a:off x="304800" y="1295400"/>
          <a:ext cx="8686800" cy="204216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In the first graph, the idea is “all the products in the category I is important for the company. The problematic products will be in the category II”. There are ~200 products in category II.</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Arial" charset="0"/>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In the second graph, consider that there are at least 200 products in each zone. The idea is: “the products in the zone D should be considered our targets to be no longer in MCI portfolio”.</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Arial" charset="0"/>
                        <a:ea typeface="ＭＳ Ｐゴシック" pitchFamily="34" charset="-128"/>
                      </a:endParaRPr>
                    </a:p>
                    <a:p>
                      <a:pPr marL="0" marR="0" lvl="0" indent="0" algn="l" defTabSz="457200" rtl="0" eaLnBrk="1" fontAlgn="base" latinLnBrk="0" hangingPunct="1">
                        <a:lnSpc>
                          <a:spcPct val="100000"/>
                        </a:lnSpc>
                        <a:spcBef>
                          <a:spcPct val="0"/>
                        </a:spcBef>
                        <a:spcAft>
                          <a:spcPct val="0"/>
                        </a:spcAft>
                        <a:buClrTx/>
                        <a:buSzTx/>
                        <a:buFontTx/>
                        <a:buNone/>
                        <a:tabLst/>
                        <a:defRPr/>
                      </a:pPr>
                      <a:r>
                        <a:rPr lang="en-US" sz="1200" b="0" i="0" kern="1200" baseline="0" dirty="0" smtClean="0">
                          <a:solidFill>
                            <a:schemeClr val="tx1"/>
                          </a:solidFill>
                          <a:latin typeface="+mn-lt"/>
                          <a:ea typeface="+mn-ea"/>
                          <a:cs typeface="+mn-cs"/>
                        </a:rPr>
                        <a:t>Finally the candidate should arrive at a conclusion along the lines of: “Based on our analysis, there are at least 200 products that are not bringing relevant contribution to MCI profit. MCI should consider selling these products to minor competitors or simply stop its production, if selling these products to competitors represents a major risk.”</a:t>
                      </a:r>
                    </a:p>
                    <a:p>
                      <a:pPr marL="0" marR="0" lvl="0" indent="0" algn="l" defTabSz="457200" rtl="0" eaLnBrk="1" fontAlgn="base" latinLnBrk="0" hangingPunct="1">
                        <a:lnSpc>
                          <a:spcPct val="100000"/>
                        </a:lnSpc>
                        <a:spcBef>
                          <a:spcPct val="0"/>
                        </a:spcBef>
                        <a:spcAft>
                          <a:spcPct val="0"/>
                        </a:spcAft>
                        <a:buClrTx/>
                        <a:buSzTx/>
                        <a:buFontTx/>
                        <a:buNone/>
                        <a:tabLst/>
                        <a:defRPr/>
                      </a:pPr>
                      <a:endParaRPr lang="en-US" sz="1200" b="0" i="0" kern="1200" baseline="30000" dirty="0" smtClean="0">
                        <a:solidFill>
                          <a:schemeClr val="tx1"/>
                        </a:solidFill>
                        <a:latin typeface="+mj-lt"/>
                        <a:ea typeface="+mn-ea"/>
                        <a:cs typeface="+mn-cs"/>
                      </a:endParaRPr>
                    </a:p>
                  </a:txBody>
                  <a:tcPr>
                    <a:solidFill>
                      <a:schemeClr val="accent1"/>
                    </a:solidFill>
                  </a:tcPr>
                </a:tc>
              </a:tr>
            </a:tbl>
          </a:graphicData>
        </a:graphic>
      </p:graphicFrame>
      <p:pic>
        <p:nvPicPr>
          <p:cNvPr id="1069"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1070"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1071"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1072"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8: Milk &amp; Cheese, Inc.</a:t>
            </a:r>
          </a:p>
        </p:txBody>
      </p:sp>
    </p:spTree>
    <p:extLst>
      <p:ext uri="{BB962C8B-B14F-4D97-AF65-F5344CB8AC3E}">
        <p14:creationId xmlns:p14="http://schemas.microsoft.com/office/powerpoint/2010/main" val="171198929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3"/>
          <p:cNvSpPr>
            <a:spLocks noGrp="1"/>
          </p:cNvSpPr>
          <p:nvPr>
            <p:ph type="sldNum" sz="quarter" idx="11"/>
          </p:nvPr>
        </p:nvSpPr>
        <p:spPr>
          <a:noFill/>
        </p:spPr>
        <p:txBody>
          <a:bodyPr/>
          <a:lstStyle/>
          <a:p>
            <a:fld id="{480FAD2D-8BAF-4C6F-B2BF-0D70D81C5B62}" type="slidenum">
              <a:rPr lang="en-US" smtClean="0">
                <a:ea typeface="ＭＳ Ｐゴシック" pitchFamily="34" charset="-128"/>
              </a:rPr>
              <a:pPr/>
              <a:t>68</a:t>
            </a:fld>
            <a:endParaRPr lang="en-US" smtClean="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925857433"/>
              </p:ext>
            </p:extLst>
          </p:nvPr>
        </p:nvGraphicFramePr>
        <p:xfrm>
          <a:off x="304800" y="1371600"/>
          <a:ext cx="8534400" cy="3383280"/>
        </p:xfrm>
        <a:graphic>
          <a:graphicData uri="http://schemas.openxmlformats.org/drawingml/2006/table">
            <a:tbl>
              <a:tblPr/>
              <a:tblGrid>
                <a:gridCol w="1600200"/>
                <a:gridCol w="6934200"/>
              </a:tblGrid>
              <a:tr h="731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ea typeface="ＭＳ Ｐゴシック" pitchFamily="34" charset="-128"/>
                        </a:rPr>
                        <a:t>Performance Evaluation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charset="0"/>
                          <a:ea typeface="ＭＳ Ｐゴシック" pitchFamily="34" charset="-128"/>
                        </a:rPr>
                        <a:t>Expected:</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Structures a sound profitability framework</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Figures out the graph analysis is the best method</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Suggests the scatter plot or the 80/20 chart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Arial" charset="0"/>
                        <a:ea typeface="ＭＳ Ｐゴシック"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charset="0"/>
                          <a:ea typeface="ＭＳ Ｐゴシック" pitchFamily="34" charset="-128"/>
                        </a:rPr>
                        <a:t>Good:</a:t>
                      </a:r>
                      <a:endParaRPr kumimoji="0" lang="en-US" sz="1200" b="0" i="0" u="none" strike="noStrike" cap="none" normalizeH="0" baseline="0" dirty="0" smtClean="0">
                        <a:ln>
                          <a:noFill/>
                        </a:ln>
                        <a:solidFill>
                          <a:schemeClr val="tx1"/>
                        </a:solidFill>
                        <a:effectLst/>
                        <a:latin typeface="Arial" charset="0"/>
                        <a:ea typeface="ＭＳ Ｐゴシック" pitchFamily="34" charset="-128"/>
                      </a:endParaRP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Complete all “Expected” requirements</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Suggests both analyses methods</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Quickly asks for information to understand the goals of the company (desired/undesired margins)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Arial" charset="0"/>
                        <a:ea typeface="ＭＳ Ｐゴシック"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charset="0"/>
                          <a:ea typeface="ＭＳ Ｐゴシック" pitchFamily="34" charset="-128"/>
                        </a:rPr>
                        <a:t>Excellent:</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ea typeface="ＭＳ Ｐゴシック" pitchFamily="34" charset="-128"/>
                        </a:rPr>
                        <a:t>Complete all “Good” requirements</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ea typeface="ＭＳ Ｐゴシック" pitchFamily="34" charset="-128"/>
                        </a:rPr>
                        <a:t>Suggests more than one alternative to deal with the problematic products (stopping, selling, empowering, analyzing potential growth, etc.)</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200" b="0" i="0" u="none" strike="noStrike" cap="none" normalizeH="0" baseline="0" dirty="0" smtClean="0">
                          <a:ln>
                            <a:noFill/>
                          </a:ln>
                          <a:solidFill>
                            <a:schemeClr val="tx1"/>
                          </a:solidFill>
                          <a:effectLst/>
                          <a:latin typeface="Arial" charset="0"/>
                          <a:ea typeface="ＭＳ Ｐゴシック" pitchFamily="34" charset="-128"/>
                        </a:rPr>
                        <a:t>Analyzes risks of suggested solutions (e.g., selling to major or minor competitors may jeopardize MCI businesses)</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Could solve the case without much help from the interviewer</a:t>
                      </a:r>
                    </a:p>
                    <a:p>
                      <a:pPr marL="0" marR="0" lvl="0" indent="0" algn="l" defTabSz="914400" rtl="0" eaLnBrk="1" fontAlgn="base" latinLnBrk="0" hangingPunct="1">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Arial"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3073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0731"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a:t>
            </a:r>
            <a:endParaRPr lang="en-US" sz="1400" i="1" dirty="0"/>
          </a:p>
        </p:txBody>
      </p:sp>
      <p:sp>
        <p:nvSpPr>
          <p:cNvPr id="30732"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30733"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8: Milk &amp; Cheese, Inc.</a:t>
            </a:r>
          </a:p>
        </p:txBody>
      </p:sp>
    </p:spTree>
    <p:extLst>
      <p:ext uri="{BB962C8B-B14F-4D97-AF65-F5344CB8AC3E}">
        <p14:creationId xmlns:p14="http://schemas.microsoft.com/office/powerpoint/2010/main" val="13285583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69</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9: American Airlines</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28698441"/>
              </p:ext>
            </p:extLst>
          </p:nvPr>
        </p:nvGraphicFramePr>
        <p:xfrm>
          <a:off x="304800" y="1381125"/>
          <a:ext cx="8534400" cy="292608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As a part of its recovery plan, American Airlines (AA) has</a:t>
                      </a:r>
                      <a:r>
                        <a:rPr lang="en-US" sz="1200" b="0" i="0" kern="1200" baseline="0" dirty="0" smtClean="0">
                          <a:solidFill>
                            <a:schemeClr val="tx1"/>
                          </a:solidFill>
                          <a:latin typeface="+mj-lt"/>
                          <a:ea typeface="+mn-ea"/>
                          <a:cs typeface="+mn-cs"/>
                        </a:rPr>
                        <a:t> asked your firm</a:t>
                      </a:r>
                      <a:r>
                        <a:rPr lang="en-US" sz="1200" b="0" i="0" kern="1200" dirty="0" smtClean="0">
                          <a:solidFill>
                            <a:schemeClr val="tx1"/>
                          </a:solidFill>
                          <a:latin typeface="+mj-lt"/>
                          <a:ea typeface="+mn-ea"/>
                          <a:cs typeface="+mn-cs"/>
                        </a:rPr>
                        <a:t> to propose a plan to increase the number</a:t>
                      </a:r>
                      <a:r>
                        <a:rPr lang="en-US" sz="1200" b="0" i="0" kern="1200" baseline="0" dirty="0" smtClean="0">
                          <a:solidFill>
                            <a:schemeClr val="tx1"/>
                          </a:solidFill>
                          <a:latin typeface="+mj-lt"/>
                          <a:ea typeface="+mn-ea"/>
                          <a:cs typeface="+mn-cs"/>
                        </a:rPr>
                        <a:t> of passengers per flight. </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How would you approach figuring out the bottom line of increasing one passenger per aircraft in their domestic flights?</a:t>
                      </a:r>
                    </a:p>
                    <a:p>
                      <a:endParaRPr lang="en-US" sz="1200" b="0" i="0"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This case has a lot of calculations and information that may mislead the candidate. This information is included on purpose and the candidate should know what he/she have to use and what can be ignored.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The goal here is to calculate the additional</a:t>
                      </a:r>
                      <a:r>
                        <a:rPr lang="en-US" sz="1200" b="0" i="0" kern="1200" baseline="0" dirty="0" smtClean="0">
                          <a:solidFill>
                            <a:schemeClr val="tx1"/>
                          </a:solidFill>
                          <a:latin typeface="+mn-lt"/>
                          <a:ea typeface="+mn-ea"/>
                          <a:cs typeface="+mn-cs"/>
                        </a:rPr>
                        <a:t> profit of adding one passenger per flight (domestic flights only). After the candidate presents the framework and ask questions about cost and fares, provide Exhibit 1. If you want to make this case harder, do not provide the exhibit. Give the exhibit’s information upon request.</a:t>
                      </a:r>
                      <a:endParaRPr lang="en-US" sz="1200" b="0" i="1"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70</a:t>
            </a:fld>
            <a:endParaRPr lang="en-US" dirty="0"/>
          </a:p>
        </p:txBody>
      </p:sp>
    </p:spTree>
    <p:extLst>
      <p:ext uri="{BB962C8B-B14F-4D97-AF65-F5344CB8AC3E}">
        <p14:creationId xmlns:p14="http://schemas.microsoft.com/office/powerpoint/2010/main" val="121296859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9: American Airlines</a:t>
            </a:r>
          </a:p>
        </p:txBody>
      </p:sp>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71</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665750864"/>
              </p:ext>
            </p:extLst>
          </p:nvPr>
        </p:nvGraphicFramePr>
        <p:xfrm>
          <a:off x="304800" y="2100580"/>
          <a:ext cx="7607300" cy="1356360"/>
        </p:xfrm>
        <a:graphic>
          <a:graphicData uri="http://schemas.openxmlformats.org/drawingml/2006/table">
            <a:tbl>
              <a:tblPr>
                <a:tableStyleId>{5940675A-B579-460E-94D1-54222C63F5DA}</a:tableStyleId>
              </a:tblPr>
              <a:tblGrid>
                <a:gridCol w="2800975"/>
                <a:gridCol w="1230384"/>
                <a:gridCol w="1351855"/>
                <a:gridCol w="1273243"/>
                <a:gridCol w="950843"/>
              </a:tblGrid>
              <a:tr h="177800">
                <a:tc>
                  <a:txBody>
                    <a:bodyPr/>
                    <a:lstStyle/>
                    <a:p>
                      <a:pPr algn="l" fontAlgn="b"/>
                      <a:r>
                        <a:rPr lang="en-US" sz="1200" b="1" u="none" strike="noStrike" dirty="0" smtClean="0">
                          <a:effectLst/>
                        </a:rPr>
                        <a:t>Aircraft Model</a:t>
                      </a:r>
                      <a:endParaRPr lang="en-US" sz="1200" b="1" i="0" u="none" strike="noStrike" dirty="0">
                        <a:solidFill>
                          <a:srgbClr val="000000"/>
                        </a:solidFill>
                        <a:effectLst/>
                        <a:latin typeface="Calibri"/>
                      </a:endParaRPr>
                    </a:p>
                  </a:txBody>
                  <a:tcPr marL="12700" marR="12700" marT="12700" marB="0" anchor="ctr"/>
                </a:tc>
                <a:tc>
                  <a:txBody>
                    <a:bodyPr/>
                    <a:lstStyle/>
                    <a:p>
                      <a:pPr algn="ctr" fontAlgn="b"/>
                      <a:r>
                        <a:rPr lang="en-US" sz="1200" b="1" u="none" strike="noStrike" dirty="0" smtClean="0">
                          <a:effectLst/>
                        </a:rPr>
                        <a:t># of aircrafts</a:t>
                      </a:r>
                      <a:endParaRPr lang="en-US" sz="1200" b="1" i="0" u="none" strike="noStrike" dirty="0">
                        <a:solidFill>
                          <a:srgbClr val="000000"/>
                        </a:solidFill>
                        <a:effectLst/>
                        <a:latin typeface="Calibri"/>
                      </a:endParaRPr>
                    </a:p>
                  </a:txBody>
                  <a:tcPr marL="12700" marR="12700" marT="12700" marB="0" anchor="ctr"/>
                </a:tc>
                <a:tc>
                  <a:txBody>
                    <a:bodyPr/>
                    <a:lstStyle/>
                    <a:p>
                      <a:pPr algn="ctr" fontAlgn="b"/>
                      <a:r>
                        <a:rPr lang="en-US" sz="1200" b="1" u="none" strike="noStrike" dirty="0" smtClean="0">
                          <a:effectLst/>
                        </a:rPr>
                        <a:t>Capacity </a:t>
                      </a:r>
                    </a:p>
                    <a:p>
                      <a:pPr algn="ctr" fontAlgn="b"/>
                      <a:r>
                        <a:rPr lang="en-US" sz="1200" b="1" u="none" strike="noStrike" dirty="0" smtClean="0">
                          <a:effectLst/>
                        </a:rPr>
                        <a:t>(# Passengers)</a:t>
                      </a:r>
                      <a:endParaRPr lang="en-US" sz="1200" b="1" i="0" u="none" strike="noStrike" dirty="0">
                        <a:solidFill>
                          <a:srgbClr val="000000"/>
                        </a:solidFill>
                        <a:effectLst/>
                        <a:latin typeface="Calibri"/>
                      </a:endParaRPr>
                    </a:p>
                  </a:txBody>
                  <a:tcPr marL="12700" marR="12700" marT="12700" marB="0" anchor="ctr"/>
                </a:tc>
                <a:tc>
                  <a:txBody>
                    <a:bodyPr/>
                    <a:lstStyle/>
                    <a:p>
                      <a:pPr algn="ctr" fontAlgn="b"/>
                      <a:r>
                        <a:rPr lang="en-US" sz="1200" b="1" u="none" strike="noStrike" dirty="0" smtClean="0">
                          <a:effectLst/>
                        </a:rPr>
                        <a:t>Type of Routes</a:t>
                      </a:r>
                      <a:endParaRPr lang="en-US" sz="1200" b="1" i="0" u="none" strike="noStrike" dirty="0">
                        <a:solidFill>
                          <a:srgbClr val="000000"/>
                        </a:solidFill>
                        <a:effectLst/>
                        <a:latin typeface="Calibri"/>
                      </a:endParaRPr>
                    </a:p>
                  </a:txBody>
                  <a:tcPr marL="12700" marR="12700" marT="12700" marB="0" anchor="ctr"/>
                </a:tc>
                <a:tc>
                  <a:txBody>
                    <a:bodyPr/>
                    <a:lstStyle/>
                    <a:p>
                      <a:pPr algn="ctr" fontAlgn="b"/>
                      <a:r>
                        <a:rPr lang="en-US" sz="1200" b="1" u="none" strike="noStrike" dirty="0">
                          <a:effectLst/>
                        </a:rPr>
                        <a:t>Fixed </a:t>
                      </a:r>
                      <a:r>
                        <a:rPr lang="en-US" sz="1200" b="1" u="none" strike="noStrike" dirty="0" smtClean="0">
                          <a:effectLst/>
                        </a:rPr>
                        <a:t>Cost</a:t>
                      </a:r>
                      <a:r>
                        <a:rPr lang="en-US" sz="1200" b="1" u="none" strike="noStrike" baseline="30000" dirty="0" smtClean="0">
                          <a:effectLst/>
                        </a:rPr>
                        <a:t>1</a:t>
                      </a:r>
                      <a:endParaRPr lang="en-US" sz="1200" b="1" i="0" u="none" strike="noStrike" dirty="0">
                        <a:solidFill>
                          <a:srgbClr val="000000"/>
                        </a:solidFill>
                        <a:effectLst/>
                        <a:latin typeface="Calibri"/>
                      </a:endParaRPr>
                    </a:p>
                  </a:txBody>
                  <a:tcPr marL="12700" marR="12700" marT="12700" marB="0" anchor="ctr"/>
                </a:tc>
              </a:tr>
              <a:tr h="177800">
                <a:tc>
                  <a:txBody>
                    <a:bodyPr/>
                    <a:lstStyle/>
                    <a:p>
                      <a:pPr algn="l" fontAlgn="b"/>
                      <a:r>
                        <a:rPr lang="en-US" sz="1200" u="none" strike="noStrike" dirty="0">
                          <a:effectLst/>
                        </a:rPr>
                        <a:t>Boeing </a:t>
                      </a:r>
                      <a:r>
                        <a:rPr lang="en-US" sz="1200" u="none" strike="noStrike" dirty="0" smtClean="0">
                          <a:effectLst/>
                        </a:rPr>
                        <a:t>737-800</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180</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160</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a:effectLst/>
                        </a:rPr>
                        <a:t>Domestic</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a:effectLst/>
                        </a:rPr>
                        <a:t>$10,000</a:t>
                      </a:r>
                      <a:endParaRPr lang="en-US" sz="1200" b="0" i="0" u="none" strike="noStrike">
                        <a:solidFill>
                          <a:srgbClr val="000000"/>
                        </a:solidFill>
                        <a:effectLst/>
                        <a:latin typeface="Calibri"/>
                      </a:endParaRPr>
                    </a:p>
                  </a:txBody>
                  <a:tcPr marL="12700" marR="12700" marT="12700" marB="0" anchor="ctr"/>
                </a:tc>
              </a:tr>
              <a:tr h="177800">
                <a:tc>
                  <a:txBody>
                    <a:bodyPr/>
                    <a:lstStyle/>
                    <a:p>
                      <a:pPr algn="l" fontAlgn="b"/>
                      <a:r>
                        <a:rPr lang="en-US" sz="1200" u="none" strike="noStrike" dirty="0">
                          <a:effectLst/>
                        </a:rPr>
                        <a:t>Boeing </a:t>
                      </a:r>
                      <a:r>
                        <a:rPr lang="en-US" sz="1200" u="none" strike="noStrike" dirty="0" smtClean="0">
                          <a:effectLst/>
                        </a:rPr>
                        <a:t>757-200</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125</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190</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a:effectLst/>
                        </a:rPr>
                        <a:t>Domestic</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a:effectLst/>
                        </a:rPr>
                        <a:t>$9,750</a:t>
                      </a:r>
                      <a:endParaRPr lang="en-US" sz="1200" b="0" i="0" u="none" strike="noStrike">
                        <a:solidFill>
                          <a:srgbClr val="000000"/>
                        </a:solidFill>
                        <a:effectLst/>
                        <a:latin typeface="Calibri"/>
                      </a:endParaRPr>
                    </a:p>
                  </a:txBody>
                  <a:tcPr marL="12700" marR="12700" marT="12700" marB="0" anchor="ctr"/>
                </a:tc>
              </a:tr>
              <a:tr h="177800">
                <a:tc>
                  <a:txBody>
                    <a:bodyPr/>
                    <a:lstStyle/>
                    <a:p>
                      <a:pPr algn="l" fontAlgn="b"/>
                      <a:r>
                        <a:rPr lang="en-US" sz="1200" u="none" strike="noStrike" dirty="0">
                          <a:effectLst/>
                        </a:rPr>
                        <a:t>Boeing </a:t>
                      </a:r>
                      <a:r>
                        <a:rPr lang="en-US" sz="1200" u="none" strike="noStrike" dirty="0" smtClean="0">
                          <a:effectLst/>
                        </a:rPr>
                        <a:t>767</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a:effectLst/>
                        </a:rPr>
                        <a:t>73</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300</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International</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a:effectLst/>
                        </a:rPr>
                        <a:t>$9,200</a:t>
                      </a:r>
                      <a:endParaRPr lang="en-US" sz="1200" b="0" i="0" u="none" strike="noStrike">
                        <a:solidFill>
                          <a:srgbClr val="000000"/>
                        </a:solidFill>
                        <a:effectLst/>
                        <a:latin typeface="Calibri"/>
                      </a:endParaRPr>
                    </a:p>
                  </a:txBody>
                  <a:tcPr marL="12700" marR="12700" marT="12700" marB="0" anchor="ctr"/>
                </a:tc>
              </a:tr>
              <a:tr h="177800">
                <a:tc>
                  <a:txBody>
                    <a:bodyPr/>
                    <a:lstStyle/>
                    <a:p>
                      <a:pPr algn="l" fontAlgn="b"/>
                      <a:r>
                        <a:rPr lang="en-US" sz="1200" u="none" strike="noStrike">
                          <a:effectLst/>
                        </a:rPr>
                        <a:t>Boeing 777-200ER</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a:effectLst/>
                        </a:rPr>
                        <a:t>47</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370</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International</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$9,000</a:t>
                      </a:r>
                      <a:endParaRPr lang="en-US" sz="1200" b="0" i="0" u="none" strike="noStrike" dirty="0">
                        <a:solidFill>
                          <a:srgbClr val="000000"/>
                        </a:solidFill>
                        <a:effectLst/>
                        <a:latin typeface="Calibri"/>
                      </a:endParaRPr>
                    </a:p>
                  </a:txBody>
                  <a:tcPr marL="12700" marR="12700" marT="12700" marB="0" anchor="ctr"/>
                </a:tc>
              </a:tr>
              <a:tr h="177800">
                <a:tc>
                  <a:txBody>
                    <a:bodyPr/>
                    <a:lstStyle/>
                    <a:p>
                      <a:pPr algn="l" fontAlgn="b"/>
                      <a:r>
                        <a:rPr lang="en-US" sz="1200" u="none" strike="noStrike">
                          <a:effectLst/>
                        </a:rPr>
                        <a:t>McDonnell Douglas MD-80 series</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a:effectLst/>
                        </a:rPr>
                        <a:t>195</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a:effectLst/>
                        </a:rPr>
                        <a:t>140</a:t>
                      </a:r>
                      <a:endParaRPr lang="en-US" sz="1200" b="0" i="0" u="none" strike="noStrike">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Domestic</a:t>
                      </a:r>
                      <a:endParaRPr lang="en-US" sz="1200" b="0" i="0" u="none" strike="noStrike" dirty="0">
                        <a:solidFill>
                          <a:srgbClr val="000000"/>
                        </a:solidFill>
                        <a:effectLst/>
                        <a:latin typeface="Calibri"/>
                      </a:endParaRPr>
                    </a:p>
                  </a:txBody>
                  <a:tcPr marL="12700" marR="12700" marT="12700" marB="0" anchor="ctr"/>
                </a:tc>
                <a:tc>
                  <a:txBody>
                    <a:bodyPr/>
                    <a:lstStyle/>
                    <a:p>
                      <a:pPr algn="ctr" fontAlgn="b"/>
                      <a:r>
                        <a:rPr lang="en-US" sz="1200" u="none" strike="noStrike" dirty="0">
                          <a:effectLst/>
                        </a:rPr>
                        <a:t>$10,500</a:t>
                      </a:r>
                      <a:endParaRPr lang="en-US" sz="1200" b="0" i="0" u="none" strike="noStrike" dirty="0">
                        <a:solidFill>
                          <a:srgbClr val="000000"/>
                        </a:solidFill>
                        <a:effectLst/>
                        <a:latin typeface="Calibri"/>
                      </a:endParaRPr>
                    </a:p>
                  </a:txBody>
                  <a:tcPr marL="12700" marR="12700" marT="12700" marB="0" anchor="ctr"/>
                </a:tc>
              </a:tr>
            </a:tbl>
          </a:graphicData>
        </a:graphic>
      </p:graphicFrame>
      <p:sp>
        <p:nvSpPr>
          <p:cNvPr id="4" name="TextBox 3"/>
          <p:cNvSpPr txBox="1"/>
          <p:nvPr/>
        </p:nvSpPr>
        <p:spPr>
          <a:xfrm>
            <a:off x="304800" y="6438900"/>
            <a:ext cx="5003101" cy="276999"/>
          </a:xfrm>
          <a:prstGeom prst="rect">
            <a:avLst/>
          </a:prstGeom>
          <a:noFill/>
        </p:spPr>
        <p:txBody>
          <a:bodyPr wrap="none" rtlCol="0">
            <a:spAutoFit/>
          </a:bodyPr>
          <a:lstStyle/>
          <a:p>
            <a:r>
              <a:rPr lang="en-US" sz="1200" dirty="0" smtClean="0"/>
              <a:t>2: Variable costs are represented as a percentage of the round trip fare</a:t>
            </a:r>
            <a:endParaRPr lang="en-US" sz="1200" dirty="0"/>
          </a:p>
        </p:txBody>
      </p:sp>
      <p:sp>
        <p:nvSpPr>
          <p:cNvPr id="11" name="TextBox 10"/>
          <p:cNvSpPr txBox="1"/>
          <p:nvPr/>
        </p:nvSpPr>
        <p:spPr>
          <a:xfrm>
            <a:off x="304800" y="1772503"/>
            <a:ext cx="3335400" cy="307777"/>
          </a:xfrm>
          <a:prstGeom prst="rect">
            <a:avLst/>
          </a:prstGeom>
          <a:noFill/>
        </p:spPr>
        <p:txBody>
          <a:bodyPr wrap="none" rtlCol="0">
            <a:spAutoFit/>
          </a:bodyPr>
          <a:lstStyle/>
          <a:p>
            <a:r>
              <a:rPr lang="en-US" sz="1400" b="1" dirty="0" smtClean="0"/>
              <a:t>Table 1: Aircraft models and capacity</a:t>
            </a:r>
            <a:endParaRPr lang="en-US" sz="1400" b="1" dirty="0"/>
          </a:p>
        </p:txBody>
      </p:sp>
      <p:graphicFrame>
        <p:nvGraphicFramePr>
          <p:cNvPr id="5" name="Table 4"/>
          <p:cNvGraphicFramePr>
            <a:graphicFrameLocks noGrp="1"/>
          </p:cNvGraphicFramePr>
          <p:nvPr>
            <p:extLst>
              <p:ext uri="{D42A27DB-BD31-4B8C-83A1-F6EECF244321}">
                <p14:modId xmlns:p14="http://schemas.microsoft.com/office/powerpoint/2010/main" val="351332389"/>
              </p:ext>
            </p:extLst>
          </p:nvPr>
        </p:nvGraphicFramePr>
        <p:xfrm>
          <a:off x="304800" y="4352290"/>
          <a:ext cx="7480301" cy="586740"/>
        </p:xfrm>
        <a:graphic>
          <a:graphicData uri="http://schemas.openxmlformats.org/drawingml/2006/table">
            <a:tbl>
              <a:tblPr>
                <a:tableStyleId>{5940675A-B579-460E-94D1-54222C63F5DA}</a:tableStyleId>
              </a:tblPr>
              <a:tblGrid>
                <a:gridCol w="1224646"/>
                <a:gridCol w="1551428"/>
                <a:gridCol w="1797050"/>
                <a:gridCol w="1409221"/>
                <a:gridCol w="1497956"/>
              </a:tblGrid>
              <a:tr h="177800">
                <a:tc>
                  <a:txBody>
                    <a:bodyPr/>
                    <a:lstStyle/>
                    <a:p>
                      <a:pPr algn="ctr" fontAlgn="b"/>
                      <a:r>
                        <a:rPr lang="en-US" sz="1200" b="1" u="none" strike="noStrike" dirty="0">
                          <a:effectLst/>
                        </a:rPr>
                        <a:t>Type of Flight</a:t>
                      </a:r>
                      <a:endParaRPr lang="en-US" sz="1200" b="1" i="0" u="none" strike="noStrike" dirty="0">
                        <a:solidFill>
                          <a:srgbClr val="000000"/>
                        </a:solidFill>
                        <a:effectLst/>
                        <a:latin typeface="Calibri"/>
                      </a:endParaRPr>
                    </a:p>
                  </a:txBody>
                  <a:tcPr marL="12700" marR="12700" marT="12700" marB="0" anchor="b"/>
                </a:tc>
                <a:tc>
                  <a:txBody>
                    <a:bodyPr/>
                    <a:lstStyle/>
                    <a:p>
                      <a:pPr algn="ctr" fontAlgn="b"/>
                      <a:r>
                        <a:rPr lang="en-US" sz="1200" b="1" u="none" strike="noStrike" dirty="0">
                          <a:effectLst/>
                        </a:rPr>
                        <a:t>Avg. Load Factor</a:t>
                      </a:r>
                      <a:endParaRPr lang="en-US" sz="1200" b="1" i="0" u="none" strike="noStrike" dirty="0">
                        <a:solidFill>
                          <a:srgbClr val="000000"/>
                        </a:solidFill>
                        <a:effectLst/>
                        <a:latin typeface="Calibri"/>
                      </a:endParaRPr>
                    </a:p>
                  </a:txBody>
                  <a:tcPr marL="12700" marR="12700" marT="12700" marB="0" anchor="b"/>
                </a:tc>
                <a:tc>
                  <a:txBody>
                    <a:bodyPr/>
                    <a:lstStyle/>
                    <a:p>
                      <a:pPr algn="ctr" fontAlgn="b"/>
                      <a:r>
                        <a:rPr lang="en-US" sz="1200" b="1" u="none" strike="noStrike" dirty="0">
                          <a:effectLst/>
                        </a:rPr>
                        <a:t>Avg. Round trip fare</a:t>
                      </a:r>
                      <a:endParaRPr lang="en-US" sz="1200" b="1" i="0" u="none" strike="noStrike" dirty="0">
                        <a:solidFill>
                          <a:srgbClr val="000000"/>
                        </a:solidFill>
                        <a:effectLst/>
                        <a:latin typeface="Calibri"/>
                      </a:endParaRPr>
                    </a:p>
                  </a:txBody>
                  <a:tcPr marL="12700" marR="12700" marT="12700" marB="0" anchor="b"/>
                </a:tc>
                <a:tc>
                  <a:txBody>
                    <a:bodyPr/>
                    <a:lstStyle/>
                    <a:p>
                      <a:pPr algn="ctr" fontAlgn="b"/>
                      <a:r>
                        <a:rPr lang="en-US" sz="1200" b="1" u="none" strike="noStrike" dirty="0">
                          <a:effectLst/>
                        </a:rPr>
                        <a:t>Avg. time </a:t>
                      </a:r>
                      <a:r>
                        <a:rPr lang="en-US" sz="1200" b="1" u="none" strike="noStrike" dirty="0" smtClean="0">
                          <a:effectLst/>
                        </a:rPr>
                        <a:t>in air</a:t>
                      </a:r>
                      <a:endParaRPr lang="en-US" sz="1200" b="1" i="0" u="none" strike="noStrike" dirty="0">
                        <a:solidFill>
                          <a:srgbClr val="000000"/>
                        </a:solidFill>
                        <a:effectLst/>
                        <a:latin typeface="Calibri"/>
                      </a:endParaRPr>
                    </a:p>
                  </a:txBody>
                  <a:tcPr marL="12700" marR="12700" marT="12700" marB="0" anchor="b"/>
                </a:tc>
                <a:tc>
                  <a:txBody>
                    <a:bodyPr/>
                    <a:lstStyle/>
                    <a:p>
                      <a:pPr algn="ctr" fontAlgn="b"/>
                      <a:r>
                        <a:rPr lang="en-US" sz="1200" b="1" u="none" strike="noStrike" dirty="0">
                          <a:effectLst/>
                        </a:rPr>
                        <a:t>Avg. time </a:t>
                      </a:r>
                      <a:r>
                        <a:rPr lang="en-US" sz="1200" b="1" u="none" strike="noStrike" dirty="0" smtClean="0">
                          <a:effectLst/>
                        </a:rPr>
                        <a:t>on land </a:t>
                      </a:r>
                      <a:endParaRPr lang="en-US" sz="1200" b="1" i="0" u="none" strike="noStrike" dirty="0">
                        <a:solidFill>
                          <a:srgbClr val="000000"/>
                        </a:solidFill>
                        <a:effectLst/>
                        <a:latin typeface="Calibri"/>
                      </a:endParaRPr>
                    </a:p>
                  </a:txBody>
                  <a:tcPr marL="12700" marR="12700" marT="12700" marB="0" anchor="b"/>
                </a:tc>
              </a:tr>
              <a:tr h="177800">
                <a:tc>
                  <a:txBody>
                    <a:bodyPr/>
                    <a:lstStyle/>
                    <a:p>
                      <a:pPr algn="l" fontAlgn="b"/>
                      <a:r>
                        <a:rPr lang="en-US" sz="1200" u="none" strike="noStrike">
                          <a:effectLst/>
                        </a:rPr>
                        <a:t>Domestic</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a:effectLst/>
                        </a:rPr>
                        <a:t>80%</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dirty="0">
                          <a:effectLst/>
                        </a:rPr>
                        <a:t>$200 </a:t>
                      </a:r>
                      <a:endParaRPr lang="en-US" sz="1200" b="0" i="0" u="none" strike="noStrike" dirty="0">
                        <a:solidFill>
                          <a:srgbClr val="000000"/>
                        </a:solidFill>
                        <a:effectLst/>
                        <a:latin typeface="Calibri"/>
                      </a:endParaRPr>
                    </a:p>
                  </a:txBody>
                  <a:tcPr marL="12700" marR="12700" marT="12700" marB="0" anchor="b"/>
                </a:tc>
                <a:tc>
                  <a:txBody>
                    <a:bodyPr/>
                    <a:lstStyle/>
                    <a:p>
                      <a:pPr algn="ctr" fontAlgn="b"/>
                      <a:r>
                        <a:rPr lang="en-US" sz="1200" u="none" strike="noStrike" dirty="0" smtClean="0">
                          <a:effectLst/>
                        </a:rPr>
                        <a:t>2 hours</a:t>
                      </a:r>
                      <a:endParaRPr lang="en-US" sz="1200" b="0" i="0" u="none" strike="noStrike" dirty="0">
                        <a:solidFill>
                          <a:srgbClr val="000000"/>
                        </a:solidFill>
                        <a:effectLst/>
                        <a:latin typeface="Calibri"/>
                      </a:endParaRPr>
                    </a:p>
                  </a:txBody>
                  <a:tcPr marL="12700" marR="12700" marT="12700" marB="0" anchor="b"/>
                </a:tc>
                <a:tc>
                  <a:txBody>
                    <a:bodyPr/>
                    <a:lstStyle/>
                    <a:p>
                      <a:pPr algn="ctr" fontAlgn="b"/>
                      <a:r>
                        <a:rPr lang="en-US" sz="1200" u="none" strike="noStrike" dirty="0" smtClean="0">
                          <a:effectLst/>
                        </a:rPr>
                        <a:t>30 minutes</a:t>
                      </a:r>
                      <a:endParaRPr lang="en-US" sz="1200" b="0" i="0" u="none" strike="noStrike" dirty="0">
                        <a:solidFill>
                          <a:srgbClr val="000000"/>
                        </a:solidFill>
                        <a:effectLst/>
                        <a:latin typeface="Calibri"/>
                      </a:endParaRPr>
                    </a:p>
                  </a:txBody>
                  <a:tcPr marL="12700" marR="12700" marT="12700" marB="0" anchor="b"/>
                </a:tc>
              </a:tr>
              <a:tr h="177800">
                <a:tc>
                  <a:txBody>
                    <a:bodyPr/>
                    <a:lstStyle/>
                    <a:p>
                      <a:pPr algn="l" fontAlgn="b"/>
                      <a:r>
                        <a:rPr lang="en-US" sz="1200" u="none" strike="noStrike">
                          <a:effectLst/>
                        </a:rPr>
                        <a:t>International</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a:effectLst/>
                        </a:rPr>
                        <a:t>70%</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a:effectLst/>
                        </a:rPr>
                        <a:t>$900 </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dirty="0" smtClean="0">
                          <a:effectLst/>
                        </a:rPr>
                        <a:t>7 hours </a:t>
                      </a:r>
                      <a:endParaRPr lang="en-US" sz="1200" b="0" i="0" u="none" strike="noStrike" dirty="0">
                        <a:solidFill>
                          <a:srgbClr val="000000"/>
                        </a:solidFill>
                        <a:effectLst/>
                        <a:latin typeface="Calibri"/>
                      </a:endParaRPr>
                    </a:p>
                  </a:txBody>
                  <a:tcPr marL="12700" marR="12700" marT="12700" marB="0" anchor="b"/>
                </a:tc>
                <a:tc>
                  <a:txBody>
                    <a:bodyPr/>
                    <a:lstStyle/>
                    <a:p>
                      <a:pPr algn="ctr" fontAlgn="b"/>
                      <a:r>
                        <a:rPr lang="en-US" sz="1200" u="none" strike="noStrike" dirty="0" smtClean="0">
                          <a:effectLst/>
                        </a:rPr>
                        <a:t>1 hour</a:t>
                      </a:r>
                      <a:endParaRPr lang="en-US" sz="1200" b="0" i="0" u="none" strike="noStrike" dirty="0">
                        <a:solidFill>
                          <a:srgbClr val="000000"/>
                        </a:solidFill>
                        <a:effectLst/>
                        <a:latin typeface="Calibri"/>
                      </a:endParaRPr>
                    </a:p>
                  </a:txBody>
                  <a:tcPr marL="12700" marR="12700" marT="12700" marB="0" anchor="b"/>
                </a:tc>
              </a:tr>
            </a:tbl>
          </a:graphicData>
        </a:graphic>
      </p:graphicFrame>
      <p:sp>
        <p:nvSpPr>
          <p:cNvPr id="13" name="TextBox 12"/>
          <p:cNvSpPr txBox="1"/>
          <p:nvPr/>
        </p:nvSpPr>
        <p:spPr>
          <a:xfrm>
            <a:off x="304800" y="4013736"/>
            <a:ext cx="4719882" cy="307777"/>
          </a:xfrm>
          <a:prstGeom prst="rect">
            <a:avLst/>
          </a:prstGeom>
          <a:noFill/>
        </p:spPr>
        <p:txBody>
          <a:bodyPr wrap="none" rtlCol="0">
            <a:spAutoFit/>
          </a:bodyPr>
          <a:lstStyle/>
          <a:p>
            <a:r>
              <a:rPr lang="en-US" sz="1400" b="1" dirty="0" smtClean="0"/>
              <a:t>Table 2: Average  load factor, fares and time per flight</a:t>
            </a:r>
            <a:endParaRPr lang="en-US" sz="1400" b="1" dirty="0"/>
          </a:p>
        </p:txBody>
      </p:sp>
      <p:sp>
        <p:nvSpPr>
          <p:cNvPr id="14" name="TextBox 13"/>
          <p:cNvSpPr txBox="1"/>
          <p:nvPr/>
        </p:nvSpPr>
        <p:spPr>
          <a:xfrm>
            <a:off x="304800" y="5207536"/>
            <a:ext cx="2166812" cy="307777"/>
          </a:xfrm>
          <a:prstGeom prst="rect">
            <a:avLst/>
          </a:prstGeom>
          <a:noFill/>
        </p:spPr>
        <p:txBody>
          <a:bodyPr wrap="none" rtlCol="0">
            <a:spAutoFit/>
          </a:bodyPr>
          <a:lstStyle/>
          <a:p>
            <a:r>
              <a:rPr lang="en-US" sz="1400" b="1" dirty="0" smtClean="0"/>
              <a:t>Table 3: Variable costs</a:t>
            </a:r>
            <a:r>
              <a:rPr lang="en-US" sz="1400" b="1" baseline="30000" dirty="0" smtClean="0"/>
              <a:t>2</a:t>
            </a:r>
            <a:endParaRPr lang="en-US" sz="1400" b="1" dirty="0"/>
          </a:p>
        </p:txBody>
      </p:sp>
      <p:graphicFrame>
        <p:nvGraphicFramePr>
          <p:cNvPr id="6" name="Table 5"/>
          <p:cNvGraphicFramePr>
            <a:graphicFrameLocks noGrp="1"/>
          </p:cNvGraphicFramePr>
          <p:nvPr>
            <p:extLst>
              <p:ext uri="{D42A27DB-BD31-4B8C-83A1-F6EECF244321}">
                <p14:modId xmlns:p14="http://schemas.microsoft.com/office/powerpoint/2010/main" val="3468011251"/>
              </p:ext>
            </p:extLst>
          </p:nvPr>
        </p:nvGraphicFramePr>
        <p:xfrm>
          <a:off x="304800" y="5542280"/>
          <a:ext cx="5499100" cy="782320"/>
        </p:xfrm>
        <a:graphic>
          <a:graphicData uri="http://schemas.openxmlformats.org/drawingml/2006/table">
            <a:tbl>
              <a:tblPr>
                <a:tableStyleId>{5940675A-B579-460E-94D1-54222C63F5DA}</a:tableStyleId>
              </a:tblPr>
              <a:tblGrid>
                <a:gridCol w="2445149"/>
                <a:gridCol w="1337672"/>
                <a:gridCol w="1716279"/>
              </a:tblGrid>
              <a:tr h="177800">
                <a:tc>
                  <a:txBody>
                    <a:bodyPr/>
                    <a:lstStyle/>
                    <a:p>
                      <a:pPr algn="l" fontAlgn="b"/>
                      <a:endParaRPr lang="en-US" sz="1200" b="0" i="0" u="none" strike="noStrike" dirty="0">
                        <a:solidFill>
                          <a:srgbClr val="000000"/>
                        </a:solidFill>
                        <a:effectLst/>
                        <a:latin typeface="Calibri"/>
                      </a:endParaRPr>
                    </a:p>
                  </a:txBody>
                  <a:tcPr marL="12700" marR="12700" marT="12700" marB="0" anchor="b"/>
                </a:tc>
                <a:tc>
                  <a:txBody>
                    <a:bodyPr/>
                    <a:lstStyle/>
                    <a:p>
                      <a:pPr algn="ctr" fontAlgn="b"/>
                      <a:r>
                        <a:rPr lang="en-US" sz="1200" b="1" u="none" strike="noStrike" dirty="0">
                          <a:effectLst/>
                        </a:rPr>
                        <a:t>Domestic</a:t>
                      </a:r>
                      <a:endParaRPr lang="en-US" sz="1200" b="1" i="0" u="none" strike="noStrike" dirty="0">
                        <a:solidFill>
                          <a:srgbClr val="000000"/>
                        </a:solidFill>
                        <a:effectLst/>
                        <a:latin typeface="Calibri"/>
                      </a:endParaRPr>
                    </a:p>
                  </a:txBody>
                  <a:tcPr marL="12700" marR="12700" marT="12700" marB="0" anchor="b"/>
                </a:tc>
                <a:tc>
                  <a:txBody>
                    <a:bodyPr/>
                    <a:lstStyle/>
                    <a:p>
                      <a:pPr algn="ctr" fontAlgn="b"/>
                      <a:r>
                        <a:rPr lang="en-US" sz="1200" b="1" u="none" strike="noStrike" dirty="0">
                          <a:effectLst/>
                        </a:rPr>
                        <a:t>International</a:t>
                      </a:r>
                      <a:endParaRPr lang="en-US" sz="1200" b="1" i="0" u="none" strike="noStrike" dirty="0">
                        <a:solidFill>
                          <a:srgbClr val="000000"/>
                        </a:solidFill>
                        <a:effectLst/>
                        <a:latin typeface="Calibri"/>
                      </a:endParaRPr>
                    </a:p>
                  </a:txBody>
                  <a:tcPr marL="12700" marR="12700" marT="12700" marB="0" anchor="b"/>
                </a:tc>
              </a:tr>
              <a:tr h="177800">
                <a:tc>
                  <a:txBody>
                    <a:bodyPr/>
                    <a:lstStyle/>
                    <a:p>
                      <a:pPr algn="l" fontAlgn="b"/>
                      <a:r>
                        <a:rPr lang="en-US" sz="1200" u="none" strike="noStrike" dirty="0" smtClean="0">
                          <a:effectLst/>
                        </a:rPr>
                        <a:t>Travel agency commission</a:t>
                      </a:r>
                      <a:endParaRPr lang="en-US" sz="1200" b="0" i="0" u="none" strike="noStrike" dirty="0">
                        <a:solidFill>
                          <a:srgbClr val="000000"/>
                        </a:solidFill>
                        <a:effectLst/>
                        <a:latin typeface="Calibri"/>
                      </a:endParaRPr>
                    </a:p>
                  </a:txBody>
                  <a:tcPr marL="12700" marR="12700" marT="12700" marB="0" anchor="b"/>
                </a:tc>
                <a:tc>
                  <a:txBody>
                    <a:bodyPr/>
                    <a:lstStyle/>
                    <a:p>
                      <a:pPr algn="ctr" fontAlgn="b"/>
                      <a:r>
                        <a:rPr lang="en-US" sz="1200" u="none" strike="noStrike" dirty="0">
                          <a:effectLst/>
                        </a:rPr>
                        <a:t>10%</a:t>
                      </a:r>
                      <a:endParaRPr lang="en-US" sz="1200" b="0" i="0" u="none" strike="noStrike" dirty="0">
                        <a:solidFill>
                          <a:srgbClr val="000000"/>
                        </a:solidFill>
                        <a:effectLst/>
                        <a:latin typeface="Calibri"/>
                      </a:endParaRPr>
                    </a:p>
                  </a:txBody>
                  <a:tcPr marL="12700" marR="12700" marT="12700" marB="0" anchor="b"/>
                </a:tc>
                <a:tc>
                  <a:txBody>
                    <a:bodyPr/>
                    <a:lstStyle/>
                    <a:p>
                      <a:pPr algn="ctr" fontAlgn="b"/>
                      <a:r>
                        <a:rPr lang="en-US" sz="1200" u="none" strike="noStrike">
                          <a:effectLst/>
                        </a:rPr>
                        <a:t>10%</a:t>
                      </a:r>
                      <a:endParaRPr lang="en-US" sz="1200" b="0" i="0" u="none" strike="noStrike">
                        <a:solidFill>
                          <a:srgbClr val="000000"/>
                        </a:solidFill>
                        <a:effectLst/>
                        <a:latin typeface="Calibri"/>
                      </a:endParaRPr>
                    </a:p>
                  </a:txBody>
                  <a:tcPr marL="12700" marR="12700" marT="12700" marB="0" anchor="b"/>
                </a:tc>
              </a:tr>
              <a:tr h="177800">
                <a:tc>
                  <a:txBody>
                    <a:bodyPr/>
                    <a:lstStyle/>
                    <a:p>
                      <a:pPr algn="l" fontAlgn="b"/>
                      <a:r>
                        <a:rPr lang="en-US" sz="1200" u="none" strike="noStrike">
                          <a:effectLst/>
                        </a:rPr>
                        <a:t>Airport fees</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a:effectLst/>
                        </a:rPr>
                        <a:t>10%</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dirty="0">
                          <a:effectLst/>
                        </a:rPr>
                        <a:t>10%</a:t>
                      </a:r>
                      <a:endParaRPr lang="en-US" sz="1200" b="0" i="0" u="none" strike="noStrike" dirty="0">
                        <a:solidFill>
                          <a:srgbClr val="000000"/>
                        </a:solidFill>
                        <a:effectLst/>
                        <a:latin typeface="Calibri"/>
                      </a:endParaRPr>
                    </a:p>
                  </a:txBody>
                  <a:tcPr marL="12700" marR="12700" marT="12700" marB="0" anchor="b"/>
                </a:tc>
              </a:tr>
              <a:tr h="177800">
                <a:tc>
                  <a:txBody>
                    <a:bodyPr/>
                    <a:lstStyle/>
                    <a:p>
                      <a:pPr algn="l" fontAlgn="b"/>
                      <a:r>
                        <a:rPr lang="en-US" sz="1200" u="none" strike="noStrike" dirty="0">
                          <a:effectLst/>
                        </a:rPr>
                        <a:t>Inboard </a:t>
                      </a:r>
                      <a:r>
                        <a:rPr lang="en-US" sz="1200" u="none" strike="noStrike" dirty="0" smtClean="0">
                          <a:effectLst/>
                        </a:rPr>
                        <a:t>and check-in services</a:t>
                      </a:r>
                      <a:endParaRPr lang="en-US" sz="1200" b="0" i="0" u="none" strike="noStrike" dirty="0">
                        <a:solidFill>
                          <a:srgbClr val="000000"/>
                        </a:solidFill>
                        <a:effectLst/>
                        <a:latin typeface="Calibri"/>
                      </a:endParaRPr>
                    </a:p>
                  </a:txBody>
                  <a:tcPr marL="12700" marR="12700" marT="12700" marB="0" anchor="b"/>
                </a:tc>
                <a:tc>
                  <a:txBody>
                    <a:bodyPr/>
                    <a:lstStyle/>
                    <a:p>
                      <a:pPr algn="ctr" fontAlgn="b"/>
                      <a:r>
                        <a:rPr lang="en-US" sz="1200" u="none" strike="noStrike">
                          <a:effectLst/>
                        </a:rPr>
                        <a:t>5%</a:t>
                      </a:r>
                      <a:endParaRPr lang="en-US" sz="1200" b="0" i="0" u="none" strike="noStrike">
                        <a:solidFill>
                          <a:srgbClr val="000000"/>
                        </a:solidFill>
                        <a:effectLst/>
                        <a:latin typeface="Calibri"/>
                      </a:endParaRPr>
                    </a:p>
                  </a:txBody>
                  <a:tcPr marL="12700" marR="12700" marT="12700" marB="0" anchor="b"/>
                </a:tc>
                <a:tc>
                  <a:txBody>
                    <a:bodyPr/>
                    <a:lstStyle/>
                    <a:p>
                      <a:pPr algn="ctr" fontAlgn="b"/>
                      <a:r>
                        <a:rPr lang="en-US" sz="1200" u="none" strike="noStrike" dirty="0">
                          <a:effectLst/>
                        </a:rPr>
                        <a:t>12%</a:t>
                      </a:r>
                      <a:endParaRPr lang="en-US" sz="1200" b="0" i="0" u="none" strike="noStrike" dirty="0">
                        <a:solidFill>
                          <a:srgbClr val="000000"/>
                        </a:solidFill>
                        <a:effectLst/>
                        <a:latin typeface="Calibri"/>
                      </a:endParaRPr>
                    </a:p>
                  </a:txBody>
                  <a:tcPr marL="12700" marR="12700" marT="12700" marB="0" anchor="b"/>
                </a:tc>
              </a:tr>
            </a:tbl>
          </a:graphicData>
        </a:graphic>
      </p:graphicFrame>
      <p:sp>
        <p:nvSpPr>
          <p:cNvPr id="16" name="TextBox 15"/>
          <p:cNvSpPr txBox="1"/>
          <p:nvPr/>
        </p:nvSpPr>
        <p:spPr>
          <a:xfrm>
            <a:off x="304800" y="3667898"/>
            <a:ext cx="3017173" cy="276999"/>
          </a:xfrm>
          <a:prstGeom prst="rect">
            <a:avLst/>
          </a:prstGeom>
          <a:noFill/>
        </p:spPr>
        <p:txBody>
          <a:bodyPr wrap="none" rtlCol="0">
            <a:spAutoFit/>
          </a:bodyPr>
          <a:lstStyle/>
          <a:p>
            <a:r>
              <a:rPr lang="en-US" sz="1200" dirty="0" smtClean="0"/>
              <a:t>1:Fixed cost per 1000 mile flight distance</a:t>
            </a:r>
            <a:endParaRPr lang="en-US" sz="1200" dirty="0"/>
          </a:p>
        </p:txBody>
      </p:sp>
      <p:sp>
        <p:nvSpPr>
          <p:cNvPr id="17" name="TextBox 16"/>
          <p:cNvSpPr txBox="1"/>
          <p:nvPr/>
        </p:nvSpPr>
        <p:spPr>
          <a:xfrm>
            <a:off x="268704" y="1383487"/>
            <a:ext cx="989373" cy="307777"/>
          </a:xfrm>
          <a:prstGeom prst="rect">
            <a:avLst/>
          </a:prstGeom>
          <a:noFill/>
        </p:spPr>
        <p:txBody>
          <a:bodyPr wrap="none" rtlCol="0">
            <a:spAutoFit/>
          </a:bodyPr>
          <a:lstStyle/>
          <a:p>
            <a:r>
              <a:rPr lang="en-US" sz="1400" b="1" dirty="0" smtClean="0"/>
              <a:t>Exhibit 1:</a:t>
            </a:r>
            <a:endParaRPr lang="en-US" sz="1400" b="1" dirty="0"/>
          </a:p>
        </p:txBody>
      </p:sp>
    </p:spTree>
    <p:extLst>
      <p:ext uri="{BB962C8B-B14F-4D97-AF65-F5344CB8AC3E}">
        <p14:creationId xmlns:p14="http://schemas.microsoft.com/office/powerpoint/2010/main" val="83160423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9: American Airlines</a:t>
            </a:r>
          </a:p>
        </p:txBody>
      </p:sp>
      <p:graphicFrame>
        <p:nvGraphicFramePr>
          <p:cNvPr id="12" name="Table 11"/>
          <p:cNvGraphicFramePr>
            <a:graphicFrameLocks noGrp="1"/>
          </p:cNvGraphicFramePr>
          <p:nvPr>
            <p:extLst>
              <p:ext uri="{D42A27DB-BD31-4B8C-83A1-F6EECF244321}">
                <p14:modId xmlns:p14="http://schemas.microsoft.com/office/powerpoint/2010/main" val="67470468"/>
              </p:ext>
            </p:extLst>
          </p:nvPr>
        </p:nvGraphicFramePr>
        <p:xfrm>
          <a:off x="304800" y="1381125"/>
          <a:ext cx="8534400" cy="46634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Guidance</a:t>
                      </a:r>
                      <a:endParaRPr lang="en-US" dirty="0"/>
                    </a:p>
                  </a:txBody>
                  <a:tcPr anchor="ctr">
                    <a:solidFill>
                      <a:srgbClr val="CCCCCC"/>
                    </a:solidFill>
                  </a:tcPr>
                </a:tc>
                <a:tc>
                  <a:txBody>
                    <a:bodyPr/>
                    <a:lstStyle/>
                    <a:p>
                      <a:r>
                        <a:rPr lang="en-US" sz="1200" b="0" i="0" kern="1200" dirty="0" smtClean="0">
                          <a:solidFill>
                            <a:schemeClr val="tx1"/>
                          </a:solidFill>
                          <a:latin typeface="+mj-lt"/>
                          <a:ea typeface="+mn-ea"/>
                          <a:cs typeface="+mn-cs"/>
                        </a:rPr>
                        <a:t>Table 1:</a:t>
                      </a:r>
                      <a:endParaRPr lang="en-US" sz="1200" b="0" i="0" kern="1200" baseline="0" dirty="0" smtClean="0">
                        <a:solidFill>
                          <a:schemeClr val="tx1"/>
                        </a:solidFill>
                        <a:latin typeface="+mj-lt"/>
                        <a:ea typeface="+mn-ea"/>
                        <a:cs typeface="+mn-cs"/>
                      </a:endParaRPr>
                    </a:p>
                    <a:p>
                      <a:pPr marL="171450" indent="-171450">
                        <a:buFont typeface="Arial"/>
                        <a:buChar char="•"/>
                      </a:pPr>
                      <a:r>
                        <a:rPr lang="en-US" sz="1200" b="0" i="0" kern="1200" baseline="0" dirty="0" smtClean="0">
                          <a:solidFill>
                            <a:schemeClr val="tx1"/>
                          </a:solidFill>
                          <a:latin typeface="+mj-lt"/>
                          <a:ea typeface="+mn-ea"/>
                          <a:cs typeface="+mn-cs"/>
                        </a:rPr>
                        <a:t># of aircrafts: how many aircrafts AA has in its fleet</a:t>
                      </a:r>
                    </a:p>
                    <a:p>
                      <a:pPr marL="171450" indent="-171450">
                        <a:buFont typeface="Arial"/>
                        <a:buChar char="•"/>
                      </a:pPr>
                      <a:r>
                        <a:rPr lang="en-US" sz="1200" b="0" i="0" kern="1200" baseline="0" dirty="0" smtClean="0">
                          <a:solidFill>
                            <a:schemeClr val="tx1"/>
                          </a:solidFill>
                          <a:latin typeface="+mj-lt"/>
                          <a:ea typeface="+mn-ea"/>
                          <a:cs typeface="+mn-cs"/>
                        </a:rPr>
                        <a:t>Capacity: number of passengers that each aircraft can fly</a:t>
                      </a:r>
                      <a:endParaRPr lang="en-US" sz="1200" b="0" i="0" kern="1200" dirty="0" smtClean="0">
                        <a:solidFill>
                          <a:schemeClr val="tx1"/>
                        </a:solidFill>
                        <a:latin typeface="+mj-lt"/>
                        <a:ea typeface="+mn-ea"/>
                        <a:cs typeface="+mn-cs"/>
                      </a:endParaRPr>
                    </a:p>
                    <a:p>
                      <a:pPr marL="171450" indent="-171450">
                        <a:buFont typeface="Arial"/>
                        <a:buChar char="•"/>
                      </a:pPr>
                      <a:r>
                        <a:rPr lang="en-US" sz="1200" b="0" i="0" kern="1200" dirty="0" smtClean="0">
                          <a:solidFill>
                            <a:schemeClr val="tx1"/>
                          </a:solidFill>
                          <a:latin typeface="+mj-lt"/>
                          <a:ea typeface="+mn-ea"/>
                          <a:cs typeface="+mn-cs"/>
                        </a:rPr>
                        <a:t>Fixed cost: fuel,</a:t>
                      </a:r>
                      <a:r>
                        <a:rPr lang="en-US" sz="1200" b="0" i="0" kern="1200" baseline="0" dirty="0" smtClean="0">
                          <a:solidFill>
                            <a:schemeClr val="tx1"/>
                          </a:solidFill>
                          <a:latin typeface="+mj-lt"/>
                          <a:ea typeface="+mn-ea"/>
                          <a:cs typeface="+mn-cs"/>
                        </a:rPr>
                        <a:t> maintenance and flight crew</a:t>
                      </a:r>
                    </a:p>
                    <a:p>
                      <a:pPr marL="171450" indent="-171450">
                        <a:buFont typeface="Arial"/>
                        <a:buChar char="•"/>
                      </a:pPr>
                      <a:endParaRPr lang="en-US" sz="1200" b="0" i="0" kern="1200" baseline="0" dirty="0" smtClean="0">
                        <a:solidFill>
                          <a:schemeClr val="tx1"/>
                        </a:solidFill>
                        <a:latin typeface="+mj-lt"/>
                        <a:ea typeface="+mn-ea"/>
                        <a:cs typeface="+mn-cs"/>
                      </a:endParaRPr>
                    </a:p>
                    <a:p>
                      <a:pPr marL="0" indent="0">
                        <a:buFont typeface="Arial"/>
                        <a:buNone/>
                      </a:pPr>
                      <a:r>
                        <a:rPr lang="en-US" sz="1200" b="0" i="0" kern="1200" baseline="0" dirty="0" smtClean="0">
                          <a:solidFill>
                            <a:schemeClr val="tx1"/>
                          </a:solidFill>
                          <a:latin typeface="+mj-lt"/>
                          <a:ea typeface="+mn-ea"/>
                          <a:cs typeface="+mn-cs"/>
                        </a:rPr>
                        <a:t>Table 2:</a:t>
                      </a:r>
                    </a:p>
                    <a:p>
                      <a:pPr marL="171450" indent="-171450">
                        <a:buFont typeface="Arial"/>
                        <a:buChar char="•"/>
                      </a:pPr>
                      <a:r>
                        <a:rPr lang="en-US" sz="1200" b="0" i="0" kern="1200" baseline="0" dirty="0" smtClean="0">
                          <a:solidFill>
                            <a:schemeClr val="tx1"/>
                          </a:solidFill>
                          <a:latin typeface="+mj-lt"/>
                          <a:ea typeface="+mn-ea"/>
                          <a:cs typeface="+mn-cs"/>
                        </a:rPr>
                        <a:t>Avg. load factor: avg. number of passengers/aircraft capacity</a:t>
                      </a:r>
                    </a:p>
                    <a:p>
                      <a:pPr marL="171450" indent="-171450">
                        <a:buFont typeface="Arial"/>
                        <a:buChar char="•"/>
                      </a:pPr>
                      <a:r>
                        <a:rPr lang="en-US" sz="1200" b="0" i="0" kern="1200" baseline="0" dirty="0" smtClean="0">
                          <a:solidFill>
                            <a:schemeClr val="tx1"/>
                          </a:solidFill>
                          <a:latin typeface="+mj-lt"/>
                          <a:ea typeface="+mn-ea"/>
                          <a:cs typeface="+mn-cs"/>
                        </a:rPr>
                        <a:t>Avg. round trip fare: this average includes first, business and coach classes</a:t>
                      </a:r>
                    </a:p>
                    <a:p>
                      <a:pPr marL="171450" indent="-171450">
                        <a:buFont typeface="Arial"/>
                        <a:buChar char="•"/>
                      </a:pPr>
                      <a:r>
                        <a:rPr lang="en-US" sz="1200" b="0" i="0" kern="1200" baseline="0" dirty="0" smtClean="0">
                          <a:solidFill>
                            <a:schemeClr val="tx1"/>
                          </a:solidFill>
                          <a:latin typeface="+mj-lt"/>
                          <a:ea typeface="+mn-ea"/>
                          <a:cs typeface="+mn-cs"/>
                        </a:rPr>
                        <a:t>Avg. time on air: time that the aircraft is actually flying</a:t>
                      </a:r>
                    </a:p>
                    <a:p>
                      <a:pPr marL="171450" indent="-171450">
                        <a:buFont typeface="Arial"/>
                        <a:buChar char="•"/>
                      </a:pPr>
                      <a:r>
                        <a:rPr lang="en-US" sz="1200" b="0" i="0" kern="1200" baseline="0" dirty="0" smtClean="0">
                          <a:solidFill>
                            <a:schemeClr val="tx1"/>
                          </a:solidFill>
                          <a:latin typeface="+mj-lt"/>
                          <a:ea typeface="+mn-ea"/>
                          <a:cs typeface="+mn-cs"/>
                        </a:rPr>
                        <a:t>Avg. time on land: avg. time to clean, refuel, and board the passengers</a:t>
                      </a:r>
                    </a:p>
                    <a:p>
                      <a:pPr marL="0" indent="0">
                        <a:buFont typeface="Arial"/>
                        <a:buNone/>
                      </a:pPr>
                      <a:r>
                        <a:rPr lang="en-US" sz="1200" b="0" i="0" kern="1200" baseline="0" dirty="0" smtClean="0">
                          <a:solidFill>
                            <a:schemeClr val="tx1"/>
                          </a:solidFill>
                          <a:latin typeface="+mj-lt"/>
                          <a:ea typeface="+mn-ea"/>
                          <a:cs typeface="+mn-cs"/>
                        </a:rPr>
                        <a:t>Note that the total time per flight is the avg. time on air + avg. time on land</a:t>
                      </a:r>
                    </a:p>
                    <a:p>
                      <a:pPr marL="0" indent="0">
                        <a:buFont typeface="Arial"/>
                        <a:buNone/>
                      </a:pPr>
                      <a:endParaRPr lang="en-US" sz="1200" b="0" i="0" kern="1200" baseline="0" dirty="0" smtClean="0">
                        <a:solidFill>
                          <a:schemeClr val="tx1"/>
                        </a:solidFill>
                        <a:latin typeface="+mj-lt"/>
                        <a:ea typeface="+mn-ea"/>
                        <a:cs typeface="+mn-cs"/>
                      </a:endParaRPr>
                    </a:p>
                    <a:p>
                      <a:pPr marL="0" indent="0">
                        <a:buFont typeface="Arial"/>
                        <a:buNone/>
                      </a:pPr>
                      <a:r>
                        <a:rPr lang="en-US" sz="1200" b="0" i="0" kern="1200" baseline="0" dirty="0" smtClean="0">
                          <a:solidFill>
                            <a:schemeClr val="tx1"/>
                          </a:solidFill>
                          <a:latin typeface="+mj-lt"/>
                          <a:ea typeface="+mn-ea"/>
                          <a:cs typeface="+mn-cs"/>
                        </a:rPr>
                        <a:t>Table 3:</a:t>
                      </a:r>
                    </a:p>
                    <a:p>
                      <a:pPr marL="171450" indent="-171450">
                        <a:buFont typeface="Arial"/>
                        <a:buChar char="•"/>
                      </a:pPr>
                      <a:r>
                        <a:rPr lang="en-US" sz="1200" b="0" i="0" kern="1200" baseline="0" dirty="0" smtClean="0">
                          <a:solidFill>
                            <a:schemeClr val="tx1"/>
                          </a:solidFill>
                          <a:latin typeface="+mj-lt"/>
                          <a:ea typeface="+mn-ea"/>
                          <a:cs typeface="+mn-cs"/>
                        </a:rPr>
                        <a:t>All variable costs are a % of the round trip fare. That is, the variable cost for a domestic flight is 25% x $200 = $50 </a:t>
                      </a:r>
                      <a:r>
                        <a:rPr lang="en-US" sz="1200" b="0" i="0" kern="1200" baseline="0" dirty="0" smtClean="0">
                          <a:solidFill>
                            <a:schemeClr val="tx1"/>
                          </a:solidFill>
                          <a:latin typeface="+mj-lt"/>
                          <a:ea typeface="+mn-ea"/>
                          <a:cs typeface="+mn-cs"/>
                          <a:sym typeface="Wingdings"/>
                        </a:rPr>
                        <a:t> variable cost per flight = $50 / 2 = $25</a:t>
                      </a:r>
                    </a:p>
                    <a:p>
                      <a:pPr marL="171450" indent="-171450">
                        <a:buFont typeface="Arial"/>
                        <a:buChar char="•"/>
                      </a:pPr>
                      <a:endParaRPr lang="en-US" sz="1200" b="0" i="0" kern="1200" baseline="0" dirty="0" smtClean="0">
                        <a:solidFill>
                          <a:schemeClr val="tx1"/>
                        </a:solidFill>
                        <a:latin typeface="+mj-lt"/>
                        <a:ea typeface="+mn-ea"/>
                        <a:cs typeface="+mn-cs"/>
                        <a:sym typeface="Wingding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There is some useless information. The candidate should ignore: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All data regarding International flights </a:t>
                      </a:r>
                      <a:r>
                        <a:rPr lang="en-US" sz="1200" b="0" i="0" kern="1200" baseline="0" dirty="0" smtClean="0">
                          <a:solidFill>
                            <a:schemeClr val="tx1"/>
                          </a:solidFill>
                          <a:latin typeface="+mn-lt"/>
                          <a:ea typeface="+mn-ea"/>
                          <a:cs typeface="+mn-cs"/>
                          <a:sym typeface="Wingdings"/>
                        </a:rPr>
                        <a:t> the case is about domestic flights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sym typeface="Wingdings"/>
                        </a:rPr>
                        <a:t>Fixed Cost  the plane is flying anyway so the profit of an extra passenger should not consider the fixed cost</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1" i="0" kern="1200" baseline="0" dirty="0" smtClean="0">
                        <a:solidFill>
                          <a:schemeClr val="tx1"/>
                        </a:solidFill>
                        <a:latin typeface="+mn-lt"/>
                        <a:ea typeface="+mn-ea"/>
                        <a:cs typeface="+mn-cs"/>
                        <a:sym typeface="Wingding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sym typeface="Wingdings"/>
                        </a:rPr>
                        <a:t>The candidate should calculate the additional profit in dollars. Therefore, he/she may also ignore the aircraft capacity, and load factor. He/she can</a:t>
                      </a:r>
                      <a:r>
                        <a:rPr lang="en-US" sz="1200" b="1" i="0" kern="1200" baseline="0" dirty="0" smtClean="0">
                          <a:solidFill>
                            <a:schemeClr val="tx1"/>
                          </a:solidFill>
                          <a:latin typeface="+mn-lt"/>
                          <a:ea typeface="+mn-ea"/>
                          <a:cs typeface="+mn-cs"/>
                          <a:sym typeface="Wingdings"/>
                        </a:rPr>
                        <a:t> </a:t>
                      </a:r>
                      <a:r>
                        <a:rPr lang="en-US" sz="1200" b="0" i="0" kern="1200" baseline="0" dirty="0" smtClean="0">
                          <a:solidFill>
                            <a:schemeClr val="tx1"/>
                          </a:solidFill>
                          <a:latin typeface="+mn-lt"/>
                          <a:ea typeface="+mn-ea"/>
                          <a:cs typeface="+mn-cs"/>
                          <a:sym typeface="Wingdings"/>
                        </a:rPr>
                        <a:t>solve this case by using only the number of domestic aircrafts, avg. time on air, avg. time on land, variable costs, and round trip fares.</a:t>
                      </a:r>
                    </a:p>
                    <a:p>
                      <a:pPr marL="0" indent="0">
                        <a:buFont typeface="Arial"/>
                        <a:buNone/>
                      </a:pPr>
                      <a:endParaRPr lang="en-US" sz="1200" b="0" i="0" kern="1200" baseline="0" dirty="0" smtClean="0">
                        <a:solidFill>
                          <a:schemeClr val="tx1"/>
                        </a:solidFill>
                        <a:latin typeface="+mj-lt"/>
                        <a:ea typeface="+mn-ea"/>
                        <a:cs typeface="+mn-cs"/>
                      </a:endParaRPr>
                    </a:p>
                  </a:txBody>
                  <a:tcPr>
                    <a:solidFill>
                      <a:srgbClr val="CCCCCC"/>
                    </a:solidFill>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72</a:t>
            </a:fld>
            <a:endParaRPr lang="en-US" dirty="0"/>
          </a:p>
        </p:txBody>
      </p:sp>
    </p:spTree>
    <p:extLst>
      <p:ext uri="{BB962C8B-B14F-4D97-AF65-F5344CB8AC3E}">
        <p14:creationId xmlns:p14="http://schemas.microsoft.com/office/powerpoint/2010/main" val="199715015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9: American Airlines</a:t>
            </a:r>
          </a:p>
        </p:txBody>
      </p:sp>
      <p:graphicFrame>
        <p:nvGraphicFramePr>
          <p:cNvPr id="12" name="Table 11"/>
          <p:cNvGraphicFramePr>
            <a:graphicFrameLocks noGrp="1"/>
          </p:cNvGraphicFramePr>
          <p:nvPr>
            <p:extLst>
              <p:ext uri="{D42A27DB-BD31-4B8C-83A1-F6EECF244321}">
                <p14:modId xmlns:p14="http://schemas.microsoft.com/office/powerpoint/2010/main" val="1481588918"/>
              </p:ext>
            </p:extLst>
          </p:nvPr>
        </p:nvGraphicFramePr>
        <p:xfrm>
          <a:off x="304800" y="1381125"/>
          <a:ext cx="8534400" cy="39319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Guidance</a:t>
                      </a:r>
                      <a:endParaRPr lang="en-US" dirty="0"/>
                    </a:p>
                  </a:txBody>
                  <a:tcPr anchor="ctr">
                    <a:solidFill>
                      <a:srgbClr val="CCCCCC"/>
                    </a:solidFill>
                  </a:tcPr>
                </a:tc>
                <a:tc>
                  <a:txBody>
                    <a:bodyPr/>
                    <a:lstStyle/>
                    <a:p>
                      <a:r>
                        <a:rPr lang="en-US" sz="1200" b="0" i="0" kern="1200" baseline="0" dirty="0" smtClean="0">
                          <a:solidFill>
                            <a:schemeClr val="tx1"/>
                          </a:solidFill>
                          <a:latin typeface="+mj-lt"/>
                          <a:ea typeface="+mn-ea"/>
                          <a:cs typeface="+mn-cs"/>
                        </a:rPr>
                        <a:t>Assumption: the company operates 24 hours a day, and 360 days per year.</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The easiest way to calculate the additional profit is calculating how many domestic flights AA operates per year and the profit per flight that the additional passenger brings.</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Calculating the number of flights per year:</a:t>
                      </a:r>
                    </a:p>
                    <a:p>
                      <a:r>
                        <a:rPr lang="en-US" sz="1200" b="0" i="0" kern="1200" baseline="0" dirty="0" smtClean="0">
                          <a:solidFill>
                            <a:schemeClr val="tx1"/>
                          </a:solidFill>
                          <a:latin typeface="+mj-lt"/>
                          <a:ea typeface="+mn-ea"/>
                          <a:cs typeface="+mn-cs"/>
                        </a:rPr>
                        <a:t># of aircrafts (domestic only): 180 + 125 + 195 = 500</a:t>
                      </a:r>
                    </a:p>
                    <a:p>
                      <a:r>
                        <a:rPr lang="en-US" sz="1200" b="0" i="0" kern="1200" baseline="0" dirty="0" smtClean="0">
                          <a:solidFill>
                            <a:schemeClr val="tx1"/>
                          </a:solidFill>
                          <a:latin typeface="+mj-lt"/>
                          <a:ea typeface="+mn-ea"/>
                          <a:cs typeface="+mn-cs"/>
                        </a:rPr>
                        <a:t>Avg. time per flight = avg. time on air + avg. time on land = 2 + 0.5 = 2.5 hours</a:t>
                      </a:r>
                    </a:p>
                    <a:p>
                      <a:r>
                        <a:rPr lang="en-US" sz="1200" b="0" i="0" kern="1200" baseline="0" dirty="0" smtClean="0">
                          <a:solidFill>
                            <a:schemeClr val="tx1"/>
                          </a:solidFill>
                          <a:latin typeface="+mj-lt"/>
                          <a:ea typeface="+mn-ea"/>
                          <a:cs typeface="+mn-cs"/>
                        </a:rPr>
                        <a:t>Avg. flights per day per aircraft = 24 hours / 2.5 hours = 9.6 (can be rounded to 10 per day)</a:t>
                      </a:r>
                    </a:p>
                    <a:p>
                      <a:r>
                        <a:rPr lang="en-US" sz="1200" b="0" i="0" kern="1200" baseline="0" dirty="0" smtClean="0">
                          <a:solidFill>
                            <a:schemeClr val="tx1"/>
                          </a:solidFill>
                          <a:latin typeface="+mj-lt"/>
                          <a:ea typeface="+mn-ea"/>
                          <a:cs typeface="+mn-cs"/>
                        </a:rPr>
                        <a:t>Total flights per year = # of aircrafts x avg. flights per day x 360 = 500 x 10 x 360 = 1,800,000 flights</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Calculating the additional profit per flight that an additional passenger brings:</a:t>
                      </a:r>
                    </a:p>
                    <a:p>
                      <a:r>
                        <a:rPr lang="en-US" sz="1200" b="0" i="0" kern="1200" baseline="0" dirty="0" smtClean="0">
                          <a:solidFill>
                            <a:schemeClr val="tx1"/>
                          </a:solidFill>
                          <a:latin typeface="+mj-lt"/>
                          <a:ea typeface="+mn-ea"/>
                          <a:cs typeface="+mn-cs"/>
                        </a:rPr>
                        <a:t>Avg. fare per flight = round trip fare / 2 = $200 / 2 = $100</a:t>
                      </a:r>
                    </a:p>
                    <a:p>
                      <a:r>
                        <a:rPr lang="en-US" sz="1200" b="0" i="0" kern="1200" baseline="0" dirty="0" smtClean="0">
                          <a:solidFill>
                            <a:schemeClr val="tx1"/>
                          </a:solidFill>
                          <a:latin typeface="+mj-lt"/>
                          <a:ea typeface="+mn-ea"/>
                          <a:cs typeface="+mn-cs"/>
                        </a:rPr>
                        <a:t>Variable Cost = (10% + 10% + 5%) x $100 = $25</a:t>
                      </a:r>
                    </a:p>
                    <a:p>
                      <a:r>
                        <a:rPr lang="en-US" sz="1200" b="0" i="0" kern="1200" baseline="0" dirty="0" smtClean="0">
                          <a:solidFill>
                            <a:schemeClr val="tx1"/>
                          </a:solidFill>
                          <a:latin typeface="+mj-lt"/>
                          <a:ea typeface="+mn-ea"/>
                          <a:cs typeface="+mn-cs"/>
                        </a:rPr>
                        <a:t>Additional Profit per passenger = Revenue – Variable Cost = $100 - $25 = $75</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Additional profit per year = $75 x 1,800,000 = $135,000,000 = $135 M</a:t>
                      </a:r>
                    </a:p>
                    <a:p>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There are other ways to reach the same result. The calculations above show the easiest way. Help the candidate only if he/she gets stuck with the numbers.</a:t>
                      </a:r>
                      <a:endParaRPr lang="en-US" sz="1200" b="0" i="0" kern="1200" baseline="0" dirty="0" smtClean="0">
                        <a:solidFill>
                          <a:schemeClr val="tx1"/>
                        </a:solidFill>
                        <a:latin typeface="+mj-lt"/>
                        <a:ea typeface="+mn-ea"/>
                        <a:cs typeface="+mn-cs"/>
                      </a:endParaRPr>
                    </a:p>
                    <a:p>
                      <a:endParaRPr lang="en-US" sz="1200" b="0" i="1" kern="1200" baseline="0" dirty="0" smtClean="0">
                        <a:solidFill>
                          <a:schemeClr val="tx1"/>
                        </a:solidFill>
                        <a:latin typeface="+mj-lt"/>
                        <a:ea typeface="+mn-ea"/>
                        <a:cs typeface="+mn-cs"/>
                      </a:endParaRPr>
                    </a:p>
                  </a:txBody>
                  <a:tcPr>
                    <a:solidFill>
                      <a:srgbClr val="CCCCCC"/>
                    </a:solidFill>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73</a:t>
            </a:fld>
            <a:endParaRPr lang="en-US" dirty="0"/>
          </a:p>
        </p:txBody>
      </p:sp>
    </p:spTree>
    <p:extLst>
      <p:ext uri="{BB962C8B-B14F-4D97-AF65-F5344CB8AC3E}">
        <p14:creationId xmlns:p14="http://schemas.microsoft.com/office/powerpoint/2010/main" val="273640425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9: American Airlines</a:t>
            </a:r>
          </a:p>
        </p:txBody>
      </p:sp>
      <p:graphicFrame>
        <p:nvGraphicFramePr>
          <p:cNvPr id="12" name="Table 11"/>
          <p:cNvGraphicFramePr>
            <a:graphicFrameLocks noGrp="1"/>
          </p:cNvGraphicFramePr>
          <p:nvPr>
            <p:extLst>
              <p:ext uri="{D42A27DB-BD31-4B8C-83A1-F6EECF244321}">
                <p14:modId xmlns:p14="http://schemas.microsoft.com/office/powerpoint/2010/main" val="1318932065"/>
              </p:ext>
            </p:extLst>
          </p:nvPr>
        </p:nvGraphicFramePr>
        <p:xfrm>
          <a:off x="304800" y="1381125"/>
          <a:ext cx="8534400" cy="332740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1" i="0" kern="1200" baseline="0" dirty="0" smtClean="0">
                          <a:solidFill>
                            <a:schemeClr val="tx1"/>
                          </a:solidFill>
                          <a:latin typeface="+mj-lt"/>
                          <a:ea typeface="+mn-ea"/>
                          <a:cs typeface="+mn-cs"/>
                        </a:rPr>
                        <a:t>Now that we know the impact of adding one passenger per flight, what can we do to achieve this goal? What else can be done to increase AA’s profitability?</a:t>
                      </a:r>
                    </a:p>
                    <a:p>
                      <a:endParaRPr lang="en-US" sz="1200" b="0" i="1" kern="1200" baseline="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This is a regular “what else” question. The candidate should mention some of the ideas bellow:</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Increase the # of passengers: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Change pricing strategy</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Offer a better customer service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Offer a better “frequent flyer” program (AA Advantage program)</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Increase overall profitability:</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Negotiate fuel prices (fuel represents 30% of the operational cost)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Negotiate with labor unions to reduce salaries/benefits for new hires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Focus on the most profitable routes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Discontinue unprofitable routes</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This case does not require a final recommendation.</a:t>
                      </a:r>
                      <a:endParaRPr lang="en-US" sz="1200" b="0" i="1"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1"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74</a:t>
            </a:fld>
            <a:endParaRPr lang="en-US" dirty="0"/>
          </a:p>
        </p:txBody>
      </p:sp>
    </p:spTree>
    <p:extLst>
      <p:ext uri="{BB962C8B-B14F-4D97-AF65-F5344CB8AC3E}">
        <p14:creationId xmlns:p14="http://schemas.microsoft.com/office/powerpoint/2010/main" val="375789758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9: American Airlines</a:t>
            </a:r>
          </a:p>
        </p:txBody>
      </p:sp>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75</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51991431"/>
              </p:ext>
            </p:extLst>
          </p:nvPr>
        </p:nvGraphicFramePr>
        <p:xfrm>
          <a:off x="304800" y="1371600"/>
          <a:ext cx="8534400" cy="338328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Had a good structure/action plan to calculate the additional profit</a:t>
                      </a:r>
                    </a:p>
                    <a:p>
                      <a:pPr marL="225425" indent="-225425">
                        <a:buFont typeface="Arial" pitchFamily="34" charset="0"/>
                        <a:buChar char="•"/>
                      </a:pPr>
                      <a:r>
                        <a:rPr lang="en-US" sz="1200" b="0" i="0" kern="1200" baseline="0" dirty="0" smtClean="0">
                          <a:solidFill>
                            <a:schemeClr val="tx1"/>
                          </a:solidFill>
                          <a:latin typeface="+mj-lt"/>
                          <a:ea typeface="+mn-ea"/>
                          <a:cs typeface="+mn-cs"/>
                        </a:rPr>
                        <a:t>Correctly calculates the additional profit, but needed some assistance</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Correctly identifies the irrelevant data</a:t>
                      </a:r>
                    </a:p>
                    <a:p>
                      <a:pPr marL="225425" indent="-225425">
                        <a:buFont typeface="Arial" pitchFamily="34" charset="0"/>
                        <a:buChar char="•"/>
                      </a:pPr>
                      <a:r>
                        <a:rPr lang="en-US" sz="1200" b="0" i="0" kern="1200" baseline="0" dirty="0" smtClean="0">
                          <a:solidFill>
                            <a:schemeClr val="tx1"/>
                          </a:solidFill>
                          <a:latin typeface="+mj-lt"/>
                          <a:ea typeface="+mn-ea"/>
                          <a:cs typeface="+mn-cs"/>
                        </a:rPr>
                        <a:t>Could list at least 3 ideas to increase the number of passengers and 3 to increase the overall profitability</a:t>
                      </a:r>
                    </a:p>
                    <a:p>
                      <a:pPr marL="225425" indent="-225425">
                        <a:buFont typeface="Arial" pitchFamily="34" charset="0"/>
                        <a:buChar char="•"/>
                      </a:pPr>
                      <a:r>
                        <a:rPr lang="en-US" sz="1200" b="0" i="0" kern="1200" baseline="0" dirty="0" smtClean="0">
                          <a:solidFill>
                            <a:schemeClr val="tx1"/>
                          </a:solidFill>
                          <a:latin typeface="+mj-lt"/>
                          <a:ea typeface="+mn-ea"/>
                          <a:cs typeface="+mn-cs"/>
                        </a:rPr>
                        <a:t>Could keep the interviewer engaged during the calculations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“Good“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Showed some knowledge of this market</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Could list at least 5 ideas to increase the number of passengers and 5 to increase the overall profitability</a:t>
                      </a:r>
                      <a:endParaRPr lang="en-US" sz="1200" b="0"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Could drive the case and solve it without much help</a:t>
                      </a:r>
                    </a:p>
                    <a:p>
                      <a:pPr marL="225425" indent="-225425">
                        <a:buFont typeface="Arial" pitchFamily="34" charset="0"/>
                        <a:buChar char="•"/>
                      </a:pPr>
                      <a:endParaRPr lang="en-US" sz="1200" b="0" i="0" kern="1200" baseline="0" dirty="0" smtClean="0">
                        <a:solidFill>
                          <a:schemeClr val="tx1"/>
                        </a:solidFill>
                        <a:latin typeface="+mj-lt"/>
                        <a:ea typeface="+mn-ea"/>
                        <a:cs typeface="+mn-cs"/>
                      </a:endParaRPr>
                    </a:p>
                  </a:txBody>
                  <a:tcPr/>
                </a:tc>
              </a:tr>
            </a:tbl>
          </a:graphicData>
        </a:graphic>
      </p:graphicFrame>
    </p:spTree>
    <p:extLst>
      <p:ext uri="{BB962C8B-B14F-4D97-AF65-F5344CB8AC3E}">
        <p14:creationId xmlns:p14="http://schemas.microsoft.com/office/powerpoint/2010/main" val="324244903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76</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10: Piedmont Health</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976793219"/>
              </p:ext>
            </p:extLst>
          </p:nvPr>
        </p:nvGraphicFramePr>
        <p:xfrm>
          <a:off x="304800" y="1381125"/>
          <a:ext cx="8534400" cy="53035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kern="1200" dirty="0" smtClean="0">
                          <a:latin typeface="+mj-lt"/>
                        </a:rPr>
                        <a:t>It</a:t>
                      </a:r>
                      <a:r>
                        <a:rPr lang="en-US" sz="1200" b="0" kern="1200" baseline="0" dirty="0" smtClean="0">
                          <a:latin typeface="+mj-lt"/>
                        </a:rPr>
                        <a:t> is s</a:t>
                      </a:r>
                      <a:r>
                        <a:rPr lang="en-US" sz="1200" b="0" kern="1200" dirty="0" smtClean="0">
                          <a:latin typeface="+mj-lt"/>
                        </a:rPr>
                        <a:t>ummer</a:t>
                      </a:r>
                      <a:r>
                        <a:rPr lang="en-US" sz="1200" b="0" kern="1200" baseline="0" dirty="0" smtClean="0">
                          <a:latin typeface="+mj-lt"/>
                        </a:rPr>
                        <a:t> 2012 and y</a:t>
                      </a:r>
                      <a:r>
                        <a:rPr lang="en-US" sz="1200" b="0" kern="1200" dirty="0" smtClean="0">
                          <a:latin typeface="+mj-lt"/>
                        </a:rPr>
                        <a:t>our</a:t>
                      </a:r>
                      <a:r>
                        <a:rPr lang="en-US" sz="1200" b="0" kern="1200" baseline="0" dirty="0" smtClean="0">
                          <a:latin typeface="+mj-lt"/>
                        </a:rPr>
                        <a:t> client is a</a:t>
                      </a:r>
                      <a:r>
                        <a:rPr lang="en-US" sz="1200" b="0" kern="1200" dirty="0" smtClean="0">
                          <a:latin typeface="+mj-lt"/>
                        </a:rPr>
                        <a:t> healthcare delivery</a:t>
                      </a:r>
                      <a:r>
                        <a:rPr lang="en-US" sz="1200" b="0" kern="1200" baseline="0" dirty="0" smtClean="0">
                          <a:latin typeface="+mj-lt"/>
                        </a:rPr>
                        <a:t> system in North Carolina that is currently in a strong financial situation but anticipates a 30% decline in revenue over the next few years. </a:t>
                      </a:r>
                    </a:p>
                    <a:p>
                      <a:endParaRPr lang="en-US" sz="1200" b="0" kern="1200" baseline="0" dirty="0" smtClean="0">
                        <a:latin typeface="+mj-lt"/>
                      </a:endParaRPr>
                    </a:p>
                    <a:p>
                      <a:r>
                        <a:rPr lang="en-US" sz="1200" b="1" kern="1200" baseline="0" dirty="0" smtClean="0">
                          <a:latin typeface="+mj-lt"/>
                        </a:rPr>
                        <a:t>How can you help them protect their margins in the future?</a:t>
                      </a:r>
                    </a:p>
                    <a:p>
                      <a:endParaRPr lang="en-US" sz="1200" b="1" i="1"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This is</a:t>
                      </a:r>
                      <a:r>
                        <a:rPr lang="en-US" sz="1200" b="0" i="0" kern="1200" baseline="0" dirty="0" smtClean="0">
                          <a:solidFill>
                            <a:schemeClr val="tx1"/>
                          </a:solidFill>
                          <a:latin typeface="+mj-lt"/>
                          <a:ea typeface="+mn-ea"/>
                          <a:cs typeface="+mn-cs"/>
                        </a:rPr>
                        <a:t> a </a:t>
                      </a:r>
                      <a:r>
                        <a:rPr lang="en-US" sz="1200" b="0" i="0" kern="1200" dirty="0" smtClean="0">
                          <a:solidFill>
                            <a:schemeClr val="tx1"/>
                          </a:solidFill>
                          <a:latin typeface="+mj-lt"/>
                          <a:ea typeface="+mn-ea"/>
                          <a:cs typeface="+mn-cs"/>
                        </a:rPr>
                        <a:t>profitability case focused on a health care delivery system. The objective of this case is to</a:t>
                      </a:r>
                      <a:r>
                        <a:rPr lang="en-US" sz="1200" b="0" i="0" kern="1200" baseline="0" dirty="0" smtClean="0">
                          <a:solidFill>
                            <a:schemeClr val="tx1"/>
                          </a:solidFill>
                          <a:latin typeface="+mj-lt"/>
                          <a:ea typeface="+mn-ea"/>
                          <a:cs typeface="+mn-cs"/>
                        </a:rPr>
                        <a:t> test knowledge about the healthcare industry and current events, </a:t>
                      </a:r>
                      <a:r>
                        <a:rPr lang="en-US" sz="1200" b="0" i="0" kern="1200" dirty="0" smtClean="0">
                          <a:solidFill>
                            <a:schemeClr val="tx1"/>
                          </a:solidFill>
                          <a:latin typeface="+mj-lt"/>
                          <a:ea typeface="+mn-ea"/>
                          <a:cs typeface="+mn-cs"/>
                        </a:rPr>
                        <a:t>think creatively</a:t>
                      </a:r>
                      <a:r>
                        <a:rPr lang="en-US" sz="1200" b="0" i="0" kern="1200" baseline="0" dirty="0" smtClean="0">
                          <a:solidFill>
                            <a:schemeClr val="tx1"/>
                          </a:solidFill>
                          <a:latin typeface="+mj-lt"/>
                          <a:ea typeface="+mn-ea"/>
                          <a:cs typeface="+mn-cs"/>
                        </a:rPr>
                        <a:t> about problems current hospital and care providers face and test the candidate’s ability to present solutions to overcome these challenges. </a:t>
                      </a: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Ideally, before the candidate starts her framework, he/she should ask clarifying questions to get a better understanding of the client’s situation and see that they are not interested in top line growth, product mix or different revenue streams, but rather in capturing typically “lost” revenue &amp; improving their cost structure.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Piedmont Health: a network of affiliate hospitals, specialty care centers, medical foundations (groups of physicians), university and research centers in NC only. The health care delivery system is not-for-profit and primarily serves low-income communities. No one is ever turned away from services by Piedmont Heath. Piedmont Health has grown significantly in size over the past 20 years by acquiring affiliates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Revenue: last year’s revenue was $20 B</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Revenue Write-offs: </a:t>
                      </a:r>
                      <a:r>
                        <a:rPr lang="en-US" sz="1200" b="0" i="0" u="none" kern="1200" baseline="0" dirty="0" smtClean="0">
                          <a:solidFill>
                            <a:schemeClr val="tx1"/>
                          </a:solidFill>
                          <a:latin typeface="+mj-lt"/>
                          <a:ea typeface="+mn-ea"/>
                          <a:cs typeface="+mn-cs"/>
                        </a:rPr>
                        <a:t>currently, Piedmont Health has to write-off $5 B in uncollected payments for provided care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Payer Mix: 80% of Payers are on Medicare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Reasons for expected revenue decline: With the recent passing of the Affordable Care Act and other anticipated federal and state legislation, not-for-profit hospitals can expect to see an increase in uncompensated care and a decrease in the reimbursement amounts by Medicare </a:t>
                      </a: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Profitability-Healthcare</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Accenture</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77</a:t>
            </a:fld>
            <a:endParaRPr lang="en-US" dirty="0"/>
          </a:p>
        </p:txBody>
      </p:sp>
    </p:spTree>
    <p:extLst>
      <p:ext uri="{BB962C8B-B14F-4D97-AF65-F5344CB8AC3E}">
        <p14:creationId xmlns:p14="http://schemas.microsoft.com/office/powerpoint/2010/main" val="323187870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78</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420421335"/>
              </p:ext>
            </p:extLst>
          </p:nvPr>
        </p:nvGraphicFramePr>
        <p:xfrm>
          <a:off x="304800" y="1295400"/>
          <a:ext cx="8534400" cy="5029200"/>
        </p:xfrm>
        <a:graphic>
          <a:graphicData uri="http://schemas.openxmlformats.org/drawingml/2006/table">
            <a:tbl>
              <a:tblPr firstRow="1" bandRow="1">
                <a:tableStyleId>{616DA210-FB5B-4158-B5E0-FEB733F419BA}</a:tableStyleId>
              </a:tblPr>
              <a:tblGrid>
                <a:gridCol w="1600200"/>
                <a:gridCol w="6934200"/>
              </a:tblGrid>
              <a:tr h="486843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rgbClr val="CCCCCC"/>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j-lt"/>
                          <a:ea typeface="+mn-ea"/>
                          <a:cs typeface="+mn-cs"/>
                        </a:rPr>
                        <a:t>The ideal recommendations should touch upon some of the points given below. Use the information provided to engage in a discussion with the candidate about certain areas if they do not mention them. </a:t>
                      </a: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j-lt"/>
                          <a:ea typeface="+mn-ea"/>
                          <a:cs typeface="+mn-cs"/>
                        </a:rPr>
                        <a:t>The key to unlocking the revenue capture and cost savings for this client is noting that they are a network of unique affiliates that have been cobbled together over the past 20 years, each with their own way of doing business from processing vendor bills, to billing patients, to ordering medical supplies. These redundant and overlapping business processes result in higher costs due to a greater number of employees than needed and in less captured revenue and higher costs due to inefficiencies. </a:t>
                      </a: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j-lt"/>
                          <a:ea typeface="+mn-ea"/>
                          <a:cs typeface="+mn-cs"/>
                        </a:rPr>
                        <a:t>Prevent losses in revenue:</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Billing: can they standardize and clarify their billing processes to prevent denials from Medicare and other providers? Can they reduce the amount of time it takes from date of care to date a bill is sent to get money in more quickly?</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Collections &amp; financial counseling: can they expand their collections office to include more financial counselors to provide advice, guidance and help setup payment plans for low-income patients?</a:t>
                      </a: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j-lt"/>
                          <a:ea typeface="+mn-ea"/>
                          <a:cs typeface="+mn-cs"/>
                        </a:rPr>
                        <a:t>Cut costs:</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Energy-efficiency: can they reduce utility costs by reducing energy usage? </a:t>
                      </a:r>
                    </a:p>
                    <a:p>
                      <a:pPr marL="1085850" marR="0" lvl="2"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Look at when computer and medical equipment is turned on, but not being used. Putting in sleep mode or turning off could save $</a:t>
                      </a:r>
                    </a:p>
                    <a:p>
                      <a:pPr marL="1085850" marR="0" lvl="2"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Examine facility lighting. Many lighting fixtures have multiple florescent bulbs. If one was removed, there would still be adequate light with lower electricity and blub costs</a:t>
                      </a:r>
                    </a:p>
                    <a:p>
                      <a:pPr marL="1085850" marR="0" lvl="2"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Are utilities in the state regulated? If de-regulated, PH could investigate different purchasing plans (fixed vs. variable rates) to decrease costs</a:t>
                      </a:r>
                    </a:p>
                    <a:p>
                      <a:pPr marL="914400" marR="0" lvl="2"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txBody>
                  <a:tcPr>
                    <a:solidFill>
                      <a:srgbClr val="CCCCCC"/>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Profitability-Healthcare</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Accenture</a:t>
            </a:r>
            <a:endParaRPr lang="en-US" sz="1400" i="1" dirty="0"/>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10: Piedmont Health</a:t>
            </a:r>
            <a:endParaRPr lang="en-US" sz="2400" b="1" dirty="0"/>
          </a:p>
        </p:txBody>
      </p:sp>
    </p:spTree>
    <p:extLst>
      <p:ext uri="{BB962C8B-B14F-4D97-AF65-F5344CB8AC3E}">
        <p14:creationId xmlns:p14="http://schemas.microsoft.com/office/powerpoint/2010/main" val="409233476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79</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603920901"/>
              </p:ext>
            </p:extLst>
          </p:nvPr>
        </p:nvGraphicFramePr>
        <p:xfrm>
          <a:off x="304800" y="1295401"/>
          <a:ext cx="8534400" cy="4251158"/>
        </p:xfrm>
        <a:graphic>
          <a:graphicData uri="http://schemas.openxmlformats.org/drawingml/2006/table">
            <a:tbl>
              <a:tblPr firstRow="1" bandRow="1">
                <a:tableStyleId>{616DA210-FB5B-4158-B5E0-FEB733F419BA}</a:tableStyleId>
              </a:tblPr>
              <a:tblGrid>
                <a:gridCol w="1600200"/>
                <a:gridCol w="6934200"/>
              </a:tblGrid>
              <a:tr h="425115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rgbClr val="CCCCCC"/>
                    </a:solidFill>
                  </a:tcPr>
                </a:tc>
                <a:tc>
                  <a:txBody>
                    <a:bodyPr/>
                    <a:lstStyle/>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Biomedical assets:</a:t>
                      </a:r>
                    </a:p>
                    <a:p>
                      <a:pPr marL="1085850" marR="0" lvl="2"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Loss prevention: how do they track equipment such as wheelchairs to prevent theft or accidental disposal?</a:t>
                      </a:r>
                    </a:p>
                    <a:p>
                      <a:pPr marL="1085850" marR="0" lvl="2"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Equipment purchasing strategy &amp; utilization: how do they think about purchasing equipment such as IV pumps? Do they consider utilization rates or do they base decisions on patient bed count (if there are 300 beds, we need 300 machines)?</a:t>
                      </a:r>
                    </a:p>
                    <a:p>
                      <a:pPr marL="1085850" marR="0" lvl="2"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Suggestions: invest in small GPS trackers to see where equipment is throughout the day &amp; alert client if leaving the premises. Wheelchairs cost a couple thousand dollars and this hospital system “loses” a couple every month. Tracking system would also give data for a utilization analysis to inform future purchasing decisions</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u="none" kern="1200" baseline="0" dirty="0" smtClean="0">
                        <a:solidFill>
                          <a:schemeClr val="tx1"/>
                        </a:solidFill>
                        <a:latin typeface="+mn-lt"/>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Improve supply chain: </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Consolidate strategic sourcing &amp; purchasing: do they purchase by each hospital or care center or do they have a centralized sourcing and purchasing department to procure goods for the entire health care delivery system?</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Suggestions: by consolidating their supply chain processes, they can negotiate favorable rates and discounts with suppliers by leveraging their size and buying power </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u="none" kern="1200" baseline="0" dirty="0" smtClean="0">
                        <a:solidFill>
                          <a:schemeClr val="tx1"/>
                        </a:solidFill>
                        <a:latin typeface="+mn-lt"/>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Workforce analysis:</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Eliminate redundancies: since Piedmont’s affiliates operate as separate business units, is it possible to consolidate support functions such as Finance and HR across the system and reduce the number of employees without an impact on the business?</a:t>
                      </a:r>
                    </a:p>
                  </a:txBody>
                  <a:tcPr>
                    <a:solidFill>
                      <a:srgbClr val="CCCCCC"/>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Profitability-Healthcare</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Accenture</a:t>
            </a:r>
            <a:endParaRPr lang="en-US" sz="1400" i="1" dirty="0"/>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10: Piedmont Health</a:t>
            </a:r>
          </a:p>
        </p:txBody>
      </p:sp>
    </p:spTree>
    <p:extLst>
      <p:ext uri="{BB962C8B-B14F-4D97-AF65-F5344CB8AC3E}">
        <p14:creationId xmlns:p14="http://schemas.microsoft.com/office/powerpoint/2010/main" val="175157712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80</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575280945"/>
              </p:ext>
            </p:extLst>
          </p:nvPr>
        </p:nvGraphicFramePr>
        <p:xfrm>
          <a:off x="304800" y="1371600"/>
          <a:ext cx="8534400" cy="374904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0"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Identifies some areas to explore cost savings</a:t>
                      </a:r>
                    </a:p>
                    <a:p>
                      <a:pPr marL="225425" indent="-225425">
                        <a:buFont typeface="Arial" pitchFamily="34" charset="0"/>
                        <a:buChar char="•"/>
                      </a:pPr>
                      <a:r>
                        <a:rPr lang="en-US" sz="1200" b="0" i="0" kern="1200" baseline="0" dirty="0" smtClean="0">
                          <a:solidFill>
                            <a:schemeClr val="tx1"/>
                          </a:solidFill>
                          <a:latin typeface="+mj-lt"/>
                          <a:ea typeface="+mn-ea"/>
                          <a:cs typeface="+mn-cs"/>
                        </a:rPr>
                        <a:t>Recommends some solutions listed to protect margins</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Asks some clarifying questions to narrow the focus of their framework</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more of the solutions listed with minimal prompting</a:t>
                      </a:r>
                    </a:p>
                    <a:p>
                      <a:pPr marL="225425" indent="-225425">
                        <a:buFont typeface="Arial" pitchFamily="34" charset="0"/>
                        <a:buChar char="•"/>
                      </a:pPr>
                      <a:r>
                        <a:rPr lang="en-US" sz="1200" b="0" i="0" kern="1200" baseline="0" dirty="0" smtClean="0">
                          <a:solidFill>
                            <a:schemeClr val="tx1"/>
                          </a:solidFill>
                          <a:latin typeface="+mj-lt"/>
                          <a:ea typeface="+mn-ea"/>
                          <a:cs typeface="+mn-cs"/>
                        </a:rPr>
                        <a:t>Reaches a conclusion with minimal prompting</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“Good “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Identifies without asking why Piedmont’s revenues may be expected to decline</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most or all of the suggested solutions listed </a:t>
                      </a:r>
                    </a:p>
                    <a:p>
                      <a:pPr marL="225425" indent="-225425">
                        <a:buFont typeface="Arial" pitchFamily="34" charset="0"/>
                        <a:buChar char="•"/>
                      </a:pPr>
                      <a:r>
                        <a:rPr lang="en-US" sz="1200" b="0" i="0" kern="1200" baseline="0" dirty="0" smtClean="0">
                          <a:solidFill>
                            <a:schemeClr val="tx1"/>
                          </a:solidFill>
                          <a:latin typeface="+mj-lt"/>
                          <a:ea typeface="+mn-ea"/>
                          <a:cs typeface="+mn-cs"/>
                        </a:rPr>
                        <a:t>Clearly states the overarching problem of lack of standardization and consolidation as the key cost driver</a:t>
                      </a:r>
                    </a:p>
                    <a:p>
                      <a:pPr marL="225425" indent="-225425">
                        <a:buFont typeface="Arial" pitchFamily="34" charset="0"/>
                        <a:buChar char="•"/>
                      </a:pPr>
                      <a:r>
                        <a:rPr lang="en-US" sz="1200" b="0" i="0" kern="1200" baseline="0" dirty="0" smtClean="0">
                          <a:solidFill>
                            <a:schemeClr val="tx1"/>
                          </a:solidFill>
                          <a:latin typeface="+mj-lt"/>
                          <a:ea typeface="+mn-ea"/>
                          <a:cs typeface="+mn-cs"/>
                        </a:rPr>
                        <a:t>Suggests some creative solutions not mentioned in the case</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a high-level of next steps the client should take to implement some of the suggestions and risk-mitigation</a:t>
                      </a:r>
                    </a:p>
                    <a:p>
                      <a:pPr marL="225425" indent="-225425">
                        <a:buFont typeface="Arial" pitchFamily="34" charset="0"/>
                        <a:buChar char="•"/>
                      </a:pPr>
                      <a:endParaRPr lang="en-US" sz="1200" b="0" i="0" kern="1200" baseline="0" dirty="0" smtClean="0">
                        <a:solidFill>
                          <a:schemeClr val="tx1"/>
                        </a:solidFill>
                        <a:latin typeface="+mj-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2"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Profitability-Healthcare</a:t>
            </a:r>
            <a:endParaRPr lang="en-US" sz="1400" i="1" dirty="0"/>
          </a:p>
        </p:txBody>
      </p:sp>
      <p:sp>
        <p:nvSpPr>
          <p:cNvPr id="40974"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Accenture</a:t>
            </a:r>
            <a:endParaRPr lang="en-US" sz="1400" i="1" dirty="0"/>
          </a:p>
        </p:txBody>
      </p:sp>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10: Piedmont Health</a:t>
            </a:r>
          </a:p>
        </p:txBody>
      </p:sp>
    </p:spTree>
    <p:extLst>
      <p:ext uri="{BB962C8B-B14F-4D97-AF65-F5344CB8AC3E}">
        <p14:creationId xmlns:p14="http://schemas.microsoft.com/office/powerpoint/2010/main" val="89061481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81</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11: </a:t>
            </a:r>
            <a:r>
              <a:rPr lang="en-US" sz="2400" b="1" dirty="0"/>
              <a:t>Volunteers Abroad</a:t>
            </a:r>
          </a:p>
        </p:txBody>
      </p:sp>
      <p:graphicFrame>
        <p:nvGraphicFramePr>
          <p:cNvPr id="12" name="Table 11"/>
          <p:cNvGraphicFramePr>
            <a:graphicFrameLocks noGrp="1"/>
          </p:cNvGraphicFramePr>
          <p:nvPr>
            <p:extLst>
              <p:ext uri="{D42A27DB-BD31-4B8C-83A1-F6EECF244321}">
                <p14:modId xmlns:p14="http://schemas.microsoft.com/office/powerpoint/2010/main" val="3443813705"/>
              </p:ext>
            </p:extLst>
          </p:nvPr>
        </p:nvGraphicFramePr>
        <p:xfrm>
          <a:off x="304800" y="1381125"/>
          <a:ext cx="8534400" cy="23774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pPr marL="0" indent="0">
                        <a:buNone/>
                      </a:pPr>
                      <a:r>
                        <a:rPr lang="en-US" sz="1200" b="0" dirty="0" smtClean="0"/>
                        <a:t>Your client is Volunteers Abroad (VA), a US-based company that provides volunteering abroad programs to university students, professionals and retirees. VA programs are known for safety, customer service and cultural immersion opportunities. VA’s revenues have been decreasing, and they have reached us to put</a:t>
                      </a:r>
                      <a:r>
                        <a:rPr lang="en-US" sz="1200" b="0" baseline="0" dirty="0" smtClean="0"/>
                        <a:t> an end to this downward trend</a:t>
                      </a:r>
                      <a:r>
                        <a:rPr lang="en-US" sz="1200" b="0" dirty="0" smtClean="0"/>
                        <a:t>.</a:t>
                      </a:r>
                    </a:p>
                    <a:p>
                      <a:endParaRPr lang="en-US" sz="1200" b="0" i="1"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How will you start thinking about the problem?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smtClean="0"/>
                    </a:p>
                  </a:txBody>
                  <a:tcPr/>
                </a:tc>
              </a:tr>
              <a:tr h="159173">
                <a:tc>
                  <a:txBody>
                    <a:bodyPr/>
                    <a:lstStyle/>
                    <a:p>
                      <a:pPr algn="ctr"/>
                      <a:r>
                        <a:rPr lang="en-US" b="1" dirty="0" smtClean="0"/>
                        <a:t>Guidance</a:t>
                      </a:r>
                      <a:endParaRPr lang="en-US" b="1" baseline="0" dirty="0" smtClean="0"/>
                    </a:p>
                  </a:txBody>
                  <a:tcPr anchor="ctr"/>
                </a:tc>
                <a:tc>
                  <a:txBody>
                    <a:bodyPr/>
                    <a:lstStyle/>
                    <a:p>
                      <a:pPr marL="0" indent="0">
                        <a:buFont typeface="Arial" pitchFamily="34" charset="0"/>
                        <a:buNone/>
                      </a:pPr>
                      <a:r>
                        <a:rPr lang="en-US" sz="1200" b="0" dirty="0" smtClean="0"/>
                        <a:t>Client overview: </a:t>
                      </a:r>
                      <a:r>
                        <a:rPr lang="en-US" sz="1200" dirty="0" smtClean="0"/>
                        <a:t>VA’s offerings consist of programs that last</a:t>
                      </a:r>
                      <a:r>
                        <a:rPr lang="en-US" sz="1200" baseline="0" dirty="0" smtClean="0"/>
                        <a:t> </a:t>
                      </a:r>
                      <a:r>
                        <a:rPr lang="en-US" sz="1200" dirty="0" smtClean="0"/>
                        <a:t>16 months, whereby customers travel to a different country, live in a local community and engage in various volunteering activities of their choice, e.g. environmental conservation, teaching English, building houses, etc. Your client is one of the top four largest competitors in the market.</a:t>
                      </a:r>
                    </a:p>
                    <a:p>
                      <a:pPr marL="0" indent="0">
                        <a:buFont typeface="Arial" pitchFamily="34" charset="0"/>
                        <a:buNone/>
                      </a:pPr>
                      <a:endParaRPr lang="en-US" sz="1200" dirty="0" smtClean="0"/>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 </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82</a:t>
            </a:fld>
            <a:endParaRPr lang="en-US" dirty="0"/>
          </a:p>
        </p:txBody>
      </p:sp>
    </p:spTree>
    <p:extLst>
      <p:ext uri="{BB962C8B-B14F-4D97-AF65-F5344CB8AC3E}">
        <p14:creationId xmlns:p14="http://schemas.microsoft.com/office/powerpoint/2010/main" val="145005789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11: Volunteers Abroad</a:t>
            </a:r>
          </a:p>
        </p:txBody>
      </p:sp>
      <p:graphicFrame>
        <p:nvGraphicFramePr>
          <p:cNvPr id="12" name="Table 11"/>
          <p:cNvGraphicFramePr>
            <a:graphicFrameLocks noGrp="1"/>
          </p:cNvGraphicFramePr>
          <p:nvPr>
            <p:extLst>
              <p:ext uri="{D42A27DB-BD31-4B8C-83A1-F6EECF244321}">
                <p14:modId xmlns:p14="http://schemas.microsoft.com/office/powerpoint/2010/main" val="171842395"/>
              </p:ext>
            </p:extLst>
          </p:nvPr>
        </p:nvGraphicFramePr>
        <p:xfrm>
          <a:off x="304800" y="1381125"/>
          <a:ext cx="8534400" cy="19202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Guidance</a:t>
                      </a:r>
                      <a:endParaRPr lang="en-US" dirty="0"/>
                    </a:p>
                  </a:txBody>
                  <a:tcPr anchor="ctr">
                    <a:solidFill>
                      <a:srgbClr val="CCCCCC"/>
                    </a:solidFill>
                  </a:tcPr>
                </a:tc>
                <a:tc>
                  <a:txBody>
                    <a:bodyPr/>
                    <a:lstStyle/>
                    <a:p>
                      <a:pPr marL="0" indent="0">
                        <a:buNone/>
                      </a:pPr>
                      <a:r>
                        <a:rPr lang="en-US" sz="1200" b="0" u="none" dirty="0" smtClean="0"/>
                        <a:t>This is a revenue related question.</a:t>
                      </a:r>
                      <a:r>
                        <a:rPr lang="en-US" sz="1200" b="0" u="none" baseline="0" dirty="0" smtClean="0"/>
                        <a:t> T</a:t>
                      </a:r>
                      <a:r>
                        <a:rPr lang="en-US" sz="1200" b="0" u="none" dirty="0" smtClean="0"/>
                        <a:t>he interviewee should understand that cost isn’t an issue here. </a:t>
                      </a:r>
                      <a:r>
                        <a:rPr lang="pt-BR" sz="1200" b="0" u="none" dirty="0" smtClean="0"/>
                        <a:t>When the candidate asks for revenue information (number of volunteers and price), provide Exhibit 1. Ask the candidate what</a:t>
                      </a:r>
                      <a:r>
                        <a:rPr lang="pt-BR" sz="1200" b="0" u="none" baseline="0" dirty="0" smtClean="0"/>
                        <a:t> he/she can conclude from this exhibit.</a:t>
                      </a:r>
                    </a:p>
                    <a:p>
                      <a:pPr marL="0" indent="0">
                        <a:buNone/>
                      </a:pPr>
                      <a:endParaRPr lang="pt-BR" sz="1200" b="0" u="none"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noProof="0" dirty="0" smtClean="0"/>
                        <a:t>The</a:t>
                      </a:r>
                      <a:r>
                        <a:rPr lang="en-US" sz="1200" b="0" baseline="0" noProof="0" dirty="0" smtClean="0"/>
                        <a:t> candidate should conclude that s</a:t>
                      </a:r>
                      <a:r>
                        <a:rPr lang="en-US" sz="1200" b="0" noProof="0" dirty="0" smtClean="0"/>
                        <a:t>ince VA has</a:t>
                      </a:r>
                      <a:r>
                        <a:rPr lang="en-US" sz="1200" b="0" baseline="0" noProof="0" dirty="0" smtClean="0"/>
                        <a:t> been decreasing its prices, but not gaining market share, this price reduction strategy is not working. The number of volunteers in the market is increasing even though the average prices had also increased year by year. This shows that the demand is actually inelastic. Therefore, if VA increase their prices, they will also increase revenues and profit.</a:t>
                      </a:r>
                      <a:endParaRPr lang="en-US" sz="1200" b="0" u="none"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smtClean="0"/>
                    </a:p>
                  </a:txBody>
                  <a:tcPr>
                    <a:solidFill>
                      <a:srgbClr val="CCCCCC"/>
                    </a:solidFill>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 </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83</a:t>
            </a:fld>
            <a:endParaRPr lang="en-US" dirty="0"/>
          </a:p>
        </p:txBody>
      </p:sp>
    </p:spTree>
    <p:extLst>
      <p:ext uri="{BB962C8B-B14F-4D97-AF65-F5344CB8AC3E}">
        <p14:creationId xmlns:p14="http://schemas.microsoft.com/office/powerpoint/2010/main" val="312406502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11: Volunteers Abroad</a:t>
            </a:r>
          </a:p>
        </p:txBody>
      </p:sp>
      <p:graphicFrame>
        <p:nvGraphicFramePr>
          <p:cNvPr id="12" name="Table 11"/>
          <p:cNvGraphicFramePr>
            <a:graphicFrameLocks noGrp="1"/>
          </p:cNvGraphicFramePr>
          <p:nvPr>
            <p:extLst>
              <p:ext uri="{D42A27DB-BD31-4B8C-83A1-F6EECF244321}">
                <p14:modId xmlns:p14="http://schemas.microsoft.com/office/powerpoint/2010/main" val="1305189611"/>
              </p:ext>
            </p:extLst>
          </p:nvPr>
        </p:nvGraphicFramePr>
        <p:xfrm>
          <a:off x="304800" y="1381125"/>
          <a:ext cx="8534400" cy="42062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pPr marL="0" indent="0">
                        <a:buNone/>
                      </a:pPr>
                      <a:r>
                        <a:rPr lang="pt-BR" sz="1200" b="0" dirty="0" smtClean="0"/>
                        <a:t>Now that</a:t>
                      </a:r>
                      <a:r>
                        <a:rPr lang="pt-BR" sz="1200" b="0" baseline="0" dirty="0" smtClean="0"/>
                        <a:t> we know that VA should increase its prices, VA’s CEO wants us to help her develop a growth plan. </a:t>
                      </a:r>
                      <a:r>
                        <a:rPr lang="en-US" sz="1200" b="0" dirty="0" smtClean="0"/>
                        <a:t>VA is interested in achieving a 30% share of the market for volunteer abroad programs. </a:t>
                      </a:r>
                    </a:p>
                    <a:p>
                      <a:pPr marL="0" indent="0">
                        <a:buNone/>
                      </a:pPr>
                      <a:endParaRPr lang="en-US" sz="1200" b="0" dirty="0" smtClean="0"/>
                    </a:p>
                    <a:p>
                      <a:pPr marL="0" indent="0">
                        <a:buNone/>
                      </a:pPr>
                      <a:r>
                        <a:rPr lang="en-US" sz="1200" b="1" dirty="0" smtClean="0"/>
                        <a:t>Using</a:t>
                      </a:r>
                      <a:r>
                        <a:rPr lang="en-US" sz="1200" b="1" baseline="0" dirty="0" smtClean="0"/>
                        <a:t> the information in </a:t>
                      </a:r>
                      <a:r>
                        <a:rPr lang="en-US" sz="1200" b="1" u="none" baseline="0" dirty="0" smtClean="0"/>
                        <a:t>Exhibit 2</a:t>
                      </a:r>
                      <a:r>
                        <a:rPr lang="en-US" sz="1200" b="1" baseline="0" dirty="0" smtClean="0"/>
                        <a:t>, h</a:t>
                      </a:r>
                      <a:r>
                        <a:rPr lang="en-US" sz="1200" b="1" dirty="0" smtClean="0"/>
                        <a:t>ow many years would it take them to achieve their goal?</a:t>
                      </a:r>
                    </a:p>
                    <a:p>
                      <a:pPr marL="0" indent="0">
                        <a:buNone/>
                      </a:pPr>
                      <a:endParaRPr lang="pt-BR" sz="1200" b="0" dirty="0" smtClean="0"/>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r>
                        <a:rPr lang="pt-BR" sz="1200" b="0" i="0" dirty="0" smtClean="0"/>
                        <a:t>Note: There are a few ways to solve</a:t>
                      </a:r>
                      <a:r>
                        <a:rPr lang="pt-BR" sz="1200" b="0" i="0" baseline="0" dirty="0" smtClean="0"/>
                        <a:t> this problem. Here we’ll present 2 methods.</a:t>
                      </a:r>
                      <a:endParaRPr lang="en-US" sz="1200" b="0" i="0" dirty="0" smtClean="0"/>
                    </a:p>
                    <a:p>
                      <a:pPr marL="0" indent="0">
                        <a:buFont typeface="Arial" pitchFamily="34" charset="0"/>
                        <a:buNone/>
                      </a:pPr>
                      <a:endParaRPr lang="en-US" sz="1200" b="0" dirty="0" smtClean="0"/>
                    </a:p>
                    <a:p>
                      <a:pPr marL="0" indent="0">
                        <a:buFont typeface="Arial" pitchFamily="34" charset="0"/>
                        <a:buNone/>
                      </a:pPr>
                      <a:r>
                        <a:rPr lang="en-US" sz="1200" b="0" dirty="0" smtClean="0"/>
                        <a:t>There is some useless information in Exhibit 2. The easiest</a:t>
                      </a:r>
                      <a:r>
                        <a:rPr lang="en-US" sz="1200" b="0" baseline="0" dirty="0" smtClean="0"/>
                        <a:t> way to solve the problem is to do the following:</a:t>
                      </a:r>
                      <a:endParaRPr lang="en-US" sz="1200" b="0" dirty="0" smtClean="0"/>
                    </a:p>
                    <a:p>
                      <a:pPr marL="0" indent="0">
                        <a:buFont typeface="Arial" pitchFamily="34" charset="0"/>
                        <a:buNone/>
                      </a:pPr>
                      <a:endParaRPr lang="en-US" sz="1200" b="0" dirty="0" smtClean="0"/>
                    </a:p>
                    <a:p>
                      <a:pPr marL="0" indent="0">
                        <a:buFont typeface="Arial" pitchFamily="34" charset="0"/>
                        <a:buNone/>
                      </a:pPr>
                      <a:r>
                        <a:rPr lang="en-US" sz="1200" b="0" dirty="0" smtClean="0"/>
                        <a:t>Step</a:t>
                      </a:r>
                      <a:r>
                        <a:rPr lang="en-US" sz="1200" b="0" baseline="0" dirty="0" smtClean="0"/>
                        <a:t> 1: calculate VA’s  revenue growth rate </a:t>
                      </a:r>
                      <a:r>
                        <a:rPr lang="en-US" sz="1200" b="0" baseline="0" dirty="0" smtClean="0">
                          <a:sym typeface="Wingdings"/>
                        </a:rPr>
                        <a:t> (Increase in Price) X (Increase in Customers)</a:t>
                      </a:r>
                    </a:p>
                    <a:p>
                      <a:pPr marL="0" indent="0">
                        <a:buFont typeface="Arial" pitchFamily="34" charset="0"/>
                        <a:buNone/>
                      </a:pPr>
                      <a:r>
                        <a:rPr lang="en-US" sz="1200" b="0" baseline="0" dirty="0" smtClean="0">
                          <a:sym typeface="Wingdings"/>
                        </a:rPr>
                        <a:t> [(1 + 5%) x (1 + 20%)] - 1 = 1.26 - 1 = 26%</a:t>
                      </a:r>
                      <a:endParaRPr lang="en-US" sz="1200" b="0" dirty="0" smtClean="0"/>
                    </a:p>
                    <a:p>
                      <a:pPr marL="0" indent="0">
                        <a:buFont typeface="Arial" pitchFamily="34" charset="0"/>
                        <a:buNone/>
                      </a:pPr>
                      <a:endParaRPr lang="en-US" sz="1200" b="0" dirty="0" smtClean="0"/>
                    </a:p>
                    <a:p>
                      <a:pPr marL="0" indent="0">
                        <a:buFont typeface="Arial" pitchFamily="34" charset="0"/>
                        <a:buNone/>
                      </a:pPr>
                      <a:r>
                        <a:rPr lang="en-US" sz="1200" b="0" dirty="0" smtClean="0"/>
                        <a:t>Step</a:t>
                      </a:r>
                      <a:r>
                        <a:rPr lang="en-US" sz="1200" b="0" baseline="0" dirty="0" smtClean="0"/>
                        <a:t> 2: Calculate the VA’s market share net growth </a:t>
                      </a:r>
                      <a:r>
                        <a:rPr lang="en-US" sz="1200" b="0" baseline="0" dirty="0" smtClean="0">
                          <a:sym typeface="Wingdings"/>
                        </a:rPr>
                        <a:t> VA’s growth – Market growth </a:t>
                      </a:r>
                    </a:p>
                    <a:p>
                      <a:pPr marL="0" indent="0">
                        <a:buFont typeface="Arial" pitchFamily="34" charset="0"/>
                        <a:buNone/>
                      </a:pPr>
                      <a:r>
                        <a:rPr lang="en-US" sz="1200" b="0" baseline="0" dirty="0" smtClean="0">
                          <a:sym typeface="Wingdings"/>
                        </a:rPr>
                        <a:t> </a:t>
                      </a:r>
                      <a:r>
                        <a:rPr lang="en-US" sz="1200" b="0" dirty="0" smtClean="0"/>
                        <a:t>26% - 10% = 16%</a:t>
                      </a:r>
                    </a:p>
                    <a:p>
                      <a:pPr marL="0" indent="0">
                        <a:buFont typeface="Arial" pitchFamily="34" charset="0"/>
                        <a:buNone/>
                      </a:pPr>
                      <a:endParaRPr lang="en-US" sz="1200" b="0" dirty="0" smtClean="0"/>
                    </a:p>
                    <a:p>
                      <a:pPr marL="0" indent="0">
                        <a:buFont typeface="Arial" pitchFamily="34" charset="0"/>
                        <a:buNone/>
                      </a:pPr>
                      <a:r>
                        <a:rPr lang="en-US" sz="1200" b="0" dirty="0" smtClean="0"/>
                        <a:t>Step 3: Calculate VA’s absolute market share growth </a:t>
                      </a:r>
                      <a:r>
                        <a:rPr lang="en-US" sz="1200" b="0" dirty="0" smtClean="0">
                          <a:sym typeface="Wingdings"/>
                        </a:rPr>
                        <a:t> Current</a:t>
                      </a:r>
                      <a:r>
                        <a:rPr lang="en-US" sz="1200" b="0" baseline="0" dirty="0" smtClean="0">
                          <a:sym typeface="Wingdings"/>
                        </a:rPr>
                        <a:t> MKT Share x Net growth</a:t>
                      </a:r>
                    </a:p>
                    <a:p>
                      <a:pPr marL="0" indent="0">
                        <a:buFont typeface="Arial" pitchFamily="34" charset="0"/>
                        <a:buNone/>
                      </a:pPr>
                      <a:r>
                        <a:rPr lang="en-US" sz="1200" b="0" baseline="0" dirty="0" smtClean="0">
                          <a:sym typeface="Wingdings"/>
                        </a:rPr>
                        <a:t> 20% x 16% = 3.2%</a:t>
                      </a:r>
                      <a:endParaRPr lang="en-US" sz="1200" b="0" dirty="0" smtClean="0"/>
                    </a:p>
                    <a:p>
                      <a:pPr marL="0" indent="0">
                        <a:buFont typeface="Arial" pitchFamily="34" charset="0"/>
                        <a:buNone/>
                      </a:pPr>
                      <a:endParaRPr lang="en-US" sz="1200" b="0" dirty="0" smtClean="0"/>
                    </a:p>
                    <a:p>
                      <a:pPr marL="0" indent="0">
                        <a:buFont typeface="Arial" pitchFamily="34" charset="0"/>
                        <a:buNone/>
                      </a:pPr>
                      <a:r>
                        <a:rPr lang="en-US" sz="1200" b="0" dirty="0" smtClean="0"/>
                        <a:t>In absolute terms, VA’s market share will increase 3.2% (in absolute values) each year. Therefore,</a:t>
                      </a:r>
                      <a:r>
                        <a:rPr lang="en-US" sz="1200" b="0" baseline="0" dirty="0" smtClean="0"/>
                        <a:t> it will take about 3 years to VA achieve a 30% market share.</a:t>
                      </a:r>
                      <a:endParaRPr lang="en-US" sz="1200" b="0" dirty="0" smtClean="0"/>
                    </a:p>
                    <a:p>
                      <a:pPr marL="0" indent="0">
                        <a:buFont typeface="Arial" pitchFamily="34" charset="0"/>
                        <a:buNone/>
                      </a:pPr>
                      <a:endParaRPr lang="en-US" sz="1200" b="0" dirty="0" smtClean="0"/>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 </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84</a:t>
            </a:fld>
            <a:endParaRPr lang="en-US" dirty="0"/>
          </a:p>
        </p:txBody>
      </p:sp>
    </p:spTree>
    <p:extLst>
      <p:ext uri="{BB962C8B-B14F-4D97-AF65-F5344CB8AC3E}">
        <p14:creationId xmlns:p14="http://schemas.microsoft.com/office/powerpoint/2010/main" val="250035048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11: Volunteers Abroad</a:t>
            </a:r>
          </a:p>
        </p:txBody>
      </p:sp>
      <p:graphicFrame>
        <p:nvGraphicFramePr>
          <p:cNvPr id="12" name="Table 11"/>
          <p:cNvGraphicFramePr>
            <a:graphicFrameLocks noGrp="1"/>
          </p:cNvGraphicFramePr>
          <p:nvPr>
            <p:extLst>
              <p:ext uri="{D42A27DB-BD31-4B8C-83A1-F6EECF244321}">
                <p14:modId xmlns:p14="http://schemas.microsoft.com/office/powerpoint/2010/main" val="3846513814"/>
              </p:ext>
            </p:extLst>
          </p:nvPr>
        </p:nvGraphicFramePr>
        <p:xfrm>
          <a:off x="304800" y="1381125"/>
          <a:ext cx="8534400" cy="356616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b="1" baseline="0" dirty="0" smtClean="0"/>
                        <a:t>Guidance</a:t>
                      </a:r>
                    </a:p>
                  </a:txBody>
                  <a:tcPr anchor="ctr">
                    <a:solidFill>
                      <a:srgbClr val="CCCCCC"/>
                    </a:solidFill>
                  </a:tcPr>
                </a:tc>
                <a:tc>
                  <a:txBody>
                    <a:bodyPr/>
                    <a:lstStyle/>
                    <a:p>
                      <a:pPr marL="0" indent="0">
                        <a:buNone/>
                      </a:pPr>
                      <a:endParaRPr lang="pt-BR" sz="1200" dirty="0" smtClean="0"/>
                    </a:p>
                    <a:p>
                      <a:pPr marL="0" indent="0">
                        <a:buNone/>
                      </a:pPr>
                      <a:r>
                        <a:rPr lang="pt-BR" sz="1200" b="0" baseline="0" dirty="0" smtClean="0"/>
                        <a:t>The second way to do this is by calculating market share year by year.</a:t>
                      </a:r>
                      <a:endParaRPr lang="pt-BR" sz="1200" b="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dirty="0" smtClean="0"/>
                    </a:p>
                    <a:p>
                      <a:pPr marL="0" indent="0">
                        <a:buNone/>
                      </a:pPr>
                      <a:endParaRPr lang="pt-BR" sz="1200" b="0" u="none" dirty="0" smtClean="0"/>
                    </a:p>
                    <a:p>
                      <a:pPr marL="0" indent="0">
                        <a:buNone/>
                      </a:pPr>
                      <a:r>
                        <a:rPr lang="pt-BR" sz="1200" b="0" u="none" dirty="0" smtClean="0"/>
                        <a:t>VA will reach the 30% market share by Year 3.</a:t>
                      </a:r>
                    </a:p>
                    <a:p>
                      <a:pPr marL="0" indent="0">
                        <a:buNone/>
                      </a:pPr>
                      <a:endParaRPr lang="en-US" sz="1200" dirty="0" smtClean="0"/>
                    </a:p>
                  </a:txBody>
                  <a:tcPr>
                    <a:solidFill>
                      <a:srgbClr val="CCCCCC"/>
                    </a:solidFill>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 </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85</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470507013"/>
              </p:ext>
            </p:extLst>
          </p:nvPr>
        </p:nvGraphicFramePr>
        <p:xfrm>
          <a:off x="2034190" y="1918881"/>
          <a:ext cx="3835400" cy="2289810"/>
        </p:xfrm>
        <a:graphic>
          <a:graphicData uri="http://schemas.openxmlformats.org/drawingml/2006/table">
            <a:tbl>
              <a:tblPr>
                <a:tableStyleId>{5C22544A-7EE6-4342-B048-85BDC9FD1C3A}</a:tableStyleId>
              </a:tblPr>
              <a:tblGrid>
                <a:gridCol w="2006600"/>
                <a:gridCol w="609600"/>
                <a:gridCol w="609600"/>
                <a:gridCol w="609600"/>
              </a:tblGrid>
              <a:tr h="190500">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l" fontAlgn="b"/>
                      <a:r>
                        <a:rPr lang="en-US" sz="1200" u="none" strike="noStrike" dirty="0">
                          <a:effectLst/>
                          <a:latin typeface="+mj-lt"/>
                        </a:rPr>
                        <a:t>Year 1</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l" fontAlgn="b"/>
                      <a:r>
                        <a:rPr lang="en-US" sz="1200" u="none" strike="noStrike">
                          <a:effectLst/>
                          <a:latin typeface="+mj-lt"/>
                        </a:rPr>
                        <a:t>Year 2</a:t>
                      </a:r>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l" fontAlgn="b"/>
                      <a:r>
                        <a:rPr lang="en-US" sz="1200" u="none" strike="noStrike">
                          <a:effectLst/>
                          <a:latin typeface="+mj-lt"/>
                        </a:rPr>
                        <a:t>Year 3</a:t>
                      </a:r>
                      <a:endParaRPr lang="en-US" sz="1200" b="0" i="0" u="none" strike="noStrike">
                        <a:solidFill>
                          <a:srgbClr val="000000"/>
                        </a:solidFill>
                        <a:effectLst/>
                        <a:latin typeface="+mj-lt"/>
                      </a:endParaRPr>
                    </a:p>
                  </a:txBody>
                  <a:tcPr marL="9525" marR="9525" marT="9525" marB="0" anchor="b">
                    <a:solidFill>
                      <a:srgbClr val="CCCCCC"/>
                    </a:solidFill>
                  </a:tcPr>
                </a:tc>
              </a:tr>
              <a:tr h="190500">
                <a:tc>
                  <a:txBody>
                    <a:bodyPr/>
                    <a:lstStyle/>
                    <a:p>
                      <a:pPr algn="l" fontAlgn="b"/>
                      <a:r>
                        <a:rPr lang="en-US" sz="1200" u="none" strike="noStrike" dirty="0">
                          <a:effectLst/>
                          <a:latin typeface="+mj-lt"/>
                        </a:rPr>
                        <a:t>Market Size in the previous year</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100</a:t>
                      </a:r>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110</a:t>
                      </a:r>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121</a:t>
                      </a:r>
                      <a:endParaRPr lang="en-US" sz="1200" b="0" i="0" u="none" strike="noStrike">
                        <a:solidFill>
                          <a:srgbClr val="000000"/>
                        </a:solidFill>
                        <a:effectLst/>
                        <a:latin typeface="+mj-lt"/>
                      </a:endParaRPr>
                    </a:p>
                  </a:txBody>
                  <a:tcPr marL="9525" marR="9525" marT="9525" marB="0" anchor="b">
                    <a:solidFill>
                      <a:srgbClr val="CCCCCC"/>
                    </a:solidFill>
                  </a:tcPr>
                </a:tc>
              </a:tr>
              <a:tr h="190500">
                <a:tc>
                  <a:txBody>
                    <a:bodyPr/>
                    <a:lstStyle/>
                    <a:p>
                      <a:pPr algn="l" fontAlgn="b"/>
                      <a:r>
                        <a:rPr lang="en-US" sz="1200" u="none" strike="noStrike" dirty="0">
                          <a:effectLst/>
                          <a:latin typeface="+mj-lt"/>
                        </a:rPr>
                        <a:t>Market Growth rate</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10%</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10%</a:t>
                      </a:r>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10%</a:t>
                      </a:r>
                      <a:endParaRPr lang="en-US" sz="1200" b="0" i="0" u="none" strike="noStrike">
                        <a:solidFill>
                          <a:srgbClr val="000000"/>
                        </a:solidFill>
                        <a:effectLst/>
                        <a:latin typeface="+mj-lt"/>
                      </a:endParaRPr>
                    </a:p>
                  </a:txBody>
                  <a:tcPr marL="9525" marR="9525" marT="9525" marB="0" anchor="b">
                    <a:solidFill>
                      <a:srgbClr val="CCCCCC"/>
                    </a:solidFill>
                  </a:tcPr>
                </a:tc>
              </a:tr>
              <a:tr h="190500">
                <a:tc>
                  <a:txBody>
                    <a:bodyPr/>
                    <a:lstStyle/>
                    <a:p>
                      <a:pPr algn="l" fontAlgn="b"/>
                      <a:r>
                        <a:rPr lang="en-US" sz="1200" u="none" strike="noStrike" dirty="0">
                          <a:effectLst/>
                          <a:latin typeface="+mj-lt"/>
                        </a:rPr>
                        <a:t>Market Size</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110</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121</a:t>
                      </a:r>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133.1</a:t>
                      </a:r>
                      <a:endParaRPr lang="en-US" sz="1200" b="0" i="0" u="none" strike="noStrike">
                        <a:solidFill>
                          <a:srgbClr val="000000"/>
                        </a:solidFill>
                        <a:effectLst/>
                        <a:latin typeface="+mj-lt"/>
                      </a:endParaRPr>
                    </a:p>
                  </a:txBody>
                  <a:tcPr marL="9525" marR="9525" marT="9525" marB="0" anchor="b">
                    <a:solidFill>
                      <a:srgbClr val="CCCCCC"/>
                    </a:solidFill>
                  </a:tcPr>
                </a:tc>
              </a:tr>
              <a:tr h="190500">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r>
              <a:tr h="190500">
                <a:tc>
                  <a:txBody>
                    <a:bodyPr/>
                    <a:lstStyle/>
                    <a:p>
                      <a:pPr algn="l" fontAlgn="b"/>
                      <a:r>
                        <a:rPr lang="en-US" sz="1200" u="none" strike="noStrike" dirty="0">
                          <a:effectLst/>
                          <a:latin typeface="+mj-lt"/>
                        </a:rPr>
                        <a:t>VA market in the previous year</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20</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25.2</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smtClean="0">
                          <a:effectLst/>
                          <a:latin typeface="+mj-lt"/>
                        </a:rPr>
                        <a:t>31.75</a:t>
                      </a:r>
                      <a:endParaRPr lang="en-US" sz="1200" b="0" i="0" u="none" strike="noStrike" dirty="0">
                        <a:solidFill>
                          <a:srgbClr val="000000"/>
                        </a:solidFill>
                        <a:effectLst/>
                        <a:latin typeface="+mj-lt"/>
                      </a:endParaRPr>
                    </a:p>
                  </a:txBody>
                  <a:tcPr marL="9525" marR="9525" marT="9525" marB="0" anchor="b">
                    <a:solidFill>
                      <a:srgbClr val="CCCCCC"/>
                    </a:solidFill>
                  </a:tcPr>
                </a:tc>
              </a:tr>
              <a:tr h="190500">
                <a:tc>
                  <a:txBody>
                    <a:bodyPr/>
                    <a:lstStyle/>
                    <a:p>
                      <a:pPr algn="l" fontAlgn="b"/>
                      <a:r>
                        <a:rPr lang="en-US" sz="1200" u="none" strike="noStrike" dirty="0">
                          <a:effectLst/>
                          <a:latin typeface="+mj-lt"/>
                        </a:rPr>
                        <a:t>VA's Growth Rate</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26%</a:t>
                      </a:r>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26%</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26%</a:t>
                      </a:r>
                      <a:endParaRPr lang="en-US" sz="1200" b="0" i="0" u="none" strike="noStrike" dirty="0">
                        <a:solidFill>
                          <a:srgbClr val="000000"/>
                        </a:solidFill>
                        <a:effectLst/>
                        <a:latin typeface="+mj-lt"/>
                      </a:endParaRPr>
                    </a:p>
                  </a:txBody>
                  <a:tcPr marL="9525" marR="9525" marT="9525" marB="0" anchor="b">
                    <a:solidFill>
                      <a:srgbClr val="CCCCCC"/>
                    </a:solidFill>
                  </a:tcPr>
                </a:tc>
              </a:tr>
              <a:tr h="190500">
                <a:tc>
                  <a:txBody>
                    <a:bodyPr/>
                    <a:lstStyle/>
                    <a:p>
                      <a:pPr algn="l" fontAlgn="b"/>
                      <a:r>
                        <a:rPr lang="en-US" sz="1200" u="none" strike="noStrike" dirty="0">
                          <a:effectLst/>
                          <a:latin typeface="+mj-lt"/>
                        </a:rPr>
                        <a:t>VA Size</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a:effectLst/>
                          <a:latin typeface="+mj-lt"/>
                        </a:rPr>
                        <a:t>25.2</a:t>
                      </a:r>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smtClean="0">
                          <a:effectLst/>
                          <a:latin typeface="+mj-lt"/>
                        </a:rPr>
                        <a:t>31.75</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smtClean="0">
                          <a:effectLst/>
                          <a:latin typeface="+mj-lt"/>
                        </a:rPr>
                        <a:t>40.01</a:t>
                      </a:r>
                      <a:endParaRPr lang="en-US" sz="1200" b="0" i="0" u="none" strike="noStrike" dirty="0">
                        <a:solidFill>
                          <a:srgbClr val="000000"/>
                        </a:solidFill>
                        <a:effectLst/>
                        <a:latin typeface="+mj-lt"/>
                      </a:endParaRPr>
                    </a:p>
                  </a:txBody>
                  <a:tcPr marL="9525" marR="9525" marT="9525" marB="0" anchor="b">
                    <a:solidFill>
                      <a:srgbClr val="CCCCCC"/>
                    </a:solidFill>
                  </a:tcPr>
                </a:tc>
              </a:tr>
              <a:tr h="190500">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l" fontAlgn="b"/>
                      <a:endParaRPr lang="en-US" sz="1200" b="0" i="0" u="none" strike="noStrike">
                        <a:solidFill>
                          <a:srgbClr val="000000"/>
                        </a:solidFill>
                        <a:effectLst/>
                        <a:latin typeface="+mj-lt"/>
                      </a:endParaRPr>
                    </a:p>
                  </a:txBody>
                  <a:tcPr marL="9525" marR="9525" marT="9525" marB="0" anchor="b">
                    <a:solidFill>
                      <a:srgbClr val="CCCCCC"/>
                    </a:solidFill>
                  </a:tcPr>
                </a:tc>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l" fontAlgn="b"/>
                      <a:endParaRPr lang="en-US" sz="1200" b="0" i="0" u="none" strike="noStrike" dirty="0">
                        <a:solidFill>
                          <a:srgbClr val="000000"/>
                        </a:solidFill>
                        <a:effectLst/>
                        <a:latin typeface="+mj-lt"/>
                      </a:endParaRPr>
                    </a:p>
                  </a:txBody>
                  <a:tcPr marL="9525" marR="9525" marT="9525" marB="0" anchor="b">
                    <a:solidFill>
                      <a:srgbClr val="CCCCCC"/>
                    </a:solidFill>
                  </a:tcPr>
                </a:tc>
              </a:tr>
              <a:tr h="190500">
                <a:tc>
                  <a:txBody>
                    <a:bodyPr/>
                    <a:lstStyle/>
                    <a:p>
                      <a:pPr algn="l" fontAlgn="b"/>
                      <a:r>
                        <a:rPr lang="en-US" sz="1200" u="none" strike="noStrike" dirty="0">
                          <a:effectLst/>
                          <a:latin typeface="+mj-lt"/>
                        </a:rPr>
                        <a:t>VA Market Share</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22.9%</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26.2%</a:t>
                      </a:r>
                      <a:endParaRPr lang="en-US" sz="1200" b="0" i="0" u="none" strike="noStrike" dirty="0">
                        <a:solidFill>
                          <a:srgbClr val="000000"/>
                        </a:solidFill>
                        <a:effectLst/>
                        <a:latin typeface="+mj-lt"/>
                      </a:endParaRPr>
                    </a:p>
                  </a:txBody>
                  <a:tcPr marL="9525" marR="9525" marT="9525" marB="0" anchor="b">
                    <a:solidFill>
                      <a:srgbClr val="CCCCCC"/>
                    </a:solidFill>
                  </a:tcPr>
                </a:tc>
                <a:tc>
                  <a:txBody>
                    <a:bodyPr/>
                    <a:lstStyle/>
                    <a:p>
                      <a:pPr algn="r" fontAlgn="b"/>
                      <a:r>
                        <a:rPr lang="en-US" sz="1200" u="none" strike="noStrike" dirty="0">
                          <a:effectLst/>
                          <a:latin typeface="+mj-lt"/>
                        </a:rPr>
                        <a:t>30.1%</a:t>
                      </a:r>
                      <a:endParaRPr lang="en-US" sz="1200" b="0" i="0" u="none" strike="noStrike" dirty="0">
                        <a:solidFill>
                          <a:srgbClr val="000000"/>
                        </a:solidFill>
                        <a:effectLst/>
                        <a:latin typeface="+mj-lt"/>
                      </a:endParaRPr>
                    </a:p>
                  </a:txBody>
                  <a:tcPr marL="9525" marR="9525" marT="9525" marB="0" anchor="b">
                    <a:solidFill>
                      <a:srgbClr val="CCCCCC"/>
                    </a:solidFill>
                  </a:tcPr>
                </a:tc>
              </a:tr>
            </a:tbl>
          </a:graphicData>
        </a:graphic>
      </p:graphicFrame>
    </p:spTree>
    <p:extLst>
      <p:ext uri="{BB962C8B-B14F-4D97-AF65-F5344CB8AC3E}">
        <p14:creationId xmlns:p14="http://schemas.microsoft.com/office/powerpoint/2010/main" val="323307527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11: Volunteers Abroad</a:t>
            </a:r>
          </a:p>
        </p:txBody>
      </p:sp>
      <p:graphicFrame>
        <p:nvGraphicFramePr>
          <p:cNvPr id="12" name="Table 11"/>
          <p:cNvGraphicFramePr>
            <a:graphicFrameLocks noGrp="1"/>
          </p:cNvGraphicFramePr>
          <p:nvPr>
            <p:extLst>
              <p:ext uri="{D42A27DB-BD31-4B8C-83A1-F6EECF244321}">
                <p14:modId xmlns:p14="http://schemas.microsoft.com/office/powerpoint/2010/main" val="2813996081"/>
              </p:ext>
            </p:extLst>
          </p:nvPr>
        </p:nvGraphicFramePr>
        <p:xfrm>
          <a:off x="304800" y="1381125"/>
          <a:ext cx="8534400" cy="3525353"/>
        </p:xfrm>
        <a:graphic>
          <a:graphicData uri="http://schemas.openxmlformats.org/drawingml/2006/table">
            <a:tbl>
              <a:tblPr firstRow="1" bandRow="1">
                <a:tableStyleId>{616DA210-FB5B-4158-B5E0-FEB733F419BA}</a:tableStyleId>
              </a:tblPr>
              <a:tblGrid>
                <a:gridCol w="1600200"/>
                <a:gridCol w="6934200"/>
              </a:tblGrid>
              <a:tr h="507833">
                <a:tc>
                  <a:txBody>
                    <a:bodyPr/>
                    <a:lstStyle/>
                    <a:p>
                      <a:pPr algn="ctr"/>
                      <a:r>
                        <a:rPr lang="en-US" dirty="0" smtClean="0"/>
                        <a:t>Prompt</a:t>
                      </a:r>
                      <a:endParaRPr lang="en-US" dirty="0"/>
                    </a:p>
                  </a:txBody>
                  <a:tcPr anchor="ctr"/>
                </a:tc>
                <a:tc>
                  <a:txBody>
                    <a:bodyPr/>
                    <a:lstStyle/>
                    <a:p>
                      <a:pPr marL="0" indent="0">
                        <a:buNone/>
                      </a:pPr>
                      <a:r>
                        <a:rPr lang="en-US" sz="1200" dirty="0" smtClean="0"/>
                        <a:t>Besides increasing prices, what other options can they explore?</a:t>
                      </a:r>
                    </a:p>
                  </a:txBody>
                  <a:tcPr/>
                </a:tc>
              </a:tr>
              <a:tr h="159173">
                <a:tc>
                  <a:txBody>
                    <a:bodyPr/>
                    <a:lstStyle/>
                    <a:p>
                      <a:pPr algn="ctr"/>
                      <a:r>
                        <a:rPr lang="en-US" b="1" dirty="0" smtClean="0"/>
                        <a:t>Guidance</a:t>
                      </a:r>
                      <a:endParaRPr lang="en-US" b="1" baseline="0" dirty="0" smtClean="0"/>
                    </a:p>
                  </a:txBody>
                  <a:tcPr anchor="ctr"/>
                </a:tc>
                <a:tc>
                  <a:txBody>
                    <a:bodyPr/>
                    <a:lstStyle/>
                    <a:p>
                      <a:pPr marL="0" indent="0">
                        <a:buNone/>
                      </a:pPr>
                      <a:r>
                        <a:rPr lang="en-US" sz="1200" dirty="0" smtClean="0"/>
                        <a:t>A good interviewee will explain the pros and cons of each idea.  Some ideas include:</a:t>
                      </a:r>
                    </a:p>
                    <a:p>
                      <a:pPr marL="0" indent="0">
                        <a:buNone/>
                      </a:pPr>
                      <a:endParaRPr lang="en-US" sz="1200" dirty="0" smtClean="0"/>
                    </a:p>
                    <a:p>
                      <a:pPr marL="171450" indent="-171450">
                        <a:buFont typeface="Arial" pitchFamily="34" charset="0"/>
                        <a:buChar char="•"/>
                      </a:pPr>
                      <a:r>
                        <a:rPr lang="en-US" sz="1200" u="none" dirty="0" smtClean="0"/>
                        <a:t>Current revenue streams:</a:t>
                      </a:r>
                    </a:p>
                    <a:p>
                      <a:pPr marL="628650" lvl="1" indent="-171450">
                        <a:buFont typeface="Arial" pitchFamily="34" charset="0"/>
                        <a:buChar char="•"/>
                      </a:pPr>
                      <a:r>
                        <a:rPr lang="en-US" sz="1200" dirty="0" smtClean="0"/>
                        <a:t>Broaden program offerings with multiple program lengths, activities, destinations, starting and ending dates</a:t>
                      </a:r>
                    </a:p>
                    <a:p>
                      <a:pPr marL="628650" lvl="1" indent="-171450">
                        <a:buFont typeface="Arial" pitchFamily="34" charset="0"/>
                        <a:buChar char="•"/>
                      </a:pPr>
                      <a:r>
                        <a:rPr lang="en-US" sz="1200" dirty="0" smtClean="0"/>
                        <a:t>Recruit customers from new domestic and international geographical markets</a:t>
                      </a:r>
                    </a:p>
                    <a:p>
                      <a:pPr marL="628650" lvl="1" indent="-171450">
                        <a:buFont typeface="Arial" pitchFamily="34" charset="0"/>
                        <a:buChar char="•"/>
                      </a:pPr>
                      <a:r>
                        <a:rPr lang="en-US" sz="1200" dirty="0" smtClean="0"/>
                        <a:t>Widen marketing channels, e.g. social media, traditional media</a:t>
                      </a:r>
                    </a:p>
                    <a:p>
                      <a:pPr marL="628650" lvl="1" indent="-171450">
                        <a:buFont typeface="Arial" pitchFamily="34" charset="0"/>
                        <a:buChar char="•"/>
                      </a:pPr>
                      <a:r>
                        <a:rPr lang="en-US" sz="1200" dirty="0" smtClean="0"/>
                        <a:t>Strengthen VA’s brand to differentiate itself from competitors</a:t>
                      </a:r>
                    </a:p>
                    <a:p>
                      <a:pPr marL="628650" lvl="1" indent="-171450">
                        <a:buFont typeface="Arial" pitchFamily="34" charset="0"/>
                        <a:buChar char="•"/>
                      </a:pPr>
                      <a:r>
                        <a:rPr lang="en-US" sz="1200" dirty="0" smtClean="0"/>
                        <a:t>Partner with like-minded organizations, e.g. religious organizations, international development organizations, embassies, universities, corporate CSR programs</a:t>
                      </a:r>
                    </a:p>
                    <a:p>
                      <a:pPr marL="0" indent="0">
                        <a:buNone/>
                      </a:pPr>
                      <a:endParaRPr lang="en-US" sz="1200" dirty="0" smtClean="0"/>
                    </a:p>
                    <a:p>
                      <a:pPr marL="171450" indent="-171450">
                        <a:buFont typeface="Arial" pitchFamily="34" charset="0"/>
                        <a:buChar char="•"/>
                      </a:pPr>
                      <a:r>
                        <a:rPr lang="en-US" sz="1200" u="none" dirty="0" smtClean="0"/>
                        <a:t>New revenue streams:</a:t>
                      </a:r>
                    </a:p>
                    <a:p>
                      <a:pPr marL="628650" lvl="1" indent="-171450">
                        <a:buFont typeface="Arial" pitchFamily="34" charset="0"/>
                        <a:buChar char="•"/>
                      </a:pPr>
                      <a:r>
                        <a:rPr lang="en-US" sz="1200" dirty="0" smtClean="0"/>
                        <a:t>Acquire a smaller competitor</a:t>
                      </a:r>
                    </a:p>
                    <a:p>
                      <a:pPr marL="628650" lvl="1" indent="-171450">
                        <a:buFont typeface="Arial" pitchFamily="34" charset="0"/>
                        <a:buChar char="•"/>
                      </a:pPr>
                      <a:r>
                        <a:rPr lang="en-US" sz="1200" dirty="0" smtClean="0"/>
                        <a:t>Expand into new brands and product lines, e.g. study abroad, language learning, eco-tourism</a:t>
                      </a:r>
                    </a:p>
                    <a:p>
                      <a:pPr marL="0" indent="0">
                        <a:buFont typeface="Arial" pitchFamily="34" charset="0"/>
                        <a:buNone/>
                      </a:pPr>
                      <a:endParaRPr lang="en-US" sz="1200" b="1" dirty="0" smtClean="0"/>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 </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86</a:t>
            </a:fld>
            <a:endParaRPr lang="en-US" dirty="0"/>
          </a:p>
        </p:txBody>
      </p:sp>
    </p:spTree>
    <p:extLst>
      <p:ext uri="{BB962C8B-B14F-4D97-AF65-F5344CB8AC3E}">
        <p14:creationId xmlns:p14="http://schemas.microsoft.com/office/powerpoint/2010/main" val="48639010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11: Volunteers Abroad</a:t>
            </a:r>
          </a:p>
        </p:txBody>
      </p:sp>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 </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87</a:t>
            </a:fld>
            <a:endParaRPr lang="en-US" dirty="0"/>
          </a:p>
        </p:txBody>
      </p:sp>
      <p:sp>
        <p:nvSpPr>
          <p:cNvPr id="11" name="TextBox 10"/>
          <p:cNvSpPr txBox="1"/>
          <p:nvPr/>
        </p:nvSpPr>
        <p:spPr>
          <a:xfrm>
            <a:off x="402866" y="1772503"/>
            <a:ext cx="8701514" cy="403138"/>
          </a:xfrm>
          <a:prstGeom prst="rect">
            <a:avLst/>
          </a:prstGeom>
          <a:noFill/>
        </p:spPr>
        <p:txBody>
          <a:bodyPr wrap="square" rtlCol="0">
            <a:noAutofit/>
          </a:bodyPr>
          <a:lstStyle/>
          <a:p>
            <a:pPr indent="0">
              <a:buNone/>
            </a:pPr>
            <a:r>
              <a:rPr lang="en-US" sz="1400" b="1" dirty="0" smtClean="0"/>
              <a:t>Average Prices</a:t>
            </a:r>
            <a:endParaRPr lang="en-US" sz="1400" b="1" dirty="0"/>
          </a:p>
        </p:txBody>
      </p:sp>
      <p:sp>
        <p:nvSpPr>
          <p:cNvPr id="17" name="TextBox 16"/>
          <p:cNvSpPr txBox="1"/>
          <p:nvPr/>
        </p:nvSpPr>
        <p:spPr>
          <a:xfrm>
            <a:off x="402866" y="1392991"/>
            <a:ext cx="2745752" cy="307777"/>
          </a:xfrm>
          <a:prstGeom prst="rect">
            <a:avLst/>
          </a:prstGeom>
          <a:noFill/>
        </p:spPr>
        <p:txBody>
          <a:bodyPr wrap="none" rtlCol="0">
            <a:spAutoFit/>
          </a:bodyPr>
          <a:lstStyle/>
          <a:p>
            <a:r>
              <a:rPr lang="en-US" sz="1400" b="1" dirty="0" smtClean="0"/>
              <a:t>Exhibit 1: Volunteering Market</a:t>
            </a:r>
            <a:endParaRPr lang="en-US" sz="1400" b="1" dirty="0"/>
          </a:p>
        </p:txBody>
      </p:sp>
      <p:graphicFrame>
        <p:nvGraphicFramePr>
          <p:cNvPr id="3" name="Table 2"/>
          <p:cNvGraphicFramePr>
            <a:graphicFrameLocks noGrp="1"/>
          </p:cNvGraphicFramePr>
          <p:nvPr>
            <p:extLst>
              <p:ext uri="{D42A27DB-BD31-4B8C-83A1-F6EECF244321}">
                <p14:modId xmlns:p14="http://schemas.microsoft.com/office/powerpoint/2010/main" val="189956053"/>
              </p:ext>
            </p:extLst>
          </p:nvPr>
        </p:nvGraphicFramePr>
        <p:xfrm>
          <a:off x="402866" y="2139314"/>
          <a:ext cx="4448722" cy="1529715"/>
        </p:xfrm>
        <a:graphic>
          <a:graphicData uri="http://schemas.openxmlformats.org/drawingml/2006/table">
            <a:tbl>
              <a:tblPr>
                <a:tableStyleId>{5940675A-B579-460E-94D1-54222C63F5DA}</a:tableStyleId>
              </a:tblPr>
              <a:tblGrid>
                <a:gridCol w="701125"/>
                <a:gridCol w="920316"/>
                <a:gridCol w="945931"/>
                <a:gridCol w="956441"/>
                <a:gridCol w="924909"/>
              </a:tblGrid>
              <a:tr h="190500">
                <a:tc>
                  <a:txBody>
                    <a:bodyPr/>
                    <a:lstStyle/>
                    <a:p>
                      <a:pPr algn="ctr" fontAlgn="b"/>
                      <a:r>
                        <a:rPr lang="en-US" sz="1200" b="1" u="none" strike="noStrike" dirty="0">
                          <a:effectLst/>
                        </a:rPr>
                        <a:t>Year</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Volunteers Abroad</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Competitor 1</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Competitor 2</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Competitor 3</a:t>
                      </a:r>
                      <a:endParaRPr lang="en-US" sz="1200" b="1" i="0" u="none" strike="noStrike" dirty="0">
                        <a:solidFill>
                          <a:srgbClr val="000000"/>
                        </a:solidFill>
                        <a:effectLst/>
                        <a:latin typeface="Calibri"/>
                      </a:endParaRPr>
                    </a:p>
                  </a:txBody>
                  <a:tcPr marL="9525" marR="9525" marT="9525" marB="0" anchor="ctr"/>
                </a:tc>
              </a:tr>
              <a:tr h="190500">
                <a:tc>
                  <a:txBody>
                    <a:bodyPr/>
                    <a:lstStyle/>
                    <a:p>
                      <a:pPr algn="r" fontAlgn="b"/>
                      <a:r>
                        <a:rPr lang="en-US" sz="1200" u="none" strike="noStrike" dirty="0">
                          <a:effectLst/>
                        </a:rPr>
                        <a:t>2006</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$5,000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$4,750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$5,250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$5,000</a:t>
                      </a:r>
                      <a:endParaRPr lang="en-US" sz="1200" b="0" i="0" u="none" strike="noStrike" dirty="0">
                        <a:solidFill>
                          <a:srgbClr val="000000"/>
                        </a:solidFill>
                        <a:effectLst/>
                        <a:latin typeface="Calibri"/>
                      </a:endParaRPr>
                    </a:p>
                  </a:txBody>
                  <a:tcPr marL="9525" marR="9525" marT="9525" marB="0" anchor="b"/>
                </a:tc>
              </a:tr>
              <a:tr h="190500">
                <a:tc>
                  <a:txBody>
                    <a:bodyPr/>
                    <a:lstStyle/>
                    <a:p>
                      <a:pPr algn="r" fontAlgn="b"/>
                      <a:r>
                        <a:rPr lang="en-US" sz="1200" u="none" strike="noStrike" dirty="0">
                          <a:effectLst/>
                        </a:rPr>
                        <a:t>2007</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$5,250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$5,000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$5,500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$5,250</a:t>
                      </a:r>
                      <a:endParaRPr lang="en-US" sz="1200" b="0" i="0" u="none" strike="noStrike" dirty="0">
                        <a:solidFill>
                          <a:srgbClr val="000000"/>
                        </a:solidFill>
                        <a:effectLst/>
                        <a:latin typeface="Calibri"/>
                      </a:endParaRPr>
                    </a:p>
                  </a:txBody>
                  <a:tcPr marL="9525" marR="9525" marT="9525" marB="0" anchor="b"/>
                </a:tc>
              </a:tr>
              <a:tr h="190500">
                <a:tc>
                  <a:txBody>
                    <a:bodyPr/>
                    <a:lstStyle/>
                    <a:p>
                      <a:pPr algn="r" fontAlgn="b"/>
                      <a:r>
                        <a:rPr lang="en-US" sz="1200" u="none" strike="noStrike" dirty="0">
                          <a:effectLst/>
                        </a:rPr>
                        <a:t>2008</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$5,000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$5,000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$5,500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$5,250</a:t>
                      </a:r>
                      <a:endParaRPr lang="en-US" sz="1200" b="0" i="0" u="none" strike="noStrike" dirty="0">
                        <a:solidFill>
                          <a:srgbClr val="000000"/>
                        </a:solidFill>
                        <a:effectLst/>
                        <a:latin typeface="Calibri"/>
                      </a:endParaRPr>
                    </a:p>
                  </a:txBody>
                  <a:tcPr marL="9525" marR="9525" marT="9525" marB="0" anchor="b"/>
                </a:tc>
              </a:tr>
              <a:tr h="190500">
                <a:tc>
                  <a:txBody>
                    <a:bodyPr/>
                    <a:lstStyle/>
                    <a:p>
                      <a:pPr algn="r" fontAlgn="b"/>
                      <a:r>
                        <a:rPr lang="en-US" sz="1200" u="none" strike="noStrike" dirty="0">
                          <a:effectLst/>
                        </a:rPr>
                        <a:t>2009</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$4,750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$5,000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$5,250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$5,300</a:t>
                      </a:r>
                      <a:endParaRPr lang="en-US" sz="1200" b="0" i="0" u="none" strike="noStrike" dirty="0">
                        <a:solidFill>
                          <a:srgbClr val="000000"/>
                        </a:solidFill>
                        <a:effectLst/>
                        <a:latin typeface="Calibri"/>
                      </a:endParaRPr>
                    </a:p>
                  </a:txBody>
                  <a:tcPr marL="9525" marR="9525" marT="9525" marB="0" anchor="b"/>
                </a:tc>
              </a:tr>
              <a:tr h="190500">
                <a:tc>
                  <a:txBody>
                    <a:bodyPr/>
                    <a:lstStyle/>
                    <a:p>
                      <a:pPr algn="r" fontAlgn="b"/>
                      <a:r>
                        <a:rPr lang="en-US" sz="1200" u="none" strike="noStrike" dirty="0">
                          <a:effectLst/>
                        </a:rPr>
                        <a:t>2010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$4,600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$5,100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$5,350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$5,400</a:t>
                      </a:r>
                      <a:endParaRPr lang="en-US" sz="1200" b="0" i="0" u="none" strike="noStrike" dirty="0">
                        <a:solidFill>
                          <a:srgbClr val="000000"/>
                        </a:solidFill>
                        <a:effectLst/>
                        <a:latin typeface="Calibri"/>
                      </a:endParaRPr>
                    </a:p>
                  </a:txBody>
                  <a:tcPr marL="9525" marR="9525" marT="9525" marB="0" anchor="b"/>
                </a:tc>
              </a:tr>
              <a:tr h="190500">
                <a:tc>
                  <a:txBody>
                    <a:bodyPr/>
                    <a:lstStyle/>
                    <a:p>
                      <a:pPr algn="r" fontAlgn="b"/>
                      <a:r>
                        <a:rPr lang="en-US" sz="1200" u="none" strike="noStrike" dirty="0">
                          <a:effectLst/>
                        </a:rPr>
                        <a:t>2011</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$4,600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$5,250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$5,500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u="none" strike="noStrike" dirty="0">
                          <a:effectLst/>
                        </a:rPr>
                        <a:t>$5,600</a:t>
                      </a:r>
                      <a:endParaRPr lang="en-US" sz="1200" b="0" i="0" u="none" strike="noStrike" dirty="0">
                        <a:solidFill>
                          <a:srgbClr val="000000"/>
                        </a:solidFill>
                        <a:effectLst/>
                        <a:latin typeface="Calibri"/>
                      </a:endParaRPr>
                    </a:p>
                  </a:txBody>
                  <a:tcPr marL="9525" marR="9525" marT="9525" marB="0" anchor="b"/>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32798784"/>
              </p:ext>
            </p:extLst>
          </p:nvPr>
        </p:nvGraphicFramePr>
        <p:xfrm>
          <a:off x="402866" y="4178316"/>
          <a:ext cx="4448722" cy="1529715"/>
        </p:xfrm>
        <a:graphic>
          <a:graphicData uri="http://schemas.openxmlformats.org/drawingml/2006/table">
            <a:tbl>
              <a:tblPr>
                <a:tableStyleId>{5940675A-B579-460E-94D1-54222C63F5DA}</a:tableStyleId>
              </a:tblPr>
              <a:tblGrid>
                <a:gridCol w="701125"/>
                <a:gridCol w="920316"/>
                <a:gridCol w="945931"/>
                <a:gridCol w="956441"/>
                <a:gridCol w="924909"/>
              </a:tblGrid>
              <a:tr h="190500">
                <a:tc>
                  <a:txBody>
                    <a:bodyPr/>
                    <a:lstStyle/>
                    <a:p>
                      <a:pPr algn="ctr" fontAlgn="b"/>
                      <a:r>
                        <a:rPr lang="en-US" sz="1200" b="1" u="none" strike="noStrike" dirty="0">
                          <a:effectLst/>
                        </a:rPr>
                        <a:t>Year</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Volunteers Abroad</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Competitor 1</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Competitor 2</a:t>
                      </a:r>
                      <a:endParaRPr lang="en-US" sz="1200" b="1" i="0" u="none" strike="noStrike" dirty="0">
                        <a:solidFill>
                          <a:srgbClr val="000000"/>
                        </a:solidFill>
                        <a:effectLst/>
                        <a:latin typeface="Calibri"/>
                      </a:endParaRPr>
                    </a:p>
                  </a:txBody>
                  <a:tcPr marL="9525" marR="9525" marT="9525" marB="0" anchor="ctr"/>
                </a:tc>
                <a:tc>
                  <a:txBody>
                    <a:bodyPr/>
                    <a:lstStyle/>
                    <a:p>
                      <a:pPr algn="ctr" fontAlgn="b"/>
                      <a:r>
                        <a:rPr lang="en-US" sz="1200" b="1" u="none" strike="noStrike" dirty="0">
                          <a:effectLst/>
                        </a:rPr>
                        <a:t>Competitor 3</a:t>
                      </a:r>
                      <a:endParaRPr lang="en-US" sz="1200" b="1" i="0" u="none" strike="noStrike" dirty="0">
                        <a:solidFill>
                          <a:srgbClr val="000000"/>
                        </a:solidFill>
                        <a:effectLst/>
                        <a:latin typeface="Calibri"/>
                      </a:endParaRPr>
                    </a:p>
                  </a:txBody>
                  <a:tcPr marL="9525" marR="9525" marT="9525" marB="0" anchor="ctr"/>
                </a:tc>
              </a:tr>
              <a:tr h="190500">
                <a:tc>
                  <a:txBody>
                    <a:bodyPr/>
                    <a:lstStyle/>
                    <a:p>
                      <a:pPr algn="r" fontAlgn="b"/>
                      <a:r>
                        <a:rPr lang="en-US" sz="1200" u="none" strike="noStrike" dirty="0">
                          <a:effectLst/>
                        </a:rPr>
                        <a:t>2006</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b="0" i="0" u="none" strike="noStrike" dirty="0">
                          <a:solidFill>
                            <a:srgbClr val="000000"/>
                          </a:solidFill>
                          <a:effectLst/>
                          <a:latin typeface="+mn-lt"/>
                        </a:rPr>
                        <a:t>23%</a:t>
                      </a:r>
                    </a:p>
                  </a:txBody>
                  <a:tcPr marL="9525" marR="9525" marT="9525" marB="0" anchor="b"/>
                </a:tc>
                <a:tc>
                  <a:txBody>
                    <a:bodyPr/>
                    <a:lstStyle/>
                    <a:p>
                      <a:pPr algn="r" fontAlgn="b"/>
                      <a:r>
                        <a:rPr lang="en-US" sz="1200" b="0" i="0" u="none" strike="noStrike" dirty="0">
                          <a:solidFill>
                            <a:srgbClr val="000000"/>
                          </a:solidFill>
                          <a:effectLst/>
                          <a:latin typeface="+mn-lt"/>
                        </a:rPr>
                        <a:t>30%</a:t>
                      </a:r>
                    </a:p>
                  </a:txBody>
                  <a:tcPr marL="9525" marR="9525" marT="9525" marB="0" anchor="b"/>
                </a:tc>
                <a:tc>
                  <a:txBody>
                    <a:bodyPr/>
                    <a:lstStyle/>
                    <a:p>
                      <a:pPr algn="r" fontAlgn="b"/>
                      <a:r>
                        <a:rPr lang="en-US" sz="1200" b="0" i="0" u="none" strike="noStrike" dirty="0">
                          <a:solidFill>
                            <a:srgbClr val="000000"/>
                          </a:solidFill>
                          <a:effectLst/>
                          <a:latin typeface="+mn-lt"/>
                        </a:rPr>
                        <a:t>25%</a:t>
                      </a:r>
                    </a:p>
                  </a:txBody>
                  <a:tcPr marL="9525" marR="9525" marT="9525" marB="0" anchor="b"/>
                </a:tc>
                <a:tc>
                  <a:txBody>
                    <a:bodyPr/>
                    <a:lstStyle/>
                    <a:p>
                      <a:pPr algn="r" fontAlgn="b"/>
                      <a:r>
                        <a:rPr lang="en-US" sz="1200" b="0" i="0" u="none" strike="noStrike" dirty="0">
                          <a:solidFill>
                            <a:srgbClr val="000000"/>
                          </a:solidFill>
                          <a:effectLst/>
                          <a:latin typeface="+mn-lt"/>
                        </a:rPr>
                        <a:t>22%</a:t>
                      </a:r>
                    </a:p>
                  </a:txBody>
                  <a:tcPr marL="9525" marR="9525" marT="9525" marB="0" anchor="b"/>
                </a:tc>
              </a:tr>
              <a:tr h="190500">
                <a:tc>
                  <a:txBody>
                    <a:bodyPr/>
                    <a:lstStyle/>
                    <a:p>
                      <a:pPr algn="r" fontAlgn="b"/>
                      <a:r>
                        <a:rPr lang="en-US" sz="1200" u="none" strike="noStrike" dirty="0">
                          <a:effectLst/>
                        </a:rPr>
                        <a:t>2007</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b="0" i="0" u="none" strike="noStrike" dirty="0">
                          <a:solidFill>
                            <a:srgbClr val="000000"/>
                          </a:solidFill>
                          <a:effectLst/>
                          <a:latin typeface="+mn-lt"/>
                        </a:rPr>
                        <a:t>24%</a:t>
                      </a:r>
                    </a:p>
                  </a:txBody>
                  <a:tcPr marL="9525" marR="9525" marT="9525" marB="0" anchor="b"/>
                </a:tc>
                <a:tc>
                  <a:txBody>
                    <a:bodyPr/>
                    <a:lstStyle/>
                    <a:p>
                      <a:pPr algn="r" fontAlgn="b"/>
                      <a:r>
                        <a:rPr lang="en-US" sz="1200" b="0" i="0" u="none" strike="noStrike" dirty="0">
                          <a:solidFill>
                            <a:srgbClr val="000000"/>
                          </a:solidFill>
                          <a:effectLst/>
                          <a:latin typeface="+mn-lt"/>
                        </a:rPr>
                        <a:t>28%</a:t>
                      </a:r>
                    </a:p>
                  </a:txBody>
                  <a:tcPr marL="9525" marR="9525" marT="9525" marB="0" anchor="b"/>
                </a:tc>
                <a:tc>
                  <a:txBody>
                    <a:bodyPr/>
                    <a:lstStyle/>
                    <a:p>
                      <a:pPr algn="r" fontAlgn="b"/>
                      <a:r>
                        <a:rPr lang="en-US" sz="1200" b="0" i="0" u="none" strike="noStrike" dirty="0">
                          <a:solidFill>
                            <a:srgbClr val="000000"/>
                          </a:solidFill>
                          <a:effectLst/>
                          <a:latin typeface="+mn-lt"/>
                        </a:rPr>
                        <a:t>24%</a:t>
                      </a:r>
                    </a:p>
                  </a:txBody>
                  <a:tcPr marL="9525" marR="9525" marT="9525" marB="0" anchor="b"/>
                </a:tc>
                <a:tc>
                  <a:txBody>
                    <a:bodyPr/>
                    <a:lstStyle/>
                    <a:p>
                      <a:pPr algn="r" fontAlgn="b"/>
                      <a:r>
                        <a:rPr lang="en-US" sz="1200" b="0" i="0" u="none" strike="noStrike" dirty="0">
                          <a:solidFill>
                            <a:srgbClr val="000000"/>
                          </a:solidFill>
                          <a:effectLst/>
                          <a:latin typeface="+mn-lt"/>
                        </a:rPr>
                        <a:t>24%</a:t>
                      </a:r>
                    </a:p>
                  </a:txBody>
                  <a:tcPr marL="9525" marR="9525" marT="9525" marB="0" anchor="b"/>
                </a:tc>
              </a:tr>
              <a:tr h="190500">
                <a:tc>
                  <a:txBody>
                    <a:bodyPr/>
                    <a:lstStyle/>
                    <a:p>
                      <a:pPr algn="r" fontAlgn="b"/>
                      <a:r>
                        <a:rPr lang="en-US" sz="1200" u="none" strike="noStrike" dirty="0">
                          <a:effectLst/>
                        </a:rPr>
                        <a:t>2008</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b="0" i="0" u="none" strike="noStrike" dirty="0">
                          <a:solidFill>
                            <a:srgbClr val="000000"/>
                          </a:solidFill>
                          <a:effectLst/>
                          <a:latin typeface="+mn-lt"/>
                        </a:rPr>
                        <a:t>25%</a:t>
                      </a:r>
                    </a:p>
                  </a:txBody>
                  <a:tcPr marL="9525" marR="9525" marT="9525" marB="0" anchor="b"/>
                </a:tc>
                <a:tc>
                  <a:txBody>
                    <a:bodyPr/>
                    <a:lstStyle/>
                    <a:p>
                      <a:pPr algn="r" fontAlgn="b"/>
                      <a:r>
                        <a:rPr lang="en-US" sz="1200" b="0" i="0" u="none" strike="noStrike" dirty="0">
                          <a:solidFill>
                            <a:srgbClr val="000000"/>
                          </a:solidFill>
                          <a:effectLst/>
                          <a:latin typeface="+mn-lt"/>
                        </a:rPr>
                        <a:t>28%</a:t>
                      </a:r>
                    </a:p>
                  </a:txBody>
                  <a:tcPr marL="9525" marR="9525" marT="9525" marB="0" anchor="b"/>
                </a:tc>
                <a:tc>
                  <a:txBody>
                    <a:bodyPr/>
                    <a:lstStyle/>
                    <a:p>
                      <a:pPr algn="r" fontAlgn="b"/>
                      <a:r>
                        <a:rPr lang="en-US" sz="1200" b="0" i="0" u="none" strike="noStrike" dirty="0">
                          <a:solidFill>
                            <a:srgbClr val="000000"/>
                          </a:solidFill>
                          <a:effectLst/>
                          <a:latin typeface="+mn-lt"/>
                        </a:rPr>
                        <a:t>25%</a:t>
                      </a:r>
                    </a:p>
                  </a:txBody>
                  <a:tcPr marL="9525" marR="9525" marT="9525" marB="0" anchor="b"/>
                </a:tc>
                <a:tc>
                  <a:txBody>
                    <a:bodyPr/>
                    <a:lstStyle/>
                    <a:p>
                      <a:pPr algn="r" fontAlgn="b"/>
                      <a:r>
                        <a:rPr lang="en-US" sz="1200" b="0" i="0" u="none" strike="noStrike" dirty="0">
                          <a:solidFill>
                            <a:srgbClr val="000000"/>
                          </a:solidFill>
                          <a:effectLst/>
                          <a:latin typeface="+mn-lt"/>
                        </a:rPr>
                        <a:t>22%</a:t>
                      </a:r>
                    </a:p>
                  </a:txBody>
                  <a:tcPr marL="9525" marR="9525" marT="9525" marB="0" anchor="b"/>
                </a:tc>
              </a:tr>
              <a:tr h="190500">
                <a:tc>
                  <a:txBody>
                    <a:bodyPr/>
                    <a:lstStyle/>
                    <a:p>
                      <a:pPr algn="r" fontAlgn="b"/>
                      <a:r>
                        <a:rPr lang="en-US" sz="1200" u="none" strike="noStrike" dirty="0">
                          <a:effectLst/>
                        </a:rPr>
                        <a:t>2009</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b="0" i="0" u="none" strike="noStrike" dirty="0">
                          <a:solidFill>
                            <a:srgbClr val="000000"/>
                          </a:solidFill>
                          <a:effectLst/>
                          <a:latin typeface="+mn-lt"/>
                        </a:rPr>
                        <a:t>24%</a:t>
                      </a:r>
                    </a:p>
                  </a:txBody>
                  <a:tcPr marL="9525" marR="9525" marT="9525" marB="0" anchor="b"/>
                </a:tc>
                <a:tc>
                  <a:txBody>
                    <a:bodyPr/>
                    <a:lstStyle/>
                    <a:p>
                      <a:pPr algn="r" fontAlgn="b"/>
                      <a:r>
                        <a:rPr lang="en-US" sz="1200" b="0" i="0" u="none" strike="noStrike" dirty="0">
                          <a:solidFill>
                            <a:srgbClr val="000000"/>
                          </a:solidFill>
                          <a:effectLst/>
                          <a:latin typeface="+mn-lt"/>
                        </a:rPr>
                        <a:t>30%</a:t>
                      </a:r>
                    </a:p>
                  </a:txBody>
                  <a:tcPr marL="9525" marR="9525" marT="9525" marB="0" anchor="b"/>
                </a:tc>
                <a:tc>
                  <a:txBody>
                    <a:bodyPr/>
                    <a:lstStyle/>
                    <a:p>
                      <a:pPr algn="r" fontAlgn="b"/>
                      <a:r>
                        <a:rPr lang="en-US" sz="1200" b="0" i="0" u="none" strike="noStrike" dirty="0">
                          <a:solidFill>
                            <a:srgbClr val="000000"/>
                          </a:solidFill>
                          <a:effectLst/>
                          <a:latin typeface="+mn-lt"/>
                        </a:rPr>
                        <a:t>23%</a:t>
                      </a:r>
                    </a:p>
                  </a:txBody>
                  <a:tcPr marL="9525" marR="9525" marT="9525" marB="0" anchor="b"/>
                </a:tc>
                <a:tc>
                  <a:txBody>
                    <a:bodyPr/>
                    <a:lstStyle/>
                    <a:p>
                      <a:pPr algn="r" fontAlgn="b"/>
                      <a:r>
                        <a:rPr lang="en-US" sz="1200" b="0" i="0" u="none" strike="noStrike" dirty="0">
                          <a:solidFill>
                            <a:srgbClr val="000000"/>
                          </a:solidFill>
                          <a:effectLst/>
                          <a:latin typeface="+mn-lt"/>
                        </a:rPr>
                        <a:t>23%</a:t>
                      </a:r>
                    </a:p>
                  </a:txBody>
                  <a:tcPr marL="9525" marR="9525" marT="9525" marB="0" anchor="b"/>
                </a:tc>
              </a:tr>
              <a:tr h="190500">
                <a:tc>
                  <a:txBody>
                    <a:bodyPr/>
                    <a:lstStyle/>
                    <a:p>
                      <a:pPr algn="r" fontAlgn="b"/>
                      <a:r>
                        <a:rPr lang="en-US" sz="1200" u="none" strike="noStrike" dirty="0">
                          <a:effectLst/>
                        </a:rPr>
                        <a:t>2010</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b="0" i="0" u="none" strike="noStrike" dirty="0">
                          <a:solidFill>
                            <a:srgbClr val="000000"/>
                          </a:solidFill>
                          <a:effectLst/>
                          <a:latin typeface="+mn-lt"/>
                        </a:rPr>
                        <a:t>26%</a:t>
                      </a:r>
                    </a:p>
                  </a:txBody>
                  <a:tcPr marL="9525" marR="9525" marT="9525" marB="0" anchor="b"/>
                </a:tc>
                <a:tc>
                  <a:txBody>
                    <a:bodyPr/>
                    <a:lstStyle/>
                    <a:p>
                      <a:pPr algn="r" fontAlgn="b"/>
                      <a:r>
                        <a:rPr lang="en-US" sz="1200" b="0" i="0" u="none" strike="noStrike" dirty="0">
                          <a:solidFill>
                            <a:srgbClr val="000000"/>
                          </a:solidFill>
                          <a:effectLst/>
                          <a:latin typeface="+mn-lt"/>
                        </a:rPr>
                        <a:t>27%</a:t>
                      </a:r>
                    </a:p>
                  </a:txBody>
                  <a:tcPr marL="9525" marR="9525" marT="9525" marB="0" anchor="b"/>
                </a:tc>
                <a:tc>
                  <a:txBody>
                    <a:bodyPr/>
                    <a:lstStyle/>
                    <a:p>
                      <a:pPr algn="r" fontAlgn="b"/>
                      <a:r>
                        <a:rPr lang="en-US" sz="1200" b="0" i="0" u="none" strike="noStrike" dirty="0">
                          <a:solidFill>
                            <a:srgbClr val="000000"/>
                          </a:solidFill>
                          <a:effectLst/>
                          <a:latin typeface="+mn-lt"/>
                        </a:rPr>
                        <a:t>24%</a:t>
                      </a:r>
                    </a:p>
                  </a:txBody>
                  <a:tcPr marL="9525" marR="9525" marT="9525" marB="0" anchor="b"/>
                </a:tc>
                <a:tc>
                  <a:txBody>
                    <a:bodyPr/>
                    <a:lstStyle/>
                    <a:p>
                      <a:pPr algn="r" fontAlgn="b"/>
                      <a:r>
                        <a:rPr lang="en-US" sz="1200" b="0" i="0" u="none" strike="noStrike" dirty="0">
                          <a:solidFill>
                            <a:srgbClr val="000000"/>
                          </a:solidFill>
                          <a:effectLst/>
                          <a:latin typeface="+mn-lt"/>
                        </a:rPr>
                        <a:t>23%</a:t>
                      </a:r>
                    </a:p>
                  </a:txBody>
                  <a:tcPr marL="9525" marR="9525" marT="9525" marB="0" anchor="b"/>
                </a:tc>
              </a:tr>
              <a:tr h="190500">
                <a:tc>
                  <a:txBody>
                    <a:bodyPr/>
                    <a:lstStyle/>
                    <a:p>
                      <a:pPr algn="r" fontAlgn="b"/>
                      <a:r>
                        <a:rPr lang="en-US" sz="1200" u="none" strike="noStrike" dirty="0">
                          <a:effectLst/>
                        </a:rPr>
                        <a:t>2011</a:t>
                      </a:r>
                      <a:endParaRPr lang="en-US" sz="1200" b="0" i="0" u="none" strike="noStrike" dirty="0">
                        <a:solidFill>
                          <a:srgbClr val="000000"/>
                        </a:solidFill>
                        <a:effectLst/>
                        <a:latin typeface="Calibri"/>
                      </a:endParaRPr>
                    </a:p>
                  </a:txBody>
                  <a:tcPr marL="9525" marR="9525" marT="9525" marB="0" anchor="b"/>
                </a:tc>
                <a:tc>
                  <a:txBody>
                    <a:bodyPr/>
                    <a:lstStyle/>
                    <a:p>
                      <a:pPr algn="r" fontAlgn="b"/>
                      <a:r>
                        <a:rPr lang="en-US" sz="1200" b="0" i="0" u="none" strike="noStrike" dirty="0">
                          <a:solidFill>
                            <a:srgbClr val="000000"/>
                          </a:solidFill>
                          <a:effectLst/>
                          <a:latin typeface="+mn-lt"/>
                        </a:rPr>
                        <a:t>25%</a:t>
                      </a:r>
                    </a:p>
                  </a:txBody>
                  <a:tcPr marL="9525" marR="9525" marT="9525" marB="0" anchor="b"/>
                </a:tc>
                <a:tc>
                  <a:txBody>
                    <a:bodyPr/>
                    <a:lstStyle/>
                    <a:p>
                      <a:pPr algn="r" fontAlgn="b"/>
                      <a:r>
                        <a:rPr lang="en-US" sz="1200" b="0" i="0" u="none" strike="noStrike" dirty="0">
                          <a:solidFill>
                            <a:srgbClr val="000000"/>
                          </a:solidFill>
                          <a:effectLst/>
                          <a:latin typeface="+mn-lt"/>
                        </a:rPr>
                        <a:t>27%</a:t>
                      </a:r>
                    </a:p>
                  </a:txBody>
                  <a:tcPr marL="9525" marR="9525" marT="9525" marB="0" anchor="b"/>
                </a:tc>
                <a:tc>
                  <a:txBody>
                    <a:bodyPr/>
                    <a:lstStyle/>
                    <a:p>
                      <a:pPr algn="r" fontAlgn="b"/>
                      <a:r>
                        <a:rPr lang="en-US" sz="1200" b="0" i="0" u="none" strike="noStrike" dirty="0">
                          <a:solidFill>
                            <a:srgbClr val="000000"/>
                          </a:solidFill>
                          <a:effectLst/>
                          <a:latin typeface="+mn-lt"/>
                        </a:rPr>
                        <a:t>26%</a:t>
                      </a:r>
                    </a:p>
                  </a:txBody>
                  <a:tcPr marL="9525" marR="9525" marT="9525" marB="0" anchor="b"/>
                </a:tc>
                <a:tc>
                  <a:txBody>
                    <a:bodyPr/>
                    <a:lstStyle/>
                    <a:p>
                      <a:pPr algn="r" fontAlgn="b"/>
                      <a:r>
                        <a:rPr lang="en-US" sz="1200" b="0" i="0" u="none" strike="noStrike" dirty="0">
                          <a:solidFill>
                            <a:srgbClr val="000000"/>
                          </a:solidFill>
                          <a:effectLst/>
                          <a:latin typeface="+mn-lt"/>
                        </a:rPr>
                        <a:t>22%</a:t>
                      </a:r>
                    </a:p>
                  </a:txBody>
                  <a:tcPr marL="9525" marR="9525" marT="9525" marB="0" anchor="b"/>
                </a:tc>
              </a:tr>
            </a:tbl>
          </a:graphicData>
        </a:graphic>
      </p:graphicFrame>
      <p:sp>
        <p:nvSpPr>
          <p:cNvPr id="13" name="TextBox 12"/>
          <p:cNvSpPr txBox="1"/>
          <p:nvPr/>
        </p:nvSpPr>
        <p:spPr>
          <a:xfrm>
            <a:off x="402866" y="3826679"/>
            <a:ext cx="8701514" cy="403138"/>
          </a:xfrm>
          <a:prstGeom prst="rect">
            <a:avLst/>
          </a:prstGeom>
          <a:noFill/>
        </p:spPr>
        <p:txBody>
          <a:bodyPr wrap="square" rtlCol="0">
            <a:noAutofit/>
          </a:bodyPr>
          <a:lstStyle>
            <a:defPPr>
              <a:defRPr lang="en-US"/>
            </a:defPPr>
            <a:lvl1pPr indent="0">
              <a:buNone/>
              <a:defRPr sz="1400" b="1"/>
            </a:lvl1pPr>
          </a:lstStyle>
          <a:p>
            <a:r>
              <a:rPr lang="en-US" dirty="0"/>
              <a:t>Market Share (% of volunteers)</a:t>
            </a:r>
          </a:p>
        </p:txBody>
      </p:sp>
      <p:graphicFrame>
        <p:nvGraphicFramePr>
          <p:cNvPr id="14" name="Chart 13"/>
          <p:cNvGraphicFramePr>
            <a:graphicFrameLocks/>
          </p:cNvGraphicFramePr>
          <p:nvPr>
            <p:extLst>
              <p:ext uri="{D42A27DB-BD31-4B8C-83A1-F6EECF244321}">
                <p14:modId xmlns:p14="http://schemas.microsoft.com/office/powerpoint/2010/main" val="510626121"/>
              </p:ext>
            </p:extLst>
          </p:nvPr>
        </p:nvGraphicFramePr>
        <p:xfrm>
          <a:off x="5402179" y="2139314"/>
          <a:ext cx="3548474" cy="20905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7008977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11: Volunteers Abroad</a:t>
            </a:r>
          </a:p>
        </p:txBody>
      </p:sp>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 </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88</a:t>
            </a:fld>
            <a:endParaRPr lang="en-US" dirty="0"/>
          </a:p>
        </p:txBody>
      </p:sp>
      <p:sp>
        <p:nvSpPr>
          <p:cNvPr id="11" name="TextBox 10"/>
          <p:cNvSpPr txBox="1"/>
          <p:nvPr/>
        </p:nvSpPr>
        <p:spPr>
          <a:xfrm>
            <a:off x="304801" y="1772503"/>
            <a:ext cx="8701514" cy="3099690"/>
          </a:xfrm>
          <a:prstGeom prst="rect">
            <a:avLst/>
          </a:prstGeom>
          <a:noFill/>
        </p:spPr>
        <p:txBody>
          <a:bodyPr wrap="square" rtlCol="0">
            <a:noAutofit/>
          </a:bodyPr>
          <a:lstStyle/>
          <a:p>
            <a:pPr indent="0">
              <a:buNone/>
            </a:pPr>
            <a:r>
              <a:rPr lang="en-US" sz="1200" dirty="0"/>
              <a:t>Market information</a:t>
            </a:r>
          </a:p>
          <a:p>
            <a:pPr marL="285750" indent="-285750">
              <a:buFont typeface="Arial"/>
              <a:buChar char="•"/>
            </a:pPr>
            <a:endParaRPr lang="en-US" sz="1200" dirty="0" smtClean="0"/>
          </a:p>
          <a:p>
            <a:pPr marL="285750" indent="-285750">
              <a:buFont typeface="Arial"/>
              <a:buChar char="•"/>
            </a:pPr>
            <a:r>
              <a:rPr lang="en-US" sz="1200" dirty="0" smtClean="0"/>
              <a:t>Total </a:t>
            </a:r>
            <a:r>
              <a:rPr lang="en-US" sz="1200" dirty="0"/>
              <a:t>market size for volunteer abroad programs: $100mn</a:t>
            </a:r>
          </a:p>
          <a:p>
            <a:pPr marL="285750" indent="-285750">
              <a:buFont typeface="Arial"/>
              <a:buChar char="•"/>
            </a:pPr>
            <a:r>
              <a:rPr lang="en-US" sz="1200" dirty="0"/>
              <a:t>VA market share: 20%</a:t>
            </a:r>
          </a:p>
          <a:p>
            <a:pPr marL="285750" indent="-285750">
              <a:buFont typeface="Arial"/>
              <a:buChar char="•"/>
            </a:pPr>
            <a:r>
              <a:rPr lang="en-US" sz="1200" dirty="0"/>
              <a:t>The market is undergoing 10% compounded annual growth</a:t>
            </a:r>
          </a:p>
          <a:p>
            <a:pPr indent="0">
              <a:buNone/>
            </a:pPr>
            <a:endParaRPr lang="en-US" sz="1200" dirty="0"/>
          </a:p>
          <a:p>
            <a:pPr indent="0">
              <a:buNone/>
            </a:pPr>
            <a:r>
              <a:rPr lang="en-US" sz="1200" dirty="0"/>
              <a:t>Client information</a:t>
            </a:r>
          </a:p>
          <a:p>
            <a:pPr marL="285750" indent="-285750">
              <a:buFont typeface="Arial"/>
              <a:buChar char="•"/>
            </a:pPr>
            <a:endParaRPr lang="en-US" sz="1200" dirty="0" smtClean="0"/>
          </a:p>
          <a:p>
            <a:pPr marL="285750" indent="-285750">
              <a:buFont typeface="Arial"/>
              <a:buChar char="•"/>
            </a:pPr>
            <a:r>
              <a:rPr lang="en-US" sz="1200" dirty="0" smtClean="0"/>
              <a:t>New average </a:t>
            </a:r>
            <a:r>
              <a:rPr lang="en-US" sz="1200" dirty="0"/>
              <a:t>program price: $5000</a:t>
            </a:r>
          </a:p>
          <a:p>
            <a:pPr marL="285750" indent="-285750">
              <a:buFont typeface="Arial"/>
              <a:buChar char="•"/>
            </a:pPr>
            <a:r>
              <a:rPr lang="en-US" sz="1200" dirty="0"/>
              <a:t>Current customer volume: 4000</a:t>
            </a:r>
          </a:p>
          <a:p>
            <a:pPr marL="285750" indent="-285750">
              <a:buFont typeface="Arial"/>
              <a:buChar char="•"/>
            </a:pPr>
            <a:r>
              <a:rPr lang="en-US" sz="1200" dirty="0"/>
              <a:t>Program prices are subjected to a 5% compounded annual growth rate due to inflation and rising costs</a:t>
            </a:r>
          </a:p>
          <a:p>
            <a:pPr marL="285750" indent="-285750">
              <a:buFont typeface="Arial"/>
              <a:buChar char="•"/>
            </a:pPr>
            <a:r>
              <a:rPr lang="en-US" sz="1200" dirty="0"/>
              <a:t>The client is optimistic about market demand, and expects customer volume to increase 20%, compounded annually</a:t>
            </a:r>
          </a:p>
        </p:txBody>
      </p:sp>
      <p:sp>
        <p:nvSpPr>
          <p:cNvPr id="17" name="TextBox 16"/>
          <p:cNvSpPr txBox="1"/>
          <p:nvPr/>
        </p:nvSpPr>
        <p:spPr>
          <a:xfrm>
            <a:off x="316832" y="1359423"/>
            <a:ext cx="989373" cy="307777"/>
          </a:xfrm>
          <a:prstGeom prst="rect">
            <a:avLst/>
          </a:prstGeom>
          <a:noFill/>
        </p:spPr>
        <p:txBody>
          <a:bodyPr wrap="none" rtlCol="0">
            <a:spAutoFit/>
          </a:bodyPr>
          <a:lstStyle/>
          <a:p>
            <a:r>
              <a:rPr lang="en-US" sz="1400" b="1" dirty="0" smtClean="0"/>
              <a:t>Exhibit 2:</a:t>
            </a:r>
            <a:endParaRPr lang="en-US" sz="1400" b="1" dirty="0"/>
          </a:p>
        </p:txBody>
      </p:sp>
    </p:spTree>
    <p:extLst>
      <p:ext uri="{BB962C8B-B14F-4D97-AF65-F5344CB8AC3E}">
        <p14:creationId xmlns:p14="http://schemas.microsoft.com/office/powerpoint/2010/main" val="151448744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11: Volunteers Abroad</a:t>
            </a:r>
          </a:p>
        </p:txBody>
      </p:sp>
      <p:graphicFrame>
        <p:nvGraphicFramePr>
          <p:cNvPr id="12" name="Table 11"/>
          <p:cNvGraphicFramePr>
            <a:graphicFrameLocks noGrp="1"/>
          </p:cNvGraphicFramePr>
          <p:nvPr>
            <p:extLst>
              <p:ext uri="{D42A27DB-BD31-4B8C-83A1-F6EECF244321}">
                <p14:modId xmlns:p14="http://schemas.microsoft.com/office/powerpoint/2010/main" val="1810810119"/>
              </p:ext>
            </p:extLst>
          </p:nvPr>
        </p:nvGraphicFramePr>
        <p:xfrm>
          <a:off x="304800" y="1381125"/>
          <a:ext cx="8534400" cy="30175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225425" indent="-225425">
                        <a:buFont typeface="Arial" pitchFamily="34" charset="0"/>
                        <a:buChar char="•"/>
                      </a:pPr>
                      <a:r>
                        <a:rPr lang="en-US" sz="1200" b="0" i="0" kern="1200" baseline="0" dirty="0" smtClean="0">
                          <a:solidFill>
                            <a:schemeClr val="tx1"/>
                          </a:solidFill>
                          <a:latin typeface="+mn-lt"/>
                          <a:ea typeface="+mn-ea"/>
                          <a:cs typeface="+mn-cs"/>
                        </a:rPr>
                        <a:t>Correctly answers all questions</a:t>
                      </a:r>
                    </a:p>
                    <a:p>
                      <a:pPr marL="225425" indent="-225425">
                        <a:buFont typeface="Arial" pitchFamily="34" charset="0"/>
                        <a:buChar char="•"/>
                      </a:pPr>
                      <a:r>
                        <a:rPr lang="en-US" sz="1200" b="0" i="0" kern="1200" baseline="0" dirty="0" smtClean="0">
                          <a:solidFill>
                            <a:schemeClr val="tx1"/>
                          </a:solidFill>
                          <a:latin typeface="+mn-lt"/>
                          <a:ea typeface="+mn-ea"/>
                          <a:cs typeface="+mn-cs"/>
                        </a:rPr>
                        <a:t>Provides a MECE framework and uses it to brainstorm the potential reasons of the declining revenues</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Quickly realizes that the demand is inelastic and that the client should raise prices</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calculates the number of years the client should take to achieve 30% market share</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“Good “ requirements</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Correctly ignores the useless information in Exhibit 2 and use approximations to quickly calculate the required time to achieve the 30% market share</a:t>
                      </a:r>
                    </a:p>
                    <a:p>
                      <a:pPr marL="225425" indent="-225425">
                        <a:buFont typeface="Arial" pitchFamily="34" charset="0"/>
                        <a:buChar char="•"/>
                      </a:pPr>
                      <a:r>
                        <a:rPr lang="en-US" sz="1200" b="0" i="0" kern="1200" baseline="0" dirty="0" smtClean="0">
                          <a:solidFill>
                            <a:schemeClr val="tx1"/>
                          </a:solidFill>
                          <a:latin typeface="+mn-lt"/>
                          <a:ea typeface="+mn-ea"/>
                          <a:cs typeface="+mn-cs"/>
                        </a:rPr>
                        <a:t>Keeps the interviewer engaged and demonstrates great communication skills</a:t>
                      </a:r>
                    </a:p>
                    <a:p>
                      <a:pPr marL="225425" indent="-225425">
                        <a:buFont typeface="Arial" pitchFamily="34" charset="0"/>
                        <a:buChar cha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Profitability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89</a:t>
            </a:fld>
            <a:endParaRPr lang="en-US" dirty="0"/>
          </a:p>
        </p:txBody>
      </p:sp>
    </p:spTree>
    <p:extLst>
      <p:ext uri="{BB962C8B-B14F-4D97-AF65-F5344CB8AC3E}">
        <p14:creationId xmlns:p14="http://schemas.microsoft.com/office/powerpoint/2010/main" val="244183436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90</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ctrTitle"/>
          </p:nvPr>
        </p:nvSpPr>
        <p:spPr>
          <a:xfrm>
            <a:off x="685800" y="2130425"/>
            <a:ext cx="7772400" cy="1470025"/>
          </a:xfrm>
        </p:spPr>
        <p:txBody>
          <a:bodyPr anchor="ctr"/>
          <a:lstStyle/>
          <a:p>
            <a:pPr algn="ctr"/>
            <a:r>
              <a:rPr lang="en-US" dirty="0" smtClean="0">
                <a:ea typeface="ＭＳ Ｐゴシック" pitchFamily="34" charset="-128"/>
              </a:rPr>
              <a:t>Market Entry</a:t>
            </a:r>
          </a:p>
        </p:txBody>
      </p:sp>
      <p:sp>
        <p:nvSpPr>
          <p:cNvPr id="105476" name="Slide Number Placeholder 3"/>
          <p:cNvSpPr>
            <a:spLocks noGrp="1"/>
          </p:cNvSpPr>
          <p:nvPr>
            <p:ph type="sldNum" sz="quarter" idx="11"/>
          </p:nvPr>
        </p:nvSpPr>
        <p:spPr>
          <a:noFill/>
        </p:spPr>
        <p:txBody>
          <a:bodyPr/>
          <a:lstStyle/>
          <a:p>
            <a:fld id="{3278DB05-A30D-4907-BB34-74F17E123D69}" type="slidenum">
              <a:rPr lang="en-US" smtClean="0">
                <a:latin typeface="Arial" pitchFamily="34" charset="0"/>
                <a:ea typeface="ＭＳ Ｐゴシック" pitchFamily="34" charset="-128"/>
              </a:rPr>
              <a:pPr/>
              <a:t>91</a:t>
            </a:fld>
            <a:endParaRPr lang="en-US" smtClean="0">
              <a:latin typeface="Arial" pitchFamily="34" charset="0"/>
              <a:ea typeface="ＭＳ Ｐゴシック" pitchFamily="34" charset="-128"/>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12: </a:t>
            </a:r>
            <a:r>
              <a:rPr lang="en-US" sz="2400" b="1" dirty="0" err="1" smtClean="0"/>
              <a:t>Walmart</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510806376"/>
              </p:ext>
            </p:extLst>
          </p:nvPr>
        </p:nvGraphicFramePr>
        <p:xfrm>
          <a:off x="304800" y="1381125"/>
          <a:ext cx="8534400" cy="274320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err="1" smtClean="0">
                          <a:solidFill>
                            <a:schemeClr val="tx1"/>
                          </a:solidFill>
                          <a:latin typeface="+mj-lt"/>
                          <a:ea typeface="+mn-ea"/>
                          <a:cs typeface="+mn-cs"/>
                        </a:rPr>
                        <a:t>Walmart</a:t>
                      </a:r>
                      <a:r>
                        <a:rPr lang="en-US" sz="1200" b="0" i="0" kern="1200" dirty="0" smtClean="0">
                          <a:solidFill>
                            <a:schemeClr val="tx1"/>
                          </a:solidFill>
                          <a:latin typeface="+mj-lt"/>
                          <a:ea typeface="+mn-ea"/>
                          <a:cs typeface="+mn-cs"/>
                        </a:rPr>
                        <a:t> wants to start an operation in France. </a:t>
                      </a:r>
                    </a:p>
                    <a:p>
                      <a:endParaRPr lang="en-US" sz="1200" b="0" i="0" kern="1200" dirty="0" smtClean="0">
                        <a:solidFill>
                          <a:schemeClr val="tx1"/>
                        </a:solidFill>
                        <a:latin typeface="+mj-lt"/>
                        <a:ea typeface="+mn-ea"/>
                        <a:cs typeface="+mn-cs"/>
                      </a:endParaRPr>
                    </a:p>
                    <a:p>
                      <a:r>
                        <a:rPr lang="en-US" sz="1200" b="1" i="0" kern="1200" dirty="0" smtClean="0">
                          <a:solidFill>
                            <a:schemeClr val="tx1"/>
                          </a:solidFill>
                          <a:latin typeface="+mj-lt"/>
                          <a:ea typeface="+mn-ea"/>
                          <a:cs typeface="+mn-cs"/>
                        </a:rPr>
                        <a:t>How should they do</a:t>
                      </a:r>
                      <a:r>
                        <a:rPr lang="en-US" sz="1200" b="1" i="0" kern="1200" baseline="0" dirty="0" smtClean="0">
                          <a:solidFill>
                            <a:schemeClr val="tx1"/>
                          </a:solidFill>
                          <a:latin typeface="+mj-lt"/>
                          <a:ea typeface="+mn-ea"/>
                          <a:cs typeface="+mn-cs"/>
                        </a:rPr>
                        <a:t> it?</a:t>
                      </a:r>
                    </a:p>
                    <a:p>
                      <a:endParaRPr lang="en-US" sz="1200" b="0" i="0"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Provide</a:t>
                      </a:r>
                      <a:r>
                        <a:rPr lang="en-US" sz="1200" b="0" i="0" kern="1200" baseline="0" dirty="0" smtClean="0">
                          <a:solidFill>
                            <a:schemeClr val="tx1"/>
                          </a:solidFill>
                          <a:latin typeface="+mj-lt"/>
                          <a:ea typeface="+mn-ea"/>
                          <a:cs typeface="+mn-cs"/>
                        </a:rPr>
                        <a:t> the following information </a:t>
                      </a:r>
                      <a:r>
                        <a:rPr lang="en-US" sz="1200" b="0" i="0" u="none" kern="1200" baseline="0" dirty="0" smtClean="0">
                          <a:solidFill>
                            <a:schemeClr val="tx1"/>
                          </a:solidFill>
                          <a:latin typeface="+mj-lt"/>
                          <a:ea typeface="+mn-ea"/>
                          <a:cs typeface="+mn-cs"/>
                        </a:rPr>
                        <a:t>upon request</a:t>
                      </a:r>
                      <a:r>
                        <a:rPr lang="en-US" sz="1200" b="0" i="0" kern="1200" baseline="0" dirty="0" smtClean="0">
                          <a:solidFill>
                            <a:schemeClr val="tx1"/>
                          </a:solidFill>
                          <a:latin typeface="+mj-lt"/>
                          <a:ea typeface="+mn-ea"/>
                          <a:cs typeface="+mn-cs"/>
                        </a:rPr>
                        <a: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decision has already been made. </a:t>
                      </a:r>
                      <a:r>
                        <a:rPr lang="en-US" sz="1200" b="0" i="0" kern="1200" baseline="0" dirty="0" err="1" smtClean="0">
                          <a:solidFill>
                            <a:schemeClr val="tx1"/>
                          </a:solidFill>
                          <a:latin typeface="+mn-lt"/>
                          <a:ea typeface="+mn-ea"/>
                          <a:cs typeface="+mn-cs"/>
                        </a:rPr>
                        <a:t>Walmart’s</a:t>
                      </a:r>
                      <a:r>
                        <a:rPr lang="en-US" sz="1200" b="0" i="0" kern="1200" baseline="0" dirty="0" smtClean="0">
                          <a:solidFill>
                            <a:schemeClr val="tx1"/>
                          </a:solidFill>
                          <a:latin typeface="+mn-lt"/>
                          <a:ea typeface="+mn-ea"/>
                          <a:cs typeface="+mn-cs"/>
                        </a:rPr>
                        <a:t> board will enter the French market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err="1" smtClean="0">
                          <a:solidFill>
                            <a:schemeClr val="tx1"/>
                          </a:solidFill>
                          <a:latin typeface="+mj-lt"/>
                          <a:ea typeface="+mn-ea"/>
                          <a:cs typeface="+mn-cs"/>
                        </a:rPr>
                        <a:t>Walmart</a:t>
                      </a:r>
                      <a:r>
                        <a:rPr lang="en-US" sz="1200" b="0" i="0" kern="1200" baseline="0" dirty="0" smtClean="0">
                          <a:solidFill>
                            <a:schemeClr val="tx1"/>
                          </a:solidFill>
                          <a:latin typeface="+mj-lt"/>
                          <a:ea typeface="+mn-ea"/>
                          <a:cs typeface="+mn-cs"/>
                        </a:rPr>
                        <a:t> wants to open only Hypermarket Stores</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n-lt"/>
                          <a:ea typeface="+mn-ea"/>
                          <a:cs typeface="+mn-cs"/>
                        </a:rPr>
                        <a:t>The</a:t>
                      </a:r>
                      <a:r>
                        <a:rPr lang="en-US" sz="1200" b="0" i="0" u="none" kern="1200" baseline="0" dirty="0" smtClean="0">
                          <a:solidFill>
                            <a:schemeClr val="tx1"/>
                          </a:solidFill>
                          <a:latin typeface="+mn-lt"/>
                          <a:ea typeface="+mn-ea"/>
                          <a:cs typeface="+mn-cs"/>
                        </a:rPr>
                        <a:t> candidate should present a framework that touches on how should </a:t>
                      </a:r>
                      <a:r>
                        <a:rPr lang="en-US" sz="1200" b="0" i="0" u="none" kern="1200" baseline="0" dirty="0" err="1" smtClean="0">
                          <a:solidFill>
                            <a:schemeClr val="tx1"/>
                          </a:solidFill>
                          <a:latin typeface="+mn-lt"/>
                          <a:ea typeface="+mn-ea"/>
                          <a:cs typeface="+mn-cs"/>
                        </a:rPr>
                        <a:t>Walmart</a:t>
                      </a:r>
                      <a:r>
                        <a:rPr lang="en-US" sz="1200" b="0" i="0" u="none" kern="1200" baseline="0" dirty="0" smtClean="0">
                          <a:solidFill>
                            <a:schemeClr val="tx1"/>
                          </a:solidFill>
                          <a:latin typeface="+mn-lt"/>
                          <a:ea typeface="+mn-ea"/>
                          <a:cs typeface="+mn-cs"/>
                        </a:rPr>
                        <a:t> entry this market, some synergies it may have and some risks. There are 2 options: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buy an existing player or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start from scratch</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Entry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92</a:t>
            </a:fld>
            <a:endParaRPr lang="en-US" dirty="0"/>
          </a:p>
        </p:txBody>
      </p:sp>
    </p:spTree>
    <p:extLst>
      <p:ext uri="{BB962C8B-B14F-4D97-AF65-F5344CB8AC3E}">
        <p14:creationId xmlns:p14="http://schemas.microsoft.com/office/powerpoint/2010/main" val="395495092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93</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62419768"/>
              </p:ext>
            </p:extLst>
          </p:nvPr>
        </p:nvGraphicFramePr>
        <p:xfrm>
          <a:off x="304800" y="1295400"/>
          <a:ext cx="8686800" cy="2103120"/>
        </p:xfrm>
        <a:graphic>
          <a:graphicData uri="http://schemas.openxmlformats.org/drawingml/2006/table">
            <a:tbl>
              <a:tblPr firstRow="1" bandRow="1">
                <a:tableStyleId>{616DA210-FB5B-4158-B5E0-FEB733F419BA}</a:tableStyleId>
              </a:tblPr>
              <a:tblGrid>
                <a:gridCol w="1447800"/>
                <a:gridCol w="7239000"/>
              </a:tblGrid>
              <a:tr h="731520">
                <a:tc>
                  <a:txBody>
                    <a:bodyPr/>
                    <a:lstStyle/>
                    <a:p>
                      <a:pPr algn="ctr"/>
                      <a:r>
                        <a:rPr lang="en-US" b="1" i="0" dirty="0" smtClean="0"/>
                        <a:t>Prompt </a:t>
                      </a:r>
                      <a:endParaRPr lang="en-US" sz="1000" i="0" dirty="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j-lt"/>
                          <a:ea typeface="+mn-ea"/>
                          <a:cs typeface="+mn-cs"/>
                        </a:rPr>
                        <a:t>After analyzing both options</a:t>
                      </a:r>
                      <a:r>
                        <a:rPr lang="en-US" sz="1200" b="0" kern="1200" baseline="0" dirty="0" smtClean="0">
                          <a:solidFill>
                            <a:schemeClr val="tx1"/>
                          </a:solidFill>
                          <a:latin typeface="+mj-lt"/>
                          <a:ea typeface="+mn-ea"/>
                          <a:cs typeface="+mn-cs"/>
                        </a:rPr>
                        <a:t> (buy an existing player or start from scratch), </a:t>
                      </a:r>
                      <a:r>
                        <a:rPr lang="en-US" sz="1200" b="0" kern="1200" baseline="0" dirty="0" err="1" smtClean="0">
                          <a:solidFill>
                            <a:schemeClr val="tx1"/>
                          </a:solidFill>
                          <a:latin typeface="+mj-lt"/>
                          <a:ea typeface="+mn-ea"/>
                          <a:cs typeface="+mn-cs"/>
                        </a:rPr>
                        <a:t>Walmart</a:t>
                      </a:r>
                      <a:r>
                        <a:rPr lang="en-US" sz="1200" b="0" kern="1200" baseline="0" dirty="0" smtClean="0">
                          <a:solidFill>
                            <a:schemeClr val="tx1"/>
                          </a:solidFill>
                          <a:latin typeface="+mj-lt"/>
                          <a:ea typeface="+mn-ea"/>
                          <a:cs typeface="+mn-cs"/>
                        </a:rPr>
                        <a:t> decided that buying an existing player would be the best option.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j-lt"/>
                          <a:ea typeface="+mn-ea"/>
                          <a:cs typeface="+mn-cs"/>
                        </a:rPr>
                        <a:t>Carrefour, the largest retailer in France, is facing financial difficulties and its board members are considering the hypothesis to sell its hypermarket division in France.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j-lt"/>
                          <a:ea typeface="+mn-ea"/>
                          <a:cs typeface="+mn-cs"/>
                        </a:rPr>
                        <a:t>This is a competitive bid. Target, K-mart and other large international retailers have also expressed their interest in this deal.</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smtClean="0">
                          <a:solidFill>
                            <a:schemeClr val="tx1"/>
                          </a:solidFill>
                          <a:latin typeface="+mj-lt"/>
                          <a:ea typeface="+mn-ea"/>
                          <a:cs typeface="+mn-cs"/>
                        </a:rPr>
                        <a:t>How much should </a:t>
                      </a:r>
                      <a:r>
                        <a:rPr lang="en-US" sz="1200" b="1" kern="1200" baseline="0" dirty="0" err="1" smtClean="0">
                          <a:solidFill>
                            <a:schemeClr val="tx1"/>
                          </a:solidFill>
                          <a:latin typeface="+mj-lt"/>
                          <a:ea typeface="+mn-ea"/>
                          <a:cs typeface="+mn-cs"/>
                        </a:rPr>
                        <a:t>Walmart</a:t>
                      </a:r>
                      <a:r>
                        <a:rPr lang="en-US" sz="1200" b="1" kern="1200" baseline="0" dirty="0" smtClean="0">
                          <a:solidFill>
                            <a:schemeClr val="tx1"/>
                          </a:solidFill>
                          <a:latin typeface="+mj-lt"/>
                          <a:ea typeface="+mn-ea"/>
                          <a:cs typeface="+mn-cs"/>
                        </a:rPr>
                        <a:t> bid? Is this a good deal to </a:t>
                      </a:r>
                      <a:r>
                        <a:rPr lang="en-US" sz="1200" b="1" kern="1200" baseline="0" dirty="0" err="1" smtClean="0">
                          <a:solidFill>
                            <a:schemeClr val="tx1"/>
                          </a:solidFill>
                          <a:latin typeface="+mj-lt"/>
                          <a:ea typeface="+mn-ea"/>
                          <a:cs typeface="+mn-cs"/>
                        </a:rPr>
                        <a:t>Walmart</a:t>
                      </a:r>
                      <a:r>
                        <a:rPr lang="en-US" sz="1200" b="1" kern="1200" baseline="0" dirty="0" smtClean="0">
                          <a:solidFill>
                            <a:schemeClr val="tx1"/>
                          </a:solidFill>
                          <a:latin typeface="+mj-lt"/>
                          <a:ea typeface="+mn-ea"/>
                          <a:cs typeface="+mn-cs"/>
                        </a:rPr>
                        <a: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mj-lt"/>
                        <a:ea typeface="+mn-ea"/>
                        <a:cs typeface="+mn-cs"/>
                      </a:endParaRPr>
                    </a:p>
                  </a:txBody>
                  <a:tcPr>
                    <a:no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Entry</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12: </a:t>
            </a:r>
            <a:r>
              <a:rPr lang="en-US" sz="2400" b="1" dirty="0" err="1"/>
              <a:t>Walmart</a:t>
            </a:r>
            <a:endParaRPr lang="en-US" sz="2400" b="1" dirty="0"/>
          </a:p>
        </p:txBody>
      </p:sp>
    </p:spTree>
    <p:extLst>
      <p:ext uri="{BB962C8B-B14F-4D97-AF65-F5344CB8AC3E}">
        <p14:creationId xmlns:p14="http://schemas.microsoft.com/office/powerpoint/2010/main" val="125330000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94</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147390664"/>
              </p:ext>
            </p:extLst>
          </p:nvPr>
        </p:nvGraphicFramePr>
        <p:xfrm>
          <a:off x="304800" y="1295400"/>
          <a:ext cx="8686800" cy="484632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Information</a:t>
                      </a:r>
                      <a:r>
                        <a:rPr lang="en-US" sz="1200" b="0" i="0" kern="1200" baseline="0" dirty="0" smtClean="0">
                          <a:solidFill>
                            <a:schemeClr val="tx1"/>
                          </a:solidFill>
                          <a:latin typeface="+mj-lt"/>
                          <a:ea typeface="+mn-ea"/>
                          <a:cs typeface="+mn-cs"/>
                        </a:rPr>
                        <a:t> to be given upon request: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Carrefour has over 5 thousand stores in France. The hypermarket division has only 200 stores.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Hypermarket Sales: € 6 billion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Cost of Goods Sold: </a:t>
                      </a:r>
                      <a:r>
                        <a:rPr lang="en-US" sz="1200" b="0" i="0" kern="1200" baseline="0" dirty="0" smtClean="0">
                          <a:solidFill>
                            <a:schemeClr val="tx1"/>
                          </a:solidFill>
                          <a:latin typeface="+mn-lt"/>
                          <a:ea typeface="+mn-ea"/>
                          <a:cs typeface="+mn-cs"/>
                        </a:rPr>
                        <a:t>€ 4 billion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SG&amp;A:  € 0.2 billion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Marketing: € 0.5 billion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Salaries &amp; Other Compensations: € 0.3 billion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Assume depreciation = 0</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Taxes = 33%</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Cost of Capital: 10% per year</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Calculations expected: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Gross Profit = Sales – COGS </a:t>
                      </a:r>
                      <a:r>
                        <a:rPr lang="en-US" sz="1200" b="0" kern="1200" dirty="0" smtClean="0">
                          <a:solidFill>
                            <a:schemeClr val="tx1"/>
                          </a:solidFill>
                          <a:latin typeface="+mn-lt"/>
                          <a:ea typeface="+mn-ea"/>
                          <a:cs typeface="+mn-cs"/>
                          <a:sym typeface="Wingdings"/>
                        </a:rPr>
                        <a:t> Gross Profit =  </a:t>
                      </a:r>
                      <a:r>
                        <a:rPr lang="en-US" sz="1200" b="0" i="0" kern="1200" baseline="0" dirty="0" smtClean="0">
                          <a:solidFill>
                            <a:schemeClr val="tx1"/>
                          </a:solidFill>
                          <a:latin typeface="+mn-lt"/>
                          <a:ea typeface="+mn-ea"/>
                          <a:cs typeface="+mn-cs"/>
                        </a:rPr>
                        <a:t>€ 6 B - € 4 B =</a:t>
                      </a:r>
                      <a:r>
                        <a:rPr lang="en-US" sz="1200" b="0" kern="1200" dirty="0" smtClean="0">
                          <a:solidFill>
                            <a:schemeClr val="tx1"/>
                          </a:solidFill>
                          <a:latin typeface="+mn-lt"/>
                          <a:ea typeface="+mn-ea"/>
                          <a:cs typeface="+mn-cs"/>
                          <a:sym typeface="Wingdings"/>
                        </a:rPr>
                        <a:t>  </a:t>
                      </a:r>
                      <a:r>
                        <a:rPr lang="en-US" sz="1200" b="0" i="0" kern="1200" baseline="0" dirty="0" smtClean="0">
                          <a:solidFill>
                            <a:schemeClr val="tx1"/>
                          </a:solidFill>
                          <a:latin typeface="+mn-lt"/>
                          <a:ea typeface="+mn-ea"/>
                          <a:cs typeface="+mn-cs"/>
                        </a:rPr>
                        <a:t>€ 2 B</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Expenses = SG&amp;A + Marketing</a:t>
                      </a:r>
                      <a:r>
                        <a:rPr lang="en-US" sz="1200" b="0" kern="1200" baseline="0" dirty="0" smtClean="0">
                          <a:solidFill>
                            <a:schemeClr val="tx1"/>
                          </a:solidFill>
                          <a:latin typeface="+mn-lt"/>
                          <a:ea typeface="+mn-ea"/>
                          <a:cs typeface="+mn-cs"/>
                        </a:rPr>
                        <a:t> + Salaries </a:t>
                      </a:r>
                      <a:r>
                        <a:rPr lang="en-US" sz="1200" b="0" kern="1200" baseline="0" dirty="0" smtClean="0">
                          <a:solidFill>
                            <a:schemeClr val="tx1"/>
                          </a:solidFill>
                          <a:latin typeface="+mn-lt"/>
                          <a:ea typeface="+mn-ea"/>
                          <a:cs typeface="+mn-cs"/>
                          <a:sym typeface="Wingdings"/>
                        </a:rPr>
                        <a:t> Expenses = </a:t>
                      </a:r>
                      <a:r>
                        <a:rPr lang="en-US" sz="1200" b="0" i="0" kern="1200" baseline="0" dirty="0" smtClean="0">
                          <a:solidFill>
                            <a:schemeClr val="tx1"/>
                          </a:solidFill>
                          <a:latin typeface="+mn-lt"/>
                          <a:ea typeface="+mn-ea"/>
                          <a:cs typeface="+mn-cs"/>
                        </a:rPr>
                        <a:t>€ 0.5 B + € 0.2 B + € 0.3 </a:t>
                      </a:r>
                      <a:r>
                        <a:rPr lang="en-US" sz="1200" b="0" i="0" kern="1200" baseline="0" dirty="0" smtClean="0">
                          <a:solidFill>
                            <a:schemeClr val="tx1"/>
                          </a:solidFill>
                          <a:latin typeface="+mn-lt"/>
                          <a:ea typeface="+mn-ea"/>
                          <a:cs typeface="+mn-cs"/>
                          <a:sym typeface="Wingdings"/>
                        </a:rPr>
                        <a:t> </a:t>
                      </a:r>
                      <a:r>
                        <a:rPr lang="en-US" sz="1200" b="0" i="0" kern="1200" baseline="0" dirty="0" smtClean="0">
                          <a:solidFill>
                            <a:schemeClr val="tx1"/>
                          </a:solidFill>
                          <a:latin typeface="+mn-lt"/>
                          <a:ea typeface="+mn-ea"/>
                          <a:cs typeface="+mn-cs"/>
                        </a:rPr>
                        <a:t>Expenses</a:t>
                      </a:r>
                      <a:r>
                        <a:rPr lang="en-US" sz="1200" b="0" i="0" kern="1200" baseline="0" dirty="0" smtClean="0">
                          <a:solidFill>
                            <a:schemeClr val="tx1"/>
                          </a:solidFill>
                          <a:latin typeface="+mn-lt"/>
                          <a:ea typeface="+mn-ea"/>
                          <a:cs typeface="+mn-cs"/>
                          <a:sym typeface="Wingdings"/>
                        </a:rPr>
                        <a:t> =</a:t>
                      </a:r>
                      <a:r>
                        <a:rPr lang="en-US" sz="1200" b="0" i="0" kern="1200" baseline="0" dirty="0" smtClean="0">
                          <a:solidFill>
                            <a:schemeClr val="tx1"/>
                          </a:solidFill>
                          <a:latin typeface="+mn-lt"/>
                          <a:ea typeface="+mn-ea"/>
                          <a:cs typeface="+mn-cs"/>
                        </a:rPr>
                        <a:t> € 1 B</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Operational Profit = Gross</a:t>
                      </a:r>
                      <a:r>
                        <a:rPr lang="en-US" sz="1200" b="0" kern="1200" baseline="0" dirty="0" smtClean="0">
                          <a:solidFill>
                            <a:schemeClr val="tx1"/>
                          </a:solidFill>
                          <a:latin typeface="+mn-lt"/>
                          <a:ea typeface="+mn-ea"/>
                          <a:cs typeface="+mn-cs"/>
                        </a:rPr>
                        <a:t> Profit – Expenses = </a:t>
                      </a:r>
                      <a:r>
                        <a:rPr lang="en-US" sz="1200" b="0" i="0" kern="1200" baseline="0" dirty="0" smtClean="0">
                          <a:solidFill>
                            <a:schemeClr val="tx1"/>
                          </a:solidFill>
                          <a:latin typeface="+mn-lt"/>
                          <a:ea typeface="+mn-ea"/>
                          <a:cs typeface="+mn-cs"/>
                        </a:rPr>
                        <a:t>€</a:t>
                      </a:r>
                      <a:r>
                        <a:rPr lang="en-US" sz="1200" b="0" kern="1200" baseline="0" dirty="0" smtClean="0">
                          <a:solidFill>
                            <a:schemeClr val="tx1"/>
                          </a:solidFill>
                          <a:latin typeface="+mn-lt"/>
                          <a:ea typeface="+mn-ea"/>
                          <a:cs typeface="+mn-cs"/>
                        </a:rPr>
                        <a:t> 2 B – </a:t>
                      </a:r>
                      <a:r>
                        <a:rPr lang="en-US" sz="1200" b="0" i="0" kern="1200" baseline="0" dirty="0" smtClean="0">
                          <a:solidFill>
                            <a:schemeClr val="tx1"/>
                          </a:solidFill>
                          <a:latin typeface="+mn-lt"/>
                          <a:ea typeface="+mn-ea"/>
                          <a:cs typeface="+mn-cs"/>
                        </a:rPr>
                        <a:t>€ </a:t>
                      </a:r>
                      <a:r>
                        <a:rPr lang="en-US" sz="1200" b="0" kern="1200" baseline="0" dirty="0" smtClean="0">
                          <a:solidFill>
                            <a:schemeClr val="tx1"/>
                          </a:solidFill>
                          <a:latin typeface="+mn-lt"/>
                          <a:ea typeface="+mn-ea"/>
                          <a:cs typeface="+mn-cs"/>
                        </a:rPr>
                        <a:t>1 B </a:t>
                      </a:r>
                      <a:r>
                        <a:rPr lang="en-US" sz="1200" b="0" kern="1200" baseline="0" dirty="0" smtClean="0">
                          <a:solidFill>
                            <a:schemeClr val="tx1"/>
                          </a:solidFill>
                          <a:latin typeface="+mn-lt"/>
                          <a:ea typeface="+mn-ea"/>
                          <a:cs typeface="+mn-cs"/>
                          <a:sym typeface="Wingdings"/>
                        </a:rPr>
                        <a:t> Operational Profit = </a:t>
                      </a:r>
                      <a:r>
                        <a:rPr lang="en-US" sz="1200" b="0" i="0" kern="1200" baseline="0" dirty="0" smtClean="0">
                          <a:solidFill>
                            <a:schemeClr val="tx1"/>
                          </a:solidFill>
                          <a:latin typeface="+mn-lt"/>
                          <a:ea typeface="+mn-ea"/>
                          <a:cs typeface="+mn-cs"/>
                        </a:rPr>
                        <a:t>€ </a:t>
                      </a:r>
                      <a:r>
                        <a:rPr lang="en-US" sz="1200" b="0" kern="1200" baseline="0" dirty="0" smtClean="0">
                          <a:solidFill>
                            <a:schemeClr val="tx1"/>
                          </a:solidFill>
                          <a:latin typeface="+mn-lt"/>
                          <a:ea typeface="+mn-ea"/>
                          <a:cs typeface="+mn-cs"/>
                          <a:sym typeface="Wingdings"/>
                        </a:rPr>
                        <a:t>1 B</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Net Earnings = Operational Profit x (1</a:t>
                      </a:r>
                      <a:r>
                        <a:rPr lang="en-US" sz="1200" b="0" kern="1200" baseline="0" dirty="0" smtClean="0">
                          <a:solidFill>
                            <a:schemeClr val="tx1"/>
                          </a:solidFill>
                          <a:latin typeface="+mn-lt"/>
                          <a:ea typeface="+mn-ea"/>
                          <a:cs typeface="+mn-cs"/>
                        </a:rPr>
                        <a:t> – taxes) = </a:t>
                      </a:r>
                      <a:r>
                        <a:rPr lang="en-US" sz="1200" b="0" i="0" kern="1200" baseline="0" dirty="0" smtClean="0">
                          <a:solidFill>
                            <a:schemeClr val="tx1"/>
                          </a:solidFill>
                          <a:latin typeface="+mn-lt"/>
                          <a:ea typeface="+mn-ea"/>
                          <a:cs typeface="+mn-cs"/>
                        </a:rPr>
                        <a:t>€ 1 B x (1 – 0.33) </a:t>
                      </a:r>
                      <a:r>
                        <a:rPr lang="en-US" sz="1200" b="0" i="0" kern="1200" baseline="0" dirty="0" smtClean="0">
                          <a:solidFill>
                            <a:schemeClr val="tx1"/>
                          </a:solidFill>
                          <a:latin typeface="+mn-lt"/>
                          <a:ea typeface="+mn-ea"/>
                          <a:cs typeface="+mn-cs"/>
                          <a:sym typeface="Wingdings"/>
                        </a:rPr>
                        <a:t> Net Earnings = </a:t>
                      </a:r>
                      <a:r>
                        <a:rPr lang="en-US" sz="1200" b="0" i="0" kern="1200" baseline="0" dirty="0" smtClean="0">
                          <a:solidFill>
                            <a:schemeClr val="tx1"/>
                          </a:solidFill>
                          <a:latin typeface="+mn-lt"/>
                          <a:ea typeface="+mn-ea"/>
                          <a:cs typeface="+mn-cs"/>
                        </a:rPr>
                        <a:t>€ 0.67 B</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Free Cash Flow (FCF) = Net Earnings + Depreciation</a:t>
                      </a:r>
                      <a:r>
                        <a:rPr lang="en-US" sz="1200" b="0" kern="1200" baseline="0" dirty="0" smtClean="0">
                          <a:solidFill>
                            <a:schemeClr val="tx1"/>
                          </a:solidFill>
                          <a:latin typeface="+mn-lt"/>
                          <a:ea typeface="+mn-ea"/>
                          <a:cs typeface="+mn-cs"/>
                        </a:rPr>
                        <a:t> – Change in Working Capital – CAPEX</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FCF = </a:t>
                      </a:r>
                      <a:r>
                        <a:rPr lang="en-US" sz="1200" b="0" i="0" kern="1200" baseline="0" dirty="0" smtClean="0">
                          <a:solidFill>
                            <a:schemeClr val="tx1"/>
                          </a:solidFill>
                          <a:latin typeface="+mn-lt"/>
                          <a:ea typeface="+mn-ea"/>
                          <a:cs typeface="+mn-cs"/>
                        </a:rPr>
                        <a:t>€ 0.67 B + 0 – 0 – 0 </a:t>
                      </a:r>
                      <a:r>
                        <a:rPr lang="en-US" sz="1200" b="0" i="0" kern="1200" baseline="0" dirty="0" smtClean="0">
                          <a:solidFill>
                            <a:schemeClr val="tx1"/>
                          </a:solidFill>
                          <a:latin typeface="+mn-lt"/>
                          <a:ea typeface="+mn-ea"/>
                          <a:cs typeface="+mn-cs"/>
                          <a:sym typeface="Wingdings"/>
                        </a:rPr>
                        <a:t> FCF = </a:t>
                      </a:r>
                      <a:r>
                        <a:rPr lang="en-US" sz="1200" b="0" i="0" kern="1200" baseline="0" dirty="0" smtClean="0">
                          <a:solidFill>
                            <a:schemeClr val="tx1"/>
                          </a:solidFill>
                          <a:latin typeface="+mn-lt"/>
                          <a:ea typeface="+mn-ea"/>
                          <a:cs typeface="+mn-cs"/>
                        </a:rPr>
                        <a:t>€ 0.67 B</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Carrefour’s value = FCF</a:t>
                      </a:r>
                      <a:r>
                        <a:rPr lang="en-US" sz="1200" b="0" kern="1200" baseline="0" dirty="0" smtClean="0">
                          <a:solidFill>
                            <a:schemeClr val="tx1"/>
                          </a:solidFill>
                          <a:latin typeface="+mn-lt"/>
                          <a:ea typeface="+mn-ea"/>
                          <a:cs typeface="+mn-cs"/>
                        </a:rPr>
                        <a:t> / Cost of Capital = </a:t>
                      </a:r>
                      <a:r>
                        <a:rPr lang="en-US" sz="1200" b="0" i="0" kern="1200" baseline="0" dirty="0" smtClean="0">
                          <a:solidFill>
                            <a:schemeClr val="tx1"/>
                          </a:solidFill>
                          <a:latin typeface="+mn-lt"/>
                          <a:ea typeface="+mn-ea"/>
                          <a:cs typeface="+mn-cs"/>
                        </a:rPr>
                        <a:t>€ 0.67 B / 10% </a:t>
                      </a:r>
                      <a:r>
                        <a:rPr lang="en-US" sz="1200" b="0" i="0" kern="1200" baseline="0" dirty="0" smtClean="0">
                          <a:solidFill>
                            <a:schemeClr val="tx1"/>
                          </a:solidFill>
                          <a:latin typeface="+mn-lt"/>
                          <a:ea typeface="+mn-ea"/>
                          <a:cs typeface="+mn-cs"/>
                          <a:sym typeface="Wingdings"/>
                        </a:rPr>
                        <a:t> C</a:t>
                      </a:r>
                      <a:r>
                        <a:rPr lang="en-US" sz="1200" b="0" kern="1200" dirty="0" smtClean="0">
                          <a:solidFill>
                            <a:schemeClr val="tx1"/>
                          </a:solidFill>
                          <a:latin typeface="+mn-lt"/>
                          <a:ea typeface="+mn-ea"/>
                          <a:cs typeface="+mn-cs"/>
                        </a:rPr>
                        <a:t>arrefour’s value </a:t>
                      </a:r>
                      <a:r>
                        <a:rPr lang="en-US" sz="1200" b="0" i="0" kern="1200" baseline="0" dirty="0" smtClean="0">
                          <a:solidFill>
                            <a:schemeClr val="tx1"/>
                          </a:solidFill>
                          <a:latin typeface="+mn-lt"/>
                          <a:ea typeface="+mn-ea"/>
                          <a:cs typeface="+mn-cs"/>
                          <a:sym typeface="Wingdings"/>
                        </a:rPr>
                        <a:t>= </a:t>
                      </a:r>
                      <a:r>
                        <a:rPr lang="en-US" sz="1200" b="0" i="0" kern="1200" baseline="0" dirty="0" smtClean="0">
                          <a:solidFill>
                            <a:schemeClr val="tx1"/>
                          </a:solidFill>
                          <a:latin typeface="+mn-lt"/>
                          <a:ea typeface="+mn-ea"/>
                          <a:cs typeface="+mn-cs"/>
                        </a:rPr>
                        <a:t>€ 6.7 B</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Entry</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12: </a:t>
            </a:r>
            <a:r>
              <a:rPr lang="en-US" sz="2400" b="1" dirty="0" err="1"/>
              <a:t>Walmart</a:t>
            </a:r>
            <a:endParaRPr lang="en-US" sz="2400" b="1" dirty="0"/>
          </a:p>
        </p:txBody>
      </p:sp>
    </p:spTree>
    <p:extLst>
      <p:ext uri="{BB962C8B-B14F-4D97-AF65-F5344CB8AC3E}">
        <p14:creationId xmlns:p14="http://schemas.microsoft.com/office/powerpoint/2010/main" val="137423120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12: </a:t>
            </a:r>
            <a:r>
              <a:rPr lang="en-US" sz="2400" b="1" dirty="0" err="1"/>
              <a:t>Walmart</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962371785"/>
              </p:ext>
            </p:extLst>
          </p:nvPr>
        </p:nvGraphicFramePr>
        <p:xfrm>
          <a:off x="304800" y="1381125"/>
          <a:ext cx="8534400" cy="2940618"/>
        </p:xfrm>
        <a:graphic>
          <a:graphicData uri="http://schemas.openxmlformats.org/drawingml/2006/table">
            <a:tbl>
              <a:tblPr firstRow="1" bandRow="1">
                <a:tableStyleId>{616DA210-FB5B-4158-B5E0-FEB733F419BA}</a:tableStyleId>
              </a:tblPr>
              <a:tblGrid>
                <a:gridCol w="1600200"/>
                <a:gridCol w="6934200"/>
              </a:tblGrid>
              <a:tr h="471738">
                <a:tc>
                  <a:txBody>
                    <a:bodyPr/>
                    <a:lstStyle/>
                    <a:p>
                      <a:pPr algn="ctr"/>
                      <a:r>
                        <a:rPr lang="en-US" dirty="0" smtClean="0"/>
                        <a:t>Prompt</a:t>
                      </a:r>
                      <a:endParaRPr lang="en-US" dirty="0"/>
                    </a:p>
                  </a:txBody>
                  <a:tcPr anchor="ctr"/>
                </a:tc>
                <a:tc>
                  <a:txBody>
                    <a:bodyPr/>
                    <a:lstStyle/>
                    <a:p>
                      <a:r>
                        <a:rPr lang="en-US" sz="1200" b="1" i="0" kern="1200" baseline="0" dirty="0" smtClean="0">
                          <a:solidFill>
                            <a:schemeClr val="tx1"/>
                          </a:solidFill>
                          <a:latin typeface="+mn-lt"/>
                          <a:ea typeface="+mn-ea"/>
                          <a:cs typeface="+mn-cs"/>
                        </a:rPr>
                        <a:t>Is </a:t>
                      </a:r>
                      <a:r>
                        <a:rPr lang="en-US" sz="1200" b="1" i="0" kern="1200" baseline="0" dirty="0" err="1" smtClean="0">
                          <a:solidFill>
                            <a:schemeClr val="tx1"/>
                          </a:solidFill>
                          <a:latin typeface="+mn-lt"/>
                          <a:ea typeface="+mn-ea"/>
                          <a:cs typeface="+mn-cs"/>
                        </a:rPr>
                        <a:t>Walmart</a:t>
                      </a:r>
                      <a:r>
                        <a:rPr lang="en-US" sz="1200" b="1" i="0" kern="1200" baseline="0" dirty="0" smtClean="0">
                          <a:solidFill>
                            <a:schemeClr val="tx1"/>
                          </a:solidFill>
                          <a:latin typeface="+mn-lt"/>
                          <a:ea typeface="+mn-ea"/>
                          <a:cs typeface="+mn-cs"/>
                        </a:rPr>
                        <a:t> willing to pay € 6.7 B?</a:t>
                      </a:r>
                      <a:endParaRPr lang="en-US" sz="1200" b="1" i="1"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j-lt"/>
                          <a:ea typeface="+mn-ea"/>
                          <a:cs typeface="+mn-cs"/>
                        </a:rPr>
                        <a:t>The </a:t>
                      </a:r>
                      <a:r>
                        <a:rPr lang="en-US" sz="1200" b="0" i="0" kern="1200" baseline="0" dirty="0" smtClean="0">
                          <a:solidFill>
                            <a:schemeClr val="tx1"/>
                          </a:solidFill>
                          <a:latin typeface="+mn-lt"/>
                          <a:ea typeface="+mn-ea"/>
                          <a:cs typeface="+mn-cs"/>
                        </a:rPr>
                        <a:t>€6.7 B calculated is how much Carrefour values its operations. This value is not how much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is willing to pay. </a:t>
                      </a:r>
                      <a:r>
                        <a:rPr lang="en-US" sz="1200" b="0" i="0" kern="1200" baseline="0" dirty="0" err="1" smtClean="0">
                          <a:solidFill>
                            <a:schemeClr val="tx1"/>
                          </a:solidFill>
                          <a:latin typeface="+mn-lt"/>
                          <a:ea typeface="+mn-ea"/>
                          <a:cs typeface="+mn-cs"/>
                        </a:rPr>
                        <a:t>Walmart’s</a:t>
                      </a:r>
                      <a:r>
                        <a:rPr lang="en-US" sz="1200" b="0" i="0" kern="1200" baseline="0" dirty="0" smtClean="0">
                          <a:solidFill>
                            <a:schemeClr val="tx1"/>
                          </a:solidFill>
                          <a:latin typeface="+mn-lt"/>
                          <a:ea typeface="+mn-ea"/>
                          <a:cs typeface="+mn-cs"/>
                        </a:rPr>
                        <a:t> willingness to pay must consider synergies and additional costs that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will have in this venture. The candidate should realize this.</a:t>
                      </a:r>
                      <a:endParaRPr lang="en-US" sz="120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French people do not like much American brands. To keep the sales unchanged,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will have to increase the marketing expenses to  € 700 million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err="1" smtClean="0">
                          <a:solidFill>
                            <a:schemeClr val="tx1"/>
                          </a:solidFill>
                          <a:latin typeface="+mj-lt"/>
                          <a:ea typeface="+mn-ea"/>
                          <a:cs typeface="+mn-cs"/>
                        </a:rPr>
                        <a:t>Walmart</a:t>
                      </a:r>
                      <a:r>
                        <a:rPr lang="en-US" sz="1200" b="0" i="0" kern="1200" baseline="0" dirty="0" smtClean="0">
                          <a:solidFill>
                            <a:schemeClr val="tx1"/>
                          </a:solidFill>
                          <a:latin typeface="+mj-lt"/>
                          <a:ea typeface="+mn-ea"/>
                          <a:cs typeface="+mn-cs"/>
                        </a:rPr>
                        <a:t> negotiates aggressively with its suppliers. The COGS is expected to drop by 10%</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SG&amp;A and Salaries should not change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err="1" smtClean="0">
                          <a:solidFill>
                            <a:schemeClr val="tx1"/>
                          </a:solidFill>
                          <a:latin typeface="+mn-lt"/>
                          <a:ea typeface="+mn-ea"/>
                          <a:cs typeface="+mn-cs"/>
                        </a:rPr>
                        <a:t>Walmart’s</a:t>
                      </a:r>
                      <a:r>
                        <a:rPr lang="en-US" sz="1200" b="0" i="0" kern="1200" baseline="0" dirty="0" smtClean="0">
                          <a:solidFill>
                            <a:schemeClr val="tx1"/>
                          </a:solidFill>
                          <a:latin typeface="+mn-lt"/>
                          <a:ea typeface="+mn-ea"/>
                          <a:cs typeface="+mn-cs"/>
                        </a:rPr>
                        <a:t> cost of capital is also 10%</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will allow customers to pay with the Carrefour’s credit card. Therefore, customers will still be paying within 45 days. Assume the same number of days for receivable</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Entry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95</a:t>
            </a:fld>
            <a:endParaRPr lang="en-US" dirty="0"/>
          </a:p>
        </p:txBody>
      </p:sp>
    </p:spTree>
    <p:extLst>
      <p:ext uri="{BB962C8B-B14F-4D97-AF65-F5344CB8AC3E}">
        <p14:creationId xmlns:p14="http://schemas.microsoft.com/office/powerpoint/2010/main" val="81687811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96</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719539366"/>
              </p:ext>
            </p:extLst>
          </p:nvPr>
        </p:nvGraphicFramePr>
        <p:xfrm>
          <a:off x="304800" y="1295400"/>
          <a:ext cx="8686800" cy="320040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COGS</a:t>
                      </a:r>
                      <a:r>
                        <a:rPr lang="en-US" sz="1200" b="0" kern="1200" baseline="0" dirty="0" smtClean="0">
                          <a:solidFill>
                            <a:schemeClr val="tx1"/>
                          </a:solidFill>
                          <a:latin typeface="+mn-lt"/>
                          <a:ea typeface="+mn-ea"/>
                          <a:cs typeface="+mn-cs"/>
                        </a:rPr>
                        <a:t> = </a:t>
                      </a:r>
                      <a:r>
                        <a:rPr lang="en-US" sz="1200" b="0" i="0" kern="1200" baseline="0" dirty="0" smtClean="0">
                          <a:solidFill>
                            <a:schemeClr val="tx1"/>
                          </a:solidFill>
                          <a:latin typeface="+mn-lt"/>
                          <a:ea typeface="+mn-ea"/>
                          <a:cs typeface="+mn-cs"/>
                        </a:rPr>
                        <a:t>€ 4 B x 90% </a:t>
                      </a:r>
                      <a:r>
                        <a:rPr lang="en-US" sz="1200" b="0" i="0" kern="1200" baseline="0" dirty="0" smtClean="0">
                          <a:solidFill>
                            <a:schemeClr val="tx1"/>
                          </a:solidFill>
                          <a:latin typeface="+mn-lt"/>
                          <a:ea typeface="+mn-ea"/>
                          <a:cs typeface="+mn-cs"/>
                          <a:sym typeface="Wingdings"/>
                        </a:rPr>
                        <a:t> </a:t>
                      </a:r>
                      <a:r>
                        <a:rPr lang="en-US" sz="1200" b="0" kern="1200" baseline="0" dirty="0" smtClean="0">
                          <a:solidFill>
                            <a:schemeClr val="tx1"/>
                          </a:solidFill>
                          <a:latin typeface="+mn-lt"/>
                          <a:ea typeface="+mn-ea"/>
                          <a:cs typeface="+mn-cs"/>
                        </a:rPr>
                        <a:t> </a:t>
                      </a:r>
                      <a:r>
                        <a:rPr lang="en-US" sz="1200" b="0" kern="1200" dirty="0" smtClean="0">
                          <a:solidFill>
                            <a:schemeClr val="tx1"/>
                          </a:solidFill>
                          <a:latin typeface="+mn-lt"/>
                          <a:ea typeface="+mn-ea"/>
                          <a:cs typeface="+mn-cs"/>
                        </a:rPr>
                        <a:t>COGS</a:t>
                      </a:r>
                      <a:r>
                        <a:rPr lang="en-US" sz="1200" b="0" kern="1200" baseline="0" dirty="0" smtClean="0">
                          <a:solidFill>
                            <a:schemeClr val="tx1"/>
                          </a:solidFill>
                          <a:latin typeface="+mn-lt"/>
                          <a:ea typeface="+mn-ea"/>
                          <a:cs typeface="+mn-cs"/>
                        </a:rPr>
                        <a:t> = </a:t>
                      </a:r>
                      <a:r>
                        <a:rPr lang="en-US" sz="1200" b="0" i="0" kern="1200" baseline="0" dirty="0" smtClean="0">
                          <a:solidFill>
                            <a:schemeClr val="tx1"/>
                          </a:solidFill>
                          <a:latin typeface="+mn-lt"/>
                          <a:ea typeface="+mn-ea"/>
                          <a:cs typeface="+mn-cs"/>
                        </a:rPr>
                        <a:t>€ 3.6 B</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Gross Profit = Sales – COGS </a:t>
                      </a:r>
                      <a:r>
                        <a:rPr lang="en-US" sz="1200" b="0" kern="1200" dirty="0" smtClean="0">
                          <a:solidFill>
                            <a:schemeClr val="tx1"/>
                          </a:solidFill>
                          <a:latin typeface="+mn-lt"/>
                          <a:ea typeface="+mn-ea"/>
                          <a:cs typeface="+mn-cs"/>
                          <a:sym typeface="Wingdings"/>
                        </a:rPr>
                        <a:t> Gross</a:t>
                      </a:r>
                      <a:r>
                        <a:rPr lang="en-US" sz="1200" b="0" kern="1200" baseline="0" dirty="0" smtClean="0">
                          <a:solidFill>
                            <a:schemeClr val="tx1"/>
                          </a:solidFill>
                          <a:latin typeface="+mn-lt"/>
                          <a:ea typeface="+mn-ea"/>
                          <a:cs typeface="+mn-cs"/>
                          <a:sym typeface="Wingdings"/>
                        </a:rPr>
                        <a:t> Profit = </a:t>
                      </a:r>
                      <a:r>
                        <a:rPr lang="en-US" sz="1200" b="0" i="0" kern="1200" baseline="0" dirty="0" smtClean="0">
                          <a:solidFill>
                            <a:schemeClr val="tx1"/>
                          </a:solidFill>
                          <a:latin typeface="+mn-lt"/>
                          <a:ea typeface="+mn-ea"/>
                          <a:cs typeface="+mn-cs"/>
                        </a:rPr>
                        <a:t>€ 6 B - € 3.6 B </a:t>
                      </a:r>
                      <a:r>
                        <a:rPr lang="en-US" sz="1200" b="0" i="0" kern="1200" baseline="0" dirty="0" smtClean="0">
                          <a:solidFill>
                            <a:schemeClr val="tx1"/>
                          </a:solidFill>
                          <a:latin typeface="+mn-lt"/>
                          <a:ea typeface="+mn-ea"/>
                          <a:cs typeface="+mn-cs"/>
                          <a:sym typeface="Wingdings"/>
                        </a:rPr>
                        <a:t> Gross Profit = </a:t>
                      </a:r>
                      <a:r>
                        <a:rPr lang="en-US" sz="1200" b="0" i="0" kern="1200" baseline="0" dirty="0" smtClean="0">
                          <a:solidFill>
                            <a:schemeClr val="tx1"/>
                          </a:solidFill>
                          <a:latin typeface="+mn-lt"/>
                          <a:ea typeface="+mn-ea"/>
                          <a:cs typeface="+mn-cs"/>
                        </a:rPr>
                        <a:t>€ 2.4 B</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Expenses = SG&amp;A + Marketing</a:t>
                      </a:r>
                      <a:r>
                        <a:rPr lang="en-US" sz="1200" b="0" kern="1200" baseline="0" dirty="0" smtClean="0">
                          <a:solidFill>
                            <a:schemeClr val="tx1"/>
                          </a:solidFill>
                          <a:latin typeface="+mn-lt"/>
                          <a:ea typeface="+mn-ea"/>
                          <a:cs typeface="+mn-cs"/>
                        </a:rPr>
                        <a:t> + Salaries </a:t>
                      </a:r>
                      <a:r>
                        <a:rPr lang="en-US" sz="1200" b="0" kern="1200" baseline="0" dirty="0" smtClean="0">
                          <a:solidFill>
                            <a:schemeClr val="tx1"/>
                          </a:solidFill>
                          <a:latin typeface="+mn-lt"/>
                          <a:ea typeface="+mn-ea"/>
                          <a:cs typeface="+mn-cs"/>
                          <a:sym typeface="Wingdings"/>
                        </a:rPr>
                        <a:t>Expenses= </a:t>
                      </a:r>
                      <a:r>
                        <a:rPr lang="en-US" sz="1200" b="0" i="0" kern="1200" baseline="0" dirty="0" smtClean="0">
                          <a:solidFill>
                            <a:schemeClr val="tx1"/>
                          </a:solidFill>
                          <a:latin typeface="+mn-lt"/>
                          <a:ea typeface="+mn-ea"/>
                          <a:cs typeface="+mn-cs"/>
                        </a:rPr>
                        <a:t>€ 0.7 B + € 0.2 B + € 0.3 </a:t>
                      </a:r>
                      <a:r>
                        <a:rPr lang="en-US" sz="1200" b="0" i="0" kern="1200" baseline="0" dirty="0" smtClean="0">
                          <a:solidFill>
                            <a:schemeClr val="tx1"/>
                          </a:solidFill>
                          <a:latin typeface="+mn-lt"/>
                          <a:ea typeface="+mn-ea"/>
                          <a:cs typeface="+mn-cs"/>
                          <a:sym typeface="Wingdings"/>
                        </a:rPr>
                        <a:t> </a:t>
                      </a:r>
                      <a:r>
                        <a:rPr lang="en-US" sz="1200" b="0" i="0" kern="1200" baseline="0" dirty="0" smtClean="0">
                          <a:solidFill>
                            <a:schemeClr val="tx1"/>
                          </a:solidFill>
                          <a:latin typeface="+mn-lt"/>
                          <a:ea typeface="+mn-ea"/>
                          <a:cs typeface="+mn-cs"/>
                        </a:rPr>
                        <a:t>Expenses</a:t>
                      </a:r>
                      <a:r>
                        <a:rPr lang="en-US" sz="1200" b="0" i="0" kern="1200" baseline="0" dirty="0" smtClean="0">
                          <a:solidFill>
                            <a:schemeClr val="tx1"/>
                          </a:solidFill>
                          <a:latin typeface="+mn-lt"/>
                          <a:ea typeface="+mn-ea"/>
                          <a:cs typeface="+mn-cs"/>
                          <a:sym typeface="Wingdings"/>
                        </a:rPr>
                        <a:t> =</a:t>
                      </a:r>
                      <a:r>
                        <a:rPr lang="en-US" sz="1200" b="0" i="0" kern="1200" baseline="0" dirty="0" smtClean="0">
                          <a:solidFill>
                            <a:schemeClr val="tx1"/>
                          </a:solidFill>
                          <a:latin typeface="+mn-lt"/>
                          <a:ea typeface="+mn-ea"/>
                          <a:cs typeface="+mn-cs"/>
                        </a:rPr>
                        <a:t> € 1.2 B</a:t>
                      </a: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Operational Profit = Gross</a:t>
                      </a:r>
                      <a:r>
                        <a:rPr lang="en-US" sz="1200" b="0" kern="1200" baseline="0" dirty="0" smtClean="0">
                          <a:solidFill>
                            <a:schemeClr val="tx1"/>
                          </a:solidFill>
                          <a:latin typeface="+mn-lt"/>
                          <a:ea typeface="+mn-ea"/>
                          <a:cs typeface="+mn-cs"/>
                        </a:rPr>
                        <a:t> Profit – Expenses = </a:t>
                      </a:r>
                      <a:r>
                        <a:rPr lang="en-US" sz="1200" b="0" i="0" kern="1200" baseline="0" dirty="0" smtClean="0">
                          <a:solidFill>
                            <a:schemeClr val="tx1"/>
                          </a:solidFill>
                          <a:latin typeface="+mn-lt"/>
                          <a:ea typeface="+mn-ea"/>
                          <a:cs typeface="+mn-cs"/>
                        </a:rPr>
                        <a:t>€</a:t>
                      </a:r>
                      <a:r>
                        <a:rPr lang="en-US" sz="1200" b="0" kern="1200" baseline="0" dirty="0" smtClean="0">
                          <a:solidFill>
                            <a:schemeClr val="tx1"/>
                          </a:solidFill>
                          <a:latin typeface="+mn-lt"/>
                          <a:ea typeface="+mn-ea"/>
                          <a:cs typeface="+mn-cs"/>
                        </a:rPr>
                        <a:t> 2.4 B – </a:t>
                      </a:r>
                      <a:r>
                        <a:rPr lang="en-US" sz="1200" b="0" i="0" kern="1200" baseline="0" dirty="0" smtClean="0">
                          <a:solidFill>
                            <a:schemeClr val="tx1"/>
                          </a:solidFill>
                          <a:latin typeface="+mn-lt"/>
                          <a:ea typeface="+mn-ea"/>
                          <a:cs typeface="+mn-cs"/>
                        </a:rPr>
                        <a:t>€ </a:t>
                      </a:r>
                      <a:r>
                        <a:rPr lang="en-US" sz="1200" b="0" kern="1200" baseline="0" dirty="0" smtClean="0">
                          <a:solidFill>
                            <a:schemeClr val="tx1"/>
                          </a:solidFill>
                          <a:latin typeface="+mn-lt"/>
                          <a:ea typeface="+mn-ea"/>
                          <a:cs typeface="+mn-cs"/>
                        </a:rPr>
                        <a:t>1.2 B </a:t>
                      </a:r>
                      <a:r>
                        <a:rPr lang="en-US" sz="1200" b="0" kern="1200" baseline="0" dirty="0" smtClean="0">
                          <a:solidFill>
                            <a:schemeClr val="tx1"/>
                          </a:solidFill>
                          <a:latin typeface="+mn-lt"/>
                          <a:ea typeface="+mn-ea"/>
                          <a:cs typeface="+mn-cs"/>
                          <a:sym typeface="Wingdings"/>
                        </a:rPr>
                        <a:t> Operational Profit = </a:t>
                      </a:r>
                      <a:r>
                        <a:rPr lang="en-US" sz="1200" b="0" i="0" kern="1200" baseline="0" dirty="0" smtClean="0">
                          <a:solidFill>
                            <a:schemeClr val="tx1"/>
                          </a:solidFill>
                          <a:latin typeface="+mn-lt"/>
                          <a:ea typeface="+mn-ea"/>
                          <a:cs typeface="+mn-cs"/>
                        </a:rPr>
                        <a:t>€ </a:t>
                      </a:r>
                      <a:r>
                        <a:rPr lang="en-US" sz="1200" b="0" kern="1200" baseline="0" dirty="0" smtClean="0">
                          <a:solidFill>
                            <a:schemeClr val="tx1"/>
                          </a:solidFill>
                          <a:latin typeface="+mn-lt"/>
                          <a:ea typeface="+mn-ea"/>
                          <a:cs typeface="+mn-cs"/>
                          <a:sym typeface="Wingdings"/>
                        </a:rPr>
                        <a:t>1.2 B</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Net Earnings= Operational Profit x(1</a:t>
                      </a:r>
                      <a:r>
                        <a:rPr lang="en-US" sz="1200" b="0" kern="1200" baseline="0" dirty="0" smtClean="0">
                          <a:solidFill>
                            <a:schemeClr val="tx1"/>
                          </a:solidFill>
                          <a:latin typeface="+mn-lt"/>
                          <a:ea typeface="+mn-ea"/>
                          <a:cs typeface="+mn-cs"/>
                        </a:rPr>
                        <a:t>–taxes) = </a:t>
                      </a:r>
                      <a:r>
                        <a:rPr lang="en-US" sz="1200" b="0" i="0" kern="1200" baseline="0" dirty="0" smtClean="0">
                          <a:solidFill>
                            <a:schemeClr val="tx1"/>
                          </a:solidFill>
                          <a:latin typeface="+mn-lt"/>
                          <a:ea typeface="+mn-ea"/>
                          <a:cs typeface="+mn-cs"/>
                        </a:rPr>
                        <a:t>€ 1.2 B x (1 – 0.33) = 1.2 B x 2/3 </a:t>
                      </a:r>
                      <a:r>
                        <a:rPr lang="en-US" sz="1200" b="0" i="0" kern="1200" baseline="0" dirty="0" smtClean="0">
                          <a:solidFill>
                            <a:schemeClr val="tx1"/>
                          </a:solidFill>
                          <a:latin typeface="+mn-lt"/>
                          <a:ea typeface="+mn-ea"/>
                          <a:cs typeface="+mn-cs"/>
                          <a:sym typeface="Wingdings"/>
                        </a:rPr>
                        <a:t></a:t>
                      </a:r>
                      <a:r>
                        <a:rPr lang="en-US" sz="1200" b="0" i="0" kern="1200" baseline="0" dirty="0" smtClean="0">
                          <a:solidFill>
                            <a:schemeClr val="tx1"/>
                          </a:solidFill>
                          <a:latin typeface="+mn-lt"/>
                          <a:ea typeface="+mn-ea"/>
                          <a:cs typeface="+mn-cs"/>
                        </a:rPr>
                        <a:t> </a:t>
                      </a:r>
                      <a:r>
                        <a:rPr lang="en-US" sz="1200" b="0" i="0" kern="1200" baseline="0" dirty="0" smtClean="0">
                          <a:solidFill>
                            <a:schemeClr val="tx1"/>
                          </a:solidFill>
                          <a:latin typeface="+mn-lt"/>
                          <a:ea typeface="+mn-ea"/>
                          <a:cs typeface="+mn-cs"/>
                          <a:sym typeface="Wingdings"/>
                        </a:rPr>
                        <a:t>Net Earnings= </a:t>
                      </a:r>
                      <a:r>
                        <a:rPr lang="en-US" sz="1200" b="0" i="0" kern="1200" baseline="0" dirty="0" smtClean="0">
                          <a:solidFill>
                            <a:schemeClr val="tx1"/>
                          </a:solidFill>
                          <a:latin typeface="+mn-lt"/>
                          <a:ea typeface="+mn-ea"/>
                          <a:cs typeface="+mn-cs"/>
                        </a:rPr>
                        <a:t>€ 0.8 B</a:t>
                      </a:r>
                      <a:endParaRPr lang="en-US" sz="1200" b="0" kern="1200" dirty="0" smtClean="0">
                        <a:solidFill>
                          <a:schemeClr val="tx1"/>
                        </a:solidFill>
                        <a:latin typeface="+mn-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Wingdings" charset="0"/>
                        <a:buChar char="è"/>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Present Value = </a:t>
                      </a:r>
                      <a:r>
                        <a:rPr lang="en-US" sz="1200" b="0" i="0" kern="1200" baseline="0" dirty="0" smtClean="0">
                          <a:solidFill>
                            <a:schemeClr val="tx1"/>
                          </a:solidFill>
                          <a:latin typeface="+mn-lt"/>
                          <a:ea typeface="+mn-ea"/>
                          <a:cs typeface="+mn-cs"/>
                        </a:rPr>
                        <a:t>€ 0.8 B / 10% = € 8 B</a:t>
                      </a:r>
                      <a:endParaRPr lang="en-US" sz="1200" b="0" kern="1200" dirty="0" smtClean="0">
                        <a:solidFill>
                          <a:schemeClr val="tx1"/>
                        </a:solidFill>
                        <a:latin typeface="+mn-lt"/>
                        <a:ea typeface="+mn-ea"/>
                        <a:cs typeface="+mn-cs"/>
                      </a:endParaRPr>
                    </a:p>
                    <a:p>
                      <a:pPr marL="171450" marR="0" indent="-171450" algn="l" defTabSz="457200" rtl="0" eaLnBrk="1" fontAlgn="auto" latinLnBrk="0" hangingPunct="1">
                        <a:lnSpc>
                          <a:spcPct val="100000"/>
                        </a:lnSpc>
                        <a:spcBef>
                          <a:spcPts val="0"/>
                        </a:spcBef>
                        <a:spcAft>
                          <a:spcPts val="0"/>
                        </a:spcAft>
                        <a:buClrTx/>
                        <a:buSzTx/>
                        <a:buFontTx/>
                        <a:buChar char="•"/>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j-lt"/>
                          <a:ea typeface="+mn-ea"/>
                          <a:cs typeface="+mn-cs"/>
                        </a:rPr>
                        <a:t>Carrefour’s value to </a:t>
                      </a:r>
                      <a:r>
                        <a:rPr lang="en-US" sz="1200" b="0" i="0" kern="1200" baseline="0" dirty="0" err="1" smtClean="0">
                          <a:solidFill>
                            <a:schemeClr val="tx1"/>
                          </a:solidFill>
                          <a:latin typeface="+mj-lt"/>
                          <a:ea typeface="+mn-ea"/>
                          <a:cs typeface="+mn-cs"/>
                        </a:rPr>
                        <a:t>Walmart</a:t>
                      </a:r>
                      <a:r>
                        <a:rPr lang="en-US" sz="1200" b="0" i="0" kern="1200" baseline="0" dirty="0" smtClean="0">
                          <a:solidFill>
                            <a:schemeClr val="tx1"/>
                          </a:solidFill>
                          <a:latin typeface="+mj-lt"/>
                          <a:ea typeface="+mn-ea"/>
                          <a:cs typeface="+mn-cs"/>
                        </a:rPr>
                        <a:t> = </a:t>
                      </a:r>
                      <a:r>
                        <a:rPr lang="en-US" sz="1200" b="0" i="0" kern="1200" baseline="0" dirty="0" smtClean="0">
                          <a:solidFill>
                            <a:schemeClr val="tx1"/>
                          </a:solidFill>
                          <a:latin typeface="+mn-lt"/>
                          <a:ea typeface="+mn-ea"/>
                          <a:cs typeface="+mn-cs"/>
                        </a:rPr>
                        <a:t> € 8 B</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1"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The candidate must arrive at the conclusion that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maximum willingness to pay for Carrefour </a:t>
                      </a: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n-lt"/>
                          <a:ea typeface="+mn-ea"/>
                          <a:cs typeface="+mn-cs"/>
                        </a:rPr>
                        <a:t>is € 8 B.</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Entry</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12: </a:t>
            </a:r>
            <a:r>
              <a:rPr lang="en-US" sz="2400" b="1" dirty="0" err="1"/>
              <a:t>Walmart</a:t>
            </a:r>
            <a:endParaRPr lang="en-US" sz="2400" b="1" dirty="0"/>
          </a:p>
        </p:txBody>
      </p:sp>
    </p:spTree>
    <p:extLst>
      <p:ext uri="{BB962C8B-B14F-4D97-AF65-F5344CB8AC3E}">
        <p14:creationId xmlns:p14="http://schemas.microsoft.com/office/powerpoint/2010/main" val="51582363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12: </a:t>
            </a:r>
            <a:r>
              <a:rPr lang="en-US" sz="2400" b="1" dirty="0" err="1"/>
              <a:t>Walmart</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523858771"/>
              </p:ext>
            </p:extLst>
          </p:nvPr>
        </p:nvGraphicFramePr>
        <p:xfrm>
          <a:off x="304800" y="1381125"/>
          <a:ext cx="8534400" cy="51206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baseline="0" dirty="0" smtClean="0">
                          <a:solidFill>
                            <a:schemeClr val="tx1"/>
                          </a:solidFill>
                          <a:latin typeface="+mn-lt"/>
                          <a:ea typeface="+mn-ea"/>
                          <a:cs typeface="+mn-cs"/>
                        </a:rPr>
                        <a:t>A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analyst proposes to reduce prices by 10%. According to his studies, this discount will increase the volume of sales by 20%. </a:t>
                      </a:r>
                    </a:p>
                    <a:p>
                      <a:endParaRPr lang="en-US" sz="1200" b="0"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Should </a:t>
                      </a:r>
                      <a:r>
                        <a:rPr lang="en-US" sz="1200" b="1" i="0" kern="1200" baseline="0" dirty="0" err="1" smtClean="0">
                          <a:solidFill>
                            <a:schemeClr val="tx1"/>
                          </a:solidFill>
                          <a:latin typeface="+mn-lt"/>
                          <a:ea typeface="+mn-ea"/>
                          <a:cs typeface="+mn-cs"/>
                        </a:rPr>
                        <a:t>Walmart</a:t>
                      </a:r>
                      <a:r>
                        <a:rPr lang="en-US" sz="1200" b="1" i="0" kern="1200" baseline="0" dirty="0" smtClean="0">
                          <a:solidFill>
                            <a:schemeClr val="tx1"/>
                          </a:solidFill>
                          <a:latin typeface="+mn-lt"/>
                          <a:ea typeface="+mn-ea"/>
                          <a:cs typeface="+mn-cs"/>
                        </a:rPr>
                        <a:t> provide this discount in France?</a:t>
                      </a:r>
                    </a:p>
                    <a:p>
                      <a:endParaRPr lang="en-US" sz="1200" b="1" i="1"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Effect on revenue: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Revenue = Price x Volume </a:t>
                      </a:r>
                      <a:r>
                        <a:rPr lang="en-US" sz="1200" b="0" i="0" kern="1200" baseline="0" dirty="0" smtClean="0">
                          <a:solidFill>
                            <a:schemeClr val="tx1"/>
                          </a:solidFill>
                          <a:latin typeface="+mj-lt"/>
                          <a:ea typeface="+mn-ea"/>
                          <a:cs typeface="+mn-cs"/>
                          <a:sym typeface="Wingdings"/>
                        </a:rPr>
                        <a:t> New Revenue = 0.9 x Price x 1.2 x Volume = 1.08 x Price x Volume</a:t>
                      </a:r>
                    </a:p>
                    <a:p>
                      <a:pPr marL="171450" marR="0" indent="-171450" algn="l" defTabSz="457200" rtl="0" eaLnBrk="1" fontAlgn="auto" latinLnBrk="0" hangingPunct="1">
                        <a:lnSpc>
                          <a:spcPct val="100000"/>
                        </a:lnSpc>
                        <a:spcBef>
                          <a:spcPts val="0"/>
                        </a:spcBef>
                        <a:spcAft>
                          <a:spcPts val="0"/>
                        </a:spcAft>
                        <a:buClrTx/>
                        <a:buSzTx/>
                        <a:buFont typeface="Wingdings" charset="0"/>
                        <a:buChar char="è"/>
                        <a:tabLst/>
                        <a:defRPr/>
                      </a:pPr>
                      <a:r>
                        <a:rPr lang="en-US" sz="1200" b="0" i="0" kern="1200" baseline="0" dirty="0" smtClean="0">
                          <a:solidFill>
                            <a:schemeClr val="tx1"/>
                          </a:solidFill>
                          <a:latin typeface="+mj-lt"/>
                          <a:ea typeface="+mn-ea"/>
                          <a:cs typeface="+mn-cs"/>
                          <a:sym typeface="Wingdings"/>
                        </a:rPr>
                        <a:t>The New Revenue will be 8% higher  New Revenue = 1.08 x</a:t>
                      </a:r>
                      <a:r>
                        <a:rPr lang="en-US" sz="1200" b="0" i="0" kern="1200" baseline="0" dirty="0" smtClean="0">
                          <a:solidFill>
                            <a:schemeClr val="tx1"/>
                          </a:solidFill>
                          <a:latin typeface="+mn-lt"/>
                          <a:ea typeface="+mn-ea"/>
                          <a:cs typeface="+mn-cs"/>
                        </a:rPr>
                        <a:t> € </a:t>
                      </a:r>
                      <a:r>
                        <a:rPr lang="en-US" sz="1200" b="0" i="0" kern="1200" baseline="0" dirty="0" smtClean="0">
                          <a:solidFill>
                            <a:schemeClr val="tx1"/>
                          </a:solidFill>
                          <a:latin typeface="+mj-lt"/>
                          <a:ea typeface="+mn-ea"/>
                          <a:cs typeface="+mn-cs"/>
                          <a:sym typeface="Wingdings"/>
                        </a:rPr>
                        <a:t>6 B =</a:t>
                      </a:r>
                      <a:r>
                        <a:rPr lang="en-US" sz="1200" b="0" i="0" kern="1200" baseline="0" dirty="0" smtClean="0">
                          <a:solidFill>
                            <a:schemeClr val="tx1"/>
                          </a:solidFill>
                          <a:latin typeface="+mn-lt"/>
                          <a:ea typeface="+mn-ea"/>
                          <a:cs typeface="+mn-cs"/>
                        </a:rPr>
                        <a:t> €</a:t>
                      </a:r>
                      <a:r>
                        <a:rPr lang="en-US" sz="1200" b="0" i="0" kern="1200" baseline="0" dirty="0" smtClean="0">
                          <a:solidFill>
                            <a:schemeClr val="tx1"/>
                          </a:solidFill>
                          <a:latin typeface="+mj-lt"/>
                          <a:ea typeface="+mn-ea"/>
                          <a:cs typeface="+mn-cs"/>
                          <a:sym typeface="Wingdings"/>
                        </a:rPr>
                        <a:t> 6.48 B</a:t>
                      </a:r>
                    </a:p>
                    <a:p>
                      <a:pPr marL="171450" marR="0" indent="-171450" algn="l" defTabSz="457200" rtl="0" eaLnBrk="1" fontAlgn="auto" latinLnBrk="0" hangingPunct="1">
                        <a:lnSpc>
                          <a:spcPct val="100000"/>
                        </a:lnSpc>
                        <a:spcBef>
                          <a:spcPts val="0"/>
                        </a:spcBef>
                        <a:spcAft>
                          <a:spcPts val="0"/>
                        </a:spcAft>
                        <a:buClrTx/>
                        <a:buSzTx/>
                        <a:buFont typeface="Wingdings" charset="0"/>
                        <a:buChar char="è"/>
                        <a:tabLst/>
                        <a:defRPr/>
                      </a:pPr>
                      <a:endParaRPr lang="en-US" sz="1200" b="0" i="0" kern="1200" baseline="0" dirty="0" smtClean="0">
                        <a:solidFill>
                          <a:schemeClr val="tx1"/>
                        </a:solidFill>
                        <a:latin typeface="+mj-lt"/>
                        <a:ea typeface="+mn-ea"/>
                        <a:cs typeface="+mn-cs"/>
                        <a:sym typeface="Wingdings"/>
                      </a:endParaRP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i="0" kern="1200" baseline="0" dirty="0" smtClean="0">
                          <a:solidFill>
                            <a:schemeClr val="tx1"/>
                          </a:solidFill>
                          <a:latin typeface="+mj-lt"/>
                          <a:ea typeface="+mn-ea"/>
                          <a:cs typeface="+mn-cs"/>
                          <a:sym typeface="Wingdings"/>
                        </a:rPr>
                        <a:t>Effect on COGS:</a:t>
                      </a: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i="0" kern="1200" baseline="0" dirty="0" smtClean="0">
                          <a:solidFill>
                            <a:schemeClr val="tx1"/>
                          </a:solidFill>
                          <a:latin typeface="+mj-lt"/>
                          <a:ea typeface="+mn-ea"/>
                          <a:cs typeface="+mn-cs"/>
                        </a:rPr>
                        <a:t>Since the volume will increase by 20%, the COGS will also increase by this amount.</a:t>
                      </a: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i="0" kern="1200" baseline="0" dirty="0" smtClean="0">
                          <a:solidFill>
                            <a:schemeClr val="tx1"/>
                          </a:solidFill>
                          <a:latin typeface="+mj-lt"/>
                          <a:ea typeface="+mn-ea"/>
                          <a:cs typeface="+mn-cs"/>
                        </a:rPr>
                        <a:t>New COGS =</a:t>
                      </a:r>
                      <a:r>
                        <a:rPr lang="en-US" sz="1200" b="0" i="0" kern="1200" baseline="0" dirty="0" smtClean="0">
                          <a:solidFill>
                            <a:schemeClr val="tx1"/>
                          </a:solidFill>
                          <a:latin typeface="+mn-lt"/>
                          <a:ea typeface="+mn-ea"/>
                          <a:cs typeface="+mn-cs"/>
                        </a:rPr>
                        <a:t> €</a:t>
                      </a:r>
                      <a:r>
                        <a:rPr lang="en-US" sz="1200" b="0" i="0" kern="1200" baseline="0" dirty="0" smtClean="0">
                          <a:solidFill>
                            <a:schemeClr val="tx1"/>
                          </a:solidFill>
                          <a:latin typeface="+mj-lt"/>
                          <a:ea typeface="+mn-ea"/>
                          <a:cs typeface="+mn-cs"/>
                        </a:rPr>
                        <a:t> 1.2 x 3.6 B = </a:t>
                      </a:r>
                      <a:r>
                        <a:rPr lang="en-US" sz="1200" b="0" i="0" kern="1200" baseline="0" dirty="0" smtClean="0">
                          <a:solidFill>
                            <a:schemeClr val="tx1"/>
                          </a:solidFill>
                          <a:latin typeface="+mn-lt"/>
                          <a:ea typeface="+mn-ea"/>
                          <a:cs typeface="+mn-cs"/>
                        </a:rPr>
                        <a:t> € 4.32 B</a:t>
                      </a:r>
                    </a:p>
                    <a:p>
                      <a:pPr marL="0" marR="0" indent="0" algn="l" defTabSz="457200" rtl="0" eaLnBrk="1" fontAlgn="auto" latinLnBrk="0" hangingPunct="1">
                        <a:lnSpc>
                          <a:spcPct val="100000"/>
                        </a:lnSpc>
                        <a:spcBef>
                          <a:spcPts val="0"/>
                        </a:spcBef>
                        <a:spcAft>
                          <a:spcPts val="0"/>
                        </a:spcAft>
                        <a:buClrTx/>
                        <a:buSzTx/>
                        <a:buFont typeface="Wingdings" charset="0"/>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i="0" kern="1200" baseline="0" dirty="0" smtClean="0">
                          <a:solidFill>
                            <a:schemeClr val="tx1"/>
                          </a:solidFill>
                          <a:latin typeface="+mn-lt"/>
                          <a:ea typeface="+mn-ea"/>
                          <a:cs typeface="+mn-cs"/>
                        </a:rPr>
                        <a:t>Effect on gross profit:</a:t>
                      </a: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i="0" kern="1200" baseline="0" dirty="0" smtClean="0">
                          <a:solidFill>
                            <a:schemeClr val="tx1"/>
                          </a:solidFill>
                          <a:latin typeface="+mn-lt"/>
                          <a:ea typeface="+mn-ea"/>
                          <a:cs typeface="+mn-cs"/>
                        </a:rPr>
                        <a:t>New Gross Profit = New Revenue – New COGS = € 6.48 B – € 4.32 B</a:t>
                      </a:r>
                    </a:p>
                    <a:p>
                      <a:pPr marL="0" marR="0" indent="0" algn="l" defTabSz="457200" rtl="0" eaLnBrk="1" fontAlgn="auto" latinLnBrk="0" hangingPunct="1">
                        <a:lnSpc>
                          <a:spcPct val="100000"/>
                        </a:lnSpc>
                        <a:spcBef>
                          <a:spcPts val="0"/>
                        </a:spcBef>
                        <a:spcAft>
                          <a:spcPts val="0"/>
                        </a:spcAft>
                        <a:buClrTx/>
                        <a:buSzTx/>
                        <a:buFont typeface="Wingdings" charset="0"/>
                        <a:buNone/>
                        <a:tabLst/>
                        <a:defRPr/>
                      </a:pPr>
                      <a:r>
                        <a:rPr lang="en-US" sz="1200" b="0" i="0" kern="1200" baseline="0" dirty="0" smtClean="0">
                          <a:solidFill>
                            <a:schemeClr val="tx1"/>
                          </a:solidFill>
                          <a:latin typeface="+mn-lt"/>
                          <a:ea typeface="+mn-ea"/>
                          <a:cs typeface="+mn-cs"/>
                        </a:rPr>
                        <a:t>New Gross Profit = € 2.16 B</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 should arrive at the conclusion that, since the new gross profit is lower than the original gross profit, </a:t>
                      </a:r>
                      <a:r>
                        <a:rPr lang="en-US" sz="1200" b="0" i="0" kern="1200" baseline="0" dirty="0" err="1" smtClean="0">
                          <a:solidFill>
                            <a:schemeClr val="tx1"/>
                          </a:solidFill>
                          <a:latin typeface="+mj-lt"/>
                          <a:ea typeface="+mn-ea"/>
                          <a:cs typeface="+mn-cs"/>
                        </a:rPr>
                        <a:t>Walmart</a:t>
                      </a:r>
                      <a:r>
                        <a:rPr lang="en-US" sz="1200" b="0" i="0" kern="1200" baseline="0" dirty="0" smtClean="0">
                          <a:solidFill>
                            <a:schemeClr val="tx1"/>
                          </a:solidFill>
                          <a:latin typeface="+mj-lt"/>
                          <a:ea typeface="+mn-ea"/>
                          <a:cs typeface="+mn-cs"/>
                        </a:rPr>
                        <a:t> should not reduce its prices.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candidate’s final conclusion should touch upon the following points: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should access all synergies it may have by acquiring Carrefour</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should place a bid between € 6.4 B and € 8 B. Since it’s a competitive bid,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should place a bid closer to € 8 B to increase its chances of acquiring Carrefour</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If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wins the bid, it should not reduce the prices, because it will reduce the business’ profitability</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Market Entry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97</a:t>
            </a:fld>
            <a:endParaRPr lang="en-US" dirty="0"/>
          </a:p>
        </p:txBody>
      </p:sp>
    </p:spTree>
    <p:extLst>
      <p:ext uri="{BB962C8B-B14F-4D97-AF65-F5344CB8AC3E}">
        <p14:creationId xmlns:p14="http://schemas.microsoft.com/office/powerpoint/2010/main" val="239552055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12: </a:t>
            </a:r>
            <a:r>
              <a:rPr lang="en-US" sz="2400" b="1" dirty="0" err="1"/>
              <a:t>Walmart</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148684477"/>
              </p:ext>
            </p:extLst>
          </p:nvPr>
        </p:nvGraphicFramePr>
        <p:xfrm>
          <a:off x="304800" y="1381125"/>
          <a:ext cx="8534400" cy="320040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0" i="0" kern="1200" baseline="0" dirty="0" smtClean="0">
                        <a:solidFill>
                          <a:schemeClr val="tx1"/>
                        </a:solidFill>
                        <a:latin typeface="+mn-lt"/>
                        <a:ea typeface="+mn-ea"/>
                        <a:cs typeface="+mn-cs"/>
                      </a:endParaRPr>
                    </a:p>
                    <a:p>
                      <a:pPr marL="225425" indent="-225425">
                        <a:buFont typeface="Arial" pitchFamily="34" charset="0"/>
                        <a:buChar char="•"/>
                      </a:pPr>
                      <a:r>
                        <a:rPr lang="en-US" sz="1200" b="0" i="0" kern="1200" baseline="0" dirty="0" smtClean="0">
                          <a:solidFill>
                            <a:schemeClr val="tx1"/>
                          </a:solidFill>
                          <a:latin typeface="+mn-lt"/>
                          <a:ea typeface="+mn-ea"/>
                          <a:cs typeface="+mn-cs"/>
                        </a:rPr>
                        <a:t>Provides a MECE framework, mentioning that there are at least 2 options to enter the French market: start from scratch or buying an existing competitor (extra credit if the candidate mention that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can partner up with a local company)</a:t>
                      </a:r>
                    </a:p>
                    <a:p>
                      <a:pPr marL="225425" indent="-225425">
                        <a:buFont typeface="Arial" pitchFamily="34" charset="0"/>
                        <a:buChar char="•"/>
                      </a:pPr>
                      <a:r>
                        <a:rPr lang="en-US" sz="1200" b="0" i="0" kern="1200" baseline="0" dirty="0" smtClean="0">
                          <a:solidFill>
                            <a:schemeClr val="tx1"/>
                          </a:solidFill>
                          <a:latin typeface="+mn-lt"/>
                          <a:ea typeface="+mn-ea"/>
                          <a:cs typeface="+mn-cs"/>
                        </a:rPr>
                        <a:t>Framework includes potential synergies </a:t>
                      </a:r>
                      <a:r>
                        <a:rPr lang="en-US" sz="1200" b="0" i="0" kern="1200" baseline="0" dirty="0" err="1" smtClean="0">
                          <a:solidFill>
                            <a:schemeClr val="tx1"/>
                          </a:solidFill>
                          <a:latin typeface="+mn-lt"/>
                          <a:ea typeface="+mn-ea"/>
                          <a:cs typeface="+mn-cs"/>
                        </a:rPr>
                        <a:t>Walmart</a:t>
                      </a:r>
                      <a:r>
                        <a:rPr lang="en-US" sz="1200" b="0" i="0" kern="1200" baseline="0" dirty="0" smtClean="0">
                          <a:solidFill>
                            <a:schemeClr val="tx1"/>
                          </a:solidFill>
                          <a:latin typeface="+mn-lt"/>
                          <a:ea typeface="+mn-ea"/>
                          <a:cs typeface="+mn-cs"/>
                        </a:rPr>
                        <a:t> may have with this acquisition</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ask for the necessary information to calculate Carrefour’s net value</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calculates all sessions of the case, but needs some assistance from the interviewer</a:t>
                      </a:r>
                    </a:p>
                    <a:p>
                      <a:pPr marL="225425" indent="-225425">
                        <a:buFont typeface="Arial" pitchFamily="34" charset="0"/>
                        <a:buChar char="•"/>
                      </a:pPr>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“Good “ requirements</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Correctly calculates all parts of this case with minimum assistance from the interviewer</a:t>
                      </a:r>
                    </a:p>
                    <a:p>
                      <a:pPr marL="225425" indent="-225425">
                        <a:buFont typeface="Arial" pitchFamily="34" charset="0"/>
                        <a:buChar char="•"/>
                      </a:pPr>
                      <a:r>
                        <a:rPr lang="en-US" sz="1200" b="0" i="0" kern="1200" baseline="0" dirty="0" smtClean="0">
                          <a:solidFill>
                            <a:schemeClr val="tx1"/>
                          </a:solidFill>
                          <a:latin typeface="+mn-lt"/>
                          <a:ea typeface="+mn-ea"/>
                          <a:cs typeface="+mn-cs"/>
                        </a:rPr>
                        <a:t>Keeps the interviewer engaged during the calculations and brainstorm sessions, demonstrating strong communication skills</a:t>
                      </a:r>
                    </a:p>
                    <a:p>
                      <a:pPr marL="225425" indent="-225425">
                        <a:buFont typeface="Arial" pitchFamily="34" charset="0"/>
                        <a:buChar cha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Market Entry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98</a:t>
            </a:fld>
            <a:endParaRPr lang="en-US" dirty="0"/>
          </a:p>
        </p:txBody>
      </p:sp>
      <p:sp>
        <p:nvSpPr>
          <p:cNvPr id="7"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Tree>
    <p:extLst>
      <p:ext uri="{BB962C8B-B14F-4D97-AF65-F5344CB8AC3E}">
        <p14:creationId xmlns:p14="http://schemas.microsoft.com/office/powerpoint/2010/main" val="96583077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99</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p:txBody>
          <a:bodyPr anchor="ctr"/>
          <a:lstStyle/>
          <a:p>
            <a:pPr algn="ctr"/>
            <a:r>
              <a:rPr lang="en-US" dirty="0" smtClean="0">
                <a:ea typeface="ＭＳ Ｐゴシック" pitchFamily="34" charset="-128"/>
              </a:rPr>
              <a:t>Strategy</a:t>
            </a:r>
          </a:p>
        </p:txBody>
      </p:sp>
      <p:sp>
        <p:nvSpPr>
          <p:cNvPr id="37892" name="Slide Number Placeholder 3"/>
          <p:cNvSpPr>
            <a:spLocks noGrp="1"/>
          </p:cNvSpPr>
          <p:nvPr>
            <p:ph type="sldNum" sz="quarter" idx="11"/>
          </p:nvPr>
        </p:nvSpPr>
        <p:spPr>
          <a:noFill/>
        </p:spPr>
        <p:txBody>
          <a:bodyPr/>
          <a:lstStyle/>
          <a:p>
            <a:fld id="{6AC4ECBC-C185-4305-8110-C5F462218BC6}" type="slidenum">
              <a:rPr lang="en-US" smtClean="0">
                <a:latin typeface="Arial" pitchFamily="34" charset="0"/>
                <a:ea typeface="ＭＳ Ｐゴシック" pitchFamily="34" charset="-128"/>
              </a:rPr>
              <a:pPr/>
              <a:t>100</a:t>
            </a:fld>
            <a:endParaRPr 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212372008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13: Euro Logistics</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1746956422"/>
              </p:ext>
            </p:extLst>
          </p:nvPr>
        </p:nvGraphicFramePr>
        <p:xfrm>
          <a:off x="304800" y="1381125"/>
          <a:ext cx="8534400" cy="23774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Euro</a:t>
                      </a:r>
                      <a:r>
                        <a:rPr lang="en-US" sz="1200" b="0" i="0" kern="1200" baseline="0" dirty="0" smtClean="0">
                          <a:solidFill>
                            <a:schemeClr val="tx1"/>
                          </a:solidFill>
                          <a:latin typeface="+mj-lt"/>
                          <a:ea typeface="+mn-ea"/>
                          <a:cs typeface="+mn-cs"/>
                        </a:rPr>
                        <a:t> Logistics is a </a:t>
                      </a:r>
                      <a:r>
                        <a:rPr lang="en-US" sz="1200" b="0" i="0" kern="1200" dirty="0" smtClean="0">
                          <a:solidFill>
                            <a:schemeClr val="tx1"/>
                          </a:solidFill>
                          <a:latin typeface="+mj-lt"/>
                          <a:ea typeface="+mn-ea"/>
                          <a:cs typeface="+mn-cs"/>
                        </a:rPr>
                        <a:t>big logistic company. It wants to improve its customer satisfaction index. </a:t>
                      </a:r>
                    </a:p>
                    <a:p>
                      <a:endParaRPr lang="en-US" sz="1200" b="0" i="0" kern="1200" dirty="0" smtClean="0">
                        <a:solidFill>
                          <a:schemeClr val="tx1"/>
                        </a:solidFill>
                        <a:latin typeface="+mj-lt"/>
                        <a:ea typeface="+mn-ea"/>
                        <a:cs typeface="+mn-cs"/>
                      </a:endParaRPr>
                    </a:p>
                    <a:p>
                      <a:r>
                        <a:rPr lang="en-US" sz="1200" b="1" i="0" kern="1200" dirty="0" smtClean="0">
                          <a:solidFill>
                            <a:schemeClr val="tx1"/>
                          </a:solidFill>
                          <a:latin typeface="+mj-lt"/>
                          <a:ea typeface="+mn-ea"/>
                          <a:cs typeface="+mn-cs"/>
                        </a:rPr>
                        <a:t>What should they do?</a:t>
                      </a:r>
                      <a:endParaRPr lang="en-US" sz="1200" b="1"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The company is a large logistic company (such as Maersk). </a:t>
                      </a:r>
                      <a:r>
                        <a:rPr lang="en-US" sz="1200" b="0" i="0" kern="1200" baseline="0" dirty="0" smtClean="0">
                          <a:solidFill>
                            <a:schemeClr val="tx1"/>
                          </a:solidFill>
                          <a:latin typeface="+mn-lt"/>
                          <a:ea typeface="+mn-ea"/>
                          <a:cs typeface="+mn-cs"/>
                        </a:rPr>
                        <a:t>They provide the logistic services only in Europe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They have many trucks, sea port terminals all around Europe and cargo ships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The logistic market is very competitive and Euro Logistic understands that offering a better customer service is a good way to differentiate themselves in this market</a:t>
                      </a: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101</a:t>
            </a:fld>
            <a:endParaRPr lang="en-US" dirty="0"/>
          </a:p>
        </p:txBody>
      </p:sp>
    </p:spTree>
    <p:extLst>
      <p:ext uri="{BB962C8B-B14F-4D97-AF65-F5344CB8AC3E}">
        <p14:creationId xmlns:p14="http://schemas.microsoft.com/office/powerpoint/2010/main" val="12527198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102</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334596948"/>
              </p:ext>
            </p:extLst>
          </p:nvPr>
        </p:nvGraphicFramePr>
        <p:xfrm>
          <a:off x="304800" y="1295400"/>
          <a:ext cx="8686800" cy="201168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 should provide a framework that touches the value chain of the company.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When he/she talks about customer satisfaction, he/she should consider that the customer evaluates the company based on contact with the service, from the start to the end of the experience.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When the candidate asks how the customers evaluate the Euro Logistics’ service level, provide Exhibit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solidFill>
                      <a:schemeClr val="accent1"/>
                    </a:solidFill>
                  </a:tcPr>
                </a:tc>
              </a:tr>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Prompt</a:t>
                      </a:r>
                    </a:p>
                  </a:txBody>
                  <a:tcPr anchor="ctr">
                    <a:solidFill>
                      <a:schemeClr val="bg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smtClean="0">
                          <a:solidFill>
                            <a:schemeClr val="tx1"/>
                          </a:solidFill>
                          <a:latin typeface="+mj-lt"/>
                          <a:ea typeface="+mn-ea"/>
                          <a:cs typeface="+mn-cs"/>
                        </a:rPr>
                        <a:t>What can you conclude from this table? Is there a particular measure or country that Euro Logistics should pay a special attention?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solidFill>
                      <a:schemeClr val="bg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9956" name="TextBox 6"/>
          <p:cNvSpPr txBox="1">
            <a:spLocks noChangeArrowheads="1"/>
          </p:cNvSpPr>
          <p:nvPr/>
        </p:nvSpPr>
        <p:spPr bwMode="auto">
          <a:xfrm>
            <a:off x="3657600" y="990600"/>
            <a:ext cx="2286000" cy="307777"/>
          </a:xfrm>
          <a:prstGeom prst="rect">
            <a:avLst/>
          </a:prstGeom>
          <a:noFill/>
          <a:ln w="9525">
            <a:noFill/>
            <a:miter lim="800000"/>
            <a:headEnd/>
            <a:tailEnd/>
          </a:ln>
        </p:spPr>
        <p:txBody>
          <a:bodyPr>
            <a:spAutoFit/>
          </a:bodyPr>
          <a:lstStyle/>
          <a:p>
            <a:pPr algn="ctr"/>
            <a:r>
              <a:rPr lang="en-US" sz="1400" i="1" dirty="0"/>
              <a:t>McKinsey &amp; </a:t>
            </a:r>
            <a:r>
              <a:rPr lang="en-US" sz="1400" i="1" dirty="0" smtClean="0"/>
              <a:t>Company</a:t>
            </a:r>
            <a:endParaRPr lang="en-US" sz="1400" i="1" dirty="0"/>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13: Euro Logistics</a:t>
            </a:r>
          </a:p>
        </p:txBody>
      </p:sp>
    </p:spTree>
    <p:extLst>
      <p:ext uri="{BB962C8B-B14F-4D97-AF65-F5344CB8AC3E}">
        <p14:creationId xmlns:p14="http://schemas.microsoft.com/office/powerpoint/2010/main" val="127081743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103</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9956" name="TextBox 6"/>
          <p:cNvSpPr txBox="1">
            <a:spLocks noChangeArrowheads="1"/>
          </p:cNvSpPr>
          <p:nvPr/>
        </p:nvSpPr>
        <p:spPr bwMode="auto">
          <a:xfrm>
            <a:off x="3657600" y="990600"/>
            <a:ext cx="2286000" cy="307777"/>
          </a:xfrm>
          <a:prstGeom prst="rect">
            <a:avLst/>
          </a:prstGeom>
          <a:noFill/>
          <a:ln w="9525">
            <a:noFill/>
            <a:miter lim="800000"/>
            <a:headEnd/>
            <a:tailEnd/>
          </a:ln>
        </p:spPr>
        <p:txBody>
          <a:bodyPr>
            <a:spAutoFit/>
          </a:bodyPr>
          <a:lstStyle/>
          <a:p>
            <a:pPr algn="ctr"/>
            <a:r>
              <a:rPr lang="en-US" sz="1400" i="1" dirty="0"/>
              <a:t>McKinsey &amp; </a:t>
            </a:r>
            <a:r>
              <a:rPr lang="en-US" sz="1400" i="1" dirty="0" smtClean="0"/>
              <a:t>Company</a:t>
            </a:r>
            <a:endParaRPr lang="en-US" sz="1400" i="1" dirty="0"/>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13: Euro Logistics</a:t>
            </a:r>
          </a:p>
        </p:txBody>
      </p:sp>
      <p:sp>
        <p:nvSpPr>
          <p:cNvPr id="2" name="TextBox 1"/>
          <p:cNvSpPr txBox="1"/>
          <p:nvPr/>
        </p:nvSpPr>
        <p:spPr>
          <a:xfrm>
            <a:off x="228600" y="1408356"/>
            <a:ext cx="8318500" cy="754053"/>
          </a:xfrm>
          <a:prstGeom prst="rect">
            <a:avLst/>
          </a:prstGeom>
          <a:noFill/>
        </p:spPr>
        <p:txBody>
          <a:bodyPr wrap="square" rtlCol="0">
            <a:spAutoFit/>
          </a:bodyPr>
          <a:lstStyle/>
          <a:p>
            <a:r>
              <a:rPr lang="en-US" sz="1400" b="1" dirty="0" smtClean="0"/>
              <a:t>Exhibit 1: Customer Satisfaction Survey</a:t>
            </a:r>
          </a:p>
          <a:p>
            <a:endParaRPr lang="en-US" sz="500" dirty="0" smtClean="0"/>
          </a:p>
          <a:p>
            <a:r>
              <a:rPr lang="en-US" sz="1200" dirty="0" smtClean="0"/>
              <a:t>The tables below represent a survey filled by over 250 companies. The charts shows in order of what is most important for the companies in each country. Scores above 75 are considered good.</a:t>
            </a:r>
            <a:endParaRPr lang="en-US" sz="1200" dirty="0"/>
          </a:p>
        </p:txBody>
      </p:sp>
      <p:graphicFrame>
        <p:nvGraphicFramePr>
          <p:cNvPr id="9" name="Chart 8"/>
          <p:cNvGraphicFramePr>
            <a:graphicFrameLocks/>
          </p:cNvGraphicFramePr>
          <p:nvPr>
            <p:extLst>
              <p:ext uri="{D42A27DB-BD31-4B8C-83A1-F6EECF244321}">
                <p14:modId xmlns:p14="http://schemas.microsoft.com/office/powerpoint/2010/main" val="3399213489"/>
              </p:ext>
            </p:extLst>
          </p:nvPr>
        </p:nvGraphicFramePr>
        <p:xfrm>
          <a:off x="458198" y="2314023"/>
          <a:ext cx="2654300" cy="13319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p:cNvGraphicFramePr>
            <a:graphicFrameLocks/>
          </p:cNvGraphicFramePr>
          <p:nvPr>
            <p:extLst>
              <p:ext uri="{D42A27DB-BD31-4B8C-83A1-F6EECF244321}">
                <p14:modId xmlns:p14="http://schemas.microsoft.com/office/powerpoint/2010/main" val="3122375554"/>
              </p:ext>
            </p:extLst>
          </p:nvPr>
        </p:nvGraphicFramePr>
        <p:xfrm>
          <a:off x="3112498" y="2314023"/>
          <a:ext cx="2654300" cy="13319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p:cNvGraphicFramePr>
            <a:graphicFrameLocks/>
          </p:cNvGraphicFramePr>
          <p:nvPr>
            <p:extLst>
              <p:ext uri="{D42A27DB-BD31-4B8C-83A1-F6EECF244321}">
                <p14:modId xmlns:p14="http://schemas.microsoft.com/office/powerpoint/2010/main" val="2892869082"/>
              </p:ext>
            </p:extLst>
          </p:nvPr>
        </p:nvGraphicFramePr>
        <p:xfrm>
          <a:off x="5811248" y="2314023"/>
          <a:ext cx="2654300" cy="13319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p:cNvGraphicFramePr>
            <a:graphicFrameLocks/>
          </p:cNvGraphicFramePr>
          <p:nvPr>
            <p:extLst>
              <p:ext uri="{D42A27DB-BD31-4B8C-83A1-F6EECF244321}">
                <p14:modId xmlns:p14="http://schemas.microsoft.com/office/powerpoint/2010/main" val="2097001188"/>
              </p:ext>
            </p:extLst>
          </p:nvPr>
        </p:nvGraphicFramePr>
        <p:xfrm>
          <a:off x="5811248" y="3645936"/>
          <a:ext cx="2654300" cy="13319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4" name="Chart 13"/>
          <p:cNvGraphicFramePr>
            <a:graphicFrameLocks/>
          </p:cNvGraphicFramePr>
          <p:nvPr>
            <p:extLst>
              <p:ext uri="{D42A27DB-BD31-4B8C-83A1-F6EECF244321}">
                <p14:modId xmlns:p14="http://schemas.microsoft.com/office/powerpoint/2010/main" val="4005973449"/>
              </p:ext>
            </p:extLst>
          </p:nvPr>
        </p:nvGraphicFramePr>
        <p:xfrm>
          <a:off x="5811248" y="5004043"/>
          <a:ext cx="2654300" cy="133191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Chart 14"/>
          <p:cNvGraphicFramePr>
            <a:graphicFrameLocks/>
          </p:cNvGraphicFramePr>
          <p:nvPr>
            <p:extLst>
              <p:ext uri="{D42A27DB-BD31-4B8C-83A1-F6EECF244321}">
                <p14:modId xmlns:p14="http://schemas.microsoft.com/office/powerpoint/2010/main" val="2015192772"/>
              </p:ext>
            </p:extLst>
          </p:nvPr>
        </p:nvGraphicFramePr>
        <p:xfrm>
          <a:off x="3112498" y="3645936"/>
          <a:ext cx="2654300" cy="134461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 name="Chart 15"/>
          <p:cNvGraphicFramePr>
            <a:graphicFrameLocks/>
          </p:cNvGraphicFramePr>
          <p:nvPr>
            <p:extLst>
              <p:ext uri="{D42A27DB-BD31-4B8C-83A1-F6EECF244321}">
                <p14:modId xmlns:p14="http://schemas.microsoft.com/office/powerpoint/2010/main" val="1194198467"/>
              </p:ext>
            </p:extLst>
          </p:nvPr>
        </p:nvGraphicFramePr>
        <p:xfrm>
          <a:off x="458198" y="3633236"/>
          <a:ext cx="2654300" cy="134461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7" name="Chart 16"/>
          <p:cNvGraphicFramePr>
            <a:graphicFrameLocks/>
          </p:cNvGraphicFramePr>
          <p:nvPr>
            <p:extLst>
              <p:ext uri="{D42A27DB-BD31-4B8C-83A1-F6EECF244321}">
                <p14:modId xmlns:p14="http://schemas.microsoft.com/office/powerpoint/2010/main" val="2386376746"/>
              </p:ext>
            </p:extLst>
          </p:nvPr>
        </p:nvGraphicFramePr>
        <p:xfrm>
          <a:off x="458198" y="4991343"/>
          <a:ext cx="2654300" cy="1344613"/>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8" name="Chart 17"/>
          <p:cNvGraphicFramePr>
            <a:graphicFrameLocks/>
          </p:cNvGraphicFramePr>
          <p:nvPr>
            <p:extLst>
              <p:ext uri="{D42A27DB-BD31-4B8C-83A1-F6EECF244321}">
                <p14:modId xmlns:p14="http://schemas.microsoft.com/office/powerpoint/2010/main" val="2113400920"/>
              </p:ext>
            </p:extLst>
          </p:nvPr>
        </p:nvGraphicFramePr>
        <p:xfrm>
          <a:off x="3112498" y="5004043"/>
          <a:ext cx="2654300" cy="1331913"/>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80941374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104</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4144291940"/>
              </p:ext>
            </p:extLst>
          </p:nvPr>
        </p:nvGraphicFramePr>
        <p:xfrm>
          <a:off x="304800" y="1295400"/>
          <a:ext cx="8686800" cy="3566160"/>
        </p:xfrm>
        <a:graphic>
          <a:graphicData uri="http://schemas.openxmlformats.org/drawingml/2006/table">
            <a:tbl>
              <a:tblPr firstRow="1" bandRow="1">
                <a:tableStyleId>{616DA210-FB5B-4158-B5E0-FEB733F419BA}</a:tableStyleId>
              </a:tblPr>
              <a:tblGrid>
                <a:gridCol w="1562100"/>
                <a:gridCol w="71247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j-lt"/>
                          <a:ea typeface="+mn-ea"/>
                          <a:cs typeface="+mn-cs"/>
                        </a:rPr>
                        <a:t>Provide the following information to accompany Exhibit 1:</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Billing: bills should be provided within 30 days before its due date without any billing mistake. Mistakes or delays reduces the score of this point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Customer Service: all orders are received through a call center. The call center is also used to answer any questions that the customers might have. Delays to pick-up the calls and/or failing to give the right answer reduces the score for this point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Order Tracking: an online tool that allows the customer to track the shipment in real time. Lagged information or lack of detailed information reduces the score for this point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Delivery Time: delivering the shipment on schedule, without any delay. Delays reduces the score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a:buNone/>
                        <a:tabLst/>
                        <a:defRPr/>
                      </a:pPr>
                      <a:r>
                        <a:rPr lang="en-US" sz="1200" b="0" i="0" kern="1200" baseline="0" dirty="0" smtClean="0">
                          <a:solidFill>
                            <a:schemeClr val="tx1"/>
                          </a:solidFill>
                          <a:latin typeface="+mj-lt"/>
                          <a:ea typeface="+mn-ea"/>
                          <a:cs typeface="+mn-cs"/>
                        </a:rPr>
                        <a:t>The candidate should realize that following:</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Billing and Order Tracking are the points that has the lowest average scores and they are considered important by most countries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Customer Service is very important and highly rated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Delivery Times have some bad rates, but the delays are caused because of delays in customs. The only thing Euro Logistics can do is provide a more realistic delivery deadline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9956" name="TextBox 6"/>
          <p:cNvSpPr txBox="1">
            <a:spLocks noChangeArrowheads="1"/>
          </p:cNvSpPr>
          <p:nvPr/>
        </p:nvSpPr>
        <p:spPr bwMode="auto">
          <a:xfrm>
            <a:off x="3657600" y="990600"/>
            <a:ext cx="2286000" cy="523220"/>
          </a:xfrm>
          <a:prstGeom prst="rect">
            <a:avLst/>
          </a:prstGeom>
          <a:noFill/>
          <a:ln w="9525">
            <a:noFill/>
            <a:miter lim="800000"/>
            <a:headEnd/>
            <a:tailEnd/>
          </a:ln>
        </p:spPr>
        <p:txBody>
          <a:bodyPr>
            <a:spAutoFit/>
          </a:bodyPr>
          <a:lstStyle/>
          <a:p>
            <a:pPr algn="ctr"/>
            <a:r>
              <a:rPr lang="en-US" sz="1400" i="1" dirty="0"/>
              <a:t>McKinsey &amp; Company</a:t>
            </a:r>
          </a:p>
          <a:p>
            <a:pPr algn="ctr"/>
            <a:endParaRPr lang="en-US" sz="1400" i="1" dirty="0"/>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13: Euro Logistics</a:t>
            </a:r>
          </a:p>
        </p:txBody>
      </p:sp>
    </p:spTree>
    <p:extLst>
      <p:ext uri="{BB962C8B-B14F-4D97-AF65-F5344CB8AC3E}">
        <p14:creationId xmlns:p14="http://schemas.microsoft.com/office/powerpoint/2010/main" val="53214123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13: Euro Logistics</a:t>
            </a:r>
          </a:p>
        </p:txBody>
      </p:sp>
      <p:graphicFrame>
        <p:nvGraphicFramePr>
          <p:cNvPr id="12" name="Table 11"/>
          <p:cNvGraphicFramePr>
            <a:graphicFrameLocks noGrp="1"/>
          </p:cNvGraphicFramePr>
          <p:nvPr>
            <p:extLst>
              <p:ext uri="{D42A27DB-BD31-4B8C-83A1-F6EECF244321}">
                <p14:modId xmlns:p14="http://schemas.microsoft.com/office/powerpoint/2010/main" val="1239316604"/>
              </p:ext>
            </p:extLst>
          </p:nvPr>
        </p:nvGraphicFramePr>
        <p:xfrm>
          <a:off x="304800" y="1381125"/>
          <a:ext cx="8534400" cy="384048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Euro Logistics wants to improve its Billing and</a:t>
                      </a:r>
                      <a:r>
                        <a:rPr lang="en-US" sz="1200" b="0" i="0" u="none" kern="1200" baseline="0" dirty="0" smtClean="0">
                          <a:solidFill>
                            <a:schemeClr val="tx1"/>
                          </a:solidFill>
                          <a:latin typeface="+mj-lt"/>
                          <a:ea typeface="+mn-ea"/>
                          <a:cs typeface="+mn-cs"/>
                        </a:rPr>
                        <a:t> Tracking Order systems. Our team estimates that it will cost then 5 M Euros to buy each of these new systems, but </a:t>
                      </a:r>
                      <a:r>
                        <a:rPr lang="en-US" sz="1200" b="0" i="0" u="none" kern="1200" baseline="0" dirty="0" smtClean="0">
                          <a:solidFill>
                            <a:schemeClr val="tx1"/>
                          </a:solidFill>
                          <a:latin typeface="+mn-lt"/>
                          <a:ea typeface="+mn-ea"/>
                          <a:cs typeface="+mn-cs"/>
                        </a:rPr>
                        <a:t>we estimate that the new systems will reduce the churn rate (% of customers lost per year) by 20%.</a:t>
                      </a:r>
                    </a:p>
                    <a:p>
                      <a:endParaRPr lang="en-US" sz="1200" b="0" i="0" u="none" kern="1200" baseline="0" dirty="0" smtClean="0">
                        <a:solidFill>
                          <a:schemeClr val="tx1"/>
                        </a:solidFill>
                        <a:latin typeface="+mj-lt"/>
                        <a:ea typeface="+mn-ea"/>
                        <a:cs typeface="+mn-cs"/>
                      </a:endParaRPr>
                    </a:p>
                    <a:p>
                      <a:r>
                        <a:rPr lang="en-US" sz="1200" b="1" i="0" u="none" kern="1200" baseline="0" dirty="0" smtClean="0">
                          <a:solidFill>
                            <a:schemeClr val="tx1"/>
                          </a:solidFill>
                          <a:latin typeface="+mj-lt"/>
                          <a:ea typeface="+mn-ea"/>
                          <a:cs typeface="+mn-cs"/>
                        </a:rPr>
                        <a:t>Should they do it? What’s the payback period of this investment?</a:t>
                      </a:r>
                    </a:p>
                    <a:p>
                      <a:endParaRPr lang="en-US" sz="1200" b="0" i="0" u="none" kern="1200" baseline="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Current Yearly Revenues = 150 M euros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Current Churn Rate: 25%</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Net Margin = 30%</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Goal: payback in less than 2 years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u="none"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Revenues lost per year =  $ 150 M x 25% = 37.5 M euros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Savings provided by the new system = $ 37.5 M x 20% = 7.5 M euros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Payback period = Investment / Savings = 10 / 7.5 = 1.3333 years = 1 year and 4 months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 candidate should recommend investing. </a:t>
                      </a:r>
                      <a:endParaRPr lang="en-US" sz="1200" b="0" i="0" u="none"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u="none"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523220"/>
          </a:xfrm>
          <a:prstGeom prst="rect">
            <a:avLst/>
          </a:prstGeom>
          <a:noFill/>
          <a:ln w="9525">
            <a:noFill/>
            <a:miter lim="800000"/>
            <a:headEnd/>
            <a:tailEnd/>
          </a:ln>
        </p:spPr>
        <p:txBody>
          <a:bodyPr>
            <a:spAutoFit/>
          </a:bodyPr>
          <a:lstStyle/>
          <a:p>
            <a:pPr algn="ctr"/>
            <a:r>
              <a:rPr lang="en-US" sz="1400" i="1" dirty="0"/>
              <a:t>McKinsey &amp; Company</a:t>
            </a:r>
          </a:p>
          <a:p>
            <a:pPr algn="ct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105</a:t>
            </a:fld>
            <a:endParaRPr lang="en-US" dirty="0"/>
          </a:p>
        </p:txBody>
      </p:sp>
    </p:spTree>
    <p:extLst>
      <p:ext uri="{BB962C8B-B14F-4D97-AF65-F5344CB8AC3E}">
        <p14:creationId xmlns:p14="http://schemas.microsoft.com/office/powerpoint/2010/main" val="247658881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13: Euro Logistics</a:t>
            </a:r>
          </a:p>
        </p:txBody>
      </p:sp>
      <p:graphicFrame>
        <p:nvGraphicFramePr>
          <p:cNvPr id="12" name="Table 11"/>
          <p:cNvGraphicFramePr>
            <a:graphicFrameLocks noGrp="1"/>
          </p:cNvGraphicFramePr>
          <p:nvPr>
            <p:extLst>
              <p:ext uri="{D42A27DB-BD31-4B8C-83A1-F6EECF244321}">
                <p14:modId xmlns:p14="http://schemas.microsoft.com/office/powerpoint/2010/main" val="288834773"/>
              </p:ext>
            </p:extLst>
          </p:nvPr>
        </p:nvGraphicFramePr>
        <p:xfrm>
          <a:off x="304800" y="1381125"/>
          <a:ext cx="8534400" cy="265176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1" i="0" kern="1200" baseline="0" dirty="0" smtClean="0">
                        <a:solidFill>
                          <a:schemeClr val="tx1"/>
                        </a:solidFill>
                        <a:latin typeface="+mn-lt"/>
                        <a:ea typeface="+mn-ea"/>
                        <a:cs typeface="+mn-cs"/>
                      </a:endParaRPr>
                    </a:p>
                    <a:p>
                      <a:pPr marL="225425" indent="-225425">
                        <a:buFont typeface="Arial" pitchFamily="34" charset="0"/>
                        <a:buChar char="•"/>
                      </a:pPr>
                      <a:r>
                        <a:rPr lang="en-US" sz="1200" b="0" i="0" kern="1200" baseline="0" dirty="0" smtClean="0">
                          <a:solidFill>
                            <a:schemeClr val="tx1"/>
                          </a:solidFill>
                          <a:latin typeface="+mn-lt"/>
                          <a:ea typeface="+mn-ea"/>
                          <a:cs typeface="+mn-cs"/>
                        </a:rPr>
                        <a:t>Provide a MECE framework</a:t>
                      </a:r>
                    </a:p>
                    <a:p>
                      <a:pPr marL="225425" indent="-225425">
                        <a:buFont typeface="Arial" pitchFamily="34" charset="0"/>
                        <a:buChar char="•"/>
                      </a:pPr>
                      <a:r>
                        <a:rPr lang="en-US" sz="1200" b="0" i="0" kern="1200" baseline="0" dirty="0" smtClean="0">
                          <a:solidFill>
                            <a:schemeClr val="tx1"/>
                          </a:solidFill>
                          <a:latin typeface="+mn-lt"/>
                          <a:ea typeface="+mn-ea"/>
                          <a:cs typeface="+mn-cs"/>
                        </a:rPr>
                        <a:t>Understands the charts on the exhibit and correctly recommends that the client focus on Billing and Tracking Orders</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calculates the payback period</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Asks relevant questions right after the first prompt is read</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“Good “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Provides a framework that touches at least 4 points of the company’s value chain</a:t>
                      </a:r>
                    </a:p>
                    <a:p>
                      <a:pPr marL="0" indent="0">
                        <a:buFont typeface="Arial" pitchFamily="34" charset="0"/>
                        <a:buNone/>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106</a:t>
            </a:fld>
            <a:endParaRPr lang="en-US" dirty="0"/>
          </a:p>
        </p:txBody>
      </p:sp>
    </p:spTree>
    <p:extLst>
      <p:ext uri="{BB962C8B-B14F-4D97-AF65-F5344CB8AC3E}">
        <p14:creationId xmlns:p14="http://schemas.microsoft.com/office/powerpoint/2010/main" val="373193044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107</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14: ATM Company</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1476173328"/>
              </p:ext>
            </p:extLst>
          </p:nvPr>
        </p:nvGraphicFramePr>
        <p:xfrm>
          <a:off x="304800" y="1381125"/>
          <a:ext cx="8534400" cy="292608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Our client is a big ATM provider in U.S. For</a:t>
                      </a:r>
                      <a:r>
                        <a:rPr lang="en-US" sz="1200" b="0" i="0" kern="1200" baseline="0" dirty="0" smtClean="0">
                          <a:solidFill>
                            <a:schemeClr val="tx1"/>
                          </a:solidFill>
                          <a:latin typeface="+mj-lt"/>
                          <a:ea typeface="+mn-ea"/>
                          <a:cs typeface="+mn-cs"/>
                        </a:rPr>
                        <a:t> the past 2 years, the number of clients had increased, but the companies profits declined. The client reached us to understand what might be happening and what can they do to grow revenue again.</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How would you approach this problem?</a:t>
                      </a:r>
                    </a:p>
                    <a:p>
                      <a:endParaRPr lang="en-US" sz="1200" b="0" i="0"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This a basic revenue/profitability increase</a:t>
                      </a:r>
                      <a:r>
                        <a:rPr lang="en-US" sz="1200" b="0" i="0" u="none" kern="1200" baseline="0" dirty="0" smtClean="0">
                          <a:solidFill>
                            <a:schemeClr val="tx1"/>
                          </a:solidFill>
                          <a:latin typeface="+mj-lt"/>
                          <a:ea typeface="+mn-ea"/>
                          <a:cs typeface="+mn-cs"/>
                        </a:rPr>
                        <a:t> </a:t>
                      </a:r>
                      <a:r>
                        <a:rPr lang="en-US" sz="1200" b="0" i="0" u="none" kern="1200" dirty="0" smtClean="0">
                          <a:solidFill>
                            <a:schemeClr val="tx1"/>
                          </a:solidFill>
                          <a:latin typeface="+mj-lt"/>
                          <a:ea typeface="+mn-ea"/>
                          <a:cs typeface="+mn-cs"/>
                        </a:rPr>
                        <a:t>case. Provide</a:t>
                      </a:r>
                      <a:r>
                        <a:rPr lang="en-US" sz="1200" b="0" i="0" u="none" kern="1200" baseline="0" dirty="0" smtClean="0">
                          <a:solidFill>
                            <a:schemeClr val="tx1"/>
                          </a:solidFill>
                          <a:latin typeface="+mj-lt"/>
                          <a:ea typeface="+mn-ea"/>
                          <a:cs typeface="+mn-cs"/>
                        </a:rPr>
                        <a:t> the following information upon request: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 client actually provides the ATM service to banks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They install ATM machines in various gas stations, convenience stores, and grocery stores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 banks pay a fixed commission to ATM Company every time that the banks’ customers withdraw cash or check their account balance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 ATM Company is nearly a monopoly in the South (North Carolina, South Carolina, and Virginia). Therefore, direct competition is not an issue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 ATM Company has 3 types of clients: Big, Medium, and Small Banks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108</a:t>
            </a:fld>
            <a:endParaRPr lang="en-US" dirty="0"/>
          </a:p>
        </p:txBody>
      </p:sp>
    </p:spTree>
    <p:extLst>
      <p:ext uri="{BB962C8B-B14F-4D97-AF65-F5344CB8AC3E}">
        <p14:creationId xmlns:p14="http://schemas.microsoft.com/office/powerpoint/2010/main" val="100676211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109</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8691869"/>
              </p:ext>
            </p:extLst>
          </p:nvPr>
        </p:nvGraphicFramePr>
        <p:xfrm>
          <a:off x="304800" y="1295400"/>
          <a:ext cx="8686800" cy="484632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The candidate should use a profit framework,</a:t>
                      </a:r>
                      <a:r>
                        <a:rPr lang="en-US" sz="1200" b="0" i="0" kern="1200" baseline="0" dirty="0" smtClean="0">
                          <a:solidFill>
                            <a:schemeClr val="tx1"/>
                          </a:solidFill>
                          <a:latin typeface="+mj-lt"/>
                          <a:ea typeface="+mn-ea"/>
                          <a:cs typeface="+mn-cs"/>
                        </a:rPr>
                        <a:t> touching on revenues and costs. With costs, nothing has changed in the past.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Ask the candidate to list some important costs in this business (see some cost ideas below).</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Rent (the ATM Company must pay for the space where they install the ATMs)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Sales force (responsible to find good places to install the ATM Machines)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dirty="0" smtClean="0">
                          <a:solidFill>
                            <a:schemeClr val="tx1"/>
                          </a:solidFill>
                          <a:latin typeface="+mj-lt"/>
                          <a:ea typeface="+mn-ea"/>
                          <a:cs typeface="+mn-cs"/>
                        </a:rPr>
                        <a:t>Cost of capital (there are a lot of money</a:t>
                      </a:r>
                      <a:r>
                        <a:rPr lang="en-US" sz="1200" b="0" i="0" kern="1200" baseline="0" dirty="0" smtClean="0">
                          <a:solidFill>
                            <a:schemeClr val="tx1"/>
                          </a:solidFill>
                          <a:latin typeface="+mj-lt"/>
                          <a:ea typeface="+mn-ea"/>
                          <a:cs typeface="+mn-cs"/>
                        </a:rPr>
                        <a:t> inside the ATMs)</a:t>
                      </a:r>
                      <a:endParaRPr lang="en-US" sz="1200" b="0" i="0" kern="120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dirty="0" smtClean="0">
                          <a:solidFill>
                            <a:schemeClr val="tx1"/>
                          </a:solidFill>
                          <a:latin typeface="+mj-lt"/>
                          <a:ea typeface="+mn-ea"/>
                          <a:cs typeface="+mn-cs"/>
                        </a:rPr>
                        <a:t>Logistics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dirty="0" smtClean="0">
                          <a:solidFill>
                            <a:schemeClr val="tx1"/>
                          </a:solidFill>
                          <a:latin typeface="+mj-lt"/>
                          <a:ea typeface="+mn-ea"/>
                          <a:cs typeface="+mn-cs"/>
                        </a:rPr>
                        <a:t>Insurance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When the candidate asks</a:t>
                      </a:r>
                      <a:r>
                        <a:rPr lang="en-US" sz="1200" b="0" i="0" kern="1200" baseline="0" dirty="0" smtClean="0">
                          <a:solidFill>
                            <a:schemeClr val="tx1"/>
                          </a:solidFill>
                          <a:latin typeface="+mj-lt"/>
                          <a:ea typeface="+mn-ea"/>
                          <a:cs typeface="+mn-cs"/>
                        </a:rPr>
                        <a:t> for revenue information, provide Exhibit 1. </a:t>
                      </a:r>
                      <a:r>
                        <a:rPr lang="en-US" sz="1200" b="0" i="0" kern="1200" dirty="0" smtClean="0">
                          <a:solidFill>
                            <a:schemeClr val="tx1"/>
                          </a:solidFill>
                          <a:latin typeface="+mj-lt"/>
                          <a:ea typeface="+mn-ea"/>
                          <a:cs typeface="+mn-cs"/>
                        </a:rPr>
                        <a:t>Ask the candidate to calculate the revenues in 2011.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Calculations: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Allow the candidate to round.</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Average revenue p/ transaction (without rounding): 78% x $0.20 + 16% x $0.25 + 6% x $0.30 =</a:t>
                      </a:r>
                      <a:r>
                        <a:rPr lang="en-US" sz="1200" b="0" kern="1200" baseline="0" dirty="0" smtClean="0">
                          <a:solidFill>
                            <a:schemeClr val="tx1"/>
                          </a:solidFill>
                          <a:latin typeface="+mn-lt"/>
                          <a:ea typeface="+mn-ea"/>
                          <a:cs typeface="+mn-cs"/>
                        </a:rPr>
                        <a:t> $0.214</a:t>
                      </a:r>
                      <a:endParaRPr lang="en-US" sz="1200" b="0" kern="1200" dirty="0" smtClean="0">
                        <a:solidFill>
                          <a:schemeClr val="tx1"/>
                        </a:solidFill>
                        <a:latin typeface="+mn-lt"/>
                        <a:ea typeface="+mn-ea"/>
                        <a:cs typeface="+mn-cs"/>
                        <a:sym typeface="Wingding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Average revenue p/ transaction (rounding):</a:t>
                      </a:r>
                      <a:r>
                        <a:rPr lang="en-US" sz="1200" b="0" kern="1200" dirty="0" smtClean="0">
                          <a:solidFill>
                            <a:schemeClr val="tx1"/>
                          </a:solidFill>
                          <a:latin typeface="+mn-lt"/>
                          <a:ea typeface="+mn-ea"/>
                          <a:cs typeface="+mn-cs"/>
                          <a:sym typeface="Wingdings"/>
                        </a:rPr>
                        <a:t> 80%</a:t>
                      </a:r>
                      <a:r>
                        <a:rPr lang="en-US" sz="1200" b="0" kern="1200" baseline="0" dirty="0" smtClean="0">
                          <a:solidFill>
                            <a:schemeClr val="tx1"/>
                          </a:solidFill>
                          <a:latin typeface="+mn-lt"/>
                          <a:ea typeface="+mn-ea"/>
                          <a:cs typeface="+mn-cs"/>
                          <a:sym typeface="Wingdings"/>
                        </a:rPr>
                        <a:t> </a:t>
                      </a:r>
                      <a:r>
                        <a:rPr lang="en-US" sz="1200" b="0" kern="1200" dirty="0" smtClean="0">
                          <a:solidFill>
                            <a:schemeClr val="tx1"/>
                          </a:solidFill>
                          <a:latin typeface="+mn-lt"/>
                          <a:ea typeface="+mn-ea"/>
                          <a:cs typeface="+mn-cs"/>
                        </a:rPr>
                        <a:t>x $0.20 + 16% x $0.25 + 6% x $0.30 =</a:t>
                      </a:r>
                      <a:r>
                        <a:rPr lang="en-US" sz="1200" b="0" kern="1200" baseline="0" dirty="0" smtClean="0">
                          <a:solidFill>
                            <a:schemeClr val="tx1"/>
                          </a:solidFill>
                          <a:latin typeface="+mn-lt"/>
                          <a:ea typeface="+mn-ea"/>
                          <a:cs typeface="+mn-cs"/>
                        </a:rPr>
                        <a:t> $0.2125</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The revenue per transaction can be further rounded to $0.20</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tx1"/>
                          </a:solidFill>
                          <a:latin typeface="+mn-lt"/>
                          <a:ea typeface="+mn-ea"/>
                          <a:cs typeface="+mn-cs"/>
                        </a:rPr>
                        <a:t>Total revenue = Average Revenue per transaction</a:t>
                      </a:r>
                      <a:r>
                        <a:rPr lang="en-US" sz="1200" b="0" kern="1200" baseline="0" dirty="0" smtClean="0">
                          <a:solidFill>
                            <a:schemeClr val="tx1"/>
                          </a:solidFill>
                          <a:latin typeface="+mn-lt"/>
                          <a:ea typeface="+mn-ea"/>
                          <a:cs typeface="+mn-cs"/>
                        </a:rPr>
                        <a:t> x # of transactions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rPr>
                        <a:t>Total revenue = $0.20 x 245M = $49M </a:t>
                      </a:r>
                      <a:r>
                        <a:rPr lang="en-US" sz="1200" b="0" kern="1200" baseline="0" dirty="0" smtClean="0">
                          <a:solidFill>
                            <a:schemeClr val="tx1"/>
                          </a:solidFill>
                          <a:latin typeface="+mn-lt"/>
                          <a:ea typeface="+mn-ea"/>
                          <a:cs typeface="+mn-cs"/>
                          <a:sym typeface="Wingdings"/>
                        </a:rPr>
                        <a:t> Total Revenue can be rounded to $50M.</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baseline="0" dirty="0" smtClean="0">
                          <a:solidFill>
                            <a:schemeClr val="tx1"/>
                          </a:solidFill>
                          <a:latin typeface="+mn-lt"/>
                          <a:ea typeface="+mn-ea"/>
                          <a:cs typeface="+mn-cs"/>
                          <a:sym typeface="Wingdings"/>
                        </a:rPr>
                        <a:t>Total revenue (un-rounded) = $0.214*245M = $52.43M</a:t>
                      </a: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14: ATM Company</a:t>
            </a:r>
          </a:p>
        </p:txBody>
      </p:sp>
    </p:spTree>
    <p:extLst>
      <p:ext uri="{BB962C8B-B14F-4D97-AF65-F5344CB8AC3E}">
        <p14:creationId xmlns:p14="http://schemas.microsoft.com/office/powerpoint/2010/main" val="117333767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110</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14: ATM Company</a:t>
            </a:r>
          </a:p>
        </p:txBody>
      </p:sp>
      <p:graphicFrame>
        <p:nvGraphicFramePr>
          <p:cNvPr id="2" name="Table 1"/>
          <p:cNvGraphicFramePr>
            <a:graphicFrameLocks noGrp="1"/>
          </p:cNvGraphicFramePr>
          <p:nvPr>
            <p:extLst>
              <p:ext uri="{D42A27DB-BD31-4B8C-83A1-F6EECF244321}">
                <p14:modId xmlns:p14="http://schemas.microsoft.com/office/powerpoint/2010/main" val="1819276044"/>
              </p:ext>
            </p:extLst>
          </p:nvPr>
        </p:nvGraphicFramePr>
        <p:xfrm>
          <a:off x="685800" y="2390001"/>
          <a:ext cx="7543800" cy="1630680"/>
        </p:xfrm>
        <a:graphic>
          <a:graphicData uri="http://schemas.openxmlformats.org/drawingml/2006/table">
            <a:tbl>
              <a:tblPr firstRow="1" bandRow="1">
                <a:tableStyleId>{5C22544A-7EE6-4342-B048-85BDC9FD1C3A}</a:tableStyleId>
              </a:tblPr>
              <a:tblGrid>
                <a:gridCol w="1885950"/>
                <a:gridCol w="1885950"/>
                <a:gridCol w="1885950"/>
                <a:gridCol w="1885950"/>
              </a:tblGrid>
              <a:tr h="370840">
                <a:tc>
                  <a:txBody>
                    <a:bodyPr/>
                    <a:lstStyle/>
                    <a:p>
                      <a:pPr algn="ctr"/>
                      <a:r>
                        <a:rPr lang="en-US" sz="1400" dirty="0" smtClean="0">
                          <a:solidFill>
                            <a:schemeClr val="tx1"/>
                          </a:solidFill>
                        </a:rPr>
                        <a:t>Type of Client</a:t>
                      </a:r>
                      <a:endParaRPr lang="en-US" sz="1400" dirty="0">
                        <a:solidFill>
                          <a:schemeClr val="tx1"/>
                        </a:solidFill>
                      </a:endParaRPr>
                    </a:p>
                  </a:txBody>
                  <a:tcPr anchor="ctr"/>
                </a:tc>
                <a:tc>
                  <a:txBody>
                    <a:bodyPr/>
                    <a:lstStyle/>
                    <a:p>
                      <a:pPr algn="ctr"/>
                      <a:r>
                        <a:rPr lang="en-US" sz="1400" dirty="0" smtClean="0">
                          <a:solidFill>
                            <a:schemeClr val="tx1"/>
                          </a:solidFill>
                        </a:rPr>
                        <a:t>Revenue per Transaction</a:t>
                      </a:r>
                      <a:endParaRPr lang="en-US" sz="1400" dirty="0">
                        <a:solidFill>
                          <a:schemeClr val="tx1"/>
                        </a:solidFill>
                      </a:endParaRPr>
                    </a:p>
                  </a:txBody>
                  <a:tcPr anchor="ctr"/>
                </a:tc>
                <a:tc>
                  <a:txBody>
                    <a:bodyPr/>
                    <a:lstStyle/>
                    <a:p>
                      <a:pPr algn="ctr"/>
                      <a:r>
                        <a:rPr lang="en-US" sz="1400" dirty="0" smtClean="0">
                          <a:solidFill>
                            <a:schemeClr val="tx1"/>
                          </a:solidFill>
                        </a:rPr>
                        <a:t>Number of Clients</a:t>
                      </a:r>
                      <a:endParaRPr lang="en-US" sz="1400" dirty="0">
                        <a:solidFill>
                          <a:schemeClr val="tx1"/>
                        </a:solidFill>
                      </a:endParaRPr>
                    </a:p>
                  </a:txBody>
                  <a:tcPr anchor="ctr"/>
                </a:tc>
                <a:tc>
                  <a:txBody>
                    <a:bodyPr/>
                    <a:lstStyle/>
                    <a:p>
                      <a:pPr algn="ctr"/>
                      <a:r>
                        <a:rPr lang="en-US" sz="1400" dirty="0" smtClean="0">
                          <a:solidFill>
                            <a:schemeClr val="tx1"/>
                          </a:solidFill>
                        </a:rPr>
                        <a:t>% of transactions</a:t>
                      </a:r>
                      <a:endParaRPr lang="en-US" sz="1400" dirty="0">
                        <a:solidFill>
                          <a:schemeClr val="tx1"/>
                        </a:solidFill>
                      </a:endParaRPr>
                    </a:p>
                  </a:txBody>
                  <a:tcPr anchor="ctr"/>
                </a:tc>
              </a:tr>
              <a:tr h="370840">
                <a:tc>
                  <a:txBody>
                    <a:bodyPr/>
                    <a:lstStyle/>
                    <a:p>
                      <a:pPr algn="ctr"/>
                      <a:r>
                        <a:rPr lang="en-US" sz="1400" dirty="0" smtClean="0"/>
                        <a:t>Large</a:t>
                      </a:r>
                      <a:endParaRPr lang="en-US" sz="1400" dirty="0"/>
                    </a:p>
                  </a:txBody>
                  <a:tcPr/>
                </a:tc>
                <a:tc>
                  <a:txBody>
                    <a:bodyPr/>
                    <a:lstStyle/>
                    <a:p>
                      <a:pPr algn="ctr"/>
                      <a:r>
                        <a:rPr lang="en-US" sz="1400" dirty="0" smtClean="0"/>
                        <a:t>$0.20</a:t>
                      </a:r>
                      <a:endParaRPr lang="en-US" sz="1400" dirty="0"/>
                    </a:p>
                  </a:txBody>
                  <a:tcPr/>
                </a:tc>
                <a:tc>
                  <a:txBody>
                    <a:bodyPr/>
                    <a:lstStyle/>
                    <a:p>
                      <a:pPr algn="ctr"/>
                      <a:r>
                        <a:rPr lang="en-US" sz="1400" dirty="0" smtClean="0"/>
                        <a:t>3</a:t>
                      </a:r>
                      <a:endParaRPr lang="en-US" sz="1400" dirty="0"/>
                    </a:p>
                  </a:txBody>
                  <a:tcPr/>
                </a:tc>
                <a:tc>
                  <a:txBody>
                    <a:bodyPr/>
                    <a:lstStyle/>
                    <a:p>
                      <a:pPr algn="ctr"/>
                      <a:r>
                        <a:rPr lang="en-US" sz="1400" dirty="0" smtClean="0"/>
                        <a:t>78%</a:t>
                      </a:r>
                      <a:endParaRPr lang="en-US" sz="1400" dirty="0"/>
                    </a:p>
                  </a:txBody>
                  <a:tcPr/>
                </a:tc>
              </a:tr>
              <a:tr h="370840">
                <a:tc>
                  <a:txBody>
                    <a:bodyPr/>
                    <a:lstStyle/>
                    <a:p>
                      <a:pPr algn="ctr"/>
                      <a:r>
                        <a:rPr lang="en-US" sz="1400" dirty="0" smtClean="0"/>
                        <a:t>Medium</a:t>
                      </a:r>
                      <a:endParaRPr lang="en-US" sz="1400" dirty="0"/>
                    </a:p>
                  </a:txBody>
                  <a:tcPr/>
                </a:tc>
                <a:tc>
                  <a:txBody>
                    <a:bodyPr/>
                    <a:lstStyle/>
                    <a:p>
                      <a:pPr algn="ctr"/>
                      <a:r>
                        <a:rPr lang="en-US" sz="1400" dirty="0" smtClean="0"/>
                        <a:t>$0.25</a:t>
                      </a:r>
                      <a:endParaRPr lang="en-US" sz="1400" dirty="0"/>
                    </a:p>
                  </a:txBody>
                  <a:tcPr/>
                </a:tc>
                <a:tc>
                  <a:txBody>
                    <a:bodyPr/>
                    <a:lstStyle/>
                    <a:p>
                      <a:pPr algn="ctr"/>
                      <a:r>
                        <a:rPr lang="en-US" sz="1400" dirty="0" smtClean="0"/>
                        <a:t>5</a:t>
                      </a:r>
                      <a:endParaRPr lang="en-US" sz="1400" dirty="0"/>
                    </a:p>
                  </a:txBody>
                  <a:tcPr/>
                </a:tc>
                <a:tc>
                  <a:txBody>
                    <a:bodyPr/>
                    <a:lstStyle/>
                    <a:p>
                      <a:pPr algn="ctr"/>
                      <a:r>
                        <a:rPr lang="en-US" sz="1400" dirty="0" smtClean="0"/>
                        <a:t>16%</a:t>
                      </a:r>
                      <a:endParaRPr lang="en-US" sz="1400" dirty="0"/>
                    </a:p>
                  </a:txBody>
                  <a:tcPr/>
                </a:tc>
              </a:tr>
              <a:tr h="370840">
                <a:tc>
                  <a:txBody>
                    <a:bodyPr/>
                    <a:lstStyle/>
                    <a:p>
                      <a:pPr algn="ctr"/>
                      <a:r>
                        <a:rPr lang="en-US" sz="1400" dirty="0" smtClean="0"/>
                        <a:t>Small</a:t>
                      </a:r>
                      <a:endParaRPr lang="en-US" sz="1400" dirty="0"/>
                    </a:p>
                  </a:txBody>
                  <a:tcPr/>
                </a:tc>
                <a:tc>
                  <a:txBody>
                    <a:bodyPr/>
                    <a:lstStyle/>
                    <a:p>
                      <a:pPr algn="ctr"/>
                      <a:r>
                        <a:rPr lang="en-US" sz="1400" dirty="0" smtClean="0"/>
                        <a:t>$0.30</a:t>
                      </a:r>
                      <a:endParaRPr lang="en-US" sz="1400" dirty="0"/>
                    </a:p>
                  </a:txBody>
                  <a:tcPr/>
                </a:tc>
                <a:tc>
                  <a:txBody>
                    <a:bodyPr/>
                    <a:lstStyle/>
                    <a:p>
                      <a:pPr algn="ctr"/>
                      <a:r>
                        <a:rPr lang="en-US" sz="1400" dirty="0" smtClean="0"/>
                        <a:t>13</a:t>
                      </a:r>
                      <a:endParaRPr lang="en-US" sz="1400" dirty="0"/>
                    </a:p>
                  </a:txBody>
                  <a:tcPr/>
                </a:tc>
                <a:tc>
                  <a:txBody>
                    <a:bodyPr/>
                    <a:lstStyle/>
                    <a:p>
                      <a:pPr algn="ctr"/>
                      <a:r>
                        <a:rPr lang="en-US" sz="1400" dirty="0" smtClean="0"/>
                        <a:t>6%</a:t>
                      </a:r>
                      <a:endParaRPr lang="en-US" sz="1400" dirty="0"/>
                    </a:p>
                  </a:txBody>
                  <a:tcPr/>
                </a:tc>
              </a:tr>
            </a:tbl>
          </a:graphicData>
        </a:graphic>
      </p:graphicFrame>
      <p:sp>
        <p:nvSpPr>
          <p:cNvPr id="3" name="TextBox 2"/>
          <p:cNvSpPr txBox="1"/>
          <p:nvPr/>
        </p:nvSpPr>
        <p:spPr>
          <a:xfrm>
            <a:off x="685800" y="4218801"/>
            <a:ext cx="3438111" cy="276999"/>
          </a:xfrm>
          <a:prstGeom prst="rect">
            <a:avLst/>
          </a:prstGeom>
          <a:noFill/>
        </p:spPr>
        <p:txBody>
          <a:bodyPr wrap="none" rtlCol="0">
            <a:spAutoFit/>
          </a:bodyPr>
          <a:lstStyle/>
          <a:p>
            <a:r>
              <a:rPr lang="en-US" sz="1200" dirty="0" smtClean="0"/>
              <a:t>* The number of transactions in 2011 was 245M</a:t>
            </a:r>
            <a:endParaRPr lang="en-US" sz="1200" dirty="0"/>
          </a:p>
        </p:txBody>
      </p:sp>
      <p:sp>
        <p:nvSpPr>
          <p:cNvPr id="4" name="TextBox 3"/>
          <p:cNvSpPr txBox="1"/>
          <p:nvPr/>
        </p:nvSpPr>
        <p:spPr>
          <a:xfrm>
            <a:off x="685800" y="1905000"/>
            <a:ext cx="3874266" cy="307777"/>
          </a:xfrm>
          <a:prstGeom prst="rect">
            <a:avLst/>
          </a:prstGeom>
          <a:noFill/>
        </p:spPr>
        <p:txBody>
          <a:bodyPr wrap="none" rtlCol="0">
            <a:spAutoFit/>
          </a:bodyPr>
          <a:lstStyle/>
          <a:p>
            <a:r>
              <a:rPr lang="en-US" sz="1400" b="1" dirty="0" smtClean="0"/>
              <a:t>Exhibit 1: Summary of transactions in 2011</a:t>
            </a:r>
            <a:endParaRPr lang="en-US" sz="1400" b="1" dirty="0"/>
          </a:p>
        </p:txBody>
      </p:sp>
    </p:spTree>
    <p:extLst>
      <p:ext uri="{BB962C8B-B14F-4D97-AF65-F5344CB8AC3E}">
        <p14:creationId xmlns:p14="http://schemas.microsoft.com/office/powerpoint/2010/main" val="146615489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14: ATM Company</a:t>
            </a:r>
          </a:p>
        </p:txBody>
      </p:sp>
      <p:graphicFrame>
        <p:nvGraphicFramePr>
          <p:cNvPr id="12" name="Table 11"/>
          <p:cNvGraphicFramePr>
            <a:graphicFrameLocks noGrp="1"/>
          </p:cNvGraphicFramePr>
          <p:nvPr>
            <p:extLst>
              <p:ext uri="{D42A27DB-BD31-4B8C-83A1-F6EECF244321}">
                <p14:modId xmlns:p14="http://schemas.microsoft.com/office/powerpoint/2010/main" val="531670022"/>
              </p:ext>
            </p:extLst>
          </p:nvPr>
        </p:nvGraphicFramePr>
        <p:xfrm>
          <a:off x="304800" y="1381125"/>
          <a:ext cx="8534400" cy="42062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After analyzing the competition</a:t>
                      </a:r>
                      <a:r>
                        <a:rPr lang="en-US" sz="1200" b="0" i="0" kern="1200" baseline="0" dirty="0" smtClean="0">
                          <a:solidFill>
                            <a:schemeClr val="tx1"/>
                          </a:solidFill>
                          <a:latin typeface="+mj-lt"/>
                          <a:ea typeface="+mn-ea"/>
                          <a:cs typeface="+mn-cs"/>
                        </a:rPr>
                        <a:t> landscape, your team has realized that the large banks are now offering their own ATM machines in similar locations as ATM Company does.</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What risks does this fact bring to ATM Company? How can ATM company increase its revenues?</a:t>
                      </a:r>
                    </a:p>
                    <a:p>
                      <a:endParaRPr lang="en-US" sz="1200" b="1" i="0"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The candidate should realize that the large banks are now both competitor and customer. This is the reason why revenues and profits have declined.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A major risk that the candidate should bring up is that large banks account for over 70% of ATM Company’s revenue. Competing direct with them might result in bigger losses if one of the large banks break the contract with ATM Company. Large Banks competes fiercely with each other. Therefore, they may install even more ATMs to increase their presence in the region and provide a better service to their clients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Potential solutions: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Focus on medium and small banks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Renegotiate prices (decrease the price to large banks to avoid them installing new ATMs)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Propose exclusivity agreements with top stores, avoiding the entrance of competition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Develop a demographic study to understand where the small and medium bank customers live and install ATMs in those areas</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111</a:t>
            </a:fld>
            <a:endParaRPr lang="en-US" dirty="0"/>
          </a:p>
        </p:txBody>
      </p:sp>
    </p:spTree>
    <p:extLst>
      <p:ext uri="{BB962C8B-B14F-4D97-AF65-F5344CB8AC3E}">
        <p14:creationId xmlns:p14="http://schemas.microsoft.com/office/powerpoint/2010/main" val="140589269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112</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817045584"/>
              </p:ext>
            </p:extLst>
          </p:nvPr>
        </p:nvGraphicFramePr>
        <p:xfrm>
          <a:off x="304800" y="1371600"/>
          <a:ext cx="8534400" cy="301752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Provides a MECE framework</a:t>
                      </a:r>
                    </a:p>
                    <a:p>
                      <a:pPr marL="225425" indent="-225425">
                        <a:buFont typeface="Arial" pitchFamily="34" charset="0"/>
                        <a:buChar char="•"/>
                      </a:pPr>
                      <a:r>
                        <a:rPr lang="en-US" sz="1200" b="0" i="0" kern="1200" baseline="0" dirty="0" smtClean="0">
                          <a:solidFill>
                            <a:schemeClr val="tx1"/>
                          </a:solidFill>
                          <a:latin typeface="+mj-lt"/>
                          <a:ea typeface="+mn-ea"/>
                          <a:cs typeface="+mn-cs"/>
                        </a:rPr>
                        <a:t>Correctly calculates revenue</a:t>
                      </a:r>
                    </a:p>
                    <a:p>
                      <a:pPr marL="225425" indent="-225425">
                        <a:buFont typeface="Arial" pitchFamily="34" charset="0"/>
                        <a:buChar char="•"/>
                      </a:pPr>
                      <a:r>
                        <a:rPr lang="en-US" sz="1200" b="0" i="0" kern="1200" baseline="0" dirty="0" smtClean="0">
                          <a:solidFill>
                            <a:schemeClr val="tx1"/>
                          </a:solidFill>
                          <a:latin typeface="+mj-lt"/>
                          <a:ea typeface="+mn-ea"/>
                          <a:cs typeface="+mn-cs"/>
                        </a:rPr>
                        <a:t>Lists some cost drivers</a:t>
                      </a:r>
                    </a:p>
                    <a:p>
                      <a:pPr marL="225425" indent="-225425">
                        <a:buFont typeface="Arial" pitchFamily="34" charset="0"/>
                        <a:buChar char="•"/>
                      </a:pPr>
                      <a:r>
                        <a:rPr lang="en-US" sz="1200" b="0" i="0" kern="1200" baseline="0" dirty="0" smtClean="0">
                          <a:solidFill>
                            <a:schemeClr val="tx1"/>
                          </a:solidFill>
                          <a:latin typeface="+mj-lt"/>
                          <a:ea typeface="+mn-ea"/>
                          <a:cs typeface="+mn-cs"/>
                        </a:rPr>
                        <a:t>Answers every question of the case</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Quickly identifies the competitive landscape as the main problem</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most corrective actions listed with minimal prompting</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“Good “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Before the second prompt, identifies that most of the revenues comes from only 3 clients</a:t>
                      </a:r>
                    </a:p>
                    <a:p>
                      <a:pPr marL="225425" indent="-225425">
                        <a:buFont typeface="Arial" pitchFamily="34" charset="0"/>
                        <a:buChar char="•"/>
                      </a:pPr>
                      <a:r>
                        <a:rPr lang="en-US" sz="1200" b="0" i="0" kern="1200" baseline="0" dirty="0" smtClean="0">
                          <a:solidFill>
                            <a:schemeClr val="tx1"/>
                          </a:solidFill>
                          <a:latin typeface="+mj-lt"/>
                          <a:ea typeface="+mn-ea"/>
                          <a:cs typeface="+mn-cs"/>
                        </a:rPr>
                        <a:t>Suggests some creative solutions not mentioned in the case</a:t>
                      </a:r>
                    </a:p>
                    <a:p>
                      <a:pPr marL="0" indent="0">
                        <a:buFont typeface="Arial" pitchFamily="34" charset="0"/>
                        <a:buNone/>
                      </a:pPr>
                      <a:endParaRPr lang="en-US" sz="1200" b="0" i="0" kern="1200" baseline="0" dirty="0" smtClean="0">
                        <a:solidFill>
                          <a:schemeClr val="tx1"/>
                        </a:solidFill>
                        <a:latin typeface="+mj-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2"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40974"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14: ATM Company</a:t>
            </a:r>
          </a:p>
        </p:txBody>
      </p:sp>
    </p:spTree>
    <p:extLst>
      <p:ext uri="{BB962C8B-B14F-4D97-AF65-F5344CB8AC3E}">
        <p14:creationId xmlns:p14="http://schemas.microsoft.com/office/powerpoint/2010/main" val="312782827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113</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15: </a:t>
            </a:r>
            <a:r>
              <a:rPr lang="en-US" sz="2400" b="1" dirty="0" err="1" smtClean="0"/>
              <a:t>Pharma</a:t>
            </a:r>
            <a:r>
              <a:rPr lang="en-US" sz="2400" b="1" dirty="0" smtClean="0"/>
              <a:t> Corp</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282263257"/>
              </p:ext>
            </p:extLst>
          </p:nvPr>
        </p:nvGraphicFramePr>
        <p:xfrm>
          <a:off x="304800" y="1381125"/>
          <a:ext cx="8534400" cy="51206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A small pharmaceutical company</a:t>
                      </a:r>
                      <a:r>
                        <a:rPr lang="en-US" sz="1200" b="0" i="0" kern="1200" baseline="0" dirty="0" smtClean="0">
                          <a:solidFill>
                            <a:schemeClr val="tx1"/>
                          </a:solidFill>
                          <a:latin typeface="+mj-lt"/>
                          <a:ea typeface="+mn-ea"/>
                          <a:cs typeface="+mn-cs"/>
                        </a:rPr>
                        <a:t> with $5B in annual revenues and lean operations is looking to invest $2B in its business</a:t>
                      </a:r>
                      <a:r>
                        <a:rPr lang="en-US" sz="1200" b="0" i="0" kern="1200" dirty="0" smtClean="0">
                          <a:solidFill>
                            <a:schemeClr val="tx1"/>
                          </a:solidFill>
                          <a:latin typeface="+mj-lt"/>
                          <a:ea typeface="+mn-ea"/>
                          <a:cs typeface="+mn-cs"/>
                        </a:rPr>
                        <a:t>. </a:t>
                      </a:r>
                    </a:p>
                    <a:p>
                      <a:endParaRPr lang="en-US" sz="1200" b="1" i="0" kern="1200" dirty="0" smtClean="0">
                        <a:solidFill>
                          <a:schemeClr val="tx1"/>
                        </a:solidFill>
                        <a:latin typeface="+mj-lt"/>
                        <a:ea typeface="+mn-ea"/>
                        <a:cs typeface="+mn-cs"/>
                      </a:endParaRPr>
                    </a:p>
                    <a:p>
                      <a:r>
                        <a:rPr lang="en-US" sz="1200" b="1" i="0" kern="1200" dirty="0" smtClean="0">
                          <a:solidFill>
                            <a:schemeClr val="tx1"/>
                          </a:solidFill>
                          <a:latin typeface="+mj-lt"/>
                          <a:ea typeface="+mn-ea"/>
                          <a:cs typeface="+mn-cs"/>
                        </a:rPr>
                        <a:t>What investment</a:t>
                      </a:r>
                      <a:r>
                        <a:rPr lang="en-US" sz="1200" b="1" i="0" kern="1200" baseline="0" dirty="0" smtClean="0">
                          <a:solidFill>
                            <a:schemeClr val="tx1"/>
                          </a:solidFill>
                          <a:latin typeface="+mj-lt"/>
                          <a:ea typeface="+mn-ea"/>
                          <a:cs typeface="+mn-cs"/>
                        </a:rPr>
                        <a:t> opportunities should they be looking at</a:t>
                      </a:r>
                      <a:r>
                        <a:rPr lang="en-US" sz="1200" b="1" i="0" kern="1200" dirty="0" smtClean="0">
                          <a:solidFill>
                            <a:schemeClr val="tx1"/>
                          </a:solidFill>
                          <a:latin typeface="+mj-lt"/>
                          <a:ea typeface="+mn-ea"/>
                          <a:cs typeface="+mn-cs"/>
                        </a:rPr>
                        <a:t>?</a:t>
                      </a:r>
                      <a:endParaRPr lang="en-US" sz="1200" b="1" i="0" kern="1200" baseline="0" dirty="0" smtClean="0">
                        <a:solidFill>
                          <a:schemeClr val="tx1"/>
                        </a:solidFill>
                        <a:latin typeface="+mj-lt"/>
                        <a:ea typeface="+mn-ea"/>
                        <a:cs typeface="+mn-cs"/>
                      </a:endParaRPr>
                    </a:p>
                    <a:p>
                      <a:endParaRPr lang="en-US" sz="1200" b="0" i="1" kern="1200" baseline="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The candidate should ask what the business objective of the investment is. They are looking to grow immediately, but sustainably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 company currently sells approximately 10 FDA regulated products across a number of different therapeutic areas. Their geographic focus is the US. Steer the candidate to focus on US opportunities only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If the candidate asks about in-house drug development capabilities or interest to expand outside of pharmaceutical products (or anything else really), suggest that the CEO is open-minded and wants to hear from you what opportunities may exist for its company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 candidate should provide a framework that touches the different investment opportunities that may exist for this company. Possible options include, but may not be limited to:</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Acquisition of a competitor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Acquisition of a new portfolio compound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Licensing of a new portfolio compound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JV for a new portfolio compound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In-house development of a new compound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Entering the generic market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Entering the diagnostic market or companion diagnostic market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Utilizing capital to increase operational efficiencies and cut costs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114</a:t>
            </a:fld>
            <a:endParaRPr lang="en-US" dirty="0"/>
          </a:p>
        </p:txBody>
      </p:sp>
    </p:spTree>
    <p:extLst>
      <p:ext uri="{BB962C8B-B14F-4D97-AF65-F5344CB8AC3E}">
        <p14:creationId xmlns:p14="http://schemas.microsoft.com/office/powerpoint/2010/main" val="307458714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115</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15982103"/>
              </p:ext>
            </p:extLst>
          </p:nvPr>
        </p:nvGraphicFramePr>
        <p:xfrm>
          <a:off x="304800" y="1295400"/>
          <a:ext cx="8686800" cy="5120640"/>
        </p:xfrm>
        <a:graphic>
          <a:graphicData uri="http://schemas.openxmlformats.org/drawingml/2006/table">
            <a:tbl>
              <a:tblPr firstRow="1" bandRow="1">
                <a:tableStyleId>{616DA210-FB5B-4158-B5E0-FEB733F419BA}</a:tableStyleId>
              </a:tblPr>
              <a:tblGrid>
                <a:gridCol w="14478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Prompt</a:t>
                      </a:r>
                    </a:p>
                  </a:txBody>
                  <a:tcPr anchor="ctr">
                    <a:solidFill>
                      <a:schemeClr val="bg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smtClean="0">
                          <a:solidFill>
                            <a:schemeClr val="tx1"/>
                          </a:solidFill>
                          <a:latin typeface="+mj-lt"/>
                          <a:ea typeface="+mn-ea"/>
                          <a:cs typeface="+mn-cs"/>
                        </a:rPr>
                        <a:t>Let’s take a closer look at the acquisition of a competitor and the acquisition of a new portfolio compound. Could you provide me a table of pros/cons of each option?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txBody>
                  <a:tcPr>
                    <a:solidFill>
                      <a:schemeClr val="bg1"/>
                    </a:solidFill>
                  </a:tcPr>
                </a:tc>
              </a:tr>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baseline="0" dirty="0" smtClean="0">
                        <a:solidFill>
                          <a:schemeClr val="tx1"/>
                        </a:solidFill>
                        <a:latin typeface="+mj-lt"/>
                        <a:ea typeface="+mn-ea"/>
                        <a:cs typeface="+mn-cs"/>
                      </a:endParaRPr>
                    </a:p>
                  </a:txBody>
                  <a:tcPr>
                    <a:solidFill>
                      <a:srgbClr val="CCCCCC"/>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39957"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15: </a:t>
            </a:r>
            <a:r>
              <a:rPr lang="en-US" sz="2400" b="1" dirty="0" err="1"/>
              <a:t>Pharma</a:t>
            </a:r>
            <a:r>
              <a:rPr lang="en-US" sz="2400" b="1" dirty="0"/>
              <a:t> Corp</a:t>
            </a:r>
          </a:p>
        </p:txBody>
      </p:sp>
      <p:sp>
        <p:nvSpPr>
          <p:cNvPr id="17" name="TextBox 16"/>
          <p:cNvSpPr txBox="1"/>
          <p:nvPr/>
        </p:nvSpPr>
        <p:spPr>
          <a:xfrm>
            <a:off x="3164328" y="2440420"/>
            <a:ext cx="2857500" cy="1200329"/>
          </a:xfrm>
          <a:prstGeom prst="rect">
            <a:avLst/>
          </a:prstGeom>
          <a:noFill/>
        </p:spPr>
        <p:txBody>
          <a:bodyPr wrap="square" rtlCol="0">
            <a:spAutoFit/>
          </a:bodyPr>
          <a:lstStyle/>
          <a:p>
            <a:pPr marL="171450" indent="-171450">
              <a:buFont typeface="Arial"/>
              <a:buChar char="•"/>
            </a:pPr>
            <a:r>
              <a:rPr lang="en-US" sz="1200" dirty="0" smtClean="0"/>
              <a:t>Opportunity to increase margins due to reduced competition</a:t>
            </a:r>
          </a:p>
          <a:p>
            <a:pPr marL="171450" indent="-171450">
              <a:buFont typeface="Arial"/>
              <a:buChar char="•"/>
            </a:pPr>
            <a:r>
              <a:rPr lang="en-US" sz="1200" dirty="0" smtClean="0"/>
              <a:t>Potential for access to a drug portfolio and pipeline</a:t>
            </a:r>
          </a:p>
          <a:p>
            <a:pPr marL="171450" indent="-171450">
              <a:buFont typeface="Arial"/>
              <a:buChar char="•"/>
            </a:pPr>
            <a:r>
              <a:rPr lang="en-US" sz="1200" dirty="0" smtClean="0"/>
              <a:t>Corporate customer database</a:t>
            </a:r>
          </a:p>
          <a:p>
            <a:pPr marL="171450" indent="-171450">
              <a:buFont typeface="Arial"/>
              <a:buChar char="•"/>
            </a:pPr>
            <a:r>
              <a:rPr lang="en-US" sz="1200" dirty="0" smtClean="0"/>
              <a:t>Talent pool access</a:t>
            </a:r>
            <a:endParaRPr lang="en-US" sz="1200" dirty="0"/>
          </a:p>
        </p:txBody>
      </p:sp>
      <p:sp>
        <p:nvSpPr>
          <p:cNvPr id="18" name="TextBox 17"/>
          <p:cNvSpPr txBox="1"/>
          <p:nvPr/>
        </p:nvSpPr>
        <p:spPr>
          <a:xfrm>
            <a:off x="6175212" y="3900920"/>
            <a:ext cx="2511598" cy="1015663"/>
          </a:xfrm>
          <a:prstGeom prst="rect">
            <a:avLst/>
          </a:prstGeom>
          <a:noFill/>
        </p:spPr>
        <p:txBody>
          <a:bodyPr wrap="square" rtlCol="0">
            <a:spAutoFit/>
          </a:bodyPr>
          <a:lstStyle/>
          <a:p>
            <a:pPr marL="171450" indent="-171450">
              <a:buFont typeface="Arial"/>
              <a:buChar char="•"/>
            </a:pPr>
            <a:r>
              <a:rPr lang="en-US" sz="1200" dirty="0" smtClean="0"/>
              <a:t>New customers and sales reps will need to be groomed and trained</a:t>
            </a:r>
          </a:p>
          <a:p>
            <a:pPr marL="171450" indent="-171450">
              <a:buFont typeface="Arial"/>
              <a:buChar char="•"/>
            </a:pPr>
            <a:r>
              <a:rPr lang="en-US" sz="1200" dirty="0" smtClean="0"/>
              <a:t>Potentially no in-house expertise in disease area </a:t>
            </a:r>
          </a:p>
        </p:txBody>
      </p:sp>
      <p:sp>
        <p:nvSpPr>
          <p:cNvPr id="19" name="TextBox 18"/>
          <p:cNvSpPr txBox="1"/>
          <p:nvPr/>
        </p:nvSpPr>
        <p:spPr>
          <a:xfrm>
            <a:off x="6175212" y="2440420"/>
            <a:ext cx="2511598" cy="1384995"/>
          </a:xfrm>
          <a:prstGeom prst="rect">
            <a:avLst/>
          </a:prstGeom>
          <a:noFill/>
        </p:spPr>
        <p:txBody>
          <a:bodyPr wrap="square" rtlCol="0">
            <a:spAutoFit/>
          </a:bodyPr>
          <a:lstStyle/>
          <a:p>
            <a:pPr marL="171450" indent="-171450">
              <a:buFont typeface="Arial"/>
              <a:buChar char="•"/>
            </a:pPr>
            <a:r>
              <a:rPr lang="en-US" sz="1200" dirty="0" smtClean="0"/>
              <a:t>Inflates lean operations / backbone, potentially lowering overall margins</a:t>
            </a:r>
          </a:p>
          <a:p>
            <a:pPr marL="171450" indent="-171450">
              <a:buFont typeface="Arial"/>
              <a:buChar char="•"/>
            </a:pPr>
            <a:r>
              <a:rPr lang="en-US" sz="1200" dirty="0" smtClean="0"/>
              <a:t>Integration of products and people required</a:t>
            </a:r>
          </a:p>
          <a:p>
            <a:pPr marL="171450" indent="-171450">
              <a:buFont typeface="Arial"/>
              <a:buChar char="•"/>
            </a:pPr>
            <a:endParaRPr lang="en-US" sz="1200" dirty="0" smtClean="0"/>
          </a:p>
          <a:p>
            <a:pPr marL="171450" indent="-171450">
              <a:buFont typeface="Arial"/>
              <a:buChar char="•"/>
            </a:pPr>
            <a:endParaRPr lang="en-US" sz="1200" dirty="0"/>
          </a:p>
        </p:txBody>
      </p:sp>
      <p:sp>
        <p:nvSpPr>
          <p:cNvPr id="20" name="TextBox 19"/>
          <p:cNvSpPr txBox="1"/>
          <p:nvPr/>
        </p:nvSpPr>
        <p:spPr>
          <a:xfrm>
            <a:off x="3164328" y="3900920"/>
            <a:ext cx="2857500" cy="1384995"/>
          </a:xfrm>
          <a:prstGeom prst="rect">
            <a:avLst/>
          </a:prstGeom>
          <a:noFill/>
        </p:spPr>
        <p:txBody>
          <a:bodyPr wrap="square" rtlCol="0">
            <a:spAutoFit/>
          </a:bodyPr>
          <a:lstStyle/>
          <a:p>
            <a:pPr marL="171450" indent="-171450">
              <a:buFont typeface="Arial"/>
              <a:buChar char="•"/>
            </a:pPr>
            <a:r>
              <a:rPr lang="en-US" sz="1200" dirty="0" smtClean="0"/>
              <a:t>Opportunity to select compound(s) that best balance growth/risk/company position and overall company portfolio composition</a:t>
            </a:r>
          </a:p>
          <a:p>
            <a:pPr marL="171450" indent="-171450">
              <a:buFont typeface="Arial"/>
              <a:buChar char="•"/>
            </a:pPr>
            <a:r>
              <a:rPr lang="en-US" sz="1200" dirty="0" smtClean="0"/>
              <a:t>No or limited overhead associated with purchase </a:t>
            </a:r>
          </a:p>
        </p:txBody>
      </p:sp>
      <p:sp>
        <p:nvSpPr>
          <p:cNvPr id="21" name="TextBox 20"/>
          <p:cNvSpPr txBox="1"/>
          <p:nvPr/>
        </p:nvSpPr>
        <p:spPr>
          <a:xfrm>
            <a:off x="1889008" y="2608868"/>
            <a:ext cx="1562100" cy="461665"/>
          </a:xfrm>
          <a:prstGeom prst="rect">
            <a:avLst/>
          </a:prstGeom>
          <a:noFill/>
        </p:spPr>
        <p:txBody>
          <a:bodyPr wrap="square" rtlCol="0">
            <a:spAutoFit/>
          </a:bodyPr>
          <a:lstStyle/>
          <a:p>
            <a:r>
              <a:rPr lang="en-US" sz="1200" b="1" dirty="0" smtClean="0"/>
              <a:t>Competitor</a:t>
            </a:r>
          </a:p>
          <a:p>
            <a:r>
              <a:rPr lang="en-US" sz="1200" b="1" dirty="0" smtClean="0"/>
              <a:t>Acquisition</a:t>
            </a:r>
            <a:endParaRPr lang="en-US" sz="1200" b="1" dirty="0"/>
          </a:p>
        </p:txBody>
      </p:sp>
      <p:sp>
        <p:nvSpPr>
          <p:cNvPr id="22" name="TextBox 21"/>
          <p:cNvSpPr txBox="1"/>
          <p:nvPr/>
        </p:nvSpPr>
        <p:spPr>
          <a:xfrm>
            <a:off x="3164328" y="2085157"/>
            <a:ext cx="2857500" cy="276999"/>
          </a:xfrm>
          <a:prstGeom prst="rect">
            <a:avLst/>
          </a:prstGeom>
          <a:noFill/>
        </p:spPr>
        <p:txBody>
          <a:bodyPr wrap="square" rtlCol="0">
            <a:spAutoFit/>
          </a:bodyPr>
          <a:lstStyle/>
          <a:p>
            <a:r>
              <a:rPr lang="en-US" sz="1200" b="1" dirty="0" smtClean="0"/>
              <a:t>Pros</a:t>
            </a:r>
            <a:endParaRPr lang="en-US" sz="1200" b="1" dirty="0"/>
          </a:p>
        </p:txBody>
      </p:sp>
      <p:sp>
        <p:nvSpPr>
          <p:cNvPr id="23" name="TextBox 22"/>
          <p:cNvSpPr txBox="1"/>
          <p:nvPr/>
        </p:nvSpPr>
        <p:spPr>
          <a:xfrm>
            <a:off x="6175212" y="2085157"/>
            <a:ext cx="2511598" cy="276999"/>
          </a:xfrm>
          <a:prstGeom prst="rect">
            <a:avLst/>
          </a:prstGeom>
          <a:noFill/>
        </p:spPr>
        <p:txBody>
          <a:bodyPr wrap="square" rtlCol="0">
            <a:spAutoFit/>
          </a:bodyPr>
          <a:lstStyle/>
          <a:p>
            <a:r>
              <a:rPr lang="en-US" sz="1200" b="1" dirty="0" smtClean="0"/>
              <a:t>Cons</a:t>
            </a:r>
            <a:endParaRPr lang="en-US" sz="1200" b="1" dirty="0"/>
          </a:p>
        </p:txBody>
      </p:sp>
      <p:sp>
        <p:nvSpPr>
          <p:cNvPr id="24" name="TextBox 23"/>
          <p:cNvSpPr txBox="1"/>
          <p:nvPr/>
        </p:nvSpPr>
        <p:spPr>
          <a:xfrm>
            <a:off x="1889008" y="4173200"/>
            <a:ext cx="1562100" cy="461665"/>
          </a:xfrm>
          <a:prstGeom prst="rect">
            <a:avLst/>
          </a:prstGeom>
          <a:noFill/>
        </p:spPr>
        <p:txBody>
          <a:bodyPr wrap="square" rtlCol="0">
            <a:spAutoFit/>
          </a:bodyPr>
          <a:lstStyle/>
          <a:p>
            <a:r>
              <a:rPr lang="en-US" sz="1200" b="1" dirty="0" smtClean="0"/>
              <a:t>New Drug</a:t>
            </a:r>
          </a:p>
          <a:p>
            <a:r>
              <a:rPr lang="en-US" sz="1200" b="1" dirty="0" smtClean="0"/>
              <a:t>Acquisition</a:t>
            </a:r>
            <a:endParaRPr lang="en-US" sz="1200" b="1" dirty="0"/>
          </a:p>
        </p:txBody>
      </p:sp>
      <p:sp>
        <p:nvSpPr>
          <p:cNvPr id="25" name="TextBox 24"/>
          <p:cNvSpPr txBox="1"/>
          <p:nvPr/>
        </p:nvSpPr>
        <p:spPr>
          <a:xfrm>
            <a:off x="2116557" y="5355410"/>
            <a:ext cx="6631405" cy="830997"/>
          </a:xfrm>
          <a:prstGeom prst="rect">
            <a:avLst/>
          </a:prstGeom>
          <a:noFill/>
        </p:spPr>
        <p:txBody>
          <a:bodyPr wrap="square" rtlCol="0">
            <a:spAutoFit/>
          </a:bodyPr>
          <a:lstStyle/>
          <a:p>
            <a:pPr marL="171450" indent="-171450">
              <a:buFont typeface="Arial"/>
              <a:buChar char="•"/>
            </a:pPr>
            <a:r>
              <a:rPr lang="en-US" sz="1200" dirty="0" smtClean="0"/>
              <a:t>Numerous other valid arguments can be made here in favor or against each option. A candidate can distinguish himself here, by proactively pointing out trade-offs, keeping the company’s lean operating model in mind, thinking high-level ($2B investment is 40% of current revenues) and structuring thoughts clearly and easy to follow for the interviewer.   </a:t>
            </a:r>
          </a:p>
        </p:txBody>
      </p:sp>
    </p:spTree>
    <p:extLst>
      <p:ext uri="{BB962C8B-B14F-4D97-AF65-F5344CB8AC3E}">
        <p14:creationId xmlns:p14="http://schemas.microsoft.com/office/powerpoint/2010/main" val="267486618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15: </a:t>
            </a:r>
            <a:r>
              <a:rPr lang="en-US" sz="2400" b="1" dirty="0" err="1"/>
              <a:t>Pharma</a:t>
            </a:r>
            <a:r>
              <a:rPr lang="en-US" sz="2400" b="1" dirty="0"/>
              <a:t> Corp</a:t>
            </a:r>
          </a:p>
        </p:txBody>
      </p:sp>
      <p:graphicFrame>
        <p:nvGraphicFramePr>
          <p:cNvPr id="12" name="Table 11"/>
          <p:cNvGraphicFramePr>
            <a:graphicFrameLocks noGrp="1"/>
          </p:cNvGraphicFramePr>
          <p:nvPr>
            <p:extLst>
              <p:ext uri="{D42A27DB-BD31-4B8C-83A1-F6EECF244321}">
                <p14:modId xmlns:p14="http://schemas.microsoft.com/office/powerpoint/2010/main" val="1069566026"/>
              </p:ext>
            </p:extLst>
          </p:nvPr>
        </p:nvGraphicFramePr>
        <p:xfrm>
          <a:off x="304800" y="1381125"/>
          <a:ext cx="8534400" cy="42062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err="1" smtClean="0">
                          <a:solidFill>
                            <a:schemeClr val="tx1"/>
                          </a:solidFill>
                          <a:latin typeface="+mj-lt"/>
                          <a:ea typeface="+mn-ea"/>
                          <a:cs typeface="+mn-cs"/>
                        </a:rPr>
                        <a:t>Pharma</a:t>
                      </a:r>
                      <a:r>
                        <a:rPr lang="en-US" sz="1200" b="0" i="0" kern="1200" dirty="0" smtClean="0">
                          <a:solidFill>
                            <a:schemeClr val="tx1"/>
                          </a:solidFill>
                          <a:latin typeface="+mj-lt"/>
                          <a:ea typeface="+mn-ea"/>
                          <a:cs typeface="+mn-cs"/>
                        </a:rPr>
                        <a:t> Corp.</a:t>
                      </a:r>
                      <a:r>
                        <a:rPr lang="en-US" sz="1200" b="0" i="0" kern="1200" baseline="0" dirty="0" smtClean="0">
                          <a:solidFill>
                            <a:schemeClr val="tx1"/>
                          </a:solidFill>
                          <a:latin typeface="+mj-lt"/>
                          <a:ea typeface="+mn-ea"/>
                          <a:cs typeface="+mn-cs"/>
                        </a:rPr>
                        <a:t>’s CEO thinks that the acquisition a specific new drug could really strengthen the companies overall portfolio. He has already done some research and is fairly positive that they could buy this drug for $2B.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baseline="0" dirty="0" smtClean="0">
                          <a:solidFill>
                            <a:schemeClr val="tx1"/>
                          </a:solidFill>
                          <a:latin typeface="+mj-lt"/>
                          <a:ea typeface="+mn-ea"/>
                          <a:cs typeface="+mn-cs"/>
                        </a:rPr>
                        <a:t>How would you go about valuing this drug?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Let the candidate brainstorm a bit (NPV,</a:t>
                      </a:r>
                      <a:r>
                        <a:rPr lang="en-US" sz="1200" b="0" i="0" kern="1200" baseline="0" dirty="0" smtClean="0">
                          <a:solidFill>
                            <a:schemeClr val="tx1"/>
                          </a:solidFill>
                          <a:latin typeface="+mn-lt"/>
                          <a:ea typeface="+mn-ea"/>
                          <a:cs typeface="+mn-cs"/>
                        </a:rPr>
                        <a:t> competitive valuation, etc.)</a:t>
                      </a:r>
                      <a:r>
                        <a:rPr lang="en-US" sz="1200" b="0" i="0" kern="1200" dirty="0" smtClean="0">
                          <a:solidFill>
                            <a:schemeClr val="tx1"/>
                          </a:solidFill>
                          <a:latin typeface="+mn-lt"/>
                          <a:ea typeface="+mn-ea"/>
                          <a:cs typeface="+mn-cs"/>
                        </a:rPr>
                        <a:t> </a:t>
                      </a:r>
                      <a:r>
                        <a:rPr lang="en-US" sz="1200" b="0" i="0" kern="1200" baseline="0" dirty="0" smtClean="0">
                          <a:solidFill>
                            <a:schemeClr val="tx1"/>
                          </a:solidFill>
                          <a:latin typeface="+mn-lt"/>
                          <a:ea typeface="+mn-ea"/>
                          <a:cs typeface="+mn-cs"/>
                        </a:rPr>
                        <a:t>before you provide information, if he/she starts mentioning data that would allow him to value the company, begin to provide the following information.</a:t>
                      </a:r>
                      <a:r>
                        <a:rPr lang="en-US" sz="1200" b="0" i="0" kern="1200" baseline="0" dirty="0" smtClean="0">
                          <a:solidFill>
                            <a:schemeClr val="tx1"/>
                          </a:solidFill>
                          <a:latin typeface="+mj-lt"/>
                          <a:ea typeface="+mn-ea"/>
                          <a:cs typeface="+mn-cs"/>
                        </a:rPr>
                        <a:t> Provide the following information: </a:t>
                      </a:r>
                      <a:endParaRPr lang="en-US" sz="1200" b="0" i="0" kern="120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Patient base: 150,000 (assume that is steady)</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Patient dose: Twice daily, for life (irrelevant, just to add confusion)</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For the 30-day supply, patient Co-Pay is $30 and equals 10% of total drug price (health insurance covers the remainder 90%)</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Net Margin: 75%</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Competition: there’s only one competitor with a marginally inferior product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j-lt"/>
                          <a:ea typeface="+mn-ea"/>
                          <a:cs typeface="+mn-cs"/>
                        </a:rPr>
                        <a:t>Expected market-share: since the competitor’s drug is only marginally inferior, the CEO expect to acquire 50% of the market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Tell the candidate to calculate expected profits in year 1. If the candidate asks for sales beyond year 1, tell them that p</a:t>
                      </a:r>
                      <a:r>
                        <a:rPr lang="en-US" sz="1200" b="0" i="0" kern="1200" baseline="0" dirty="0" smtClean="0">
                          <a:solidFill>
                            <a:schemeClr val="tx1"/>
                          </a:solidFill>
                          <a:latin typeface="+mn-lt"/>
                          <a:ea typeface="+mn-ea"/>
                          <a:cs typeface="+mn-cs"/>
                        </a:rPr>
                        <a:t>atent life of 10 years remaining, expecting similar sales. For simplicity’s sake, no discounting is assumed.</a:t>
                      </a:r>
                      <a:r>
                        <a:rPr lang="en-US" sz="1200" b="0" i="0" kern="1200" baseline="0" dirty="0" smtClean="0">
                          <a:solidFill>
                            <a:schemeClr val="tx1"/>
                          </a:solidFill>
                          <a:latin typeface="+mj-lt"/>
                          <a:ea typeface="+mn-ea"/>
                          <a:cs typeface="+mn-cs"/>
                        </a:rPr>
                        <a:t>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116</a:t>
            </a:fld>
            <a:endParaRPr lang="en-US" dirty="0"/>
          </a:p>
        </p:txBody>
      </p:sp>
    </p:spTree>
    <p:extLst>
      <p:ext uri="{BB962C8B-B14F-4D97-AF65-F5344CB8AC3E}">
        <p14:creationId xmlns:p14="http://schemas.microsoft.com/office/powerpoint/2010/main" val="201070251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15: </a:t>
            </a:r>
            <a:r>
              <a:rPr lang="en-US" sz="2400" b="1" dirty="0" err="1"/>
              <a:t>Pharma</a:t>
            </a:r>
            <a:r>
              <a:rPr lang="en-US" sz="2400" b="1" dirty="0"/>
              <a:t> Corp</a:t>
            </a:r>
          </a:p>
        </p:txBody>
      </p:sp>
      <p:graphicFrame>
        <p:nvGraphicFramePr>
          <p:cNvPr id="12" name="Table 11"/>
          <p:cNvGraphicFramePr>
            <a:graphicFrameLocks noGrp="1"/>
          </p:cNvGraphicFramePr>
          <p:nvPr>
            <p:extLst>
              <p:ext uri="{D42A27DB-BD31-4B8C-83A1-F6EECF244321}">
                <p14:modId xmlns:p14="http://schemas.microsoft.com/office/powerpoint/2010/main" val="2817520372"/>
              </p:ext>
            </p:extLst>
          </p:nvPr>
        </p:nvGraphicFramePr>
        <p:xfrm>
          <a:off x="304800" y="1381125"/>
          <a:ext cx="8534400" cy="1920240"/>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b="1" baseline="0" dirty="0" smtClean="0"/>
                        <a:t>Guidance</a:t>
                      </a:r>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Monthly revenues: 150,000 patients x $300 cost per patient = $45,000,000 per month</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Since you have there is competitor whose drug is marginally inferior, you can capture half the market: $22,500,000 per month</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Yearly revenues: $22.5M *12 = $270M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Yearly profit: $270M*0.75 = $202.5M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10- year profit = ~$2B</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solidFill>
                      <a:srgbClr val="CCCCCC"/>
                    </a:solidFill>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117</a:t>
            </a:fld>
            <a:endParaRPr lang="en-US" dirty="0"/>
          </a:p>
        </p:txBody>
      </p:sp>
    </p:spTree>
    <p:extLst>
      <p:ext uri="{BB962C8B-B14F-4D97-AF65-F5344CB8AC3E}">
        <p14:creationId xmlns:p14="http://schemas.microsoft.com/office/powerpoint/2010/main" val="165845379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15: </a:t>
            </a:r>
            <a:r>
              <a:rPr lang="en-US" sz="2400" b="1" dirty="0" err="1"/>
              <a:t>Pharma</a:t>
            </a:r>
            <a:r>
              <a:rPr lang="en-US" sz="2400" b="1" dirty="0"/>
              <a:t> Corp</a:t>
            </a:r>
          </a:p>
        </p:txBody>
      </p:sp>
      <p:graphicFrame>
        <p:nvGraphicFramePr>
          <p:cNvPr id="12" name="Table 11"/>
          <p:cNvGraphicFramePr>
            <a:graphicFrameLocks noGrp="1"/>
          </p:cNvGraphicFramePr>
          <p:nvPr>
            <p:extLst>
              <p:ext uri="{D42A27DB-BD31-4B8C-83A1-F6EECF244321}">
                <p14:modId xmlns:p14="http://schemas.microsoft.com/office/powerpoint/2010/main" val="1182731812"/>
              </p:ext>
            </p:extLst>
          </p:nvPr>
        </p:nvGraphicFramePr>
        <p:xfrm>
          <a:off x="304800" y="1381125"/>
          <a:ext cx="8534400" cy="22301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endParaRPr lang="en-US" sz="1200" b="0" i="1" kern="1200" dirty="0" smtClean="0">
                        <a:solidFill>
                          <a:schemeClr val="tx1"/>
                        </a:solidFill>
                        <a:latin typeface="+mj-lt"/>
                        <a:ea typeface="+mn-ea"/>
                        <a:cs typeface="+mn-cs"/>
                      </a:endParaRPr>
                    </a:p>
                    <a:p>
                      <a:r>
                        <a:rPr lang="en-US" sz="1200" b="1" i="0" kern="1200" dirty="0" smtClean="0">
                          <a:solidFill>
                            <a:schemeClr val="tx1"/>
                          </a:solidFill>
                          <a:latin typeface="+mj-lt"/>
                          <a:ea typeface="+mn-ea"/>
                          <a:cs typeface="+mn-cs"/>
                        </a:rPr>
                        <a:t>Do you think this is a good investment opportunity?</a:t>
                      </a:r>
                      <a:endParaRPr lang="en-US" sz="1200" b="1" i="0" kern="1200" baseline="0" dirty="0" smtClean="0">
                        <a:solidFill>
                          <a:schemeClr val="tx1"/>
                        </a:solidFill>
                        <a:latin typeface="+mj-lt"/>
                        <a:ea typeface="+mn-ea"/>
                        <a:cs typeface="+mn-cs"/>
                      </a:endParaRPr>
                    </a:p>
                  </a:txBody>
                  <a:tcPr/>
                </a:tc>
              </a:tr>
              <a:tr h="159173">
                <a:tc>
                  <a:txBody>
                    <a:bodyPr/>
                    <a:lstStyle/>
                    <a:p>
                      <a:pPr algn="ctr"/>
                      <a:r>
                        <a:rPr lang="en-US" b="1" baseline="0" dirty="0" smtClean="0"/>
                        <a:t>Guidance</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j-lt"/>
                          <a:ea typeface="+mn-ea"/>
                          <a:cs typeface="+mn-cs"/>
                        </a:rPr>
                        <a:t>The candidate is expected to bring up the following:</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i="0" kern="1200" baseline="0" dirty="0" smtClean="0">
                          <a:solidFill>
                            <a:schemeClr val="tx1"/>
                          </a:solidFill>
                          <a:latin typeface="+mj-lt"/>
                          <a:ea typeface="+mn-ea"/>
                          <a:cs typeface="+mn-cs"/>
                        </a:rPr>
                        <a:t>Pros: This could be a profitable business if the client can achieve significantly more than 50% market penetration, increases the margin or finds additional indications that widen the patient pool</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i="0" kern="1200" baseline="0" dirty="0" smtClean="0">
                          <a:solidFill>
                            <a:schemeClr val="tx1"/>
                          </a:solidFill>
                          <a:latin typeface="+mj-lt"/>
                          <a:ea typeface="+mn-ea"/>
                          <a:cs typeface="+mn-cs"/>
                        </a:rPr>
                        <a:t>Cons: Under current assumptions, the full investment is returned after 10 years when discounting is ignored. In reality the NPV would be significantly below $2B and profits would decline rapidly after patent expiration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118</a:t>
            </a:fld>
            <a:endParaRPr lang="en-US" dirty="0"/>
          </a:p>
        </p:txBody>
      </p:sp>
    </p:spTree>
    <p:extLst>
      <p:ext uri="{BB962C8B-B14F-4D97-AF65-F5344CB8AC3E}">
        <p14:creationId xmlns:p14="http://schemas.microsoft.com/office/powerpoint/2010/main" val="37180207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15: </a:t>
            </a:r>
            <a:r>
              <a:rPr lang="en-US" sz="2400" b="1" dirty="0" err="1"/>
              <a:t>Pharma</a:t>
            </a:r>
            <a:r>
              <a:rPr lang="en-US" sz="2400" b="1" dirty="0"/>
              <a:t> Corp</a:t>
            </a:r>
          </a:p>
        </p:txBody>
      </p:sp>
      <p:graphicFrame>
        <p:nvGraphicFramePr>
          <p:cNvPr id="12" name="Table 11"/>
          <p:cNvGraphicFramePr>
            <a:graphicFrameLocks noGrp="1"/>
          </p:cNvGraphicFramePr>
          <p:nvPr>
            <p:extLst>
              <p:ext uri="{D42A27DB-BD31-4B8C-83A1-F6EECF244321}">
                <p14:modId xmlns:p14="http://schemas.microsoft.com/office/powerpoint/2010/main" val="3584092576"/>
              </p:ext>
            </p:extLst>
          </p:nvPr>
        </p:nvGraphicFramePr>
        <p:xfrm>
          <a:off x="304800" y="1381125"/>
          <a:ext cx="8534400" cy="30175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sz="1800" b="1" i="0" kern="1200" dirty="0" smtClean="0">
                          <a:solidFill>
                            <a:schemeClr val="tx1"/>
                          </a:solidFill>
                          <a:latin typeface="+mn-lt"/>
                          <a:ea typeface="+mn-ea"/>
                          <a:cs typeface="+mn-cs"/>
                        </a:rPr>
                        <a:t>Performance Evaluation</a:t>
                      </a:r>
                      <a:endParaRPr lang="en-US" sz="1800" b="1" i="0" kern="1200" dirty="0">
                        <a:solidFill>
                          <a:schemeClr val="tx1"/>
                        </a:solidFill>
                        <a:latin typeface="+mn-lt"/>
                        <a:ea typeface="+mn-ea"/>
                        <a:cs typeface="+mn-cs"/>
                      </a:endParaRPr>
                    </a:p>
                  </a:txBody>
                  <a:tcPr anchor="ctr"/>
                </a:tc>
                <a:tc>
                  <a:txBody>
                    <a:bodyPr/>
                    <a:lstStyle/>
                    <a:p>
                      <a:r>
                        <a:rPr lang="en-US" sz="1200" b="1" i="0" kern="1200" dirty="0" smtClean="0">
                          <a:solidFill>
                            <a:schemeClr val="tx1"/>
                          </a:solidFill>
                          <a:latin typeface="+mn-lt"/>
                          <a:ea typeface="+mn-ea"/>
                          <a:cs typeface="+mn-cs"/>
                        </a:rPr>
                        <a:t>Expected:</a:t>
                      </a:r>
                      <a:endParaRPr lang="en-US" sz="1200" b="0" i="0" kern="1200" baseline="0" dirty="0" smtClean="0">
                        <a:solidFill>
                          <a:schemeClr val="tx1"/>
                        </a:solidFill>
                        <a:latin typeface="+mn-lt"/>
                        <a:ea typeface="+mn-ea"/>
                        <a:cs typeface="+mn-cs"/>
                      </a:endParaRPr>
                    </a:p>
                    <a:p>
                      <a:pPr marL="225425" indent="-225425">
                        <a:buFont typeface="Arial" pitchFamily="34" charset="0"/>
                        <a:buChar char="•"/>
                      </a:pPr>
                      <a:r>
                        <a:rPr lang="en-US" sz="1200" b="0" i="0" kern="1200" baseline="0" dirty="0" smtClean="0">
                          <a:solidFill>
                            <a:schemeClr val="tx1"/>
                          </a:solidFill>
                          <a:latin typeface="+mn-lt"/>
                          <a:ea typeface="+mn-ea"/>
                          <a:cs typeface="+mn-cs"/>
                        </a:rPr>
                        <a:t>Provides a MECE framework, mentioning some growth options (investing within the company, acquire a competitor, expand internationally, partner with another company, etc.)</a:t>
                      </a:r>
                    </a:p>
                    <a:p>
                      <a:pPr marL="225425" indent="-225425">
                        <a:buFont typeface="Arial" pitchFamily="34" charset="0"/>
                        <a:buChar char="•"/>
                      </a:pPr>
                      <a:r>
                        <a:rPr lang="en-US" sz="1200" b="0" i="0" kern="1200" baseline="0" dirty="0" smtClean="0">
                          <a:solidFill>
                            <a:schemeClr val="tx1"/>
                          </a:solidFill>
                          <a:latin typeface="+mn-lt"/>
                          <a:ea typeface="+mn-ea"/>
                          <a:cs typeface="+mn-cs"/>
                        </a:rPr>
                        <a:t>Correctly answer all questions</a:t>
                      </a:r>
                    </a:p>
                    <a:p>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Quickly identifies that acquiring a competitor will not be a good deal for the client</a:t>
                      </a:r>
                    </a:p>
                    <a:p>
                      <a:pPr marL="225425" indent="-225425">
                        <a:buFont typeface="Arial" pitchFamily="34" charset="0"/>
                        <a:buChar char="•"/>
                      </a:pPr>
                      <a:r>
                        <a:rPr lang="pt-BR" sz="1200" b="0" i="0" kern="1200" baseline="0" dirty="0" smtClean="0">
                          <a:solidFill>
                            <a:schemeClr val="tx1"/>
                          </a:solidFill>
                          <a:latin typeface="+mn-lt"/>
                          <a:ea typeface="+mn-ea"/>
                          <a:cs typeface="+mn-cs"/>
                        </a:rPr>
                        <a:t>Asks relevant clarifying questions right after the prompt is given</a:t>
                      </a:r>
                      <a:endParaRPr lang="en-US" sz="1200" b="0" i="0" kern="1200" baseline="0" dirty="0" smtClean="0">
                        <a:solidFill>
                          <a:schemeClr val="tx1"/>
                        </a:solidFill>
                        <a:latin typeface="+mn-lt"/>
                        <a:ea typeface="+mn-ea"/>
                        <a:cs typeface="+mn-cs"/>
                      </a:endParaRPr>
                    </a:p>
                    <a:p>
                      <a:pPr marL="225425" indent="-225425">
                        <a:buFont typeface="Arial" pitchFamily="34" charset="0"/>
                        <a:buChar char="•"/>
                      </a:pPr>
                      <a:endParaRPr lang="en-US" sz="1200" b="1" i="0" kern="1200" baseline="0" dirty="0" smtClean="0">
                        <a:solidFill>
                          <a:schemeClr val="tx1"/>
                        </a:solidFill>
                        <a:latin typeface="+mn-lt"/>
                        <a:ea typeface="+mn-ea"/>
                        <a:cs typeface="+mn-cs"/>
                      </a:endParaRPr>
                    </a:p>
                    <a:p>
                      <a:r>
                        <a:rPr lang="en-US" sz="1200" b="1" i="0" kern="1200" baseline="0" dirty="0" smtClean="0">
                          <a:solidFill>
                            <a:schemeClr val="tx1"/>
                          </a:solidFill>
                          <a:latin typeface="+mn-lt"/>
                          <a:ea typeface="+mn-ea"/>
                          <a:cs typeface="+mn-cs"/>
                        </a:rPr>
                        <a:t>Excellent:</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“Good “ requirements</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Correctly calculates all parts of this case with minimum assistance from the interviewer</a:t>
                      </a:r>
                    </a:p>
                    <a:p>
                      <a:pPr marL="225425" indent="-225425">
                        <a:buFont typeface="Arial" pitchFamily="34" charset="0"/>
                        <a:buChar char="•"/>
                      </a:pPr>
                      <a:r>
                        <a:rPr lang="en-US" sz="1200" b="0" i="0" kern="1200" baseline="0" dirty="0" smtClean="0">
                          <a:solidFill>
                            <a:schemeClr val="tx1"/>
                          </a:solidFill>
                          <a:latin typeface="+mn-lt"/>
                          <a:ea typeface="+mn-ea"/>
                          <a:cs typeface="+mn-cs"/>
                        </a:rPr>
                        <a:t>Keeps the interviewer engaged during the calculations and brainstorm sessions, demonstrating strong communication skills</a:t>
                      </a:r>
                    </a:p>
                    <a:p>
                      <a:pPr marL="225425" indent="-225425">
                        <a:buFont typeface="Arial" pitchFamily="34" charset="0"/>
                        <a:buChar cha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a:t>Strategy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119</a:t>
            </a:fld>
            <a:endParaRPr lang="en-US" dirty="0"/>
          </a:p>
        </p:txBody>
      </p:sp>
      <p:sp>
        <p:nvSpPr>
          <p:cNvPr id="7"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McKinsey &amp; Company</a:t>
            </a:r>
          </a:p>
        </p:txBody>
      </p:sp>
    </p:spTree>
    <p:extLst>
      <p:ext uri="{BB962C8B-B14F-4D97-AF65-F5344CB8AC3E}">
        <p14:creationId xmlns:p14="http://schemas.microsoft.com/office/powerpoint/2010/main" val="4041130948"/>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120</a:t>
            </a:fld>
            <a:endParaRPr lang="en-US" dirty="0"/>
          </a:p>
        </p:txBody>
      </p:sp>
    </p:spTree>
    <p:extLst>
      <p:ext uri="{BB962C8B-B14F-4D97-AF65-F5344CB8AC3E}">
        <p14:creationId xmlns:p14="http://schemas.microsoft.com/office/powerpoint/2010/main" val="6802068"/>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16: Blackouts in Uganda</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184298352"/>
              </p:ext>
            </p:extLst>
          </p:nvPr>
        </p:nvGraphicFramePr>
        <p:xfrm>
          <a:off x="304800" y="1381125"/>
          <a:ext cx="8534400" cy="521208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Guidance</a:t>
                      </a:r>
                      <a:endParaRPr lang="en-US" dirty="0"/>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This is a multi-step case which will encourage the student to think creatively through several stages of a case that they likely have little background in.  Encourage candidates that formal frameworks are not really required for this case (as is the case in many BCG interviews) but can be used if they think it would be helpful.  Additional time should not be allowed for a candidate to build a framework for any of these prompts.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chemeClr val="tx1"/>
                        </a:solidFill>
                        <a:latin typeface="+mj-lt"/>
                        <a:ea typeface="+mn-ea"/>
                        <a:cs typeface="+mn-cs"/>
                      </a:endParaRPr>
                    </a:p>
                  </a:txBody>
                  <a:tcPr>
                    <a:solidFill>
                      <a:srgbClr val="CCCCCC"/>
                    </a:solidFill>
                  </a:tcPr>
                </a:tc>
              </a:tr>
              <a:tr h="159173">
                <a:tc>
                  <a:txBody>
                    <a:bodyPr/>
                    <a:lstStyle/>
                    <a:p>
                      <a:pPr algn="ctr"/>
                      <a:r>
                        <a:rPr lang="en-US" b="1" i="0" dirty="0" smtClean="0"/>
                        <a:t>Prompt A</a:t>
                      </a:r>
                      <a:endParaRPr lang="en-US" sz="1000" i="0" dirty="0"/>
                    </a:p>
                  </a:txBody>
                  <a:tcPr anchor="ctr">
                    <a:solidFill>
                      <a:schemeClr val="bg1"/>
                    </a:solidFill>
                  </a:tcPr>
                </a:tc>
                <a:tc>
                  <a:txBody>
                    <a:bodyPr/>
                    <a:lstStyle/>
                    <a:p>
                      <a:pPr lvl="0"/>
                      <a:r>
                        <a:rPr lang="en-US" sz="1200" kern="1200" dirty="0" smtClean="0">
                          <a:solidFill>
                            <a:schemeClr val="tx1"/>
                          </a:solidFill>
                          <a:effectLst/>
                          <a:latin typeface="+mn-lt"/>
                          <a:ea typeface="+mn-ea"/>
                          <a:cs typeface="+mn-cs"/>
                        </a:rPr>
                        <a:t>Many non-OECD countries suffer from frequent blackouts and shortages in electricity. This is a known fact.</a:t>
                      </a:r>
                      <a:r>
                        <a:rPr lang="en-US" sz="1200" kern="1200" baseline="0" dirty="0" smtClean="0">
                          <a:solidFill>
                            <a:schemeClr val="tx1"/>
                          </a:solidFill>
                          <a:effectLst/>
                          <a:latin typeface="+mn-lt"/>
                          <a:ea typeface="+mn-ea"/>
                          <a:cs typeface="+mn-cs"/>
                        </a:rPr>
                        <a:t> </a:t>
                      </a:r>
                    </a:p>
                    <a:p>
                      <a:pPr lvl="0"/>
                      <a:endParaRPr lang="en-US" sz="1200" kern="1200" baseline="0" dirty="0" smtClean="0">
                        <a:solidFill>
                          <a:schemeClr val="tx1"/>
                        </a:solidFill>
                        <a:effectLst/>
                        <a:latin typeface="+mn-lt"/>
                        <a:ea typeface="+mn-ea"/>
                        <a:cs typeface="+mn-cs"/>
                      </a:endParaRPr>
                    </a:p>
                    <a:p>
                      <a:pPr lvl="0"/>
                      <a:r>
                        <a:rPr lang="en-US" sz="1200" b="1" kern="1200" baseline="0" dirty="0" smtClean="0">
                          <a:solidFill>
                            <a:schemeClr val="tx1"/>
                          </a:solidFill>
                          <a:effectLst/>
                          <a:latin typeface="+mn-lt"/>
                          <a:ea typeface="+mn-ea"/>
                          <a:cs typeface="+mn-cs"/>
                        </a:rPr>
                        <a:t>L</a:t>
                      </a:r>
                      <a:r>
                        <a:rPr lang="en-US" sz="1200" b="1" kern="1200" dirty="0" smtClean="0">
                          <a:solidFill>
                            <a:schemeClr val="tx1"/>
                          </a:solidFill>
                          <a:effectLst/>
                          <a:latin typeface="+mn-lt"/>
                          <a:ea typeface="+mn-ea"/>
                          <a:cs typeface="+mn-cs"/>
                        </a:rPr>
                        <a:t>ist at least 3 reasons for why electricity shortages occur and may</a:t>
                      </a:r>
                      <a:r>
                        <a:rPr lang="en-US" sz="1200" b="1" kern="1200" baseline="0" dirty="0" smtClean="0">
                          <a:solidFill>
                            <a:schemeClr val="tx1"/>
                          </a:solidFill>
                          <a:effectLst/>
                          <a:latin typeface="+mn-lt"/>
                          <a:ea typeface="+mn-ea"/>
                          <a:cs typeface="+mn-cs"/>
                        </a:rPr>
                        <a:t> be</a:t>
                      </a:r>
                      <a:r>
                        <a:rPr lang="en-US" sz="1200" b="1" kern="1200" dirty="0" smtClean="0">
                          <a:solidFill>
                            <a:schemeClr val="tx1"/>
                          </a:solidFill>
                          <a:effectLst/>
                          <a:latin typeface="+mn-lt"/>
                          <a:ea typeface="+mn-ea"/>
                          <a:cs typeface="+mn-cs"/>
                        </a:rPr>
                        <a:t> more frequent in non-OECD countries. </a:t>
                      </a:r>
                    </a:p>
                    <a:p>
                      <a:pPr lvl="0"/>
                      <a:endParaRPr lang="en-US" sz="1200" kern="1200" dirty="0" smtClean="0">
                        <a:solidFill>
                          <a:schemeClr val="tx1"/>
                        </a:solidFill>
                        <a:effectLst/>
                        <a:latin typeface="+mn-lt"/>
                        <a:ea typeface="+mn-ea"/>
                        <a:cs typeface="+mn-cs"/>
                      </a:endParaRPr>
                    </a:p>
                  </a:txBody>
                  <a:tcPr>
                    <a:solidFill>
                      <a:schemeClr val="bg1"/>
                    </a:solidFill>
                  </a:tcPr>
                </a:tc>
              </a:tr>
              <a:tr h="159173">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Encourage the candidate to think through and list as many reasons as they can think of.  Feel free to ask them to elaborate or explain any reason further. Note: OECD countries include all wealthy European and North American countries as well as Australia and New Zealand.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Possible answers: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Poor infrastructure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Inefficient electrical grids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Lack of adequate funding available to finance investment in electrical</a:t>
                      </a:r>
                      <a:r>
                        <a:rPr lang="en-US" sz="1200" b="0" i="0" kern="1200" baseline="0" dirty="0" smtClean="0">
                          <a:solidFill>
                            <a:schemeClr val="tx1"/>
                          </a:solidFill>
                          <a:effectLst/>
                          <a:latin typeface="+mn-lt"/>
                          <a:ea typeface="+mn-ea"/>
                          <a:cs typeface="+mn-cs"/>
                        </a:rPr>
                        <a:t> infrastructure (build power plants, etc.)</a:t>
                      </a:r>
                      <a:r>
                        <a:rPr lang="en-US" sz="1200" b="0" i="0" kern="1200" dirty="0" smtClean="0">
                          <a:solidFill>
                            <a:schemeClr val="tx1"/>
                          </a:solidFill>
                          <a:effectLst/>
                          <a:latin typeface="+mn-lt"/>
                          <a:ea typeface="+mn-ea"/>
                          <a:cs typeface="+mn-cs"/>
                        </a:rPr>
                        <a:t>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Large population growth</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Rapid industrialization</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High GDP growth that has outpaced investment in the electricity infrastructure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Natural disasters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effectLst/>
                          <a:latin typeface="+mn-lt"/>
                          <a:ea typeface="+mn-ea"/>
                          <a:cs typeface="+mn-cs"/>
                        </a:rPr>
                        <a:t>Old</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power plants</a:t>
                      </a:r>
                      <a:r>
                        <a:rPr lang="en-US" sz="1200" b="0" i="0" kern="1200" baseline="0" dirty="0" smtClean="0">
                          <a:solidFill>
                            <a:schemeClr val="tx1"/>
                          </a:solidFill>
                          <a:effectLst/>
                          <a:latin typeface="+mn-lt"/>
                          <a:ea typeface="+mn-ea"/>
                          <a:cs typeface="+mn-cs"/>
                        </a:rPr>
                        <a:t> unable to meet current demand or may require frequent maintenance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n-lt"/>
                        <a:ea typeface="+mn-ea"/>
                        <a:cs typeface="+mn-cs"/>
                      </a:endParaRPr>
                    </a:p>
                  </a:txBody>
                  <a:tcPr>
                    <a:solidFill>
                      <a:srgbClr val="CCCCCC"/>
                    </a:solidFill>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121</a:t>
            </a:fld>
            <a:endParaRPr lang="en-US" dirty="0"/>
          </a:p>
        </p:txBody>
      </p:sp>
    </p:spTree>
    <p:extLst>
      <p:ext uri="{BB962C8B-B14F-4D97-AF65-F5344CB8AC3E}">
        <p14:creationId xmlns:p14="http://schemas.microsoft.com/office/powerpoint/2010/main" val="159882704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16: Blackouts in Uganda</a:t>
            </a:r>
          </a:p>
        </p:txBody>
      </p:sp>
      <p:graphicFrame>
        <p:nvGraphicFramePr>
          <p:cNvPr id="12" name="Table 11"/>
          <p:cNvGraphicFramePr>
            <a:graphicFrameLocks noGrp="1"/>
          </p:cNvGraphicFramePr>
          <p:nvPr>
            <p:extLst>
              <p:ext uri="{D42A27DB-BD31-4B8C-83A1-F6EECF244321}">
                <p14:modId xmlns:p14="http://schemas.microsoft.com/office/powerpoint/2010/main" val="3219256262"/>
              </p:ext>
            </p:extLst>
          </p:nvPr>
        </p:nvGraphicFramePr>
        <p:xfrm>
          <a:off x="304800" y="1381125"/>
          <a:ext cx="8534400" cy="4379595"/>
        </p:xfrm>
        <a:graphic>
          <a:graphicData uri="http://schemas.openxmlformats.org/drawingml/2006/table">
            <a:tbl>
              <a:tblPr firstRow="1" bandRow="1">
                <a:tableStyleId>{616DA210-FB5B-4158-B5E0-FEB733F419BA}</a:tableStyleId>
              </a:tblPr>
              <a:tblGrid>
                <a:gridCol w="1600200"/>
                <a:gridCol w="6934200"/>
              </a:tblGrid>
              <a:tr h="447675">
                <a:tc>
                  <a:txBody>
                    <a:bodyPr/>
                    <a:lstStyle/>
                    <a:p>
                      <a:pPr algn="ctr"/>
                      <a:r>
                        <a:rPr lang="en-US" b="1" i="0" dirty="0" smtClean="0"/>
                        <a:t>Prompt B</a:t>
                      </a:r>
                      <a:endParaRPr lang="en-US" sz="1000" i="0" dirty="0"/>
                    </a:p>
                  </a:txBody>
                  <a:tcPr anchor="ctr"/>
                </a:tc>
                <a:tc>
                  <a:txBody>
                    <a:bodyPr/>
                    <a:lstStyle/>
                    <a:p>
                      <a:pPr fontAlgn="auto">
                        <a:spcAft>
                          <a:spcPts val="0"/>
                        </a:spcAft>
                        <a:buFont typeface="Arial"/>
                        <a:buNone/>
                        <a:defRPr/>
                      </a:pPr>
                      <a:r>
                        <a:rPr lang="en-US" sz="1200" b="1" dirty="0" smtClean="0">
                          <a:ea typeface="+mn-ea"/>
                          <a:cs typeface="+mn-cs"/>
                        </a:rPr>
                        <a:t>Why</a:t>
                      </a:r>
                      <a:r>
                        <a:rPr lang="en-US" sz="1200" b="1" baseline="0" dirty="0" smtClean="0">
                          <a:ea typeface="+mn-ea"/>
                          <a:cs typeface="+mn-cs"/>
                        </a:rPr>
                        <a:t> is the lack of electricity such a serious problem?</a:t>
                      </a:r>
                      <a:endParaRPr lang="en-US" sz="1200" b="0" dirty="0" smtClean="0">
                        <a:ea typeface="+mn-ea"/>
                        <a:cs typeface="+mn-cs"/>
                      </a:endParaRPr>
                    </a:p>
                  </a:txBody>
                  <a:tcPr/>
                </a:tc>
              </a:tr>
              <a:tr h="159173">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Encourage the candidate to think beyond the basic answer that no power = no television, no light etc.  Ideally, the candidate will delve deeper into the “so what” here and recognize some of the deeper implications of power outages.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No power will result in:</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Lower productivity</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Poorer education, healthcare, quality of life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Limited access to information</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Political instability (see below)</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Further clarification: </a:t>
                      </a:r>
                      <a:r>
                        <a:rPr lang="en-US" sz="1200" b="0" i="0" kern="1200" dirty="0" smtClean="0">
                          <a:solidFill>
                            <a:schemeClr val="tx1"/>
                          </a:solidFill>
                          <a:effectLst/>
                          <a:latin typeface="+mn-lt"/>
                          <a:ea typeface="+mn-ea"/>
                          <a:cs typeface="+mn-cs"/>
                        </a:rPr>
                        <a:t>Access to electricity has essentially become a right and a necessity for the current generation. People living anywhere except maybe the poorest countries in the world are demanding access to not only food, water and shelter but also electricity.  For example, much of Africa gained access to cellular phones before landlines and as such the massive increase in the use of electrical products (phones, computers, TVs, radios) has been a primary driver for the shortage in electricity worldwide. Perhaps more dangerous is that blackouts and shortages have the potential to create significant instability for a government. Access to electricity means access to information and limiting a population’s access to information can spur revolt. As</a:t>
                      </a:r>
                      <a:r>
                        <a:rPr lang="en-US" sz="1200" b="0" i="0" kern="1200" baseline="0" dirty="0" smtClean="0">
                          <a:solidFill>
                            <a:schemeClr val="tx1"/>
                          </a:solidFill>
                          <a:effectLst/>
                          <a:latin typeface="+mn-lt"/>
                          <a:ea typeface="+mn-ea"/>
                          <a:cs typeface="+mn-cs"/>
                        </a:rPr>
                        <a:t> a result of these implications, rental power providers have seen their industry grow massively over the last decade with projects of the industry doubling every 3-4 years.</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1"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122</a:t>
            </a:fld>
            <a:endParaRPr lang="en-US" dirty="0"/>
          </a:p>
        </p:txBody>
      </p:sp>
    </p:spTree>
    <p:extLst>
      <p:ext uri="{BB962C8B-B14F-4D97-AF65-F5344CB8AC3E}">
        <p14:creationId xmlns:p14="http://schemas.microsoft.com/office/powerpoint/2010/main" val="254375333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16: Blackouts in Uganda</a:t>
            </a:r>
          </a:p>
        </p:txBody>
      </p:sp>
      <p:graphicFrame>
        <p:nvGraphicFramePr>
          <p:cNvPr id="12" name="Table 11"/>
          <p:cNvGraphicFramePr>
            <a:graphicFrameLocks noGrp="1"/>
          </p:cNvGraphicFramePr>
          <p:nvPr>
            <p:extLst>
              <p:ext uri="{D42A27DB-BD31-4B8C-83A1-F6EECF244321}">
                <p14:modId xmlns:p14="http://schemas.microsoft.com/office/powerpoint/2010/main" val="1180494064"/>
              </p:ext>
            </p:extLst>
          </p:nvPr>
        </p:nvGraphicFramePr>
        <p:xfrm>
          <a:off x="304800" y="1381125"/>
          <a:ext cx="8534400" cy="493776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b="1" i="0" dirty="0" smtClean="0"/>
                        <a:t>Prompt C</a:t>
                      </a:r>
                      <a:endParaRPr lang="en-US" sz="1000" i="0" dirty="0"/>
                    </a:p>
                  </a:txBody>
                  <a:tcPr anchor="ctr"/>
                </a:tc>
                <a:tc>
                  <a:txBody>
                    <a:bodyPr/>
                    <a:lstStyle/>
                    <a:p>
                      <a:pPr lvl="0"/>
                      <a:r>
                        <a:rPr lang="en-US" sz="1200" b="0" kern="1200" dirty="0" smtClean="0">
                          <a:solidFill>
                            <a:schemeClr val="tx1"/>
                          </a:solidFill>
                          <a:effectLst/>
                          <a:latin typeface="+mn-lt"/>
                          <a:ea typeface="+mn-ea"/>
                          <a:cs typeface="+mn-cs"/>
                        </a:rPr>
                        <a:t>Following the massive earthquake in Japan in 2011, there were significant power shortages in the country as a result of the TEPCO nuclear reactors going offline due to significant damage.  In fact, Japan was left with a deficit of nearly 2 </a:t>
                      </a:r>
                      <a:r>
                        <a:rPr lang="en-US" sz="1200" b="0" kern="1200" dirty="0" err="1" smtClean="0">
                          <a:solidFill>
                            <a:schemeClr val="tx1"/>
                          </a:solidFill>
                          <a:effectLst/>
                          <a:latin typeface="+mn-lt"/>
                          <a:ea typeface="+mn-ea"/>
                          <a:cs typeface="+mn-cs"/>
                        </a:rPr>
                        <a:t>gigawatts</a:t>
                      </a:r>
                      <a:r>
                        <a:rPr lang="en-US" sz="1200" b="0" kern="1200" dirty="0" smtClean="0">
                          <a:solidFill>
                            <a:schemeClr val="tx1"/>
                          </a:solidFill>
                          <a:effectLst/>
                          <a:latin typeface="+mn-lt"/>
                          <a:ea typeface="+mn-ea"/>
                          <a:cs typeface="+mn-cs"/>
                        </a:rPr>
                        <a:t> due to this disaster (1 GW = 1000 MW).  To bridge this gap, Japan turned to rental power providers which were able to provide 2000MW of temporary power</a:t>
                      </a:r>
                      <a:r>
                        <a:rPr lang="en-US" sz="1200" b="0" kern="1200" baseline="0" dirty="0" smtClean="0">
                          <a:solidFill>
                            <a:schemeClr val="tx1"/>
                          </a:solidFill>
                          <a:effectLst/>
                          <a:latin typeface="+mn-lt"/>
                          <a:ea typeface="+mn-ea"/>
                          <a:cs typeface="+mn-cs"/>
                        </a:rPr>
                        <a:t> within 3 months.</a:t>
                      </a:r>
                      <a:r>
                        <a:rPr lang="en-US" sz="1200" b="0" kern="1200" dirty="0" smtClean="0">
                          <a:solidFill>
                            <a:schemeClr val="tx1"/>
                          </a:solidFill>
                          <a:effectLst/>
                          <a:latin typeface="+mn-lt"/>
                          <a:ea typeface="+mn-ea"/>
                          <a:cs typeface="+mn-cs"/>
                        </a:rPr>
                        <a:t>  Similarly, many rapidly developing countries utilize the same rental power providers to help bridge the gap in their own electrical infrastructures.  Due to many of the reasons in prompt A, the demand for power is high and while rental power providers have been extremely successful and profitable in providing power to electrical utilities in these countries, it is estimated that the market is as much as 10x larger than initially expected.</a:t>
                      </a:r>
                    </a:p>
                    <a:p>
                      <a:pPr lvl="0"/>
                      <a:endParaRPr lang="en-US" sz="1200" b="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List 5 or more data points that you would require to determine which countries a rental power provider should prioritize.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1" kern="1200" dirty="0" smtClean="0">
                        <a:solidFill>
                          <a:schemeClr val="tx1"/>
                        </a:solidFill>
                        <a:effectLst/>
                        <a:latin typeface="+mn-lt"/>
                        <a:ea typeface="+mn-ea"/>
                        <a:cs typeface="+mn-cs"/>
                      </a:endParaRPr>
                    </a:p>
                  </a:txBody>
                  <a:tcPr/>
                </a:tc>
              </a:tr>
              <a:tr h="159173">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If necessary, clarify the question by rephrasing: How would you decide which countries would be the most profitable for a rental power provider? There are a number of variables that are useful for this analysis and the candidate should get at least 5.</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Basic: population, population growth, </a:t>
                      </a:r>
                      <a:r>
                        <a:rPr lang="en-US" sz="1200" b="0" i="0" kern="1200" baseline="0" dirty="0" smtClean="0">
                          <a:solidFill>
                            <a:schemeClr val="tx1"/>
                          </a:solidFill>
                          <a:latin typeface="+mn-lt"/>
                          <a:ea typeface="+mn-ea"/>
                          <a:cs typeface="+mn-cs"/>
                        </a:rPr>
                        <a:t>per capita GDP, GDP, GDP growth</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Intermediate: fossil fuel production, energy generation/consumption, power outages per year</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j-lt"/>
                          <a:ea typeface="+mn-ea"/>
                          <a:cs typeface="+mn-cs"/>
                        </a:rPr>
                        <a:t>Advanced: % of electrical production from hydroelectric power plants (see next prompts for clarity), electrical grid utilization rates (high grid utilization means a greater likelihood of blackouts during peak loading periods), political and financial risk levels (many international organizations rank countries by this), corruption levels </a:t>
                      </a:r>
                      <a:r>
                        <a:rPr lang="en-US" sz="1200" b="0" i="0" kern="1200" baseline="0" dirty="0" smtClean="0">
                          <a:solidFill>
                            <a:schemeClr val="tx1"/>
                          </a:solidFill>
                          <a:latin typeface="+mn-lt"/>
                          <a:ea typeface="+mn-ea"/>
                          <a:cs typeface="+mn-cs"/>
                        </a:rPr>
                        <a:t>(many international organizations rank countries by this).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123</a:t>
            </a:fld>
            <a:endParaRPr lang="en-US" dirty="0"/>
          </a:p>
        </p:txBody>
      </p:sp>
    </p:spTree>
    <p:extLst>
      <p:ext uri="{BB962C8B-B14F-4D97-AF65-F5344CB8AC3E}">
        <p14:creationId xmlns:p14="http://schemas.microsoft.com/office/powerpoint/2010/main" val="391931354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16: Blackouts in Uganda</a:t>
            </a:r>
          </a:p>
        </p:txBody>
      </p:sp>
      <p:graphicFrame>
        <p:nvGraphicFramePr>
          <p:cNvPr id="12" name="Table 11"/>
          <p:cNvGraphicFramePr>
            <a:graphicFrameLocks noGrp="1"/>
          </p:cNvGraphicFramePr>
          <p:nvPr>
            <p:extLst>
              <p:ext uri="{D42A27DB-BD31-4B8C-83A1-F6EECF244321}">
                <p14:modId xmlns:p14="http://schemas.microsoft.com/office/powerpoint/2010/main" val="2075189667"/>
              </p:ext>
            </p:extLst>
          </p:nvPr>
        </p:nvGraphicFramePr>
        <p:xfrm>
          <a:off x="304800" y="1381125"/>
          <a:ext cx="8534400" cy="186436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b="1" i="0" dirty="0" smtClean="0"/>
                        <a:t>Prompt D</a:t>
                      </a:r>
                      <a:endParaRPr lang="en-US" sz="1000" i="0" dirty="0"/>
                    </a:p>
                  </a:txBody>
                  <a:tcPr anchor="ctr"/>
                </a:tc>
                <a:tc>
                  <a:txBody>
                    <a:bodyPr/>
                    <a:lstStyle/>
                    <a:p>
                      <a:pPr lvl="0"/>
                      <a:r>
                        <a:rPr lang="en-US" sz="1200" b="1" kern="1200" dirty="0" smtClean="0">
                          <a:solidFill>
                            <a:schemeClr val="tx1"/>
                          </a:solidFill>
                          <a:effectLst/>
                          <a:latin typeface="+mn-lt"/>
                          <a:ea typeface="+mn-ea"/>
                          <a:cs typeface="+mn-cs"/>
                        </a:rPr>
                        <a:t>The Uganda Electricity</a:t>
                      </a:r>
                      <a:r>
                        <a:rPr lang="en-US" sz="1200" b="1" kern="1200" baseline="0" dirty="0" smtClean="0">
                          <a:solidFill>
                            <a:schemeClr val="tx1"/>
                          </a:solidFill>
                          <a:effectLst/>
                          <a:latin typeface="+mn-lt"/>
                          <a:ea typeface="+mn-ea"/>
                          <a:cs typeface="+mn-cs"/>
                        </a:rPr>
                        <a:t> Transmission Company </a:t>
                      </a:r>
                      <a:r>
                        <a:rPr lang="en-US" sz="1200" b="1" kern="1200" dirty="0" smtClean="0">
                          <a:solidFill>
                            <a:schemeClr val="tx1"/>
                          </a:solidFill>
                          <a:effectLst/>
                          <a:latin typeface="+mn-lt"/>
                          <a:ea typeface="+mn-ea"/>
                          <a:cs typeface="+mn-cs"/>
                        </a:rPr>
                        <a:t> (UETCL) is suffering from severe electrical shortages due to recent droughts.  Why might this be?</a:t>
                      </a:r>
                    </a:p>
                  </a:txBody>
                  <a:tcPr/>
                </a:tc>
              </a:tr>
              <a:tr h="159173">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tc>
                <a:tc>
                  <a:txBody>
                    <a:bodyPr/>
                    <a:lstStyle/>
                    <a:p>
                      <a:r>
                        <a:rPr lang="en-US" sz="1200" b="0" kern="1200" dirty="0" smtClean="0">
                          <a:solidFill>
                            <a:schemeClr val="tx1"/>
                          </a:solidFill>
                          <a:effectLst/>
                          <a:latin typeface="+mn-lt"/>
                          <a:ea typeface="+mn-ea"/>
                          <a:cs typeface="+mn-cs"/>
                        </a:rPr>
                        <a:t>It</a:t>
                      </a:r>
                      <a:r>
                        <a:rPr lang="en-US" sz="1200" b="0" kern="1200" baseline="0" dirty="0" smtClean="0">
                          <a:solidFill>
                            <a:schemeClr val="tx1"/>
                          </a:solidFill>
                          <a:effectLst/>
                          <a:latin typeface="+mn-lt"/>
                          <a:ea typeface="+mn-ea"/>
                          <a:cs typeface="+mn-cs"/>
                        </a:rPr>
                        <a:t> is not expected of the candidate to figure this out without any guidance. </a:t>
                      </a:r>
                      <a:r>
                        <a:rPr lang="en-US" sz="1200" b="0" kern="1200" dirty="0" smtClean="0">
                          <a:solidFill>
                            <a:schemeClr val="tx1"/>
                          </a:solidFill>
                          <a:effectLst/>
                          <a:latin typeface="+mn-lt"/>
                          <a:ea typeface="+mn-ea"/>
                          <a:cs typeface="+mn-cs"/>
                        </a:rPr>
                        <a:t>If</a:t>
                      </a:r>
                      <a:r>
                        <a:rPr lang="en-US" sz="1200" b="0" kern="1200" baseline="0" dirty="0" smtClean="0">
                          <a:solidFill>
                            <a:schemeClr val="tx1"/>
                          </a:solidFill>
                          <a:effectLst/>
                          <a:latin typeface="+mn-lt"/>
                          <a:ea typeface="+mn-ea"/>
                          <a:cs typeface="+mn-cs"/>
                        </a:rPr>
                        <a:t> the candidate is struggling, or asks inform them that Uganda produces 99% of their electricity through hydroelectric power. </a:t>
                      </a:r>
                      <a:r>
                        <a:rPr lang="en-US" sz="1200" b="0" kern="1200" dirty="0" smtClean="0">
                          <a:solidFill>
                            <a:schemeClr val="tx1"/>
                          </a:solidFill>
                          <a:effectLst/>
                          <a:latin typeface="+mn-lt"/>
                          <a:ea typeface="+mn-ea"/>
                          <a:cs typeface="+mn-cs"/>
                        </a:rPr>
                        <a:t>Clearly,</a:t>
                      </a:r>
                      <a:r>
                        <a:rPr lang="en-US" sz="1200" b="0" kern="1200" baseline="0" dirty="0" smtClean="0">
                          <a:solidFill>
                            <a:schemeClr val="tx1"/>
                          </a:solidFill>
                          <a:effectLst/>
                          <a:latin typeface="+mn-lt"/>
                          <a:ea typeface="+mn-ea"/>
                          <a:cs typeface="+mn-cs"/>
                        </a:rPr>
                        <a:t> </a:t>
                      </a:r>
                      <a:r>
                        <a:rPr lang="en-US" sz="1200" b="0" kern="1200" dirty="0" smtClean="0">
                          <a:solidFill>
                            <a:schemeClr val="tx1"/>
                          </a:solidFill>
                          <a:effectLst/>
                          <a:latin typeface="+mn-lt"/>
                          <a:ea typeface="+mn-ea"/>
                          <a:cs typeface="+mn-cs"/>
                        </a:rPr>
                        <a:t>Uganda is heavily reliant upon hydroelectric power. In times of drought, water levels are lower, rivers flow more slowly, etc. and as a result the amount of electricity that can be generated is significantly lower.</a:t>
                      </a:r>
                    </a:p>
                    <a:p>
                      <a:endParaRPr lang="en-US" sz="1200" b="0" kern="1200" dirty="0" smtClean="0">
                        <a:solidFill>
                          <a:schemeClr val="tx1"/>
                        </a:solidFill>
                        <a:effectLst/>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124</a:t>
            </a:fld>
            <a:endParaRPr lang="en-US" dirty="0"/>
          </a:p>
        </p:txBody>
      </p:sp>
    </p:spTree>
    <p:extLst>
      <p:ext uri="{BB962C8B-B14F-4D97-AF65-F5344CB8AC3E}">
        <p14:creationId xmlns:p14="http://schemas.microsoft.com/office/powerpoint/2010/main" val="1798900324"/>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16: Blackouts in Uganda</a:t>
            </a:r>
          </a:p>
        </p:txBody>
      </p:sp>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125</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608354226"/>
              </p:ext>
            </p:extLst>
          </p:nvPr>
        </p:nvGraphicFramePr>
        <p:xfrm>
          <a:off x="304800" y="1511757"/>
          <a:ext cx="8534400" cy="332740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b="1" i="0" dirty="0" smtClean="0"/>
                        <a:t>Prompt E</a:t>
                      </a:r>
                      <a:endParaRPr lang="en-US" sz="1000" i="0" dirty="0"/>
                    </a:p>
                  </a:txBody>
                  <a:tcPr anchor="ctr"/>
                </a:tc>
                <a:tc>
                  <a:txBody>
                    <a:bodyPr/>
                    <a:lstStyle/>
                    <a:p>
                      <a:pPr lvl="0"/>
                      <a:r>
                        <a:rPr lang="en-US" sz="1200" b="1" kern="1200" dirty="0" smtClean="0">
                          <a:solidFill>
                            <a:schemeClr val="tx1"/>
                          </a:solidFill>
                          <a:effectLst/>
                          <a:latin typeface="+mn-lt"/>
                          <a:ea typeface="+mn-ea"/>
                          <a:cs typeface="+mn-cs"/>
                        </a:rPr>
                        <a:t>Is it possible to forecast how much power the UETCL will require during</a:t>
                      </a:r>
                      <a:r>
                        <a:rPr lang="en-US" sz="1200" b="1" kern="1200" baseline="0" dirty="0" smtClean="0">
                          <a:solidFill>
                            <a:schemeClr val="tx1"/>
                          </a:solidFill>
                          <a:effectLst/>
                          <a:latin typeface="+mn-lt"/>
                          <a:ea typeface="+mn-ea"/>
                          <a:cs typeface="+mn-cs"/>
                        </a:rPr>
                        <a:t> a drought</a:t>
                      </a:r>
                      <a:r>
                        <a:rPr lang="en-US" sz="1200" b="1" kern="1200" dirty="0" smtClean="0">
                          <a:solidFill>
                            <a:schemeClr val="tx1"/>
                          </a:solidFill>
                          <a:effectLst/>
                          <a:latin typeface="+mn-lt"/>
                          <a:ea typeface="+mn-ea"/>
                          <a:cs typeface="+mn-cs"/>
                        </a:rPr>
                        <a:t>? If yes/no, please explain why.</a:t>
                      </a:r>
                    </a:p>
                  </a:txBody>
                  <a:tcPr/>
                </a:tc>
              </a:tr>
              <a:tr h="159173">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tc>
                <a:tc>
                  <a:txBody>
                    <a:bodyPr/>
                    <a:lstStyle/>
                    <a:p>
                      <a:r>
                        <a:rPr lang="en-US" sz="1200" b="0" i="0" u="none" kern="1200" dirty="0" smtClean="0">
                          <a:solidFill>
                            <a:schemeClr val="tx1"/>
                          </a:solidFill>
                          <a:effectLst/>
                          <a:latin typeface="+mn-lt"/>
                          <a:ea typeface="+mn-ea"/>
                          <a:cs typeface="+mn-cs"/>
                        </a:rPr>
                        <a:t>Yes. We can forecast the energy production by examining water levels, power plant efficiency and electrical production over time. Specifically,</a:t>
                      </a:r>
                      <a:r>
                        <a:rPr lang="en-US" sz="1200" b="0" i="0" u="none" kern="1200" baseline="0" dirty="0" smtClean="0">
                          <a:solidFill>
                            <a:schemeClr val="tx1"/>
                          </a:solidFill>
                          <a:effectLst/>
                          <a:latin typeface="+mn-lt"/>
                          <a:ea typeface="+mn-ea"/>
                          <a:cs typeface="+mn-cs"/>
                        </a:rPr>
                        <a:t> the amount of water held in a hydroelectric dam’s reservoir will be the most telling indicator. </a:t>
                      </a:r>
                      <a:r>
                        <a:rPr lang="en-US" sz="1200" b="0" i="0" u="none" kern="1200" dirty="0" smtClean="0">
                          <a:solidFill>
                            <a:schemeClr val="tx1"/>
                          </a:solidFill>
                          <a:effectLst/>
                          <a:latin typeface="+mn-lt"/>
                          <a:ea typeface="+mn-ea"/>
                          <a:cs typeface="+mn-cs"/>
                        </a:rPr>
                        <a:t>These variables can determine how much electricity is typically available during normal periods and in droughts.  </a:t>
                      </a:r>
                    </a:p>
                    <a:p>
                      <a:endParaRPr lang="en-US" sz="1200" b="0" i="0" u="none" kern="1200" dirty="0" smtClean="0">
                        <a:solidFill>
                          <a:schemeClr val="tx1"/>
                        </a:solidFill>
                        <a:effectLst/>
                        <a:latin typeface="+mn-lt"/>
                        <a:ea typeface="+mn-ea"/>
                        <a:cs typeface="+mn-cs"/>
                      </a:endParaRPr>
                    </a:p>
                    <a:p>
                      <a:r>
                        <a:rPr lang="en-US" sz="1200" b="0" i="0" u="none" kern="1200" dirty="0" smtClean="0">
                          <a:solidFill>
                            <a:schemeClr val="tx1"/>
                          </a:solidFill>
                          <a:effectLst/>
                          <a:latin typeface="+mn-lt"/>
                          <a:ea typeface="+mn-ea"/>
                          <a:cs typeface="+mn-cs"/>
                        </a:rPr>
                        <a:t>From these variables,</a:t>
                      </a:r>
                      <a:r>
                        <a:rPr lang="en-US" sz="1200" b="0" i="0" u="none" kern="1200" baseline="0" dirty="0" smtClean="0">
                          <a:solidFill>
                            <a:schemeClr val="tx1"/>
                          </a:solidFill>
                          <a:effectLst/>
                          <a:latin typeface="+mn-lt"/>
                          <a:ea typeface="+mn-ea"/>
                          <a:cs typeface="+mn-cs"/>
                        </a:rPr>
                        <a:t> the water level is the one that varies the most. Therefore, we can estimate the power production using rainfall forecasts and knowledge of the hydroelectric grid.  </a:t>
                      </a:r>
                    </a:p>
                    <a:p>
                      <a:endParaRPr lang="en-US" sz="1200" b="0" i="0" u="none" kern="1200" dirty="0" smtClean="0">
                        <a:solidFill>
                          <a:schemeClr val="tx1"/>
                        </a:solidFill>
                        <a:effectLst/>
                        <a:latin typeface="+mn-lt"/>
                        <a:ea typeface="+mn-ea"/>
                        <a:cs typeface="+mn-cs"/>
                      </a:endParaRPr>
                    </a:p>
                    <a:p>
                      <a:r>
                        <a:rPr lang="en-US" sz="1200" b="0" i="0" u="none" kern="1200" dirty="0" smtClean="0">
                          <a:solidFill>
                            <a:schemeClr val="tx1"/>
                          </a:solidFill>
                          <a:effectLst/>
                          <a:latin typeface="+mn-lt"/>
                          <a:ea typeface="+mn-ea"/>
                          <a:cs typeface="+mn-cs"/>
                        </a:rPr>
                        <a:t>The power consumption varies according to the economy.</a:t>
                      </a:r>
                      <a:r>
                        <a:rPr lang="en-US" sz="1200" b="0" i="0" u="none" kern="1200" baseline="0" dirty="0" smtClean="0">
                          <a:solidFill>
                            <a:schemeClr val="tx1"/>
                          </a:solidFill>
                          <a:effectLst/>
                          <a:latin typeface="+mn-lt"/>
                          <a:ea typeface="+mn-ea"/>
                          <a:cs typeface="+mn-cs"/>
                        </a:rPr>
                        <a:t> When the GDP grows, the power consumption is also expected to grow in the same proportion.</a:t>
                      </a:r>
                    </a:p>
                    <a:p>
                      <a:endParaRPr lang="en-US" sz="1200" b="0" i="0" u="none" kern="1200" baseline="0" dirty="0" smtClean="0">
                        <a:solidFill>
                          <a:schemeClr val="tx1"/>
                        </a:solidFill>
                        <a:effectLst/>
                        <a:latin typeface="+mn-lt"/>
                        <a:ea typeface="+mn-ea"/>
                        <a:cs typeface="+mn-cs"/>
                      </a:endParaRPr>
                    </a:p>
                    <a:p>
                      <a:r>
                        <a:rPr lang="en-US" sz="1200" b="0" i="0" u="none" kern="1200" baseline="0" dirty="0" smtClean="0">
                          <a:solidFill>
                            <a:schemeClr val="tx1"/>
                          </a:solidFill>
                          <a:effectLst/>
                          <a:latin typeface="+mn-lt"/>
                          <a:ea typeface="+mn-ea"/>
                          <a:cs typeface="+mn-cs"/>
                        </a:rPr>
                        <a:t>In conclusion, we can predict the power production using rainfall forecasts and consumption data using economic forecasts, such as the GDP, all of which are typically publically available.</a:t>
                      </a:r>
                    </a:p>
                    <a:p>
                      <a:endParaRPr lang="en-US" sz="1200" b="0" i="0" u="none" kern="1200" dirty="0" smtClean="0">
                        <a:solidFill>
                          <a:schemeClr val="tx1"/>
                        </a:solidFill>
                        <a:effectLst/>
                        <a:latin typeface="+mn-lt"/>
                        <a:ea typeface="+mn-ea"/>
                        <a:cs typeface="+mn-cs"/>
                      </a:endParaRPr>
                    </a:p>
                  </a:txBody>
                  <a:tcPr/>
                </a:tc>
              </a:tr>
            </a:tbl>
          </a:graphicData>
        </a:graphic>
      </p:graphicFrame>
    </p:spTree>
    <p:extLst>
      <p:ext uri="{BB962C8B-B14F-4D97-AF65-F5344CB8AC3E}">
        <p14:creationId xmlns:p14="http://schemas.microsoft.com/office/powerpoint/2010/main" val="3245789158"/>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16: Blackouts in Uganda</a:t>
            </a:r>
          </a:p>
        </p:txBody>
      </p:sp>
      <p:graphicFrame>
        <p:nvGraphicFramePr>
          <p:cNvPr id="12" name="Table 11"/>
          <p:cNvGraphicFramePr>
            <a:graphicFrameLocks noGrp="1"/>
          </p:cNvGraphicFramePr>
          <p:nvPr>
            <p:extLst>
              <p:ext uri="{D42A27DB-BD31-4B8C-83A1-F6EECF244321}">
                <p14:modId xmlns:p14="http://schemas.microsoft.com/office/powerpoint/2010/main" val="706308352"/>
              </p:ext>
            </p:extLst>
          </p:nvPr>
        </p:nvGraphicFramePr>
        <p:xfrm>
          <a:off x="304800" y="1381125"/>
          <a:ext cx="8534400" cy="512064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b="1" i="0" dirty="0" smtClean="0"/>
                        <a:t>Prompt F</a:t>
                      </a:r>
                      <a:endParaRPr lang="en-US" sz="1000" i="0" dirty="0"/>
                    </a:p>
                  </a:txBody>
                  <a:tcPr anchor="ctr"/>
                </a:tc>
                <a:tc>
                  <a:txBody>
                    <a:bodyPr/>
                    <a:lstStyle/>
                    <a:p>
                      <a:pPr lvl="0"/>
                      <a:r>
                        <a:rPr lang="en-US" sz="1200" b="0" kern="1200" dirty="0" smtClean="0">
                          <a:solidFill>
                            <a:schemeClr val="tx1"/>
                          </a:solidFill>
                          <a:effectLst/>
                          <a:latin typeface="+mn-lt"/>
                          <a:ea typeface="+mn-ea"/>
                          <a:cs typeface="+mn-cs"/>
                        </a:rPr>
                        <a:t>Assume the </a:t>
                      </a:r>
                      <a:r>
                        <a:rPr lang="en-US" sz="1200" b="0" kern="1200" baseline="0" dirty="0" smtClean="0">
                          <a:solidFill>
                            <a:schemeClr val="tx1"/>
                          </a:solidFill>
                          <a:effectLst/>
                          <a:latin typeface="+mn-lt"/>
                          <a:ea typeface="+mn-ea"/>
                          <a:cs typeface="+mn-cs"/>
                        </a:rPr>
                        <a:t>250MW </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Bujagali</a:t>
                      </a:r>
                      <a:r>
                        <a:rPr lang="en-US" sz="1200" b="0" kern="1200" baseline="0" dirty="0" smtClean="0">
                          <a:solidFill>
                            <a:schemeClr val="tx1"/>
                          </a:solidFill>
                          <a:effectLst/>
                          <a:latin typeface="+mn-lt"/>
                          <a:ea typeface="+mn-ea"/>
                          <a:cs typeface="+mn-cs"/>
                        </a:rPr>
                        <a:t> </a:t>
                      </a:r>
                      <a:r>
                        <a:rPr lang="en-US" sz="1200" b="0" kern="1200" dirty="0" smtClean="0">
                          <a:solidFill>
                            <a:schemeClr val="tx1"/>
                          </a:solidFill>
                          <a:effectLst/>
                          <a:latin typeface="+mn-lt"/>
                          <a:ea typeface="+mn-ea"/>
                          <a:cs typeface="+mn-cs"/>
                        </a:rPr>
                        <a:t>hydroelectric plant in Uganda typically</a:t>
                      </a:r>
                      <a:r>
                        <a:rPr lang="en-US" sz="1200" b="0" kern="1200" baseline="0" dirty="0" smtClean="0">
                          <a:solidFill>
                            <a:schemeClr val="tx1"/>
                          </a:solidFill>
                          <a:effectLst/>
                          <a:latin typeface="+mn-lt"/>
                          <a:ea typeface="+mn-ea"/>
                          <a:cs typeface="+mn-cs"/>
                        </a:rPr>
                        <a:t> produces about 1 million </a:t>
                      </a:r>
                      <a:r>
                        <a:rPr lang="en-US" sz="1200" b="0" kern="1200" baseline="0" dirty="0" err="1" smtClean="0">
                          <a:solidFill>
                            <a:schemeClr val="tx1"/>
                          </a:solidFill>
                          <a:effectLst/>
                          <a:latin typeface="+mn-lt"/>
                          <a:ea typeface="+mn-ea"/>
                          <a:cs typeface="+mn-cs"/>
                        </a:rPr>
                        <a:t>MWh</a:t>
                      </a:r>
                      <a:r>
                        <a:rPr lang="en-US" sz="1200" b="0" kern="1200" baseline="0" dirty="0" smtClean="0">
                          <a:solidFill>
                            <a:schemeClr val="tx1"/>
                          </a:solidFill>
                          <a:effectLst/>
                          <a:latin typeface="+mn-lt"/>
                          <a:ea typeface="+mn-ea"/>
                          <a:cs typeface="+mn-cs"/>
                        </a:rPr>
                        <a:t> (megawatt hours) annually assuming there are no droughts and the water level of the dam’s reservoir is at least 100 </a:t>
                      </a:r>
                      <a:r>
                        <a:rPr lang="en-US" sz="1200" b="0" kern="1200" baseline="0" dirty="0" err="1" smtClean="0">
                          <a:solidFill>
                            <a:schemeClr val="tx1"/>
                          </a:solidFill>
                          <a:effectLst/>
                          <a:latin typeface="+mn-lt"/>
                          <a:ea typeface="+mn-ea"/>
                          <a:cs typeface="+mn-cs"/>
                        </a:rPr>
                        <a:t>ft</a:t>
                      </a:r>
                      <a:r>
                        <a:rPr lang="en-US" sz="1200" b="0" kern="1200" baseline="0" dirty="0" smtClean="0">
                          <a:solidFill>
                            <a:schemeClr val="tx1"/>
                          </a:solidFill>
                          <a:effectLst/>
                          <a:latin typeface="+mn-lt"/>
                          <a:ea typeface="+mn-ea"/>
                          <a:cs typeface="+mn-cs"/>
                        </a:rPr>
                        <a:t> deep. </a:t>
                      </a:r>
                      <a:r>
                        <a:rPr lang="en-US" sz="1200" b="0" kern="1200" dirty="0" smtClean="0">
                          <a:solidFill>
                            <a:schemeClr val="tx1"/>
                          </a:solidFill>
                          <a:effectLst/>
                          <a:latin typeface="+mn-lt"/>
                          <a:ea typeface="+mn-ea"/>
                          <a:cs typeface="+mn-cs"/>
                        </a:rPr>
                        <a:t>Due to recent droughts, the water level in the reservoir has fallen to 76 </a:t>
                      </a:r>
                      <a:r>
                        <a:rPr lang="en-US" sz="1200" b="0" kern="1200" dirty="0" err="1" smtClean="0">
                          <a:solidFill>
                            <a:schemeClr val="tx1"/>
                          </a:solidFill>
                          <a:effectLst/>
                          <a:latin typeface="+mn-lt"/>
                          <a:ea typeface="+mn-ea"/>
                          <a:cs typeface="+mn-cs"/>
                        </a:rPr>
                        <a:t>ft</a:t>
                      </a:r>
                      <a:r>
                        <a:rPr lang="en-US" sz="1200" b="0" kern="1200" dirty="0" smtClean="0">
                          <a:solidFill>
                            <a:schemeClr val="tx1"/>
                          </a:solidFill>
                          <a:effectLst/>
                          <a:latin typeface="+mn-lt"/>
                          <a:ea typeface="+mn-ea"/>
                          <a:cs typeface="+mn-cs"/>
                        </a:rPr>
                        <a:t> and is expected to stay around that level for the next 6 months before</a:t>
                      </a:r>
                      <a:r>
                        <a:rPr lang="en-US" sz="1200" b="0" kern="1200" baseline="0" dirty="0" smtClean="0">
                          <a:solidFill>
                            <a:schemeClr val="tx1"/>
                          </a:solidFill>
                          <a:effectLst/>
                          <a:latin typeface="+mn-lt"/>
                          <a:ea typeface="+mn-ea"/>
                          <a:cs typeface="+mn-cs"/>
                        </a:rPr>
                        <a:t> returning to normal (100 </a:t>
                      </a:r>
                      <a:r>
                        <a:rPr lang="en-US" sz="1200" b="0" kern="1200" baseline="0" dirty="0" err="1" smtClean="0">
                          <a:solidFill>
                            <a:schemeClr val="tx1"/>
                          </a:solidFill>
                          <a:effectLst/>
                          <a:latin typeface="+mn-lt"/>
                          <a:ea typeface="+mn-ea"/>
                          <a:cs typeface="+mn-cs"/>
                        </a:rPr>
                        <a:t>ft</a:t>
                      </a:r>
                      <a:r>
                        <a:rPr lang="en-US" sz="1200" b="0" kern="1200" baseline="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t>
                      </a:r>
                      <a:r>
                        <a:rPr lang="en-US" sz="1200" b="0" kern="1200" baseline="0" dirty="0" smtClean="0">
                          <a:solidFill>
                            <a:schemeClr val="tx1"/>
                          </a:solidFill>
                          <a:effectLst/>
                          <a:latin typeface="+mn-lt"/>
                          <a:ea typeface="+mn-ea"/>
                          <a:cs typeface="+mn-cs"/>
                        </a:rPr>
                        <a:t>If the reservoir falls below 50ft no power can be produced.</a:t>
                      </a:r>
                      <a:endParaRPr lang="en-US" sz="1200" b="0" kern="1200" dirty="0" smtClean="0">
                        <a:solidFill>
                          <a:schemeClr val="tx1"/>
                        </a:solidFill>
                        <a:effectLst/>
                        <a:latin typeface="+mn-lt"/>
                        <a:ea typeface="+mn-ea"/>
                        <a:cs typeface="+mn-cs"/>
                      </a:endParaRPr>
                    </a:p>
                    <a:p>
                      <a:pPr lvl="0"/>
                      <a:endParaRPr lang="en-US" sz="1200" b="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Please calculate what the electricity shortage will be for the next</a:t>
                      </a:r>
                      <a:r>
                        <a:rPr lang="en-US" sz="1200" b="1" kern="1200" baseline="0" dirty="0" smtClean="0">
                          <a:solidFill>
                            <a:schemeClr val="tx1"/>
                          </a:solidFill>
                          <a:effectLst/>
                          <a:latin typeface="+mn-lt"/>
                          <a:ea typeface="+mn-ea"/>
                          <a:cs typeface="+mn-cs"/>
                        </a:rPr>
                        <a:t> 12 </a:t>
                      </a:r>
                      <a:r>
                        <a:rPr lang="en-US" sz="1200" b="1" kern="1200" dirty="0" smtClean="0">
                          <a:solidFill>
                            <a:schemeClr val="tx1"/>
                          </a:solidFill>
                          <a:effectLst/>
                          <a:latin typeface="+mn-lt"/>
                          <a:ea typeface="+mn-ea"/>
                          <a:cs typeface="+mn-cs"/>
                        </a:rPr>
                        <a:t>months. </a:t>
                      </a:r>
                    </a:p>
                    <a:p>
                      <a:pPr lvl="0"/>
                      <a:endParaRPr lang="en-US" sz="1200" b="1" kern="1200" dirty="0" smtClean="0">
                        <a:solidFill>
                          <a:schemeClr val="tx1"/>
                        </a:solidFill>
                        <a:effectLst/>
                        <a:latin typeface="+mn-lt"/>
                        <a:ea typeface="+mn-ea"/>
                        <a:cs typeface="+mn-cs"/>
                      </a:endParaRPr>
                    </a:p>
                    <a:p>
                      <a:pPr lvl="0"/>
                      <a:r>
                        <a:rPr lang="en-US" sz="1200" b="0" i="0" kern="1200" dirty="0" smtClean="0">
                          <a:solidFill>
                            <a:schemeClr val="tx1"/>
                          </a:solidFill>
                          <a:effectLst/>
                          <a:latin typeface="+mn-lt"/>
                          <a:ea typeface="+mn-ea"/>
                          <a:cs typeface="+mn-cs"/>
                        </a:rPr>
                        <a:t>Note:</a:t>
                      </a:r>
                      <a:r>
                        <a:rPr lang="en-US" sz="1200" b="0" i="0" kern="1200" baseline="0" dirty="0" smtClean="0">
                          <a:solidFill>
                            <a:schemeClr val="tx1"/>
                          </a:solidFill>
                          <a:effectLst/>
                          <a:latin typeface="+mn-lt"/>
                          <a:ea typeface="+mn-ea"/>
                          <a:cs typeface="+mn-cs"/>
                        </a:rPr>
                        <a:t> the production capacity decreases proportionally when the water level is bellow 100ft, reaching 0% when the water level is at 50 feet.</a:t>
                      </a:r>
                    </a:p>
                    <a:p>
                      <a:pPr lvl="0"/>
                      <a:endParaRPr lang="en-US" sz="1200" b="0" i="0" kern="1200" baseline="0" dirty="0" smtClean="0">
                        <a:solidFill>
                          <a:schemeClr val="tx1"/>
                        </a:solidFill>
                        <a:effectLst/>
                        <a:latin typeface="+mn-lt"/>
                        <a:ea typeface="+mn-ea"/>
                        <a:cs typeface="+mn-cs"/>
                      </a:endParaRPr>
                    </a:p>
                  </a:txBody>
                  <a:tcPr/>
                </a:tc>
              </a:tr>
              <a:tr h="159173">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tc>
                <a:tc>
                  <a:txBody>
                    <a:bodyPr/>
                    <a:lstStyle/>
                    <a:p>
                      <a:r>
                        <a:rPr lang="en-US" sz="1200" b="0" kern="1200" dirty="0" smtClean="0">
                          <a:solidFill>
                            <a:schemeClr val="tx1"/>
                          </a:solidFill>
                          <a:effectLst/>
                          <a:latin typeface="+mn-lt"/>
                          <a:ea typeface="+mn-ea"/>
                          <a:cs typeface="+mn-cs"/>
                        </a:rPr>
                        <a:t>The</a:t>
                      </a:r>
                      <a:r>
                        <a:rPr lang="en-US" sz="1200" b="0" kern="1200" baseline="0" dirty="0" smtClean="0">
                          <a:solidFill>
                            <a:schemeClr val="tx1"/>
                          </a:solidFill>
                          <a:effectLst/>
                          <a:latin typeface="+mn-lt"/>
                          <a:ea typeface="+mn-ea"/>
                          <a:cs typeface="+mn-cs"/>
                        </a:rPr>
                        <a:t> candidate should recognize that the 250MW installed capacity of the power plant is extraneous information. If asked, briefly explain that power plants are MW are units of power and </a:t>
                      </a:r>
                      <a:r>
                        <a:rPr lang="en-US" sz="1200" b="0" kern="1200" baseline="0" dirty="0" err="1" smtClean="0">
                          <a:solidFill>
                            <a:schemeClr val="tx1"/>
                          </a:solidFill>
                          <a:effectLst/>
                          <a:latin typeface="+mn-lt"/>
                          <a:ea typeface="+mn-ea"/>
                          <a:cs typeface="+mn-cs"/>
                        </a:rPr>
                        <a:t>MWh</a:t>
                      </a:r>
                      <a:r>
                        <a:rPr lang="en-US" sz="1200" b="0" kern="1200" baseline="0" dirty="0" smtClean="0">
                          <a:solidFill>
                            <a:schemeClr val="tx1"/>
                          </a:solidFill>
                          <a:effectLst/>
                          <a:latin typeface="+mn-lt"/>
                          <a:ea typeface="+mn-ea"/>
                          <a:cs typeface="+mn-cs"/>
                        </a:rPr>
                        <a:t> are units of energy or rather the amount of energy used over time.</a:t>
                      </a:r>
                    </a:p>
                    <a:p>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Assume a linear function of depth vs. power producing capacity.  Also assume even power production for every month of the year with the only varying factor being a drought.</a:t>
                      </a:r>
                    </a:p>
                    <a:p>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Solution 1: If 50ft = 0% production and 100ft = 100%, 76ft = 52% production (26ft*2%/</a:t>
                      </a:r>
                      <a:r>
                        <a:rPr lang="en-US" sz="1200" b="0" kern="1200" baseline="0" dirty="0" err="1" smtClean="0">
                          <a:solidFill>
                            <a:schemeClr val="tx1"/>
                          </a:solidFill>
                          <a:effectLst/>
                          <a:latin typeface="+mn-lt"/>
                          <a:ea typeface="+mn-ea"/>
                          <a:cs typeface="+mn-cs"/>
                        </a:rPr>
                        <a:t>ft</a:t>
                      </a:r>
                      <a:r>
                        <a:rPr lang="en-US" sz="1200" b="0" kern="1200" baseline="0" dirty="0" smtClean="0">
                          <a:solidFill>
                            <a:schemeClr val="tx1"/>
                          </a:solidFill>
                          <a:effectLst/>
                          <a:latin typeface="+mn-lt"/>
                          <a:ea typeface="+mn-ea"/>
                          <a:cs typeface="+mn-cs"/>
                        </a:rPr>
                        <a:t>)</a:t>
                      </a:r>
                    </a:p>
                    <a:p>
                      <a:r>
                        <a:rPr lang="en-US" sz="1200" b="0" kern="1200" baseline="0" dirty="0" smtClean="0">
                          <a:solidFill>
                            <a:schemeClr val="tx1"/>
                          </a:solidFill>
                          <a:effectLst/>
                          <a:latin typeface="+mn-lt"/>
                          <a:ea typeface="+mn-ea"/>
                          <a:cs typeface="+mn-cs"/>
                        </a:rPr>
                        <a:t>6 months normal production = 500,000 </a:t>
                      </a:r>
                      <a:r>
                        <a:rPr lang="en-US" sz="1200" b="0" kern="1200" baseline="0" dirty="0" err="1" smtClean="0">
                          <a:solidFill>
                            <a:schemeClr val="tx1"/>
                          </a:solidFill>
                          <a:effectLst/>
                          <a:latin typeface="+mn-lt"/>
                          <a:ea typeface="+mn-ea"/>
                          <a:cs typeface="+mn-cs"/>
                        </a:rPr>
                        <a:t>MWh</a:t>
                      </a:r>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6 months low production = 52% of 500,000  </a:t>
                      </a:r>
                      <a:r>
                        <a:rPr lang="en-US" sz="1200" b="0" kern="1200" baseline="0" dirty="0" err="1" smtClean="0">
                          <a:solidFill>
                            <a:schemeClr val="tx1"/>
                          </a:solidFill>
                          <a:effectLst/>
                          <a:latin typeface="+mn-lt"/>
                          <a:ea typeface="+mn-ea"/>
                          <a:cs typeface="+mn-cs"/>
                        </a:rPr>
                        <a:t>MWh</a:t>
                      </a:r>
                      <a:r>
                        <a:rPr lang="en-US" sz="1200" b="0" kern="1200" baseline="0" dirty="0" smtClean="0">
                          <a:solidFill>
                            <a:schemeClr val="tx1"/>
                          </a:solidFill>
                          <a:effectLst/>
                          <a:latin typeface="+mn-lt"/>
                          <a:ea typeface="+mn-ea"/>
                          <a:cs typeface="+mn-cs"/>
                        </a:rPr>
                        <a:t> = 260,000 </a:t>
                      </a:r>
                      <a:r>
                        <a:rPr lang="en-US" sz="1200" b="0" kern="1200" baseline="0" dirty="0" err="1" smtClean="0">
                          <a:solidFill>
                            <a:schemeClr val="tx1"/>
                          </a:solidFill>
                          <a:effectLst/>
                          <a:latin typeface="+mn-lt"/>
                          <a:ea typeface="+mn-ea"/>
                          <a:cs typeface="+mn-cs"/>
                        </a:rPr>
                        <a:t>MWh</a:t>
                      </a:r>
                      <a:r>
                        <a:rPr lang="en-US" sz="1200" b="0" kern="1200" baseline="0" dirty="0" smtClean="0">
                          <a:solidFill>
                            <a:schemeClr val="tx1"/>
                          </a:solidFill>
                          <a:effectLst/>
                          <a:latin typeface="+mn-lt"/>
                          <a:ea typeface="+mn-ea"/>
                          <a:cs typeface="+mn-cs"/>
                        </a:rPr>
                        <a:t> </a:t>
                      </a:r>
                    </a:p>
                    <a:p>
                      <a:r>
                        <a:rPr lang="en-US" sz="1200" b="0" kern="1200" baseline="0" dirty="0" smtClean="0">
                          <a:solidFill>
                            <a:schemeClr val="tx1"/>
                          </a:solidFill>
                          <a:effectLst/>
                          <a:latin typeface="+mn-lt"/>
                          <a:ea typeface="+mn-ea"/>
                          <a:cs typeface="+mn-cs"/>
                        </a:rPr>
                        <a:t>Therefore, the shortage will be 1,000,000 – 500,000 – 260,000 = 240,000 </a:t>
                      </a:r>
                      <a:r>
                        <a:rPr lang="en-US" sz="1200" b="0" kern="1200" baseline="0" dirty="0" err="1" smtClean="0">
                          <a:solidFill>
                            <a:schemeClr val="tx1"/>
                          </a:solidFill>
                          <a:effectLst/>
                          <a:latin typeface="+mn-lt"/>
                          <a:ea typeface="+mn-ea"/>
                          <a:cs typeface="+mn-cs"/>
                        </a:rPr>
                        <a:t>MWh</a:t>
                      </a:r>
                      <a:endParaRPr lang="en-US" sz="1200" b="0" kern="1200" baseline="0" dirty="0" smtClean="0">
                        <a:solidFill>
                          <a:schemeClr val="tx1"/>
                        </a:solidFill>
                        <a:effectLst/>
                        <a:latin typeface="+mn-lt"/>
                        <a:ea typeface="+mn-ea"/>
                        <a:cs typeface="+mn-cs"/>
                      </a:endParaRPr>
                    </a:p>
                    <a:p>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Solution 2: 100ft = 1,000,000 </a:t>
                      </a:r>
                      <a:r>
                        <a:rPr lang="en-US" sz="1200" b="0" kern="1200" baseline="0" dirty="0" err="1" smtClean="0">
                          <a:solidFill>
                            <a:schemeClr val="tx1"/>
                          </a:solidFill>
                          <a:effectLst/>
                          <a:latin typeface="+mn-lt"/>
                          <a:ea typeface="+mn-ea"/>
                          <a:cs typeface="+mn-cs"/>
                        </a:rPr>
                        <a:t>MWh</a:t>
                      </a:r>
                      <a:r>
                        <a:rPr lang="en-US" sz="1200" b="0" kern="1200" baseline="0" dirty="0" smtClean="0">
                          <a:solidFill>
                            <a:schemeClr val="tx1"/>
                          </a:solidFill>
                          <a:effectLst/>
                          <a:latin typeface="+mn-lt"/>
                          <a:ea typeface="+mn-ea"/>
                          <a:cs typeface="+mn-cs"/>
                        </a:rPr>
                        <a:t> annually, 50ft = 0 </a:t>
                      </a:r>
                      <a:r>
                        <a:rPr lang="en-US" sz="1200" b="0" kern="1200" baseline="0" dirty="0" err="1" smtClean="0">
                          <a:solidFill>
                            <a:schemeClr val="tx1"/>
                          </a:solidFill>
                          <a:effectLst/>
                          <a:latin typeface="+mn-lt"/>
                          <a:ea typeface="+mn-ea"/>
                          <a:cs typeface="+mn-cs"/>
                        </a:rPr>
                        <a:t>MWh</a:t>
                      </a:r>
                      <a:r>
                        <a:rPr lang="en-US" sz="1200" b="0" kern="1200" baseline="0" dirty="0" smtClean="0">
                          <a:solidFill>
                            <a:schemeClr val="tx1"/>
                          </a:solidFill>
                          <a:effectLst/>
                          <a:latin typeface="+mn-lt"/>
                          <a:ea typeface="+mn-ea"/>
                          <a:cs typeface="+mn-cs"/>
                        </a:rPr>
                        <a:t> </a:t>
                      </a:r>
                      <a:r>
                        <a:rPr lang="en-US" sz="1200" b="0" kern="1200" baseline="0" dirty="0" smtClean="0">
                          <a:solidFill>
                            <a:schemeClr val="tx1"/>
                          </a:solidFill>
                          <a:effectLst/>
                          <a:latin typeface="+mn-lt"/>
                          <a:ea typeface="+mn-ea"/>
                          <a:cs typeface="+mn-cs"/>
                          <a:sym typeface="Wingdings"/>
                        </a:rPr>
                        <a:t> 1ft = 20,000 </a:t>
                      </a:r>
                      <a:r>
                        <a:rPr lang="en-US" sz="1200" b="0" kern="1200" baseline="0" dirty="0" err="1" smtClean="0">
                          <a:solidFill>
                            <a:schemeClr val="tx1"/>
                          </a:solidFill>
                          <a:effectLst/>
                          <a:latin typeface="+mn-lt"/>
                          <a:ea typeface="+mn-ea"/>
                          <a:cs typeface="+mn-cs"/>
                          <a:sym typeface="Wingdings"/>
                        </a:rPr>
                        <a:t>MWh</a:t>
                      </a:r>
                      <a:r>
                        <a:rPr lang="en-US" sz="1200" b="0" kern="1200" baseline="0" dirty="0" smtClean="0">
                          <a:solidFill>
                            <a:schemeClr val="tx1"/>
                          </a:solidFill>
                          <a:effectLst/>
                          <a:latin typeface="+mn-lt"/>
                          <a:ea typeface="+mn-ea"/>
                          <a:cs typeface="+mn-cs"/>
                          <a:sym typeface="Wingdings"/>
                        </a:rPr>
                        <a:t>/</a:t>
                      </a:r>
                      <a:r>
                        <a:rPr lang="en-US" sz="1200" b="0" kern="1200" baseline="0" dirty="0" err="1" smtClean="0">
                          <a:solidFill>
                            <a:schemeClr val="tx1"/>
                          </a:solidFill>
                          <a:effectLst/>
                          <a:latin typeface="+mn-lt"/>
                          <a:ea typeface="+mn-ea"/>
                          <a:cs typeface="+mn-cs"/>
                          <a:sym typeface="Wingdings"/>
                        </a:rPr>
                        <a:t>yr</a:t>
                      </a:r>
                      <a:endParaRPr lang="en-US" sz="1200" b="0" kern="1200" baseline="0" dirty="0" smtClean="0">
                        <a:solidFill>
                          <a:schemeClr val="tx1"/>
                        </a:solidFill>
                        <a:effectLst/>
                        <a:latin typeface="+mn-lt"/>
                        <a:ea typeface="+mn-ea"/>
                        <a:cs typeface="+mn-cs"/>
                        <a:sym typeface="Wingdings"/>
                      </a:endParaRPr>
                    </a:p>
                    <a:p>
                      <a:pPr marL="171450" indent="-171450">
                        <a:buFont typeface="Wingdings" charset="0"/>
                        <a:buChar char="à"/>
                      </a:pPr>
                      <a:r>
                        <a:rPr lang="en-US" sz="1200" b="0" kern="1200" baseline="0" dirty="0" smtClean="0">
                          <a:solidFill>
                            <a:schemeClr val="tx1"/>
                          </a:solidFill>
                          <a:effectLst/>
                          <a:latin typeface="+mn-lt"/>
                          <a:ea typeface="+mn-ea"/>
                          <a:cs typeface="+mn-cs"/>
                          <a:sym typeface="Wingdings"/>
                        </a:rPr>
                        <a:t>(100ft – 76ft) x 20,000 = 580,000 </a:t>
                      </a:r>
                      <a:r>
                        <a:rPr lang="en-US" sz="1200" b="0" kern="1200" baseline="0" dirty="0" err="1" smtClean="0">
                          <a:solidFill>
                            <a:schemeClr val="tx1"/>
                          </a:solidFill>
                          <a:effectLst/>
                          <a:latin typeface="+mn-lt"/>
                          <a:ea typeface="+mn-ea"/>
                          <a:cs typeface="+mn-cs"/>
                          <a:sym typeface="Wingdings"/>
                        </a:rPr>
                        <a:t>MWh</a:t>
                      </a:r>
                      <a:r>
                        <a:rPr lang="en-US" sz="1200" b="0" kern="1200" baseline="0" dirty="0" smtClean="0">
                          <a:solidFill>
                            <a:schemeClr val="tx1"/>
                          </a:solidFill>
                          <a:effectLst/>
                          <a:latin typeface="+mn-lt"/>
                          <a:ea typeface="+mn-ea"/>
                          <a:cs typeface="+mn-cs"/>
                          <a:sym typeface="Wingdings"/>
                        </a:rPr>
                        <a:t>/</a:t>
                      </a:r>
                      <a:r>
                        <a:rPr lang="en-US" sz="1200" b="0" kern="1200" baseline="0" dirty="0" err="1" smtClean="0">
                          <a:solidFill>
                            <a:schemeClr val="tx1"/>
                          </a:solidFill>
                          <a:effectLst/>
                          <a:latin typeface="+mn-lt"/>
                          <a:ea typeface="+mn-ea"/>
                          <a:cs typeface="+mn-cs"/>
                          <a:sym typeface="Wingdings"/>
                        </a:rPr>
                        <a:t>yr</a:t>
                      </a:r>
                      <a:r>
                        <a:rPr lang="en-US" sz="1200" b="0" kern="1200" baseline="0" dirty="0" smtClean="0">
                          <a:solidFill>
                            <a:schemeClr val="tx1"/>
                          </a:solidFill>
                          <a:effectLst/>
                          <a:latin typeface="+mn-lt"/>
                          <a:ea typeface="+mn-ea"/>
                          <a:cs typeface="+mn-cs"/>
                          <a:sym typeface="Wingdings"/>
                        </a:rPr>
                        <a:t> shortage </a:t>
                      </a:r>
                    </a:p>
                    <a:p>
                      <a:pPr marL="0" indent="0">
                        <a:buFont typeface="Wingdings" charset="0"/>
                        <a:buNone/>
                      </a:pPr>
                      <a:r>
                        <a:rPr lang="en-US" sz="1200" b="0" kern="1200" baseline="0" dirty="0" smtClean="0">
                          <a:solidFill>
                            <a:schemeClr val="tx1"/>
                          </a:solidFill>
                          <a:effectLst/>
                          <a:latin typeface="+mn-lt"/>
                          <a:ea typeface="+mn-ea"/>
                          <a:cs typeface="+mn-cs"/>
                          <a:sym typeface="Wingdings"/>
                        </a:rPr>
                        <a:t>580,000/2 = 240,000 </a:t>
                      </a:r>
                      <a:r>
                        <a:rPr lang="en-US" sz="1200" b="0" kern="1200" baseline="0" dirty="0" err="1" smtClean="0">
                          <a:solidFill>
                            <a:schemeClr val="tx1"/>
                          </a:solidFill>
                          <a:effectLst/>
                          <a:latin typeface="+mn-lt"/>
                          <a:ea typeface="+mn-ea"/>
                          <a:cs typeface="+mn-cs"/>
                          <a:sym typeface="Wingdings"/>
                        </a:rPr>
                        <a:t>MWh</a:t>
                      </a:r>
                      <a:r>
                        <a:rPr lang="en-US" sz="1200" b="0" kern="1200" baseline="0" dirty="0" smtClean="0">
                          <a:solidFill>
                            <a:schemeClr val="tx1"/>
                          </a:solidFill>
                          <a:effectLst/>
                          <a:latin typeface="+mn-lt"/>
                          <a:ea typeface="+mn-ea"/>
                          <a:cs typeface="+mn-cs"/>
                          <a:sym typeface="Wingdings"/>
                        </a:rPr>
                        <a:t> shortage annual since the drought only lasted 6 months.</a:t>
                      </a:r>
                    </a:p>
                    <a:p>
                      <a:pPr marL="0" indent="0">
                        <a:buFont typeface="Wingdings" charset="0"/>
                        <a:buNone/>
                      </a:pPr>
                      <a:endParaRPr lang="en-US" sz="1200" b="0" kern="1200" baseline="0" dirty="0" smtClean="0">
                        <a:solidFill>
                          <a:schemeClr val="tx1"/>
                        </a:solidFill>
                        <a:effectLst/>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126</a:t>
            </a:fld>
            <a:endParaRPr lang="en-US" dirty="0"/>
          </a:p>
        </p:txBody>
      </p:sp>
    </p:spTree>
    <p:extLst>
      <p:ext uri="{BB962C8B-B14F-4D97-AF65-F5344CB8AC3E}">
        <p14:creationId xmlns:p14="http://schemas.microsoft.com/office/powerpoint/2010/main" val="6973660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16: Blackouts in Uganda</a:t>
            </a:r>
          </a:p>
        </p:txBody>
      </p:sp>
      <p:graphicFrame>
        <p:nvGraphicFramePr>
          <p:cNvPr id="12" name="Table 11"/>
          <p:cNvGraphicFramePr>
            <a:graphicFrameLocks noGrp="1"/>
          </p:cNvGraphicFramePr>
          <p:nvPr>
            <p:extLst>
              <p:ext uri="{D42A27DB-BD31-4B8C-83A1-F6EECF244321}">
                <p14:modId xmlns:p14="http://schemas.microsoft.com/office/powerpoint/2010/main" val="1173861906"/>
              </p:ext>
            </p:extLst>
          </p:nvPr>
        </p:nvGraphicFramePr>
        <p:xfrm>
          <a:off x="304800" y="1381125"/>
          <a:ext cx="8534400" cy="509016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b="1" i="0" dirty="0" smtClean="0"/>
                        <a:t>Prompt G</a:t>
                      </a:r>
                      <a:endParaRPr lang="en-US" sz="1000" i="0" dirty="0"/>
                    </a:p>
                  </a:txBody>
                  <a:tcPr anchor="ctr"/>
                </a:tc>
                <a:tc>
                  <a:txBody>
                    <a:bodyPr/>
                    <a:lstStyle/>
                    <a:p>
                      <a:pPr lvl="0"/>
                      <a:r>
                        <a:rPr lang="en-US" sz="1200" b="1" kern="1200" dirty="0" smtClean="0">
                          <a:solidFill>
                            <a:schemeClr val="tx1"/>
                          </a:solidFill>
                          <a:effectLst/>
                          <a:latin typeface="+mn-lt"/>
                          <a:ea typeface="+mn-ea"/>
                          <a:cs typeface="+mn-cs"/>
                        </a:rPr>
                        <a:t>Based on your</a:t>
                      </a:r>
                      <a:r>
                        <a:rPr lang="en-US" sz="1200" b="1" kern="1200" baseline="0" dirty="0" smtClean="0">
                          <a:solidFill>
                            <a:schemeClr val="tx1"/>
                          </a:solidFill>
                          <a:effectLst/>
                          <a:latin typeface="+mn-lt"/>
                          <a:ea typeface="+mn-ea"/>
                          <a:cs typeface="+mn-cs"/>
                        </a:rPr>
                        <a:t> answer from Prompt F, calculate how many Ugandans will be without electricity during the next 6 months.  Please provide the actual number and the percentage. </a:t>
                      </a:r>
                      <a:r>
                        <a:rPr lang="en-US" sz="1200" b="1" i="0" kern="1200" baseline="0" dirty="0" smtClean="0">
                          <a:solidFill>
                            <a:schemeClr val="tx1"/>
                          </a:solidFill>
                          <a:effectLst/>
                          <a:latin typeface="+mn-lt"/>
                          <a:ea typeface="+mn-ea"/>
                          <a:cs typeface="+mn-cs"/>
                        </a:rPr>
                        <a:t>Assume even power distribution across the country.</a:t>
                      </a:r>
                    </a:p>
                    <a:p>
                      <a:pPr lvl="0"/>
                      <a:endParaRPr lang="en-US" sz="1000" b="1" i="0" kern="1200" dirty="0" smtClean="0">
                        <a:solidFill>
                          <a:schemeClr val="tx1"/>
                        </a:solidFill>
                        <a:effectLst/>
                        <a:latin typeface="+mn-lt"/>
                        <a:ea typeface="+mn-ea"/>
                        <a:cs typeface="+mn-cs"/>
                      </a:endParaRPr>
                    </a:p>
                  </a:txBody>
                  <a:tcPr/>
                </a:tc>
              </a:tr>
              <a:tr h="159173">
                <a:tc>
                  <a:txBody>
                    <a:bodyPr/>
                    <a:lstStyle/>
                    <a:p>
                      <a:pPr algn="ct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endParaRPr lang="en-US" sz="1800" i="0" dirty="0"/>
                    </a:p>
                  </a:txBody>
                  <a:tcPr anchor="ctr"/>
                </a:tc>
                <a:tc>
                  <a:txBody>
                    <a:bodyPr/>
                    <a:lstStyle/>
                    <a:p>
                      <a:r>
                        <a:rPr lang="en-US" sz="1200" b="0" kern="1200" dirty="0" smtClean="0">
                          <a:solidFill>
                            <a:schemeClr val="tx1"/>
                          </a:solidFill>
                          <a:effectLst/>
                          <a:latin typeface="+mn-lt"/>
                          <a:ea typeface="+mn-ea"/>
                          <a:cs typeface="+mn-cs"/>
                        </a:rPr>
                        <a:t>Wait for the candidate to ask for the additional</a:t>
                      </a:r>
                      <a:r>
                        <a:rPr lang="en-US" sz="1200" b="0" kern="1200" baseline="0" dirty="0" smtClean="0">
                          <a:solidFill>
                            <a:schemeClr val="tx1"/>
                          </a:solidFill>
                          <a:effectLst/>
                          <a:latin typeface="+mn-lt"/>
                          <a:ea typeface="+mn-ea"/>
                          <a:cs typeface="+mn-cs"/>
                        </a:rPr>
                        <a:t> data before supplying it:</a:t>
                      </a:r>
                    </a:p>
                    <a:p>
                      <a:pPr marL="171450" indent="-171450">
                        <a:buFont typeface="Arial" pitchFamily="34" charset="0"/>
                        <a:buChar char="•"/>
                      </a:pPr>
                      <a:r>
                        <a:rPr lang="en-US" sz="1200" b="0" kern="1200" baseline="0" dirty="0" smtClean="0">
                          <a:solidFill>
                            <a:schemeClr val="tx1"/>
                          </a:solidFill>
                          <a:effectLst/>
                          <a:latin typeface="+mn-lt"/>
                          <a:ea typeface="+mn-ea"/>
                          <a:cs typeface="+mn-cs"/>
                        </a:rPr>
                        <a:t>Uganda annual power consumption: 2,000,000 </a:t>
                      </a:r>
                      <a:r>
                        <a:rPr lang="en-US" sz="1200" b="0" kern="1200" baseline="0" dirty="0" err="1" smtClean="0">
                          <a:solidFill>
                            <a:schemeClr val="tx1"/>
                          </a:solidFill>
                          <a:effectLst/>
                          <a:latin typeface="+mn-lt"/>
                          <a:ea typeface="+mn-ea"/>
                          <a:cs typeface="+mn-cs"/>
                        </a:rPr>
                        <a:t>MWh</a:t>
                      </a:r>
                      <a:endParaRPr lang="en-US" sz="1200" b="0" kern="1200" baseline="0" dirty="0" smtClean="0">
                        <a:solidFill>
                          <a:schemeClr val="tx1"/>
                        </a:solidFill>
                        <a:effectLst/>
                        <a:latin typeface="+mn-lt"/>
                        <a:ea typeface="+mn-ea"/>
                        <a:cs typeface="+mn-cs"/>
                      </a:endParaRPr>
                    </a:p>
                    <a:p>
                      <a:pPr marL="171450" indent="-171450">
                        <a:buFont typeface="Arial" pitchFamily="34" charset="0"/>
                        <a:buChar char="•"/>
                      </a:pPr>
                      <a:r>
                        <a:rPr lang="en-US" sz="1200" b="0" kern="1200" baseline="0" dirty="0" smtClean="0">
                          <a:solidFill>
                            <a:schemeClr val="tx1"/>
                          </a:solidFill>
                          <a:effectLst/>
                          <a:latin typeface="+mn-lt"/>
                          <a:ea typeface="+mn-ea"/>
                          <a:cs typeface="+mn-cs"/>
                        </a:rPr>
                        <a:t>Population in Uganda: 34,500,000</a:t>
                      </a:r>
                    </a:p>
                    <a:p>
                      <a:pPr marL="171450" indent="-171450">
                        <a:buFont typeface="Arial" pitchFamily="34" charset="0"/>
                        <a:buChar char="•"/>
                      </a:pPr>
                      <a:r>
                        <a:rPr lang="en-US" sz="1200" b="0" kern="1200" baseline="0" dirty="0" smtClean="0">
                          <a:solidFill>
                            <a:schemeClr val="tx1"/>
                          </a:solidFill>
                          <a:effectLst/>
                          <a:latin typeface="+mn-lt"/>
                          <a:ea typeface="+mn-ea"/>
                          <a:cs typeface="+mn-cs"/>
                        </a:rPr>
                        <a:t>Population in Uganda without any access to electricity: 28%</a:t>
                      </a:r>
                    </a:p>
                    <a:p>
                      <a:r>
                        <a:rPr lang="en-US" sz="1200" b="0" kern="1200" baseline="0" dirty="0" smtClean="0">
                          <a:solidFill>
                            <a:schemeClr val="tx1"/>
                          </a:solidFill>
                          <a:effectLst/>
                          <a:latin typeface="+mn-lt"/>
                          <a:ea typeface="+mn-ea"/>
                          <a:cs typeface="+mn-cs"/>
                        </a:rPr>
                        <a:t>Note: it is extremely rare (especially outside OECD countries) to have 100% electrification rates</a:t>
                      </a:r>
                    </a:p>
                    <a:p>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Solution:</a:t>
                      </a:r>
                    </a:p>
                    <a:p>
                      <a:pPr marL="171450" indent="-171450">
                        <a:buFont typeface="Arial" pitchFamily="34" charset="0"/>
                        <a:buChar char="•"/>
                      </a:pPr>
                      <a:r>
                        <a:rPr lang="en-US" sz="1200" b="0" kern="1200" baseline="0" dirty="0" smtClean="0">
                          <a:solidFill>
                            <a:schemeClr val="tx1"/>
                          </a:solidFill>
                          <a:effectLst/>
                          <a:latin typeface="+mn-lt"/>
                          <a:ea typeface="+mn-ea"/>
                          <a:cs typeface="+mn-cs"/>
                        </a:rPr>
                        <a:t>Population already without power: 34,500,000 * 28% = 9,660,000 (round to 10,000,000)</a:t>
                      </a:r>
                    </a:p>
                    <a:p>
                      <a:pPr marL="171450" indent="-171450">
                        <a:buFont typeface="Arial" pitchFamily="34" charset="0"/>
                        <a:buChar char="•"/>
                      </a:pPr>
                      <a:r>
                        <a:rPr lang="en-US" sz="1200" b="0" kern="1200" baseline="0" dirty="0" smtClean="0">
                          <a:solidFill>
                            <a:schemeClr val="tx1"/>
                          </a:solidFill>
                          <a:effectLst/>
                          <a:latin typeface="+mn-lt"/>
                          <a:ea typeface="+mn-ea"/>
                          <a:cs typeface="+mn-cs"/>
                        </a:rPr>
                        <a:t>Population with power: ~25,000,000</a:t>
                      </a:r>
                    </a:p>
                    <a:p>
                      <a:pPr marL="171450" indent="-171450">
                        <a:buFont typeface="Arial" pitchFamily="34" charset="0"/>
                        <a:buChar char="•"/>
                      </a:pPr>
                      <a:r>
                        <a:rPr lang="en-US" sz="1200" b="0" kern="1200" baseline="0" dirty="0" smtClean="0">
                          <a:solidFill>
                            <a:schemeClr val="tx1"/>
                          </a:solidFill>
                          <a:effectLst/>
                          <a:latin typeface="+mn-lt"/>
                          <a:ea typeface="+mn-ea"/>
                          <a:cs typeface="+mn-cs"/>
                        </a:rPr>
                        <a:t>Shortage over 6 months: 240,000 </a:t>
                      </a:r>
                      <a:r>
                        <a:rPr lang="en-US" sz="1200" b="0" kern="1200" baseline="0" dirty="0" err="1" smtClean="0">
                          <a:solidFill>
                            <a:schemeClr val="tx1"/>
                          </a:solidFill>
                          <a:effectLst/>
                          <a:latin typeface="+mn-lt"/>
                          <a:ea typeface="+mn-ea"/>
                          <a:cs typeface="+mn-cs"/>
                        </a:rPr>
                        <a:t>MWh</a:t>
                      </a:r>
                      <a:endParaRPr lang="en-US" sz="1200" b="0" kern="1200" baseline="0" dirty="0" smtClean="0">
                        <a:solidFill>
                          <a:schemeClr val="tx1"/>
                        </a:solidFill>
                        <a:effectLst/>
                        <a:latin typeface="+mn-lt"/>
                        <a:ea typeface="+mn-ea"/>
                        <a:cs typeface="+mn-cs"/>
                      </a:endParaRPr>
                    </a:p>
                    <a:p>
                      <a:pPr marL="171450" indent="-171450">
                        <a:buFont typeface="Arial" pitchFamily="34" charset="0"/>
                        <a:buChar char="•"/>
                      </a:pPr>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Calculate per capita power semi-annual power consumption:</a:t>
                      </a:r>
                    </a:p>
                    <a:p>
                      <a:r>
                        <a:rPr lang="en-US" sz="1200" b="0" kern="1200" baseline="0" dirty="0" smtClean="0">
                          <a:solidFill>
                            <a:schemeClr val="tx1"/>
                          </a:solidFill>
                          <a:effectLst/>
                          <a:latin typeface="+mn-lt"/>
                          <a:ea typeface="+mn-ea"/>
                          <a:cs typeface="+mn-cs"/>
                        </a:rPr>
                        <a:t>=2,000,000/25,000,000/2 = 0.08/2 = 0.04 </a:t>
                      </a:r>
                      <a:r>
                        <a:rPr lang="en-US" sz="1200" b="0" kern="1200" baseline="0" dirty="0" err="1" smtClean="0">
                          <a:solidFill>
                            <a:schemeClr val="tx1"/>
                          </a:solidFill>
                          <a:effectLst/>
                          <a:latin typeface="+mn-lt"/>
                          <a:ea typeface="+mn-ea"/>
                          <a:cs typeface="+mn-cs"/>
                        </a:rPr>
                        <a:t>MWh</a:t>
                      </a:r>
                      <a:r>
                        <a:rPr lang="en-US" sz="1200" b="0" kern="1200" baseline="0" dirty="0" smtClean="0">
                          <a:solidFill>
                            <a:schemeClr val="tx1"/>
                          </a:solidFill>
                          <a:effectLst/>
                          <a:latin typeface="+mn-lt"/>
                          <a:ea typeface="+mn-ea"/>
                          <a:cs typeface="+mn-cs"/>
                        </a:rPr>
                        <a:t> /person</a:t>
                      </a:r>
                    </a:p>
                    <a:p>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Calculate number of Ugandans without power due to drought:</a:t>
                      </a:r>
                    </a:p>
                    <a:p>
                      <a:r>
                        <a:rPr lang="en-US" sz="1200" b="0" kern="1200" baseline="0" dirty="0" smtClean="0">
                          <a:solidFill>
                            <a:schemeClr val="tx1"/>
                          </a:solidFill>
                          <a:effectLst/>
                          <a:latin typeface="+mn-lt"/>
                          <a:ea typeface="+mn-ea"/>
                          <a:cs typeface="+mn-cs"/>
                        </a:rPr>
                        <a:t>=240,000/0.04 =  6,000,000</a:t>
                      </a:r>
                    </a:p>
                    <a:p>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Calculate total number of Ugandans without power:</a:t>
                      </a:r>
                    </a:p>
                    <a:p>
                      <a:r>
                        <a:rPr lang="en-US" sz="1200" b="0" kern="1200" baseline="0" dirty="0" smtClean="0">
                          <a:solidFill>
                            <a:schemeClr val="tx1"/>
                          </a:solidFill>
                          <a:effectLst/>
                          <a:latin typeface="+mn-lt"/>
                          <a:ea typeface="+mn-ea"/>
                          <a:cs typeface="+mn-cs"/>
                        </a:rPr>
                        <a:t>=6,000,000 + 10,000,000 = 16,000,000</a:t>
                      </a:r>
                    </a:p>
                    <a:p>
                      <a:endParaRPr lang="en-US" sz="1200" b="0" kern="1200" baseline="0" dirty="0" smtClean="0">
                        <a:solidFill>
                          <a:schemeClr val="tx1"/>
                        </a:solidFill>
                        <a:effectLst/>
                        <a:latin typeface="+mn-lt"/>
                        <a:ea typeface="+mn-ea"/>
                        <a:cs typeface="+mn-cs"/>
                      </a:endParaRPr>
                    </a:p>
                    <a:p>
                      <a:r>
                        <a:rPr lang="en-US" sz="1200" b="0" kern="1200" baseline="0" dirty="0" smtClean="0">
                          <a:solidFill>
                            <a:schemeClr val="tx1"/>
                          </a:solidFill>
                          <a:effectLst/>
                          <a:latin typeface="+mn-lt"/>
                          <a:ea typeface="+mn-ea"/>
                          <a:cs typeface="+mn-cs"/>
                        </a:rPr>
                        <a:t>Percentage of Ugandans that will be without power over the next 6 months:</a:t>
                      </a:r>
                    </a:p>
                    <a:p>
                      <a:r>
                        <a:rPr lang="en-US" sz="1200" b="0" kern="1200" baseline="0" dirty="0" smtClean="0">
                          <a:solidFill>
                            <a:schemeClr val="tx1"/>
                          </a:solidFill>
                          <a:effectLst/>
                          <a:latin typeface="+mn-lt"/>
                          <a:ea typeface="+mn-ea"/>
                          <a:cs typeface="+mn-cs"/>
                        </a:rPr>
                        <a:t>=16,000,000/34,500,000 = ~ 46%</a:t>
                      </a:r>
                    </a:p>
                    <a:p>
                      <a:endParaRPr lang="en-US" sz="1200" b="0" kern="1200" baseline="0" dirty="0" smtClean="0">
                        <a:solidFill>
                          <a:schemeClr val="tx1"/>
                        </a:solidFill>
                        <a:effectLst/>
                        <a:latin typeface="+mn-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127</a:t>
            </a:fld>
            <a:endParaRPr lang="en-US" dirty="0"/>
          </a:p>
        </p:txBody>
      </p:sp>
    </p:spTree>
    <p:extLst>
      <p:ext uri="{BB962C8B-B14F-4D97-AF65-F5344CB8AC3E}">
        <p14:creationId xmlns:p14="http://schemas.microsoft.com/office/powerpoint/2010/main" val="349116863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16: Blackouts in Uganda</a:t>
            </a:r>
          </a:p>
        </p:txBody>
      </p:sp>
      <p:graphicFrame>
        <p:nvGraphicFramePr>
          <p:cNvPr id="12" name="Table 11"/>
          <p:cNvGraphicFramePr>
            <a:graphicFrameLocks noGrp="1"/>
          </p:cNvGraphicFramePr>
          <p:nvPr>
            <p:extLst>
              <p:ext uri="{D42A27DB-BD31-4B8C-83A1-F6EECF244321}">
                <p14:modId xmlns:p14="http://schemas.microsoft.com/office/powerpoint/2010/main" val="3603838984"/>
              </p:ext>
            </p:extLst>
          </p:nvPr>
        </p:nvGraphicFramePr>
        <p:xfrm>
          <a:off x="304800" y="1381125"/>
          <a:ext cx="8534400" cy="30175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ea typeface="ＭＳ Ｐゴシック" pitchFamily="34" charset="-128"/>
                        </a:rPr>
                        <a:t>Performance Evaluation</a:t>
                      </a:r>
                    </a:p>
                  </a:txBody>
                  <a:tcPr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charset="0"/>
                          <a:ea typeface="ＭＳ Ｐゴシック" pitchFamily="34" charset="-128"/>
                        </a:rPr>
                        <a:t>Expected:</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Prompts A, B and C answered with little or no guidance</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Prompts D, E attempted but only completed with significant guidance</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charset="0"/>
                          <a:ea typeface="ＭＳ Ｐゴシック" pitchFamily="34" charset="-128"/>
                        </a:rPr>
                        <a:t>Prompts F and G completed with some guidance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Arial" charset="0"/>
                        <a:ea typeface="ＭＳ Ｐゴシック"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charset="0"/>
                          <a:ea typeface="ＭＳ Ｐゴシック" pitchFamily="34" charset="-128"/>
                        </a:rPr>
                        <a:t>Good:</a:t>
                      </a:r>
                      <a:endParaRPr kumimoji="0" lang="en-US" sz="1200" b="0" i="0" u="none" strike="noStrike" cap="none" normalizeH="0" baseline="0" dirty="0" smtClean="0">
                        <a:ln>
                          <a:noFill/>
                        </a:ln>
                        <a:solidFill>
                          <a:schemeClr val="tx1"/>
                        </a:solidFill>
                        <a:effectLst/>
                        <a:latin typeface="Arial" charset="0"/>
                        <a:ea typeface="ＭＳ Ｐゴシック" pitchFamily="34" charset="-128"/>
                      </a:endParaRP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Arial" charset="0"/>
                          <a:ea typeface="ＭＳ Ｐゴシック" pitchFamily="34" charset="-128"/>
                          <a:cs typeface="+mn-cs"/>
                        </a:rPr>
                        <a:t>Prompts A, B, C, F and G completed with little or no guidance</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Arial" charset="0"/>
                          <a:ea typeface="ＭＳ Ｐゴシック" pitchFamily="34" charset="-128"/>
                          <a:cs typeface="+mn-cs"/>
                        </a:rPr>
                        <a:t>Prompts D, E </a:t>
                      </a:r>
                      <a:r>
                        <a:rPr kumimoji="0" lang="en-US" sz="1200" b="0" i="0" u="none" strike="noStrike" cap="none" normalizeH="0" baseline="0" dirty="0" smtClean="0">
                          <a:ln>
                            <a:noFill/>
                          </a:ln>
                          <a:solidFill>
                            <a:schemeClr val="tx1"/>
                          </a:solidFill>
                          <a:effectLst/>
                          <a:latin typeface="Arial" charset="0"/>
                          <a:ea typeface="ＭＳ Ｐゴシック" pitchFamily="34" charset="-128"/>
                        </a:rPr>
                        <a:t>attempted but only completed with significant guidance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Arial" charset="0"/>
                        <a:ea typeface="ＭＳ Ｐゴシック" pitchFamily="3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Arial" charset="0"/>
                          <a:ea typeface="ＭＳ Ｐゴシック" pitchFamily="34" charset="-128"/>
                        </a:rPr>
                        <a:t>Excellent:</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Arial" charset="0"/>
                          <a:ea typeface="ＭＳ Ｐゴシック" pitchFamily="34" charset="-128"/>
                          <a:cs typeface="+mn-cs"/>
                        </a:rPr>
                        <a:t>Completes “Expected” and “Good” requirements</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Arial" charset="0"/>
                          <a:ea typeface="ＭＳ Ｐゴシック" pitchFamily="34" charset="-128"/>
                          <a:cs typeface="+mn-cs"/>
                        </a:rPr>
                        <a:t>Completes all prompts without significant guidance</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kern="1200" cap="none" normalizeH="0" baseline="0" dirty="0" smtClean="0">
                          <a:ln>
                            <a:noFill/>
                          </a:ln>
                          <a:solidFill>
                            <a:schemeClr val="tx1"/>
                          </a:solidFill>
                          <a:effectLst/>
                          <a:latin typeface="Arial" charset="0"/>
                          <a:ea typeface="ＭＳ Ｐゴシック" pitchFamily="34" charset="-128"/>
                          <a:cs typeface="+mn-cs"/>
                        </a:rPr>
                        <a:t>Added their own additional insights about the case. For example, they elaborated on why it would be fairly risky for a rental power provider to do business in certain countries due to the significant risks of doing business there (i.e. Syria)</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200" b="0" i="0" u="none" strike="noStrike" kern="1200" cap="none" normalizeH="0" baseline="0" dirty="0" smtClean="0">
                        <a:ln>
                          <a:noFill/>
                        </a:ln>
                        <a:solidFill>
                          <a:schemeClr val="tx1"/>
                        </a:solidFill>
                        <a:effectLst/>
                        <a:latin typeface="Arial" charset="0"/>
                        <a:ea typeface="ＭＳ Ｐゴシック" pitchFamily="34" charset="-128"/>
                        <a:cs typeface="+mn-cs"/>
                      </a:endParaRPr>
                    </a:p>
                  </a:txBody>
                  <a:tcPr horzOverflow="overflow"/>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BCG</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128</a:t>
            </a:fld>
            <a:endParaRPr lang="en-US" dirty="0"/>
          </a:p>
        </p:txBody>
      </p:sp>
    </p:spTree>
    <p:extLst>
      <p:ext uri="{BB962C8B-B14F-4D97-AF65-F5344CB8AC3E}">
        <p14:creationId xmlns:p14="http://schemas.microsoft.com/office/powerpoint/2010/main" val="236223001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129</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17: Contract Manufacturer Co.</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600058545"/>
              </p:ext>
            </p:extLst>
          </p:nvPr>
        </p:nvGraphicFramePr>
        <p:xfrm>
          <a:off x="304800" y="1381125"/>
          <a:ext cx="8534400" cy="530352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i="0" kern="1200" dirty="0" smtClean="0">
                          <a:solidFill>
                            <a:schemeClr val="tx1"/>
                          </a:solidFill>
                          <a:latin typeface="+mj-lt"/>
                          <a:ea typeface="+mn-ea"/>
                          <a:cs typeface="+mn-cs"/>
                        </a:rPr>
                        <a:t>Your</a:t>
                      </a:r>
                      <a:r>
                        <a:rPr lang="en-US" sz="1200" b="0" i="0" kern="1200" baseline="0" dirty="0" smtClean="0">
                          <a:solidFill>
                            <a:schemeClr val="tx1"/>
                          </a:solidFill>
                          <a:latin typeface="+mj-lt"/>
                          <a:ea typeface="+mn-ea"/>
                          <a:cs typeface="+mn-cs"/>
                        </a:rPr>
                        <a:t> client is Contract Manufacturer Co., which produces components for a number of diverse products. They have grown quickly and had 2011 revenues of $17 billion. They now serve 350 customers across nearly 20 industries, including consumer electronics, mobile phones, healthcare, and defense. They are dependent on their end-markets, e.g. how many consumers buy mobile phones next year, but they only “see” this demand through their customers, e.g. Apple and RIM. They are therefore very vulnerable to changes in market demand but find it difficult to estimate this demand. Third party sources, e.g. financial analysts and market research organizations who follow the space, are also very inaccurate. </a:t>
                      </a:r>
                    </a:p>
                    <a:p>
                      <a:endParaRPr lang="en-US" sz="1200" b="0" i="0" kern="1200" baseline="0" dirty="0" smtClean="0">
                        <a:solidFill>
                          <a:schemeClr val="tx1"/>
                        </a:solidFill>
                        <a:latin typeface="+mj-lt"/>
                        <a:ea typeface="+mn-ea"/>
                        <a:cs typeface="+mn-cs"/>
                      </a:endParaRPr>
                    </a:p>
                    <a:p>
                      <a:r>
                        <a:rPr lang="en-US" sz="1200" b="0" i="0" kern="1200" dirty="0" smtClean="0">
                          <a:solidFill>
                            <a:schemeClr val="tx1"/>
                          </a:solidFill>
                          <a:latin typeface="+mj-lt"/>
                          <a:ea typeface="+mn-ea"/>
                          <a:cs typeface="+mn-cs"/>
                        </a:rPr>
                        <a:t>The CEO of Contract Manufacturer Co. has</a:t>
                      </a:r>
                      <a:r>
                        <a:rPr lang="en-US" sz="1200" b="0" i="0" kern="1200" baseline="0" dirty="0" smtClean="0">
                          <a:solidFill>
                            <a:schemeClr val="tx1"/>
                          </a:solidFill>
                          <a:latin typeface="+mj-lt"/>
                          <a:ea typeface="+mn-ea"/>
                          <a:cs typeface="+mn-cs"/>
                        </a:rPr>
                        <a:t> become</a:t>
                      </a:r>
                      <a:r>
                        <a:rPr lang="en-US" sz="1200" b="0" i="0" kern="1200" dirty="0" smtClean="0">
                          <a:solidFill>
                            <a:schemeClr val="tx1"/>
                          </a:solidFill>
                          <a:latin typeface="+mj-lt"/>
                          <a:ea typeface="+mn-ea"/>
                          <a:cs typeface="+mn-cs"/>
                        </a:rPr>
                        <a:t> increasingly</a:t>
                      </a:r>
                      <a:r>
                        <a:rPr lang="en-US" sz="1200" b="0" i="0" kern="1200" baseline="0" dirty="0" smtClean="0">
                          <a:solidFill>
                            <a:schemeClr val="tx1"/>
                          </a:solidFill>
                          <a:latin typeface="+mj-lt"/>
                          <a:ea typeface="+mn-ea"/>
                          <a:cs typeface="+mn-cs"/>
                        </a:rPr>
                        <a:t> frustrated by their vulnerability to the market and their inaccuracy in predicting end-market demand. He wonders whether they should be better able to identify market trends and in particular, whether they could better utilize data they have accessible via their customer relationships.</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How would you go about advising the CEO?  Should Contract Manufacturer Co. be able to develop a proprietary view of their markets?</a:t>
                      </a:r>
                    </a:p>
                    <a:p>
                      <a:endParaRPr lang="en-US" sz="1200" b="0" i="0" kern="1200" baseline="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i="0" kern="1200" dirty="0" smtClean="0">
                          <a:solidFill>
                            <a:schemeClr val="tx1"/>
                          </a:solidFill>
                          <a:latin typeface="+mj-lt"/>
                          <a:ea typeface="+mn-ea"/>
                          <a:cs typeface="+mn-cs"/>
                        </a:rPr>
                        <a:t>This is</a:t>
                      </a:r>
                      <a:r>
                        <a:rPr lang="en-US" sz="1200" i="0" kern="1200" baseline="0" dirty="0" smtClean="0">
                          <a:solidFill>
                            <a:schemeClr val="tx1"/>
                          </a:solidFill>
                          <a:latin typeface="+mj-lt"/>
                          <a:ea typeface="+mn-ea"/>
                          <a:cs typeface="+mn-cs"/>
                        </a:rPr>
                        <a:t> a high-level, strategy case that should lead to an interesting, open-ended discussion rather than a focused analysis. The objective is to test the candidate’s ability to quickly understand an industry that is not often discussed and think creatively and holistically about a business problem. The candidate should have most of the information needed in the prompt but may ask clarifying questions before beginning his/her framework. </a:t>
                      </a:r>
                      <a:endParaRPr lang="en-US" sz="120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j-lt"/>
                          <a:ea typeface="+mn-ea"/>
                          <a:cs typeface="+mn-cs"/>
                        </a:rPr>
                        <a:t>Services: c</a:t>
                      </a:r>
                      <a:r>
                        <a:rPr lang="en-US" sz="1200" b="0" i="0" u="none" kern="1200" baseline="0" dirty="0" smtClean="0">
                          <a:solidFill>
                            <a:schemeClr val="tx1"/>
                          </a:solidFill>
                          <a:latin typeface="+mn-lt"/>
                          <a:ea typeface="+mn-ea"/>
                          <a:cs typeface="+mn-cs"/>
                        </a:rPr>
                        <a:t>ustomers turn to Contract Manufacturer Co. or their competitors to provide parts quickly and cheaply. They are involved in some design and after-market services but most of their business (revenue) comes from simply manufacturing the parts requested. Customers will generally request parts 3-months in advance</a:t>
                      </a:r>
                      <a:endParaRPr lang="en-US" sz="1200" b="0" i="0" u="none"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33528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Bain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130</a:t>
            </a:fld>
            <a:endParaRPr lang="en-US" dirty="0"/>
          </a:p>
        </p:txBody>
      </p:sp>
    </p:spTree>
    <p:extLst>
      <p:ext uri="{BB962C8B-B14F-4D97-AF65-F5344CB8AC3E}">
        <p14:creationId xmlns:p14="http://schemas.microsoft.com/office/powerpoint/2010/main" val="237059001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131</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707674819"/>
              </p:ext>
            </p:extLst>
          </p:nvPr>
        </p:nvGraphicFramePr>
        <p:xfrm>
          <a:off x="304800" y="1389990"/>
          <a:ext cx="8534400" cy="5394960"/>
        </p:xfrm>
        <a:graphic>
          <a:graphicData uri="http://schemas.openxmlformats.org/drawingml/2006/table">
            <a:tbl>
              <a:tblPr firstRow="1" bandRow="1">
                <a:tableStyleId>{616DA210-FB5B-4158-B5E0-FEB733F419BA}</a:tableStyleId>
              </a:tblPr>
              <a:tblGrid>
                <a:gridCol w="1600200"/>
                <a:gridCol w="6934200"/>
              </a:tblGrid>
              <a:tr h="246471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rgbClr val="CCCCCC"/>
                    </a:solidFill>
                  </a:tcPr>
                </a:tc>
                <a:tc>
                  <a:txBody>
                    <a:bodyPr/>
                    <a:lstStyle/>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Competitor landscape: Contract Manufacturer Co. is in a competitive space. Contract Manufacturer Co. is one of the leading players, with about 10% market share. Their largest competitors are Chinese and Taiwanese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Organizational structure: Contract Manufacturer Co. is structured by industry verticals, which it terms “sectors,” e.g. mobile phones or healthcare would be “sectors.” They have sales and account teams dedicated to customers in these sectors and a VP leads each sector. They have a strategic planning group at the corporate level, but it is quite new and not very mature</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Profitability: Contract Manufacturer Co. is a profitable business but their margins are only 3-5% so they depend on volume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Geographic scope: Contract Manufacturer Co. is based in the US but has operations worldwide. Their customers are also global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Costs: Contract Manufacturing Co.’s costs include procurement of supplies, manufacturing costs, and labor costs. When customer request parts, Contract Manufacturer Co. needs to invest significant sums in machinery and technology</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n-lt"/>
                          <a:ea typeface="+mn-ea"/>
                          <a:cs typeface="+mn-cs"/>
                        </a:rPr>
                        <a:t>Ideal recommendations should touch on some of the areas below. The candidate should be measured against the quality of the questions posed and the level of the discussion overall. The candidate should sound interested in the potential for better market intelligence but realistic about the state of the company and whether this is feasible in their environment.</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External best practices (What):</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candidate may be curious to better understand whether other companies similar to Contract Manufacturer Co. (e.g. their competitors or proxy industries) are able to develop accurate views of their end-markets.</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Analysis indicates that in the contract manufacturing space, companies are not very mature at market intelligence. Their competitors do not appear to be any further along in this process.</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Best-in-class companies, however, have established market intelligence functions that capture market data, including publically available data (financial statements, research reports, etc.)</a:t>
                      </a:r>
                    </a:p>
                  </a:txBody>
                  <a:tcPr>
                    <a:solidFill>
                      <a:srgbClr val="CCCCCC"/>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9954" name="TextBox 6"/>
          <p:cNvSpPr txBox="1">
            <a:spLocks noChangeArrowheads="1"/>
          </p:cNvSpPr>
          <p:nvPr/>
        </p:nvSpPr>
        <p:spPr bwMode="auto">
          <a:xfrm>
            <a:off x="228600" y="990600"/>
            <a:ext cx="31242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
        <p:nvSpPr>
          <p:cNvPr id="3995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Bain &amp; Company</a:t>
            </a:r>
            <a:endParaRPr lang="en-US" sz="1400" i="1" dirty="0"/>
          </a:p>
        </p:txBody>
      </p:sp>
      <p:sp>
        <p:nvSpPr>
          <p:cNvPr id="3995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17: </a:t>
            </a:r>
            <a:r>
              <a:rPr lang="en-US" sz="2400" b="1" dirty="0"/>
              <a:t>Contract Manufacturer Co.</a:t>
            </a:r>
          </a:p>
        </p:txBody>
      </p:sp>
    </p:spTree>
    <p:extLst>
      <p:ext uri="{BB962C8B-B14F-4D97-AF65-F5344CB8AC3E}">
        <p14:creationId xmlns:p14="http://schemas.microsoft.com/office/powerpoint/2010/main" val="292748334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132</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985133270"/>
              </p:ext>
            </p:extLst>
          </p:nvPr>
        </p:nvGraphicFramePr>
        <p:xfrm>
          <a:off x="304800" y="1382110"/>
          <a:ext cx="8534400" cy="539496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i="0" dirty="0" smtClean="0">
                          <a:latin typeface="+mj-lt"/>
                        </a:rPr>
                        <a:t>Guidance</a:t>
                      </a:r>
                      <a:endParaRPr lang="en-US" sz="1800" i="0" dirty="0">
                        <a:latin typeface="+mj-lt"/>
                      </a:endParaRPr>
                    </a:p>
                  </a:txBody>
                  <a:tcPr anchor="ctr">
                    <a:solidFill>
                      <a:srgbClr val="CCCCCC"/>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Motivation and justification (Why):</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candidate should be curious about the benefits of developing a more accurate view of their markets. The candidate may postulate a few reasons or ask for guidance</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While it is difficult to quantify the benefits of better market intelligence, overall it is clear this is beneficial because of the strategic decisions and risks the company is able to take</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Specifically, a sophisticated business is able to do the following:</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chemeClr val="tx1"/>
                          </a:solidFill>
                          <a:latin typeface="+mn-lt"/>
                          <a:ea typeface="+mn-ea"/>
                          <a:cs typeface="+mn-cs"/>
                        </a:rPr>
                        <a:t>Accurately forecast revenue </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chemeClr val="tx1"/>
                          </a:solidFill>
                          <a:latin typeface="+mn-lt"/>
                          <a:ea typeface="+mn-ea"/>
                          <a:cs typeface="+mn-cs"/>
                        </a:rPr>
                        <a:t>Improve account planning, e.g. revise production, capacity and resource plans</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chemeClr val="tx1"/>
                          </a:solidFill>
                          <a:latin typeface="+mn-lt"/>
                          <a:ea typeface="+mn-ea"/>
                          <a:cs typeface="+mn-cs"/>
                        </a:rPr>
                        <a:t>Develop long-term strategy, e.g. identify capability gaps and evaluate need for M&amp;A or R&amp;D to fill the gaps</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chemeClr val="tx1"/>
                          </a:solidFill>
                          <a:latin typeface="+mn-lt"/>
                          <a:ea typeface="+mn-ea"/>
                          <a:cs typeface="+mn-cs"/>
                        </a:rPr>
                        <a:t>Build credibility with the investor community by communicating an accurate annual view of the market and corresponding strategy</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Customer willingness (How):</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The candidate may be curious to understand whether customers would be willing to share their strategy and plans with their suppliers, since that is ultimately what a proprietary view of the market will depend on</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Our research indicates that most customers were open and willing to discuss their strategies with Contract Manufacturer Co. since they understand that it furthers both organizations’ objectives</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Customers in certain industries/sectors, however, remain reluctant to share much</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Sector applicability (Where):</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One vital insight is that the ability for Contract Manufacturer Co. to develop an accurate view of the market differs across sectors; that said, there is the potential to improve their market intelligence gathering in all sectors</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chemeClr val="tx1"/>
                          </a:solidFill>
                          <a:latin typeface="+mn-lt"/>
                          <a:ea typeface="+mn-ea"/>
                          <a:cs typeface="+mn-cs"/>
                        </a:rPr>
                        <a:t>One way to determine applicability is to us</a:t>
                      </a:r>
                      <a:r>
                        <a:rPr lang="en-US" sz="1200" b="0" i="0" u="none" kern="1200" baseline="0" dirty="0" smtClean="0">
                          <a:solidFill>
                            <a:schemeClr val="tx1"/>
                          </a:solidFill>
                          <a:latin typeface="+mn-lt"/>
                          <a:ea typeface="+mn-ea"/>
                          <a:cs typeface="+mn-cs"/>
                        </a:rPr>
                        <a:t>e a matrix (see Exhibit 2), plotting need for market intelligence on one dimension and ability to accurately develop a view of the market on the second dimension; the recommendation would then be for the client to first focus on sectors where there is the greatest need and ability to improve market intelligence, in order to get the biggest wins first</a:t>
                      </a:r>
                      <a:endParaRPr lang="en-US" sz="1200" b="0" i="0" kern="1200" baseline="0" dirty="0" smtClean="0">
                        <a:solidFill>
                          <a:schemeClr val="tx1"/>
                        </a:solidFill>
                        <a:latin typeface="+mn-lt"/>
                        <a:ea typeface="+mn-ea"/>
                        <a:cs typeface="+mn-cs"/>
                      </a:endParaRPr>
                    </a:p>
                  </a:txBody>
                  <a:tcPr>
                    <a:solidFill>
                      <a:srgbClr val="CCCCCC"/>
                    </a:solidFill>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2"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
        <p:nvSpPr>
          <p:cNvPr id="40974"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Bain &amp; Company</a:t>
            </a:r>
            <a:endParaRPr lang="en-US" sz="1400" i="1" dirty="0"/>
          </a:p>
        </p:txBody>
      </p:sp>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17: </a:t>
            </a:r>
            <a:r>
              <a:rPr lang="en-US" sz="2400" b="1" dirty="0"/>
              <a:t>Contract Manufacturer Co.</a:t>
            </a:r>
          </a:p>
        </p:txBody>
      </p:sp>
    </p:spTree>
    <p:extLst>
      <p:ext uri="{BB962C8B-B14F-4D97-AF65-F5344CB8AC3E}">
        <p14:creationId xmlns:p14="http://schemas.microsoft.com/office/powerpoint/2010/main" val="223603901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133</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305142279"/>
              </p:ext>
            </p:extLst>
          </p:nvPr>
        </p:nvGraphicFramePr>
        <p:xfrm>
          <a:off x="304800" y="1389990"/>
          <a:ext cx="8534400" cy="539496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i="0" dirty="0" smtClean="0">
                          <a:latin typeface="+mj-lt"/>
                        </a:rPr>
                        <a:t>Guidance</a:t>
                      </a:r>
                      <a:endParaRPr lang="en-US" sz="1800" i="0" dirty="0">
                        <a:latin typeface="+mj-lt"/>
                      </a:endParaRPr>
                    </a:p>
                  </a:txBody>
                  <a:tcPr anchor="ctr">
                    <a:solidFill>
                      <a:srgbClr val="CCCCCC"/>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Roles &amp; responsibilities (Who):</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The candidate may consider who in the organization would be best suited to improve market intelligence gathering</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The organization has a centralized strategic planning team that could be responsible for gathering and tracking publically available data; ultimately the sales and account teams will need to be trained to listen and engage their customers in discussions about market direction</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There is no right answer about who should own this process</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Next steps (When):</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The candidate should attempt to think through immediate next steps. There is no right answer but the candidate should understand that this is a capability that will take time to develop and will not transform over night</a:t>
                      </a:r>
                    </a:p>
                    <a:p>
                      <a:pPr marL="628650" marR="0" lvl="1"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Some next steps might include: </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u="none" kern="1200" baseline="0" dirty="0" smtClean="0">
                          <a:solidFill>
                            <a:schemeClr val="tx1"/>
                          </a:solidFill>
                          <a:latin typeface="+mn-lt"/>
                          <a:ea typeface="+mn-ea"/>
                          <a:cs typeface="+mn-cs"/>
                        </a:rPr>
                        <a:t>Getting buy-in for this idea across the organization</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u="none" kern="1200" baseline="0" dirty="0" smtClean="0">
                          <a:solidFill>
                            <a:schemeClr val="tx1"/>
                          </a:solidFill>
                          <a:latin typeface="+mn-lt"/>
                          <a:ea typeface="+mn-ea"/>
                          <a:cs typeface="+mn-cs"/>
                        </a:rPr>
                        <a:t>Performing analysis to understand in what sectors to prioritize efforts</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u="none" kern="1200" baseline="0" dirty="0" smtClean="0">
                          <a:solidFill>
                            <a:schemeClr val="tx1"/>
                          </a:solidFill>
                          <a:latin typeface="+mn-lt"/>
                          <a:ea typeface="+mn-ea"/>
                          <a:cs typeface="+mn-cs"/>
                        </a:rPr>
                        <a:t>Consider running a market intelligence “pilot” in a few sectors</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u="none" kern="1200" baseline="0" dirty="0" smtClean="0">
                          <a:solidFill>
                            <a:schemeClr val="tx1"/>
                          </a:solidFill>
                          <a:latin typeface="+mn-lt"/>
                          <a:ea typeface="+mn-ea"/>
                          <a:cs typeface="+mn-cs"/>
                        </a:rPr>
                        <a:t>Evaluate the systems in which they currently capture customer data and ensure they will allow for more mature data gathering</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u="none" kern="1200" baseline="0" dirty="0" smtClean="0">
                          <a:solidFill>
                            <a:schemeClr val="tx1"/>
                          </a:solidFill>
                          <a:latin typeface="+mn-lt"/>
                          <a:ea typeface="+mn-ea"/>
                          <a:cs typeface="+mn-cs"/>
                        </a:rPr>
                        <a:t>Begin to more comprehensively track publically available data</a:t>
                      </a:r>
                    </a:p>
                    <a:p>
                      <a:pPr marL="1143000" marR="0" lvl="2" indent="-228600" algn="l" defTabSz="457200" rtl="0" eaLnBrk="1" fontAlgn="auto" latinLnBrk="0" hangingPunct="1">
                        <a:lnSpc>
                          <a:spcPct val="100000"/>
                        </a:lnSpc>
                        <a:spcBef>
                          <a:spcPts val="0"/>
                        </a:spcBef>
                        <a:spcAft>
                          <a:spcPts val="0"/>
                        </a:spcAft>
                        <a:buClrTx/>
                        <a:buSzTx/>
                        <a:buFont typeface="+mj-lt"/>
                        <a:buAutoNum type="arabicPeriod"/>
                        <a:tabLst/>
                        <a:defRPr/>
                      </a:pPr>
                      <a:endParaRPr lang="en-US" sz="1200" b="0" i="0" u="none" kern="1200" baseline="0" dirty="0" smtClean="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b="0" i="0" u="none" kern="1200" baseline="0" dirty="0" smtClean="0">
                          <a:solidFill>
                            <a:schemeClr val="tx1"/>
                          </a:solidFill>
                          <a:latin typeface="+mn-lt"/>
                          <a:ea typeface="+mn-ea"/>
                          <a:cs typeface="+mn-cs"/>
                        </a:rPr>
                        <a:t>As the discussion progresses, the interviewer should give the exhibits to the candidate: </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Exhibit 1: the first insight here is that third party forecasters are just as inaccurate and indeed in most cases, more inaccurate than Contract Manufacturer Co. at forecasting the market. The taller the bar, the greater the forecast error and therefore the less accurate the forecast. The second insight is that the accuracy differs across sectors, so the candidate should begin to think about the applicability of this work to specific sectors</a:t>
                      </a:r>
                    </a:p>
                    <a:p>
                      <a:pPr marL="171450" marR="0" lvl="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u="none" kern="1200" baseline="0" dirty="0" smtClean="0">
                          <a:solidFill>
                            <a:schemeClr val="tx1"/>
                          </a:solidFill>
                          <a:latin typeface="+mn-lt"/>
                          <a:ea typeface="+mn-ea"/>
                          <a:cs typeface="+mn-cs"/>
                        </a:rPr>
                        <a:t>Exhibit 2: this is one way to prioritize the sectors (the candidate may have recommended an alternative approach). The insight is that the client should focus their efforts on the top right quadrant (see Exhibit 2, for interviewer only)</a:t>
                      </a:r>
                    </a:p>
                  </a:txBody>
                  <a:tcPr>
                    <a:solidFill>
                      <a:srgbClr val="CCCCCC"/>
                    </a:solidFill>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2"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
        <p:nvSpPr>
          <p:cNvPr id="40974"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Bain &amp; Company</a:t>
            </a:r>
            <a:endParaRPr lang="en-US" sz="1400" i="1" dirty="0"/>
          </a:p>
        </p:txBody>
      </p:sp>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17: </a:t>
            </a:r>
            <a:r>
              <a:rPr lang="en-US" sz="2400" b="1" dirty="0"/>
              <a:t>Contract Manufacturer Co.</a:t>
            </a:r>
          </a:p>
        </p:txBody>
      </p:sp>
    </p:spTree>
    <p:extLst>
      <p:ext uri="{BB962C8B-B14F-4D97-AF65-F5344CB8AC3E}">
        <p14:creationId xmlns:p14="http://schemas.microsoft.com/office/powerpoint/2010/main" val="3996181302"/>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14"/>
          <p:cNvGraphicFramePr>
            <a:graphicFrameLocks/>
          </p:cNvGraphicFramePr>
          <p:nvPr>
            <p:extLst>
              <p:ext uri="{D42A27DB-BD31-4B8C-83A1-F6EECF244321}">
                <p14:modId xmlns:p14="http://schemas.microsoft.com/office/powerpoint/2010/main" val="18503327"/>
              </p:ext>
            </p:extLst>
          </p:nvPr>
        </p:nvGraphicFramePr>
        <p:xfrm>
          <a:off x="533400" y="2249870"/>
          <a:ext cx="7987004" cy="2390274"/>
        </p:xfrm>
        <a:graphic>
          <a:graphicData uri="http://schemas.openxmlformats.org/drawingml/2006/chart">
            <c:chart xmlns:c="http://schemas.openxmlformats.org/drawingml/2006/chart" xmlns:r="http://schemas.openxmlformats.org/officeDocument/2006/relationships" r:id="rId2"/>
          </a:graphicData>
        </a:graphic>
      </p:graphicFrame>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134</a:t>
            </a:fld>
            <a:endParaRPr lang="en-US" smtClean="0">
              <a:latin typeface="Arial" pitchFamily="34" charset="0"/>
              <a:ea typeface="ＭＳ Ｐゴシック" pitchFamily="34" charset="-128"/>
            </a:endParaRPr>
          </a:p>
        </p:txBody>
      </p:sp>
      <p:pic>
        <p:nvPicPr>
          <p:cNvPr id="40971" name="Picture 2"/>
          <p:cNvPicPr>
            <a:picLocks noChangeAspect="1" noChangeArrowheads="1"/>
          </p:cNvPicPr>
          <p:nvPr/>
        </p:nvPicPr>
        <p:blipFill>
          <a:blip r:embed="rId3"/>
          <a:srcRect/>
          <a:stretch>
            <a:fillRect/>
          </a:stretch>
        </p:blipFill>
        <p:spPr bwMode="auto">
          <a:xfrm>
            <a:off x="304800" y="228600"/>
            <a:ext cx="1200150" cy="635000"/>
          </a:xfrm>
          <a:prstGeom prst="rect">
            <a:avLst/>
          </a:prstGeom>
          <a:noFill/>
          <a:ln w="9525" algn="ctr">
            <a:noFill/>
            <a:miter lim="800000"/>
            <a:headEnd/>
            <a:tailEnd/>
          </a:ln>
        </p:spPr>
      </p:pic>
      <p:sp>
        <p:nvSpPr>
          <p:cNvPr id="2" name="TextBox 1"/>
          <p:cNvSpPr txBox="1"/>
          <p:nvPr/>
        </p:nvSpPr>
        <p:spPr>
          <a:xfrm>
            <a:off x="2657507" y="-47033"/>
            <a:ext cx="184666" cy="369332"/>
          </a:xfrm>
          <a:prstGeom prst="rect">
            <a:avLst/>
          </a:prstGeom>
          <a:noFill/>
        </p:spPr>
        <p:txBody>
          <a:bodyPr wrap="none" rtlCol="0">
            <a:spAutoFit/>
          </a:bodyPr>
          <a:lstStyle/>
          <a:p>
            <a:endParaRPr lang="en-US" dirty="0"/>
          </a:p>
        </p:txBody>
      </p:sp>
      <p:grpSp>
        <p:nvGrpSpPr>
          <p:cNvPr id="3" name="Group 2"/>
          <p:cNvGrpSpPr/>
          <p:nvPr/>
        </p:nvGrpSpPr>
        <p:grpSpPr>
          <a:xfrm>
            <a:off x="837792" y="2249870"/>
            <a:ext cx="3639429" cy="491756"/>
            <a:chOff x="5001834" y="5791200"/>
            <a:chExt cx="3715250" cy="544429"/>
          </a:xfrm>
        </p:grpSpPr>
        <p:sp>
          <p:nvSpPr>
            <p:cNvPr id="12" name="TextBox 11"/>
            <p:cNvSpPr txBox="1"/>
            <p:nvPr/>
          </p:nvSpPr>
          <p:spPr>
            <a:xfrm>
              <a:off x="5181600" y="5791200"/>
              <a:ext cx="3535484" cy="261610"/>
            </a:xfrm>
            <a:prstGeom prst="rect">
              <a:avLst/>
            </a:prstGeom>
            <a:noFill/>
          </p:spPr>
          <p:txBody>
            <a:bodyPr wrap="square" lIns="45720" rIns="45720" rtlCol="0">
              <a:spAutoFit/>
            </a:bodyPr>
            <a:lstStyle/>
            <a:p>
              <a:r>
                <a:rPr lang="en-US" sz="1100" dirty="0" smtClean="0">
                  <a:solidFill>
                    <a:prstClr val="black"/>
                  </a:solidFill>
                </a:rPr>
                <a:t>Contract Manufacturer Co.’s Forecast Error</a:t>
              </a:r>
            </a:p>
          </p:txBody>
        </p:sp>
        <p:sp>
          <p:nvSpPr>
            <p:cNvPr id="10" name="Rectangle 9"/>
            <p:cNvSpPr/>
            <p:nvPr/>
          </p:nvSpPr>
          <p:spPr>
            <a:xfrm>
              <a:off x="5004366" y="5813078"/>
              <a:ext cx="173534" cy="155016"/>
            </a:xfrm>
            <a:prstGeom prst="rect">
              <a:avLst/>
            </a:prstGeom>
            <a:solidFill>
              <a:srgbClr val="00397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a:endParaRPr lang="en-US" sz="2000" dirty="0" smtClean="0">
                <a:solidFill>
                  <a:srgbClr val="FFFFFF"/>
                </a:solidFill>
              </a:endParaRPr>
            </a:p>
          </p:txBody>
        </p:sp>
        <p:sp>
          <p:nvSpPr>
            <p:cNvPr id="11" name="Rectangle 10"/>
            <p:cNvSpPr/>
            <p:nvPr/>
          </p:nvSpPr>
          <p:spPr>
            <a:xfrm>
              <a:off x="5001834" y="6096000"/>
              <a:ext cx="173534" cy="155016"/>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a:endParaRPr lang="en-US" sz="2000" dirty="0" smtClean="0">
                <a:solidFill>
                  <a:prstClr val="black"/>
                </a:solidFill>
              </a:endParaRPr>
            </a:p>
          </p:txBody>
        </p:sp>
        <p:sp>
          <p:nvSpPr>
            <p:cNvPr id="13" name="TextBox 12"/>
            <p:cNvSpPr txBox="1"/>
            <p:nvPr/>
          </p:nvSpPr>
          <p:spPr>
            <a:xfrm>
              <a:off x="5188046" y="6074019"/>
              <a:ext cx="1974754" cy="261610"/>
            </a:xfrm>
            <a:prstGeom prst="rect">
              <a:avLst/>
            </a:prstGeom>
            <a:noFill/>
          </p:spPr>
          <p:txBody>
            <a:bodyPr wrap="square" lIns="45720" rIns="45720" rtlCol="0">
              <a:spAutoFit/>
            </a:bodyPr>
            <a:lstStyle/>
            <a:p>
              <a:r>
                <a:rPr lang="en-US" sz="1100" dirty="0" smtClean="0">
                  <a:solidFill>
                    <a:prstClr val="black"/>
                  </a:solidFill>
                </a:rPr>
                <a:t>Third Party Forecast Error</a:t>
              </a:r>
            </a:p>
          </p:txBody>
        </p:sp>
      </p:grpSp>
      <p:sp>
        <p:nvSpPr>
          <p:cNvPr id="4" name="TextBox 3"/>
          <p:cNvSpPr txBox="1"/>
          <p:nvPr/>
        </p:nvSpPr>
        <p:spPr>
          <a:xfrm>
            <a:off x="695163" y="4929238"/>
            <a:ext cx="7165910" cy="461665"/>
          </a:xfrm>
          <a:prstGeom prst="rect">
            <a:avLst/>
          </a:prstGeom>
          <a:noFill/>
        </p:spPr>
        <p:txBody>
          <a:bodyPr wrap="square" rtlCol="0">
            <a:spAutoFit/>
          </a:bodyPr>
          <a:lstStyle/>
          <a:p>
            <a:r>
              <a:rPr lang="en-US" sz="1200" dirty="0" smtClean="0"/>
              <a:t>Note: Contract Manufacturer Co. is forecasting each sector’s revenue for the next year; the third party source is forecasting the size of the overall market (sector) next year</a:t>
            </a:r>
            <a:endParaRPr lang="en-US" sz="1200" dirty="0"/>
          </a:p>
        </p:txBody>
      </p:sp>
      <p:sp>
        <p:nvSpPr>
          <p:cNvPr id="14"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16"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17" name="TextBox 16"/>
          <p:cNvSpPr txBox="1"/>
          <p:nvPr/>
        </p:nvSpPr>
        <p:spPr>
          <a:xfrm>
            <a:off x="685800" y="1676392"/>
            <a:ext cx="3688574" cy="307777"/>
          </a:xfrm>
          <a:prstGeom prst="rect">
            <a:avLst/>
          </a:prstGeom>
          <a:noFill/>
        </p:spPr>
        <p:txBody>
          <a:bodyPr wrap="none" rtlCol="0">
            <a:spAutoFit/>
          </a:bodyPr>
          <a:lstStyle/>
          <a:p>
            <a:r>
              <a:rPr lang="en-US" sz="1400" b="1" dirty="0" smtClean="0"/>
              <a:t>Exhibit 1: Annual revenue forecast errors</a:t>
            </a:r>
            <a:endParaRPr lang="en-US" sz="1400" b="1" dirty="0"/>
          </a:p>
        </p:txBody>
      </p:sp>
      <p:sp>
        <p:nvSpPr>
          <p:cNvPr id="18"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17: </a:t>
            </a:r>
            <a:r>
              <a:rPr lang="en-US" sz="2400" b="1" dirty="0"/>
              <a:t>Contract Manufacturer Co.</a:t>
            </a:r>
          </a:p>
        </p:txBody>
      </p:sp>
    </p:spTree>
    <p:extLst>
      <p:ext uri="{BB962C8B-B14F-4D97-AF65-F5344CB8AC3E}">
        <p14:creationId xmlns:p14="http://schemas.microsoft.com/office/powerpoint/2010/main" val="1886536616"/>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Placeholder 5"/>
          <p:cNvGraphicFramePr>
            <a:graphicFrameLocks noGrp="1"/>
          </p:cNvGraphicFramePr>
          <p:nvPr>
            <p:ph type="tbl" sz="quarter" idx="10"/>
            <p:custDataLst>
              <p:tags r:id="rId1"/>
            </p:custDataLst>
            <p:extLst>
              <p:ext uri="{D42A27DB-BD31-4B8C-83A1-F6EECF244321}">
                <p14:modId xmlns:p14="http://schemas.microsoft.com/office/powerpoint/2010/main" val="1500118587"/>
              </p:ext>
            </p:extLst>
          </p:nvPr>
        </p:nvGraphicFramePr>
        <p:xfrm>
          <a:off x="1665558" y="1884853"/>
          <a:ext cx="6193233" cy="3201276"/>
        </p:xfrm>
        <a:graphic>
          <a:graphicData uri="http://schemas.openxmlformats.org/drawingml/2006/table">
            <a:tbl>
              <a:tblPr firstRow="1" bandRow="1">
                <a:tableStyleId>{2D5ABB26-0587-4C30-8999-92F81FD0307C}</a:tableStyleId>
              </a:tblPr>
              <a:tblGrid>
                <a:gridCol w="3096616"/>
                <a:gridCol w="3096617"/>
              </a:tblGrid>
              <a:tr h="1600638">
                <a:tc>
                  <a:txBody>
                    <a:bodyPr/>
                    <a:lstStyle/>
                    <a:p>
                      <a:pPr marL="0" marR="0" lvl="0" indent="0" algn="l" defTabSz="981075" rtl="0" eaLnBrk="0" fontAlgn="base" latinLnBrk="0" hangingPunct="0">
                        <a:lnSpc>
                          <a:spcPct val="100000"/>
                        </a:lnSpc>
                        <a:spcBef>
                          <a:spcPct val="40000"/>
                        </a:spcBef>
                        <a:spcAft>
                          <a:spcPct val="0"/>
                        </a:spcAft>
                        <a:buClr>
                          <a:srgbClr val="000000"/>
                        </a:buClr>
                        <a:buSzTx/>
                        <a:buFont typeface="Verdana" pitchFamily="34" charset="0"/>
                        <a:buNone/>
                        <a:tabLst/>
                        <a:defRPr/>
                      </a:pPr>
                      <a:endParaRPr kumimoji="0" lang="en-US" sz="1100" b="0" i="0" u="none" strike="noStrike" kern="0" cap="none" spc="0" normalizeH="0" baseline="0" noProof="0" dirty="0" smtClean="0">
                        <a:ln>
                          <a:noFill/>
                        </a:ln>
                        <a:solidFill>
                          <a:srgbClr val="000000"/>
                        </a:solidFill>
                        <a:effectLst/>
                        <a:uLnTx/>
                        <a:uFillTx/>
                        <a:latin typeface="+mn-lt"/>
                        <a:ea typeface="+mn-ea"/>
                        <a:cs typeface="+mn-cs"/>
                      </a:endParaRP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endParaRPr kumimoji="0" lang="en-US" sz="1100" b="0" i="0" u="none" strike="noStrike" kern="0" cap="none" spc="0" normalizeH="0" baseline="0" noProof="0" dirty="0" smtClean="0">
                        <a:ln>
                          <a:noFill/>
                        </a:ln>
                        <a:solidFill>
                          <a:srgbClr val="000000"/>
                        </a:solidFill>
                        <a:effectLst/>
                        <a:uLnTx/>
                        <a:uFillTx/>
                        <a:latin typeface="+mn-lt"/>
                        <a:ea typeface="+mn-ea"/>
                        <a:cs typeface="+mn-cs"/>
                      </a:endParaRP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endParaRPr kumimoji="0" lang="en-US" sz="1100" b="0" i="0" u="none" strike="noStrike" kern="0" cap="none" spc="0" normalizeH="0" baseline="0" noProof="0" dirty="0" smtClean="0">
                        <a:ln>
                          <a:noFill/>
                        </a:ln>
                        <a:solidFill>
                          <a:srgbClr val="000000"/>
                        </a:solidFill>
                        <a:effectLst/>
                        <a:uLnTx/>
                        <a:uFillTx/>
                        <a:latin typeface="+mn-lt"/>
                        <a:ea typeface="+mn-ea"/>
                        <a:cs typeface="+mn-cs"/>
                      </a:endParaRP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endParaRPr kumimoji="0" lang="en-US" sz="1100" b="0" i="0" u="none" strike="noStrike" kern="0" cap="none" spc="0" normalizeH="0" baseline="0" noProof="0" dirty="0">
                        <a:ln>
                          <a:noFill/>
                        </a:ln>
                        <a:solidFill>
                          <a:srgbClr val="000000"/>
                        </a:solidFill>
                        <a:effectLst/>
                        <a:uLnTx/>
                        <a:uFillTx/>
                        <a:latin typeface="+mn-lt"/>
                        <a:ea typeface="+mn-ea"/>
                        <a:cs typeface="+mn-cs"/>
                      </a:endParaRPr>
                    </a:p>
                  </a:txBody>
                  <a:tcPr marL="85935" marR="85935" marT="42122" marB="42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81075" rtl="0" eaLnBrk="0" fontAlgn="base" latinLnBrk="0" hangingPunct="0">
                        <a:lnSpc>
                          <a:spcPct val="100000"/>
                        </a:lnSpc>
                        <a:spcBef>
                          <a:spcPct val="40000"/>
                        </a:spcBef>
                        <a:spcAft>
                          <a:spcPct val="0"/>
                        </a:spcAft>
                        <a:buClr>
                          <a:srgbClr val="FFFFFF"/>
                        </a:buClr>
                        <a:buSzTx/>
                        <a:buFont typeface="Verdana" pitchFamily="34" charset="0"/>
                        <a:buNone/>
                        <a:tabLst/>
                        <a:defRPr/>
                      </a:pPr>
                      <a:endParaRPr kumimoji="0" lang="en-US" sz="1100" b="0" i="0" u="none" strike="noStrike" kern="0" cap="none" spc="0" normalizeH="0" baseline="0" noProof="0" dirty="0" smtClean="0">
                        <a:ln>
                          <a:noFill/>
                        </a:ln>
                        <a:solidFill>
                          <a:srgbClr val="FFFFFF"/>
                        </a:solidFill>
                        <a:effectLst/>
                        <a:uLnTx/>
                        <a:uFillTx/>
                        <a:latin typeface="+mn-lt"/>
                        <a:ea typeface="+mn-ea"/>
                        <a:cs typeface="+mn-cs"/>
                      </a:endParaRP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endParaRPr kumimoji="0" lang="en-US" sz="1100" b="0" i="0" u="none" strike="noStrike" kern="0" cap="none" spc="0" normalizeH="0" baseline="0" noProof="0" dirty="0">
                        <a:ln>
                          <a:noFill/>
                        </a:ln>
                        <a:solidFill>
                          <a:srgbClr val="FFFFFF"/>
                        </a:solidFill>
                        <a:effectLst/>
                        <a:uLnTx/>
                        <a:uFillTx/>
                        <a:latin typeface="+mn-lt"/>
                        <a:ea typeface="+mn-ea"/>
                        <a:cs typeface="+mn-cs"/>
                      </a:endParaRPr>
                    </a:p>
                  </a:txBody>
                  <a:tcPr marL="85935" marR="85935" marT="42122" marB="42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1600638">
                <a:tc>
                  <a:txBody>
                    <a:bodyPr/>
                    <a:lstStyle/>
                    <a:p>
                      <a:pPr marL="0" marR="0" lvl="0" indent="0" algn="l" defTabSz="981075" rtl="0" eaLnBrk="0" fontAlgn="base" latinLnBrk="0" hangingPunct="0">
                        <a:lnSpc>
                          <a:spcPct val="100000"/>
                        </a:lnSpc>
                        <a:spcBef>
                          <a:spcPct val="40000"/>
                        </a:spcBef>
                        <a:spcAft>
                          <a:spcPct val="0"/>
                        </a:spcAft>
                        <a:buClr>
                          <a:srgbClr val="000000"/>
                        </a:buClr>
                        <a:buSzTx/>
                        <a:buFont typeface="Verdana" pitchFamily="34" charset="0"/>
                        <a:buNone/>
                        <a:tabLst/>
                        <a:defRPr/>
                      </a:pPr>
                      <a:endParaRPr kumimoji="0" lang="en-US" sz="1100" b="0" i="0" u="none" strike="noStrike" kern="0" cap="none" spc="0" normalizeH="0" baseline="0" noProof="0" dirty="0" smtClean="0">
                        <a:ln>
                          <a:noFill/>
                        </a:ln>
                        <a:solidFill>
                          <a:srgbClr val="000000"/>
                        </a:solidFill>
                        <a:effectLst/>
                        <a:uLnTx/>
                        <a:uFillTx/>
                        <a:latin typeface="+mn-lt"/>
                        <a:ea typeface="+mn-ea"/>
                        <a:cs typeface="+mn-cs"/>
                      </a:endParaRPr>
                    </a:p>
                  </a:txBody>
                  <a:tcPr marL="85935" marR="85935" marT="42122" marB="42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81075" rtl="0" eaLnBrk="0" fontAlgn="base" latinLnBrk="0" hangingPunct="0">
                        <a:lnSpc>
                          <a:spcPct val="100000"/>
                        </a:lnSpc>
                        <a:spcBef>
                          <a:spcPct val="40000"/>
                        </a:spcBef>
                        <a:spcAft>
                          <a:spcPct val="0"/>
                        </a:spcAft>
                        <a:buClr>
                          <a:srgbClr val="000000"/>
                        </a:buClr>
                        <a:buSzTx/>
                        <a:buFont typeface="Verdana" pitchFamily="34" charset="0"/>
                        <a:buNone/>
                        <a:tabLst/>
                        <a:defRPr/>
                      </a:pPr>
                      <a:endParaRPr kumimoji="0" lang="en-US" sz="1100" b="0" i="0" u="none" strike="noStrike" kern="0" cap="none" spc="0" normalizeH="0" baseline="0" noProof="0" dirty="0" smtClean="0">
                        <a:ln>
                          <a:noFill/>
                        </a:ln>
                        <a:solidFill>
                          <a:srgbClr val="000000"/>
                        </a:solidFill>
                        <a:effectLst/>
                        <a:uLnTx/>
                        <a:uFillTx/>
                        <a:latin typeface="+mn-lt"/>
                        <a:ea typeface="+mn-ea"/>
                        <a:cs typeface="+mn-cs"/>
                      </a:endParaRPr>
                    </a:p>
                  </a:txBody>
                  <a:tcPr marL="85935" marR="85935" marT="42122" marB="421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grpSp>
        <p:nvGrpSpPr>
          <p:cNvPr id="20" name="Group 19"/>
          <p:cNvGrpSpPr/>
          <p:nvPr/>
        </p:nvGrpSpPr>
        <p:grpSpPr>
          <a:xfrm>
            <a:off x="1743740" y="5113515"/>
            <a:ext cx="6122966" cy="326311"/>
            <a:chOff x="2044700" y="5704968"/>
            <a:chExt cx="6514155" cy="354259"/>
          </a:xfrm>
        </p:grpSpPr>
        <p:sp>
          <p:nvSpPr>
            <p:cNvPr id="9" name="TextBox 8"/>
            <p:cNvSpPr txBox="1"/>
            <p:nvPr/>
          </p:nvSpPr>
          <p:spPr>
            <a:xfrm>
              <a:off x="2044700" y="5723382"/>
              <a:ext cx="824227" cy="317430"/>
            </a:xfrm>
            <a:prstGeom prst="rect">
              <a:avLst/>
            </a:prstGeom>
            <a:noFill/>
          </p:spPr>
          <p:txBody>
            <a:bodyPr wrap="square" lIns="45720" rIns="45720" rtlCol="0">
              <a:spAutoFit/>
            </a:bodyPr>
            <a:lstStyle/>
            <a:p>
              <a:pPr algn="ctr"/>
              <a:r>
                <a:rPr lang="en-US" sz="1300" dirty="0">
                  <a:solidFill>
                    <a:prstClr val="black"/>
                  </a:solidFill>
                </a:rPr>
                <a:t>Low</a:t>
              </a:r>
            </a:p>
          </p:txBody>
        </p:sp>
        <p:sp>
          <p:nvSpPr>
            <p:cNvPr id="11" name="TextBox 10"/>
            <p:cNvSpPr txBox="1"/>
            <p:nvPr/>
          </p:nvSpPr>
          <p:spPr>
            <a:xfrm>
              <a:off x="7626905" y="5704968"/>
              <a:ext cx="931950" cy="317430"/>
            </a:xfrm>
            <a:prstGeom prst="rect">
              <a:avLst/>
            </a:prstGeom>
            <a:noFill/>
          </p:spPr>
          <p:txBody>
            <a:bodyPr wrap="square" lIns="45720" rIns="45720" rtlCol="0">
              <a:spAutoFit/>
            </a:bodyPr>
            <a:lstStyle/>
            <a:p>
              <a:pPr algn="ctr"/>
              <a:r>
                <a:rPr lang="en-US" sz="1300" dirty="0">
                  <a:solidFill>
                    <a:prstClr val="black"/>
                  </a:solidFill>
                </a:rPr>
                <a:t>High</a:t>
              </a:r>
            </a:p>
          </p:txBody>
        </p:sp>
        <p:sp>
          <p:nvSpPr>
            <p:cNvPr id="10" name="Rectangle 9"/>
            <p:cNvSpPr/>
            <p:nvPr/>
          </p:nvSpPr>
          <p:spPr>
            <a:xfrm>
              <a:off x="2745987" y="5741797"/>
              <a:ext cx="4864100" cy="317430"/>
            </a:xfrm>
            <a:prstGeom prst="rect">
              <a:avLst/>
            </a:prstGeom>
          </p:spPr>
          <p:txBody>
            <a:bodyPr>
              <a:spAutoFit/>
            </a:bodyPr>
            <a:lstStyle/>
            <a:p>
              <a:pPr algn="ctr"/>
              <a:r>
                <a:rPr lang="en-US" sz="1300" b="1" dirty="0">
                  <a:solidFill>
                    <a:prstClr val="black"/>
                  </a:solidFill>
                </a:rPr>
                <a:t>Degree of </a:t>
              </a:r>
              <a:r>
                <a:rPr lang="en-US" sz="1300" b="1" dirty="0" smtClean="0">
                  <a:solidFill>
                    <a:prstClr val="black"/>
                  </a:solidFill>
                </a:rPr>
                <a:t>market exposure</a:t>
              </a:r>
              <a:endParaRPr lang="en-US" sz="1300" b="1" dirty="0">
                <a:solidFill>
                  <a:prstClr val="black"/>
                </a:solidFill>
              </a:endParaRPr>
            </a:p>
          </p:txBody>
        </p:sp>
      </p:grpSp>
      <p:grpSp>
        <p:nvGrpSpPr>
          <p:cNvPr id="12" name="Group 11"/>
          <p:cNvGrpSpPr/>
          <p:nvPr/>
        </p:nvGrpSpPr>
        <p:grpSpPr>
          <a:xfrm>
            <a:off x="1635415" y="5394277"/>
            <a:ext cx="6218251" cy="750810"/>
            <a:chOff x="1975251" y="5856287"/>
            <a:chExt cx="6615528" cy="815116"/>
          </a:xfrm>
          <a:solidFill>
            <a:srgbClr val="FFE260"/>
          </a:solidFill>
        </p:grpSpPr>
        <p:sp>
          <p:nvSpPr>
            <p:cNvPr id="29" name="Up Arrow 28"/>
            <p:cNvSpPr/>
            <p:nvPr/>
          </p:nvSpPr>
          <p:spPr>
            <a:xfrm rot="5400000">
              <a:off x="4900227" y="2980851"/>
              <a:ext cx="815116" cy="6565988"/>
            </a:xfrm>
            <a:prstGeom prst="upArrow">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a:endParaRPr lang="en-US" sz="1900" dirty="0">
                <a:solidFill>
                  <a:srgbClr val="FFFFFF"/>
                </a:solidFill>
              </a:endParaRPr>
            </a:p>
          </p:txBody>
        </p:sp>
        <p:sp>
          <p:nvSpPr>
            <p:cNvPr id="21" name="Rectangle 20"/>
            <p:cNvSpPr/>
            <p:nvPr/>
          </p:nvSpPr>
          <p:spPr>
            <a:xfrm>
              <a:off x="1975251" y="6084887"/>
              <a:ext cx="6565988" cy="317431"/>
            </a:xfrm>
            <a:prstGeom prst="rect">
              <a:avLst/>
            </a:prstGeom>
            <a:noFill/>
          </p:spPr>
          <p:txBody>
            <a:bodyPr wrap="square">
              <a:spAutoFit/>
            </a:bodyPr>
            <a:lstStyle/>
            <a:p>
              <a:pPr algn="ctr"/>
              <a:r>
                <a:rPr lang="en-US" sz="1300" b="1" dirty="0">
                  <a:solidFill>
                    <a:srgbClr val="000000"/>
                  </a:solidFill>
                </a:rPr>
                <a:t>Ability to develop a proprietary view</a:t>
              </a:r>
            </a:p>
          </p:txBody>
        </p:sp>
      </p:grpSp>
      <p:grpSp>
        <p:nvGrpSpPr>
          <p:cNvPr id="18" name="Group 17"/>
          <p:cNvGrpSpPr/>
          <p:nvPr/>
        </p:nvGrpSpPr>
        <p:grpSpPr>
          <a:xfrm>
            <a:off x="1189658" y="1961145"/>
            <a:ext cx="306653" cy="3293751"/>
            <a:chOff x="1502687" y="2129113"/>
            <a:chExt cx="326245" cy="3575855"/>
          </a:xfrm>
        </p:grpSpPr>
        <p:sp>
          <p:nvSpPr>
            <p:cNvPr id="13" name="TextBox 12"/>
            <p:cNvSpPr txBox="1"/>
            <p:nvPr/>
          </p:nvSpPr>
          <p:spPr>
            <a:xfrm rot="16200000">
              <a:off x="579702" y="3761508"/>
              <a:ext cx="2167135" cy="311068"/>
            </a:xfrm>
            <a:prstGeom prst="rect">
              <a:avLst/>
            </a:prstGeom>
            <a:noFill/>
          </p:spPr>
          <p:txBody>
            <a:bodyPr wrap="square" lIns="45720" rIns="45720" rtlCol="0">
              <a:spAutoFit/>
            </a:bodyPr>
            <a:lstStyle/>
            <a:p>
              <a:pPr algn="ctr"/>
              <a:r>
                <a:rPr lang="en-US" sz="1300" b="1" dirty="0">
                  <a:solidFill>
                    <a:prstClr val="black"/>
                  </a:solidFill>
                </a:rPr>
                <a:t>Sector volatility</a:t>
              </a:r>
            </a:p>
          </p:txBody>
        </p:sp>
        <p:sp>
          <p:nvSpPr>
            <p:cNvPr id="14" name="TextBox 13"/>
            <p:cNvSpPr txBox="1"/>
            <p:nvPr/>
          </p:nvSpPr>
          <p:spPr>
            <a:xfrm rot="16200000">
              <a:off x="1236995" y="5113031"/>
              <a:ext cx="872806" cy="311068"/>
            </a:xfrm>
            <a:prstGeom prst="rect">
              <a:avLst/>
            </a:prstGeom>
            <a:noFill/>
          </p:spPr>
          <p:txBody>
            <a:bodyPr wrap="square" lIns="45720" rIns="45720" rtlCol="0">
              <a:spAutoFit/>
            </a:bodyPr>
            <a:lstStyle/>
            <a:p>
              <a:pPr algn="ctr"/>
              <a:r>
                <a:rPr lang="en-US" sz="1300" dirty="0">
                  <a:solidFill>
                    <a:prstClr val="black"/>
                  </a:solidFill>
                </a:rPr>
                <a:t>Low</a:t>
              </a:r>
            </a:p>
          </p:txBody>
        </p:sp>
        <p:sp>
          <p:nvSpPr>
            <p:cNvPr id="15" name="TextBox 14"/>
            <p:cNvSpPr txBox="1"/>
            <p:nvPr/>
          </p:nvSpPr>
          <p:spPr>
            <a:xfrm rot="16200000">
              <a:off x="1221817" y="2409983"/>
              <a:ext cx="872808" cy="311068"/>
            </a:xfrm>
            <a:prstGeom prst="rect">
              <a:avLst/>
            </a:prstGeom>
            <a:noFill/>
          </p:spPr>
          <p:txBody>
            <a:bodyPr wrap="square" lIns="45720" rIns="45720" rtlCol="0">
              <a:spAutoFit/>
            </a:bodyPr>
            <a:lstStyle/>
            <a:p>
              <a:pPr algn="ctr"/>
              <a:r>
                <a:rPr lang="en-US" sz="1300" dirty="0">
                  <a:solidFill>
                    <a:prstClr val="black"/>
                  </a:solidFill>
                </a:rPr>
                <a:t>High</a:t>
              </a:r>
            </a:p>
          </p:txBody>
        </p:sp>
      </p:grpSp>
      <p:grpSp>
        <p:nvGrpSpPr>
          <p:cNvPr id="7" name="Group 6"/>
          <p:cNvGrpSpPr/>
          <p:nvPr/>
        </p:nvGrpSpPr>
        <p:grpSpPr>
          <a:xfrm>
            <a:off x="346183" y="1849334"/>
            <a:ext cx="766166" cy="3264193"/>
            <a:chOff x="560722" y="2007726"/>
            <a:chExt cx="815116" cy="3543765"/>
          </a:xfrm>
          <a:solidFill>
            <a:srgbClr val="FFE260"/>
          </a:solidFill>
        </p:grpSpPr>
        <p:sp>
          <p:nvSpPr>
            <p:cNvPr id="39" name="Up Arrow 38"/>
            <p:cNvSpPr/>
            <p:nvPr/>
          </p:nvSpPr>
          <p:spPr>
            <a:xfrm>
              <a:off x="560722" y="2007726"/>
              <a:ext cx="815116" cy="3543762"/>
            </a:xfrm>
            <a:prstGeom prst="upArrow">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a:endParaRPr lang="en-US" sz="1900" dirty="0">
                <a:solidFill>
                  <a:srgbClr val="FFFFFF"/>
                </a:solidFill>
              </a:endParaRPr>
            </a:p>
          </p:txBody>
        </p:sp>
        <p:sp>
          <p:nvSpPr>
            <p:cNvPr id="40" name="Rectangle 39"/>
            <p:cNvSpPr/>
            <p:nvPr/>
          </p:nvSpPr>
          <p:spPr>
            <a:xfrm rot="16200000">
              <a:off x="-795504" y="3624074"/>
              <a:ext cx="3543764" cy="311069"/>
            </a:xfrm>
            <a:prstGeom prst="rect">
              <a:avLst/>
            </a:prstGeom>
            <a:noFill/>
          </p:spPr>
          <p:txBody>
            <a:bodyPr wrap="square">
              <a:spAutoFit/>
            </a:bodyPr>
            <a:lstStyle/>
            <a:p>
              <a:pPr algn="ctr"/>
              <a:r>
                <a:rPr lang="en-US" sz="1300" b="1" dirty="0">
                  <a:solidFill>
                    <a:srgbClr val="000000"/>
                  </a:solidFill>
                </a:rPr>
                <a:t>Value of a proprietary view</a:t>
              </a:r>
            </a:p>
          </p:txBody>
        </p:sp>
      </p:grpSp>
      <p:sp>
        <p:nvSpPr>
          <p:cNvPr id="2" name="TextBox 1"/>
          <p:cNvSpPr txBox="1"/>
          <p:nvPr/>
        </p:nvSpPr>
        <p:spPr>
          <a:xfrm>
            <a:off x="6322791" y="2203334"/>
            <a:ext cx="1042546" cy="226796"/>
          </a:xfrm>
          <a:prstGeom prst="rect">
            <a:avLst/>
          </a:prstGeom>
          <a:noFill/>
        </p:spPr>
        <p:txBody>
          <a:bodyPr wrap="square" lIns="42597" tIns="42597" rIns="42597" bIns="42597" rtlCol="0">
            <a:spAutoFit/>
          </a:bodyPr>
          <a:lstStyle/>
          <a:p>
            <a:pPr algn="r"/>
            <a:r>
              <a:rPr lang="en-US" sz="900" b="1" dirty="0">
                <a:solidFill>
                  <a:schemeClr val="accent4"/>
                </a:solidFill>
              </a:rPr>
              <a:t>Sector 1</a:t>
            </a:r>
          </a:p>
        </p:txBody>
      </p:sp>
      <p:sp>
        <p:nvSpPr>
          <p:cNvPr id="24" name="TextBox 23"/>
          <p:cNvSpPr txBox="1"/>
          <p:nvPr/>
        </p:nvSpPr>
        <p:spPr>
          <a:xfrm>
            <a:off x="5383431" y="2383749"/>
            <a:ext cx="1456509" cy="226796"/>
          </a:xfrm>
          <a:prstGeom prst="rect">
            <a:avLst/>
          </a:prstGeom>
          <a:noFill/>
        </p:spPr>
        <p:txBody>
          <a:bodyPr wrap="square" lIns="42597" tIns="42597" rIns="42597" bIns="42597" rtlCol="0">
            <a:spAutoFit/>
          </a:bodyPr>
          <a:lstStyle/>
          <a:p>
            <a:pPr algn="r"/>
            <a:r>
              <a:rPr lang="en-US" sz="900" b="1" dirty="0">
                <a:solidFill>
                  <a:schemeClr val="accent4"/>
                </a:solidFill>
              </a:rPr>
              <a:t>Sector </a:t>
            </a:r>
            <a:r>
              <a:rPr lang="en-US" sz="900" b="1" dirty="0" smtClean="0">
                <a:solidFill>
                  <a:schemeClr val="accent4"/>
                </a:solidFill>
              </a:rPr>
              <a:t>4</a:t>
            </a:r>
            <a:endParaRPr lang="en-US" sz="900" b="1" dirty="0">
              <a:solidFill>
                <a:schemeClr val="accent4"/>
              </a:solidFill>
            </a:endParaRPr>
          </a:p>
        </p:txBody>
      </p:sp>
      <p:sp>
        <p:nvSpPr>
          <p:cNvPr id="26" name="TextBox 25"/>
          <p:cNvSpPr txBox="1"/>
          <p:nvPr/>
        </p:nvSpPr>
        <p:spPr>
          <a:xfrm>
            <a:off x="4038600" y="2836735"/>
            <a:ext cx="828066" cy="225091"/>
          </a:xfrm>
          <a:prstGeom prst="rect">
            <a:avLst/>
          </a:prstGeom>
          <a:noFill/>
        </p:spPr>
        <p:txBody>
          <a:bodyPr wrap="square" lIns="42597" tIns="42597" rIns="42597" bIns="42597" rtlCol="0">
            <a:spAutoFit/>
          </a:bodyPr>
          <a:lstStyle/>
          <a:p>
            <a:r>
              <a:rPr lang="en-US" sz="900" b="1" dirty="0">
                <a:solidFill>
                  <a:schemeClr val="accent4"/>
                </a:solidFill>
              </a:rPr>
              <a:t>Sector 5</a:t>
            </a:r>
          </a:p>
        </p:txBody>
      </p:sp>
      <p:sp>
        <p:nvSpPr>
          <p:cNvPr id="27" name="TextBox 26"/>
          <p:cNvSpPr txBox="1"/>
          <p:nvPr/>
        </p:nvSpPr>
        <p:spPr>
          <a:xfrm>
            <a:off x="5109270" y="3045596"/>
            <a:ext cx="2053530" cy="226796"/>
          </a:xfrm>
          <a:prstGeom prst="rect">
            <a:avLst/>
          </a:prstGeom>
          <a:noFill/>
        </p:spPr>
        <p:txBody>
          <a:bodyPr wrap="square" lIns="42597" tIns="42597" rIns="42597" bIns="42597" rtlCol="0">
            <a:spAutoFit/>
          </a:bodyPr>
          <a:lstStyle/>
          <a:p>
            <a:r>
              <a:rPr lang="en-US" sz="900" b="1" dirty="0">
                <a:solidFill>
                  <a:schemeClr val="accent4"/>
                </a:solidFill>
              </a:rPr>
              <a:t>Sector 3</a:t>
            </a:r>
          </a:p>
        </p:txBody>
      </p:sp>
      <p:sp>
        <p:nvSpPr>
          <p:cNvPr id="28" name="TextBox 27"/>
          <p:cNvSpPr txBox="1"/>
          <p:nvPr/>
        </p:nvSpPr>
        <p:spPr>
          <a:xfrm>
            <a:off x="1707039" y="3061827"/>
            <a:ext cx="699681" cy="226796"/>
          </a:xfrm>
          <a:prstGeom prst="rect">
            <a:avLst/>
          </a:prstGeom>
          <a:noFill/>
        </p:spPr>
        <p:txBody>
          <a:bodyPr wrap="square" lIns="42597" tIns="42597" rIns="42597" bIns="42597" rtlCol="0">
            <a:spAutoFit/>
          </a:bodyPr>
          <a:lstStyle/>
          <a:p>
            <a:r>
              <a:rPr lang="en-US" sz="900" b="1" dirty="0">
                <a:solidFill>
                  <a:schemeClr val="accent4"/>
                </a:solidFill>
              </a:rPr>
              <a:t>Sector 6</a:t>
            </a:r>
          </a:p>
        </p:txBody>
      </p:sp>
      <p:sp>
        <p:nvSpPr>
          <p:cNvPr id="31" name="TextBox 30"/>
          <p:cNvSpPr txBox="1"/>
          <p:nvPr/>
        </p:nvSpPr>
        <p:spPr>
          <a:xfrm>
            <a:off x="6934200" y="4224131"/>
            <a:ext cx="804845" cy="226796"/>
          </a:xfrm>
          <a:prstGeom prst="rect">
            <a:avLst/>
          </a:prstGeom>
          <a:noFill/>
        </p:spPr>
        <p:txBody>
          <a:bodyPr wrap="square" lIns="42597" tIns="42597" rIns="42597" bIns="42597" rtlCol="0">
            <a:spAutoFit/>
          </a:bodyPr>
          <a:lstStyle/>
          <a:p>
            <a:r>
              <a:rPr lang="en-US" sz="900" b="1" dirty="0">
                <a:solidFill>
                  <a:schemeClr val="accent4"/>
                </a:solidFill>
              </a:rPr>
              <a:t>Sector 7</a:t>
            </a:r>
          </a:p>
        </p:txBody>
      </p:sp>
      <p:sp>
        <p:nvSpPr>
          <p:cNvPr id="32" name="TextBox 31"/>
          <p:cNvSpPr txBox="1"/>
          <p:nvPr/>
        </p:nvSpPr>
        <p:spPr>
          <a:xfrm>
            <a:off x="2362200" y="4419600"/>
            <a:ext cx="892605" cy="226796"/>
          </a:xfrm>
          <a:prstGeom prst="rect">
            <a:avLst/>
          </a:prstGeom>
          <a:noFill/>
        </p:spPr>
        <p:txBody>
          <a:bodyPr wrap="square" lIns="42597" tIns="42597" rIns="42597" bIns="42597" rtlCol="0">
            <a:spAutoFit/>
          </a:bodyPr>
          <a:lstStyle/>
          <a:p>
            <a:r>
              <a:rPr lang="en-US" sz="900" b="1" dirty="0">
                <a:solidFill>
                  <a:schemeClr val="accent4"/>
                </a:solidFill>
              </a:rPr>
              <a:t>Sector </a:t>
            </a:r>
            <a:r>
              <a:rPr lang="en-US" sz="900" b="1" dirty="0" smtClean="0">
                <a:solidFill>
                  <a:schemeClr val="accent4"/>
                </a:solidFill>
              </a:rPr>
              <a:t>2</a:t>
            </a:r>
            <a:endParaRPr lang="en-US" sz="900" b="1" dirty="0">
              <a:solidFill>
                <a:schemeClr val="accent4"/>
              </a:solidFill>
            </a:endParaRPr>
          </a:p>
        </p:txBody>
      </p:sp>
      <p:sp>
        <p:nvSpPr>
          <p:cNvPr id="38" name="TextBox 37"/>
          <p:cNvSpPr txBox="1"/>
          <p:nvPr/>
        </p:nvSpPr>
        <p:spPr>
          <a:xfrm>
            <a:off x="3276600" y="4224132"/>
            <a:ext cx="858256" cy="226796"/>
          </a:xfrm>
          <a:prstGeom prst="rect">
            <a:avLst/>
          </a:prstGeom>
          <a:noFill/>
        </p:spPr>
        <p:txBody>
          <a:bodyPr wrap="square" lIns="42597" tIns="42597" rIns="42597" bIns="42597" rtlCol="0">
            <a:spAutoFit/>
          </a:bodyPr>
          <a:lstStyle/>
          <a:p>
            <a:r>
              <a:rPr lang="en-US" sz="900" b="1" dirty="0">
                <a:solidFill>
                  <a:schemeClr val="accent4"/>
                </a:solidFill>
              </a:rPr>
              <a:t>Sector </a:t>
            </a:r>
            <a:r>
              <a:rPr lang="en-US" sz="900" b="1" dirty="0" smtClean="0">
                <a:solidFill>
                  <a:schemeClr val="accent4"/>
                </a:solidFill>
              </a:rPr>
              <a:t>8</a:t>
            </a:r>
            <a:endParaRPr lang="en-US" sz="900" b="1" dirty="0">
              <a:solidFill>
                <a:schemeClr val="accent4"/>
              </a:solidFill>
            </a:endParaRPr>
          </a:p>
        </p:txBody>
      </p:sp>
      <p:sp>
        <p:nvSpPr>
          <p:cNvPr id="4" name="Oval 3"/>
          <p:cNvSpPr/>
          <p:nvPr/>
        </p:nvSpPr>
        <p:spPr>
          <a:xfrm>
            <a:off x="7397760" y="2235795"/>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sp>
        <p:nvSpPr>
          <p:cNvPr id="41" name="Oval 40"/>
          <p:cNvSpPr/>
          <p:nvPr/>
        </p:nvSpPr>
        <p:spPr>
          <a:xfrm>
            <a:off x="6879875" y="2450148"/>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sp>
        <p:nvSpPr>
          <p:cNvPr id="43" name="Oval 42"/>
          <p:cNvSpPr/>
          <p:nvPr/>
        </p:nvSpPr>
        <p:spPr>
          <a:xfrm>
            <a:off x="5669927" y="3085017"/>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sp>
        <p:nvSpPr>
          <p:cNvPr id="44" name="Oval 43"/>
          <p:cNvSpPr/>
          <p:nvPr/>
        </p:nvSpPr>
        <p:spPr>
          <a:xfrm>
            <a:off x="7222089" y="4053121"/>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sp>
        <p:nvSpPr>
          <p:cNvPr id="46" name="Oval 45"/>
          <p:cNvSpPr/>
          <p:nvPr/>
        </p:nvSpPr>
        <p:spPr>
          <a:xfrm>
            <a:off x="3855760" y="4263553"/>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sp>
        <p:nvSpPr>
          <p:cNvPr id="47" name="Oval 46"/>
          <p:cNvSpPr/>
          <p:nvPr/>
        </p:nvSpPr>
        <p:spPr>
          <a:xfrm>
            <a:off x="2924648" y="4481827"/>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sp>
        <p:nvSpPr>
          <p:cNvPr id="50" name="Oval 49"/>
          <p:cNvSpPr/>
          <p:nvPr/>
        </p:nvSpPr>
        <p:spPr>
          <a:xfrm>
            <a:off x="2077320" y="3311813"/>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sp>
        <p:nvSpPr>
          <p:cNvPr id="51" name="Oval 50"/>
          <p:cNvSpPr/>
          <p:nvPr/>
        </p:nvSpPr>
        <p:spPr>
          <a:xfrm>
            <a:off x="4617366" y="2867492"/>
            <a:ext cx="143248" cy="147952"/>
          </a:xfrm>
          <a:prstGeom prst="ellipse">
            <a:avLst/>
          </a:prstGeom>
          <a:solidFill>
            <a:srgbClr val="113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42597" tIns="42597" rIns="42597" bIns="42597" rtlCol="0" anchor="ctr"/>
          <a:lstStyle/>
          <a:p>
            <a:pPr algn="ctr"/>
            <a:endParaRPr lang="en-US" sz="1900" dirty="0">
              <a:solidFill>
                <a:srgbClr val="000000"/>
              </a:solidFill>
            </a:endParaRPr>
          </a:p>
        </p:txBody>
      </p:sp>
      <p:pic>
        <p:nvPicPr>
          <p:cNvPr id="60" name="Picture 2"/>
          <p:cNvPicPr>
            <a:picLocks noChangeAspect="1" noChangeArrowheads="1"/>
          </p:cNvPicPr>
          <p:nvPr/>
        </p:nvPicPr>
        <p:blipFill>
          <a:blip r:embed="rId4"/>
          <a:srcRect/>
          <a:stretch>
            <a:fillRect/>
          </a:stretch>
        </p:blipFill>
        <p:spPr bwMode="auto">
          <a:xfrm>
            <a:off x="304800" y="228600"/>
            <a:ext cx="1200150" cy="635000"/>
          </a:xfrm>
          <a:prstGeom prst="rect">
            <a:avLst/>
          </a:prstGeom>
          <a:noFill/>
          <a:ln w="9525" algn="ctr">
            <a:noFill/>
            <a:miter lim="800000"/>
            <a:headEnd/>
            <a:tailEnd/>
          </a:ln>
        </p:spPr>
      </p:pic>
      <p:sp>
        <p:nvSpPr>
          <p:cNvPr id="61"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smtClean="0"/>
              <a:t>Contract </a:t>
            </a:r>
            <a:r>
              <a:rPr lang="en-US" sz="2400" b="1" dirty="0"/>
              <a:t>Manufacturer Co</a:t>
            </a:r>
            <a:r>
              <a:rPr lang="en-US" sz="2400" b="1" dirty="0" smtClean="0"/>
              <a:t>. – Exhibit 2</a:t>
            </a:r>
            <a:endParaRPr lang="en-US" sz="2400" b="1" dirty="0"/>
          </a:p>
        </p:txBody>
      </p:sp>
    </p:spTree>
    <p:extLst>
      <p:ext uri="{BB962C8B-B14F-4D97-AF65-F5344CB8AC3E}">
        <p14:creationId xmlns:p14="http://schemas.microsoft.com/office/powerpoint/2010/main" val="303397581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a:off x="1743740" y="5464889"/>
            <a:ext cx="6122966" cy="326311"/>
            <a:chOff x="2044700" y="5704968"/>
            <a:chExt cx="6514155" cy="354259"/>
          </a:xfrm>
        </p:grpSpPr>
        <p:sp>
          <p:nvSpPr>
            <p:cNvPr id="9" name="TextBox 8"/>
            <p:cNvSpPr txBox="1"/>
            <p:nvPr/>
          </p:nvSpPr>
          <p:spPr>
            <a:xfrm>
              <a:off x="2044700" y="5723382"/>
              <a:ext cx="824227" cy="317430"/>
            </a:xfrm>
            <a:prstGeom prst="rect">
              <a:avLst/>
            </a:prstGeom>
            <a:noFill/>
          </p:spPr>
          <p:txBody>
            <a:bodyPr wrap="square" lIns="45720" rIns="45720" rtlCol="0">
              <a:spAutoFit/>
            </a:bodyPr>
            <a:lstStyle/>
            <a:p>
              <a:pPr algn="ctr"/>
              <a:r>
                <a:rPr lang="en-US" sz="1300" dirty="0">
                  <a:solidFill>
                    <a:prstClr val="black"/>
                  </a:solidFill>
                </a:rPr>
                <a:t>Low</a:t>
              </a:r>
            </a:p>
          </p:txBody>
        </p:sp>
        <p:sp>
          <p:nvSpPr>
            <p:cNvPr id="11" name="TextBox 10"/>
            <p:cNvSpPr txBox="1"/>
            <p:nvPr/>
          </p:nvSpPr>
          <p:spPr>
            <a:xfrm>
              <a:off x="7626905" y="5704968"/>
              <a:ext cx="931950" cy="317430"/>
            </a:xfrm>
            <a:prstGeom prst="rect">
              <a:avLst/>
            </a:prstGeom>
            <a:noFill/>
          </p:spPr>
          <p:txBody>
            <a:bodyPr wrap="square" lIns="45720" rIns="45720" rtlCol="0">
              <a:spAutoFit/>
            </a:bodyPr>
            <a:lstStyle/>
            <a:p>
              <a:pPr algn="ctr"/>
              <a:r>
                <a:rPr lang="en-US" sz="1300" dirty="0">
                  <a:solidFill>
                    <a:prstClr val="black"/>
                  </a:solidFill>
                </a:rPr>
                <a:t>High</a:t>
              </a:r>
            </a:p>
          </p:txBody>
        </p:sp>
        <p:sp>
          <p:nvSpPr>
            <p:cNvPr id="10" name="Rectangle 9"/>
            <p:cNvSpPr/>
            <p:nvPr/>
          </p:nvSpPr>
          <p:spPr>
            <a:xfrm>
              <a:off x="2745987" y="5741797"/>
              <a:ext cx="4864100" cy="317430"/>
            </a:xfrm>
            <a:prstGeom prst="rect">
              <a:avLst/>
            </a:prstGeom>
          </p:spPr>
          <p:txBody>
            <a:bodyPr>
              <a:spAutoFit/>
            </a:bodyPr>
            <a:lstStyle/>
            <a:p>
              <a:pPr algn="ctr"/>
              <a:r>
                <a:rPr lang="en-US" sz="1300" b="1" dirty="0">
                  <a:solidFill>
                    <a:prstClr val="black"/>
                  </a:solidFill>
                </a:rPr>
                <a:t>Degree of </a:t>
              </a:r>
              <a:r>
                <a:rPr lang="en-US" sz="1300" b="1" dirty="0" smtClean="0">
                  <a:solidFill>
                    <a:prstClr val="black"/>
                  </a:solidFill>
                </a:rPr>
                <a:t>market exposure</a:t>
              </a:r>
              <a:endParaRPr lang="en-US" sz="1300" b="1" dirty="0">
                <a:solidFill>
                  <a:prstClr val="black"/>
                </a:solidFill>
              </a:endParaRPr>
            </a:p>
          </p:txBody>
        </p:sp>
      </p:grpSp>
      <p:grpSp>
        <p:nvGrpSpPr>
          <p:cNvPr id="18" name="Group 17"/>
          <p:cNvGrpSpPr/>
          <p:nvPr/>
        </p:nvGrpSpPr>
        <p:grpSpPr>
          <a:xfrm>
            <a:off x="1189658" y="1961145"/>
            <a:ext cx="306653" cy="3293751"/>
            <a:chOff x="1502687" y="2129113"/>
            <a:chExt cx="326245" cy="3575855"/>
          </a:xfrm>
        </p:grpSpPr>
        <p:sp>
          <p:nvSpPr>
            <p:cNvPr id="13" name="TextBox 12"/>
            <p:cNvSpPr txBox="1"/>
            <p:nvPr/>
          </p:nvSpPr>
          <p:spPr>
            <a:xfrm rot="16200000">
              <a:off x="579702" y="3761508"/>
              <a:ext cx="2167135" cy="311068"/>
            </a:xfrm>
            <a:prstGeom prst="rect">
              <a:avLst/>
            </a:prstGeom>
            <a:noFill/>
          </p:spPr>
          <p:txBody>
            <a:bodyPr wrap="square" lIns="45720" rIns="45720" rtlCol="0">
              <a:spAutoFit/>
            </a:bodyPr>
            <a:lstStyle/>
            <a:p>
              <a:pPr algn="ctr"/>
              <a:r>
                <a:rPr lang="en-US" sz="1300" b="1" dirty="0">
                  <a:solidFill>
                    <a:prstClr val="black"/>
                  </a:solidFill>
                </a:rPr>
                <a:t>Sector volatility</a:t>
              </a:r>
            </a:p>
          </p:txBody>
        </p:sp>
        <p:sp>
          <p:nvSpPr>
            <p:cNvPr id="14" name="TextBox 13"/>
            <p:cNvSpPr txBox="1"/>
            <p:nvPr/>
          </p:nvSpPr>
          <p:spPr>
            <a:xfrm rot="16200000">
              <a:off x="1236995" y="5113031"/>
              <a:ext cx="872806" cy="311068"/>
            </a:xfrm>
            <a:prstGeom prst="rect">
              <a:avLst/>
            </a:prstGeom>
            <a:noFill/>
          </p:spPr>
          <p:txBody>
            <a:bodyPr wrap="square" lIns="45720" rIns="45720" rtlCol="0">
              <a:spAutoFit/>
            </a:bodyPr>
            <a:lstStyle/>
            <a:p>
              <a:pPr algn="ctr"/>
              <a:r>
                <a:rPr lang="en-US" sz="1300" dirty="0">
                  <a:solidFill>
                    <a:prstClr val="black"/>
                  </a:solidFill>
                </a:rPr>
                <a:t>Low</a:t>
              </a:r>
            </a:p>
          </p:txBody>
        </p:sp>
        <p:sp>
          <p:nvSpPr>
            <p:cNvPr id="15" name="TextBox 14"/>
            <p:cNvSpPr txBox="1"/>
            <p:nvPr/>
          </p:nvSpPr>
          <p:spPr>
            <a:xfrm rot="16200000">
              <a:off x="1221817" y="2409983"/>
              <a:ext cx="872808" cy="311068"/>
            </a:xfrm>
            <a:prstGeom prst="rect">
              <a:avLst/>
            </a:prstGeom>
            <a:noFill/>
          </p:spPr>
          <p:txBody>
            <a:bodyPr wrap="square" lIns="45720" rIns="45720" rtlCol="0">
              <a:spAutoFit/>
            </a:bodyPr>
            <a:lstStyle/>
            <a:p>
              <a:pPr algn="ctr"/>
              <a:r>
                <a:rPr lang="en-US" sz="1300" dirty="0">
                  <a:solidFill>
                    <a:prstClr val="black"/>
                  </a:solidFill>
                </a:rPr>
                <a:t>High</a:t>
              </a:r>
            </a:p>
          </p:txBody>
        </p:sp>
      </p:grpSp>
      <p:pic>
        <p:nvPicPr>
          <p:cNvPr id="60" name="Picture 2"/>
          <p:cNvPicPr>
            <a:picLocks noChangeAspect="1" noChangeArrowheads="1"/>
          </p:cNvPicPr>
          <p:nvPr/>
        </p:nvPicPr>
        <p:blipFill>
          <a:blip r:embed="rId4"/>
          <a:srcRect/>
          <a:stretch>
            <a:fillRect/>
          </a:stretch>
        </p:blipFill>
        <p:spPr bwMode="auto">
          <a:xfrm>
            <a:off x="304800" y="228600"/>
            <a:ext cx="1200150" cy="635000"/>
          </a:xfrm>
          <a:prstGeom prst="rect">
            <a:avLst/>
          </a:prstGeom>
          <a:noFill/>
          <a:ln w="9525" algn="ctr">
            <a:noFill/>
            <a:miter lim="800000"/>
            <a:headEnd/>
            <a:tailEnd/>
          </a:ln>
        </p:spPr>
      </p:pic>
      <p:sp>
        <p:nvSpPr>
          <p:cNvPr id="61" name="TextBox 9"/>
          <p:cNvSpPr txBox="1">
            <a:spLocks noChangeArrowheads="1"/>
          </p:cNvSpPr>
          <p:nvPr/>
        </p:nvSpPr>
        <p:spPr bwMode="auto">
          <a:xfrm>
            <a:off x="1828800" y="376238"/>
            <a:ext cx="5943600" cy="830997"/>
          </a:xfrm>
          <a:prstGeom prst="rect">
            <a:avLst/>
          </a:prstGeom>
          <a:noFill/>
          <a:ln w="9525">
            <a:noFill/>
            <a:miter lim="800000"/>
            <a:headEnd/>
            <a:tailEnd/>
          </a:ln>
        </p:spPr>
        <p:txBody>
          <a:bodyPr>
            <a:spAutoFit/>
          </a:bodyPr>
          <a:lstStyle/>
          <a:p>
            <a:r>
              <a:rPr lang="en-US" sz="2400" b="1" dirty="0" smtClean="0"/>
              <a:t>Contract </a:t>
            </a:r>
            <a:r>
              <a:rPr lang="en-US" sz="2400" b="1" dirty="0"/>
              <a:t>Manufacturer Co</a:t>
            </a:r>
            <a:r>
              <a:rPr lang="en-US" sz="2400" b="1" dirty="0" smtClean="0"/>
              <a:t>. – Exhibit 2</a:t>
            </a:r>
          </a:p>
          <a:p>
            <a:r>
              <a:rPr lang="en-US" sz="2400" b="1" i="1" dirty="0" smtClean="0"/>
              <a:t>For Interviewer Only</a:t>
            </a:r>
            <a:endParaRPr lang="en-US" sz="2400" b="1" i="1" dirty="0"/>
          </a:p>
        </p:txBody>
      </p:sp>
      <p:sp>
        <p:nvSpPr>
          <p:cNvPr id="35" name="Text Placeholder 3"/>
          <p:cNvSpPr>
            <a:spLocks noGrp="1"/>
          </p:cNvSpPr>
          <p:nvPr/>
        </p:nvSpPr>
        <p:spPr>
          <a:xfrm>
            <a:off x="1183188" y="1265071"/>
            <a:ext cx="7361824" cy="468192"/>
          </a:xfrm>
          <a:prstGeom prst="rect">
            <a:avLst/>
          </a:prstGeom>
          <a:blipFill dpi="0" rotWithShape="1">
            <a:blip r:embed="rId5" cstate="print"/>
            <a:srcRect/>
            <a:tile tx="0" ty="0" sx="100000" sy="100000" flip="none" algn="b"/>
          </a:blipFill>
        </p:spPr>
        <p:txBody>
          <a:bodyPr vert="horz" lIns="0" tIns="0" rIns="0" bIns="91440" rtlCol="0" anchor="b" anchorCtr="0">
            <a:noAutofit/>
          </a:bodyPr>
          <a:lstStyle>
            <a:lvl1pPr marL="0" marR="0" indent="0" algn="ctr" defTabSz="981075" rtl="0" eaLnBrk="1" fontAlgn="base" latinLnBrk="0" hangingPunct="1">
              <a:lnSpc>
                <a:spcPct val="100000"/>
              </a:lnSpc>
              <a:spcBef>
                <a:spcPct val="40000"/>
              </a:spcBef>
              <a:spcAft>
                <a:spcPct val="0"/>
              </a:spcAft>
              <a:buClr>
                <a:schemeClr val="tx1"/>
              </a:buClr>
              <a:buSzPts val="2400"/>
              <a:buFont typeface="Verdana" pitchFamily="34" charset="0"/>
              <a:buNone/>
              <a:tabLst/>
              <a:defRPr kumimoji="0" lang="en-US" altLang="zh-CN" sz="1600" b="1" i="0" u="none" strike="noStrike" kern="1200" cap="all" spc="0" normalizeH="0" baseline="0" noProof="1">
                <a:ln>
                  <a:noFill/>
                </a:ln>
                <a:solidFill>
                  <a:schemeClr val="tx1"/>
                </a:solidFill>
                <a:effectLst/>
                <a:uLnTx/>
                <a:uFillTx/>
                <a:latin typeface="+mn-lt"/>
                <a:ea typeface="+mn-ea"/>
                <a:cs typeface="+mn-cs"/>
              </a:defRPr>
            </a:lvl1pPr>
            <a:lvl2pPr marL="574675" marR="0" indent="-119063" algn="l" defTabSz="981075" rtl="0" eaLnBrk="1" fontAlgn="base" latinLnBrk="0" hangingPunct="1">
              <a:lnSpc>
                <a:spcPct val="100000"/>
              </a:lnSpc>
              <a:spcBef>
                <a:spcPct val="20000"/>
              </a:spcBef>
              <a:spcAft>
                <a:spcPct val="0"/>
              </a:spcAft>
              <a:buClr>
                <a:schemeClr val="tx1"/>
              </a:buClr>
              <a:buSzPts val="2200"/>
              <a:buFont typeface="Verdana"/>
              <a:buChar char="-"/>
              <a:tabLst/>
              <a:defRPr lang="en-CA" altLang="zh-CN" sz="1800" kern="1200" baseline="0" noProof="1">
                <a:solidFill>
                  <a:schemeClr val="tx1"/>
                </a:solidFill>
                <a:latin typeface="+mn-lt"/>
                <a:ea typeface="+mn-ea"/>
                <a:cs typeface="+mn-cs"/>
              </a:defRPr>
            </a:lvl2pPr>
            <a:lvl3pPr marL="1052513" marR="0" indent="-287338" algn="l" defTabSz="981075" rtl="0" eaLnBrk="1" fontAlgn="base" latinLnBrk="0" hangingPunct="1">
              <a:lnSpc>
                <a:spcPct val="100000"/>
              </a:lnSpc>
              <a:spcBef>
                <a:spcPct val="20000"/>
              </a:spcBef>
              <a:spcAft>
                <a:spcPct val="0"/>
              </a:spcAft>
              <a:buClr>
                <a:schemeClr val="tx1"/>
              </a:buClr>
              <a:buSzPts val="2200"/>
              <a:buFont typeface="Marlett" pitchFamily="2" charset="2"/>
              <a:buChar char="8"/>
              <a:tabLst/>
              <a:defRPr lang="zh-CN" altLang="en-US" sz="1800" kern="1200" noProof="1">
                <a:solidFill>
                  <a:schemeClr val="tx1"/>
                </a:solidFill>
                <a:latin typeface="+mn-lt"/>
                <a:ea typeface="+mn-ea"/>
                <a:cs typeface="+mn-cs"/>
              </a:defRPr>
            </a:lvl3pPr>
            <a:lvl4pPr marL="1453896" marR="0" indent="-210312" algn="l" defTabSz="981334" rtl="0" eaLnBrk="1" fontAlgn="auto" latinLnBrk="0" hangingPunct="1">
              <a:lnSpc>
                <a:spcPct val="100000"/>
              </a:lnSpc>
              <a:spcBef>
                <a:spcPct val="20000"/>
              </a:spcBef>
              <a:spcAft>
                <a:spcPts val="0"/>
              </a:spcAft>
              <a:buClr>
                <a:schemeClr val="tx1"/>
              </a:buClr>
              <a:buSzTx/>
              <a:buFont typeface="Verdana" pitchFamily="34" charset="0"/>
              <a:buChar char="-"/>
              <a:tabLst/>
              <a:defRPr lang="en-CA" altLang="zh-CN" sz="1800" kern="1200">
                <a:solidFill>
                  <a:schemeClr val="tx1"/>
                </a:solidFill>
                <a:latin typeface="+mn-lt"/>
                <a:ea typeface="+mn-ea"/>
                <a:cs typeface="+mn-cs"/>
              </a:defRPr>
            </a:lvl4pPr>
            <a:lvl5pPr marL="2208002" indent="-245334" algn="l" defTabSz="981334" rtl="0" eaLnBrk="1" latinLnBrk="0" hangingPunct="1">
              <a:spcBef>
                <a:spcPct val="20000"/>
              </a:spcBef>
              <a:buFont typeface="Arial" pitchFamily="34" charset="0"/>
              <a:buChar char="»"/>
              <a:defRPr sz="2400" kern="1200">
                <a:solidFill>
                  <a:schemeClr val="tx1"/>
                </a:solidFill>
                <a:latin typeface="Verdana" pitchFamily="34" charset="0"/>
                <a:ea typeface="+mn-ea"/>
                <a:cs typeface="+mn-cs"/>
              </a:defRPr>
            </a:lvl5pPr>
            <a:lvl6pPr marL="2698669" indent="-245334" algn="l" defTabSz="98133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89336" indent="-245334" algn="l" defTabSz="98133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680003" indent="-245334" algn="l" defTabSz="98133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170670" indent="-245334" algn="l" defTabSz="98133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a:spcBef>
                <a:spcPts val="0"/>
              </a:spcBef>
              <a:buClr>
                <a:prstClr val="black"/>
              </a:buClr>
            </a:pPr>
            <a:r>
              <a:rPr lang="en-US" sz="1800" dirty="0" smtClean="0">
                <a:solidFill>
                  <a:prstClr val="black"/>
                </a:solidFill>
              </a:rPr>
              <a:t>L</a:t>
            </a:r>
            <a:r>
              <a:rPr sz="1800" dirty="0" smtClean="0">
                <a:solidFill>
                  <a:prstClr val="black"/>
                </a:solidFill>
              </a:rPr>
              <a:t>evel of effort required Differs across sectors</a:t>
            </a:r>
            <a:endParaRPr sz="1800" dirty="0">
              <a:solidFill>
                <a:prstClr val="black"/>
              </a:solidFill>
            </a:endParaRPr>
          </a:p>
        </p:txBody>
      </p:sp>
      <p:graphicFrame>
        <p:nvGraphicFramePr>
          <p:cNvPr id="37" name="Table Placeholder 5"/>
          <p:cNvGraphicFramePr>
            <a:graphicFrameLocks/>
          </p:cNvGraphicFramePr>
          <p:nvPr>
            <p:custDataLst>
              <p:tags r:id="rId1"/>
            </p:custDataLst>
            <p:extLst>
              <p:ext uri="{D42A27DB-BD31-4B8C-83A1-F6EECF244321}">
                <p14:modId xmlns:p14="http://schemas.microsoft.com/office/powerpoint/2010/main" val="1692198589"/>
              </p:ext>
            </p:extLst>
          </p:nvPr>
        </p:nvGraphicFramePr>
        <p:xfrm>
          <a:off x="1676400" y="1858540"/>
          <a:ext cx="6588911" cy="3475460"/>
        </p:xfrm>
        <a:graphic>
          <a:graphicData uri="http://schemas.openxmlformats.org/drawingml/2006/table">
            <a:tbl>
              <a:tblPr firstRow="1" bandRow="1">
                <a:tableStyleId>{2D5ABB26-0587-4C30-8999-92F81FD0307C}</a:tableStyleId>
              </a:tblPr>
              <a:tblGrid>
                <a:gridCol w="3294455"/>
                <a:gridCol w="3294456"/>
              </a:tblGrid>
              <a:tr h="1737730">
                <a:tc>
                  <a:txBody>
                    <a:bodyPr/>
                    <a:lstStyle/>
                    <a:p>
                      <a:pPr marL="0" marR="0" lvl="0" indent="0" algn="ctr" defTabSz="981075" rtl="0" eaLnBrk="0" fontAlgn="base" latinLnBrk="0" hangingPunct="0">
                        <a:lnSpc>
                          <a:spcPct val="100000"/>
                        </a:lnSpc>
                        <a:spcBef>
                          <a:spcPct val="40000"/>
                        </a:spcBef>
                        <a:spcAft>
                          <a:spcPct val="0"/>
                        </a:spcAft>
                        <a:buClr>
                          <a:srgbClr val="000000"/>
                        </a:buClr>
                        <a:buSzTx/>
                        <a:buFont typeface="Verdana" pitchFamily="34" charset="0"/>
                        <a:buNone/>
                        <a:tabLst/>
                        <a:defRPr/>
                      </a:pPr>
                      <a:r>
                        <a:rPr kumimoji="0" lang="en-US" sz="1400" b="1" i="0" u="none" strike="noStrike" kern="0" cap="none" spc="0" normalizeH="0" baseline="0" noProof="0" dirty="0" smtClean="0">
                          <a:ln>
                            <a:noFill/>
                          </a:ln>
                          <a:solidFill>
                            <a:srgbClr val="000000"/>
                          </a:solidFill>
                          <a:effectLst/>
                          <a:uLnTx/>
                          <a:uFillTx/>
                          <a:latin typeface="+mn-lt"/>
                          <a:ea typeface="+mn-ea"/>
                          <a:cs typeface="+mn-cs"/>
                        </a:rPr>
                        <a:t>More challenging</a:t>
                      </a:r>
                      <a:endParaRPr kumimoji="0" lang="en-US" sz="1400" b="0" i="0" u="none" strike="noStrike" kern="0" cap="none" spc="0" normalizeH="0" baseline="0" noProof="0" dirty="0" smtClean="0">
                        <a:ln>
                          <a:noFill/>
                        </a:ln>
                        <a:solidFill>
                          <a:srgbClr val="000000"/>
                        </a:solidFill>
                        <a:effectLst/>
                        <a:uLnTx/>
                        <a:uFillTx/>
                        <a:latin typeface="+mn-lt"/>
                        <a:ea typeface="+mn-ea"/>
                        <a:cs typeface="+mn-cs"/>
                      </a:endParaRP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Sectors with fewer customer relationships and a high degree of volatility</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Less accessible and less accurate  external market data</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Difficult to establish an accurate proprietary view but greater need for one</a:t>
                      </a:r>
                      <a:endParaRPr kumimoji="0" lang="en-US" sz="1200" b="0" i="0" u="none" strike="noStrike" kern="0" cap="none" spc="0" normalizeH="0" baseline="0" noProof="0" dirty="0">
                        <a:ln>
                          <a:noFill/>
                        </a:ln>
                        <a:solidFill>
                          <a:srgbClr val="000000"/>
                        </a:solidFill>
                        <a:effectLst/>
                        <a:uLnTx/>
                        <a:uFillTx/>
                        <a:latin typeface="+mn-lt"/>
                        <a:ea typeface="+mn-ea"/>
                        <a:cs typeface="+mn-cs"/>
                      </a:endParaRPr>
                    </a:p>
                  </a:txBody>
                  <a:tcPr marL="91425" marR="91425" marT="45730" marB="457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81075" rtl="0" eaLnBrk="0" fontAlgn="base" latinLnBrk="0" hangingPunct="0">
                        <a:lnSpc>
                          <a:spcPct val="100000"/>
                        </a:lnSpc>
                        <a:spcBef>
                          <a:spcPct val="40000"/>
                        </a:spcBef>
                        <a:spcAft>
                          <a:spcPct val="0"/>
                        </a:spcAft>
                        <a:buClr>
                          <a:srgbClr val="FFFFFF"/>
                        </a:buClr>
                        <a:buSzTx/>
                        <a:buFont typeface="Verdana" pitchFamily="34" charset="0"/>
                        <a:buNone/>
                        <a:tabLst/>
                        <a:defRPr/>
                      </a:pPr>
                      <a:r>
                        <a:rPr kumimoji="0" lang="en-US" sz="1400" b="1" i="0" u="none" strike="noStrike" kern="0" cap="none" spc="0" normalizeH="0" baseline="0" noProof="0" dirty="0" smtClean="0">
                          <a:ln>
                            <a:noFill/>
                          </a:ln>
                          <a:solidFill>
                            <a:srgbClr val="000000"/>
                          </a:solidFill>
                          <a:effectLst/>
                          <a:uLnTx/>
                          <a:uFillTx/>
                          <a:latin typeface="+mn-lt"/>
                          <a:ea typeface="+mn-ea"/>
                          <a:cs typeface="+mn-cs"/>
                        </a:rPr>
                        <a:t>Greatest impact</a:t>
                      </a:r>
                      <a:endParaRPr kumimoji="0" lang="en-US" sz="1400" b="0" i="0" u="none" strike="noStrike" kern="0" cap="none" spc="0" normalizeH="0" baseline="0" noProof="0" dirty="0" smtClean="0">
                        <a:ln>
                          <a:noFill/>
                        </a:ln>
                        <a:solidFill>
                          <a:srgbClr val="000000"/>
                        </a:solidFill>
                        <a:effectLst/>
                        <a:uLnTx/>
                        <a:uFillTx/>
                        <a:latin typeface="+mn-lt"/>
                        <a:ea typeface="+mn-ea"/>
                        <a:cs typeface="+mn-cs"/>
                      </a:endParaRPr>
                    </a:p>
                    <a:p>
                      <a:pPr marL="131763" marR="0" lvl="0" indent="-146050" algn="l" defTabSz="981075" rtl="0" eaLnBrk="0" fontAlgn="base" latinLnBrk="0" hangingPunct="0">
                        <a:lnSpc>
                          <a:spcPct val="100000"/>
                        </a:lnSpc>
                        <a:spcBef>
                          <a:spcPct val="40000"/>
                        </a:spcBef>
                        <a:spcAft>
                          <a:spcPct val="0"/>
                        </a:spcAft>
                        <a:buClr>
                          <a:srgbClr val="FFFFFF"/>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Sectors with many customer relationships and a high degree of volatility</a:t>
                      </a:r>
                    </a:p>
                    <a:p>
                      <a:pPr marL="131763" marR="0" lvl="0" indent="-146050" algn="l" defTabSz="981075" rtl="0" eaLnBrk="0" fontAlgn="base" latinLnBrk="0" hangingPunct="0">
                        <a:lnSpc>
                          <a:spcPct val="100000"/>
                        </a:lnSpc>
                        <a:spcBef>
                          <a:spcPct val="40000"/>
                        </a:spcBef>
                        <a:spcAft>
                          <a:spcPct val="0"/>
                        </a:spcAft>
                        <a:buClr>
                          <a:srgbClr val="FFFFFF"/>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Less accessible and less accurate  external market data</a:t>
                      </a:r>
                    </a:p>
                    <a:p>
                      <a:pPr marL="131763" marR="0" lvl="0" indent="-146050" algn="l" defTabSz="981075" rtl="0" eaLnBrk="0" fontAlgn="base" latinLnBrk="0" hangingPunct="0">
                        <a:lnSpc>
                          <a:spcPct val="100000"/>
                        </a:lnSpc>
                        <a:spcBef>
                          <a:spcPct val="40000"/>
                        </a:spcBef>
                        <a:spcAft>
                          <a:spcPct val="0"/>
                        </a:spcAft>
                        <a:buClr>
                          <a:srgbClr val="FFFFFF"/>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Greater need and opportunity to establish an accurate proprietary view</a:t>
                      </a:r>
                    </a:p>
                  </a:txBody>
                  <a:tcPr marL="91425" marR="91425" marT="45730" marB="457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737730">
                <a:tc>
                  <a:txBody>
                    <a:bodyPr/>
                    <a:lstStyle/>
                    <a:p>
                      <a:pPr marL="0" marR="0" lvl="0" indent="0" algn="ctr" defTabSz="981075" rtl="0" eaLnBrk="0" fontAlgn="base" latinLnBrk="0" hangingPunct="0">
                        <a:lnSpc>
                          <a:spcPct val="100000"/>
                        </a:lnSpc>
                        <a:spcBef>
                          <a:spcPct val="40000"/>
                        </a:spcBef>
                        <a:spcAft>
                          <a:spcPct val="0"/>
                        </a:spcAft>
                        <a:buClr>
                          <a:srgbClr val="000000"/>
                        </a:buClr>
                        <a:buSzTx/>
                        <a:buFont typeface="Verdana" pitchFamily="34" charset="0"/>
                        <a:buNone/>
                        <a:tabLst/>
                        <a:defRPr/>
                      </a:pPr>
                      <a:r>
                        <a:rPr kumimoji="0" lang="en-US" sz="1400" b="1" i="0" u="none" strike="noStrike" kern="0" cap="none" spc="0" normalizeH="0" baseline="0" noProof="0" dirty="0" smtClean="0">
                          <a:ln>
                            <a:noFill/>
                          </a:ln>
                          <a:solidFill>
                            <a:srgbClr val="000000"/>
                          </a:solidFill>
                          <a:effectLst/>
                          <a:uLnTx/>
                          <a:uFillTx/>
                          <a:latin typeface="+mn-lt"/>
                          <a:ea typeface="+mn-ea"/>
                          <a:cs typeface="+mn-cs"/>
                        </a:rPr>
                        <a:t>Look externally</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Sectors with fewer customer relationships and relative stability in the sector</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More accessible and more accurate external data</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Opportunity for greater reliance on external market research</a:t>
                      </a:r>
                    </a:p>
                  </a:txBody>
                  <a:tcPr marL="91425" marR="91425" marT="45730" marB="457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81075" rtl="0" eaLnBrk="0" fontAlgn="base" latinLnBrk="0" hangingPunct="0">
                        <a:lnSpc>
                          <a:spcPct val="100000"/>
                        </a:lnSpc>
                        <a:spcBef>
                          <a:spcPct val="40000"/>
                        </a:spcBef>
                        <a:spcAft>
                          <a:spcPct val="0"/>
                        </a:spcAft>
                        <a:buClr>
                          <a:srgbClr val="000000"/>
                        </a:buClr>
                        <a:buSzTx/>
                        <a:buFont typeface="Verdana" pitchFamily="34" charset="0"/>
                        <a:buNone/>
                        <a:tabLst/>
                        <a:defRPr/>
                      </a:pPr>
                      <a:r>
                        <a:rPr kumimoji="0" lang="en-US" sz="1400" b="1" i="0" u="none" strike="noStrike" kern="0" cap="none" spc="0" normalizeH="0" baseline="0" noProof="0" dirty="0" smtClean="0">
                          <a:ln>
                            <a:noFill/>
                          </a:ln>
                          <a:solidFill>
                            <a:srgbClr val="000000"/>
                          </a:solidFill>
                          <a:effectLst/>
                          <a:uLnTx/>
                          <a:uFillTx/>
                          <a:latin typeface="+mn-lt"/>
                          <a:ea typeface="+mn-ea"/>
                          <a:cs typeface="+mn-cs"/>
                        </a:rPr>
                        <a:t>Quick wins</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Sectors with many customer relationships and relative stability in the sector</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More accessible and more accurate external data</a:t>
                      </a:r>
                    </a:p>
                    <a:p>
                      <a:pPr marL="131763" marR="0" lvl="0" indent="-146050" algn="l" defTabSz="981075" rtl="0" eaLnBrk="0" fontAlgn="base" latinLnBrk="0" hangingPunct="0">
                        <a:lnSpc>
                          <a:spcPct val="100000"/>
                        </a:lnSpc>
                        <a:spcBef>
                          <a:spcPct val="40000"/>
                        </a:spcBef>
                        <a:spcAft>
                          <a:spcPct val="0"/>
                        </a:spcAft>
                        <a:buClr>
                          <a:srgbClr val="000000"/>
                        </a:buClr>
                        <a:buSzTx/>
                        <a:buFont typeface="Verdana" pitchFamily="34" charset="0"/>
                        <a:buChar char="•"/>
                        <a:tabLst/>
                        <a:defRPr/>
                      </a:pPr>
                      <a:r>
                        <a:rPr kumimoji="0" lang="en-US" sz="1200" b="0" i="0" u="none" strike="noStrike" kern="0" cap="none" spc="0" normalizeH="0" baseline="0" noProof="0" dirty="0" smtClean="0">
                          <a:ln>
                            <a:noFill/>
                          </a:ln>
                          <a:solidFill>
                            <a:srgbClr val="000000"/>
                          </a:solidFill>
                          <a:effectLst/>
                          <a:uLnTx/>
                          <a:uFillTx/>
                          <a:latin typeface="+mn-lt"/>
                          <a:ea typeface="+mn-ea"/>
                          <a:cs typeface="+mn-cs"/>
                        </a:rPr>
                        <a:t>Opportunity to more quickly and effectively develop a proprietary view</a:t>
                      </a:r>
                    </a:p>
                  </a:txBody>
                  <a:tcPr marL="91425" marR="91425" marT="45730" marB="457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pSp>
        <p:nvGrpSpPr>
          <p:cNvPr id="22" name="Group 21"/>
          <p:cNvGrpSpPr/>
          <p:nvPr/>
        </p:nvGrpSpPr>
        <p:grpSpPr>
          <a:xfrm>
            <a:off x="1676400" y="5726190"/>
            <a:ext cx="6218251" cy="750810"/>
            <a:chOff x="1975251" y="5856287"/>
            <a:chExt cx="6615528" cy="815116"/>
          </a:xfrm>
          <a:solidFill>
            <a:srgbClr val="FFE260"/>
          </a:solidFill>
        </p:grpSpPr>
        <p:sp>
          <p:nvSpPr>
            <p:cNvPr id="23" name="Up Arrow 22"/>
            <p:cNvSpPr/>
            <p:nvPr/>
          </p:nvSpPr>
          <p:spPr>
            <a:xfrm rot="5400000">
              <a:off x="4900227" y="2980851"/>
              <a:ext cx="815116" cy="6565988"/>
            </a:xfrm>
            <a:prstGeom prst="upArrow">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a:endParaRPr lang="en-US" sz="1900" dirty="0">
                <a:solidFill>
                  <a:srgbClr val="FFFFFF"/>
                </a:solidFill>
              </a:endParaRPr>
            </a:p>
          </p:txBody>
        </p:sp>
        <p:sp>
          <p:nvSpPr>
            <p:cNvPr id="24" name="Rectangle 23"/>
            <p:cNvSpPr/>
            <p:nvPr/>
          </p:nvSpPr>
          <p:spPr>
            <a:xfrm>
              <a:off x="1975251" y="6084887"/>
              <a:ext cx="6565988" cy="317431"/>
            </a:xfrm>
            <a:prstGeom prst="rect">
              <a:avLst/>
            </a:prstGeom>
            <a:noFill/>
          </p:spPr>
          <p:txBody>
            <a:bodyPr wrap="square">
              <a:spAutoFit/>
            </a:bodyPr>
            <a:lstStyle/>
            <a:p>
              <a:pPr algn="ctr"/>
              <a:r>
                <a:rPr lang="en-US" sz="1300" b="1" dirty="0">
                  <a:solidFill>
                    <a:srgbClr val="000000"/>
                  </a:solidFill>
                </a:rPr>
                <a:t>Ability to develop a proprietary view</a:t>
              </a:r>
            </a:p>
          </p:txBody>
        </p:sp>
      </p:grpSp>
      <p:grpSp>
        <p:nvGrpSpPr>
          <p:cNvPr id="25" name="Group 24"/>
          <p:cNvGrpSpPr/>
          <p:nvPr/>
        </p:nvGrpSpPr>
        <p:grpSpPr>
          <a:xfrm>
            <a:off x="346183" y="1849334"/>
            <a:ext cx="766166" cy="3264193"/>
            <a:chOff x="560722" y="2007726"/>
            <a:chExt cx="815116" cy="3543765"/>
          </a:xfrm>
          <a:solidFill>
            <a:srgbClr val="FFE260"/>
          </a:solidFill>
        </p:grpSpPr>
        <p:sp>
          <p:nvSpPr>
            <p:cNvPr id="26" name="Up Arrow 25"/>
            <p:cNvSpPr/>
            <p:nvPr/>
          </p:nvSpPr>
          <p:spPr>
            <a:xfrm>
              <a:off x="560722" y="2007726"/>
              <a:ext cx="815116" cy="3543762"/>
            </a:xfrm>
            <a:prstGeom prst="upArrow">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a:endParaRPr lang="en-US" sz="1900" dirty="0">
                <a:solidFill>
                  <a:srgbClr val="FFFFFF"/>
                </a:solidFill>
              </a:endParaRPr>
            </a:p>
          </p:txBody>
        </p:sp>
        <p:sp>
          <p:nvSpPr>
            <p:cNvPr id="27" name="Rectangle 26"/>
            <p:cNvSpPr/>
            <p:nvPr/>
          </p:nvSpPr>
          <p:spPr>
            <a:xfrm rot="16200000">
              <a:off x="-795504" y="3624074"/>
              <a:ext cx="3543764" cy="311069"/>
            </a:xfrm>
            <a:prstGeom prst="rect">
              <a:avLst/>
            </a:prstGeom>
            <a:noFill/>
          </p:spPr>
          <p:txBody>
            <a:bodyPr wrap="square">
              <a:spAutoFit/>
            </a:bodyPr>
            <a:lstStyle/>
            <a:p>
              <a:pPr algn="ctr"/>
              <a:r>
                <a:rPr lang="en-US" sz="1300" b="1" dirty="0">
                  <a:solidFill>
                    <a:srgbClr val="000000"/>
                  </a:solidFill>
                </a:rPr>
                <a:t>Value of a proprietary view</a:t>
              </a:r>
            </a:p>
          </p:txBody>
        </p:sp>
      </p:grpSp>
    </p:spTree>
    <p:extLst>
      <p:ext uri="{BB962C8B-B14F-4D97-AF65-F5344CB8AC3E}">
        <p14:creationId xmlns:p14="http://schemas.microsoft.com/office/powerpoint/2010/main" val="167478406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137</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836485702"/>
              </p:ext>
            </p:extLst>
          </p:nvPr>
        </p:nvGraphicFramePr>
        <p:xfrm>
          <a:off x="304800" y="1371600"/>
          <a:ext cx="8534400" cy="320040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0"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Understands the client situation and question at hand</a:t>
                      </a:r>
                    </a:p>
                    <a:p>
                      <a:pPr marL="225425" indent="-225425">
                        <a:buFont typeface="Arial" pitchFamily="34" charset="0"/>
                        <a:buChar char="•"/>
                      </a:pPr>
                      <a:r>
                        <a:rPr lang="en-US" sz="1200" b="0" i="0" kern="1200" baseline="0" dirty="0" smtClean="0">
                          <a:solidFill>
                            <a:schemeClr val="tx1"/>
                          </a:solidFill>
                          <a:latin typeface="+mj-lt"/>
                          <a:ea typeface="+mn-ea"/>
                          <a:cs typeface="+mn-cs"/>
                        </a:rPr>
                        <a:t>Develops a framework that addresses an overview of the issues at play</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Asks some of the clarifying questions to narrow the focus of their framework (or after developing the framework, as part of the discussion)</a:t>
                      </a:r>
                    </a:p>
                    <a:p>
                      <a:pPr marL="225425" indent="-225425">
                        <a:buFont typeface="Arial" pitchFamily="34" charset="0"/>
                        <a:buChar char="•"/>
                      </a:pPr>
                      <a:r>
                        <a:rPr lang="en-US" sz="1200" b="0" i="0" kern="1200" baseline="0" dirty="0" smtClean="0">
                          <a:solidFill>
                            <a:schemeClr val="tx1"/>
                          </a:solidFill>
                          <a:latin typeface="+mj-lt"/>
                          <a:ea typeface="+mn-ea"/>
                          <a:cs typeface="+mn-cs"/>
                        </a:rPr>
                        <a:t>Leads a good discussion around the issues</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Reaches a conclusion with minimal prompting</a:t>
                      </a:r>
                      <a:endParaRPr lang="en-US" sz="1200" b="0" i="0" kern="1200" baseline="0" dirty="0" smtClean="0">
                        <a:solidFill>
                          <a:schemeClr val="tx1"/>
                        </a:solidFill>
                        <a:latin typeface="+mj-lt"/>
                        <a:ea typeface="+mn-ea"/>
                        <a:cs typeface="+mn-cs"/>
                      </a:endParaRP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all “Good”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Raises most issues listed and suggests some other, creative areas not mentioned in the case</a:t>
                      </a:r>
                    </a:p>
                    <a:p>
                      <a:pPr marL="225425" indent="-225425">
                        <a:buFont typeface="Arial" pitchFamily="34" charset="0"/>
                        <a:buChar char="•"/>
                      </a:pPr>
                      <a:r>
                        <a:rPr lang="en-US" sz="1200" b="0" i="0" kern="1200" baseline="0" dirty="0" smtClean="0">
                          <a:solidFill>
                            <a:schemeClr val="tx1"/>
                          </a:solidFill>
                          <a:latin typeface="+mj-lt"/>
                          <a:ea typeface="+mn-ea"/>
                          <a:cs typeface="+mn-cs"/>
                        </a:rPr>
                        <a:t>Provides a high level overview of next steps the client should take to implement some of the suggestions and risk mitigation</a:t>
                      </a:r>
                    </a:p>
                    <a:p>
                      <a:pPr marL="225425" indent="-225425">
                        <a:buFont typeface="Arial" pitchFamily="34" charset="0"/>
                        <a:buChar char="•"/>
                      </a:pPr>
                      <a:endParaRPr lang="en-US" sz="1200" b="0" i="0" kern="1200" baseline="0" dirty="0" smtClean="0">
                        <a:solidFill>
                          <a:schemeClr val="tx1"/>
                        </a:solidFill>
                        <a:latin typeface="+mj-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0972"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
        <p:nvSpPr>
          <p:cNvPr id="40974"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Bain &amp; Company</a:t>
            </a:r>
            <a:endParaRPr lang="en-US" sz="1400" i="1" dirty="0"/>
          </a:p>
        </p:txBody>
      </p:sp>
      <p:sp>
        <p:nvSpPr>
          <p:cNvPr id="4097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17: </a:t>
            </a:r>
            <a:r>
              <a:rPr lang="en-US" sz="2400" b="1" dirty="0"/>
              <a:t>Contract Manufacturer Co.</a:t>
            </a:r>
          </a:p>
        </p:txBody>
      </p:sp>
    </p:spTree>
    <p:extLst>
      <p:ext uri="{BB962C8B-B14F-4D97-AF65-F5344CB8AC3E}">
        <p14:creationId xmlns:p14="http://schemas.microsoft.com/office/powerpoint/2010/main" val="1154493175"/>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138</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6248400"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544018205"/>
              </p:ext>
            </p:extLst>
          </p:nvPr>
        </p:nvGraphicFramePr>
        <p:xfrm>
          <a:off x="304800" y="1381125"/>
          <a:ext cx="8534400" cy="5120640"/>
        </p:xfrm>
        <a:graphic>
          <a:graphicData uri="http://schemas.openxmlformats.org/drawingml/2006/table">
            <a:tbl>
              <a:tblPr firstRow="1" bandRow="1">
                <a:tableStyleId>{616DA210-FB5B-4158-B5E0-FEB733F419BA}</a:tableStyleId>
              </a:tblPr>
              <a:tblGrid>
                <a:gridCol w="1295400"/>
                <a:gridCol w="7239000"/>
              </a:tblGrid>
              <a:tr h="675640">
                <a:tc>
                  <a:txBody>
                    <a:bodyPr/>
                    <a:lstStyle/>
                    <a:p>
                      <a:pPr algn="ctr"/>
                      <a:r>
                        <a:rPr lang="en-US" dirty="0" smtClean="0"/>
                        <a:t>Prompt</a:t>
                      </a:r>
                      <a:endParaRPr lang="en-US" dirty="0"/>
                    </a:p>
                  </a:txBody>
                  <a:tcPr anchor="ctr"/>
                </a:tc>
                <a:tc>
                  <a:txBody>
                    <a:bodyPr/>
                    <a:lstStyle/>
                    <a:p>
                      <a:r>
                        <a:rPr lang="en-US" sz="1200" b="0" kern="1200" dirty="0" smtClean="0">
                          <a:latin typeface="+mj-lt"/>
                        </a:rPr>
                        <a:t>Your client is an online</a:t>
                      </a:r>
                      <a:r>
                        <a:rPr lang="en-US" sz="1200" b="0" kern="1200" baseline="0" dirty="0" smtClean="0">
                          <a:latin typeface="+mj-lt"/>
                        </a:rPr>
                        <a:t> automotive marketplace that enables dealers and individuals to buy and sell cars. They have recently acquired 4 companies operating in a similar domain that have somewhat overlapping products. They are increasingly facing problems with their sales and service processes because of the acquisitions. </a:t>
                      </a:r>
                    </a:p>
                    <a:p>
                      <a:endParaRPr lang="en-US" sz="1200" b="0" kern="1200" baseline="0" dirty="0" smtClean="0">
                        <a:latin typeface="+mj-lt"/>
                      </a:endParaRPr>
                    </a:p>
                    <a:p>
                      <a:r>
                        <a:rPr lang="en-US" sz="1200" b="1" kern="1200" baseline="0" dirty="0" smtClean="0">
                          <a:latin typeface="+mj-lt"/>
                        </a:rPr>
                        <a:t>What should they do? </a:t>
                      </a:r>
                    </a:p>
                    <a:p>
                      <a:endParaRPr lang="en-US" sz="1200" b="1" i="1"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This is a general case that focusses on brainstorming </a:t>
                      </a:r>
                      <a:r>
                        <a:rPr lang="en-US" sz="1200" b="0" i="0" u="none" kern="1200" baseline="0" dirty="0" smtClean="0">
                          <a:solidFill>
                            <a:schemeClr val="tx1"/>
                          </a:solidFill>
                          <a:latin typeface="+mj-lt"/>
                          <a:ea typeface="+mn-ea"/>
                          <a:cs typeface="+mn-cs"/>
                        </a:rPr>
                        <a:t>the possible problems that are causing trouble to the sales and service functions and also coming up with potential solutions to the problems. </a:t>
                      </a:r>
                      <a:r>
                        <a:rPr lang="en-US" sz="1200" b="0" i="0" u="none" kern="1200" dirty="0" smtClean="0">
                          <a:solidFill>
                            <a:schemeClr val="tx1"/>
                          </a:solidFill>
                          <a:latin typeface="+mj-lt"/>
                          <a:ea typeface="+mn-ea"/>
                          <a:cs typeface="+mn-cs"/>
                        </a:rPr>
                        <a:t>In case the candidate does not automatically</a:t>
                      </a:r>
                      <a:r>
                        <a:rPr lang="en-US" sz="1200" b="0" i="0" u="none" kern="1200" baseline="0" dirty="0" smtClean="0">
                          <a:solidFill>
                            <a:schemeClr val="tx1"/>
                          </a:solidFill>
                          <a:latin typeface="+mj-lt"/>
                          <a:ea typeface="+mn-ea"/>
                          <a:cs typeface="+mn-cs"/>
                        </a:rPr>
                        <a:t> answer the following questions, prompt him/her to ask:</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What do you think is causing the problem?</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What are the potential solutions?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What are the risks associated with implementing these solutions?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What are some of the ways we can mitigate these risks?</a:t>
                      </a:r>
                      <a:endParaRPr lang="en-US" sz="1200" b="0" i="0" u="none"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u="none"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dirty="0" smtClean="0">
                          <a:solidFill>
                            <a:schemeClr val="tx1"/>
                          </a:solidFill>
                          <a:latin typeface="+mj-lt"/>
                          <a:ea typeface="+mn-ea"/>
                          <a:cs typeface="+mn-cs"/>
                        </a:rPr>
                        <a:t>Provide</a:t>
                      </a:r>
                      <a:r>
                        <a:rPr lang="en-US" sz="1200" b="0" i="0" u="none" kern="1200" baseline="0" dirty="0" smtClean="0">
                          <a:solidFill>
                            <a:schemeClr val="tx1"/>
                          </a:solidFill>
                          <a:latin typeface="+mj-lt"/>
                          <a:ea typeface="+mn-ea"/>
                          <a:cs typeface="+mn-cs"/>
                        </a:rPr>
                        <a:t> the following information upon request: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Their customers are car dealers of different sizes (some spending a lot and some spending very less)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Currently the sales force serves meet all the dealers face-to-face, irrespective of size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The client has media products (banners etc.) and software products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Software products that enable dealers to acquire a fleet of cars, merchandize/organize information about these cars, put ads of these cars on websites</a:t>
                      </a:r>
                    </a:p>
                    <a:p>
                      <a:pPr marL="0" marR="0" lvl="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u="none"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u="none" kern="1200" baseline="0" dirty="0" smtClean="0">
                          <a:solidFill>
                            <a:schemeClr val="tx1"/>
                          </a:solidFill>
                          <a:latin typeface="+mj-lt"/>
                          <a:ea typeface="+mn-ea"/>
                          <a:cs typeface="+mn-cs"/>
                        </a:rPr>
                        <a:t>In case the candidate asks for further information on how exactly the problem was caused share the following: the client was already serving the entire value chain (as highlighted above), through its own products. Through the acquisition, the client added companies to its portfolio that made similar products and sold them to dealers.</a:t>
                      </a:r>
                    </a:p>
                    <a:p>
                      <a:pPr marL="0" marR="0" lvl="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u="none" kern="1200" baseline="0" dirty="0" smtClean="0">
                        <a:solidFill>
                          <a:schemeClr val="tx1"/>
                        </a:solidFill>
                        <a:latin typeface="+mj-lt"/>
                        <a:ea typeface="+mn-ea"/>
                        <a:cs typeface="+mn-cs"/>
                      </a:endParaRPr>
                    </a:p>
                  </a:txBody>
                  <a:tcPr/>
                </a:tc>
              </a:tr>
            </a:tbl>
          </a:graphicData>
        </a:graphic>
      </p:graphicFrame>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139</a:t>
            </a:fld>
            <a:endParaRPr lang="en-US" dirty="0"/>
          </a:p>
        </p:txBody>
      </p:sp>
      <p:sp>
        <p:nvSpPr>
          <p:cNvPr id="7"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3630066338"/>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140</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323465550"/>
              </p:ext>
            </p:extLst>
          </p:nvPr>
        </p:nvGraphicFramePr>
        <p:xfrm>
          <a:off x="304800" y="1295400"/>
          <a:ext cx="8534400" cy="4846320"/>
        </p:xfrm>
        <a:graphic>
          <a:graphicData uri="http://schemas.openxmlformats.org/drawingml/2006/table">
            <a:tbl>
              <a:tblPr firstRow="1" bandRow="1">
                <a:tableStyleId>{616DA210-FB5B-4158-B5E0-FEB733F419BA}</a:tableStyleId>
              </a:tblPr>
              <a:tblGrid>
                <a:gridCol w="1295400"/>
                <a:gridCol w="72390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00000"/>
                          </a:solidFill>
                          <a:effectLst/>
                          <a:uLnTx/>
                          <a:uFillTx/>
                          <a:latin typeface="+mn-lt"/>
                          <a:ea typeface="+mn-ea"/>
                          <a:cs typeface="+mn-cs"/>
                        </a:rPr>
                        <a:t>Guidance</a:t>
                      </a:r>
                    </a:p>
                  </a:txBody>
                  <a:tcPr anchor="ctr">
                    <a:solidFill>
                      <a:schemeClr val="accent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After the candidate has provided his/her </a:t>
                      </a:r>
                      <a:r>
                        <a:rPr lang="en-US" sz="1200" b="0" i="0" kern="1200" baseline="0" dirty="0" smtClean="0">
                          <a:solidFill>
                            <a:schemeClr val="tx1"/>
                          </a:solidFill>
                          <a:latin typeface="+mj-lt"/>
                          <a:ea typeface="+mn-ea"/>
                          <a:cs typeface="+mn-cs"/>
                        </a:rPr>
                        <a:t>reasons</a:t>
                      </a:r>
                      <a:r>
                        <a:rPr lang="en-US" sz="1200" b="0" i="0" kern="1200" dirty="0" smtClean="0">
                          <a:solidFill>
                            <a:schemeClr val="tx1"/>
                          </a:solidFill>
                          <a:latin typeface="+mj-lt"/>
                          <a:ea typeface="+mn-ea"/>
                          <a:cs typeface="+mn-cs"/>
                        </a:rPr>
                        <a:t> for the problem, share the following: </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latin typeface="+mj-lt"/>
                          <a:ea typeface="+mn-ea"/>
                          <a:cs typeface="+mn-cs"/>
                        </a:rPr>
                        <a:t>Similar products offered by the companies acquired</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latin typeface="+mj-lt"/>
                          <a:ea typeface="+mn-ea"/>
                          <a:cs typeface="+mn-cs"/>
                        </a:rPr>
                        <a:t>Lack of incentives</a:t>
                      </a:r>
                      <a:r>
                        <a:rPr lang="en-US" sz="1200" b="0" i="0" kern="1200" baseline="0" dirty="0" smtClean="0">
                          <a:solidFill>
                            <a:schemeClr val="tx1"/>
                          </a:solidFill>
                          <a:latin typeface="+mj-lt"/>
                          <a:ea typeface="+mn-ea"/>
                          <a:cs typeface="+mn-cs"/>
                        </a:rPr>
                        <a:t> for the sales force to up-sell and cross sell products of acquired companies </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Lack of a robust centralized IT system</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Too many sales roles, creating confusion in the exact roles and responsibilities</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Disproportionate amount of time spent in serving dealers that spend too less</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dirty="0" smtClean="0">
                        <a:solidFill>
                          <a:schemeClr val="tx1"/>
                        </a:solidFill>
                        <a:latin typeface="+mj-lt"/>
                        <a:ea typeface="+mn-ea"/>
                        <a:cs typeface="+mn-cs"/>
                      </a:endParaRPr>
                    </a:p>
                    <a:p>
                      <a:pPr marL="225425" marR="0" indent="-225425"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dirty="0" smtClean="0">
                          <a:solidFill>
                            <a:schemeClr val="tx1"/>
                          </a:solidFill>
                          <a:latin typeface="+mj-lt"/>
                          <a:ea typeface="+mn-ea"/>
                          <a:cs typeface="+mn-cs"/>
                        </a:rPr>
                        <a:t>Ask the candidate to recommend </a:t>
                      </a:r>
                      <a:r>
                        <a:rPr lang="en-US" sz="1200" b="0" i="0" kern="1200" baseline="0" dirty="0" smtClean="0">
                          <a:solidFill>
                            <a:schemeClr val="tx1"/>
                          </a:solidFill>
                          <a:latin typeface="+mj-lt"/>
                          <a:ea typeface="+mn-ea"/>
                          <a:cs typeface="+mn-cs"/>
                        </a:rPr>
                        <a:t>solutions to</a:t>
                      </a:r>
                      <a:r>
                        <a:rPr lang="en-US" sz="1200" b="0" i="0" kern="1200" dirty="0" smtClean="0">
                          <a:solidFill>
                            <a:schemeClr val="tx1"/>
                          </a:solidFill>
                          <a:latin typeface="+mj-lt"/>
                          <a:ea typeface="+mn-ea"/>
                          <a:cs typeface="+mn-cs"/>
                        </a:rPr>
                        <a:t> each of the above problems:</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dirty="0" smtClean="0">
                          <a:solidFill>
                            <a:schemeClr val="tx1"/>
                          </a:solidFill>
                          <a:latin typeface="+mj-lt"/>
                          <a:ea typeface="+mn-ea"/>
                          <a:cs typeface="+mn-cs"/>
                        </a:rPr>
                        <a:t>Product</a:t>
                      </a:r>
                      <a:r>
                        <a:rPr lang="en-US" sz="1200" b="0" i="0" kern="1200" baseline="0" dirty="0" smtClean="0">
                          <a:solidFill>
                            <a:schemeClr val="tx1"/>
                          </a:solidFill>
                          <a:latin typeface="+mj-lt"/>
                          <a:ea typeface="+mn-ea"/>
                          <a:cs typeface="+mn-cs"/>
                        </a:rPr>
                        <a:t> bundling, killing a few products</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Incentivize sales force to cross-sell and up-sell</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Implement a centralized IT system where everyone knows what is being sold to who, etc.</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Streamline the sales force with clearly defined roles and responsibilities</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Better dealer segmentation and serving the lesser paying dealers remotely than in person</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Keys risks associated</a:t>
                      </a:r>
                      <a:r>
                        <a:rPr lang="en-US" sz="1200" b="0" i="0" kern="1200" baseline="0" dirty="0" smtClean="0">
                          <a:solidFill>
                            <a:schemeClr val="tx1"/>
                          </a:solidFill>
                          <a:latin typeface="+mj-lt"/>
                          <a:ea typeface="+mn-ea"/>
                          <a:cs typeface="+mn-cs"/>
                        </a:rPr>
                        <a:t> with implementing the solutions:</a:t>
                      </a:r>
                    </a:p>
                    <a:p>
                      <a:pPr marL="228600" marR="0" lvl="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Dealer confusion; some dealers might love a particular product that we might kill</a:t>
                      </a:r>
                    </a:p>
                    <a:p>
                      <a:pPr marL="228600" marR="0" lvl="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Lack of focus of the sales force due to increased responsibilities. Increased turnover</a:t>
                      </a:r>
                    </a:p>
                    <a:p>
                      <a:pPr marL="228600" marR="0" lvl="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Might be too costly and hard to implement</a:t>
                      </a:r>
                    </a:p>
                    <a:p>
                      <a:pPr marL="228600" marR="0" lvl="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Job losses; distrust, and antipathy amongst the sales force</a:t>
                      </a:r>
                    </a:p>
                    <a:p>
                      <a:pPr marL="228600" marR="0" lvl="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Dealer churn due to change in the service provided</a:t>
                      </a:r>
                    </a:p>
                    <a:p>
                      <a:pPr marL="0" marR="0" lvl="0" indent="0" algn="l" defTabSz="457200" rtl="0" eaLnBrk="1" fontAlgn="auto" latinLnBrk="0" hangingPunct="1">
                        <a:lnSpc>
                          <a:spcPct val="100000"/>
                        </a:lnSpc>
                        <a:spcBef>
                          <a:spcPts val="0"/>
                        </a:spcBef>
                        <a:spcAft>
                          <a:spcPts val="0"/>
                        </a:spcAft>
                        <a:buClrTx/>
                        <a:buSzTx/>
                        <a:buFont typeface="+mj-lt"/>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mj-lt"/>
                        <a:buNone/>
                        <a:tabLst/>
                        <a:defRPr/>
                      </a:pPr>
                      <a:r>
                        <a:rPr lang="en-US" sz="1200" b="0" i="0" kern="1200" baseline="0" dirty="0" smtClean="0">
                          <a:solidFill>
                            <a:schemeClr val="tx1"/>
                          </a:solidFill>
                          <a:latin typeface="+mj-lt"/>
                          <a:ea typeface="+mn-ea"/>
                          <a:cs typeface="+mn-cs"/>
                        </a:rPr>
                        <a:t>Ways risks can be mitigated:</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Educate the sales force and the dealers about the benefits that they are expected to obtain</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Create mechanisms to actually provide great service to the dealers by opening dedicated remote service centers and saving money</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799" y="376238"/>
            <a:ext cx="6243145"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7"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1781845200"/>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141</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010407646"/>
              </p:ext>
            </p:extLst>
          </p:nvPr>
        </p:nvGraphicFramePr>
        <p:xfrm>
          <a:off x="304800" y="1295400"/>
          <a:ext cx="8534400" cy="4846320"/>
        </p:xfrm>
        <a:graphic>
          <a:graphicData uri="http://schemas.openxmlformats.org/drawingml/2006/table">
            <a:tbl>
              <a:tblPr firstRow="1" bandRow="1">
                <a:tableStyleId>{616DA210-FB5B-4158-B5E0-FEB733F419BA}</a:tableStyleId>
              </a:tblPr>
              <a:tblGrid>
                <a:gridCol w="1295400"/>
                <a:gridCol w="7239000"/>
              </a:tblGrid>
              <a:tr h="731520">
                <a:tc>
                  <a:txBody>
                    <a:bodyPr/>
                    <a:lstStyle/>
                    <a:p>
                      <a:pPr algn="ctr"/>
                      <a:r>
                        <a:rPr lang="en-US" b="1" i="0" dirty="0" smtClean="0"/>
                        <a:t>Prompt</a:t>
                      </a:r>
                      <a:endParaRPr lang="en-US" sz="1000" i="0" dirty="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latin typeface="+mj-lt"/>
                          <a:ea typeface="+mn-ea"/>
                          <a:cs typeface="+mn-cs"/>
                        </a:rPr>
                        <a:t>The client is planning to implement all your recommendations,</a:t>
                      </a:r>
                      <a:r>
                        <a:rPr lang="en-US" sz="1200" b="1" kern="1200" baseline="0" dirty="0" smtClean="0">
                          <a:solidFill>
                            <a:schemeClr val="tx1"/>
                          </a:solidFill>
                          <a:latin typeface="+mj-lt"/>
                          <a:ea typeface="+mn-ea"/>
                          <a:cs typeface="+mn-cs"/>
                        </a:rPr>
                        <a:t> can you estimate the financial impact of the recommendations?</a:t>
                      </a:r>
                      <a:r>
                        <a:rPr lang="en-US" sz="1200" b="0" kern="1200" baseline="0" dirty="0" smtClean="0">
                          <a:solidFill>
                            <a:schemeClr val="tx1"/>
                          </a:solidFill>
                          <a:latin typeface="+mj-lt"/>
                          <a:ea typeface="+mn-ea"/>
                          <a:cs typeface="+mn-cs"/>
                        </a:rPr>
                        <a:t> </a:t>
                      </a:r>
                      <a:endParaRPr lang="en-US" sz="1200" b="0" kern="1200" dirty="0">
                        <a:solidFill>
                          <a:schemeClr val="tx1"/>
                        </a:solidFill>
                        <a:latin typeface="+mj-lt"/>
                        <a:ea typeface="+mn-ea"/>
                        <a:cs typeface="+mn-cs"/>
                      </a:endParaRPr>
                    </a:p>
                  </a:txBody>
                  <a:tcPr>
                    <a:noFill/>
                  </a:tcPr>
                </a:tc>
              </a:tr>
              <a:tr h="731520">
                <a:tc>
                  <a:txBody>
                    <a:bodyPr/>
                    <a:lstStyle/>
                    <a:p>
                      <a:pPr algn="ctr"/>
                      <a:r>
                        <a:rPr lang="en-US" sz="1800" b="1" kern="1200" dirty="0" smtClean="0">
                          <a:solidFill>
                            <a:schemeClr val="tx1"/>
                          </a:solidFill>
                          <a:latin typeface="+mn-lt"/>
                          <a:ea typeface="+mn-ea"/>
                          <a:cs typeface="+mn-cs"/>
                        </a:rPr>
                        <a:t>Guidance</a:t>
                      </a:r>
                      <a:endParaRPr lang="en-US" sz="1800" b="1" kern="1200" dirty="0">
                        <a:solidFill>
                          <a:schemeClr val="tx1"/>
                        </a:solidFill>
                        <a:latin typeface="+mn-lt"/>
                        <a:ea typeface="+mn-ea"/>
                        <a:cs typeface="+mn-cs"/>
                      </a:endParaRPr>
                    </a:p>
                  </a:txBody>
                  <a:tcPr anchor="ctr">
                    <a:solidFill>
                      <a:schemeClr val="accent1"/>
                    </a:solidFill>
                  </a:tcPr>
                </a:tc>
                <a:tc>
                  <a:txBody>
                    <a:bodyPr/>
                    <a:lstStyle/>
                    <a:p>
                      <a:r>
                        <a:rPr lang="en-US" sz="1200" b="0" i="0" kern="1200" dirty="0" smtClean="0">
                          <a:solidFill>
                            <a:schemeClr val="tx1"/>
                          </a:solidFill>
                          <a:latin typeface="+mj-lt"/>
                          <a:ea typeface="+mn-ea"/>
                          <a:cs typeface="+mn-cs"/>
                        </a:rPr>
                        <a:t>The candidate should ask what metric</a:t>
                      </a:r>
                      <a:r>
                        <a:rPr lang="en-US" sz="1200" b="0" i="0" kern="1200" baseline="0" dirty="0" smtClean="0">
                          <a:solidFill>
                            <a:schemeClr val="tx1"/>
                          </a:solidFill>
                          <a:latin typeface="+mj-lt"/>
                          <a:ea typeface="+mn-ea"/>
                          <a:cs typeface="+mn-cs"/>
                        </a:rPr>
                        <a:t> the client wants. Tell him to calculate EBITDA. He/she should automatically start talking about revenue and cost = EBITDA</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Encourage a brainstorming session around revenue drivers and cost drivers. Ask the candidate to come up with possible drivers for both revenue and cost. Also ask whether the individual revenue and cost drivers are expected to increase/decrease. </a:t>
                      </a:r>
                    </a:p>
                    <a:p>
                      <a:endParaRPr lang="en-US" sz="1200" b="0" i="0" kern="1200" baseline="0" dirty="0" smtClean="0">
                        <a:solidFill>
                          <a:schemeClr val="tx1"/>
                        </a:solidFill>
                        <a:latin typeface="+mj-lt"/>
                        <a:ea typeface="+mn-ea"/>
                        <a:cs typeface="+mn-cs"/>
                      </a:endParaRPr>
                    </a:p>
                    <a:p>
                      <a:r>
                        <a:rPr lang="en-US" sz="1200" b="0" i="0" kern="1200" baseline="0" dirty="0" smtClean="0">
                          <a:solidFill>
                            <a:schemeClr val="tx1"/>
                          </a:solidFill>
                          <a:latin typeface="+mj-lt"/>
                          <a:ea typeface="+mn-ea"/>
                          <a:cs typeface="+mn-cs"/>
                        </a:rPr>
                        <a:t>Following are the drivers:</a:t>
                      </a:r>
                    </a:p>
                    <a:p>
                      <a:pPr marL="171450" indent="-171450">
                        <a:buFont typeface="Arial" pitchFamily="34" charset="0"/>
                        <a:buChar char="•"/>
                      </a:pPr>
                      <a:r>
                        <a:rPr lang="en-US" sz="1200" b="0" i="0" kern="1200" baseline="0" dirty="0" smtClean="0">
                          <a:solidFill>
                            <a:schemeClr val="tx1"/>
                          </a:solidFill>
                          <a:latin typeface="+mj-lt"/>
                          <a:ea typeface="+mn-ea"/>
                          <a:cs typeface="+mn-cs"/>
                        </a:rPr>
                        <a:t>Revenue (will increase):</a:t>
                      </a:r>
                    </a:p>
                    <a:p>
                      <a:pPr marL="628650" lvl="1" indent="-171450">
                        <a:buFont typeface="Arial" pitchFamily="34" charset="0"/>
                        <a:buChar char="•"/>
                      </a:pPr>
                      <a:r>
                        <a:rPr lang="en-US" sz="1200" b="0" i="0" kern="1200" baseline="0" dirty="0" smtClean="0">
                          <a:solidFill>
                            <a:schemeClr val="tx1"/>
                          </a:solidFill>
                          <a:latin typeface="+mj-lt"/>
                          <a:ea typeface="+mn-ea"/>
                          <a:cs typeface="+mn-cs"/>
                        </a:rPr>
                        <a:t>Increased dealer growth</a:t>
                      </a:r>
                    </a:p>
                    <a:p>
                      <a:pPr marL="628650" lvl="1" indent="-171450">
                        <a:buFont typeface="Arial" pitchFamily="34" charset="0"/>
                        <a:buChar char="•"/>
                      </a:pPr>
                      <a:r>
                        <a:rPr lang="en-US" sz="1200" b="0" i="0" kern="1200" baseline="0" dirty="0" smtClean="0">
                          <a:solidFill>
                            <a:schemeClr val="tx1"/>
                          </a:solidFill>
                          <a:latin typeface="+mj-lt"/>
                          <a:ea typeface="+mn-ea"/>
                          <a:cs typeface="+mn-cs"/>
                        </a:rPr>
                        <a:t>Reduced dealer churn</a:t>
                      </a:r>
                    </a:p>
                    <a:p>
                      <a:pPr marL="628650" lvl="1" indent="-171450">
                        <a:buFont typeface="Arial" pitchFamily="34" charset="0"/>
                        <a:buChar char="•"/>
                      </a:pPr>
                      <a:r>
                        <a:rPr lang="en-US" sz="1200" b="0" i="0" kern="1200" baseline="0" dirty="0" smtClean="0">
                          <a:solidFill>
                            <a:schemeClr val="tx1"/>
                          </a:solidFill>
                          <a:latin typeface="+mj-lt"/>
                          <a:ea typeface="+mn-ea"/>
                          <a:cs typeface="+mn-cs"/>
                        </a:rPr>
                        <a:t>Increased average spent/dealer</a:t>
                      </a:r>
                    </a:p>
                    <a:p>
                      <a:pPr marL="171450" lvl="0" indent="-171450">
                        <a:buFont typeface="Arial" pitchFamily="34" charset="0"/>
                        <a:buChar char="•"/>
                      </a:pPr>
                      <a:r>
                        <a:rPr lang="en-US" sz="1200" b="0" i="0" kern="1200" baseline="0" dirty="0" smtClean="0">
                          <a:solidFill>
                            <a:schemeClr val="tx1"/>
                          </a:solidFill>
                          <a:latin typeface="+mj-lt"/>
                          <a:ea typeface="+mn-ea"/>
                          <a:cs typeface="+mn-cs"/>
                        </a:rPr>
                        <a:t>Costs (will increase):</a:t>
                      </a:r>
                    </a:p>
                    <a:p>
                      <a:pPr marL="628650" lvl="1" indent="-171450">
                        <a:buFont typeface="Arial" pitchFamily="34" charset="0"/>
                        <a:buChar char="•"/>
                      </a:pPr>
                      <a:r>
                        <a:rPr lang="en-US" sz="1200" b="0" i="0" kern="1200" baseline="0" dirty="0" smtClean="0">
                          <a:solidFill>
                            <a:schemeClr val="tx1"/>
                          </a:solidFill>
                          <a:latin typeface="+mj-lt"/>
                          <a:ea typeface="+mn-ea"/>
                          <a:cs typeface="+mn-cs"/>
                        </a:rPr>
                        <a:t>Increased sales costs </a:t>
                      </a:r>
                    </a:p>
                    <a:p>
                      <a:pPr marL="628650" marR="0" lvl="1"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Reduced service costs </a:t>
                      </a:r>
                    </a:p>
                    <a:p>
                      <a:pPr marL="628650" marR="0" lvl="1"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Increased IT costs</a:t>
                      </a:r>
                    </a:p>
                    <a:p>
                      <a:pPr marL="628650" marR="0" lvl="1"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Increase in other costs</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EBITDA (will increase)</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pitchFamily="34" charset="0"/>
                        <a:buNone/>
                        <a:tabLst/>
                        <a:defRPr/>
                      </a:pPr>
                      <a:r>
                        <a:rPr lang="en-US" sz="1200" b="0" i="0" kern="1200" baseline="0" dirty="0" smtClean="0">
                          <a:solidFill>
                            <a:schemeClr val="tx1"/>
                          </a:solidFill>
                          <a:latin typeface="+mn-lt"/>
                          <a:ea typeface="+mn-ea"/>
                          <a:cs typeface="+mn-cs"/>
                        </a:rPr>
                        <a:t>Once the candidate has done the brainstorming, provide them with Exhibit 2 &amp; 3. Check their public math.</a:t>
                      </a:r>
                    </a:p>
                    <a:p>
                      <a:pPr marL="0" marR="0" lvl="0" indent="0" algn="l" defTabSz="457200" rtl="0" eaLnBrk="1" fontAlgn="auto" latinLnBrk="0" hangingPunct="1">
                        <a:lnSpc>
                          <a:spcPct val="100000"/>
                        </a:lnSpc>
                        <a:spcBef>
                          <a:spcPts val="0"/>
                        </a:spcBef>
                        <a:spcAft>
                          <a:spcPts val="0"/>
                        </a:spcAft>
                        <a:buClrTx/>
                        <a:buSzTx/>
                        <a:buFont typeface="Arial" pitchFamily="34" charset="0"/>
                        <a:buNone/>
                        <a:tabLst/>
                        <a:defRPr/>
                      </a:pPr>
                      <a:endParaRPr lang="en-US" sz="1200" b="0" i="0" kern="1200" dirty="0" smtClean="0">
                        <a:solidFill>
                          <a:schemeClr val="tx1"/>
                        </a:solidFill>
                        <a:latin typeface="+mj-lt"/>
                        <a:ea typeface="+mn-ea"/>
                        <a:cs typeface="+mn-cs"/>
                      </a:endParaRPr>
                    </a:p>
                  </a:txBody>
                  <a:tcPr>
                    <a:solidFill>
                      <a:schemeClr val="accent1"/>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799" y="376238"/>
            <a:ext cx="6243145" cy="461962"/>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7"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201426934"/>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142</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799" y="376238"/>
            <a:ext cx="6306207"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graphicFrame>
        <p:nvGraphicFramePr>
          <p:cNvPr id="2" name="Table 1"/>
          <p:cNvGraphicFramePr>
            <a:graphicFrameLocks noGrp="1"/>
          </p:cNvGraphicFramePr>
          <p:nvPr>
            <p:extLst>
              <p:ext uri="{D42A27DB-BD31-4B8C-83A1-F6EECF244321}">
                <p14:modId xmlns:p14="http://schemas.microsoft.com/office/powerpoint/2010/main" val="4176895190"/>
              </p:ext>
            </p:extLst>
          </p:nvPr>
        </p:nvGraphicFramePr>
        <p:xfrm>
          <a:off x="565488" y="1818379"/>
          <a:ext cx="7387389" cy="4320924"/>
        </p:xfrm>
        <a:graphic>
          <a:graphicData uri="http://schemas.openxmlformats.org/drawingml/2006/table">
            <a:tbl>
              <a:tblPr firstRow="1" bandRow="1">
                <a:tableStyleId>{5C22544A-7EE6-4342-B048-85BDC9FD1C3A}</a:tableStyleId>
              </a:tblPr>
              <a:tblGrid>
                <a:gridCol w="2743200"/>
                <a:gridCol w="2237874"/>
                <a:gridCol w="2406315"/>
              </a:tblGrid>
              <a:tr h="357753">
                <a:tc>
                  <a:txBody>
                    <a:bodyPr/>
                    <a:lstStyle/>
                    <a:p>
                      <a:r>
                        <a:rPr lang="en-US" sz="1200" b="1" dirty="0" smtClean="0">
                          <a:solidFill>
                            <a:schemeClr val="tx1"/>
                          </a:solidFill>
                        </a:rPr>
                        <a:t>Revenue</a:t>
                      </a:r>
                      <a:r>
                        <a:rPr lang="en-US" sz="1200" b="1" baseline="0" dirty="0" smtClean="0">
                          <a:solidFill>
                            <a:schemeClr val="tx1"/>
                          </a:solidFill>
                        </a:rPr>
                        <a:t> Driver</a:t>
                      </a:r>
                      <a:endParaRPr lang="en-US" sz="1200" b="1" dirty="0">
                        <a:solidFill>
                          <a:schemeClr val="tx1"/>
                        </a:solidFill>
                      </a:endParaRPr>
                    </a:p>
                  </a:txBody>
                  <a:tcPr/>
                </a:tc>
                <a:tc>
                  <a:txBody>
                    <a:bodyPr/>
                    <a:lstStyle/>
                    <a:p>
                      <a:r>
                        <a:rPr lang="en-US" sz="1200" b="1" dirty="0" smtClean="0">
                          <a:solidFill>
                            <a:schemeClr val="tx1"/>
                          </a:solidFill>
                        </a:rPr>
                        <a:t>Without recommendations implemented</a:t>
                      </a:r>
                      <a:endParaRPr lang="en-US" sz="1200" b="1"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smtClean="0">
                          <a:solidFill>
                            <a:schemeClr val="tx1"/>
                          </a:solidFill>
                        </a:rPr>
                        <a:t>With recommendations</a:t>
                      </a:r>
                      <a:r>
                        <a:rPr lang="en-US" sz="1200" b="1" baseline="0" dirty="0" smtClean="0">
                          <a:solidFill>
                            <a:schemeClr val="tx1"/>
                          </a:solidFill>
                        </a:rPr>
                        <a:t> implemented</a:t>
                      </a:r>
                      <a:endParaRPr lang="en-US" sz="1200" b="1" dirty="0">
                        <a:solidFill>
                          <a:schemeClr val="tx1"/>
                        </a:solidFill>
                      </a:endParaRPr>
                    </a:p>
                  </a:txBody>
                  <a:tcPr/>
                </a:tc>
              </a:tr>
              <a:tr h="321977">
                <a:tc>
                  <a:txBody>
                    <a:bodyPr/>
                    <a:lstStyle/>
                    <a:p>
                      <a:r>
                        <a:rPr lang="en-US" sz="1200" b="0" dirty="0" smtClean="0"/>
                        <a:t>Net Number of dealers</a:t>
                      </a:r>
                      <a:endParaRPr lang="en-US" sz="1200" b="0" dirty="0"/>
                    </a:p>
                  </a:txBody>
                  <a:tcPr/>
                </a:tc>
                <a:tc>
                  <a:txBody>
                    <a:bodyPr/>
                    <a:lstStyle/>
                    <a:p>
                      <a:endParaRPr lang="en-US" sz="1200" b="0"/>
                    </a:p>
                  </a:txBody>
                  <a:tcPr/>
                </a:tc>
                <a:tc>
                  <a:txBody>
                    <a:bodyPr/>
                    <a:lstStyle/>
                    <a:p>
                      <a:endParaRPr lang="en-US" sz="1200" b="0"/>
                    </a:p>
                  </a:txBody>
                  <a:tcPr/>
                </a:tc>
              </a:tr>
              <a:tr h="321977">
                <a:tc>
                  <a:txBody>
                    <a:bodyPr/>
                    <a:lstStyle/>
                    <a:p>
                      <a:pPr marL="742950" lvl="1" indent="-285750">
                        <a:buFont typeface="Arial" pitchFamily="34" charset="0"/>
                        <a:buChar char="•"/>
                      </a:pPr>
                      <a:r>
                        <a:rPr lang="en-US" sz="1200" b="0" dirty="0" smtClean="0"/>
                        <a:t>Division</a:t>
                      </a:r>
                      <a:r>
                        <a:rPr lang="en-US" sz="1200" b="0" baseline="0" dirty="0" smtClean="0"/>
                        <a:t> A</a:t>
                      </a:r>
                      <a:endParaRPr lang="en-US" sz="1200" b="0" dirty="0"/>
                    </a:p>
                  </a:txBody>
                  <a:tcPr/>
                </a:tc>
                <a:tc>
                  <a:txBody>
                    <a:bodyPr/>
                    <a:lstStyle/>
                    <a:p>
                      <a:r>
                        <a:rPr lang="en-US" sz="1200" b="0" dirty="0" smtClean="0"/>
                        <a:t>90</a:t>
                      </a:r>
                      <a:endParaRPr lang="en-US" sz="1200" b="0" dirty="0"/>
                    </a:p>
                  </a:txBody>
                  <a:tcPr/>
                </a:tc>
                <a:tc>
                  <a:txBody>
                    <a:bodyPr/>
                    <a:lstStyle/>
                    <a:p>
                      <a:r>
                        <a:rPr lang="pt-BR" sz="1200" b="0" dirty="0" smtClean="0"/>
                        <a:t>?</a:t>
                      </a:r>
                      <a:endParaRPr lang="en-US" sz="1200" b="0" dirty="0"/>
                    </a:p>
                  </a:txBody>
                  <a:tcPr/>
                </a:tc>
              </a:tr>
              <a:tr h="321977">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Division B</a:t>
                      </a:r>
                      <a:endParaRPr lang="en-US" sz="1200" b="0" dirty="0"/>
                    </a:p>
                  </a:txBody>
                  <a:tcPr/>
                </a:tc>
                <a:tc>
                  <a:txBody>
                    <a:bodyPr/>
                    <a:lstStyle/>
                    <a:p>
                      <a:r>
                        <a:rPr lang="en-US" sz="1200" b="0" dirty="0" smtClean="0"/>
                        <a:t>40</a:t>
                      </a:r>
                      <a:endParaRPr lang="en-US" sz="1200" b="0" dirty="0"/>
                    </a:p>
                  </a:txBody>
                  <a:tcPr/>
                </a:tc>
                <a:tc>
                  <a:txBody>
                    <a:bodyPr/>
                    <a:lstStyle/>
                    <a:p>
                      <a:r>
                        <a:rPr lang="pt-BR" sz="1200" b="0" dirty="0" smtClean="0"/>
                        <a:t>?</a:t>
                      </a:r>
                      <a:endParaRPr lang="en-US" sz="1200" b="0" dirty="0"/>
                    </a:p>
                  </a:txBody>
                  <a:tcPr/>
                </a:tc>
              </a:tr>
              <a:tr h="321977">
                <a:tc>
                  <a:txBody>
                    <a:bodyPr/>
                    <a:lstStyle/>
                    <a:p>
                      <a:pPr marL="742950" lvl="1" indent="-285750">
                        <a:buFont typeface="Arial" pitchFamily="34" charset="0"/>
                        <a:buChar char="•"/>
                      </a:pPr>
                      <a:r>
                        <a:rPr lang="en-US" sz="1200" b="0" dirty="0" smtClean="0"/>
                        <a:t>Division</a:t>
                      </a:r>
                      <a:r>
                        <a:rPr lang="en-US" sz="1200" b="0" baseline="0" dirty="0" smtClean="0"/>
                        <a:t> </a:t>
                      </a:r>
                      <a:r>
                        <a:rPr lang="en-US" sz="1200" b="0" baseline="0" dirty="0"/>
                        <a:t>C</a:t>
                      </a:r>
                      <a:endParaRPr lang="en-US" sz="1200" b="0" baseline="0" dirty="0" smtClean="0"/>
                    </a:p>
                  </a:txBody>
                  <a:tcPr/>
                </a:tc>
                <a:tc>
                  <a:txBody>
                    <a:bodyPr/>
                    <a:lstStyle/>
                    <a:p>
                      <a:r>
                        <a:rPr lang="en-US" sz="1200" b="0" dirty="0" smtClean="0"/>
                        <a:t>45</a:t>
                      </a:r>
                      <a:endParaRPr lang="en-US" sz="1200" b="0" dirty="0"/>
                    </a:p>
                  </a:txBody>
                  <a:tcPr/>
                </a:tc>
                <a:tc>
                  <a:txBody>
                    <a:bodyPr/>
                    <a:lstStyle/>
                    <a:p>
                      <a:r>
                        <a:rPr lang="pt-BR" sz="1200" b="0" dirty="0" smtClean="0"/>
                        <a:t>?</a:t>
                      </a:r>
                      <a:endParaRPr lang="en-US" sz="1200" b="0" dirty="0"/>
                    </a:p>
                  </a:txBody>
                  <a:tcPr/>
                </a:tc>
              </a:tr>
              <a:tr h="321977">
                <a:tc>
                  <a:txBody>
                    <a:bodyPr/>
                    <a:lstStyle/>
                    <a:p>
                      <a:r>
                        <a:rPr lang="en-US" sz="1200" b="0" dirty="0" smtClean="0"/>
                        <a:t>Number of dealers added</a:t>
                      </a:r>
                      <a:endParaRPr lang="en-US" sz="1200" b="0" dirty="0"/>
                    </a:p>
                  </a:txBody>
                  <a:tcPr/>
                </a:tc>
                <a:tc>
                  <a:txBody>
                    <a:bodyPr/>
                    <a:lstStyle/>
                    <a:p>
                      <a:endParaRPr lang="en-US" sz="1200" b="0" dirty="0"/>
                    </a:p>
                  </a:txBody>
                  <a:tcPr/>
                </a:tc>
                <a:tc>
                  <a:txBody>
                    <a:bodyPr/>
                    <a:lstStyle/>
                    <a:p>
                      <a:pPr algn="ctr"/>
                      <a:endParaRPr lang="en-US" sz="1200" b="0" dirty="0"/>
                    </a:p>
                  </a:txBody>
                  <a:tcPr anchor="ctr"/>
                </a:tc>
              </a:tr>
              <a:tr h="321977">
                <a:tc>
                  <a:txBody>
                    <a:bodyPr/>
                    <a:lstStyle/>
                    <a:p>
                      <a:pPr marL="742950" lvl="1" indent="-285750">
                        <a:buFont typeface="Arial" pitchFamily="34" charset="0"/>
                        <a:buChar char="•"/>
                      </a:pPr>
                      <a:r>
                        <a:rPr lang="en-US" sz="1200" b="0" dirty="0" smtClean="0"/>
                        <a:t>Division</a:t>
                      </a:r>
                      <a:r>
                        <a:rPr lang="en-US" sz="1200" b="0" baseline="0" dirty="0" smtClean="0"/>
                        <a:t> A</a:t>
                      </a:r>
                      <a:endParaRPr lang="en-US" sz="1200" b="0" dirty="0"/>
                    </a:p>
                  </a:txBody>
                  <a:tcPr/>
                </a:tc>
                <a:tc>
                  <a:txBody>
                    <a:bodyPr/>
                    <a:lstStyle/>
                    <a:p>
                      <a:r>
                        <a:rPr lang="en-US" sz="1200" b="0" dirty="0" smtClean="0"/>
                        <a:t>15</a:t>
                      </a:r>
                      <a:endParaRPr lang="en-US" sz="1200" b="0" dirty="0"/>
                    </a:p>
                  </a:txBody>
                  <a:tcPr/>
                </a:tc>
                <a:tc>
                  <a:txBody>
                    <a:bodyPr/>
                    <a:lstStyle/>
                    <a:p>
                      <a:r>
                        <a:rPr lang="en-US" sz="1200" b="0" dirty="0" smtClean="0"/>
                        <a:t>20</a:t>
                      </a:r>
                      <a:endParaRPr lang="en-US" sz="1200" b="0" dirty="0"/>
                    </a:p>
                  </a:txBody>
                  <a:tcPr/>
                </a:tc>
              </a:tr>
              <a:tr h="321977">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Division B</a:t>
                      </a:r>
                      <a:endParaRPr lang="en-US" sz="1200" b="0" dirty="0"/>
                    </a:p>
                  </a:txBody>
                  <a:tcPr/>
                </a:tc>
                <a:tc>
                  <a:txBody>
                    <a:bodyPr/>
                    <a:lstStyle/>
                    <a:p>
                      <a:r>
                        <a:rPr lang="en-US" sz="1200" b="0" dirty="0" smtClean="0"/>
                        <a:t>10</a:t>
                      </a:r>
                      <a:endParaRPr lang="en-US" sz="1200" b="0" dirty="0"/>
                    </a:p>
                  </a:txBody>
                  <a:tcPr/>
                </a:tc>
                <a:tc>
                  <a:txBody>
                    <a:bodyPr/>
                    <a:lstStyle/>
                    <a:p>
                      <a:r>
                        <a:rPr lang="en-US" sz="1200" b="0" dirty="0" smtClean="0"/>
                        <a:t>15</a:t>
                      </a:r>
                      <a:endParaRPr lang="en-US" sz="1200" b="0" dirty="0"/>
                    </a:p>
                  </a:txBody>
                  <a:tcPr/>
                </a:tc>
              </a:tr>
              <a:tr h="321977">
                <a:tc>
                  <a:txBody>
                    <a:bodyPr/>
                    <a:lstStyle/>
                    <a:p>
                      <a:pPr marL="742950" lvl="1" indent="-285750">
                        <a:buFont typeface="Arial" pitchFamily="34" charset="0"/>
                        <a:buChar char="•"/>
                      </a:pPr>
                      <a:r>
                        <a:rPr lang="en-US" sz="1200" b="0" dirty="0" smtClean="0"/>
                        <a:t>Division</a:t>
                      </a:r>
                      <a:r>
                        <a:rPr lang="en-US" sz="1200" b="0" baseline="0" dirty="0" smtClean="0"/>
                        <a:t> </a:t>
                      </a:r>
                      <a:r>
                        <a:rPr lang="en-US" sz="1200" b="0" baseline="0" dirty="0"/>
                        <a:t>C</a:t>
                      </a:r>
                      <a:endParaRPr lang="en-US" sz="1200" b="0" baseline="0" dirty="0" smtClean="0"/>
                    </a:p>
                  </a:txBody>
                  <a:tcPr/>
                </a:tc>
                <a:tc>
                  <a:txBody>
                    <a:bodyPr/>
                    <a:lstStyle/>
                    <a:p>
                      <a:r>
                        <a:rPr lang="en-US" sz="1200" b="0" dirty="0" smtClean="0"/>
                        <a:t>5</a:t>
                      </a:r>
                      <a:endParaRPr lang="en-US" sz="1200" b="0" dirty="0"/>
                    </a:p>
                  </a:txBody>
                  <a:tcPr/>
                </a:tc>
                <a:tc>
                  <a:txBody>
                    <a:bodyPr/>
                    <a:lstStyle/>
                    <a:p>
                      <a:r>
                        <a:rPr lang="en-US" sz="1200" b="0" dirty="0" smtClean="0"/>
                        <a:t>10</a:t>
                      </a:r>
                      <a:endParaRPr lang="en-US" sz="1200" b="0" dirty="0"/>
                    </a:p>
                  </a:txBody>
                  <a:tcPr/>
                </a:tc>
              </a:tr>
              <a:tr h="321977">
                <a:tc>
                  <a:txBody>
                    <a:bodyPr/>
                    <a:lstStyle/>
                    <a:p>
                      <a:r>
                        <a:rPr lang="en-US" sz="1200" b="0" dirty="0" smtClean="0"/>
                        <a:t>Number of dealers lost</a:t>
                      </a:r>
                      <a:endParaRPr lang="en-US" sz="1200" b="0" dirty="0"/>
                    </a:p>
                  </a:txBody>
                  <a:tcPr/>
                </a:tc>
                <a:tc>
                  <a:txBody>
                    <a:bodyPr/>
                    <a:lstStyle/>
                    <a:p>
                      <a:endParaRPr lang="en-US" sz="1200" b="0" dirty="0"/>
                    </a:p>
                  </a:txBody>
                  <a:tcPr/>
                </a:tc>
                <a:tc>
                  <a:txBody>
                    <a:bodyPr/>
                    <a:lstStyle/>
                    <a:p>
                      <a:endParaRPr lang="en-US" sz="1200" b="0" dirty="0"/>
                    </a:p>
                  </a:txBody>
                  <a:tcPr/>
                </a:tc>
              </a:tr>
              <a:tr h="321977">
                <a:tc>
                  <a:txBody>
                    <a:bodyPr/>
                    <a:lstStyle/>
                    <a:p>
                      <a:pPr marL="742950" lvl="1" indent="-285750">
                        <a:buFont typeface="Arial" pitchFamily="34" charset="0"/>
                        <a:buChar char="•"/>
                      </a:pPr>
                      <a:r>
                        <a:rPr lang="en-US" sz="1200" b="0" dirty="0" smtClean="0"/>
                        <a:t>Division</a:t>
                      </a:r>
                      <a:r>
                        <a:rPr lang="en-US" sz="1200" b="0" baseline="0" dirty="0" smtClean="0"/>
                        <a:t> A</a:t>
                      </a:r>
                      <a:endParaRPr lang="en-US" sz="1200" b="0" dirty="0"/>
                    </a:p>
                  </a:txBody>
                  <a:tcPr/>
                </a:tc>
                <a:tc>
                  <a:txBody>
                    <a:bodyPr/>
                    <a:lstStyle/>
                    <a:p>
                      <a:r>
                        <a:rPr lang="en-US" sz="1200" b="0" dirty="0" smtClean="0"/>
                        <a:t>5</a:t>
                      </a:r>
                      <a:endParaRPr lang="en-US" sz="1200" b="0" dirty="0"/>
                    </a:p>
                  </a:txBody>
                  <a:tcPr/>
                </a:tc>
                <a:tc>
                  <a:txBody>
                    <a:bodyPr/>
                    <a:lstStyle/>
                    <a:p>
                      <a:r>
                        <a:rPr lang="en-US" sz="1200" b="0" dirty="0" smtClean="0"/>
                        <a:t>0</a:t>
                      </a:r>
                      <a:endParaRPr lang="en-US" sz="1200" b="0" dirty="0"/>
                    </a:p>
                  </a:txBody>
                  <a:tcPr/>
                </a:tc>
              </a:tr>
              <a:tr h="321977">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Division B</a:t>
                      </a:r>
                      <a:endParaRPr lang="en-US" sz="1200" b="0" dirty="0"/>
                    </a:p>
                  </a:txBody>
                  <a:tcPr/>
                </a:tc>
                <a:tc>
                  <a:txBody>
                    <a:bodyPr/>
                    <a:lstStyle/>
                    <a:p>
                      <a:r>
                        <a:rPr lang="en-US" sz="1200" b="0" dirty="0" smtClean="0"/>
                        <a:t>7</a:t>
                      </a:r>
                      <a:endParaRPr lang="en-US" sz="1200" b="0" dirty="0"/>
                    </a:p>
                  </a:txBody>
                  <a:tcPr/>
                </a:tc>
                <a:tc>
                  <a:txBody>
                    <a:bodyPr/>
                    <a:lstStyle/>
                    <a:p>
                      <a:r>
                        <a:rPr lang="en-US" sz="1200" b="0" dirty="0" smtClean="0">
                          <a:solidFill>
                            <a:schemeClr val="tx1"/>
                          </a:solidFill>
                        </a:rPr>
                        <a:t>2</a:t>
                      </a:r>
                      <a:endParaRPr lang="en-US" sz="1200" b="0" dirty="0">
                        <a:solidFill>
                          <a:schemeClr val="tx1"/>
                        </a:solidFill>
                      </a:endParaRPr>
                    </a:p>
                  </a:txBody>
                  <a:tcPr/>
                </a:tc>
              </a:tr>
              <a:tr h="321977">
                <a:tc>
                  <a:txBody>
                    <a:bodyPr/>
                    <a:lstStyle/>
                    <a:p>
                      <a:pPr marL="742950" lvl="1" indent="-285750">
                        <a:buFont typeface="Arial" pitchFamily="34" charset="0"/>
                        <a:buChar char="•"/>
                      </a:pPr>
                      <a:r>
                        <a:rPr lang="en-US" sz="1200" b="0" dirty="0" smtClean="0"/>
                        <a:t>Division</a:t>
                      </a:r>
                      <a:r>
                        <a:rPr lang="en-US" sz="1200" b="0" baseline="0" dirty="0" smtClean="0"/>
                        <a:t> </a:t>
                      </a:r>
                      <a:r>
                        <a:rPr lang="en-US" sz="1200" b="0" baseline="0" dirty="0"/>
                        <a:t>C</a:t>
                      </a:r>
                      <a:endParaRPr lang="en-US" sz="1200" b="0" baseline="0" dirty="0" smtClean="0"/>
                    </a:p>
                  </a:txBody>
                  <a:tcPr/>
                </a:tc>
                <a:tc>
                  <a:txBody>
                    <a:bodyPr/>
                    <a:lstStyle/>
                    <a:p>
                      <a:r>
                        <a:rPr lang="en-US" sz="1200" b="0" dirty="0" smtClean="0"/>
                        <a:t>2</a:t>
                      </a:r>
                      <a:endParaRPr lang="en-US" sz="1200" b="0" dirty="0"/>
                    </a:p>
                  </a:txBody>
                  <a:tcPr/>
                </a:tc>
                <a:tc>
                  <a:txBody>
                    <a:bodyPr/>
                    <a:lstStyle/>
                    <a:p>
                      <a:r>
                        <a:rPr lang="en-US" sz="1200" b="0" dirty="0" smtClean="0">
                          <a:solidFill>
                            <a:schemeClr val="tx1"/>
                          </a:solidFill>
                        </a:rPr>
                        <a:t>2</a:t>
                      </a:r>
                      <a:endParaRPr lang="en-US" sz="1200" b="0" dirty="0">
                        <a:solidFill>
                          <a:schemeClr val="tx1"/>
                        </a:solidFill>
                      </a:endParaRPr>
                    </a:p>
                  </a:txBody>
                  <a:tcPr/>
                </a:tc>
              </a:tr>
            </a:tbl>
          </a:graphicData>
        </a:graphic>
      </p:graphicFrame>
      <p:sp>
        <p:nvSpPr>
          <p:cNvPr id="3" name="TextBox 2"/>
          <p:cNvSpPr txBox="1"/>
          <p:nvPr/>
        </p:nvSpPr>
        <p:spPr>
          <a:xfrm>
            <a:off x="457200" y="1414046"/>
            <a:ext cx="3200400" cy="307777"/>
          </a:xfrm>
          <a:prstGeom prst="rect">
            <a:avLst/>
          </a:prstGeom>
          <a:noFill/>
        </p:spPr>
        <p:txBody>
          <a:bodyPr wrap="square" rtlCol="0">
            <a:spAutoFit/>
          </a:bodyPr>
          <a:lstStyle/>
          <a:p>
            <a:r>
              <a:rPr lang="en-US" sz="1400" b="1" dirty="0" smtClean="0"/>
              <a:t>Exhibit 1: Revenue Drivers</a:t>
            </a:r>
            <a:endParaRPr lang="en-US" sz="1400" b="1" dirty="0"/>
          </a:p>
        </p:txBody>
      </p:sp>
      <p:sp>
        <p:nvSpPr>
          <p:cNvPr id="10"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3619063525"/>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143</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6327228"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graphicFrame>
        <p:nvGraphicFramePr>
          <p:cNvPr id="11" name="Table 10"/>
          <p:cNvGraphicFramePr>
            <a:graphicFrameLocks noGrp="1"/>
          </p:cNvGraphicFramePr>
          <p:nvPr>
            <p:extLst>
              <p:ext uri="{D42A27DB-BD31-4B8C-83A1-F6EECF244321}">
                <p14:modId xmlns:p14="http://schemas.microsoft.com/office/powerpoint/2010/main" val="3645387664"/>
              </p:ext>
            </p:extLst>
          </p:nvPr>
        </p:nvGraphicFramePr>
        <p:xfrm>
          <a:off x="457200" y="1752600"/>
          <a:ext cx="8305800" cy="2209801"/>
        </p:xfrm>
        <a:graphic>
          <a:graphicData uri="http://schemas.openxmlformats.org/drawingml/2006/table">
            <a:tbl>
              <a:tblPr firstRow="1" bandRow="1">
                <a:tableStyleId>{5C22544A-7EE6-4342-B048-85BDC9FD1C3A}</a:tableStyleId>
              </a:tblPr>
              <a:tblGrid>
                <a:gridCol w="2768600"/>
                <a:gridCol w="2768600"/>
                <a:gridCol w="2768600"/>
              </a:tblGrid>
              <a:tr h="625657">
                <a:tc>
                  <a:txBody>
                    <a:bodyPr/>
                    <a:lstStyle/>
                    <a:p>
                      <a:r>
                        <a:rPr lang="en-US" sz="1200" b="1" dirty="0" smtClean="0">
                          <a:solidFill>
                            <a:schemeClr val="tx1"/>
                          </a:solidFill>
                        </a:rPr>
                        <a:t>Revenue</a:t>
                      </a:r>
                      <a:r>
                        <a:rPr lang="en-US" sz="1200" b="1" baseline="0" dirty="0" smtClean="0">
                          <a:solidFill>
                            <a:schemeClr val="tx1"/>
                          </a:solidFill>
                        </a:rPr>
                        <a:t> Driver</a:t>
                      </a:r>
                      <a:endParaRPr lang="en-US" sz="1200" b="1" dirty="0">
                        <a:solidFill>
                          <a:schemeClr val="tx1"/>
                        </a:solidFill>
                      </a:endParaRPr>
                    </a:p>
                  </a:txBody>
                  <a:tcPr/>
                </a:tc>
                <a:tc>
                  <a:txBody>
                    <a:bodyPr/>
                    <a:lstStyle/>
                    <a:p>
                      <a:r>
                        <a:rPr lang="en-US" sz="1200" b="1" dirty="0" smtClean="0">
                          <a:solidFill>
                            <a:schemeClr val="tx1"/>
                          </a:solidFill>
                        </a:rPr>
                        <a:t>Without recommendations implemented (USD)</a:t>
                      </a:r>
                      <a:endParaRPr lang="en-US" sz="1200" b="1"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smtClean="0">
                          <a:solidFill>
                            <a:schemeClr val="tx1"/>
                          </a:solidFill>
                        </a:rPr>
                        <a:t>With recommendations</a:t>
                      </a:r>
                      <a:r>
                        <a:rPr lang="en-US" sz="1200" b="1" baseline="0" dirty="0" smtClean="0">
                          <a:solidFill>
                            <a:schemeClr val="tx1"/>
                          </a:solidFill>
                        </a:rPr>
                        <a:t> implemented </a:t>
                      </a:r>
                      <a:r>
                        <a:rPr lang="en-US" sz="1200" b="1" dirty="0" smtClean="0">
                          <a:solidFill>
                            <a:schemeClr val="tx1"/>
                          </a:solidFill>
                        </a:rPr>
                        <a:t>(USD)</a:t>
                      </a:r>
                      <a:endParaRPr lang="en-US" sz="1200" b="1" dirty="0">
                        <a:solidFill>
                          <a:schemeClr val="tx1"/>
                        </a:solidFill>
                      </a:endParaRPr>
                    </a:p>
                  </a:txBody>
                  <a:tcPr/>
                </a:tc>
              </a:tr>
              <a:tr h="396036">
                <a:tc>
                  <a:txBody>
                    <a:bodyPr/>
                    <a:lstStyle/>
                    <a:p>
                      <a:r>
                        <a:rPr lang="en-US" sz="1200" b="0" dirty="0" smtClean="0"/>
                        <a:t>Average annual spend</a:t>
                      </a:r>
                      <a:r>
                        <a:rPr lang="en-US" sz="1200" b="0" baseline="0" dirty="0" smtClean="0"/>
                        <a:t> per dealer</a:t>
                      </a:r>
                      <a:endParaRPr lang="en-US" sz="1200" b="0" dirty="0"/>
                    </a:p>
                  </a:txBody>
                  <a:tcPr/>
                </a:tc>
                <a:tc>
                  <a:txBody>
                    <a:bodyPr/>
                    <a:lstStyle/>
                    <a:p>
                      <a:endParaRPr lang="en-US" sz="1200" b="0" dirty="0"/>
                    </a:p>
                  </a:txBody>
                  <a:tcPr/>
                </a:tc>
                <a:tc>
                  <a:txBody>
                    <a:bodyPr/>
                    <a:lstStyle/>
                    <a:p>
                      <a:endParaRPr lang="en-US" sz="1200" b="0" dirty="0"/>
                    </a:p>
                  </a:txBody>
                  <a:tcPr/>
                </a:tc>
              </a:tr>
              <a:tr h="396036">
                <a:tc>
                  <a:txBody>
                    <a:bodyPr/>
                    <a:lstStyle/>
                    <a:p>
                      <a:pPr marL="742950" lvl="1" indent="-285750">
                        <a:buFont typeface="Arial" pitchFamily="34" charset="0"/>
                        <a:buChar char="•"/>
                      </a:pPr>
                      <a:r>
                        <a:rPr lang="en-US" sz="1200" b="0" dirty="0" smtClean="0"/>
                        <a:t>Division</a:t>
                      </a:r>
                      <a:r>
                        <a:rPr lang="en-US" sz="1200" b="0" baseline="0" dirty="0" smtClean="0"/>
                        <a:t> A</a:t>
                      </a:r>
                      <a:endParaRPr lang="en-US" sz="1200" b="0" dirty="0"/>
                    </a:p>
                  </a:txBody>
                  <a:tcPr/>
                </a:tc>
                <a:tc>
                  <a:txBody>
                    <a:bodyPr/>
                    <a:lstStyle/>
                    <a:p>
                      <a:r>
                        <a:rPr lang="en-US" sz="1200" b="0" dirty="0" smtClean="0"/>
                        <a:t>80,000</a:t>
                      </a:r>
                      <a:endParaRPr lang="en-US" sz="1200" b="0" dirty="0"/>
                    </a:p>
                  </a:txBody>
                  <a:tcPr/>
                </a:tc>
                <a:tc>
                  <a:txBody>
                    <a:bodyPr/>
                    <a:lstStyle/>
                    <a:p>
                      <a:r>
                        <a:rPr lang="en-US" sz="1200" b="0" dirty="0" smtClean="0"/>
                        <a:t>90,000</a:t>
                      </a:r>
                      <a:endParaRPr lang="en-US" sz="1200" b="0" dirty="0"/>
                    </a:p>
                  </a:txBody>
                  <a:tcPr/>
                </a:tc>
              </a:tr>
              <a:tr h="396036">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Division B</a:t>
                      </a:r>
                      <a:endParaRPr lang="en-US" sz="1200" b="0" dirty="0"/>
                    </a:p>
                  </a:txBody>
                  <a:tcPr/>
                </a:tc>
                <a:tc>
                  <a:txBody>
                    <a:bodyPr/>
                    <a:lstStyle/>
                    <a:p>
                      <a:r>
                        <a:rPr lang="en-US" sz="1200" b="0" dirty="0" smtClean="0"/>
                        <a:t>90,000</a:t>
                      </a:r>
                      <a:endParaRPr lang="en-US" sz="1200" b="0" dirty="0"/>
                    </a:p>
                  </a:txBody>
                  <a:tcPr/>
                </a:tc>
                <a:tc>
                  <a:txBody>
                    <a:bodyPr/>
                    <a:lstStyle/>
                    <a:p>
                      <a:r>
                        <a:rPr lang="en-US" sz="1200" b="0" dirty="0" smtClean="0"/>
                        <a:t>100,000</a:t>
                      </a:r>
                      <a:endParaRPr lang="en-US" sz="1200" b="0" dirty="0"/>
                    </a:p>
                  </a:txBody>
                  <a:tcPr/>
                </a:tc>
              </a:tr>
              <a:tr h="396036">
                <a:tc>
                  <a:txBody>
                    <a:bodyPr/>
                    <a:lstStyle/>
                    <a:p>
                      <a:pPr marL="742950" lvl="1" indent="-285750">
                        <a:buFont typeface="Arial" pitchFamily="34" charset="0"/>
                        <a:buChar char="•"/>
                      </a:pPr>
                      <a:r>
                        <a:rPr lang="en-US" sz="1200" b="0" dirty="0" smtClean="0"/>
                        <a:t>Division</a:t>
                      </a:r>
                      <a:r>
                        <a:rPr lang="en-US" sz="1200" b="0" baseline="0" dirty="0" smtClean="0"/>
                        <a:t> </a:t>
                      </a:r>
                      <a:r>
                        <a:rPr lang="en-US" sz="1200" b="0" baseline="0" dirty="0"/>
                        <a:t>C</a:t>
                      </a:r>
                      <a:endParaRPr lang="en-US" sz="1200" b="0" baseline="0" dirty="0" smtClean="0"/>
                    </a:p>
                  </a:txBody>
                  <a:tcPr/>
                </a:tc>
                <a:tc>
                  <a:txBody>
                    <a:bodyPr/>
                    <a:lstStyle/>
                    <a:p>
                      <a:r>
                        <a:rPr lang="en-US" sz="1200" b="0" dirty="0" smtClean="0"/>
                        <a:t>100,000</a:t>
                      </a:r>
                      <a:endParaRPr lang="en-US" sz="1200" b="0" dirty="0"/>
                    </a:p>
                  </a:txBody>
                  <a:tcPr/>
                </a:tc>
                <a:tc>
                  <a:txBody>
                    <a:bodyPr/>
                    <a:lstStyle/>
                    <a:p>
                      <a:r>
                        <a:rPr lang="en-US" sz="1200" b="0" dirty="0" smtClean="0"/>
                        <a:t>110,000</a:t>
                      </a:r>
                      <a:endParaRPr lang="en-US" sz="1200" b="0" dirty="0"/>
                    </a:p>
                  </a:txBody>
                  <a:tcPr/>
                </a:tc>
              </a:tr>
            </a:tbl>
          </a:graphicData>
        </a:graphic>
      </p:graphicFrame>
      <p:sp>
        <p:nvSpPr>
          <p:cNvPr id="10" name="TextBox 9"/>
          <p:cNvSpPr txBox="1"/>
          <p:nvPr/>
        </p:nvSpPr>
        <p:spPr>
          <a:xfrm>
            <a:off x="457200" y="1414046"/>
            <a:ext cx="3200400" cy="307777"/>
          </a:xfrm>
          <a:prstGeom prst="rect">
            <a:avLst/>
          </a:prstGeom>
          <a:noFill/>
        </p:spPr>
        <p:txBody>
          <a:bodyPr wrap="square" rtlCol="0">
            <a:spAutoFit/>
          </a:bodyPr>
          <a:lstStyle/>
          <a:p>
            <a:r>
              <a:rPr lang="en-US" sz="1400" b="1" dirty="0"/>
              <a:t>Exhibit 2 (</a:t>
            </a:r>
            <a:r>
              <a:rPr lang="en-US" sz="1400" b="1" dirty="0" smtClean="0"/>
              <a:t>Candidate copy)</a:t>
            </a:r>
            <a:endParaRPr lang="en-US" sz="1400" b="1" dirty="0"/>
          </a:p>
        </p:txBody>
      </p:sp>
      <p:sp>
        <p:nvSpPr>
          <p:cNvPr id="12"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80888016"/>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144</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799" y="376238"/>
            <a:ext cx="6243145"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graphicFrame>
        <p:nvGraphicFramePr>
          <p:cNvPr id="11" name="Table 10"/>
          <p:cNvGraphicFramePr>
            <a:graphicFrameLocks noGrp="1"/>
          </p:cNvGraphicFramePr>
          <p:nvPr>
            <p:extLst>
              <p:ext uri="{D42A27DB-BD31-4B8C-83A1-F6EECF244321}">
                <p14:modId xmlns:p14="http://schemas.microsoft.com/office/powerpoint/2010/main" val="2765028036"/>
              </p:ext>
            </p:extLst>
          </p:nvPr>
        </p:nvGraphicFramePr>
        <p:xfrm>
          <a:off x="457200" y="1752600"/>
          <a:ext cx="8229600" cy="2209801"/>
        </p:xfrm>
        <a:graphic>
          <a:graphicData uri="http://schemas.openxmlformats.org/drawingml/2006/table">
            <a:tbl>
              <a:tblPr firstRow="1" bandRow="1">
                <a:tableStyleId>{5C22544A-7EE6-4342-B048-85BDC9FD1C3A}</a:tableStyleId>
              </a:tblPr>
              <a:tblGrid>
                <a:gridCol w="4114800"/>
                <a:gridCol w="4114800"/>
              </a:tblGrid>
              <a:tr h="625657">
                <a:tc>
                  <a:txBody>
                    <a:bodyPr/>
                    <a:lstStyle/>
                    <a:p>
                      <a:r>
                        <a:rPr lang="en-US" sz="1200" dirty="0" smtClean="0">
                          <a:solidFill>
                            <a:schemeClr val="tx1"/>
                          </a:solidFill>
                        </a:rPr>
                        <a:t>Cost </a:t>
                      </a:r>
                      <a:r>
                        <a:rPr lang="en-US" sz="1200" baseline="0" dirty="0" smtClean="0">
                          <a:solidFill>
                            <a:schemeClr val="tx1"/>
                          </a:solidFill>
                        </a:rPr>
                        <a:t>Drivers</a:t>
                      </a:r>
                      <a:endParaRPr lang="en-US" sz="1200" dirty="0">
                        <a:solidFill>
                          <a:schemeClr val="tx1"/>
                        </a:solidFill>
                      </a:endParaRPr>
                    </a:p>
                  </a:txBody>
                  <a:tcPr/>
                </a:tc>
                <a:tc>
                  <a:txBody>
                    <a:bodyPr/>
                    <a:lstStyle/>
                    <a:p>
                      <a:r>
                        <a:rPr lang="en-US" sz="1200" dirty="0" smtClean="0">
                          <a:solidFill>
                            <a:schemeClr val="tx1"/>
                          </a:solidFill>
                        </a:rPr>
                        <a:t>Increase</a:t>
                      </a:r>
                      <a:r>
                        <a:rPr lang="en-US" sz="1200" baseline="0" dirty="0" smtClean="0">
                          <a:solidFill>
                            <a:schemeClr val="tx1"/>
                          </a:solidFill>
                        </a:rPr>
                        <a:t> </a:t>
                      </a:r>
                      <a:r>
                        <a:rPr lang="en-US" sz="1200" dirty="0" smtClean="0">
                          <a:solidFill>
                            <a:schemeClr val="tx1"/>
                          </a:solidFill>
                        </a:rPr>
                        <a:t>in cost due to recommendation implementation</a:t>
                      </a:r>
                      <a:r>
                        <a:rPr lang="en-US" sz="1200" baseline="0" dirty="0" smtClean="0">
                          <a:solidFill>
                            <a:schemeClr val="tx1"/>
                          </a:solidFill>
                        </a:rPr>
                        <a:t> </a:t>
                      </a:r>
                      <a:r>
                        <a:rPr lang="en-US" sz="1200" dirty="0" smtClean="0">
                          <a:solidFill>
                            <a:schemeClr val="tx1"/>
                          </a:solidFill>
                        </a:rPr>
                        <a:t>(USD)</a:t>
                      </a:r>
                      <a:endParaRPr lang="en-US" sz="1200" dirty="0">
                        <a:solidFill>
                          <a:schemeClr val="tx1"/>
                        </a:solidFill>
                      </a:endParaRPr>
                    </a:p>
                  </a:txBody>
                  <a:tcPr/>
                </a:tc>
              </a:tr>
              <a:tr h="396036">
                <a:tc>
                  <a:txBody>
                    <a:bodyPr/>
                    <a:lstStyle/>
                    <a:p>
                      <a:r>
                        <a:rPr lang="en-US" sz="1200" dirty="0" smtClean="0"/>
                        <a:t>Sales cost</a:t>
                      </a:r>
                      <a:endParaRPr lang="en-US" sz="1200" dirty="0"/>
                    </a:p>
                  </a:txBody>
                  <a:tcPr/>
                </a:tc>
                <a:tc>
                  <a:txBody>
                    <a:bodyPr/>
                    <a:lstStyle/>
                    <a:p>
                      <a:r>
                        <a:rPr lang="en-US" sz="1200" dirty="0" smtClean="0"/>
                        <a:t>500,000</a:t>
                      </a:r>
                      <a:endParaRPr lang="en-US" sz="1200" dirty="0"/>
                    </a:p>
                  </a:txBody>
                  <a:tcPr/>
                </a:tc>
              </a:tr>
              <a:tr h="396036">
                <a:tc>
                  <a:txBody>
                    <a:bodyPr/>
                    <a:lstStyle/>
                    <a:p>
                      <a:pPr marL="0" lvl="0" indent="0">
                        <a:buFont typeface="Arial" pitchFamily="34" charset="0"/>
                        <a:buNone/>
                      </a:pPr>
                      <a:r>
                        <a:rPr lang="en-US" sz="1200" dirty="0" smtClean="0"/>
                        <a:t>Service cost</a:t>
                      </a:r>
                      <a:endParaRPr lang="en-US" sz="1200" dirty="0"/>
                    </a:p>
                  </a:txBody>
                  <a:tcPr/>
                </a:tc>
                <a:tc>
                  <a:txBody>
                    <a:bodyPr/>
                    <a:lstStyle/>
                    <a:p>
                      <a:r>
                        <a:rPr lang="en-US" sz="1200" dirty="0" smtClean="0"/>
                        <a:t>-250,000</a:t>
                      </a:r>
                      <a:endParaRPr lang="en-US" sz="1200" dirty="0"/>
                    </a:p>
                  </a:txBody>
                  <a:tcPr/>
                </a:tc>
              </a:tr>
              <a:tr h="396036">
                <a:tc>
                  <a:txBody>
                    <a:bodyPr/>
                    <a:lstStyle/>
                    <a:p>
                      <a:pPr marL="0" marR="0" lvl="0" indent="0" algn="l" defTabSz="457200" rtl="0" eaLnBrk="1" fontAlgn="auto" latinLnBrk="0" hangingPunct="1">
                        <a:lnSpc>
                          <a:spcPct val="100000"/>
                        </a:lnSpc>
                        <a:spcBef>
                          <a:spcPts val="0"/>
                        </a:spcBef>
                        <a:spcAft>
                          <a:spcPts val="0"/>
                        </a:spcAft>
                        <a:buClrTx/>
                        <a:buSzTx/>
                        <a:buFont typeface="Arial" pitchFamily="34" charset="0"/>
                        <a:buNone/>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IT costs</a:t>
                      </a:r>
                      <a:endParaRPr lang="en-US" sz="1200" dirty="0"/>
                    </a:p>
                  </a:txBody>
                  <a:tcPr/>
                </a:tc>
                <a:tc>
                  <a:txBody>
                    <a:bodyPr/>
                    <a:lstStyle/>
                    <a:p>
                      <a:r>
                        <a:rPr lang="en-US" sz="1200" dirty="0" smtClean="0"/>
                        <a:t>500,000</a:t>
                      </a:r>
                      <a:endParaRPr lang="en-US" sz="1200" dirty="0"/>
                    </a:p>
                  </a:txBody>
                  <a:tcPr/>
                </a:tc>
              </a:tr>
              <a:tr h="396036">
                <a:tc>
                  <a:txBody>
                    <a:bodyPr/>
                    <a:lstStyle/>
                    <a:p>
                      <a:pPr marL="0" lvl="0" indent="0">
                        <a:buFont typeface="Arial" pitchFamily="34" charset="0"/>
                        <a:buNone/>
                      </a:pPr>
                      <a:r>
                        <a:rPr lang="en-US" sz="1200" dirty="0" smtClean="0"/>
                        <a:t>Other costs</a:t>
                      </a:r>
                      <a:endParaRPr lang="en-US" sz="1200" baseline="0" dirty="0" smtClean="0"/>
                    </a:p>
                  </a:txBody>
                  <a:tcPr/>
                </a:tc>
                <a:tc>
                  <a:txBody>
                    <a:bodyPr/>
                    <a:lstStyle/>
                    <a:p>
                      <a:r>
                        <a:rPr lang="en-US" sz="1200" dirty="0" smtClean="0"/>
                        <a:t>450,000</a:t>
                      </a:r>
                      <a:endParaRPr lang="en-US" sz="1200" dirty="0"/>
                    </a:p>
                  </a:txBody>
                  <a:tcPr/>
                </a:tc>
              </a:tr>
            </a:tbl>
          </a:graphicData>
        </a:graphic>
      </p:graphicFrame>
      <p:sp>
        <p:nvSpPr>
          <p:cNvPr id="10" name="TextBox 9"/>
          <p:cNvSpPr txBox="1"/>
          <p:nvPr/>
        </p:nvSpPr>
        <p:spPr>
          <a:xfrm>
            <a:off x="457200" y="1414046"/>
            <a:ext cx="3200400" cy="307777"/>
          </a:xfrm>
          <a:prstGeom prst="rect">
            <a:avLst/>
          </a:prstGeom>
          <a:noFill/>
        </p:spPr>
        <p:txBody>
          <a:bodyPr wrap="square" rtlCol="0">
            <a:spAutoFit/>
          </a:bodyPr>
          <a:lstStyle>
            <a:defPPr>
              <a:defRPr lang="en-US"/>
            </a:defPPr>
            <a:lvl1pPr>
              <a:defRPr sz="1400" b="1"/>
            </a:lvl1pPr>
          </a:lstStyle>
          <a:p>
            <a:r>
              <a:rPr lang="en-US" dirty="0"/>
              <a:t>Exhibit 3 (</a:t>
            </a:r>
            <a:r>
              <a:rPr lang="en-US" dirty="0" smtClean="0"/>
              <a:t>Candidate copy)</a:t>
            </a:r>
            <a:endParaRPr lang="en-US" dirty="0"/>
          </a:p>
        </p:txBody>
      </p:sp>
      <p:sp>
        <p:nvSpPr>
          <p:cNvPr id="12"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3901999918"/>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145</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6232634"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graphicFrame>
        <p:nvGraphicFramePr>
          <p:cNvPr id="2" name="Table 1"/>
          <p:cNvGraphicFramePr>
            <a:graphicFrameLocks noGrp="1"/>
          </p:cNvGraphicFramePr>
          <p:nvPr>
            <p:extLst>
              <p:ext uri="{D42A27DB-BD31-4B8C-83A1-F6EECF244321}">
                <p14:modId xmlns:p14="http://schemas.microsoft.com/office/powerpoint/2010/main" val="1062769648"/>
              </p:ext>
            </p:extLst>
          </p:nvPr>
        </p:nvGraphicFramePr>
        <p:xfrm>
          <a:off x="457200" y="1722123"/>
          <a:ext cx="8305800" cy="4320924"/>
        </p:xfrm>
        <a:graphic>
          <a:graphicData uri="http://schemas.openxmlformats.org/drawingml/2006/table">
            <a:tbl>
              <a:tblPr firstRow="1" bandRow="1">
                <a:tableStyleId>{5C22544A-7EE6-4342-B048-85BDC9FD1C3A}</a:tableStyleId>
              </a:tblPr>
              <a:tblGrid>
                <a:gridCol w="2743200"/>
                <a:gridCol w="2794000"/>
                <a:gridCol w="2768600"/>
              </a:tblGrid>
              <a:tr h="357753">
                <a:tc>
                  <a:txBody>
                    <a:bodyPr/>
                    <a:lstStyle/>
                    <a:p>
                      <a:r>
                        <a:rPr lang="en-US" sz="1200" b="1" dirty="0" smtClean="0">
                          <a:solidFill>
                            <a:schemeClr val="tx1"/>
                          </a:solidFill>
                        </a:rPr>
                        <a:t>Revenue</a:t>
                      </a:r>
                      <a:r>
                        <a:rPr lang="en-US" sz="1200" b="1" baseline="0" dirty="0" smtClean="0">
                          <a:solidFill>
                            <a:schemeClr val="tx1"/>
                          </a:solidFill>
                        </a:rPr>
                        <a:t> Driver</a:t>
                      </a:r>
                      <a:endParaRPr lang="en-US" sz="1200" b="1" dirty="0">
                        <a:solidFill>
                          <a:schemeClr val="tx1"/>
                        </a:solidFill>
                      </a:endParaRPr>
                    </a:p>
                  </a:txBody>
                  <a:tcPr/>
                </a:tc>
                <a:tc>
                  <a:txBody>
                    <a:bodyPr/>
                    <a:lstStyle/>
                    <a:p>
                      <a:r>
                        <a:rPr lang="en-US" sz="1200" b="1" dirty="0" smtClean="0">
                          <a:solidFill>
                            <a:schemeClr val="tx1"/>
                          </a:solidFill>
                        </a:rPr>
                        <a:t>Without recommendations implemented</a:t>
                      </a:r>
                      <a:endParaRPr lang="en-US" sz="1200" b="1"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smtClean="0">
                          <a:solidFill>
                            <a:schemeClr val="tx1"/>
                          </a:solidFill>
                        </a:rPr>
                        <a:t>With recommendations</a:t>
                      </a:r>
                      <a:r>
                        <a:rPr lang="en-US" sz="1200" b="1" baseline="0" dirty="0" smtClean="0">
                          <a:solidFill>
                            <a:schemeClr val="tx1"/>
                          </a:solidFill>
                        </a:rPr>
                        <a:t> implemented</a:t>
                      </a:r>
                      <a:endParaRPr lang="en-US" sz="1200" b="1" dirty="0">
                        <a:solidFill>
                          <a:schemeClr val="tx1"/>
                        </a:solidFill>
                      </a:endParaRPr>
                    </a:p>
                  </a:txBody>
                  <a:tcPr/>
                </a:tc>
              </a:tr>
              <a:tr h="321977">
                <a:tc>
                  <a:txBody>
                    <a:bodyPr/>
                    <a:lstStyle/>
                    <a:p>
                      <a:r>
                        <a:rPr lang="en-US" sz="1200" dirty="0" smtClean="0"/>
                        <a:t>Net Number of dealers</a:t>
                      </a:r>
                      <a:endParaRPr lang="en-US" sz="1200" dirty="0"/>
                    </a:p>
                  </a:txBody>
                  <a:tcPr/>
                </a:tc>
                <a:tc>
                  <a:txBody>
                    <a:bodyPr/>
                    <a:lstStyle/>
                    <a:p>
                      <a:endParaRPr lang="en-US" sz="1200" dirty="0"/>
                    </a:p>
                  </a:txBody>
                  <a:tcPr/>
                </a:tc>
                <a:tc>
                  <a:txBody>
                    <a:bodyPr/>
                    <a:lstStyle/>
                    <a:p>
                      <a:endParaRPr lang="en-US" sz="1200"/>
                    </a:p>
                  </a:txBody>
                  <a:tcPr/>
                </a:tc>
              </a:tr>
              <a:tr h="321977">
                <a:tc>
                  <a:txBody>
                    <a:bodyPr/>
                    <a:lstStyle/>
                    <a:p>
                      <a:pPr marL="742950" lvl="1" indent="-285750">
                        <a:buFont typeface="Arial" pitchFamily="34" charset="0"/>
                        <a:buChar char="•"/>
                      </a:pPr>
                      <a:r>
                        <a:rPr lang="en-US" sz="1200" dirty="0" smtClean="0"/>
                        <a:t>Division</a:t>
                      </a:r>
                      <a:r>
                        <a:rPr lang="en-US" sz="1200" baseline="0" dirty="0" smtClean="0"/>
                        <a:t> A</a:t>
                      </a:r>
                      <a:endParaRPr lang="en-US" sz="1200" dirty="0"/>
                    </a:p>
                  </a:txBody>
                  <a:tcPr/>
                </a:tc>
                <a:tc>
                  <a:txBody>
                    <a:bodyPr/>
                    <a:lstStyle/>
                    <a:p>
                      <a:r>
                        <a:rPr lang="en-US" sz="1200" dirty="0" smtClean="0"/>
                        <a:t>90</a:t>
                      </a:r>
                      <a:endParaRPr lang="en-US" sz="1200" dirty="0"/>
                    </a:p>
                  </a:txBody>
                  <a:tcPr/>
                </a:tc>
                <a:tc>
                  <a:txBody>
                    <a:bodyPr/>
                    <a:lstStyle/>
                    <a:p>
                      <a:r>
                        <a:rPr lang="en-US" sz="1200" dirty="0" smtClean="0"/>
                        <a:t>100 (=90-15+5+20-0)</a:t>
                      </a:r>
                      <a:endParaRPr lang="en-US" sz="1200" dirty="0"/>
                    </a:p>
                  </a:txBody>
                  <a:tcPr/>
                </a:tc>
              </a:tr>
              <a:tr h="321977">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Division B</a:t>
                      </a:r>
                      <a:endParaRPr lang="en-US" sz="1200" dirty="0"/>
                    </a:p>
                  </a:txBody>
                  <a:tcPr/>
                </a:tc>
                <a:tc>
                  <a:txBody>
                    <a:bodyPr/>
                    <a:lstStyle/>
                    <a:p>
                      <a:r>
                        <a:rPr lang="en-US" sz="1200" dirty="0" smtClean="0"/>
                        <a:t>40</a:t>
                      </a:r>
                      <a:endParaRPr lang="en-US" sz="1200" dirty="0"/>
                    </a:p>
                  </a:txBody>
                  <a:tcPr/>
                </a:tc>
                <a:tc>
                  <a:txBody>
                    <a:bodyPr/>
                    <a:lstStyle/>
                    <a:p>
                      <a:r>
                        <a:rPr lang="en-US" sz="1200" dirty="0" smtClean="0"/>
                        <a:t>50 (=40-10+7+15-2)</a:t>
                      </a:r>
                      <a:endParaRPr lang="en-US" sz="1200" dirty="0"/>
                    </a:p>
                  </a:txBody>
                  <a:tcPr/>
                </a:tc>
              </a:tr>
              <a:tr h="321977">
                <a:tc>
                  <a:txBody>
                    <a:bodyPr/>
                    <a:lstStyle/>
                    <a:p>
                      <a:pPr marL="742950" lvl="1" indent="-285750">
                        <a:buFont typeface="Arial" pitchFamily="34" charset="0"/>
                        <a:buChar char="•"/>
                      </a:pPr>
                      <a:r>
                        <a:rPr lang="en-US" sz="1200" dirty="0" smtClean="0"/>
                        <a:t>Division</a:t>
                      </a:r>
                      <a:r>
                        <a:rPr lang="en-US" sz="1200" baseline="0" dirty="0" smtClean="0"/>
                        <a:t> </a:t>
                      </a:r>
                      <a:r>
                        <a:rPr lang="en-US" sz="1200" baseline="0" dirty="0"/>
                        <a:t>C</a:t>
                      </a:r>
                      <a:endParaRPr lang="en-US" sz="1200" baseline="0" dirty="0" smtClean="0"/>
                    </a:p>
                  </a:txBody>
                  <a:tcPr/>
                </a:tc>
                <a:tc>
                  <a:txBody>
                    <a:bodyPr/>
                    <a:lstStyle/>
                    <a:p>
                      <a:r>
                        <a:rPr lang="en-US" sz="1200" dirty="0" smtClean="0"/>
                        <a:t>45</a:t>
                      </a:r>
                      <a:endParaRPr lang="en-US" sz="1200" dirty="0"/>
                    </a:p>
                  </a:txBody>
                  <a:tcPr/>
                </a:tc>
                <a:tc>
                  <a:txBody>
                    <a:bodyPr/>
                    <a:lstStyle/>
                    <a:p>
                      <a:r>
                        <a:rPr lang="en-US" sz="1200" dirty="0" smtClean="0"/>
                        <a:t>50 (=45-5+2+10-2)</a:t>
                      </a:r>
                      <a:endParaRPr lang="en-US" sz="1200" dirty="0"/>
                    </a:p>
                  </a:txBody>
                  <a:tcPr/>
                </a:tc>
              </a:tr>
              <a:tr h="321977">
                <a:tc>
                  <a:txBody>
                    <a:bodyPr/>
                    <a:lstStyle/>
                    <a:p>
                      <a:r>
                        <a:rPr lang="en-US" sz="1200" dirty="0" smtClean="0"/>
                        <a:t>Number of dealers added</a:t>
                      </a:r>
                      <a:endParaRPr lang="en-US" sz="1200" dirty="0"/>
                    </a:p>
                  </a:txBody>
                  <a:tcPr/>
                </a:tc>
                <a:tc>
                  <a:txBody>
                    <a:bodyPr/>
                    <a:lstStyle/>
                    <a:p>
                      <a:endParaRPr lang="en-US" sz="1200"/>
                    </a:p>
                  </a:txBody>
                  <a:tcPr/>
                </a:tc>
                <a:tc>
                  <a:txBody>
                    <a:bodyPr/>
                    <a:lstStyle/>
                    <a:p>
                      <a:pPr algn="ctr"/>
                      <a:endParaRPr lang="en-US" sz="1200" b="1" dirty="0"/>
                    </a:p>
                  </a:txBody>
                  <a:tcPr anchor="ctr"/>
                </a:tc>
              </a:tr>
              <a:tr h="321977">
                <a:tc>
                  <a:txBody>
                    <a:bodyPr/>
                    <a:lstStyle/>
                    <a:p>
                      <a:pPr marL="742950" lvl="1" indent="-285750">
                        <a:buFont typeface="Arial" pitchFamily="34" charset="0"/>
                        <a:buChar char="•"/>
                      </a:pPr>
                      <a:r>
                        <a:rPr lang="en-US" sz="1200" dirty="0" smtClean="0"/>
                        <a:t>Division</a:t>
                      </a:r>
                      <a:r>
                        <a:rPr lang="en-US" sz="1200" baseline="0" dirty="0" smtClean="0"/>
                        <a:t> A</a:t>
                      </a:r>
                      <a:endParaRPr lang="en-US" sz="1200" dirty="0"/>
                    </a:p>
                  </a:txBody>
                  <a:tcPr/>
                </a:tc>
                <a:tc>
                  <a:txBody>
                    <a:bodyPr/>
                    <a:lstStyle/>
                    <a:p>
                      <a:r>
                        <a:rPr lang="en-US" sz="1200" dirty="0" smtClean="0"/>
                        <a:t>15</a:t>
                      </a:r>
                      <a:endParaRPr lang="en-US" sz="1200" dirty="0"/>
                    </a:p>
                  </a:txBody>
                  <a:tcPr/>
                </a:tc>
                <a:tc>
                  <a:txBody>
                    <a:bodyPr/>
                    <a:lstStyle/>
                    <a:p>
                      <a:r>
                        <a:rPr lang="en-US" sz="1200" dirty="0" smtClean="0"/>
                        <a:t>20</a:t>
                      </a:r>
                      <a:endParaRPr lang="en-US" sz="1200" dirty="0"/>
                    </a:p>
                  </a:txBody>
                  <a:tcPr/>
                </a:tc>
              </a:tr>
              <a:tr h="321977">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Division B</a:t>
                      </a:r>
                      <a:endParaRPr lang="en-US" sz="1200" dirty="0"/>
                    </a:p>
                  </a:txBody>
                  <a:tcPr/>
                </a:tc>
                <a:tc>
                  <a:txBody>
                    <a:bodyPr/>
                    <a:lstStyle/>
                    <a:p>
                      <a:r>
                        <a:rPr lang="en-US" sz="1200" dirty="0" smtClean="0"/>
                        <a:t>10</a:t>
                      </a:r>
                      <a:endParaRPr lang="en-US" sz="1200" dirty="0"/>
                    </a:p>
                  </a:txBody>
                  <a:tcPr/>
                </a:tc>
                <a:tc>
                  <a:txBody>
                    <a:bodyPr/>
                    <a:lstStyle/>
                    <a:p>
                      <a:r>
                        <a:rPr lang="en-US" sz="1200" dirty="0" smtClean="0"/>
                        <a:t>15</a:t>
                      </a:r>
                      <a:endParaRPr lang="en-US" sz="1200" dirty="0"/>
                    </a:p>
                  </a:txBody>
                  <a:tcPr/>
                </a:tc>
              </a:tr>
              <a:tr h="321977">
                <a:tc>
                  <a:txBody>
                    <a:bodyPr/>
                    <a:lstStyle/>
                    <a:p>
                      <a:pPr marL="742950" lvl="1" indent="-285750">
                        <a:buFont typeface="Arial" pitchFamily="34" charset="0"/>
                        <a:buChar char="•"/>
                      </a:pPr>
                      <a:r>
                        <a:rPr lang="en-US" sz="1200" dirty="0" smtClean="0"/>
                        <a:t>Division</a:t>
                      </a:r>
                      <a:r>
                        <a:rPr lang="en-US" sz="1200" baseline="0" dirty="0" smtClean="0"/>
                        <a:t> </a:t>
                      </a:r>
                      <a:r>
                        <a:rPr lang="en-US" sz="1200" baseline="0" dirty="0"/>
                        <a:t>C</a:t>
                      </a:r>
                      <a:endParaRPr lang="en-US" sz="1200" baseline="0" dirty="0" smtClean="0"/>
                    </a:p>
                  </a:txBody>
                  <a:tcPr/>
                </a:tc>
                <a:tc>
                  <a:txBody>
                    <a:bodyPr/>
                    <a:lstStyle/>
                    <a:p>
                      <a:r>
                        <a:rPr lang="en-US" sz="1200" dirty="0" smtClean="0"/>
                        <a:t>5</a:t>
                      </a:r>
                      <a:endParaRPr lang="en-US" sz="1200" dirty="0"/>
                    </a:p>
                  </a:txBody>
                  <a:tcPr/>
                </a:tc>
                <a:tc>
                  <a:txBody>
                    <a:bodyPr/>
                    <a:lstStyle/>
                    <a:p>
                      <a:r>
                        <a:rPr lang="en-US" sz="1200" dirty="0" smtClean="0"/>
                        <a:t>10</a:t>
                      </a:r>
                      <a:endParaRPr lang="en-US" sz="1200" dirty="0"/>
                    </a:p>
                  </a:txBody>
                  <a:tcPr/>
                </a:tc>
              </a:tr>
              <a:tr h="321977">
                <a:tc>
                  <a:txBody>
                    <a:bodyPr/>
                    <a:lstStyle/>
                    <a:p>
                      <a:r>
                        <a:rPr lang="en-US" sz="1200" dirty="0" smtClean="0"/>
                        <a:t>Number of dealers lost</a:t>
                      </a:r>
                      <a:endParaRPr lang="en-US" sz="1200" dirty="0"/>
                    </a:p>
                  </a:txBody>
                  <a:tcPr/>
                </a:tc>
                <a:tc>
                  <a:txBody>
                    <a:bodyPr/>
                    <a:lstStyle/>
                    <a:p>
                      <a:endParaRPr lang="en-US" sz="1200" dirty="0"/>
                    </a:p>
                  </a:txBody>
                  <a:tcPr/>
                </a:tc>
                <a:tc>
                  <a:txBody>
                    <a:bodyPr/>
                    <a:lstStyle/>
                    <a:p>
                      <a:endParaRPr lang="en-US" sz="1200" dirty="0"/>
                    </a:p>
                  </a:txBody>
                  <a:tcPr/>
                </a:tc>
              </a:tr>
              <a:tr h="321977">
                <a:tc>
                  <a:txBody>
                    <a:bodyPr/>
                    <a:lstStyle/>
                    <a:p>
                      <a:pPr marL="742950" lvl="1" indent="-285750">
                        <a:buFont typeface="Arial" pitchFamily="34" charset="0"/>
                        <a:buChar char="•"/>
                      </a:pPr>
                      <a:r>
                        <a:rPr lang="en-US" sz="1200" dirty="0" smtClean="0"/>
                        <a:t>Division</a:t>
                      </a:r>
                      <a:r>
                        <a:rPr lang="en-US" sz="1200" baseline="0" dirty="0" smtClean="0"/>
                        <a:t> A</a:t>
                      </a:r>
                      <a:endParaRPr lang="en-US" sz="1200" dirty="0"/>
                    </a:p>
                  </a:txBody>
                  <a:tcPr/>
                </a:tc>
                <a:tc>
                  <a:txBody>
                    <a:bodyPr/>
                    <a:lstStyle/>
                    <a:p>
                      <a:r>
                        <a:rPr lang="en-US" sz="1200" dirty="0" smtClean="0"/>
                        <a:t>5</a:t>
                      </a:r>
                      <a:endParaRPr lang="en-US" sz="1200" dirty="0"/>
                    </a:p>
                  </a:txBody>
                  <a:tcPr/>
                </a:tc>
                <a:tc>
                  <a:txBody>
                    <a:bodyPr/>
                    <a:lstStyle/>
                    <a:p>
                      <a:r>
                        <a:rPr lang="en-US" sz="1200" dirty="0" smtClean="0"/>
                        <a:t>0</a:t>
                      </a:r>
                      <a:endParaRPr lang="en-US" sz="1200" dirty="0"/>
                    </a:p>
                  </a:txBody>
                  <a:tcPr/>
                </a:tc>
              </a:tr>
              <a:tr h="321977">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Division B</a:t>
                      </a:r>
                      <a:endParaRPr lang="en-US" sz="1200" dirty="0"/>
                    </a:p>
                  </a:txBody>
                  <a:tcPr/>
                </a:tc>
                <a:tc>
                  <a:txBody>
                    <a:bodyPr/>
                    <a:lstStyle/>
                    <a:p>
                      <a:r>
                        <a:rPr lang="en-US" sz="1200" dirty="0" smtClean="0"/>
                        <a:t>7</a:t>
                      </a:r>
                      <a:endParaRPr lang="en-US" sz="1200" dirty="0"/>
                    </a:p>
                  </a:txBody>
                  <a:tcPr/>
                </a:tc>
                <a:tc>
                  <a:txBody>
                    <a:bodyPr/>
                    <a:lstStyle/>
                    <a:p>
                      <a:r>
                        <a:rPr lang="en-US" sz="1200" dirty="0" smtClean="0"/>
                        <a:t>2</a:t>
                      </a:r>
                      <a:endParaRPr lang="en-US" sz="1200" dirty="0"/>
                    </a:p>
                  </a:txBody>
                  <a:tcPr/>
                </a:tc>
              </a:tr>
              <a:tr h="321977">
                <a:tc>
                  <a:txBody>
                    <a:bodyPr/>
                    <a:lstStyle/>
                    <a:p>
                      <a:pPr marL="742950" lvl="1" indent="-285750">
                        <a:buFont typeface="Arial" pitchFamily="34" charset="0"/>
                        <a:buChar char="•"/>
                      </a:pPr>
                      <a:r>
                        <a:rPr lang="en-US" sz="1200" dirty="0" smtClean="0"/>
                        <a:t>Division</a:t>
                      </a:r>
                      <a:r>
                        <a:rPr lang="en-US" sz="1200" baseline="0" dirty="0" smtClean="0"/>
                        <a:t> </a:t>
                      </a:r>
                      <a:r>
                        <a:rPr lang="en-US" sz="1200" baseline="0" dirty="0"/>
                        <a:t>C</a:t>
                      </a:r>
                      <a:endParaRPr lang="en-US" sz="1200" baseline="0" dirty="0" smtClean="0"/>
                    </a:p>
                  </a:txBody>
                  <a:tcPr/>
                </a:tc>
                <a:tc>
                  <a:txBody>
                    <a:bodyPr/>
                    <a:lstStyle/>
                    <a:p>
                      <a:r>
                        <a:rPr lang="en-US" sz="1200" dirty="0" smtClean="0"/>
                        <a:t>2</a:t>
                      </a:r>
                      <a:endParaRPr lang="en-US" sz="1200" dirty="0"/>
                    </a:p>
                  </a:txBody>
                  <a:tcPr/>
                </a:tc>
                <a:tc>
                  <a:txBody>
                    <a:bodyPr/>
                    <a:lstStyle/>
                    <a:p>
                      <a:r>
                        <a:rPr lang="en-US" sz="1200" dirty="0" smtClean="0"/>
                        <a:t>2</a:t>
                      </a:r>
                      <a:endParaRPr lang="en-US" sz="1200" dirty="0"/>
                    </a:p>
                  </a:txBody>
                  <a:tcPr/>
                </a:tc>
              </a:tr>
            </a:tbl>
          </a:graphicData>
        </a:graphic>
      </p:graphicFrame>
      <p:sp>
        <p:nvSpPr>
          <p:cNvPr id="3" name="TextBox 2"/>
          <p:cNvSpPr txBox="1"/>
          <p:nvPr/>
        </p:nvSpPr>
        <p:spPr>
          <a:xfrm>
            <a:off x="457199" y="1400526"/>
            <a:ext cx="5186855" cy="307777"/>
          </a:xfrm>
          <a:prstGeom prst="rect">
            <a:avLst/>
          </a:prstGeom>
          <a:noFill/>
        </p:spPr>
        <p:txBody>
          <a:bodyPr wrap="square" rtlCol="0">
            <a:spAutoFit/>
          </a:bodyPr>
          <a:lstStyle/>
          <a:p>
            <a:r>
              <a:rPr lang="en-US" sz="1400" b="1" dirty="0"/>
              <a:t>Exhibit 1: Revenue </a:t>
            </a:r>
            <a:r>
              <a:rPr lang="en-US" sz="1400" b="1" dirty="0" smtClean="0"/>
              <a:t>Drivers (Interviewer copy)</a:t>
            </a:r>
            <a:endParaRPr lang="en-US" sz="1400" b="1" dirty="0"/>
          </a:p>
        </p:txBody>
      </p:sp>
      <p:sp>
        <p:nvSpPr>
          <p:cNvPr id="10"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4053147334"/>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146</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799" y="376238"/>
            <a:ext cx="6316717"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3" name="TextBox 2"/>
          <p:cNvSpPr txBox="1"/>
          <p:nvPr/>
        </p:nvSpPr>
        <p:spPr>
          <a:xfrm>
            <a:off x="457199" y="1414046"/>
            <a:ext cx="4020207" cy="307777"/>
          </a:xfrm>
          <a:prstGeom prst="rect">
            <a:avLst/>
          </a:prstGeom>
          <a:noFill/>
        </p:spPr>
        <p:txBody>
          <a:bodyPr wrap="square" rtlCol="0">
            <a:spAutoFit/>
          </a:bodyPr>
          <a:lstStyle/>
          <a:p>
            <a:r>
              <a:rPr lang="en-US" sz="1400" b="1" dirty="0"/>
              <a:t>Exhibit 2 </a:t>
            </a:r>
            <a:r>
              <a:rPr lang="en-US" sz="1400" b="1" dirty="0" smtClean="0"/>
              <a:t>(Interviewer copy)</a:t>
            </a:r>
            <a:endParaRPr lang="en-US" sz="1400" b="1" dirty="0"/>
          </a:p>
        </p:txBody>
      </p:sp>
      <p:sp>
        <p:nvSpPr>
          <p:cNvPr id="4" name="TextBox 3"/>
          <p:cNvSpPr txBox="1"/>
          <p:nvPr/>
        </p:nvSpPr>
        <p:spPr>
          <a:xfrm>
            <a:off x="609600" y="1981200"/>
            <a:ext cx="6629400" cy="369332"/>
          </a:xfrm>
          <a:prstGeom prst="rect">
            <a:avLst/>
          </a:prstGeom>
          <a:noFill/>
        </p:spPr>
        <p:txBody>
          <a:bodyPr wrap="square" rtlCol="0">
            <a:spAutoFit/>
          </a:bodyPr>
          <a:lstStyle/>
          <a:p>
            <a:r>
              <a:rPr lang="en-US" dirty="0" smtClean="0"/>
              <a:t>Calculations:</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2152937098"/>
              </p:ext>
            </p:extLst>
          </p:nvPr>
        </p:nvGraphicFramePr>
        <p:xfrm>
          <a:off x="457200" y="1805812"/>
          <a:ext cx="8305798" cy="2973737"/>
        </p:xfrm>
        <a:graphic>
          <a:graphicData uri="http://schemas.openxmlformats.org/drawingml/2006/table">
            <a:tbl>
              <a:tblPr firstRow="1" bandRow="1">
                <a:tableStyleId>{5C22544A-7EE6-4342-B048-85BDC9FD1C3A}</a:tableStyleId>
              </a:tblPr>
              <a:tblGrid>
                <a:gridCol w="1905000"/>
                <a:gridCol w="838200"/>
                <a:gridCol w="1143000"/>
                <a:gridCol w="990600"/>
                <a:gridCol w="1066800"/>
                <a:gridCol w="1219200"/>
                <a:gridCol w="1142998"/>
              </a:tblGrid>
              <a:tr h="357753">
                <a:tc>
                  <a:txBody>
                    <a:bodyPr/>
                    <a:lstStyle/>
                    <a:p>
                      <a:r>
                        <a:rPr lang="en-US" sz="1200" dirty="0" smtClean="0">
                          <a:solidFill>
                            <a:schemeClr val="tx1"/>
                          </a:solidFill>
                          <a:latin typeface="+mj-lt"/>
                        </a:rPr>
                        <a:t>Revenue</a:t>
                      </a:r>
                      <a:r>
                        <a:rPr lang="en-US" sz="1200" baseline="0" dirty="0" smtClean="0">
                          <a:solidFill>
                            <a:schemeClr val="tx1"/>
                          </a:solidFill>
                          <a:latin typeface="+mj-lt"/>
                        </a:rPr>
                        <a:t> Driver</a:t>
                      </a:r>
                      <a:endParaRPr lang="en-US" sz="1200" dirty="0">
                        <a:solidFill>
                          <a:schemeClr val="tx1"/>
                        </a:solidFill>
                        <a:latin typeface="+mj-lt"/>
                      </a:endParaRPr>
                    </a:p>
                  </a:txBody>
                  <a:tcPr/>
                </a:tc>
                <a:tc>
                  <a:txBody>
                    <a:bodyPr/>
                    <a:lstStyle/>
                    <a:p>
                      <a:r>
                        <a:rPr lang="en-US" sz="1200" dirty="0" smtClean="0">
                          <a:solidFill>
                            <a:schemeClr val="tx1"/>
                          </a:solidFill>
                          <a:latin typeface="+mj-lt"/>
                        </a:rPr>
                        <a:t>Dealers</a:t>
                      </a:r>
                      <a:r>
                        <a:rPr lang="en-US" sz="1200" baseline="0" dirty="0" smtClean="0">
                          <a:solidFill>
                            <a:schemeClr val="tx1"/>
                          </a:solidFill>
                          <a:latin typeface="+mj-lt"/>
                        </a:rPr>
                        <a:t> without </a:t>
                      </a:r>
                      <a:r>
                        <a:rPr lang="en-US" sz="1200" baseline="0" dirty="0" err="1" smtClean="0">
                          <a:solidFill>
                            <a:schemeClr val="tx1"/>
                          </a:solidFill>
                          <a:latin typeface="+mj-lt"/>
                        </a:rPr>
                        <a:t>Reco</a:t>
                      </a:r>
                      <a:r>
                        <a:rPr lang="en-US" sz="1200" baseline="0" dirty="0" smtClean="0">
                          <a:solidFill>
                            <a:schemeClr val="tx1"/>
                          </a:solidFill>
                          <a:latin typeface="+mj-lt"/>
                        </a:rPr>
                        <a:t>.</a:t>
                      </a:r>
                      <a:endParaRPr lang="en-US" sz="1200" dirty="0">
                        <a:solidFill>
                          <a:schemeClr val="tx1"/>
                        </a:solidFill>
                        <a:latin typeface="+mj-lt"/>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latin typeface="+mj-lt"/>
                        </a:rPr>
                        <a:t>Spend</a:t>
                      </a:r>
                      <a:r>
                        <a:rPr lang="en-US" sz="1200" baseline="0" dirty="0" smtClean="0">
                          <a:solidFill>
                            <a:schemeClr val="tx1"/>
                          </a:solidFill>
                          <a:latin typeface="+mj-lt"/>
                        </a:rPr>
                        <a:t> Per dealer without </a:t>
                      </a:r>
                      <a:r>
                        <a:rPr lang="en-US" sz="1200" baseline="0" dirty="0" err="1" smtClean="0">
                          <a:solidFill>
                            <a:schemeClr val="tx1"/>
                          </a:solidFill>
                          <a:latin typeface="+mj-lt"/>
                        </a:rPr>
                        <a:t>Reco</a:t>
                      </a:r>
                      <a:r>
                        <a:rPr lang="en-US" sz="1200" baseline="0" dirty="0" smtClean="0">
                          <a:solidFill>
                            <a:schemeClr val="tx1"/>
                          </a:solidFill>
                          <a:latin typeface="+mj-lt"/>
                        </a:rPr>
                        <a:t>.</a:t>
                      </a:r>
                      <a:endParaRPr lang="en-US" sz="1200" dirty="0">
                        <a:solidFill>
                          <a:schemeClr val="tx1"/>
                        </a:solidFill>
                        <a:latin typeface="+mj-lt"/>
                      </a:endParaRPr>
                    </a:p>
                  </a:txBody>
                  <a:tcPr/>
                </a:tc>
                <a:tc>
                  <a:txBody>
                    <a:bodyPr/>
                    <a:lstStyle/>
                    <a:p>
                      <a:r>
                        <a:rPr lang="en-US" sz="1200" dirty="0" smtClean="0">
                          <a:solidFill>
                            <a:schemeClr val="tx1"/>
                          </a:solidFill>
                          <a:latin typeface="+mj-lt"/>
                        </a:rPr>
                        <a:t>Revenue without </a:t>
                      </a:r>
                      <a:r>
                        <a:rPr lang="en-US" sz="1200" dirty="0" err="1" smtClean="0">
                          <a:solidFill>
                            <a:schemeClr val="tx1"/>
                          </a:solidFill>
                          <a:latin typeface="+mj-lt"/>
                        </a:rPr>
                        <a:t>Reco</a:t>
                      </a:r>
                      <a:r>
                        <a:rPr lang="en-US" sz="1200" dirty="0" smtClean="0">
                          <a:solidFill>
                            <a:schemeClr val="tx1"/>
                          </a:solidFill>
                          <a:latin typeface="+mj-lt"/>
                        </a:rPr>
                        <a:t>.</a:t>
                      </a:r>
                      <a:endParaRPr lang="en-US" sz="1200" dirty="0">
                        <a:solidFill>
                          <a:schemeClr val="tx1"/>
                        </a:solidFill>
                        <a:latin typeface="+mj-lt"/>
                      </a:endParaRPr>
                    </a:p>
                  </a:txBody>
                  <a:tcPr/>
                </a:tc>
                <a:tc>
                  <a:txBody>
                    <a:bodyPr/>
                    <a:lstStyle/>
                    <a:p>
                      <a:r>
                        <a:rPr lang="en-US" sz="1200" dirty="0" smtClean="0">
                          <a:solidFill>
                            <a:schemeClr val="tx1"/>
                          </a:solidFill>
                          <a:latin typeface="+mj-lt"/>
                        </a:rPr>
                        <a:t>Dealers</a:t>
                      </a:r>
                      <a:r>
                        <a:rPr lang="en-US" sz="1200" baseline="0" dirty="0" smtClean="0">
                          <a:solidFill>
                            <a:schemeClr val="tx1"/>
                          </a:solidFill>
                          <a:latin typeface="+mj-lt"/>
                        </a:rPr>
                        <a:t> with </a:t>
                      </a:r>
                      <a:r>
                        <a:rPr lang="en-US" sz="1200" baseline="0" dirty="0" err="1" smtClean="0">
                          <a:solidFill>
                            <a:schemeClr val="tx1"/>
                          </a:solidFill>
                          <a:latin typeface="+mj-lt"/>
                        </a:rPr>
                        <a:t>Reco</a:t>
                      </a:r>
                      <a:r>
                        <a:rPr lang="en-US" sz="1200" baseline="0" dirty="0" smtClean="0">
                          <a:solidFill>
                            <a:schemeClr val="tx1"/>
                          </a:solidFill>
                          <a:latin typeface="+mj-lt"/>
                        </a:rPr>
                        <a:t>.</a:t>
                      </a:r>
                      <a:endParaRPr lang="en-US" sz="1200" dirty="0">
                        <a:solidFill>
                          <a:schemeClr val="tx1"/>
                        </a:solidFill>
                        <a:latin typeface="+mj-lt"/>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latin typeface="+mj-lt"/>
                        </a:rPr>
                        <a:t>Spend</a:t>
                      </a:r>
                      <a:r>
                        <a:rPr lang="en-US" sz="1200" baseline="0" dirty="0" smtClean="0">
                          <a:solidFill>
                            <a:schemeClr val="tx1"/>
                          </a:solidFill>
                          <a:latin typeface="+mj-lt"/>
                        </a:rPr>
                        <a:t> Per dealer without </a:t>
                      </a:r>
                      <a:r>
                        <a:rPr lang="en-US" sz="1200" baseline="0" dirty="0" err="1" smtClean="0">
                          <a:solidFill>
                            <a:schemeClr val="tx1"/>
                          </a:solidFill>
                          <a:latin typeface="+mj-lt"/>
                        </a:rPr>
                        <a:t>Reco</a:t>
                      </a:r>
                      <a:r>
                        <a:rPr lang="en-US" sz="1200" baseline="0" dirty="0" smtClean="0">
                          <a:solidFill>
                            <a:schemeClr val="tx1"/>
                          </a:solidFill>
                          <a:latin typeface="+mj-lt"/>
                        </a:rPr>
                        <a:t>.</a:t>
                      </a:r>
                      <a:endParaRPr lang="en-US" sz="1200" dirty="0">
                        <a:solidFill>
                          <a:schemeClr val="tx1"/>
                        </a:solidFill>
                        <a:latin typeface="+mj-lt"/>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latin typeface="+mj-lt"/>
                        </a:rPr>
                        <a:t>Revenue with </a:t>
                      </a:r>
                      <a:r>
                        <a:rPr lang="en-US" sz="1200" dirty="0" err="1" smtClean="0">
                          <a:solidFill>
                            <a:schemeClr val="tx1"/>
                          </a:solidFill>
                          <a:latin typeface="+mj-lt"/>
                        </a:rPr>
                        <a:t>Reco</a:t>
                      </a:r>
                      <a:r>
                        <a:rPr lang="en-US" sz="1200" dirty="0" smtClean="0">
                          <a:solidFill>
                            <a:schemeClr val="tx1"/>
                          </a:solidFill>
                          <a:latin typeface="+mj-lt"/>
                        </a:rPr>
                        <a:t>.</a:t>
                      </a:r>
                      <a:endParaRPr lang="en-US" sz="1200" dirty="0">
                        <a:solidFill>
                          <a:schemeClr val="tx1"/>
                        </a:solidFill>
                        <a:latin typeface="+mj-lt"/>
                      </a:endParaRPr>
                    </a:p>
                  </a:txBody>
                  <a:tcPr/>
                </a:tc>
              </a:tr>
              <a:tr h="321977">
                <a:tc>
                  <a:txBody>
                    <a:bodyPr/>
                    <a:lstStyle/>
                    <a:p>
                      <a:r>
                        <a:rPr lang="en-US" sz="1200" dirty="0" smtClean="0">
                          <a:latin typeface="+mj-lt"/>
                        </a:rPr>
                        <a:t>Additional Revenue</a:t>
                      </a:r>
                      <a:endParaRPr lang="en-US" sz="1200" dirty="0">
                        <a:latin typeface="+mj-lt"/>
                      </a:endParaRPr>
                    </a:p>
                  </a:txBody>
                  <a:tcPr/>
                </a:tc>
                <a:tc>
                  <a:txBody>
                    <a:bodyPr/>
                    <a:lstStyle/>
                    <a:p>
                      <a:endParaRPr lang="en-US" sz="1200" dirty="0">
                        <a:latin typeface="+mj-lt"/>
                      </a:endParaRPr>
                    </a:p>
                  </a:txBody>
                  <a:tcPr/>
                </a:tc>
                <a:tc>
                  <a:txBody>
                    <a:bodyPr/>
                    <a:lstStyle/>
                    <a:p>
                      <a:endParaRPr lang="en-US" sz="1200">
                        <a:latin typeface="+mj-lt"/>
                      </a:endParaRPr>
                    </a:p>
                  </a:txBody>
                  <a:tcPr/>
                </a:tc>
                <a:tc>
                  <a:txBody>
                    <a:bodyPr/>
                    <a:lstStyle/>
                    <a:p>
                      <a:endParaRPr lang="en-US" sz="1200" dirty="0">
                        <a:latin typeface="+mj-lt"/>
                      </a:endParaRPr>
                    </a:p>
                  </a:txBody>
                  <a:tcPr/>
                </a:tc>
                <a:tc>
                  <a:txBody>
                    <a:bodyPr/>
                    <a:lstStyle/>
                    <a:p>
                      <a:endParaRPr lang="en-US" sz="1200" dirty="0">
                        <a:latin typeface="+mj-lt"/>
                      </a:endParaRPr>
                    </a:p>
                  </a:txBody>
                  <a:tcPr/>
                </a:tc>
                <a:tc>
                  <a:txBody>
                    <a:bodyPr/>
                    <a:lstStyle/>
                    <a:p>
                      <a:endParaRPr lang="en-US" sz="1200">
                        <a:latin typeface="+mj-lt"/>
                      </a:endParaRPr>
                    </a:p>
                  </a:txBody>
                  <a:tcPr/>
                </a:tc>
                <a:tc>
                  <a:txBody>
                    <a:bodyPr/>
                    <a:lstStyle/>
                    <a:p>
                      <a:endParaRPr lang="en-US" sz="1200">
                        <a:latin typeface="+mj-lt"/>
                      </a:endParaRPr>
                    </a:p>
                  </a:txBody>
                  <a:tcPr/>
                </a:tc>
              </a:tr>
              <a:tr h="321977">
                <a:tc>
                  <a:txBody>
                    <a:bodyPr/>
                    <a:lstStyle/>
                    <a:p>
                      <a:pPr marL="742950" lvl="1" indent="-285750">
                        <a:buFont typeface="Arial" pitchFamily="34" charset="0"/>
                        <a:buChar char="•"/>
                      </a:pPr>
                      <a:r>
                        <a:rPr lang="en-US" sz="1200" dirty="0" smtClean="0">
                          <a:latin typeface="+mj-lt"/>
                        </a:rPr>
                        <a:t>Division</a:t>
                      </a:r>
                      <a:r>
                        <a:rPr lang="en-US" sz="1200" baseline="0" dirty="0" smtClean="0">
                          <a:latin typeface="+mj-lt"/>
                        </a:rPr>
                        <a:t> A</a:t>
                      </a:r>
                      <a:endParaRPr lang="en-US" sz="1200" dirty="0">
                        <a:latin typeface="+mj-lt"/>
                      </a:endParaRPr>
                    </a:p>
                  </a:txBody>
                  <a:tcPr/>
                </a:tc>
                <a:tc>
                  <a:txBody>
                    <a:bodyPr/>
                    <a:lstStyle/>
                    <a:p>
                      <a:r>
                        <a:rPr lang="en-US" sz="1200" dirty="0" smtClean="0">
                          <a:latin typeface="+mj-lt"/>
                        </a:rPr>
                        <a:t>90</a:t>
                      </a:r>
                      <a:endParaRPr lang="en-US" sz="1200" dirty="0">
                        <a:latin typeface="+mj-lt"/>
                      </a:endParaRPr>
                    </a:p>
                  </a:txBody>
                  <a:tcPr/>
                </a:tc>
                <a:tc>
                  <a:txBody>
                    <a:bodyPr/>
                    <a:lstStyle/>
                    <a:p>
                      <a:r>
                        <a:rPr lang="en-US" sz="1200" dirty="0" smtClean="0">
                          <a:latin typeface="+mj-lt"/>
                        </a:rPr>
                        <a:t>80,000</a:t>
                      </a:r>
                      <a:endParaRPr lang="en-US" sz="1200" dirty="0">
                        <a:latin typeface="+mj-lt"/>
                      </a:endParaRPr>
                    </a:p>
                  </a:txBody>
                  <a:tcPr/>
                </a:tc>
                <a:tc>
                  <a:txBody>
                    <a:bodyPr/>
                    <a:lstStyle/>
                    <a:p>
                      <a:r>
                        <a:rPr lang="en-US" sz="1200" dirty="0" smtClean="0">
                          <a:latin typeface="+mj-lt"/>
                        </a:rPr>
                        <a:t>90*80,000 =7.2 Million</a:t>
                      </a:r>
                      <a:endParaRPr lang="en-US" sz="1200" dirty="0">
                        <a:latin typeface="+mj-lt"/>
                      </a:endParaRPr>
                    </a:p>
                  </a:txBody>
                  <a:tcPr/>
                </a:tc>
                <a:tc>
                  <a:txBody>
                    <a:bodyPr/>
                    <a:lstStyle/>
                    <a:p>
                      <a:r>
                        <a:rPr lang="en-US" sz="1200" dirty="0" smtClean="0">
                          <a:latin typeface="+mj-lt"/>
                        </a:rPr>
                        <a:t>100</a:t>
                      </a:r>
                      <a:endParaRPr lang="en-US" sz="1200" dirty="0">
                        <a:latin typeface="+mj-lt"/>
                      </a:endParaRPr>
                    </a:p>
                  </a:txBody>
                  <a:tcPr/>
                </a:tc>
                <a:tc>
                  <a:txBody>
                    <a:bodyPr/>
                    <a:lstStyle/>
                    <a:p>
                      <a:r>
                        <a:rPr lang="en-US" sz="1200" dirty="0" smtClean="0">
                          <a:latin typeface="+mj-lt"/>
                        </a:rPr>
                        <a:t>90,000</a:t>
                      </a:r>
                      <a:endParaRPr lang="en-US" sz="1200" dirty="0">
                        <a:latin typeface="+mj-lt"/>
                      </a:endParaRPr>
                    </a:p>
                  </a:txBody>
                  <a:tcPr/>
                </a:tc>
                <a:tc>
                  <a:txBody>
                    <a:bodyPr/>
                    <a:lstStyle/>
                    <a:p>
                      <a:r>
                        <a:rPr lang="en-US" sz="1200" dirty="0" smtClean="0">
                          <a:latin typeface="+mj-lt"/>
                        </a:rPr>
                        <a:t>100*90,000= 9 Million</a:t>
                      </a:r>
                      <a:endParaRPr lang="en-US" sz="1200" dirty="0">
                        <a:latin typeface="+mj-lt"/>
                      </a:endParaRPr>
                    </a:p>
                  </a:txBody>
                  <a:tcPr/>
                </a:tc>
              </a:tr>
              <a:tr h="321977">
                <a:tc>
                  <a:txBody>
                    <a:bodyPr/>
                    <a:lstStyle/>
                    <a:p>
                      <a:pPr marL="742950" marR="0" lvl="1" indent="-285750" algn="l" defTabSz="4572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srgbClr val="000000"/>
                          </a:solidFill>
                          <a:effectLst/>
                          <a:uLnTx/>
                          <a:uFillTx/>
                          <a:latin typeface="+mj-lt"/>
                          <a:ea typeface="+mn-ea"/>
                          <a:cs typeface="+mn-cs"/>
                        </a:rPr>
                        <a:t>Division B</a:t>
                      </a:r>
                      <a:endParaRPr lang="en-US" sz="1200" dirty="0">
                        <a:latin typeface="+mj-lt"/>
                      </a:endParaRPr>
                    </a:p>
                  </a:txBody>
                  <a:tcPr/>
                </a:tc>
                <a:tc>
                  <a:txBody>
                    <a:bodyPr/>
                    <a:lstStyle/>
                    <a:p>
                      <a:r>
                        <a:rPr lang="en-US" sz="1200" dirty="0" smtClean="0">
                          <a:latin typeface="+mj-lt"/>
                        </a:rPr>
                        <a:t>40</a:t>
                      </a:r>
                      <a:endParaRPr lang="en-US" sz="1200" dirty="0">
                        <a:latin typeface="+mj-lt"/>
                      </a:endParaRPr>
                    </a:p>
                  </a:txBody>
                  <a:tcPr/>
                </a:tc>
                <a:tc>
                  <a:txBody>
                    <a:bodyPr/>
                    <a:lstStyle/>
                    <a:p>
                      <a:r>
                        <a:rPr lang="en-US" sz="1200" dirty="0" smtClean="0">
                          <a:latin typeface="+mj-lt"/>
                        </a:rPr>
                        <a:t>90,000</a:t>
                      </a:r>
                      <a:endParaRPr lang="en-US" sz="1200" dirty="0">
                        <a:latin typeface="+mj-lt"/>
                      </a:endParaRPr>
                    </a:p>
                  </a:txBody>
                  <a:tcPr/>
                </a:tc>
                <a:tc>
                  <a:txBody>
                    <a:bodyPr/>
                    <a:lstStyle/>
                    <a:p>
                      <a:r>
                        <a:rPr lang="en-US" sz="1200" dirty="0" smtClean="0">
                          <a:latin typeface="+mj-lt"/>
                        </a:rPr>
                        <a:t>40*90,000 =3.6 Million</a:t>
                      </a:r>
                      <a:endParaRPr lang="en-US" sz="1200" dirty="0">
                        <a:latin typeface="+mj-lt"/>
                      </a:endParaRPr>
                    </a:p>
                  </a:txBody>
                  <a:tcPr/>
                </a:tc>
                <a:tc>
                  <a:txBody>
                    <a:bodyPr/>
                    <a:lstStyle/>
                    <a:p>
                      <a:r>
                        <a:rPr lang="en-US" sz="1200" dirty="0" smtClean="0">
                          <a:latin typeface="+mj-lt"/>
                        </a:rPr>
                        <a:t>50</a:t>
                      </a:r>
                      <a:endParaRPr lang="en-US" sz="1200" dirty="0">
                        <a:latin typeface="+mj-lt"/>
                      </a:endParaRPr>
                    </a:p>
                  </a:txBody>
                  <a:tcPr/>
                </a:tc>
                <a:tc>
                  <a:txBody>
                    <a:bodyPr/>
                    <a:lstStyle/>
                    <a:p>
                      <a:r>
                        <a:rPr lang="en-US" sz="1200" dirty="0" smtClean="0">
                          <a:latin typeface="+mj-lt"/>
                        </a:rPr>
                        <a:t>100,000</a:t>
                      </a:r>
                      <a:endParaRPr lang="en-US" sz="1200" dirty="0">
                        <a:latin typeface="+mj-lt"/>
                      </a:endParaRPr>
                    </a:p>
                  </a:txBody>
                  <a:tcPr/>
                </a:tc>
                <a:tc>
                  <a:txBody>
                    <a:bodyPr/>
                    <a:lstStyle/>
                    <a:p>
                      <a:r>
                        <a:rPr lang="en-US" sz="1200" dirty="0" smtClean="0">
                          <a:latin typeface="+mj-lt"/>
                        </a:rPr>
                        <a:t>50*100,000= 5 Million</a:t>
                      </a:r>
                      <a:endParaRPr lang="en-US" sz="1200" dirty="0">
                        <a:latin typeface="+mj-lt"/>
                      </a:endParaRPr>
                    </a:p>
                  </a:txBody>
                  <a:tcPr/>
                </a:tc>
              </a:tr>
              <a:tr h="321977">
                <a:tc>
                  <a:txBody>
                    <a:bodyPr/>
                    <a:lstStyle/>
                    <a:p>
                      <a:pPr marL="742950" lvl="1" indent="-285750">
                        <a:buFont typeface="Arial" pitchFamily="34" charset="0"/>
                        <a:buChar char="•"/>
                      </a:pPr>
                      <a:r>
                        <a:rPr lang="en-US" sz="1200" dirty="0" smtClean="0">
                          <a:latin typeface="+mj-lt"/>
                        </a:rPr>
                        <a:t>Division</a:t>
                      </a:r>
                      <a:r>
                        <a:rPr lang="en-US" sz="1200" baseline="0" dirty="0" smtClean="0">
                          <a:latin typeface="+mj-lt"/>
                        </a:rPr>
                        <a:t> </a:t>
                      </a:r>
                      <a:r>
                        <a:rPr lang="en-US" sz="1200" baseline="0" dirty="0">
                          <a:latin typeface="+mj-lt"/>
                        </a:rPr>
                        <a:t>C</a:t>
                      </a:r>
                      <a:endParaRPr lang="en-US" sz="1200" baseline="0" dirty="0" smtClean="0">
                        <a:latin typeface="+mj-lt"/>
                      </a:endParaRPr>
                    </a:p>
                  </a:txBody>
                  <a:tcPr/>
                </a:tc>
                <a:tc>
                  <a:txBody>
                    <a:bodyPr/>
                    <a:lstStyle/>
                    <a:p>
                      <a:r>
                        <a:rPr lang="en-US" sz="1200" dirty="0" smtClean="0">
                          <a:latin typeface="+mj-lt"/>
                        </a:rPr>
                        <a:t>45</a:t>
                      </a:r>
                      <a:endParaRPr lang="en-US" sz="1200" dirty="0">
                        <a:latin typeface="+mj-lt"/>
                      </a:endParaRPr>
                    </a:p>
                  </a:txBody>
                  <a:tcPr/>
                </a:tc>
                <a:tc>
                  <a:txBody>
                    <a:bodyPr/>
                    <a:lstStyle/>
                    <a:p>
                      <a:r>
                        <a:rPr lang="en-US" sz="1200" dirty="0" smtClean="0">
                          <a:latin typeface="+mj-lt"/>
                        </a:rPr>
                        <a:t>100,000</a:t>
                      </a:r>
                      <a:endParaRPr lang="en-US" sz="1200" dirty="0">
                        <a:latin typeface="+mj-lt"/>
                      </a:endParaRPr>
                    </a:p>
                  </a:txBody>
                  <a:tcPr/>
                </a:tc>
                <a:tc>
                  <a:txBody>
                    <a:bodyPr/>
                    <a:lstStyle/>
                    <a:p>
                      <a:r>
                        <a:rPr lang="en-US" sz="1200" dirty="0" smtClean="0">
                          <a:latin typeface="+mj-lt"/>
                        </a:rPr>
                        <a:t>45*100,000=4.5 Million</a:t>
                      </a:r>
                      <a:endParaRPr lang="en-US" sz="1200" dirty="0">
                        <a:latin typeface="+mj-lt"/>
                      </a:endParaRPr>
                    </a:p>
                  </a:txBody>
                  <a:tcPr/>
                </a:tc>
                <a:tc>
                  <a:txBody>
                    <a:bodyPr/>
                    <a:lstStyle/>
                    <a:p>
                      <a:r>
                        <a:rPr lang="en-US" sz="1200" dirty="0" smtClean="0">
                          <a:latin typeface="+mj-lt"/>
                        </a:rPr>
                        <a:t>50</a:t>
                      </a:r>
                      <a:endParaRPr lang="en-US" sz="1200" dirty="0">
                        <a:latin typeface="+mj-lt"/>
                      </a:endParaRPr>
                    </a:p>
                  </a:txBody>
                  <a:tcPr/>
                </a:tc>
                <a:tc>
                  <a:txBody>
                    <a:bodyPr/>
                    <a:lstStyle/>
                    <a:p>
                      <a:r>
                        <a:rPr lang="en-US" sz="1200" dirty="0" smtClean="0">
                          <a:latin typeface="+mj-lt"/>
                        </a:rPr>
                        <a:t>110,000</a:t>
                      </a:r>
                      <a:endParaRPr lang="en-US" sz="1200" dirty="0">
                        <a:latin typeface="+mj-lt"/>
                      </a:endParaRPr>
                    </a:p>
                  </a:txBody>
                  <a:tcPr/>
                </a:tc>
                <a:tc>
                  <a:txBody>
                    <a:bodyPr/>
                    <a:lstStyle/>
                    <a:p>
                      <a:r>
                        <a:rPr lang="en-US" sz="1200" dirty="0" smtClean="0">
                          <a:latin typeface="+mj-lt"/>
                        </a:rPr>
                        <a:t>50*110,000= 5.5 Million</a:t>
                      </a:r>
                      <a:endParaRPr lang="en-US" sz="1200" dirty="0">
                        <a:latin typeface="+mj-lt"/>
                      </a:endParaRPr>
                    </a:p>
                  </a:txBody>
                  <a:tcPr/>
                </a:tc>
              </a:tr>
              <a:tr h="321977">
                <a:tc>
                  <a:txBody>
                    <a:bodyPr/>
                    <a:lstStyle/>
                    <a:p>
                      <a:pPr marL="457200" lvl="1" indent="0">
                        <a:buFont typeface="Arial" pitchFamily="34" charset="0"/>
                        <a:buNone/>
                      </a:pPr>
                      <a:r>
                        <a:rPr lang="en-US" sz="1200" b="1" baseline="0" dirty="0" smtClean="0">
                          <a:latin typeface="+mj-lt"/>
                        </a:rPr>
                        <a:t>Total</a:t>
                      </a:r>
                    </a:p>
                  </a:txBody>
                  <a:tcPr/>
                </a:tc>
                <a:tc>
                  <a:txBody>
                    <a:bodyPr/>
                    <a:lstStyle/>
                    <a:p>
                      <a:endParaRPr lang="en-US" sz="1200" b="1" dirty="0">
                        <a:latin typeface="+mj-lt"/>
                      </a:endParaRPr>
                    </a:p>
                  </a:txBody>
                  <a:tcPr/>
                </a:tc>
                <a:tc>
                  <a:txBody>
                    <a:bodyPr/>
                    <a:lstStyle/>
                    <a:p>
                      <a:endParaRPr lang="en-US" sz="1200" b="1" dirty="0">
                        <a:latin typeface="+mj-lt"/>
                      </a:endParaRPr>
                    </a:p>
                  </a:txBody>
                  <a:tcPr/>
                </a:tc>
                <a:tc>
                  <a:txBody>
                    <a:bodyPr/>
                    <a:lstStyle/>
                    <a:p>
                      <a:r>
                        <a:rPr lang="en-US" sz="1200" b="1" dirty="0" smtClean="0">
                          <a:latin typeface="+mj-lt"/>
                        </a:rPr>
                        <a:t>15.3 Million</a:t>
                      </a:r>
                      <a:endParaRPr lang="en-US" sz="1200" b="1" dirty="0">
                        <a:latin typeface="+mj-lt"/>
                      </a:endParaRPr>
                    </a:p>
                  </a:txBody>
                  <a:tcPr/>
                </a:tc>
                <a:tc>
                  <a:txBody>
                    <a:bodyPr/>
                    <a:lstStyle/>
                    <a:p>
                      <a:endParaRPr lang="en-US" sz="1200" b="1" dirty="0">
                        <a:latin typeface="+mj-lt"/>
                      </a:endParaRPr>
                    </a:p>
                  </a:txBody>
                  <a:tcPr/>
                </a:tc>
                <a:tc>
                  <a:txBody>
                    <a:bodyPr/>
                    <a:lstStyle/>
                    <a:p>
                      <a:endParaRPr lang="en-US" sz="1200" b="1" dirty="0">
                        <a:latin typeface="+mj-lt"/>
                      </a:endParaRPr>
                    </a:p>
                  </a:txBody>
                  <a:tcPr/>
                </a:tc>
                <a:tc>
                  <a:txBody>
                    <a:bodyPr/>
                    <a:lstStyle/>
                    <a:p>
                      <a:r>
                        <a:rPr lang="en-US" sz="1200" b="1" dirty="0" smtClean="0">
                          <a:latin typeface="+mj-lt"/>
                        </a:rPr>
                        <a:t>19.5  Million</a:t>
                      </a:r>
                      <a:endParaRPr lang="en-US" sz="1200" b="1" dirty="0">
                        <a:latin typeface="+mj-lt"/>
                      </a:endParaRPr>
                    </a:p>
                  </a:txBody>
                  <a:tcPr/>
                </a:tc>
              </a:tr>
            </a:tbl>
          </a:graphicData>
        </a:graphic>
      </p:graphicFrame>
      <p:sp>
        <p:nvSpPr>
          <p:cNvPr id="11" name="TextBox 10"/>
          <p:cNvSpPr txBox="1"/>
          <p:nvPr/>
        </p:nvSpPr>
        <p:spPr>
          <a:xfrm>
            <a:off x="457200" y="4972690"/>
            <a:ext cx="7858125" cy="276999"/>
          </a:xfrm>
          <a:prstGeom prst="rect">
            <a:avLst/>
          </a:prstGeom>
          <a:noFill/>
        </p:spPr>
        <p:txBody>
          <a:bodyPr wrap="square" rtlCol="0">
            <a:spAutoFit/>
          </a:bodyPr>
          <a:lstStyle/>
          <a:p>
            <a:r>
              <a:rPr lang="en-US" sz="1200" b="1" dirty="0" smtClean="0"/>
              <a:t>Difference in revenue = (19.5 - 15.3) Million = USD 4.2 Million</a:t>
            </a:r>
            <a:endParaRPr lang="en-US" sz="1200" b="1" dirty="0"/>
          </a:p>
        </p:txBody>
      </p:sp>
      <p:sp>
        <p:nvSpPr>
          <p:cNvPr id="12"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416332714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147</a:t>
            </a:fld>
            <a:endParaRPr lang="en-US" smtClean="0">
              <a:latin typeface="Arial" pitchFamily="34" charset="0"/>
              <a:ea typeface="ＭＳ Ｐゴシック" pitchFamily="34" charset="-128"/>
            </a:endParaRPr>
          </a:p>
        </p:txBody>
      </p:sp>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6232634"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graphicFrame>
        <p:nvGraphicFramePr>
          <p:cNvPr id="11" name="Table 10"/>
          <p:cNvGraphicFramePr>
            <a:graphicFrameLocks noGrp="1"/>
          </p:cNvGraphicFramePr>
          <p:nvPr>
            <p:extLst>
              <p:ext uri="{D42A27DB-BD31-4B8C-83A1-F6EECF244321}">
                <p14:modId xmlns:p14="http://schemas.microsoft.com/office/powerpoint/2010/main" val="2248705657"/>
              </p:ext>
            </p:extLst>
          </p:nvPr>
        </p:nvGraphicFramePr>
        <p:xfrm>
          <a:off x="457200" y="1848856"/>
          <a:ext cx="8229600" cy="2209801"/>
        </p:xfrm>
        <a:graphic>
          <a:graphicData uri="http://schemas.openxmlformats.org/drawingml/2006/table">
            <a:tbl>
              <a:tblPr firstRow="1" bandRow="1">
                <a:tableStyleId>{5C22544A-7EE6-4342-B048-85BDC9FD1C3A}</a:tableStyleId>
              </a:tblPr>
              <a:tblGrid>
                <a:gridCol w="4114800"/>
                <a:gridCol w="4114800"/>
              </a:tblGrid>
              <a:tr h="625657">
                <a:tc>
                  <a:txBody>
                    <a:bodyPr/>
                    <a:lstStyle/>
                    <a:p>
                      <a:r>
                        <a:rPr lang="en-US" sz="1200" dirty="0" smtClean="0">
                          <a:solidFill>
                            <a:schemeClr val="tx1"/>
                          </a:solidFill>
                        </a:rPr>
                        <a:t>Cost </a:t>
                      </a:r>
                      <a:r>
                        <a:rPr lang="en-US" sz="1200" baseline="0" dirty="0" smtClean="0">
                          <a:solidFill>
                            <a:schemeClr val="tx1"/>
                          </a:solidFill>
                        </a:rPr>
                        <a:t>Drivers</a:t>
                      </a:r>
                      <a:endParaRPr lang="en-US" sz="1200" dirty="0">
                        <a:solidFill>
                          <a:schemeClr val="tx1"/>
                        </a:solidFill>
                      </a:endParaRPr>
                    </a:p>
                  </a:txBody>
                  <a:tcPr/>
                </a:tc>
                <a:tc>
                  <a:txBody>
                    <a:bodyPr/>
                    <a:lstStyle/>
                    <a:p>
                      <a:r>
                        <a:rPr lang="en-US" sz="1200" dirty="0" smtClean="0">
                          <a:solidFill>
                            <a:schemeClr val="tx1"/>
                          </a:solidFill>
                        </a:rPr>
                        <a:t>Increase</a:t>
                      </a:r>
                      <a:r>
                        <a:rPr lang="en-US" sz="1200" baseline="0" dirty="0" smtClean="0">
                          <a:solidFill>
                            <a:schemeClr val="tx1"/>
                          </a:solidFill>
                        </a:rPr>
                        <a:t> </a:t>
                      </a:r>
                      <a:r>
                        <a:rPr lang="en-US" sz="1200" dirty="0" smtClean="0">
                          <a:solidFill>
                            <a:schemeClr val="tx1"/>
                          </a:solidFill>
                        </a:rPr>
                        <a:t>in cost due to recommendation implementation</a:t>
                      </a:r>
                      <a:r>
                        <a:rPr lang="en-US" sz="1200" baseline="0" dirty="0" smtClean="0">
                          <a:solidFill>
                            <a:schemeClr val="tx1"/>
                          </a:solidFill>
                        </a:rPr>
                        <a:t> </a:t>
                      </a:r>
                      <a:r>
                        <a:rPr lang="en-US" sz="1200" dirty="0" smtClean="0">
                          <a:solidFill>
                            <a:schemeClr val="tx1"/>
                          </a:solidFill>
                        </a:rPr>
                        <a:t>(USD)</a:t>
                      </a:r>
                      <a:endParaRPr lang="en-US" sz="1200" dirty="0">
                        <a:solidFill>
                          <a:schemeClr val="tx1"/>
                        </a:solidFill>
                      </a:endParaRPr>
                    </a:p>
                  </a:txBody>
                  <a:tcPr/>
                </a:tc>
              </a:tr>
              <a:tr h="396036">
                <a:tc>
                  <a:txBody>
                    <a:bodyPr/>
                    <a:lstStyle/>
                    <a:p>
                      <a:r>
                        <a:rPr lang="en-US" sz="1200" dirty="0" smtClean="0"/>
                        <a:t>Sales cost</a:t>
                      </a:r>
                      <a:endParaRPr lang="en-US" sz="1200" dirty="0"/>
                    </a:p>
                  </a:txBody>
                  <a:tcPr/>
                </a:tc>
                <a:tc>
                  <a:txBody>
                    <a:bodyPr/>
                    <a:lstStyle/>
                    <a:p>
                      <a:r>
                        <a:rPr lang="en-US" sz="1200" dirty="0" smtClean="0"/>
                        <a:t>500,000</a:t>
                      </a:r>
                      <a:endParaRPr lang="en-US" sz="1200" dirty="0"/>
                    </a:p>
                  </a:txBody>
                  <a:tcPr/>
                </a:tc>
              </a:tr>
              <a:tr h="396036">
                <a:tc>
                  <a:txBody>
                    <a:bodyPr/>
                    <a:lstStyle/>
                    <a:p>
                      <a:pPr marL="0" lvl="0" indent="0">
                        <a:buFont typeface="Arial" pitchFamily="34" charset="0"/>
                        <a:buNone/>
                      </a:pPr>
                      <a:r>
                        <a:rPr lang="en-US" sz="1200" dirty="0" smtClean="0"/>
                        <a:t>Service cost</a:t>
                      </a:r>
                      <a:endParaRPr lang="en-US" sz="1200" dirty="0"/>
                    </a:p>
                  </a:txBody>
                  <a:tcPr/>
                </a:tc>
                <a:tc>
                  <a:txBody>
                    <a:bodyPr/>
                    <a:lstStyle/>
                    <a:p>
                      <a:r>
                        <a:rPr lang="en-US" sz="1200" dirty="0" smtClean="0"/>
                        <a:t>-250,000</a:t>
                      </a:r>
                      <a:endParaRPr lang="en-US" sz="1200" dirty="0"/>
                    </a:p>
                  </a:txBody>
                  <a:tcPr/>
                </a:tc>
              </a:tr>
              <a:tr h="396036">
                <a:tc>
                  <a:txBody>
                    <a:bodyPr/>
                    <a:lstStyle/>
                    <a:p>
                      <a:pPr marL="0" marR="0" lvl="0" indent="0" algn="l" defTabSz="457200" rtl="0" eaLnBrk="1" fontAlgn="auto" latinLnBrk="0" hangingPunct="1">
                        <a:lnSpc>
                          <a:spcPct val="100000"/>
                        </a:lnSpc>
                        <a:spcBef>
                          <a:spcPts val="0"/>
                        </a:spcBef>
                        <a:spcAft>
                          <a:spcPts val="0"/>
                        </a:spcAft>
                        <a:buClrTx/>
                        <a:buSzTx/>
                        <a:buFont typeface="Arial" pitchFamily="34" charset="0"/>
                        <a:buNone/>
                        <a:tabLst/>
                        <a:defRPr/>
                      </a:pPr>
                      <a:r>
                        <a:rPr kumimoji="0" lang="en-US" sz="1200" b="0" i="0" u="none" strike="noStrike" kern="1200" cap="none" spc="0" normalizeH="0" baseline="0" noProof="0" dirty="0" smtClean="0">
                          <a:ln>
                            <a:noFill/>
                          </a:ln>
                          <a:solidFill>
                            <a:srgbClr val="000000"/>
                          </a:solidFill>
                          <a:effectLst/>
                          <a:uLnTx/>
                          <a:uFillTx/>
                          <a:latin typeface="+mn-lt"/>
                          <a:ea typeface="+mn-ea"/>
                          <a:cs typeface="+mn-cs"/>
                        </a:rPr>
                        <a:t>IT costs</a:t>
                      </a:r>
                      <a:endParaRPr lang="en-US" sz="1200" dirty="0"/>
                    </a:p>
                  </a:txBody>
                  <a:tcPr/>
                </a:tc>
                <a:tc>
                  <a:txBody>
                    <a:bodyPr/>
                    <a:lstStyle/>
                    <a:p>
                      <a:r>
                        <a:rPr lang="en-US" sz="1200" dirty="0" smtClean="0"/>
                        <a:t>500,000</a:t>
                      </a:r>
                      <a:endParaRPr lang="en-US" sz="1200" dirty="0"/>
                    </a:p>
                  </a:txBody>
                  <a:tcPr/>
                </a:tc>
              </a:tr>
              <a:tr h="396036">
                <a:tc>
                  <a:txBody>
                    <a:bodyPr/>
                    <a:lstStyle/>
                    <a:p>
                      <a:pPr marL="0" lvl="0" indent="0">
                        <a:buFont typeface="Arial" pitchFamily="34" charset="0"/>
                        <a:buNone/>
                      </a:pPr>
                      <a:r>
                        <a:rPr lang="en-US" sz="1200" dirty="0" smtClean="0"/>
                        <a:t>Other costs</a:t>
                      </a:r>
                      <a:endParaRPr lang="en-US" sz="1200" baseline="0" dirty="0" smtClean="0"/>
                    </a:p>
                  </a:txBody>
                  <a:tcPr/>
                </a:tc>
                <a:tc>
                  <a:txBody>
                    <a:bodyPr/>
                    <a:lstStyle/>
                    <a:p>
                      <a:r>
                        <a:rPr lang="en-US" sz="1200" dirty="0" smtClean="0"/>
                        <a:t>450,000</a:t>
                      </a:r>
                      <a:endParaRPr lang="en-US" sz="1200" dirty="0"/>
                    </a:p>
                  </a:txBody>
                  <a:tcPr/>
                </a:tc>
              </a:tr>
            </a:tbl>
          </a:graphicData>
        </a:graphic>
      </p:graphicFrame>
      <p:sp>
        <p:nvSpPr>
          <p:cNvPr id="10" name="TextBox 9"/>
          <p:cNvSpPr txBox="1"/>
          <p:nvPr/>
        </p:nvSpPr>
        <p:spPr>
          <a:xfrm>
            <a:off x="397040" y="1438110"/>
            <a:ext cx="3200400" cy="307777"/>
          </a:xfrm>
          <a:prstGeom prst="rect">
            <a:avLst/>
          </a:prstGeom>
          <a:noFill/>
        </p:spPr>
        <p:txBody>
          <a:bodyPr wrap="square" rtlCol="0">
            <a:spAutoFit/>
          </a:bodyPr>
          <a:lstStyle/>
          <a:p>
            <a:r>
              <a:rPr lang="en-US" sz="1400" b="1" dirty="0"/>
              <a:t>Exhibit 3 </a:t>
            </a:r>
            <a:r>
              <a:rPr lang="en-US" sz="1400" b="1" dirty="0" smtClean="0"/>
              <a:t>(Interviewer copy)</a:t>
            </a:r>
            <a:endParaRPr lang="en-US" sz="1400" b="1" dirty="0"/>
          </a:p>
        </p:txBody>
      </p:sp>
      <p:sp>
        <p:nvSpPr>
          <p:cNvPr id="12" name="TextBox 11"/>
          <p:cNvSpPr txBox="1"/>
          <p:nvPr/>
        </p:nvSpPr>
        <p:spPr>
          <a:xfrm>
            <a:off x="411563" y="4222700"/>
            <a:ext cx="7858125" cy="307777"/>
          </a:xfrm>
          <a:prstGeom prst="rect">
            <a:avLst/>
          </a:prstGeom>
          <a:noFill/>
          <a:ln>
            <a:noFill/>
          </a:ln>
        </p:spPr>
        <p:txBody>
          <a:bodyPr wrap="square" rtlCol="0">
            <a:spAutoFit/>
          </a:bodyPr>
          <a:lstStyle/>
          <a:p>
            <a:r>
              <a:rPr lang="en-US" sz="1400" dirty="0" smtClean="0"/>
              <a:t>Total cost </a:t>
            </a:r>
            <a:r>
              <a:rPr lang="en-US" sz="1400" dirty="0"/>
              <a:t>i</a:t>
            </a:r>
            <a:r>
              <a:rPr lang="en-US" sz="1400" dirty="0" smtClean="0"/>
              <a:t>mpact = 5000,000-250,000+500,000+450,000 = USD 1,200,000</a:t>
            </a:r>
            <a:endParaRPr lang="en-US" sz="1400" dirty="0"/>
          </a:p>
        </p:txBody>
      </p:sp>
      <p:sp>
        <p:nvSpPr>
          <p:cNvPr id="13" name="TextBox 12"/>
          <p:cNvSpPr txBox="1"/>
          <p:nvPr/>
        </p:nvSpPr>
        <p:spPr>
          <a:xfrm>
            <a:off x="411563" y="4603684"/>
            <a:ext cx="7858125" cy="307777"/>
          </a:xfrm>
          <a:prstGeom prst="rect">
            <a:avLst/>
          </a:prstGeom>
          <a:noFill/>
          <a:ln>
            <a:noFill/>
          </a:ln>
        </p:spPr>
        <p:txBody>
          <a:bodyPr wrap="square" rtlCol="0">
            <a:spAutoFit/>
          </a:bodyPr>
          <a:lstStyle/>
          <a:p>
            <a:r>
              <a:rPr lang="en-US" sz="1400" b="1" dirty="0" smtClean="0"/>
              <a:t>Total EBITDA impact = 4,200,000 – 1,200,000 = USD 3 Million</a:t>
            </a:r>
            <a:endParaRPr lang="en-US" sz="1400" b="1" dirty="0"/>
          </a:p>
        </p:txBody>
      </p:sp>
      <p:sp>
        <p:nvSpPr>
          <p:cNvPr id="14"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3699744854"/>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148</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768121869"/>
              </p:ext>
            </p:extLst>
          </p:nvPr>
        </p:nvGraphicFramePr>
        <p:xfrm>
          <a:off x="304800" y="1371600"/>
          <a:ext cx="8534400" cy="356616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Does not get overwhelmed with the data and the overall case</a:t>
                      </a:r>
                    </a:p>
                    <a:p>
                      <a:pPr marL="225425" indent="-225425">
                        <a:buFont typeface="Arial" pitchFamily="34" charset="0"/>
                        <a:buChar char="•"/>
                      </a:pPr>
                      <a:r>
                        <a:rPr lang="en-US" sz="1200" b="0" i="0" kern="1200" baseline="0" dirty="0" smtClean="0">
                          <a:solidFill>
                            <a:schemeClr val="tx1"/>
                          </a:solidFill>
                          <a:latin typeface="+mj-lt"/>
                          <a:ea typeface="+mn-ea"/>
                          <a:cs typeface="+mn-cs"/>
                        </a:rPr>
                        <a:t>Identifies some of the reasons for the problem and also proposes some solutions, risks and mitigation</a:t>
                      </a:r>
                    </a:p>
                    <a:p>
                      <a:pPr marL="225425" indent="-225425">
                        <a:buFont typeface="Arial" pitchFamily="34" charset="0"/>
                        <a:buChar char="•"/>
                      </a:pPr>
                      <a:r>
                        <a:rPr lang="en-US" sz="1200" b="0" i="0" kern="1200" baseline="0" dirty="0" smtClean="0">
                          <a:solidFill>
                            <a:schemeClr val="tx1"/>
                          </a:solidFill>
                          <a:latin typeface="+mj-lt"/>
                          <a:ea typeface="+mn-ea"/>
                          <a:cs typeface="+mn-cs"/>
                        </a:rPr>
                        <a:t>Identifies some revenue and cost drivers</a:t>
                      </a:r>
                    </a:p>
                    <a:p>
                      <a:pPr marL="225425" indent="-225425">
                        <a:buFont typeface="Arial" pitchFamily="34" charset="0"/>
                        <a:buChar char="•"/>
                      </a:pPr>
                      <a:r>
                        <a:rPr lang="en-US" sz="1200" b="0" i="0" kern="1200" baseline="0" dirty="0" smtClean="0">
                          <a:solidFill>
                            <a:schemeClr val="tx1"/>
                          </a:solidFill>
                          <a:latin typeface="+mj-lt"/>
                          <a:ea typeface="+mn-ea"/>
                          <a:cs typeface="+mn-cs"/>
                        </a:rPr>
                        <a:t>Gets close to the final EBITDA impact number</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n-lt"/>
                          <a:ea typeface="+mn-ea"/>
                          <a:cs typeface="+mn-cs"/>
                        </a:rPr>
                        <a:t>Completes all “Expected”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Identifies most reasons for the problem and proposes most of the solutions, risks and mitigation</a:t>
                      </a:r>
                    </a:p>
                    <a:p>
                      <a:pPr marL="225425" indent="-225425">
                        <a:buFont typeface="Arial" pitchFamily="34" charset="0"/>
                        <a:buChar char="•"/>
                      </a:pPr>
                      <a:r>
                        <a:rPr lang="en-US" sz="1200" b="0" i="0" kern="1200" baseline="0" dirty="0" smtClean="0">
                          <a:solidFill>
                            <a:schemeClr val="tx1"/>
                          </a:solidFill>
                          <a:latin typeface="+mn-lt"/>
                          <a:ea typeface="+mn-ea"/>
                          <a:cs typeface="+mn-cs"/>
                        </a:rPr>
                        <a:t>Identifies the revenue and cost drivers</a:t>
                      </a:r>
                    </a:p>
                    <a:p>
                      <a:pPr marL="225425" indent="-225425">
                        <a:buFont typeface="Arial" pitchFamily="34" charset="0"/>
                        <a:buChar char="•"/>
                      </a:pPr>
                      <a:r>
                        <a:rPr lang="en-US" sz="1200" b="0" i="0" kern="1200" baseline="0" dirty="0" smtClean="0">
                          <a:solidFill>
                            <a:schemeClr val="tx1"/>
                          </a:solidFill>
                          <a:latin typeface="+mn-lt"/>
                          <a:ea typeface="+mn-ea"/>
                          <a:cs typeface="+mn-cs"/>
                        </a:rPr>
                        <a:t>Drives the calculation and gets very close to the final answer</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marR="0" indent="-225425"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Completes all “Good” requirements</a:t>
                      </a:r>
                    </a:p>
                    <a:p>
                      <a:pPr marL="225425" indent="-225425">
                        <a:buFont typeface="Arial" pitchFamily="34" charset="0"/>
                        <a:buChar char="•"/>
                      </a:pPr>
                      <a:r>
                        <a:rPr lang="en-US" sz="1200" b="0" i="0" kern="1200" baseline="0" dirty="0" smtClean="0">
                          <a:solidFill>
                            <a:schemeClr val="tx1"/>
                          </a:solidFill>
                          <a:latin typeface="+mn-lt"/>
                          <a:ea typeface="+mn-ea"/>
                          <a:cs typeface="+mn-cs"/>
                        </a:rPr>
                        <a:t>Feels and appears confident throughout the case </a:t>
                      </a:r>
                    </a:p>
                    <a:p>
                      <a:pPr marL="225425" indent="-225425">
                        <a:buFont typeface="Arial" pitchFamily="34" charset="0"/>
                        <a:buChar char="•"/>
                      </a:pPr>
                      <a:r>
                        <a:rPr lang="en-US" sz="1200" b="0" i="0" kern="1200" baseline="0" dirty="0" smtClean="0">
                          <a:solidFill>
                            <a:schemeClr val="tx1"/>
                          </a:solidFill>
                          <a:latin typeface="+mn-lt"/>
                          <a:ea typeface="+mn-ea"/>
                          <a:cs typeface="+mn-cs"/>
                        </a:rPr>
                        <a:t>Has a hypothesis upfront and conveys them to the interviewer</a:t>
                      </a:r>
                    </a:p>
                    <a:p>
                      <a:pPr marL="225425" indent="-225425">
                        <a:buFont typeface="Arial" pitchFamily="34" charset="0"/>
                        <a:buChar char="•"/>
                      </a:pPr>
                      <a:r>
                        <a:rPr lang="en-US" sz="1200" b="0" i="0" kern="1200" baseline="0" dirty="0" smtClean="0">
                          <a:solidFill>
                            <a:schemeClr val="tx1"/>
                          </a:solidFill>
                          <a:latin typeface="+mn-lt"/>
                          <a:ea typeface="+mn-ea"/>
                          <a:cs typeface="+mn-cs"/>
                        </a:rPr>
                        <a:t>Drives the calculation and gets the answer correct through shortcuts</a:t>
                      </a:r>
                    </a:p>
                    <a:p>
                      <a:pPr marL="0" indent="0">
                        <a:buFont typeface="Arial" pitchFamily="34" charset="0"/>
                        <a:buNone/>
                      </a:pPr>
                      <a:endParaRPr lang="en-US" sz="1200" b="0" i="0" kern="1200" baseline="0" dirty="0" smtClean="0">
                        <a:solidFill>
                          <a:schemeClr val="tx1"/>
                        </a:solidFill>
                        <a:latin typeface="+mn-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799" y="376238"/>
            <a:ext cx="6190593" cy="461665"/>
          </a:xfrm>
          <a:prstGeom prst="rect">
            <a:avLst/>
          </a:prstGeom>
          <a:noFill/>
          <a:ln w="9525">
            <a:noFill/>
            <a:miter lim="800000"/>
            <a:headEnd/>
            <a:tailEnd/>
          </a:ln>
        </p:spPr>
        <p:txBody>
          <a:bodyPr wrap="square">
            <a:spAutoFit/>
          </a:bodyPr>
          <a:lstStyle/>
          <a:p>
            <a:r>
              <a:rPr lang="en-US" sz="2400" b="1" dirty="0" smtClean="0"/>
              <a:t>Case 18: Online Automotive Marketplace</a:t>
            </a:r>
            <a:endParaRPr lang="en-US" sz="2400" b="1" dirty="0"/>
          </a:p>
        </p:txBody>
      </p:sp>
      <p:sp>
        <p:nvSpPr>
          <p:cNvPr id="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a:t>Bain &amp; Company</a:t>
            </a:r>
          </a:p>
        </p:txBody>
      </p:sp>
      <p:sp>
        <p:nvSpPr>
          <p:cNvPr id="7" name="TextBox 6"/>
          <p:cNvSpPr txBox="1">
            <a:spLocks noChangeArrowheads="1"/>
          </p:cNvSpPr>
          <p:nvPr/>
        </p:nvSpPr>
        <p:spPr bwMode="auto">
          <a:xfrm>
            <a:off x="228600" y="990600"/>
            <a:ext cx="3276600" cy="307777"/>
          </a:xfrm>
          <a:prstGeom prst="rect">
            <a:avLst/>
          </a:prstGeom>
          <a:noFill/>
          <a:ln w="9525">
            <a:noFill/>
            <a:miter lim="800000"/>
            <a:headEnd/>
            <a:tailEnd/>
          </a:ln>
        </p:spPr>
        <p:txBody>
          <a:bodyPr wrap="square">
            <a:spAutoFit/>
          </a:bodyPr>
          <a:lstStyle/>
          <a:p>
            <a:r>
              <a:rPr lang="en-US" sz="1400" i="1" dirty="0" smtClean="0"/>
              <a:t>Strategy</a:t>
            </a:r>
            <a:endParaRPr lang="en-US" sz="1400" i="1" dirty="0"/>
          </a:p>
        </p:txBody>
      </p:sp>
    </p:spTree>
    <p:extLst>
      <p:ext uri="{BB962C8B-B14F-4D97-AF65-F5344CB8AC3E}">
        <p14:creationId xmlns:p14="http://schemas.microsoft.com/office/powerpoint/2010/main" val="486478426"/>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149</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075"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078"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smtClean="0"/>
              <a:t>Case 19: Russian Shipbuilding</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323431118"/>
              </p:ext>
            </p:extLst>
          </p:nvPr>
        </p:nvGraphicFramePr>
        <p:xfrm>
          <a:off x="304800" y="1295400"/>
          <a:ext cx="8737600" cy="5394960"/>
        </p:xfrm>
        <a:graphic>
          <a:graphicData uri="http://schemas.openxmlformats.org/drawingml/2006/table">
            <a:tbl>
              <a:tblPr firstRow="1" bandRow="1">
                <a:tableStyleId>{616DA210-FB5B-4158-B5E0-FEB733F419BA}</a:tableStyleId>
              </a:tblPr>
              <a:tblGrid>
                <a:gridCol w="1638300"/>
                <a:gridCol w="7099300"/>
              </a:tblGrid>
              <a:tr h="1117600">
                <a:tc>
                  <a:txBody>
                    <a:bodyPr/>
                    <a:lstStyle/>
                    <a:p>
                      <a:pPr algn="ctr"/>
                      <a:r>
                        <a:rPr lang="en-US" dirty="0" smtClean="0">
                          <a:solidFill>
                            <a:srgbClr val="000000"/>
                          </a:solidFill>
                        </a:rPr>
                        <a:t>Prompt</a:t>
                      </a:r>
                      <a:endParaRPr lang="en-US" dirty="0">
                        <a:solidFill>
                          <a:srgbClr val="000000"/>
                        </a:solidFill>
                      </a:endParaRPr>
                    </a:p>
                  </a:txBody>
                  <a:tcPr anchor="ctr"/>
                </a:tc>
                <a:tc>
                  <a:txBody>
                    <a:bodyPr/>
                    <a:lstStyle/>
                    <a:p>
                      <a:r>
                        <a:rPr lang="en-US" sz="1200" b="0" kern="1200" dirty="0" smtClean="0">
                          <a:solidFill>
                            <a:srgbClr val="000000"/>
                          </a:solidFill>
                          <a:latin typeface="+mj-lt"/>
                          <a:ea typeface="+mn-ea"/>
                          <a:cs typeface="+mn-cs"/>
                        </a:rPr>
                        <a:t>During the cold war, the USSR</a:t>
                      </a:r>
                      <a:r>
                        <a:rPr lang="en-US" sz="1200" b="0" kern="1200" baseline="0" dirty="0" smtClean="0">
                          <a:solidFill>
                            <a:srgbClr val="000000"/>
                          </a:solidFill>
                          <a:latin typeface="+mj-lt"/>
                          <a:ea typeface="+mn-ea"/>
                          <a:cs typeface="+mn-cs"/>
                        </a:rPr>
                        <a:t> shipbuilding (SB) industry was based on programs. Each program was different (e.g. destroyers, submarines, patrol) and had its own organization, own technology, own engineers and own manufacturing facilities. </a:t>
                      </a:r>
                    </a:p>
                    <a:p>
                      <a:endParaRPr lang="en-US" sz="1200" b="0" kern="1200" baseline="0" dirty="0" smtClean="0">
                        <a:solidFill>
                          <a:srgbClr val="000000"/>
                        </a:solidFill>
                        <a:latin typeface="+mj-lt"/>
                        <a:ea typeface="+mn-ea"/>
                        <a:cs typeface="+mn-cs"/>
                      </a:endParaRPr>
                    </a:p>
                    <a:p>
                      <a:r>
                        <a:rPr lang="en-US" sz="1200" b="0" kern="1200" baseline="0" dirty="0" smtClean="0">
                          <a:solidFill>
                            <a:srgbClr val="000000"/>
                          </a:solidFill>
                          <a:latin typeface="+mj-lt"/>
                          <a:ea typeface="+mn-ea"/>
                          <a:cs typeface="+mn-cs"/>
                        </a:rPr>
                        <a:t>In the mid-90s, Russia was facing a strong recession, and decided to make public its SB industry. However, some of the States with manufacturing facilities (Exhibit 1), were concerned about losing these facilities, and therefore, increasing the unemployment in the region (each State with facilities had an average of 50,000 direct employees and 150,000 indirect employees). To keep everyone happy, the federal government decided to give over 60% of the company to States ownership (3-8% for each State depending on the number of facilities and employees) and the remaining stake to public offering.</a:t>
                      </a:r>
                    </a:p>
                    <a:p>
                      <a:r>
                        <a:rPr lang="en-US" sz="1200" b="0" kern="1200" baseline="0" dirty="0" smtClean="0">
                          <a:solidFill>
                            <a:srgbClr val="000000"/>
                          </a:solidFill>
                          <a:latin typeface="+mj-lt"/>
                          <a:ea typeface="+mn-ea"/>
                          <a:cs typeface="+mn-cs"/>
                        </a:rPr>
                        <a:t>To make it more interesting for private investors, the company was restructured in 3 main divisions: naval, submarines and advanced technology (AT).</a:t>
                      </a:r>
                    </a:p>
                    <a:p>
                      <a:endParaRPr lang="en-US" sz="1200" b="0" kern="1200" baseline="0" dirty="0" smtClean="0">
                        <a:solidFill>
                          <a:srgbClr val="000000"/>
                        </a:solidFill>
                        <a:latin typeface="+mj-lt"/>
                        <a:ea typeface="+mn-ea"/>
                        <a:cs typeface="+mn-cs"/>
                      </a:endParaRPr>
                    </a:p>
                    <a:p>
                      <a:r>
                        <a:rPr lang="en-US" sz="1200" b="0" kern="1200" baseline="0" dirty="0" smtClean="0">
                          <a:solidFill>
                            <a:srgbClr val="000000"/>
                          </a:solidFill>
                          <a:latin typeface="+mj-lt"/>
                          <a:ea typeface="+mn-ea"/>
                          <a:cs typeface="+mn-cs"/>
                        </a:rPr>
                        <a:t>After 15 years, the company has doubled its employees and has become one of the biggest players in the SB industry. Revenues are $85B for naval, $10B for submarines and $12B for advanced technology. </a:t>
                      </a:r>
                      <a:r>
                        <a:rPr lang="en-US" sz="1200" b="0" i="0" kern="1200" dirty="0" smtClean="0">
                          <a:solidFill>
                            <a:srgbClr val="000000"/>
                          </a:solidFill>
                          <a:latin typeface="+mj-lt"/>
                          <a:ea typeface="+mn-ea"/>
                          <a:cs typeface="+mn-cs"/>
                        </a:rPr>
                        <a:t>A new CEO</a:t>
                      </a:r>
                      <a:r>
                        <a:rPr lang="en-US" sz="1200" b="0" i="0" kern="1200" baseline="0" dirty="0" smtClean="0">
                          <a:solidFill>
                            <a:srgbClr val="000000"/>
                          </a:solidFill>
                          <a:latin typeface="+mj-lt"/>
                          <a:ea typeface="+mn-ea"/>
                          <a:cs typeface="+mn-cs"/>
                        </a:rPr>
                        <a:t> has been appointed to manage the whole company. She is concerned about the effectiveness of the company, specially in the military segment. Her concern is based on three factors:</a:t>
                      </a:r>
                    </a:p>
                    <a:p>
                      <a:pPr marL="228600" indent="-228600">
                        <a:buFont typeface="+mj-lt"/>
                        <a:buAutoNum type="arabicPeriod"/>
                      </a:pPr>
                      <a:r>
                        <a:rPr lang="en-US" sz="1200" b="0" i="0" kern="1200" baseline="0" dirty="0" smtClean="0">
                          <a:solidFill>
                            <a:srgbClr val="000000"/>
                          </a:solidFill>
                          <a:latin typeface="+mj-lt"/>
                          <a:ea typeface="+mn-ea"/>
                          <a:cs typeface="+mn-cs"/>
                        </a:rPr>
                        <a:t>80% of naval revenues comes from commercial products (e.g. light boats, ferries)</a:t>
                      </a:r>
                    </a:p>
                    <a:p>
                      <a:pPr marL="228600" indent="-228600">
                        <a:buFont typeface="+mj-lt"/>
                        <a:buAutoNum type="arabicPeriod"/>
                      </a:pPr>
                      <a:r>
                        <a:rPr lang="en-US" sz="1200" b="0" i="0" kern="1200" baseline="0" dirty="0" smtClean="0">
                          <a:solidFill>
                            <a:srgbClr val="000000"/>
                          </a:solidFill>
                          <a:latin typeface="+mj-lt"/>
                          <a:ea typeface="+mn-ea"/>
                          <a:cs typeface="+mn-cs"/>
                        </a:rPr>
                        <a:t>Within the naval program, military ships are just adapted from commercial ships (e.g. goods transport, tankers). See Exhibit 2.</a:t>
                      </a:r>
                    </a:p>
                    <a:p>
                      <a:pPr marL="228600" indent="-228600">
                        <a:buFont typeface="+mj-lt"/>
                        <a:buAutoNum type="arabicPeriod"/>
                      </a:pPr>
                      <a:r>
                        <a:rPr lang="en-US" sz="1200" b="0" i="0" kern="1200" baseline="0" dirty="0" smtClean="0">
                          <a:solidFill>
                            <a:srgbClr val="000000"/>
                          </a:solidFill>
                          <a:latin typeface="+mj-lt"/>
                          <a:ea typeface="+mn-ea"/>
                          <a:cs typeface="+mn-cs"/>
                        </a:rPr>
                        <a:t>The advanced industry division, has four programs (Electronic Defense, IT, Cyber Security and missile boats), where missile boats are less related to the other three programs. See Exhibit 3.</a:t>
                      </a:r>
                    </a:p>
                    <a:p>
                      <a:pPr marL="171450" indent="-171450">
                        <a:buFont typeface="Arial"/>
                        <a:buChar char="•"/>
                      </a:pPr>
                      <a:endParaRPr lang="en-US" sz="1200" b="0" i="0" kern="1200" baseline="0" dirty="0" smtClean="0">
                        <a:solidFill>
                          <a:srgbClr val="000000"/>
                        </a:solidFill>
                        <a:latin typeface="+mj-lt"/>
                        <a:ea typeface="+mn-ea"/>
                        <a:cs typeface="+mn-cs"/>
                      </a:endParaRPr>
                    </a:p>
                    <a:p>
                      <a:pPr marL="0" indent="0">
                        <a:buFont typeface="Arial"/>
                        <a:buNone/>
                      </a:pPr>
                      <a:r>
                        <a:rPr lang="en-US" sz="1200" b="0" i="0" kern="1200" baseline="0" dirty="0" smtClean="0">
                          <a:solidFill>
                            <a:srgbClr val="000000"/>
                          </a:solidFill>
                          <a:latin typeface="+mj-lt"/>
                          <a:ea typeface="+mn-ea"/>
                          <a:cs typeface="+mn-cs"/>
                        </a:rPr>
                        <a:t>The new CEO is thinking of creating a new division, called Military, to manage all ships with military purposes. She is hiring you to evaluate if this is a good decision. </a:t>
                      </a:r>
                    </a:p>
                    <a:p>
                      <a:pPr marL="0" indent="0">
                        <a:buFont typeface="Arial"/>
                        <a:buNone/>
                      </a:pPr>
                      <a:endParaRPr lang="en-US" sz="1200" b="0" i="0" kern="1200" baseline="0" dirty="0" smtClean="0">
                        <a:solidFill>
                          <a:srgbClr val="000000"/>
                        </a:solidFill>
                        <a:latin typeface="+mj-lt"/>
                        <a:ea typeface="+mn-ea"/>
                        <a:cs typeface="+mn-cs"/>
                      </a:endParaRPr>
                    </a:p>
                    <a:p>
                      <a:pPr marL="0" indent="0">
                        <a:buFont typeface="Arial"/>
                        <a:buNone/>
                      </a:pPr>
                      <a:r>
                        <a:rPr lang="en-US" sz="1200" b="1" i="0" kern="1200" baseline="0" dirty="0" smtClean="0">
                          <a:solidFill>
                            <a:srgbClr val="000000"/>
                          </a:solidFill>
                          <a:latin typeface="+mj-lt"/>
                          <a:ea typeface="+mn-ea"/>
                          <a:cs typeface="+mn-cs"/>
                        </a:rPr>
                        <a:t>Is this the right choice? What should be her decision?</a:t>
                      </a:r>
                    </a:p>
                    <a:p>
                      <a:pPr marL="0" indent="0">
                        <a:buFont typeface="Arial"/>
                        <a:buNone/>
                      </a:pPr>
                      <a:endParaRPr lang="en-US" sz="1200" b="0" i="0" kern="1200" baseline="0" dirty="0" smtClean="0">
                        <a:solidFill>
                          <a:srgbClr val="000000"/>
                        </a:solidFill>
                        <a:latin typeface="+mj-lt"/>
                        <a:ea typeface="+mn-ea"/>
                        <a:cs typeface="+mn-cs"/>
                      </a:endParaRPr>
                    </a:p>
                  </a:txBody>
                  <a:tcPr/>
                </a:tc>
              </a:tr>
            </a:tbl>
          </a:graphicData>
        </a:graphic>
      </p:graphicFrame>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150</a:t>
            </a:fld>
            <a:endParaRPr lang="en-US" dirty="0"/>
          </a:p>
        </p:txBody>
      </p:sp>
    </p:spTree>
    <p:extLst>
      <p:ext uri="{BB962C8B-B14F-4D97-AF65-F5344CB8AC3E}">
        <p14:creationId xmlns:p14="http://schemas.microsoft.com/office/powerpoint/2010/main" val="2852347253"/>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81"/>
          <a:srcRect/>
          <a:stretch>
            <a:fillRect/>
          </a:stretch>
        </p:blipFill>
        <p:spPr bwMode="auto">
          <a:xfrm>
            <a:off x="304800" y="228600"/>
            <a:ext cx="1200150" cy="635000"/>
          </a:xfrm>
          <a:prstGeom prst="rect">
            <a:avLst/>
          </a:prstGeom>
          <a:noFill/>
          <a:ln w="9525" algn="ctr">
            <a:noFill/>
            <a:miter lim="800000"/>
            <a:headEnd/>
            <a:tailEnd/>
          </a:ln>
        </p:spPr>
      </p:pic>
      <p:sp>
        <p:nvSpPr>
          <p:cNvPr id="3075"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078"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151</a:t>
            </a:fld>
            <a:endParaRPr lang="en-US" dirty="0"/>
          </a:p>
        </p:txBody>
      </p:sp>
      <p:grpSp>
        <p:nvGrpSpPr>
          <p:cNvPr id="377" name="Group 88"/>
          <p:cNvGrpSpPr>
            <a:grpSpLocks/>
          </p:cNvGrpSpPr>
          <p:nvPr/>
        </p:nvGrpSpPr>
        <p:grpSpPr bwMode="auto">
          <a:xfrm>
            <a:off x="736600" y="1333501"/>
            <a:ext cx="7721600" cy="4813300"/>
            <a:chOff x="385" y="632"/>
            <a:chExt cx="4864" cy="3032"/>
          </a:xfrm>
        </p:grpSpPr>
        <p:sp>
          <p:nvSpPr>
            <p:cNvPr id="378" name="Freeform 436"/>
            <p:cNvSpPr>
              <a:spLocks noEditPoints="1"/>
            </p:cNvSpPr>
            <p:nvPr>
              <p:custDataLst>
                <p:tags r:id="rId1"/>
              </p:custDataLst>
            </p:nvPr>
          </p:nvSpPr>
          <p:spPr bwMode="gray">
            <a:xfrm>
              <a:off x="4322" y="2107"/>
              <a:ext cx="927" cy="588"/>
            </a:xfrm>
            <a:custGeom>
              <a:avLst/>
              <a:gdLst>
                <a:gd name="T0" fmla="*/ 2000823879 w 984"/>
                <a:gd name="T1" fmla="*/ 572012757 h 622"/>
                <a:gd name="T2" fmla="*/ 2103775471 w 984"/>
                <a:gd name="T3" fmla="*/ 653086342 h 622"/>
                <a:gd name="T4" fmla="*/ 2027680816 w 984"/>
                <a:gd name="T5" fmla="*/ 581021600 h 622"/>
                <a:gd name="T6" fmla="*/ 1902349938 w 984"/>
                <a:gd name="T7" fmla="*/ 581021600 h 622"/>
                <a:gd name="T8" fmla="*/ 1929206875 w 984"/>
                <a:gd name="T9" fmla="*/ 698126054 h 622"/>
                <a:gd name="T10" fmla="*/ 1857588376 w 984"/>
                <a:gd name="T11" fmla="*/ 653086342 h 622"/>
                <a:gd name="T12" fmla="*/ 1848636063 w 984"/>
                <a:gd name="T13" fmla="*/ 526973045 h 622"/>
                <a:gd name="T14" fmla="*/ 1759114434 w 984"/>
                <a:gd name="T15" fmla="*/ 418875933 h 622"/>
                <a:gd name="T16" fmla="*/ 1620355088 w 984"/>
                <a:gd name="T17" fmla="*/ 301771479 h 622"/>
                <a:gd name="T18" fmla="*/ 1495022714 w 984"/>
                <a:gd name="T19" fmla="*/ 216194223 h 622"/>
                <a:gd name="T20" fmla="*/ 1374167992 w 984"/>
                <a:gd name="T21" fmla="*/ 126113297 h 622"/>
                <a:gd name="T22" fmla="*/ 1221980176 w 984"/>
                <a:gd name="T23" fmla="*/ 45039713 h 622"/>
                <a:gd name="T24" fmla="*/ 1092173142 w 984"/>
                <a:gd name="T25" fmla="*/ 63055898 h 622"/>
                <a:gd name="T26" fmla="*/ 984745393 w 984"/>
                <a:gd name="T27" fmla="*/ 27023528 h 622"/>
                <a:gd name="T28" fmla="*/ 868366827 w 984"/>
                <a:gd name="T29" fmla="*/ 45039713 h 622"/>
                <a:gd name="T30" fmla="*/ 886271452 w 984"/>
                <a:gd name="T31" fmla="*/ 126113297 h 622"/>
                <a:gd name="T32" fmla="*/ 859414514 w 984"/>
                <a:gd name="T33" fmla="*/ 243217751 h 622"/>
                <a:gd name="T34" fmla="*/ 769892886 w 984"/>
                <a:gd name="T35" fmla="*/ 198178038 h 622"/>
                <a:gd name="T36" fmla="*/ 702750543 w 984"/>
                <a:gd name="T37" fmla="*/ 108097112 h 622"/>
                <a:gd name="T38" fmla="*/ 604276602 w 984"/>
                <a:gd name="T39" fmla="*/ 117104454 h 622"/>
                <a:gd name="T40" fmla="*/ 461039603 w 984"/>
                <a:gd name="T41" fmla="*/ 108097112 h 622"/>
                <a:gd name="T42" fmla="*/ 340184881 w 984"/>
                <a:gd name="T43" fmla="*/ 99088269 h 622"/>
                <a:gd name="T44" fmla="*/ 331232568 w 984"/>
                <a:gd name="T45" fmla="*/ 225201566 h 622"/>
                <a:gd name="T46" fmla="*/ 241710940 w 984"/>
                <a:gd name="T47" fmla="*/ 337803849 h 622"/>
                <a:gd name="T48" fmla="*/ 35809250 w 984"/>
                <a:gd name="T49" fmla="*/ 418875933 h 622"/>
                <a:gd name="T50" fmla="*/ 71618499 w 984"/>
                <a:gd name="T51" fmla="*/ 608045128 h 622"/>
                <a:gd name="T52" fmla="*/ 98473941 w 984"/>
                <a:gd name="T53" fmla="*/ 738663597 h 622"/>
                <a:gd name="T54" fmla="*/ 170092440 w 984"/>
                <a:gd name="T55" fmla="*/ 846760709 h 622"/>
                <a:gd name="T56" fmla="*/ 286471006 w 984"/>
                <a:gd name="T57" fmla="*/ 945848977 h 622"/>
                <a:gd name="T58" fmla="*/ 380470287 w 984"/>
                <a:gd name="T59" fmla="*/ 945848977 h 622"/>
                <a:gd name="T60" fmla="*/ 496848853 w 984"/>
                <a:gd name="T61" fmla="*/ 954856320 h 622"/>
                <a:gd name="T62" fmla="*/ 604276602 w 984"/>
                <a:gd name="T63" fmla="*/ 990888690 h 622"/>
                <a:gd name="T64" fmla="*/ 693798230 w 984"/>
                <a:gd name="T65" fmla="*/ 1035929904 h 622"/>
                <a:gd name="T66" fmla="*/ 796748327 w 984"/>
                <a:gd name="T67" fmla="*/ 1107994645 h 622"/>
                <a:gd name="T68" fmla="*/ 738559792 w 984"/>
                <a:gd name="T69" fmla="*/ 1220595428 h 622"/>
                <a:gd name="T70" fmla="*/ 832557577 w 984"/>
                <a:gd name="T71" fmla="*/ 1292660169 h 622"/>
                <a:gd name="T72" fmla="*/ 922080701 w 984"/>
                <a:gd name="T73" fmla="*/ 1328692540 h 622"/>
                <a:gd name="T74" fmla="*/ 1038459267 w 984"/>
                <a:gd name="T75" fmla="*/ 1319685197 h 622"/>
                <a:gd name="T76" fmla="*/ 1110076271 w 984"/>
                <a:gd name="T77" fmla="*/ 1355717568 h 622"/>
                <a:gd name="T78" fmla="*/ 1195123239 w 984"/>
                <a:gd name="T79" fmla="*/ 1355717568 h 622"/>
                <a:gd name="T80" fmla="*/ 1347311054 w 984"/>
                <a:gd name="T81" fmla="*/ 1292660169 h 622"/>
                <a:gd name="T82" fmla="*/ 1472641933 w 984"/>
                <a:gd name="T83" fmla="*/ 1301669012 h 622"/>
                <a:gd name="T84" fmla="*/ 1454738803 w 984"/>
                <a:gd name="T85" fmla="*/ 1193571900 h 622"/>
                <a:gd name="T86" fmla="*/ 1401024929 w 984"/>
                <a:gd name="T87" fmla="*/ 1035929904 h 622"/>
                <a:gd name="T88" fmla="*/ 1338358742 w 984"/>
                <a:gd name="T89" fmla="*/ 954856320 h 622"/>
                <a:gd name="T90" fmla="*/ 1248837113 w 984"/>
                <a:gd name="T91" fmla="*/ 945848977 h 622"/>
                <a:gd name="T92" fmla="*/ 1338358742 w 984"/>
                <a:gd name="T93" fmla="*/ 945848977 h 622"/>
                <a:gd name="T94" fmla="*/ 1454738803 w 984"/>
                <a:gd name="T95" fmla="*/ 954856320 h 622"/>
                <a:gd name="T96" fmla="*/ 1539784276 w 984"/>
                <a:gd name="T97" fmla="*/ 855768051 h 622"/>
                <a:gd name="T98" fmla="*/ 1557688901 w 984"/>
                <a:gd name="T99" fmla="*/ 720647412 h 622"/>
                <a:gd name="T100" fmla="*/ 1611402775 w 984"/>
                <a:gd name="T101" fmla="*/ 716142240 h 622"/>
                <a:gd name="T102" fmla="*/ 1611402775 w 984"/>
                <a:gd name="T103" fmla="*/ 828744523 h 622"/>
                <a:gd name="T104" fmla="*/ 1741209810 w 984"/>
                <a:gd name="T105" fmla="*/ 828744523 h 622"/>
                <a:gd name="T106" fmla="*/ 1803874501 w 984"/>
                <a:gd name="T107" fmla="*/ 936840134 h 622"/>
                <a:gd name="T108" fmla="*/ 1911302250 w 984"/>
                <a:gd name="T109" fmla="*/ 999897533 h 622"/>
                <a:gd name="T110" fmla="*/ 1991871566 w 984"/>
                <a:gd name="T111" fmla="*/ 1008904875 h 622"/>
                <a:gd name="T112" fmla="*/ 1982919254 w 984"/>
                <a:gd name="T113" fmla="*/ 981881348 h 622"/>
                <a:gd name="T114" fmla="*/ 2009776191 w 984"/>
                <a:gd name="T115" fmla="*/ 927832792 h 622"/>
                <a:gd name="T116" fmla="*/ 2027680816 w 984"/>
                <a:gd name="T117" fmla="*/ 837751866 h 622"/>
                <a:gd name="T118" fmla="*/ 2094823159 w 984"/>
                <a:gd name="T119" fmla="*/ 837751866 h 622"/>
                <a:gd name="T120" fmla="*/ 2112727784 w 984"/>
                <a:gd name="T121" fmla="*/ 801719495 h 622"/>
                <a:gd name="T122" fmla="*/ 2147483647 w 984"/>
                <a:gd name="T123" fmla="*/ 747670939 h 6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84"/>
                <a:gd name="T187" fmla="*/ 0 h 622"/>
                <a:gd name="T188" fmla="*/ 984 w 984"/>
                <a:gd name="T189" fmla="*/ 622 h 6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84" h="622">
                  <a:moveTo>
                    <a:pt x="440" y="586"/>
                  </a:moveTo>
                  <a:lnTo>
                    <a:pt x="440" y="582"/>
                  </a:lnTo>
                  <a:lnTo>
                    <a:pt x="436" y="582"/>
                  </a:lnTo>
                  <a:lnTo>
                    <a:pt x="440" y="586"/>
                  </a:lnTo>
                  <a:close/>
                  <a:moveTo>
                    <a:pt x="650" y="590"/>
                  </a:moveTo>
                  <a:lnTo>
                    <a:pt x="646" y="586"/>
                  </a:lnTo>
                  <a:lnTo>
                    <a:pt x="646" y="590"/>
                  </a:lnTo>
                  <a:lnTo>
                    <a:pt x="650" y="590"/>
                  </a:lnTo>
                  <a:close/>
                  <a:moveTo>
                    <a:pt x="842" y="254"/>
                  </a:moveTo>
                  <a:lnTo>
                    <a:pt x="842" y="250"/>
                  </a:lnTo>
                  <a:lnTo>
                    <a:pt x="838" y="250"/>
                  </a:lnTo>
                  <a:lnTo>
                    <a:pt x="834" y="254"/>
                  </a:lnTo>
                  <a:lnTo>
                    <a:pt x="838" y="254"/>
                  </a:lnTo>
                  <a:lnTo>
                    <a:pt x="842" y="254"/>
                  </a:lnTo>
                  <a:close/>
                  <a:moveTo>
                    <a:pt x="790" y="380"/>
                  </a:moveTo>
                  <a:lnTo>
                    <a:pt x="794" y="380"/>
                  </a:lnTo>
                  <a:lnTo>
                    <a:pt x="790" y="376"/>
                  </a:lnTo>
                  <a:lnTo>
                    <a:pt x="790" y="380"/>
                  </a:lnTo>
                  <a:close/>
                  <a:moveTo>
                    <a:pt x="894" y="254"/>
                  </a:moveTo>
                  <a:lnTo>
                    <a:pt x="890" y="254"/>
                  </a:lnTo>
                  <a:lnTo>
                    <a:pt x="894" y="258"/>
                  </a:lnTo>
                  <a:lnTo>
                    <a:pt x="894" y="254"/>
                  </a:lnTo>
                  <a:close/>
                  <a:moveTo>
                    <a:pt x="980" y="320"/>
                  </a:moveTo>
                  <a:lnTo>
                    <a:pt x="976" y="320"/>
                  </a:lnTo>
                  <a:lnTo>
                    <a:pt x="972" y="320"/>
                  </a:lnTo>
                  <a:lnTo>
                    <a:pt x="968" y="320"/>
                  </a:lnTo>
                  <a:lnTo>
                    <a:pt x="968" y="318"/>
                  </a:lnTo>
                  <a:lnTo>
                    <a:pt x="968" y="312"/>
                  </a:lnTo>
                  <a:lnTo>
                    <a:pt x="964" y="312"/>
                  </a:lnTo>
                  <a:lnTo>
                    <a:pt x="964" y="310"/>
                  </a:lnTo>
                  <a:lnTo>
                    <a:pt x="960" y="310"/>
                  </a:lnTo>
                  <a:lnTo>
                    <a:pt x="956" y="306"/>
                  </a:lnTo>
                  <a:lnTo>
                    <a:pt x="952" y="306"/>
                  </a:lnTo>
                  <a:lnTo>
                    <a:pt x="952" y="302"/>
                  </a:lnTo>
                  <a:lnTo>
                    <a:pt x="948" y="298"/>
                  </a:lnTo>
                  <a:lnTo>
                    <a:pt x="944" y="294"/>
                  </a:lnTo>
                  <a:lnTo>
                    <a:pt x="940" y="294"/>
                  </a:lnTo>
                  <a:lnTo>
                    <a:pt x="940" y="290"/>
                  </a:lnTo>
                  <a:lnTo>
                    <a:pt x="936" y="290"/>
                  </a:lnTo>
                  <a:lnTo>
                    <a:pt x="936" y="286"/>
                  </a:lnTo>
                  <a:lnTo>
                    <a:pt x="934" y="286"/>
                  </a:lnTo>
                  <a:lnTo>
                    <a:pt x="934" y="282"/>
                  </a:lnTo>
                  <a:lnTo>
                    <a:pt x="934" y="278"/>
                  </a:lnTo>
                  <a:lnTo>
                    <a:pt x="934" y="274"/>
                  </a:lnTo>
                  <a:lnTo>
                    <a:pt x="928" y="274"/>
                  </a:lnTo>
                  <a:lnTo>
                    <a:pt x="926" y="274"/>
                  </a:lnTo>
                  <a:lnTo>
                    <a:pt x="926" y="270"/>
                  </a:lnTo>
                  <a:lnTo>
                    <a:pt x="922" y="266"/>
                  </a:lnTo>
                  <a:lnTo>
                    <a:pt x="926" y="266"/>
                  </a:lnTo>
                  <a:lnTo>
                    <a:pt x="926" y="262"/>
                  </a:lnTo>
                  <a:lnTo>
                    <a:pt x="922" y="262"/>
                  </a:lnTo>
                  <a:lnTo>
                    <a:pt x="918" y="262"/>
                  </a:lnTo>
                  <a:lnTo>
                    <a:pt x="918" y="258"/>
                  </a:lnTo>
                  <a:lnTo>
                    <a:pt x="914" y="258"/>
                  </a:lnTo>
                  <a:lnTo>
                    <a:pt x="914" y="262"/>
                  </a:lnTo>
                  <a:lnTo>
                    <a:pt x="910" y="262"/>
                  </a:lnTo>
                  <a:lnTo>
                    <a:pt x="906" y="258"/>
                  </a:lnTo>
                  <a:lnTo>
                    <a:pt x="906" y="262"/>
                  </a:lnTo>
                  <a:lnTo>
                    <a:pt x="902" y="258"/>
                  </a:lnTo>
                  <a:lnTo>
                    <a:pt x="898" y="258"/>
                  </a:lnTo>
                  <a:lnTo>
                    <a:pt x="894" y="258"/>
                  </a:lnTo>
                  <a:lnTo>
                    <a:pt x="890" y="258"/>
                  </a:lnTo>
                  <a:lnTo>
                    <a:pt x="890" y="254"/>
                  </a:lnTo>
                  <a:lnTo>
                    <a:pt x="886" y="254"/>
                  </a:lnTo>
                  <a:lnTo>
                    <a:pt x="882" y="254"/>
                  </a:lnTo>
                  <a:lnTo>
                    <a:pt x="878" y="254"/>
                  </a:lnTo>
                  <a:lnTo>
                    <a:pt x="870" y="250"/>
                  </a:lnTo>
                  <a:lnTo>
                    <a:pt x="866" y="250"/>
                  </a:lnTo>
                  <a:lnTo>
                    <a:pt x="862" y="250"/>
                  </a:lnTo>
                  <a:lnTo>
                    <a:pt x="858" y="250"/>
                  </a:lnTo>
                  <a:lnTo>
                    <a:pt x="854" y="250"/>
                  </a:lnTo>
                  <a:lnTo>
                    <a:pt x="850" y="250"/>
                  </a:lnTo>
                  <a:lnTo>
                    <a:pt x="846" y="250"/>
                  </a:lnTo>
                  <a:lnTo>
                    <a:pt x="846" y="254"/>
                  </a:lnTo>
                  <a:lnTo>
                    <a:pt x="846" y="258"/>
                  </a:lnTo>
                  <a:lnTo>
                    <a:pt x="850" y="258"/>
                  </a:lnTo>
                  <a:lnTo>
                    <a:pt x="850" y="262"/>
                  </a:lnTo>
                  <a:lnTo>
                    <a:pt x="854" y="262"/>
                  </a:lnTo>
                  <a:lnTo>
                    <a:pt x="854" y="266"/>
                  </a:lnTo>
                  <a:lnTo>
                    <a:pt x="854" y="270"/>
                  </a:lnTo>
                  <a:lnTo>
                    <a:pt x="854" y="274"/>
                  </a:lnTo>
                  <a:lnTo>
                    <a:pt x="854" y="278"/>
                  </a:lnTo>
                  <a:lnTo>
                    <a:pt x="854" y="282"/>
                  </a:lnTo>
                  <a:lnTo>
                    <a:pt x="854" y="286"/>
                  </a:lnTo>
                  <a:lnTo>
                    <a:pt x="850" y="286"/>
                  </a:lnTo>
                  <a:lnTo>
                    <a:pt x="846" y="290"/>
                  </a:lnTo>
                  <a:lnTo>
                    <a:pt x="846" y="294"/>
                  </a:lnTo>
                  <a:lnTo>
                    <a:pt x="850" y="294"/>
                  </a:lnTo>
                  <a:lnTo>
                    <a:pt x="854" y="294"/>
                  </a:lnTo>
                  <a:lnTo>
                    <a:pt x="858" y="294"/>
                  </a:lnTo>
                  <a:lnTo>
                    <a:pt x="858" y="298"/>
                  </a:lnTo>
                  <a:lnTo>
                    <a:pt x="862" y="298"/>
                  </a:lnTo>
                  <a:lnTo>
                    <a:pt x="862" y="302"/>
                  </a:lnTo>
                  <a:lnTo>
                    <a:pt x="862" y="306"/>
                  </a:lnTo>
                  <a:lnTo>
                    <a:pt x="862" y="310"/>
                  </a:lnTo>
                  <a:lnTo>
                    <a:pt x="858" y="310"/>
                  </a:lnTo>
                  <a:lnTo>
                    <a:pt x="858" y="312"/>
                  </a:lnTo>
                  <a:lnTo>
                    <a:pt x="854" y="312"/>
                  </a:lnTo>
                  <a:lnTo>
                    <a:pt x="854" y="310"/>
                  </a:lnTo>
                  <a:lnTo>
                    <a:pt x="854" y="306"/>
                  </a:lnTo>
                  <a:lnTo>
                    <a:pt x="854" y="302"/>
                  </a:lnTo>
                  <a:lnTo>
                    <a:pt x="854" y="298"/>
                  </a:lnTo>
                  <a:lnTo>
                    <a:pt x="850" y="298"/>
                  </a:lnTo>
                  <a:lnTo>
                    <a:pt x="846" y="298"/>
                  </a:lnTo>
                  <a:lnTo>
                    <a:pt x="846" y="302"/>
                  </a:lnTo>
                  <a:lnTo>
                    <a:pt x="846" y="306"/>
                  </a:lnTo>
                  <a:lnTo>
                    <a:pt x="842" y="306"/>
                  </a:lnTo>
                  <a:lnTo>
                    <a:pt x="838" y="306"/>
                  </a:lnTo>
                  <a:lnTo>
                    <a:pt x="838" y="302"/>
                  </a:lnTo>
                  <a:lnTo>
                    <a:pt x="838" y="298"/>
                  </a:lnTo>
                  <a:lnTo>
                    <a:pt x="838" y="294"/>
                  </a:lnTo>
                  <a:lnTo>
                    <a:pt x="834" y="294"/>
                  </a:lnTo>
                  <a:lnTo>
                    <a:pt x="834" y="290"/>
                  </a:lnTo>
                  <a:lnTo>
                    <a:pt x="830" y="290"/>
                  </a:lnTo>
                  <a:lnTo>
                    <a:pt x="826" y="290"/>
                  </a:lnTo>
                  <a:lnTo>
                    <a:pt x="826" y="286"/>
                  </a:lnTo>
                  <a:lnTo>
                    <a:pt x="822" y="286"/>
                  </a:lnTo>
                  <a:lnTo>
                    <a:pt x="822" y="282"/>
                  </a:lnTo>
                  <a:lnTo>
                    <a:pt x="826" y="282"/>
                  </a:lnTo>
                  <a:lnTo>
                    <a:pt x="826" y="278"/>
                  </a:lnTo>
                  <a:lnTo>
                    <a:pt x="830" y="278"/>
                  </a:lnTo>
                  <a:lnTo>
                    <a:pt x="830" y="274"/>
                  </a:lnTo>
                  <a:lnTo>
                    <a:pt x="830" y="270"/>
                  </a:lnTo>
                  <a:lnTo>
                    <a:pt x="830" y="266"/>
                  </a:lnTo>
                  <a:lnTo>
                    <a:pt x="830" y="262"/>
                  </a:lnTo>
                  <a:lnTo>
                    <a:pt x="826" y="262"/>
                  </a:lnTo>
                  <a:lnTo>
                    <a:pt x="826" y="258"/>
                  </a:lnTo>
                  <a:lnTo>
                    <a:pt x="826" y="254"/>
                  </a:lnTo>
                  <a:lnTo>
                    <a:pt x="826" y="250"/>
                  </a:lnTo>
                  <a:lnTo>
                    <a:pt x="826" y="246"/>
                  </a:lnTo>
                  <a:lnTo>
                    <a:pt x="826" y="242"/>
                  </a:lnTo>
                  <a:lnTo>
                    <a:pt x="826" y="238"/>
                  </a:lnTo>
                  <a:lnTo>
                    <a:pt x="826" y="234"/>
                  </a:lnTo>
                  <a:lnTo>
                    <a:pt x="830" y="234"/>
                  </a:lnTo>
                  <a:lnTo>
                    <a:pt x="830" y="230"/>
                  </a:lnTo>
                  <a:lnTo>
                    <a:pt x="826" y="226"/>
                  </a:lnTo>
                  <a:lnTo>
                    <a:pt x="822" y="222"/>
                  </a:lnTo>
                  <a:lnTo>
                    <a:pt x="818" y="222"/>
                  </a:lnTo>
                  <a:lnTo>
                    <a:pt x="818" y="218"/>
                  </a:lnTo>
                  <a:lnTo>
                    <a:pt x="814" y="214"/>
                  </a:lnTo>
                  <a:lnTo>
                    <a:pt x="814" y="210"/>
                  </a:lnTo>
                  <a:lnTo>
                    <a:pt x="814" y="206"/>
                  </a:lnTo>
                  <a:lnTo>
                    <a:pt x="810" y="202"/>
                  </a:lnTo>
                  <a:lnTo>
                    <a:pt x="806" y="202"/>
                  </a:lnTo>
                  <a:lnTo>
                    <a:pt x="806" y="198"/>
                  </a:lnTo>
                  <a:lnTo>
                    <a:pt x="802" y="198"/>
                  </a:lnTo>
                  <a:lnTo>
                    <a:pt x="798" y="194"/>
                  </a:lnTo>
                  <a:lnTo>
                    <a:pt x="798" y="190"/>
                  </a:lnTo>
                  <a:lnTo>
                    <a:pt x="794" y="190"/>
                  </a:lnTo>
                  <a:lnTo>
                    <a:pt x="790" y="190"/>
                  </a:lnTo>
                  <a:lnTo>
                    <a:pt x="790" y="186"/>
                  </a:lnTo>
                  <a:lnTo>
                    <a:pt x="786" y="186"/>
                  </a:lnTo>
                  <a:lnTo>
                    <a:pt x="782" y="182"/>
                  </a:lnTo>
                  <a:lnTo>
                    <a:pt x="778" y="178"/>
                  </a:lnTo>
                  <a:lnTo>
                    <a:pt x="774" y="178"/>
                  </a:lnTo>
                  <a:lnTo>
                    <a:pt x="774" y="174"/>
                  </a:lnTo>
                  <a:lnTo>
                    <a:pt x="770" y="174"/>
                  </a:lnTo>
                  <a:lnTo>
                    <a:pt x="768" y="170"/>
                  </a:lnTo>
                  <a:lnTo>
                    <a:pt x="762" y="170"/>
                  </a:lnTo>
                  <a:lnTo>
                    <a:pt x="760" y="166"/>
                  </a:lnTo>
                  <a:lnTo>
                    <a:pt x="756" y="162"/>
                  </a:lnTo>
                  <a:lnTo>
                    <a:pt x="756" y="158"/>
                  </a:lnTo>
                  <a:lnTo>
                    <a:pt x="752" y="158"/>
                  </a:lnTo>
                  <a:lnTo>
                    <a:pt x="748" y="158"/>
                  </a:lnTo>
                  <a:lnTo>
                    <a:pt x="748" y="154"/>
                  </a:lnTo>
                  <a:lnTo>
                    <a:pt x="744" y="154"/>
                  </a:lnTo>
                  <a:lnTo>
                    <a:pt x="740" y="150"/>
                  </a:lnTo>
                  <a:lnTo>
                    <a:pt x="736" y="146"/>
                  </a:lnTo>
                  <a:lnTo>
                    <a:pt x="732" y="142"/>
                  </a:lnTo>
                  <a:lnTo>
                    <a:pt x="728" y="140"/>
                  </a:lnTo>
                  <a:lnTo>
                    <a:pt x="724" y="134"/>
                  </a:lnTo>
                  <a:lnTo>
                    <a:pt x="720" y="134"/>
                  </a:lnTo>
                  <a:lnTo>
                    <a:pt x="720" y="132"/>
                  </a:lnTo>
                  <a:lnTo>
                    <a:pt x="716" y="132"/>
                  </a:lnTo>
                  <a:lnTo>
                    <a:pt x="712" y="124"/>
                  </a:lnTo>
                  <a:lnTo>
                    <a:pt x="708" y="120"/>
                  </a:lnTo>
                  <a:lnTo>
                    <a:pt x="708" y="116"/>
                  </a:lnTo>
                  <a:lnTo>
                    <a:pt x="704" y="116"/>
                  </a:lnTo>
                  <a:lnTo>
                    <a:pt x="700" y="116"/>
                  </a:lnTo>
                  <a:lnTo>
                    <a:pt x="700" y="112"/>
                  </a:lnTo>
                  <a:lnTo>
                    <a:pt x="696" y="112"/>
                  </a:lnTo>
                  <a:lnTo>
                    <a:pt x="692" y="108"/>
                  </a:lnTo>
                  <a:lnTo>
                    <a:pt x="688" y="108"/>
                  </a:lnTo>
                  <a:lnTo>
                    <a:pt x="688" y="104"/>
                  </a:lnTo>
                  <a:lnTo>
                    <a:pt x="684" y="104"/>
                  </a:lnTo>
                  <a:lnTo>
                    <a:pt x="680" y="104"/>
                  </a:lnTo>
                  <a:lnTo>
                    <a:pt x="676" y="100"/>
                  </a:lnTo>
                  <a:lnTo>
                    <a:pt x="672" y="100"/>
                  </a:lnTo>
                  <a:lnTo>
                    <a:pt x="672" y="96"/>
                  </a:lnTo>
                  <a:lnTo>
                    <a:pt x="668" y="96"/>
                  </a:lnTo>
                  <a:lnTo>
                    <a:pt x="668" y="92"/>
                  </a:lnTo>
                  <a:lnTo>
                    <a:pt x="664" y="92"/>
                  </a:lnTo>
                  <a:lnTo>
                    <a:pt x="664" y="88"/>
                  </a:lnTo>
                  <a:lnTo>
                    <a:pt x="662" y="84"/>
                  </a:lnTo>
                  <a:lnTo>
                    <a:pt x="658" y="80"/>
                  </a:lnTo>
                  <a:lnTo>
                    <a:pt x="658" y="76"/>
                  </a:lnTo>
                  <a:lnTo>
                    <a:pt x="654" y="76"/>
                  </a:lnTo>
                  <a:lnTo>
                    <a:pt x="650" y="72"/>
                  </a:lnTo>
                  <a:lnTo>
                    <a:pt x="646" y="68"/>
                  </a:lnTo>
                  <a:lnTo>
                    <a:pt x="642" y="68"/>
                  </a:lnTo>
                  <a:lnTo>
                    <a:pt x="638" y="64"/>
                  </a:lnTo>
                  <a:lnTo>
                    <a:pt x="634" y="64"/>
                  </a:lnTo>
                  <a:lnTo>
                    <a:pt x="634" y="60"/>
                  </a:lnTo>
                  <a:lnTo>
                    <a:pt x="630" y="60"/>
                  </a:lnTo>
                  <a:lnTo>
                    <a:pt x="626" y="60"/>
                  </a:lnTo>
                  <a:lnTo>
                    <a:pt x="622" y="60"/>
                  </a:lnTo>
                  <a:lnTo>
                    <a:pt x="622" y="56"/>
                  </a:lnTo>
                  <a:lnTo>
                    <a:pt x="618" y="60"/>
                  </a:lnTo>
                  <a:lnTo>
                    <a:pt x="614" y="56"/>
                  </a:lnTo>
                  <a:lnTo>
                    <a:pt x="610" y="56"/>
                  </a:lnTo>
                  <a:lnTo>
                    <a:pt x="606" y="52"/>
                  </a:lnTo>
                  <a:lnTo>
                    <a:pt x="602" y="48"/>
                  </a:lnTo>
                  <a:lnTo>
                    <a:pt x="598" y="48"/>
                  </a:lnTo>
                  <a:lnTo>
                    <a:pt x="594" y="44"/>
                  </a:lnTo>
                  <a:lnTo>
                    <a:pt x="590" y="44"/>
                  </a:lnTo>
                  <a:lnTo>
                    <a:pt x="586" y="44"/>
                  </a:lnTo>
                  <a:lnTo>
                    <a:pt x="582" y="44"/>
                  </a:lnTo>
                  <a:lnTo>
                    <a:pt x="578" y="40"/>
                  </a:lnTo>
                  <a:lnTo>
                    <a:pt x="574" y="36"/>
                  </a:lnTo>
                  <a:lnTo>
                    <a:pt x="570" y="36"/>
                  </a:lnTo>
                  <a:lnTo>
                    <a:pt x="566" y="32"/>
                  </a:lnTo>
                  <a:lnTo>
                    <a:pt x="562" y="32"/>
                  </a:lnTo>
                  <a:lnTo>
                    <a:pt x="562" y="28"/>
                  </a:lnTo>
                  <a:lnTo>
                    <a:pt x="558" y="24"/>
                  </a:lnTo>
                  <a:lnTo>
                    <a:pt x="558" y="20"/>
                  </a:lnTo>
                  <a:lnTo>
                    <a:pt x="554" y="20"/>
                  </a:lnTo>
                  <a:lnTo>
                    <a:pt x="550" y="20"/>
                  </a:lnTo>
                  <a:lnTo>
                    <a:pt x="546" y="20"/>
                  </a:lnTo>
                  <a:lnTo>
                    <a:pt x="542" y="20"/>
                  </a:lnTo>
                  <a:lnTo>
                    <a:pt x="538" y="20"/>
                  </a:lnTo>
                  <a:lnTo>
                    <a:pt x="534" y="20"/>
                  </a:lnTo>
                  <a:lnTo>
                    <a:pt x="530" y="24"/>
                  </a:lnTo>
                  <a:lnTo>
                    <a:pt x="526" y="24"/>
                  </a:lnTo>
                  <a:lnTo>
                    <a:pt x="522" y="24"/>
                  </a:lnTo>
                  <a:lnTo>
                    <a:pt x="518" y="24"/>
                  </a:lnTo>
                  <a:lnTo>
                    <a:pt x="514" y="24"/>
                  </a:lnTo>
                  <a:lnTo>
                    <a:pt x="510" y="24"/>
                  </a:lnTo>
                  <a:lnTo>
                    <a:pt x="506" y="24"/>
                  </a:lnTo>
                  <a:lnTo>
                    <a:pt x="502" y="20"/>
                  </a:lnTo>
                  <a:lnTo>
                    <a:pt x="502" y="24"/>
                  </a:lnTo>
                  <a:lnTo>
                    <a:pt x="498" y="24"/>
                  </a:lnTo>
                  <a:lnTo>
                    <a:pt x="498" y="20"/>
                  </a:lnTo>
                  <a:lnTo>
                    <a:pt x="496" y="20"/>
                  </a:lnTo>
                  <a:lnTo>
                    <a:pt x="490" y="20"/>
                  </a:lnTo>
                  <a:lnTo>
                    <a:pt x="490" y="24"/>
                  </a:lnTo>
                  <a:lnTo>
                    <a:pt x="488" y="24"/>
                  </a:lnTo>
                  <a:lnTo>
                    <a:pt x="488" y="28"/>
                  </a:lnTo>
                  <a:lnTo>
                    <a:pt x="484" y="28"/>
                  </a:lnTo>
                  <a:lnTo>
                    <a:pt x="484" y="24"/>
                  </a:lnTo>
                  <a:lnTo>
                    <a:pt x="484" y="20"/>
                  </a:lnTo>
                  <a:lnTo>
                    <a:pt x="480" y="20"/>
                  </a:lnTo>
                  <a:lnTo>
                    <a:pt x="480" y="16"/>
                  </a:lnTo>
                  <a:lnTo>
                    <a:pt x="476" y="16"/>
                  </a:lnTo>
                  <a:lnTo>
                    <a:pt x="472" y="16"/>
                  </a:lnTo>
                  <a:lnTo>
                    <a:pt x="468" y="20"/>
                  </a:lnTo>
                  <a:lnTo>
                    <a:pt x="468" y="24"/>
                  </a:lnTo>
                  <a:lnTo>
                    <a:pt x="464" y="24"/>
                  </a:lnTo>
                  <a:lnTo>
                    <a:pt x="460" y="20"/>
                  </a:lnTo>
                  <a:lnTo>
                    <a:pt x="456" y="20"/>
                  </a:lnTo>
                  <a:lnTo>
                    <a:pt x="456" y="16"/>
                  </a:lnTo>
                  <a:lnTo>
                    <a:pt x="456" y="12"/>
                  </a:lnTo>
                  <a:lnTo>
                    <a:pt x="452" y="12"/>
                  </a:lnTo>
                  <a:lnTo>
                    <a:pt x="452" y="16"/>
                  </a:lnTo>
                  <a:lnTo>
                    <a:pt x="448" y="16"/>
                  </a:lnTo>
                  <a:lnTo>
                    <a:pt x="444" y="16"/>
                  </a:lnTo>
                  <a:lnTo>
                    <a:pt x="440" y="12"/>
                  </a:lnTo>
                  <a:lnTo>
                    <a:pt x="436" y="12"/>
                  </a:lnTo>
                  <a:lnTo>
                    <a:pt x="432" y="12"/>
                  </a:lnTo>
                  <a:lnTo>
                    <a:pt x="428" y="12"/>
                  </a:lnTo>
                  <a:lnTo>
                    <a:pt x="424" y="8"/>
                  </a:lnTo>
                  <a:lnTo>
                    <a:pt x="420" y="8"/>
                  </a:lnTo>
                  <a:lnTo>
                    <a:pt x="416" y="4"/>
                  </a:lnTo>
                  <a:lnTo>
                    <a:pt x="412" y="4"/>
                  </a:lnTo>
                  <a:lnTo>
                    <a:pt x="408" y="4"/>
                  </a:lnTo>
                  <a:lnTo>
                    <a:pt x="404" y="4"/>
                  </a:lnTo>
                  <a:lnTo>
                    <a:pt x="404" y="0"/>
                  </a:lnTo>
                  <a:lnTo>
                    <a:pt x="400" y="0"/>
                  </a:lnTo>
                  <a:lnTo>
                    <a:pt x="396" y="4"/>
                  </a:lnTo>
                  <a:lnTo>
                    <a:pt x="396" y="0"/>
                  </a:lnTo>
                  <a:lnTo>
                    <a:pt x="392" y="0"/>
                  </a:lnTo>
                  <a:lnTo>
                    <a:pt x="388" y="0"/>
                  </a:lnTo>
                  <a:lnTo>
                    <a:pt x="388" y="4"/>
                  </a:lnTo>
                  <a:lnTo>
                    <a:pt x="388" y="8"/>
                  </a:lnTo>
                  <a:lnTo>
                    <a:pt x="388" y="12"/>
                  </a:lnTo>
                  <a:lnTo>
                    <a:pt x="388" y="20"/>
                  </a:lnTo>
                  <a:lnTo>
                    <a:pt x="388" y="24"/>
                  </a:lnTo>
                  <a:lnTo>
                    <a:pt x="388" y="28"/>
                  </a:lnTo>
                  <a:lnTo>
                    <a:pt x="388" y="32"/>
                  </a:lnTo>
                  <a:lnTo>
                    <a:pt x="388" y="36"/>
                  </a:lnTo>
                  <a:lnTo>
                    <a:pt x="384" y="36"/>
                  </a:lnTo>
                  <a:lnTo>
                    <a:pt x="380" y="36"/>
                  </a:lnTo>
                  <a:lnTo>
                    <a:pt x="380" y="40"/>
                  </a:lnTo>
                  <a:lnTo>
                    <a:pt x="376" y="40"/>
                  </a:lnTo>
                  <a:lnTo>
                    <a:pt x="376" y="44"/>
                  </a:lnTo>
                  <a:lnTo>
                    <a:pt x="376" y="48"/>
                  </a:lnTo>
                  <a:lnTo>
                    <a:pt x="380" y="48"/>
                  </a:lnTo>
                  <a:lnTo>
                    <a:pt x="384" y="48"/>
                  </a:lnTo>
                  <a:lnTo>
                    <a:pt x="384" y="44"/>
                  </a:lnTo>
                  <a:lnTo>
                    <a:pt x="388" y="44"/>
                  </a:lnTo>
                  <a:lnTo>
                    <a:pt x="388" y="48"/>
                  </a:lnTo>
                  <a:lnTo>
                    <a:pt x="392" y="48"/>
                  </a:lnTo>
                  <a:lnTo>
                    <a:pt x="392" y="52"/>
                  </a:lnTo>
                  <a:lnTo>
                    <a:pt x="392" y="56"/>
                  </a:lnTo>
                  <a:lnTo>
                    <a:pt x="396" y="56"/>
                  </a:lnTo>
                  <a:lnTo>
                    <a:pt x="396" y="60"/>
                  </a:lnTo>
                  <a:lnTo>
                    <a:pt x="396" y="64"/>
                  </a:lnTo>
                  <a:lnTo>
                    <a:pt x="396" y="68"/>
                  </a:lnTo>
                  <a:lnTo>
                    <a:pt x="400" y="72"/>
                  </a:lnTo>
                  <a:lnTo>
                    <a:pt x="400" y="76"/>
                  </a:lnTo>
                  <a:lnTo>
                    <a:pt x="400" y="80"/>
                  </a:lnTo>
                  <a:lnTo>
                    <a:pt x="396" y="80"/>
                  </a:lnTo>
                  <a:lnTo>
                    <a:pt x="396" y="84"/>
                  </a:lnTo>
                  <a:lnTo>
                    <a:pt x="400" y="84"/>
                  </a:lnTo>
                  <a:lnTo>
                    <a:pt x="404" y="88"/>
                  </a:lnTo>
                  <a:lnTo>
                    <a:pt x="404" y="92"/>
                  </a:lnTo>
                  <a:lnTo>
                    <a:pt x="400" y="92"/>
                  </a:lnTo>
                  <a:lnTo>
                    <a:pt x="400" y="96"/>
                  </a:lnTo>
                  <a:lnTo>
                    <a:pt x="400" y="100"/>
                  </a:lnTo>
                  <a:lnTo>
                    <a:pt x="396" y="100"/>
                  </a:lnTo>
                  <a:lnTo>
                    <a:pt x="392" y="104"/>
                  </a:lnTo>
                  <a:lnTo>
                    <a:pt x="388" y="104"/>
                  </a:lnTo>
                  <a:lnTo>
                    <a:pt x="388" y="108"/>
                  </a:lnTo>
                  <a:lnTo>
                    <a:pt x="384" y="108"/>
                  </a:lnTo>
                  <a:lnTo>
                    <a:pt x="384" y="112"/>
                  </a:lnTo>
                  <a:lnTo>
                    <a:pt x="380" y="112"/>
                  </a:lnTo>
                  <a:lnTo>
                    <a:pt x="376" y="116"/>
                  </a:lnTo>
                  <a:lnTo>
                    <a:pt x="372" y="116"/>
                  </a:lnTo>
                  <a:lnTo>
                    <a:pt x="368" y="116"/>
                  </a:lnTo>
                  <a:lnTo>
                    <a:pt x="364" y="116"/>
                  </a:lnTo>
                  <a:lnTo>
                    <a:pt x="360" y="116"/>
                  </a:lnTo>
                  <a:lnTo>
                    <a:pt x="356" y="116"/>
                  </a:lnTo>
                  <a:lnTo>
                    <a:pt x="356" y="112"/>
                  </a:lnTo>
                  <a:lnTo>
                    <a:pt x="352" y="108"/>
                  </a:lnTo>
                  <a:lnTo>
                    <a:pt x="352" y="104"/>
                  </a:lnTo>
                  <a:lnTo>
                    <a:pt x="356" y="104"/>
                  </a:lnTo>
                  <a:lnTo>
                    <a:pt x="356" y="100"/>
                  </a:lnTo>
                  <a:lnTo>
                    <a:pt x="352" y="100"/>
                  </a:lnTo>
                  <a:lnTo>
                    <a:pt x="352" y="96"/>
                  </a:lnTo>
                  <a:lnTo>
                    <a:pt x="352" y="92"/>
                  </a:lnTo>
                  <a:lnTo>
                    <a:pt x="352" y="88"/>
                  </a:lnTo>
                  <a:lnTo>
                    <a:pt x="348" y="88"/>
                  </a:lnTo>
                  <a:lnTo>
                    <a:pt x="344" y="88"/>
                  </a:lnTo>
                  <a:lnTo>
                    <a:pt x="340" y="88"/>
                  </a:lnTo>
                  <a:lnTo>
                    <a:pt x="340" y="84"/>
                  </a:lnTo>
                  <a:lnTo>
                    <a:pt x="336" y="84"/>
                  </a:lnTo>
                  <a:lnTo>
                    <a:pt x="336" y="80"/>
                  </a:lnTo>
                  <a:lnTo>
                    <a:pt x="332" y="80"/>
                  </a:lnTo>
                  <a:lnTo>
                    <a:pt x="330" y="80"/>
                  </a:lnTo>
                  <a:lnTo>
                    <a:pt x="324" y="80"/>
                  </a:lnTo>
                  <a:lnTo>
                    <a:pt x="322" y="80"/>
                  </a:lnTo>
                  <a:lnTo>
                    <a:pt x="322" y="76"/>
                  </a:lnTo>
                  <a:lnTo>
                    <a:pt x="318" y="76"/>
                  </a:lnTo>
                  <a:lnTo>
                    <a:pt x="318" y="72"/>
                  </a:lnTo>
                  <a:lnTo>
                    <a:pt x="318" y="68"/>
                  </a:lnTo>
                  <a:lnTo>
                    <a:pt x="318" y="64"/>
                  </a:lnTo>
                  <a:lnTo>
                    <a:pt x="318" y="60"/>
                  </a:lnTo>
                  <a:lnTo>
                    <a:pt x="318" y="56"/>
                  </a:lnTo>
                  <a:lnTo>
                    <a:pt x="318" y="52"/>
                  </a:lnTo>
                  <a:lnTo>
                    <a:pt x="322" y="52"/>
                  </a:lnTo>
                  <a:lnTo>
                    <a:pt x="318" y="48"/>
                  </a:lnTo>
                  <a:lnTo>
                    <a:pt x="314" y="48"/>
                  </a:lnTo>
                  <a:lnTo>
                    <a:pt x="314" y="44"/>
                  </a:lnTo>
                  <a:lnTo>
                    <a:pt x="310" y="44"/>
                  </a:lnTo>
                  <a:lnTo>
                    <a:pt x="310" y="40"/>
                  </a:lnTo>
                  <a:lnTo>
                    <a:pt x="314" y="36"/>
                  </a:lnTo>
                  <a:lnTo>
                    <a:pt x="310" y="36"/>
                  </a:lnTo>
                  <a:lnTo>
                    <a:pt x="310" y="32"/>
                  </a:lnTo>
                  <a:lnTo>
                    <a:pt x="306" y="32"/>
                  </a:lnTo>
                  <a:lnTo>
                    <a:pt x="302" y="32"/>
                  </a:lnTo>
                  <a:lnTo>
                    <a:pt x="298" y="36"/>
                  </a:lnTo>
                  <a:lnTo>
                    <a:pt x="298" y="40"/>
                  </a:lnTo>
                  <a:lnTo>
                    <a:pt x="294" y="40"/>
                  </a:lnTo>
                  <a:lnTo>
                    <a:pt x="294" y="44"/>
                  </a:lnTo>
                  <a:lnTo>
                    <a:pt x="290" y="44"/>
                  </a:lnTo>
                  <a:lnTo>
                    <a:pt x="290" y="48"/>
                  </a:lnTo>
                  <a:lnTo>
                    <a:pt x="286" y="48"/>
                  </a:lnTo>
                  <a:lnTo>
                    <a:pt x="278" y="56"/>
                  </a:lnTo>
                  <a:lnTo>
                    <a:pt x="274" y="56"/>
                  </a:lnTo>
                  <a:lnTo>
                    <a:pt x="274" y="52"/>
                  </a:lnTo>
                  <a:lnTo>
                    <a:pt x="270" y="52"/>
                  </a:lnTo>
                  <a:lnTo>
                    <a:pt x="266" y="56"/>
                  </a:lnTo>
                  <a:lnTo>
                    <a:pt x="266" y="52"/>
                  </a:lnTo>
                  <a:lnTo>
                    <a:pt x="262" y="56"/>
                  </a:lnTo>
                  <a:lnTo>
                    <a:pt x="262" y="52"/>
                  </a:lnTo>
                  <a:lnTo>
                    <a:pt x="258" y="52"/>
                  </a:lnTo>
                  <a:lnTo>
                    <a:pt x="254" y="52"/>
                  </a:lnTo>
                  <a:lnTo>
                    <a:pt x="250" y="52"/>
                  </a:lnTo>
                  <a:lnTo>
                    <a:pt x="250" y="48"/>
                  </a:lnTo>
                  <a:lnTo>
                    <a:pt x="246" y="48"/>
                  </a:lnTo>
                  <a:lnTo>
                    <a:pt x="242" y="48"/>
                  </a:lnTo>
                  <a:lnTo>
                    <a:pt x="238" y="48"/>
                  </a:lnTo>
                  <a:lnTo>
                    <a:pt x="234" y="48"/>
                  </a:lnTo>
                  <a:lnTo>
                    <a:pt x="230" y="48"/>
                  </a:lnTo>
                  <a:lnTo>
                    <a:pt x="226" y="48"/>
                  </a:lnTo>
                  <a:lnTo>
                    <a:pt x="222" y="48"/>
                  </a:lnTo>
                  <a:lnTo>
                    <a:pt x="218" y="48"/>
                  </a:lnTo>
                  <a:lnTo>
                    <a:pt x="214" y="48"/>
                  </a:lnTo>
                  <a:lnTo>
                    <a:pt x="210" y="48"/>
                  </a:lnTo>
                  <a:lnTo>
                    <a:pt x="206" y="48"/>
                  </a:lnTo>
                  <a:lnTo>
                    <a:pt x="202" y="44"/>
                  </a:lnTo>
                  <a:lnTo>
                    <a:pt x="202" y="40"/>
                  </a:lnTo>
                  <a:lnTo>
                    <a:pt x="198" y="40"/>
                  </a:lnTo>
                  <a:lnTo>
                    <a:pt x="198" y="36"/>
                  </a:lnTo>
                  <a:lnTo>
                    <a:pt x="194" y="36"/>
                  </a:lnTo>
                  <a:lnTo>
                    <a:pt x="194" y="32"/>
                  </a:lnTo>
                  <a:lnTo>
                    <a:pt x="190" y="32"/>
                  </a:lnTo>
                  <a:lnTo>
                    <a:pt x="186" y="36"/>
                  </a:lnTo>
                  <a:lnTo>
                    <a:pt x="182" y="36"/>
                  </a:lnTo>
                  <a:lnTo>
                    <a:pt x="182" y="40"/>
                  </a:lnTo>
                  <a:lnTo>
                    <a:pt x="178" y="40"/>
                  </a:lnTo>
                  <a:lnTo>
                    <a:pt x="174" y="40"/>
                  </a:lnTo>
                  <a:lnTo>
                    <a:pt x="174" y="36"/>
                  </a:lnTo>
                  <a:lnTo>
                    <a:pt x="170" y="36"/>
                  </a:lnTo>
                  <a:lnTo>
                    <a:pt x="166" y="36"/>
                  </a:lnTo>
                  <a:lnTo>
                    <a:pt x="164" y="40"/>
                  </a:lnTo>
                  <a:lnTo>
                    <a:pt x="158" y="40"/>
                  </a:lnTo>
                  <a:lnTo>
                    <a:pt x="156" y="40"/>
                  </a:lnTo>
                  <a:lnTo>
                    <a:pt x="152" y="44"/>
                  </a:lnTo>
                  <a:lnTo>
                    <a:pt x="152" y="40"/>
                  </a:lnTo>
                  <a:lnTo>
                    <a:pt x="148" y="40"/>
                  </a:lnTo>
                  <a:lnTo>
                    <a:pt x="144" y="40"/>
                  </a:lnTo>
                  <a:lnTo>
                    <a:pt x="144" y="44"/>
                  </a:lnTo>
                  <a:lnTo>
                    <a:pt x="144" y="48"/>
                  </a:lnTo>
                  <a:lnTo>
                    <a:pt x="140" y="52"/>
                  </a:lnTo>
                  <a:lnTo>
                    <a:pt x="140" y="56"/>
                  </a:lnTo>
                  <a:lnTo>
                    <a:pt x="144" y="56"/>
                  </a:lnTo>
                  <a:lnTo>
                    <a:pt x="144" y="60"/>
                  </a:lnTo>
                  <a:lnTo>
                    <a:pt x="144" y="64"/>
                  </a:lnTo>
                  <a:lnTo>
                    <a:pt x="148" y="68"/>
                  </a:lnTo>
                  <a:lnTo>
                    <a:pt x="148" y="72"/>
                  </a:lnTo>
                  <a:lnTo>
                    <a:pt x="156" y="84"/>
                  </a:lnTo>
                  <a:lnTo>
                    <a:pt x="152" y="84"/>
                  </a:lnTo>
                  <a:lnTo>
                    <a:pt x="152" y="88"/>
                  </a:lnTo>
                  <a:lnTo>
                    <a:pt x="148" y="88"/>
                  </a:lnTo>
                  <a:lnTo>
                    <a:pt x="148" y="92"/>
                  </a:lnTo>
                  <a:lnTo>
                    <a:pt x="148" y="96"/>
                  </a:lnTo>
                  <a:lnTo>
                    <a:pt x="148" y="100"/>
                  </a:lnTo>
                  <a:lnTo>
                    <a:pt x="152" y="104"/>
                  </a:lnTo>
                  <a:lnTo>
                    <a:pt x="152" y="108"/>
                  </a:lnTo>
                  <a:lnTo>
                    <a:pt x="156" y="112"/>
                  </a:lnTo>
                  <a:lnTo>
                    <a:pt x="152" y="116"/>
                  </a:lnTo>
                  <a:lnTo>
                    <a:pt x="148" y="116"/>
                  </a:lnTo>
                  <a:lnTo>
                    <a:pt x="148" y="120"/>
                  </a:lnTo>
                  <a:lnTo>
                    <a:pt x="148" y="124"/>
                  </a:lnTo>
                  <a:lnTo>
                    <a:pt x="152" y="128"/>
                  </a:lnTo>
                  <a:lnTo>
                    <a:pt x="152" y="134"/>
                  </a:lnTo>
                  <a:lnTo>
                    <a:pt x="148" y="140"/>
                  </a:lnTo>
                  <a:lnTo>
                    <a:pt x="148" y="146"/>
                  </a:lnTo>
                  <a:lnTo>
                    <a:pt x="144" y="150"/>
                  </a:lnTo>
                  <a:lnTo>
                    <a:pt x="140" y="154"/>
                  </a:lnTo>
                  <a:lnTo>
                    <a:pt x="136" y="150"/>
                  </a:lnTo>
                  <a:lnTo>
                    <a:pt x="128" y="150"/>
                  </a:lnTo>
                  <a:lnTo>
                    <a:pt x="120" y="150"/>
                  </a:lnTo>
                  <a:lnTo>
                    <a:pt x="116" y="150"/>
                  </a:lnTo>
                  <a:lnTo>
                    <a:pt x="112" y="150"/>
                  </a:lnTo>
                  <a:lnTo>
                    <a:pt x="108" y="150"/>
                  </a:lnTo>
                  <a:lnTo>
                    <a:pt x="100" y="158"/>
                  </a:lnTo>
                  <a:lnTo>
                    <a:pt x="80" y="162"/>
                  </a:lnTo>
                  <a:lnTo>
                    <a:pt x="80" y="158"/>
                  </a:lnTo>
                  <a:lnTo>
                    <a:pt x="72" y="158"/>
                  </a:lnTo>
                  <a:lnTo>
                    <a:pt x="68" y="158"/>
                  </a:lnTo>
                  <a:lnTo>
                    <a:pt x="64" y="158"/>
                  </a:lnTo>
                  <a:lnTo>
                    <a:pt x="64" y="166"/>
                  </a:lnTo>
                  <a:lnTo>
                    <a:pt x="60" y="166"/>
                  </a:lnTo>
                  <a:lnTo>
                    <a:pt x="56" y="162"/>
                  </a:lnTo>
                  <a:lnTo>
                    <a:pt x="52" y="162"/>
                  </a:lnTo>
                  <a:lnTo>
                    <a:pt x="52" y="166"/>
                  </a:lnTo>
                  <a:lnTo>
                    <a:pt x="48" y="162"/>
                  </a:lnTo>
                  <a:lnTo>
                    <a:pt x="44" y="166"/>
                  </a:lnTo>
                  <a:lnTo>
                    <a:pt x="40" y="170"/>
                  </a:lnTo>
                  <a:lnTo>
                    <a:pt x="28" y="170"/>
                  </a:lnTo>
                  <a:lnTo>
                    <a:pt x="24" y="174"/>
                  </a:lnTo>
                  <a:lnTo>
                    <a:pt x="20" y="174"/>
                  </a:lnTo>
                  <a:lnTo>
                    <a:pt x="16" y="178"/>
                  </a:lnTo>
                  <a:lnTo>
                    <a:pt x="16" y="186"/>
                  </a:lnTo>
                  <a:lnTo>
                    <a:pt x="12" y="186"/>
                  </a:lnTo>
                  <a:lnTo>
                    <a:pt x="12" y="190"/>
                  </a:lnTo>
                  <a:lnTo>
                    <a:pt x="16" y="194"/>
                  </a:lnTo>
                  <a:lnTo>
                    <a:pt x="16" y="198"/>
                  </a:lnTo>
                  <a:lnTo>
                    <a:pt x="20" y="202"/>
                  </a:lnTo>
                  <a:lnTo>
                    <a:pt x="8" y="202"/>
                  </a:lnTo>
                  <a:lnTo>
                    <a:pt x="4" y="202"/>
                  </a:lnTo>
                  <a:lnTo>
                    <a:pt x="0" y="210"/>
                  </a:lnTo>
                  <a:lnTo>
                    <a:pt x="0" y="218"/>
                  </a:lnTo>
                  <a:lnTo>
                    <a:pt x="0" y="222"/>
                  </a:lnTo>
                  <a:lnTo>
                    <a:pt x="4" y="226"/>
                  </a:lnTo>
                  <a:lnTo>
                    <a:pt x="4" y="230"/>
                  </a:lnTo>
                  <a:lnTo>
                    <a:pt x="4" y="234"/>
                  </a:lnTo>
                  <a:lnTo>
                    <a:pt x="12" y="242"/>
                  </a:lnTo>
                  <a:lnTo>
                    <a:pt x="16" y="246"/>
                  </a:lnTo>
                  <a:lnTo>
                    <a:pt x="24" y="250"/>
                  </a:lnTo>
                  <a:lnTo>
                    <a:pt x="28" y="254"/>
                  </a:lnTo>
                  <a:lnTo>
                    <a:pt x="32" y="258"/>
                  </a:lnTo>
                  <a:lnTo>
                    <a:pt x="32" y="270"/>
                  </a:lnTo>
                  <a:lnTo>
                    <a:pt x="36" y="278"/>
                  </a:lnTo>
                  <a:lnTo>
                    <a:pt x="32" y="278"/>
                  </a:lnTo>
                  <a:lnTo>
                    <a:pt x="32" y="282"/>
                  </a:lnTo>
                  <a:lnTo>
                    <a:pt x="28" y="286"/>
                  </a:lnTo>
                  <a:lnTo>
                    <a:pt x="28" y="290"/>
                  </a:lnTo>
                  <a:lnTo>
                    <a:pt x="24" y="294"/>
                  </a:lnTo>
                  <a:lnTo>
                    <a:pt x="24" y="302"/>
                  </a:lnTo>
                  <a:lnTo>
                    <a:pt x="20" y="302"/>
                  </a:lnTo>
                  <a:lnTo>
                    <a:pt x="20" y="306"/>
                  </a:lnTo>
                  <a:lnTo>
                    <a:pt x="24" y="310"/>
                  </a:lnTo>
                  <a:lnTo>
                    <a:pt x="28" y="310"/>
                  </a:lnTo>
                  <a:lnTo>
                    <a:pt x="32" y="310"/>
                  </a:lnTo>
                  <a:lnTo>
                    <a:pt x="32" y="312"/>
                  </a:lnTo>
                  <a:lnTo>
                    <a:pt x="36" y="312"/>
                  </a:lnTo>
                  <a:lnTo>
                    <a:pt x="40" y="318"/>
                  </a:lnTo>
                  <a:lnTo>
                    <a:pt x="44" y="318"/>
                  </a:lnTo>
                  <a:lnTo>
                    <a:pt x="48" y="320"/>
                  </a:lnTo>
                  <a:lnTo>
                    <a:pt x="44" y="324"/>
                  </a:lnTo>
                  <a:lnTo>
                    <a:pt x="44" y="328"/>
                  </a:lnTo>
                  <a:lnTo>
                    <a:pt x="40" y="332"/>
                  </a:lnTo>
                  <a:lnTo>
                    <a:pt x="40" y="336"/>
                  </a:lnTo>
                  <a:lnTo>
                    <a:pt x="40" y="340"/>
                  </a:lnTo>
                  <a:lnTo>
                    <a:pt x="36" y="340"/>
                  </a:lnTo>
                  <a:lnTo>
                    <a:pt x="36" y="344"/>
                  </a:lnTo>
                  <a:lnTo>
                    <a:pt x="36" y="348"/>
                  </a:lnTo>
                  <a:lnTo>
                    <a:pt x="36" y="352"/>
                  </a:lnTo>
                  <a:lnTo>
                    <a:pt x="40" y="352"/>
                  </a:lnTo>
                  <a:lnTo>
                    <a:pt x="44" y="356"/>
                  </a:lnTo>
                  <a:lnTo>
                    <a:pt x="48" y="356"/>
                  </a:lnTo>
                  <a:lnTo>
                    <a:pt x="52" y="360"/>
                  </a:lnTo>
                  <a:lnTo>
                    <a:pt x="56" y="360"/>
                  </a:lnTo>
                  <a:lnTo>
                    <a:pt x="60" y="364"/>
                  </a:lnTo>
                  <a:lnTo>
                    <a:pt x="64" y="368"/>
                  </a:lnTo>
                  <a:lnTo>
                    <a:pt x="68" y="368"/>
                  </a:lnTo>
                  <a:lnTo>
                    <a:pt x="72" y="368"/>
                  </a:lnTo>
                  <a:lnTo>
                    <a:pt x="72" y="372"/>
                  </a:lnTo>
                  <a:lnTo>
                    <a:pt x="76" y="372"/>
                  </a:lnTo>
                  <a:lnTo>
                    <a:pt x="76" y="376"/>
                  </a:lnTo>
                  <a:lnTo>
                    <a:pt x="76" y="380"/>
                  </a:lnTo>
                  <a:lnTo>
                    <a:pt x="84" y="388"/>
                  </a:lnTo>
                  <a:lnTo>
                    <a:pt x="84" y="392"/>
                  </a:lnTo>
                  <a:lnTo>
                    <a:pt x="88" y="396"/>
                  </a:lnTo>
                  <a:lnTo>
                    <a:pt x="92" y="396"/>
                  </a:lnTo>
                  <a:lnTo>
                    <a:pt x="96" y="396"/>
                  </a:lnTo>
                  <a:lnTo>
                    <a:pt x="100" y="396"/>
                  </a:lnTo>
                  <a:lnTo>
                    <a:pt x="104" y="396"/>
                  </a:lnTo>
                  <a:lnTo>
                    <a:pt x="108" y="396"/>
                  </a:lnTo>
                  <a:lnTo>
                    <a:pt x="112" y="396"/>
                  </a:lnTo>
                  <a:lnTo>
                    <a:pt x="112" y="400"/>
                  </a:lnTo>
                  <a:lnTo>
                    <a:pt x="116" y="400"/>
                  </a:lnTo>
                  <a:lnTo>
                    <a:pt x="116" y="404"/>
                  </a:lnTo>
                  <a:lnTo>
                    <a:pt x="120" y="404"/>
                  </a:lnTo>
                  <a:lnTo>
                    <a:pt x="124" y="408"/>
                  </a:lnTo>
                  <a:lnTo>
                    <a:pt x="124" y="412"/>
                  </a:lnTo>
                  <a:lnTo>
                    <a:pt x="124" y="416"/>
                  </a:lnTo>
                  <a:lnTo>
                    <a:pt x="124" y="420"/>
                  </a:lnTo>
                  <a:lnTo>
                    <a:pt x="128" y="420"/>
                  </a:lnTo>
                  <a:lnTo>
                    <a:pt x="132" y="420"/>
                  </a:lnTo>
                  <a:lnTo>
                    <a:pt x="136" y="420"/>
                  </a:lnTo>
                  <a:lnTo>
                    <a:pt x="136" y="424"/>
                  </a:lnTo>
                  <a:lnTo>
                    <a:pt x="140" y="424"/>
                  </a:lnTo>
                  <a:lnTo>
                    <a:pt x="144" y="424"/>
                  </a:lnTo>
                  <a:lnTo>
                    <a:pt x="148" y="424"/>
                  </a:lnTo>
                  <a:lnTo>
                    <a:pt x="148" y="428"/>
                  </a:lnTo>
                  <a:lnTo>
                    <a:pt x="152" y="428"/>
                  </a:lnTo>
                  <a:lnTo>
                    <a:pt x="152" y="432"/>
                  </a:lnTo>
                  <a:lnTo>
                    <a:pt x="156" y="432"/>
                  </a:lnTo>
                  <a:lnTo>
                    <a:pt x="158" y="432"/>
                  </a:lnTo>
                  <a:lnTo>
                    <a:pt x="164" y="428"/>
                  </a:lnTo>
                  <a:lnTo>
                    <a:pt x="166" y="428"/>
                  </a:lnTo>
                  <a:lnTo>
                    <a:pt x="166" y="424"/>
                  </a:lnTo>
                  <a:lnTo>
                    <a:pt x="164" y="424"/>
                  </a:lnTo>
                  <a:lnTo>
                    <a:pt x="164" y="420"/>
                  </a:lnTo>
                  <a:lnTo>
                    <a:pt x="166" y="420"/>
                  </a:lnTo>
                  <a:lnTo>
                    <a:pt x="170" y="424"/>
                  </a:lnTo>
                  <a:lnTo>
                    <a:pt x="170" y="420"/>
                  </a:lnTo>
                  <a:lnTo>
                    <a:pt x="174" y="420"/>
                  </a:lnTo>
                  <a:lnTo>
                    <a:pt x="174" y="416"/>
                  </a:lnTo>
                  <a:lnTo>
                    <a:pt x="178" y="412"/>
                  </a:lnTo>
                  <a:lnTo>
                    <a:pt x="182" y="416"/>
                  </a:lnTo>
                  <a:lnTo>
                    <a:pt x="186" y="416"/>
                  </a:lnTo>
                  <a:lnTo>
                    <a:pt x="190" y="416"/>
                  </a:lnTo>
                  <a:lnTo>
                    <a:pt x="194" y="416"/>
                  </a:lnTo>
                  <a:lnTo>
                    <a:pt x="194" y="412"/>
                  </a:lnTo>
                  <a:lnTo>
                    <a:pt x="198" y="412"/>
                  </a:lnTo>
                  <a:lnTo>
                    <a:pt x="202" y="416"/>
                  </a:lnTo>
                  <a:lnTo>
                    <a:pt x="206" y="416"/>
                  </a:lnTo>
                  <a:lnTo>
                    <a:pt x="206" y="420"/>
                  </a:lnTo>
                  <a:lnTo>
                    <a:pt x="210" y="424"/>
                  </a:lnTo>
                  <a:lnTo>
                    <a:pt x="214" y="424"/>
                  </a:lnTo>
                  <a:lnTo>
                    <a:pt x="214" y="428"/>
                  </a:lnTo>
                  <a:lnTo>
                    <a:pt x="218" y="432"/>
                  </a:lnTo>
                  <a:lnTo>
                    <a:pt x="218" y="428"/>
                  </a:lnTo>
                  <a:lnTo>
                    <a:pt x="222" y="428"/>
                  </a:lnTo>
                  <a:lnTo>
                    <a:pt x="222" y="424"/>
                  </a:lnTo>
                  <a:lnTo>
                    <a:pt x="218" y="424"/>
                  </a:lnTo>
                  <a:lnTo>
                    <a:pt x="222" y="420"/>
                  </a:lnTo>
                  <a:lnTo>
                    <a:pt x="226" y="420"/>
                  </a:lnTo>
                  <a:lnTo>
                    <a:pt x="230" y="420"/>
                  </a:lnTo>
                  <a:lnTo>
                    <a:pt x="230" y="424"/>
                  </a:lnTo>
                  <a:lnTo>
                    <a:pt x="234" y="424"/>
                  </a:lnTo>
                  <a:lnTo>
                    <a:pt x="234" y="428"/>
                  </a:lnTo>
                  <a:lnTo>
                    <a:pt x="238" y="424"/>
                  </a:lnTo>
                  <a:lnTo>
                    <a:pt x="242" y="428"/>
                  </a:lnTo>
                  <a:lnTo>
                    <a:pt x="242" y="432"/>
                  </a:lnTo>
                  <a:lnTo>
                    <a:pt x="246" y="436"/>
                  </a:lnTo>
                  <a:lnTo>
                    <a:pt x="246" y="440"/>
                  </a:lnTo>
                  <a:lnTo>
                    <a:pt x="250" y="440"/>
                  </a:lnTo>
                  <a:lnTo>
                    <a:pt x="250" y="436"/>
                  </a:lnTo>
                  <a:lnTo>
                    <a:pt x="254" y="436"/>
                  </a:lnTo>
                  <a:lnTo>
                    <a:pt x="258" y="436"/>
                  </a:lnTo>
                  <a:lnTo>
                    <a:pt x="262" y="436"/>
                  </a:lnTo>
                  <a:lnTo>
                    <a:pt x="266" y="440"/>
                  </a:lnTo>
                  <a:lnTo>
                    <a:pt x="270" y="440"/>
                  </a:lnTo>
                  <a:lnTo>
                    <a:pt x="274" y="440"/>
                  </a:lnTo>
                  <a:lnTo>
                    <a:pt x="278" y="440"/>
                  </a:lnTo>
                  <a:lnTo>
                    <a:pt x="282" y="436"/>
                  </a:lnTo>
                  <a:lnTo>
                    <a:pt x="282" y="432"/>
                  </a:lnTo>
                  <a:lnTo>
                    <a:pt x="286" y="432"/>
                  </a:lnTo>
                  <a:lnTo>
                    <a:pt x="286" y="436"/>
                  </a:lnTo>
                  <a:lnTo>
                    <a:pt x="290" y="436"/>
                  </a:lnTo>
                  <a:lnTo>
                    <a:pt x="290" y="440"/>
                  </a:lnTo>
                  <a:lnTo>
                    <a:pt x="290" y="444"/>
                  </a:lnTo>
                  <a:lnTo>
                    <a:pt x="294" y="444"/>
                  </a:lnTo>
                  <a:lnTo>
                    <a:pt x="298" y="448"/>
                  </a:lnTo>
                  <a:lnTo>
                    <a:pt x="298" y="452"/>
                  </a:lnTo>
                  <a:lnTo>
                    <a:pt x="302" y="452"/>
                  </a:lnTo>
                  <a:lnTo>
                    <a:pt x="298" y="456"/>
                  </a:lnTo>
                  <a:lnTo>
                    <a:pt x="302" y="456"/>
                  </a:lnTo>
                  <a:lnTo>
                    <a:pt x="306" y="452"/>
                  </a:lnTo>
                  <a:lnTo>
                    <a:pt x="306" y="456"/>
                  </a:lnTo>
                  <a:lnTo>
                    <a:pt x="310" y="456"/>
                  </a:lnTo>
                  <a:lnTo>
                    <a:pt x="310" y="460"/>
                  </a:lnTo>
                  <a:lnTo>
                    <a:pt x="314" y="456"/>
                  </a:lnTo>
                  <a:lnTo>
                    <a:pt x="318" y="456"/>
                  </a:lnTo>
                  <a:lnTo>
                    <a:pt x="322" y="456"/>
                  </a:lnTo>
                  <a:lnTo>
                    <a:pt x="324" y="456"/>
                  </a:lnTo>
                  <a:lnTo>
                    <a:pt x="324" y="460"/>
                  </a:lnTo>
                  <a:lnTo>
                    <a:pt x="330" y="460"/>
                  </a:lnTo>
                  <a:lnTo>
                    <a:pt x="330" y="464"/>
                  </a:lnTo>
                  <a:lnTo>
                    <a:pt x="332" y="464"/>
                  </a:lnTo>
                  <a:lnTo>
                    <a:pt x="332" y="468"/>
                  </a:lnTo>
                  <a:lnTo>
                    <a:pt x="332" y="472"/>
                  </a:lnTo>
                  <a:lnTo>
                    <a:pt x="336" y="472"/>
                  </a:lnTo>
                  <a:lnTo>
                    <a:pt x="336" y="476"/>
                  </a:lnTo>
                  <a:lnTo>
                    <a:pt x="340" y="480"/>
                  </a:lnTo>
                  <a:lnTo>
                    <a:pt x="344" y="480"/>
                  </a:lnTo>
                  <a:lnTo>
                    <a:pt x="348" y="480"/>
                  </a:lnTo>
                  <a:lnTo>
                    <a:pt x="352" y="484"/>
                  </a:lnTo>
                  <a:lnTo>
                    <a:pt x="348" y="484"/>
                  </a:lnTo>
                  <a:lnTo>
                    <a:pt x="352" y="488"/>
                  </a:lnTo>
                  <a:lnTo>
                    <a:pt x="356" y="492"/>
                  </a:lnTo>
                  <a:lnTo>
                    <a:pt x="356" y="494"/>
                  </a:lnTo>
                  <a:lnTo>
                    <a:pt x="356" y="500"/>
                  </a:lnTo>
                  <a:lnTo>
                    <a:pt x="356" y="502"/>
                  </a:lnTo>
                  <a:lnTo>
                    <a:pt x="356" y="506"/>
                  </a:lnTo>
                  <a:lnTo>
                    <a:pt x="352" y="506"/>
                  </a:lnTo>
                  <a:lnTo>
                    <a:pt x="344" y="506"/>
                  </a:lnTo>
                  <a:lnTo>
                    <a:pt x="344" y="510"/>
                  </a:lnTo>
                  <a:lnTo>
                    <a:pt x="344" y="514"/>
                  </a:lnTo>
                  <a:lnTo>
                    <a:pt x="340" y="518"/>
                  </a:lnTo>
                  <a:lnTo>
                    <a:pt x="336" y="518"/>
                  </a:lnTo>
                  <a:lnTo>
                    <a:pt x="336" y="522"/>
                  </a:lnTo>
                  <a:lnTo>
                    <a:pt x="332" y="522"/>
                  </a:lnTo>
                  <a:lnTo>
                    <a:pt x="332" y="526"/>
                  </a:lnTo>
                  <a:lnTo>
                    <a:pt x="332" y="530"/>
                  </a:lnTo>
                  <a:lnTo>
                    <a:pt x="330" y="530"/>
                  </a:lnTo>
                  <a:lnTo>
                    <a:pt x="330" y="534"/>
                  </a:lnTo>
                  <a:lnTo>
                    <a:pt x="324" y="534"/>
                  </a:lnTo>
                  <a:lnTo>
                    <a:pt x="324" y="538"/>
                  </a:lnTo>
                  <a:lnTo>
                    <a:pt x="330" y="542"/>
                  </a:lnTo>
                  <a:lnTo>
                    <a:pt x="332" y="542"/>
                  </a:lnTo>
                  <a:lnTo>
                    <a:pt x="336" y="546"/>
                  </a:lnTo>
                  <a:lnTo>
                    <a:pt x="340" y="546"/>
                  </a:lnTo>
                  <a:lnTo>
                    <a:pt x="340" y="542"/>
                  </a:lnTo>
                  <a:lnTo>
                    <a:pt x="344" y="546"/>
                  </a:lnTo>
                  <a:lnTo>
                    <a:pt x="348" y="550"/>
                  </a:lnTo>
                  <a:lnTo>
                    <a:pt x="352" y="550"/>
                  </a:lnTo>
                  <a:lnTo>
                    <a:pt x="352" y="554"/>
                  </a:lnTo>
                  <a:lnTo>
                    <a:pt x="356" y="554"/>
                  </a:lnTo>
                  <a:lnTo>
                    <a:pt x="356" y="558"/>
                  </a:lnTo>
                  <a:lnTo>
                    <a:pt x="360" y="558"/>
                  </a:lnTo>
                  <a:lnTo>
                    <a:pt x="360" y="562"/>
                  </a:lnTo>
                  <a:lnTo>
                    <a:pt x="364" y="562"/>
                  </a:lnTo>
                  <a:lnTo>
                    <a:pt x="364" y="566"/>
                  </a:lnTo>
                  <a:lnTo>
                    <a:pt x="368" y="562"/>
                  </a:lnTo>
                  <a:lnTo>
                    <a:pt x="372" y="562"/>
                  </a:lnTo>
                  <a:lnTo>
                    <a:pt x="372" y="566"/>
                  </a:lnTo>
                  <a:lnTo>
                    <a:pt x="372" y="570"/>
                  </a:lnTo>
                  <a:lnTo>
                    <a:pt x="372" y="574"/>
                  </a:lnTo>
                  <a:lnTo>
                    <a:pt x="372" y="578"/>
                  </a:lnTo>
                  <a:lnTo>
                    <a:pt x="372" y="582"/>
                  </a:lnTo>
                  <a:lnTo>
                    <a:pt x="376" y="582"/>
                  </a:lnTo>
                  <a:lnTo>
                    <a:pt x="376" y="586"/>
                  </a:lnTo>
                  <a:lnTo>
                    <a:pt x="376" y="590"/>
                  </a:lnTo>
                  <a:lnTo>
                    <a:pt x="380" y="590"/>
                  </a:lnTo>
                  <a:lnTo>
                    <a:pt x="384" y="590"/>
                  </a:lnTo>
                  <a:lnTo>
                    <a:pt x="388" y="590"/>
                  </a:lnTo>
                  <a:lnTo>
                    <a:pt x="392" y="590"/>
                  </a:lnTo>
                  <a:lnTo>
                    <a:pt x="392" y="594"/>
                  </a:lnTo>
                  <a:lnTo>
                    <a:pt x="396" y="594"/>
                  </a:lnTo>
                  <a:lnTo>
                    <a:pt x="396" y="590"/>
                  </a:lnTo>
                  <a:lnTo>
                    <a:pt x="400" y="590"/>
                  </a:lnTo>
                  <a:lnTo>
                    <a:pt x="404" y="590"/>
                  </a:lnTo>
                  <a:lnTo>
                    <a:pt x="404" y="586"/>
                  </a:lnTo>
                  <a:lnTo>
                    <a:pt x="408" y="586"/>
                  </a:lnTo>
                  <a:lnTo>
                    <a:pt x="408" y="590"/>
                  </a:lnTo>
                  <a:lnTo>
                    <a:pt x="412" y="586"/>
                  </a:lnTo>
                  <a:lnTo>
                    <a:pt x="412" y="590"/>
                  </a:lnTo>
                  <a:lnTo>
                    <a:pt x="416" y="590"/>
                  </a:lnTo>
                  <a:lnTo>
                    <a:pt x="420" y="590"/>
                  </a:lnTo>
                  <a:lnTo>
                    <a:pt x="420" y="586"/>
                  </a:lnTo>
                  <a:lnTo>
                    <a:pt x="424" y="586"/>
                  </a:lnTo>
                  <a:lnTo>
                    <a:pt x="428" y="586"/>
                  </a:lnTo>
                  <a:lnTo>
                    <a:pt x="424" y="582"/>
                  </a:lnTo>
                  <a:lnTo>
                    <a:pt x="428" y="582"/>
                  </a:lnTo>
                  <a:lnTo>
                    <a:pt x="432" y="582"/>
                  </a:lnTo>
                  <a:lnTo>
                    <a:pt x="432" y="578"/>
                  </a:lnTo>
                  <a:lnTo>
                    <a:pt x="436" y="578"/>
                  </a:lnTo>
                  <a:lnTo>
                    <a:pt x="440" y="582"/>
                  </a:lnTo>
                  <a:lnTo>
                    <a:pt x="444" y="582"/>
                  </a:lnTo>
                  <a:lnTo>
                    <a:pt x="448" y="578"/>
                  </a:lnTo>
                  <a:lnTo>
                    <a:pt x="448" y="582"/>
                  </a:lnTo>
                  <a:lnTo>
                    <a:pt x="452" y="582"/>
                  </a:lnTo>
                  <a:lnTo>
                    <a:pt x="452" y="586"/>
                  </a:lnTo>
                  <a:lnTo>
                    <a:pt x="456" y="586"/>
                  </a:lnTo>
                  <a:lnTo>
                    <a:pt x="460" y="582"/>
                  </a:lnTo>
                  <a:lnTo>
                    <a:pt x="464" y="586"/>
                  </a:lnTo>
                  <a:lnTo>
                    <a:pt x="464" y="582"/>
                  </a:lnTo>
                  <a:lnTo>
                    <a:pt x="468" y="582"/>
                  </a:lnTo>
                  <a:lnTo>
                    <a:pt x="464" y="578"/>
                  </a:lnTo>
                  <a:lnTo>
                    <a:pt x="468" y="578"/>
                  </a:lnTo>
                  <a:lnTo>
                    <a:pt x="472" y="578"/>
                  </a:lnTo>
                  <a:lnTo>
                    <a:pt x="476" y="574"/>
                  </a:lnTo>
                  <a:lnTo>
                    <a:pt x="480" y="574"/>
                  </a:lnTo>
                  <a:lnTo>
                    <a:pt x="484" y="574"/>
                  </a:lnTo>
                  <a:lnTo>
                    <a:pt x="488" y="578"/>
                  </a:lnTo>
                  <a:lnTo>
                    <a:pt x="488" y="582"/>
                  </a:lnTo>
                  <a:lnTo>
                    <a:pt x="490" y="578"/>
                  </a:lnTo>
                  <a:lnTo>
                    <a:pt x="496" y="578"/>
                  </a:lnTo>
                  <a:lnTo>
                    <a:pt x="496" y="582"/>
                  </a:lnTo>
                  <a:lnTo>
                    <a:pt x="496" y="586"/>
                  </a:lnTo>
                  <a:lnTo>
                    <a:pt x="490" y="586"/>
                  </a:lnTo>
                  <a:lnTo>
                    <a:pt x="490" y="590"/>
                  </a:lnTo>
                  <a:lnTo>
                    <a:pt x="496" y="594"/>
                  </a:lnTo>
                  <a:lnTo>
                    <a:pt x="496" y="598"/>
                  </a:lnTo>
                  <a:lnTo>
                    <a:pt x="496" y="602"/>
                  </a:lnTo>
                  <a:lnTo>
                    <a:pt x="498" y="606"/>
                  </a:lnTo>
                  <a:lnTo>
                    <a:pt x="498" y="602"/>
                  </a:lnTo>
                  <a:lnTo>
                    <a:pt x="502" y="602"/>
                  </a:lnTo>
                  <a:lnTo>
                    <a:pt x="502" y="606"/>
                  </a:lnTo>
                  <a:lnTo>
                    <a:pt x="506" y="606"/>
                  </a:lnTo>
                  <a:lnTo>
                    <a:pt x="506" y="610"/>
                  </a:lnTo>
                  <a:lnTo>
                    <a:pt x="506" y="614"/>
                  </a:lnTo>
                  <a:lnTo>
                    <a:pt x="506" y="618"/>
                  </a:lnTo>
                  <a:lnTo>
                    <a:pt x="506" y="622"/>
                  </a:lnTo>
                  <a:lnTo>
                    <a:pt x="510" y="622"/>
                  </a:lnTo>
                  <a:lnTo>
                    <a:pt x="510" y="618"/>
                  </a:lnTo>
                  <a:lnTo>
                    <a:pt x="514" y="618"/>
                  </a:lnTo>
                  <a:lnTo>
                    <a:pt x="514" y="614"/>
                  </a:lnTo>
                  <a:lnTo>
                    <a:pt x="518" y="614"/>
                  </a:lnTo>
                  <a:lnTo>
                    <a:pt x="522" y="610"/>
                  </a:lnTo>
                  <a:lnTo>
                    <a:pt x="526" y="610"/>
                  </a:lnTo>
                  <a:lnTo>
                    <a:pt x="530" y="610"/>
                  </a:lnTo>
                  <a:lnTo>
                    <a:pt x="530" y="606"/>
                  </a:lnTo>
                  <a:lnTo>
                    <a:pt x="534" y="602"/>
                  </a:lnTo>
                  <a:lnTo>
                    <a:pt x="538" y="598"/>
                  </a:lnTo>
                  <a:lnTo>
                    <a:pt x="542" y="598"/>
                  </a:lnTo>
                  <a:lnTo>
                    <a:pt x="550" y="594"/>
                  </a:lnTo>
                  <a:lnTo>
                    <a:pt x="554" y="594"/>
                  </a:lnTo>
                  <a:lnTo>
                    <a:pt x="558" y="590"/>
                  </a:lnTo>
                  <a:lnTo>
                    <a:pt x="562" y="590"/>
                  </a:lnTo>
                  <a:lnTo>
                    <a:pt x="562" y="586"/>
                  </a:lnTo>
                  <a:lnTo>
                    <a:pt x="566" y="586"/>
                  </a:lnTo>
                  <a:lnTo>
                    <a:pt x="566" y="582"/>
                  </a:lnTo>
                  <a:lnTo>
                    <a:pt x="570" y="582"/>
                  </a:lnTo>
                  <a:lnTo>
                    <a:pt x="574" y="582"/>
                  </a:lnTo>
                  <a:lnTo>
                    <a:pt x="574" y="578"/>
                  </a:lnTo>
                  <a:lnTo>
                    <a:pt x="582" y="578"/>
                  </a:lnTo>
                  <a:lnTo>
                    <a:pt x="582" y="574"/>
                  </a:lnTo>
                  <a:lnTo>
                    <a:pt x="586" y="574"/>
                  </a:lnTo>
                  <a:lnTo>
                    <a:pt x="590" y="574"/>
                  </a:lnTo>
                  <a:lnTo>
                    <a:pt x="594" y="574"/>
                  </a:lnTo>
                  <a:lnTo>
                    <a:pt x="598" y="574"/>
                  </a:lnTo>
                  <a:lnTo>
                    <a:pt x="602" y="574"/>
                  </a:lnTo>
                  <a:lnTo>
                    <a:pt x="606" y="574"/>
                  </a:lnTo>
                  <a:lnTo>
                    <a:pt x="610" y="574"/>
                  </a:lnTo>
                  <a:lnTo>
                    <a:pt x="614" y="574"/>
                  </a:lnTo>
                  <a:lnTo>
                    <a:pt x="618" y="578"/>
                  </a:lnTo>
                  <a:lnTo>
                    <a:pt x="622" y="578"/>
                  </a:lnTo>
                  <a:lnTo>
                    <a:pt x="626" y="582"/>
                  </a:lnTo>
                  <a:lnTo>
                    <a:pt x="630" y="582"/>
                  </a:lnTo>
                  <a:lnTo>
                    <a:pt x="634" y="582"/>
                  </a:lnTo>
                  <a:lnTo>
                    <a:pt x="634" y="586"/>
                  </a:lnTo>
                  <a:lnTo>
                    <a:pt x="638" y="586"/>
                  </a:lnTo>
                  <a:lnTo>
                    <a:pt x="642" y="586"/>
                  </a:lnTo>
                  <a:lnTo>
                    <a:pt x="646" y="586"/>
                  </a:lnTo>
                  <a:lnTo>
                    <a:pt x="650" y="586"/>
                  </a:lnTo>
                  <a:lnTo>
                    <a:pt x="650" y="582"/>
                  </a:lnTo>
                  <a:lnTo>
                    <a:pt x="646" y="582"/>
                  </a:lnTo>
                  <a:lnTo>
                    <a:pt x="646" y="578"/>
                  </a:lnTo>
                  <a:lnTo>
                    <a:pt x="650" y="578"/>
                  </a:lnTo>
                  <a:lnTo>
                    <a:pt x="654" y="578"/>
                  </a:lnTo>
                  <a:lnTo>
                    <a:pt x="658" y="578"/>
                  </a:lnTo>
                  <a:lnTo>
                    <a:pt x="658" y="574"/>
                  </a:lnTo>
                  <a:lnTo>
                    <a:pt x="658" y="570"/>
                  </a:lnTo>
                  <a:lnTo>
                    <a:pt x="662" y="570"/>
                  </a:lnTo>
                  <a:lnTo>
                    <a:pt x="662" y="566"/>
                  </a:lnTo>
                  <a:lnTo>
                    <a:pt x="662" y="562"/>
                  </a:lnTo>
                  <a:lnTo>
                    <a:pt x="662" y="558"/>
                  </a:lnTo>
                  <a:lnTo>
                    <a:pt x="662" y="554"/>
                  </a:lnTo>
                  <a:lnTo>
                    <a:pt x="658" y="554"/>
                  </a:lnTo>
                  <a:lnTo>
                    <a:pt x="654" y="550"/>
                  </a:lnTo>
                  <a:lnTo>
                    <a:pt x="650" y="546"/>
                  </a:lnTo>
                  <a:lnTo>
                    <a:pt x="650" y="542"/>
                  </a:lnTo>
                  <a:lnTo>
                    <a:pt x="654" y="542"/>
                  </a:lnTo>
                  <a:lnTo>
                    <a:pt x="654" y="538"/>
                  </a:lnTo>
                  <a:lnTo>
                    <a:pt x="658" y="542"/>
                  </a:lnTo>
                  <a:lnTo>
                    <a:pt x="658" y="538"/>
                  </a:lnTo>
                  <a:lnTo>
                    <a:pt x="658" y="534"/>
                  </a:lnTo>
                  <a:lnTo>
                    <a:pt x="654" y="534"/>
                  </a:lnTo>
                  <a:lnTo>
                    <a:pt x="654" y="530"/>
                  </a:lnTo>
                  <a:lnTo>
                    <a:pt x="650" y="530"/>
                  </a:lnTo>
                  <a:lnTo>
                    <a:pt x="650" y="526"/>
                  </a:lnTo>
                  <a:lnTo>
                    <a:pt x="646" y="526"/>
                  </a:lnTo>
                  <a:lnTo>
                    <a:pt x="646" y="522"/>
                  </a:lnTo>
                  <a:lnTo>
                    <a:pt x="642" y="522"/>
                  </a:lnTo>
                  <a:lnTo>
                    <a:pt x="642" y="518"/>
                  </a:lnTo>
                  <a:lnTo>
                    <a:pt x="642" y="514"/>
                  </a:lnTo>
                  <a:lnTo>
                    <a:pt x="638" y="510"/>
                  </a:lnTo>
                  <a:lnTo>
                    <a:pt x="638" y="506"/>
                  </a:lnTo>
                  <a:lnTo>
                    <a:pt x="638" y="502"/>
                  </a:lnTo>
                  <a:lnTo>
                    <a:pt x="638" y="500"/>
                  </a:lnTo>
                  <a:lnTo>
                    <a:pt x="638" y="492"/>
                  </a:lnTo>
                  <a:lnTo>
                    <a:pt x="634" y="492"/>
                  </a:lnTo>
                  <a:lnTo>
                    <a:pt x="634" y="480"/>
                  </a:lnTo>
                  <a:lnTo>
                    <a:pt x="634" y="476"/>
                  </a:lnTo>
                  <a:lnTo>
                    <a:pt x="630" y="472"/>
                  </a:lnTo>
                  <a:lnTo>
                    <a:pt x="630" y="468"/>
                  </a:lnTo>
                  <a:lnTo>
                    <a:pt x="630" y="464"/>
                  </a:lnTo>
                  <a:lnTo>
                    <a:pt x="626" y="464"/>
                  </a:lnTo>
                  <a:lnTo>
                    <a:pt x="626" y="460"/>
                  </a:lnTo>
                  <a:lnTo>
                    <a:pt x="626" y="456"/>
                  </a:lnTo>
                  <a:lnTo>
                    <a:pt x="622" y="452"/>
                  </a:lnTo>
                  <a:lnTo>
                    <a:pt x="622" y="456"/>
                  </a:lnTo>
                  <a:lnTo>
                    <a:pt x="618" y="460"/>
                  </a:lnTo>
                  <a:lnTo>
                    <a:pt x="618" y="464"/>
                  </a:lnTo>
                  <a:lnTo>
                    <a:pt x="614" y="464"/>
                  </a:lnTo>
                  <a:lnTo>
                    <a:pt x="610" y="464"/>
                  </a:lnTo>
                  <a:lnTo>
                    <a:pt x="610" y="460"/>
                  </a:lnTo>
                  <a:lnTo>
                    <a:pt x="606" y="460"/>
                  </a:lnTo>
                  <a:lnTo>
                    <a:pt x="602" y="456"/>
                  </a:lnTo>
                  <a:lnTo>
                    <a:pt x="602" y="452"/>
                  </a:lnTo>
                  <a:lnTo>
                    <a:pt x="598" y="452"/>
                  </a:lnTo>
                  <a:lnTo>
                    <a:pt x="598" y="448"/>
                  </a:lnTo>
                  <a:lnTo>
                    <a:pt x="594" y="444"/>
                  </a:lnTo>
                  <a:lnTo>
                    <a:pt x="594" y="440"/>
                  </a:lnTo>
                  <a:lnTo>
                    <a:pt x="594" y="436"/>
                  </a:lnTo>
                  <a:lnTo>
                    <a:pt x="598" y="432"/>
                  </a:lnTo>
                  <a:lnTo>
                    <a:pt x="598" y="428"/>
                  </a:lnTo>
                  <a:lnTo>
                    <a:pt x="598" y="424"/>
                  </a:lnTo>
                  <a:lnTo>
                    <a:pt x="594" y="424"/>
                  </a:lnTo>
                  <a:lnTo>
                    <a:pt x="590" y="424"/>
                  </a:lnTo>
                  <a:lnTo>
                    <a:pt x="590" y="428"/>
                  </a:lnTo>
                  <a:lnTo>
                    <a:pt x="586" y="428"/>
                  </a:lnTo>
                  <a:lnTo>
                    <a:pt x="582" y="428"/>
                  </a:lnTo>
                  <a:lnTo>
                    <a:pt x="582" y="432"/>
                  </a:lnTo>
                  <a:lnTo>
                    <a:pt x="578" y="432"/>
                  </a:lnTo>
                  <a:lnTo>
                    <a:pt x="578" y="436"/>
                  </a:lnTo>
                  <a:lnTo>
                    <a:pt x="578" y="440"/>
                  </a:lnTo>
                  <a:lnTo>
                    <a:pt x="574" y="440"/>
                  </a:lnTo>
                  <a:lnTo>
                    <a:pt x="574" y="436"/>
                  </a:lnTo>
                  <a:lnTo>
                    <a:pt x="574" y="432"/>
                  </a:lnTo>
                  <a:lnTo>
                    <a:pt x="570" y="432"/>
                  </a:lnTo>
                  <a:lnTo>
                    <a:pt x="566" y="432"/>
                  </a:lnTo>
                  <a:lnTo>
                    <a:pt x="566" y="428"/>
                  </a:lnTo>
                  <a:lnTo>
                    <a:pt x="562" y="428"/>
                  </a:lnTo>
                  <a:lnTo>
                    <a:pt x="562" y="424"/>
                  </a:lnTo>
                  <a:lnTo>
                    <a:pt x="562" y="420"/>
                  </a:lnTo>
                  <a:lnTo>
                    <a:pt x="558" y="420"/>
                  </a:lnTo>
                  <a:lnTo>
                    <a:pt x="558" y="416"/>
                  </a:lnTo>
                  <a:lnTo>
                    <a:pt x="562" y="416"/>
                  </a:lnTo>
                  <a:lnTo>
                    <a:pt x="566" y="416"/>
                  </a:lnTo>
                  <a:lnTo>
                    <a:pt x="566" y="420"/>
                  </a:lnTo>
                  <a:lnTo>
                    <a:pt x="570" y="420"/>
                  </a:lnTo>
                  <a:lnTo>
                    <a:pt x="570" y="416"/>
                  </a:lnTo>
                  <a:lnTo>
                    <a:pt x="574" y="416"/>
                  </a:lnTo>
                  <a:lnTo>
                    <a:pt x="578" y="416"/>
                  </a:lnTo>
                  <a:lnTo>
                    <a:pt x="582" y="416"/>
                  </a:lnTo>
                  <a:lnTo>
                    <a:pt x="582" y="420"/>
                  </a:lnTo>
                  <a:lnTo>
                    <a:pt x="586" y="424"/>
                  </a:lnTo>
                  <a:lnTo>
                    <a:pt x="590" y="424"/>
                  </a:lnTo>
                  <a:lnTo>
                    <a:pt x="590" y="420"/>
                  </a:lnTo>
                  <a:lnTo>
                    <a:pt x="590" y="416"/>
                  </a:lnTo>
                  <a:lnTo>
                    <a:pt x="590" y="412"/>
                  </a:lnTo>
                  <a:lnTo>
                    <a:pt x="594" y="412"/>
                  </a:lnTo>
                  <a:lnTo>
                    <a:pt x="598" y="412"/>
                  </a:lnTo>
                  <a:lnTo>
                    <a:pt x="598" y="416"/>
                  </a:lnTo>
                  <a:lnTo>
                    <a:pt x="598" y="420"/>
                  </a:lnTo>
                  <a:lnTo>
                    <a:pt x="598" y="424"/>
                  </a:lnTo>
                  <a:lnTo>
                    <a:pt x="602" y="424"/>
                  </a:lnTo>
                  <a:lnTo>
                    <a:pt x="602" y="428"/>
                  </a:lnTo>
                  <a:lnTo>
                    <a:pt x="606" y="428"/>
                  </a:lnTo>
                  <a:lnTo>
                    <a:pt x="610" y="428"/>
                  </a:lnTo>
                  <a:lnTo>
                    <a:pt x="614" y="428"/>
                  </a:lnTo>
                  <a:lnTo>
                    <a:pt x="614" y="432"/>
                  </a:lnTo>
                  <a:lnTo>
                    <a:pt x="618" y="432"/>
                  </a:lnTo>
                  <a:lnTo>
                    <a:pt x="622" y="432"/>
                  </a:lnTo>
                  <a:lnTo>
                    <a:pt x="626" y="432"/>
                  </a:lnTo>
                  <a:lnTo>
                    <a:pt x="630" y="432"/>
                  </a:lnTo>
                  <a:lnTo>
                    <a:pt x="634" y="432"/>
                  </a:lnTo>
                  <a:lnTo>
                    <a:pt x="634" y="428"/>
                  </a:lnTo>
                  <a:lnTo>
                    <a:pt x="638" y="428"/>
                  </a:lnTo>
                  <a:lnTo>
                    <a:pt x="638" y="432"/>
                  </a:lnTo>
                  <a:lnTo>
                    <a:pt x="642" y="428"/>
                  </a:lnTo>
                  <a:lnTo>
                    <a:pt x="646" y="428"/>
                  </a:lnTo>
                  <a:lnTo>
                    <a:pt x="646" y="424"/>
                  </a:lnTo>
                  <a:lnTo>
                    <a:pt x="650" y="424"/>
                  </a:lnTo>
                  <a:lnTo>
                    <a:pt x="654" y="420"/>
                  </a:lnTo>
                  <a:lnTo>
                    <a:pt x="658" y="420"/>
                  </a:lnTo>
                  <a:lnTo>
                    <a:pt x="662" y="420"/>
                  </a:lnTo>
                  <a:lnTo>
                    <a:pt x="662" y="416"/>
                  </a:lnTo>
                  <a:lnTo>
                    <a:pt x="664" y="412"/>
                  </a:lnTo>
                  <a:lnTo>
                    <a:pt x="664" y="408"/>
                  </a:lnTo>
                  <a:lnTo>
                    <a:pt x="668" y="408"/>
                  </a:lnTo>
                  <a:lnTo>
                    <a:pt x="668" y="404"/>
                  </a:lnTo>
                  <a:lnTo>
                    <a:pt x="672" y="404"/>
                  </a:lnTo>
                  <a:lnTo>
                    <a:pt x="676" y="400"/>
                  </a:lnTo>
                  <a:lnTo>
                    <a:pt x="676" y="396"/>
                  </a:lnTo>
                  <a:lnTo>
                    <a:pt x="680" y="396"/>
                  </a:lnTo>
                  <a:lnTo>
                    <a:pt x="684" y="396"/>
                  </a:lnTo>
                  <a:lnTo>
                    <a:pt x="684" y="392"/>
                  </a:lnTo>
                  <a:lnTo>
                    <a:pt x="684" y="388"/>
                  </a:lnTo>
                  <a:lnTo>
                    <a:pt x="688" y="388"/>
                  </a:lnTo>
                  <a:lnTo>
                    <a:pt x="688" y="384"/>
                  </a:lnTo>
                  <a:lnTo>
                    <a:pt x="688" y="380"/>
                  </a:lnTo>
                  <a:lnTo>
                    <a:pt x="688" y="376"/>
                  </a:lnTo>
                  <a:lnTo>
                    <a:pt x="692" y="372"/>
                  </a:lnTo>
                  <a:lnTo>
                    <a:pt x="692" y="368"/>
                  </a:lnTo>
                  <a:lnTo>
                    <a:pt x="692" y="364"/>
                  </a:lnTo>
                  <a:lnTo>
                    <a:pt x="692" y="360"/>
                  </a:lnTo>
                  <a:lnTo>
                    <a:pt x="688" y="356"/>
                  </a:lnTo>
                  <a:lnTo>
                    <a:pt x="684" y="352"/>
                  </a:lnTo>
                  <a:lnTo>
                    <a:pt x="680" y="348"/>
                  </a:lnTo>
                  <a:lnTo>
                    <a:pt x="680" y="344"/>
                  </a:lnTo>
                  <a:lnTo>
                    <a:pt x="680" y="340"/>
                  </a:lnTo>
                  <a:lnTo>
                    <a:pt x="680" y="336"/>
                  </a:lnTo>
                  <a:lnTo>
                    <a:pt x="680" y="332"/>
                  </a:lnTo>
                  <a:lnTo>
                    <a:pt x="680" y="328"/>
                  </a:lnTo>
                  <a:lnTo>
                    <a:pt x="680" y="324"/>
                  </a:lnTo>
                  <a:lnTo>
                    <a:pt x="684" y="320"/>
                  </a:lnTo>
                  <a:lnTo>
                    <a:pt x="684" y="324"/>
                  </a:lnTo>
                  <a:lnTo>
                    <a:pt x="688" y="324"/>
                  </a:lnTo>
                  <a:lnTo>
                    <a:pt x="692" y="324"/>
                  </a:lnTo>
                  <a:lnTo>
                    <a:pt x="696" y="320"/>
                  </a:lnTo>
                  <a:lnTo>
                    <a:pt x="696" y="318"/>
                  </a:lnTo>
                  <a:lnTo>
                    <a:pt x="692" y="312"/>
                  </a:lnTo>
                  <a:lnTo>
                    <a:pt x="696" y="312"/>
                  </a:lnTo>
                  <a:lnTo>
                    <a:pt x="700" y="312"/>
                  </a:lnTo>
                  <a:lnTo>
                    <a:pt x="700" y="318"/>
                  </a:lnTo>
                  <a:lnTo>
                    <a:pt x="704" y="320"/>
                  </a:lnTo>
                  <a:lnTo>
                    <a:pt x="708" y="320"/>
                  </a:lnTo>
                  <a:lnTo>
                    <a:pt x="712" y="320"/>
                  </a:lnTo>
                  <a:lnTo>
                    <a:pt x="712" y="318"/>
                  </a:lnTo>
                  <a:lnTo>
                    <a:pt x="712" y="312"/>
                  </a:lnTo>
                  <a:lnTo>
                    <a:pt x="712" y="310"/>
                  </a:lnTo>
                  <a:lnTo>
                    <a:pt x="716" y="310"/>
                  </a:lnTo>
                  <a:lnTo>
                    <a:pt x="716" y="306"/>
                  </a:lnTo>
                  <a:lnTo>
                    <a:pt x="720" y="306"/>
                  </a:lnTo>
                  <a:lnTo>
                    <a:pt x="720" y="310"/>
                  </a:lnTo>
                  <a:lnTo>
                    <a:pt x="720" y="312"/>
                  </a:lnTo>
                  <a:lnTo>
                    <a:pt x="716" y="312"/>
                  </a:lnTo>
                  <a:lnTo>
                    <a:pt x="716" y="318"/>
                  </a:lnTo>
                  <a:lnTo>
                    <a:pt x="720" y="318"/>
                  </a:lnTo>
                  <a:lnTo>
                    <a:pt x="716" y="320"/>
                  </a:lnTo>
                  <a:lnTo>
                    <a:pt x="720" y="320"/>
                  </a:lnTo>
                  <a:lnTo>
                    <a:pt x="720" y="324"/>
                  </a:lnTo>
                  <a:lnTo>
                    <a:pt x="716" y="324"/>
                  </a:lnTo>
                  <a:lnTo>
                    <a:pt x="712" y="324"/>
                  </a:lnTo>
                  <a:lnTo>
                    <a:pt x="712" y="328"/>
                  </a:lnTo>
                  <a:lnTo>
                    <a:pt x="712" y="332"/>
                  </a:lnTo>
                  <a:lnTo>
                    <a:pt x="708" y="336"/>
                  </a:lnTo>
                  <a:lnTo>
                    <a:pt x="708" y="340"/>
                  </a:lnTo>
                  <a:lnTo>
                    <a:pt x="708" y="344"/>
                  </a:lnTo>
                  <a:lnTo>
                    <a:pt x="712" y="344"/>
                  </a:lnTo>
                  <a:lnTo>
                    <a:pt x="712" y="348"/>
                  </a:lnTo>
                  <a:lnTo>
                    <a:pt x="712" y="352"/>
                  </a:lnTo>
                  <a:lnTo>
                    <a:pt x="716" y="352"/>
                  </a:lnTo>
                  <a:lnTo>
                    <a:pt x="720" y="352"/>
                  </a:lnTo>
                  <a:lnTo>
                    <a:pt x="720" y="356"/>
                  </a:lnTo>
                  <a:lnTo>
                    <a:pt x="720" y="360"/>
                  </a:lnTo>
                  <a:lnTo>
                    <a:pt x="720" y="364"/>
                  </a:lnTo>
                  <a:lnTo>
                    <a:pt x="720" y="368"/>
                  </a:lnTo>
                  <a:lnTo>
                    <a:pt x="716" y="368"/>
                  </a:lnTo>
                  <a:lnTo>
                    <a:pt x="716" y="372"/>
                  </a:lnTo>
                  <a:lnTo>
                    <a:pt x="720" y="372"/>
                  </a:lnTo>
                  <a:lnTo>
                    <a:pt x="724" y="372"/>
                  </a:lnTo>
                  <a:lnTo>
                    <a:pt x="728" y="372"/>
                  </a:lnTo>
                  <a:lnTo>
                    <a:pt x="732" y="372"/>
                  </a:lnTo>
                  <a:lnTo>
                    <a:pt x="736" y="372"/>
                  </a:lnTo>
                  <a:lnTo>
                    <a:pt x="740" y="372"/>
                  </a:lnTo>
                  <a:lnTo>
                    <a:pt x="744" y="372"/>
                  </a:lnTo>
                  <a:lnTo>
                    <a:pt x="748" y="372"/>
                  </a:lnTo>
                  <a:lnTo>
                    <a:pt x="752" y="372"/>
                  </a:lnTo>
                  <a:lnTo>
                    <a:pt x="756" y="368"/>
                  </a:lnTo>
                  <a:lnTo>
                    <a:pt x="760" y="364"/>
                  </a:lnTo>
                  <a:lnTo>
                    <a:pt x="762" y="364"/>
                  </a:lnTo>
                  <a:lnTo>
                    <a:pt x="768" y="364"/>
                  </a:lnTo>
                  <a:lnTo>
                    <a:pt x="770" y="364"/>
                  </a:lnTo>
                  <a:lnTo>
                    <a:pt x="774" y="364"/>
                  </a:lnTo>
                  <a:lnTo>
                    <a:pt x="774" y="368"/>
                  </a:lnTo>
                  <a:lnTo>
                    <a:pt x="778" y="368"/>
                  </a:lnTo>
                  <a:lnTo>
                    <a:pt x="782" y="372"/>
                  </a:lnTo>
                  <a:lnTo>
                    <a:pt x="786" y="372"/>
                  </a:lnTo>
                  <a:lnTo>
                    <a:pt x="790" y="372"/>
                  </a:lnTo>
                  <a:lnTo>
                    <a:pt x="790" y="376"/>
                  </a:lnTo>
                  <a:lnTo>
                    <a:pt x="794" y="376"/>
                  </a:lnTo>
                  <a:lnTo>
                    <a:pt x="794" y="380"/>
                  </a:lnTo>
                  <a:lnTo>
                    <a:pt x="794" y="384"/>
                  </a:lnTo>
                  <a:lnTo>
                    <a:pt x="798" y="384"/>
                  </a:lnTo>
                  <a:lnTo>
                    <a:pt x="798" y="388"/>
                  </a:lnTo>
                  <a:lnTo>
                    <a:pt x="798" y="392"/>
                  </a:lnTo>
                  <a:lnTo>
                    <a:pt x="802" y="396"/>
                  </a:lnTo>
                  <a:lnTo>
                    <a:pt x="798" y="400"/>
                  </a:lnTo>
                  <a:lnTo>
                    <a:pt x="798" y="404"/>
                  </a:lnTo>
                  <a:lnTo>
                    <a:pt x="794" y="404"/>
                  </a:lnTo>
                  <a:lnTo>
                    <a:pt x="794" y="408"/>
                  </a:lnTo>
                  <a:lnTo>
                    <a:pt x="798" y="408"/>
                  </a:lnTo>
                  <a:lnTo>
                    <a:pt x="802" y="412"/>
                  </a:lnTo>
                  <a:lnTo>
                    <a:pt x="806" y="412"/>
                  </a:lnTo>
                  <a:lnTo>
                    <a:pt x="806" y="416"/>
                  </a:lnTo>
                  <a:lnTo>
                    <a:pt x="810" y="416"/>
                  </a:lnTo>
                  <a:lnTo>
                    <a:pt x="810" y="420"/>
                  </a:lnTo>
                  <a:lnTo>
                    <a:pt x="814" y="420"/>
                  </a:lnTo>
                  <a:lnTo>
                    <a:pt x="818" y="420"/>
                  </a:lnTo>
                  <a:lnTo>
                    <a:pt x="822" y="424"/>
                  </a:lnTo>
                  <a:lnTo>
                    <a:pt x="822" y="420"/>
                  </a:lnTo>
                  <a:lnTo>
                    <a:pt x="826" y="420"/>
                  </a:lnTo>
                  <a:lnTo>
                    <a:pt x="830" y="420"/>
                  </a:lnTo>
                  <a:lnTo>
                    <a:pt x="830" y="424"/>
                  </a:lnTo>
                  <a:lnTo>
                    <a:pt x="834" y="424"/>
                  </a:lnTo>
                  <a:lnTo>
                    <a:pt x="834" y="428"/>
                  </a:lnTo>
                  <a:lnTo>
                    <a:pt x="838" y="428"/>
                  </a:lnTo>
                  <a:lnTo>
                    <a:pt x="842" y="432"/>
                  </a:lnTo>
                  <a:lnTo>
                    <a:pt x="846" y="432"/>
                  </a:lnTo>
                  <a:lnTo>
                    <a:pt x="846" y="436"/>
                  </a:lnTo>
                  <a:lnTo>
                    <a:pt x="850" y="436"/>
                  </a:lnTo>
                  <a:lnTo>
                    <a:pt x="850" y="440"/>
                  </a:lnTo>
                  <a:lnTo>
                    <a:pt x="850" y="444"/>
                  </a:lnTo>
                  <a:lnTo>
                    <a:pt x="854" y="444"/>
                  </a:lnTo>
                  <a:lnTo>
                    <a:pt x="854" y="448"/>
                  </a:lnTo>
                  <a:lnTo>
                    <a:pt x="858" y="448"/>
                  </a:lnTo>
                  <a:lnTo>
                    <a:pt x="858" y="452"/>
                  </a:lnTo>
                  <a:lnTo>
                    <a:pt x="862" y="452"/>
                  </a:lnTo>
                  <a:lnTo>
                    <a:pt x="866" y="452"/>
                  </a:lnTo>
                  <a:lnTo>
                    <a:pt x="870" y="452"/>
                  </a:lnTo>
                  <a:lnTo>
                    <a:pt x="870" y="448"/>
                  </a:lnTo>
                  <a:lnTo>
                    <a:pt x="874" y="448"/>
                  </a:lnTo>
                  <a:lnTo>
                    <a:pt x="874" y="452"/>
                  </a:lnTo>
                  <a:lnTo>
                    <a:pt x="870" y="452"/>
                  </a:lnTo>
                  <a:lnTo>
                    <a:pt x="870" y="456"/>
                  </a:lnTo>
                  <a:lnTo>
                    <a:pt x="874" y="456"/>
                  </a:lnTo>
                  <a:lnTo>
                    <a:pt x="878" y="460"/>
                  </a:lnTo>
                  <a:lnTo>
                    <a:pt x="882" y="460"/>
                  </a:lnTo>
                  <a:lnTo>
                    <a:pt x="886" y="460"/>
                  </a:lnTo>
                  <a:lnTo>
                    <a:pt x="886" y="456"/>
                  </a:lnTo>
                  <a:lnTo>
                    <a:pt x="890" y="456"/>
                  </a:lnTo>
                  <a:lnTo>
                    <a:pt x="890" y="452"/>
                  </a:lnTo>
                  <a:lnTo>
                    <a:pt x="890" y="448"/>
                  </a:lnTo>
                  <a:lnTo>
                    <a:pt x="890" y="444"/>
                  </a:lnTo>
                  <a:lnTo>
                    <a:pt x="886" y="444"/>
                  </a:lnTo>
                  <a:lnTo>
                    <a:pt x="886" y="440"/>
                  </a:lnTo>
                  <a:lnTo>
                    <a:pt x="890" y="440"/>
                  </a:lnTo>
                  <a:lnTo>
                    <a:pt x="890" y="444"/>
                  </a:lnTo>
                  <a:lnTo>
                    <a:pt x="894" y="448"/>
                  </a:lnTo>
                  <a:lnTo>
                    <a:pt x="894" y="452"/>
                  </a:lnTo>
                  <a:lnTo>
                    <a:pt x="898" y="452"/>
                  </a:lnTo>
                  <a:lnTo>
                    <a:pt x="898" y="448"/>
                  </a:lnTo>
                  <a:lnTo>
                    <a:pt x="902" y="448"/>
                  </a:lnTo>
                  <a:lnTo>
                    <a:pt x="906" y="448"/>
                  </a:lnTo>
                  <a:lnTo>
                    <a:pt x="902" y="444"/>
                  </a:lnTo>
                  <a:lnTo>
                    <a:pt x="902" y="440"/>
                  </a:lnTo>
                  <a:lnTo>
                    <a:pt x="898" y="440"/>
                  </a:lnTo>
                  <a:lnTo>
                    <a:pt x="898" y="436"/>
                  </a:lnTo>
                  <a:lnTo>
                    <a:pt x="894" y="436"/>
                  </a:lnTo>
                  <a:lnTo>
                    <a:pt x="890" y="436"/>
                  </a:lnTo>
                  <a:lnTo>
                    <a:pt x="890" y="432"/>
                  </a:lnTo>
                  <a:lnTo>
                    <a:pt x="886" y="436"/>
                  </a:lnTo>
                  <a:lnTo>
                    <a:pt x="886" y="432"/>
                  </a:lnTo>
                  <a:lnTo>
                    <a:pt x="886" y="428"/>
                  </a:lnTo>
                  <a:lnTo>
                    <a:pt x="882" y="432"/>
                  </a:lnTo>
                  <a:lnTo>
                    <a:pt x="882" y="428"/>
                  </a:lnTo>
                  <a:lnTo>
                    <a:pt x="886" y="428"/>
                  </a:lnTo>
                  <a:lnTo>
                    <a:pt x="890" y="428"/>
                  </a:lnTo>
                  <a:lnTo>
                    <a:pt x="890" y="424"/>
                  </a:lnTo>
                  <a:lnTo>
                    <a:pt x="890" y="420"/>
                  </a:lnTo>
                  <a:lnTo>
                    <a:pt x="886" y="420"/>
                  </a:lnTo>
                  <a:lnTo>
                    <a:pt x="882" y="420"/>
                  </a:lnTo>
                  <a:lnTo>
                    <a:pt x="882" y="424"/>
                  </a:lnTo>
                  <a:lnTo>
                    <a:pt x="878" y="424"/>
                  </a:lnTo>
                  <a:lnTo>
                    <a:pt x="878" y="420"/>
                  </a:lnTo>
                  <a:lnTo>
                    <a:pt x="882" y="420"/>
                  </a:lnTo>
                  <a:lnTo>
                    <a:pt x="882" y="416"/>
                  </a:lnTo>
                  <a:lnTo>
                    <a:pt x="886" y="416"/>
                  </a:lnTo>
                  <a:lnTo>
                    <a:pt x="890" y="416"/>
                  </a:lnTo>
                  <a:lnTo>
                    <a:pt x="894" y="416"/>
                  </a:lnTo>
                  <a:lnTo>
                    <a:pt x="898" y="412"/>
                  </a:lnTo>
                  <a:lnTo>
                    <a:pt x="902" y="412"/>
                  </a:lnTo>
                  <a:lnTo>
                    <a:pt x="906" y="408"/>
                  </a:lnTo>
                  <a:lnTo>
                    <a:pt x="906" y="404"/>
                  </a:lnTo>
                  <a:lnTo>
                    <a:pt x="910" y="404"/>
                  </a:lnTo>
                  <a:lnTo>
                    <a:pt x="910" y="400"/>
                  </a:lnTo>
                  <a:lnTo>
                    <a:pt x="910" y="396"/>
                  </a:lnTo>
                  <a:lnTo>
                    <a:pt x="910" y="392"/>
                  </a:lnTo>
                  <a:lnTo>
                    <a:pt x="906" y="392"/>
                  </a:lnTo>
                  <a:lnTo>
                    <a:pt x="906" y="388"/>
                  </a:lnTo>
                  <a:lnTo>
                    <a:pt x="910" y="388"/>
                  </a:lnTo>
                  <a:lnTo>
                    <a:pt x="910" y="384"/>
                  </a:lnTo>
                  <a:lnTo>
                    <a:pt x="906" y="384"/>
                  </a:lnTo>
                  <a:lnTo>
                    <a:pt x="906" y="380"/>
                  </a:lnTo>
                  <a:lnTo>
                    <a:pt x="910" y="380"/>
                  </a:lnTo>
                  <a:lnTo>
                    <a:pt x="910" y="376"/>
                  </a:lnTo>
                  <a:lnTo>
                    <a:pt x="906" y="376"/>
                  </a:lnTo>
                  <a:lnTo>
                    <a:pt x="902" y="376"/>
                  </a:lnTo>
                  <a:lnTo>
                    <a:pt x="902" y="372"/>
                  </a:lnTo>
                  <a:lnTo>
                    <a:pt x="906" y="372"/>
                  </a:lnTo>
                  <a:lnTo>
                    <a:pt x="902" y="368"/>
                  </a:lnTo>
                  <a:lnTo>
                    <a:pt x="902" y="364"/>
                  </a:lnTo>
                  <a:lnTo>
                    <a:pt x="898" y="360"/>
                  </a:lnTo>
                  <a:lnTo>
                    <a:pt x="894" y="360"/>
                  </a:lnTo>
                  <a:lnTo>
                    <a:pt x="894" y="356"/>
                  </a:lnTo>
                  <a:lnTo>
                    <a:pt x="898" y="356"/>
                  </a:lnTo>
                  <a:lnTo>
                    <a:pt x="902" y="356"/>
                  </a:lnTo>
                  <a:lnTo>
                    <a:pt x="906" y="360"/>
                  </a:lnTo>
                  <a:lnTo>
                    <a:pt x="906" y="364"/>
                  </a:lnTo>
                  <a:lnTo>
                    <a:pt x="910" y="364"/>
                  </a:lnTo>
                  <a:lnTo>
                    <a:pt x="914" y="364"/>
                  </a:lnTo>
                  <a:lnTo>
                    <a:pt x="914" y="368"/>
                  </a:lnTo>
                  <a:lnTo>
                    <a:pt x="918" y="368"/>
                  </a:lnTo>
                  <a:lnTo>
                    <a:pt x="922" y="368"/>
                  </a:lnTo>
                  <a:lnTo>
                    <a:pt x="926" y="368"/>
                  </a:lnTo>
                  <a:lnTo>
                    <a:pt x="928" y="368"/>
                  </a:lnTo>
                  <a:lnTo>
                    <a:pt x="934" y="368"/>
                  </a:lnTo>
                  <a:lnTo>
                    <a:pt x="936" y="368"/>
                  </a:lnTo>
                  <a:lnTo>
                    <a:pt x="936" y="372"/>
                  </a:lnTo>
                  <a:lnTo>
                    <a:pt x="940" y="372"/>
                  </a:lnTo>
                  <a:lnTo>
                    <a:pt x="944" y="368"/>
                  </a:lnTo>
                  <a:lnTo>
                    <a:pt x="944" y="364"/>
                  </a:lnTo>
                  <a:lnTo>
                    <a:pt x="940" y="364"/>
                  </a:lnTo>
                  <a:lnTo>
                    <a:pt x="940" y="360"/>
                  </a:lnTo>
                  <a:lnTo>
                    <a:pt x="936" y="360"/>
                  </a:lnTo>
                  <a:lnTo>
                    <a:pt x="936" y="356"/>
                  </a:lnTo>
                  <a:lnTo>
                    <a:pt x="934" y="356"/>
                  </a:lnTo>
                  <a:lnTo>
                    <a:pt x="934" y="352"/>
                  </a:lnTo>
                  <a:lnTo>
                    <a:pt x="934" y="348"/>
                  </a:lnTo>
                  <a:lnTo>
                    <a:pt x="928" y="348"/>
                  </a:lnTo>
                  <a:lnTo>
                    <a:pt x="928" y="344"/>
                  </a:lnTo>
                  <a:lnTo>
                    <a:pt x="934" y="344"/>
                  </a:lnTo>
                  <a:lnTo>
                    <a:pt x="934" y="348"/>
                  </a:lnTo>
                  <a:lnTo>
                    <a:pt x="936" y="348"/>
                  </a:lnTo>
                  <a:lnTo>
                    <a:pt x="936" y="352"/>
                  </a:lnTo>
                  <a:lnTo>
                    <a:pt x="936" y="356"/>
                  </a:lnTo>
                  <a:lnTo>
                    <a:pt x="940" y="356"/>
                  </a:lnTo>
                  <a:lnTo>
                    <a:pt x="944" y="356"/>
                  </a:lnTo>
                  <a:lnTo>
                    <a:pt x="948" y="360"/>
                  </a:lnTo>
                  <a:lnTo>
                    <a:pt x="952" y="360"/>
                  </a:lnTo>
                  <a:lnTo>
                    <a:pt x="956" y="364"/>
                  </a:lnTo>
                  <a:lnTo>
                    <a:pt x="956" y="360"/>
                  </a:lnTo>
                  <a:lnTo>
                    <a:pt x="956" y="356"/>
                  </a:lnTo>
                  <a:lnTo>
                    <a:pt x="956" y="352"/>
                  </a:lnTo>
                  <a:lnTo>
                    <a:pt x="956" y="348"/>
                  </a:lnTo>
                  <a:lnTo>
                    <a:pt x="960" y="348"/>
                  </a:lnTo>
                  <a:lnTo>
                    <a:pt x="960" y="344"/>
                  </a:lnTo>
                  <a:lnTo>
                    <a:pt x="956" y="344"/>
                  </a:lnTo>
                  <a:lnTo>
                    <a:pt x="956" y="340"/>
                  </a:lnTo>
                  <a:lnTo>
                    <a:pt x="960" y="340"/>
                  </a:lnTo>
                  <a:lnTo>
                    <a:pt x="960" y="336"/>
                  </a:lnTo>
                  <a:lnTo>
                    <a:pt x="964" y="336"/>
                  </a:lnTo>
                  <a:lnTo>
                    <a:pt x="968" y="332"/>
                  </a:lnTo>
                  <a:lnTo>
                    <a:pt x="972" y="328"/>
                  </a:lnTo>
                  <a:lnTo>
                    <a:pt x="976" y="328"/>
                  </a:lnTo>
                  <a:lnTo>
                    <a:pt x="976" y="332"/>
                  </a:lnTo>
                  <a:lnTo>
                    <a:pt x="980" y="332"/>
                  </a:lnTo>
                  <a:lnTo>
                    <a:pt x="984" y="328"/>
                  </a:lnTo>
                  <a:lnTo>
                    <a:pt x="984" y="324"/>
                  </a:lnTo>
                  <a:lnTo>
                    <a:pt x="984" y="320"/>
                  </a:lnTo>
                  <a:lnTo>
                    <a:pt x="980" y="320"/>
                  </a:lnTo>
                  <a:close/>
                  <a:moveTo>
                    <a:pt x="878" y="444"/>
                  </a:moveTo>
                  <a:lnTo>
                    <a:pt x="874" y="444"/>
                  </a:lnTo>
                  <a:lnTo>
                    <a:pt x="874" y="440"/>
                  </a:lnTo>
                  <a:lnTo>
                    <a:pt x="878" y="440"/>
                  </a:lnTo>
                  <a:lnTo>
                    <a:pt x="878" y="444"/>
                  </a:lnTo>
                  <a:close/>
                </a:path>
              </a:pathLst>
            </a:custGeom>
            <a:solidFill>
              <a:schemeClr val="accent1"/>
            </a:solidFill>
            <a:ln w="9525">
              <a:solidFill>
                <a:srgbClr val="B2B2B2"/>
              </a:solidFill>
              <a:prstDash val="solid"/>
              <a:round/>
              <a:headEnd/>
              <a:tailEnd/>
            </a:ln>
          </p:spPr>
          <p:txBody>
            <a:bodyPr/>
            <a:lstStyle/>
            <a:p>
              <a:endParaRPr lang="en-CA"/>
            </a:p>
          </p:txBody>
        </p:sp>
        <p:sp>
          <p:nvSpPr>
            <p:cNvPr id="379" name="Freeform 438"/>
            <p:cNvSpPr>
              <a:spLocks/>
            </p:cNvSpPr>
            <p:nvPr>
              <p:custDataLst>
                <p:tags r:id="rId2"/>
              </p:custDataLst>
            </p:nvPr>
          </p:nvSpPr>
          <p:spPr bwMode="gray">
            <a:xfrm>
              <a:off x="1109" y="3515"/>
              <a:ext cx="97" cy="149"/>
            </a:xfrm>
            <a:custGeom>
              <a:avLst/>
              <a:gdLst>
                <a:gd name="T0" fmla="*/ 35111010 w 156"/>
                <a:gd name="T1" fmla="*/ 146048785 h 240"/>
                <a:gd name="T2" fmla="*/ 46815009 w 156"/>
                <a:gd name="T3" fmla="*/ 134364843 h 240"/>
                <a:gd name="T4" fmla="*/ 52666515 w 156"/>
                <a:gd name="T5" fmla="*/ 134364843 h 240"/>
                <a:gd name="T6" fmla="*/ 58519008 w 156"/>
                <a:gd name="T7" fmla="*/ 128522379 h 240"/>
                <a:gd name="T8" fmla="*/ 64370514 w 156"/>
                <a:gd name="T9" fmla="*/ 122680901 h 240"/>
                <a:gd name="T10" fmla="*/ 58519008 w 156"/>
                <a:gd name="T11" fmla="*/ 105155480 h 240"/>
                <a:gd name="T12" fmla="*/ 64370514 w 156"/>
                <a:gd name="T13" fmla="*/ 87629074 h 240"/>
                <a:gd name="T14" fmla="*/ 70223007 w 156"/>
                <a:gd name="T15" fmla="*/ 70103653 h 240"/>
                <a:gd name="T16" fmla="*/ 58519008 w 156"/>
                <a:gd name="T17" fmla="*/ 64261189 h 240"/>
                <a:gd name="T18" fmla="*/ 58519008 w 156"/>
                <a:gd name="T19" fmla="*/ 64261189 h 240"/>
                <a:gd name="T20" fmla="*/ 46815009 w 156"/>
                <a:gd name="T21" fmla="*/ 75945132 h 240"/>
                <a:gd name="T22" fmla="*/ 35111010 w 156"/>
                <a:gd name="T23" fmla="*/ 64261189 h 240"/>
                <a:gd name="T24" fmla="*/ 0 w 156"/>
                <a:gd name="T25" fmla="*/ 52577247 h 240"/>
                <a:gd name="T26" fmla="*/ 11703999 w 156"/>
                <a:gd name="T27" fmla="*/ 35051827 h 240"/>
                <a:gd name="T28" fmla="*/ 11703999 w 156"/>
                <a:gd name="T29" fmla="*/ 23367884 h 240"/>
                <a:gd name="T30" fmla="*/ 29259504 w 156"/>
                <a:gd name="T31" fmla="*/ 0 h 240"/>
                <a:gd name="T32" fmla="*/ 52666515 w 156"/>
                <a:gd name="T33" fmla="*/ 0 h 240"/>
                <a:gd name="T34" fmla="*/ 76074513 w 156"/>
                <a:gd name="T35" fmla="*/ 11683942 h 240"/>
                <a:gd name="T36" fmla="*/ 81926019 w 156"/>
                <a:gd name="T37" fmla="*/ 17525421 h 240"/>
                <a:gd name="T38" fmla="*/ 76074513 w 156"/>
                <a:gd name="T39" fmla="*/ 23367884 h 240"/>
                <a:gd name="T40" fmla="*/ 81926019 w 156"/>
                <a:gd name="T41" fmla="*/ 29209363 h 240"/>
                <a:gd name="T42" fmla="*/ 76074513 w 156"/>
                <a:gd name="T43" fmla="*/ 23367884 h 240"/>
                <a:gd name="T44" fmla="*/ 70223007 w 156"/>
                <a:gd name="T45" fmla="*/ 29209363 h 240"/>
                <a:gd name="T46" fmla="*/ 76074513 w 156"/>
                <a:gd name="T47" fmla="*/ 35051827 h 240"/>
                <a:gd name="T48" fmla="*/ 81926019 w 156"/>
                <a:gd name="T49" fmla="*/ 40893305 h 240"/>
                <a:gd name="T50" fmla="*/ 99482512 w 156"/>
                <a:gd name="T51" fmla="*/ 52577247 h 240"/>
                <a:gd name="T52" fmla="*/ 111185524 w 156"/>
                <a:gd name="T53" fmla="*/ 70103653 h 240"/>
                <a:gd name="T54" fmla="*/ 111185524 w 156"/>
                <a:gd name="T55" fmla="*/ 81787596 h 240"/>
                <a:gd name="T56" fmla="*/ 117038017 w 156"/>
                <a:gd name="T57" fmla="*/ 64261189 h 240"/>
                <a:gd name="T58" fmla="*/ 117038017 w 156"/>
                <a:gd name="T59" fmla="*/ 75945132 h 240"/>
                <a:gd name="T60" fmla="*/ 111185524 w 156"/>
                <a:gd name="T61" fmla="*/ 93471538 h 240"/>
                <a:gd name="T62" fmla="*/ 111185524 w 156"/>
                <a:gd name="T63" fmla="*/ 105155480 h 240"/>
                <a:gd name="T64" fmla="*/ 105334018 w 156"/>
                <a:gd name="T65" fmla="*/ 122680901 h 240"/>
                <a:gd name="T66" fmla="*/ 117038017 w 156"/>
                <a:gd name="T67" fmla="*/ 134364843 h 240"/>
                <a:gd name="T68" fmla="*/ 128741029 w 156"/>
                <a:gd name="T69" fmla="*/ 151890263 h 240"/>
                <a:gd name="T70" fmla="*/ 140445028 w 156"/>
                <a:gd name="T71" fmla="*/ 169416670 h 240"/>
                <a:gd name="T72" fmla="*/ 146297521 w 156"/>
                <a:gd name="T73" fmla="*/ 186942090 h 240"/>
                <a:gd name="T74" fmla="*/ 152149027 w 156"/>
                <a:gd name="T75" fmla="*/ 204468496 h 240"/>
                <a:gd name="T76" fmla="*/ 134593522 w 156"/>
                <a:gd name="T77" fmla="*/ 216152438 h 240"/>
                <a:gd name="T78" fmla="*/ 122889523 w 156"/>
                <a:gd name="T79" fmla="*/ 233677859 h 240"/>
                <a:gd name="T80" fmla="*/ 117038017 w 156"/>
                <a:gd name="T81" fmla="*/ 227836381 h 240"/>
                <a:gd name="T82" fmla="*/ 111185524 w 156"/>
                <a:gd name="T83" fmla="*/ 227836381 h 240"/>
                <a:gd name="T84" fmla="*/ 93630019 w 156"/>
                <a:gd name="T85" fmla="*/ 221993917 h 240"/>
                <a:gd name="T86" fmla="*/ 87778513 w 156"/>
                <a:gd name="T87" fmla="*/ 204468496 h 240"/>
                <a:gd name="T88" fmla="*/ 76074513 w 156"/>
                <a:gd name="T89" fmla="*/ 192784554 h 240"/>
                <a:gd name="T90" fmla="*/ 58519008 w 156"/>
                <a:gd name="T91" fmla="*/ 186942090 h 240"/>
                <a:gd name="T92" fmla="*/ 40963503 w 156"/>
                <a:gd name="T93" fmla="*/ 181100612 h 240"/>
                <a:gd name="T94" fmla="*/ 23407998 w 156"/>
                <a:gd name="T95" fmla="*/ 169416670 h 24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56"/>
                <a:gd name="T145" fmla="*/ 0 h 240"/>
                <a:gd name="T146" fmla="*/ 156 w 156"/>
                <a:gd name="T147" fmla="*/ 240 h 24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56" h="240">
                  <a:moveTo>
                    <a:pt x="30" y="162"/>
                  </a:moveTo>
                  <a:lnTo>
                    <a:pt x="30" y="156"/>
                  </a:lnTo>
                  <a:lnTo>
                    <a:pt x="36" y="156"/>
                  </a:lnTo>
                  <a:lnTo>
                    <a:pt x="36" y="150"/>
                  </a:lnTo>
                  <a:lnTo>
                    <a:pt x="42" y="150"/>
                  </a:lnTo>
                  <a:lnTo>
                    <a:pt x="42" y="144"/>
                  </a:lnTo>
                  <a:lnTo>
                    <a:pt x="48" y="144"/>
                  </a:lnTo>
                  <a:lnTo>
                    <a:pt x="48" y="138"/>
                  </a:lnTo>
                  <a:lnTo>
                    <a:pt x="54" y="132"/>
                  </a:lnTo>
                  <a:lnTo>
                    <a:pt x="48" y="132"/>
                  </a:lnTo>
                  <a:lnTo>
                    <a:pt x="54" y="132"/>
                  </a:lnTo>
                  <a:lnTo>
                    <a:pt x="54" y="138"/>
                  </a:lnTo>
                  <a:lnTo>
                    <a:pt x="54" y="132"/>
                  </a:lnTo>
                  <a:lnTo>
                    <a:pt x="54" y="138"/>
                  </a:lnTo>
                  <a:lnTo>
                    <a:pt x="54" y="132"/>
                  </a:lnTo>
                  <a:lnTo>
                    <a:pt x="60" y="132"/>
                  </a:lnTo>
                  <a:lnTo>
                    <a:pt x="60" y="138"/>
                  </a:lnTo>
                  <a:lnTo>
                    <a:pt x="60" y="132"/>
                  </a:lnTo>
                  <a:lnTo>
                    <a:pt x="66" y="132"/>
                  </a:lnTo>
                  <a:lnTo>
                    <a:pt x="66" y="126"/>
                  </a:lnTo>
                  <a:lnTo>
                    <a:pt x="66" y="120"/>
                  </a:lnTo>
                  <a:lnTo>
                    <a:pt x="60" y="120"/>
                  </a:lnTo>
                  <a:lnTo>
                    <a:pt x="60" y="114"/>
                  </a:lnTo>
                  <a:lnTo>
                    <a:pt x="60" y="108"/>
                  </a:lnTo>
                  <a:lnTo>
                    <a:pt x="60" y="102"/>
                  </a:lnTo>
                  <a:lnTo>
                    <a:pt x="60" y="96"/>
                  </a:lnTo>
                  <a:lnTo>
                    <a:pt x="60" y="90"/>
                  </a:lnTo>
                  <a:lnTo>
                    <a:pt x="66" y="90"/>
                  </a:lnTo>
                  <a:lnTo>
                    <a:pt x="66" y="84"/>
                  </a:lnTo>
                  <a:lnTo>
                    <a:pt x="66" y="78"/>
                  </a:lnTo>
                  <a:lnTo>
                    <a:pt x="72" y="78"/>
                  </a:lnTo>
                  <a:lnTo>
                    <a:pt x="72" y="72"/>
                  </a:lnTo>
                  <a:lnTo>
                    <a:pt x="66" y="72"/>
                  </a:lnTo>
                  <a:lnTo>
                    <a:pt x="60" y="72"/>
                  </a:lnTo>
                  <a:lnTo>
                    <a:pt x="66" y="72"/>
                  </a:lnTo>
                  <a:lnTo>
                    <a:pt x="60" y="66"/>
                  </a:lnTo>
                  <a:lnTo>
                    <a:pt x="66" y="66"/>
                  </a:lnTo>
                  <a:lnTo>
                    <a:pt x="60" y="66"/>
                  </a:lnTo>
                  <a:lnTo>
                    <a:pt x="60" y="60"/>
                  </a:lnTo>
                  <a:lnTo>
                    <a:pt x="60" y="66"/>
                  </a:lnTo>
                  <a:lnTo>
                    <a:pt x="54" y="66"/>
                  </a:lnTo>
                  <a:lnTo>
                    <a:pt x="54" y="72"/>
                  </a:lnTo>
                  <a:lnTo>
                    <a:pt x="48" y="72"/>
                  </a:lnTo>
                  <a:lnTo>
                    <a:pt x="48" y="78"/>
                  </a:lnTo>
                  <a:lnTo>
                    <a:pt x="42" y="72"/>
                  </a:lnTo>
                  <a:lnTo>
                    <a:pt x="48" y="72"/>
                  </a:lnTo>
                  <a:lnTo>
                    <a:pt x="48" y="66"/>
                  </a:lnTo>
                  <a:lnTo>
                    <a:pt x="36" y="66"/>
                  </a:lnTo>
                  <a:lnTo>
                    <a:pt x="30" y="66"/>
                  </a:lnTo>
                  <a:lnTo>
                    <a:pt x="18" y="66"/>
                  </a:lnTo>
                  <a:lnTo>
                    <a:pt x="18" y="54"/>
                  </a:lnTo>
                  <a:lnTo>
                    <a:pt x="0" y="54"/>
                  </a:lnTo>
                  <a:lnTo>
                    <a:pt x="0" y="48"/>
                  </a:lnTo>
                  <a:lnTo>
                    <a:pt x="12" y="48"/>
                  </a:lnTo>
                  <a:lnTo>
                    <a:pt x="18" y="36"/>
                  </a:lnTo>
                  <a:lnTo>
                    <a:pt x="12" y="36"/>
                  </a:lnTo>
                  <a:lnTo>
                    <a:pt x="6" y="36"/>
                  </a:lnTo>
                  <a:lnTo>
                    <a:pt x="6" y="30"/>
                  </a:lnTo>
                  <a:lnTo>
                    <a:pt x="6" y="24"/>
                  </a:lnTo>
                  <a:lnTo>
                    <a:pt x="12" y="24"/>
                  </a:lnTo>
                  <a:lnTo>
                    <a:pt x="18" y="24"/>
                  </a:lnTo>
                  <a:lnTo>
                    <a:pt x="24" y="12"/>
                  </a:lnTo>
                  <a:lnTo>
                    <a:pt x="24" y="6"/>
                  </a:lnTo>
                  <a:lnTo>
                    <a:pt x="30" y="0"/>
                  </a:lnTo>
                  <a:lnTo>
                    <a:pt x="36" y="0"/>
                  </a:lnTo>
                  <a:lnTo>
                    <a:pt x="42" y="0"/>
                  </a:lnTo>
                  <a:lnTo>
                    <a:pt x="48" y="0"/>
                  </a:lnTo>
                  <a:lnTo>
                    <a:pt x="54" y="0"/>
                  </a:lnTo>
                  <a:lnTo>
                    <a:pt x="60" y="0"/>
                  </a:lnTo>
                  <a:lnTo>
                    <a:pt x="66" y="6"/>
                  </a:lnTo>
                  <a:lnTo>
                    <a:pt x="72" y="6"/>
                  </a:lnTo>
                  <a:lnTo>
                    <a:pt x="78" y="12"/>
                  </a:lnTo>
                  <a:lnTo>
                    <a:pt x="84" y="12"/>
                  </a:lnTo>
                  <a:lnTo>
                    <a:pt x="78" y="12"/>
                  </a:lnTo>
                  <a:lnTo>
                    <a:pt x="84" y="12"/>
                  </a:lnTo>
                  <a:lnTo>
                    <a:pt x="84" y="18"/>
                  </a:lnTo>
                  <a:lnTo>
                    <a:pt x="84" y="24"/>
                  </a:lnTo>
                  <a:lnTo>
                    <a:pt x="78" y="24"/>
                  </a:lnTo>
                  <a:lnTo>
                    <a:pt x="84" y="24"/>
                  </a:lnTo>
                  <a:lnTo>
                    <a:pt x="78" y="24"/>
                  </a:lnTo>
                  <a:lnTo>
                    <a:pt x="84" y="24"/>
                  </a:lnTo>
                  <a:lnTo>
                    <a:pt x="78" y="24"/>
                  </a:lnTo>
                  <a:lnTo>
                    <a:pt x="78" y="30"/>
                  </a:lnTo>
                  <a:lnTo>
                    <a:pt x="84" y="30"/>
                  </a:lnTo>
                  <a:lnTo>
                    <a:pt x="78" y="30"/>
                  </a:lnTo>
                  <a:lnTo>
                    <a:pt x="84" y="30"/>
                  </a:lnTo>
                  <a:lnTo>
                    <a:pt x="78" y="30"/>
                  </a:lnTo>
                  <a:lnTo>
                    <a:pt x="78" y="24"/>
                  </a:lnTo>
                  <a:lnTo>
                    <a:pt x="78" y="30"/>
                  </a:lnTo>
                  <a:lnTo>
                    <a:pt x="78" y="24"/>
                  </a:lnTo>
                  <a:lnTo>
                    <a:pt x="78" y="30"/>
                  </a:lnTo>
                  <a:lnTo>
                    <a:pt x="72" y="30"/>
                  </a:lnTo>
                  <a:lnTo>
                    <a:pt x="78" y="30"/>
                  </a:lnTo>
                  <a:lnTo>
                    <a:pt x="78" y="36"/>
                  </a:lnTo>
                  <a:lnTo>
                    <a:pt x="78" y="42"/>
                  </a:lnTo>
                  <a:lnTo>
                    <a:pt x="78" y="36"/>
                  </a:lnTo>
                  <a:lnTo>
                    <a:pt x="84" y="36"/>
                  </a:lnTo>
                  <a:lnTo>
                    <a:pt x="84" y="42"/>
                  </a:lnTo>
                  <a:lnTo>
                    <a:pt x="84" y="36"/>
                  </a:lnTo>
                  <a:lnTo>
                    <a:pt x="84" y="42"/>
                  </a:lnTo>
                  <a:lnTo>
                    <a:pt x="90" y="42"/>
                  </a:lnTo>
                  <a:lnTo>
                    <a:pt x="90" y="48"/>
                  </a:lnTo>
                  <a:lnTo>
                    <a:pt x="96" y="48"/>
                  </a:lnTo>
                  <a:lnTo>
                    <a:pt x="102" y="54"/>
                  </a:lnTo>
                  <a:lnTo>
                    <a:pt x="102" y="60"/>
                  </a:lnTo>
                  <a:lnTo>
                    <a:pt x="108" y="66"/>
                  </a:lnTo>
                  <a:lnTo>
                    <a:pt x="108" y="72"/>
                  </a:lnTo>
                  <a:lnTo>
                    <a:pt x="114" y="72"/>
                  </a:lnTo>
                  <a:lnTo>
                    <a:pt x="114" y="78"/>
                  </a:lnTo>
                  <a:lnTo>
                    <a:pt x="108" y="78"/>
                  </a:lnTo>
                  <a:lnTo>
                    <a:pt x="108" y="84"/>
                  </a:lnTo>
                  <a:lnTo>
                    <a:pt x="114" y="84"/>
                  </a:lnTo>
                  <a:lnTo>
                    <a:pt x="114" y="78"/>
                  </a:lnTo>
                  <a:lnTo>
                    <a:pt x="114" y="72"/>
                  </a:lnTo>
                  <a:lnTo>
                    <a:pt x="120" y="72"/>
                  </a:lnTo>
                  <a:lnTo>
                    <a:pt x="120" y="66"/>
                  </a:lnTo>
                  <a:lnTo>
                    <a:pt x="126" y="66"/>
                  </a:lnTo>
                  <a:lnTo>
                    <a:pt x="126" y="72"/>
                  </a:lnTo>
                  <a:lnTo>
                    <a:pt x="120" y="72"/>
                  </a:lnTo>
                  <a:lnTo>
                    <a:pt x="120" y="78"/>
                  </a:lnTo>
                  <a:lnTo>
                    <a:pt x="114" y="78"/>
                  </a:lnTo>
                  <a:lnTo>
                    <a:pt x="114" y="84"/>
                  </a:lnTo>
                  <a:lnTo>
                    <a:pt x="114" y="90"/>
                  </a:lnTo>
                  <a:lnTo>
                    <a:pt x="114" y="96"/>
                  </a:lnTo>
                  <a:lnTo>
                    <a:pt x="114" y="102"/>
                  </a:lnTo>
                  <a:lnTo>
                    <a:pt x="108" y="102"/>
                  </a:lnTo>
                  <a:lnTo>
                    <a:pt x="108" y="108"/>
                  </a:lnTo>
                  <a:lnTo>
                    <a:pt x="114" y="108"/>
                  </a:lnTo>
                  <a:lnTo>
                    <a:pt x="114" y="114"/>
                  </a:lnTo>
                  <a:lnTo>
                    <a:pt x="108" y="114"/>
                  </a:lnTo>
                  <a:lnTo>
                    <a:pt x="108" y="120"/>
                  </a:lnTo>
                  <a:lnTo>
                    <a:pt x="108" y="126"/>
                  </a:lnTo>
                  <a:lnTo>
                    <a:pt x="114" y="126"/>
                  </a:lnTo>
                  <a:lnTo>
                    <a:pt x="114" y="132"/>
                  </a:lnTo>
                  <a:lnTo>
                    <a:pt x="120" y="132"/>
                  </a:lnTo>
                  <a:lnTo>
                    <a:pt x="120" y="138"/>
                  </a:lnTo>
                  <a:lnTo>
                    <a:pt x="120" y="144"/>
                  </a:lnTo>
                  <a:lnTo>
                    <a:pt x="120" y="150"/>
                  </a:lnTo>
                  <a:lnTo>
                    <a:pt x="126" y="150"/>
                  </a:lnTo>
                  <a:lnTo>
                    <a:pt x="132" y="156"/>
                  </a:lnTo>
                  <a:lnTo>
                    <a:pt x="132" y="162"/>
                  </a:lnTo>
                  <a:lnTo>
                    <a:pt x="138" y="168"/>
                  </a:lnTo>
                  <a:lnTo>
                    <a:pt x="138" y="174"/>
                  </a:lnTo>
                  <a:lnTo>
                    <a:pt x="144" y="174"/>
                  </a:lnTo>
                  <a:lnTo>
                    <a:pt x="144" y="180"/>
                  </a:lnTo>
                  <a:lnTo>
                    <a:pt x="150" y="180"/>
                  </a:lnTo>
                  <a:lnTo>
                    <a:pt x="150" y="186"/>
                  </a:lnTo>
                  <a:lnTo>
                    <a:pt x="150" y="192"/>
                  </a:lnTo>
                  <a:lnTo>
                    <a:pt x="156" y="192"/>
                  </a:lnTo>
                  <a:lnTo>
                    <a:pt x="156" y="198"/>
                  </a:lnTo>
                  <a:lnTo>
                    <a:pt x="156" y="204"/>
                  </a:lnTo>
                  <a:lnTo>
                    <a:pt x="156" y="210"/>
                  </a:lnTo>
                  <a:lnTo>
                    <a:pt x="150" y="216"/>
                  </a:lnTo>
                  <a:lnTo>
                    <a:pt x="144" y="216"/>
                  </a:lnTo>
                  <a:lnTo>
                    <a:pt x="144" y="222"/>
                  </a:lnTo>
                  <a:lnTo>
                    <a:pt x="138" y="222"/>
                  </a:lnTo>
                  <a:lnTo>
                    <a:pt x="132" y="222"/>
                  </a:lnTo>
                  <a:lnTo>
                    <a:pt x="132" y="228"/>
                  </a:lnTo>
                  <a:lnTo>
                    <a:pt x="132" y="234"/>
                  </a:lnTo>
                  <a:lnTo>
                    <a:pt x="126" y="240"/>
                  </a:lnTo>
                  <a:lnTo>
                    <a:pt x="126" y="234"/>
                  </a:lnTo>
                  <a:lnTo>
                    <a:pt x="126" y="240"/>
                  </a:lnTo>
                  <a:lnTo>
                    <a:pt x="120" y="240"/>
                  </a:lnTo>
                  <a:lnTo>
                    <a:pt x="120" y="234"/>
                  </a:lnTo>
                  <a:lnTo>
                    <a:pt x="120" y="240"/>
                  </a:lnTo>
                  <a:lnTo>
                    <a:pt x="114" y="234"/>
                  </a:lnTo>
                  <a:lnTo>
                    <a:pt x="114" y="240"/>
                  </a:lnTo>
                  <a:lnTo>
                    <a:pt x="114" y="234"/>
                  </a:lnTo>
                  <a:lnTo>
                    <a:pt x="108" y="234"/>
                  </a:lnTo>
                  <a:lnTo>
                    <a:pt x="102" y="234"/>
                  </a:lnTo>
                  <a:lnTo>
                    <a:pt x="102" y="228"/>
                  </a:lnTo>
                  <a:lnTo>
                    <a:pt x="96" y="228"/>
                  </a:lnTo>
                  <a:lnTo>
                    <a:pt x="96" y="222"/>
                  </a:lnTo>
                  <a:lnTo>
                    <a:pt x="96" y="216"/>
                  </a:lnTo>
                  <a:lnTo>
                    <a:pt x="90" y="216"/>
                  </a:lnTo>
                  <a:lnTo>
                    <a:pt x="90" y="210"/>
                  </a:lnTo>
                  <a:lnTo>
                    <a:pt x="84" y="210"/>
                  </a:lnTo>
                  <a:lnTo>
                    <a:pt x="84" y="204"/>
                  </a:lnTo>
                  <a:lnTo>
                    <a:pt x="78" y="204"/>
                  </a:lnTo>
                  <a:lnTo>
                    <a:pt x="78" y="198"/>
                  </a:lnTo>
                  <a:lnTo>
                    <a:pt x="72" y="198"/>
                  </a:lnTo>
                  <a:lnTo>
                    <a:pt x="66" y="198"/>
                  </a:lnTo>
                  <a:lnTo>
                    <a:pt x="60" y="198"/>
                  </a:lnTo>
                  <a:lnTo>
                    <a:pt x="60" y="192"/>
                  </a:lnTo>
                  <a:lnTo>
                    <a:pt x="54" y="186"/>
                  </a:lnTo>
                  <a:lnTo>
                    <a:pt x="48" y="192"/>
                  </a:lnTo>
                  <a:lnTo>
                    <a:pt x="48" y="186"/>
                  </a:lnTo>
                  <a:lnTo>
                    <a:pt x="42" y="186"/>
                  </a:lnTo>
                  <a:lnTo>
                    <a:pt x="36" y="186"/>
                  </a:lnTo>
                  <a:lnTo>
                    <a:pt x="36" y="180"/>
                  </a:lnTo>
                  <a:lnTo>
                    <a:pt x="30" y="180"/>
                  </a:lnTo>
                  <a:lnTo>
                    <a:pt x="24" y="174"/>
                  </a:lnTo>
                  <a:lnTo>
                    <a:pt x="30" y="168"/>
                  </a:lnTo>
                  <a:lnTo>
                    <a:pt x="30" y="162"/>
                  </a:lnTo>
                  <a:close/>
                </a:path>
              </a:pathLst>
            </a:custGeom>
            <a:solidFill>
              <a:schemeClr val="accent1"/>
            </a:solidFill>
            <a:ln w="9525">
              <a:solidFill>
                <a:srgbClr val="B2B2B2"/>
              </a:solidFill>
              <a:round/>
              <a:headEnd/>
              <a:tailEnd/>
            </a:ln>
          </p:spPr>
          <p:txBody>
            <a:bodyPr/>
            <a:lstStyle/>
            <a:p>
              <a:endParaRPr lang="en-CA"/>
            </a:p>
          </p:txBody>
        </p:sp>
        <p:sp>
          <p:nvSpPr>
            <p:cNvPr id="380" name="Freeform 439"/>
            <p:cNvSpPr>
              <a:spLocks/>
            </p:cNvSpPr>
            <p:nvPr>
              <p:custDataLst>
                <p:tags r:id="rId3"/>
              </p:custDataLst>
            </p:nvPr>
          </p:nvSpPr>
          <p:spPr bwMode="gray">
            <a:xfrm>
              <a:off x="1091" y="3552"/>
              <a:ext cx="63" cy="64"/>
            </a:xfrm>
            <a:custGeom>
              <a:avLst/>
              <a:gdLst>
                <a:gd name="T0" fmla="*/ 57829488 w 102"/>
                <a:gd name="T1" fmla="*/ 95663373 h 102"/>
                <a:gd name="T2" fmla="*/ 46264375 w 102"/>
                <a:gd name="T3" fmla="*/ 95663373 h 102"/>
                <a:gd name="T4" fmla="*/ 40481328 w 102"/>
                <a:gd name="T5" fmla="*/ 89683914 h 102"/>
                <a:gd name="T6" fmla="*/ 34698281 w 102"/>
                <a:gd name="T7" fmla="*/ 83705451 h 102"/>
                <a:gd name="T8" fmla="*/ 23132187 w 102"/>
                <a:gd name="T9" fmla="*/ 83705451 h 102"/>
                <a:gd name="T10" fmla="*/ 17349140 w 102"/>
                <a:gd name="T11" fmla="*/ 89683914 h 102"/>
                <a:gd name="T12" fmla="*/ 11566094 w 102"/>
                <a:gd name="T13" fmla="*/ 83705451 h 102"/>
                <a:gd name="T14" fmla="*/ 11566094 w 102"/>
                <a:gd name="T15" fmla="*/ 71747529 h 102"/>
                <a:gd name="T16" fmla="*/ 17349140 w 102"/>
                <a:gd name="T17" fmla="*/ 77725992 h 102"/>
                <a:gd name="T18" fmla="*/ 23132187 w 102"/>
                <a:gd name="T19" fmla="*/ 71747529 h 102"/>
                <a:gd name="T20" fmla="*/ 23132187 w 102"/>
                <a:gd name="T21" fmla="*/ 59789608 h 102"/>
                <a:gd name="T22" fmla="*/ 17349140 w 102"/>
                <a:gd name="T23" fmla="*/ 53810149 h 102"/>
                <a:gd name="T24" fmla="*/ 11566094 w 102"/>
                <a:gd name="T25" fmla="*/ 53810149 h 102"/>
                <a:gd name="T26" fmla="*/ 5783047 w 102"/>
                <a:gd name="T27" fmla="*/ 41852227 h 102"/>
                <a:gd name="T28" fmla="*/ 5783047 w 102"/>
                <a:gd name="T29" fmla="*/ 35873765 h 102"/>
                <a:gd name="T30" fmla="*/ 5783047 w 102"/>
                <a:gd name="T31" fmla="*/ 35873765 h 102"/>
                <a:gd name="T32" fmla="*/ 5783047 w 102"/>
                <a:gd name="T33" fmla="*/ 35873765 h 102"/>
                <a:gd name="T34" fmla="*/ 11566094 w 102"/>
                <a:gd name="T35" fmla="*/ 29894306 h 102"/>
                <a:gd name="T36" fmla="*/ 17349140 w 102"/>
                <a:gd name="T37" fmla="*/ 23915843 h 102"/>
                <a:gd name="T38" fmla="*/ 28915234 w 102"/>
                <a:gd name="T39" fmla="*/ 17936384 h 102"/>
                <a:gd name="T40" fmla="*/ 28915234 w 102"/>
                <a:gd name="T41" fmla="*/ 5978463 h 102"/>
                <a:gd name="T42" fmla="*/ 34698281 w 102"/>
                <a:gd name="T43" fmla="*/ 11957922 h 102"/>
                <a:gd name="T44" fmla="*/ 46264375 w 102"/>
                <a:gd name="T45" fmla="*/ 5978463 h 102"/>
                <a:gd name="T46" fmla="*/ 63612535 w 102"/>
                <a:gd name="T47" fmla="*/ 5978463 h 102"/>
                <a:gd name="T48" fmla="*/ 75178628 w 102"/>
                <a:gd name="T49" fmla="*/ 11957922 h 102"/>
                <a:gd name="T50" fmla="*/ 75178628 w 102"/>
                <a:gd name="T51" fmla="*/ 17936384 h 102"/>
                <a:gd name="T52" fmla="*/ 80961675 w 102"/>
                <a:gd name="T53" fmla="*/ 11957922 h 102"/>
                <a:gd name="T54" fmla="*/ 86744722 w 102"/>
                <a:gd name="T55" fmla="*/ 5978463 h 102"/>
                <a:gd name="T56" fmla="*/ 86744722 w 102"/>
                <a:gd name="T57" fmla="*/ 5978463 h 102"/>
                <a:gd name="T58" fmla="*/ 86744722 w 102"/>
                <a:gd name="T59" fmla="*/ 5978463 h 102"/>
                <a:gd name="T60" fmla="*/ 86744722 w 102"/>
                <a:gd name="T61" fmla="*/ 11957922 h 102"/>
                <a:gd name="T62" fmla="*/ 98310815 w 102"/>
                <a:gd name="T63" fmla="*/ 11957922 h 102"/>
                <a:gd name="T64" fmla="*/ 92527769 w 102"/>
                <a:gd name="T65" fmla="*/ 17936384 h 102"/>
                <a:gd name="T66" fmla="*/ 92527769 w 102"/>
                <a:gd name="T67" fmla="*/ 29894306 h 102"/>
                <a:gd name="T68" fmla="*/ 86744722 w 102"/>
                <a:gd name="T69" fmla="*/ 35873765 h 102"/>
                <a:gd name="T70" fmla="*/ 86744722 w 102"/>
                <a:gd name="T71" fmla="*/ 47831686 h 102"/>
                <a:gd name="T72" fmla="*/ 86744722 w 102"/>
                <a:gd name="T73" fmla="*/ 59789608 h 102"/>
                <a:gd name="T74" fmla="*/ 92527769 w 102"/>
                <a:gd name="T75" fmla="*/ 65768071 h 102"/>
                <a:gd name="T76" fmla="*/ 86744722 w 102"/>
                <a:gd name="T77" fmla="*/ 71747529 h 102"/>
                <a:gd name="T78" fmla="*/ 86744722 w 102"/>
                <a:gd name="T79" fmla="*/ 71747529 h 102"/>
                <a:gd name="T80" fmla="*/ 80961675 w 102"/>
                <a:gd name="T81" fmla="*/ 77725992 h 102"/>
                <a:gd name="T82" fmla="*/ 80961675 w 102"/>
                <a:gd name="T83" fmla="*/ 77725992 h 102"/>
                <a:gd name="T84" fmla="*/ 75178628 w 102"/>
                <a:gd name="T85" fmla="*/ 71747529 h 102"/>
                <a:gd name="T86" fmla="*/ 75178628 w 102"/>
                <a:gd name="T87" fmla="*/ 77725992 h 102"/>
                <a:gd name="T88" fmla="*/ 69395581 w 102"/>
                <a:gd name="T89" fmla="*/ 83705451 h 102"/>
                <a:gd name="T90" fmla="*/ 63612535 w 102"/>
                <a:gd name="T91" fmla="*/ 89683914 h 102"/>
                <a:gd name="T92" fmla="*/ 57829488 w 102"/>
                <a:gd name="T93" fmla="*/ 95663373 h 10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02"/>
                <a:gd name="T142" fmla="*/ 0 h 102"/>
                <a:gd name="T143" fmla="*/ 102 w 102"/>
                <a:gd name="T144" fmla="*/ 102 h 10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02" h="102">
                  <a:moveTo>
                    <a:pt x="60" y="102"/>
                  </a:moveTo>
                  <a:lnTo>
                    <a:pt x="60" y="96"/>
                  </a:lnTo>
                  <a:lnTo>
                    <a:pt x="54" y="96"/>
                  </a:lnTo>
                  <a:lnTo>
                    <a:pt x="48" y="96"/>
                  </a:lnTo>
                  <a:lnTo>
                    <a:pt x="42" y="96"/>
                  </a:lnTo>
                  <a:lnTo>
                    <a:pt x="42" y="90"/>
                  </a:lnTo>
                  <a:lnTo>
                    <a:pt x="36" y="90"/>
                  </a:lnTo>
                  <a:lnTo>
                    <a:pt x="36" y="84"/>
                  </a:lnTo>
                  <a:lnTo>
                    <a:pt x="30" y="84"/>
                  </a:lnTo>
                  <a:lnTo>
                    <a:pt x="24" y="84"/>
                  </a:lnTo>
                  <a:lnTo>
                    <a:pt x="18" y="84"/>
                  </a:lnTo>
                  <a:lnTo>
                    <a:pt x="18" y="90"/>
                  </a:lnTo>
                  <a:lnTo>
                    <a:pt x="12" y="90"/>
                  </a:lnTo>
                  <a:lnTo>
                    <a:pt x="12" y="84"/>
                  </a:lnTo>
                  <a:lnTo>
                    <a:pt x="12" y="78"/>
                  </a:lnTo>
                  <a:lnTo>
                    <a:pt x="12" y="72"/>
                  </a:lnTo>
                  <a:lnTo>
                    <a:pt x="12" y="78"/>
                  </a:lnTo>
                  <a:lnTo>
                    <a:pt x="18" y="78"/>
                  </a:lnTo>
                  <a:lnTo>
                    <a:pt x="18" y="72"/>
                  </a:lnTo>
                  <a:lnTo>
                    <a:pt x="24" y="72"/>
                  </a:lnTo>
                  <a:lnTo>
                    <a:pt x="24" y="66"/>
                  </a:lnTo>
                  <a:lnTo>
                    <a:pt x="24" y="60"/>
                  </a:lnTo>
                  <a:lnTo>
                    <a:pt x="18" y="60"/>
                  </a:lnTo>
                  <a:lnTo>
                    <a:pt x="18" y="54"/>
                  </a:lnTo>
                  <a:lnTo>
                    <a:pt x="12" y="48"/>
                  </a:lnTo>
                  <a:lnTo>
                    <a:pt x="12" y="54"/>
                  </a:lnTo>
                  <a:lnTo>
                    <a:pt x="6" y="54"/>
                  </a:lnTo>
                  <a:lnTo>
                    <a:pt x="6" y="42"/>
                  </a:lnTo>
                  <a:lnTo>
                    <a:pt x="0" y="36"/>
                  </a:lnTo>
                  <a:lnTo>
                    <a:pt x="6" y="36"/>
                  </a:lnTo>
                  <a:lnTo>
                    <a:pt x="0" y="36"/>
                  </a:lnTo>
                  <a:lnTo>
                    <a:pt x="6" y="36"/>
                  </a:lnTo>
                  <a:lnTo>
                    <a:pt x="0" y="36"/>
                  </a:lnTo>
                  <a:lnTo>
                    <a:pt x="6" y="36"/>
                  </a:lnTo>
                  <a:lnTo>
                    <a:pt x="6" y="30"/>
                  </a:lnTo>
                  <a:lnTo>
                    <a:pt x="12" y="30"/>
                  </a:lnTo>
                  <a:lnTo>
                    <a:pt x="18" y="30"/>
                  </a:lnTo>
                  <a:lnTo>
                    <a:pt x="18" y="24"/>
                  </a:lnTo>
                  <a:lnTo>
                    <a:pt x="24" y="24"/>
                  </a:lnTo>
                  <a:lnTo>
                    <a:pt x="30" y="18"/>
                  </a:lnTo>
                  <a:lnTo>
                    <a:pt x="30" y="24"/>
                  </a:lnTo>
                  <a:lnTo>
                    <a:pt x="30" y="6"/>
                  </a:lnTo>
                  <a:lnTo>
                    <a:pt x="36" y="6"/>
                  </a:lnTo>
                  <a:lnTo>
                    <a:pt x="36" y="12"/>
                  </a:lnTo>
                  <a:lnTo>
                    <a:pt x="48" y="12"/>
                  </a:lnTo>
                  <a:lnTo>
                    <a:pt x="48" y="6"/>
                  </a:lnTo>
                  <a:lnTo>
                    <a:pt x="60" y="6"/>
                  </a:lnTo>
                  <a:lnTo>
                    <a:pt x="66" y="6"/>
                  </a:lnTo>
                  <a:lnTo>
                    <a:pt x="78" y="6"/>
                  </a:lnTo>
                  <a:lnTo>
                    <a:pt x="78" y="12"/>
                  </a:lnTo>
                  <a:lnTo>
                    <a:pt x="72" y="12"/>
                  </a:lnTo>
                  <a:lnTo>
                    <a:pt x="78" y="18"/>
                  </a:lnTo>
                  <a:lnTo>
                    <a:pt x="78" y="12"/>
                  </a:lnTo>
                  <a:lnTo>
                    <a:pt x="84" y="12"/>
                  </a:lnTo>
                  <a:lnTo>
                    <a:pt x="84" y="6"/>
                  </a:lnTo>
                  <a:lnTo>
                    <a:pt x="90" y="6"/>
                  </a:lnTo>
                  <a:lnTo>
                    <a:pt x="90" y="0"/>
                  </a:lnTo>
                  <a:lnTo>
                    <a:pt x="90" y="6"/>
                  </a:lnTo>
                  <a:lnTo>
                    <a:pt x="96" y="6"/>
                  </a:lnTo>
                  <a:lnTo>
                    <a:pt x="90" y="6"/>
                  </a:lnTo>
                  <a:lnTo>
                    <a:pt x="96" y="12"/>
                  </a:lnTo>
                  <a:lnTo>
                    <a:pt x="90" y="12"/>
                  </a:lnTo>
                  <a:lnTo>
                    <a:pt x="96" y="12"/>
                  </a:lnTo>
                  <a:lnTo>
                    <a:pt x="102" y="12"/>
                  </a:lnTo>
                  <a:lnTo>
                    <a:pt x="102" y="18"/>
                  </a:lnTo>
                  <a:lnTo>
                    <a:pt x="96" y="18"/>
                  </a:lnTo>
                  <a:lnTo>
                    <a:pt x="96" y="24"/>
                  </a:lnTo>
                  <a:lnTo>
                    <a:pt x="96" y="30"/>
                  </a:lnTo>
                  <a:lnTo>
                    <a:pt x="90" y="30"/>
                  </a:lnTo>
                  <a:lnTo>
                    <a:pt x="90" y="36"/>
                  </a:lnTo>
                  <a:lnTo>
                    <a:pt x="90" y="42"/>
                  </a:lnTo>
                  <a:lnTo>
                    <a:pt x="90" y="48"/>
                  </a:lnTo>
                  <a:lnTo>
                    <a:pt x="90" y="54"/>
                  </a:lnTo>
                  <a:lnTo>
                    <a:pt x="90" y="60"/>
                  </a:lnTo>
                  <a:lnTo>
                    <a:pt x="96" y="60"/>
                  </a:lnTo>
                  <a:lnTo>
                    <a:pt x="96" y="66"/>
                  </a:lnTo>
                  <a:lnTo>
                    <a:pt x="96" y="72"/>
                  </a:lnTo>
                  <a:lnTo>
                    <a:pt x="90" y="72"/>
                  </a:lnTo>
                  <a:lnTo>
                    <a:pt x="90" y="78"/>
                  </a:lnTo>
                  <a:lnTo>
                    <a:pt x="90" y="72"/>
                  </a:lnTo>
                  <a:lnTo>
                    <a:pt x="84" y="72"/>
                  </a:lnTo>
                  <a:lnTo>
                    <a:pt x="84" y="78"/>
                  </a:lnTo>
                  <a:lnTo>
                    <a:pt x="84" y="72"/>
                  </a:lnTo>
                  <a:lnTo>
                    <a:pt x="84" y="78"/>
                  </a:lnTo>
                  <a:lnTo>
                    <a:pt x="84" y="72"/>
                  </a:lnTo>
                  <a:lnTo>
                    <a:pt x="78" y="72"/>
                  </a:lnTo>
                  <a:lnTo>
                    <a:pt x="84" y="72"/>
                  </a:lnTo>
                  <a:lnTo>
                    <a:pt x="78" y="78"/>
                  </a:lnTo>
                  <a:lnTo>
                    <a:pt x="78" y="84"/>
                  </a:lnTo>
                  <a:lnTo>
                    <a:pt x="72" y="84"/>
                  </a:lnTo>
                  <a:lnTo>
                    <a:pt x="72" y="90"/>
                  </a:lnTo>
                  <a:lnTo>
                    <a:pt x="66" y="90"/>
                  </a:lnTo>
                  <a:lnTo>
                    <a:pt x="66" y="96"/>
                  </a:lnTo>
                  <a:lnTo>
                    <a:pt x="60" y="96"/>
                  </a:lnTo>
                  <a:lnTo>
                    <a:pt x="60" y="102"/>
                  </a:lnTo>
                  <a:close/>
                </a:path>
              </a:pathLst>
            </a:custGeom>
            <a:solidFill>
              <a:schemeClr val="accent1"/>
            </a:solidFill>
            <a:ln w="9525">
              <a:solidFill>
                <a:srgbClr val="B2B2B2"/>
              </a:solidFill>
              <a:round/>
              <a:headEnd/>
              <a:tailEnd/>
            </a:ln>
          </p:spPr>
          <p:txBody>
            <a:bodyPr/>
            <a:lstStyle/>
            <a:p>
              <a:endParaRPr lang="en-CA"/>
            </a:p>
          </p:txBody>
        </p:sp>
        <p:sp>
          <p:nvSpPr>
            <p:cNvPr id="381" name="Freeform 440"/>
            <p:cNvSpPr>
              <a:spLocks/>
            </p:cNvSpPr>
            <p:nvPr>
              <p:custDataLst>
                <p:tags r:id="rId4"/>
              </p:custDataLst>
            </p:nvPr>
          </p:nvSpPr>
          <p:spPr bwMode="gray">
            <a:xfrm>
              <a:off x="990" y="3462"/>
              <a:ext cx="138" cy="105"/>
            </a:xfrm>
            <a:custGeom>
              <a:avLst/>
              <a:gdLst>
                <a:gd name="T0" fmla="*/ 192299496 w 222"/>
                <a:gd name="T1" fmla="*/ 153463093 h 168"/>
                <a:gd name="T2" fmla="*/ 186472298 w 222"/>
                <a:gd name="T3" fmla="*/ 165268175 h 168"/>
                <a:gd name="T4" fmla="*/ 174817903 w 222"/>
                <a:gd name="T5" fmla="*/ 165268175 h 168"/>
                <a:gd name="T6" fmla="*/ 168990705 w 222"/>
                <a:gd name="T7" fmla="*/ 153463093 h 168"/>
                <a:gd name="T8" fmla="*/ 157335323 w 222"/>
                <a:gd name="T9" fmla="*/ 159365634 h 168"/>
                <a:gd name="T10" fmla="*/ 151508125 w 222"/>
                <a:gd name="T11" fmla="*/ 147560552 h 168"/>
                <a:gd name="T12" fmla="*/ 157335323 w 222"/>
                <a:gd name="T13" fmla="*/ 147560552 h 168"/>
                <a:gd name="T14" fmla="*/ 145680928 w 222"/>
                <a:gd name="T15" fmla="*/ 147560552 h 168"/>
                <a:gd name="T16" fmla="*/ 134026532 w 222"/>
                <a:gd name="T17" fmla="*/ 141658011 h 168"/>
                <a:gd name="T18" fmla="*/ 128199335 w 222"/>
                <a:gd name="T19" fmla="*/ 153463093 h 168"/>
                <a:gd name="T20" fmla="*/ 122372137 w 222"/>
                <a:gd name="T21" fmla="*/ 153463093 h 168"/>
                <a:gd name="T22" fmla="*/ 110717742 w 222"/>
                <a:gd name="T23" fmla="*/ 159365634 h 168"/>
                <a:gd name="T24" fmla="*/ 99063347 w 222"/>
                <a:gd name="T25" fmla="*/ 147560552 h 168"/>
                <a:gd name="T26" fmla="*/ 87408951 w 222"/>
                <a:gd name="T27" fmla="*/ 153463093 h 168"/>
                <a:gd name="T28" fmla="*/ 75754556 w 222"/>
                <a:gd name="T29" fmla="*/ 153463093 h 168"/>
                <a:gd name="T30" fmla="*/ 75754556 w 222"/>
                <a:gd name="T31" fmla="*/ 147560552 h 168"/>
                <a:gd name="T32" fmla="*/ 69927358 w 222"/>
                <a:gd name="T33" fmla="*/ 147560552 h 168"/>
                <a:gd name="T34" fmla="*/ 64100161 w 222"/>
                <a:gd name="T35" fmla="*/ 135756462 h 168"/>
                <a:gd name="T36" fmla="*/ 69927358 w 222"/>
                <a:gd name="T37" fmla="*/ 135756462 h 168"/>
                <a:gd name="T38" fmla="*/ 75754556 w 222"/>
                <a:gd name="T39" fmla="*/ 123951380 h 168"/>
                <a:gd name="T40" fmla="*/ 58272963 w 222"/>
                <a:gd name="T41" fmla="*/ 123951380 h 168"/>
                <a:gd name="T42" fmla="*/ 46617581 w 222"/>
                <a:gd name="T43" fmla="*/ 112146297 h 168"/>
                <a:gd name="T44" fmla="*/ 34963186 w 222"/>
                <a:gd name="T45" fmla="*/ 112146297 h 168"/>
                <a:gd name="T46" fmla="*/ 23308791 w 222"/>
                <a:gd name="T47" fmla="*/ 106243756 h 168"/>
                <a:gd name="T48" fmla="*/ 29135988 w 222"/>
                <a:gd name="T49" fmla="*/ 94438674 h 168"/>
                <a:gd name="T50" fmla="*/ 34963186 w 222"/>
                <a:gd name="T51" fmla="*/ 82634584 h 168"/>
                <a:gd name="T52" fmla="*/ 23308791 w 222"/>
                <a:gd name="T53" fmla="*/ 70829502 h 168"/>
                <a:gd name="T54" fmla="*/ 5827198 w 222"/>
                <a:gd name="T55" fmla="*/ 64926960 h 168"/>
                <a:gd name="T56" fmla="*/ 0 w 222"/>
                <a:gd name="T57" fmla="*/ 53121878 h 168"/>
                <a:gd name="T58" fmla="*/ 5827198 w 222"/>
                <a:gd name="T59" fmla="*/ 35414255 h 168"/>
                <a:gd name="T60" fmla="*/ 11654395 w 222"/>
                <a:gd name="T61" fmla="*/ 35414255 h 168"/>
                <a:gd name="T62" fmla="*/ 17481593 w 222"/>
                <a:gd name="T63" fmla="*/ 23610165 h 168"/>
                <a:gd name="T64" fmla="*/ 23308791 w 222"/>
                <a:gd name="T65" fmla="*/ 17707623 h 168"/>
                <a:gd name="T66" fmla="*/ 40790383 w 222"/>
                <a:gd name="T67" fmla="*/ 17707623 h 168"/>
                <a:gd name="T68" fmla="*/ 52444779 w 222"/>
                <a:gd name="T69" fmla="*/ 23610165 h 168"/>
                <a:gd name="T70" fmla="*/ 58272963 w 222"/>
                <a:gd name="T71" fmla="*/ 11805082 h 168"/>
                <a:gd name="T72" fmla="*/ 69927358 w 222"/>
                <a:gd name="T73" fmla="*/ 17707623 h 168"/>
                <a:gd name="T74" fmla="*/ 87408951 w 222"/>
                <a:gd name="T75" fmla="*/ 5902541 h 168"/>
                <a:gd name="T76" fmla="*/ 99063347 w 222"/>
                <a:gd name="T77" fmla="*/ 5902541 h 168"/>
                <a:gd name="T78" fmla="*/ 110717742 w 222"/>
                <a:gd name="T79" fmla="*/ 11805082 h 168"/>
                <a:gd name="T80" fmla="*/ 122372137 w 222"/>
                <a:gd name="T81" fmla="*/ 17707623 h 168"/>
                <a:gd name="T82" fmla="*/ 134026532 w 222"/>
                <a:gd name="T83" fmla="*/ 23610165 h 168"/>
                <a:gd name="T84" fmla="*/ 145680928 w 222"/>
                <a:gd name="T85" fmla="*/ 29511714 h 168"/>
                <a:gd name="T86" fmla="*/ 151508125 w 222"/>
                <a:gd name="T87" fmla="*/ 41316796 h 168"/>
                <a:gd name="T88" fmla="*/ 163163507 w 222"/>
                <a:gd name="T89" fmla="*/ 47219337 h 168"/>
                <a:gd name="T90" fmla="*/ 174817903 w 222"/>
                <a:gd name="T91" fmla="*/ 53121878 h 168"/>
                <a:gd name="T92" fmla="*/ 186472298 w 222"/>
                <a:gd name="T93" fmla="*/ 59024419 h 168"/>
                <a:gd name="T94" fmla="*/ 209781089 w 222"/>
                <a:gd name="T95" fmla="*/ 76732043 h 168"/>
                <a:gd name="T96" fmla="*/ 209781089 w 222"/>
                <a:gd name="T97" fmla="*/ 94438674 h 168"/>
                <a:gd name="T98" fmla="*/ 192299496 w 222"/>
                <a:gd name="T99" fmla="*/ 106243756 h 168"/>
                <a:gd name="T100" fmla="*/ 198126693 w 222"/>
                <a:gd name="T101" fmla="*/ 118048838 h 168"/>
                <a:gd name="T102" fmla="*/ 186472298 w 222"/>
                <a:gd name="T103" fmla="*/ 129853921 h 168"/>
                <a:gd name="T104" fmla="*/ 203953891 w 222"/>
                <a:gd name="T105" fmla="*/ 147560552 h 16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2"/>
                <a:gd name="T160" fmla="*/ 0 h 168"/>
                <a:gd name="T161" fmla="*/ 222 w 222"/>
                <a:gd name="T162" fmla="*/ 168 h 16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2" h="168">
                  <a:moveTo>
                    <a:pt x="210" y="150"/>
                  </a:moveTo>
                  <a:lnTo>
                    <a:pt x="210" y="156"/>
                  </a:lnTo>
                  <a:lnTo>
                    <a:pt x="198" y="156"/>
                  </a:lnTo>
                  <a:lnTo>
                    <a:pt x="198" y="150"/>
                  </a:lnTo>
                  <a:lnTo>
                    <a:pt x="192" y="150"/>
                  </a:lnTo>
                  <a:lnTo>
                    <a:pt x="192" y="168"/>
                  </a:lnTo>
                  <a:lnTo>
                    <a:pt x="192" y="162"/>
                  </a:lnTo>
                  <a:lnTo>
                    <a:pt x="186" y="168"/>
                  </a:lnTo>
                  <a:lnTo>
                    <a:pt x="180" y="168"/>
                  </a:lnTo>
                  <a:lnTo>
                    <a:pt x="180" y="162"/>
                  </a:lnTo>
                  <a:lnTo>
                    <a:pt x="174" y="162"/>
                  </a:lnTo>
                  <a:lnTo>
                    <a:pt x="174" y="156"/>
                  </a:lnTo>
                  <a:lnTo>
                    <a:pt x="168" y="156"/>
                  </a:lnTo>
                  <a:lnTo>
                    <a:pt x="168" y="162"/>
                  </a:lnTo>
                  <a:lnTo>
                    <a:pt x="162" y="162"/>
                  </a:lnTo>
                  <a:lnTo>
                    <a:pt x="156" y="162"/>
                  </a:lnTo>
                  <a:lnTo>
                    <a:pt x="156" y="156"/>
                  </a:lnTo>
                  <a:lnTo>
                    <a:pt x="156" y="150"/>
                  </a:lnTo>
                  <a:lnTo>
                    <a:pt x="162" y="150"/>
                  </a:lnTo>
                  <a:lnTo>
                    <a:pt x="162" y="144"/>
                  </a:lnTo>
                  <a:lnTo>
                    <a:pt x="162" y="150"/>
                  </a:lnTo>
                  <a:lnTo>
                    <a:pt x="156" y="150"/>
                  </a:lnTo>
                  <a:lnTo>
                    <a:pt x="156" y="156"/>
                  </a:lnTo>
                  <a:lnTo>
                    <a:pt x="150" y="150"/>
                  </a:lnTo>
                  <a:lnTo>
                    <a:pt x="144" y="150"/>
                  </a:lnTo>
                  <a:lnTo>
                    <a:pt x="138" y="150"/>
                  </a:lnTo>
                  <a:lnTo>
                    <a:pt x="138" y="144"/>
                  </a:lnTo>
                  <a:lnTo>
                    <a:pt x="138" y="150"/>
                  </a:lnTo>
                  <a:lnTo>
                    <a:pt x="132" y="150"/>
                  </a:lnTo>
                  <a:lnTo>
                    <a:pt x="132" y="156"/>
                  </a:lnTo>
                  <a:lnTo>
                    <a:pt x="132" y="162"/>
                  </a:lnTo>
                  <a:lnTo>
                    <a:pt x="132" y="156"/>
                  </a:lnTo>
                  <a:lnTo>
                    <a:pt x="126" y="156"/>
                  </a:lnTo>
                  <a:lnTo>
                    <a:pt x="120" y="156"/>
                  </a:lnTo>
                  <a:lnTo>
                    <a:pt x="114" y="156"/>
                  </a:lnTo>
                  <a:lnTo>
                    <a:pt x="114" y="162"/>
                  </a:lnTo>
                  <a:lnTo>
                    <a:pt x="108" y="156"/>
                  </a:lnTo>
                  <a:lnTo>
                    <a:pt x="108" y="150"/>
                  </a:lnTo>
                  <a:lnTo>
                    <a:pt x="102" y="150"/>
                  </a:lnTo>
                  <a:lnTo>
                    <a:pt x="102" y="156"/>
                  </a:lnTo>
                  <a:lnTo>
                    <a:pt x="96" y="156"/>
                  </a:lnTo>
                  <a:lnTo>
                    <a:pt x="90" y="156"/>
                  </a:lnTo>
                  <a:lnTo>
                    <a:pt x="90" y="162"/>
                  </a:lnTo>
                  <a:lnTo>
                    <a:pt x="84" y="162"/>
                  </a:lnTo>
                  <a:lnTo>
                    <a:pt x="78" y="156"/>
                  </a:lnTo>
                  <a:lnTo>
                    <a:pt x="84" y="156"/>
                  </a:lnTo>
                  <a:lnTo>
                    <a:pt x="78" y="156"/>
                  </a:lnTo>
                  <a:lnTo>
                    <a:pt x="78" y="150"/>
                  </a:lnTo>
                  <a:lnTo>
                    <a:pt x="78" y="144"/>
                  </a:lnTo>
                  <a:lnTo>
                    <a:pt x="72" y="144"/>
                  </a:lnTo>
                  <a:lnTo>
                    <a:pt x="72" y="150"/>
                  </a:lnTo>
                  <a:lnTo>
                    <a:pt x="66" y="150"/>
                  </a:lnTo>
                  <a:lnTo>
                    <a:pt x="66" y="144"/>
                  </a:lnTo>
                  <a:lnTo>
                    <a:pt x="66" y="138"/>
                  </a:lnTo>
                  <a:lnTo>
                    <a:pt x="72" y="138"/>
                  </a:lnTo>
                  <a:lnTo>
                    <a:pt x="72" y="132"/>
                  </a:lnTo>
                  <a:lnTo>
                    <a:pt x="72" y="138"/>
                  </a:lnTo>
                  <a:lnTo>
                    <a:pt x="72" y="132"/>
                  </a:lnTo>
                  <a:lnTo>
                    <a:pt x="78" y="132"/>
                  </a:lnTo>
                  <a:lnTo>
                    <a:pt x="78" y="126"/>
                  </a:lnTo>
                  <a:lnTo>
                    <a:pt x="72" y="126"/>
                  </a:lnTo>
                  <a:lnTo>
                    <a:pt x="66" y="126"/>
                  </a:lnTo>
                  <a:lnTo>
                    <a:pt x="60" y="126"/>
                  </a:lnTo>
                  <a:lnTo>
                    <a:pt x="54" y="126"/>
                  </a:lnTo>
                  <a:lnTo>
                    <a:pt x="48" y="120"/>
                  </a:lnTo>
                  <a:lnTo>
                    <a:pt x="48" y="114"/>
                  </a:lnTo>
                  <a:lnTo>
                    <a:pt x="42" y="114"/>
                  </a:lnTo>
                  <a:lnTo>
                    <a:pt x="42" y="120"/>
                  </a:lnTo>
                  <a:lnTo>
                    <a:pt x="36" y="114"/>
                  </a:lnTo>
                  <a:lnTo>
                    <a:pt x="30" y="114"/>
                  </a:lnTo>
                  <a:lnTo>
                    <a:pt x="30" y="108"/>
                  </a:lnTo>
                  <a:lnTo>
                    <a:pt x="24" y="108"/>
                  </a:lnTo>
                  <a:lnTo>
                    <a:pt x="24" y="102"/>
                  </a:lnTo>
                  <a:lnTo>
                    <a:pt x="30" y="102"/>
                  </a:lnTo>
                  <a:lnTo>
                    <a:pt x="30" y="96"/>
                  </a:lnTo>
                  <a:lnTo>
                    <a:pt x="36" y="96"/>
                  </a:lnTo>
                  <a:lnTo>
                    <a:pt x="36" y="90"/>
                  </a:lnTo>
                  <a:lnTo>
                    <a:pt x="36" y="84"/>
                  </a:lnTo>
                  <a:lnTo>
                    <a:pt x="24" y="84"/>
                  </a:lnTo>
                  <a:lnTo>
                    <a:pt x="24" y="78"/>
                  </a:lnTo>
                  <a:lnTo>
                    <a:pt x="24" y="72"/>
                  </a:lnTo>
                  <a:lnTo>
                    <a:pt x="24" y="66"/>
                  </a:lnTo>
                  <a:lnTo>
                    <a:pt x="18" y="66"/>
                  </a:lnTo>
                  <a:lnTo>
                    <a:pt x="6" y="66"/>
                  </a:lnTo>
                  <a:lnTo>
                    <a:pt x="6" y="60"/>
                  </a:lnTo>
                  <a:lnTo>
                    <a:pt x="6" y="54"/>
                  </a:lnTo>
                  <a:lnTo>
                    <a:pt x="0" y="54"/>
                  </a:lnTo>
                  <a:lnTo>
                    <a:pt x="0" y="48"/>
                  </a:lnTo>
                  <a:lnTo>
                    <a:pt x="0" y="36"/>
                  </a:lnTo>
                  <a:lnTo>
                    <a:pt x="6" y="36"/>
                  </a:lnTo>
                  <a:lnTo>
                    <a:pt x="6" y="42"/>
                  </a:lnTo>
                  <a:lnTo>
                    <a:pt x="12" y="42"/>
                  </a:lnTo>
                  <a:lnTo>
                    <a:pt x="12" y="36"/>
                  </a:lnTo>
                  <a:lnTo>
                    <a:pt x="18" y="36"/>
                  </a:lnTo>
                  <a:lnTo>
                    <a:pt x="18" y="30"/>
                  </a:lnTo>
                  <a:lnTo>
                    <a:pt x="18" y="24"/>
                  </a:lnTo>
                  <a:lnTo>
                    <a:pt x="12" y="24"/>
                  </a:lnTo>
                  <a:lnTo>
                    <a:pt x="24" y="24"/>
                  </a:lnTo>
                  <a:lnTo>
                    <a:pt x="24" y="18"/>
                  </a:lnTo>
                  <a:lnTo>
                    <a:pt x="30" y="18"/>
                  </a:lnTo>
                  <a:lnTo>
                    <a:pt x="36" y="18"/>
                  </a:lnTo>
                  <a:lnTo>
                    <a:pt x="42" y="18"/>
                  </a:lnTo>
                  <a:lnTo>
                    <a:pt x="48" y="18"/>
                  </a:lnTo>
                  <a:lnTo>
                    <a:pt x="54" y="18"/>
                  </a:lnTo>
                  <a:lnTo>
                    <a:pt x="54" y="24"/>
                  </a:lnTo>
                  <a:lnTo>
                    <a:pt x="60" y="24"/>
                  </a:lnTo>
                  <a:lnTo>
                    <a:pt x="60" y="18"/>
                  </a:lnTo>
                  <a:lnTo>
                    <a:pt x="60" y="12"/>
                  </a:lnTo>
                  <a:lnTo>
                    <a:pt x="66" y="12"/>
                  </a:lnTo>
                  <a:lnTo>
                    <a:pt x="66" y="18"/>
                  </a:lnTo>
                  <a:lnTo>
                    <a:pt x="72" y="18"/>
                  </a:lnTo>
                  <a:lnTo>
                    <a:pt x="78" y="18"/>
                  </a:lnTo>
                  <a:lnTo>
                    <a:pt x="84" y="12"/>
                  </a:lnTo>
                  <a:lnTo>
                    <a:pt x="90" y="6"/>
                  </a:lnTo>
                  <a:lnTo>
                    <a:pt x="96" y="0"/>
                  </a:lnTo>
                  <a:lnTo>
                    <a:pt x="96" y="6"/>
                  </a:lnTo>
                  <a:lnTo>
                    <a:pt x="102" y="6"/>
                  </a:lnTo>
                  <a:lnTo>
                    <a:pt x="102" y="12"/>
                  </a:lnTo>
                  <a:lnTo>
                    <a:pt x="108" y="12"/>
                  </a:lnTo>
                  <a:lnTo>
                    <a:pt x="114" y="12"/>
                  </a:lnTo>
                  <a:lnTo>
                    <a:pt x="114" y="18"/>
                  </a:lnTo>
                  <a:lnTo>
                    <a:pt x="120" y="18"/>
                  </a:lnTo>
                  <a:lnTo>
                    <a:pt x="126" y="18"/>
                  </a:lnTo>
                  <a:lnTo>
                    <a:pt x="132" y="18"/>
                  </a:lnTo>
                  <a:lnTo>
                    <a:pt x="138" y="18"/>
                  </a:lnTo>
                  <a:lnTo>
                    <a:pt x="138" y="24"/>
                  </a:lnTo>
                  <a:lnTo>
                    <a:pt x="144" y="24"/>
                  </a:lnTo>
                  <a:lnTo>
                    <a:pt x="144" y="30"/>
                  </a:lnTo>
                  <a:lnTo>
                    <a:pt x="150" y="30"/>
                  </a:lnTo>
                  <a:lnTo>
                    <a:pt x="150" y="36"/>
                  </a:lnTo>
                  <a:lnTo>
                    <a:pt x="150" y="42"/>
                  </a:lnTo>
                  <a:lnTo>
                    <a:pt x="156" y="42"/>
                  </a:lnTo>
                  <a:lnTo>
                    <a:pt x="156" y="48"/>
                  </a:lnTo>
                  <a:lnTo>
                    <a:pt x="162" y="48"/>
                  </a:lnTo>
                  <a:lnTo>
                    <a:pt x="168" y="48"/>
                  </a:lnTo>
                  <a:lnTo>
                    <a:pt x="168" y="54"/>
                  </a:lnTo>
                  <a:lnTo>
                    <a:pt x="174" y="54"/>
                  </a:lnTo>
                  <a:lnTo>
                    <a:pt x="180" y="54"/>
                  </a:lnTo>
                  <a:lnTo>
                    <a:pt x="186" y="54"/>
                  </a:lnTo>
                  <a:lnTo>
                    <a:pt x="186" y="60"/>
                  </a:lnTo>
                  <a:lnTo>
                    <a:pt x="192" y="60"/>
                  </a:lnTo>
                  <a:lnTo>
                    <a:pt x="198" y="66"/>
                  </a:lnTo>
                  <a:lnTo>
                    <a:pt x="204" y="72"/>
                  </a:lnTo>
                  <a:lnTo>
                    <a:pt x="216" y="78"/>
                  </a:lnTo>
                  <a:lnTo>
                    <a:pt x="222" y="84"/>
                  </a:lnTo>
                  <a:lnTo>
                    <a:pt x="216" y="90"/>
                  </a:lnTo>
                  <a:lnTo>
                    <a:pt x="216" y="96"/>
                  </a:lnTo>
                  <a:lnTo>
                    <a:pt x="210" y="108"/>
                  </a:lnTo>
                  <a:lnTo>
                    <a:pt x="204" y="108"/>
                  </a:lnTo>
                  <a:lnTo>
                    <a:pt x="198" y="108"/>
                  </a:lnTo>
                  <a:lnTo>
                    <a:pt x="198" y="114"/>
                  </a:lnTo>
                  <a:lnTo>
                    <a:pt x="198" y="120"/>
                  </a:lnTo>
                  <a:lnTo>
                    <a:pt x="204" y="120"/>
                  </a:lnTo>
                  <a:lnTo>
                    <a:pt x="210" y="120"/>
                  </a:lnTo>
                  <a:lnTo>
                    <a:pt x="204" y="132"/>
                  </a:lnTo>
                  <a:lnTo>
                    <a:pt x="192" y="132"/>
                  </a:lnTo>
                  <a:lnTo>
                    <a:pt x="192" y="138"/>
                  </a:lnTo>
                  <a:lnTo>
                    <a:pt x="210" y="138"/>
                  </a:lnTo>
                  <a:lnTo>
                    <a:pt x="210" y="150"/>
                  </a:lnTo>
                  <a:close/>
                </a:path>
              </a:pathLst>
            </a:custGeom>
            <a:solidFill>
              <a:schemeClr val="accent1"/>
            </a:solidFill>
            <a:ln w="9525">
              <a:solidFill>
                <a:srgbClr val="B2B2B2"/>
              </a:solidFill>
              <a:round/>
              <a:headEnd/>
              <a:tailEnd/>
            </a:ln>
          </p:spPr>
          <p:txBody>
            <a:bodyPr/>
            <a:lstStyle/>
            <a:p>
              <a:endParaRPr lang="en-CA"/>
            </a:p>
          </p:txBody>
        </p:sp>
        <p:sp>
          <p:nvSpPr>
            <p:cNvPr id="382" name="Freeform 441"/>
            <p:cNvSpPr>
              <a:spLocks/>
            </p:cNvSpPr>
            <p:nvPr>
              <p:custDataLst>
                <p:tags r:id="rId5"/>
              </p:custDataLst>
            </p:nvPr>
          </p:nvSpPr>
          <p:spPr bwMode="gray">
            <a:xfrm>
              <a:off x="926" y="3508"/>
              <a:ext cx="61" cy="55"/>
            </a:xfrm>
            <a:custGeom>
              <a:avLst/>
              <a:gdLst>
                <a:gd name="T0" fmla="*/ 78496278 w 96"/>
                <a:gd name="T1" fmla="*/ 34357666 h 90"/>
                <a:gd name="T2" fmla="*/ 78496278 w 96"/>
                <a:gd name="T3" fmla="*/ 45810221 h 90"/>
                <a:gd name="T4" fmla="*/ 84534530 w 96"/>
                <a:gd name="T5" fmla="*/ 51536013 h 90"/>
                <a:gd name="T6" fmla="*/ 78496278 w 96"/>
                <a:gd name="T7" fmla="*/ 62988568 h 90"/>
                <a:gd name="T8" fmla="*/ 78496278 w 96"/>
                <a:gd name="T9" fmla="*/ 68715331 h 90"/>
                <a:gd name="T10" fmla="*/ 84534530 w 96"/>
                <a:gd name="T11" fmla="*/ 74441124 h 90"/>
                <a:gd name="T12" fmla="*/ 78496278 w 96"/>
                <a:gd name="T13" fmla="*/ 80167886 h 90"/>
                <a:gd name="T14" fmla="*/ 72458025 w 96"/>
                <a:gd name="T15" fmla="*/ 85893679 h 90"/>
                <a:gd name="T16" fmla="*/ 66419772 w 96"/>
                <a:gd name="T17" fmla="*/ 80167886 h 90"/>
                <a:gd name="T18" fmla="*/ 60381519 w 96"/>
                <a:gd name="T19" fmla="*/ 74441124 h 90"/>
                <a:gd name="T20" fmla="*/ 54343266 w 96"/>
                <a:gd name="T21" fmla="*/ 68715331 h 90"/>
                <a:gd name="T22" fmla="*/ 48306022 w 96"/>
                <a:gd name="T23" fmla="*/ 62988568 h 90"/>
                <a:gd name="T24" fmla="*/ 60381519 w 96"/>
                <a:gd name="T25" fmla="*/ 62988568 h 90"/>
                <a:gd name="T26" fmla="*/ 60381519 w 96"/>
                <a:gd name="T27" fmla="*/ 62988568 h 90"/>
                <a:gd name="T28" fmla="*/ 66419772 w 96"/>
                <a:gd name="T29" fmla="*/ 57262776 h 90"/>
                <a:gd name="T30" fmla="*/ 60381519 w 96"/>
                <a:gd name="T31" fmla="*/ 51536013 h 90"/>
                <a:gd name="T32" fmla="*/ 54343266 w 96"/>
                <a:gd name="T33" fmla="*/ 45810221 h 90"/>
                <a:gd name="T34" fmla="*/ 54343266 w 96"/>
                <a:gd name="T35" fmla="*/ 34357666 h 90"/>
                <a:gd name="T36" fmla="*/ 54343266 w 96"/>
                <a:gd name="T37" fmla="*/ 28630903 h 90"/>
                <a:gd name="T38" fmla="*/ 60381519 w 96"/>
                <a:gd name="T39" fmla="*/ 22905110 h 90"/>
                <a:gd name="T40" fmla="*/ 54343266 w 96"/>
                <a:gd name="T41" fmla="*/ 11452555 h 90"/>
                <a:gd name="T42" fmla="*/ 42267770 w 96"/>
                <a:gd name="T43" fmla="*/ 11452555 h 90"/>
                <a:gd name="T44" fmla="*/ 42267770 w 96"/>
                <a:gd name="T45" fmla="*/ 11452555 h 90"/>
                <a:gd name="T46" fmla="*/ 42267770 w 96"/>
                <a:gd name="T47" fmla="*/ 5725793 h 90"/>
                <a:gd name="T48" fmla="*/ 42267770 w 96"/>
                <a:gd name="T49" fmla="*/ 5725793 h 90"/>
                <a:gd name="T50" fmla="*/ 36229517 w 96"/>
                <a:gd name="T51" fmla="*/ 11452555 h 90"/>
                <a:gd name="T52" fmla="*/ 42267770 w 96"/>
                <a:gd name="T53" fmla="*/ 17178348 h 90"/>
                <a:gd name="T54" fmla="*/ 42267770 w 96"/>
                <a:gd name="T55" fmla="*/ 17178348 h 90"/>
                <a:gd name="T56" fmla="*/ 36229517 w 96"/>
                <a:gd name="T57" fmla="*/ 22905110 h 90"/>
                <a:gd name="T58" fmla="*/ 24153011 w 96"/>
                <a:gd name="T59" fmla="*/ 22905110 h 90"/>
                <a:gd name="T60" fmla="*/ 12076506 w 96"/>
                <a:gd name="T61" fmla="*/ 17178348 h 90"/>
                <a:gd name="T62" fmla="*/ 6038253 w 96"/>
                <a:gd name="T63" fmla="*/ 11452555 h 90"/>
                <a:gd name="T64" fmla="*/ 0 w 96"/>
                <a:gd name="T65" fmla="*/ 5725793 h 90"/>
                <a:gd name="T66" fmla="*/ 6038253 w 96"/>
                <a:gd name="T67" fmla="*/ 11452555 h 90"/>
                <a:gd name="T68" fmla="*/ 12076506 w 96"/>
                <a:gd name="T69" fmla="*/ 5725793 h 90"/>
                <a:gd name="T70" fmla="*/ 18114758 w 96"/>
                <a:gd name="T71" fmla="*/ 11452555 h 90"/>
                <a:gd name="T72" fmla="*/ 30191264 w 96"/>
                <a:gd name="T73" fmla="*/ 11452555 h 90"/>
                <a:gd name="T74" fmla="*/ 36229517 w 96"/>
                <a:gd name="T75" fmla="*/ 5725793 h 90"/>
                <a:gd name="T76" fmla="*/ 42267770 w 96"/>
                <a:gd name="T77" fmla="*/ 0 h 90"/>
                <a:gd name="T78" fmla="*/ 54343266 w 96"/>
                <a:gd name="T79" fmla="*/ 0 h 90"/>
                <a:gd name="T80" fmla="*/ 54343266 w 96"/>
                <a:gd name="T81" fmla="*/ 0 h 90"/>
                <a:gd name="T82" fmla="*/ 60381519 w 96"/>
                <a:gd name="T83" fmla="*/ 5725793 h 90"/>
                <a:gd name="T84" fmla="*/ 72458025 w 96"/>
                <a:gd name="T85" fmla="*/ 5725793 h 90"/>
                <a:gd name="T86" fmla="*/ 78496278 w 96"/>
                <a:gd name="T87" fmla="*/ 11452555 h 90"/>
                <a:gd name="T88" fmla="*/ 78496278 w 96"/>
                <a:gd name="T89" fmla="*/ 11452555 h 90"/>
                <a:gd name="T90" fmla="*/ 84534530 w 96"/>
                <a:gd name="T91" fmla="*/ 17178348 h 90"/>
                <a:gd name="T92" fmla="*/ 90572783 w 96"/>
                <a:gd name="T93" fmla="*/ 22905110 h 90"/>
                <a:gd name="T94" fmla="*/ 96611036 w 96"/>
                <a:gd name="T95" fmla="*/ 34357666 h 90"/>
                <a:gd name="T96" fmla="*/ 96611036 w 96"/>
                <a:gd name="T97" fmla="*/ 45810221 h 90"/>
                <a:gd name="T98" fmla="*/ 90572783 w 96"/>
                <a:gd name="T99" fmla="*/ 40083458 h 90"/>
                <a:gd name="T100" fmla="*/ 90572783 w 96"/>
                <a:gd name="T101" fmla="*/ 28630903 h 90"/>
                <a:gd name="T102" fmla="*/ 84534530 w 96"/>
                <a:gd name="T103" fmla="*/ 22905110 h 90"/>
                <a:gd name="T104" fmla="*/ 78496278 w 96"/>
                <a:gd name="T105" fmla="*/ 28630903 h 9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96"/>
                <a:gd name="T160" fmla="*/ 0 h 90"/>
                <a:gd name="T161" fmla="*/ 96 w 96"/>
                <a:gd name="T162" fmla="*/ 90 h 9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96" h="90">
                  <a:moveTo>
                    <a:pt x="78" y="30"/>
                  </a:moveTo>
                  <a:lnTo>
                    <a:pt x="78" y="36"/>
                  </a:lnTo>
                  <a:lnTo>
                    <a:pt x="78" y="42"/>
                  </a:lnTo>
                  <a:lnTo>
                    <a:pt x="78" y="48"/>
                  </a:lnTo>
                  <a:lnTo>
                    <a:pt x="84" y="48"/>
                  </a:lnTo>
                  <a:lnTo>
                    <a:pt x="84" y="54"/>
                  </a:lnTo>
                  <a:lnTo>
                    <a:pt x="78" y="60"/>
                  </a:lnTo>
                  <a:lnTo>
                    <a:pt x="78" y="66"/>
                  </a:lnTo>
                  <a:lnTo>
                    <a:pt x="84" y="66"/>
                  </a:lnTo>
                  <a:lnTo>
                    <a:pt x="78" y="72"/>
                  </a:lnTo>
                  <a:lnTo>
                    <a:pt x="84" y="72"/>
                  </a:lnTo>
                  <a:lnTo>
                    <a:pt x="84" y="78"/>
                  </a:lnTo>
                  <a:lnTo>
                    <a:pt x="78" y="78"/>
                  </a:lnTo>
                  <a:lnTo>
                    <a:pt x="78" y="84"/>
                  </a:lnTo>
                  <a:lnTo>
                    <a:pt x="78" y="90"/>
                  </a:lnTo>
                  <a:lnTo>
                    <a:pt x="72" y="90"/>
                  </a:lnTo>
                  <a:lnTo>
                    <a:pt x="72" y="84"/>
                  </a:lnTo>
                  <a:lnTo>
                    <a:pt x="66" y="84"/>
                  </a:lnTo>
                  <a:lnTo>
                    <a:pt x="60" y="84"/>
                  </a:lnTo>
                  <a:lnTo>
                    <a:pt x="60" y="78"/>
                  </a:lnTo>
                  <a:lnTo>
                    <a:pt x="54" y="78"/>
                  </a:lnTo>
                  <a:lnTo>
                    <a:pt x="54" y="72"/>
                  </a:lnTo>
                  <a:lnTo>
                    <a:pt x="54" y="66"/>
                  </a:lnTo>
                  <a:lnTo>
                    <a:pt x="48" y="66"/>
                  </a:lnTo>
                  <a:lnTo>
                    <a:pt x="54" y="66"/>
                  </a:lnTo>
                  <a:lnTo>
                    <a:pt x="60" y="66"/>
                  </a:lnTo>
                  <a:lnTo>
                    <a:pt x="60" y="72"/>
                  </a:lnTo>
                  <a:lnTo>
                    <a:pt x="60" y="66"/>
                  </a:lnTo>
                  <a:lnTo>
                    <a:pt x="66" y="66"/>
                  </a:lnTo>
                  <a:lnTo>
                    <a:pt x="66" y="60"/>
                  </a:lnTo>
                  <a:lnTo>
                    <a:pt x="60" y="60"/>
                  </a:lnTo>
                  <a:lnTo>
                    <a:pt x="60" y="54"/>
                  </a:lnTo>
                  <a:lnTo>
                    <a:pt x="54" y="54"/>
                  </a:lnTo>
                  <a:lnTo>
                    <a:pt x="54" y="48"/>
                  </a:lnTo>
                  <a:lnTo>
                    <a:pt x="54" y="42"/>
                  </a:lnTo>
                  <a:lnTo>
                    <a:pt x="54" y="36"/>
                  </a:lnTo>
                  <a:lnTo>
                    <a:pt x="60" y="36"/>
                  </a:lnTo>
                  <a:lnTo>
                    <a:pt x="54" y="30"/>
                  </a:lnTo>
                  <a:lnTo>
                    <a:pt x="60" y="30"/>
                  </a:lnTo>
                  <a:lnTo>
                    <a:pt x="60" y="24"/>
                  </a:lnTo>
                  <a:lnTo>
                    <a:pt x="60" y="18"/>
                  </a:lnTo>
                  <a:lnTo>
                    <a:pt x="54" y="12"/>
                  </a:lnTo>
                  <a:lnTo>
                    <a:pt x="48" y="12"/>
                  </a:lnTo>
                  <a:lnTo>
                    <a:pt x="42" y="12"/>
                  </a:lnTo>
                  <a:lnTo>
                    <a:pt x="48" y="12"/>
                  </a:lnTo>
                  <a:lnTo>
                    <a:pt x="42" y="12"/>
                  </a:lnTo>
                  <a:lnTo>
                    <a:pt x="48" y="12"/>
                  </a:lnTo>
                  <a:lnTo>
                    <a:pt x="42" y="6"/>
                  </a:lnTo>
                  <a:lnTo>
                    <a:pt x="36" y="6"/>
                  </a:lnTo>
                  <a:lnTo>
                    <a:pt x="42" y="6"/>
                  </a:lnTo>
                  <a:lnTo>
                    <a:pt x="36" y="6"/>
                  </a:lnTo>
                  <a:lnTo>
                    <a:pt x="36" y="12"/>
                  </a:lnTo>
                  <a:lnTo>
                    <a:pt x="42" y="12"/>
                  </a:lnTo>
                  <a:lnTo>
                    <a:pt x="42" y="18"/>
                  </a:lnTo>
                  <a:lnTo>
                    <a:pt x="48" y="18"/>
                  </a:lnTo>
                  <a:lnTo>
                    <a:pt x="42" y="18"/>
                  </a:lnTo>
                  <a:lnTo>
                    <a:pt x="42" y="24"/>
                  </a:lnTo>
                  <a:lnTo>
                    <a:pt x="36" y="24"/>
                  </a:lnTo>
                  <a:lnTo>
                    <a:pt x="30" y="24"/>
                  </a:lnTo>
                  <a:lnTo>
                    <a:pt x="24" y="24"/>
                  </a:lnTo>
                  <a:lnTo>
                    <a:pt x="18" y="18"/>
                  </a:lnTo>
                  <a:lnTo>
                    <a:pt x="12" y="18"/>
                  </a:lnTo>
                  <a:lnTo>
                    <a:pt x="6" y="18"/>
                  </a:lnTo>
                  <a:lnTo>
                    <a:pt x="6" y="12"/>
                  </a:lnTo>
                  <a:lnTo>
                    <a:pt x="0" y="12"/>
                  </a:lnTo>
                  <a:lnTo>
                    <a:pt x="0" y="6"/>
                  </a:lnTo>
                  <a:lnTo>
                    <a:pt x="6" y="6"/>
                  </a:lnTo>
                  <a:lnTo>
                    <a:pt x="6" y="12"/>
                  </a:lnTo>
                  <a:lnTo>
                    <a:pt x="12" y="12"/>
                  </a:lnTo>
                  <a:lnTo>
                    <a:pt x="12" y="6"/>
                  </a:lnTo>
                  <a:lnTo>
                    <a:pt x="12" y="12"/>
                  </a:lnTo>
                  <a:lnTo>
                    <a:pt x="18" y="12"/>
                  </a:lnTo>
                  <a:lnTo>
                    <a:pt x="24" y="12"/>
                  </a:lnTo>
                  <a:lnTo>
                    <a:pt x="30" y="12"/>
                  </a:lnTo>
                  <a:lnTo>
                    <a:pt x="30" y="6"/>
                  </a:lnTo>
                  <a:lnTo>
                    <a:pt x="36" y="6"/>
                  </a:lnTo>
                  <a:lnTo>
                    <a:pt x="36" y="0"/>
                  </a:lnTo>
                  <a:lnTo>
                    <a:pt x="42" y="0"/>
                  </a:lnTo>
                  <a:lnTo>
                    <a:pt x="48" y="0"/>
                  </a:lnTo>
                  <a:lnTo>
                    <a:pt x="54" y="0"/>
                  </a:lnTo>
                  <a:lnTo>
                    <a:pt x="54" y="6"/>
                  </a:lnTo>
                  <a:lnTo>
                    <a:pt x="54" y="0"/>
                  </a:lnTo>
                  <a:lnTo>
                    <a:pt x="54" y="6"/>
                  </a:lnTo>
                  <a:lnTo>
                    <a:pt x="60" y="6"/>
                  </a:lnTo>
                  <a:lnTo>
                    <a:pt x="66" y="6"/>
                  </a:lnTo>
                  <a:lnTo>
                    <a:pt x="72" y="6"/>
                  </a:lnTo>
                  <a:lnTo>
                    <a:pt x="78" y="6"/>
                  </a:lnTo>
                  <a:lnTo>
                    <a:pt x="78" y="12"/>
                  </a:lnTo>
                  <a:lnTo>
                    <a:pt x="78" y="6"/>
                  </a:lnTo>
                  <a:lnTo>
                    <a:pt x="78" y="12"/>
                  </a:lnTo>
                  <a:lnTo>
                    <a:pt x="84" y="12"/>
                  </a:lnTo>
                  <a:lnTo>
                    <a:pt x="84" y="18"/>
                  </a:lnTo>
                  <a:lnTo>
                    <a:pt x="90" y="18"/>
                  </a:lnTo>
                  <a:lnTo>
                    <a:pt x="90" y="24"/>
                  </a:lnTo>
                  <a:lnTo>
                    <a:pt x="90" y="30"/>
                  </a:lnTo>
                  <a:lnTo>
                    <a:pt x="96" y="36"/>
                  </a:lnTo>
                  <a:lnTo>
                    <a:pt x="96" y="42"/>
                  </a:lnTo>
                  <a:lnTo>
                    <a:pt x="96" y="48"/>
                  </a:lnTo>
                  <a:lnTo>
                    <a:pt x="90" y="48"/>
                  </a:lnTo>
                  <a:lnTo>
                    <a:pt x="90" y="42"/>
                  </a:lnTo>
                  <a:lnTo>
                    <a:pt x="90" y="36"/>
                  </a:lnTo>
                  <a:lnTo>
                    <a:pt x="90" y="30"/>
                  </a:lnTo>
                  <a:lnTo>
                    <a:pt x="84" y="30"/>
                  </a:lnTo>
                  <a:lnTo>
                    <a:pt x="84" y="24"/>
                  </a:lnTo>
                  <a:lnTo>
                    <a:pt x="84" y="30"/>
                  </a:lnTo>
                  <a:lnTo>
                    <a:pt x="78" y="30"/>
                  </a:lnTo>
                  <a:close/>
                </a:path>
              </a:pathLst>
            </a:custGeom>
            <a:solidFill>
              <a:schemeClr val="accent1"/>
            </a:solidFill>
            <a:ln w="9525">
              <a:solidFill>
                <a:srgbClr val="B2B2B2"/>
              </a:solidFill>
              <a:round/>
              <a:headEnd/>
              <a:tailEnd/>
            </a:ln>
          </p:spPr>
          <p:txBody>
            <a:bodyPr/>
            <a:lstStyle/>
            <a:p>
              <a:endParaRPr lang="en-CA"/>
            </a:p>
          </p:txBody>
        </p:sp>
        <p:sp>
          <p:nvSpPr>
            <p:cNvPr id="383" name="Freeform 442"/>
            <p:cNvSpPr>
              <a:spLocks/>
            </p:cNvSpPr>
            <p:nvPr>
              <p:custDataLst>
                <p:tags r:id="rId6"/>
              </p:custDataLst>
            </p:nvPr>
          </p:nvSpPr>
          <p:spPr bwMode="gray">
            <a:xfrm>
              <a:off x="983" y="3533"/>
              <a:ext cx="59" cy="53"/>
            </a:xfrm>
            <a:custGeom>
              <a:avLst/>
              <a:gdLst>
                <a:gd name="T0" fmla="*/ 74736422 w 96"/>
                <a:gd name="T1" fmla="*/ 84172057 h 84"/>
                <a:gd name="T2" fmla="*/ 63238436 w 96"/>
                <a:gd name="T3" fmla="*/ 84172057 h 84"/>
                <a:gd name="T4" fmla="*/ 51740450 w 96"/>
                <a:gd name="T5" fmla="*/ 84172057 h 84"/>
                <a:gd name="T6" fmla="*/ 40242464 w 96"/>
                <a:gd name="T7" fmla="*/ 84172057 h 84"/>
                <a:gd name="T8" fmla="*/ 34493958 w 96"/>
                <a:gd name="T9" fmla="*/ 78160268 h 84"/>
                <a:gd name="T10" fmla="*/ 34493958 w 96"/>
                <a:gd name="T11" fmla="*/ 78160268 h 84"/>
                <a:gd name="T12" fmla="*/ 28744478 w 96"/>
                <a:gd name="T13" fmla="*/ 72147478 h 84"/>
                <a:gd name="T14" fmla="*/ 17246491 w 96"/>
                <a:gd name="T15" fmla="*/ 72147478 h 84"/>
                <a:gd name="T16" fmla="*/ 11497986 w 96"/>
                <a:gd name="T17" fmla="*/ 66135689 h 84"/>
                <a:gd name="T18" fmla="*/ 5748505 w 96"/>
                <a:gd name="T19" fmla="*/ 60122898 h 84"/>
                <a:gd name="T20" fmla="*/ 0 w 96"/>
                <a:gd name="T21" fmla="*/ 54110107 h 84"/>
                <a:gd name="T22" fmla="*/ 0 w 96"/>
                <a:gd name="T23" fmla="*/ 54110107 h 84"/>
                <a:gd name="T24" fmla="*/ 5748505 w 96"/>
                <a:gd name="T25" fmla="*/ 48098318 h 84"/>
                <a:gd name="T26" fmla="*/ 5748505 w 96"/>
                <a:gd name="T27" fmla="*/ 36073739 h 84"/>
                <a:gd name="T28" fmla="*/ 11497986 w 96"/>
                <a:gd name="T29" fmla="*/ 30060948 h 84"/>
                <a:gd name="T30" fmla="*/ 17246491 w 96"/>
                <a:gd name="T31" fmla="*/ 24049159 h 84"/>
                <a:gd name="T32" fmla="*/ 22995972 w 96"/>
                <a:gd name="T33" fmla="*/ 24049159 h 84"/>
                <a:gd name="T34" fmla="*/ 22995972 w 96"/>
                <a:gd name="T35" fmla="*/ 24049159 h 84"/>
                <a:gd name="T36" fmla="*/ 28744478 w 96"/>
                <a:gd name="T37" fmla="*/ 30060948 h 84"/>
                <a:gd name="T38" fmla="*/ 34493958 w 96"/>
                <a:gd name="T39" fmla="*/ 36073739 h 84"/>
                <a:gd name="T40" fmla="*/ 34493958 w 96"/>
                <a:gd name="T41" fmla="*/ 36073739 h 84"/>
                <a:gd name="T42" fmla="*/ 40242464 w 96"/>
                <a:gd name="T43" fmla="*/ 36073739 h 84"/>
                <a:gd name="T44" fmla="*/ 40242464 w 96"/>
                <a:gd name="T45" fmla="*/ 24049159 h 84"/>
                <a:gd name="T46" fmla="*/ 45991945 w 96"/>
                <a:gd name="T47" fmla="*/ 18037370 h 84"/>
                <a:gd name="T48" fmla="*/ 45991945 w 96"/>
                <a:gd name="T49" fmla="*/ 12024580 h 84"/>
                <a:gd name="T50" fmla="*/ 45991945 w 96"/>
                <a:gd name="T51" fmla="*/ 12024580 h 84"/>
                <a:gd name="T52" fmla="*/ 51740450 w 96"/>
                <a:gd name="T53" fmla="*/ 6011789 h 84"/>
                <a:gd name="T54" fmla="*/ 57488955 w 96"/>
                <a:gd name="T55" fmla="*/ 0 h 84"/>
                <a:gd name="T56" fmla="*/ 63238436 w 96"/>
                <a:gd name="T57" fmla="*/ 12024580 h 84"/>
                <a:gd name="T58" fmla="*/ 74736422 w 96"/>
                <a:gd name="T59" fmla="*/ 12024580 h 84"/>
                <a:gd name="T60" fmla="*/ 86234408 w 96"/>
                <a:gd name="T61" fmla="*/ 12024580 h 84"/>
                <a:gd name="T62" fmla="*/ 80484927 w 96"/>
                <a:gd name="T63" fmla="*/ 18037370 h 84"/>
                <a:gd name="T64" fmla="*/ 80484927 w 96"/>
                <a:gd name="T65" fmla="*/ 18037370 h 84"/>
                <a:gd name="T66" fmla="*/ 74736422 w 96"/>
                <a:gd name="T67" fmla="*/ 24049159 h 84"/>
                <a:gd name="T68" fmla="*/ 74736422 w 96"/>
                <a:gd name="T69" fmla="*/ 36073739 h 84"/>
                <a:gd name="T70" fmla="*/ 80484927 w 96"/>
                <a:gd name="T71" fmla="*/ 30060948 h 84"/>
                <a:gd name="T72" fmla="*/ 86234408 w 96"/>
                <a:gd name="T73" fmla="*/ 36073739 h 84"/>
                <a:gd name="T74" fmla="*/ 91982914 w 96"/>
                <a:gd name="T75" fmla="*/ 42086529 h 84"/>
                <a:gd name="T76" fmla="*/ 91982914 w 96"/>
                <a:gd name="T77" fmla="*/ 48098318 h 84"/>
                <a:gd name="T78" fmla="*/ 86234408 w 96"/>
                <a:gd name="T79" fmla="*/ 54110107 h 84"/>
                <a:gd name="T80" fmla="*/ 80484927 w 96"/>
                <a:gd name="T81" fmla="*/ 66135689 h 84"/>
                <a:gd name="T82" fmla="*/ 80484927 w 96"/>
                <a:gd name="T83" fmla="*/ 78160268 h 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6"/>
                <a:gd name="T127" fmla="*/ 0 h 84"/>
                <a:gd name="T128" fmla="*/ 96 w 96"/>
                <a:gd name="T129" fmla="*/ 84 h 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6" h="84">
                  <a:moveTo>
                    <a:pt x="84" y="84"/>
                  </a:moveTo>
                  <a:lnTo>
                    <a:pt x="78" y="84"/>
                  </a:lnTo>
                  <a:lnTo>
                    <a:pt x="72" y="84"/>
                  </a:lnTo>
                  <a:lnTo>
                    <a:pt x="66" y="84"/>
                  </a:lnTo>
                  <a:lnTo>
                    <a:pt x="60" y="84"/>
                  </a:lnTo>
                  <a:lnTo>
                    <a:pt x="54" y="84"/>
                  </a:lnTo>
                  <a:lnTo>
                    <a:pt x="48" y="84"/>
                  </a:lnTo>
                  <a:lnTo>
                    <a:pt x="42" y="84"/>
                  </a:lnTo>
                  <a:lnTo>
                    <a:pt x="42" y="78"/>
                  </a:lnTo>
                  <a:lnTo>
                    <a:pt x="36" y="78"/>
                  </a:lnTo>
                  <a:lnTo>
                    <a:pt x="36" y="72"/>
                  </a:lnTo>
                  <a:lnTo>
                    <a:pt x="36" y="78"/>
                  </a:lnTo>
                  <a:lnTo>
                    <a:pt x="30" y="78"/>
                  </a:lnTo>
                  <a:lnTo>
                    <a:pt x="30" y="72"/>
                  </a:lnTo>
                  <a:lnTo>
                    <a:pt x="24" y="72"/>
                  </a:lnTo>
                  <a:lnTo>
                    <a:pt x="18" y="72"/>
                  </a:lnTo>
                  <a:lnTo>
                    <a:pt x="12" y="72"/>
                  </a:lnTo>
                  <a:lnTo>
                    <a:pt x="12" y="66"/>
                  </a:lnTo>
                  <a:lnTo>
                    <a:pt x="6" y="66"/>
                  </a:lnTo>
                  <a:lnTo>
                    <a:pt x="6" y="60"/>
                  </a:lnTo>
                  <a:lnTo>
                    <a:pt x="6" y="54"/>
                  </a:lnTo>
                  <a:lnTo>
                    <a:pt x="0" y="54"/>
                  </a:lnTo>
                  <a:lnTo>
                    <a:pt x="6" y="54"/>
                  </a:lnTo>
                  <a:lnTo>
                    <a:pt x="0" y="54"/>
                  </a:lnTo>
                  <a:lnTo>
                    <a:pt x="6" y="54"/>
                  </a:lnTo>
                  <a:lnTo>
                    <a:pt x="6" y="48"/>
                  </a:lnTo>
                  <a:lnTo>
                    <a:pt x="6" y="42"/>
                  </a:lnTo>
                  <a:lnTo>
                    <a:pt x="6" y="36"/>
                  </a:lnTo>
                  <a:lnTo>
                    <a:pt x="12" y="36"/>
                  </a:lnTo>
                  <a:lnTo>
                    <a:pt x="12" y="30"/>
                  </a:lnTo>
                  <a:lnTo>
                    <a:pt x="12" y="24"/>
                  </a:lnTo>
                  <a:lnTo>
                    <a:pt x="18" y="24"/>
                  </a:lnTo>
                  <a:lnTo>
                    <a:pt x="24" y="30"/>
                  </a:lnTo>
                  <a:lnTo>
                    <a:pt x="24" y="24"/>
                  </a:lnTo>
                  <a:lnTo>
                    <a:pt x="24" y="30"/>
                  </a:lnTo>
                  <a:lnTo>
                    <a:pt x="24" y="24"/>
                  </a:lnTo>
                  <a:lnTo>
                    <a:pt x="24" y="30"/>
                  </a:lnTo>
                  <a:lnTo>
                    <a:pt x="30" y="30"/>
                  </a:lnTo>
                  <a:lnTo>
                    <a:pt x="30" y="36"/>
                  </a:lnTo>
                  <a:lnTo>
                    <a:pt x="36" y="36"/>
                  </a:lnTo>
                  <a:lnTo>
                    <a:pt x="36" y="30"/>
                  </a:lnTo>
                  <a:lnTo>
                    <a:pt x="36" y="36"/>
                  </a:lnTo>
                  <a:lnTo>
                    <a:pt x="36" y="30"/>
                  </a:lnTo>
                  <a:lnTo>
                    <a:pt x="42" y="36"/>
                  </a:lnTo>
                  <a:lnTo>
                    <a:pt x="42" y="30"/>
                  </a:lnTo>
                  <a:lnTo>
                    <a:pt x="42" y="24"/>
                  </a:lnTo>
                  <a:lnTo>
                    <a:pt x="48" y="24"/>
                  </a:lnTo>
                  <a:lnTo>
                    <a:pt x="48" y="18"/>
                  </a:lnTo>
                  <a:lnTo>
                    <a:pt x="54" y="18"/>
                  </a:lnTo>
                  <a:lnTo>
                    <a:pt x="48" y="12"/>
                  </a:lnTo>
                  <a:lnTo>
                    <a:pt x="42" y="12"/>
                  </a:lnTo>
                  <a:lnTo>
                    <a:pt x="48" y="12"/>
                  </a:lnTo>
                  <a:lnTo>
                    <a:pt x="48" y="6"/>
                  </a:lnTo>
                  <a:lnTo>
                    <a:pt x="54" y="6"/>
                  </a:lnTo>
                  <a:lnTo>
                    <a:pt x="54" y="0"/>
                  </a:lnTo>
                  <a:lnTo>
                    <a:pt x="60" y="0"/>
                  </a:lnTo>
                  <a:lnTo>
                    <a:pt x="60" y="6"/>
                  </a:lnTo>
                  <a:lnTo>
                    <a:pt x="66" y="12"/>
                  </a:lnTo>
                  <a:lnTo>
                    <a:pt x="72" y="12"/>
                  </a:lnTo>
                  <a:lnTo>
                    <a:pt x="78" y="12"/>
                  </a:lnTo>
                  <a:lnTo>
                    <a:pt x="84" y="12"/>
                  </a:lnTo>
                  <a:lnTo>
                    <a:pt x="90" y="12"/>
                  </a:lnTo>
                  <a:lnTo>
                    <a:pt x="90" y="18"/>
                  </a:lnTo>
                  <a:lnTo>
                    <a:pt x="84" y="18"/>
                  </a:lnTo>
                  <a:lnTo>
                    <a:pt x="84" y="24"/>
                  </a:lnTo>
                  <a:lnTo>
                    <a:pt x="84" y="18"/>
                  </a:lnTo>
                  <a:lnTo>
                    <a:pt x="84" y="24"/>
                  </a:lnTo>
                  <a:lnTo>
                    <a:pt x="78" y="24"/>
                  </a:lnTo>
                  <a:lnTo>
                    <a:pt x="78" y="30"/>
                  </a:lnTo>
                  <a:lnTo>
                    <a:pt x="78" y="36"/>
                  </a:lnTo>
                  <a:lnTo>
                    <a:pt x="84" y="36"/>
                  </a:lnTo>
                  <a:lnTo>
                    <a:pt x="84" y="30"/>
                  </a:lnTo>
                  <a:lnTo>
                    <a:pt x="90" y="30"/>
                  </a:lnTo>
                  <a:lnTo>
                    <a:pt x="90" y="36"/>
                  </a:lnTo>
                  <a:lnTo>
                    <a:pt x="90" y="42"/>
                  </a:lnTo>
                  <a:lnTo>
                    <a:pt x="96" y="42"/>
                  </a:lnTo>
                  <a:lnTo>
                    <a:pt x="90" y="42"/>
                  </a:lnTo>
                  <a:lnTo>
                    <a:pt x="96" y="48"/>
                  </a:lnTo>
                  <a:lnTo>
                    <a:pt x="96" y="54"/>
                  </a:lnTo>
                  <a:lnTo>
                    <a:pt x="90" y="54"/>
                  </a:lnTo>
                  <a:lnTo>
                    <a:pt x="84" y="60"/>
                  </a:lnTo>
                  <a:lnTo>
                    <a:pt x="84" y="66"/>
                  </a:lnTo>
                  <a:lnTo>
                    <a:pt x="84" y="72"/>
                  </a:lnTo>
                  <a:lnTo>
                    <a:pt x="84" y="78"/>
                  </a:lnTo>
                  <a:lnTo>
                    <a:pt x="84" y="84"/>
                  </a:lnTo>
                  <a:close/>
                </a:path>
              </a:pathLst>
            </a:custGeom>
            <a:solidFill>
              <a:schemeClr val="accent1"/>
            </a:solidFill>
            <a:ln w="9525">
              <a:solidFill>
                <a:srgbClr val="B2B2B2"/>
              </a:solidFill>
              <a:round/>
              <a:headEnd/>
              <a:tailEnd/>
            </a:ln>
          </p:spPr>
          <p:txBody>
            <a:bodyPr/>
            <a:lstStyle/>
            <a:p>
              <a:endParaRPr lang="en-CA"/>
            </a:p>
          </p:txBody>
        </p:sp>
        <p:sp>
          <p:nvSpPr>
            <p:cNvPr id="384" name="Freeform 443"/>
            <p:cNvSpPr>
              <a:spLocks/>
            </p:cNvSpPr>
            <p:nvPr>
              <p:custDataLst>
                <p:tags r:id="rId7"/>
              </p:custDataLst>
            </p:nvPr>
          </p:nvSpPr>
          <p:spPr bwMode="gray">
            <a:xfrm>
              <a:off x="1035" y="3552"/>
              <a:ext cx="56" cy="45"/>
            </a:xfrm>
            <a:custGeom>
              <a:avLst/>
              <a:gdLst>
                <a:gd name="T0" fmla="*/ 35477027 w 90"/>
                <a:gd name="T1" fmla="*/ 71467766 h 72"/>
                <a:gd name="T2" fmla="*/ 23651351 w 90"/>
                <a:gd name="T3" fmla="*/ 65512615 h 72"/>
                <a:gd name="T4" fmla="*/ 17738513 w 90"/>
                <a:gd name="T5" fmla="*/ 53600328 h 72"/>
                <a:gd name="T6" fmla="*/ 11825676 w 90"/>
                <a:gd name="T7" fmla="*/ 59556472 h 72"/>
                <a:gd name="T8" fmla="*/ 5912838 w 90"/>
                <a:gd name="T9" fmla="*/ 53600328 h 72"/>
                <a:gd name="T10" fmla="*/ 0 w 90"/>
                <a:gd name="T11" fmla="*/ 47645177 h 72"/>
                <a:gd name="T12" fmla="*/ 0 w 90"/>
                <a:gd name="T13" fmla="*/ 35733883 h 72"/>
                <a:gd name="T14" fmla="*/ 5912838 w 90"/>
                <a:gd name="T15" fmla="*/ 23822589 h 72"/>
                <a:gd name="T16" fmla="*/ 11825676 w 90"/>
                <a:gd name="T17" fmla="*/ 17867438 h 72"/>
                <a:gd name="T18" fmla="*/ 17738513 w 90"/>
                <a:gd name="T19" fmla="*/ 11911294 h 72"/>
                <a:gd name="T20" fmla="*/ 29564189 w 90"/>
                <a:gd name="T21" fmla="*/ 11911294 h 72"/>
                <a:gd name="T22" fmla="*/ 35477027 w 90"/>
                <a:gd name="T23" fmla="*/ 5955151 h 72"/>
                <a:gd name="T24" fmla="*/ 41389864 w 90"/>
                <a:gd name="T25" fmla="*/ 17867438 h 72"/>
                <a:gd name="T26" fmla="*/ 47301714 w 90"/>
                <a:gd name="T27" fmla="*/ 11911294 h 72"/>
                <a:gd name="T28" fmla="*/ 59127390 w 90"/>
                <a:gd name="T29" fmla="*/ 11911294 h 72"/>
                <a:gd name="T30" fmla="*/ 59127390 w 90"/>
                <a:gd name="T31" fmla="*/ 11911294 h 72"/>
                <a:gd name="T32" fmla="*/ 65040228 w 90"/>
                <a:gd name="T33" fmla="*/ 5955151 h 72"/>
                <a:gd name="T34" fmla="*/ 65040228 w 90"/>
                <a:gd name="T35" fmla="*/ 5955151 h 72"/>
                <a:gd name="T36" fmla="*/ 76865903 w 90"/>
                <a:gd name="T37" fmla="*/ 5955151 h 72"/>
                <a:gd name="T38" fmla="*/ 82778741 w 90"/>
                <a:gd name="T39" fmla="*/ 5955151 h 72"/>
                <a:gd name="T40" fmla="*/ 88691579 w 90"/>
                <a:gd name="T41" fmla="*/ 0 h 72"/>
                <a:gd name="T42" fmla="*/ 82778741 w 90"/>
                <a:gd name="T43" fmla="*/ 5955151 h 72"/>
                <a:gd name="T44" fmla="*/ 82778741 w 90"/>
                <a:gd name="T45" fmla="*/ 17867438 h 72"/>
                <a:gd name="T46" fmla="*/ 88691579 w 90"/>
                <a:gd name="T47" fmla="*/ 23822589 h 72"/>
                <a:gd name="T48" fmla="*/ 88691579 w 90"/>
                <a:gd name="T49" fmla="*/ 35733883 h 72"/>
                <a:gd name="T50" fmla="*/ 82778741 w 90"/>
                <a:gd name="T51" fmla="*/ 41689034 h 72"/>
                <a:gd name="T52" fmla="*/ 76865903 w 90"/>
                <a:gd name="T53" fmla="*/ 41689034 h 72"/>
                <a:gd name="T54" fmla="*/ 70953066 w 90"/>
                <a:gd name="T55" fmla="*/ 47645177 h 72"/>
                <a:gd name="T56" fmla="*/ 70953066 w 90"/>
                <a:gd name="T57" fmla="*/ 47645177 h 72"/>
                <a:gd name="T58" fmla="*/ 70953066 w 90"/>
                <a:gd name="T59" fmla="*/ 47645177 h 72"/>
                <a:gd name="T60" fmla="*/ 65040228 w 90"/>
                <a:gd name="T61" fmla="*/ 53600328 h 72"/>
                <a:gd name="T62" fmla="*/ 59127390 w 90"/>
                <a:gd name="T63" fmla="*/ 47645177 h 72"/>
                <a:gd name="T64" fmla="*/ 59127390 w 90"/>
                <a:gd name="T65" fmla="*/ 59556472 h 72"/>
                <a:gd name="T66" fmla="*/ 53214552 w 90"/>
                <a:gd name="T67" fmla="*/ 65512615 h 72"/>
                <a:gd name="T68" fmla="*/ 47301714 w 90"/>
                <a:gd name="T69" fmla="*/ 71467766 h 72"/>
                <a:gd name="T70" fmla="*/ 47301714 w 90"/>
                <a:gd name="T71" fmla="*/ 71467766 h 72"/>
                <a:gd name="T72" fmla="*/ 41389864 w 90"/>
                <a:gd name="T73" fmla="*/ 71467766 h 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0"/>
                <a:gd name="T112" fmla="*/ 0 h 72"/>
                <a:gd name="T113" fmla="*/ 90 w 90"/>
                <a:gd name="T114" fmla="*/ 72 h 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0" h="72">
                  <a:moveTo>
                    <a:pt x="42" y="72"/>
                  </a:moveTo>
                  <a:lnTo>
                    <a:pt x="36" y="72"/>
                  </a:lnTo>
                  <a:lnTo>
                    <a:pt x="30" y="66"/>
                  </a:lnTo>
                  <a:lnTo>
                    <a:pt x="24" y="66"/>
                  </a:lnTo>
                  <a:lnTo>
                    <a:pt x="24" y="60"/>
                  </a:lnTo>
                  <a:lnTo>
                    <a:pt x="18" y="54"/>
                  </a:lnTo>
                  <a:lnTo>
                    <a:pt x="12" y="54"/>
                  </a:lnTo>
                  <a:lnTo>
                    <a:pt x="12" y="60"/>
                  </a:lnTo>
                  <a:lnTo>
                    <a:pt x="6" y="60"/>
                  </a:lnTo>
                  <a:lnTo>
                    <a:pt x="6" y="54"/>
                  </a:lnTo>
                  <a:lnTo>
                    <a:pt x="0" y="54"/>
                  </a:lnTo>
                  <a:lnTo>
                    <a:pt x="0" y="48"/>
                  </a:lnTo>
                  <a:lnTo>
                    <a:pt x="0" y="42"/>
                  </a:lnTo>
                  <a:lnTo>
                    <a:pt x="0" y="36"/>
                  </a:lnTo>
                  <a:lnTo>
                    <a:pt x="0" y="30"/>
                  </a:lnTo>
                  <a:lnTo>
                    <a:pt x="6" y="24"/>
                  </a:lnTo>
                  <a:lnTo>
                    <a:pt x="12" y="24"/>
                  </a:lnTo>
                  <a:lnTo>
                    <a:pt x="12" y="18"/>
                  </a:lnTo>
                  <a:lnTo>
                    <a:pt x="18" y="18"/>
                  </a:lnTo>
                  <a:lnTo>
                    <a:pt x="18" y="12"/>
                  </a:lnTo>
                  <a:lnTo>
                    <a:pt x="24" y="12"/>
                  </a:lnTo>
                  <a:lnTo>
                    <a:pt x="30" y="12"/>
                  </a:lnTo>
                  <a:lnTo>
                    <a:pt x="30" y="6"/>
                  </a:lnTo>
                  <a:lnTo>
                    <a:pt x="36" y="6"/>
                  </a:lnTo>
                  <a:lnTo>
                    <a:pt x="36" y="12"/>
                  </a:lnTo>
                  <a:lnTo>
                    <a:pt x="42" y="18"/>
                  </a:lnTo>
                  <a:lnTo>
                    <a:pt x="42" y="12"/>
                  </a:lnTo>
                  <a:lnTo>
                    <a:pt x="48" y="12"/>
                  </a:lnTo>
                  <a:lnTo>
                    <a:pt x="54" y="12"/>
                  </a:lnTo>
                  <a:lnTo>
                    <a:pt x="60" y="12"/>
                  </a:lnTo>
                  <a:lnTo>
                    <a:pt x="60" y="18"/>
                  </a:lnTo>
                  <a:lnTo>
                    <a:pt x="60" y="12"/>
                  </a:lnTo>
                  <a:lnTo>
                    <a:pt x="60" y="6"/>
                  </a:lnTo>
                  <a:lnTo>
                    <a:pt x="66" y="6"/>
                  </a:lnTo>
                  <a:lnTo>
                    <a:pt x="66" y="0"/>
                  </a:lnTo>
                  <a:lnTo>
                    <a:pt x="66" y="6"/>
                  </a:lnTo>
                  <a:lnTo>
                    <a:pt x="72" y="6"/>
                  </a:lnTo>
                  <a:lnTo>
                    <a:pt x="78" y="6"/>
                  </a:lnTo>
                  <a:lnTo>
                    <a:pt x="84" y="12"/>
                  </a:lnTo>
                  <a:lnTo>
                    <a:pt x="84" y="6"/>
                  </a:lnTo>
                  <a:lnTo>
                    <a:pt x="90" y="6"/>
                  </a:lnTo>
                  <a:lnTo>
                    <a:pt x="90" y="0"/>
                  </a:lnTo>
                  <a:lnTo>
                    <a:pt x="90" y="6"/>
                  </a:lnTo>
                  <a:lnTo>
                    <a:pt x="84" y="6"/>
                  </a:lnTo>
                  <a:lnTo>
                    <a:pt x="84" y="12"/>
                  </a:lnTo>
                  <a:lnTo>
                    <a:pt x="84" y="18"/>
                  </a:lnTo>
                  <a:lnTo>
                    <a:pt x="84" y="24"/>
                  </a:lnTo>
                  <a:lnTo>
                    <a:pt x="90" y="24"/>
                  </a:lnTo>
                  <a:lnTo>
                    <a:pt x="90" y="30"/>
                  </a:lnTo>
                  <a:lnTo>
                    <a:pt x="90" y="36"/>
                  </a:lnTo>
                  <a:lnTo>
                    <a:pt x="90" y="42"/>
                  </a:lnTo>
                  <a:lnTo>
                    <a:pt x="84" y="42"/>
                  </a:lnTo>
                  <a:lnTo>
                    <a:pt x="84" y="36"/>
                  </a:lnTo>
                  <a:lnTo>
                    <a:pt x="78" y="42"/>
                  </a:lnTo>
                  <a:lnTo>
                    <a:pt x="72" y="42"/>
                  </a:lnTo>
                  <a:lnTo>
                    <a:pt x="72" y="48"/>
                  </a:lnTo>
                  <a:lnTo>
                    <a:pt x="78" y="48"/>
                  </a:lnTo>
                  <a:lnTo>
                    <a:pt x="72" y="48"/>
                  </a:lnTo>
                  <a:lnTo>
                    <a:pt x="72" y="54"/>
                  </a:lnTo>
                  <a:lnTo>
                    <a:pt x="72" y="48"/>
                  </a:lnTo>
                  <a:lnTo>
                    <a:pt x="66" y="48"/>
                  </a:lnTo>
                  <a:lnTo>
                    <a:pt x="66" y="54"/>
                  </a:lnTo>
                  <a:lnTo>
                    <a:pt x="66" y="48"/>
                  </a:lnTo>
                  <a:lnTo>
                    <a:pt x="60" y="48"/>
                  </a:lnTo>
                  <a:lnTo>
                    <a:pt x="60" y="54"/>
                  </a:lnTo>
                  <a:lnTo>
                    <a:pt x="60" y="60"/>
                  </a:lnTo>
                  <a:lnTo>
                    <a:pt x="54" y="60"/>
                  </a:lnTo>
                  <a:lnTo>
                    <a:pt x="54" y="66"/>
                  </a:lnTo>
                  <a:lnTo>
                    <a:pt x="54" y="72"/>
                  </a:lnTo>
                  <a:lnTo>
                    <a:pt x="48" y="72"/>
                  </a:lnTo>
                  <a:lnTo>
                    <a:pt x="48" y="66"/>
                  </a:lnTo>
                  <a:lnTo>
                    <a:pt x="48" y="72"/>
                  </a:lnTo>
                  <a:lnTo>
                    <a:pt x="48" y="66"/>
                  </a:lnTo>
                  <a:lnTo>
                    <a:pt x="42" y="72"/>
                  </a:lnTo>
                  <a:close/>
                </a:path>
              </a:pathLst>
            </a:custGeom>
            <a:solidFill>
              <a:schemeClr val="accent1"/>
            </a:solidFill>
            <a:ln w="9525">
              <a:solidFill>
                <a:srgbClr val="B2B2B2"/>
              </a:solidFill>
              <a:round/>
              <a:headEnd/>
              <a:tailEnd/>
            </a:ln>
          </p:spPr>
          <p:txBody>
            <a:bodyPr/>
            <a:lstStyle/>
            <a:p>
              <a:endParaRPr lang="en-CA"/>
            </a:p>
          </p:txBody>
        </p:sp>
        <p:sp>
          <p:nvSpPr>
            <p:cNvPr id="385" name="Freeform 444"/>
            <p:cNvSpPr>
              <a:spLocks/>
            </p:cNvSpPr>
            <p:nvPr>
              <p:custDataLst>
                <p:tags r:id="rId8"/>
              </p:custDataLst>
            </p:nvPr>
          </p:nvSpPr>
          <p:spPr bwMode="gray">
            <a:xfrm>
              <a:off x="1061" y="3560"/>
              <a:ext cx="45" cy="52"/>
            </a:xfrm>
            <a:custGeom>
              <a:avLst/>
              <a:gdLst>
                <a:gd name="T0" fmla="*/ 53451743 w 72"/>
                <a:gd name="T1" fmla="*/ 70786625 h 84"/>
                <a:gd name="T2" fmla="*/ 41573357 w 72"/>
                <a:gd name="T3" fmla="*/ 70786625 h 84"/>
                <a:gd name="T4" fmla="*/ 35635157 w 72"/>
                <a:gd name="T5" fmla="*/ 76686002 h 84"/>
                <a:gd name="T6" fmla="*/ 23756771 w 72"/>
                <a:gd name="T7" fmla="*/ 82584396 h 84"/>
                <a:gd name="T8" fmla="*/ 17817578 w 72"/>
                <a:gd name="T9" fmla="*/ 82584396 h 84"/>
                <a:gd name="T10" fmla="*/ 17817578 w 72"/>
                <a:gd name="T11" fmla="*/ 70786625 h 84"/>
                <a:gd name="T12" fmla="*/ 5939193 w 72"/>
                <a:gd name="T13" fmla="*/ 58988854 h 84"/>
                <a:gd name="T14" fmla="*/ 5939193 w 72"/>
                <a:gd name="T15" fmla="*/ 53089477 h 84"/>
                <a:gd name="T16" fmla="*/ 5939193 w 72"/>
                <a:gd name="T17" fmla="*/ 53089477 h 84"/>
                <a:gd name="T18" fmla="*/ 11878386 w 72"/>
                <a:gd name="T19" fmla="*/ 58988854 h 84"/>
                <a:gd name="T20" fmla="*/ 11878386 w 72"/>
                <a:gd name="T21" fmla="*/ 47191083 h 84"/>
                <a:gd name="T22" fmla="*/ 17817578 w 72"/>
                <a:gd name="T23" fmla="*/ 41292689 h 84"/>
                <a:gd name="T24" fmla="*/ 23756771 w 72"/>
                <a:gd name="T25" fmla="*/ 35393313 h 84"/>
                <a:gd name="T26" fmla="*/ 23756771 w 72"/>
                <a:gd name="T27" fmla="*/ 35393313 h 84"/>
                <a:gd name="T28" fmla="*/ 29695964 w 72"/>
                <a:gd name="T29" fmla="*/ 41292689 h 84"/>
                <a:gd name="T30" fmla="*/ 35635157 w 72"/>
                <a:gd name="T31" fmla="*/ 35393313 h 84"/>
                <a:gd name="T32" fmla="*/ 29695964 w 72"/>
                <a:gd name="T33" fmla="*/ 29493936 h 84"/>
                <a:gd name="T34" fmla="*/ 41573357 w 72"/>
                <a:gd name="T35" fmla="*/ 23595542 h 84"/>
                <a:gd name="T36" fmla="*/ 47512550 w 72"/>
                <a:gd name="T37" fmla="*/ 29493936 h 84"/>
                <a:gd name="T38" fmla="*/ 47512550 w 72"/>
                <a:gd name="T39" fmla="*/ 17697148 h 84"/>
                <a:gd name="T40" fmla="*/ 41573357 w 72"/>
                <a:gd name="T41" fmla="*/ 11797771 h 84"/>
                <a:gd name="T42" fmla="*/ 47512550 w 72"/>
                <a:gd name="T43" fmla="*/ 5898394 h 84"/>
                <a:gd name="T44" fmla="*/ 53451743 w 72"/>
                <a:gd name="T45" fmla="*/ 0 h 84"/>
                <a:gd name="T46" fmla="*/ 59390936 w 72"/>
                <a:gd name="T47" fmla="*/ 5898394 h 84"/>
                <a:gd name="T48" fmla="*/ 65330129 w 72"/>
                <a:gd name="T49" fmla="*/ 11797771 h 84"/>
                <a:gd name="T50" fmla="*/ 59390936 w 72"/>
                <a:gd name="T51" fmla="*/ 17697148 h 84"/>
                <a:gd name="T52" fmla="*/ 53451743 w 72"/>
                <a:gd name="T53" fmla="*/ 23595542 h 84"/>
                <a:gd name="T54" fmla="*/ 53451743 w 72"/>
                <a:gd name="T55" fmla="*/ 23595542 h 84"/>
                <a:gd name="T56" fmla="*/ 53451743 w 72"/>
                <a:gd name="T57" fmla="*/ 23595542 h 84"/>
                <a:gd name="T58" fmla="*/ 53451743 w 72"/>
                <a:gd name="T59" fmla="*/ 29493936 h 84"/>
                <a:gd name="T60" fmla="*/ 59390936 w 72"/>
                <a:gd name="T61" fmla="*/ 41292689 h 84"/>
                <a:gd name="T62" fmla="*/ 65330129 w 72"/>
                <a:gd name="T63" fmla="*/ 41292689 h 84"/>
                <a:gd name="T64" fmla="*/ 71269321 w 72"/>
                <a:gd name="T65" fmla="*/ 47191083 h 84"/>
                <a:gd name="T66" fmla="*/ 71269321 w 72"/>
                <a:gd name="T67" fmla="*/ 58988854 h 84"/>
                <a:gd name="T68" fmla="*/ 65330129 w 72"/>
                <a:gd name="T69" fmla="*/ 64888231 h 84"/>
                <a:gd name="T70" fmla="*/ 59390936 w 72"/>
                <a:gd name="T71" fmla="*/ 58988854 h 84"/>
                <a:gd name="T72" fmla="*/ 59390936 w 72"/>
                <a:gd name="T73" fmla="*/ 70786625 h 8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2"/>
                <a:gd name="T112" fmla="*/ 0 h 84"/>
                <a:gd name="T113" fmla="*/ 72 w 72"/>
                <a:gd name="T114" fmla="*/ 84 h 8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2" h="84">
                  <a:moveTo>
                    <a:pt x="60" y="72"/>
                  </a:moveTo>
                  <a:lnTo>
                    <a:pt x="54" y="72"/>
                  </a:lnTo>
                  <a:lnTo>
                    <a:pt x="48" y="72"/>
                  </a:lnTo>
                  <a:lnTo>
                    <a:pt x="42" y="72"/>
                  </a:lnTo>
                  <a:lnTo>
                    <a:pt x="42" y="78"/>
                  </a:lnTo>
                  <a:lnTo>
                    <a:pt x="36" y="78"/>
                  </a:lnTo>
                  <a:lnTo>
                    <a:pt x="30" y="78"/>
                  </a:lnTo>
                  <a:lnTo>
                    <a:pt x="24" y="84"/>
                  </a:lnTo>
                  <a:lnTo>
                    <a:pt x="24" y="78"/>
                  </a:lnTo>
                  <a:lnTo>
                    <a:pt x="18" y="84"/>
                  </a:lnTo>
                  <a:lnTo>
                    <a:pt x="18" y="78"/>
                  </a:lnTo>
                  <a:lnTo>
                    <a:pt x="18" y="72"/>
                  </a:lnTo>
                  <a:lnTo>
                    <a:pt x="12" y="66"/>
                  </a:lnTo>
                  <a:lnTo>
                    <a:pt x="6" y="60"/>
                  </a:lnTo>
                  <a:lnTo>
                    <a:pt x="0" y="60"/>
                  </a:lnTo>
                  <a:lnTo>
                    <a:pt x="6" y="54"/>
                  </a:lnTo>
                  <a:lnTo>
                    <a:pt x="6" y="60"/>
                  </a:lnTo>
                  <a:lnTo>
                    <a:pt x="6" y="54"/>
                  </a:lnTo>
                  <a:lnTo>
                    <a:pt x="6" y="60"/>
                  </a:lnTo>
                  <a:lnTo>
                    <a:pt x="12" y="60"/>
                  </a:lnTo>
                  <a:lnTo>
                    <a:pt x="12" y="54"/>
                  </a:lnTo>
                  <a:lnTo>
                    <a:pt x="12" y="48"/>
                  </a:lnTo>
                  <a:lnTo>
                    <a:pt x="18" y="48"/>
                  </a:lnTo>
                  <a:lnTo>
                    <a:pt x="18" y="42"/>
                  </a:lnTo>
                  <a:lnTo>
                    <a:pt x="18" y="36"/>
                  </a:lnTo>
                  <a:lnTo>
                    <a:pt x="24" y="36"/>
                  </a:lnTo>
                  <a:lnTo>
                    <a:pt x="24" y="42"/>
                  </a:lnTo>
                  <a:lnTo>
                    <a:pt x="24" y="36"/>
                  </a:lnTo>
                  <a:lnTo>
                    <a:pt x="30" y="36"/>
                  </a:lnTo>
                  <a:lnTo>
                    <a:pt x="30" y="42"/>
                  </a:lnTo>
                  <a:lnTo>
                    <a:pt x="30" y="36"/>
                  </a:lnTo>
                  <a:lnTo>
                    <a:pt x="36" y="36"/>
                  </a:lnTo>
                  <a:lnTo>
                    <a:pt x="30" y="36"/>
                  </a:lnTo>
                  <a:lnTo>
                    <a:pt x="30" y="30"/>
                  </a:lnTo>
                  <a:lnTo>
                    <a:pt x="36" y="30"/>
                  </a:lnTo>
                  <a:lnTo>
                    <a:pt x="42" y="24"/>
                  </a:lnTo>
                  <a:lnTo>
                    <a:pt x="42" y="30"/>
                  </a:lnTo>
                  <a:lnTo>
                    <a:pt x="48" y="30"/>
                  </a:lnTo>
                  <a:lnTo>
                    <a:pt x="48" y="24"/>
                  </a:lnTo>
                  <a:lnTo>
                    <a:pt x="48" y="18"/>
                  </a:lnTo>
                  <a:lnTo>
                    <a:pt x="48" y="12"/>
                  </a:lnTo>
                  <a:lnTo>
                    <a:pt x="42" y="12"/>
                  </a:lnTo>
                  <a:lnTo>
                    <a:pt x="42" y="6"/>
                  </a:lnTo>
                  <a:lnTo>
                    <a:pt x="48" y="6"/>
                  </a:lnTo>
                  <a:lnTo>
                    <a:pt x="54" y="6"/>
                  </a:lnTo>
                  <a:lnTo>
                    <a:pt x="54" y="0"/>
                  </a:lnTo>
                  <a:lnTo>
                    <a:pt x="60" y="0"/>
                  </a:lnTo>
                  <a:lnTo>
                    <a:pt x="60" y="6"/>
                  </a:lnTo>
                  <a:lnTo>
                    <a:pt x="66" y="6"/>
                  </a:lnTo>
                  <a:lnTo>
                    <a:pt x="66" y="12"/>
                  </a:lnTo>
                  <a:lnTo>
                    <a:pt x="66" y="18"/>
                  </a:lnTo>
                  <a:lnTo>
                    <a:pt x="60" y="18"/>
                  </a:lnTo>
                  <a:lnTo>
                    <a:pt x="54" y="18"/>
                  </a:lnTo>
                  <a:lnTo>
                    <a:pt x="54" y="24"/>
                  </a:lnTo>
                  <a:lnTo>
                    <a:pt x="48" y="24"/>
                  </a:lnTo>
                  <a:lnTo>
                    <a:pt x="54" y="24"/>
                  </a:lnTo>
                  <a:lnTo>
                    <a:pt x="48" y="24"/>
                  </a:lnTo>
                  <a:lnTo>
                    <a:pt x="54" y="24"/>
                  </a:lnTo>
                  <a:lnTo>
                    <a:pt x="48" y="24"/>
                  </a:lnTo>
                  <a:lnTo>
                    <a:pt x="54" y="30"/>
                  </a:lnTo>
                  <a:lnTo>
                    <a:pt x="54" y="42"/>
                  </a:lnTo>
                  <a:lnTo>
                    <a:pt x="60" y="42"/>
                  </a:lnTo>
                  <a:lnTo>
                    <a:pt x="60" y="36"/>
                  </a:lnTo>
                  <a:lnTo>
                    <a:pt x="66" y="42"/>
                  </a:lnTo>
                  <a:lnTo>
                    <a:pt x="66" y="48"/>
                  </a:lnTo>
                  <a:lnTo>
                    <a:pt x="72" y="48"/>
                  </a:lnTo>
                  <a:lnTo>
                    <a:pt x="72" y="54"/>
                  </a:lnTo>
                  <a:lnTo>
                    <a:pt x="72" y="60"/>
                  </a:lnTo>
                  <a:lnTo>
                    <a:pt x="66" y="60"/>
                  </a:lnTo>
                  <a:lnTo>
                    <a:pt x="66" y="66"/>
                  </a:lnTo>
                  <a:lnTo>
                    <a:pt x="60" y="66"/>
                  </a:lnTo>
                  <a:lnTo>
                    <a:pt x="60" y="60"/>
                  </a:lnTo>
                  <a:lnTo>
                    <a:pt x="60" y="66"/>
                  </a:lnTo>
                  <a:lnTo>
                    <a:pt x="60" y="72"/>
                  </a:lnTo>
                  <a:close/>
                </a:path>
              </a:pathLst>
            </a:custGeom>
            <a:solidFill>
              <a:schemeClr val="accent1"/>
            </a:solidFill>
            <a:ln w="9525">
              <a:solidFill>
                <a:srgbClr val="B2B2B2"/>
              </a:solidFill>
              <a:round/>
              <a:headEnd/>
              <a:tailEnd/>
            </a:ln>
          </p:spPr>
          <p:txBody>
            <a:bodyPr/>
            <a:lstStyle/>
            <a:p>
              <a:endParaRPr lang="en-CA"/>
            </a:p>
          </p:txBody>
        </p:sp>
        <p:sp>
          <p:nvSpPr>
            <p:cNvPr id="386" name="Freeform 445"/>
            <p:cNvSpPr>
              <a:spLocks noEditPoints="1"/>
            </p:cNvSpPr>
            <p:nvPr>
              <p:custDataLst>
                <p:tags r:id="rId9"/>
              </p:custDataLst>
            </p:nvPr>
          </p:nvSpPr>
          <p:spPr bwMode="gray">
            <a:xfrm>
              <a:off x="385" y="3054"/>
              <a:ext cx="94" cy="49"/>
            </a:xfrm>
            <a:custGeom>
              <a:avLst/>
              <a:gdLst>
                <a:gd name="T0" fmla="*/ 106117877 w 150"/>
                <a:gd name="T1" fmla="*/ 71834226 h 78"/>
                <a:gd name="T2" fmla="*/ 88431730 w 150"/>
                <a:gd name="T3" fmla="*/ 71834226 h 78"/>
                <a:gd name="T4" fmla="*/ 82536348 w 150"/>
                <a:gd name="T5" fmla="*/ 71834226 h 78"/>
                <a:gd name="T6" fmla="*/ 64850201 w 150"/>
                <a:gd name="T7" fmla="*/ 71834226 h 78"/>
                <a:gd name="T8" fmla="*/ 47164054 w 150"/>
                <a:gd name="T9" fmla="*/ 71834226 h 78"/>
                <a:gd name="T10" fmla="*/ 29476912 w 150"/>
                <a:gd name="T11" fmla="*/ 71834226 h 78"/>
                <a:gd name="T12" fmla="*/ 17686147 w 150"/>
                <a:gd name="T13" fmla="*/ 65847542 h 78"/>
                <a:gd name="T14" fmla="*/ 11790765 w 150"/>
                <a:gd name="T15" fmla="*/ 59861855 h 78"/>
                <a:gd name="T16" fmla="*/ 23581529 w 150"/>
                <a:gd name="T17" fmla="*/ 53875171 h 78"/>
                <a:gd name="T18" fmla="*/ 35372294 w 150"/>
                <a:gd name="T19" fmla="*/ 47889484 h 78"/>
                <a:gd name="T20" fmla="*/ 17686147 w 150"/>
                <a:gd name="T21" fmla="*/ 47889484 h 78"/>
                <a:gd name="T22" fmla="*/ 11790765 w 150"/>
                <a:gd name="T23" fmla="*/ 47889484 h 78"/>
                <a:gd name="T24" fmla="*/ 11790765 w 150"/>
                <a:gd name="T25" fmla="*/ 29930429 h 78"/>
                <a:gd name="T26" fmla="*/ 23581529 w 150"/>
                <a:gd name="T27" fmla="*/ 23944742 h 78"/>
                <a:gd name="T28" fmla="*/ 41268671 w 150"/>
                <a:gd name="T29" fmla="*/ 23944742 h 78"/>
                <a:gd name="T30" fmla="*/ 47164054 w 150"/>
                <a:gd name="T31" fmla="*/ 11972371 h 78"/>
                <a:gd name="T32" fmla="*/ 58954818 w 150"/>
                <a:gd name="T33" fmla="*/ 5985687 h 78"/>
                <a:gd name="T34" fmla="*/ 47164054 w 150"/>
                <a:gd name="T35" fmla="*/ 11972371 h 78"/>
                <a:gd name="T36" fmla="*/ 41268671 w 150"/>
                <a:gd name="T37" fmla="*/ 23944742 h 78"/>
                <a:gd name="T38" fmla="*/ 53059436 w 150"/>
                <a:gd name="T39" fmla="*/ 29930429 h 78"/>
                <a:gd name="T40" fmla="*/ 70745583 w 150"/>
                <a:gd name="T41" fmla="*/ 29930429 h 78"/>
                <a:gd name="T42" fmla="*/ 70745583 w 150"/>
                <a:gd name="T43" fmla="*/ 11972371 h 78"/>
                <a:gd name="T44" fmla="*/ 76640965 w 150"/>
                <a:gd name="T45" fmla="*/ 0 h 78"/>
                <a:gd name="T46" fmla="*/ 88431730 w 150"/>
                <a:gd name="T47" fmla="*/ 5985687 h 78"/>
                <a:gd name="T48" fmla="*/ 100222495 w 150"/>
                <a:gd name="T49" fmla="*/ 11972371 h 78"/>
                <a:gd name="T50" fmla="*/ 106117877 w 150"/>
                <a:gd name="T51" fmla="*/ 11972371 h 78"/>
                <a:gd name="T52" fmla="*/ 117909636 w 150"/>
                <a:gd name="T53" fmla="*/ 17958058 h 78"/>
                <a:gd name="T54" fmla="*/ 135595783 w 150"/>
                <a:gd name="T55" fmla="*/ 17958058 h 78"/>
                <a:gd name="T56" fmla="*/ 141491166 w 150"/>
                <a:gd name="T57" fmla="*/ 29930429 h 78"/>
                <a:gd name="T58" fmla="*/ 141491166 w 150"/>
                <a:gd name="T59" fmla="*/ 35917113 h 78"/>
                <a:gd name="T60" fmla="*/ 141491166 w 150"/>
                <a:gd name="T61" fmla="*/ 41902800 h 78"/>
                <a:gd name="T62" fmla="*/ 135595783 w 150"/>
                <a:gd name="T63" fmla="*/ 41902800 h 78"/>
                <a:gd name="T64" fmla="*/ 141491166 w 150"/>
                <a:gd name="T65" fmla="*/ 41902800 h 78"/>
                <a:gd name="T66" fmla="*/ 135595783 w 150"/>
                <a:gd name="T67" fmla="*/ 41902800 h 78"/>
                <a:gd name="T68" fmla="*/ 141491166 w 150"/>
                <a:gd name="T69" fmla="*/ 41902800 h 78"/>
                <a:gd name="T70" fmla="*/ 141491166 w 150"/>
                <a:gd name="T71" fmla="*/ 47889484 h 78"/>
                <a:gd name="T72" fmla="*/ 135595783 w 150"/>
                <a:gd name="T73" fmla="*/ 47889484 h 78"/>
                <a:gd name="T74" fmla="*/ 135595783 w 150"/>
                <a:gd name="T75" fmla="*/ 53875171 h 78"/>
                <a:gd name="T76" fmla="*/ 141491166 w 150"/>
                <a:gd name="T77" fmla="*/ 65847542 h 78"/>
                <a:gd name="T78" fmla="*/ 129700401 w 150"/>
                <a:gd name="T79" fmla="*/ 71834226 h 78"/>
                <a:gd name="T80" fmla="*/ 0 w 150"/>
                <a:gd name="T81" fmla="*/ 65847542 h 78"/>
                <a:gd name="T82" fmla="*/ 5895382 w 150"/>
                <a:gd name="T83" fmla="*/ 53875171 h 78"/>
                <a:gd name="T84" fmla="*/ 5895382 w 150"/>
                <a:gd name="T85" fmla="*/ 53875171 h 78"/>
                <a:gd name="T86" fmla="*/ 0 w 150"/>
                <a:gd name="T87" fmla="*/ 65847542 h 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0"/>
                <a:gd name="T133" fmla="*/ 0 h 78"/>
                <a:gd name="T134" fmla="*/ 150 w 150"/>
                <a:gd name="T135" fmla="*/ 78 h 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0" h="78">
                  <a:moveTo>
                    <a:pt x="120" y="72"/>
                  </a:moveTo>
                  <a:lnTo>
                    <a:pt x="114" y="72"/>
                  </a:lnTo>
                  <a:lnTo>
                    <a:pt x="108" y="72"/>
                  </a:lnTo>
                  <a:lnTo>
                    <a:pt x="102" y="72"/>
                  </a:lnTo>
                  <a:lnTo>
                    <a:pt x="96" y="72"/>
                  </a:lnTo>
                  <a:lnTo>
                    <a:pt x="90" y="72"/>
                  </a:lnTo>
                  <a:lnTo>
                    <a:pt x="84" y="72"/>
                  </a:lnTo>
                  <a:lnTo>
                    <a:pt x="84" y="78"/>
                  </a:lnTo>
                  <a:lnTo>
                    <a:pt x="84" y="72"/>
                  </a:lnTo>
                  <a:lnTo>
                    <a:pt x="78" y="72"/>
                  </a:lnTo>
                  <a:lnTo>
                    <a:pt x="72" y="72"/>
                  </a:lnTo>
                  <a:lnTo>
                    <a:pt x="66" y="72"/>
                  </a:lnTo>
                  <a:lnTo>
                    <a:pt x="60" y="72"/>
                  </a:lnTo>
                  <a:lnTo>
                    <a:pt x="54" y="72"/>
                  </a:lnTo>
                  <a:lnTo>
                    <a:pt x="48" y="72"/>
                  </a:lnTo>
                  <a:lnTo>
                    <a:pt x="42" y="72"/>
                  </a:lnTo>
                  <a:lnTo>
                    <a:pt x="36" y="72"/>
                  </a:lnTo>
                  <a:lnTo>
                    <a:pt x="30" y="72"/>
                  </a:lnTo>
                  <a:lnTo>
                    <a:pt x="30" y="66"/>
                  </a:lnTo>
                  <a:lnTo>
                    <a:pt x="24" y="66"/>
                  </a:lnTo>
                  <a:lnTo>
                    <a:pt x="18" y="66"/>
                  </a:lnTo>
                  <a:lnTo>
                    <a:pt x="12" y="66"/>
                  </a:lnTo>
                  <a:lnTo>
                    <a:pt x="6" y="66"/>
                  </a:lnTo>
                  <a:lnTo>
                    <a:pt x="12" y="60"/>
                  </a:lnTo>
                  <a:lnTo>
                    <a:pt x="12" y="54"/>
                  </a:lnTo>
                  <a:lnTo>
                    <a:pt x="18" y="54"/>
                  </a:lnTo>
                  <a:lnTo>
                    <a:pt x="24" y="54"/>
                  </a:lnTo>
                  <a:lnTo>
                    <a:pt x="30" y="54"/>
                  </a:lnTo>
                  <a:lnTo>
                    <a:pt x="30" y="48"/>
                  </a:lnTo>
                  <a:lnTo>
                    <a:pt x="36" y="48"/>
                  </a:lnTo>
                  <a:lnTo>
                    <a:pt x="30" y="48"/>
                  </a:lnTo>
                  <a:lnTo>
                    <a:pt x="24" y="48"/>
                  </a:lnTo>
                  <a:lnTo>
                    <a:pt x="18" y="48"/>
                  </a:lnTo>
                  <a:lnTo>
                    <a:pt x="18" y="42"/>
                  </a:lnTo>
                  <a:lnTo>
                    <a:pt x="12" y="42"/>
                  </a:lnTo>
                  <a:lnTo>
                    <a:pt x="12" y="48"/>
                  </a:lnTo>
                  <a:lnTo>
                    <a:pt x="12" y="42"/>
                  </a:lnTo>
                  <a:lnTo>
                    <a:pt x="12" y="36"/>
                  </a:lnTo>
                  <a:lnTo>
                    <a:pt x="12" y="30"/>
                  </a:lnTo>
                  <a:lnTo>
                    <a:pt x="12" y="24"/>
                  </a:lnTo>
                  <a:lnTo>
                    <a:pt x="18" y="24"/>
                  </a:lnTo>
                  <a:lnTo>
                    <a:pt x="24" y="24"/>
                  </a:lnTo>
                  <a:lnTo>
                    <a:pt x="30" y="24"/>
                  </a:lnTo>
                  <a:lnTo>
                    <a:pt x="36" y="24"/>
                  </a:lnTo>
                  <a:lnTo>
                    <a:pt x="42" y="24"/>
                  </a:lnTo>
                  <a:lnTo>
                    <a:pt x="42" y="18"/>
                  </a:lnTo>
                  <a:lnTo>
                    <a:pt x="48" y="18"/>
                  </a:lnTo>
                  <a:lnTo>
                    <a:pt x="48" y="12"/>
                  </a:lnTo>
                  <a:lnTo>
                    <a:pt x="54" y="6"/>
                  </a:lnTo>
                  <a:lnTo>
                    <a:pt x="60" y="0"/>
                  </a:lnTo>
                  <a:lnTo>
                    <a:pt x="60" y="6"/>
                  </a:lnTo>
                  <a:lnTo>
                    <a:pt x="54" y="6"/>
                  </a:lnTo>
                  <a:lnTo>
                    <a:pt x="54" y="12"/>
                  </a:lnTo>
                  <a:lnTo>
                    <a:pt x="48" y="12"/>
                  </a:lnTo>
                  <a:lnTo>
                    <a:pt x="48" y="18"/>
                  </a:lnTo>
                  <a:lnTo>
                    <a:pt x="42" y="18"/>
                  </a:lnTo>
                  <a:lnTo>
                    <a:pt x="42" y="24"/>
                  </a:lnTo>
                  <a:lnTo>
                    <a:pt x="48" y="24"/>
                  </a:lnTo>
                  <a:lnTo>
                    <a:pt x="54" y="24"/>
                  </a:lnTo>
                  <a:lnTo>
                    <a:pt x="54" y="30"/>
                  </a:lnTo>
                  <a:lnTo>
                    <a:pt x="60" y="30"/>
                  </a:lnTo>
                  <a:lnTo>
                    <a:pt x="66" y="30"/>
                  </a:lnTo>
                  <a:lnTo>
                    <a:pt x="72" y="30"/>
                  </a:lnTo>
                  <a:lnTo>
                    <a:pt x="72" y="24"/>
                  </a:lnTo>
                  <a:lnTo>
                    <a:pt x="72" y="18"/>
                  </a:lnTo>
                  <a:lnTo>
                    <a:pt x="72" y="12"/>
                  </a:lnTo>
                  <a:lnTo>
                    <a:pt x="72" y="6"/>
                  </a:lnTo>
                  <a:lnTo>
                    <a:pt x="72" y="0"/>
                  </a:lnTo>
                  <a:lnTo>
                    <a:pt x="78" y="0"/>
                  </a:lnTo>
                  <a:lnTo>
                    <a:pt x="84" y="0"/>
                  </a:lnTo>
                  <a:lnTo>
                    <a:pt x="84" y="6"/>
                  </a:lnTo>
                  <a:lnTo>
                    <a:pt x="90" y="6"/>
                  </a:lnTo>
                  <a:lnTo>
                    <a:pt x="96" y="6"/>
                  </a:lnTo>
                  <a:lnTo>
                    <a:pt x="96" y="12"/>
                  </a:lnTo>
                  <a:lnTo>
                    <a:pt x="102" y="12"/>
                  </a:lnTo>
                  <a:lnTo>
                    <a:pt x="102" y="18"/>
                  </a:lnTo>
                  <a:lnTo>
                    <a:pt x="108" y="18"/>
                  </a:lnTo>
                  <a:lnTo>
                    <a:pt x="108" y="12"/>
                  </a:lnTo>
                  <a:lnTo>
                    <a:pt x="108" y="18"/>
                  </a:lnTo>
                  <a:lnTo>
                    <a:pt x="114" y="18"/>
                  </a:lnTo>
                  <a:lnTo>
                    <a:pt x="120" y="18"/>
                  </a:lnTo>
                  <a:lnTo>
                    <a:pt x="126" y="18"/>
                  </a:lnTo>
                  <a:lnTo>
                    <a:pt x="132" y="18"/>
                  </a:lnTo>
                  <a:lnTo>
                    <a:pt x="138" y="18"/>
                  </a:lnTo>
                  <a:lnTo>
                    <a:pt x="138" y="24"/>
                  </a:lnTo>
                  <a:lnTo>
                    <a:pt x="144" y="24"/>
                  </a:lnTo>
                  <a:lnTo>
                    <a:pt x="144" y="30"/>
                  </a:lnTo>
                  <a:lnTo>
                    <a:pt x="144" y="36"/>
                  </a:lnTo>
                  <a:lnTo>
                    <a:pt x="150" y="36"/>
                  </a:lnTo>
                  <a:lnTo>
                    <a:pt x="144" y="36"/>
                  </a:lnTo>
                  <a:lnTo>
                    <a:pt x="144" y="42"/>
                  </a:lnTo>
                  <a:lnTo>
                    <a:pt x="138" y="42"/>
                  </a:lnTo>
                  <a:lnTo>
                    <a:pt x="144" y="42"/>
                  </a:lnTo>
                  <a:lnTo>
                    <a:pt x="138" y="42"/>
                  </a:lnTo>
                  <a:lnTo>
                    <a:pt x="144" y="42"/>
                  </a:lnTo>
                  <a:lnTo>
                    <a:pt x="138" y="42"/>
                  </a:lnTo>
                  <a:lnTo>
                    <a:pt x="144" y="42"/>
                  </a:lnTo>
                  <a:lnTo>
                    <a:pt x="138" y="42"/>
                  </a:lnTo>
                  <a:lnTo>
                    <a:pt x="144" y="42"/>
                  </a:lnTo>
                  <a:lnTo>
                    <a:pt x="138" y="42"/>
                  </a:lnTo>
                  <a:lnTo>
                    <a:pt x="144" y="42"/>
                  </a:lnTo>
                  <a:lnTo>
                    <a:pt x="138" y="42"/>
                  </a:lnTo>
                  <a:lnTo>
                    <a:pt x="144" y="42"/>
                  </a:lnTo>
                  <a:lnTo>
                    <a:pt x="138" y="42"/>
                  </a:lnTo>
                  <a:lnTo>
                    <a:pt x="144" y="42"/>
                  </a:lnTo>
                  <a:lnTo>
                    <a:pt x="138" y="42"/>
                  </a:lnTo>
                  <a:lnTo>
                    <a:pt x="138" y="48"/>
                  </a:lnTo>
                  <a:lnTo>
                    <a:pt x="144" y="48"/>
                  </a:lnTo>
                  <a:lnTo>
                    <a:pt x="138" y="48"/>
                  </a:lnTo>
                  <a:lnTo>
                    <a:pt x="144" y="48"/>
                  </a:lnTo>
                  <a:lnTo>
                    <a:pt x="138" y="48"/>
                  </a:lnTo>
                  <a:lnTo>
                    <a:pt x="144" y="48"/>
                  </a:lnTo>
                  <a:lnTo>
                    <a:pt x="138" y="48"/>
                  </a:lnTo>
                  <a:lnTo>
                    <a:pt x="138" y="54"/>
                  </a:lnTo>
                  <a:lnTo>
                    <a:pt x="138" y="60"/>
                  </a:lnTo>
                  <a:lnTo>
                    <a:pt x="138" y="66"/>
                  </a:lnTo>
                  <a:lnTo>
                    <a:pt x="144" y="66"/>
                  </a:lnTo>
                  <a:lnTo>
                    <a:pt x="144" y="72"/>
                  </a:lnTo>
                  <a:lnTo>
                    <a:pt x="138" y="72"/>
                  </a:lnTo>
                  <a:lnTo>
                    <a:pt x="132" y="72"/>
                  </a:lnTo>
                  <a:lnTo>
                    <a:pt x="126" y="72"/>
                  </a:lnTo>
                  <a:lnTo>
                    <a:pt x="120" y="72"/>
                  </a:lnTo>
                  <a:close/>
                  <a:moveTo>
                    <a:pt x="0" y="66"/>
                  </a:moveTo>
                  <a:lnTo>
                    <a:pt x="0" y="60"/>
                  </a:lnTo>
                  <a:lnTo>
                    <a:pt x="6" y="60"/>
                  </a:lnTo>
                  <a:lnTo>
                    <a:pt x="6" y="54"/>
                  </a:lnTo>
                  <a:lnTo>
                    <a:pt x="12" y="48"/>
                  </a:lnTo>
                  <a:lnTo>
                    <a:pt x="12" y="54"/>
                  </a:lnTo>
                  <a:lnTo>
                    <a:pt x="6" y="54"/>
                  </a:lnTo>
                  <a:lnTo>
                    <a:pt x="6" y="60"/>
                  </a:lnTo>
                  <a:lnTo>
                    <a:pt x="0" y="60"/>
                  </a:lnTo>
                  <a:lnTo>
                    <a:pt x="0" y="66"/>
                  </a:lnTo>
                  <a:close/>
                </a:path>
              </a:pathLst>
            </a:custGeom>
            <a:solidFill>
              <a:schemeClr val="accent1"/>
            </a:solidFill>
            <a:ln w="9525">
              <a:solidFill>
                <a:srgbClr val="B2B2B2"/>
              </a:solidFill>
              <a:round/>
              <a:headEnd/>
              <a:tailEnd/>
            </a:ln>
          </p:spPr>
          <p:txBody>
            <a:bodyPr/>
            <a:lstStyle/>
            <a:p>
              <a:endParaRPr lang="en-CA"/>
            </a:p>
          </p:txBody>
        </p:sp>
        <p:sp>
          <p:nvSpPr>
            <p:cNvPr id="387" name="Freeform 446"/>
            <p:cNvSpPr>
              <a:spLocks noEditPoints="1"/>
            </p:cNvSpPr>
            <p:nvPr>
              <p:custDataLst>
                <p:tags r:id="rId10"/>
              </p:custDataLst>
            </p:nvPr>
          </p:nvSpPr>
          <p:spPr bwMode="gray">
            <a:xfrm>
              <a:off x="867" y="3436"/>
              <a:ext cx="149" cy="142"/>
            </a:xfrm>
            <a:custGeom>
              <a:avLst/>
              <a:gdLst>
                <a:gd name="T0" fmla="*/ 233033296 w 240"/>
                <a:gd name="T1" fmla="*/ 170973987 h 228"/>
                <a:gd name="T2" fmla="*/ 215556168 w 240"/>
                <a:gd name="T3" fmla="*/ 182765296 h 228"/>
                <a:gd name="T4" fmla="*/ 203903764 w 240"/>
                <a:gd name="T5" fmla="*/ 182765296 h 228"/>
                <a:gd name="T6" fmla="*/ 192252346 w 240"/>
                <a:gd name="T7" fmla="*/ 176869641 h 228"/>
                <a:gd name="T8" fmla="*/ 186426637 w 240"/>
                <a:gd name="T9" fmla="*/ 206347915 h 228"/>
                <a:gd name="T10" fmla="*/ 186426637 w 240"/>
                <a:gd name="T11" fmla="*/ 218139224 h 228"/>
                <a:gd name="T12" fmla="*/ 163123800 w 240"/>
                <a:gd name="T13" fmla="*/ 212243570 h 228"/>
                <a:gd name="T14" fmla="*/ 145645687 w 240"/>
                <a:gd name="T15" fmla="*/ 212243570 h 228"/>
                <a:gd name="T16" fmla="*/ 128168559 w 240"/>
                <a:gd name="T17" fmla="*/ 194556606 h 228"/>
                <a:gd name="T18" fmla="*/ 110690446 w 240"/>
                <a:gd name="T19" fmla="*/ 176869641 h 228"/>
                <a:gd name="T20" fmla="*/ 87387609 w 240"/>
                <a:gd name="T21" fmla="*/ 165078332 h 228"/>
                <a:gd name="T22" fmla="*/ 69910481 w 240"/>
                <a:gd name="T23" fmla="*/ 153287023 h 228"/>
                <a:gd name="T24" fmla="*/ 64083787 w 240"/>
                <a:gd name="T25" fmla="*/ 147391368 h 228"/>
                <a:gd name="T26" fmla="*/ 52432368 w 240"/>
                <a:gd name="T27" fmla="*/ 147391368 h 228"/>
                <a:gd name="T28" fmla="*/ 34955241 w 240"/>
                <a:gd name="T29" fmla="*/ 123808749 h 228"/>
                <a:gd name="T30" fmla="*/ 5825709 w 240"/>
                <a:gd name="T31" fmla="*/ 112017440 h 228"/>
                <a:gd name="T32" fmla="*/ 17477128 w 240"/>
                <a:gd name="T33" fmla="*/ 106121785 h 228"/>
                <a:gd name="T34" fmla="*/ 5825709 w 240"/>
                <a:gd name="T35" fmla="*/ 106121785 h 228"/>
                <a:gd name="T36" fmla="*/ 17477128 w 240"/>
                <a:gd name="T37" fmla="*/ 100226130 h 228"/>
                <a:gd name="T38" fmla="*/ 46606659 w 240"/>
                <a:gd name="T39" fmla="*/ 94330475 h 228"/>
                <a:gd name="T40" fmla="*/ 58258078 w 240"/>
                <a:gd name="T41" fmla="*/ 70747857 h 228"/>
                <a:gd name="T42" fmla="*/ 69910481 w 240"/>
                <a:gd name="T43" fmla="*/ 58956547 h 228"/>
                <a:gd name="T44" fmla="*/ 69910481 w 240"/>
                <a:gd name="T45" fmla="*/ 35373928 h 228"/>
                <a:gd name="T46" fmla="*/ 52432368 w 240"/>
                <a:gd name="T47" fmla="*/ 17686964 h 228"/>
                <a:gd name="T48" fmla="*/ 69910481 w 240"/>
                <a:gd name="T49" fmla="*/ 11791309 h 228"/>
                <a:gd name="T50" fmla="*/ 87387609 w 240"/>
                <a:gd name="T51" fmla="*/ 11791309 h 228"/>
                <a:gd name="T52" fmla="*/ 87387609 w 240"/>
                <a:gd name="T53" fmla="*/ 0 h 228"/>
                <a:gd name="T54" fmla="*/ 104864737 w 240"/>
                <a:gd name="T55" fmla="*/ 17686964 h 228"/>
                <a:gd name="T56" fmla="*/ 128168559 w 240"/>
                <a:gd name="T57" fmla="*/ 5895655 h 228"/>
                <a:gd name="T58" fmla="*/ 157297105 w 240"/>
                <a:gd name="T59" fmla="*/ 17686964 h 228"/>
                <a:gd name="T60" fmla="*/ 168949509 w 240"/>
                <a:gd name="T61" fmla="*/ 41269583 h 228"/>
                <a:gd name="T62" fmla="*/ 198078055 w 240"/>
                <a:gd name="T63" fmla="*/ 41269583 h 228"/>
                <a:gd name="T64" fmla="*/ 209730459 w 240"/>
                <a:gd name="T65" fmla="*/ 64852202 h 228"/>
                <a:gd name="T66" fmla="*/ 198078055 w 240"/>
                <a:gd name="T67" fmla="*/ 76643511 h 228"/>
                <a:gd name="T68" fmla="*/ 198078055 w 240"/>
                <a:gd name="T69" fmla="*/ 106121785 h 228"/>
                <a:gd name="T70" fmla="*/ 227207586 w 240"/>
                <a:gd name="T71" fmla="*/ 123808749 h 228"/>
                <a:gd name="T72" fmla="*/ 215556168 w 240"/>
                <a:gd name="T73" fmla="*/ 147391368 h 228"/>
                <a:gd name="T74" fmla="*/ 174775218 w 240"/>
                <a:gd name="T75" fmla="*/ 141495713 h 228"/>
                <a:gd name="T76" fmla="*/ 180600927 w 240"/>
                <a:gd name="T77" fmla="*/ 159182677 h 228"/>
                <a:gd name="T78" fmla="*/ 180600927 w 240"/>
                <a:gd name="T79" fmla="*/ 129704404 h 228"/>
                <a:gd name="T80" fmla="*/ 168949509 w 240"/>
                <a:gd name="T81" fmla="*/ 117913094 h 228"/>
                <a:gd name="T82" fmla="*/ 145645687 w 240"/>
                <a:gd name="T83" fmla="*/ 117913094 h 228"/>
                <a:gd name="T84" fmla="*/ 122342850 w 240"/>
                <a:gd name="T85" fmla="*/ 117913094 h 228"/>
                <a:gd name="T86" fmla="*/ 104864737 w 240"/>
                <a:gd name="T87" fmla="*/ 123808749 h 228"/>
                <a:gd name="T88" fmla="*/ 99039027 w 240"/>
                <a:gd name="T89" fmla="*/ 129704404 h 228"/>
                <a:gd name="T90" fmla="*/ 133994268 w 240"/>
                <a:gd name="T91" fmla="*/ 135600058 h 228"/>
                <a:gd name="T92" fmla="*/ 128168559 w 240"/>
                <a:gd name="T93" fmla="*/ 117913094 h 228"/>
                <a:gd name="T94" fmla="*/ 139819977 w 240"/>
                <a:gd name="T95" fmla="*/ 123808749 h 228"/>
                <a:gd name="T96" fmla="*/ 151471396 w 240"/>
                <a:gd name="T97" fmla="*/ 141495713 h 228"/>
                <a:gd name="T98" fmla="*/ 145645687 w 240"/>
                <a:gd name="T99" fmla="*/ 165078332 h 228"/>
                <a:gd name="T100" fmla="*/ 151471396 w 240"/>
                <a:gd name="T101" fmla="*/ 182765296 h 228"/>
                <a:gd name="T102" fmla="*/ 145645687 w 240"/>
                <a:gd name="T103" fmla="*/ 188660951 h 228"/>
                <a:gd name="T104" fmla="*/ 168949509 w 240"/>
                <a:gd name="T105" fmla="*/ 200452260 h 228"/>
                <a:gd name="T106" fmla="*/ 174775218 w 240"/>
                <a:gd name="T107" fmla="*/ 176869641 h 228"/>
                <a:gd name="T108" fmla="*/ 168949509 w 240"/>
                <a:gd name="T109" fmla="*/ 153287023 h 22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40"/>
                <a:gd name="T166" fmla="*/ 0 h 228"/>
                <a:gd name="T167" fmla="*/ 240 w 240"/>
                <a:gd name="T168" fmla="*/ 228 h 22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40" h="228">
                  <a:moveTo>
                    <a:pt x="240" y="162"/>
                  </a:moveTo>
                  <a:lnTo>
                    <a:pt x="234" y="162"/>
                  </a:lnTo>
                  <a:lnTo>
                    <a:pt x="234" y="168"/>
                  </a:lnTo>
                  <a:lnTo>
                    <a:pt x="228" y="168"/>
                  </a:lnTo>
                  <a:lnTo>
                    <a:pt x="234" y="168"/>
                  </a:lnTo>
                  <a:lnTo>
                    <a:pt x="240" y="174"/>
                  </a:lnTo>
                  <a:lnTo>
                    <a:pt x="234" y="174"/>
                  </a:lnTo>
                  <a:lnTo>
                    <a:pt x="234" y="180"/>
                  </a:lnTo>
                  <a:lnTo>
                    <a:pt x="228" y="180"/>
                  </a:lnTo>
                  <a:lnTo>
                    <a:pt x="228" y="186"/>
                  </a:lnTo>
                  <a:lnTo>
                    <a:pt x="228" y="192"/>
                  </a:lnTo>
                  <a:lnTo>
                    <a:pt x="222" y="186"/>
                  </a:lnTo>
                  <a:lnTo>
                    <a:pt x="222" y="192"/>
                  </a:lnTo>
                  <a:lnTo>
                    <a:pt x="222" y="186"/>
                  </a:lnTo>
                  <a:lnTo>
                    <a:pt x="222" y="192"/>
                  </a:lnTo>
                  <a:lnTo>
                    <a:pt x="216" y="192"/>
                  </a:lnTo>
                  <a:lnTo>
                    <a:pt x="216" y="186"/>
                  </a:lnTo>
                  <a:lnTo>
                    <a:pt x="210" y="186"/>
                  </a:lnTo>
                  <a:lnTo>
                    <a:pt x="210" y="180"/>
                  </a:lnTo>
                  <a:lnTo>
                    <a:pt x="210" y="186"/>
                  </a:lnTo>
                  <a:lnTo>
                    <a:pt x="210" y="180"/>
                  </a:lnTo>
                  <a:lnTo>
                    <a:pt x="210" y="186"/>
                  </a:lnTo>
                  <a:lnTo>
                    <a:pt x="204" y="180"/>
                  </a:lnTo>
                  <a:lnTo>
                    <a:pt x="198" y="180"/>
                  </a:lnTo>
                  <a:lnTo>
                    <a:pt x="198" y="186"/>
                  </a:lnTo>
                  <a:lnTo>
                    <a:pt x="198" y="192"/>
                  </a:lnTo>
                  <a:lnTo>
                    <a:pt x="192" y="192"/>
                  </a:lnTo>
                  <a:lnTo>
                    <a:pt x="192" y="198"/>
                  </a:lnTo>
                  <a:lnTo>
                    <a:pt x="192" y="204"/>
                  </a:lnTo>
                  <a:lnTo>
                    <a:pt x="192" y="210"/>
                  </a:lnTo>
                  <a:lnTo>
                    <a:pt x="186" y="210"/>
                  </a:lnTo>
                  <a:lnTo>
                    <a:pt x="192" y="210"/>
                  </a:lnTo>
                  <a:lnTo>
                    <a:pt x="186" y="210"/>
                  </a:lnTo>
                  <a:lnTo>
                    <a:pt x="192" y="210"/>
                  </a:lnTo>
                  <a:lnTo>
                    <a:pt x="192" y="216"/>
                  </a:lnTo>
                  <a:lnTo>
                    <a:pt x="192" y="222"/>
                  </a:lnTo>
                  <a:lnTo>
                    <a:pt x="186" y="216"/>
                  </a:lnTo>
                  <a:lnTo>
                    <a:pt x="186" y="222"/>
                  </a:lnTo>
                  <a:lnTo>
                    <a:pt x="180" y="222"/>
                  </a:lnTo>
                  <a:lnTo>
                    <a:pt x="180" y="216"/>
                  </a:lnTo>
                  <a:lnTo>
                    <a:pt x="174" y="216"/>
                  </a:lnTo>
                  <a:lnTo>
                    <a:pt x="168" y="216"/>
                  </a:lnTo>
                  <a:lnTo>
                    <a:pt x="162" y="216"/>
                  </a:lnTo>
                  <a:lnTo>
                    <a:pt x="162" y="222"/>
                  </a:lnTo>
                  <a:lnTo>
                    <a:pt x="162" y="228"/>
                  </a:lnTo>
                  <a:lnTo>
                    <a:pt x="156" y="228"/>
                  </a:lnTo>
                  <a:lnTo>
                    <a:pt x="150" y="222"/>
                  </a:lnTo>
                  <a:lnTo>
                    <a:pt x="150" y="216"/>
                  </a:lnTo>
                  <a:lnTo>
                    <a:pt x="144" y="216"/>
                  </a:lnTo>
                  <a:lnTo>
                    <a:pt x="144" y="210"/>
                  </a:lnTo>
                  <a:lnTo>
                    <a:pt x="138" y="210"/>
                  </a:lnTo>
                  <a:lnTo>
                    <a:pt x="138" y="204"/>
                  </a:lnTo>
                  <a:lnTo>
                    <a:pt x="132" y="204"/>
                  </a:lnTo>
                  <a:lnTo>
                    <a:pt x="132" y="198"/>
                  </a:lnTo>
                  <a:lnTo>
                    <a:pt x="126" y="198"/>
                  </a:lnTo>
                  <a:lnTo>
                    <a:pt x="126" y="192"/>
                  </a:lnTo>
                  <a:lnTo>
                    <a:pt x="120" y="192"/>
                  </a:lnTo>
                  <a:lnTo>
                    <a:pt x="120" y="186"/>
                  </a:lnTo>
                  <a:lnTo>
                    <a:pt x="114" y="186"/>
                  </a:lnTo>
                  <a:lnTo>
                    <a:pt x="114" y="180"/>
                  </a:lnTo>
                  <a:lnTo>
                    <a:pt x="108" y="180"/>
                  </a:lnTo>
                  <a:lnTo>
                    <a:pt x="108" y="174"/>
                  </a:lnTo>
                  <a:lnTo>
                    <a:pt x="102" y="174"/>
                  </a:lnTo>
                  <a:lnTo>
                    <a:pt x="102" y="168"/>
                  </a:lnTo>
                  <a:lnTo>
                    <a:pt x="96" y="168"/>
                  </a:lnTo>
                  <a:lnTo>
                    <a:pt x="90" y="168"/>
                  </a:lnTo>
                  <a:lnTo>
                    <a:pt x="84" y="168"/>
                  </a:lnTo>
                  <a:lnTo>
                    <a:pt x="78" y="162"/>
                  </a:lnTo>
                  <a:lnTo>
                    <a:pt x="72" y="162"/>
                  </a:lnTo>
                  <a:lnTo>
                    <a:pt x="72" y="156"/>
                  </a:lnTo>
                  <a:lnTo>
                    <a:pt x="66" y="156"/>
                  </a:lnTo>
                  <a:lnTo>
                    <a:pt x="72" y="156"/>
                  </a:lnTo>
                  <a:lnTo>
                    <a:pt x="72" y="150"/>
                  </a:lnTo>
                  <a:lnTo>
                    <a:pt x="66" y="150"/>
                  </a:lnTo>
                  <a:lnTo>
                    <a:pt x="66" y="156"/>
                  </a:lnTo>
                  <a:lnTo>
                    <a:pt x="66" y="150"/>
                  </a:lnTo>
                  <a:lnTo>
                    <a:pt x="60" y="150"/>
                  </a:lnTo>
                  <a:lnTo>
                    <a:pt x="66" y="150"/>
                  </a:lnTo>
                  <a:lnTo>
                    <a:pt x="60" y="150"/>
                  </a:lnTo>
                  <a:lnTo>
                    <a:pt x="60" y="144"/>
                  </a:lnTo>
                  <a:lnTo>
                    <a:pt x="54" y="144"/>
                  </a:lnTo>
                  <a:lnTo>
                    <a:pt x="60" y="144"/>
                  </a:lnTo>
                  <a:lnTo>
                    <a:pt x="54" y="144"/>
                  </a:lnTo>
                  <a:lnTo>
                    <a:pt x="54" y="150"/>
                  </a:lnTo>
                  <a:lnTo>
                    <a:pt x="48" y="144"/>
                  </a:lnTo>
                  <a:lnTo>
                    <a:pt x="42" y="144"/>
                  </a:lnTo>
                  <a:lnTo>
                    <a:pt x="36" y="144"/>
                  </a:lnTo>
                  <a:lnTo>
                    <a:pt x="36" y="138"/>
                  </a:lnTo>
                  <a:lnTo>
                    <a:pt x="36" y="132"/>
                  </a:lnTo>
                  <a:lnTo>
                    <a:pt x="36" y="126"/>
                  </a:lnTo>
                  <a:lnTo>
                    <a:pt x="30" y="126"/>
                  </a:lnTo>
                  <a:lnTo>
                    <a:pt x="24" y="120"/>
                  </a:lnTo>
                  <a:lnTo>
                    <a:pt x="18" y="120"/>
                  </a:lnTo>
                  <a:lnTo>
                    <a:pt x="12" y="120"/>
                  </a:lnTo>
                  <a:lnTo>
                    <a:pt x="6" y="120"/>
                  </a:lnTo>
                  <a:lnTo>
                    <a:pt x="6" y="114"/>
                  </a:lnTo>
                  <a:lnTo>
                    <a:pt x="0" y="114"/>
                  </a:lnTo>
                  <a:lnTo>
                    <a:pt x="6" y="114"/>
                  </a:lnTo>
                  <a:lnTo>
                    <a:pt x="6" y="108"/>
                  </a:lnTo>
                  <a:lnTo>
                    <a:pt x="6" y="114"/>
                  </a:lnTo>
                  <a:lnTo>
                    <a:pt x="12" y="108"/>
                  </a:lnTo>
                  <a:lnTo>
                    <a:pt x="18" y="108"/>
                  </a:lnTo>
                  <a:lnTo>
                    <a:pt x="18" y="102"/>
                  </a:lnTo>
                  <a:lnTo>
                    <a:pt x="12" y="102"/>
                  </a:lnTo>
                  <a:lnTo>
                    <a:pt x="12" y="108"/>
                  </a:lnTo>
                  <a:lnTo>
                    <a:pt x="12" y="102"/>
                  </a:lnTo>
                  <a:lnTo>
                    <a:pt x="6" y="102"/>
                  </a:lnTo>
                  <a:lnTo>
                    <a:pt x="6" y="108"/>
                  </a:lnTo>
                  <a:lnTo>
                    <a:pt x="0" y="108"/>
                  </a:lnTo>
                  <a:lnTo>
                    <a:pt x="6" y="108"/>
                  </a:lnTo>
                  <a:lnTo>
                    <a:pt x="6" y="102"/>
                  </a:lnTo>
                  <a:lnTo>
                    <a:pt x="12" y="96"/>
                  </a:lnTo>
                  <a:lnTo>
                    <a:pt x="18" y="96"/>
                  </a:lnTo>
                  <a:lnTo>
                    <a:pt x="18" y="102"/>
                  </a:lnTo>
                  <a:lnTo>
                    <a:pt x="24" y="102"/>
                  </a:lnTo>
                  <a:lnTo>
                    <a:pt x="30" y="102"/>
                  </a:lnTo>
                  <a:lnTo>
                    <a:pt x="36" y="102"/>
                  </a:lnTo>
                  <a:lnTo>
                    <a:pt x="42" y="102"/>
                  </a:lnTo>
                  <a:lnTo>
                    <a:pt x="48" y="102"/>
                  </a:lnTo>
                  <a:lnTo>
                    <a:pt x="48" y="96"/>
                  </a:lnTo>
                  <a:lnTo>
                    <a:pt x="48" y="90"/>
                  </a:lnTo>
                  <a:lnTo>
                    <a:pt x="48" y="84"/>
                  </a:lnTo>
                  <a:lnTo>
                    <a:pt x="48" y="78"/>
                  </a:lnTo>
                  <a:lnTo>
                    <a:pt x="54" y="78"/>
                  </a:lnTo>
                  <a:lnTo>
                    <a:pt x="60" y="78"/>
                  </a:lnTo>
                  <a:lnTo>
                    <a:pt x="60" y="72"/>
                  </a:lnTo>
                  <a:lnTo>
                    <a:pt x="60" y="66"/>
                  </a:lnTo>
                  <a:lnTo>
                    <a:pt x="60" y="60"/>
                  </a:lnTo>
                  <a:lnTo>
                    <a:pt x="66" y="60"/>
                  </a:lnTo>
                  <a:lnTo>
                    <a:pt x="66" y="54"/>
                  </a:lnTo>
                  <a:lnTo>
                    <a:pt x="72" y="54"/>
                  </a:lnTo>
                  <a:lnTo>
                    <a:pt x="72" y="60"/>
                  </a:lnTo>
                  <a:lnTo>
                    <a:pt x="72" y="66"/>
                  </a:lnTo>
                  <a:lnTo>
                    <a:pt x="72" y="60"/>
                  </a:lnTo>
                  <a:lnTo>
                    <a:pt x="72" y="54"/>
                  </a:lnTo>
                  <a:lnTo>
                    <a:pt x="78" y="48"/>
                  </a:lnTo>
                  <a:lnTo>
                    <a:pt x="78" y="42"/>
                  </a:lnTo>
                  <a:lnTo>
                    <a:pt x="72" y="36"/>
                  </a:lnTo>
                  <a:lnTo>
                    <a:pt x="66" y="36"/>
                  </a:lnTo>
                  <a:lnTo>
                    <a:pt x="60" y="36"/>
                  </a:lnTo>
                  <a:lnTo>
                    <a:pt x="60" y="30"/>
                  </a:lnTo>
                  <a:lnTo>
                    <a:pt x="60" y="24"/>
                  </a:lnTo>
                  <a:lnTo>
                    <a:pt x="54" y="24"/>
                  </a:lnTo>
                  <a:lnTo>
                    <a:pt x="54" y="18"/>
                  </a:lnTo>
                  <a:lnTo>
                    <a:pt x="54" y="12"/>
                  </a:lnTo>
                  <a:lnTo>
                    <a:pt x="54" y="18"/>
                  </a:lnTo>
                  <a:lnTo>
                    <a:pt x="60" y="18"/>
                  </a:lnTo>
                  <a:lnTo>
                    <a:pt x="66" y="18"/>
                  </a:lnTo>
                  <a:lnTo>
                    <a:pt x="72" y="18"/>
                  </a:lnTo>
                  <a:lnTo>
                    <a:pt x="72" y="12"/>
                  </a:lnTo>
                  <a:lnTo>
                    <a:pt x="78" y="12"/>
                  </a:lnTo>
                  <a:lnTo>
                    <a:pt x="84" y="18"/>
                  </a:lnTo>
                  <a:lnTo>
                    <a:pt x="90" y="18"/>
                  </a:lnTo>
                  <a:lnTo>
                    <a:pt x="96" y="18"/>
                  </a:lnTo>
                  <a:lnTo>
                    <a:pt x="96" y="12"/>
                  </a:lnTo>
                  <a:lnTo>
                    <a:pt x="90" y="12"/>
                  </a:lnTo>
                  <a:lnTo>
                    <a:pt x="84" y="12"/>
                  </a:lnTo>
                  <a:lnTo>
                    <a:pt x="84" y="6"/>
                  </a:lnTo>
                  <a:lnTo>
                    <a:pt x="90" y="6"/>
                  </a:lnTo>
                  <a:lnTo>
                    <a:pt x="90" y="0"/>
                  </a:lnTo>
                  <a:lnTo>
                    <a:pt x="90" y="6"/>
                  </a:lnTo>
                  <a:lnTo>
                    <a:pt x="90" y="0"/>
                  </a:lnTo>
                  <a:lnTo>
                    <a:pt x="96" y="0"/>
                  </a:lnTo>
                  <a:lnTo>
                    <a:pt x="96" y="6"/>
                  </a:lnTo>
                  <a:lnTo>
                    <a:pt x="108" y="6"/>
                  </a:lnTo>
                  <a:lnTo>
                    <a:pt x="108" y="12"/>
                  </a:lnTo>
                  <a:lnTo>
                    <a:pt x="108" y="24"/>
                  </a:lnTo>
                  <a:lnTo>
                    <a:pt x="108" y="18"/>
                  </a:lnTo>
                  <a:lnTo>
                    <a:pt x="114" y="18"/>
                  </a:lnTo>
                  <a:lnTo>
                    <a:pt x="120" y="18"/>
                  </a:lnTo>
                  <a:lnTo>
                    <a:pt x="120" y="12"/>
                  </a:lnTo>
                  <a:lnTo>
                    <a:pt x="126" y="12"/>
                  </a:lnTo>
                  <a:lnTo>
                    <a:pt x="126" y="6"/>
                  </a:lnTo>
                  <a:lnTo>
                    <a:pt x="132" y="6"/>
                  </a:lnTo>
                  <a:lnTo>
                    <a:pt x="138" y="6"/>
                  </a:lnTo>
                  <a:lnTo>
                    <a:pt x="144" y="6"/>
                  </a:lnTo>
                  <a:lnTo>
                    <a:pt x="150" y="6"/>
                  </a:lnTo>
                  <a:lnTo>
                    <a:pt x="162" y="6"/>
                  </a:lnTo>
                  <a:lnTo>
                    <a:pt x="162" y="12"/>
                  </a:lnTo>
                  <a:lnTo>
                    <a:pt x="162" y="18"/>
                  </a:lnTo>
                  <a:lnTo>
                    <a:pt x="162" y="24"/>
                  </a:lnTo>
                  <a:lnTo>
                    <a:pt x="168" y="24"/>
                  </a:lnTo>
                  <a:lnTo>
                    <a:pt x="168" y="30"/>
                  </a:lnTo>
                  <a:lnTo>
                    <a:pt x="168" y="36"/>
                  </a:lnTo>
                  <a:lnTo>
                    <a:pt x="168" y="42"/>
                  </a:lnTo>
                  <a:lnTo>
                    <a:pt x="174" y="42"/>
                  </a:lnTo>
                  <a:lnTo>
                    <a:pt x="180" y="42"/>
                  </a:lnTo>
                  <a:lnTo>
                    <a:pt x="186" y="42"/>
                  </a:lnTo>
                  <a:lnTo>
                    <a:pt x="192" y="42"/>
                  </a:lnTo>
                  <a:lnTo>
                    <a:pt x="192" y="48"/>
                  </a:lnTo>
                  <a:lnTo>
                    <a:pt x="198" y="42"/>
                  </a:lnTo>
                  <a:lnTo>
                    <a:pt x="204" y="42"/>
                  </a:lnTo>
                  <a:lnTo>
                    <a:pt x="204" y="48"/>
                  </a:lnTo>
                  <a:lnTo>
                    <a:pt x="204" y="54"/>
                  </a:lnTo>
                  <a:lnTo>
                    <a:pt x="210" y="54"/>
                  </a:lnTo>
                  <a:lnTo>
                    <a:pt x="210" y="60"/>
                  </a:lnTo>
                  <a:lnTo>
                    <a:pt x="210" y="66"/>
                  </a:lnTo>
                  <a:lnTo>
                    <a:pt x="216" y="66"/>
                  </a:lnTo>
                  <a:lnTo>
                    <a:pt x="216" y="72"/>
                  </a:lnTo>
                  <a:lnTo>
                    <a:pt x="216" y="78"/>
                  </a:lnTo>
                  <a:lnTo>
                    <a:pt x="210" y="78"/>
                  </a:lnTo>
                  <a:lnTo>
                    <a:pt x="210" y="84"/>
                  </a:lnTo>
                  <a:lnTo>
                    <a:pt x="204" y="84"/>
                  </a:lnTo>
                  <a:lnTo>
                    <a:pt x="204" y="78"/>
                  </a:lnTo>
                  <a:lnTo>
                    <a:pt x="198" y="78"/>
                  </a:lnTo>
                  <a:lnTo>
                    <a:pt x="198" y="90"/>
                  </a:lnTo>
                  <a:lnTo>
                    <a:pt x="198" y="96"/>
                  </a:lnTo>
                  <a:lnTo>
                    <a:pt x="204" y="96"/>
                  </a:lnTo>
                  <a:lnTo>
                    <a:pt x="204" y="102"/>
                  </a:lnTo>
                  <a:lnTo>
                    <a:pt x="204" y="108"/>
                  </a:lnTo>
                  <a:lnTo>
                    <a:pt x="216" y="108"/>
                  </a:lnTo>
                  <a:lnTo>
                    <a:pt x="222" y="108"/>
                  </a:lnTo>
                  <a:lnTo>
                    <a:pt x="222" y="114"/>
                  </a:lnTo>
                  <a:lnTo>
                    <a:pt x="222" y="120"/>
                  </a:lnTo>
                  <a:lnTo>
                    <a:pt x="222" y="126"/>
                  </a:lnTo>
                  <a:lnTo>
                    <a:pt x="234" y="126"/>
                  </a:lnTo>
                  <a:lnTo>
                    <a:pt x="234" y="132"/>
                  </a:lnTo>
                  <a:lnTo>
                    <a:pt x="234" y="138"/>
                  </a:lnTo>
                  <a:lnTo>
                    <a:pt x="228" y="138"/>
                  </a:lnTo>
                  <a:lnTo>
                    <a:pt x="228" y="144"/>
                  </a:lnTo>
                  <a:lnTo>
                    <a:pt x="222" y="144"/>
                  </a:lnTo>
                  <a:lnTo>
                    <a:pt x="222" y="150"/>
                  </a:lnTo>
                  <a:lnTo>
                    <a:pt x="228" y="150"/>
                  </a:lnTo>
                  <a:lnTo>
                    <a:pt x="228" y="156"/>
                  </a:lnTo>
                  <a:lnTo>
                    <a:pt x="234" y="156"/>
                  </a:lnTo>
                  <a:lnTo>
                    <a:pt x="240" y="162"/>
                  </a:lnTo>
                  <a:close/>
                  <a:moveTo>
                    <a:pt x="174" y="144"/>
                  </a:moveTo>
                  <a:lnTo>
                    <a:pt x="180" y="144"/>
                  </a:lnTo>
                  <a:lnTo>
                    <a:pt x="180" y="138"/>
                  </a:lnTo>
                  <a:lnTo>
                    <a:pt x="180" y="144"/>
                  </a:lnTo>
                  <a:lnTo>
                    <a:pt x="186" y="144"/>
                  </a:lnTo>
                  <a:lnTo>
                    <a:pt x="186" y="150"/>
                  </a:lnTo>
                  <a:lnTo>
                    <a:pt x="186" y="156"/>
                  </a:lnTo>
                  <a:lnTo>
                    <a:pt x="186" y="162"/>
                  </a:lnTo>
                  <a:lnTo>
                    <a:pt x="192" y="162"/>
                  </a:lnTo>
                  <a:lnTo>
                    <a:pt x="192" y="156"/>
                  </a:lnTo>
                  <a:lnTo>
                    <a:pt x="192" y="150"/>
                  </a:lnTo>
                  <a:lnTo>
                    <a:pt x="186" y="144"/>
                  </a:lnTo>
                  <a:lnTo>
                    <a:pt x="186" y="138"/>
                  </a:lnTo>
                  <a:lnTo>
                    <a:pt x="186" y="132"/>
                  </a:lnTo>
                  <a:lnTo>
                    <a:pt x="180" y="132"/>
                  </a:lnTo>
                  <a:lnTo>
                    <a:pt x="180" y="126"/>
                  </a:lnTo>
                  <a:lnTo>
                    <a:pt x="174" y="126"/>
                  </a:lnTo>
                  <a:lnTo>
                    <a:pt x="174" y="120"/>
                  </a:lnTo>
                  <a:lnTo>
                    <a:pt x="174" y="126"/>
                  </a:lnTo>
                  <a:lnTo>
                    <a:pt x="174" y="120"/>
                  </a:lnTo>
                  <a:lnTo>
                    <a:pt x="168" y="120"/>
                  </a:lnTo>
                  <a:lnTo>
                    <a:pt x="162" y="120"/>
                  </a:lnTo>
                  <a:lnTo>
                    <a:pt x="156" y="120"/>
                  </a:lnTo>
                  <a:lnTo>
                    <a:pt x="150" y="120"/>
                  </a:lnTo>
                  <a:lnTo>
                    <a:pt x="150" y="114"/>
                  </a:lnTo>
                  <a:lnTo>
                    <a:pt x="150" y="120"/>
                  </a:lnTo>
                  <a:lnTo>
                    <a:pt x="150" y="114"/>
                  </a:lnTo>
                  <a:lnTo>
                    <a:pt x="144" y="114"/>
                  </a:lnTo>
                  <a:lnTo>
                    <a:pt x="138" y="114"/>
                  </a:lnTo>
                  <a:lnTo>
                    <a:pt x="132" y="114"/>
                  </a:lnTo>
                  <a:lnTo>
                    <a:pt x="132" y="120"/>
                  </a:lnTo>
                  <a:lnTo>
                    <a:pt x="126" y="120"/>
                  </a:lnTo>
                  <a:lnTo>
                    <a:pt x="126" y="126"/>
                  </a:lnTo>
                  <a:lnTo>
                    <a:pt x="120" y="126"/>
                  </a:lnTo>
                  <a:lnTo>
                    <a:pt x="114" y="126"/>
                  </a:lnTo>
                  <a:lnTo>
                    <a:pt x="108" y="126"/>
                  </a:lnTo>
                  <a:lnTo>
                    <a:pt x="108" y="120"/>
                  </a:lnTo>
                  <a:lnTo>
                    <a:pt x="108" y="126"/>
                  </a:lnTo>
                  <a:lnTo>
                    <a:pt x="102" y="126"/>
                  </a:lnTo>
                  <a:lnTo>
                    <a:pt x="102" y="120"/>
                  </a:lnTo>
                  <a:lnTo>
                    <a:pt x="96" y="120"/>
                  </a:lnTo>
                  <a:lnTo>
                    <a:pt x="96" y="126"/>
                  </a:lnTo>
                  <a:lnTo>
                    <a:pt x="102" y="126"/>
                  </a:lnTo>
                  <a:lnTo>
                    <a:pt x="102" y="132"/>
                  </a:lnTo>
                  <a:lnTo>
                    <a:pt x="108" y="132"/>
                  </a:lnTo>
                  <a:lnTo>
                    <a:pt x="114" y="132"/>
                  </a:lnTo>
                  <a:lnTo>
                    <a:pt x="120" y="138"/>
                  </a:lnTo>
                  <a:lnTo>
                    <a:pt x="126" y="138"/>
                  </a:lnTo>
                  <a:lnTo>
                    <a:pt x="132" y="138"/>
                  </a:lnTo>
                  <a:lnTo>
                    <a:pt x="138" y="138"/>
                  </a:lnTo>
                  <a:lnTo>
                    <a:pt x="138" y="132"/>
                  </a:lnTo>
                  <a:lnTo>
                    <a:pt x="144" y="132"/>
                  </a:lnTo>
                  <a:lnTo>
                    <a:pt x="138" y="132"/>
                  </a:lnTo>
                  <a:lnTo>
                    <a:pt x="138" y="126"/>
                  </a:lnTo>
                  <a:lnTo>
                    <a:pt x="132" y="126"/>
                  </a:lnTo>
                  <a:lnTo>
                    <a:pt x="132" y="120"/>
                  </a:lnTo>
                  <a:lnTo>
                    <a:pt x="138" y="120"/>
                  </a:lnTo>
                  <a:lnTo>
                    <a:pt x="132" y="120"/>
                  </a:lnTo>
                  <a:lnTo>
                    <a:pt x="138" y="120"/>
                  </a:lnTo>
                  <a:lnTo>
                    <a:pt x="144" y="126"/>
                  </a:lnTo>
                  <a:lnTo>
                    <a:pt x="138" y="126"/>
                  </a:lnTo>
                  <a:lnTo>
                    <a:pt x="144" y="126"/>
                  </a:lnTo>
                  <a:lnTo>
                    <a:pt x="138" y="126"/>
                  </a:lnTo>
                  <a:lnTo>
                    <a:pt x="144" y="126"/>
                  </a:lnTo>
                  <a:lnTo>
                    <a:pt x="150" y="126"/>
                  </a:lnTo>
                  <a:lnTo>
                    <a:pt x="156" y="132"/>
                  </a:lnTo>
                  <a:lnTo>
                    <a:pt x="156" y="138"/>
                  </a:lnTo>
                  <a:lnTo>
                    <a:pt x="156" y="144"/>
                  </a:lnTo>
                  <a:lnTo>
                    <a:pt x="150" y="144"/>
                  </a:lnTo>
                  <a:lnTo>
                    <a:pt x="156" y="150"/>
                  </a:lnTo>
                  <a:lnTo>
                    <a:pt x="150" y="150"/>
                  </a:lnTo>
                  <a:lnTo>
                    <a:pt x="150" y="156"/>
                  </a:lnTo>
                  <a:lnTo>
                    <a:pt x="150" y="162"/>
                  </a:lnTo>
                  <a:lnTo>
                    <a:pt x="150" y="168"/>
                  </a:lnTo>
                  <a:lnTo>
                    <a:pt x="156" y="168"/>
                  </a:lnTo>
                  <a:lnTo>
                    <a:pt x="156" y="174"/>
                  </a:lnTo>
                  <a:lnTo>
                    <a:pt x="162" y="174"/>
                  </a:lnTo>
                  <a:lnTo>
                    <a:pt x="162" y="180"/>
                  </a:lnTo>
                  <a:lnTo>
                    <a:pt x="156" y="180"/>
                  </a:lnTo>
                  <a:lnTo>
                    <a:pt x="156" y="186"/>
                  </a:lnTo>
                  <a:lnTo>
                    <a:pt x="156" y="180"/>
                  </a:lnTo>
                  <a:lnTo>
                    <a:pt x="150" y="180"/>
                  </a:lnTo>
                  <a:lnTo>
                    <a:pt x="144" y="180"/>
                  </a:lnTo>
                  <a:lnTo>
                    <a:pt x="150" y="180"/>
                  </a:lnTo>
                  <a:lnTo>
                    <a:pt x="150" y="186"/>
                  </a:lnTo>
                  <a:lnTo>
                    <a:pt x="150" y="192"/>
                  </a:lnTo>
                  <a:lnTo>
                    <a:pt x="156" y="192"/>
                  </a:lnTo>
                  <a:lnTo>
                    <a:pt x="156" y="198"/>
                  </a:lnTo>
                  <a:lnTo>
                    <a:pt x="162" y="198"/>
                  </a:lnTo>
                  <a:lnTo>
                    <a:pt x="168" y="198"/>
                  </a:lnTo>
                  <a:lnTo>
                    <a:pt x="168" y="204"/>
                  </a:lnTo>
                  <a:lnTo>
                    <a:pt x="174" y="204"/>
                  </a:lnTo>
                  <a:lnTo>
                    <a:pt x="174" y="198"/>
                  </a:lnTo>
                  <a:lnTo>
                    <a:pt x="174" y="192"/>
                  </a:lnTo>
                  <a:lnTo>
                    <a:pt x="180" y="192"/>
                  </a:lnTo>
                  <a:lnTo>
                    <a:pt x="180" y="186"/>
                  </a:lnTo>
                  <a:lnTo>
                    <a:pt x="174" y="186"/>
                  </a:lnTo>
                  <a:lnTo>
                    <a:pt x="180" y="180"/>
                  </a:lnTo>
                  <a:lnTo>
                    <a:pt x="174" y="180"/>
                  </a:lnTo>
                  <a:lnTo>
                    <a:pt x="174" y="174"/>
                  </a:lnTo>
                  <a:lnTo>
                    <a:pt x="180" y="168"/>
                  </a:lnTo>
                  <a:lnTo>
                    <a:pt x="180" y="162"/>
                  </a:lnTo>
                  <a:lnTo>
                    <a:pt x="174" y="162"/>
                  </a:lnTo>
                  <a:lnTo>
                    <a:pt x="174" y="156"/>
                  </a:lnTo>
                  <a:lnTo>
                    <a:pt x="174" y="150"/>
                  </a:lnTo>
                  <a:lnTo>
                    <a:pt x="174" y="144"/>
                  </a:lnTo>
                  <a:close/>
                </a:path>
              </a:pathLst>
            </a:custGeom>
            <a:solidFill>
              <a:schemeClr val="accent1"/>
            </a:solidFill>
            <a:ln w="9525">
              <a:solidFill>
                <a:srgbClr val="B2B2B2"/>
              </a:solidFill>
              <a:round/>
              <a:headEnd/>
              <a:tailEnd/>
            </a:ln>
          </p:spPr>
          <p:txBody>
            <a:bodyPr/>
            <a:lstStyle/>
            <a:p>
              <a:endParaRPr lang="en-CA"/>
            </a:p>
          </p:txBody>
        </p:sp>
        <p:sp>
          <p:nvSpPr>
            <p:cNvPr id="388" name="Freeform 447"/>
            <p:cNvSpPr>
              <a:spLocks/>
            </p:cNvSpPr>
            <p:nvPr>
              <p:custDataLst>
                <p:tags r:id="rId11"/>
              </p:custDataLst>
            </p:nvPr>
          </p:nvSpPr>
          <p:spPr bwMode="gray">
            <a:xfrm>
              <a:off x="1013" y="3380"/>
              <a:ext cx="168" cy="145"/>
            </a:xfrm>
            <a:custGeom>
              <a:avLst/>
              <a:gdLst>
                <a:gd name="T0" fmla="*/ 157871583 w 270"/>
                <a:gd name="T1" fmla="*/ 192357488 h 234"/>
                <a:gd name="T2" fmla="*/ 140330626 w 270"/>
                <a:gd name="T3" fmla="*/ 180699547 h 234"/>
                <a:gd name="T4" fmla="*/ 122788680 w 270"/>
                <a:gd name="T5" fmla="*/ 174870086 h 234"/>
                <a:gd name="T6" fmla="*/ 111094379 w 270"/>
                <a:gd name="T7" fmla="*/ 163212145 h 234"/>
                <a:gd name="T8" fmla="*/ 99401066 w 270"/>
                <a:gd name="T9" fmla="*/ 151554205 h 234"/>
                <a:gd name="T10" fmla="*/ 81859120 w 270"/>
                <a:gd name="T11" fmla="*/ 145724743 h 234"/>
                <a:gd name="T12" fmla="*/ 64318162 w 270"/>
                <a:gd name="T13" fmla="*/ 139896265 h 234"/>
                <a:gd name="T14" fmla="*/ 52623861 w 270"/>
                <a:gd name="T15" fmla="*/ 134066803 h 234"/>
                <a:gd name="T16" fmla="*/ 29235259 w 270"/>
                <a:gd name="T17" fmla="*/ 145724743 h 234"/>
                <a:gd name="T18" fmla="*/ 23388602 w 270"/>
                <a:gd name="T19" fmla="*/ 151554205 h 234"/>
                <a:gd name="T20" fmla="*/ 5846657 w 270"/>
                <a:gd name="T21" fmla="*/ 145724743 h 234"/>
                <a:gd name="T22" fmla="*/ 5846657 w 270"/>
                <a:gd name="T23" fmla="*/ 134066803 h 234"/>
                <a:gd name="T24" fmla="*/ 23388602 w 270"/>
                <a:gd name="T25" fmla="*/ 122408863 h 234"/>
                <a:gd name="T26" fmla="*/ 23388602 w 270"/>
                <a:gd name="T27" fmla="*/ 110750923 h 234"/>
                <a:gd name="T28" fmla="*/ 40929560 w 270"/>
                <a:gd name="T29" fmla="*/ 116580385 h 234"/>
                <a:gd name="T30" fmla="*/ 46777204 w 270"/>
                <a:gd name="T31" fmla="*/ 122408863 h 234"/>
                <a:gd name="T32" fmla="*/ 87706764 w 270"/>
                <a:gd name="T33" fmla="*/ 134066803 h 234"/>
                <a:gd name="T34" fmla="*/ 93553421 w 270"/>
                <a:gd name="T35" fmla="*/ 122408863 h 234"/>
                <a:gd name="T36" fmla="*/ 99401066 w 270"/>
                <a:gd name="T37" fmla="*/ 122408863 h 234"/>
                <a:gd name="T38" fmla="*/ 93553421 w 270"/>
                <a:gd name="T39" fmla="*/ 104922445 h 234"/>
                <a:gd name="T40" fmla="*/ 111094379 w 270"/>
                <a:gd name="T41" fmla="*/ 93264505 h 234"/>
                <a:gd name="T42" fmla="*/ 116942023 w 270"/>
                <a:gd name="T43" fmla="*/ 46631760 h 234"/>
                <a:gd name="T44" fmla="*/ 99401066 w 270"/>
                <a:gd name="T45" fmla="*/ 58289701 h 234"/>
                <a:gd name="T46" fmla="*/ 93553421 w 270"/>
                <a:gd name="T47" fmla="*/ 52461222 h 234"/>
                <a:gd name="T48" fmla="*/ 105247722 w 270"/>
                <a:gd name="T49" fmla="*/ 29145342 h 234"/>
                <a:gd name="T50" fmla="*/ 122788680 w 270"/>
                <a:gd name="T51" fmla="*/ 11657940 h 234"/>
                <a:gd name="T52" fmla="*/ 122788680 w 270"/>
                <a:gd name="T53" fmla="*/ 0 h 234"/>
                <a:gd name="T54" fmla="*/ 134482981 w 270"/>
                <a:gd name="T55" fmla="*/ 11657940 h 234"/>
                <a:gd name="T56" fmla="*/ 157871583 w 270"/>
                <a:gd name="T57" fmla="*/ 0 h 234"/>
                <a:gd name="T58" fmla="*/ 175412541 w 270"/>
                <a:gd name="T59" fmla="*/ 11657940 h 234"/>
                <a:gd name="T60" fmla="*/ 181260186 w 270"/>
                <a:gd name="T61" fmla="*/ 29145342 h 234"/>
                <a:gd name="T62" fmla="*/ 192954487 w 270"/>
                <a:gd name="T63" fmla="*/ 46631760 h 234"/>
                <a:gd name="T64" fmla="*/ 228036402 w 270"/>
                <a:gd name="T65" fmla="*/ 40803282 h 234"/>
                <a:gd name="T66" fmla="*/ 228036402 w 270"/>
                <a:gd name="T67" fmla="*/ 75777103 h 234"/>
                <a:gd name="T68" fmla="*/ 245578348 w 270"/>
                <a:gd name="T69" fmla="*/ 87435043 h 234"/>
                <a:gd name="T70" fmla="*/ 239730703 w 270"/>
                <a:gd name="T71" fmla="*/ 104922445 h 234"/>
                <a:gd name="T72" fmla="*/ 222189746 w 270"/>
                <a:gd name="T73" fmla="*/ 116580385 h 234"/>
                <a:gd name="T74" fmla="*/ 239730703 w 270"/>
                <a:gd name="T75" fmla="*/ 134066803 h 234"/>
                <a:gd name="T76" fmla="*/ 233884047 w 270"/>
                <a:gd name="T77" fmla="*/ 169041607 h 234"/>
                <a:gd name="T78" fmla="*/ 263119306 w 270"/>
                <a:gd name="T79" fmla="*/ 169041607 h 234"/>
                <a:gd name="T80" fmla="*/ 263119306 w 270"/>
                <a:gd name="T81" fmla="*/ 174870086 h 234"/>
                <a:gd name="T82" fmla="*/ 263119306 w 270"/>
                <a:gd name="T83" fmla="*/ 186528026 h 234"/>
                <a:gd name="T84" fmla="*/ 257272649 w 270"/>
                <a:gd name="T85" fmla="*/ 204015428 h 234"/>
                <a:gd name="T86" fmla="*/ 251425004 w 270"/>
                <a:gd name="T87" fmla="*/ 204015428 h 234"/>
                <a:gd name="T88" fmla="*/ 245578348 w 270"/>
                <a:gd name="T89" fmla="*/ 221501846 h 234"/>
                <a:gd name="T90" fmla="*/ 239730703 w 270"/>
                <a:gd name="T91" fmla="*/ 215673368 h 234"/>
                <a:gd name="T92" fmla="*/ 228036402 w 270"/>
                <a:gd name="T93" fmla="*/ 221501846 h 234"/>
                <a:gd name="T94" fmla="*/ 216342101 w 270"/>
                <a:gd name="T95" fmla="*/ 215673368 h 234"/>
                <a:gd name="T96" fmla="*/ 192954487 w 270"/>
                <a:gd name="T97" fmla="*/ 209843906 h 23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70"/>
                <a:gd name="T148" fmla="*/ 0 h 234"/>
                <a:gd name="T149" fmla="*/ 270 w 270"/>
                <a:gd name="T150" fmla="*/ 234 h 23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70" h="234">
                  <a:moveTo>
                    <a:pt x="186" y="216"/>
                  </a:moveTo>
                  <a:lnTo>
                    <a:pt x="180" y="210"/>
                  </a:lnTo>
                  <a:lnTo>
                    <a:pt x="168" y="204"/>
                  </a:lnTo>
                  <a:lnTo>
                    <a:pt x="162" y="198"/>
                  </a:lnTo>
                  <a:lnTo>
                    <a:pt x="156" y="192"/>
                  </a:lnTo>
                  <a:lnTo>
                    <a:pt x="150" y="192"/>
                  </a:lnTo>
                  <a:lnTo>
                    <a:pt x="150" y="186"/>
                  </a:lnTo>
                  <a:lnTo>
                    <a:pt x="144" y="186"/>
                  </a:lnTo>
                  <a:lnTo>
                    <a:pt x="138" y="186"/>
                  </a:lnTo>
                  <a:lnTo>
                    <a:pt x="132" y="186"/>
                  </a:lnTo>
                  <a:lnTo>
                    <a:pt x="132" y="180"/>
                  </a:lnTo>
                  <a:lnTo>
                    <a:pt x="126" y="180"/>
                  </a:lnTo>
                  <a:lnTo>
                    <a:pt x="120" y="180"/>
                  </a:lnTo>
                  <a:lnTo>
                    <a:pt x="120" y="174"/>
                  </a:lnTo>
                  <a:lnTo>
                    <a:pt x="114" y="174"/>
                  </a:lnTo>
                  <a:lnTo>
                    <a:pt x="114" y="168"/>
                  </a:lnTo>
                  <a:lnTo>
                    <a:pt x="114" y="162"/>
                  </a:lnTo>
                  <a:lnTo>
                    <a:pt x="108" y="162"/>
                  </a:lnTo>
                  <a:lnTo>
                    <a:pt x="108" y="156"/>
                  </a:lnTo>
                  <a:lnTo>
                    <a:pt x="102" y="156"/>
                  </a:lnTo>
                  <a:lnTo>
                    <a:pt x="102" y="150"/>
                  </a:lnTo>
                  <a:lnTo>
                    <a:pt x="96" y="150"/>
                  </a:lnTo>
                  <a:lnTo>
                    <a:pt x="90" y="150"/>
                  </a:lnTo>
                  <a:lnTo>
                    <a:pt x="84" y="150"/>
                  </a:lnTo>
                  <a:lnTo>
                    <a:pt x="78" y="150"/>
                  </a:lnTo>
                  <a:lnTo>
                    <a:pt x="78" y="144"/>
                  </a:lnTo>
                  <a:lnTo>
                    <a:pt x="72" y="144"/>
                  </a:lnTo>
                  <a:lnTo>
                    <a:pt x="66" y="144"/>
                  </a:lnTo>
                  <a:lnTo>
                    <a:pt x="66" y="138"/>
                  </a:lnTo>
                  <a:lnTo>
                    <a:pt x="60" y="138"/>
                  </a:lnTo>
                  <a:lnTo>
                    <a:pt x="60" y="132"/>
                  </a:lnTo>
                  <a:lnTo>
                    <a:pt x="54" y="138"/>
                  </a:lnTo>
                  <a:lnTo>
                    <a:pt x="48" y="144"/>
                  </a:lnTo>
                  <a:lnTo>
                    <a:pt x="42" y="150"/>
                  </a:lnTo>
                  <a:lnTo>
                    <a:pt x="36" y="150"/>
                  </a:lnTo>
                  <a:lnTo>
                    <a:pt x="30" y="150"/>
                  </a:lnTo>
                  <a:lnTo>
                    <a:pt x="30" y="144"/>
                  </a:lnTo>
                  <a:lnTo>
                    <a:pt x="24" y="144"/>
                  </a:lnTo>
                  <a:lnTo>
                    <a:pt x="24" y="150"/>
                  </a:lnTo>
                  <a:lnTo>
                    <a:pt x="24" y="156"/>
                  </a:lnTo>
                  <a:lnTo>
                    <a:pt x="18" y="156"/>
                  </a:lnTo>
                  <a:lnTo>
                    <a:pt x="18" y="150"/>
                  </a:lnTo>
                  <a:lnTo>
                    <a:pt x="12" y="150"/>
                  </a:lnTo>
                  <a:lnTo>
                    <a:pt x="6" y="150"/>
                  </a:lnTo>
                  <a:lnTo>
                    <a:pt x="0" y="150"/>
                  </a:lnTo>
                  <a:lnTo>
                    <a:pt x="0" y="144"/>
                  </a:lnTo>
                  <a:lnTo>
                    <a:pt x="0" y="138"/>
                  </a:lnTo>
                  <a:lnTo>
                    <a:pt x="6" y="138"/>
                  </a:lnTo>
                  <a:lnTo>
                    <a:pt x="12" y="138"/>
                  </a:lnTo>
                  <a:lnTo>
                    <a:pt x="12" y="132"/>
                  </a:lnTo>
                  <a:lnTo>
                    <a:pt x="24" y="132"/>
                  </a:lnTo>
                  <a:lnTo>
                    <a:pt x="24" y="126"/>
                  </a:lnTo>
                  <a:lnTo>
                    <a:pt x="18" y="126"/>
                  </a:lnTo>
                  <a:lnTo>
                    <a:pt x="18" y="120"/>
                  </a:lnTo>
                  <a:lnTo>
                    <a:pt x="18" y="114"/>
                  </a:lnTo>
                  <a:lnTo>
                    <a:pt x="24" y="114"/>
                  </a:lnTo>
                  <a:lnTo>
                    <a:pt x="30" y="114"/>
                  </a:lnTo>
                  <a:lnTo>
                    <a:pt x="36" y="114"/>
                  </a:lnTo>
                  <a:lnTo>
                    <a:pt x="36" y="120"/>
                  </a:lnTo>
                  <a:lnTo>
                    <a:pt x="42" y="120"/>
                  </a:lnTo>
                  <a:lnTo>
                    <a:pt x="42" y="126"/>
                  </a:lnTo>
                  <a:lnTo>
                    <a:pt x="48" y="126"/>
                  </a:lnTo>
                  <a:lnTo>
                    <a:pt x="54" y="126"/>
                  </a:lnTo>
                  <a:lnTo>
                    <a:pt x="48" y="126"/>
                  </a:lnTo>
                  <a:lnTo>
                    <a:pt x="60" y="120"/>
                  </a:lnTo>
                  <a:lnTo>
                    <a:pt x="78" y="138"/>
                  </a:lnTo>
                  <a:lnTo>
                    <a:pt x="84" y="138"/>
                  </a:lnTo>
                  <a:lnTo>
                    <a:pt x="90" y="138"/>
                  </a:lnTo>
                  <a:lnTo>
                    <a:pt x="90" y="132"/>
                  </a:lnTo>
                  <a:lnTo>
                    <a:pt x="96" y="126"/>
                  </a:lnTo>
                  <a:lnTo>
                    <a:pt x="96" y="120"/>
                  </a:lnTo>
                  <a:lnTo>
                    <a:pt x="96" y="126"/>
                  </a:lnTo>
                  <a:lnTo>
                    <a:pt x="102" y="126"/>
                  </a:lnTo>
                  <a:lnTo>
                    <a:pt x="102" y="132"/>
                  </a:lnTo>
                  <a:lnTo>
                    <a:pt x="108" y="126"/>
                  </a:lnTo>
                  <a:lnTo>
                    <a:pt x="102" y="126"/>
                  </a:lnTo>
                  <a:lnTo>
                    <a:pt x="102" y="120"/>
                  </a:lnTo>
                  <a:lnTo>
                    <a:pt x="102" y="114"/>
                  </a:lnTo>
                  <a:lnTo>
                    <a:pt x="96" y="114"/>
                  </a:lnTo>
                  <a:lnTo>
                    <a:pt x="96" y="108"/>
                  </a:lnTo>
                  <a:lnTo>
                    <a:pt x="102" y="108"/>
                  </a:lnTo>
                  <a:lnTo>
                    <a:pt x="102" y="102"/>
                  </a:lnTo>
                  <a:lnTo>
                    <a:pt x="108" y="96"/>
                  </a:lnTo>
                  <a:lnTo>
                    <a:pt x="114" y="96"/>
                  </a:lnTo>
                  <a:lnTo>
                    <a:pt x="120" y="90"/>
                  </a:lnTo>
                  <a:lnTo>
                    <a:pt x="120" y="72"/>
                  </a:lnTo>
                  <a:lnTo>
                    <a:pt x="120" y="54"/>
                  </a:lnTo>
                  <a:lnTo>
                    <a:pt x="120" y="48"/>
                  </a:lnTo>
                  <a:lnTo>
                    <a:pt x="114" y="48"/>
                  </a:lnTo>
                  <a:lnTo>
                    <a:pt x="114" y="54"/>
                  </a:lnTo>
                  <a:lnTo>
                    <a:pt x="102" y="54"/>
                  </a:lnTo>
                  <a:lnTo>
                    <a:pt x="102" y="60"/>
                  </a:lnTo>
                  <a:lnTo>
                    <a:pt x="102" y="66"/>
                  </a:lnTo>
                  <a:lnTo>
                    <a:pt x="96" y="66"/>
                  </a:lnTo>
                  <a:lnTo>
                    <a:pt x="96" y="60"/>
                  </a:lnTo>
                  <a:lnTo>
                    <a:pt x="96" y="54"/>
                  </a:lnTo>
                  <a:lnTo>
                    <a:pt x="90" y="48"/>
                  </a:lnTo>
                  <a:lnTo>
                    <a:pt x="96" y="36"/>
                  </a:lnTo>
                  <a:lnTo>
                    <a:pt x="102" y="30"/>
                  </a:lnTo>
                  <a:lnTo>
                    <a:pt x="108" y="30"/>
                  </a:lnTo>
                  <a:lnTo>
                    <a:pt x="108" y="24"/>
                  </a:lnTo>
                  <a:lnTo>
                    <a:pt x="126" y="24"/>
                  </a:lnTo>
                  <a:lnTo>
                    <a:pt x="126" y="18"/>
                  </a:lnTo>
                  <a:lnTo>
                    <a:pt x="126" y="12"/>
                  </a:lnTo>
                  <a:lnTo>
                    <a:pt x="120" y="12"/>
                  </a:lnTo>
                  <a:lnTo>
                    <a:pt x="120" y="6"/>
                  </a:lnTo>
                  <a:lnTo>
                    <a:pt x="120" y="0"/>
                  </a:lnTo>
                  <a:lnTo>
                    <a:pt x="126" y="0"/>
                  </a:lnTo>
                  <a:lnTo>
                    <a:pt x="132" y="6"/>
                  </a:lnTo>
                  <a:lnTo>
                    <a:pt x="132" y="0"/>
                  </a:lnTo>
                  <a:lnTo>
                    <a:pt x="132" y="12"/>
                  </a:lnTo>
                  <a:lnTo>
                    <a:pt x="138" y="12"/>
                  </a:lnTo>
                  <a:lnTo>
                    <a:pt x="144" y="12"/>
                  </a:lnTo>
                  <a:lnTo>
                    <a:pt x="150" y="6"/>
                  </a:lnTo>
                  <a:lnTo>
                    <a:pt x="150" y="0"/>
                  </a:lnTo>
                  <a:lnTo>
                    <a:pt x="162" y="0"/>
                  </a:lnTo>
                  <a:lnTo>
                    <a:pt x="162" y="6"/>
                  </a:lnTo>
                  <a:lnTo>
                    <a:pt x="168" y="6"/>
                  </a:lnTo>
                  <a:lnTo>
                    <a:pt x="180" y="18"/>
                  </a:lnTo>
                  <a:lnTo>
                    <a:pt x="180" y="12"/>
                  </a:lnTo>
                  <a:lnTo>
                    <a:pt x="186" y="12"/>
                  </a:lnTo>
                  <a:lnTo>
                    <a:pt x="186" y="18"/>
                  </a:lnTo>
                  <a:lnTo>
                    <a:pt x="186" y="24"/>
                  </a:lnTo>
                  <a:lnTo>
                    <a:pt x="186" y="30"/>
                  </a:lnTo>
                  <a:lnTo>
                    <a:pt x="192" y="30"/>
                  </a:lnTo>
                  <a:lnTo>
                    <a:pt x="192" y="36"/>
                  </a:lnTo>
                  <a:lnTo>
                    <a:pt x="198" y="42"/>
                  </a:lnTo>
                  <a:lnTo>
                    <a:pt x="198" y="48"/>
                  </a:lnTo>
                  <a:lnTo>
                    <a:pt x="210" y="54"/>
                  </a:lnTo>
                  <a:lnTo>
                    <a:pt x="216" y="54"/>
                  </a:lnTo>
                  <a:lnTo>
                    <a:pt x="228" y="42"/>
                  </a:lnTo>
                  <a:lnTo>
                    <a:pt x="234" y="42"/>
                  </a:lnTo>
                  <a:lnTo>
                    <a:pt x="240" y="48"/>
                  </a:lnTo>
                  <a:lnTo>
                    <a:pt x="228" y="48"/>
                  </a:lnTo>
                  <a:lnTo>
                    <a:pt x="222" y="54"/>
                  </a:lnTo>
                  <a:lnTo>
                    <a:pt x="234" y="78"/>
                  </a:lnTo>
                  <a:lnTo>
                    <a:pt x="234" y="84"/>
                  </a:lnTo>
                  <a:lnTo>
                    <a:pt x="240" y="84"/>
                  </a:lnTo>
                  <a:lnTo>
                    <a:pt x="246" y="90"/>
                  </a:lnTo>
                  <a:lnTo>
                    <a:pt x="252" y="90"/>
                  </a:lnTo>
                  <a:lnTo>
                    <a:pt x="252" y="96"/>
                  </a:lnTo>
                  <a:lnTo>
                    <a:pt x="252" y="102"/>
                  </a:lnTo>
                  <a:lnTo>
                    <a:pt x="252" y="108"/>
                  </a:lnTo>
                  <a:lnTo>
                    <a:pt x="246" y="108"/>
                  </a:lnTo>
                  <a:lnTo>
                    <a:pt x="240" y="114"/>
                  </a:lnTo>
                  <a:lnTo>
                    <a:pt x="240" y="120"/>
                  </a:lnTo>
                  <a:lnTo>
                    <a:pt x="234" y="120"/>
                  </a:lnTo>
                  <a:lnTo>
                    <a:pt x="228" y="120"/>
                  </a:lnTo>
                  <a:lnTo>
                    <a:pt x="222" y="126"/>
                  </a:lnTo>
                  <a:lnTo>
                    <a:pt x="240" y="132"/>
                  </a:lnTo>
                  <a:lnTo>
                    <a:pt x="240" y="138"/>
                  </a:lnTo>
                  <a:lnTo>
                    <a:pt x="246" y="138"/>
                  </a:lnTo>
                  <a:lnTo>
                    <a:pt x="252" y="138"/>
                  </a:lnTo>
                  <a:lnTo>
                    <a:pt x="252" y="144"/>
                  </a:lnTo>
                  <a:lnTo>
                    <a:pt x="246" y="150"/>
                  </a:lnTo>
                  <a:lnTo>
                    <a:pt x="240" y="174"/>
                  </a:lnTo>
                  <a:lnTo>
                    <a:pt x="252" y="174"/>
                  </a:lnTo>
                  <a:lnTo>
                    <a:pt x="258" y="174"/>
                  </a:lnTo>
                  <a:lnTo>
                    <a:pt x="264" y="174"/>
                  </a:lnTo>
                  <a:lnTo>
                    <a:pt x="270" y="174"/>
                  </a:lnTo>
                  <a:lnTo>
                    <a:pt x="264" y="174"/>
                  </a:lnTo>
                  <a:lnTo>
                    <a:pt x="270" y="174"/>
                  </a:lnTo>
                  <a:lnTo>
                    <a:pt x="264" y="180"/>
                  </a:lnTo>
                  <a:lnTo>
                    <a:pt x="270" y="180"/>
                  </a:lnTo>
                  <a:lnTo>
                    <a:pt x="270" y="186"/>
                  </a:lnTo>
                  <a:lnTo>
                    <a:pt x="270" y="192"/>
                  </a:lnTo>
                  <a:lnTo>
                    <a:pt x="270" y="186"/>
                  </a:lnTo>
                  <a:lnTo>
                    <a:pt x="270" y="192"/>
                  </a:lnTo>
                  <a:lnTo>
                    <a:pt x="264" y="192"/>
                  </a:lnTo>
                  <a:lnTo>
                    <a:pt x="264" y="198"/>
                  </a:lnTo>
                  <a:lnTo>
                    <a:pt x="264" y="204"/>
                  </a:lnTo>
                  <a:lnTo>
                    <a:pt x="264" y="210"/>
                  </a:lnTo>
                  <a:lnTo>
                    <a:pt x="264" y="204"/>
                  </a:lnTo>
                  <a:lnTo>
                    <a:pt x="264" y="210"/>
                  </a:lnTo>
                  <a:lnTo>
                    <a:pt x="258" y="204"/>
                  </a:lnTo>
                  <a:lnTo>
                    <a:pt x="258" y="210"/>
                  </a:lnTo>
                  <a:lnTo>
                    <a:pt x="258" y="216"/>
                  </a:lnTo>
                  <a:lnTo>
                    <a:pt x="258" y="222"/>
                  </a:lnTo>
                  <a:lnTo>
                    <a:pt x="258" y="228"/>
                  </a:lnTo>
                  <a:lnTo>
                    <a:pt x="252" y="228"/>
                  </a:lnTo>
                  <a:lnTo>
                    <a:pt x="252" y="234"/>
                  </a:lnTo>
                  <a:lnTo>
                    <a:pt x="252" y="228"/>
                  </a:lnTo>
                  <a:lnTo>
                    <a:pt x="246" y="228"/>
                  </a:lnTo>
                  <a:lnTo>
                    <a:pt x="246" y="222"/>
                  </a:lnTo>
                  <a:lnTo>
                    <a:pt x="246" y="228"/>
                  </a:lnTo>
                  <a:lnTo>
                    <a:pt x="240" y="234"/>
                  </a:lnTo>
                  <a:lnTo>
                    <a:pt x="240" y="228"/>
                  </a:lnTo>
                  <a:lnTo>
                    <a:pt x="234" y="228"/>
                  </a:lnTo>
                  <a:lnTo>
                    <a:pt x="240" y="228"/>
                  </a:lnTo>
                  <a:lnTo>
                    <a:pt x="234" y="228"/>
                  </a:lnTo>
                  <a:lnTo>
                    <a:pt x="228" y="222"/>
                  </a:lnTo>
                  <a:lnTo>
                    <a:pt x="222" y="222"/>
                  </a:lnTo>
                  <a:lnTo>
                    <a:pt x="216" y="216"/>
                  </a:lnTo>
                  <a:lnTo>
                    <a:pt x="210" y="216"/>
                  </a:lnTo>
                  <a:lnTo>
                    <a:pt x="204" y="216"/>
                  </a:lnTo>
                  <a:lnTo>
                    <a:pt x="198" y="216"/>
                  </a:lnTo>
                  <a:lnTo>
                    <a:pt x="192" y="216"/>
                  </a:lnTo>
                  <a:lnTo>
                    <a:pt x="186" y="216"/>
                  </a:lnTo>
                  <a:close/>
                </a:path>
              </a:pathLst>
            </a:custGeom>
            <a:solidFill>
              <a:schemeClr val="accent1"/>
            </a:solidFill>
            <a:ln w="9525">
              <a:solidFill>
                <a:srgbClr val="B2B2B2"/>
              </a:solidFill>
              <a:round/>
              <a:headEnd/>
              <a:tailEnd/>
            </a:ln>
          </p:spPr>
          <p:txBody>
            <a:bodyPr/>
            <a:lstStyle/>
            <a:p>
              <a:endParaRPr lang="en-CA"/>
            </a:p>
          </p:txBody>
        </p:sp>
        <p:sp>
          <p:nvSpPr>
            <p:cNvPr id="389" name="Freeform 448"/>
            <p:cNvSpPr>
              <a:spLocks/>
            </p:cNvSpPr>
            <p:nvPr>
              <p:custDataLst>
                <p:tags r:id="rId12"/>
              </p:custDataLst>
            </p:nvPr>
          </p:nvSpPr>
          <p:spPr bwMode="gray">
            <a:xfrm>
              <a:off x="916" y="3294"/>
              <a:ext cx="172" cy="183"/>
            </a:xfrm>
            <a:custGeom>
              <a:avLst/>
              <a:gdLst>
                <a:gd name="T0" fmla="*/ 140582167 w 276"/>
                <a:gd name="T1" fmla="*/ 287668147 h 294"/>
                <a:gd name="T2" fmla="*/ 123010014 w 276"/>
                <a:gd name="T3" fmla="*/ 275927073 h 294"/>
                <a:gd name="T4" fmla="*/ 111294586 w 276"/>
                <a:gd name="T5" fmla="*/ 270055549 h 294"/>
                <a:gd name="T6" fmla="*/ 93721445 w 276"/>
                <a:gd name="T7" fmla="*/ 264185012 h 294"/>
                <a:gd name="T8" fmla="*/ 87863731 w 276"/>
                <a:gd name="T9" fmla="*/ 246572415 h 294"/>
                <a:gd name="T10" fmla="*/ 82006017 w 276"/>
                <a:gd name="T11" fmla="*/ 228960805 h 294"/>
                <a:gd name="T12" fmla="*/ 52718436 w 276"/>
                <a:gd name="T13" fmla="*/ 228960805 h 294"/>
                <a:gd name="T14" fmla="*/ 41003008 w 276"/>
                <a:gd name="T15" fmla="*/ 240701878 h 294"/>
                <a:gd name="T16" fmla="*/ 29287580 w 276"/>
                <a:gd name="T17" fmla="*/ 234831342 h 294"/>
                <a:gd name="T18" fmla="*/ 23430856 w 276"/>
                <a:gd name="T19" fmla="*/ 223089281 h 294"/>
                <a:gd name="T20" fmla="*/ 41003008 w 276"/>
                <a:gd name="T21" fmla="*/ 217218744 h 294"/>
                <a:gd name="T22" fmla="*/ 46860722 w 276"/>
                <a:gd name="T23" fmla="*/ 211348208 h 294"/>
                <a:gd name="T24" fmla="*/ 46860722 w 276"/>
                <a:gd name="T25" fmla="*/ 205477671 h 294"/>
                <a:gd name="T26" fmla="*/ 29287580 w 276"/>
                <a:gd name="T27" fmla="*/ 199606146 h 294"/>
                <a:gd name="T28" fmla="*/ 11715428 w 276"/>
                <a:gd name="T29" fmla="*/ 205477671 h 294"/>
                <a:gd name="T30" fmla="*/ 0 w 276"/>
                <a:gd name="T31" fmla="*/ 205477671 h 294"/>
                <a:gd name="T32" fmla="*/ 5857714 w 276"/>
                <a:gd name="T33" fmla="*/ 199606146 h 294"/>
                <a:gd name="T34" fmla="*/ 0 w 276"/>
                <a:gd name="T35" fmla="*/ 181994537 h 294"/>
                <a:gd name="T36" fmla="*/ 11715428 w 276"/>
                <a:gd name="T37" fmla="*/ 176123012 h 294"/>
                <a:gd name="T38" fmla="*/ 23430856 w 276"/>
                <a:gd name="T39" fmla="*/ 164381939 h 294"/>
                <a:gd name="T40" fmla="*/ 41003008 w 276"/>
                <a:gd name="T41" fmla="*/ 158511403 h 294"/>
                <a:gd name="T42" fmla="*/ 58576150 w 276"/>
                <a:gd name="T43" fmla="*/ 158511403 h 294"/>
                <a:gd name="T44" fmla="*/ 70291578 w 276"/>
                <a:gd name="T45" fmla="*/ 158511403 h 294"/>
                <a:gd name="T46" fmla="*/ 76149292 w 276"/>
                <a:gd name="T47" fmla="*/ 140898805 h 294"/>
                <a:gd name="T48" fmla="*/ 76149292 w 276"/>
                <a:gd name="T49" fmla="*/ 129156744 h 294"/>
                <a:gd name="T50" fmla="*/ 70291578 w 276"/>
                <a:gd name="T51" fmla="*/ 111545134 h 294"/>
                <a:gd name="T52" fmla="*/ 70291578 w 276"/>
                <a:gd name="T53" fmla="*/ 99803073 h 294"/>
                <a:gd name="T54" fmla="*/ 64433864 w 276"/>
                <a:gd name="T55" fmla="*/ 76319939 h 294"/>
                <a:gd name="T56" fmla="*/ 76149292 w 276"/>
                <a:gd name="T57" fmla="*/ 76319939 h 294"/>
                <a:gd name="T58" fmla="*/ 87863731 w 276"/>
                <a:gd name="T59" fmla="*/ 64578866 h 294"/>
                <a:gd name="T60" fmla="*/ 76149292 w 276"/>
                <a:gd name="T61" fmla="*/ 52836805 h 294"/>
                <a:gd name="T62" fmla="*/ 82006017 w 276"/>
                <a:gd name="T63" fmla="*/ 41095732 h 294"/>
                <a:gd name="T64" fmla="*/ 93721445 w 276"/>
                <a:gd name="T65" fmla="*/ 41095732 h 294"/>
                <a:gd name="T66" fmla="*/ 111294586 w 276"/>
                <a:gd name="T67" fmla="*/ 35224207 h 294"/>
                <a:gd name="T68" fmla="*/ 123010014 w 276"/>
                <a:gd name="T69" fmla="*/ 23483134 h 294"/>
                <a:gd name="T70" fmla="*/ 134725442 w 276"/>
                <a:gd name="T71" fmla="*/ 11741073 h 294"/>
                <a:gd name="T72" fmla="*/ 140582167 w 276"/>
                <a:gd name="T73" fmla="*/ 0 h 294"/>
                <a:gd name="T74" fmla="*/ 152297595 w 276"/>
                <a:gd name="T75" fmla="*/ 17612598 h 294"/>
                <a:gd name="T76" fmla="*/ 169870737 w 276"/>
                <a:gd name="T77" fmla="*/ 23483134 h 294"/>
                <a:gd name="T78" fmla="*/ 169870737 w 276"/>
                <a:gd name="T79" fmla="*/ 46966268 h 294"/>
                <a:gd name="T80" fmla="*/ 169870737 w 276"/>
                <a:gd name="T81" fmla="*/ 70449403 h 294"/>
                <a:gd name="T82" fmla="*/ 181586164 w 276"/>
                <a:gd name="T83" fmla="*/ 82190476 h 294"/>
                <a:gd name="T84" fmla="*/ 199158317 w 276"/>
                <a:gd name="T85" fmla="*/ 93932537 h 294"/>
                <a:gd name="T86" fmla="*/ 193300603 w 276"/>
                <a:gd name="T87" fmla="*/ 111545134 h 294"/>
                <a:gd name="T88" fmla="*/ 175728451 w 276"/>
                <a:gd name="T89" fmla="*/ 117415671 h 294"/>
                <a:gd name="T90" fmla="*/ 169870737 w 276"/>
                <a:gd name="T91" fmla="*/ 140898805 h 294"/>
                <a:gd name="T92" fmla="*/ 187442889 w 276"/>
                <a:gd name="T93" fmla="*/ 146769342 h 294"/>
                <a:gd name="T94" fmla="*/ 199158317 w 276"/>
                <a:gd name="T95" fmla="*/ 164381939 h 294"/>
                <a:gd name="T96" fmla="*/ 216731459 w 276"/>
                <a:gd name="T97" fmla="*/ 181994537 h 294"/>
                <a:gd name="T98" fmla="*/ 240161325 w 276"/>
                <a:gd name="T99" fmla="*/ 187865073 h 294"/>
                <a:gd name="T100" fmla="*/ 251876753 w 276"/>
                <a:gd name="T101" fmla="*/ 199606146 h 294"/>
                <a:gd name="T102" fmla="*/ 263592181 w 276"/>
                <a:gd name="T103" fmla="*/ 181994537 h 294"/>
                <a:gd name="T104" fmla="*/ 269449895 w 276"/>
                <a:gd name="T105" fmla="*/ 223089281 h 294"/>
                <a:gd name="T106" fmla="*/ 251876753 w 276"/>
                <a:gd name="T107" fmla="*/ 240701878 h 294"/>
                <a:gd name="T108" fmla="*/ 251876753 w 276"/>
                <a:gd name="T109" fmla="*/ 252443939 h 294"/>
                <a:gd name="T110" fmla="*/ 251876753 w 276"/>
                <a:gd name="T111" fmla="*/ 258314476 h 294"/>
                <a:gd name="T112" fmla="*/ 240161325 w 276"/>
                <a:gd name="T113" fmla="*/ 264185012 h 294"/>
                <a:gd name="T114" fmla="*/ 210873745 w 276"/>
                <a:gd name="T115" fmla="*/ 252443939 h 294"/>
                <a:gd name="T116" fmla="*/ 193300603 w 276"/>
                <a:gd name="T117" fmla="*/ 258314476 h 294"/>
                <a:gd name="T118" fmla="*/ 181586164 w 276"/>
                <a:gd name="T119" fmla="*/ 246572415 h 294"/>
                <a:gd name="T120" fmla="*/ 169870737 w 276"/>
                <a:gd name="T121" fmla="*/ 258314476 h 294"/>
                <a:gd name="T122" fmla="*/ 164013023 w 276"/>
                <a:gd name="T123" fmla="*/ 270055549 h 294"/>
                <a:gd name="T124" fmla="*/ 152297595 w 276"/>
                <a:gd name="T125" fmla="*/ 281797610 h 29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76"/>
                <a:gd name="T190" fmla="*/ 0 h 294"/>
                <a:gd name="T191" fmla="*/ 276 w 276"/>
                <a:gd name="T192" fmla="*/ 294 h 29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76" h="294">
                  <a:moveTo>
                    <a:pt x="156" y="288"/>
                  </a:moveTo>
                  <a:lnTo>
                    <a:pt x="150" y="288"/>
                  </a:lnTo>
                  <a:lnTo>
                    <a:pt x="144" y="288"/>
                  </a:lnTo>
                  <a:lnTo>
                    <a:pt x="144" y="294"/>
                  </a:lnTo>
                  <a:lnTo>
                    <a:pt x="132" y="294"/>
                  </a:lnTo>
                  <a:lnTo>
                    <a:pt x="132" y="288"/>
                  </a:lnTo>
                  <a:lnTo>
                    <a:pt x="132" y="282"/>
                  </a:lnTo>
                  <a:lnTo>
                    <a:pt x="126" y="282"/>
                  </a:lnTo>
                  <a:lnTo>
                    <a:pt x="126" y="276"/>
                  </a:lnTo>
                  <a:lnTo>
                    <a:pt x="126" y="270"/>
                  </a:lnTo>
                  <a:lnTo>
                    <a:pt x="120" y="270"/>
                  </a:lnTo>
                  <a:lnTo>
                    <a:pt x="114" y="276"/>
                  </a:lnTo>
                  <a:lnTo>
                    <a:pt x="114" y="270"/>
                  </a:lnTo>
                  <a:lnTo>
                    <a:pt x="108" y="270"/>
                  </a:lnTo>
                  <a:lnTo>
                    <a:pt x="102" y="270"/>
                  </a:lnTo>
                  <a:lnTo>
                    <a:pt x="96" y="270"/>
                  </a:lnTo>
                  <a:lnTo>
                    <a:pt x="90" y="270"/>
                  </a:lnTo>
                  <a:lnTo>
                    <a:pt x="90" y="264"/>
                  </a:lnTo>
                  <a:lnTo>
                    <a:pt x="90" y="258"/>
                  </a:lnTo>
                  <a:lnTo>
                    <a:pt x="90" y="252"/>
                  </a:lnTo>
                  <a:lnTo>
                    <a:pt x="84" y="252"/>
                  </a:lnTo>
                  <a:lnTo>
                    <a:pt x="84" y="246"/>
                  </a:lnTo>
                  <a:lnTo>
                    <a:pt x="84" y="240"/>
                  </a:lnTo>
                  <a:lnTo>
                    <a:pt x="84" y="234"/>
                  </a:lnTo>
                  <a:lnTo>
                    <a:pt x="72" y="234"/>
                  </a:lnTo>
                  <a:lnTo>
                    <a:pt x="66" y="234"/>
                  </a:lnTo>
                  <a:lnTo>
                    <a:pt x="60" y="234"/>
                  </a:lnTo>
                  <a:lnTo>
                    <a:pt x="54" y="234"/>
                  </a:lnTo>
                  <a:lnTo>
                    <a:pt x="48" y="234"/>
                  </a:lnTo>
                  <a:lnTo>
                    <a:pt x="48" y="240"/>
                  </a:lnTo>
                  <a:lnTo>
                    <a:pt x="42" y="240"/>
                  </a:lnTo>
                  <a:lnTo>
                    <a:pt x="42" y="246"/>
                  </a:lnTo>
                  <a:lnTo>
                    <a:pt x="36" y="246"/>
                  </a:lnTo>
                  <a:lnTo>
                    <a:pt x="30" y="246"/>
                  </a:lnTo>
                  <a:lnTo>
                    <a:pt x="30" y="252"/>
                  </a:lnTo>
                  <a:lnTo>
                    <a:pt x="30" y="240"/>
                  </a:lnTo>
                  <a:lnTo>
                    <a:pt x="30" y="234"/>
                  </a:lnTo>
                  <a:lnTo>
                    <a:pt x="18" y="234"/>
                  </a:lnTo>
                  <a:lnTo>
                    <a:pt x="18" y="228"/>
                  </a:lnTo>
                  <a:lnTo>
                    <a:pt x="24" y="228"/>
                  </a:lnTo>
                  <a:lnTo>
                    <a:pt x="30" y="228"/>
                  </a:lnTo>
                  <a:lnTo>
                    <a:pt x="30" y="222"/>
                  </a:lnTo>
                  <a:lnTo>
                    <a:pt x="36" y="222"/>
                  </a:lnTo>
                  <a:lnTo>
                    <a:pt x="42" y="222"/>
                  </a:lnTo>
                  <a:lnTo>
                    <a:pt x="48" y="222"/>
                  </a:lnTo>
                  <a:lnTo>
                    <a:pt x="48" y="216"/>
                  </a:lnTo>
                  <a:lnTo>
                    <a:pt x="42" y="216"/>
                  </a:lnTo>
                  <a:lnTo>
                    <a:pt x="48" y="216"/>
                  </a:lnTo>
                  <a:lnTo>
                    <a:pt x="42" y="216"/>
                  </a:lnTo>
                  <a:lnTo>
                    <a:pt x="48" y="210"/>
                  </a:lnTo>
                  <a:lnTo>
                    <a:pt x="42" y="210"/>
                  </a:lnTo>
                  <a:lnTo>
                    <a:pt x="48" y="210"/>
                  </a:lnTo>
                  <a:lnTo>
                    <a:pt x="42" y="210"/>
                  </a:lnTo>
                  <a:lnTo>
                    <a:pt x="42" y="204"/>
                  </a:lnTo>
                  <a:lnTo>
                    <a:pt x="36" y="204"/>
                  </a:lnTo>
                  <a:lnTo>
                    <a:pt x="30" y="204"/>
                  </a:lnTo>
                  <a:lnTo>
                    <a:pt x="30" y="210"/>
                  </a:lnTo>
                  <a:lnTo>
                    <a:pt x="24" y="210"/>
                  </a:lnTo>
                  <a:lnTo>
                    <a:pt x="18" y="210"/>
                  </a:lnTo>
                  <a:lnTo>
                    <a:pt x="12" y="210"/>
                  </a:lnTo>
                  <a:lnTo>
                    <a:pt x="12" y="216"/>
                  </a:lnTo>
                  <a:lnTo>
                    <a:pt x="12" y="210"/>
                  </a:lnTo>
                  <a:lnTo>
                    <a:pt x="6" y="210"/>
                  </a:lnTo>
                  <a:lnTo>
                    <a:pt x="0" y="210"/>
                  </a:lnTo>
                  <a:lnTo>
                    <a:pt x="0" y="216"/>
                  </a:lnTo>
                  <a:lnTo>
                    <a:pt x="0" y="210"/>
                  </a:lnTo>
                  <a:lnTo>
                    <a:pt x="0" y="204"/>
                  </a:lnTo>
                  <a:lnTo>
                    <a:pt x="6" y="204"/>
                  </a:lnTo>
                  <a:lnTo>
                    <a:pt x="0" y="204"/>
                  </a:lnTo>
                  <a:lnTo>
                    <a:pt x="0" y="198"/>
                  </a:lnTo>
                  <a:lnTo>
                    <a:pt x="0" y="192"/>
                  </a:lnTo>
                  <a:lnTo>
                    <a:pt x="0" y="186"/>
                  </a:lnTo>
                  <a:lnTo>
                    <a:pt x="6" y="180"/>
                  </a:lnTo>
                  <a:lnTo>
                    <a:pt x="12" y="180"/>
                  </a:lnTo>
                  <a:lnTo>
                    <a:pt x="6" y="180"/>
                  </a:lnTo>
                  <a:lnTo>
                    <a:pt x="12" y="180"/>
                  </a:lnTo>
                  <a:lnTo>
                    <a:pt x="18" y="180"/>
                  </a:lnTo>
                  <a:lnTo>
                    <a:pt x="18" y="174"/>
                  </a:lnTo>
                  <a:lnTo>
                    <a:pt x="24" y="174"/>
                  </a:lnTo>
                  <a:lnTo>
                    <a:pt x="24" y="168"/>
                  </a:lnTo>
                  <a:lnTo>
                    <a:pt x="24" y="162"/>
                  </a:lnTo>
                  <a:lnTo>
                    <a:pt x="30" y="162"/>
                  </a:lnTo>
                  <a:lnTo>
                    <a:pt x="36" y="162"/>
                  </a:lnTo>
                  <a:lnTo>
                    <a:pt x="42" y="162"/>
                  </a:lnTo>
                  <a:lnTo>
                    <a:pt x="48" y="162"/>
                  </a:lnTo>
                  <a:lnTo>
                    <a:pt x="54" y="162"/>
                  </a:lnTo>
                  <a:lnTo>
                    <a:pt x="60" y="168"/>
                  </a:lnTo>
                  <a:lnTo>
                    <a:pt x="60" y="162"/>
                  </a:lnTo>
                  <a:lnTo>
                    <a:pt x="66" y="162"/>
                  </a:lnTo>
                  <a:lnTo>
                    <a:pt x="66" y="168"/>
                  </a:lnTo>
                  <a:lnTo>
                    <a:pt x="66" y="162"/>
                  </a:lnTo>
                  <a:lnTo>
                    <a:pt x="72" y="162"/>
                  </a:lnTo>
                  <a:lnTo>
                    <a:pt x="72" y="156"/>
                  </a:lnTo>
                  <a:lnTo>
                    <a:pt x="72" y="150"/>
                  </a:lnTo>
                  <a:lnTo>
                    <a:pt x="72" y="144"/>
                  </a:lnTo>
                  <a:lnTo>
                    <a:pt x="78" y="144"/>
                  </a:lnTo>
                  <a:lnTo>
                    <a:pt x="78" y="138"/>
                  </a:lnTo>
                  <a:lnTo>
                    <a:pt x="78" y="132"/>
                  </a:lnTo>
                  <a:lnTo>
                    <a:pt x="72" y="132"/>
                  </a:lnTo>
                  <a:lnTo>
                    <a:pt x="78" y="132"/>
                  </a:lnTo>
                  <a:lnTo>
                    <a:pt x="78" y="126"/>
                  </a:lnTo>
                  <a:lnTo>
                    <a:pt x="72" y="126"/>
                  </a:lnTo>
                  <a:lnTo>
                    <a:pt x="72" y="120"/>
                  </a:lnTo>
                  <a:lnTo>
                    <a:pt x="72" y="114"/>
                  </a:lnTo>
                  <a:lnTo>
                    <a:pt x="66" y="114"/>
                  </a:lnTo>
                  <a:lnTo>
                    <a:pt x="66" y="108"/>
                  </a:lnTo>
                  <a:lnTo>
                    <a:pt x="66" y="102"/>
                  </a:lnTo>
                  <a:lnTo>
                    <a:pt x="72" y="102"/>
                  </a:lnTo>
                  <a:lnTo>
                    <a:pt x="72" y="96"/>
                  </a:lnTo>
                  <a:lnTo>
                    <a:pt x="72" y="90"/>
                  </a:lnTo>
                  <a:lnTo>
                    <a:pt x="66" y="84"/>
                  </a:lnTo>
                  <a:lnTo>
                    <a:pt x="66" y="78"/>
                  </a:lnTo>
                  <a:lnTo>
                    <a:pt x="66" y="84"/>
                  </a:lnTo>
                  <a:lnTo>
                    <a:pt x="72" y="84"/>
                  </a:lnTo>
                  <a:lnTo>
                    <a:pt x="72" y="78"/>
                  </a:lnTo>
                  <a:lnTo>
                    <a:pt x="78" y="78"/>
                  </a:lnTo>
                  <a:lnTo>
                    <a:pt x="78" y="72"/>
                  </a:lnTo>
                  <a:lnTo>
                    <a:pt x="84" y="72"/>
                  </a:lnTo>
                  <a:lnTo>
                    <a:pt x="84" y="66"/>
                  </a:lnTo>
                  <a:lnTo>
                    <a:pt x="90" y="66"/>
                  </a:lnTo>
                  <a:lnTo>
                    <a:pt x="90" y="60"/>
                  </a:lnTo>
                  <a:lnTo>
                    <a:pt x="84" y="60"/>
                  </a:lnTo>
                  <a:lnTo>
                    <a:pt x="84" y="54"/>
                  </a:lnTo>
                  <a:lnTo>
                    <a:pt x="78" y="54"/>
                  </a:lnTo>
                  <a:lnTo>
                    <a:pt x="84" y="48"/>
                  </a:lnTo>
                  <a:lnTo>
                    <a:pt x="78" y="48"/>
                  </a:lnTo>
                  <a:lnTo>
                    <a:pt x="84" y="48"/>
                  </a:lnTo>
                  <a:lnTo>
                    <a:pt x="84" y="42"/>
                  </a:lnTo>
                  <a:lnTo>
                    <a:pt x="90" y="42"/>
                  </a:lnTo>
                  <a:lnTo>
                    <a:pt x="84" y="42"/>
                  </a:lnTo>
                  <a:lnTo>
                    <a:pt x="90" y="42"/>
                  </a:lnTo>
                  <a:lnTo>
                    <a:pt x="96" y="42"/>
                  </a:lnTo>
                  <a:lnTo>
                    <a:pt x="102" y="42"/>
                  </a:lnTo>
                  <a:lnTo>
                    <a:pt x="108" y="42"/>
                  </a:lnTo>
                  <a:lnTo>
                    <a:pt x="108" y="36"/>
                  </a:lnTo>
                  <a:lnTo>
                    <a:pt x="114" y="36"/>
                  </a:lnTo>
                  <a:lnTo>
                    <a:pt x="120" y="36"/>
                  </a:lnTo>
                  <a:lnTo>
                    <a:pt x="126" y="36"/>
                  </a:lnTo>
                  <a:lnTo>
                    <a:pt x="126" y="30"/>
                  </a:lnTo>
                  <a:lnTo>
                    <a:pt x="126" y="24"/>
                  </a:lnTo>
                  <a:lnTo>
                    <a:pt x="126" y="18"/>
                  </a:lnTo>
                  <a:lnTo>
                    <a:pt x="132" y="18"/>
                  </a:lnTo>
                  <a:lnTo>
                    <a:pt x="132" y="12"/>
                  </a:lnTo>
                  <a:lnTo>
                    <a:pt x="138" y="12"/>
                  </a:lnTo>
                  <a:lnTo>
                    <a:pt x="138" y="6"/>
                  </a:lnTo>
                  <a:lnTo>
                    <a:pt x="144" y="6"/>
                  </a:lnTo>
                  <a:lnTo>
                    <a:pt x="138" y="0"/>
                  </a:lnTo>
                  <a:lnTo>
                    <a:pt x="144" y="0"/>
                  </a:lnTo>
                  <a:lnTo>
                    <a:pt x="150" y="6"/>
                  </a:lnTo>
                  <a:lnTo>
                    <a:pt x="156" y="12"/>
                  </a:lnTo>
                  <a:lnTo>
                    <a:pt x="150" y="12"/>
                  </a:lnTo>
                  <a:lnTo>
                    <a:pt x="156" y="18"/>
                  </a:lnTo>
                  <a:lnTo>
                    <a:pt x="162" y="18"/>
                  </a:lnTo>
                  <a:lnTo>
                    <a:pt x="168" y="18"/>
                  </a:lnTo>
                  <a:lnTo>
                    <a:pt x="168" y="24"/>
                  </a:lnTo>
                  <a:lnTo>
                    <a:pt x="174" y="24"/>
                  </a:lnTo>
                  <a:lnTo>
                    <a:pt x="174" y="30"/>
                  </a:lnTo>
                  <a:lnTo>
                    <a:pt x="180" y="36"/>
                  </a:lnTo>
                  <a:lnTo>
                    <a:pt x="174" y="42"/>
                  </a:lnTo>
                  <a:lnTo>
                    <a:pt x="174" y="48"/>
                  </a:lnTo>
                  <a:lnTo>
                    <a:pt x="174" y="54"/>
                  </a:lnTo>
                  <a:lnTo>
                    <a:pt x="174" y="60"/>
                  </a:lnTo>
                  <a:lnTo>
                    <a:pt x="174" y="66"/>
                  </a:lnTo>
                  <a:lnTo>
                    <a:pt x="174" y="72"/>
                  </a:lnTo>
                  <a:lnTo>
                    <a:pt x="174" y="78"/>
                  </a:lnTo>
                  <a:lnTo>
                    <a:pt x="186" y="72"/>
                  </a:lnTo>
                  <a:lnTo>
                    <a:pt x="186" y="78"/>
                  </a:lnTo>
                  <a:lnTo>
                    <a:pt x="186" y="84"/>
                  </a:lnTo>
                  <a:lnTo>
                    <a:pt x="192" y="84"/>
                  </a:lnTo>
                  <a:lnTo>
                    <a:pt x="198" y="84"/>
                  </a:lnTo>
                  <a:lnTo>
                    <a:pt x="204" y="90"/>
                  </a:lnTo>
                  <a:lnTo>
                    <a:pt x="204" y="96"/>
                  </a:lnTo>
                  <a:lnTo>
                    <a:pt x="204" y="102"/>
                  </a:lnTo>
                  <a:lnTo>
                    <a:pt x="204" y="108"/>
                  </a:lnTo>
                  <a:lnTo>
                    <a:pt x="204" y="114"/>
                  </a:lnTo>
                  <a:lnTo>
                    <a:pt x="198" y="114"/>
                  </a:lnTo>
                  <a:lnTo>
                    <a:pt x="198" y="120"/>
                  </a:lnTo>
                  <a:lnTo>
                    <a:pt x="192" y="120"/>
                  </a:lnTo>
                  <a:lnTo>
                    <a:pt x="186" y="120"/>
                  </a:lnTo>
                  <a:lnTo>
                    <a:pt x="180" y="120"/>
                  </a:lnTo>
                  <a:lnTo>
                    <a:pt x="174" y="126"/>
                  </a:lnTo>
                  <a:lnTo>
                    <a:pt x="180" y="132"/>
                  </a:lnTo>
                  <a:lnTo>
                    <a:pt x="174" y="138"/>
                  </a:lnTo>
                  <a:lnTo>
                    <a:pt x="174" y="144"/>
                  </a:lnTo>
                  <a:lnTo>
                    <a:pt x="174" y="150"/>
                  </a:lnTo>
                  <a:lnTo>
                    <a:pt x="180" y="150"/>
                  </a:lnTo>
                  <a:lnTo>
                    <a:pt x="186" y="150"/>
                  </a:lnTo>
                  <a:lnTo>
                    <a:pt x="192" y="150"/>
                  </a:lnTo>
                  <a:lnTo>
                    <a:pt x="198" y="156"/>
                  </a:lnTo>
                  <a:lnTo>
                    <a:pt x="198" y="162"/>
                  </a:lnTo>
                  <a:lnTo>
                    <a:pt x="204" y="162"/>
                  </a:lnTo>
                  <a:lnTo>
                    <a:pt x="204" y="168"/>
                  </a:lnTo>
                  <a:lnTo>
                    <a:pt x="210" y="174"/>
                  </a:lnTo>
                  <a:lnTo>
                    <a:pt x="210" y="180"/>
                  </a:lnTo>
                  <a:lnTo>
                    <a:pt x="216" y="186"/>
                  </a:lnTo>
                  <a:lnTo>
                    <a:pt x="222" y="186"/>
                  </a:lnTo>
                  <a:lnTo>
                    <a:pt x="222" y="192"/>
                  </a:lnTo>
                  <a:lnTo>
                    <a:pt x="234" y="192"/>
                  </a:lnTo>
                  <a:lnTo>
                    <a:pt x="246" y="186"/>
                  </a:lnTo>
                  <a:lnTo>
                    <a:pt x="246" y="192"/>
                  </a:lnTo>
                  <a:lnTo>
                    <a:pt x="252" y="192"/>
                  </a:lnTo>
                  <a:lnTo>
                    <a:pt x="252" y="198"/>
                  </a:lnTo>
                  <a:lnTo>
                    <a:pt x="252" y="204"/>
                  </a:lnTo>
                  <a:lnTo>
                    <a:pt x="258" y="204"/>
                  </a:lnTo>
                  <a:lnTo>
                    <a:pt x="258" y="198"/>
                  </a:lnTo>
                  <a:lnTo>
                    <a:pt x="258" y="192"/>
                  </a:lnTo>
                  <a:lnTo>
                    <a:pt x="270" y="192"/>
                  </a:lnTo>
                  <a:lnTo>
                    <a:pt x="270" y="186"/>
                  </a:lnTo>
                  <a:lnTo>
                    <a:pt x="276" y="186"/>
                  </a:lnTo>
                  <a:lnTo>
                    <a:pt x="276" y="192"/>
                  </a:lnTo>
                  <a:lnTo>
                    <a:pt x="276" y="210"/>
                  </a:lnTo>
                  <a:lnTo>
                    <a:pt x="276" y="228"/>
                  </a:lnTo>
                  <a:lnTo>
                    <a:pt x="270" y="234"/>
                  </a:lnTo>
                  <a:lnTo>
                    <a:pt x="264" y="234"/>
                  </a:lnTo>
                  <a:lnTo>
                    <a:pt x="258" y="240"/>
                  </a:lnTo>
                  <a:lnTo>
                    <a:pt x="258" y="246"/>
                  </a:lnTo>
                  <a:lnTo>
                    <a:pt x="252" y="246"/>
                  </a:lnTo>
                  <a:lnTo>
                    <a:pt x="252" y="252"/>
                  </a:lnTo>
                  <a:lnTo>
                    <a:pt x="258" y="252"/>
                  </a:lnTo>
                  <a:lnTo>
                    <a:pt x="258" y="258"/>
                  </a:lnTo>
                  <a:lnTo>
                    <a:pt x="258" y="264"/>
                  </a:lnTo>
                  <a:lnTo>
                    <a:pt x="264" y="264"/>
                  </a:lnTo>
                  <a:lnTo>
                    <a:pt x="258" y="270"/>
                  </a:lnTo>
                  <a:lnTo>
                    <a:pt x="258" y="264"/>
                  </a:lnTo>
                  <a:lnTo>
                    <a:pt x="252" y="264"/>
                  </a:lnTo>
                  <a:lnTo>
                    <a:pt x="252" y="258"/>
                  </a:lnTo>
                  <a:lnTo>
                    <a:pt x="252" y="264"/>
                  </a:lnTo>
                  <a:lnTo>
                    <a:pt x="246" y="270"/>
                  </a:lnTo>
                  <a:lnTo>
                    <a:pt x="246" y="276"/>
                  </a:lnTo>
                  <a:lnTo>
                    <a:pt x="240" y="276"/>
                  </a:lnTo>
                  <a:lnTo>
                    <a:pt x="234" y="276"/>
                  </a:lnTo>
                  <a:lnTo>
                    <a:pt x="216" y="258"/>
                  </a:lnTo>
                  <a:lnTo>
                    <a:pt x="204" y="264"/>
                  </a:lnTo>
                  <a:lnTo>
                    <a:pt x="210" y="264"/>
                  </a:lnTo>
                  <a:lnTo>
                    <a:pt x="204" y="264"/>
                  </a:lnTo>
                  <a:lnTo>
                    <a:pt x="198" y="264"/>
                  </a:lnTo>
                  <a:lnTo>
                    <a:pt x="198" y="258"/>
                  </a:lnTo>
                  <a:lnTo>
                    <a:pt x="192" y="258"/>
                  </a:lnTo>
                  <a:lnTo>
                    <a:pt x="192" y="252"/>
                  </a:lnTo>
                  <a:lnTo>
                    <a:pt x="186" y="252"/>
                  </a:lnTo>
                  <a:lnTo>
                    <a:pt x="180" y="252"/>
                  </a:lnTo>
                  <a:lnTo>
                    <a:pt x="174" y="252"/>
                  </a:lnTo>
                  <a:lnTo>
                    <a:pt x="174" y="258"/>
                  </a:lnTo>
                  <a:lnTo>
                    <a:pt x="174" y="264"/>
                  </a:lnTo>
                  <a:lnTo>
                    <a:pt x="180" y="264"/>
                  </a:lnTo>
                  <a:lnTo>
                    <a:pt x="180" y="270"/>
                  </a:lnTo>
                  <a:lnTo>
                    <a:pt x="168" y="270"/>
                  </a:lnTo>
                  <a:lnTo>
                    <a:pt x="168" y="276"/>
                  </a:lnTo>
                  <a:lnTo>
                    <a:pt x="162" y="276"/>
                  </a:lnTo>
                  <a:lnTo>
                    <a:pt x="156" y="276"/>
                  </a:lnTo>
                  <a:lnTo>
                    <a:pt x="156" y="282"/>
                  </a:lnTo>
                  <a:lnTo>
                    <a:pt x="156" y="288"/>
                  </a:lnTo>
                  <a:close/>
                </a:path>
              </a:pathLst>
            </a:custGeom>
            <a:solidFill>
              <a:schemeClr val="accent1"/>
            </a:solidFill>
            <a:ln w="9525">
              <a:solidFill>
                <a:srgbClr val="B2B2B2"/>
              </a:solidFill>
              <a:round/>
              <a:headEnd/>
              <a:tailEnd/>
            </a:ln>
          </p:spPr>
          <p:txBody>
            <a:bodyPr/>
            <a:lstStyle/>
            <a:p>
              <a:endParaRPr lang="en-CA"/>
            </a:p>
          </p:txBody>
        </p:sp>
        <p:sp>
          <p:nvSpPr>
            <p:cNvPr id="390" name="Freeform 449"/>
            <p:cNvSpPr>
              <a:spLocks/>
            </p:cNvSpPr>
            <p:nvPr>
              <p:custDataLst>
                <p:tags r:id="rId13"/>
              </p:custDataLst>
            </p:nvPr>
          </p:nvSpPr>
          <p:spPr bwMode="gray">
            <a:xfrm>
              <a:off x="998" y="3245"/>
              <a:ext cx="179" cy="169"/>
            </a:xfrm>
            <a:custGeom>
              <a:avLst/>
              <a:gdLst>
                <a:gd name="T0" fmla="*/ 216252976 w 288"/>
                <a:gd name="T1" fmla="*/ 172006745 h 270"/>
                <a:gd name="T2" fmla="*/ 192873663 w 288"/>
                <a:gd name="T3" fmla="*/ 189801129 h 270"/>
                <a:gd name="T4" fmla="*/ 187029575 w 288"/>
                <a:gd name="T5" fmla="*/ 195732259 h 270"/>
                <a:gd name="T6" fmla="*/ 175339424 w 288"/>
                <a:gd name="T7" fmla="*/ 201663389 h 270"/>
                <a:gd name="T8" fmla="*/ 163650261 w 288"/>
                <a:gd name="T9" fmla="*/ 225388902 h 270"/>
                <a:gd name="T10" fmla="*/ 151961098 w 288"/>
                <a:gd name="T11" fmla="*/ 219457772 h 270"/>
                <a:gd name="T12" fmla="*/ 140271934 w 288"/>
                <a:gd name="T13" fmla="*/ 225388902 h 270"/>
                <a:gd name="T14" fmla="*/ 128582771 w 288"/>
                <a:gd name="T15" fmla="*/ 237251162 h 270"/>
                <a:gd name="T16" fmla="*/ 111048532 w 288"/>
                <a:gd name="T17" fmla="*/ 260976676 h 270"/>
                <a:gd name="T18" fmla="*/ 99359369 w 288"/>
                <a:gd name="T19" fmla="*/ 266907806 h 270"/>
                <a:gd name="T20" fmla="*/ 75981042 w 288"/>
                <a:gd name="T21" fmla="*/ 255045546 h 270"/>
                <a:gd name="T22" fmla="*/ 64290892 w 288"/>
                <a:gd name="T23" fmla="*/ 237251162 h 270"/>
                <a:gd name="T24" fmla="*/ 46757640 w 288"/>
                <a:gd name="T25" fmla="*/ 225388902 h 270"/>
                <a:gd name="T26" fmla="*/ 46757640 w 288"/>
                <a:gd name="T27" fmla="*/ 207594519 h 270"/>
                <a:gd name="T28" fmla="*/ 58446804 w 288"/>
                <a:gd name="T29" fmla="*/ 195732259 h 270"/>
                <a:gd name="T30" fmla="*/ 70135967 w 288"/>
                <a:gd name="T31" fmla="*/ 183869999 h 270"/>
                <a:gd name="T32" fmla="*/ 64290892 w 288"/>
                <a:gd name="T33" fmla="*/ 160144485 h 270"/>
                <a:gd name="T34" fmla="*/ 52601729 w 288"/>
                <a:gd name="T35" fmla="*/ 148282225 h 270"/>
                <a:gd name="T36" fmla="*/ 40912565 w 288"/>
                <a:gd name="T37" fmla="*/ 136419965 h 270"/>
                <a:gd name="T38" fmla="*/ 46757640 w 288"/>
                <a:gd name="T39" fmla="*/ 112694451 h 270"/>
                <a:gd name="T40" fmla="*/ 35068477 w 288"/>
                <a:gd name="T41" fmla="*/ 94900067 h 270"/>
                <a:gd name="T42" fmla="*/ 23378327 w 288"/>
                <a:gd name="T43" fmla="*/ 88968937 h 270"/>
                <a:gd name="T44" fmla="*/ 17534238 w 288"/>
                <a:gd name="T45" fmla="*/ 65244417 h 270"/>
                <a:gd name="T46" fmla="*/ 11689163 w 288"/>
                <a:gd name="T47" fmla="*/ 47450034 h 270"/>
                <a:gd name="T48" fmla="*/ 5845075 w 288"/>
                <a:gd name="T49" fmla="*/ 35587774 h 270"/>
                <a:gd name="T50" fmla="*/ 29223402 w 288"/>
                <a:gd name="T51" fmla="*/ 17793390 h 270"/>
                <a:gd name="T52" fmla="*/ 46757640 w 288"/>
                <a:gd name="T53" fmla="*/ 11862260 h 270"/>
                <a:gd name="T54" fmla="*/ 64290892 w 288"/>
                <a:gd name="T55" fmla="*/ 11862260 h 270"/>
                <a:gd name="T56" fmla="*/ 75981042 w 288"/>
                <a:gd name="T57" fmla="*/ 0 h 270"/>
                <a:gd name="T58" fmla="*/ 93514294 w 288"/>
                <a:gd name="T59" fmla="*/ 11862260 h 270"/>
                <a:gd name="T60" fmla="*/ 111048532 w 288"/>
                <a:gd name="T61" fmla="*/ 17793390 h 270"/>
                <a:gd name="T62" fmla="*/ 122737696 w 288"/>
                <a:gd name="T63" fmla="*/ 5931130 h 270"/>
                <a:gd name="T64" fmla="*/ 134426859 w 288"/>
                <a:gd name="T65" fmla="*/ 11862260 h 270"/>
                <a:gd name="T66" fmla="*/ 151961098 w 288"/>
                <a:gd name="T67" fmla="*/ 5931130 h 270"/>
                <a:gd name="T68" fmla="*/ 157806173 w 288"/>
                <a:gd name="T69" fmla="*/ 5931130 h 270"/>
                <a:gd name="T70" fmla="*/ 169495336 w 288"/>
                <a:gd name="T71" fmla="*/ 11862260 h 270"/>
                <a:gd name="T72" fmla="*/ 187029575 w 288"/>
                <a:gd name="T73" fmla="*/ 23725514 h 270"/>
                <a:gd name="T74" fmla="*/ 181184499 w 288"/>
                <a:gd name="T75" fmla="*/ 41518904 h 270"/>
                <a:gd name="T76" fmla="*/ 198718738 w 288"/>
                <a:gd name="T77" fmla="*/ 47450034 h 270"/>
                <a:gd name="T78" fmla="*/ 210407901 w 288"/>
                <a:gd name="T79" fmla="*/ 35587774 h 270"/>
                <a:gd name="T80" fmla="*/ 222097065 w 288"/>
                <a:gd name="T81" fmla="*/ 53381164 h 270"/>
                <a:gd name="T82" fmla="*/ 233786228 w 288"/>
                <a:gd name="T83" fmla="*/ 53381164 h 270"/>
                <a:gd name="T84" fmla="*/ 239631303 w 288"/>
                <a:gd name="T85" fmla="*/ 47450034 h 270"/>
                <a:gd name="T86" fmla="*/ 245475392 w 288"/>
                <a:gd name="T87" fmla="*/ 41518904 h 270"/>
                <a:gd name="T88" fmla="*/ 257165542 w 288"/>
                <a:gd name="T89" fmla="*/ 47450034 h 270"/>
                <a:gd name="T90" fmla="*/ 268854705 w 288"/>
                <a:gd name="T91" fmla="*/ 59313287 h 270"/>
                <a:gd name="T92" fmla="*/ 274698793 w 288"/>
                <a:gd name="T93" fmla="*/ 65244417 h 270"/>
                <a:gd name="T94" fmla="*/ 268854705 w 288"/>
                <a:gd name="T95" fmla="*/ 94900067 h 270"/>
                <a:gd name="T96" fmla="*/ 251320467 w 288"/>
                <a:gd name="T97" fmla="*/ 130487841 h 270"/>
                <a:gd name="T98" fmla="*/ 263009630 w 288"/>
                <a:gd name="T99" fmla="*/ 154213355 h 27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88"/>
                <a:gd name="T151" fmla="*/ 0 h 270"/>
                <a:gd name="T152" fmla="*/ 288 w 288"/>
                <a:gd name="T153" fmla="*/ 270 h 27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88" h="270">
                  <a:moveTo>
                    <a:pt x="252" y="186"/>
                  </a:moveTo>
                  <a:lnTo>
                    <a:pt x="234" y="174"/>
                  </a:lnTo>
                  <a:lnTo>
                    <a:pt x="240" y="174"/>
                  </a:lnTo>
                  <a:lnTo>
                    <a:pt x="222" y="174"/>
                  </a:lnTo>
                  <a:lnTo>
                    <a:pt x="216" y="180"/>
                  </a:lnTo>
                  <a:lnTo>
                    <a:pt x="210" y="186"/>
                  </a:lnTo>
                  <a:lnTo>
                    <a:pt x="204" y="192"/>
                  </a:lnTo>
                  <a:lnTo>
                    <a:pt x="198" y="192"/>
                  </a:lnTo>
                  <a:lnTo>
                    <a:pt x="192" y="192"/>
                  </a:lnTo>
                  <a:lnTo>
                    <a:pt x="186" y="192"/>
                  </a:lnTo>
                  <a:lnTo>
                    <a:pt x="186" y="198"/>
                  </a:lnTo>
                  <a:lnTo>
                    <a:pt x="192" y="198"/>
                  </a:lnTo>
                  <a:lnTo>
                    <a:pt x="192" y="204"/>
                  </a:lnTo>
                  <a:lnTo>
                    <a:pt x="186" y="198"/>
                  </a:lnTo>
                  <a:lnTo>
                    <a:pt x="180" y="198"/>
                  </a:lnTo>
                  <a:lnTo>
                    <a:pt x="180" y="204"/>
                  </a:lnTo>
                  <a:lnTo>
                    <a:pt x="174" y="210"/>
                  </a:lnTo>
                  <a:lnTo>
                    <a:pt x="174" y="216"/>
                  </a:lnTo>
                  <a:lnTo>
                    <a:pt x="174" y="222"/>
                  </a:lnTo>
                  <a:lnTo>
                    <a:pt x="168" y="228"/>
                  </a:lnTo>
                  <a:lnTo>
                    <a:pt x="162" y="228"/>
                  </a:lnTo>
                  <a:lnTo>
                    <a:pt x="156" y="228"/>
                  </a:lnTo>
                  <a:lnTo>
                    <a:pt x="156" y="216"/>
                  </a:lnTo>
                  <a:lnTo>
                    <a:pt x="156" y="222"/>
                  </a:lnTo>
                  <a:lnTo>
                    <a:pt x="150" y="216"/>
                  </a:lnTo>
                  <a:lnTo>
                    <a:pt x="144" y="216"/>
                  </a:lnTo>
                  <a:lnTo>
                    <a:pt x="144" y="222"/>
                  </a:lnTo>
                  <a:lnTo>
                    <a:pt x="144" y="228"/>
                  </a:lnTo>
                  <a:lnTo>
                    <a:pt x="150" y="228"/>
                  </a:lnTo>
                  <a:lnTo>
                    <a:pt x="150" y="234"/>
                  </a:lnTo>
                  <a:lnTo>
                    <a:pt x="150" y="240"/>
                  </a:lnTo>
                  <a:lnTo>
                    <a:pt x="132" y="240"/>
                  </a:lnTo>
                  <a:lnTo>
                    <a:pt x="132" y="246"/>
                  </a:lnTo>
                  <a:lnTo>
                    <a:pt x="126" y="246"/>
                  </a:lnTo>
                  <a:lnTo>
                    <a:pt x="120" y="252"/>
                  </a:lnTo>
                  <a:lnTo>
                    <a:pt x="114" y="264"/>
                  </a:lnTo>
                  <a:lnTo>
                    <a:pt x="120" y="270"/>
                  </a:lnTo>
                  <a:lnTo>
                    <a:pt x="114" y="270"/>
                  </a:lnTo>
                  <a:lnTo>
                    <a:pt x="114" y="264"/>
                  </a:lnTo>
                  <a:lnTo>
                    <a:pt x="102" y="270"/>
                  </a:lnTo>
                  <a:lnTo>
                    <a:pt x="90" y="270"/>
                  </a:lnTo>
                  <a:lnTo>
                    <a:pt x="90" y="264"/>
                  </a:lnTo>
                  <a:lnTo>
                    <a:pt x="84" y="264"/>
                  </a:lnTo>
                  <a:lnTo>
                    <a:pt x="78" y="258"/>
                  </a:lnTo>
                  <a:lnTo>
                    <a:pt x="78" y="252"/>
                  </a:lnTo>
                  <a:lnTo>
                    <a:pt x="72" y="246"/>
                  </a:lnTo>
                  <a:lnTo>
                    <a:pt x="72" y="240"/>
                  </a:lnTo>
                  <a:lnTo>
                    <a:pt x="66" y="240"/>
                  </a:lnTo>
                  <a:lnTo>
                    <a:pt x="66" y="234"/>
                  </a:lnTo>
                  <a:lnTo>
                    <a:pt x="60" y="228"/>
                  </a:lnTo>
                  <a:lnTo>
                    <a:pt x="54" y="228"/>
                  </a:lnTo>
                  <a:lnTo>
                    <a:pt x="48" y="228"/>
                  </a:lnTo>
                  <a:lnTo>
                    <a:pt x="42" y="228"/>
                  </a:lnTo>
                  <a:lnTo>
                    <a:pt x="42" y="222"/>
                  </a:lnTo>
                  <a:lnTo>
                    <a:pt x="42" y="216"/>
                  </a:lnTo>
                  <a:lnTo>
                    <a:pt x="48" y="210"/>
                  </a:lnTo>
                  <a:lnTo>
                    <a:pt x="42" y="204"/>
                  </a:lnTo>
                  <a:lnTo>
                    <a:pt x="48" y="198"/>
                  </a:lnTo>
                  <a:lnTo>
                    <a:pt x="54" y="198"/>
                  </a:lnTo>
                  <a:lnTo>
                    <a:pt x="60" y="198"/>
                  </a:lnTo>
                  <a:lnTo>
                    <a:pt x="66" y="198"/>
                  </a:lnTo>
                  <a:lnTo>
                    <a:pt x="66" y="192"/>
                  </a:lnTo>
                  <a:lnTo>
                    <a:pt x="72" y="192"/>
                  </a:lnTo>
                  <a:lnTo>
                    <a:pt x="72" y="186"/>
                  </a:lnTo>
                  <a:lnTo>
                    <a:pt x="72" y="180"/>
                  </a:lnTo>
                  <a:lnTo>
                    <a:pt x="72" y="174"/>
                  </a:lnTo>
                  <a:lnTo>
                    <a:pt x="72" y="168"/>
                  </a:lnTo>
                  <a:lnTo>
                    <a:pt x="66" y="162"/>
                  </a:lnTo>
                  <a:lnTo>
                    <a:pt x="60" y="162"/>
                  </a:lnTo>
                  <a:lnTo>
                    <a:pt x="54" y="162"/>
                  </a:lnTo>
                  <a:lnTo>
                    <a:pt x="54" y="156"/>
                  </a:lnTo>
                  <a:lnTo>
                    <a:pt x="54" y="150"/>
                  </a:lnTo>
                  <a:lnTo>
                    <a:pt x="42" y="156"/>
                  </a:lnTo>
                  <a:lnTo>
                    <a:pt x="42" y="150"/>
                  </a:lnTo>
                  <a:lnTo>
                    <a:pt x="42" y="144"/>
                  </a:lnTo>
                  <a:lnTo>
                    <a:pt x="42" y="138"/>
                  </a:lnTo>
                  <a:lnTo>
                    <a:pt x="42" y="132"/>
                  </a:lnTo>
                  <a:lnTo>
                    <a:pt x="42" y="126"/>
                  </a:lnTo>
                  <a:lnTo>
                    <a:pt x="42" y="120"/>
                  </a:lnTo>
                  <a:lnTo>
                    <a:pt x="48" y="114"/>
                  </a:lnTo>
                  <a:lnTo>
                    <a:pt x="42" y="108"/>
                  </a:lnTo>
                  <a:lnTo>
                    <a:pt x="42" y="102"/>
                  </a:lnTo>
                  <a:lnTo>
                    <a:pt x="36" y="102"/>
                  </a:lnTo>
                  <a:lnTo>
                    <a:pt x="36" y="96"/>
                  </a:lnTo>
                  <a:lnTo>
                    <a:pt x="30" y="96"/>
                  </a:lnTo>
                  <a:lnTo>
                    <a:pt x="24" y="96"/>
                  </a:lnTo>
                  <a:lnTo>
                    <a:pt x="18" y="90"/>
                  </a:lnTo>
                  <a:lnTo>
                    <a:pt x="24" y="90"/>
                  </a:lnTo>
                  <a:lnTo>
                    <a:pt x="18" y="84"/>
                  </a:lnTo>
                  <a:lnTo>
                    <a:pt x="12" y="78"/>
                  </a:lnTo>
                  <a:lnTo>
                    <a:pt x="12" y="72"/>
                  </a:lnTo>
                  <a:lnTo>
                    <a:pt x="18" y="66"/>
                  </a:lnTo>
                  <a:lnTo>
                    <a:pt x="12" y="54"/>
                  </a:lnTo>
                  <a:lnTo>
                    <a:pt x="18" y="54"/>
                  </a:lnTo>
                  <a:lnTo>
                    <a:pt x="18" y="48"/>
                  </a:lnTo>
                  <a:lnTo>
                    <a:pt x="12" y="48"/>
                  </a:lnTo>
                  <a:lnTo>
                    <a:pt x="12" y="42"/>
                  </a:lnTo>
                  <a:lnTo>
                    <a:pt x="6" y="36"/>
                  </a:lnTo>
                  <a:lnTo>
                    <a:pt x="0" y="36"/>
                  </a:lnTo>
                  <a:lnTo>
                    <a:pt x="6" y="36"/>
                  </a:lnTo>
                  <a:lnTo>
                    <a:pt x="12" y="30"/>
                  </a:lnTo>
                  <a:lnTo>
                    <a:pt x="12" y="24"/>
                  </a:lnTo>
                  <a:lnTo>
                    <a:pt x="18" y="24"/>
                  </a:lnTo>
                  <a:lnTo>
                    <a:pt x="30" y="18"/>
                  </a:lnTo>
                  <a:lnTo>
                    <a:pt x="30" y="12"/>
                  </a:lnTo>
                  <a:lnTo>
                    <a:pt x="36" y="6"/>
                  </a:lnTo>
                  <a:lnTo>
                    <a:pt x="42" y="6"/>
                  </a:lnTo>
                  <a:lnTo>
                    <a:pt x="48" y="12"/>
                  </a:lnTo>
                  <a:lnTo>
                    <a:pt x="54" y="12"/>
                  </a:lnTo>
                  <a:lnTo>
                    <a:pt x="60" y="6"/>
                  </a:lnTo>
                  <a:lnTo>
                    <a:pt x="60" y="12"/>
                  </a:lnTo>
                  <a:lnTo>
                    <a:pt x="66" y="12"/>
                  </a:lnTo>
                  <a:lnTo>
                    <a:pt x="72" y="6"/>
                  </a:lnTo>
                  <a:lnTo>
                    <a:pt x="72" y="0"/>
                  </a:lnTo>
                  <a:lnTo>
                    <a:pt x="72" y="6"/>
                  </a:lnTo>
                  <a:lnTo>
                    <a:pt x="78" y="0"/>
                  </a:lnTo>
                  <a:lnTo>
                    <a:pt x="78" y="6"/>
                  </a:lnTo>
                  <a:lnTo>
                    <a:pt x="84" y="6"/>
                  </a:lnTo>
                  <a:lnTo>
                    <a:pt x="90" y="12"/>
                  </a:lnTo>
                  <a:lnTo>
                    <a:pt x="96" y="12"/>
                  </a:lnTo>
                  <a:lnTo>
                    <a:pt x="96" y="18"/>
                  </a:lnTo>
                  <a:lnTo>
                    <a:pt x="102" y="18"/>
                  </a:lnTo>
                  <a:lnTo>
                    <a:pt x="108" y="18"/>
                  </a:lnTo>
                  <a:lnTo>
                    <a:pt x="114" y="18"/>
                  </a:lnTo>
                  <a:lnTo>
                    <a:pt x="114" y="12"/>
                  </a:lnTo>
                  <a:lnTo>
                    <a:pt x="120" y="12"/>
                  </a:lnTo>
                  <a:lnTo>
                    <a:pt x="126" y="12"/>
                  </a:lnTo>
                  <a:lnTo>
                    <a:pt x="126" y="6"/>
                  </a:lnTo>
                  <a:lnTo>
                    <a:pt x="132" y="12"/>
                  </a:lnTo>
                  <a:lnTo>
                    <a:pt x="132" y="6"/>
                  </a:lnTo>
                  <a:lnTo>
                    <a:pt x="132" y="12"/>
                  </a:lnTo>
                  <a:lnTo>
                    <a:pt x="138" y="12"/>
                  </a:lnTo>
                  <a:lnTo>
                    <a:pt x="138" y="6"/>
                  </a:lnTo>
                  <a:lnTo>
                    <a:pt x="144" y="6"/>
                  </a:lnTo>
                  <a:lnTo>
                    <a:pt x="150" y="6"/>
                  </a:lnTo>
                  <a:lnTo>
                    <a:pt x="156" y="6"/>
                  </a:lnTo>
                  <a:lnTo>
                    <a:pt x="156" y="12"/>
                  </a:lnTo>
                  <a:lnTo>
                    <a:pt x="162" y="12"/>
                  </a:lnTo>
                  <a:lnTo>
                    <a:pt x="156" y="6"/>
                  </a:lnTo>
                  <a:lnTo>
                    <a:pt x="162" y="6"/>
                  </a:lnTo>
                  <a:lnTo>
                    <a:pt x="168" y="12"/>
                  </a:lnTo>
                  <a:lnTo>
                    <a:pt x="168" y="6"/>
                  </a:lnTo>
                  <a:lnTo>
                    <a:pt x="174" y="6"/>
                  </a:lnTo>
                  <a:lnTo>
                    <a:pt x="174" y="12"/>
                  </a:lnTo>
                  <a:lnTo>
                    <a:pt x="180" y="12"/>
                  </a:lnTo>
                  <a:lnTo>
                    <a:pt x="186" y="18"/>
                  </a:lnTo>
                  <a:lnTo>
                    <a:pt x="186" y="24"/>
                  </a:lnTo>
                  <a:lnTo>
                    <a:pt x="192" y="24"/>
                  </a:lnTo>
                  <a:lnTo>
                    <a:pt x="192" y="30"/>
                  </a:lnTo>
                  <a:lnTo>
                    <a:pt x="192" y="36"/>
                  </a:lnTo>
                  <a:lnTo>
                    <a:pt x="192" y="42"/>
                  </a:lnTo>
                  <a:lnTo>
                    <a:pt x="186" y="42"/>
                  </a:lnTo>
                  <a:lnTo>
                    <a:pt x="186" y="48"/>
                  </a:lnTo>
                  <a:lnTo>
                    <a:pt x="192" y="48"/>
                  </a:lnTo>
                  <a:lnTo>
                    <a:pt x="198" y="48"/>
                  </a:lnTo>
                  <a:lnTo>
                    <a:pt x="204" y="48"/>
                  </a:lnTo>
                  <a:lnTo>
                    <a:pt x="210" y="48"/>
                  </a:lnTo>
                  <a:lnTo>
                    <a:pt x="210" y="42"/>
                  </a:lnTo>
                  <a:lnTo>
                    <a:pt x="210" y="36"/>
                  </a:lnTo>
                  <a:lnTo>
                    <a:pt x="216" y="36"/>
                  </a:lnTo>
                  <a:lnTo>
                    <a:pt x="222" y="42"/>
                  </a:lnTo>
                  <a:lnTo>
                    <a:pt x="228" y="42"/>
                  </a:lnTo>
                  <a:lnTo>
                    <a:pt x="228" y="48"/>
                  </a:lnTo>
                  <a:lnTo>
                    <a:pt x="228" y="54"/>
                  </a:lnTo>
                  <a:lnTo>
                    <a:pt x="234" y="54"/>
                  </a:lnTo>
                  <a:lnTo>
                    <a:pt x="234" y="48"/>
                  </a:lnTo>
                  <a:lnTo>
                    <a:pt x="240" y="48"/>
                  </a:lnTo>
                  <a:lnTo>
                    <a:pt x="240" y="54"/>
                  </a:lnTo>
                  <a:lnTo>
                    <a:pt x="246" y="54"/>
                  </a:lnTo>
                  <a:lnTo>
                    <a:pt x="240" y="54"/>
                  </a:lnTo>
                  <a:lnTo>
                    <a:pt x="240" y="48"/>
                  </a:lnTo>
                  <a:lnTo>
                    <a:pt x="246" y="48"/>
                  </a:lnTo>
                  <a:lnTo>
                    <a:pt x="240" y="48"/>
                  </a:lnTo>
                  <a:lnTo>
                    <a:pt x="246" y="48"/>
                  </a:lnTo>
                  <a:lnTo>
                    <a:pt x="246" y="42"/>
                  </a:lnTo>
                  <a:lnTo>
                    <a:pt x="252" y="42"/>
                  </a:lnTo>
                  <a:lnTo>
                    <a:pt x="258" y="42"/>
                  </a:lnTo>
                  <a:lnTo>
                    <a:pt x="264" y="48"/>
                  </a:lnTo>
                  <a:lnTo>
                    <a:pt x="258" y="48"/>
                  </a:lnTo>
                  <a:lnTo>
                    <a:pt x="264" y="48"/>
                  </a:lnTo>
                  <a:lnTo>
                    <a:pt x="264" y="54"/>
                  </a:lnTo>
                  <a:lnTo>
                    <a:pt x="270" y="54"/>
                  </a:lnTo>
                  <a:lnTo>
                    <a:pt x="276" y="54"/>
                  </a:lnTo>
                  <a:lnTo>
                    <a:pt x="276" y="60"/>
                  </a:lnTo>
                  <a:lnTo>
                    <a:pt x="282" y="60"/>
                  </a:lnTo>
                  <a:lnTo>
                    <a:pt x="282" y="66"/>
                  </a:lnTo>
                  <a:lnTo>
                    <a:pt x="288" y="66"/>
                  </a:lnTo>
                  <a:lnTo>
                    <a:pt x="282" y="66"/>
                  </a:lnTo>
                  <a:lnTo>
                    <a:pt x="282" y="72"/>
                  </a:lnTo>
                  <a:lnTo>
                    <a:pt x="282" y="78"/>
                  </a:lnTo>
                  <a:lnTo>
                    <a:pt x="282" y="84"/>
                  </a:lnTo>
                  <a:lnTo>
                    <a:pt x="276" y="96"/>
                  </a:lnTo>
                  <a:lnTo>
                    <a:pt x="264" y="102"/>
                  </a:lnTo>
                  <a:lnTo>
                    <a:pt x="264" y="114"/>
                  </a:lnTo>
                  <a:lnTo>
                    <a:pt x="258" y="120"/>
                  </a:lnTo>
                  <a:lnTo>
                    <a:pt x="258" y="132"/>
                  </a:lnTo>
                  <a:lnTo>
                    <a:pt x="258" y="138"/>
                  </a:lnTo>
                  <a:lnTo>
                    <a:pt x="264" y="144"/>
                  </a:lnTo>
                  <a:lnTo>
                    <a:pt x="270" y="150"/>
                  </a:lnTo>
                  <a:lnTo>
                    <a:pt x="270" y="156"/>
                  </a:lnTo>
                  <a:lnTo>
                    <a:pt x="264" y="162"/>
                  </a:lnTo>
                  <a:lnTo>
                    <a:pt x="258" y="168"/>
                  </a:lnTo>
                  <a:lnTo>
                    <a:pt x="252" y="186"/>
                  </a:lnTo>
                  <a:close/>
                </a:path>
              </a:pathLst>
            </a:custGeom>
            <a:solidFill>
              <a:schemeClr val="accent1"/>
            </a:solidFill>
            <a:ln w="9525">
              <a:solidFill>
                <a:srgbClr val="B2B2B2"/>
              </a:solidFill>
              <a:round/>
              <a:headEnd/>
              <a:tailEnd/>
            </a:ln>
          </p:spPr>
          <p:txBody>
            <a:bodyPr/>
            <a:lstStyle/>
            <a:p>
              <a:endParaRPr lang="en-CA"/>
            </a:p>
          </p:txBody>
        </p:sp>
        <p:sp>
          <p:nvSpPr>
            <p:cNvPr id="391" name="Freeform 450"/>
            <p:cNvSpPr>
              <a:spLocks/>
            </p:cNvSpPr>
            <p:nvPr>
              <p:custDataLst>
                <p:tags r:id="rId14"/>
              </p:custDataLst>
            </p:nvPr>
          </p:nvSpPr>
          <p:spPr bwMode="gray">
            <a:xfrm>
              <a:off x="833" y="3238"/>
              <a:ext cx="112" cy="75"/>
            </a:xfrm>
            <a:custGeom>
              <a:avLst/>
              <a:gdLst>
                <a:gd name="T0" fmla="*/ 164178544 w 180"/>
                <a:gd name="T1" fmla="*/ 117623330 h 120"/>
                <a:gd name="T2" fmla="*/ 158315096 w 180"/>
                <a:gd name="T3" fmla="*/ 117623330 h 120"/>
                <a:gd name="T4" fmla="*/ 152451647 w 180"/>
                <a:gd name="T5" fmla="*/ 105860898 h 120"/>
                <a:gd name="T6" fmla="*/ 146588198 w 180"/>
                <a:gd name="T7" fmla="*/ 105860898 h 120"/>
                <a:gd name="T8" fmla="*/ 140724749 w 180"/>
                <a:gd name="T9" fmla="*/ 99980178 h 120"/>
                <a:gd name="T10" fmla="*/ 128996863 w 180"/>
                <a:gd name="T11" fmla="*/ 94098465 h 120"/>
                <a:gd name="T12" fmla="*/ 123133414 w 180"/>
                <a:gd name="T13" fmla="*/ 94098465 h 120"/>
                <a:gd name="T14" fmla="*/ 128996863 w 180"/>
                <a:gd name="T15" fmla="*/ 99980178 h 120"/>
                <a:gd name="T16" fmla="*/ 117269966 w 180"/>
                <a:gd name="T17" fmla="*/ 105860898 h 120"/>
                <a:gd name="T18" fmla="*/ 105543068 w 180"/>
                <a:gd name="T19" fmla="*/ 94098465 h 120"/>
                <a:gd name="T20" fmla="*/ 99679619 w 180"/>
                <a:gd name="T21" fmla="*/ 76455313 h 120"/>
                <a:gd name="T22" fmla="*/ 87952721 w 180"/>
                <a:gd name="T23" fmla="*/ 70573601 h 120"/>
                <a:gd name="T24" fmla="*/ 76225823 w 180"/>
                <a:gd name="T25" fmla="*/ 76455313 h 120"/>
                <a:gd name="T26" fmla="*/ 64498926 w 180"/>
                <a:gd name="T27" fmla="*/ 82336033 h 120"/>
                <a:gd name="T28" fmla="*/ 52772028 w 180"/>
                <a:gd name="T29" fmla="*/ 88217745 h 120"/>
                <a:gd name="T30" fmla="*/ 46908579 w 180"/>
                <a:gd name="T31" fmla="*/ 82336033 h 120"/>
                <a:gd name="T32" fmla="*/ 35180693 w 180"/>
                <a:gd name="T33" fmla="*/ 70573601 h 120"/>
                <a:gd name="T34" fmla="*/ 17590347 w 180"/>
                <a:gd name="T35" fmla="*/ 70573601 h 120"/>
                <a:gd name="T36" fmla="*/ 11726898 w 180"/>
                <a:gd name="T37" fmla="*/ 70573601 h 120"/>
                <a:gd name="T38" fmla="*/ 0 w 180"/>
                <a:gd name="T39" fmla="*/ 64692881 h 120"/>
                <a:gd name="T40" fmla="*/ 5863449 w 180"/>
                <a:gd name="T41" fmla="*/ 52930449 h 120"/>
                <a:gd name="T42" fmla="*/ 0 w 180"/>
                <a:gd name="T43" fmla="*/ 41168017 h 120"/>
                <a:gd name="T44" fmla="*/ 0 w 180"/>
                <a:gd name="T45" fmla="*/ 35287297 h 120"/>
                <a:gd name="T46" fmla="*/ 17590347 w 180"/>
                <a:gd name="T47" fmla="*/ 35287297 h 120"/>
                <a:gd name="T48" fmla="*/ 29317244 w 180"/>
                <a:gd name="T49" fmla="*/ 29405584 h 120"/>
                <a:gd name="T50" fmla="*/ 29317244 w 180"/>
                <a:gd name="T51" fmla="*/ 23524864 h 120"/>
                <a:gd name="T52" fmla="*/ 29317244 w 180"/>
                <a:gd name="T53" fmla="*/ 17643152 h 120"/>
                <a:gd name="T54" fmla="*/ 46908579 w 180"/>
                <a:gd name="T55" fmla="*/ 23524864 h 120"/>
                <a:gd name="T56" fmla="*/ 46908579 w 180"/>
                <a:gd name="T57" fmla="*/ 23524864 h 120"/>
                <a:gd name="T58" fmla="*/ 64498926 w 180"/>
                <a:gd name="T59" fmla="*/ 23524864 h 120"/>
                <a:gd name="T60" fmla="*/ 76225823 w 180"/>
                <a:gd name="T61" fmla="*/ 11762432 h 120"/>
                <a:gd name="T62" fmla="*/ 82089272 w 180"/>
                <a:gd name="T63" fmla="*/ 11762432 h 120"/>
                <a:gd name="T64" fmla="*/ 82089272 w 180"/>
                <a:gd name="T65" fmla="*/ 5880720 h 120"/>
                <a:gd name="T66" fmla="*/ 99679619 w 180"/>
                <a:gd name="T67" fmla="*/ 5880720 h 120"/>
                <a:gd name="T68" fmla="*/ 117269966 w 180"/>
                <a:gd name="T69" fmla="*/ 0 h 120"/>
                <a:gd name="T70" fmla="*/ 128996863 w 180"/>
                <a:gd name="T71" fmla="*/ 5880720 h 120"/>
                <a:gd name="T72" fmla="*/ 134861300 w 180"/>
                <a:gd name="T73" fmla="*/ 17643152 h 120"/>
                <a:gd name="T74" fmla="*/ 134861300 w 180"/>
                <a:gd name="T75" fmla="*/ 23524864 h 120"/>
                <a:gd name="T76" fmla="*/ 140724749 w 180"/>
                <a:gd name="T77" fmla="*/ 29405584 h 120"/>
                <a:gd name="T78" fmla="*/ 152451647 w 180"/>
                <a:gd name="T79" fmla="*/ 29405584 h 120"/>
                <a:gd name="T80" fmla="*/ 152451647 w 180"/>
                <a:gd name="T81" fmla="*/ 35287297 h 120"/>
                <a:gd name="T82" fmla="*/ 152451647 w 180"/>
                <a:gd name="T83" fmla="*/ 41168017 h 120"/>
                <a:gd name="T84" fmla="*/ 146588198 w 180"/>
                <a:gd name="T85" fmla="*/ 41168017 h 120"/>
                <a:gd name="T86" fmla="*/ 146588198 w 180"/>
                <a:gd name="T87" fmla="*/ 47049729 h 120"/>
                <a:gd name="T88" fmla="*/ 158315096 w 180"/>
                <a:gd name="T89" fmla="*/ 52930449 h 120"/>
                <a:gd name="T90" fmla="*/ 170041993 w 180"/>
                <a:gd name="T91" fmla="*/ 58812161 h 120"/>
                <a:gd name="T92" fmla="*/ 170041993 w 180"/>
                <a:gd name="T93" fmla="*/ 64692881 h 120"/>
                <a:gd name="T94" fmla="*/ 164178544 w 180"/>
                <a:gd name="T95" fmla="*/ 76455313 h 120"/>
                <a:gd name="T96" fmla="*/ 164178544 w 180"/>
                <a:gd name="T97" fmla="*/ 88217745 h 120"/>
                <a:gd name="T98" fmla="*/ 170041993 w 180"/>
                <a:gd name="T99" fmla="*/ 94098465 h 120"/>
                <a:gd name="T100" fmla="*/ 170041993 w 180"/>
                <a:gd name="T101" fmla="*/ 105860898 h 1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0"/>
                <a:gd name="T154" fmla="*/ 0 h 120"/>
                <a:gd name="T155" fmla="*/ 180 w 180"/>
                <a:gd name="T156" fmla="*/ 120 h 12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0" h="120">
                  <a:moveTo>
                    <a:pt x="174" y="114"/>
                  </a:moveTo>
                  <a:lnTo>
                    <a:pt x="168" y="114"/>
                  </a:lnTo>
                  <a:lnTo>
                    <a:pt x="168" y="120"/>
                  </a:lnTo>
                  <a:lnTo>
                    <a:pt x="168" y="114"/>
                  </a:lnTo>
                  <a:lnTo>
                    <a:pt x="168" y="120"/>
                  </a:lnTo>
                  <a:lnTo>
                    <a:pt x="162" y="120"/>
                  </a:lnTo>
                  <a:lnTo>
                    <a:pt x="162" y="114"/>
                  </a:lnTo>
                  <a:lnTo>
                    <a:pt x="156" y="114"/>
                  </a:lnTo>
                  <a:lnTo>
                    <a:pt x="156" y="108"/>
                  </a:lnTo>
                  <a:lnTo>
                    <a:pt x="150" y="108"/>
                  </a:lnTo>
                  <a:lnTo>
                    <a:pt x="150" y="102"/>
                  </a:lnTo>
                  <a:lnTo>
                    <a:pt x="150" y="108"/>
                  </a:lnTo>
                  <a:lnTo>
                    <a:pt x="150" y="102"/>
                  </a:lnTo>
                  <a:lnTo>
                    <a:pt x="144" y="108"/>
                  </a:lnTo>
                  <a:lnTo>
                    <a:pt x="144" y="102"/>
                  </a:lnTo>
                  <a:lnTo>
                    <a:pt x="138" y="102"/>
                  </a:lnTo>
                  <a:lnTo>
                    <a:pt x="138" y="96"/>
                  </a:lnTo>
                  <a:lnTo>
                    <a:pt x="132" y="96"/>
                  </a:lnTo>
                  <a:lnTo>
                    <a:pt x="132" y="102"/>
                  </a:lnTo>
                  <a:lnTo>
                    <a:pt x="132" y="96"/>
                  </a:lnTo>
                  <a:lnTo>
                    <a:pt x="126" y="96"/>
                  </a:lnTo>
                  <a:lnTo>
                    <a:pt x="132" y="102"/>
                  </a:lnTo>
                  <a:lnTo>
                    <a:pt x="126" y="102"/>
                  </a:lnTo>
                  <a:lnTo>
                    <a:pt x="132" y="102"/>
                  </a:lnTo>
                  <a:lnTo>
                    <a:pt x="132" y="108"/>
                  </a:lnTo>
                  <a:lnTo>
                    <a:pt x="126" y="108"/>
                  </a:lnTo>
                  <a:lnTo>
                    <a:pt x="120" y="108"/>
                  </a:lnTo>
                  <a:lnTo>
                    <a:pt x="120" y="102"/>
                  </a:lnTo>
                  <a:lnTo>
                    <a:pt x="114" y="102"/>
                  </a:lnTo>
                  <a:lnTo>
                    <a:pt x="108" y="96"/>
                  </a:lnTo>
                  <a:lnTo>
                    <a:pt x="102" y="90"/>
                  </a:lnTo>
                  <a:lnTo>
                    <a:pt x="102" y="84"/>
                  </a:lnTo>
                  <a:lnTo>
                    <a:pt x="102" y="78"/>
                  </a:lnTo>
                  <a:lnTo>
                    <a:pt x="96" y="78"/>
                  </a:lnTo>
                  <a:lnTo>
                    <a:pt x="96" y="72"/>
                  </a:lnTo>
                  <a:lnTo>
                    <a:pt x="90" y="72"/>
                  </a:lnTo>
                  <a:lnTo>
                    <a:pt x="90" y="78"/>
                  </a:lnTo>
                  <a:lnTo>
                    <a:pt x="84" y="78"/>
                  </a:lnTo>
                  <a:lnTo>
                    <a:pt x="78" y="78"/>
                  </a:lnTo>
                  <a:lnTo>
                    <a:pt x="72" y="78"/>
                  </a:lnTo>
                  <a:lnTo>
                    <a:pt x="66" y="78"/>
                  </a:lnTo>
                  <a:lnTo>
                    <a:pt x="66" y="84"/>
                  </a:lnTo>
                  <a:lnTo>
                    <a:pt x="60" y="84"/>
                  </a:lnTo>
                  <a:lnTo>
                    <a:pt x="60" y="90"/>
                  </a:lnTo>
                  <a:lnTo>
                    <a:pt x="54" y="90"/>
                  </a:lnTo>
                  <a:lnTo>
                    <a:pt x="54" y="84"/>
                  </a:lnTo>
                  <a:lnTo>
                    <a:pt x="48" y="78"/>
                  </a:lnTo>
                  <a:lnTo>
                    <a:pt x="48" y="84"/>
                  </a:lnTo>
                  <a:lnTo>
                    <a:pt x="42" y="84"/>
                  </a:lnTo>
                  <a:lnTo>
                    <a:pt x="42" y="78"/>
                  </a:lnTo>
                  <a:lnTo>
                    <a:pt x="36" y="72"/>
                  </a:lnTo>
                  <a:lnTo>
                    <a:pt x="30" y="72"/>
                  </a:lnTo>
                  <a:lnTo>
                    <a:pt x="24" y="72"/>
                  </a:lnTo>
                  <a:lnTo>
                    <a:pt x="18" y="72"/>
                  </a:lnTo>
                  <a:lnTo>
                    <a:pt x="18" y="78"/>
                  </a:lnTo>
                  <a:lnTo>
                    <a:pt x="12" y="78"/>
                  </a:lnTo>
                  <a:lnTo>
                    <a:pt x="12" y="72"/>
                  </a:lnTo>
                  <a:lnTo>
                    <a:pt x="6" y="72"/>
                  </a:lnTo>
                  <a:lnTo>
                    <a:pt x="6" y="66"/>
                  </a:lnTo>
                  <a:lnTo>
                    <a:pt x="0" y="66"/>
                  </a:lnTo>
                  <a:lnTo>
                    <a:pt x="0" y="60"/>
                  </a:lnTo>
                  <a:lnTo>
                    <a:pt x="0" y="54"/>
                  </a:lnTo>
                  <a:lnTo>
                    <a:pt x="6" y="54"/>
                  </a:lnTo>
                  <a:lnTo>
                    <a:pt x="6" y="48"/>
                  </a:lnTo>
                  <a:lnTo>
                    <a:pt x="0" y="48"/>
                  </a:lnTo>
                  <a:lnTo>
                    <a:pt x="0" y="42"/>
                  </a:lnTo>
                  <a:lnTo>
                    <a:pt x="0" y="36"/>
                  </a:lnTo>
                  <a:lnTo>
                    <a:pt x="0" y="30"/>
                  </a:lnTo>
                  <a:lnTo>
                    <a:pt x="0" y="36"/>
                  </a:lnTo>
                  <a:lnTo>
                    <a:pt x="6" y="36"/>
                  </a:lnTo>
                  <a:lnTo>
                    <a:pt x="12" y="36"/>
                  </a:lnTo>
                  <a:lnTo>
                    <a:pt x="18" y="36"/>
                  </a:lnTo>
                  <a:lnTo>
                    <a:pt x="24" y="36"/>
                  </a:lnTo>
                  <a:lnTo>
                    <a:pt x="24" y="30"/>
                  </a:lnTo>
                  <a:lnTo>
                    <a:pt x="30" y="30"/>
                  </a:lnTo>
                  <a:lnTo>
                    <a:pt x="30" y="24"/>
                  </a:lnTo>
                  <a:lnTo>
                    <a:pt x="24" y="24"/>
                  </a:lnTo>
                  <a:lnTo>
                    <a:pt x="30" y="24"/>
                  </a:lnTo>
                  <a:lnTo>
                    <a:pt x="30" y="18"/>
                  </a:lnTo>
                  <a:lnTo>
                    <a:pt x="30" y="24"/>
                  </a:lnTo>
                  <a:lnTo>
                    <a:pt x="30" y="18"/>
                  </a:lnTo>
                  <a:lnTo>
                    <a:pt x="36" y="24"/>
                  </a:lnTo>
                  <a:lnTo>
                    <a:pt x="42" y="24"/>
                  </a:lnTo>
                  <a:lnTo>
                    <a:pt x="48" y="24"/>
                  </a:lnTo>
                  <a:lnTo>
                    <a:pt x="54" y="30"/>
                  </a:lnTo>
                  <a:lnTo>
                    <a:pt x="54" y="24"/>
                  </a:lnTo>
                  <a:lnTo>
                    <a:pt x="48" y="24"/>
                  </a:lnTo>
                  <a:lnTo>
                    <a:pt x="54" y="24"/>
                  </a:lnTo>
                  <a:lnTo>
                    <a:pt x="60" y="24"/>
                  </a:lnTo>
                  <a:lnTo>
                    <a:pt x="66" y="24"/>
                  </a:lnTo>
                  <a:lnTo>
                    <a:pt x="66" y="18"/>
                  </a:lnTo>
                  <a:lnTo>
                    <a:pt x="72" y="18"/>
                  </a:lnTo>
                  <a:lnTo>
                    <a:pt x="78" y="12"/>
                  </a:lnTo>
                  <a:lnTo>
                    <a:pt x="78" y="18"/>
                  </a:lnTo>
                  <a:lnTo>
                    <a:pt x="78" y="12"/>
                  </a:lnTo>
                  <a:lnTo>
                    <a:pt x="84" y="12"/>
                  </a:lnTo>
                  <a:lnTo>
                    <a:pt x="84" y="6"/>
                  </a:lnTo>
                  <a:lnTo>
                    <a:pt x="78" y="6"/>
                  </a:lnTo>
                  <a:lnTo>
                    <a:pt x="84" y="6"/>
                  </a:lnTo>
                  <a:lnTo>
                    <a:pt x="90" y="6"/>
                  </a:lnTo>
                  <a:lnTo>
                    <a:pt x="96" y="6"/>
                  </a:lnTo>
                  <a:lnTo>
                    <a:pt x="102" y="6"/>
                  </a:lnTo>
                  <a:lnTo>
                    <a:pt x="108" y="6"/>
                  </a:lnTo>
                  <a:lnTo>
                    <a:pt x="114" y="0"/>
                  </a:lnTo>
                  <a:lnTo>
                    <a:pt x="120" y="0"/>
                  </a:lnTo>
                  <a:lnTo>
                    <a:pt x="120" y="6"/>
                  </a:lnTo>
                  <a:lnTo>
                    <a:pt x="126" y="6"/>
                  </a:lnTo>
                  <a:lnTo>
                    <a:pt x="132" y="6"/>
                  </a:lnTo>
                  <a:lnTo>
                    <a:pt x="132" y="12"/>
                  </a:lnTo>
                  <a:lnTo>
                    <a:pt x="138" y="12"/>
                  </a:lnTo>
                  <a:lnTo>
                    <a:pt x="138" y="18"/>
                  </a:lnTo>
                  <a:lnTo>
                    <a:pt x="144" y="18"/>
                  </a:lnTo>
                  <a:lnTo>
                    <a:pt x="138" y="18"/>
                  </a:lnTo>
                  <a:lnTo>
                    <a:pt x="138" y="24"/>
                  </a:lnTo>
                  <a:lnTo>
                    <a:pt x="138" y="30"/>
                  </a:lnTo>
                  <a:lnTo>
                    <a:pt x="144" y="24"/>
                  </a:lnTo>
                  <a:lnTo>
                    <a:pt x="144" y="30"/>
                  </a:lnTo>
                  <a:lnTo>
                    <a:pt x="150" y="30"/>
                  </a:lnTo>
                  <a:lnTo>
                    <a:pt x="156" y="24"/>
                  </a:lnTo>
                  <a:lnTo>
                    <a:pt x="156" y="30"/>
                  </a:lnTo>
                  <a:lnTo>
                    <a:pt x="162" y="30"/>
                  </a:lnTo>
                  <a:lnTo>
                    <a:pt x="156" y="30"/>
                  </a:lnTo>
                  <a:lnTo>
                    <a:pt x="156" y="36"/>
                  </a:lnTo>
                  <a:lnTo>
                    <a:pt x="162" y="36"/>
                  </a:lnTo>
                  <a:lnTo>
                    <a:pt x="156" y="36"/>
                  </a:lnTo>
                  <a:lnTo>
                    <a:pt x="156" y="42"/>
                  </a:lnTo>
                  <a:lnTo>
                    <a:pt x="156" y="36"/>
                  </a:lnTo>
                  <a:lnTo>
                    <a:pt x="156" y="42"/>
                  </a:lnTo>
                  <a:lnTo>
                    <a:pt x="150" y="42"/>
                  </a:lnTo>
                  <a:lnTo>
                    <a:pt x="156" y="42"/>
                  </a:lnTo>
                  <a:lnTo>
                    <a:pt x="150" y="42"/>
                  </a:lnTo>
                  <a:lnTo>
                    <a:pt x="150" y="48"/>
                  </a:lnTo>
                  <a:lnTo>
                    <a:pt x="156" y="48"/>
                  </a:lnTo>
                  <a:lnTo>
                    <a:pt x="156" y="54"/>
                  </a:lnTo>
                  <a:lnTo>
                    <a:pt x="162" y="54"/>
                  </a:lnTo>
                  <a:lnTo>
                    <a:pt x="168" y="54"/>
                  </a:lnTo>
                  <a:lnTo>
                    <a:pt x="168" y="60"/>
                  </a:lnTo>
                  <a:lnTo>
                    <a:pt x="174" y="60"/>
                  </a:lnTo>
                  <a:lnTo>
                    <a:pt x="168" y="60"/>
                  </a:lnTo>
                  <a:lnTo>
                    <a:pt x="168" y="66"/>
                  </a:lnTo>
                  <a:lnTo>
                    <a:pt x="174" y="66"/>
                  </a:lnTo>
                  <a:lnTo>
                    <a:pt x="168" y="66"/>
                  </a:lnTo>
                  <a:lnTo>
                    <a:pt x="168" y="72"/>
                  </a:lnTo>
                  <a:lnTo>
                    <a:pt x="168" y="78"/>
                  </a:lnTo>
                  <a:lnTo>
                    <a:pt x="168" y="84"/>
                  </a:lnTo>
                  <a:lnTo>
                    <a:pt x="174" y="90"/>
                  </a:lnTo>
                  <a:lnTo>
                    <a:pt x="168" y="90"/>
                  </a:lnTo>
                  <a:lnTo>
                    <a:pt x="174" y="96"/>
                  </a:lnTo>
                  <a:lnTo>
                    <a:pt x="180" y="96"/>
                  </a:lnTo>
                  <a:lnTo>
                    <a:pt x="174" y="96"/>
                  </a:lnTo>
                  <a:lnTo>
                    <a:pt x="174" y="102"/>
                  </a:lnTo>
                  <a:lnTo>
                    <a:pt x="180" y="102"/>
                  </a:lnTo>
                  <a:lnTo>
                    <a:pt x="174" y="108"/>
                  </a:lnTo>
                  <a:lnTo>
                    <a:pt x="174" y="114"/>
                  </a:lnTo>
                  <a:close/>
                </a:path>
              </a:pathLst>
            </a:custGeom>
            <a:solidFill>
              <a:schemeClr val="accent1"/>
            </a:solidFill>
            <a:ln w="9525">
              <a:solidFill>
                <a:srgbClr val="B2B2B2"/>
              </a:solidFill>
              <a:round/>
              <a:headEnd/>
              <a:tailEnd/>
            </a:ln>
          </p:spPr>
          <p:txBody>
            <a:bodyPr/>
            <a:lstStyle/>
            <a:p>
              <a:endParaRPr lang="en-CA"/>
            </a:p>
          </p:txBody>
        </p:sp>
        <p:sp>
          <p:nvSpPr>
            <p:cNvPr id="392" name="Freeform 451"/>
            <p:cNvSpPr>
              <a:spLocks/>
            </p:cNvSpPr>
            <p:nvPr>
              <p:custDataLst>
                <p:tags r:id="rId15"/>
              </p:custDataLst>
            </p:nvPr>
          </p:nvSpPr>
          <p:spPr bwMode="gray">
            <a:xfrm>
              <a:off x="796" y="3193"/>
              <a:ext cx="127" cy="67"/>
            </a:xfrm>
            <a:custGeom>
              <a:avLst/>
              <a:gdLst>
                <a:gd name="T0" fmla="*/ 180695651 w 204"/>
                <a:gd name="T1" fmla="*/ 75780955 h 108"/>
                <a:gd name="T2" fmla="*/ 169037676 w 204"/>
                <a:gd name="T3" fmla="*/ 69951727 h 108"/>
                <a:gd name="T4" fmla="*/ 151551701 w 204"/>
                <a:gd name="T5" fmla="*/ 75780955 h 108"/>
                <a:gd name="T6" fmla="*/ 134064739 w 204"/>
                <a:gd name="T7" fmla="*/ 75780955 h 108"/>
                <a:gd name="T8" fmla="*/ 134064739 w 204"/>
                <a:gd name="T9" fmla="*/ 81611169 h 108"/>
                <a:gd name="T10" fmla="*/ 128235751 w 204"/>
                <a:gd name="T11" fmla="*/ 87440397 h 108"/>
                <a:gd name="T12" fmla="*/ 116577776 w 204"/>
                <a:gd name="T13" fmla="*/ 93269626 h 108"/>
                <a:gd name="T14" fmla="*/ 110748788 w 204"/>
                <a:gd name="T15" fmla="*/ 93269626 h 108"/>
                <a:gd name="T16" fmla="*/ 99091801 w 204"/>
                <a:gd name="T17" fmla="*/ 93269626 h 108"/>
                <a:gd name="T18" fmla="*/ 87433826 w 204"/>
                <a:gd name="T19" fmla="*/ 93269626 h 108"/>
                <a:gd name="T20" fmla="*/ 81604838 w 204"/>
                <a:gd name="T21" fmla="*/ 93269626 h 108"/>
                <a:gd name="T22" fmla="*/ 81604838 w 204"/>
                <a:gd name="T23" fmla="*/ 99098854 h 108"/>
                <a:gd name="T24" fmla="*/ 69946863 w 204"/>
                <a:gd name="T25" fmla="*/ 104928083 h 108"/>
                <a:gd name="T26" fmla="*/ 58288888 w 204"/>
                <a:gd name="T27" fmla="*/ 99098854 h 108"/>
                <a:gd name="T28" fmla="*/ 52459900 w 204"/>
                <a:gd name="T29" fmla="*/ 99098854 h 108"/>
                <a:gd name="T30" fmla="*/ 46630913 w 204"/>
                <a:gd name="T31" fmla="*/ 87440397 h 108"/>
                <a:gd name="T32" fmla="*/ 40801925 w 204"/>
                <a:gd name="T33" fmla="*/ 87440397 h 108"/>
                <a:gd name="T34" fmla="*/ 29144938 w 204"/>
                <a:gd name="T35" fmla="*/ 81611169 h 108"/>
                <a:gd name="T36" fmla="*/ 11657975 w 204"/>
                <a:gd name="T37" fmla="*/ 81611169 h 108"/>
                <a:gd name="T38" fmla="*/ 5828988 w 204"/>
                <a:gd name="T39" fmla="*/ 69951727 h 108"/>
                <a:gd name="T40" fmla="*/ 5828988 w 204"/>
                <a:gd name="T41" fmla="*/ 58293270 h 108"/>
                <a:gd name="T42" fmla="*/ 5828988 w 204"/>
                <a:gd name="T43" fmla="*/ 52464041 h 108"/>
                <a:gd name="T44" fmla="*/ 17486963 w 204"/>
                <a:gd name="T45" fmla="*/ 46634813 h 108"/>
                <a:gd name="T46" fmla="*/ 17486963 w 204"/>
                <a:gd name="T47" fmla="*/ 34976356 h 108"/>
                <a:gd name="T48" fmla="*/ 23315950 w 204"/>
                <a:gd name="T49" fmla="*/ 23316914 h 108"/>
                <a:gd name="T50" fmla="*/ 29144938 w 204"/>
                <a:gd name="T51" fmla="*/ 23316914 h 108"/>
                <a:gd name="T52" fmla="*/ 29144938 w 204"/>
                <a:gd name="T53" fmla="*/ 17487686 h 108"/>
                <a:gd name="T54" fmla="*/ 34972937 w 204"/>
                <a:gd name="T55" fmla="*/ 5829229 h 108"/>
                <a:gd name="T56" fmla="*/ 40801925 w 204"/>
                <a:gd name="T57" fmla="*/ 5829229 h 108"/>
                <a:gd name="T58" fmla="*/ 46630913 w 204"/>
                <a:gd name="T59" fmla="*/ 5829229 h 108"/>
                <a:gd name="T60" fmla="*/ 58288888 w 204"/>
                <a:gd name="T61" fmla="*/ 0 h 108"/>
                <a:gd name="T62" fmla="*/ 69946863 w 204"/>
                <a:gd name="T63" fmla="*/ 5829229 h 108"/>
                <a:gd name="T64" fmla="*/ 75775851 w 204"/>
                <a:gd name="T65" fmla="*/ 5829229 h 108"/>
                <a:gd name="T66" fmla="*/ 87433826 w 204"/>
                <a:gd name="T67" fmla="*/ 11658457 h 108"/>
                <a:gd name="T68" fmla="*/ 99091801 w 204"/>
                <a:gd name="T69" fmla="*/ 0 h 108"/>
                <a:gd name="T70" fmla="*/ 110748788 w 204"/>
                <a:gd name="T71" fmla="*/ 11658457 h 108"/>
                <a:gd name="T72" fmla="*/ 116577776 w 204"/>
                <a:gd name="T73" fmla="*/ 11658457 h 108"/>
                <a:gd name="T74" fmla="*/ 122406763 w 204"/>
                <a:gd name="T75" fmla="*/ 23316914 h 108"/>
                <a:gd name="T76" fmla="*/ 139893726 w 204"/>
                <a:gd name="T77" fmla="*/ 23316914 h 108"/>
                <a:gd name="T78" fmla="*/ 145722714 w 204"/>
                <a:gd name="T79" fmla="*/ 34976356 h 108"/>
                <a:gd name="T80" fmla="*/ 157380689 w 204"/>
                <a:gd name="T81" fmla="*/ 29147127 h 108"/>
                <a:gd name="T82" fmla="*/ 169037676 w 204"/>
                <a:gd name="T83" fmla="*/ 34976356 h 108"/>
                <a:gd name="T84" fmla="*/ 186524639 w 204"/>
                <a:gd name="T85" fmla="*/ 34976356 h 108"/>
                <a:gd name="T86" fmla="*/ 192353626 w 204"/>
                <a:gd name="T87" fmla="*/ 34976356 h 108"/>
                <a:gd name="T88" fmla="*/ 198182614 w 204"/>
                <a:gd name="T89" fmla="*/ 46634813 h 108"/>
                <a:gd name="T90" fmla="*/ 180695651 w 204"/>
                <a:gd name="T91" fmla="*/ 52464041 h 108"/>
                <a:gd name="T92" fmla="*/ 186524639 w 204"/>
                <a:gd name="T93" fmla="*/ 64122498 h 108"/>
                <a:gd name="T94" fmla="*/ 192353626 w 204"/>
                <a:gd name="T95" fmla="*/ 75780955 h 1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4"/>
                <a:gd name="T145" fmla="*/ 0 h 108"/>
                <a:gd name="T146" fmla="*/ 204 w 204"/>
                <a:gd name="T147" fmla="*/ 108 h 1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4" h="108">
                  <a:moveTo>
                    <a:pt x="192" y="84"/>
                  </a:moveTo>
                  <a:lnTo>
                    <a:pt x="192" y="78"/>
                  </a:lnTo>
                  <a:lnTo>
                    <a:pt x="186" y="78"/>
                  </a:lnTo>
                  <a:lnTo>
                    <a:pt x="180" y="78"/>
                  </a:lnTo>
                  <a:lnTo>
                    <a:pt x="180" y="72"/>
                  </a:lnTo>
                  <a:lnTo>
                    <a:pt x="174" y="72"/>
                  </a:lnTo>
                  <a:lnTo>
                    <a:pt x="168" y="78"/>
                  </a:lnTo>
                  <a:lnTo>
                    <a:pt x="162" y="78"/>
                  </a:lnTo>
                  <a:lnTo>
                    <a:pt x="156" y="78"/>
                  </a:lnTo>
                  <a:lnTo>
                    <a:pt x="150" y="78"/>
                  </a:lnTo>
                  <a:lnTo>
                    <a:pt x="144" y="78"/>
                  </a:lnTo>
                  <a:lnTo>
                    <a:pt x="138" y="78"/>
                  </a:lnTo>
                  <a:lnTo>
                    <a:pt x="144" y="78"/>
                  </a:lnTo>
                  <a:lnTo>
                    <a:pt x="144" y="84"/>
                  </a:lnTo>
                  <a:lnTo>
                    <a:pt x="138" y="84"/>
                  </a:lnTo>
                  <a:lnTo>
                    <a:pt x="138" y="90"/>
                  </a:lnTo>
                  <a:lnTo>
                    <a:pt x="138" y="84"/>
                  </a:lnTo>
                  <a:lnTo>
                    <a:pt x="132" y="90"/>
                  </a:lnTo>
                  <a:lnTo>
                    <a:pt x="126" y="90"/>
                  </a:lnTo>
                  <a:lnTo>
                    <a:pt x="126" y="96"/>
                  </a:lnTo>
                  <a:lnTo>
                    <a:pt x="120" y="96"/>
                  </a:lnTo>
                  <a:lnTo>
                    <a:pt x="114" y="96"/>
                  </a:lnTo>
                  <a:lnTo>
                    <a:pt x="108" y="96"/>
                  </a:lnTo>
                  <a:lnTo>
                    <a:pt x="114" y="96"/>
                  </a:lnTo>
                  <a:lnTo>
                    <a:pt x="114" y="102"/>
                  </a:lnTo>
                  <a:lnTo>
                    <a:pt x="108" y="96"/>
                  </a:lnTo>
                  <a:lnTo>
                    <a:pt x="102" y="96"/>
                  </a:lnTo>
                  <a:lnTo>
                    <a:pt x="96" y="96"/>
                  </a:lnTo>
                  <a:lnTo>
                    <a:pt x="90" y="90"/>
                  </a:lnTo>
                  <a:lnTo>
                    <a:pt x="90" y="96"/>
                  </a:lnTo>
                  <a:lnTo>
                    <a:pt x="90" y="90"/>
                  </a:lnTo>
                  <a:lnTo>
                    <a:pt x="90" y="96"/>
                  </a:lnTo>
                  <a:lnTo>
                    <a:pt x="84" y="96"/>
                  </a:lnTo>
                  <a:lnTo>
                    <a:pt x="90" y="96"/>
                  </a:lnTo>
                  <a:lnTo>
                    <a:pt x="90" y="102"/>
                  </a:lnTo>
                  <a:lnTo>
                    <a:pt x="84" y="102"/>
                  </a:lnTo>
                  <a:lnTo>
                    <a:pt x="84" y="108"/>
                  </a:lnTo>
                  <a:lnTo>
                    <a:pt x="78" y="108"/>
                  </a:lnTo>
                  <a:lnTo>
                    <a:pt x="72" y="108"/>
                  </a:lnTo>
                  <a:lnTo>
                    <a:pt x="66" y="108"/>
                  </a:lnTo>
                  <a:lnTo>
                    <a:pt x="60" y="108"/>
                  </a:lnTo>
                  <a:lnTo>
                    <a:pt x="60" y="102"/>
                  </a:lnTo>
                  <a:lnTo>
                    <a:pt x="60" y="96"/>
                  </a:lnTo>
                  <a:lnTo>
                    <a:pt x="54" y="96"/>
                  </a:lnTo>
                  <a:lnTo>
                    <a:pt x="54" y="102"/>
                  </a:lnTo>
                  <a:lnTo>
                    <a:pt x="54" y="96"/>
                  </a:lnTo>
                  <a:lnTo>
                    <a:pt x="48" y="96"/>
                  </a:lnTo>
                  <a:lnTo>
                    <a:pt x="48" y="90"/>
                  </a:lnTo>
                  <a:lnTo>
                    <a:pt x="42" y="90"/>
                  </a:lnTo>
                  <a:lnTo>
                    <a:pt x="42" y="84"/>
                  </a:lnTo>
                  <a:lnTo>
                    <a:pt x="42" y="90"/>
                  </a:lnTo>
                  <a:lnTo>
                    <a:pt x="36" y="90"/>
                  </a:lnTo>
                  <a:lnTo>
                    <a:pt x="30" y="90"/>
                  </a:lnTo>
                  <a:lnTo>
                    <a:pt x="30" y="84"/>
                  </a:lnTo>
                  <a:lnTo>
                    <a:pt x="24" y="84"/>
                  </a:lnTo>
                  <a:lnTo>
                    <a:pt x="18" y="84"/>
                  </a:lnTo>
                  <a:lnTo>
                    <a:pt x="12" y="84"/>
                  </a:lnTo>
                  <a:lnTo>
                    <a:pt x="12" y="78"/>
                  </a:lnTo>
                  <a:lnTo>
                    <a:pt x="6" y="78"/>
                  </a:lnTo>
                  <a:lnTo>
                    <a:pt x="6" y="72"/>
                  </a:lnTo>
                  <a:lnTo>
                    <a:pt x="12" y="72"/>
                  </a:lnTo>
                  <a:lnTo>
                    <a:pt x="12" y="66"/>
                  </a:lnTo>
                  <a:lnTo>
                    <a:pt x="6" y="60"/>
                  </a:lnTo>
                  <a:lnTo>
                    <a:pt x="6" y="54"/>
                  </a:lnTo>
                  <a:lnTo>
                    <a:pt x="0" y="54"/>
                  </a:lnTo>
                  <a:lnTo>
                    <a:pt x="6" y="54"/>
                  </a:lnTo>
                  <a:lnTo>
                    <a:pt x="12" y="54"/>
                  </a:lnTo>
                  <a:lnTo>
                    <a:pt x="12" y="48"/>
                  </a:lnTo>
                  <a:lnTo>
                    <a:pt x="18" y="48"/>
                  </a:lnTo>
                  <a:lnTo>
                    <a:pt x="18" y="42"/>
                  </a:lnTo>
                  <a:lnTo>
                    <a:pt x="12" y="42"/>
                  </a:lnTo>
                  <a:lnTo>
                    <a:pt x="18" y="36"/>
                  </a:lnTo>
                  <a:lnTo>
                    <a:pt x="12" y="36"/>
                  </a:lnTo>
                  <a:lnTo>
                    <a:pt x="18" y="30"/>
                  </a:lnTo>
                  <a:lnTo>
                    <a:pt x="24" y="24"/>
                  </a:lnTo>
                  <a:lnTo>
                    <a:pt x="24" y="30"/>
                  </a:lnTo>
                  <a:lnTo>
                    <a:pt x="24" y="24"/>
                  </a:lnTo>
                  <a:lnTo>
                    <a:pt x="30" y="24"/>
                  </a:lnTo>
                  <a:lnTo>
                    <a:pt x="30" y="18"/>
                  </a:lnTo>
                  <a:lnTo>
                    <a:pt x="30" y="12"/>
                  </a:lnTo>
                  <a:lnTo>
                    <a:pt x="30" y="18"/>
                  </a:lnTo>
                  <a:lnTo>
                    <a:pt x="36" y="18"/>
                  </a:lnTo>
                  <a:lnTo>
                    <a:pt x="36" y="12"/>
                  </a:lnTo>
                  <a:lnTo>
                    <a:pt x="36" y="6"/>
                  </a:lnTo>
                  <a:lnTo>
                    <a:pt x="42" y="6"/>
                  </a:lnTo>
                  <a:lnTo>
                    <a:pt x="36" y="6"/>
                  </a:lnTo>
                  <a:lnTo>
                    <a:pt x="42" y="6"/>
                  </a:lnTo>
                  <a:lnTo>
                    <a:pt x="42" y="0"/>
                  </a:lnTo>
                  <a:lnTo>
                    <a:pt x="42" y="6"/>
                  </a:lnTo>
                  <a:lnTo>
                    <a:pt x="48" y="6"/>
                  </a:lnTo>
                  <a:lnTo>
                    <a:pt x="54" y="6"/>
                  </a:lnTo>
                  <a:lnTo>
                    <a:pt x="54" y="0"/>
                  </a:lnTo>
                  <a:lnTo>
                    <a:pt x="60" y="0"/>
                  </a:lnTo>
                  <a:lnTo>
                    <a:pt x="66" y="0"/>
                  </a:lnTo>
                  <a:lnTo>
                    <a:pt x="72" y="0"/>
                  </a:lnTo>
                  <a:lnTo>
                    <a:pt x="72" y="6"/>
                  </a:lnTo>
                  <a:lnTo>
                    <a:pt x="72" y="12"/>
                  </a:lnTo>
                  <a:lnTo>
                    <a:pt x="78" y="12"/>
                  </a:lnTo>
                  <a:lnTo>
                    <a:pt x="78" y="6"/>
                  </a:lnTo>
                  <a:lnTo>
                    <a:pt x="84" y="6"/>
                  </a:lnTo>
                  <a:lnTo>
                    <a:pt x="84" y="12"/>
                  </a:lnTo>
                  <a:lnTo>
                    <a:pt x="90" y="12"/>
                  </a:lnTo>
                  <a:lnTo>
                    <a:pt x="90" y="6"/>
                  </a:lnTo>
                  <a:lnTo>
                    <a:pt x="96" y="6"/>
                  </a:lnTo>
                  <a:lnTo>
                    <a:pt x="102" y="0"/>
                  </a:lnTo>
                  <a:lnTo>
                    <a:pt x="108" y="6"/>
                  </a:lnTo>
                  <a:lnTo>
                    <a:pt x="108" y="12"/>
                  </a:lnTo>
                  <a:lnTo>
                    <a:pt x="114" y="12"/>
                  </a:lnTo>
                  <a:lnTo>
                    <a:pt x="108" y="12"/>
                  </a:lnTo>
                  <a:lnTo>
                    <a:pt x="114" y="12"/>
                  </a:lnTo>
                  <a:lnTo>
                    <a:pt x="120" y="12"/>
                  </a:lnTo>
                  <a:lnTo>
                    <a:pt x="120" y="18"/>
                  </a:lnTo>
                  <a:lnTo>
                    <a:pt x="126" y="18"/>
                  </a:lnTo>
                  <a:lnTo>
                    <a:pt x="126" y="24"/>
                  </a:lnTo>
                  <a:lnTo>
                    <a:pt x="132" y="24"/>
                  </a:lnTo>
                  <a:lnTo>
                    <a:pt x="138" y="24"/>
                  </a:lnTo>
                  <a:lnTo>
                    <a:pt x="144" y="24"/>
                  </a:lnTo>
                  <a:lnTo>
                    <a:pt x="144" y="30"/>
                  </a:lnTo>
                  <a:lnTo>
                    <a:pt x="150" y="30"/>
                  </a:lnTo>
                  <a:lnTo>
                    <a:pt x="150" y="36"/>
                  </a:lnTo>
                  <a:lnTo>
                    <a:pt x="156" y="36"/>
                  </a:lnTo>
                  <a:lnTo>
                    <a:pt x="156" y="30"/>
                  </a:lnTo>
                  <a:lnTo>
                    <a:pt x="162" y="30"/>
                  </a:lnTo>
                  <a:lnTo>
                    <a:pt x="168" y="30"/>
                  </a:lnTo>
                  <a:lnTo>
                    <a:pt x="174" y="30"/>
                  </a:lnTo>
                  <a:lnTo>
                    <a:pt x="174" y="36"/>
                  </a:lnTo>
                  <a:lnTo>
                    <a:pt x="180" y="36"/>
                  </a:lnTo>
                  <a:lnTo>
                    <a:pt x="186" y="36"/>
                  </a:lnTo>
                  <a:lnTo>
                    <a:pt x="192" y="36"/>
                  </a:lnTo>
                  <a:lnTo>
                    <a:pt x="192" y="30"/>
                  </a:lnTo>
                  <a:lnTo>
                    <a:pt x="192" y="36"/>
                  </a:lnTo>
                  <a:lnTo>
                    <a:pt x="198" y="36"/>
                  </a:lnTo>
                  <a:lnTo>
                    <a:pt x="198" y="42"/>
                  </a:lnTo>
                  <a:lnTo>
                    <a:pt x="198" y="48"/>
                  </a:lnTo>
                  <a:lnTo>
                    <a:pt x="204" y="48"/>
                  </a:lnTo>
                  <a:lnTo>
                    <a:pt x="198" y="54"/>
                  </a:lnTo>
                  <a:lnTo>
                    <a:pt x="192" y="54"/>
                  </a:lnTo>
                  <a:lnTo>
                    <a:pt x="186" y="54"/>
                  </a:lnTo>
                  <a:lnTo>
                    <a:pt x="186" y="60"/>
                  </a:lnTo>
                  <a:lnTo>
                    <a:pt x="192" y="60"/>
                  </a:lnTo>
                  <a:lnTo>
                    <a:pt x="192" y="66"/>
                  </a:lnTo>
                  <a:lnTo>
                    <a:pt x="192" y="72"/>
                  </a:lnTo>
                  <a:lnTo>
                    <a:pt x="192" y="78"/>
                  </a:lnTo>
                  <a:lnTo>
                    <a:pt x="198" y="78"/>
                  </a:lnTo>
                  <a:lnTo>
                    <a:pt x="198" y="84"/>
                  </a:lnTo>
                  <a:lnTo>
                    <a:pt x="192" y="84"/>
                  </a:lnTo>
                  <a:close/>
                </a:path>
              </a:pathLst>
            </a:custGeom>
            <a:solidFill>
              <a:schemeClr val="accent1"/>
            </a:solidFill>
            <a:ln w="9525">
              <a:solidFill>
                <a:srgbClr val="B2B2B2"/>
              </a:solidFill>
              <a:round/>
              <a:headEnd/>
              <a:tailEnd/>
            </a:ln>
          </p:spPr>
          <p:txBody>
            <a:bodyPr/>
            <a:lstStyle/>
            <a:p>
              <a:endParaRPr lang="en-CA"/>
            </a:p>
          </p:txBody>
        </p:sp>
        <p:sp>
          <p:nvSpPr>
            <p:cNvPr id="393" name="Freeform 452"/>
            <p:cNvSpPr>
              <a:spLocks/>
            </p:cNvSpPr>
            <p:nvPr>
              <p:custDataLst>
                <p:tags r:id="rId16"/>
              </p:custDataLst>
            </p:nvPr>
          </p:nvSpPr>
          <p:spPr bwMode="gray">
            <a:xfrm>
              <a:off x="819" y="3133"/>
              <a:ext cx="93" cy="82"/>
            </a:xfrm>
            <a:custGeom>
              <a:avLst/>
              <a:gdLst>
                <a:gd name="T0" fmla="*/ 116654883 w 150"/>
                <a:gd name="T1" fmla="*/ 122897034 h 132"/>
                <a:gd name="T2" fmla="*/ 110822238 w 150"/>
                <a:gd name="T3" fmla="*/ 122897034 h 132"/>
                <a:gd name="T4" fmla="*/ 99155962 w 150"/>
                <a:gd name="T5" fmla="*/ 117044090 h 132"/>
                <a:gd name="T6" fmla="*/ 87490670 w 150"/>
                <a:gd name="T7" fmla="*/ 111192132 h 132"/>
                <a:gd name="T8" fmla="*/ 75825379 w 150"/>
                <a:gd name="T9" fmla="*/ 105340174 h 132"/>
                <a:gd name="T10" fmla="*/ 69992733 w 150"/>
                <a:gd name="T11" fmla="*/ 105340174 h 132"/>
                <a:gd name="T12" fmla="*/ 58327442 w 150"/>
                <a:gd name="T13" fmla="*/ 99488216 h 132"/>
                <a:gd name="T14" fmla="*/ 46662150 w 150"/>
                <a:gd name="T15" fmla="*/ 105340174 h 132"/>
                <a:gd name="T16" fmla="*/ 40829504 w 150"/>
                <a:gd name="T17" fmla="*/ 105340174 h 132"/>
                <a:gd name="T18" fmla="*/ 34995874 w 150"/>
                <a:gd name="T19" fmla="*/ 93635272 h 132"/>
                <a:gd name="T20" fmla="*/ 17497937 w 150"/>
                <a:gd name="T21" fmla="*/ 93635272 h 132"/>
                <a:gd name="T22" fmla="*/ 5832646 w 150"/>
                <a:gd name="T23" fmla="*/ 99488216 h 132"/>
                <a:gd name="T24" fmla="*/ 0 w 150"/>
                <a:gd name="T25" fmla="*/ 87783314 h 132"/>
                <a:gd name="T26" fmla="*/ 5832646 w 150"/>
                <a:gd name="T27" fmla="*/ 76079398 h 132"/>
                <a:gd name="T28" fmla="*/ 5832646 w 150"/>
                <a:gd name="T29" fmla="*/ 70226454 h 132"/>
                <a:gd name="T30" fmla="*/ 5832646 w 150"/>
                <a:gd name="T31" fmla="*/ 64374496 h 132"/>
                <a:gd name="T32" fmla="*/ 0 w 150"/>
                <a:gd name="T33" fmla="*/ 52669594 h 132"/>
                <a:gd name="T34" fmla="*/ 11665291 w 150"/>
                <a:gd name="T35" fmla="*/ 46817636 h 132"/>
                <a:gd name="T36" fmla="*/ 17497937 w 150"/>
                <a:gd name="T37" fmla="*/ 46817636 h 132"/>
                <a:gd name="T38" fmla="*/ 11665291 w 150"/>
                <a:gd name="T39" fmla="*/ 40965678 h 132"/>
                <a:gd name="T40" fmla="*/ 17497937 w 150"/>
                <a:gd name="T41" fmla="*/ 29260776 h 132"/>
                <a:gd name="T42" fmla="*/ 23330583 w 150"/>
                <a:gd name="T43" fmla="*/ 17556860 h 132"/>
                <a:gd name="T44" fmla="*/ 29163229 w 150"/>
                <a:gd name="T45" fmla="*/ 17556860 h 132"/>
                <a:gd name="T46" fmla="*/ 40829504 w 150"/>
                <a:gd name="T47" fmla="*/ 11704902 h 132"/>
                <a:gd name="T48" fmla="*/ 46662150 w 150"/>
                <a:gd name="T49" fmla="*/ 0 h 132"/>
                <a:gd name="T50" fmla="*/ 58327442 w 150"/>
                <a:gd name="T51" fmla="*/ 5851958 h 132"/>
                <a:gd name="T52" fmla="*/ 64160087 w 150"/>
                <a:gd name="T53" fmla="*/ 5851958 h 132"/>
                <a:gd name="T54" fmla="*/ 69992733 w 150"/>
                <a:gd name="T55" fmla="*/ 17556860 h 132"/>
                <a:gd name="T56" fmla="*/ 81658025 w 150"/>
                <a:gd name="T57" fmla="*/ 17556860 h 132"/>
                <a:gd name="T58" fmla="*/ 81658025 w 150"/>
                <a:gd name="T59" fmla="*/ 29260776 h 132"/>
                <a:gd name="T60" fmla="*/ 99155962 w 150"/>
                <a:gd name="T61" fmla="*/ 29260776 h 132"/>
                <a:gd name="T62" fmla="*/ 116654883 w 150"/>
                <a:gd name="T63" fmla="*/ 29260776 h 132"/>
                <a:gd name="T64" fmla="*/ 122487529 w 150"/>
                <a:gd name="T65" fmla="*/ 40965678 h 132"/>
                <a:gd name="T66" fmla="*/ 134152821 w 150"/>
                <a:gd name="T67" fmla="*/ 46817636 h 132"/>
                <a:gd name="T68" fmla="*/ 128320175 w 150"/>
                <a:gd name="T69" fmla="*/ 58522538 h 132"/>
                <a:gd name="T70" fmla="*/ 134152821 w 150"/>
                <a:gd name="T71" fmla="*/ 76079398 h 132"/>
                <a:gd name="T72" fmla="*/ 128320175 w 150"/>
                <a:gd name="T73" fmla="*/ 76079398 h 132"/>
                <a:gd name="T74" fmla="*/ 128320175 w 150"/>
                <a:gd name="T75" fmla="*/ 81931356 h 132"/>
                <a:gd name="T76" fmla="*/ 128320175 w 150"/>
                <a:gd name="T77" fmla="*/ 87783314 h 132"/>
                <a:gd name="T78" fmla="*/ 139985466 w 150"/>
                <a:gd name="T79" fmla="*/ 93635272 h 132"/>
                <a:gd name="T80" fmla="*/ 139985466 w 150"/>
                <a:gd name="T81" fmla="*/ 99488216 h 132"/>
                <a:gd name="T82" fmla="*/ 134152821 w 150"/>
                <a:gd name="T83" fmla="*/ 111192132 h 132"/>
                <a:gd name="T84" fmla="*/ 128320175 w 150"/>
                <a:gd name="T85" fmla="*/ 117044090 h 1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50"/>
                <a:gd name="T130" fmla="*/ 0 h 132"/>
                <a:gd name="T131" fmla="*/ 150 w 150"/>
                <a:gd name="T132" fmla="*/ 132 h 13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50" h="132">
                  <a:moveTo>
                    <a:pt x="132" y="126"/>
                  </a:moveTo>
                  <a:lnTo>
                    <a:pt x="126" y="126"/>
                  </a:lnTo>
                  <a:lnTo>
                    <a:pt x="120" y="126"/>
                  </a:lnTo>
                  <a:lnTo>
                    <a:pt x="120" y="132"/>
                  </a:lnTo>
                  <a:lnTo>
                    <a:pt x="114" y="132"/>
                  </a:lnTo>
                  <a:lnTo>
                    <a:pt x="114" y="126"/>
                  </a:lnTo>
                  <a:lnTo>
                    <a:pt x="108" y="126"/>
                  </a:lnTo>
                  <a:lnTo>
                    <a:pt x="108" y="120"/>
                  </a:lnTo>
                  <a:lnTo>
                    <a:pt x="102" y="120"/>
                  </a:lnTo>
                  <a:lnTo>
                    <a:pt x="96" y="120"/>
                  </a:lnTo>
                  <a:lnTo>
                    <a:pt x="90" y="120"/>
                  </a:lnTo>
                  <a:lnTo>
                    <a:pt x="90" y="114"/>
                  </a:lnTo>
                  <a:lnTo>
                    <a:pt x="84" y="114"/>
                  </a:lnTo>
                  <a:lnTo>
                    <a:pt x="84" y="108"/>
                  </a:lnTo>
                  <a:lnTo>
                    <a:pt x="78" y="108"/>
                  </a:lnTo>
                  <a:lnTo>
                    <a:pt x="72" y="108"/>
                  </a:lnTo>
                  <a:lnTo>
                    <a:pt x="78" y="108"/>
                  </a:lnTo>
                  <a:lnTo>
                    <a:pt x="72" y="108"/>
                  </a:lnTo>
                  <a:lnTo>
                    <a:pt x="72" y="102"/>
                  </a:lnTo>
                  <a:lnTo>
                    <a:pt x="66" y="96"/>
                  </a:lnTo>
                  <a:lnTo>
                    <a:pt x="60" y="102"/>
                  </a:lnTo>
                  <a:lnTo>
                    <a:pt x="54" y="102"/>
                  </a:lnTo>
                  <a:lnTo>
                    <a:pt x="54" y="108"/>
                  </a:lnTo>
                  <a:lnTo>
                    <a:pt x="48" y="108"/>
                  </a:lnTo>
                  <a:lnTo>
                    <a:pt x="48" y="102"/>
                  </a:lnTo>
                  <a:lnTo>
                    <a:pt x="42" y="102"/>
                  </a:lnTo>
                  <a:lnTo>
                    <a:pt x="42" y="108"/>
                  </a:lnTo>
                  <a:lnTo>
                    <a:pt x="36" y="108"/>
                  </a:lnTo>
                  <a:lnTo>
                    <a:pt x="36" y="102"/>
                  </a:lnTo>
                  <a:lnTo>
                    <a:pt x="36" y="96"/>
                  </a:lnTo>
                  <a:lnTo>
                    <a:pt x="30" y="96"/>
                  </a:lnTo>
                  <a:lnTo>
                    <a:pt x="24" y="96"/>
                  </a:lnTo>
                  <a:lnTo>
                    <a:pt x="18" y="96"/>
                  </a:lnTo>
                  <a:lnTo>
                    <a:pt x="18" y="102"/>
                  </a:lnTo>
                  <a:lnTo>
                    <a:pt x="12" y="102"/>
                  </a:lnTo>
                  <a:lnTo>
                    <a:pt x="6" y="102"/>
                  </a:lnTo>
                  <a:lnTo>
                    <a:pt x="6" y="96"/>
                  </a:lnTo>
                  <a:lnTo>
                    <a:pt x="0" y="96"/>
                  </a:lnTo>
                  <a:lnTo>
                    <a:pt x="0" y="90"/>
                  </a:lnTo>
                  <a:lnTo>
                    <a:pt x="6" y="90"/>
                  </a:lnTo>
                  <a:lnTo>
                    <a:pt x="6" y="84"/>
                  </a:lnTo>
                  <a:lnTo>
                    <a:pt x="6" y="78"/>
                  </a:lnTo>
                  <a:lnTo>
                    <a:pt x="12" y="78"/>
                  </a:lnTo>
                  <a:lnTo>
                    <a:pt x="12" y="72"/>
                  </a:lnTo>
                  <a:lnTo>
                    <a:pt x="6" y="72"/>
                  </a:lnTo>
                  <a:lnTo>
                    <a:pt x="6" y="66"/>
                  </a:lnTo>
                  <a:lnTo>
                    <a:pt x="6" y="72"/>
                  </a:lnTo>
                  <a:lnTo>
                    <a:pt x="6" y="66"/>
                  </a:lnTo>
                  <a:lnTo>
                    <a:pt x="0" y="66"/>
                  </a:lnTo>
                  <a:lnTo>
                    <a:pt x="0" y="60"/>
                  </a:lnTo>
                  <a:lnTo>
                    <a:pt x="0" y="54"/>
                  </a:lnTo>
                  <a:lnTo>
                    <a:pt x="6" y="54"/>
                  </a:lnTo>
                  <a:lnTo>
                    <a:pt x="12" y="54"/>
                  </a:lnTo>
                  <a:lnTo>
                    <a:pt x="12" y="48"/>
                  </a:lnTo>
                  <a:lnTo>
                    <a:pt x="18" y="48"/>
                  </a:lnTo>
                  <a:lnTo>
                    <a:pt x="18" y="54"/>
                  </a:lnTo>
                  <a:lnTo>
                    <a:pt x="18" y="48"/>
                  </a:lnTo>
                  <a:lnTo>
                    <a:pt x="24" y="42"/>
                  </a:lnTo>
                  <a:lnTo>
                    <a:pt x="18" y="42"/>
                  </a:lnTo>
                  <a:lnTo>
                    <a:pt x="12" y="42"/>
                  </a:lnTo>
                  <a:lnTo>
                    <a:pt x="12" y="36"/>
                  </a:lnTo>
                  <a:lnTo>
                    <a:pt x="12" y="30"/>
                  </a:lnTo>
                  <a:lnTo>
                    <a:pt x="18" y="30"/>
                  </a:lnTo>
                  <a:lnTo>
                    <a:pt x="18" y="24"/>
                  </a:lnTo>
                  <a:lnTo>
                    <a:pt x="24" y="24"/>
                  </a:lnTo>
                  <a:lnTo>
                    <a:pt x="24" y="18"/>
                  </a:lnTo>
                  <a:lnTo>
                    <a:pt x="30" y="18"/>
                  </a:lnTo>
                  <a:lnTo>
                    <a:pt x="24" y="18"/>
                  </a:lnTo>
                  <a:lnTo>
                    <a:pt x="30" y="18"/>
                  </a:lnTo>
                  <a:lnTo>
                    <a:pt x="30" y="12"/>
                  </a:lnTo>
                  <a:lnTo>
                    <a:pt x="36" y="12"/>
                  </a:lnTo>
                  <a:lnTo>
                    <a:pt x="42" y="12"/>
                  </a:lnTo>
                  <a:lnTo>
                    <a:pt x="42" y="6"/>
                  </a:lnTo>
                  <a:lnTo>
                    <a:pt x="48" y="6"/>
                  </a:lnTo>
                  <a:lnTo>
                    <a:pt x="48" y="0"/>
                  </a:lnTo>
                  <a:lnTo>
                    <a:pt x="48" y="6"/>
                  </a:lnTo>
                  <a:lnTo>
                    <a:pt x="54" y="6"/>
                  </a:lnTo>
                  <a:lnTo>
                    <a:pt x="60" y="6"/>
                  </a:lnTo>
                  <a:lnTo>
                    <a:pt x="60" y="12"/>
                  </a:lnTo>
                  <a:lnTo>
                    <a:pt x="60" y="6"/>
                  </a:lnTo>
                  <a:lnTo>
                    <a:pt x="66" y="6"/>
                  </a:lnTo>
                  <a:lnTo>
                    <a:pt x="66" y="12"/>
                  </a:lnTo>
                  <a:lnTo>
                    <a:pt x="66" y="18"/>
                  </a:lnTo>
                  <a:lnTo>
                    <a:pt x="72" y="18"/>
                  </a:lnTo>
                  <a:lnTo>
                    <a:pt x="78" y="24"/>
                  </a:lnTo>
                  <a:lnTo>
                    <a:pt x="78" y="18"/>
                  </a:lnTo>
                  <a:lnTo>
                    <a:pt x="84" y="18"/>
                  </a:lnTo>
                  <a:lnTo>
                    <a:pt x="84" y="24"/>
                  </a:lnTo>
                  <a:lnTo>
                    <a:pt x="90" y="24"/>
                  </a:lnTo>
                  <a:lnTo>
                    <a:pt x="84" y="30"/>
                  </a:lnTo>
                  <a:lnTo>
                    <a:pt x="90" y="30"/>
                  </a:lnTo>
                  <a:lnTo>
                    <a:pt x="96" y="30"/>
                  </a:lnTo>
                  <a:lnTo>
                    <a:pt x="102" y="30"/>
                  </a:lnTo>
                  <a:lnTo>
                    <a:pt x="108" y="30"/>
                  </a:lnTo>
                  <a:lnTo>
                    <a:pt x="114" y="30"/>
                  </a:lnTo>
                  <a:lnTo>
                    <a:pt x="120" y="30"/>
                  </a:lnTo>
                  <a:lnTo>
                    <a:pt x="126" y="30"/>
                  </a:lnTo>
                  <a:lnTo>
                    <a:pt x="126" y="36"/>
                  </a:lnTo>
                  <a:lnTo>
                    <a:pt x="126" y="42"/>
                  </a:lnTo>
                  <a:lnTo>
                    <a:pt x="132" y="42"/>
                  </a:lnTo>
                  <a:lnTo>
                    <a:pt x="138" y="42"/>
                  </a:lnTo>
                  <a:lnTo>
                    <a:pt x="138" y="48"/>
                  </a:lnTo>
                  <a:lnTo>
                    <a:pt x="138" y="54"/>
                  </a:lnTo>
                  <a:lnTo>
                    <a:pt x="138" y="60"/>
                  </a:lnTo>
                  <a:lnTo>
                    <a:pt x="132" y="60"/>
                  </a:lnTo>
                  <a:lnTo>
                    <a:pt x="138" y="66"/>
                  </a:lnTo>
                  <a:lnTo>
                    <a:pt x="138" y="72"/>
                  </a:lnTo>
                  <a:lnTo>
                    <a:pt x="138" y="78"/>
                  </a:lnTo>
                  <a:lnTo>
                    <a:pt x="132" y="78"/>
                  </a:lnTo>
                  <a:lnTo>
                    <a:pt x="138" y="78"/>
                  </a:lnTo>
                  <a:lnTo>
                    <a:pt x="132" y="78"/>
                  </a:lnTo>
                  <a:lnTo>
                    <a:pt x="132" y="84"/>
                  </a:lnTo>
                  <a:lnTo>
                    <a:pt x="132" y="78"/>
                  </a:lnTo>
                  <a:lnTo>
                    <a:pt x="132" y="84"/>
                  </a:lnTo>
                  <a:lnTo>
                    <a:pt x="138" y="84"/>
                  </a:lnTo>
                  <a:lnTo>
                    <a:pt x="138" y="90"/>
                  </a:lnTo>
                  <a:lnTo>
                    <a:pt x="132" y="90"/>
                  </a:lnTo>
                  <a:lnTo>
                    <a:pt x="138" y="90"/>
                  </a:lnTo>
                  <a:lnTo>
                    <a:pt x="138" y="96"/>
                  </a:lnTo>
                  <a:lnTo>
                    <a:pt x="144" y="96"/>
                  </a:lnTo>
                  <a:lnTo>
                    <a:pt x="144" y="102"/>
                  </a:lnTo>
                  <a:lnTo>
                    <a:pt x="150" y="102"/>
                  </a:lnTo>
                  <a:lnTo>
                    <a:pt x="144" y="102"/>
                  </a:lnTo>
                  <a:lnTo>
                    <a:pt x="144" y="108"/>
                  </a:lnTo>
                  <a:lnTo>
                    <a:pt x="138" y="108"/>
                  </a:lnTo>
                  <a:lnTo>
                    <a:pt x="138" y="114"/>
                  </a:lnTo>
                  <a:lnTo>
                    <a:pt x="132" y="114"/>
                  </a:lnTo>
                  <a:lnTo>
                    <a:pt x="138" y="114"/>
                  </a:lnTo>
                  <a:lnTo>
                    <a:pt x="132" y="120"/>
                  </a:lnTo>
                  <a:lnTo>
                    <a:pt x="132" y="126"/>
                  </a:lnTo>
                  <a:close/>
                </a:path>
              </a:pathLst>
            </a:custGeom>
            <a:solidFill>
              <a:schemeClr val="accent1"/>
            </a:solidFill>
            <a:ln w="9525">
              <a:solidFill>
                <a:srgbClr val="B2B2B2"/>
              </a:solidFill>
              <a:round/>
              <a:headEnd/>
              <a:tailEnd/>
            </a:ln>
          </p:spPr>
          <p:txBody>
            <a:bodyPr/>
            <a:lstStyle/>
            <a:p>
              <a:endParaRPr lang="en-CA"/>
            </a:p>
          </p:txBody>
        </p:sp>
        <p:sp>
          <p:nvSpPr>
            <p:cNvPr id="394" name="Freeform 453"/>
            <p:cNvSpPr>
              <a:spLocks/>
            </p:cNvSpPr>
            <p:nvPr>
              <p:custDataLst>
                <p:tags r:id="rId17"/>
              </p:custDataLst>
            </p:nvPr>
          </p:nvSpPr>
          <p:spPr bwMode="gray">
            <a:xfrm>
              <a:off x="901" y="3137"/>
              <a:ext cx="86" cy="78"/>
            </a:xfrm>
            <a:custGeom>
              <a:avLst/>
              <a:gdLst>
                <a:gd name="T0" fmla="*/ 17573142 w 138"/>
                <a:gd name="T1" fmla="*/ 122401995 h 126"/>
                <a:gd name="T2" fmla="*/ 5857714 w 138"/>
                <a:gd name="T3" fmla="*/ 116573376 h 126"/>
                <a:gd name="T4" fmla="*/ 5857714 w 138"/>
                <a:gd name="T5" fmla="*/ 104916136 h 126"/>
                <a:gd name="T6" fmla="*/ 5857714 w 138"/>
                <a:gd name="T7" fmla="*/ 99087517 h 126"/>
                <a:gd name="T8" fmla="*/ 17573142 w 138"/>
                <a:gd name="T9" fmla="*/ 93258897 h 126"/>
                <a:gd name="T10" fmla="*/ 5857714 w 138"/>
                <a:gd name="T11" fmla="*/ 87430277 h 126"/>
                <a:gd name="T12" fmla="*/ 5857714 w 138"/>
                <a:gd name="T13" fmla="*/ 81601658 h 126"/>
                <a:gd name="T14" fmla="*/ 0 w 138"/>
                <a:gd name="T15" fmla="*/ 69944418 h 126"/>
                <a:gd name="T16" fmla="*/ 5857714 w 138"/>
                <a:gd name="T17" fmla="*/ 69944418 h 126"/>
                <a:gd name="T18" fmla="*/ 5857714 w 138"/>
                <a:gd name="T19" fmla="*/ 64115799 h 126"/>
                <a:gd name="T20" fmla="*/ 5857714 w 138"/>
                <a:gd name="T21" fmla="*/ 52457577 h 126"/>
                <a:gd name="T22" fmla="*/ 11715428 w 138"/>
                <a:gd name="T23" fmla="*/ 40800338 h 126"/>
                <a:gd name="T24" fmla="*/ 23429866 w 138"/>
                <a:gd name="T25" fmla="*/ 46628957 h 126"/>
                <a:gd name="T26" fmla="*/ 29287580 w 138"/>
                <a:gd name="T27" fmla="*/ 46628957 h 126"/>
                <a:gd name="T28" fmla="*/ 35145294 w 138"/>
                <a:gd name="T29" fmla="*/ 40800338 h 126"/>
                <a:gd name="T30" fmla="*/ 41003008 w 138"/>
                <a:gd name="T31" fmla="*/ 29143098 h 126"/>
                <a:gd name="T32" fmla="*/ 41003008 w 138"/>
                <a:gd name="T33" fmla="*/ 23314479 h 126"/>
                <a:gd name="T34" fmla="*/ 41003008 w 138"/>
                <a:gd name="T35" fmla="*/ 17485859 h 126"/>
                <a:gd name="T36" fmla="*/ 46860722 w 138"/>
                <a:gd name="T37" fmla="*/ 5828620 h 126"/>
                <a:gd name="T38" fmla="*/ 46860722 w 138"/>
                <a:gd name="T39" fmla="*/ 0 h 126"/>
                <a:gd name="T40" fmla="*/ 46860722 w 138"/>
                <a:gd name="T41" fmla="*/ 5828620 h 126"/>
                <a:gd name="T42" fmla="*/ 52718436 w 138"/>
                <a:gd name="T43" fmla="*/ 5828620 h 126"/>
                <a:gd name="T44" fmla="*/ 58576150 w 138"/>
                <a:gd name="T45" fmla="*/ 5828620 h 126"/>
                <a:gd name="T46" fmla="*/ 64433864 w 138"/>
                <a:gd name="T47" fmla="*/ 17485859 h 126"/>
                <a:gd name="T48" fmla="*/ 70290589 w 138"/>
                <a:gd name="T49" fmla="*/ 17485859 h 126"/>
                <a:gd name="T50" fmla="*/ 82006017 w 138"/>
                <a:gd name="T51" fmla="*/ 11657239 h 126"/>
                <a:gd name="T52" fmla="*/ 87863731 w 138"/>
                <a:gd name="T53" fmla="*/ 0 h 126"/>
                <a:gd name="T54" fmla="*/ 93721445 w 138"/>
                <a:gd name="T55" fmla="*/ 0 h 126"/>
                <a:gd name="T56" fmla="*/ 93721445 w 138"/>
                <a:gd name="T57" fmla="*/ 5828620 h 126"/>
                <a:gd name="T58" fmla="*/ 99579159 w 138"/>
                <a:gd name="T59" fmla="*/ 5828620 h 126"/>
                <a:gd name="T60" fmla="*/ 105436872 w 138"/>
                <a:gd name="T61" fmla="*/ 17485859 h 126"/>
                <a:gd name="T62" fmla="*/ 105436872 w 138"/>
                <a:gd name="T63" fmla="*/ 23314479 h 126"/>
                <a:gd name="T64" fmla="*/ 105436872 w 138"/>
                <a:gd name="T65" fmla="*/ 40800338 h 126"/>
                <a:gd name="T66" fmla="*/ 105436872 w 138"/>
                <a:gd name="T67" fmla="*/ 58286196 h 126"/>
                <a:gd name="T68" fmla="*/ 99579159 w 138"/>
                <a:gd name="T69" fmla="*/ 58286196 h 126"/>
                <a:gd name="T70" fmla="*/ 99579159 w 138"/>
                <a:gd name="T71" fmla="*/ 69944418 h 126"/>
                <a:gd name="T72" fmla="*/ 99579159 w 138"/>
                <a:gd name="T73" fmla="*/ 75773038 h 126"/>
                <a:gd name="T74" fmla="*/ 111294586 w 138"/>
                <a:gd name="T75" fmla="*/ 81601658 h 126"/>
                <a:gd name="T76" fmla="*/ 111294586 w 138"/>
                <a:gd name="T77" fmla="*/ 87430277 h 126"/>
                <a:gd name="T78" fmla="*/ 117151311 w 138"/>
                <a:gd name="T79" fmla="*/ 87430277 h 126"/>
                <a:gd name="T80" fmla="*/ 128866739 w 138"/>
                <a:gd name="T81" fmla="*/ 99087517 h 126"/>
                <a:gd name="T82" fmla="*/ 134724453 w 138"/>
                <a:gd name="T83" fmla="*/ 99087517 h 126"/>
                <a:gd name="T84" fmla="*/ 134724453 w 138"/>
                <a:gd name="T85" fmla="*/ 104916136 h 126"/>
                <a:gd name="T86" fmla="*/ 128866739 w 138"/>
                <a:gd name="T87" fmla="*/ 116573376 h 126"/>
                <a:gd name="T88" fmla="*/ 117151311 w 138"/>
                <a:gd name="T89" fmla="*/ 122401995 h 126"/>
                <a:gd name="T90" fmla="*/ 111294586 w 138"/>
                <a:gd name="T91" fmla="*/ 122401995 h 126"/>
                <a:gd name="T92" fmla="*/ 105436872 w 138"/>
                <a:gd name="T93" fmla="*/ 116573376 h 126"/>
                <a:gd name="T94" fmla="*/ 99579159 w 138"/>
                <a:gd name="T95" fmla="*/ 116573376 h 126"/>
                <a:gd name="T96" fmla="*/ 93721445 w 138"/>
                <a:gd name="T97" fmla="*/ 122401995 h 126"/>
                <a:gd name="T98" fmla="*/ 82006017 w 138"/>
                <a:gd name="T99" fmla="*/ 116573376 h 126"/>
                <a:gd name="T100" fmla="*/ 70290589 w 138"/>
                <a:gd name="T101" fmla="*/ 110744756 h 126"/>
                <a:gd name="T102" fmla="*/ 58576150 w 138"/>
                <a:gd name="T103" fmla="*/ 116573376 h 126"/>
                <a:gd name="T104" fmla="*/ 46860722 w 138"/>
                <a:gd name="T105" fmla="*/ 116573376 h 126"/>
                <a:gd name="T106" fmla="*/ 41003008 w 138"/>
                <a:gd name="T107" fmla="*/ 116573376 h 126"/>
                <a:gd name="T108" fmla="*/ 35145294 w 138"/>
                <a:gd name="T109" fmla="*/ 116573376 h 12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8"/>
                <a:gd name="T166" fmla="*/ 0 h 126"/>
                <a:gd name="T167" fmla="*/ 138 w 138"/>
                <a:gd name="T168" fmla="*/ 126 h 12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8" h="126">
                  <a:moveTo>
                    <a:pt x="24" y="120"/>
                  </a:moveTo>
                  <a:lnTo>
                    <a:pt x="24" y="126"/>
                  </a:lnTo>
                  <a:lnTo>
                    <a:pt x="18" y="126"/>
                  </a:lnTo>
                  <a:lnTo>
                    <a:pt x="12" y="126"/>
                  </a:lnTo>
                  <a:lnTo>
                    <a:pt x="6" y="126"/>
                  </a:lnTo>
                  <a:lnTo>
                    <a:pt x="6" y="120"/>
                  </a:lnTo>
                  <a:lnTo>
                    <a:pt x="0" y="120"/>
                  </a:lnTo>
                  <a:lnTo>
                    <a:pt x="0" y="114"/>
                  </a:lnTo>
                  <a:lnTo>
                    <a:pt x="6" y="108"/>
                  </a:lnTo>
                  <a:lnTo>
                    <a:pt x="0" y="108"/>
                  </a:lnTo>
                  <a:lnTo>
                    <a:pt x="6" y="108"/>
                  </a:lnTo>
                  <a:lnTo>
                    <a:pt x="6" y="102"/>
                  </a:lnTo>
                  <a:lnTo>
                    <a:pt x="12" y="102"/>
                  </a:lnTo>
                  <a:lnTo>
                    <a:pt x="12" y="96"/>
                  </a:lnTo>
                  <a:lnTo>
                    <a:pt x="18" y="96"/>
                  </a:lnTo>
                  <a:lnTo>
                    <a:pt x="12" y="96"/>
                  </a:lnTo>
                  <a:lnTo>
                    <a:pt x="12" y="90"/>
                  </a:lnTo>
                  <a:lnTo>
                    <a:pt x="6" y="90"/>
                  </a:lnTo>
                  <a:lnTo>
                    <a:pt x="6" y="84"/>
                  </a:lnTo>
                  <a:lnTo>
                    <a:pt x="0" y="84"/>
                  </a:lnTo>
                  <a:lnTo>
                    <a:pt x="6" y="84"/>
                  </a:lnTo>
                  <a:lnTo>
                    <a:pt x="6" y="78"/>
                  </a:lnTo>
                  <a:lnTo>
                    <a:pt x="0" y="78"/>
                  </a:lnTo>
                  <a:lnTo>
                    <a:pt x="0" y="72"/>
                  </a:lnTo>
                  <a:lnTo>
                    <a:pt x="0" y="78"/>
                  </a:lnTo>
                  <a:lnTo>
                    <a:pt x="0" y="72"/>
                  </a:lnTo>
                  <a:lnTo>
                    <a:pt x="6" y="72"/>
                  </a:lnTo>
                  <a:lnTo>
                    <a:pt x="0" y="72"/>
                  </a:lnTo>
                  <a:lnTo>
                    <a:pt x="6" y="72"/>
                  </a:lnTo>
                  <a:lnTo>
                    <a:pt x="6" y="66"/>
                  </a:lnTo>
                  <a:lnTo>
                    <a:pt x="6" y="60"/>
                  </a:lnTo>
                  <a:lnTo>
                    <a:pt x="0" y="54"/>
                  </a:lnTo>
                  <a:lnTo>
                    <a:pt x="6" y="54"/>
                  </a:lnTo>
                  <a:lnTo>
                    <a:pt x="6" y="48"/>
                  </a:lnTo>
                  <a:lnTo>
                    <a:pt x="6" y="42"/>
                  </a:lnTo>
                  <a:lnTo>
                    <a:pt x="12" y="42"/>
                  </a:lnTo>
                  <a:lnTo>
                    <a:pt x="18" y="42"/>
                  </a:lnTo>
                  <a:lnTo>
                    <a:pt x="24" y="42"/>
                  </a:lnTo>
                  <a:lnTo>
                    <a:pt x="24" y="48"/>
                  </a:lnTo>
                  <a:lnTo>
                    <a:pt x="24" y="42"/>
                  </a:lnTo>
                  <a:lnTo>
                    <a:pt x="24" y="48"/>
                  </a:lnTo>
                  <a:lnTo>
                    <a:pt x="30" y="48"/>
                  </a:lnTo>
                  <a:lnTo>
                    <a:pt x="36" y="42"/>
                  </a:lnTo>
                  <a:lnTo>
                    <a:pt x="36" y="48"/>
                  </a:lnTo>
                  <a:lnTo>
                    <a:pt x="36" y="42"/>
                  </a:lnTo>
                  <a:lnTo>
                    <a:pt x="42" y="42"/>
                  </a:lnTo>
                  <a:lnTo>
                    <a:pt x="42" y="36"/>
                  </a:lnTo>
                  <a:lnTo>
                    <a:pt x="42" y="30"/>
                  </a:lnTo>
                  <a:lnTo>
                    <a:pt x="36" y="30"/>
                  </a:lnTo>
                  <a:lnTo>
                    <a:pt x="42" y="30"/>
                  </a:lnTo>
                  <a:lnTo>
                    <a:pt x="42" y="24"/>
                  </a:lnTo>
                  <a:lnTo>
                    <a:pt x="36" y="24"/>
                  </a:lnTo>
                  <a:lnTo>
                    <a:pt x="36" y="18"/>
                  </a:lnTo>
                  <a:lnTo>
                    <a:pt x="42" y="18"/>
                  </a:lnTo>
                  <a:lnTo>
                    <a:pt x="48" y="18"/>
                  </a:lnTo>
                  <a:lnTo>
                    <a:pt x="48" y="12"/>
                  </a:lnTo>
                  <a:lnTo>
                    <a:pt x="48" y="6"/>
                  </a:lnTo>
                  <a:lnTo>
                    <a:pt x="42" y="6"/>
                  </a:lnTo>
                  <a:lnTo>
                    <a:pt x="48" y="6"/>
                  </a:lnTo>
                  <a:lnTo>
                    <a:pt x="48" y="0"/>
                  </a:lnTo>
                  <a:lnTo>
                    <a:pt x="48" y="6"/>
                  </a:lnTo>
                  <a:lnTo>
                    <a:pt x="48" y="0"/>
                  </a:lnTo>
                  <a:lnTo>
                    <a:pt x="48" y="6"/>
                  </a:lnTo>
                  <a:lnTo>
                    <a:pt x="48" y="0"/>
                  </a:lnTo>
                  <a:lnTo>
                    <a:pt x="54" y="0"/>
                  </a:lnTo>
                  <a:lnTo>
                    <a:pt x="54" y="6"/>
                  </a:lnTo>
                  <a:lnTo>
                    <a:pt x="54" y="0"/>
                  </a:lnTo>
                  <a:lnTo>
                    <a:pt x="60" y="0"/>
                  </a:lnTo>
                  <a:lnTo>
                    <a:pt x="60" y="6"/>
                  </a:lnTo>
                  <a:lnTo>
                    <a:pt x="66" y="6"/>
                  </a:lnTo>
                  <a:lnTo>
                    <a:pt x="66" y="12"/>
                  </a:lnTo>
                  <a:lnTo>
                    <a:pt x="66" y="18"/>
                  </a:lnTo>
                  <a:lnTo>
                    <a:pt x="66" y="12"/>
                  </a:lnTo>
                  <a:lnTo>
                    <a:pt x="72" y="12"/>
                  </a:lnTo>
                  <a:lnTo>
                    <a:pt x="72" y="18"/>
                  </a:lnTo>
                  <a:lnTo>
                    <a:pt x="72" y="12"/>
                  </a:lnTo>
                  <a:lnTo>
                    <a:pt x="78" y="12"/>
                  </a:lnTo>
                  <a:lnTo>
                    <a:pt x="84" y="12"/>
                  </a:lnTo>
                  <a:lnTo>
                    <a:pt x="84" y="6"/>
                  </a:lnTo>
                  <a:lnTo>
                    <a:pt x="90" y="6"/>
                  </a:lnTo>
                  <a:lnTo>
                    <a:pt x="90" y="0"/>
                  </a:lnTo>
                  <a:lnTo>
                    <a:pt x="96" y="0"/>
                  </a:lnTo>
                  <a:lnTo>
                    <a:pt x="90" y="0"/>
                  </a:lnTo>
                  <a:lnTo>
                    <a:pt x="96" y="0"/>
                  </a:lnTo>
                  <a:lnTo>
                    <a:pt x="96" y="6"/>
                  </a:lnTo>
                  <a:lnTo>
                    <a:pt x="96" y="0"/>
                  </a:lnTo>
                  <a:lnTo>
                    <a:pt x="96" y="6"/>
                  </a:lnTo>
                  <a:lnTo>
                    <a:pt x="102" y="6"/>
                  </a:lnTo>
                  <a:lnTo>
                    <a:pt x="96" y="6"/>
                  </a:lnTo>
                  <a:lnTo>
                    <a:pt x="102" y="6"/>
                  </a:lnTo>
                  <a:lnTo>
                    <a:pt x="102" y="12"/>
                  </a:lnTo>
                  <a:lnTo>
                    <a:pt x="108" y="12"/>
                  </a:lnTo>
                  <a:lnTo>
                    <a:pt x="108" y="18"/>
                  </a:lnTo>
                  <a:lnTo>
                    <a:pt x="114" y="18"/>
                  </a:lnTo>
                  <a:lnTo>
                    <a:pt x="114" y="24"/>
                  </a:lnTo>
                  <a:lnTo>
                    <a:pt x="108" y="24"/>
                  </a:lnTo>
                  <a:lnTo>
                    <a:pt x="108" y="30"/>
                  </a:lnTo>
                  <a:lnTo>
                    <a:pt x="108" y="36"/>
                  </a:lnTo>
                  <a:lnTo>
                    <a:pt x="108" y="42"/>
                  </a:lnTo>
                  <a:lnTo>
                    <a:pt x="108" y="48"/>
                  </a:lnTo>
                  <a:lnTo>
                    <a:pt x="108" y="54"/>
                  </a:lnTo>
                  <a:lnTo>
                    <a:pt x="108" y="60"/>
                  </a:lnTo>
                  <a:lnTo>
                    <a:pt x="108" y="66"/>
                  </a:lnTo>
                  <a:lnTo>
                    <a:pt x="108" y="60"/>
                  </a:lnTo>
                  <a:lnTo>
                    <a:pt x="102" y="60"/>
                  </a:lnTo>
                  <a:lnTo>
                    <a:pt x="108" y="66"/>
                  </a:lnTo>
                  <a:lnTo>
                    <a:pt x="102" y="66"/>
                  </a:lnTo>
                  <a:lnTo>
                    <a:pt x="102" y="72"/>
                  </a:lnTo>
                  <a:lnTo>
                    <a:pt x="102" y="78"/>
                  </a:lnTo>
                  <a:lnTo>
                    <a:pt x="108" y="78"/>
                  </a:lnTo>
                  <a:lnTo>
                    <a:pt x="102" y="78"/>
                  </a:lnTo>
                  <a:lnTo>
                    <a:pt x="108" y="78"/>
                  </a:lnTo>
                  <a:lnTo>
                    <a:pt x="108" y="84"/>
                  </a:lnTo>
                  <a:lnTo>
                    <a:pt x="114" y="84"/>
                  </a:lnTo>
                  <a:lnTo>
                    <a:pt x="120" y="84"/>
                  </a:lnTo>
                  <a:lnTo>
                    <a:pt x="120" y="90"/>
                  </a:lnTo>
                  <a:lnTo>
                    <a:pt x="114" y="90"/>
                  </a:lnTo>
                  <a:lnTo>
                    <a:pt x="120" y="90"/>
                  </a:lnTo>
                  <a:lnTo>
                    <a:pt x="120" y="96"/>
                  </a:lnTo>
                  <a:lnTo>
                    <a:pt x="120" y="90"/>
                  </a:lnTo>
                  <a:lnTo>
                    <a:pt x="126" y="96"/>
                  </a:lnTo>
                  <a:lnTo>
                    <a:pt x="132" y="96"/>
                  </a:lnTo>
                  <a:lnTo>
                    <a:pt x="132" y="102"/>
                  </a:lnTo>
                  <a:lnTo>
                    <a:pt x="132" y="96"/>
                  </a:lnTo>
                  <a:lnTo>
                    <a:pt x="132" y="102"/>
                  </a:lnTo>
                  <a:lnTo>
                    <a:pt x="138" y="102"/>
                  </a:lnTo>
                  <a:lnTo>
                    <a:pt x="138" y="108"/>
                  </a:lnTo>
                  <a:lnTo>
                    <a:pt x="138" y="102"/>
                  </a:lnTo>
                  <a:lnTo>
                    <a:pt x="138" y="108"/>
                  </a:lnTo>
                  <a:lnTo>
                    <a:pt x="132" y="108"/>
                  </a:lnTo>
                  <a:lnTo>
                    <a:pt x="132" y="114"/>
                  </a:lnTo>
                  <a:lnTo>
                    <a:pt x="132" y="120"/>
                  </a:lnTo>
                  <a:lnTo>
                    <a:pt x="126" y="120"/>
                  </a:lnTo>
                  <a:lnTo>
                    <a:pt x="126" y="126"/>
                  </a:lnTo>
                  <a:lnTo>
                    <a:pt x="120" y="126"/>
                  </a:lnTo>
                  <a:lnTo>
                    <a:pt x="120" y="120"/>
                  </a:lnTo>
                  <a:lnTo>
                    <a:pt x="120" y="126"/>
                  </a:lnTo>
                  <a:lnTo>
                    <a:pt x="114" y="126"/>
                  </a:lnTo>
                  <a:lnTo>
                    <a:pt x="114" y="120"/>
                  </a:lnTo>
                  <a:lnTo>
                    <a:pt x="114" y="126"/>
                  </a:lnTo>
                  <a:lnTo>
                    <a:pt x="108" y="120"/>
                  </a:lnTo>
                  <a:lnTo>
                    <a:pt x="108" y="126"/>
                  </a:lnTo>
                  <a:lnTo>
                    <a:pt x="102" y="126"/>
                  </a:lnTo>
                  <a:lnTo>
                    <a:pt x="102" y="120"/>
                  </a:lnTo>
                  <a:lnTo>
                    <a:pt x="96" y="126"/>
                  </a:lnTo>
                  <a:lnTo>
                    <a:pt x="102" y="126"/>
                  </a:lnTo>
                  <a:lnTo>
                    <a:pt x="96" y="126"/>
                  </a:lnTo>
                  <a:lnTo>
                    <a:pt x="90" y="126"/>
                  </a:lnTo>
                  <a:lnTo>
                    <a:pt x="78" y="120"/>
                  </a:lnTo>
                  <a:lnTo>
                    <a:pt x="84" y="120"/>
                  </a:lnTo>
                  <a:lnTo>
                    <a:pt x="78" y="120"/>
                  </a:lnTo>
                  <a:lnTo>
                    <a:pt x="78" y="114"/>
                  </a:lnTo>
                  <a:lnTo>
                    <a:pt x="72" y="114"/>
                  </a:lnTo>
                  <a:lnTo>
                    <a:pt x="66" y="114"/>
                  </a:lnTo>
                  <a:lnTo>
                    <a:pt x="60" y="114"/>
                  </a:lnTo>
                  <a:lnTo>
                    <a:pt x="60" y="120"/>
                  </a:lnTo>
                  <a:lnTo>
                    <a:pt x="54" y="114"/>
                  </a:lnTo>
                  <a:lnTo>
                    <a:pt x="48" y="114"/>
                  </a:lnTo>
                  <a:lnTo>
                    <a:pt x="48" y="120"/>
                  </a:lnTo>
                  <a:lnTo>
                    <a:pt x="48" y="114"/>
                  </a:lnTo>
                  <a:lnTo>
                    <a:pt x="42" y="114"/>
                  </a:lnTo>
                  <a:lnTo>
                    <a:pt x="42" y="120"/>
                  </a:lnTo>
                  <a:lnTo>
                    <a:pt x="42" y="114"/>
                  </a:lnTo>
                  <a:lnTo>
                    <a:pt x="36" y="114"/>
                  </a:lnTo>
                  <a:lnTo>
                    <a:pt x="36" y="120"/>
                  </a:lnTo>
                  <a:lnTo>
                    <a:pt x="30" y="120"/>
                  </a:lnTo>
                  <a:lnTo>
                    <a:pt x="24" y="120"/>
                  </a:lnTo>
                  <a:close/>
                </a:path>
              </a:pathLst>
            </a:custGeom>
            <a:solidFill>
              <a:schemeClr val="accent1"/>
            </a:solidFill>
            <a:ln w="9525">
              <a:solidFill>
                <a:srgbClr val="B2B2B2"/>
              </a:solidFill>
              <a:round/>
              <a:headEnd/>
              <a:tailEnd/>
            </a:ln>
          </p:spPr>
          <p:txBody>
            <a:bodyPr/>
            <a:lstStyle/>
            <a:p>
              <a:endParaRPr lang="en-CA"/>
            </a:p>
          </p:txBody>
        </p:sp>
        <p:sp>
          <p:nvSpPr>
            <p:cNvPr id="395" name="Freeform 454"/>
            <p:cNvSpPr>
              <a:spLocks/>
            </p:cNvSpPr>
            <p:nvPr>
              <p:custDataLst>
                <p:tags r:id="rId18"/>
              </p:custDataLst>
            </p:nvPr>
          </p:nvSpPr>
          <p:spPr bwMode="gray">
            <a:xfrm>
              <a:off x="912" y="3208"/>
              <a:ext cx="138" cy="116"/>
            </a:xfrm>
            <a:custGeom>
              <a:avLst/>
              <a:gdLst>
                <a:gd name="T0" fmla="*/ 203953891 w 222"/>
                <a:gd name="T1" fmla="*/ 58948791 h 186"/>
                <a:gd name="T2" fmla="*/ 192299496 w 222"/>
                <a:gd name="T3" fmla="*/ 64843571 h 186"/>
                <a:gd name="T4" fmla="*/ 168990705 w 222"/>
                <a:gd name="T5" fmla="*/ 64843571 h 186"/>
                <a:gd name="T6" fmla="*/ 145680928 w 222"/>
                <a:gd name="T7" fmla="*/ 82527912 h 186"/>
                <a:gd name="T8" fmla="*/ 139853730 w 222"/>
                <a:gd name="T9" fmla="*/ 94318462 h 186"/>
                <a:gd name="T10" fmla="*/ 151508125 w 222"/>
                <a:gd name="T11" fmla="*/ 112002802 h 186"/>
                <a:gd name="T12" fmla="*/ 145680928 w 222"/>
                <a:gd name="T13" fmla="*/ 135581923 h 186"/>
                <a:gd name="T14" fmla="*/ 139853730 w 222"/>
                <a:gd name="T15" fmla="*/ 147371483 h 186"/>
                <a:gd name="T16" fmla="*/ 128199335 w 222"/>
                <a:gd name="T17" fmla="*/ 159162033 h 186"/>
                <a:gd name="T18" fmla="*/ 116544940 w 222"/>
                <a:gd name="T19" fmla="*/ 170951593 h 186"/>
                <a:gd name="T20" fmla="*/ 99063347 w 222"/>
                <a:gd name="T21" fmla="*/ 176846373 h 186"/>
                <a:gd name="T22" fmla="*/ 81581754 w 222"/>
                <a:gd name="T23" fmla="*/ 182741153 h 186"/>
                <a:gd name="T24" fmla="*/ 69927358 w 222"/>
                <a:gd name="T25" fmla="*/ 170951593 h 186"/>
                <a:gd name="T26" fmla="*/ 52444779 w 222"/>
                <a:gd name="T27" fmla="*/ 165056813 h 186"/>
                <a:gd name="T28" fmla="*/ 52444779 w 222"/>
                <a:gd name="T29" fmla="*/ 147371483 h 186"/>
                <a:gd name="T30" fmla="*/ 46617581 w 222"/>
                <a:gd name="T31" fmla="*/ 141476703 h 186"/>
                <a:gd name="T32" fmla="*/ 40790383 w 222"/>
                <a:gd name="T33" fmla="*/ 123792362 h 186"/>
                <a:gd name="T34" fmla="*/ 40790383 w 222"/>
                <a:gd name="T35" fmla="*/ 112002802 h 186"/>
                <a:gd name="T36" fmla="*/ 40790383 w 222"/>
                <a:gd name="T37" fmla="*/ 100213242 h 186"/>
                <a:gd name="T38" fmla="*/ 23308791 w 222"/>
                <a:gd name="T39" fmla="*/ 94318462 h 186"/>
                <a:gd name="T40" fmla="*/ 29135988 w 222"/>
                <a:gd name="T41" fmla="*/ 88422692 h 186"/>
                <a:gd name="T42" fmla="*/ 34963186 w 222"/>
                <a:gd name="T43" fmla="*/ 82527912 h 186"/>
                <a:gd name="T44" fmla="*/ 29135988 w 222"/>
                <a:gd name="T45" fmla="*/ 76633131 h 186"/>
                <a:gd name="T46" fmla="*/ 17481593 w 222"/>
                <a:gd name="T47" fmla="*/ 70738351 h 186"/>
                <a:gd name="T48" fmla="*/ 17481593 w 222"/>
                <a:gd name="T49" fmla="*/ 64843571 h 186"/>
                <a:gd name="T50" fmla="*/ 11654395 w 222"/>
                <a:gd name="T51" fmla="*/ 58948791 h 186"/>
                <a:gd name="T52" fmla="*/ 5827198 w 222"/>
                <a:gd name="T53" fmla="*/ 41264451 h 186"/>
                <a:gd name="T54" fmla="*/ 5827198 w 222"/>
                <a:gd name="T55" fmla="*/ 29473901 h 186"/>
                <a:gd name="T56" fmla="*/ 11654395 w 222"/>
                <a:gd name="T57" fmla="*/ 17684340 h 186"/>
                <a:gd name="T58" fmla="*/ 11654395 w 222"/>
                <a:gd name="T59" fmla="*/ 5894780 h 186"/>
                <a:gd name="T60" fmla="*/ 23308791 w 222"/>
                <a:gd name="T61" fmla="*/ 5894780 h 186"/>
                <a:gd name="T62" fmla="*/ 29135988 w 222"/>
                <a:gd name="T63" fmla="*/ 0 h 186"/>
                <a:gd name="T64" fmla="*/ 46617581 w 222"/>
                <a:gd name="T65" fmla="*/ 0 h 186"/>
                <a:gd name="T66" fmla="*/ 64100161 w 222"/>
                <a:gd name="T67" fmla="*/ 5894780 h 186"/>
                <a:gd name="T68" fmla="*/ 81581754 w 222"/>
                <a:gd name="T69" fmla="*/ 11789560 h 186"/>
                <a:gd name="T70" fmla="*/ 87408951 w 222"/>
                <a:gd name="T71" fmla="*/ 11789560 h 186"/>
                <a:gd name="T72" fmla="*/ 93236149 w 222"/>
                <a:gd name="T73" fmla="*/ 11789560 h 186"/>
                <a:gd name="T74" fmla="*/ 104890544 w 222"/>
                <a:gd name="T75" fmla="*/ 11789560 h 186"/>
                <a:gd name="T76" fmla="*/ 128199335 w 222"/>
                <a:gd name="T77" fmla="*/ 17684340 h 186"/>
                <a:gd name="T78" fmla="*/ 122372137 w 222"/>
                <a:gd name="T79" fmla="*/ 23579120 h 186"/>
                <a:gd name="T80" fmla="*/ 128199335 w 222"/>
                <a:gd name="T81" fmla="*/ 29473901 h 186"/>
                <a:gd name="T82" fmla="*/ 145680928 w 222"/>
                <a:gd name="T83" fmla="*/ 23579120 h 186"/>
                <a:gd name="T84" fmla="*/ 145680928 w 222"/>
                <a:gd name="T85" fmla="*/ 23579120 h 186"/>
                <a:gd name="T86" fmla="*/ 163163507 w 222"/>
                <a:gd name="T87" fmla="*/ 29473901 h 186"/>
                <a:gd name="T88" fmla="*/ 180645100 w 222"/>
                <a:gd name="T89" fmla="*/ 35369671 h 186"/>
                <a:gd name="T90" fmla="*/ 180645100 w 222"/>
                <a:gd name="T91" fmla="*/ 23579120 h 186"/>
                <a:gd name="T92" fmla="*/ 186472298 w 222"/>
                <a:gd name="T93" fmla="*/ 29473901 h 186"/>
                <a:gd name="T94" fmla="*/ 198126693 w 222"/>
                <a:gd name="T95" fmla="*/ 41264451 h 186"/>
                <a:gd name="T96" fmla="*/ 209781089 w 222"/>
                <a:gd name="T97" fmla="*/ 53054011 h 186"/>
                <a:gd name="T98" fmla="*/ 209781089 w 222"/>
                <a:gd name="T99" fmla="*/ 58948791 h 18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22"/>
                <a:gd name="T151" fmla="*/ 0 h 186"/>
                <a:gd name="T152" fmla="*/ 222 w 222"/>
                <a:gd name="T153" fmla="*/ 186 h 18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22" h="186">
                  <a:moveTo>
                    <a:pt x="216" y="66"/>
                  </a:moveTo>
                  <a:lnTo>
                    <a:pt x="216" y="60"/>
                  </a:lnTo>
                  <a:lnTo>
                    <a:pt x="210" y="66"/>
                  </a:lnTo>
                  <a:lnTo>
                    <a:pt x="210" y="60"/>
                  </a:lnTo>
                  <a:lnTo>
                    <a:pt x="210" y="66"/>
                  </a:lnTo>
                  <a:lnTo>
                    <a:pt x="204" y="72"/>
                  </a:lnTo>
                  <a:lnTo>
                    <a:pt x="198" y="72"/>
                  </a:lnTo>
                  <a:lnTo>
                    <a:pt x="198" y="66"/>
                  </a:lnTo>
                  <a:lnTo>
                    <a:pt x="192" y="72"/>
                  </a:lnTo>
                  <a:lnTo>
                    <a:pt x="186" y="72"/>
                  </a:lnTo>
                  <a:lnTo>
                    <a:pt x="180" y="66"/>
                  </a:lnTo>
                  <a:lnTo>
                    <a:pt x="174" y="66"/>
                  </a:lnTo>
                  <a:lnTo>
                    <a:pt x="168" y="72"/>
                  </a:lnTo>
                  <a:lnTo>
                    <a:pt x="168" y="78"/>
                  </a:lnTo>
                  <a:lnTo>
                    <a:pt x="156" y="84"/>
                  </a:lnTo>
                  <a:lnTo>
                    <a:pt x="150" y="84"/>
                  </a:lnTo>
                  <a:lnTo>
                    <a:pt x="150" y="90"/>
                  </a:lnTo>
                  <a:lnTo>
                    <a:pt x="144" y="96"/>
                  </a:lnTo>
                  <a:lnTo>
                    <a:pt x="138" y="96"/>
                  </a:lnTo>
                  <a:lnTo>
                    <a:pt x="144" y="96"/>
                  </a:lnTo>
                  <a:lnTo>
                    <a:pt x="150" y="102"/>
                  </a:lnTo>
                  <a:lnTo>
                    <a:pt x="150" y="108"/>
                  </a:lnTo>
                  <a:lnTo>
                    <a:pt x="156" y="108"/>
                  </a:lnTo>
                  <a:lnTo>
                    <a:pt x="156" y="114"/>
                  </a:lnTo>
                  <a:lnTo>
                    <a:pt x="150" y="114"/>
                  </a:lnTo>
                  <a:lnTo>
                    <a:pt x="156" y="126"/>
                  </a:lnTo>
                  <a:lnTo>
                    <a:pt x="150" y="132"/>
                  </a:lnTo>
                  <a:lnTo>
                    <a:pt x="150" y="138"/>
                  </a:lnTo>
                  <a:lnTo>
                    <a:pt x="144" y="138"/>
                  </a:lnTo>
                  <a:lnTo>
                    <a:pt x="150" y="144"/>
                  </a:lnTo>
                  <a:lnTo>
                    <a:pt x="144" y="144"/>
                  </a:lnTo>
                  <a:lnTo>
                    <a:pt x="144" y="150"/>
                  </a:lnTo>
                  <a:lnTo>
                    <a:pt x="138" y="150"/>
                  </a:lnTo>
                  <a:lnTo>
                    <a:pt x="138" y="156"/>
                  </a:lnTo>
                  <a:lnTo>
                    <a:pt x="132" y="156"/>
                  </a:lnTo>
                  <a:lnTo>
                    <a:pt x="132" y="162"/>
                  </a:lnTo>
                  <a:lnTo>
                    <a:pt x="132" y="168"/>
                  </a:lnTo>
                  <a:lnTo>
                    <a:pt x="132" y="174"/>
                  </a:lnTo>
                  <a:lnTo>
                    <a:pt x="126" y="174"/>
                  </a:lnTo>
                  <a:lnTo>
                    <a:pt x="120" y="174"/>
                  </a:lnTo>
                  <a:lnTo>
                    <a:pt x="114" y="174"/>
                  </a:lnTo>
                  <a:lnTo>
                    <a:pt x="114" y="180"/>
                  </a:lnTo>
                  <a:lnTo>
                    <a:pt x="108" y="180"/>
                  </a:lnTo>
                  <a:lnTo>
                    <a:pt x="102" y="180"/>
                  </a:lnTo>
                  <a:lnTo>
                    <a:pt x="96" y="180"/>
                  </a:lnTo>
                  <a:lnTo>
                    <a:pt x="90" y="180"/>
                  </a:lnTo>
                  <a:lnTo>
                    <a:pt x="84" y="180"/>
                  </a:lnTo>
                  <a:lnTo>
                    <a:pt x="84" y="186"/>
                  </a:lnTo>
                  <a:lnTo>
                    <a:pt x="78" y="186"/>
                  </a:lnTo>
                  <a:lnTo>
                    <a:pt x="78" y="180"/>
                  </a:lnTo>
                  <a:lnTo>
                    <a:pt x="72" y="180"/>
                  </a:lnTo>
                  <a:lnTo>
                    <a:pt x="72" y="174"/>
                  </a:lnTo>
                  <a:lnTo>
                    <a:pt x="66" y="174"/>
                  </a:lnTo>
                  <a:lnTo>
                    <a:pt x="66" y="168"/>
                  </a:lnTo>
                  <a:lnTo>
                    <a:pt x="60" y="168"/>
                  </a:lnTo>
                  <a:lnTo>
                    <a:pt x="54" y="168"/>
                  </a:lnTo>
                  <a:lnTo>
                    <a:pt x="48" y="168"/>
                  </a:lnTo>
                  <a:lnTo>
                    <a:pt x="48" y="162"/>
                  </a:lnTo>
                  <a:lnTo>
                    <a:pt x="48" y="156"/>
                  </a:lnTo>
                  <a:lnTo>
                    <a:pt x="54" y="150"/>
                  </a:lnTo>
                  <a:lnTo>
                    <a:pt x="48" y="150"/>
                  </a:lnTo>
                  <a:lnTo>
                    <a:pt x="48" y="144"/>
                  </a:lnTo>
                  <a:lnTo>
                    <a:pt x="54" y="144"/>
                  </a:lnTo>
                  <a:lnTo>
                    <a:pt x="48" y="144"/>
                  </a:lnTo>
                  <a:lnTo>
                    <a:pt x="42" y="138"/>
                  </a:lnTo>
                  <a:lnTo>
                    <a:pt x="48" y="138"/>
                  </a:lnTo>
                  <a:lnTo>
                    <a:pt x="42" y="132"/>
                  </a:lnTo>
                  <a:lnTo>
                    <a:pt x="42" y="126"/>
                  </a:lnTo>
                  <a:lnTo>
                    <a:pt x="42" y="120"/>
                  </a:lnTo>
                  <a:lnTo>
                    <a:pt x="42" y="114"/>
                  </a:lnTo>
                  <a:lnTo>
                    <a:pt x="48" y="114"/>
                  </a:lnTo>
                  <a:lnTo>
                    <a:pt x="42" y="114"/>
                  </a:lnTo>
                  <a:lnTo>
                    <a:pt x="42" y="108"/>
                  </a:lnTo>
                  <a:lnTo>
                    <a:pt x="48" y="108"/>
                  </a:lnTo>
                  <a:lnTo>
                    <a:pt x="42" y="108"/>
                  </a:lnTo>
                  <a:lnTo>
                    <a:pt x="42" y="102"/>
                  </a:lnTo>
                  <a:lnTo>
                    <a:pt x="36" y="102"/>
                  </a:lnTo>
                  <a:lnTo>
                    <a:pt x="30" y="102"/>
                  </a:lnTo>
                  <a:lnTo>
                    <a:pt x="30" y="96"/>
                  </a:lnTo>
                  <a:lnTo>
                    <a:pt x="24" y="96"/>
                  </a:lnTo>
                  <a:lnTo>
                    <a:pt x="24" y="90"/>
                  </a:lnTo>
                  <a:lnTo>
                    <a:pt x="30" y="90"/>
                  </a:lnTo>
                  <a:lnTo>
                    <a:pt x="24" y="90"/>
                  </a:lnTo>
                  <a:lnTo>
                    <a:pt x="30" y="90"/>
                  </a:lnTo>
                  <a:lnTo>
                    <a:pt x="30" y="84"/>
                  </a:lnTo>
                  <a:lnTo>
                    <a:pt x="30" y="90"/>
                  </a:lnTo>
                  <a:lnTo>
                    <a:pt x="30" y="84"/>
                  </a:lnTo>
                  <a:lnTo>
                    <a:pt x="36" y="84"/>
                  </a:lnTo>
                  <a:lnTo>
                    <a:pt x="30" y="84"/>
                  </a:lnTo>
                  <a:lnTo>
                    <a:pt x="30" y="78"/>
                  </a:lnTo>
                  <a:lnTo>
                    <a:pt x="36" y="78"/>
                  </a:lnTo>
                  <a:lnTo>
                    <a:pt x="30" y="78"/>
                  </a:lnTo>
                  <a:lnTo>
                    <a:pt x="30" y="72"/>
                  </a:lnTo>
                  <a:lnTo>
                    <a:pt x="24" y="78"/>
                  </a:lnTo>
                  <a:lnTo>
                    <a:pt x="18" y="78"/>
                  </a:lnTo>
                  <a:lnTo>
                    <a:pt x="18" y="72"/>
                  </a:lnTo>
                  <a:lnTo>
                    <a:pt x="12" y="78"/>
                  </a:lnTo>
                  <a:lnTo>
                    <a:pt x="12" y="72"/>
                  </a:lnTo>
                  <a:lnTo>
                    <a:pt x="12" y="66"/>
                  </a:lnTo>
                  <a:lnTo>
                    <a:pt x="18" y="66"/>
                  </a:lnTo>
                  <a:lnTo>
                    <a:pt x="12" y="66"/>
                  </a:lnTo>
                  <a:lnTo>
                    <a:pt x="12" y="60"/>
                  </a:lnTo>
                  <a:lnTo>
                    <a:pt x="6" y="60"/>
                  </a:lnTo>
                  <a:lnTo>
                    <a:pt x="12" y="60"/>
                  </a:lnTo>
                  <a:lnTo>
                    <a:pt x="12" y="54"/>
                  </a:lnTo>
                  <a:lnTo>
                    <a:pt x="6" y="54"/>
                  </a:lnTo>
                  <a:lnTo>
                    <a:pt x="6" y="48"/>
                  </a:lnTo>
                  <a:lnTo>
                    <a:pt x="6" y="42"/>
                  </a:lnTo>
                  <a:lnTo>
                    <a:pt x="6" y="36"/>
                  </a:lnTo>
                  <a:lnTo>
                    <a:pt x="0" y="36"/>
                  </a:lnTo>
                  <a:lnTo>
                    <a:pt x="0" y="30"/>
                  </a:lnTo>
                  <a:lnTo>
                    <a:pt x="6" y="30"/>
                  </a:lnTo>
                  <a:lnTo>
                    <a:pt x="12" y="30"/>
                  </a:lnTo>
                  <a:lnTo>
                    <a:pt x="18" y="24"/>
                  </a:lnTo>
                  <a:lnTo>
                    <a:pt x="12" y="24"/>
                  </a:lnTo>
                  <a:lnTo>
                    <a:pt x="12" y="18"/>
                  </a:lnTo>
                  <a:lnTo>
                    <a:pt x="12" y="12"/>
                  </a:lnTo>
                  <a:lnTo>
                    <a:pt x="6" y="12"/>
                  </a:lnTo>
                  <a:lnTo>
                    <a:pt x="6" y="6"/>
                  </a:lnTo>
                  <a:lnTo>
                    <a:pt x="12" y="6"/>
                  </a:lnTo>
                  <a:lnTo>
                    <a:pt x="18" y="6"/>
                  </a:lnTo>
                  <a:lnTo>
                    <a:pt x="18" y="0"/>
                  </a:lnTo>
                  <a:lnTo>
                    <a:pt x="24" y="0"/>
                  </a:lnTo>
                  <a:lnTo>
                    <a:pt x="24" y="6"/>
                  </a:lnTo>
                  <a:lnTo>
                    <a:pt x="24" y="0"/>
                  </a:lnTo>
                  <a:lnTo>
                    <a:pt x="30" y="0"/>
                  </a:lnTo>
                  <a:lnTo>
                    <a:pt x="30" y="6"/>
                  </a:lnTo>
                  <a:lnTo>
                    <a:pt x="30" y="0"/>
                  </a:lnTo>
                  <a:lnTo>
                    <a:pt x="36" y="0"/>
                  </a:lnTo>
                  <a:lnTo>
                    <a:pt x="42" y="6"/>
                  </a:lnTo>
                  <a:lnTo>
                    <a:pt x="42" y="0"/>
                  </a:lnTo>
                  <a:lnTo>
                    <a:pt x="48" y="0"/>
                  </a:lnTo>
                  <a:lnTo>
                    <a:pt x="54" y="0"/>
                  </a:lnTo>
                  <a:lnTo>
                    <a:pt x="60" y="0"/>
                  </a:lnTo>
                  <a:lnTo>
                    <a:pt x="60" y="6"/>
                  </a:lnTo>
                  <a:lnTo>
                    <a:pt x="66" y="6"/>
                  </a:lnTo>
                  <a:lnTo>
                    <a:pt x="60" y="6"/>
                  </a:lnTo>
                  <a:lnTo>
                    <a:pt x="72" y="12"/>
                  </a:lnTo>
                  <a:lnTo>
                    <a:pt x="78" y="12"/>
                  </a:lnTo>
                  <a:lnTo>
                    <a:pt x="84" y="12"/>
                  </a:lnTo>
                  <a:lnTo>
                    <a:pt x="78" y="12"/>
                  </a:lnTo>
                  <a:lnTo>
                    <a:pt x="84" y="6"/>
                  </a:lnTo>
                  <a:lnTo>
                    <a:pt x="84" y="12"/>
                  </a:lnTo>
                  <a:lnTo>
                    <a:pt x="90" y="12"/>
                  </a:lnTo>
                  <a:lnTo>
                    <a:pt x="90" y="6"/>
                  </a:lnTo>
                  <a:lnTo>
                    <a:pt x="96" y="12"/>
                  </a:lnTo>
                  <a:lnTo>
                    <a:pt x="96" y="6"/>
                  </a:lnTo>
                  <a:lnTo>
                    <a:pt x="96" y="12"/>
                  </a:lnTo>
                  <a:lnTo>
                    <a:pt x="102" y="12"/>
                  </a:lnTo>
                  <a:lnTo>
                    <a:pt x="102" y="6"/>
                  </a:lnTo>
                  <a:lnTo>
                    <a:pt x="102" y="12"/>
                  </a:lnTo>
                  <a:lnTo>
                    <a:pt x="108" y="12"/>
                  </a:lnTo>
                  <a:lnTo>
                    <a:pt x="114" y="12"/>
                  </a:lnTo>
                  <a:lnTo>
                    <a:pt x="120" y="12"/>
                  </a:lnTo>
                  <a:lnTo>
                    <a:pt x="126" y="12"/>
                  </a:lnTo>
                  <a:lnTo>
                    <a:pt x="132" y="18"/>
                  </a:lnTo>
                  <a:lnTo>
                    <a:pt x="126" y="18"/>
                  </a:lnTo>
                  <a:lnTo>
                    <a:pt x="132" y="18"/>
                  </a:lnTo>
                  <a:lnTo>
                    <a:pt x="126" y="18"/>
                  </a:lnTo>
                  <a:lnTo>
                    <a:pt x="126" y="24"/>
                  </a:lnTo>
                  <a:lnTo>
                    <a:pt x="132" y="24"/>
                  </a:lnTo>
                  <a:lnTo>
                    <a:pt x="132" y="30"/>
                  </a:lnTo>
                  <a:lnTo>
                    <a:pt x="132" y="24"/>
                  </a:lnTo>
                  <a:lnTo>
                    <a:pt x="132" y="30"/>
                  </a:lnTo>
                  <a:lnTo>
                    <a:pt x="138" y="30"/>
                  </a:lnTo>
                  <a:lnTo>
                    <a:pt x="138" y="24"/>
                  </a:lnTo>
                  <a:lnTo>
                    <a:pt x="144" y="24"/>
                  </a:lnTo>
                  <a:lnTo>
                    <a:pt x="150" y="24"/>
                  </a:lnTo>
                  <a:lnTo>
                    <a:pt x="144" y="24"/>
                  </a:lnTo>
                  <a:lnTo>
                    <a:pt x="150" y="24"/>
                  </a:lnTo>
                  <a:lnTo>
                    <a:pt x="156" y="24"/>
                  </a:lnTo>
                  <a:lnTo>
                    <a:pt x="150" y="24"/>
                  </a:lnTo>
                  <a:lnTo>
                    <a:pt x="150" y="18"/>
                  </a:lnTo>
                  <a:lnTo>
                    <a:pt x="156" y="24"/>
                  </a:lnTo>
                  <a:lnTo>
                    <a:pt x="162" y="24"/>
                  </a:lnTo>
                  <a:lnTo>
                    <a:pt x="168" y="30"/>
                  </a:lnTo>
                  <a:lnTo>
                    <a:pt x="174" y="30"/>
                  </a:lnTo>
                  <a:lnTo>
                    <a:pt x="180" y="30"/>
                  </a:lnTo>
                  <a:lnTo>
                    <a:pt x="180" y="36"/>
                  </a:lnTo>
                  <a:lnTo>
                    <a:pt x="186" y="36"/>
                  </a:lnTo>
                  <a:lnTo>
                    <a:pt x="186" y="30"/>
                  </a:lnTo>
                  <a:lnTo>
                    <a:pt x="180" y="30"/>
                  </a:lnTo>
                  <a:lnTo>
                    <a:pt x="180" y="24"/>
                  </a:lnTo>
                  <a:lnTo>
                    <a:pt x="186" y="24"/>
                  </a:lnTo>
                  <a:lnTo>
                    <a:pt x="186" y="30"/>
                  </a:lnTo>
                  <a:lnTo>
                    <a:pt x="186" y="24"/>
                  </a:lnTo>
                  <a:lnTo>
                    <a:pt x="186" y="30"/>
                  </a:lnTo>
                  <a:lnTo>
                    <a:pt x="192" y="30"/>
                  </a:lnTo>
                  <a:lnTo>
                    <a:pt x="192" y="36"/>
                  </a:lnTo>
                  <a:lnTo>
                    <a:pt x="198" y="36"/>
                  </a:lnTo>
                  <a:lnTo>
                    <a:pt x="204" y="36"/>
                  </a:lnTo>
                  <a:lnTo>
                    <a:pt x="204" y="42"/>
                  </a:lnTo>
                  <a:lnTo>
                    <a:pt x="210" y="42"/>
                  </a:lnTo>
                  <a:lnTo>
                    <a:pt x="210" y="48"/>
                  </a:lnTo>
                  <a:lnTo>
                    <a:pt x="216" y="48"/>
                  </a:lnTo>
                  <a:lnTo>
                    <a:pt x="216" y="54"/>
                  </a:lnTo>
                  <a:lnTo>
                    <a:pt x="216" y="48"/>
                  </a:lnTo>
                  <a:lnTo>
                    <a:pt x="216" y="54"/>
                  </a:lnTo>
                  <a:lnTo>
                    <a:pt x="222" y="60"/>
                  </a:lnTo>
                  <a:lnTo>
                    <a:pt x="216" y="60"/>
                  </a:lnTo>
                  <a:lnTo>
                    <a:pt x="216" y="66"/>
                  </a:lnTo>
                  <a:close/>
                </a:path>
              </a:pathLst>
            </a:custGeom>
            <a:solidFill>
              <a:schemeClr val="accent1"/>
            </a:solidFill>
            <a:ln w="9525">
              <a:solidFill>
                <a:srgbClr val="B2B2B2"/>
              </a:solidFill>
              <a:round/>
              <a:headEnd/>
              <a:tailEnd/>
            </a:ln>
          </p:spPr>
          <p:txBody>
            <a:bodyPr/>
            <a:lstStyle/>
            <a:p>
              <a:endParaRPr lang="en-CA"/>
            </a:p>
          </p:txBody>
        </p:sp>
        <p:sp>
          <p:nvSpPr>
            <p:cNvPr id="396" name="Freeform 455"/>
            <p:cNvSpPr>
              <a:spLocks/>
            </p:cNvSpPr>
            <p:nvPr>
              <p:custDataLst>
                <p:tags r:id="rId19"/>
              </p:custDataLst>
            </p:nvPr>
          </p:nvSpPr>
          <p:spPr bwMode="gray">
            <a:xfrm>
              <a:off x="1023" y="3114"/>
              <a:ext cx="139" cy="86"/>
            </a:xfrm>
            <a:custGeom>
              <a:avLst/>
              <a:gdLst>
                <a:gd name="T0" fmla="*/ 206838818 w 222"/>
                <a:gd name="T1" fmla="*/ 105728719 h 138"/>
                <a:gd name="T2" fmla="*/ 200928655 w 222"/>
                <a:gd name="T3" fmla="*/ 105728719 h 138"/>
                <a:gd name="T4" fmla="*/ 189109322 w 222"/>
                <a:gd name="T5" fmla="*/ 111602262 h 138"/>
                <a:gd name="T6" fmla="*/ 183200153 w 222"/>
                <a:gd name="T7" fmla="*/ 111602262 h 138"/>
                <a:gd name="T8" fmla="*/ 171380820 w 222"/>
                <a:gd name="T9" fmla="*/ 123349348 h 138"/>
                <a:gd name="T10" fmla="*/ 165470657 w 222"/>
                <a:gd name="T11" fmla="*/ 123349348 h 138"/>
                <a:gd name="T12" fmla="*/ 153651324 w 222"/>
                <a:gd name="T13" fmla="*/ 117475805 h 138"/>
                <a:gd name="T14" fmla="*/ 141831991 w 222"/>
                <a:gd name="T15" fmla="*/ 123349348 h 138"/>
                <a:gd name="T16" fmla="*/ 135922822 w 222"/>
                <a:gd name="T17" fmla="*/ 123349348 h 138"/>
                <a:gd name="T18" fmla="*/ 130012659 w 222"/>
                <a:gd name="T19" fmla="*/ 123349348 h 138"/>
                <a:gd name="T20" fmla="*/ 112284157 w 222"/>
                <a:gd name="T21" fmla="*/ 117475805 h 138"/>
                <a:gd name="T22" fmla="*/ 112284157 w 222"/>
                <a:gd name="T23" fmla="*/ 123349348 h 138"/>
                <a:gd name="T24" fmla="*/ 106373994 w 222"/>
                <a:gd name="T25" fmla="*/ 123349348 h 138"/>
                <a:gd name="T26" fmla="*/ 100464824 w 222"/>
                <a:gd name="T27" fmla="*/ 135097423 h 138"/>
                <a:gd name="T28" fmla="*/ 88645492 w 222"/>
                <a:gd name="T29" fmla="*/ 129223880 h 138"/>
                <a:gd name="T30" fmla="*/ 70915996 w 222"/>
                <a:gd name="T31" fmla="*/ 123349348 h 138"/>
                <a:gd name="T32" fmla="*/ 59096663 w 222"/>
                <a:gd name="T33" fmla="*/ 129223880 h 138"/>
                <a:gd name="T34" fmla="*/ 53187494 w 222"/>
                <a:gd name="T35" fmla="*/ 117475805 h 138"/>
                <a:gd name="T36" fmla="*/ 47277330 w 222"/>
                <a:gd name="T37" fmla="*/ 129223880 h 138"/>
                <a:gd name="T38" fmla="*/ 47277330 w 222"/>
                <a:gd name="T39" fmla="*/ 123349348 h 138"/>
                <a:gd name="T40" fmla="*/ 47277330 w 222"/>
                <a:gd name="T41" fmla="*/ 111602262 h 138"/>
                <a:gd name="T42" fmla="*/ 47277330 w 222"/>
                <a:gd name="T43" fmla="*/ 93980644 h 138"/>
                <a:gd name="T44" fmla="*/ 35457998 w 222"/>
                <a:gd name="T45" fmla="*/ 82233558 h 138"/>
                <a:gd name="T46" fmla="*/ 17729496 w 222"/>
                <a:gd name="T47" fmla="*/ 64611940 h 138"/>
                <a:gd name="T48" fmla="*/ 17729496 w 222"/>
                <a:gd name="T49" fmla="*/ 58738397 h 138"/>
                <a:gd name="T50" fmla="*/ 5910163 w 222"/>
                <a:gd name="T51" fmla="*/ 52863865 h 138"/>
                <a:gd name="T52" fmla="*/ 5910163 w 222"/>
                <a:gd name="T53" fmla="*/ 46990322 h 138"/>
                <a:gd name="T54" fmla="*/ 5910163 w 222"/>
                <a:gd name="T55" fmla="*/ 35243236 h 138"/>
                <a:gd name="T56" fmla="*/ 0 w 222"/>
                <a:gd name="T57" fmla="*/ 29368704 h 138"/>
                <a:gd name="T58" fmla="*/ 0 w 222"/>
                <a:gd name="T59" fmla="*/ 23495161 h 138"/>
                <a:gd name="T60" fmla="*/ 11819333 w 222"/>
                <a:gd name="T61" fmla="*/ 17621618 h 138"/>
                <a:gd name="T62" fmla="*/ 23638665 w 222"/>
                <a:gd name="T63" fmla="*/ 23495161 h 138"/>
                <a:gd name="T64" fmla="*/ 23638665 w 222"/>
                <a:gd name="T65" fmla="*/ 23495161 h 138"/>
                <a:gd name="T66" fmla="*/ 29548829 w 222"/>
                <a:gd name="T67" fmla="*/ 23495161 h 138"/>
                <a:gd name="T68" fmla="*/ 41368161 w 222"/>
                <a:gd name="T69" fmla="*/ 17621618 h 138"/>
                <a:gd name="T70" fmla="*/ 47277330 w 222"/>
                <a:gd name="T71" fmla="*/ 17621618 h 138"/>
                <a:gd name="T72" fmla="*/ 53187494 w 222"/>
                <a:gd name="T73" fmla="*/ 5873543 h 138"/>
                <a:gd name="T74" fmla="*/ 65006826 w 222"/>
                <a:gd name="T75" fmla="*/ 5873543 h 138"/>
                <a:gd name="T76" fmla="*/ 76826159 w 222"/>
                <a:gd name="T77" fmla="*/ 5873543 h 138"/>
                <a:gd name="T78" fmla="*/ 82735328 w 222"/>
                <a:gd name="T79" fmla="*/ 17621618 h 138"/>
                <a:gd name="T80" fmla="*/ 94554661 w 222"/>
                <a:gd name="T81" fmla="*/ 23495161 h 138"/>
                <a:gd name="T82" fmla="*/ 106373994 w 222"/>
                <a:gd name="T83" fmla="*/ 29368704 h 138"/>
                <a:gd name="T84" fmla="*/ 118193326 w 222"/>
                <a:gd name="T85" fmla="*/ 29368704 h 138"/>
                <a:gd name="T86" fmla="*/ 112284157 w 222"/>
                <a:gd name="T87" fmla="*/ 17621618 h 138"/>
                <a:gd name="T88" fmla="*/ 118193326 w 222"/>
                <a:gd name="T89" fmla="*/ 5873543 h 138"/>
                <a:gd name="T90" fmla="*/ 124103490 w 222"/>
                <a:gd name="T91" fmla="*/ 5873543 h 138"/>
                <a:gd name="T92" fmla="*/ 141831991 w 222"/>
                <a:gd name="T93" fmla="*/ 5873543 h 138"/>
                <a:gd name="T94" fmla="*/ 153651324 w 222"/>
                <a:gd name="T95" fmla="*/ 5873543 h 138"/>
                <a:gd name="T96" fmla="*/ 165470657 w 222"/>
                <a:gd name="T97" fmla="*/ 0 h 138"/>
                <a:gd name="T98" fmla="*/ 177289989 w 222"/>
                <a:gd name="T99" fmla="*/ 5873543 h 138"/>
                <a:gd name="T100" fmla="*/ 183200153 w 222"/>
                <a:gd name="T101" fmla="*/ 17621618 h 138"/>
                <a:gd name="T102" fmla="*/ 195019485 w 222"/>
                <a:gd name="T103" fmla="*/ 29368704 h 138"/>
                <a:gd name="T104" fmla="*/ 200928655 w 222"/>
                <a:gd name="T105" fmla="*/ 41116779 h 138"/>
                <a:gd name="T106" fmla="*/ 206838818 w 222"/>
                <a:gd name="T107" fmla="*/ 41116779 h 138"/>
                <a:gd name="T108" fmla="*/ 218658150 w 222"/>
                <a:gd name="T109" fmla="*/ 52863865 h 138"/>
                <a:gd name="T110" fmla="*/ 218658150 w 222"/>
                <a:gd name="T111" fmla="*/ 58738397 h 138"/>
                <a:gd name="T112" fmla="*/ 218658150 w 222"/>
                <a:gd name="T113" fmla="*/ 82233558 h 138"/>
                <a:gd name="T114" fmla="*/ 218658150 w 222"/>
                <a:gd name="T115" fmla="*/ 99854187 h 1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22"/>
                <a:gd name="T175" fmla="*/ 0 h 138"/>
                <a:gd name="T176" fmla="*/ 222 w 222"/>
                <a:gd name="T177" fmla="*/ 138 h 13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22" h="138">
                  <a:moveTo>
                    <a:pt x="216" y="108"/>
                  </a:moveTo>
                  <a:lnTo>
                    <a:pt x="216" y="114"/>
                  </a:lnTo>
                  <a:lnTo>
                    <a:pt x="210" y="108"/>
                  </a:lnTo>
                  <a:lnTo>
                    <a:pt x="210" y="102"/>
                  </a:lnTo>
                  <a:lnTo>
                    <a:pt x="204" y="102"/>
                  </a:lnTo>
                  <a:lnTo>
                    <a:pt x="204" y="108"/>
                  </a:lnTo>
                  <a:lnTo>
                    <a:pt x="198" y="108"/>
                  </a:lnTo>
                  <a:lnTo>
                    <a:pt x="192" y="108"/>
                  </a:lnTo>
                  <a:lnTo>
                    <a:pt x="192" y="114"/>
                  </a:lnTo>
                  <a:lnTo>
                    <a:pt x="186" y="114"/>
                  </a:lnTo>
                  <a:lnTo>
                    <a:pt x="186" y="120"/>
                  </a:lnTo>
                  <a:lnTo>
                    <a:pt x="186" y="114"/>
                  </a:lnTo>
                  <a:lnTo>
                    <a:pt x="180" y="120"/>
                  </a:lnTo>
                  <a:lnTo>
                    <a:pt x="180" y="126"/>
                  </a:lnTo>
                  <a:lnTo>
                    <a:pt x="174" y="126"/>
                  </a:lnTo>
                  <a:lnTo>
                    <a:pt x="168" y="126"/>
                  </a:lnTo>
                  <a:lnTo>
                    <a:pt x="168" y="120"/>
                  </a:lnTo>
                  <a:lnTo>
                    <a:pt x="168" y="126"/>
                  </a:lnTo>
                  <a:lnTo>
                    <a:pt x="168" y="120"/>
                  </a:lnTo>
                  <a:lnTo>
                    <a:pt x="162" y="120"/>
                  </a:lnTo>
                  <a:lnTo>
                    <a:pt x="156" y="120"/>
                  </a:lnTo>
                  <a:lnTo>
                    <a:pt x="156" y="126"/>
                  </a:lnTo>
                  <a:lnTo>
                    <a:pt x="150" y="126"/>
                  </a:lnTo>
                  <a:lnTo>
                    <a:pt x="144" y="126"/>
                  </a:lnTo>
                  <a:lnTo>
                    <a:pt x="144" y="132"/>
                  </a:lnTo>
                  <a:lnTo>
                    <a:pt x="144" y="126"/>
                  </a:lnTo>
                  <a:lnTo>
                    <a:pt x="138" y="126"/>
                  </a:lnTo>
                  <a:lnTo>
                    <a:pt x="138" y="132"/>
                  </a:lnTo>
                  <a:lnTo>
                    <a:pt x="132" y="132"/>
                  </a:lnTo>
                  <a:lnTo>
                    <a:pt x="132" y="126"/>
                  </a:lnTo>
                  <a:lnTo>
                    <a:pt x="126" y="126"/>
                  </a:lnTo>
                  <a:lnTo>
                    <a:pt x="120" y="120"/>
                  </a:lnTo>
                  <a:lnTo>
                    <a:pt x="114" y="120"/>
                  </a:lnTo>
                  <a:lnTo>
                    <a:pt x="120" y="120"/>
                  </a:lnTo>
                  <a:lnTo>
                    <a:pt x="114" y="120"/>
                  </a:lnTo>
                  <a:lnTo>
                    <a:pt x="114" y="126"/>
                  </a:lnTo>
                  <a:lnTo>
                    <a:pt x="108" y="126"/>
                  </a:lnTo>
                  <a:lnTo>
                    <a:pt x="114" y="126"/>
                  </a:lnTo>
                  <a:lnTo>
                    <a:pt x="108" y="126"/>
                  </a:lnTo>
                  <a:lnTo>
                    <a:pt x="108" y="132"/>
                  </a:lnTo>
                  <a:lnTo>
                    <a:pt x="102" y="132"/>
                  </a:lnTo>
                  <a:lnTo>
                    <a:pt x="102" y="138"/>
                  </a:lnTo>
                  <a:lnTo>
                    <a:pt x="102" y="132"/>
                  </a:lnTo>
                  <a:lnTo>
                    <a:pt x="96" y="132"/>
                  </a:lnTo>
                  <a:lnTo>
                    <a:pt x="90" y="132"/>
                  </a:lnTo>
                  <a:lnTo>
                    <a:pt x="84" y="126"/>
                  </a:lnTo>
                  <a:lnTo>
                    <a:pt x="78" y="126"/>
                  </a:lnTo>
                  <a:lnTo>
                    <a:pt x="72" y="126"/>
                  </a:lnTo>
                  <a:lnTo>
                    <a:pt x="66" y="126"/>
                  </a:lnTo>
                  <a:lnTo>
                    <a:pt x="60" y="126"/>
                  </a:lnTo>
                  <a:lnTo>
                    <a:pt x="60" y="132"/>
                  </a:lnTo>
                  <a:lnTo>
                    <a:pt x="60" y="126"/>
                  </a:lnTo>
                  <a:lnTo>
                    <a:pt x="54" y="126"/>
                  </a:lnTo>
                  <a:lnTo>
                    <a:pt x="54" y="120"/>
                  </a:lnTo>
                  <a:lnTo>
                    <a:pt x="54" y="126"/>
                  </a:lnTo>
                  <a:lnTo>
                    <a:pt x="48" y="126"/>
                  </a:lnTo>
                  <a:lnTo>
                    <a:pt x="48" y="132"/>
                  </a:lnTo>
                  <a:lnTo>
                    <a:pt x="42" y="132"/>
                  </a:lnTo>
                  <a:lnTo>
                    <a:pt x="42" y="126"/>
                  </a:lnTo>
                  <a:lnTo>
                    <a:pt x="48" y="126"/>
                  </a:lnTo>
                  <a:lnTo>
                    <a:pt x="42" y="120"/>
                  </a:lnTo>
                  <a:lnTo>
                    <a:pt x="48" y="120"/>
                  </a:lnTo>
                  <a:lnTo>
                    <a:pt x="48" y="114"/>
                  </a:lnTo>
                  <a:lnTo>
                    <a:pt x="54" y="108"/>
                  </a:lnTo>
                  <a:lnTo>
                    <a:pt x="54" y="102"/>
                  </a:lnTo>
                  <a:lnTo>
                    <a:pt x="48" y="96"/>
                  </a:lnTo>
                  <a:lnTo>
                    <a:pt x="42" y="90"/>
                  </a:lnTo>
                  <a:lnTo>
                    <a:pt x="42" y="84"/>
                  </a:lnTo>
                  <a:lnTo>
                    <a:pt x="36" y="84"/>
                  </a:lnTo>
                  <a:lnTo>
                    <a:pt x="30" y="78"/>
                  </a:lnTo>
                  <a:lnTo>
                    <a:pt x="24" y="72"/>
                  </a:lnTo>
                  <a:lnTo>
                    <a:pt x="18" y="66"/>
                  </a:lnTo>
                  <a:lnTo>
                    <a:pt x="24" y="66"/>
                  </a:lnTo>
                  <a:lnTo>
                    <a:pt x="18" y="66"/>
                  </a:lnTo>
                  <a:lnTo>
                    <a:pt x="18" y="60"/>
                  </a:lnTo>
                  <a:lnTo>
                    <a:pt x="18" y="54"/>
                  </a:lnTo>
                  <a:lnTo>
                    <a:pt x="12" y="54"/>
                  </a:lnTo>
                  <a:lnTo>
                    <a:pt x="6" y="54"/>
                  </a:lnTo>
                  <a:lnTo>
                    <a:pt x="6" y="48"/>
                  </a:lnTo>
                  <a:lnTo>
                    <a:pt x="12" y="48"/>
                  </a:lnTo>
                  <a:lnTo>
                    <a:pt x="6" y="48"/>
                  </a:lnTo>
                  <a:lnTo>
                    <a:pt x="6" y="42"/>
                  </a:lnTo>
                  <a:lnTo>
                    <a:pt x="0" y="42"/>
                  </a:lnTo>
                  <a:lnTo>
                    <a:pt x="6" y="36"/>
                  </a:lnTo>
                  <a:lnTo>
                    <a:pt x="0" y="36"/>
                  </a:lnTo>
                  <a:lnTo>
                    <a:pt x="6" y="30"/>
                  </a:lnTo>
                  <a:lnTo>
                    <a:pt x="0" y="30"/>
                  </a:lnTo>
                  <a:lnTo>
                    <a:pt x="6" y="30"/>
                  </a:lnTo>
                  <a:lnTo>
                    <a:pt x="6" y="24"/>
                  </a:lnTo>
                  <a:lnTo>
                    <a:pt x="0" y="24"/>
                  </a:lnTo>
                  <a:lnTo>
                    <a:pt x="6" y="24"/>
                  </a:lnTo>
                  <a:lnTo>
                    <a:pt x="6" y="18"/>
                  </a:lnTo>
                  <a:lnTo>
                    <a:pt x="12" y="18"/>
                  </a:lnTo>
                  <a:lnTo>
                    <a:pt x="18" y="18"/>
                  </a:lnTo>
                  <a:lnTo>
                    <a:pt x="18" y="24"/>
                  </a:lnTo>
                  <a:lnTo>
                    <a:pt x="24" y="24"/>
                  </a:lnTo>
                  <a:lnTo>
                    <a:pt x="18" y="24"/>
                  </a:lnTo>
                  <a:lnTo>
                    <a:pt x="24" y="18"/>
                  </a:lnTo>
                  <a:lnTo>
                    <a:pt x="24" y="24"/>
                  </a:lnTo>
                  <a:lnTo>
                    <a:pt x="24" y="18"/>
                  </a:lnTo>
                  <a:lnTo>
                    <a:pt x="30" y="18"/>
                  </a:lnTo>
                  <a:lnTo>
                    <a:pt x="30" y="24"/>
                  </a:lnTo>
                  <a:lnTo>
                    <a:pt x="30" y="18"/>
                  </a:lnTo>
                  <a:lnTo>
                    <a:pt x="36" y="18"/>
                  </a:lnTo>
                  <a:lnTo>
                    <a:pt x="42" y="18"/>
                  </a:lnTo>
                  <a:lnTo>
                    <a:pt x="48" y="18"/>
                  </a:lnTo>
                  <a:lnTo>
                    <a:pt x="48" y="12"/>
                  </a:lnTo>
                  <a:lnTo>
                    <a:pt x="48" y="18"/>
                  </a:lnTo>
                  <a:lnTo>
                    <a:pt x="48" y="12"/>
                  </a:lnTo>
                  <a:lnTo>
                    <a:pt x="48" y="6"/>
                  </a:lnTo>
                  <a:lnTo>
                    <a:pt x="54" y="6"/>
                  </a:lnTo>
                  <a:lnTo>
                    <a:pt x="54" y="0"/>
                  </a:lnTo>
                  <a:lnTo>
                    <a:pt x="60" y="6"/>
                  </a:lnTo>
                  <a:lnTo>
                    <a:pt x="66" y="6"/>
                  </a:lnTo>
                  <a:lnTo>
                    <a:pt x="66" y="0"/>
                  </a:lnTo>
                  <a:lnTo>
                    <a:pt x="72" y="6"/>
                  </a:lnTo>
                  <a:lnTo>
                    <a:pt x="78" y="6"/>
                  </a:lnTo>
                  <a:lnTo>
                    <a:pt x="78" y="12"/>
                  </a:lnTo>
                  <a:lnTo>
                    <a:pt x="84" y="12"/>
                  </a:lnTo>
                  <a:lnTo>
                    <a:pt x="84" y="18"/>
                  </a:lnTo>
                  <a:lnTo>
                    <a:pt x="90" y="24"/>
                  </a:lnTo>
                  <a:lnTo>
                    <a:pt x="90" y="30"/>
                  </a:lnTo>
                  <a:lnTo>
                    <a:pt x="96" y="24"/>
                  </a:lnTo>
                  <a:lnTo>
                    <a:pt x="102" y="30"/>
                  </a:lnTo>
                  <a:lnTo>
                    <a:pt x="108" y="24"/>
                  </a:lnTo>
                  <a:lnTo>
                    <a:pt x="108" y="30"/>
                  </a:lnTo>
                  <a:lnTo>
                    <a:pt x="114" y="30"/>
                  </a:lnTo>
                  <a:lnTo>
                    <a:pt x="114" y="24"/>
                  </a:lnTo>
                  <a:lnTo>
                    <a:pt x="120" y="30"/>
                  </a:lnTo>
                  <a:lnTo>
                    <a:pt x="120" y="24"/>
                  </a:lnTo>
                  <a:lnTo>
                    <a:pt x="120" y="18"/>
                  </a:lnTo>
                  <a:lnTo>
                    <a:pt x="114" y="18"/>
                  </a:lnTo>
                  <a:lnTo>
                    <a:pt x="114" y="12"/>
                  </a:lnTo>
                  <a:lnTo>
                    <a:pt x="114" y="6"/>
                  </a:lnTo>
                  <a:lnTo>
                    <a:pt x="120" y="6"/>
                  </a:lnTo>
                  <a:lnTo>
                    <a:pt x="120" y="12"/>
                  </a:lnTo>
                  <a:lnTo>
                    <a:pt x="120" y="6"/>
                  </a:lnTo>
                  <a:lnTo>
                    <a:pt x="126" y="6"/>
                  </a:lnTo>
                  <a:lnTo>
                    <a:pt x="132" y="6"/>
                  </a:lnTo>
                  <a:lnTo>
                    <a:pt x="138" y="6"/>
                  </a:lnTo>
                  <a:lnTo>
                    <a:pt x="144" y="6"/>
                  </a:lnTo>
                  <a:lnTo>
                    <a:pt x="144" y="12"/>
                  </a:lnTo>
                  <a:lnTo>
                    <a:pt x="150" y="6"/>
                  </a:lnTo>
                  <a:lnTo>
                    <a:pt x="156" y="6"/>
                  </a:lnTo>
                  <a:lnTo>
                    <a:pt x="162" y="6"/>
                  </a:lnTo>
                  <a:lnTo>
                    <a:pt x="168" y="6"/>
                  </a:lnTo>
                  <a:lnTo>
                    <a:pt x="168" y="0"/>
                  </a:lnTo>
                  <a:lnTo>
                    <a:pt x="174" y="0"/>
                  </a:lnTo>
                  <a:lnTo>
                    <a:pt x="180" y="0"/>
                  </a:lnTo>
                  <a:lnTo>
                    <a:pt x="180" y="6"/>
                  </a:lnTo>
                  <a:lnTo>
                    <a:pt x="186" y="6"/>
                  </a:lnTo>
                  <a:lnTo>
                    <a:pt x="186" y="12"/>
                  </a:lnTo>
                  <a:lnTo>
                    <a:pt x="186" y="18"/>
                  </a:lnTo>
                  <a:lnTo>
                    <a:pt x="192" y="18"/>
                  </a:lnTo>
                  <a:lnTo>
                    <a:pt x="198" y="24"/>
                  </a:lnTo>
                  <a:lnTo>
                    <a:pt x="198" y="30"/>
                  </a:lnTo>
                  <a:lnTo>
                    <a:pt x="198" y="36"/>
                  </a:lnTo>
                  <a:lnTo>
                    <a:pt x="198" y="42"/>
                  </a:lnTo>
                  <a:lnTo>
                    <a:pt x="204" y="42"/>
                  </a:lnTo>
                  <a:lnTo>
                    <a:pt x="210" y="42"/>
                  </a:lnTo>
                  <a:lnTo>
                    <a:pt x="210" y="48"/>
                  </a:lnTo>
                  <a:lnTo>
                    <a:pt x="210" y="42"/>
                  </a:lnTo>
                  <a:lnTo>
                    <a:pt x="210" y="48"/>
                  </a:lnTo>
                  <a:lnTo>
                    <a:pt x="216" y="48"/>
                  </a:lnTo>
                  <a:lnTo>
                    <a:pt x="222" y="54"/>
                  </a:lnTo>
                  <a:lnTo>
                    <a:pt x="222" y="60"/>
                  </a:lnTo>
                  <a:lnTo>
                    <a:pt x="222" y="54"/>
                  </a:lnTo>
                  <a:lnTo>
                    <a:pt x="222" y="60"/>
                  </a:lnTo>
                  <a:lnTo>
                    <a:pt x="222" y="66"/>
                  </a:lnTo>
                  <a:lnTo>
                    <a:pt x="222" y="72"/>
                  </a:lnTo>
                  <a:lnTo>
                    <a:pt x="222" y="84"/>
                  </a:lnTo>
                  <a:lnTo>
                    <a:pt x="222" y="90"/>
                  </a:lnTo>
                  <a:lnTo>
                    <a:pt x="222" y="96"/>
                  </a:lnTo>
                  <a:lnTo>
                    <a:pt x="222" y="102"/>
                  </a:lnTo>
                  <a:lnTo>
                    <a:pt x="216" y="102"/>
                  </a:lnTo>
                  <a:lnTo>
                    <a:pt x="216" y="108"/>
                  </a:lnTo>
                  <a:close/>
                </a:path>
              </a:pathLst>
            </a:custGeom>
            <a:solidFill>
              <a:schemeClr val="accent1"/>
            </a:solidFill>
            <a:ln w="9525">
              <a:solidFill>
                <a:srgbClr val="B2B2B2"/>
              </a:solidFill>
              <a:round/>
              <a:headEnd/>
              <a:tailEnd/>
            </a:ln>
          </p:spPr>
          <p:txBody>
            <a:bodyPr/>
            <a:lstStyle/>
            <a:p>
              <a:endParaRPr lang="en-CA"/>
            </a:p>
          </p:txBody>
        </p:sp>
        <p:sp>
          <p:nvSpPr>
            <p:cNvPr id="397" name="Freeform 456"/>
            <p:cNvSpPr>
              <a:spLocks/>
            </p:cNvSpPr>
            <p:nvPr>
              <p:custDataLst>
                <p:tags r:id="rId20"/>
              </p:custDataLst>
            </p:nvPr>
          </p:nvSpPr>
          <p:spPr bwMode="gray">
            <a:xfrm>
              <a:off x="964" y="3126"/>
              <a:ext cx="93" cy="105"/>
            </a:xfrm>
            <a:custGeom>
              <a:avLst/>
              <a:gdLst>
                <a:gd name="T0" fmla="*/ 104989319 w 150"/>
                <a:gd name="T1" fmla="*/ 165268175 h 168"/>
                <a:gd name="T2" fmla="*/ 99156634 w 150"/>
                <a:gd name="T3" fmla="*/ 153463093 h 168"/>
                <a:gd name="T4" fmla="*/ 93323948 w 150"/>
                <a:gd name="T5" fmla="*/ 153463093 h 168"/>
                <a:gd name="T6" fmla="*/ 99156634 w 150"/>
                <a:gd name="T7" fmla="*/ 165268175 h 168"/>
                <a:gd name="T8" fmla="*/ 87491263 w 150"/>
                <a:gd name="T9" fmla="*/ 159365634 h 168"/>
                <a:gd name="T10" fmla="*/ 69993207 w 150"/>
                <a:gd name="T11" fmla="*/ 153463093 h 168"/>
                <a:gd name="T12" fmla="*/ 69993207 w 150"/>
                <a:gd name="T13" fmla="*/ 153463093 h 168"/>
                <a:gd name="T14" fmla="*/ 64160522 w 150"/>
                <a:gd name="T15" fmla="*/ 153463093 h 168"/>
                <a:gd name="T16" fmla="*/ 52495152 w 150"/>
                <a:gd name="T17" fmla="*/ 159365634 h 168"/>
                <a:gd name="T18" fmla="*/ 46662466 w 150"/>
                <a:gd name="T19" fmla="*/ 159365634 h 168"/>
                <a:gd name="T20" fmla="*/ 40829781 w 150"/>
                <a:gd name="T21" fmla="*/ 147560552 h 168"/>
                <a:gd name="T22" fmla="*/ 46662466 w 150"/>
                <a:gd name="T23" fmla="*/ 147560552 h 168"/>
                <a:gd name="T24" fmla="*/ 29163426 w 150"/>
                <a:gd name="T25" fmla="*/ 141658011 h 168"/>
                <a:gd name="T26" fmla="*/ 29163426 w 150"/>
                <a:gd name="T27" fmla="*/ 135756462 h 168"/>
                <a:gd name="T28" fmla="*/ 34996112 w 150"/>
                <a:gd name="T29" fmla="*/ 123951380 h 168"/>
                <a:gd name="T30" fmla="*/ 34996112 w 150"/>
                <a:gd name="T31" fmla="*/ 118048838 h 168"/>
                <a:gd name="T32" fmla="*/ 29163426 w 150"/>
                <a:gd name="T33" fmla="*/ 118048838 h 168"/>
                <a:gd name="T34" fmla="*/ 17498056 w 150"/>
                <a:gd name="T35" fmla="*/ 106243756 h 168"/>
                <a:gd name="T36" fmla="*/ 11665371 w 150"/>
                <a:gd name="T37" fmla="*/ 106243756 h 168"/>
                <a:gd name="T38" fmla="*/ 11665371 w 150"/>
                <a:gd name="T39" fmla="*/ 100341215 h 168"/>
                <a:gd name="T40" fmla="*/ 0 w 150"/>
                <a:gd name="T41" fmla="*/ 94438674 h 168"/>
                <a:gd name="T42" fmla="*/ 0 w 150"/>
                <a:gd name="T43" fmla="*/ 88536133 h 168"/>
                <a:gd name="T44" fmla="*/ 0 w 150"/>
                <a:gd name="T45" fmla="*/ 76732043 h 168"/>
                <a:gd name="T46" fmla="*/ 5832685 w 150"/>
                <a:gd name="T47" fmla="*/ 76732043 h 168"/>
                <a:gd name="T48" fmla="*/ 5832685 w 150"/>
                <a:gd name="T49" fmla="*/ 59024419 h 168"/>
                <a:gd name="T50" fmla="*/ 5832685 w 150"/>
                <a:gd name="T51" fmla="*/ 41316796 h 168"/>
                <a:gd name="T52" fmla="*/ 17498056 w 150"/>
                <a:gd name="T53" fmla="*/ 35414255 h 168"/>
                <a:gd name="T54" fmla="*/ 23330741 w 150"/>
                <a:gd name="T55" fmla="*/ 23610165 h 168"/>
                <a:gd name="T56" fmla="*/ 29163426 w 150"/>
                <a:gd name="T57" fmla="*/ 23610165 h 168"/>
                <a:gd name="T58" fmla="*/ 40829781 w 150"/>
                <a:gd name="T59" fmla="*/ 23610165 h 168"/>
                <a:gd name="T60" fmla="*/ 46662466 w 150"/>
                <a:gd name="T61" fmla="*/ 23610165 h 168"/>
                <a:gd name="T62" fmla="*/ 58327837 w 150"/>
                <a:gd name="T63" fmla="*/ 23610165 h 168"/>
                <a:gd name="T64" fmla="*/ 64160522 w 150"/>
                <a:gd name="T65" fmla="*/ 23610165 h 168"/>
                <a:gd name="T66" fmla="*/ 64160522 w 150"/>
                <a:gd name="T67" fmla="*/ 5902541 h 168"/>
                <a:gd name="T68" fmla="*/ 75825893 w 150"/>
                <a:gd name="T69" fmla="*/ 0 h 168"/>
                <a:gd name="T70" fmla="*/ 81658578 w 150"/>
                <a:gd name="T71" fmla="*/ 0 h 168"/>
                <a:gd name="T72" fmla="*/ 99156634 w 150"/>
                <a:gd name="T73" fmla="*/ 0 h 168"/>
                <a:gd name="T74" fmla="*/ 99156634 w 150"/>
                <a:gd name="T75" fmla="*/ 5902541 h 168"/>
                <a:gd name="T76" fmla="*/ 99156634 w 150"/>
                <a:gd name="T77" fmla="*/ 11805082 h 168"/>
                <a:gd name="T78" fmla="*/ 93323948 w 150"/>
                <a:gd name="T79" fmla="*/ 23610165 h 168"/>
                <a:gd name="T80" fmla="*/ 104989319 w 150"/>
                <a:gd name="T81" fmla="*/ 29511714 h 168"/>
                <a:gd name="T82" fmla="*/ 104989319 w 150"/>
                <a:gd name="T83" fmla="*/ 35414255 h 168"/>
                <a:gd name="T84" fmla="*/ 110822988 w 150"/>
                <a:gd name="T85" fmla="*/ 47219337 h 168"/>
                <a:gd name="T86" fmla="*/ 116655674 w 150"/>
                <a:gd name="T87" fmla="*/ 53121878 h 168"/>
                <a:gd name="T88" fmla="*/ 134153729 w 150"/>
                <a:gd name="T89" fmla="*/ 64926960 h 168"/>
                <a:gd name="T90" fmla="*/ 145819100 w 150"/>
                <a:gd name="T91" fmla="*/ 82634584 h 168"/>
                <a:gd name="T92" fmla="*/ 139986415 w 150"/>
                <a:gd name="T93" fmla="*/ 100341215 h 168"/>
                <a:gd name="T94" fmla="*/ 134153729 w 150"/>
                <a:gd name="T95" fmla="*/ 106243756 h 168"/>
                <a:gd name="T96" fmla="*/ 128321044 w 150"/>
                <a:gd name="T97" fmla="*/ 123951380 h 168"/>
                <a:gd name="T98" fmla="*/ 128321044 w 150"/>
                <a:gd name="T99" fmla="*/ 129853921 h 168"/>
                <a:gd name="T100" fmla="*/ 122488359 w 150"/>
                <a:gd name="T101" fmla="*/ 129853921 h 168"/>
                <a:gd name="T102" fmla="*/ 122488359 w 150"/>
                <a:gd name="T103" fmla="*/ 141658011 h 168"/>
                <a:gd name="T104" fmla="*/ 110822988 w 150"/>
                <a:gd name="T105" fmla="*/ 159365634 h 16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0"/>
                <a:gd name="T160" fmla="*/ 0 h 168"/>
                <a:gd name="T161" fmla="*/ 150 w 150"/>
                <a:gd name="T162" fmla="*/ 168 h 16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0" h="168">
                  <a:moveTo>
                    <a:pt x="120" y="168"/>
                  </a:moveTo>
                  <a:lnTo>
                    <a:pt x="114" y="168"/>
                  </a:lnTo>
                  <a:lnTo>
                    <a:pt x="108" y="168"/>
                  </a:lnTo>
                  <a:lnTo>
                    <a:pt x="108" y="162"/>
                  </a:lnTo>
                  <a:lnTo>
                    <a:pt x="102" y="162"/>
                  </a:lnTo>
                  <a:lnTo>
                    <a:pt x="102" y="156"/>
                  </a:lnTo>
                  <a:lnTo>
                    <a:pt x="102" y="162"/>
                  </a:lnTo>
                  <a:lnTo>
                    <a:pt x="102" y="156"/>
                  </a:lnTo>
                  <a:lnTo>
                    <a:pt x="96" y="156"/>
                  </a:lnTo>
                  <a:lnTo>
                    <a:pt x="96" y="162"/>
                  </a:lnTo>
                  <a:lnTo>
                    <a:pt x="102" y="162"/>
                  </a:lnTo>
                  <a:lnTo>
                    <a:pt x="102" y="168"/>
                  </a:lnTo>
                  <a:lnTo>
                    <a:pt x="96" y="168"/>
                  </a:lnTo>
                  <a:lnTo>
                    <a:pt x="96" y="162"/>
                  </a:lnTo>
                  <a:lnTo>
                    <a:pt x="90" y="162"/>
                  </a:lnTo>
                  <a:lnTo>
                    <a:pt x="84" y="162"/>
                  </a:lnTo>
                  <a:lnTo>
                    <a:pt x="78" y="156"/>
                  </a:lnTo>
                  <a:lnTo>
                    <a:pt x="72" y="156"/>
                  </a:lnTo>
                  <a:lnTo>
                    <a:pt x="66" y="150"/>
                  </a:lnTo>
                  <a:lnTo>
                    <a:pt x="66" y="156"/>
                  </a:lnTo>
                  <a:lnTo>
                    <a:pt x="72" y="156"/>
                  </a:lnTo>
                  <a:lnTo>
                    <a:pt x="66" y="156"/>
                  </a:lnTo>
                  <a:lnTo>
                    <a:pt x="60" y="156"/>
                  </a:lnTo>
                  <a:lnTo>
                    <a:pt x="66" y="156"/>
                  </a:lnTo>
                  <a:lnTo>
                    <a:pt x="60" y="156"/>
                  </a:lnTo>
                  <a:lnTo>
                    <a:pt x="54" y="156"/>
                  </a:lnTo>
                  <a:lnTo>
                    <a:pt x="54" y="162"/>
                  </a:lnTo>
                  <a:lnTo>
                    <a:pt x="48" y="162"/>
                  </a:lnTo>
                  <a:lnTo>
                    <a:pt x="48" y="156"/>
                  </a:lnTo>
                  <a:lnTo>
                    <a:pt x="48" y="162"/>
                  </a:lnTo>
                  <a:lnTo>
                    <a:pt x="48" y="156"/>
                  </a:lnTo>
                  <a:lnTo>
                    <a:pt x="42" y="156"/>
                  </a:lnTo>
                  <a:lnTo>
                    <a:pt x="42" y="150"/>
                  </a:lnTo>
                  <a:lnTo>
                    <a:pt x="48" y="150"/>
                  </a:lnTo>
                  <a:lnTo>
                    <a:pt x="42" y="150"/>
                  </a:lnTo>
                  <a:lnTo>
                    <a:pt x="48" y="150"/>
                  </a:lnTo>
                  <a:lnTo>
                    <a:pt x="42" y="144"/>
                  </a:lnTo>
                  <a:lnTo>
                    <a:pt x="36" y="144"/>
                  </a:lnTo>
                  <a:lnTo>
                    <a:pt x="30" y="144"/>
                  </a:lnTo>
                  <a:lnTo>
                    <a:pt x="24" y="144"/>
                  </a:lnTo>
                  <a:lnTo>
                    <a:pt x="24" y="138"/>
                  </a:lnTo>
                  <a:lnTo>
                    <a:pt x="30" y="138"/>
                  </a:lnTo>
                  <a:lnTo>
                    <a:pt x="30" y="132"/>
                  </a:lnTo>
                  <a:lnTo>
                    <a:pt x="30" y="126"/>
                  </a:lnTo>
                  <a:lnTo>
                    <a:pt x="36" y="126"/>
                  </a:lnTo>
                  <a:lnTo>
                    <a:pt x="36" y="120"/>
                  </a:lnTo>
                  <a:lnTo>
                    <a:pt x="36" y="126"/>
                  </a:lnTo>
                  <a:lnTo>
                    <a:pt x="36" y="120"/>
                  </a:lnTo>
                  <a:lnTo>
                    <a:pt x="30" y="120"/>
                  </a:lnTo>
                  <a:lnTo>
                    <a:pt x="30" y="114"/>
                  </a:lnTo>
                  <a:lnTo>
                    <a:pt x="30" y="120"/>
                  </a:lnTo>
                  <a:lnTo>
                    <a:pt x="30" y="114"/>
                  </a:lnTo>
                  <a:lnTo>
                    <a:pt x="24" y="114"/>
                  </a:lnTo>
                  <a:lnTo>
                    <a:pt x="18" y="108"/>
                  </a:lnTo>
                  <a:lnTo>
                    <a:pt x="18" y="114"/>
                  </a:lnTo>
                  <a:lnTo>
                    <a:pt x="18" y="108"/>
                  </a:lnTo>
                  <a:lnTo>
                    <a:pt x="12" y="108"/>
                  </a:lnTo>
                  <a:lnTo>
                    <a:pt x="18" y="108"/>
                  </a:lnTo>
                  <a:lnTo>
                    <a:pt x="18" y="102"/>
                  </a:lnTo>
                  <a:lnTo>
                    <a:pt x="12" y="102"/>
                  </a:lnTo>
                  <a:lnTo>
                    <a:pt x="6" y="102"/>
                  </a:lnTo>
                  <a:lnTo>
                    <a:pt x="6" y="96"/>
                  </a:lnTo>
                  <a:lnTo>
                    <a:pt x="0" y="96"/>
                  </a:lnTo>
                  <a:lnTo>
                    <a:pt x="6" y="96"/>
                  </a:lnTo>
                  <a:lnTo>
                    <a:pt x="0" y="96"/>
                  </a:lnTo>
                  <a:lnTo>
                    <a:pt x="0" y="90"/>
                  </a:lnTo>
                  <a:lnTo>
                    <a:pt x="0" y="84"/>
                  </a:lnTo>
                  <a:lnTo>
                    <a:pt x="6" y="84"/>
                  </a:lnTo>
                  <a:lnTo>
                    <a:pt x="0" y="78"/>
                  </a:lnTo>
                  <a:lnTo>
                    <a:pt x="6" y="78"/>
                  </a:lnTo>
                  <a:lnTo>
                    <a:pt x="6" y="84"/>
                  </a:lnTo>
                  <a:lnTo>
                    <a:pt x="6" y="78"/>
                  </a:lnTo>
                  <a:lnTo>
                    <a:pt x="6" y="72"/>
                  </a:lnTo>
                  <a:lnTo>
                    <a:pt x="6" y="66"/>
                  </a:lnTo>
                  <a:lnTo>
                    <a:pt x="6" y="60"/>
                  </a:lnTo>
                  <a:lnTo>
                    <a:pt x="6" y="54"/>
                  </a:lnTo>
                  <a:lnTo>
                    <a:pt x="6" y="48"/>
                  </a:lnTo>
                  <a:lnTo>
                    <a:pt x="6" y="42"/>
                  </a:lnTo>
                  <a:lnTo>
                    <a:pt x="12" y="42"/>
                  </a:lnTo>
                  <a:lnTo>
                    <a:pt x="12" y="36"/>
                  </a:lnTo>
                  <a:lnTo>
                    <a:pt x="18" y="36"/>
                  </a:lnTo>
                  <a:lnTo>
                    <a:pt x="24" y="36"/>
                  </a:lnTo>
                  <a:lnTo>
                    <a:pt x="18" y="30"/>
                  </a:lnTo>
                  <a:lnTo>
                    <a:pt x="24" y="24"/>
                  </a:lnTo>
                  <a:lnTo>
                    <a:pt x="24" y="30"/>
                  </a:lnTo>
                  <a:lnTo>
                    <a:pt x="24" y="24"/>
                  </a:lnTo>
                  <a:lnTo>
                    <a:pt x="30" y="24"/>
                  </a:lnTo>
                  <a:lnTo>
                    <a:pt x="36" y="18"/>
                  </a:lnTo>
                  <a:lnTo>
                    <a:pt x="36" y="24"/>
                  </a:lnTo>
                  <a:lnTo>
                    <a:pt x="42" y="24"/>
                  </a:lnTo>
                  <a:lnTo>
                    <a:pt x="42" y="30"/>
                  </a:lnTo>
                  <a:lnTo>
                    <a:pt x="42" y="24"/>
                  </a:lnTo>
                  <a:lnTo>
                    <a:pt x="48" y="24"/>
                  </a:lnTo>
                  <a:lnTo>
                    <a:pt x="48" y="30"/>
                  </a:lnTo>
                  <a:lnTo>
                    <a:pt x="54" y="30"/>
                  </a:lnTo>
                  <a:lnTo>
                    <a:pt x="60" y="24"/>
                  </a:lnTo>
                  <a:lnTo>
                    <a:pt x="60" y="30"/>
                  </a:lnTo>
                  <a:lnTo>
                    <a:pt x="60" y="24"/>
                  </a:lnTo>
                  <a:lnTo>
                    <a:pt x="66" y="24"/>
                  </a:lnTo>
                  <a:lnTo>
                    <a:pt x="66" y="6"/>
                  </a:lnTo>
                  <a:lnTo>
                    <a:pt x="66" y="0"/>
                  </a:lnTo>
                  <a:lnTo>
                    <a:pt x="66" y="6"/>
                  </a:lnTo>
                  <a:lnTo>
                    <a:pt x="72" y="6"/>
                  </a:lnTo>
                  <a:lnTo>
                    <a:pt x="72" y="0"/>
                  </a:lnTo>
                  <a:lnTo>
                    <a:pt x="78" y="0"/>
                  </a:lnTo>
                  <a:lnTo>
                    <a:pt x="78" y="6"/>
                  </a:lnTo>
                  <a:lnTo>
                    <a:pt x="78" y="0"/>
                  </a:lnTo>
                  <a:lnTo>
                    <a:pt x="84" y="0"/>
                  </a:lnTo>
                  <a:lnTo>
                    <a:pt x="90" y="0"/>
                  </a:lnTo>
                  <a:lnTo>
                    <a:pt x="96" y="0"/>
                  </a:lnTo>
                  <a:lnTo>
                    <a:pt x="102" y="0"/>
                  </a:lnTo>
                  <a:lnTo>
                    <a:pt x="102" y="6"/>
                  </a:lnTo>
                  <a:lnTo>
                    <a:pt x="96" y="6"/>
                  </a:lnTo>
                  <a:lnTo>
                    <a:pt x="102" y="6"/>
                  </a:lnTo>
                  <a:lnTo>
                    <a:pt x="102" y="12"/>
                  </a:lnTo>
                  <a:lnTo>
                    <a:pt x="96" y="12"/>
                  </a:lnTo>
                  <a:lnTo>
                    <a:pt x="102" y="12"/>
                  </a:lnTo>
                  <a:lnTo>
                    <a:pt x="96" y="18"/>
                  </a:lnTo>
                  <a:lnTo>
                    <a:pt x="102" y="18"/>
                  </a:lnTo>
                  <a:lnTo>
                    <a:pt x="96" y="24"/>
                  </a:lnTo>
                  <a:lnTo>
                    <a:pt x="102" y="24"/>
                  </a:lnTo>
                  <a:lnTo>
                    <a:pt x="102" y="30"/>
                  </a:lnTo>
                  <a:lnTo>
                    <a:pt x="108" y="30"/>
                  </a:lnTo>
                  <a:lnTo>
                    <a:pt x="102" y="30"/>
                  </a:lnTo>
                  <a:lnTo>
                    <a:pt x="102" y="36"/>
                  </a:lnTo>
                  <a:lnTo>
                    <a:pt x="108" y="36"/>
                  </a:lnTo>
                  <a:lnTo>
                    <a:pt x="114" y="36"/>
                  </a:lnTo>
                  <a:lnTo>
                    <a:pt x="114" y="42"/>
                  </a:lnTo>
                  <a:lnTo>
                    <a:pt x="114" y="48"/>
                  </a:lnTo>
                  <a:lnTo>
                    <a:pt x="120" y="48"/>
                  </a:lnTo>
                  <a:lnTo>
                    <a:pt x="114" y="48"/>
                  </a:lnTo>
                  <a:lnTo>
                    <a:pt x="120" y="54"/>
                  </a:lnTo>
                  <a:lnTo>
                    <a:pt x="126" y="60"/>
                  </a:lnTo>
                  <a:lnTo>
                    <a:pt x="132" y="66"/>
                  </a:lnTo>
                  <a:lnTo>
                    <a:pt x="138" y="66"/>
                  </a:lnTo>
                  <a:lnTo>
                    <a:pt x="138" y="72"/>
                  </a:lnTo>
                  <a:lnTo>
                    <a:pt x="144" y="78"/>
                  </a:lnTo>
                  <a:lnTo>
                    <a:pt x="150" y="84"/>
                  </a:lnTo>
                  <a:lnTo>
                    <a:pt x="150" y="90"/>
                  </a:lnTo>
                  <a:lnTo>
                    <a:pt x="144" y="96"/>
                  </a:lnTo>
                  <a:lnTo>
                    <a:pt x="144" y="102"/>
                  </a:lnTo>
                  <a:lnTo>
                    <a:pt x="138" y="102"/>
                  </a:lnTo>
                  <a:lnTo>
                    <a:pt x="144" y="108"/>
                  </a:lnTo>
                  <a:lnTo>
                    <a:pt x="138" y="108"/>
                  </a:lnTo>
                  <a:lnTo>
                    <a:pt x="138" y="114"/>
                  </a:lnTo>
                  <a:lnTo>
                    <a:pt x="132" y="120"/>
                  </a:lnTo>
                  <a:lnTo>
                    <a:pt x="132" y="126"/>
                  </a:lnTo>
                  <a:lnTo>
                    <a:pt x="126" y="126"/>
                  </a:lnTo>
                  <a:lnTo>
                    <a:pt x="126" y="132"/>
                  </a:lnTo>
                  <a:lnTo>
                    <a:pt x="132" y="132"/>
                  </a:lnTo>
                  <a:lnTo>
                    <a:pt x="126" y="132"/>
                  </a:lnTo>
                  <a:lnTo>
                    <a:pt x="132" y="132"/>
                  </a:lnTo>
                  <a:lnTo>
                    <a:pt x="126" y="132"/>
                  </a:lnTo>
                  <a:lnTo>
                    <a:pt x="132" y="138"/>
                  </a:lnTo>
                  <a:lnTo>
                    <a:pt x="126" y="138"/>
                  </a:lnTo>
                  <a:lnTo>
                    <a:pt x="126" y="144"/>
                  </a:lnTo>
                  <a:lnTo>
                    <a:pt x="126" y="150"/>
                  </a:lnTo>
                  <a:lnTo>
                    <a:pt x="120" y="156"/>
                  </a:lnTo>
                  <a:lnTo>
                    <a:pt x="114" y="162"/>
                  </a:lnTo>
                  <a:lnTo>
                    <a:pt x="114" y="168"/>
                  </a:lnTo>
                  <a:lnTo>
                    <a:pt x="120" y="168"/>
                  </a:lnTo>
                  <a:close/>
                </a:path>
              </a:pathLst>
            </a:custGeom>
            <a:solidFill>
              <a:schemeClr val="accent1"/>
            </a:solidFill>
            <a:ln w="9525">
              <a:solidFill>
                <a:srgbClr val="B2B2B2"/>
              </a:solidFill>
              <a:round/>
              <a:headEnd/>
              <a:tailEnd/>
            </a:ln>
          </p:spPr>
          <p:txBody>
            <a:bodyPr/>
            <a:lstStyle/>
            <a:p>
              <a:endParaRPr lang="en-CA"/>
            </a:p>
          </p:txBody>
        </p:sp>
        <p:sp>
          <p:nvSpPr>
            <p:cNvPr id="398" name="Freeform 457"/>
            <p:cNvSpPr>
              <a:spLocks/>
            </p:cNvSpPr>
            <p:nvPr>
              <p:custDataLst>
                <p:tags r:id="rId21"/>
              </p:custDataLst>
            </p:nvPr>
          </p:nvSpPr>
          <p:spPr bwMode="gray">
            <a:xfrm>
              <a:off x="926" y="3050"/>
              <a:ext cx="116" cy="101"/>
            </a:xfrm>
            <a:custGeom>
              <a:avLst/>
              <a:gdLst>
                <a:gd name="T0" fmla="*/ 146965561 w 186"/>
                <a:gd name="T1" fmla="*/ 117718774 h 162"/>
                <a:gd name="T2" fmla="*/ 135208672 w 186"/>
                <a:gd name="T3" fmla="*/ 117718774 h 162"/>
                <a:gd name="T4" fmla="*/ 123450794 w 186"/>
                <a:gd name="T5" fmla="*/ 117718774 h 162"/>
                <a:gd name="T6" fmla="*/ 117572845 w 186"/>
                <a:gd name="T7" fmla="*/ 147147725 h 162"/>
                <a:gd name="T8" fmla="*/ 105814966 w 186"/>
                <a:gd name="T9" fmla="*/ 141261737 h 162"/>
                <a:gd name="T10" fmla="*/ 94058078 w 186"/>
                <a:gd name="T11" fmla="*/ 141261737 h 162"/>
                <a:gd name="T12" fmla="*/ 82300199 w 186"/>
                <a:gd name="T13" fmla="*/ 147147725 h 162"/>
                <a:gd name="T14" fmla="*/ 76422250 w 186"/>
                <a:gd name="T15" fmla="*/ 153033713 h 162"/>
                <a:gd name="T16" fmla="*/ 64664372 w 186"/>
                <a:gd name="T17" fmla="*/ 153033713 h 162"/>
                <a:gd name="T18" fmla="*/ 52907483 w 186"/>
                <a:gd name="T19" fmla="*/ 141261737 h 162"/>
                <a:gd name="T20" fmla="*/ 52907483 w 186"/>
                <a:gd name="T21" fmla="*/ 141261737 h 162"/>
                <a:gd name="T22" fmla="*/ 47028544 w 186"/>
                <a:gd name="T23" fmla="*/ 135375749 h 162"/>
                <a:gd name="T24" fmla="*/ 35271655 w 186"/>
                <a:gd name="T25" fmla="*/ 147147725 h 162"/>
                <a:gd name="T26" fmla="*/ 23514767 w 186"/>
                <a:gd name="T27" fmla="*/ 147147725 h 162"/>
                <a:gd name="T28" fmla="*/ 17635828 w 186"/>
                <a:gd name="T29" fmla="*/ 141261737 h 162"/>
                <a:gd name="T30" fmla="*/ 11756888 w 186"/>
                <a:gd name="T31" fmla="*/ 123603772 h 162"/>
                <a:gd name="T32" fmla="*/ 5878939 w 186"/>
                <a:gd name="T33" fmla="*/ 117718774 h 162"/>
                <a:gd name="T34" fmla="*/ 11756888 w 186"/>
                <a:gd name="T35" fmla="*/ 105946798 h 162"/>
                <a:gd name="T36" fmla="*/ 0 w 186"/>
                <a:gd name="T37" fmla="*/ 105946798 h 162"/>
                <a:gd name="T38" fmla="*/ 0 w 186"/>
                <a:gd name="T39" fmla="*/ 94174821 h 162"/>
                <a:gd name="T40" fmla="*/ 5878939 w 186"/>
                <a:gd name="T41" fmla="*/ 88288833 h 162"/>
                <a:gd name="T42" fmla="*/ 5878939 w 186"/>
                <a:gd name="T43" fmla="*/ 82402845 h 162"/>
                <a:gd name="T44" fmla="*/ 11756888 w 186"/>
                <a:gd name="T45" fmla="*/ 76516857 h 162"/>
                <a:gd name="T46" fmla="*/ 11756888 w 186"/>
                <a:gd name="T47" fmla="*/ 64744880 h 162"/>
                <a:gd name="T48" fmla="*/ 11756888 w 186"/>
                <a:gd name="T49" fmla="*/ 58858892 h 162"/>
                <a:gd name="T50" fmla="*/ 17635828 w 186"/>
                <a:gd name="T51" fmla="*/ 52972904 h 162"/>
                <a:gd name="T52" fmla="*/ 29392716 w 186"/>
                <a:gd name="T53" fmla="*/ 52972904 h 162"/>
                <a:gd name="T54" fmla="*/ 29392716 w 186"/>
                <a:gd name="T55" fmla="*/ 41200928 h 162"/>
                <a:gd name="T56" fmla="*/ 41150595 w 186"/>
                <a:gd name="T57" fmla="*/ 29429941 h 162"/>
                <a:gd name="T58" fmla="*/ 52907483 w 186"/>
                <a:gd name="T59" fmla="*/ 17657965 h 162"/>
                <a:gd name="T60" fmla="*/ 58786422 w 186"/>
                <a:gd name="T61" fmla="*/ 11771976 h 162"/>
                <a:gd name="T62" fmla="*/ 76422250 w 186"/>
                <a:gd name="T63" fmla="*/ 0 h 162"/>
                <a:gd name="T64" fmla="*/ 82300199 w 186"/>
                <a:gd name="T65" fmla="*/ 0 h 162"/>
                <a:gd name="T66" fmla="*/ 88179138 w 186"/>
                <a:gd name="T67" fmla="*/ 5885988 h 162"/>
                <a:gd name="T68" fmla="*/ 94058078 w 186"/>
                <a:gd name="T69" fmla="*/ 11771976 h 162"/>
                <a:gd name="T70" fmla="*/ 99937017 w 186"/>
                <a:gd name="T71" fmla="*/ 5885988 h 162"/>
                <a:gd name="T72" fmla="*/ 105814966 w 186"/>
                <a:gd name="T73" fmla="*/ 11771976 h 162"/>
                <a:gd name="T74" fmla="*/ 117572845 w 186"/>
                <a:gd name="T75" fmla="*/ 5885988 h 162"/>
                <a:gd name="T76" fmla="*/ 129329733 w 186"/>
                <a:gd name="T77" fmla="*/ 11771976 h 162"/>
                <a:gd name="T78" fmla="*/ 135208672 w 186"/>
                <a:gd name="T79" fmla="*/ 11771976 h 162"/>
                <a:gd name="T80" fmla="*/ 146965561 w 186"/>
                <a:gd name="T81" fmla="*/ 17657965 h 162"/>
                <a:gd name="T82" fmla="*/ 146965561 w 186"/>
                <a:gd name="T83" fmla="*/ 23543953 h 162"/>
                <a:gd name="T84" fmla="*/ 164601388 w 186"/>
                <a:gd name="T85" fmla="*/ 29429941 h 162"/>
                <a:gd name="T86" fmla="*/ 170480328 w 186"/>
                <a:gd name="T87" fmla="*/ 41200928 h 162"/>
                <a:gd name="T88" fmla="*/ 170480328 w 186"/>
                <a:gd name="T89" fmla="*/ 47086916 h 162"/>
                <a:gd name="T90" fmla="*/ 176358277 w 186"/>
                <a:gd name="T91" fmla="*/ 52972904 h 162"/>
                <a:gd name="T92" fmla="*/ 182237216 w 186"/>
                <a:gd name="T93" fmla="*/ 58858892 h 162"/>
                <a:gd name="T94" fmla="*/ 170480328 w 186"/>
                <a:gd name="T95" fmla="*/ 70630868 h 162"/>
                <a:gd name="T96" fmla="*/ 170480328 w 186"/>
                <a:gd name="T97" fmla="*/ 82402845 h 162"/>
                <a:gd name="T98" fmla="*/ 176358277 w 186"/>
                <a:gd name="T99" fmla="*/ 94174821 h 162"/>
                <a:gd name="T100" fmla="*/ 176358277 w 186"/>
                <a:gd name="T101" fmla="*/ 94174821 h 162"/>
                <a:gd name="T102" fmla="*/ 164601388 w 186"/>
                <a:gd name="T103" fmla="*/ 94174821 h 162"/>
                <a:gd name="T104" fmla="*/ 158722449 w 186"/>
                <a:gd name="T105" fmla="*/ 82402845 h 162"/>
                <a:gd name="T106" fmla="*/ 170480328 w 186"/>
                <a:gd name="T107" fmla="*/ 100060809 h 162"/>
                <a:gd name="T108" fmla="*/ 164601388 w 186"/>
                <a:gd name="T109" fmla="*/ 117718774 h 16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6"/>
                <a:gd name="T166" fmla="*/ 0 h 162"/>
                <a:gd name="T167" fmla="*/ 186 w 186"/>
                <a:gd name="T168" fmla="*/ 162 h 16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6" h="162">
                  <a:moveTo>
                    <a:pt x="168" y="120"/>
                  </a:moveTo>
                  <a:lnTo>
                    <a:pt x="162" y="120"/>
                  </a:lnTo>
                  <a:lnTo>
                    <a:pt x="156" y="120"/>
                  </a:lnTo>
                  <a:lnTo>
                    <a:pt x="150" y="120"/>
                  </a:lnTo>
                  <a:lnTo>
                    <a:pt x="144" y="120"/>
                  </a:lnTo>
                  <a:lnTo>
                    <a:pt x="138" y="120"/>
                  </a:lnTo>
                  <a:lnTo>
                    <a:pt x="138" y="126"/>
                  </a:lnTo>
                  <a:lnTo>
                    <a:pt x="138" y="120"/>
                  </a:lnTo>
                  <a:lnTo>
                    <a:pt x="132" y="120"/>
                  </a:lnTo>
                  <a:lnTo>
                    <a:pt x="132" y="126"/>
                  </a:lnTo>
                  <a:lnTo>
                    <a:pt x="126" y="126"/>
                  </a:lnTo>
                  <a:lnTo>
                    <a:pt x="126" y="120"/>
                  </a:lnTo>
                  <a:lnTo>
                    <a:pt x="126" y="126"/>
                  </a:lnTo>
                  <a:lnTo>
                    <a:pt x="126" y="144"/>
                  </a:lnTo>
                  <a:lnTo>
                    <a:pt x="120" y="144"/>
                  </a:lnTo>
                  <a:lnTo>
                    <a:pt x="120" y="150"/>
                  </a:lnTo>
                  <a:lnTo>
                    <a:pt x="120" y="144"/>
                  </a:lnTo>
                  <a:lnTo>
                    <a:pt x="114" y="150"/>
                  </a:lnTo>
                  <a:lnTo>
                    <a:pt x="108" y="150"/>
                  </a:lnTo>
                  <a:lnTo>
                    <a:pt x="108" y="144"/>
                  </a:lnTo>
                  <a:lnTo>
                    <a:pt x="102" y="144"/>
                  </a:lnTo>
                  <a:lnTo>
                    <a:pt x="102" y="150"/>
                  </a:lnTo>
                  <a:lnTo>
                    <a:pt x="102" y="144"/>
                  </a:lnTo>
                  <a:lnTo>
                    <a:pt x="96" y="144"/>
                  </a:lnTo>
                  <a:lnTo>
                    <a:pt x="96" y="138"/>
                  </a:lnTo>
                  <a:lnTo>
                    <a:pt x="90" y="144"/>
                  </a:lnTo>
                  <a:lnTo>
                    <a:pt x="84" y="144"/>
                  </a:lnTo>
                  <a:lnTo>
                    <a:pt x="84" y="150"/>
                  </a:lnTo>
                  <a:lnTo>
                    <a:pt x="84" y="144"/>
                  </a:lnTo>
                  <a:lnTo>
                    <a:pt x="78" y="150"/>
                  </a:lnTo>
                  <a:lnTo>
                    <a:pt x="84" y="156"/>
                  </a:lnTo>
                  <a:lnTo>
                    <a:pt x="78" y="156"/>
                  </a:lnTo>
                  <a:lnTo>
                    <a:pt x="72" y="156"/>
                  </a:lnTo>
                  <a:lnTo>
                    <a:pt x="72" y="162"/>
                  </a:lnTo>
                  <a:lnTo>
                    <a:pt x="72" y="156"/>
                  </a:lnTo>
                  <a:lnTo>
                    <a:pt x="66" y="156"/>
                  </a:lnTo>
                  <a:lnTo>
                    <a:pt x="66" y="150"/>
                  </a:lnTo>
                  <a:lnTo>
                    <a:pt x="60" y="150"/>
                  </a:lnTo>
                  <a:lnTo>
                    <a:pt x="60" y="144"/>
                  </a:lnTo>
                  <a:lnTo>
                    <a:pt x="54" y="144"/>
                  </a:lnTo>
                  <a:lnTo>
                    <a:pt x="60" y="144"/>
                  </a:lnTo>
                  <a:lnTo>
                    <a:pt x="54" y="144"/>
                  </a:lnTo>
                  <a:lnTo>
                    <a:pt x="54" y="138"/>
                  </a:lnTo>
                  <a:lnTo>
                    <a:pt x="54" y="144"/>
                  </a:lnTo>
                  <a:lnTo>
                    <a:pt x="54" y="138"/>
                  </a:lnTo>
                  <a:lnTo>
                    <a:pt x="48" y="138"/>
                  </a:lnTo>
                  <a:lnTo>
                    <a:pt x="54" y="138"/>
                  </a:lnTo>
                  <a:lnTo>
                    <a:pt x="48" y="138"/>
                  </a:lnTo>
                  <a:lnTo>
                    <a:pt x="48" y="144"/>
                  </a:lnTo>
                  <a:lnTo>
                    <a:pt x="42" y="144"/>
                  </a:lnTo>
                  <a:lnTo>
                    <a:pt x="42" y="150"/>
                  </a:lnTo>
                  <a:lnTo>
                    <a:pt x="36" y="150"/>
                  </a:lnTo>
                  <a:lnTo>
                    <a:pt x="30" y="150"/>
                  </a:lnTo>
                  <a:lnTo>
                    <a:pt x="30" y="156"/>
                  </a:lnTo>
                  <a:lnTo>
                    <a:pt x="30" y="150"/>
                  </a:lnTo>
                  <a:lnTo>
                    <a:pt x="24" y="150"/>
                  </a:lnTo>
                  <a:lnTo>
                    <a:pt x="24" y="156"/>
                  </a:lnTo>
                  <a:lnTo>
                    <a:pt x="24" y="150"/>
                  </a:lnTo>
                  <a:lnTo>
                    <a:pt x="24" y="144"/>
                  </a:lnTo>
                  <a:lnTo>
                    <a:pt x="18" y="144"/>
                  </a:lnTo>
                  <a:lnTo>
                    <a:pt x="18" y="138"/>
                  </a:lnTo>
                  <a:lnTo>
                    <a:pt x="12" y="138"/>
                  </a:lnTo>
                  <a:lnTo>
                    <a:pt x="12" y="132"/>
                  </a:lnTo>
                  <a:lnTo>
                    <a:pt x="12" y="126"/>
                  </a:lnTo>
                  <a:lnTo>
                    <a:pt x="6" y="126"/>
                  </a:lnTo>
                  <a:lnTo>
                    <a:pt x="6" y="120"/>
                  </a:lnTo>
                  <a:lnTo>
                    <a:pt x="12" y="120"/>
                  </a:lnTo>
                  <a:lnTo>
                    <a:pt x="6" y="120"/>
                  </a:lnTo>
                  <a:lnTo>
                    <a:pt x="12" y="120"/>
                  </a:lnTo>
                  <a:lnTo>
                    <a:pt x="6" y="114"/>
                  </a:lnTo>
                  <a:lnTo>
                    <a:pt x="12" y="114"/>
                  </a:lnTo>
                  <a:lnTo>
                    <a:pt x="12" y="108"/>
                  </a:lnTo>
                  <a:lnTo>
                    <a:pt x="6" y="108"/>
                  </a:lnTo>
                  <a:lnTo>
                    <a:pt x="6" y="102"/>
                  </a:lnTo>
                  <a:lnTo>
                    <a:pt x="6" y="108"/>
                  </a:lnTo>
                  <a:lnTo>
                    <a:pt x="0" y="108"/>
                  </a:lnTo>
                  <a:lnTo>
                    <a:pt x="6" y="108"/>
                  </a:lnTo>
                  <a:lnTo>
                    <a:pt x="6" y="102"/>
                  </a:lnTo>
                  <a:lnTo>
                    <a:pt x="0" y="102"/>
                  </a:lnTo>
                  <a:lnTo>
                    <a:pt x="0" y="96"/>
                  </a:lnTo>
                  <a:lnTo>
                    <a:pt x="6" y="96"/>
                  </a:lnTo>
                  <a:lnTo>
                    <a:pt x="6" y="90"/>
                  </a:lnTo>
                  <a:lnTo>
                    <a:pt x="0" y="90"/>
                  </a:lnTo>
                  <a:lnTo>
                    <a:pt x="6" y="90"/>
                  </a:lnTo>
                  <a:lnTo>
                    <a:pt x="0" y="84"/>
                  </a:lnTo>
                  <a:lnTo>
                    <a:pt x="0" y="90"/>
                  </a:lnTo>
                  <a:lnTo>
                    <a:pt x="0" y="84"/>
                  </a:lnTo>
                  <a:lnTo>
                    <a:pt x="6" y="84"/>
                  </a:lnTo>
                  <a:lnTo>
                    <a:pt x="0" y="84"/>
                  </a:lnTo>
                  <a:lnTo>
                    <a:pt x="0" y="78"/>
                  </a:lnTo>
                  <a:lnTo>
                    <a:pt x="6" y="78"/>
                  </a:lnTo>
                  <a:lnTo>
                    <a:pt x="12" y="78"/>
                  </a:lnTo>
                  <a:lnTo>
                    <a:pt x="12" y="72"/>
                  </a:lnTo>
                  <a:lnTo>
                    <a:pt x="6" y="72"/>
                  </a:lnTo>
                  <a:lnTo>
                    <a:pt x="6" y="66"/>
                  </a:lnTo>
                  <a:lnTo>
                    <a:pt x="12" y="66"/>
                  </a:lnTo>
                  <a:lnTo>
                    <a:pt x="6" y="66"/>
                  </a:lnTo>
                  <a:lnTo>
                    <a:pt x="6" y="60"/>
                  </a:lnTo>
                  <a:lnTo>
                    <a:pt x="12" y="54"/>
                  </a:lnTo>
                  <a:lnTo>
                    <a:pt x="12" y="60"/>
                  </a:lnTo>
                  <a:lnTo>
                    <a:pt x="12" y="54"/>
                  </a:lnTo>
                  <a:lnTo>
                    <a:pt x="12" y="60"/>
                  </a:lnTo>
                  <a:lnTo>
                    <a:pt x="18" y="60"/>
                  </a:lnTo>
                  <a:lnTo>
                    <a:pt x="18" y="54"/>
                  </a:lnTo>
                  <a:lnTo>
                    <a:pt x="24" y="54"/>
                  </a:lnTo>
                  <a:lnTo>
                    <a:pt x="30" y="54"/>
                  </a:lnTo>
                  <a:lnTo>
                    <a:pt x="24" y="54"/>
                  </a:lnTo>
                  <a:lnTo>
                    <a:pt x="30" y="54"/>
                  </a:lnTo>
                  <a:lnTo>
                    <a:pt x="24" y="54"/>
                  </a:lnTo>
                  <a:lnTo>
                    <a:pt x="24" y="48"/>
                  </a:lnTo>
                  <a:lnTo>
                    <a:pt x="30" y="48"/>
                  </a:lnTo>
                  <a:lnTo>
                    <a:pt x="30" y="42"/>
                  </a:lnTo>
                  <a:lnTo>
                    <a:pt x="36" y="42"/>
                  </a:lnTo>
                  <a:lnTo>
                    <a:pt x="36" y="36"/>
                  </a:lnTo>
                  <a:lnTo>
                    <a:pt x="36" y="30"/>
                  </a:lnTo>
                  <a:lnTo>
                    <a:pt x="42" y="30"/>
                  </a:lnTo>
                  <a:lnTo>
                    <a:pt x="42" y="24"/>
                  </a:lnTo>
                  <a:lnTo>
                    <a:pt x="48" y="24"/>
                  </a:lnTo>
                  <a:lnTo>
                    <a:pt x="54" y="24"/>
                  </a:lnTo>
                  <a:lnTo>
                    <a:pt x="54" y="18"/>
                  </a:lnTo>
                  <a:lnTo>
                    <a:pt x="48" y="18"/>
                  </a:lnTo>
                  <a:lnTo>
                    <a:pt x="48" y="12"/>
                  </a:lnTo>
                  <a:lnTo>
                    <a:pt x="54" y="12"/>
                  </a:lnTo>
                  <a:lnTo>
                    <a:pt x="60" y="12"/>
                  </a:lnTo>
                  <a:lnTo>
                    <a:pt x="60" y="6"/>
                  </a:lnTo>
                  <a:lnTo>
                    <a:pt x="66" y="6"/>
                  </a:lnTo>
                  <a:lnTo>
                    <a:pt x="72" y="0"/>
                  </a:lnTo>
                  <a:lnTo>
                    <a:pt x="78" y="0"/>
                  </a:lnTo>
                  <a:lnTo>
                    <a:pt x="78" y="6"/>
                  </a:lnTo>
                  <a:lnTo>
                    <a:pt x="78" y="0"/>
                  </a:lnTo>
                  <a:lnTo>
                    <a:pt x="84" y="6"/>
                  </a:lnTo>
                  <a:lnTo>
                    <a:pt x="84" y="0"/>
                  </a:lnTo>
                  <a:lnTo>
                    <a:pt x="90" y="0"/>
                  </a:lnTo>
                  <a:lnTo>
                    <a:pt x="84" y="0"/>
                  </a:lnTo>
                  <a:lnTo>
                    <a:pt x="84" y="6"/>
                  </a:lnTo>
                  <a:lnTo>
                    <a:pt x="90" y="6"/>
                  </a:lnTo>
                  <a:lnTo>
                    <a:pt x="90" y="12"/>
                  </a:lnTo>
                  <a:lnTo>
                    <a:pt x="96" y="12"/>
                  </a:lnTo>
                  <a:lnTo>
                    <a:pt x="96" y="6"/>
                  </a:lnTo>
                  <a:lnTo>
                    <a:pt x="96" y="12"/>
                  </a:lnTo>
                  <a:lnTo>
                    <a:pt x="96" y="6"/>
                  </a:lnTo>
                  <a:lnTo>
                    <a:pt x="102" y="6"/>
                  </a:lnTo>
                  <a:lnTo>
                    <a:pt x="102" y="12"/>
                  </a:lnTo>
                  <a:lnTo>
                    <a:pt x="102" y="6"/>
                  </a:lnTo>
                  <a:lnTo>
                    <a:pt x="108" y="6"/>
                  </a:lnTo>
                  <a:lnTo>
                    <a:pt x="108" y="12"/>
                  </a:lnTo>
                  <a:lnTo>
                    <a:pt x="114" y="12"/>
                  </a:lnTo>
                  <a:lnTo>
                    <a:pt x="108" y="12"/>
                  </a:lnTo>
                  <a:lnTo>
                    <a:pt x="114" y="12"/>
                  </a:lnTo>
                  <a:lnTo>
                    <a:pt x="114" y="6"/>
                  </a:lnTo>
                  <a:lnTo>
                    <a:pt x="114" y="12"/>
                  </a:lnTo>
                  <a:lnTo>
                    <a:pt x="120" y="6"/>
                  </a:lnTo>
                  <a:lnTo>
                    <a:pt x="120" y="12"/>
                  </a:lnTo>
                  <a:lnTo>
                    <a:pt x="126" y="12"/>
                  </a:lnTo>
                  <a:lnTo>
                    <a:pt x="126" y="18"/>
                  </a:lnTo>
                  <a:lnTo>
                    <a:pt x="132" y="12"/>
                  </a:lnTo>
                  <a:lnTo>
                    <a:pt x="132" y="18"/>
                  </a:lnTo>
                  <a:lnTo>
                    <a:pt x="138" y="12"/>
                  </a:lnTo>
                  <a:lnTo>
                    <a:pt x="138" y="18"/>
                  </a:lnTo>
                  <a:lnTo>
                    <a:pt x="138" y="12"/>
                  </a:lnTo>
                  <a:lnTo>
                    <a:pt x="138" y="18"/>
                  </a:lnTo>
                  <a:lnTo>
                    <a:pt x="144" y="18"/>
                  </a:lnTo>
                  <a:lnTo>
                    <a:pt x="144" y="24"/>
                  </a:lnTo>
                  <a:lnTo>
                    <a:pt x="150" y="18"/>
                  </a:lnTo>
                  <a:lnTo>
                    <a:pt x="156" y="18"/>
                  </a:lnTo>
                  <a:lnTo>
                    <a:pt x="150" y="24"/>
                  </a:lnTo>
                  <a:lnTo>
                    <a:pt x="156" y="24"/>
                  </a:lnTo>
                  <a:lnTo>
                    <a:pt x="150" y="24"/>
                  </a:lnTo>
                  <a:lnTo>
                    <a:pt x="156" y="24"/>
                  </a:lnTo>
                  <a:lnTo>
                    <a:pt x="156" y="30"/>
                  </a:lnTo>
                  <a:lnTo>
                    <a:pt x="162" y="30"/>
                  </a:lnTo>
                  <a:lnTo>
                    <a:pt x="168" y="30"/>
                  </a:lnTo>
                  <a:lnTo>
                    <a:pt x="174" y="24"/>
                  </a:lnTo>
                  <a:lnTo>
                    <a:pt x="174" y="30"/>
                  </a:lnTo>
                  <a:lnTo>
                    <a:pt x="174" y="36"/>
                  </a:lnTo>
                  <a:lnTo>
                    <a:pt x="174" y="42"/>
                  </a:lnTo>
                  <a:lnTo>
                    <a:pt x="168" y="42"/>
                  </a:lnTo>
                  <a:lnTo>
                    <a:pt x="174" y="48"/>
                  </a:lnTo>
                  <a:lnTo>
                    <a:pt x="174" y="54"/>
                  </a:lnTo>
                  <a:lnTo>
                    <a:pt x="174" y="48"/>
                  </a:lnTo>
                  <a:lnTo>
                    <a:pt x="174" y="54"/>
                  </a:lnTo>
                  <a:lnTo>
                    <a:pt x="180" y="54"/>
                  </a:lnTo>
                  <a:lnTo>
                    <a:pt x="174" y="54"/>
                  </a:lnTo>
                  <a:lnTo>
                    <a:pt x="180" y="54"/>
                  </a:lnTo>
                  <a:lnTo>
                    <a:pt x="180" y="48"/>
                  </a:lnTo>
                  <a:lnTo>
                    <a:pt x="180" y="54"/>
                  </a:lnTo>
                  <a:lnTo>
                    <a:pt x="180" y="60"/>
                  </a:lnTo>
                  <a:lnTo>
                    <a:pt x="186" y="60"/>
                  </a:lnTo>
                  <a:lnTo>
                    <a:pt x="180" y="60"/>
                  </a:lnTo>
                  <a:lnTo>
                    <a:pt x="180" y="66"/>
                  </a:lnTo>
                  <a:lnTo>
                    <a:pt x="180" y="72"/>
                  </a:lnTo>
                  <a:lnTo>
                    <a:pt x="174" y="72"/>
                  </a:lnTo>
                  <a:lnTo>
                    <a:pt x="180" y="72"/>
                  </a:lnTo>
                  <a:lnTo>
                    <a:pt x="180" y="78"/>
                  </a:lnTo>
                  <a:lnTo>
                    <a:pt x="174" y="78"/>
                  </a:lnTo>
                  <a:lnTo>
                    <a:pt x="174" y="84"/>
                  </a:lnTo>
                  <a:lnTo>
                    <a:pt x="174" y="90"/>
                  </a:lnTo>
                  <a:lnTo>
                    <a:pt x="180" y="90"/>
                  </a:lnTo>
                  <a:lnTo>
                    <a:pt x="186" y="96"/>
                  </a:lnTo>
                  <a:lnTo>
                    <a:pt x="180" y="96"/>
                  </a:lnTo>
                  <a:lnTo>
                    <a:pt x="180" y="90"/>
                  </a:lnTo>
                  <a:lnTo>
                    <a:pt x="180" y="96"/>
                  </a:lnTo>
                  <a:lnTo>
                    <a:pt x="174" y="96"/>
                  </a:lnTo>
                  <a:lnTo>
                    <a:pt x="180" y="96"/>
                  </a:lnTo>
                  <a:lnTo>
                    <a:pt x="180" y="102"/>
                  </a:lnTo>
                  <a:lnTo>
                    <a:pt x="174" y="102"/>
                  </a:lnTo>
                  <a:lnTo>
                    <a:pt x="174" y="96"/>
                  </a:lnTo>
                  <a:lnTo>
                    <a:pt x="168" y="96"/>
                  </a:lnTo>
                  <a:lnTo>
                    <a:pt x="168" y="84"/>
                  </a:lnTo>
                  <a:lnTo>
                    <a:pt x="168" y="90"/>
                  </a:lnTo>
                  <a:lnTo>
                    <a:pt x="162" y="90"/>
                  </a:lnTo>
                  <a:lnTo>
                    <a:pt x="162" y="84"/>
                  </a:lnTo>
                  <a:lnTo>
                    <a:pt x="162" y="90"/>
                  </a:lnTo>
                  <a:lnTo>
                    <a:pt x="162" y="96"/>
                  </a:lnTo>
                  <a:lnTo>
                    <a:pt x="168" y="102"/>
                  </a:lnTo>
                  <a:lnTo>
                    <a:pt x="174" y="102"/>
                  </a:lnTo>
                  <a:lnTo>
                    <a:pt x="174" y="108"/>
                  </a:lnTo>
                  <a:lnTo>
                    <a:pt x="174" y="114"/>
                  </a:lnTo>
                  <a:lnTo>
                    <a:pt x="168" y="114"/>
                  </a:lnTo>
                  <a:lnTo>
                    <a:pt x="168" y="120"/>
                  </a:lnTo>
                  <a:close/>
                </a:path>
              </a:pathLst>
            </a:custGeom>
            <a:solidFill>
              <a:schemeClr val="accent1"/>
            </a:solidFill>
            <a:ln w="9525">
              <a:solidFill>
                <a:srgbClr val="B2B2B2"/>
              </a:solidFill>
              <a:round/>
              <a:headEnd/>
              <a:tailEnd/>
            </a:ln>
          </p:spPr>
          <p:txBody>
            <a:bodyPr/>
            <a:lstStyle/>
            <a:p>
              <a:endParaRPr lang="en-CA"/>
            </a:p>
          </p:txBody>
        </p:sp>
        <p:sp>
          <p:nvSpPr>
            <p:cNvPr id="399" name="Freeform 458"/>
            <p:cNvSpPr>
              <a:spLocks/>
            </p:cNvSpPr>
            <p:nvPr>
              <p:custDataLst>
                <p:tags r:id="rId22"/>
              </p:custDataLst>
            </p:nvPr>
          </p:nvSpPr>
          <p:spPr bwMode="gray">
            <a:xfrm>
              <a:off x="1027" y="3058"/>
              <a:ext cx="127" cy="75"/>
            </a:xfrm>
            <a:custGeom>
              <a:avLst/>
              <a:gdLst>
                <a:gd name="T0" fmla="*/ 152681558 w 204"/>
                <a:gd name="T1" fmla="*/ 95290088 h 120"/>
                <a:gd name="T2" fmla="*/ 135065216 w 204"/>
                <a:gd name="T3" fmla="*/ 95290088 h 120"/>
                <a:gd name="T4" fmla="*/ 111575441 w 204"/>
                <a:gd name="T5" fmla="*/ 95290088 h 120"/>
                <a:gd name="T6" fmla="*/ 105702997 w 204"/>
                <a:gd name="T7" fmla="*/ 101246214 h 120"/>
                <a:gd name="T8" fmla="*/ 111575441 w 204"/>
                <a:gd name="T9" fmla="*/ 119112610 h 120"/>
                <a:gd name="T10" fmla="*/ 99830554 w 204"/>
                <a:gd name="T11" fmla="*/ 113157475 h 120"/>
                <a:gd name="T12" fmla="*/ 82213223 w 204"/>
                <a:gd name="T13" fmla="*/ 113157475 h 120"/>
                <a:gd name="T14" fmla="*/ 70468335 w 204"/>
                <a:gd name="T15" fmla="*/ 95290088 h 120"/>
                <a:gd name="T16" fmla="*/ 52851005 w 204"/>
                <a:gd name="T17" fmla="*/ 95290088 h 120"/>
                <a:gd name="T18" fmla="*/ 41107106 w 204"/>
                <a:gd name="T19" fmla="*/ 101246214 h 120"/>
                <a:gd name="T20" fmla="*/ 35234662 w 204"/>
                <a:gd name="T21" fmla="*/ 107201349 h 120"/>
                <a:gd name="T22" fmla="*/ 23489775 w 204"/>
                <a:gd name="T23" fmla="*/ 107201349 h 120"/>
                <a:gd name="T24" fmla="*/ 11744887 w 204"/>
                <a:gd name="T25" fmla="*/ 113157475 h 120"/>
                <a:gd name="T26" fmla="*/ 5872444 w 204"/>
                <a:gd name="T27" fmla="*/ 107201349 h 120"/>
                <a:gd name="T28" fmla="*/ 11744887 w 204"/>
                <a:gd name="T29" fmla="*/ 89334953 h 120"/>
                <a:gd name="T30" fmla="*/ 0 w 204"/>
                <a:gd name="T31" fmla="*/ 71467566 h 120"/>
                <a:gd name="T32" fmla="*/ 5872444 w 204"/>
                <a:gd name="T33" fmla="*/ 83378827 h 120"/>
                <a:gd name="T34" fmla="*/ 17617331 w 204"/>
                <a:gd name="T35" fmla="*/ 83378827 h 120"/>
                <a:gd name="T36" fmla="*/ 17617331 w 204"/>
                <a:gd name="T37" fmla="*/ 83378827 h 120"/>
                <a:gd name="T38" fmla="*/ 11744887 w 204"/>
                <a:gd name="T39" fmla="*/ 71467566 h 120"/>
                <a:gd name="T40" fmla="*/ 11744887 w 204"/>
                <a:gd name="T41" fmla="*/ 59556305 h 120"/>
                <a:gd name="T42" fmla="*/ 23489775 w 204"/>
                <a:gd name="T43" fmla="*/ 47645044 h 120"/>
                <a:gd name="T44" fmla="*/ 17617331 w 204"/>
                <a:gd name="T45" fmla="*/ 41689909 h 120"/>
                <a:gd name="T46" fmla="*/ 11744887 w 204"/>
                <a:gd name="T47" fmla="*/ 35733783 h 120"/>
                <a:gd name="T48" fmla="*/ 11744887 w 204"/>
                <a:gd name="T49" fmla="*/ 29778648 h 120"/>
                <a:gd name="T50" fmla="*/ 23489775 w 204"/>
                <a:gd name="T51" fmla="*/ 29778648 h 120"/>
                <a:gd name="T52" fmla="*/ 35234662 w 204"/>
                <a:gd name="T53" fmla="*/ 29778648 h 120"/>
                <a:gd name="T54" fmla="*/ 46979549 w 204"/>
                <a:gd name="T55" fmla="*/ 23822522 h 120"/>
                <a:gd name="T56" fmla="*/ 58723448 w 204"/>
                <a:gd name="T57" fmla="*/ 23822522 h 120"/>
                <a:gd name="T58" fmla="*/ 76340779 w 204"/>
                <a:gd name="T59" fmla="*/ 29778648 h 120"/>
                <a:gd name="T60" fmla="*/ 82213223 w 204"/>
                <a:gd name="T61" fmla="*/ 35733783 h 120"/>
                <a:gd name="T62" fmla="*/ 93958110 w 204"/>
                <a:gd name="T63" fmla="*/ 47645044 h 120"/>
                <a:gd name="T64" fmla="*/ 105702997 w 204"/>
                <a:gd name="T65" fmla="*/ 47645044 h 120"/>
                <a:gd name="T66" fmla="*/ 111575441 w 204"/>
                <a:gd name="T67" fmla="*/ 53601170 h 120"/>
                <a:gd name="T68" fmla="*/ 129192772 w 204"/>
                <a:gd name="T69" fmla="*/ 53601170 h 120"/>
                <a:gd name="T70" fmla="*/ 129192772 w 204"/>
                <a:gd name="T71" fmla="*/ 41689909 h 120"/>
                <a:gd name="T72" fmla="*/ 135065216 w 204"/>
                <a:gd name="T73" fmla="*/ 35733783 h 120"/>
                <a:gd name="T74" fmla="*/ 146810103 w 204"/>
                <a:gd name="T75" fmla="*/ 23822522 h 120"/>
                <a:gd name="T76" fmla="*/ 152681558 w 204"/>
                <a:gd name="T77" fmla="*/ 5956127 h 120"/>
                <a:gd name="T78" fmla="*/ 158554002 w 204"/>
                <a:gd name="T79" fmla="*/ 11911261 h 120"/>
                <a:gd name="T80" fmla="*/ 170298889 w 204"/>
                <a:gd name="T81" fmla="*/ 11911261 h 120"/>
                <a:gd name="T82" fmla="*/ 176171333 w 204"/>
                <a:gd name="T83" fmla="*/ 17867388 h 120"/>
                <a:gd name="T84" fmla="*/ 182043776 w 204"/>
                <a:gd name="T85" fmla="*/ 11911261 h 120"/>
                <a:gd name="T86" fmla="*/ 187916220 w 204"/>
                <a:gd name="T87" fmla="*/ 17867388 h 120"/>
                <a:gd name="T88" fmla="*/ 193788664 w 204"/>
                <a:gd name="T89" fmla="*/ 41689909 h 120"/>
                <a:gd name="T90" fmla="*/ 193788664 w 204"/>
                <a:gd name="T91" fmla="*/ 47645044 h 120"/>
                <a:gd name="T92" fmla="*/ 187916220 w 204"/>
                <a:gd name="T93" fmla="*/ 59556305 h 120"/>
                <a:gd name="T94" fmla="*/ 193788664 w 204"/>
                <a:gd name="T95" fmla="*/ 71467566 h 120"/>
                <a:gd name="T96" fmla="*/ 176171333 w 204"/>
                <a:gd name="T97" fmla="*/ 77423692 h 120"/>
                <a:gd name="T98" fmla="*/ 164426446 w 204"/>
                <a:gd name="T99" fmla="*/ 89334953 h 1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04"/>
                <a:gd name="T151" fmla="*/ 0 h 120"/>
                <a:gd name="T152" fmla="*/ 204 w 204"/>
                <a:gd name="T153" fmla="*/ 120 h 1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04" h="120">
                  <a:moveTo>
                    <a:pt x="168" y="90"/>
                  </a:moveTo>
                  <a:lnTo>
                    <a:pt x="162" y="90"/>
                  </a:lnTo>
                  <a:lnTo>
                    <a:pt x="162" y="96"/>
                  </a:lnTo>
                  <a:lnTo>
                    <a:pt x="156" y="96"/>
                  </a:lnTo>
                  <a:lnTo>
                    <a:pt x="150" y="96"/>
                  </a:lnTo>
                  <a:lnTo>
                    <a:pt x="144" y="96"/>
                  </a:lnTo>
                  <a:lnTo>
                    <a:pt x="138" y="102"/>
                  </a:lnTo>
                  <a:lnTo>
                    <a:pt x="138" y="96"/>
                  </a:lnTo>
                  <a:lnTo>
                    <a:pt x="132" y="96"/>
                  </a:lnTo>
                  <a:lnTo>
                    <a:pt x="126" y="96"/>
                  </a:lnTo>
                  <a:lnTo>
                    <a:pt x="120" y="96"/>
                  </a:lnTo>
                  <a:lnTo>
                    <a:pt x="114" y="96"/>
                  </a:lnTo>
                  <a:lnTo>
                    <a:pt x="114" y="102"/>
                  </a:lnTo>
                  <a:lnTo>
                    <a:pt x="114" y="96"/>
                  </a:lnTo>
                  <a:lnTo>
                    <a:pt x="108" y="96"/>
                  </a:lnTo>
                  <a:lnTo>
                    <a:pt x="108" y="102"/>
                  </a:lnTo>
                  <a:lnTo>
                    <a:pt x="108" y="108"/>
                  </a:lnTo>
                  <a:lnTo>
                    <a:pt x="114" y="108"/>
                  </a:lnTo>
                  <a:lnTo>
                    <a:pt x="114" y="114"/>
                  </a:lnTo>
                  <a:lnTo>
                    <a:pt x="114" y="120"/>
                  </a:lnTo>
                  <a:lnTo>
                    <a:pt x="108" y="114"/>
                  </a:lnTo>
                  <a:lnTo>
                    <a:pt x="108" y="120"/>
                  </a:lnTo>
                  <a:lnTo>
                    <a:pt x="102" y="120"/>
                  </a:lnTo>
                  <a:lnTo>
                    <a:pt x="102" y="114"/>
                  </a:lnTo>
                  <a:lnTo>
                    <a:pt x="96" y="120"/>
                  </a:lnTo>
                  <a:lnTo>
                    <a:pt x="90" y="114"/>
                  </a:lnTo>
                  <a:lnTo>
                    <a:pt x="84" y="120"/>
                  </a:lnTo>
                  <a:lnTo>
                    <a:pt x="84" y="114"/>
                  </a:lnTo>
                  <a:lnTo>
                    <a:pt x="78" y="108"/>
                  </a:lnTo>
                  <a:lnTo>
                    <a:pt x="78" y="102"/>
                  </a:lnTo>
                  <a:lnTo>
                    <a:pt x="72" y="102"/>
                  </a:lnTo>
                  <a:lnTo>
                    <a:pt x="72" y="96"/>
                  </a:lnTo>
                  <a:lnTo>
                    <a:pt x="66" y="96"/>
                  </a:lnTo>
                  <a:lnTo>
                    <a:pt x="60" y="90"/>
                  </a:lnTo>
                  <a:lnTo>
                    <a:pt x="60" y="96"/>
                  </a:lnTo>
                  <a:lnTo>
                    <a:pt x="54" y="96"/>
                  </a:lnTo>
                  <a:lnTo>
                    <a:pt x="48" y="90"/>
                  </a:lnTo>
                  <a:lnTo>
                    <a:pt x="48" y="96"/>
                  </a:lnTo>
                  <a:lnTo>
                    <a:pt x="42" y="96"/>
                  </a:lnTo>
                  <a:lnTo>
                    <a:pt x="42" y="102"/>
                  </a:lnTo>
                  <a:lnTo>
                    <a:pt x="42" y="108"/>
                  </a:lnTo>
                  <a:lnTo>
                    <a:pt x="42" y="102"/>
                  </a:lnTo>
                  <a:lnTo>
                    <a:pt x="42" y="108"/>
                  </a:lnTo>
                  <a:lnTo>
                    <a:pt x="36" y="108"/>
                  </a:lnTo>
                  <a:lnTo>
                    <a:pt x="30" y="108"/>
                  </a:lnTo>
                  <a:lnTo>
                    <a:pt x="24" y="108"/>
                  </a:lnTo>
                  <a:lnTo>
                    <a:pt x="24" y="114"/>
                  </a:lnTo>
                  <a:lnTo>
                    <a:pt x="24" y="108"/>
                  </a:lnTo>
                  <a:lnTo>
                    <a:pt x="18" y="108"/>
                  </a:lnTo>
                  <a:lnTo>
                    <a:pt x="18" y="114"/>
                  </a:lnTo>
                  <a:lnTo>
                    <a:pt x="18" y="108"/>
                  </a:lnTo>
                  <a:lnTo>
                    <a:pt x="12" y="114"/>
                  </a:lnTo>
                  <a:lnTo>
                    <a:pt x="18" y="114"/>
                  </a:lnTo>
                  <a:lnTo>
                    <a:pt x="12" y="114"/>
                  </a:lnTo>
                  <a:lnTo>
                    <a:pt x="12" y="108"/>
                  </a:lnTo>
                  <a:lnTo>
                    <a:pt x="6" y="108"/>
                  </a:lnTo>
                  <a:lnTo>
                    <a:pt x="6" y="102"/>
                  </a:lnTo>
                  <a:lnTo>
                    <a:pt x="12" y="102"/>
                  </a:lnTo>
                  <a:lnTo>
                    <a:pt x="12" y="96"/>
                  </a:lnTo>
                  <a:lnTo>
                    <a:pt x="12" y="90"/>
                  </a:lnTo>
                  <a:lnTo>
                    <a:pt x="6" y="90"/>
                  </a:lnTo>
                  <a:lnTo>
                    <a:pt x="0" y="84"/>
                  </a:lnTo>
                  <a:lnTo>
                    <a:pt x="0" y="78"/>
                  </a:lnTo>
                  <a:lnTo>
                    <a:pt x="0" y="72"/>
                  </a:lnTo>
                  <a:lnTo>
                    <a:pt x="0" y="78"/>
                  </a:lnTo>
                  <a:lnTo>
                    <a:pt x="6" y="78"/>
                  </a:lnTo>
                  <a:lnTo>
                    <a:pt x="6" y="72"/>
                  </a:lnTo>
                  <a:lnTo>
                    <a:pt x="6" y="84"/>
                  </a:lnTo>
                  <a:lnTo>
                    <a:pt x="12" y="84"/>
                  </a:lnTo>
                  <a:lnTo>
                    <a:pt x="12" y="90"/>
                  </a:lnTo>
                  <a:lnTo>
                    <a:pt x="18" y="90"/>
                  </a:lnTo>
                  <a:lnTo>
                    <a:pt x="18" y="84"/>
                  </a:lnTo>
                  <a:lnTo>
                    <a:pt x="12" y="84"/>
                  </a:lnTo>
                  <a:lnTo>
                    <a:pt x="18" y="84"/>
                  </a:lnTo>
                  <a:lnTo>
                    <a:pt x="18" y="78"/>
                  </a:lnTo>
                  <a:lnTo>
                    <a:pt x="18" y="84"/>
                  </a:lnTo>
                  <a:lnTo>
                    <a:pt x="24" y="84"/>
                  </a:lnTo>
                  <a:lnTo>
                    <a:pt x="18" y="78"/>
                  </a:lnTo>
                  <a:lnTo>
                    <a:pt x="12" y="78"/>
                  </a:lnTo>
                  <a:lnTo>
                    <a:pt x="12" y="72"/>
                  </a:lnTo>
                  <a:lnTo>
                    <a:pt x="12" y="66"/>
                  </a:lnTo>
                  <a:lnTo>
                    <a:pt x="18" y="66"/>
                  </a:lnTo>
                  <a:lnTo>
                    <a:pt x="18" y="60"/>
                  </a:lnTo>
                  <a:lnTo>
                    <a:pt x="12" y="60"/>
                  </a:lnTo>
                  <a:lnTo>
                    <a:pt x="18" y="60"/>
                  </a:lnTo>
                  <a:lnTo>
                    <a:pt x="18" y="54"/>
                  </a:lnTo>
                  <a:lnTo>
                    <a:pt x="18" y="48"/>
                  </a:lnTo>
                  <a:lnTo>
                    <a:pt x="24" y="48"/>
                  </a:lnTo>
                  <a:lnTo>
                    <a:pt x="18" y="48"/>
                  </a:lnTo>
                  <a:lnTo>
                    <a:pt x="18" y="42"/>
                  </a:lnTo>
                  <a:lnTo>
                    <a:pt x="18" y="36"/>
                  </a:lnTo>
                  <a:lnTo>
                    <a:pt x="18" y="42"/>
                  </a:lnTo>
                  <a:lnTo>
                    <a:pt x="12" y="42"/>
                  </a:lnTo>
                  <a:lnTo>
                    <a:pt x="18" y="42"/>
                  </a:lnTo>
                  <a:lnTo>
                    <a:pt x="12" y="42"/>
                  </a:lnTo>
                  <a:lnTo>
                    <a:pt x="12" y="36"/>
                  </a:lnTo>
                  <a:lnTo>
                    <a:pt x="12" y="42"/>
                  </a:lnTo>
                  <a:lnTo>
                    <a:pt x="12" y="36"/>
                  </a:lnTo>
                  <a:lnTo>
                    <a:pt x="6" y="30"/>
                  </a:lnTo>
                  <a:lnTo>
                    <a:pt x="12" y="30"/>
                  </a:lnTo>
                  <a:lnTo>
                    <a:pt x="12" y="36"/>
                  </a:lnTo>
                  <a:lnTo>
                    <a:pt x="12" y="30"/>
                  </a:lnTo>
                  <a:lnTo>
                    <a:pt x="18" y="30"/>
                  </a:lnTo>
                  <a:lnTo>
                    <a:pt x="24" y="30"/>
                  </a:lnTo>
                  <a:lnTo>
                    <a:pt x="30" y="30"/>
                  </a:lnTo>
                  <a:lnTo>
                    <a:pt x="30" y="36"/>
                  </a:lnTo>
                  <a:lnTo>
                    <a:pt x="36" y="36"/>
                  </a:lnTo>
                  <a:lnTo>
                    <a:pt x="36" y="30"/>
                  </a:lnTo>
                  <a:lnTo>
                    <a:pt x="42" y="36"/>
                  </a:lnTo>
                  <a:lnTo>
                    <a:pt x="42" y="30"/>
                  </a:lnTo>
                  <a:lnTo>
                    <a:pt x="42" y="24"/>
                  </a:lnTo>
                  <a:lnTo>
                    <a:pt x="48" y="24"/>
                  </a:lnTo>
                  <a:lnTo>
                    <a:pt x="48" y="18"/>
                  </a:lnTo>
                  <a:lnTo>
                    <a:pt x="54" y="18"/>
                  </a:lnTo>
                  <a:lnTo>
                    <a:pt x="60" y="18"/>
                  </a:lnTo>
                  <a:lnTo>
                    <a:pt x="60" y="24"/>
                  </a:lnTo>
                  <a:lnTo>
                    <a:pt x="66" y="24"/>
                  </a:lnTo>
                  <a:lnTo>
                    <a:pt x="66" y="30"/>
                  </a:lnTo>
                  <a:lnTo>
                    <a:pt x="72" y="30"/>
                  </a:lnTo>
                  <a:lnTo>
                    <a:pt x="78" y="30"/>
                  </a:lnTo>
                  <a:lnTo>
                    <a:pt x="78" y="36"/>
                  </a:lnTo>
                  <a:lnTo>
                    <a:pt x="84" y="36"/>
                  </a:lnTo>
                  <a:lnTo>
                    <a:pt x="90" y="36"/>
                  </a:lnTo>
                  <a:lnTo>
                    <a:pt x="84" y="36"/>
                  </a:lnTo>
                  <a:lnTo>
                    <a:pt x="84" y="42"/>
                  </a:lnTo>
                  <a:lnTo>
                    <a:pt x="90" y="42"/>
                  </a:lnTo>
                  <a:lnTo>
                    <a:pt x="90" y="48"/>
                  </a:lnTo>
                  <a:lnTo>
                    <a:pt x="96" y="48"/>
                  </a:lnTo>
                  <a:lnTo>
                    <a:pt x="102" y="48"/>
                  </a:lnTo>
                  <a:lnTo>
                    <a:pt x="102" y="54"/>
                  </a:lnTo>
                  <a:lnTo>
                    <a:pt x="108" y="54"/>
                  </a:lnTo>
                  <a:lnTo>
                    <a:pt x="108" y="48"/>
                  </a:lnTo>
                  <a:lnTo>
                    <a:pt x="114" y="48"/>
                  </a:lnTo>
                  <a:lnTo>
                    <a:pt x="114" y="54"/>
                  </a:lnTo>
                  <a:lnTo>
                    <a:pt x="108" y="54"/>
                  </a:lnTo>
                  <a:lnTo>
                    <a:pt x="114" y="54"/>
                  </a:lnTo>
                  <a:lnTo>
                    <a:pt x="120" y="54"/>
                  </a:lnTo>
                  <a:lnTo>
                    <a:pt x="126" y="60"/>
                  </a:lnTo>
                  <a:lnTo>
                    <a:pt x="126" y="54"/>
                  </a:lnTo>
                  <a:lnTo>
                    <a:pt x="132" y="54"/>
                  </a:lnTo>
                  <a:lnTo>
                    <a:pt x="132" y="60"/>
                  </a:lnTo>
                  <a:lnTo>
                    <a:pt x="132" y="54"/>
                  </a:lnTo>
                  <a:lnTo>
                    <a:pt x="132" y="48"/>
                  </a:lnTo>
                  <a:lnTo>
                    <a:pt x="132" y="42"/>
                  </a:lnTo>
                  <a:lnTo>
                    <a:pt x="132" y="36"/>
                  </a:lnTo>
                  <a:lnTo>
                    <a:pt x="132" y="30"/>
                  </a:lnTo>
                  <a:lnTo>
                    <a:pt x="138" y="30"/>
                  </a:lnTo>
                  <a:lnTo>
                    <a:pt x="138" y="36"/>
                  </a:lnTo>
                  <a:lnTo>
                    <a:pt x="138" y="30"/>
                  </a:lnTo>
                  <a:lnTo>
                    <a:pt x="138" y="24"/>
                  </a:lnTo>
                  <a:lnTo>
                    <a:pt x="144" y="24"/>
                  </a:lnTo>
                  <a:lnTo>
                    <a:pt x="150" y="24"/>
                  </a:lnTo>
                  <a:lnTo>
                    <a:pt x="150" y="18"/>
                  </a:lnTo>
                  <a:lnTo>
                    <a:pt x="150" y="12"/>
                  </a:lnTo>
                  <a:lnTo>
                    <a:pt x="150" y="6"/>
                  </a:lnTo>
                  <a:lnTo>
                    <a:pt x="156" y="6"/>
                  </a:lnTo>
                  <a:lnTo>
                    <a:pt x="156" y="0"/>
                  </a:lnTo>
                  <a:lnTo>
                    <a:pt x="162" y="0"/>
                  </a:lnTo>
                  <a:lnTo>
                    <a:pt x="162" y="6"/>
                  </a:lnTo>
                  <a:lnTo>
                    <a:pt x="162" y="12"/>
                  </a:lnTo>
                  <a:lnTo>
                    <a:pt x="162" y="18"/>
                  </a:lnTo>
                  <a:lnTo>
                    <a:pt x="168" y="12"/>
                  </a:lnTo>
                  <a:lnTo>
                    <a:pt x="168" y="18"/>
                  </a:lnTo>
                  <a:lnTo>
                    <a:pt x="174" y="12"/>
                  </a:lnTo>
                  <a:lnTo>
                    <a:pt x="174" y="18"/>
                  </a:lnTo>
                  <a:lnTo>
                    <a:pt x="174" y="12"/>
                  </a:lnTo>
                  <a:lnTo>
                    <a:pt x="180" y="12"/>
                  </a:lnTo>
                  <a:lnTo>
                    <a:pt x="180" y="18"/>
                  </a:lnTo>
                  <a:lnTo>
                    <a:pt x="180" y="12"/>
                  </a:lnTo>
                  <a:lnTo>
                    <a:pt x="186" y="12"/>
                  </a:lnTo>
                  <a:lnTo>
                    <a:pt x="180" y="12"/>
                  </a:lnTo>
                  <a:lnTo>
                    <a:pt x="186" y="12"/>
                  </a:lnTo>
                  <a:lnTo>
                    <a:pt x="186" y="6"/>
                  </a:lnTo>
                  <a:lnTo>
                    <a:pt x="186" y="12"/>
                  </a:lnTo>
                  <a:lnTo>
                    <a:pt x="186" y="18"/>
                  </a:lnTo>
                  <a:lnTo>
                    <a:pt x="192" y="18"/>
                  </a:lnTo>
                  <a:lnTo>
                    <a:pt x="192" y="24"/>
                  </a:lnTo>
                  <a:lnTo>
                    <a:pt x="192" y="30"/>
                  </a:lnTo>
                  <a:lnTo>
                    <a:pt x="192" y="36"/>
                  </a:lnTo>
                  <a:lnTo>
                    <a:pt x="198" y="42"/>
                  </a:lnTo>
                  <a:lnTo>
                    <a:pt x="192" y="48"/>
                  </a:lnTo>
                  <a:lnTo>
                    <a:pt x="198" y="48"/>
                  </a:lnTo>
                  <a:lnTo>
                    <a:pt x="192" y="48"/>
                  </a:lnTo>
                  <a:lnTo>
                    <a:pt x="198" y="48"/>
                  </a:lnTo>
                  <a:lnTo>
                    <a:pt x="198" y="54"/>
                  </a:lnTo>
                  <a:lnTo>
                    <a:pt x="192" y="54"/>
                  </a:lnTo>
                  <a:lnTo>
                    <a:pt x="198" y="54"/>
                  </a:lnTo>
                  <a:lnTo>
                    <a:pt x="192" y="60"/>
                  </a:lnTo>
                  <a:lnTo>
                    <a:pt x="198" y="60"/>
                  </a:lnTo>
                  <a:lnTo>
                    <a:pt x="204" y="60"/>
                  </a:lnTo>
                  <a:lnTo>
                    <a:pt x="204" y="66"/>
                  </a:lnTo>
                  <a:lnTo>
                    <a:pt x="198" y="72"/>
                  </a:lnTo>
                  <a:lnTo>
                    <a:pt x="192" y="72"/>
                  </a:lnTo>
                  <a:lnTo>
                    <a:pt x="192" y="78"/>
                  </a:lnTo>
                  <a:lnTo>
                    <a:pt x="186" y="78"/>
                  </a:lnTo>
                  <a:lnTo>
                    <a:pt x="180" y="78"/>
                  </a:lnTo>
                  <a:lnTo>
                    <a:pt x="174" y="78"/>
                  </a:lnTo>
                  <a:lnTo>
                    <a:pt x="174" y="84"/>
                  </a:lnTo>
                  <a:lnTo>
                    <a:pt x="168" y="84"/>
                  </a:lnTo>
                  <a:lnTo>
                    <a:pt x="168" y="90"/>
                  </a:lnTo>
                  <a:close/>
                </a:path>
              </a:pathLst>
            </a:custGeom>
            <a:solidFill>
              <a:schemeClr val="accent1"/>
            </a:solidFill>
            <a:ln w="9525">
              <a:solidFill>
                <a:srgbClr val="B2B2B2"/>
              </a:solidFill>
              <a:round/>
              <a:headEnd/>
              <a:tailEnd/>
            </a:ln>
          </p:spPr>
          <p:txBody>
            <a:bodyPr/>
            <a:lstStyle/>
            <a:p>
              <a:endParaRPr lang="en-CA"/>
            </a:p>
          </p:txBody>
        </p:sp>
        <p:sp>
          <p:nvSpPr>
            <p:cNvPr id="400" name="Freeform 459"/>
            <p:cNvSpPr>
              <a:spLocks/>
            </p:cNvSpPr>
            <p:nvPr>
              <p:custDataLst>
                <p:tags r:id="rId23"/>
              </p:custDataLst>
            </p:nvPr>
          </p:nvSpPr>
          <p:spPr bwMode="gray">
            <a:xfrm>
              <a:off x="916" y="2975"/>
              <a:ext cx="134" cy="86"/>
            </a:xfrm>
            <a:custGeom>
              <a:avLst/>
              <a:gdLst>
                <a:gd name="T0" fmla="*/ 197652055 w 216"/>
                <a:gd name="T1" fmla="*/ 41116779 h 138"/>
                <a:gd name="T2" fmla="*/ 203465553 w 216"/>
                <a:gd name="T3" fmla="*/ 46990322 h 138"/>
                <a:gd name="T4" fmla="*/ 203465553 w 216"/>
                <a:gd name="T5" fmla="*/ 46990322 h 138"/>
                <a:gd name="T6" fmla="*/ 203465553 w 216"/>
                <a:gd name="T7" fmla="*/ 52863865 h 138"/>
                <a:gd name="T8" fmla="*/ 191839541 w 216"/>
                <a:gd name="T9" fmla="*/ 70485483 h 138"/>
                <a:gd name="T10" fmla="*/ 180212544 w 216"/>
                <a:gd name="T11" fmla="*/ 82233558 h 138"/>
                <a:gd name="T12" fmla="*/ 168585547 w 216"/>
                <a:gd name="T13" fmla="*/ 93980644 h 138"/>
                <a:gd name="T14" fmla="*/ 174399046 w 216"/>
                <a:gd name="T15" fmla="*/ 111602262 h 138"/>
                <a:gd name="T16" fmla="*/ 162773034 w 216"/>
                <a:gd name="T17" fmla="*/ 123349348 h 138"/>
                <a:gd name="T18" fmla="*/ 156959535 w 216"/>
                <a:gd name="T19" fmla="*/ 129223880 h 138"/>
                <a:gd name="T20" fmla="*/ 151146037 w 216"/>
                <a:gd name="T21" fmla="*/ 135097423 h 138"/>
                <a:gd name="T22" fmla="*/ 139519040 w 216"/>
                <a:gd name="T23" fmla="*/ 135097423 h 138"/>
                <a:gd name="T24" fmla="*/ 127893028 w 216"/>
                <a:gd name="T25" fmla="*/ 129223880 h 138"/>
                <a:gd name="T26" fmla="*/ 127893028 w 216"/>
                <a:gd name="T27" fmla="*/ 129223880 h 138"/>
                <a:gd name="T28" fmla="*/ 116266031 w 216"/>
                <a:gd name="T29" fmla="*/ 129223880 h 138"/>
                <a:gd name="T30" fmla="*/ 110452532 w 216"/>
                <a:gd name="T31" fmla="*/ 123349348 h 138"/>
                <a:gd name="T32" fmla="*/ 98826520 w 216"/>
                <a:gd name="T33" fmla="*/ 123349348 h 138"/>
                <a:gd name="T34" fmla="*/ 98826520 w 216"/>
                <a:gd name="T35" fmla="*/ 123349348 h 138"/>
                <a:gd name="T36" fmla="*/ 87199523 w 216"/>
                <a:gd name="T37" fmla="*/ 117475805 h 138"/>
                <a:gd name="T38" fmla="*/ 87199523 w 216"/>
                <a:gd name="T39" fmla="*/ 105728719 h 138"/>
                <a:gd name="T40" fmla="*/ 81386024 w 216"/>
                <a:gd name="T41" fmla="*/ 105728719 h 138"/>
                <a:gd name="T42" fmla="*/ 69760012 w 216"/>
                <a:gd name="T43" fmla="*/ 82233558 h 138"/>
                <a:gd name="T44" fmla="*/ 69760012 w 216"/>
                <a:gd name="T45" fmla="*/ 82233558 h 138"/>
                <a:gd name="T46" fmla="*/ 63946514 w 216"/>
                <a:gd name="T47" fmla="*/ 82233558 h 138"/>
                <a:gd name="T48" fmla="*/ 52319517 w 216"/>
                <a:gd name="T49" fmla="*/ 82233558 h 138"/>
                <a:gd name="T50" fmla="*/ 34880006 w 216"/>
                <a:gd name="T51" fmla="*/ 76359026 h 138"/>
                <a:gd name="T52" fmla="*/ 23253009 w 216"/>
                <a:gd name="T53" fmla="*/ 64611940 h 138"/>
                <a:gd name="T54" fmla="*/ 11626997 w 216"/>
                <a:gd name="T55" fmla="*/ 52863865 h 138"/>
                <a:gd name="T56" fmla="*/ 5813498 w 216"/>
                <a:gd name="T57" fmla="*/ 35243236 h 138"/>
                <a:gd name="T58" fmla="*/ 5813498 w 216"/>
                <a:gd name="T59" fmla="*/ 23495161 h 138"/>
                <a:gd name="T60" fmla="*/ 0 w 216"/>
                <a:gd name="T61" fmla="*/ 11748075 h 138"/>
                <a:gd name="T62" fmla="*/ 11626997 w 216"/>
                <a:gd name="T63" fmla="*/ 11748075 h 138"/>
                <a:gd name="T64" fmla="*/ 17439511 w 216"/>
                <a:gd name="T65" fmla="*/ 17621618 h 138"/>
                <a:gd name="T66" fmla="*/ 29066508 w 216"/>
                <a:gd name="T67" fmla="*/ 17621618 h 138"/>
                <a:gd name="T68" fmla="*/ 40693505 w 216"/>
                <a:gd name="T69" fmla="*/ 17621618 h 138"/>
                <a:gd name="T70" fmla="*/ 46506018 w 216"/>
                <a:gd name="T71" fmla="*/ 11748075 h 138"/>
                <a:gd name="T72" fmla="*/ 52319517 w 216"/>
                <a:gd name="T73" fmla="*/ 0 h 138"/>
                <a:gd name="T74" fmla="*/ 75572526 w 216"/>
                <a:gd name="T75" fmla="*/ 0 h 138"/>
                <a:gd name="T76" fmla="*/ 75572526 w 216"/>
                <a:gd name="T77" fmla="*/ 17621618 h 138"/>
                <a:gd name="T78" fmla="*/ 81386024 w 216"/>
                <a:gd name="T79" fmla="*/ 29368704 h 138"/>
                <a:gd name="T80" fmla="*/ 87199523 w 216"/>
                <a:gd name="T81" fmla="*/ 23495161 h 138"/>
                <a:gd name="T82" fmla="*/ 104640018 w 216"/>
                <a:gd name="T83" fmla="*/ 17621618 h 138"/>
                <a:gd name="T84" fmla="*/ 122079529 w 216"/>
                <a:gd name="T85" fmla="*/ 23495161 h 138"/>
                <a:gd name="T86" fmla="*/ 133706526 w 216"/>
                <a:gd name="T87" fmla="*/ 23495161 h 138"/>
                <a:gd name="T88" fmla="*/ 145332538 w 216"/>
                <a:gd name="T89" fmla="*/ 23495161 h 138"/>
                <a:gd name="T90" fmla="*/ 162773034 w 216"/>
                <a:gd name="T91" fmla="*/ 29368704 h 138"/>
                <a:gd name="T92" fmla="*/ 174399046 w 216"/>
                <a:gd name="T93" fmla="*/ 29368704 h 138"/>
                <a:gd name="T94" fmla="*/ 191839541 w 216"/>
                <a:gd name="T95" fmla="*/ 35243236 h 1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16"/>
                <a:gd name="T145" fmla="*/ 0 h 138"/>
                <a:gd name="T146" fmla="*/ 216 w 216"/>
                <a:gd name="T147" fmla="*/ 138 h 1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16" h="138">
                  <a:moveTo>
                    <a:pt x="198" y="30"/>
                  </a:moveTo>
                  <a:lnTo>
                    <a:pt x="198" y="36"/>
                  </a:lnTo>
                  <a:lnTo>
                    <a:pt x="204" y="36"/>
                  </a:lnTo>
                  <a:lnTo>
                    <a:pt x="204" y="42"/>
                  </a:lnTo>
                  <a:lnTo>
                    <a:pt x="210" y="42"/>
                  </a:lnTo>
                  <a:lnTo>
                    <a:pt x="204" y="42"/>
                  </a:lnTo>
                  <a:lnTo>
                    <a:pt x="204" y="48"/>
                  </a:lnTo>
                  <a:lnTo>
                    <a:pt x="210" y="48"/>
                  </a:lnTo>
                  <a:lnTo>
                    <a:pt x="204" y="48"/>
                  </a:lnTo>
                  <a:lnTo>
                    <a:pt x="210" y="48"/>
                  </a:lnTo>
                  <a:lnTo>
                    <a:pt x="216" y="48"/>
                  </a:lnTo>
                  <a:lnTo>
                    <a:pt x="210" y="48"/>
                  </a:lnTo>
                  <a:lnTo>
                    <a:pt x="216" y="54"/>
                  </a:lnTo>
                  <a:lnTo>
                    <a:pt x="216" y="48"/>
                  </a:lnTo>
                  <a:lnTo>
                    <a:pt x="216" y="54"/>
                  </a:lnTo>
                  <a:lnTo>
                    <a:pt x="210" y="54"/>
                  </a:lnTo>
                  <a:lnTo>
                    <a:pt x="204" y="60"/>
                  </a:lnTo>
                  <a:lnTo>
                    <a:pt x="204" y="66"/>
                  </a:lnTo>
                  <a:lnTo>
                    <a:pt x="204" y="72"/>
                  </a:lnTo>
                  <a:lnTo>
                    <a:pt x="198" y="72"/>
                  </a:lnTo>
                  <a:lnTo>
                    <a:pt x="192" y="72"/>
                  </a:lnTo>
                  <a:lnTo>
                    <a:pt x="192" y="78"/>
                  </a:lnTo>
                  <a:lnTo>
                    <a:pt x="192" y="84"/>
                  </a:lnTo>
                  <a:lnTo>
                    <a:pt x="186" y="84"/>
                  </a:lnTo>
                  <a:lnTo>
                    <a:pt x="186" y="90"/>
                  </a:lnTo>
                  <a:lnTo>
                    <a:pt x="180" y="90"/>
                  </a:lnTo>
                  <a:lnTo>
                    <a:pt x="180" y="96"/>
                  </a:lnTo>
                  <a:lnTo>
                    <a:pt x="174" y="96"/>
                  </a:lnTo>
                  <a:lnTo>
                    <a:pt x="174" y="102"/>
                  </a:lnTo>
                  <a:lnTo>
                    <a:pt x="174" y="108"/>
                  </a:lnTo>
                  <a:lnTo>
                    <a:pt x="180" y="108"/>
                  </a:lnTo>
                  <a:lnTo>
                    <a:pt x="180" y="114"/>
                  </a:lnTo>
                  <a:lnTo>
                    <a:pt x="174" y="114"/>
                  </a:lnTo>
                  <a:lnTo>
                    <a:pt x="174" y="120"/>
                  </a:lnTo>
                  <a:lnTo>
                    <a:pt x="168" y="120"/>
                  </a:lnTo>
                  <a:lnTo>
                    <a:pt x="168" y="126"/>
                  </a:lnTo>
                  <a:lnTo>
                    <a:pt x="162" y="126"/>
                  </a:lnTo>
                  <a:lnTo>
                    <a:pt x="162" y="132"/>
                  </a:lnTo>
                  <a:lnTo>
                    <a:pt x="168" y="132"/>
                  </a:lnTo>
                  <a:lnTo>
                    <a:pt x="162" y="132"/>
                  </a:lnTo>
                  <a:lnTo>
                    <a:pt x="162" y="138"/>
                  </a:lnTo>
                  <a:lnTo>
                    <a:pt x="156" y="138"/>
                  </a:lnTo>
                  <a:lnTo>
                    <a:pt x="156" y="132"/>
                  </a:lnTo>
                  <a:lnTo>
                    <a:pt x="156" y="138"/>
                  </a:lnTo>
                  <a:lnTo>
                    <a:pt x="156" y="132"/>
                  </a:lnTo>
                  <a:lnTo>
                    <a:pt x="150" y="138"/>
                  </a:lnTo>
                  <a:lnTo>
                    <a:pt x="150" y="132"/>
                  </a:lnTo>
                  <a:lnTo>
                    <a:pt x="144" y="138"/>
                  </a:lnTo>
                  <a:lnTo>
                    <a:pt x="144" y="132"/>
                  </a:lnTo>
                  <a:lnTo>
                    <a:pt x="138" y="132"/>
                  </a:lnTo>
                  <a:lnTo>
                    <a:pt x="138" y="126"/>
                  </a:lnTo>
                  <a:lnTo>
                    <a:pt x="132" y="132"/>
                  </a:lnTo>
                  <a:lnTo>
                    <a:pt x="132" y="126"/>
                  </a:lnTo>
                  <a:lnTo>
                    <a:pt x="132" y="132"/>
                  </a:lnTo>
                  <a:lnTo>
                    <a:pt x="126" y="132"/>
                  </a:lnTo>
                  <a:lnTo>
                    <a:pt x="132" y="132"/>
                  </a:lnTo>
                  <a:lnTo>
                    <a:pt x="126" y="132"/>
                  </a:lnTo>
                  <a:lnTo>
                    <a:pt x="126" y="126"/>
                  </a:lnTo>
                  <a:lnTo>
                    <a:pt x="120" y="126"/>
                  </a:lnTo>
                  <a:lnTo>
                    <a:pt x="120" y="132"/>
                  </a:lnTo>
                  <a:lnTo>
                    <a:pt x="120" y="126"/>
                  </a:lnTo>
                  <a:lnTo>
                    <a:pt x="114" y="126"/>
                  </a:lnTo>
                  <a:lnTo>
                    <a:pt x="114" y="132"/>
                  </a:lnTo>
                  <a:lnTo>
                    <a:pt x="114" y="126"/>
                  </a:lnTo>
                  <a:lnTo>
                    <a:pt x="114" y="132"/>
                  </a:lnTo>
                  <a:lnTo>
                    <a:pt x="108" y="132"/>
                  </a:lnTo>
                  <a:lnTo>
                    <a:pt x="108" y="126"/>
                  </a:lnTo>
                  <a:lnTo>
                    <a:pt x="102" y="126"/>
                  </a:lnTo>
                  <a:lnTo>
                    <a:pt x="102" y="120"/>
                  </a:lnTo>
                  <a:lnTo>
                    <a:pt x="108" y="120"/>
                  </a:lnTo>
                  <a:lnTo>
                    <a:pt x="102" y="120"/>
                  </a:lnTo>
                  <a:lnTo>
                    <a:pt x="102" y="126"/>
                  </a:lnTo>
                  <a:lnTo>
                    <a:pt x="96" y="120"/>
                  </a:lnTo>
                  <a:lnTo>
                    <a:pt x="96" y="126"/>
                  </a:lnTo>
                  <a:lnTo>
                    <a:pt x="96" y="120"/>
                  </a:lnTo>
                  <a:lnTo>
                    <a:pt x="90" y="120"/>
                  </a:lnTo>
                  <a:lnTo>
                    <a:pt x="90" y="114"/>
                  </a:lnTo>
                  <a:lnTo>
                    <a:pt x="84" y="114"/>
                  </a:lnTo>
                  <a:lnTo>
                    <a:pt x="84" y="108"/>
                  </a:lnTo>
                  <a:lnTo>
                    <a:pt x="90" y="108"/>
                  </a:lnTo>
                  <a:lnTo>
                    <a:pt x="90" y="102"/>
                  </a:lnTo>
                  <a:lnTo>
                    <a:pt x="84" y="108"/>
                  </a:lnTo>
                  <a:lnTo>
                    <a:pt x="84" y="102"/>
                  </a:lnTo>
                  <a:lnTo>
                    <a:pt x="84" y="108"/>
                  </a:lnTo>
                  <a:lnTo>
                    <a:pt x="84" y="102"/>
                  </a:lnTo>
                  <a:lnTo>
                    <a:pt x="84" y="96"/>
                  </a:lnTo>
                  <a:lnTo>
                    <a:pt x="78" y="90"/>
                  </a:lnTo>
                  <a:lnTo>
                    <a:pt x="72" y="84"/>
                  </a:lnTo>
                  <a:lnTo>
                    <a:pt x="78" y="84"/>
                  </a:lnTo>
                  <a:lnTo>
                    <a:pt x="72" y="84"/>
                  </a:lnTo>
                  <a:lnTo>
                    <a:pt x="78" y="84"/>
                  </a:lnTo>
                  <a:lnTo>
                    <a:pt x="72" y="84"/>
                  </a:lnTo>
                  <a:lnTo>
                    <a:pt x="78" y="84"/>
                  </a:lnTo>
                  <a:lnTo>
                    <a:pt x="72" y="78"/>
                  </a:lnTo>
                  <a:lnTo>
                    <a:pt x="66" y="78"/>
                  </a:lnTo>
                  <a:lnTo>
                    <a:pt x="66" y="84"/>
                  </a:lnTo>
                  <a:lnTo>
                    <a:pt x="60" y="84"/>
                  </a:lnTo>
                  <a:lnTo>
                    <a:pt x="60" y="90"/>
                  </a:lnTo>
                  <a:lnTo>
                    <a:pt x="54" y="90"/>
                  </a:lnTo>
                  <a:lnTo>
                    <a:pt x="54" y="84"/>
                  </a:lnTo>
                  <a:lnTo>
                    <a:pt x="48" y="84"/>
                  </a:lnTo>
                  <a:lnTo>
                    <a:pt x="48" y="78"/>
                  </a:lnTo>
                  <a:lnTo>
                    <a:pt x="42" y="78"/>
                  </a:lnTo>
                  <a:lnTo>
                    <a:pt x="36" y="78"/>
                  </a:lnTo>
                  <a:lnTo>
                    <a:pt x="36" y="72"/>
                  </a:lnTo>
                  <a:lnTo>
                    <a:pt x="30" y="72"/>
                  </a:lnTo>
                  <a:lnTo>
                    <a:pt x="24" y="72"/>
                  </a:lnTo>
                  <a:lnTo>
                    <a:pt x="24" y="66"/>
                  </a:lnTo>
                  <a:lnTo>
                    <a:pt x="18" y="66"/>
                  </a:lnTo>
                  <a:lnTo>
                    <a:pt x="18" y="60"/>
                  </a:lnTo>
                  <a:lnTo>
                    <a:pt x="12" y="60"/>
                  </a:lnTo>
                  <a:lnTo>
                    <a:pt x="12" y="54"/>
                  </a:lnTo>
                  <a:lnTo>
                    <a:pt x="12" y="48"/>
                  </a:lnTo>
                  <a:lnTo>
                    <a:pt x="6" y="48"/>
                  </a:lnTo>
                  <a:lnTo>
                    <a:pt x="6" y="42"/>
                  </a:lnTo>
                  <a:lnTo>
                    <a:pt x="6" y="36"/>
                  </a:lnTo>
                  <a:lnTo>
                    <a:pt x="6" y="30"/>
                  </a:lnTo>
                  <a:lnTo>
                    <a:pt x="6" y="24"/>
                  </a:lnTo>
                  <a:lnTo>
                    <a:pt x="0" y="24"/>
                  </a:lnTo>
                  <a:lnTo>
                    <a:pt x="6" y="24"/>
                  </a:lnTo>
                  <a:lnTo>
                    <a:pt x="0" y="24"/>
                  </a:lnTo>
                  <a:lnTo>
                    <a:pt x="6" y="18"/>
                  </a:lnTo>
                  <a:lnTo>
                    <a:pt x="6" y="12"/>
                  </a:lnTo>
                  <a:lnTo>
                    <a:pt x="0" y="12"/>
                  </a:lnTo>
                  <a:lnTo>
                    <a:pt x="6" y="12"/>
                  </a:lnTo>
                  <a:lnTo>
                    <a:pt x="6" y="6"/>
                  </a:lnTo>
                  <a:lnTo>
                    <a:pt x="6" y="12"/>
                  </a:lnTo>
                  <a:lnTo>
                    <a:pt x="12" y="12"/>
                  </a:lnTo>
                  <a:lnTo>
                    <a:pt x="12" y="18"/>
                  </a:lnTo>
                  <a:lnTo>
                    <a:pt x="12" y="24"/>
                  </a:lnTo>
                  <a:lnTo>
                    <a:pt x="18" y="24"/>
                  </a:lnTo>
                  <a:lnTo>
                    <a:pt x="18" y="18"/>
                  </a:lnTo>
                  <a:lnTo>
                    <a:pt x="24" y="18"/>
                  </a:lnTo>
                  <a:lnTo>
                    <a:pt x="18" y="18"/>
                  </a:lnTo>
                  <a:lnTo>
                    <a:pt x="24" y="18"/>
                  </a:lnTo>
                  <a:lnTo>
                    <a:pt x="30" y="18"/>
                  </a:lnTo>
                  <a:lnTo>
                    <a:pt x="30" y="24"/>
                  </a:lnTo>
                  <a:lnTo>
                    <a:pt x="36" y="24"/>
                  </a:lnTo>
                  <a:lnTo>
                    <a:pt x="36" y="18"/>
                  </a:lnTo>
                  <a:lnTo>
                    <a:pt x="42" y="18"/>
                  </a:lnTo>
                  <a:lnTo>
                    <a:pt x="42" y="24"/>
                  </a:lnTo>
                  <a:lnTo>
                    <a:pt x="48" y="24"/>
                  </a:lnTo>
                  <a:lnTo>
                    <a:pt x="48" y="18"/>
                  </a:lnTo>
                  <a:lnTo>
                    <a:pt x="48" y="12"/>
                  </a:lnTo>
                  <a:lnTo>
                    <a:pt x="48" y="6"/>
                  </a:lnTo>
                  <a:lnTo>
                    <a:pt x="54" y="0"/>
                  </a:lnTo>
                  <a:lnTo>
                    <a:pt x="54" y="6"/>
                  </a:lnTo>
                  <a:lnTo>
                    <a:pt x="54" y="0"/>
                  </a:lnTo>
                  <a:lnTo>
                    <a:pt x="60" y="0"/>
                  </a:lnTo>
                  <a:lnTo>
                    <a:pt x="66" y="0"/>
                  </a:lnTo>
                  <a:lnTo>
                    <a:pt x="72" y="0"/>
                  </a:lnTo>
                  <a:lnTo>
                    <a:pt x="78" y="0"/>
                  </a:lnTo>
                  <a:lnTo>
                    <a:pt x="72" y="6"/>
                  </a:lnTo>
                  <a:lnTo>
                    <a:pt x="72" y="12"/>
                  </a:lnTo>
                  <a:lnTo>
                    <a:pt x="72" y="18"/>
                  </a:lnTo>
                  <a:lnTo>
                    <a:pt x="78" y="18"/>
                  </a:lnTo>
                  <a:lnTo>
                    <a:pt x="78" y="24"/>
                  </a:lnTo>
                  <a:lnTo>
                    <a:pt x="78" y="30"/>
                  </a:lnTo>
                  <a:lnTo>
                    <a:pt x="84" y="24"/>
                  </a:lnTo>
                  <a:lnTo>
                    <a:pt x="84" y="30"/>
                  </a:lnTo>
                  <a:lnTo>
                    <a:pt x="84" y="24"/>
                  </a:lnTo>
                  <a:lnTo>
                    <a:pt x="84" y="30"/>
                  </a:lnTo>
                  <a:lnTo>
                    <a:pt x="90" y="30"/>
                  </a:lnTo>
                  <a:lnTo>
                    <a:pt x="90" y="24"/>
                  </a:lnTo>
                  <a:lnTo>
                    <a:pt x="96" y="24"/>
                  </a:lnTo>
                  <a:lnTo>
                    <a:pt x="102" y="24"/>
                  </a:lnTo>
                  <a:lnTo>
                    <a:pt x="102" y="18"/>
                  </a:lnTo>
                  <a:lnTo>
                    <a:pt x="108" y="18"/>
                  </a:lnTo>
                  <a:lnTo>
                    <a:pt x="114" y="18"/>
                  </a:lnTo>
                  <a:lnTo>
                    <a:pt x="120" y="18"/>
                  </a:lnTo>
                  <a:lnTo>
                    <a:pt x="120" y="24"/>
                  </a:lnTo>
                  <a:lnTo>
                    <a:pt x="126" y="24"/>
                  </a:lnTo>
                  <a:lnTo>
                    <a:pt x="132" y="24"/>
                  </a:lnTo>
                  <a:lnTo>
                    <a:pt x="132" y="30"/>
                  </a:lnTo>
                  <a:lnTo>
                    <a:pt x="132" y="24"/>
                  </a:lnTo>
                  <a:lnTo>
                    <a:pt x="138" y="24"/>
                  </a:lnTo>
                  <a:lnTo>
                    <a:pt x="144" y="24"/>
                  </a:lnTo>
                  <a:lnTo>
                    <a:pt x="150" y="24"/>
                  </a:lnTo>
                  <a:lnTo>
                    <a:pt x="150" y="30"/>
                  </a:lnTo>
                  <a:lnTo>
                    <a:pt x="150" y="24"/>
                  </a:lnTo>
                  <a:lnTo>
                    <a:pt x="156" y="24"/>
                  </a:lnTo>
                  <a:lnTo>
                    <a:pt x="162" y="24"/>
                  </a:lnTo>
                  <a:lnTo>
                    <a:pt x="168" y="24"/>
                  </a:lnTo>
                  <a:lnTo>
                    <a:pt x="168" y="30"/>
                  </a:lnTo>
                  <a:lnTo>
                    <a:pt x="168" y="36"/>
                  </a:lnTo>
                  <a:lnTo>
                    <a:pt x="174" y="36"/>
                  </a:lnTo>
                  <a:lnTo>
                    <a:pt x="180" y="36"/>
                  </a:lnTo>
                  <a:lnTo>
                    <a:pt x="180" y="30"/>
                  </a:lnTo>
                  <a:lnTo>
                    <a:pt x="186" y="30"/>
                  </a:lnTo>
                  <a:lnTo>
                    <a:pt x="192" y="30"/>
                  </a:lnTo>
                  <a:lnTo>
                    <a:pt x="198" y="30"/>
                  </a:lnTo>
                  <a:lnTo>
                    <a:pt x="198" y="36"/>
                  </a:lnTo>
                  <a:lnTo>
                    <a:pt x="198" y="30"/>
                  </a:lnTo>
                  <a:close/>
                </a:path>
              </a:pathLst>
            </a:custGeom>
            <a:solidFill>
              <a:schemeClr val="accent1"/>
            </a:solidFill>
            <a:ln w="9525">
              <a:solidFill>
                <a:srgbClr val="B2B2B2"/>
              </a:solidFill>
              <a:round/>
              <a:headEnd/>
              <a:tailEnd/>
            </a:ln>
          </p:spPr>
          <p:txBody>
            <a:bodyPr/>
            <a:lstStyle/>
            <a:p>
              <a:endParaRPr lang="en-CA"/>
            </a:p>
          </p:txBody>
        </p:sp>
        <p:sp>
          <p:nvSpPr>
            <p:cNvPr id="401" name="Freeform 460"/>
            <p:cNvSpPr>
              <a:spLocks noEditPoints="1"/>
            </p:cNvSpPr>
            <p:nvPr>
              <p:custDataLst>
                <p:tags r:id="rId24"/>
              </p:custDataLst>
            </p:nvPr>
          </p:nvSpPr>
          <p:spPr bwMode="gray">
            <a:xfrm>
              <a:off x="882" y="3017"/>
              <a:ext cx="23" cy="26"/>
            </a:xfrm>
            <a:custGeom>
              <a:avLst/>
              <a:gdLst>
                <a:gd name="T0" fmla="*/ 36427803 w 36"/>
                <a:gd name="T1" fmla="*/ 17696165 h 42"/>
                <a:gd name="T2" fmla="*/ 36427803 w 36"/>
                <a:gd name="T3" fmla="*/ 23595542 h 42"/>
                <a:gd name="T4" fmla="*/ 36427803 w 36"/>
                <a:gd name="T5" fmla="*/ 29493936 h 42"/>
                <a:gd name="T6" fmla="*/ 30356503 w 36"/>
                <a:gd name="T7" fmla="*/ 29493936 h 42"/>
                <a:gd name="T8" fmla="*/ 30356503 w 36"/>
                <a:gd name="T9" fmla="*/ 35393313 h 42"/>
                <a:gd name="T10" fmla="*/ 24285202 w 36"/>
                <a:gd name="T11" fmla="*/ 35393313 h 42"/>
                <a:gd name="T12" fmla="*/ 24285202 w 36"/>
                <a:gd name="T13" fmla="*/ 41291707 h 42"/>
                <a:gd name="T14" fmla="*/ 18213902 w 36"/>
                <a:gd name="T15" fmla="*/ 41291707 h 42"/>
                <a:gd name="T16" fmla="*/ 18213902 w 36"/>
                <a:gd name="T17" fmla="*/ 35393313 h 42"/>
                <a:gd name="T18" fmla="*/ 24285202 w 36"/>
                <a:gd name="T19" fmla="*/ 35393313 h 42"/>
                <a:gd name="T20" fmla="*/ 18213902 w 36"/>
                <a:gd name="T21" fmla="*/ 35393313 h 42"/>
                <a:gd name="T22" fmla="*/ 24285202 w 36"/>
                <a:gd name="T23" fmla="*/ 35393313 h 42"/>
                <a:gd name="T24" fmla="*/ 18213902 w 36"/>
                <a:gd name="T25" fmla="*/ 35393313 h 42"/>
                <a:gd name="T26" fmla="*/ 18213902 w 36"/>
                <a:gd name="T27" fmla="*/ 29493936 h 42"/>
                <a:gd name="T28" fmla="*/ 12142601 w 36"/>
                <a:gd name="T29" fmla="*/ 29493936 h 42"/>
                <a:gd name="T30" fmla="*/ 18213902 w 36"/>
                <a:gd name="T31" fmla="*/ 29493936 h 42"/>
                <a:gd name="T32" fmla="*/ 12142601 w 36"/>
                <a:gd name="T33" fmla="*/ 23595542 h 42"/>
                <a:gd name="T34" fmla="*/ 18213902 w 36"/>
                <a:gd name="T35" fmla="*/ 23595542 h 42"/>
                <a:gd name="T36" fmla="*/ 12142601 w 36"/>
                <a:gd name="T37" fmla="*/ 23595542 h 42"/>
                <a:gd name="T38" fmla="*/ 12142601 w 36"/>
                <a:gd name="T39" fmla="*/ 17696165 h 42"/>
                <a:gd name="T40" fmla="*/ 12142601 w 36"/>
                <a:gd name="T41" fmla="*/ 11797771 h 42"/>
                <a:gd name="T42" fmla="*/ 12142601 w 36"/>
                <a:gd name="T43" fmla="*/ 5898394 h 42"/>
                <a:gd name="T44" fmla="*/ 18213902 w 36"/>
                <a:gd name="T45" fmla="*/ 5898394 h 42"/>
                <a:gd name="T46" fmla="*/ 12142601 w 36"/>
                <a:gd name="T47" fmla="*/ 5898394 h 42"/>
                <a:gd name="T48" fmla="*/ 18213902 w 36"/>
                <a:gd name="T49" fmla="*/ 11797771 h 42"/>
                <a:gd name="T50" fmla="*/ 18213902 w 36"/>
                <a:gd name="T51" fmla="*/ 5898394 h 42"/>
                <a:gd name="T52" fmla="*/ 24285202 w 36"/>
                <a:gd name="T53" fmla="*/ 5898394 h 42"/>
                <a:gd name="T54" fmla="*/ 30356503 w 36"/>
                <a:gd name="T55" fmla="*/ 5898394 h 42"/>
                <a:gd name="T56" fmla="*/ 30356503 w 36"/>
                <a:gd name="T57" fmla="*/ 11797771 h 42"/>
                <a:gd name="T58" fmla="*/ 36427803 w 36"/>
                <a:gd name="T59" fmla="*/ 11797771 h 42"/>
                <a:gd name="T60" fmla="*/ 36427803 w 36"/>
                <a:gd name="T61" fmla="*/ 17696165 h 42"/>
                <a:gd name="T62" fmla="*/ 6071301 w 36"/>
                <a:gd name="T63" fmla="*/ 0 h 42"/>
                <a:gd name="T64" fmla="*/ 6071301 w 36"/>
                <a:gd name="T65" fmla="*/ 5898394 h 42"/>
                <a:gd name="T66" fmla="*/ 0 w 36"/>
                <a:gd name="T67" fmla="*/ 5898394 h 42"/>
                <a:gd name="T68" fmla="*/ 6071301 w 36"/>
                <a:gd name="T69" fmla="*/ 0 h 42"/>
                <a:gd name="T70" fmla="*/ 0 w 36"/>
                <a:gd name="T71" fmla="*/ 0 h 42"/>
                <a:gd name="T72" fmla="*/ 6071301 w 36"/>
                <a:gd name="T73" fmla="*/ 0 h 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6"/>
                <a:gd name="T112" fmla="*/ 0 h 42"/>
                <a:gd name="T113" fmla="*/ 36 w 36"/>
                <a:gd name="T114" fmla="*/ 42 h 4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6" h="42">
                  <a:moveTo>
                    <a:pt x="36" y="18"/>
                  </a:moveTo>
                  <a:lnTo>
                    <a:pt x="36" y="24"/>
                  </a:lnTo>
                  <a:lnTo>
                    <a:pt x="36" y="30"/>
                  </a:lnTo>
                  <a:lnTo>
                    <a:pt x="30" y="30"/>
                  </a:lnTo>
                  <a:lnTo>
                    <a:pt x="30" y="36"/>
                  </a:lnTo>
                  <a:lnTo>
                    <a:pt x="24" y="36"/>
                  </a:lnTo>
                  <a:lnTo>
                    <a:pt x="24" y="42"/>
                  </a:lnTo>
                  <a:lnTo>
                    <a:pt x="18" y="42"/>
                  </a:lnTo>
                  <a:lnTo>
                    <a:pt x="18" y="36"/>
                  </a:lnTo>
                  <a:lnTo>
                    <a:pt x="24" y="36"/>
                  </a:lnTo>
                  <a:lnTo>
                    <a:pt x="18" y="36"/>
                  </a:lnTo>
                  <a:lnTo>
                    <a:pt x="24" y="36"/>
                  </a:lnTo>
                  <a:lnTo>
                    <a:pt x="18" y="36"/>
                  </a:lnTo>
                  <a:lnTo>
                    <a:pt x="18" y="30"/>
                  </a:lnTo>
                  <a:lnTo>
                    <a:pt x="12" y="30"/>
                  </a:lnTo>
                  <a:lnTo>
                    <a:pt x="18" y="30"/>
                  </a:lnTo>
                  <a:lnTo>
                    <a:pt x="12" y="24"/>
                  </a:lnTo>
                  <a:lnTo>
                    <a:pt x="18" y="24"/>
                  </a:lnTo>
                  <a:lnTo>
                    <a:pt x="12" y="24"/>
                  </a:lnTo>
                  <a:lnTo>
                    <a:pt x="12" y="18"/>
                  </a:lnTo>
                  <a:lnTo>
                    <a:pt x="12" y="12"/>
                  </a:lnTo>
                  <a:lnTo>
                    <a:pt x="12" y="6"/>
                  </a:lnTo>
                  <a:lnTo>
                    <a:pt x="18" y="6"/>
                  </a:lnTo>
                  <a:lnTo>
                    <a:pt x="12" y="6"/>
                  </a:lnTo>
                  <a:lnTo>
                    <a:pt x="18" y="12"/>
                  </a:lnTo>
                  <a:lnTo>
                    <a:pt x="18" y="6"/>
                  </a:lnTo>
                  <a:lnTo>
                    <a:pt x="24" y="6"/>
                  </a:lnTo>
                  <a:lnTo>
                    <a:pt x="30" y="6"/>
                  </a:lnTo>
                  <a:lnTo>
                    <a:pt x="30" y="12"/>
                  </a:lnTo>
                  <a:lnTo>
                    <a:pt x="36" y="12"/>
                  </a:lnTo>
                  <a:lnTo>
                    <a:pt x="36" y="18"/>
                  </a:lnTo>
                  <a:close/>
                  <a:moveTo>
                    <a:pt x="6" y="0"/>
                  </a:moveTo>
                  <a:lnTo>
                    <a:pt x="6" y="6"/>
                  </a:lnTo>
                  <a:lnTo>
                    <a:pt x="0" y="6"/>
                  </a:lnTo>
                  <a:lnTo>
                    <a:pt x="6" y="0"/>
                  </a:lnTo>
                  <a:lnTo>
                    <a:pt x="0" y="0"/>
                  </a:lnTo>
                  <a:lnTo>
                    <a:pt x="6" y="0"/>
                  </a:lnTo>
                  <a:close/>
                </a:path>
              </a:pathLst>
            </a:custGeom>
            <a:solidFill>
              <a:schemeClr val="accent1"/>
            </a:solidFill>
            <a:ln w="9525">
              <a:solidFill>
                <a:srgbClr val="B2B2B2"/>
              </a:solidFill>
              <a:round/>
              <a:headEnd/>
              <a:tailEnd/>
            </a:ln>
          </p:spPr>
          <p:txBody>
            <a:bodyPr/>
            <a:lstStyle/>
            <a:p>
              <a:endParaRPr lang="en-CA"/>
            </a:p>
          </p:txBody>
        </p:sp>
        <p:sp>
          <p:nvSpPr>
            <p:cNvPr id="402" name="Freeform 461"/>
            <p:cNvSpPr>
              <a:spLocks noEditPoints="1"/>
            </p:cNvSpPr>
            <p:nvPr>
              <p:custDataLst>
                <p:tags r:id="rId25"/>
              </p:custDataLst>
            </p:nvPr>
          </p:nvSpPr>
          <p:spPr bwMode="gray">
            <a:xfrm>
              <a:off x="825" y="2968"/>
              <a:ext cx="147" cy="135"/>
            </a:xfrm>
            <a:custGeom>
              <a:avLst/>
              <a:gdLst>
                <a:gd name="T0" fmla="*/ 148283600 w 234"/>
                <a:gd name="T1" fmla="*/ 201084133 h 216"/>
                <a:gd name="T2" fmla="*/ 154215383 w 234"/>
                <a:gd name="T3" fmla="*/ 189256238 h 216"/>
                <a:gd name="T4" fmla="*/ 136421032 w 234"/>
                <a:gd name="T5" fmla="*/ 177427351 h 216"/>
                <a:gd name="T6" fmla="*/ 118626681 w 234"/>
                <a:gd name="T7" fmla="*/ 177427351 h 216"/>
                <a:gd name="T8" fmla="*/ 100833327 w 234"/>
                <a:gd name="T9" fmla="*/ 165599457 h 216"/>
                <a:gd name="T10" fmla="*/ 94901544 w 234"/>
                <a:gd name="T11" fmla="*/ 165599457 h 216"/>
                <a:gd name="T12" fmla="*/ 88969761 w 234"/>
                <a:gd name="T13" fmla="*/ 147856126 h 216"/>
                <a:gd name="T14" fmla="*/ 77107193 w 234"/>
                <a:gd name="T15" fmla="*/ 141941683 h 216"/>
                <a:gd name="T16" fmla="*/ 71176407 w 234"/>
                <a:gd name="T17" fmla="*/ 130113788 h 216"/>
                <a:gd name="T18" fmla="*/ 59313839 w 234"/>
                <a:gd name="T19" fmla="*/ 136028231 h 216"/>
                <a:gd name="T20" fmla="*/ 41519488 w 234"/>
                <a:gd name="T21" fmla="*/ 136028231 h 216"/>
                <a:gd name="T22" fmla="*/ 23725137 w 234"/>
                <a:gd name="T23" fmla="*/ 136028231 h 216"/>
                <a:gd name="T24" fmla="*/ 5931783 w 234"/>
                <a:gd name="T25" fmla="*/ 136028231 h 216"/>
                <a:gd name="T26" fmla="*/ 5931783 w 234"/>
                <a:gd name="T27" fmla="*/ 118284901 h 216"/>
                <a:gd name="T28" fmla="*/ 5931783 w 234"/>
                <a:gd name="T29" fmla="*/ 112370457 h 216"/>
                <a:gd name="T30" fmla="*/ 11862568 w 234"/>
                <a:gd name="T31" fmla="*/ 100542563 h 216"/>
                <a:gd name="T32" fmla="*/ 0 w 234"/>
                <a:gd name="T33" fmla="*/ 82799232 h 216"/>
                <a:gd name="T34" fmla="*/ 5931783 w 234"/>
                <a:gd name="T35" fmla="*/ 70971337 h 216"/>
                <a:gd name="T36" fmla="*/ 5931783 w 234"/>
                <a:gd name="T37" fmla="*/ 65056894 h 216"/>
                <a:gd name="T38" fmla="*/ 17794351 w 234"/>
                <a:gd name="T39" fmla="*/ 47313564 h 216"/>
                <a:gd name="T40" fmla="*/ 17794351 w 234"/>
                <a:gd name="T41" fmla="*/ 41400112 h 216"/>
                <a:gd name="T42" fmla="*/ 41519488 w 234"/>
                <a:gd name="T43" fmla="*/ 47313564 h 216"/>
                <a:gd name="T44" fmla="*/ 65244624 w 234"/>
                <a:gd name="T45" fmla="*/ 41400112 h 216"/>
                <a:gd name="T46" fmla="*/ 83038976 w 234"/>
                <a:gd name="T47" fmla="*/ 29571225 h 216"/>
                <a:gd name="T48" fmla="*/ 94901544 w 234"/>
                <a:gd name="T49" fmla="*/ 23656782 h 216"/>
                <a:gd name="T50" fmla="*/ 88969761 w 234"/>
                <a:gd name="T51" fmla="*/ 11828887 h 216"/>
                <a:gd name="T52" fmla="*/ 106764112 w 234"/>
                <a:gd name="T53" fmla="*/ 11828887 h 216"/>
                <a:gd name="T54" fmla="*/ 112695895 w 234"/>
                <a:gd name="T55" fmla="*/ 0 h 216"/>
                <a:gd name="T56" fmla="*/ 130489249 w 234"/>
                <a:gd name="T57" fmla="*/ 11828887 h 216"/>
                <a:gd name="T58" fmla="*/ 142352815 w 234"/>
                <a:gd name="T59" fmla="*/ 17742338 h 216"/>
                <a:gd name="T60" fmla="*/ 148283600 w 234"/>
                <a:gd name="T61" fmla="*/ 35485669 h 216"/>
                <a:gd name="T62" fmla="*/ 148283600 w 234"/>
                <a:gd name="T63" fmla="*/ 53228007 h 216"/>
                <a:gd name="T64" fmla="*/ 160146168 w 234"/>
                <a:gd name="T65" fmla="*/ 70971337 h 216"/>
                <a:gd name="T66" fmla="*/ 177940520 w 234"/>
                <a:gd name="T67" fmla="*/ 82799232 h 216"/>
                <a:gd name="T68" fmla="*/ 195734871 w 234"/>
                <a:gd name="T69" fmla="*/ 94628119 h 216"/>
                <a:gd name="T70" fmla="*/ 207597439 w 234"/>
                <a:gd name="T71" fmla="*/ 88713676 h 216"/>
                <a:gd name="T72" fmla="*/ 213528225 w 234"/>
                <a:gd name="T73" fmla="*/ 94628119 h 216"/>
                <a:gd name="T74" fmla="*/ 225390793 w 234"/>
                <a:gd name="T75" fmla="*/ 112370457 h 216"/>
                <a:gd name="T76" fmla="*/ 231322576 w 234"/>
                <a:gd name="T77" fmla="*/ 118284901 h 216"/>
                <a:gd name="T78" fmla="*/ 225390793 w 234"/>
                <a:gd name="T79" fmla="*/ 136028231 h 216"/>
                <a:gd name="T80" fmla="*/ 207597439 w 234"/>
                <a:gd name="T81" fmla="*/ 147856126 h 216"/>
                <a:gd name="T82" fmla="*/ 201665656 w 234"/>
                <a:gd name="T83" fmla="*/ 159685013 h 216"/>
                <a:gd name="T84" fmla="*/ 189803088 w 234"/>
                <a:gd name="T85" fmla="*/ 177427351 h 216"/>
                <a:gd name="T86" fmla="*/ 189803088 w 234"/>
                <a:gd name="T87" fmla="*/ 183341795 h 216"/>
                <a:gd name="T88" fmla="*/ 172008737 w 234"/>
                <a:gd name="T89" fmla="*/ 183341795 h 216"/>
                <a:gd name="T90" fmla="*/ 172008737 w 234"/>
                <a:gd name="T91" fmla="*/ 195170682 h 216"/>
                <a:gd name="T92" fmla="*/ 166077951 w 234"/>
                <a:gd name="T93" fmla="*/ 206998577 h 216"/>
                <a:gd name="T94" fmla="*/ 124558463 w 234"/>
                <a:gd name="T95" fmla="*/ 94628119 h 216"/>
                <a:gd name="T96" fmla="*/ 106764112 w 234"/>
                <a:gd name="T97" fmla="*/ 82799232 h 216"/>
                <a:gd name="T98" fmla="*/ 100833327 w 234"/>
                <a:gd name="T99" fmla="*/ 88713676 h 216"/>
                <a:gd name="T100" fmla="*/ 106764112 w 234"/>
                <a:gd name="T101" fmla="*/ 106457006 h 216"/>
                <a:gd name="T102" fmla="*/ 106764112 w 234"/>
                <a:gd name="T103" fmla="*/ 112370457 h 216"/>
                <a:gd name="T104" fmla="*/ 112695895 w 234"/>
                <a:gd name="T105" fmla="*/ 112370457 h 216"/>
                <a:gd name="T106" fmla="*/ 124558463 w 234"/>
                <a:gd name="T107" fmla="*/ 94628119 h 216"/>
                <a:gd name="T108" fmla="*/ 94901544 w 234"/>
                <a:gd name="T109" fmla="*/ 82799232 h 2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34"/>
                <a:gd name="T166" fmla="*/ 0 h 216"/>
                <a:gd name="T167" fmla="*/ 234 w 234"/>
                <a:gd name="T168" fmla="*/ 216 h 21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34" h="216">
                  <a:moveTo>
                    <a:pt x="162" y="216"/>
                  </a:moveTo>
                  <a:lnTo>
                    <a:pt x="156" y="216"/>
                  </a:lnTo>
                  <a:lnTo>
                    <a:pt x="156" y="210"/>
                  </a:lnTo>
                  <a:lnTo>
                    <a:pt x="156" y="204"/>
                  </a:lnTo>
                  <a:lnTo>
                    <a:pt x="150" y="204"/>
                  </a:lnTo>
                  <a:lnTo>
                    <a:pt x="156" y="204"/>
                  </a:lnTo>
                  <a:lnTo>
                    <a:pt x="150" y="204"/>
                  </a:lnTo>
                  <a:lnTo>
                    <a:pt x="150" y="198"/>
                  </a:lnTo>
                  <a:lnTo>
                    <a:pt x="150" y="192"/>
                  </a:lnTo>
                  <a:lnTo>
                    <a:pt x="156" y="192"/>
                  </a:lnTo>
                  <a:lnTo>
                    <a:pt x="156" y="186"/>
                  </a:lnTo>
                  <a:lnTo>
                    <a:pt x="150" y="186"/>
                  </a:lnTo>
                  <a:lnTo>
                    <a:pt x="144" y="186"/>
                  </a:lnTo>
                  <a:lnTo>
                    <a:pt x="138" y="186"/>
                  </a:lnTo>
                  <a:lnTo>
                    <a:pt x="138" y="180"/>
                  </a:lnTo>
                  <a:lnTo>
                    <a:pt x="132" y="180"/>
                  </a:lnTo>
                  <a:lnTo>
                    <a:pt x="132" y="174"/>
                  </a:lnTo>
                  <a:lnTo>
                    <a:pt x="126" y="174"/>
                  </a:lnTo>
                  <a:lnTo>
                    <a:pt x="120" y="174"/>
                  </a:lnTo>
                  <a:lnTo>
                    <a:pt x="120" y="180"/>
                  </a:lnTo>
                  <a:lnTo>
                    <a:pt x="114" y="180"/>
                  </a:lnTo>
                  <a:lnTo>
                    <a:pt x="114" y="174"/>
                  </a:lnTo>
                  <a:lnTo>
                    <a:pt x="108" y="174"/>
                  </a:lnTo>
                  <a:lnTo>
                    <a:pt x="102" y="174"/>
                  </a:lnTo>
                  <a:lnTo>
                    <a:pt x="102" y="168"/>
                  </a:lnTo>
                  <a:lnTo>
                    <a:pt x="102" y="174"/>
                  </a:lnTo>
                  <a:lnTo>
                    <a:pt x="96" y="174"/>
                  </a:lnTo>
                  <a:lnTo>
                    <a:pt x="96" y="168"/>
                  </a:lnTo>
                  <a:lnTo>
                    <a:pt x="96" y="174"/>
                  </a:lnTo>
                  <a:lnTo>
                    <a:pt x="96" y="168"/>
                  </a:lnTo>
                  <a:lnTo>
                    <a:pt x="96" y="162"/>
                  </a:lnTo>
                  <a:lnTo>
                    <a:pt x="90" y="162"/>
                  </a:lnTo>
                  <a:lnTo>
                    <a:pt x="96" y="162"/>
                  </a:lnTo>
                  <a:lnTo>
                    <a:pt x="90" y="156"/>
                  </a:lnTo>
                  <a:lnTo>
                    <a:pt x="90" y="150"/>
                  </a:lnTo>
                  <a:lnTo>
                    <a:pt x="90" y="144"/>
                  </a:lnTo>
                  <a:lnTo>
                    <a:pt x="84" y="144"/>
                  </a:lnTo>
                  <a:lnTo>
                    <a:pt x="84" y="138"/>
                  </a:lnTo>
                  <a:lnTo>
                    <a:pt x="78" y="138"/>
                  </a:lnTo>
                  <a:lnTo>
                    <a:pt x="78" y="144"/>
                  </a:lnTo>
                  <a:lnTo>
                    <a:pt x="78" y="138"/>
                  </a:lnTo>
                  <a:lnTo>
                    <a:pt x="72" y="138"/>
                  </a:lnTo>
                  <a:lnTo>
                    <a:pt x="66" y="138"/>
                  </a:lnTo>
                  <a:lnTo>
                    <a:pt x="66" y="132"/>
                  </a:lnTo>
                  <a:lnTo>
                    <a:pt x="72" y="132"/>
                  </a:lnTo>
                  <a:lnTo>
                    <a:pt x="66" y="132"/>
                  </a:lnTo>
                  <a:lnTo>
                    <a:pt x="60" y="132"/>
                  </a:lnTo>
                  <a:lnTo>
                    <a:pt x="60" y="138"/>
                  </a:lnTo>
                  <a:lnTo>
                    <a:pt x="60" y="132"/>
                  </a:lnTo>
                  <a:lnTo>
                    <a:pt x="60" y="138"/>
                  </a:lnTo>
                  <a:lnTo>
                    <a:pt x="54" y="138"/>
                  </a:lnTo>
                  <a:lnTo>
                    <a:pt x="54" y="144"/>
                  </a:lnTo>
                  <a:lnTo>
                    <a:pt x="48" y="144"/>
                  </a:lnTo>
                  <a:lnTo>
                    <a:pt x="42" y="144"/>
                  </a:lnTo>
                  <a:lnTo>
                    <a:pt x="42" y="138"/>
                  </a:lnTo>
                  <a:lnTo>
                    <a:pt x="36" y="138"/>
                  </a:lnTo>
                  <a:lnTo>
                    <a:pt x="30" y="138"/>
                  </a:lnTo>
                  <a:lnTo>
                    <a:pt x="24" y="138"/>
                  </a:lnTo>
                  <a:lnTo>
                    <a:pt x="24" y="132"/>
                  </a:lnTo>
                  <a:lnTo>
                    <a:pt x="24" y="138"/>
                  </a:lnTo>
                  <a:lnTo>
                    <a:pt x="18" y="138"/>
                  </a:lnTo>
                  <a:lnTo>
                    <a:pt x="24" y="138"/>
                  </a:lnTo>
                  <a:lnTo>
                    <a:pt x="18" y="138"/>
                  </a:lnTo>
                  <a:lnTo>
                    <a:pt x="12" y="138"/>
                  </a:lnTo>
                  <a:lnTo>
                    <a:pt x="6" y="138"/>
                  </a:lnTo>
                  <a:lnTo>
                    <a:pt x="6" y="132"/>
                  </a:lnTo>
                  <a:lnTo>
                    <a:pt x="6" y="126"/>
                  </a:lnTo>
                  <a:lnTo>
                    <a:pt x="12" y="126"/>
                  </a:lnTo>
                  <a:lnTo>
                    <a:pt x="6" y="126"/>
                  </a:lnTo>
                  <a:lnTo>
                    <a:pt x="6" y="120"/>
                  </a:lnTo>
                  <a:lnTo>
                    <a:pt x="12" y="120"/>
                  </a:lnTo>
                  <a:lnTo>
                    <a:pt x="6" y="120"/>
                  </a:lnTo>
                  <a:lnTo>
                    <a:pt x="12" y="120"/>
                  </a:lnTo>
                  <a:lnTo>
                    <a:pt x="12" y="114"/>
                  </a:lnTo>
                  <a:lnTo>
                    <a:pt x="6" y="114"/>
                  </a:lnTo>
                  <a:lnTo>
                    <a:pt x="12" y="114"/>
                  </a:lnTo>
                  <a:lnTo>
                    <a:pt x="12" y="108"/>
                  </a:lnTo>
                  <a:lnTo>
                    <a:pt x="12" y="102"/>
                  </a:lnTo>
                  <a:lnTo>
                    <a:pt x="6" y="102"/>
                  </a:lnTo>
                  <a:lnTo>
                    <a:pt x="12" y="102"/>
                  </a:lnTo>
                  <a:lnTo>
                    <a:pt x="12" y="96"/>
                  </a:lnTo>
                  <a:lnTo>
                    <a:pt x="6" y="96"/>
                  </a:lnTo>
                  <a:lnTo>
                    <a:pt x="6" y="90"/>
                  </a:lnTo>
                  <a:lnTo>
                    <a:pt x="6" y="84"/>
                  </a:lnTo>
                  <a:lnTo>
                    <a:pt x="0" y="84"/>
                  </a:lnTo>
                  <a:lnTo>
                    <a:pt x="0" y="78"/>
                  </a:lnTo>
                  <a:lnTo>
                    <a:pt x="6" y="78"/>
                  </a:lnTo>
                  <a:lnTo>
                    <a:pt x="6" y="72"/>
                  </a:lnTo>
                  <a:lnTo>
                    <a:pt x="6" y="78"/>
                  </a:lnTo>
                  <a:lnTo>
                    <a:pt x="6" y="72"/>
                  </a:lnTo>
                  <a:lnTo>
                    <a:pt x="12" y="72"/>
                  </a:lnTo>
                  <a:lnTo>
                    <a:pt x="6" y="72"/>
                  </a:lnTo>
                  <a:lnTo>
                    <a:pt x="6" y="66"/>
                  </a:lnTo>
                  <a:lnTo>
                    <a:pt x="12" y="66"/>
                  </a:lnTo>
                  <a:lnTo>
                    <a:pt x="6" y="66"/>
                  </a:lnTo>
                  <a:lnTo>
                    <a:pt x="12" y="66"/>
                  </a:lnTo>
                  <a:lnTo>
                    <a:pt x="12" y="60"/>
                  </a:lnTo>
                  <a:lnTo>
                    <a:pt x="18" y="60"/>
                  </a:lnTo>
                  <a:lnTo>
                    <a:pt x="18" y="54"/>
                  </a:lnTo>
                  <a:lnTo>
                    <a:pt x="18" y="48"/>
                  </a:lnTo>
                  <a:lnTo>
                    <a:pt x="12" y="48"/>
                  </a:lnTo>
                  <a:lnTo>
                    <a:pt x="12" y="42"/>
                  </a:lnTo>
                  <a:lnTo>
                    <a:pt x="18" y="42"/>
                  </a:lnTo>
                  <a:lnTo>
                    <a:pt x="12" y="42"/>
                  </a:lnTo>
                  <a:lnTo>
                    <a:pt x="18" y="42"/>
                  </a:lnTo>
                  <a:lnTo>
                    <a:pt x="24" y="42"/>
                  </a:lnTo>
                  <a:lnTo>
                    <a:pt x="30" y="42"/>
                  </a:lnTo>
                  <a:lnTo>
                    <a:pt x="30" y="48"/>
                  </a:lnTo>
                  <a:lnTo>
                    <a:pt x="36" y="48"/>
                  </a:lnTo>
                  <a:lnTo>
                    <a:pt x="42" y="48"/>
                  </a:lnTo>
                  <a:lnTo>
                    <a:pt x="48" y="48"/>
                  </a:lnTo>
                  <a:lnTo>
                    <a:pt x="48" y="42"/>
                  </a:lnTo>
                  <a:lnTo>
                    <a:pt x="54" y="42"/>
                  </a:lnTo>
                  <a:lnTo>
                    <a:pt x="60" y="42"/>
                  </a:lnTo>
                  <a:lnTo>
                    <a:pt x="66" y="42"/>
                  </a:lnTo>
                  <a:lnTo>
                    <a:pt x="66" y="36"/>
                  </a:lnTo>
                  <a:lnTo>
                    <a:pt x="72" y="36"/>
                  </a:lnTo>
                  <a:lnTo>
                    <a:pt x="72" y="30"/>
                  </a:lnTo>
                  <a:lnTo>
                    <a:pt x="78" y="30"/>
                  </a:lnTo>
                  <a:lnTo>
                    <a:pt x="84" y="30"/>
                  </a:lnTo>
                  <a:lnTo>
                    <a:pt x="84" y="36"/>
                  </a:lnTo>
                  <a:lnTo>
                    <a:pt x="90" y="36"/>
                  </a:lnTo>
                  <a:lnTo>
                    <a:pt x="90" y="30"/>
                  </a:lnTo>
                  <a:lnTo>
                    <a:pt x="90" y="24"/>
                  </a:lnTo>
                  <a:lnTo>
                    <a:pt x="96" y="24"/>
                  </a:lnTo>
                  <a:lnTo>
                    <a:pt x="90" y="24"/>
                  </a:lnTo>
                  <a:lnTo>
                    <a:pt x="96" y="24"/>
                  </a:lnTo>
                  <a:lnTo>
                    <a:pt x="96" y="18"/>
                  </a:lnTo>
                  <a:lnTo>
                    <a:pt x="90" y="18"/>
                  </a:lnTo>
                  <a:lnTo>
                    <a:pt x="90" y="12"/>
                  </a:lnTo>
                  <a:lnTo>
                    <a:pt x="96" y="12"/>
                  </a:lnTo>
                  <a:lnTo>
                    <a:pt x="96" y="18"/>
                  </a:lnTo>
                  <a:lnTo>
                    <a:pt x="96" y="12"/>
                  </a:lnTo>
                  <a:lnTo>
                    <a:pt x="102" y="12"/>
                  </a:lnTo>
                  <a:lnTo>
                    <a:pt x="108" y="12"/>
                  </a:lnTo>
                  <a:lnTo>
                    <a:pt x="108" y="6"/>
                  </a:lnTo>
                  <a:lnTo>
                    <a:pt x="114" y="6"/>
                  </a:lnTo>
                  <a:lnTo>
                    <a:pt x="108" y="6"/>
                  </a:lnTo>
                  <a:lnTo>
                    <a:pt x="108" y="0"/>
                  </a:lnTo>
                  <a:lnTo>
                    <a:pt x="114" y="0"/>
                  </a:lnTo>
                  <a:lnTo>
                    <a:pt x="120" y="0"/>
                  </a:lnTo>
                  <a:lnTo>
                    <a:pt x="126" y="0"/>
                  </a:lnTo>
                  <a:lnTo>
                    <a:pt x="126" y="6"/>
                  </a:lnTo>
                  <a:lnTo>
                    <a:pt x="132" y="6"/>
                  </a:lnTo>
                  <a:lnTo>
                    <a:pt x="132" y="12"/>
                  </a:lnTo>
                  <a:lnTo>
                    <a:pt x="132" y="18"/>
                  </a:lnTo>
                  <a:lnTo>
                    <a:pt x="138" y="18"/>
                  </a:lnTo>
                  <a:lnTo>
                    <a:pt x="138" y="12"/>
                  </a:lnTo>
                  <a:lnTo>
                    <a:pt x="144" y="12"/>
                  </a:lnTo>
                  <a:lnTo>
                    <a:pt x="144" y="18"/>
                  </a:lnTo>
                  <a:lnTo>
                    <a:pt x="144" y="24"/>
                  </a:lnTo>
                  <a:lnTo>
                    <a:pt x="150" y="24"/>
                  </a:lnTo>
                  <a:lnTo>
                    <a:pt x="150" y="30"/>
                  </a:lnTo>
                  <a:lnTo>
                    <a:pt x="144" y="36"/>
                  </a:lnTo>
                  <a:lnTo>
                    <a:pt x="150" y="36"/>
                  </a:lnTo>
                  <a:lnTo>
                    <a:pt x="144" y="36"/>
                  </a:lnTo>
                  <a:lnTo>
                    <a:pt x="150" y="36"/>
                  </a:lnTo>
                  <a:lnTo>
                    <a:pt x="150" y="42"/>
                  </a:lnTo>
                  <a:lnTo>
                    <a:pt x="150" y="48"/>
                  </a:lnTo>
                  <a:lnTo>
                    <a:pt x="150" y="54"/>
                  </a:lnTo>
                  <a:lnTo>
                    <a:pt x="150" y="60"/>
                  </a:lnTo>
                  <a:lnTo>
                    <a:pt x="156" y="60"/>
                  </a:lnTo>
                  <a:lnTo>
                    <a:pt x="156" y="66"/>
                  </a:lnTo>
                  <a:lnTo>
                    <a:pt x="156" y="72"/>
                  </a:lnTo>
                  <a:lnTo>
                    <a:pt x="162" y="72"/>
                  </a:lnTo>
                  <a:lnTo>
                    <a:pt x="162" y="78"/>
                  </a:lnTo>
                  <a:lnTo>
                    <a:pt x="168" y="78"/>
                  </a:lnTo>
                  <a:lnTo>
                    <a:pt x="168" y="84"/>
                  </a:lnTo>
                  <a:lnTo>
                    <a:pt x="174" y="84"/>
                  </a:lnTo>
                  <a:lnTo>
                    <a:pt x="180" y="84"/>
                  </a:lnTo>
                  <a:lnTo>
                    <a:pt x="180" y="90"/>
                  </a:lnTo>
                  <a:lnTo>
                    <a:pt x="186" y="90"/>
                  </a:lnTo>
                  <a:lnTo>
                    <a:pt x="192" y="90"/>
                  </a:lnTo>
                  <a:lnTo>
                    <a:pt x="192" y="96"/>
                  </a:lnTo>
                  <a:lnTo>
                    <a:pt x="198" y="96"/>
                  </a:lnTo>
                  <a:lnTo>
                    <a:pt x="198" y="102"/>
                  </a:lnTo>
                  <a:lnTo>
                    <a:pt x="204" y="102"/>
                  </a:lnTo>
                  <a:lnTo>
                    <a:pt x="204" y="96"/>
                  </a:lnTo>
                  <a:lnTo>
                    <a:pt x="210" y="96"/>
                  </a:lnTo>
                  <a:lnTo>
                    <a:pt x="210" y="90"/>
                  </a:lnTo>
                  <a:lnTo>
                    <a:pt x="216" y="90"/>
                  </a:lnTo>
                  <a:lnTo>
                    <a:pt x="222" y="96"/>
                  </a:lnTo>
                  <a:lnTo>
                    <a:pt x="216" y="96"/>
                  </a:lnTo>
                  <a:lnTo>
                    <a:pt x="222" y="96"/>
                  </a:lnTo>
                  <a:lnTo>
                    <a:pt x="216" y="96"/>
                  </a:lnTo>
                  <a:lnTo>
                    <a:pt x="222" y="96"/>
                  </a:lnTo>
                  <a:lnTo>
                    <a:pt x="216" y="96"/>
                  </a:lnTo>
                  <a:lnTo>
                    <a:pt x="222" y="102"/>
                  </a:lnTo>
                  <a:lnTo>
                    <a:pt x="228" y="108"/>
                  </a:lnTo>
                  <a:lnTo>
                    <a:pt x="228" y="114"/>
                  </a:lnTo>
                  <a:lnTo>
                    <a:pt x="228" y="120"/>
                  </a:lnTo>
                  <a:lnTo>
                    <a:pt x="228" y="114"/>
                  </a:lnTo>
                  <a:lnTo>
                    <a:pt x="228" y="120"/>
                  </a:lnTo>
                  <a:lnTo>
                    <a:pt x="234" y="114"/>
                  </a:lnTo>
                  <a:lnTo>
                    <a:pt x="234" y="120"/>
                  </a:lnTo>
                  <a:lnTo>
                    <a:pt x="228" y="120"/>
                  </a:lnTo>
                  <a:lnTo>
                    <a:pt x="228" y="126"/>
                  </a:lnTo>
                  <a:lnTo>
                    <a:pt x="234" y="126"/>
                  </a:lnTo>
                  <a:lnTo>
                    <a:pt x="234" y="132"/>
                  </a:lnTo>
                  <a:lnTo>
                    <a:pt x="228" y="138"/>
                  </a:lnTo>
                  <a:lnTo>
                    <a:pt x="222" y="138"/>
                  </a:lnTo>
                  <a:lnTo>
                    <a:pt x="222" y="144"/>
                  </a:lnTo>
                  <a:lnTo>
                    <a:pt x="216" y="144"/>
                  </a:lnTo>
                  <a:lnTo>
                    <a:pt x="210" y="144"/>
                  </a:lnTo>
                  <a:lnTo>
                    <a:pt x="210" y="150"/>
                  </a:lnTo>
                  <a:lnTo>
                    <a:pt x="216" y="150"/>
                  </a:lnTo>
                  <a:lnTo>
                    <a:pt x="216" y="156"/>
                  </a:lnTo>
                  <a:lnTo>
                    <a:pt x="210" y="156"/>
                  </a:lnTo>
                  <a:lnTo>
                    <a:pt x="204" y="156"/>
                  </a:lnTo>
                  <a:lnTo>
                    <a:pt x="204" y="162"/>
                  </a:lnTo>
                  <a:lnTo>
                    <a:pt x="198" y="162"/>
                  </a:lnTo>
                  <a:lnTo>
                    <a:pt x="198" y="168"/>
                  </a:lnTo>
                  <a:lnTo>
                    <a:pt x="198" y="174"/>
                  </a:lnTo>
                  <a:lnTo>
                    <a:pt x="192" y="174"/>
                  </a:lnTo>
                  <a:lnTo>
                    <a:pt x="192" y="180"/>
                  </a:lnTo>
                  <a:lnTo>
                    <a:pt x="186" y="180"/>
                  </a:lnTo>
                  <a:lnTo>
                    <a:pt x="186" y="186"/>
                  </a:lnTo>
                  <a:lnTo>
                    <a:pt x="192" y="186"/>
                  </a:lnTo>
                  <a:lnTo>
                    <a:pt x="186" y="186"/>
                  </a:lnTo>
                  <a:lnTo>
                    <a:pt x="192" y="186"/>
                  </a:lnTo>
                  <a:lnTo>
                    <a:pt x="186" y="186"/>
                  </a:lnTo>
                  <a:lnTo>
                    <a:pt x="180" y="186"/>
                  </a:lnTo>
                  <a:lnTo>
                    <a:pt x="180" y="192"/>
                  </a:lnTo>
                  <a:lnTo>
                    <a:pt x="174" y="192"/>
                  </a:lnTo>
                  <a:lnTo>
                    <a:pt x="174" y="186"/>
                  </a:lnTo>
                  <a:lnTo>
                    <a:pt x="174" y="192"/>
                  </a:lnTo>
                  <a:lnTo>
                    <a:pt x="174" y="186"/>
                  </a:lnTo>
                  <a:lnTo>
                    <a:pt x="168" y="192"/>
                  </a:lnTo>
                  <a:lnTo>
                    <a:pt x="168" y="198"/>
                  </a:lnTo>
                  <a:lnTo>
                    <a:pt x="174" y="198"/>
                  </a:lnTo>
                  <a:lnTo>
                    <a:pt x="168" y="198"/>
                  </a:lnTo>
                  <a:lnTo>
                    <a:pt x="168" y="204"/>
                  </a:lnTo>
                  <a:lnTo>
                    <a:pt x="174" y="204"/>
                  </a:lnTo>
                  <a:lnTo>
                    <a:pt x="174" y="210"/>
                  </a:lnTo>
                  <a:lnTo>
                    <a:pt x="168" y="210"/>
                  </a:lnTo>
                  <a:lnTo>
                    <a:pt x="162" y="210"/>
                  </a:lnTo>
                  <a:lnTo>
                    <a:pt x="162" y="216"/>
                  </a:lnTo>
                  <a:lnTo>
                    <a:pt x="168" y="216"/>
                  </a:lnTo>
                  <a:lnTo>
                    <a:pt x="162" y="216"/>
                  </a:lnTo>
                  <a:close/>
                  <a:moveTo>
                    <a:pt x="126" y="96"/>
                  </a:moveTo>
                  <a:lnTo>
                    <a:pt x="126" y="90"/>
                  </a:lnTo>
                  <a:lnTo>
                    <a:pt x="120" y="90"/>
                  </a:lnTo>
                  <a:lnTo>
                    <a:pt x="120" y="84"/>
                  </a:lnTo>
                  <a:lnTo>
                    <a:pt x="114" y="84"/>
                  </a:lnTo>
                  <a:lnTo>
                    <a:pt x="108" y="84"/>
                  </a:lnTo>
                  <a:lnTo>
                    <a:pt x="108" y="90"/>
                  </a:lnTo>
                  <a:lnTo>
                    <a:pt x="102" y="84"/>
                  </a:lnTo>
                  <a:lnTo>
                    <a:pt x="108" y="84"/>
                  </a:lnTo>
                  <a:lnTo>
                    <a:pt x="102" y="84"/>
                  </a:lnTo>
                  <a:lnTo>
                    <a:pt x="102" y="90"/>
                  </a:lnTo>
                  <a:lnTo>
                    <a:pt x="102" y="96"/>
                  </a:lnTo>
                  <a:lnTo>
                    <a:pt x="102" y="102"/>
                  </a:lnTo>
                  <a:lnTo>
                    <a:pt x="108" y="102"/>
                  </a:lnTo>
                  <a:lnTo>
                    <a:pt x="102" y="102"/>
                  </a:lnTo>
                  <a:lnTo>
                    <a:pt x="108" y="108"/>
                  </a:lnTo>
                  <a:lnTo>
                    <a:pt x="102" y="108"/>
                  </a:lnTo>
                  <a:lnTo>
                    <a:pt x="108" y="108"/>
                  </a:lnTo>
                  <a:lnTo>
                    <a:pt x="108" y="114"/>
                  </a:lnTo>
                  <a:lnTo>
                    <a:pt x="114" y="114"/>
                  </a:lnTo>
                  <a:lnTo>
                    <a:pt x="108" y="114"/>
                  </a:lnTo>
                  <a:lnTo>
                    <a:pt x="114" y="114"/>
                  </a:lnTo>
                  <a:lnTo>
                    <a:pt x="108" y="114"/>
                  </a:lnTo>
                  <a:lnTo>
                    <a:pt x="108" y="120"/>
                  </a:lnTo>
                  <a:lnTo>
                    <a:pt x="114" y="120"/>
                  </a:lnTo>
                  <a:lnTo>
                    <a:pt x="114" y="114"/>
                  </a:lnTo>
                  <a:lnTo>
                    <a:pt x="120" y="114"/>
                  </a:lnTo>
                  <a:lnTo>
                    <a:pt x="120" y="108"/>
                  </a:lnTo>
                  <a:lnTo>
                    <a:pt x="126" y="108"/>
                  </a:lnTo>
                  <a:lnTo>
                    <a:pt x="126" y="102"/>
                  </a:lnTo>
                  <a:lnTo>
                    <a:pt x="126" y="96"/>
                  </a:lnTo>
                  <a:close/>
                  <a:moveTo>
                    <a:pt x="96" y="78"/>
                  </a:moveTo>
                  <a:lnTo>
                    <a:pt x="90" y="78"/>
                  </a:lnTo>
                  <a:lnTo>
                    <a:pt x="96" y="78"/>
                  </a:lnTo>
                  <a:lnTo>
                    <a:pt x="90" y="84"/>
                  </a:lnTo>
                  <a:lnTo>
                    <a:pt x="96" y="84"/>
                  </a:lnTo>
                  <a:lnTo>
                    <a:pt x="96" y="78"/>
                  </a:lnTo>
                  <a:close/>
                </a:path>
              </a:pathLst>
            </a:custGeom>
            <a:solidFill>
              <a:schemeClr val="accent1"/>
            </a:solidFill>
            <a:ln w="9525">
              <a:solidFill>
                <a:srgbClr val="B2B2B2"/>
              </a:solidFill>
              <a:round/>
              <a:headEnd/>
              <a:tailEnd/>
            </a:ln>
          </p:spPr>
          <p:txBody>
            <a:bodyPr/>
            <a:lstStyle/>
            <a:p>
              <a:endParaRPr lang="en-CA"/>
            </a:p>
          </p:txBody>
        </p:sp>
        <p:sp>
          <p:nvSpPr>
            <p:cNvPr id="403" name="Freeform 462"/>
            <p:cNvSpPr>
              <a:spLocks/>
            </p:cNvSpPr>
            <p:nvPr>
              <p:custDataLst>
                <p:tags r:id="rId26"/>
              </p:custDataLst>
            </p:nvPr>
          </p:nvSpPr>
          <p:spPr bwMode="gray">
            <a:xfrm>
              <a:off x="848" y="3073"/>
              <a:ext cx="86" cy="93"/>
            </a:xfrm>
            <a:custGeom>
              <a:avLst/>
              <a:gdLst>
                <a:gd name="T0" fmla="*/ 134724453 w 138"/>
                <a:gd name="T1" fmla="*/ 99430567 h 150"/>
                <a:gd name="T2" fmla="*/ 128866739 w 138"/>
                <a:gd name="T3" fmla="*/ 99430567 h 150"/>
                <a:gd name="T4" fmla="*/ 128866739 w 138"/>
                <a:gd name="T5" fmla="*/ 105279945 h 150"/>
                <a:gd name="T6" fmla="*/ 128866739 w 138"/>
                <a:gd name="T7" fmla="*/ 111128338 h 150"/>
                <a:gd name="T8" fmla="*/ 117151311 w 138"/>
                <a:gd name="T9" fmla="*/ 116977716 h 150"/>
                <a:gd name="T10" fmla="*/ 123009025 w 138"/>
                <a:gd name="T11" fmla="*/ 128675488 h 150"/>
                <a:gd name="T12" fmla="*/ 123009025 w 138"/>
                <a:gd name="T13" fmla="*/ 134523882 h 150"/>
                <a:gd name="T14" fmla="*/ 117151311 w 138"/>
                <a:gd name="T15" fmla="*/ 146221653 h 150"/>
                <a:gd name="T16" fmla="*/ 105436872 w 138"/>
                <a:gd name="T17" fmla="*/ 146221653 h 150"/>
                <a:gd name="T18" fmla="*/ 105436872 w 138"/>
                <a:gd name="T19" fmla="*/ 140373260 h 150"/>
                <a:gd name="T20" fmla="*/ 87863731 w 138"/>
                <a:gd name="T21" fmla="*/ 140373260 h 150"/>
                <a:gd name="T22" fmla="*/ 76148303 w 138"/>
                <a:gd name="T23" fmla="*/ 134523882 h 150"/>
                <a:gd name="T24" fmla="*/ 70290589 w 138"/>
                <a:gd name="T25" fmla="*/ 122826110 h 150"/>
                <a:gd name="T26" fmla="*/ 52718436 w 138"/>
                <a:gd name="T27" fmla="*/ 122826110 h 150"/>
                <a:gd name="T28" fmla="*/ 35145294 w 138"/>
                <a:gd name="T29" fmla="*/ 122826110 h 150"/>
                <a:gd name="T30" fmla="*/ 35145294 w 138"/>
                <a:gd name="T31" fmla="*/ 111128338 h 150"/>
                <a:gd name="T32" fmla="*/ 23429866 w 138"/>
                <a:gd name="T33" fmla="*/ 111128338 h 150"/>
                <a:gd name="T34" fmla="*/ 17573142 w 138"/>
                <a:gd name="T35" fmla="*/ 99430567 h 150"/>
                <a:gd name="T36" fmla="*/ 11715428 w 138"/>
                <a:gd name="T37" fmla="*/ 99430567 h 150"/>
                <a:gd name="T38" fmla="*/ 5857714 w 138"/>
                <a:gd name="T39" fmla="*/ 87732795 h 150"/>
                <a:gd name="T40" fmla="*/ 5857714 w 138"/>
                <a:gd name="T41" fmla="*/ 81884401 h 150"/>
                <a:gd name="T42" fmla="*/ 0 w 138"/>
                <a:gd name="T43" fmla="*/ 81884401 h 150"/>
                <a:gd name="T44" fmla="*/ 11715428 w 138"/>
                <a:gd name="T45" fmla="*/ 70186630 h 150"/>
                <a:gd name="T46" fmla="*/ 11715428 w 138"/>
                <a:gd name="T47" fmla="*/ 64337252 h 150"/>
                <a:gd name="T48" fmla="*/ 5857714 w 138"/>
                <a:gd name="T49" fmla="*/ 58488858 h 150"/>
                <a:gd name="T50" fmla="*/ 5857714 w 138"/>
                <a:gd name="T51" fmla="*/ 52639480 h 150"/>
                <a:gd name="T52" fmla="*/ 11715428 w 138"/>
                <a:gd name="T53" fmla="*/ 52639480 h 150"/>
                <a:gd name="T54" fmla="*/ 17573142 w 138"/>
                <a:gd name="T55" fmla="*/ 52639480 h 150"/>
                <a:gd name="T56" fmla="*/ 23429866 w 138"/>
                <a:gd name="T57" fmla="*/ 46791087 h 150"/>
                <a:gd name="T58" fmla="*/ 41003008 w 138"/>
                <a:gd name="T59" fmla="*/ 46791087 h 150"/>
                <a:gd name="T60" fmla="*/ 46860722 w 138"/>
                <a:gd name="T61" fmla="*/ 35093315 h 150"/>
                <a:gd name="T62" fmla="*/ 46860722 w 138"/>
                <a:gd name="T63" fmla="*/ 29243937 h 150"/>
                <a:gd name="T64" fmla="*/ 52718436 w 138"/>
                <a:gd name="T65" fmla="*/ 29243937 h 150"/>
                <a:gd name="T66" fmla="*/ 58576150 w 138"/>
                <a:gd name="T67" fmla="*/ 17546165 h 150"/>
                <a:gd name="T68" fmla="*/ 64433864 w 138"/>
                <a:gd name="T69" fmla="*/ 5848394 h 150"/>
                <a:gd name="T70" fmla="*/ 70290589 w 138"/>
                <a:gd name="T71" fmla="*/ 5848394 h 150"/>
                <a:gd name="T72" fmla="*/ 82006017 w 138"/>
                <a:gd name="T73" fmla="*/ 11697772 h 150"/>
                <a:gd name="T74" fmla="*/ 93721445 w 138"/>
                <a:gd name="T75" fmla="*/ 5848394 h 150"/>
                <a:gd name="T76" fmla="*/ 99579159 w 138"/>
                <a:gd name="T77" fmla="*/ 17546165 h 150"/>
                <a:gd name="T78" fmla="*/ 117151311 w 138"/>
                <a:gd name="T79" fmla="*/ 17546165 h 150"/>
                <a:gd name="T80" fmla="*/ 111294586 w 138"/>
                <a:gd name="T81" fmla="*/ 29243937 h 150"/>
                <a:gd name="T82" fmla="*/ 111294586 w 138"/>
                <a:gd name="T83" fmla="*/ 35093315 h 150"/>
                <a:gd name="T84" fmla="*/ 117151311 w 138"/>
                <a:gd name="T85" fmla="*/ 46791087 h 150"/>
                <a:gd name="T86" fmla="*/ 123009025 w 138"/>
                <a:gd name="T87" fmla="*/ 46791087 h 150"/>
                <a:gd name="T88" fmla="*/ 128866739 w 138"/>
                <a:gd name="T89" fmla="*/ 52639480 h 150"/>
                <a:gd name="T90" fmla="*/ 123009025 w 138"/>
                <a:gd name="T91" fmla="*/ 64337252 h 150"/>
                <a:gd name="T92" fmla="*/ 123009025 w 138"/>
                <a:gd name="T93" fmla="*/ 70186630 h 150"/>
                <a:gd name="T94" fmla="*/ 128866739 w 138"/>
                <a:gd name="T95" fmla="*/ 70186630 h 150"/>
                <a:gd name="T96" fmla="*/ 128866739 w 138"/>
                <a:gd name="T97" fmla="*/ 76035023 h 150"/>
                <a:gd name="T98" fmla="*/ 134724453 w 138"/>
                <a:gd name="T99" fmla="*/ 81884401 h 150"/>
                <a:gd name="T100" fmla="*/ 134724453 w 138"/>
                <a:gd name="T101" fmla="*/ 87732795 h 1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38"/>
                <a:gd name="T154" fmla="*/ 0 h 150"/>
                <a:gd name="T155" fmla="*/ 138 w 138"/>
                <a:gd name="T156" fmla="*/ 150 h 15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38" h="150">
                  <a:moveTo>
                    <a:pt x="138" y="102"/>
                  </a:moveTo>
                  <a:lnTo>
                    <a:pt x="138" y="108"/>
                  </a:lnTo>
                  <a:lnTo>
                    <a:pt x="138" y="102"/>
                  </a:lnTo>
                  <a:lnTo>
                    <a:pt x="132" y="102"/>
                  </a:lnTo>
                  <a:lnTo>
                    <a:pt x="132" y="108"/>
                  </a:lnTo>
                  <a:lnTo>
                    <a:pt x="132" y="102"/>
                  </a:lnTo>
                  <a:lnTo>
                    <a:pt x="132" y="108"/>
                  </a:lnTo>
                  <a:lnTo>
                    <a:pt x="132" y="102"/>
                  </a:lnTo>
                  <a:lnTo>
                    <a:pt x="132" y="108"/>
                  </a:lnTo>
                  <a:lnTo>
                    <a:pt x="126" y="108"/>
                  </a:lnTo>
                  <a:lnTo>
                    <a:pt x="132" y="108"/>
                  </a:lnTo>
                  <a:lnTo>
                    <a:pt x="132" y="114"/>
                  </a:lnTo>
                  <a:lnTo>
                    <a:pt x="132" y="120"/>
                  </a:lnTo>
                  <a:lnTo>
                    <a:pt x="126" y="120"/>
                  </a:lnTo>
                  <a:lnTo>
                    <a:pt x="120" y="120"/>
                  </a:lnTo>
                  <a:lnTo>
                    <a:pt x="120" y="126"/>
                  </a:lnTo>
                  <a:lnTo>
                    <a:pt x="126" y="126"/>
                  </a:lnTo>
                  <a:lnTo>
                    <a:pt x="126" y="132"/>
                  </a:lnTo>
                  <a:lnTo>
                    <a:pt x="120" y="132"/>
                  </a:lnTo>
                  <a:lnTo>
                    <a:pt x="126" y="132"/>
                  </a:lnTo>
                  <a:lnTo>
                    <a:pt x="126" y="138"/>
                  </a:lnTo>
                  <a:lnTo>
                    <a:pt x="126" y="144"/>
                  </a:lnTo>
                  <a:lnTo>
                    <a:pt x="120" y="144"/>
                  </a:lnTo>
                  <a:lnTo>
                    <a:pt x="120" y="150"/>
                  </a:lnTo>
                  <a:lnTo>
                    <a:pt x="120" y="144"/>
                  </a:lnTo>
                  <a:lnTo>
                    <a:pt x="114" y="150"/>
                  </a:lnTo>
                  <a:lnTo>
                    <a:pt x="108" y="150"/>
                  </a:lnTo>
                  <a:lnTo>
                    <a:pt x="108" y="144"/>
                  </a:lnTo>
                  <a:lnTo>
                    <a:pt x="108" y="150"/>
                  </a:lnTo>
                  <a:lnTo>
                    <a:pt x="108" y="144"/>
                  </a:lnTo>
                  <a:lnTo>
                    <a:pt x="102" y="144"/>
                  </a:lnTo>
                  <a:lnTo>
                    <a:pt x="96" y="144"/>
                  </a:lnTo>
                  <a:lnTo>
                    <a:pt x="90" y="144"/>
                  </a:lnTo>
                  <a:lnTo>
                    <a:pt x="90" y="138"/>
                  </a:lnTo>
                  <a:lnTo>
                    <a:pt x="84" y="138"/>
                  </a:lnTo>
                  <a:lnTo>
                    <a:pt x="78" y="138"/>
                  </a:lnTo>
                  <a:lnTo>
                    <a:pt x="78" y="132"/>
                  </a:lnTo>
                  <a:lnTo>
                    <a:pt x="78" y="126"/>
                  </a:lnTo>
                  <a:lnTo>
                    <a:pt x="72" y="126"/>
                  </a:lnTo>
                  <a:lnTo>
                    <a:pt x="66" y="126"/>
                  </a:lnTo>
                  <a:lnTo>
                    <a:pt x="60" y="126"/>
                  </a:lnTo>
                  <a:lnTo>
                    <a:pt x="54" y="126"/>
                  </a:lnTo>
                  <a:lnTo>
                    <a:pt x="48" y="126"/>
                  </a:lnTo>
                  <a:lnTo>
                    <a:pt x="42" y="126"/>
                  </a:lnTo>
                  <a:lnTo>
                    <a:pt x="36" y="126"/>
                  </a:lnTo>
                  <a:lnTo>
                    <a:pt x="42" y="120"/>
                  </a:lnTo>
                  <a:lnTo>
                    <a:pt x="36" y="120"/>
                  </a:lnTo>
                  <a:lnTo>
                    <a:pt x="36" y="114"/>
                  </a:lnTo>
                  <a:lnTo>
                    <a:pt x="30" y="114"/>
                  </a:lnTo>
                  <a:lnTo>
                    <a:pt x="30" y="120"/>
                  </a:lnTo>
                  <a:lnTo>
                    <a:pt x="24" y="114"/>
                  </a:lnTo>
                  <a:lnTo>
                    <a:pt x="18" y="114"/>
                  </a:lnTo>
                  <a:lnTo>
                    <a:pt x="18" y="108"/>
                  </a:lnTo>
                  <a:lnTo>
                    <a:pt x="18" y="102"/>
                  </a:lnTo>
                  <a:lnTo>
                    <a:pt x="12" y="102"/>
                  </a:lnTo>
                  <a:lnTo>
                    <a:pt x="12" y="108"/>
                  </a:lnTo>
                  <a:lnTo>
                    <a:pt x="12" y="102"/>
                  </a:lnTo>
                  <a:lnTo>
                    <a:pt x="6" y="102"/>
                  </a:lnTo>
                  <a:lnTo>
                    <a:pt x="6" y="96"/>
                  </a:lnTo>
                  <a:lnTo>
                    <a:pt x="6" y="90"/>
                  </a:lnTo>
                  <a:lnTo>
                    <a:pt x="0" y="90"/>
                  </a:lnTo>
                  <a:lnTo>
                    <a:pt x="0" y="84"/>
                  </a:lnTo>
                  <a:lnTo>
                    <a:pt x="6" y="84"/>
                  </a:lnTo>
                  <a:lnTo>
                    <a:pt x="0" y="84"/>
                  </a:lnTo>
                  <a:lnTo>
                    <a:pt x="6" y="84"/>
                  </a:lnTo>
                  <a:lnTo>
                    <a:pt x="0" y="84"/>
                  </a:lnTo>
                  <a:lnTo>
                    <a:pt x="6" y="78"/>
                  </a:lnTo>
                  <a:lnTo>
                    <a:pt x="6" y="72"/>
                  </a:lnTo>
                  <a:lnTo>
                    <a:pt x="12" y="72"/>
                  </a:lnTo>
                  <a:lnTo>
                    <a:pt x="6" y="72"/>
                  </a:lnTo>
                  <a:lnTo>
                    <a:pt x="12" y="72"/>
                  </a:lnTo>
                  <a:lnTo>
                    <a:pt x="12" y="66"/>
                  </a:lnTo>
                  <a:lnTo>
                    <a:pt x="18" y="66"/>
                  </a:lnTo>
                  <a:lnTo>
                    <a:pt x="12" y="60"/>
                  </a:lnTo>
                  <a:lnTo>
                    <a:pt x="6" y="60"/>
                  </a:lnTo>
                  <a:lnTo>
                    <a:pt x="12" y="60"/>
                  </a:lnTo>
                  <a:lnTo>
                    <a:pt x="6" y="60"/>
                  </a:lnTo>
                  <a:lnTo>
                    <a:pt x="6" y="54"/>
                  </a:lnTo>
                  <a:lnTo>
                    <a:pt x="12" y="54"/>
                  </a:lnTo>
                  <a:lnTo>
                    <a:pt x="12" y="60"/>
                  </a:lnTo>
                  <a:lnTo>
                    <a:pt x="12" y="54"/>
                  </a:lnTo>
                  <a:lnTo>
                    <a:pt x="12" y="60"/>
                  </a:lnTo>
                  <a:lnTo>
                    <a:pt x="12" y="54"/>
                  </a:lnTo>
                  <a:lnTo>
                    <a:pt x="18" y="54"/>
                  </a:lnTo>
                  <a:lnTo>
                    <a:pt x="24" y="54"/>
                  </a:lnTo>
                  <a:lnTo>
                    <a:pt x="30" y="48"/>
                  </a:lnTo>
                  <a:lnTo>
                    <a:pt x="24" y="48"/>
                  </a:lnTo>
                  <a:lnTo>
                    <a:pt x="30" y="48"/>
                  </a:lnTo>
                  <a:lnTo>
                    <a:pt x="36" y="48"/>
                  </a:lnTo>
                  <a:lnTo>
                    <a:pt x="42" y="48"/>
                  </a:lnTo>
                  <a:lnTo>
                    <a:pt x="48" y="48"/>
                  </a:lnTo>
                  <a:lnTo>
                    <a:pt x="48" y="42"/>
                  </a:lnTo>
                  <a:lnTo>
                    <a:pt x="48" y="36"/>
                  </a:lnTo>
                  <a:lnTo>
                    <a:pt x="42" y="36"/>
                  </a:lnTo>
                  <a:lnTo>
                    <a:pt x="42" y="30"/>
                  </a:lnTo>
                  <a:lnTo>
                    <a:pt x="48" y="30"/>
                  </a:lnTo>
                  <a:lnTo>
                    <a:pt x="48" y="24"/>
                  </a:lnTo>
                  <a:lnTo>
                    <a:pt x="54" y="24"/>
                  </a:lnTo>
                  <a:lnTo>
                    <a:pt x="54" y="30"/>
                  </a:lnTo>
                  <a:lnTo>
                    <a:pt x="54" y="24"/>
                  </a:lnTo>
                  <a:lnTo>
                    <a:pt x="60" y="24"/>
                  </a:lnTo>
                  <a:lnTo>
                    <a:pt x="60" y="18"/>
                  </a:lnTo>
                  <a:lnTo>
                    <a:pt x="60" y="12"/>
                  </a:lnTo>
                  <a:lnTo>
                    <a:pt x="60" y="6"/>
                  </a:lnTo>
                  <a:lnTo>
                    <a:pt x="66" y="6"/>
                  </a:lnTo>
                  <a:lnTo>
                    <a:pt x="66" y="0"/>
                  </a:lnTo>
                  <a:lnTo>
                    <a:pt x="66" y="6"/>
                  </a:lnTo>
                  <a:lnTo>
                    <a:pt x="72" y="6"/>
                  </a:lnTo>
                  <a:lnTo>
                    <a:pt x="78" y="6"/>
                  </a:lnTo>
                  <a:lnTo>
                    <a:pt x="78" y="12"/>
                  </a:lnTo>
                  <a:lnTo>
                    <a:pt x="84" y="12"/>
                  </a:lnTo>
                  <a:lnTo>
                    <a:pt x="84" y="6"/>
                  </a:lnTo>
                  <a:lnTo>
                    <a:pt x="90" y="6"/>
                  </a:lnTo>
                  <a:lnTo>
                    <a:pt x="96" y="6"/>
                  </a:lnTo>
                  <a:lnTo>
                    <a:pt x="96" y="12"/>
                  </a:lnTo>
                  <a:lnTo>
                    <a:pt x="102" y="12"/>
                  </a:lnTo>
                  <a:lnTo>
                    <a:pt x="102" y="18"/>
                  </a:lnTo>
                  <a:lnTo>
                    <a:pt x="108" y="18"/>
                  </a:lnTo>
                  <a:lnTo>
                    <a:pt x="114" y="18"/>
                  </a:lnTo>
                  <a:lnTo>
                    <a:pt x="120" y="18"/>
                  </a:lnTo>
                  <a:lnTo>
                    <a:pt x="120" y="24"/>
                  </a:lnTo>
                  <a:lnTo>
                    <a:pt x="114" y="24"/>
                  </a:lnTo>
                  <a:lnTo>
                    <a:pt x="114" y="30"/>
                  </a:lnTo>
                  <a:lnTo>
                    <a:pt x="114" y="36"/>
                  </a:lnTo>
                  <a:lnTo>
                    <a:pt x="120" y="36"/>
                  </a:lnTo>
                  <a:lnTo>
                    <a:pt x="114" y="36"/>
                  </a:lnTo>
                  <a:lnTo>
                    <a:pt x="120" y="36"/>
                  </a:lnTo>
                  <a:lnTo>
                    <a:pt x="120" y="42"/>
                  </a:lnTo>
                  <a:lnTo>
                    <a:pt x="120" y="48"/>
                  </a:lnTo>
                  <a:lnTo>
                    <a:pt x="126" y="48"/>
                  </a:lnTo>
                  <a:lnTo>
                    <a:pt x="126" y="54"/>
                  </a:lnTo>
                  <a:lnTo>
                    <a:pt x="126" y="48"/>
                  </a:lnTo>
                  <a:lnTo>
                    <a:pt x="132" y="54"/>
                  </a:lnTo>
                  <a:lnTo>
                    <a:pt x="126" y="54"/>
                  </a:lnTo>
                  <a:lnTo>
                    <a:pt x="132" y="54"/>
                  </a:lnTo>
                  <a:lnTo>
                    <a:pt x="132" y="60"/>
                  </a:lnTo>
                  <a:lnTo>
                    <a:pt x="126" y="60"/>
                  </a:lnTo>
                  <a:lnTo>
                    <a:pt x="126" y="66"/>
                  </a:lnTo>
                  <a:lnTo>
                    <a:pt x="132" y="66"/>
                  </a:lnTo>
                  <a:lnTo>
                    <a:pt x="132" y="72"/>
                  </a:lnTo>
                  <a:lnTo>
                    <a:pt x="126" y="72"/>
                  </a:lnTo>
                  <a:lnTo>
                    <a:pt x="132" y="72"/>
                  </a:lnTo>
                  <a:lnTo>
                    <a:pt x="132" y="66"/>
                  </a:lnTo>
                  <a:lnTo>
                    <a:pt x="132" y="72"/>
                  </a:lnTo>
                  <a:lnTo>
                    <a:pt x="138" y="72"/>
                  </a:lnTo>
                  <a:lnTo>
                    <a:pt x="138" y="78"/>
                  </a:lnTo>
                  <a:lnTo>
                    <a:pt x="132" y="78"/>
                  </a:lnTo>
                  <a:lnTo>
                    <a:pt x="138" y="84"/>
                  </a:lnTo>
                  <a:lnTo>
                    <a:pt x="132" y="84"/>
                  </a:lnTo>
                  <a:lnTo>
                    <a:pt x="138" y="84"/>
                  </a:lnTo>
                  <a:lnTo>
                    <a:pt x="132" y="84"/>
                  </a:lnTo>
                  <a:lnTo>
                    <a:pt x="132" y="90"/>
                  </a:lnTo>
                  <a:lnTo>
                    <a:pt x="138" y="90"/>
                  </a:lnTo>
                  <a:lnTo>
                    <a:pt x="138" y="96"/>
                  </a:lnTo>
                  <a:lnTo>
                    <a:pt x="138" y="102"/>
                  </a:lnTo>
                  <a:close/>
                </a:path>
              </a:pathLst>
            </a:custGeom>
            <a:solidFill>
              <a:schemeClr val="accent1"/>
            </a:solidFill>
            <a:ln w="9525">
              <a:solidFill>
                <a:srgbClr val="B2B2B2"/>
              </a:solidFill>
              <a:round/>
              <a:headEnd/>
              <a:tailEnd/>
            </a:ln>
          </p:spPr>
          <p:txBody>
            <a:bodyPr/>
            <a:lstStyle/>
            <a:p>
              <a:endParaRPr lang="en-CA"/>
            </a:p>
          </p:txBody>
        </p:sp>
        <p:sp>
          <p:nvSpPr>
            <p:cNvPr id="404" name="Freeform 463"/>
            <p:cNvSpPr>
              <a:spLocks/>
            </p:cNvSpPr>
            <p:nvPr>
              <p:custDataLst>
                <p:tags r:id="rId27"/>
              </p:custDataLst>
            </p:nvPr>
          </p:nvSpPr>
          <p:spPr bwMode="gray">
            <a:xfrm>
              <a:off x="777" y="3050"/>
              <a:ext cx="113" cy="101"/>
            </a:xfrm>
            <a:custGeom>
              <a:avLst/>
              <a:gdLst>
                <a:gd name="T0" fmla="*/ 112400904 w 180"/>
                <a:gd name="T1" fmla="*/ 129489761 h 162"/>
                <a:gd name="T2" fmla="*/ 106485120 w 180"/>
                <a:gd name="T3" fmla="*/ 141261737 h 162"/>
                <a:gd name="T4" fmla="*/ 94653551 w 180"/>
                <a:gd name="T5" fmla="*/ 147147725 h 162"/>
                <a:gd name="T6" fmla="*/ 88737766 w 180"/>
                <a:gd name="T7" fmla="*/ 147147725 h 162"/>
                <a:gd name="T8" fmla="*/ 82821981 w 180"/>
                <a:gd name="T9" fmla="*/ 158919702 h 162"/>
                <a:gd name="T10" fmla="*/ 70990412 w 180"/>
                <a:gd name="T11" fmla="*/ 153033713 h 162"/>
                <a:gd name="T12" fmla="*/ 53243058 w 180"/>
                <a:gd name="T13" fmla="*/ 153033713 h 162"/>
                <a:gd name="T14" fmla="*/ 47327274 w 180"/>
                <a:gd name="T15" fmla="*/ 141261737 h 162"/>
                <a:gd name="T16" fmla="*/ 47327274 w 180"/>
                <a:gd name="T17" fmla="*/ 135375749 h 162"/>
                <a:gd name="T18" fmla="*/ 41410492 w 180"/>
                <a:gd name="T19" fmla="*/ 123603772 h 162"/>
                <a:gd name="T20" fmla="*/ 35494708 w 180"/>
                <a:gd name="T21" fmla="*/ 111832786 h 162"/>
                <a:gd name="T22" fmla="*/ 17747354 w 180"/>
                <a:gd name="T23" fmla="*/ 111832786 h 162"/>
                <a:gd name="T24" fmla="*/ 5915785 w 180"/>
                <a:gd name="T25" fmla="*/ 100060809 h 162"/>
                <a:gd name="T26" fmla="*/ 0 w 180"/>
                <a:gd name="T27" fmla="*/ 100060809 h 162"/>
                <a:gd name="T28" fmla="*/ 0 w 180"/>
                <a:gd name="T29" fmla="*/ 94174821 h 162"/>
                <a:gd name="T30" fmla="*/ 5915785 w 180"/>
                <a:gd name="T31" fmla="*/ 94174821 h 162"/>
                <a:gd name="T32" fmla="*/ 5915785 w 180"/>
                <a:gd name="T33" fmla="*/ 88288833 h 162"/>
                <a:gd name="T34" fmla="*/ 5915785 w 180"/>
                <a:gd name="T35" fmla="*/ 82402845 h 162"/>
                <a:gd name="T36" fmla="*/ 5915785 w 180"/>
                <a:gd name="T37" fmla="*/ 76516857 h 162"/>
                <a:gd name="T38" fmla="*/ 5915785 w 180"/>
                <a:gd name="T39" fmla="*/ 70630868 h 162"/>
                <a:gd name="T40" fmla="*/ 11831569 w 180"/>
                <a:gd name="T41" fmla="*/ 70630868 h 162"/>
                <a:gd name="T42" fmla="*/ 23663138 w 180"/>
                <a:gd name="T43" fmla="*/ 58858892 h 162"/>
                <a:gd name="T44" fmla="*/ 29578923 w 180"/>
                <a:gd name="T45" fmla="*/ 58858892 h 162"/>
                <a:gd name="T46" fmla="*/ 41410492 w 180"/>
                <a:gd name="T47" fmla="*/ 64744880 h 162"/>
                <a:gd name="T48" fmla="*/ 47327274 w 180"/>
                <a:gd name="T49" fmla="*/ 52972904 h 162"/>
                <a:gd name="T50" fmla="*/ 59158843 w 180"/>
                <a:gd name="T51" fmla="*/ 47086916 h 162"/>
                <a:gd name="T52" fmla="*/ 65074627 w 180"/>
                <a:gd name="T53" fmla="*/ 41200928 h 162"/>
                <a:gd name="T54" fmla="*/ 65074627 w 180"/>
                <a:gd name="T55" fmla="*/ 35315929 h 162"/>
                <a:gd name="T56" fmla="*/ 70990412 w 180"/>
                <a:gd name="T57" fmla="*/ 29429941 h 162"/>
                <a:gd name="T58" fmla="*/ 76906197 w 180"/>
                <a:gd name="T59" fmla="*/ 29429941 h 162"/>
                <a:gd name="T60" fmla="*/ 82821981 w 180"/>
                <a:gd name="T61" fmla="*/ 11771976 h 162"/>
                <a:gd name="T62" fmla="*/ 82821981 w 180"/>
                <a:gd name="T63" fmla="*/ 5885988 h 162"/>
                <a:gd name="T64" fmla="*/ 100569335 w 180"/>
                <a:gd name="T65" fmla="*/ 5885988 h 162"/>
                <a:gd name="T66" fmla="*/ 100569335 w 180"/>
                <a:gd name="T67" fmla="*/ 0 h 162"/>
                <a:gd name="T68" fmla="*/ 112400904 w 180"/>
                <a:gd name="T69" fmla="*/ 5885988 h 162"/>
                <a:gd name="T70" fmla="*/ 124232474 w 180"/>
                <a:gd name="T71" fmla="*/ 11771976 h 162"/>
                <a:gd name="T72" fmla="*/ 136065040 w 180"/>
                <a:gd name="T73" fmla="*/ 5885988 h 162"/>
                <a:gd name="T74" fmla="*/ 136065040 w 180"/>
                <a:gd name="T75" fmla="*/ 0 h 162"/>
                <a:gd name="T76" fmla="*/ 141980824 w 180"/>
                <a:gd name="T77" fmla="*/ 0 h 162"/>
                <a:gd name="T78" fmla="*/ 153812393 w 180"/>
                <a:gd name="T79" fmla="*/ 5885988 h 162"/>
                <a:gd name="T80" fmla="*/ 159728178 w 180"/>
                <a:gd name="T81" fmla="*/ 5885988 h 162"/>
                <a:gd name="T82" fmla="*/ 165643963 w 180"/>
                <a:gd name="T83" fmla="*/ 17657965 h 162"/>
                <a:gd name="T84" fmla="*/ 165643963 w 180"/>
                <a:gd name="T85" fmla="*/ 29429941 h 162"/>
                <a:gd name="T86" fmla="*/ 171559747 w 180"/>
                <a:gd name="T87" fmla="*/ 41200928 h 162"/>
                <a:gd name="T88" fmla="*/ 177475532 w 180"/>
                <a:gd name="T89" fmla="*/ 41200928 h 162"/>
                <a:gd name="T90" fmla="*/ 171559747 w 180"/>
                <a:gd name="T91" fmla="*/ 52972904 h 162"/>
                <a:gd name="T92" fmla="*/ 165643963 w 180"/>
                <a:gd name="T93" fmla="*/ 64744880 h 162"/>
                <a:gd name="T94" fmla="*/ 159728178 w 180"/>
                <a:gd name="T95" fmla="*/ 64744880 h 162"/>
                <a:gd name="T96" fmla="*/ 159728178 w 180"/>
                <a:gd name="T97" fmla="*/ 70630868 h 162"/>
                <a:gd name="T98" fmla="*/ 153812393 w 180"/>
                <a:gd name="T99" fmla="*/ 82402845 h 162"/>
                <a:gd name="T100" fmla="*/ 136065040 w 180"/>
                <a:gd name="T101" fmla="*/ 82402845 h 162"/>
                <a:gd name="T102" fmla="*/ 130148258 w 180"/>
                <a:gd name="T103" fmla="*/ 88288833 h 162"/>
                <a:gd name="T104" fmla="*/ 124232474 w 180"/>
                <a:gd name="T105" fmla="*/ 88288833 h 162"/>
                <a:gd name="T106" fmla="*/ 118316689 w 180"/>
                <a:gd name="T107" fmla="*/ 88288833 h 162"/>
                <a:gd name="T108" fmla="*/ 118316689 w 180"/>
                <a:gd name="T109" fmla="*/ 94174821 h 162"/>
                <a:gd name="T110" fmla="*/ 124232474 w 180"/>
                <a:gd name="T111" fmla="*/ 100060809 h 162"/>
                <a:gd name="T112" fmla="*/ 124232474 w 180"/>
                <a:gd name="T113" fmla="*/ 105946798 h 162"/>
                <a:gd name="T114" fmla="*/ 112400904 w 180"/>
                <a:gd name="T115" fmla="*/ 117718774 h 162"/>
                <a:gd name="T116" fmla="*/ 118316689 w 180"/>
                <a:gd name="T117" fmla="*/ 117718774 h 162"/>
                <a:gd name="T118" fmla="*/ 118316689 w 180"/>
                <a:gd name="T119" fmla="*/ 123603772 h 16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80"/>
                <a:gd name="T181" fmla="*/ 0 h 162"/>
                <a:gd name="T182" fmla="*/ 180 w 180"/>
                <a:gd name="T183" fmla="*/ 162 h 16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80" h="162">
                  <a:moveTo>
                    <a:pt x="120" y="138"/>
                  </a:moveTo>
                  <a:lnTo>
                    <a:pt x="114" y="138"/>
                  </a:lnTo>
                  <a:lnTo>
                    <a:pt x="114" y="132"/>
                  </a:lnTo>
                  <a:lnTo>
                    <a:pt x="114" y="138"/>
                  </a:lnTo>
                  <a:lnTo>
                    <a:pt x="108" y="138"/>
                  </a:lnTo>
                  <a:lnTo>
                    <a:pt x="108" y="144"/>
                  </a:lnTo>
                  <a:lnTo>
                    <a:pt x="102" y="144"/>
                  </a:lnTo>
                  <a:lnTo>
                    <a:pt x="96" y="144"/>
                  </a:lnTo>
                  <a:lnTo>
                    <a:pt x="96" y="150"/>
                  </a:lnTo>
                  <a:lnTo>
                    <a:pt x="90" y="150"/>
                  </a:lnTo>
                  <a:lnTo>
                    <a:pt x="96" y="150"/>
                  </a:lnTo>
                  <a:lnTo>
                    <a:pt x="90" y="150"/>
                  </a:lnTo>
                  <a:lnTo>
                    <a:pt x="90" y="156"/>
                  </a:lnTo>
                  <a:lnTo>
                    <a:pt x="84" y="156"/>
                  </a:lnTo>
                  <a:lnTo>
                    <a:pt x="84" y="162"/>
                  </a:lnTo>
                  <a:lnTo>
                    <a:pt x="78" y="162"/>
                  </a:lnTo>
                  <a:lnTo>
                    <a:pt x="78" y="156"/>
                  </a:lnTo>
                  <a:lnTo>
                    <a:pt x="72" y="156"/>
                  </a:lnTo>
                  <a:lnTo>
                    <a:pt x="66" y="156"/>
                  </a:lnTo>
                  <a:lnTo>
                    <a:pt x="60" y="156"/>
                  </a:lnTo>
                  <a:lnTo>
                    <a:pt x="54" y="156"/>
                  </a:lnTo>
                  <a:lnTo>
                    <a:pt x="54" y="150"/>
                  </a:lnTo>
                  <a:lnTo>
                    <a:pt x="54" y="144"/>
                  </a:lnTo>
                  <a:lnTo>
                    <a:pt x="48" y="144"/>
                  </a:lnTo>
                  <a:lnTo>
                    <a:pt x="54" y="144"/>
                  </a:lnTo>
                  <a:lnTo>
                    <a:pt x="48" y="144"/>
                  </a:lnTo>
                  <a:lnTo>
                    <a:pt x="48" y="138"/>
                  </a:lnTo>
                  <a:lnTo>
                    <a:pt x="48" y="132"/>
                  </a:lnTo>
                  <a:lnTo>
                    <a:pt x="48" y="126"/>
                  </a:lnTo>
                  <a:lnTo>
                    <a:pt x="42" y="126"/>
                  </a:lnTo>
                  <a:lnTo>
                    <a:pt x="42" y="120"/>
                  </a:lnTo>
                  <a:lnTo>
                    <a:pt x="36" y="120"/>
                  </a:lnTo>
                  <a:lnTo>
                    <a:pt x="36" y="114"/>
                  </a:lnTo>
                  <a:lnTo>
                    <a:pt x="30" y="114"/>
                  </a:lnTo>
                  <a:lnTo>
                    <a:pt x="24" y="114"/>
                  </a:lnTo>
                  <a:lnTo>
                    <a:pt x="18" y="114"/>
                  </a:lnTo>
                  <a:lnTo>
                    <a:pt x="18" y="108"/>
                  </a:lnTo>
                  <a:lnTo>
                    <a:pt x="12" y="102"/>
                  </a:lnTo>
                  <a:lnTo>
                    <a:pt x="6" y="102"/>
                  </a:lnTo>
                  <a:lnTo>
                    <a:pt x="6" y="108"/>
                  </a:lnTo>
                  <a:lnTo>
                    <a:pt x="6" y="102"/>
                  </a:lnTo>
                  <a:lnTo>
                    <a:pt x="0" y="102"/>
                  </a:lnTo>
                  <a:lnTo>
                    <a:pt x="6" y="102"/>
                  </a:lnTo>
                  <a:lnTo>
                    <a:pt x="0" y="102"/>
                  </a:lnTo>
                  <a:lnTo>
                    <a:pt x="0" y="96"/>
                  </a:lnTo>
                  <a:lnTo>
                    <a:pt x="6" y="96"/>
                  </a:lnTo>
                  <a:lnTo>
                    <a:pt x="6" y="102"/>
                  </a:lnTo>
                  <a:lnTo>
                    <a:pt x="6" y="96"/>
                  </a:lnTo>
                  <a:lnTo>
                    <a:pt x="6" y="90"/>
                  </a:lnTo>
                  <a:lnTo>
                    <a:pt x="12" y="90"/>
                  </a:lnTo>
                  <a:lnTo>
                    <a:pt x="6" y="90"/>
                  </a:lnTo>
                  <a:lnTo>
                    <a:pt x="12" y="90"/>
                  </a:lnTo>
                  <a:lnTo>
                    <a:pt x="6" y="90"/>
                  </a:lnTo>
                  <a:lnTo>
                    <a:pt x="6" y="84"/>
                  </a:lnTo>
                  <a:lnTo>
                    <a:pt x="12" y="84"/>
                  </a:lnTo>
                  <a:lnTo>
                    <a:pt x="12" y="78"/>
                  </a:lnTo>
                  <a:lnTo>
                    <a:pt x="6" y="78"/>
                  </a:lnTo>
                  <a:lnTo>
                    <a:pt x="6" y="72"/>
                  </a:lnTo>
                  <a:lnTo>
                    <a:pt x="6" y="78"/>
                  </a:lnTo>
                  <a:lnTo>
                    <a:pt x="6" y="72"/>
                  </a:lnTo>
                  <a:lnTo>
                    <a:pt x="12" y="72"/>
                  </a:lnTo>
                  <a:lnTo>
                    <a:pt x="12" y="66"/>
                  </a:lnTo>
                  <a:lnTo>
                    <a:pt x="12" y="72"/>
                  </a:lnTo>
                  <a:lnTo>
                    <a:pt x="12" y="66"/>
                  </a:lnTo>
                  <a:lnTo>
                    <a:pt x="18" y="60"/>
                  </a:lnTo>
                  <a:lnTo>
                    <a:pt x="24" y="60"/>
                  </a:lnTo>
                  <a:lnTo>
                    <a:pt x="30" y="60"/>
                  </a:lnTo>
                  <a:lnTo>
                    <a:pt x="30" y="66"/>
                  </a:lnTo>
                  <a:lnTo>
                    <a:pt x="30" y="60"/>
                  </a:lnTo>
                  <a:lnTo>
                    <a:pt x="36" y="60"/>
                  </a:lnTo>
                  <a:lnTo>
                    <a:pt x="36" y="66"/>
                  </a:lnTo>
                  <a:lnTo>
                    <a:pt x="42" y="66"/>
                  </a:lnTo>
                  <a:lnTo>
                    <a:pt x="48" y="66"/>
                  </a:lnTo>
                  <a:lnTo>
                    <a:pt x="48" y="60"/>
                  </a:lnTo>
                  <a:lnTo>
                    <a:pt x="48" y="54"/>
                  </a:lnTo>
                  <a:lnTo>
                    <a:pt x="54" y="54"/>
                  </a:lnTo>
                  <a:lnTo>
                    <a:pt x="60" y="54"/>
                  </a:lnTo>
                  <a:lnTo>
                    <a:pt x="60" y="48"/>
                  </a:lnTo>
                  <a:lnTo>
                    <a:pt x="66" y="54"/>
                  </a:lnTo>
                  <a:lnTo>
                    <a:pt x="66" y="48"/>
                  </a:lnTo>
                  <a:lnTo>
                    <a:pt x="66" y="42"/>
                  </a:lnTo>
                  <a:lnTo>
                    <a:pt x="72" y="42"/>
                  </a:lnTo>
                  <a:lnTo>
                    <a:pt x="66" y="42"/>
                  </a:lnTo>
                  <a:lnTo>
                    <a:pt x="66" y="36"/>
                  </a:lnTo>
                  <a:lnTo>
                    <a:pt x="72" y="36"/>
                  </a:lnTo>
                  <a:lnTo>
                    <a:pt x="66" y="30"/>
                  </a:lnTo>
                  <a:lnTo>
                    <a:pt x="72" y="30"/>
                  </a:lnTo>
                  <a:lnTo>
                    <a:pt x="72" y="36"/>
                  </a:lnTo>
                  <a:lnTo>
                    <a:pt x="72" y="30"/>
                  </a:lnTo>
                  <a:lnTo>
                    <a:pt x="78" y="30"/>
                  </a:lnTo>
                  <a:lnTo>
                    <a:pt x="84" y="24"/>
                  </a:lnTo>
                  <a:lnTo>
                    <a:pt x="84" y="18"/>
                  </a:lnTo>
                  <a:lnTo>
                    <a:pt x="84" y="12"/>
                  </a:lnTo>
                  <a:lnTo>
                    <a:pt x="90" y="12"/>
                  </a:lnTo>
                  <a:lnTo>
                    <a:pt x="90" y="6"/>
                  </a:lnTo>
                  <a:lnTo>
                    <a:pt x="84" y="6"/>
                  </a:lnTo>
                  <a:lnTo>
                    <a:pt x="90" y="6"/>
                  </a:lnTo>
                  <a:lnTo>
                    <a:pt x="96" y="6"/>
                  </a:lnTo>
                  <a:lnTo>
                    <a:pt x="102" y="6"/>
                  </a:lnTo>
                  <a:lnTo>
                    <a:pt x="96" y="6"/>
                  </a:lnTo>
                  <a:lnTo>
                    <a:pt x="102" y="6"/>
                  </a:lnTo>
                  <a:lnTo>
                    <a:pt x="102" y="0"/>
                  </a:lnTo>
                  <a:lnTo>
                    <a:pt x="102" y="6"/>
                  </a:lnTo>
                  <a:lnTo>
                    <a:pt x="108" y="6"/>
                  </a:lnTo>
                  <a:lnTo>
                    <a:pt x="114" y="6"/>
                  </a:lnTo>
                  <a:lnTo>
                    <a:pt x="120" y="6"/>
                  </a:lnTo>
                  <a:lnTo>
                    <a:pt x="120" y="12"/>
                  </a:lnTo>
                  <a:lnTo>
                    <a:pt x="126" y="12"/>
                  </a:lnTo>
                  <a:lnTo>
                    <a:pt x="132" y="12"/>
                  </a:lnTo>
                  <a:lnTo>
                    <a:pt x="132" y="6"/>
                  </a:lnTo>
                  <a:lnTo>
                    <a:pt x="138" y="6"/>
                  </a:lnTo>
                  <a:lnTo>
                    <a:pt x="138" y="0"/>
                  </a:lnTo>
                  <a:lnTo>
                    <a:pt x="138" y="6"/>
                  </a:lnTo>
                  <a:lnTo>
                    <a:pt x="138" y="0"/>
                  </a:lnTo>
                  <a:lnTo>
                    <a:pt x="144" y="0"/>
                  </a:lnTo>
                  <a:lnTo>
                    <a:pt x="150" y="0"/>
                  </a:lnTo>
                  <a:lnTo>
                    <a:pt x="144" y="0"/>
                  </a:lnTo>
                  <a:lnTo>
                    <a:pt x="144" y="6"/>
                  </a:lnTo>
                  <a:lnTo>
                    <a:pt x="150" y="6"/>
                  </a:lnTo>
                  <a:lnTo>
                    <a:pt x="156" y="6"/>
                  </a:lnTo>
                  <a:lnTo>
                    <a:pt x="156" y="12"/>
                  </a:lnTo>
                  <a:lnTo>
                    <a:pt x="156" y="6"/>
                  </a:lnTo>
                  <a:lnTo>
                    <a:pt x="162" y="6"/>
                  </a:lnTo>
                  <a:lnTo>
                    <a:pt x="162" y="12"/>
                  </a:lnTo>
                  <a:lnTo>
                    <a:pt x="168" y="12"/>
                  </a:lnTo>
                  <a:lnTo>
                    <a:pt x="168" y="18"/>
                  </a:lnTo>
                  <a:lnTo>
                    <a:pt x="168" y="24"/>
                  </a:lnTo>
                  <a:lnTo>
                    <a:pt x="174" y="30"/>
                  </a:lnTo>
                  <a:lnTo>
                    <a:pt x="168" y="30"/>
                  </a:lnTo>
                  <a:lnTo>
                    <a:pt x="174" y="30"/>
                  </a:lnTo>
                  <a:lnTo>
                    <a:pt x="174" y="36"/>
                  </a:lnTo>
                  <a:lnTo>
                    <a:pt x="174" y="42"/>
                  </a:lnTo>
                  <a:lnTo>
                    <a:pt x="174" y="36"/>
                  </a:lnTo>
                  <a:lnTo>
                    <a:pt x="174" y="42"/>
                  </a:lnTo>
                  <a:lnTo>
                    <a:pt x="180" y="42"/>
                  </a:lnTo>
                  <a:lnTo>
                    <a:pt x="174" y="42"/>
                  </a:lnTo>
                  <a:lnTo>
                    <a:pt x="174" y="48"/>
                  </a:lnTo>
                  <a:lnTo>
                    <a:pt x="174" y="54"/>
                  </a:lnTo>
                  <a:lnTo>
                    <a:pt x="174" y="60"/>
                  </a:lnTo>
                  <a:lnTo>
                    <a:pt x="168" y="60"/>
                  </a:lnTo>
                  <a:lnTo>
                    <a:pt x="168" y="66"/>
                  </a:lnTo>
                  <a:lnTo>
                    <a:pt x="168" y="60"/>
                  </a:lnTo>
                  <a:lnTo>
                    <a:pt x="162" y="60"/>
                  </a:lnTo>
                  <a:lnTo>
                    <a:pt x="162" y="66"/>
                  </a:lnTo>
                  <a:lnTo>
                    <a:pt x="156" y="66"/>
                  </a:lnTo>
                  <a:lnTo>
                    <a:pt x="156" y="72"/>
                  </a:lnTo>
                  <a:lnTo>
                    <a:pt x="162" y="72"/>
                  </a:lnTo>
                  <a:lnTo>
                    <a:pt x="162" y="78"/>
                  </a:lnTo>
                  <a:lnTo>
                    <a:pt x="162" y="84"/>
                  </a:lnTo>
                  <a:lnTo>
                    <a:pt x="156" y="84"/>
                  </a:lnTo>
                  <a:lnTo>
                    <a:pt x="150" y="84"/>
                  </a:lnTo>
                  <a:lnTo>
                    <a:pt x="144" y="84"/>
                  </a:lnTo>
                  <a:lnTo>
                    <a:pt x="138" y="84"/>
                  </a:lnTo>
                  <a:lnTo>
                    <a:pt x="144" y="84"/>
                  </a:lnTo>
                  <a:lnTo>
                    <a:pt x="138" y="90"/>
                  </a:lnTo>
                  <a:lnTo>
                    <a:pt x="132" y="90"/>
                  </a:lnTo>
                  <a:lnTo>
                    <a:pt x="126" y="90"/>
                  </a:lnTo>
                  <a:lnTo>
                    <a:pt x="126" y="96"/>
                  </a:lnTo>
                  <a:lnTo>
                    <a:pt x="126" y="90"/>
                  </a:lnTo>
                  <a:lnTo>
                    <a:pt x="126" y="96"/>
                  </a:lnTo>
                  <a:lnTo>
                    <a:pt x="126" y="90"/>
                  </a:lnTo>
                  <a:lnTo>
                    <a:pt x="120" y="90"/>
                  </a:lnTo>
                  <a:lnTo>
                    <a:pt x="120" y="96"/>
                  </a:lnTo>
                  <a:lnTo>
                    <a:pt x="126" y="96"/>
                  </a:lnTo>
                  <a:lnTo>
                    <a:pt x="120" y="96"/>
                  </a:lnTo>
                  <a:lnTo>
                    <a:pt x="126" y="96"/>
                  </a:lnTo>
                  <a:lnTo>
                    <a:pt x="132" y="102"/>
                  </a:lnTo>
                  <a:lnTo>
                    <a:pt x="126" y="102"/>
                  </a:lnTo>
                  <a:lnTo>
                    <a:pt x="126" y="108"/>
                  </a:lnTo>
                  <a:lnTo>
                    <a:pt x="120" y="108"/>
                  </a:lnTo>
                  <a:lnTo>
                    <a:pt x="126" y="108"/>
                  </a:lnTo>
                  <a:lnTo>
                    <a:pt x="120" y="108"/>
                  </a:lnTo>
                  <a:lnTo>
                    <a:pt x="120" y="114"/>
                  </a:lnTo>
                  <a:lnTo>
                    <a:pt x="114" y="120"/>
                  </a:lnTo>
                  <a:lnTo>
                    <a:pt x="120" y="120"/>
                  </a:lnTo>
                  <a:lnTo>
                    <a:pt x="114" y="120"/>
                  </a:lnTo>
                  <a:lnTo>
                    <a:pt x="120" y="120"/>
                  </a:lnTo>
                  <a:lnTo>
                    <a:pt x="114" y="120"/>
                  </a:lnTo>
                  <a:lnTo>
                    <a:pt x="114" y="126"/>
                  </a:lnTo>
                  <a:lnTo>
                    <a:pt x="120" y="126"/>
                  </a:lnTo>
                  <a:lnTo>
                    <a:pt x="120" y="132"/>
                  </a:lnTo>
                  <a:lnTo>
                    <a:pt x="120" y="138"/>
                  </a:lnTo>
                  <a:close/>
                </a:path>
              </a:pathLst>
            </a:custGeom>
            <a:solidFill>
              <a:schemeClr val="accent1"/>
            </a:solidFill>
            <a:ln w="9525">
              <a:solidFill>
                <a:srgbClr val="B2B2B2"/>
              </a:solidFill>
              <a:round/>
              <a:headEnd/>
              <a:tailEnd/>
            </a:ln>
          </p:spPr>
          <p:txBody>
            <a:bodyPr/>
            <a:lstStyle/>
            <a:p>
              <a:endParaRPr lang="en-CA"/>
            </a:p>
          </p:txBody>
        </p:sp>
        <p:sp>
          <p:nvSpPr>
            <p:cNvPr id="405" name="Freeform 464"/>
            <p:cNvSpPr>
              <a:spLocks/>
            </p:cNvSpPr>
            <p:nvPr>
              <p:custDataLst>
                <p:tags r:id="rId28"/>
              </p:custDataLst>
            </p:nvPr>
          </p:nvSpPr>
          <p:spPr bwMode="gray">
            <a:xfrm>
              <a:off x="703" y="3013"/>
              <a:ext cx="130" cy="131"/>
            </a:xfrm>
            <a:custGeom>
              <a:avLst/>
              <a:gdLst>
                <a:gd name="T0" fmla="*/ 115971940 w 210"/>
                <a:gd name="T1" fmla="*/ 169920799 h 210"/>
                <a:gd name="T2" fmla="*/ 104374648 w 210"/>
                <a:gd name="T3" fmla="*/ 175779385 h 210"/>
                <a:gd name="T4" fmla="*/ 104374648 w 210"/>
                <a:gd name="T5" fmla="*/ 181638962 h 210"/>
                <a:gd name="T6" fmla="*/ 92777355 w 210"/>
                <a:gd name="T7" fmla="*/ 193358116 h 210"/>
                <a:gd name="T8" fmla="*/ 81180063 w 210"/>
                <a:gd name="T9" fmla="*/ 205076280 h 210"/>
                <a:gd name="T10" fmla="*/ 69582771 w 210"/>
                <a:gd name="T11" fmla="*/ 193358116 h 210"/>
                <a:gd name="T12" fmla="*/ 75381908 w 210"/>
                <a:gd name="T13" fmla="*/ 187498539 h 210"/>
                <a:gd name="T14" fmla="*/ 63784616 w 210"/>
                <a:gd name="T15" fmla="*/ 175779385 h 210"/>
                <a:gd name="T16" fmla="*/ 46388186 w 210"/>
                <a:gd name="T17" fmla="*/ 181638962 h 210"/>
                <a:gd name="T18" fmla="*/ 40590032 w 210"/>
                <a:gd name="T19" fmla="*/ 175779385 h 210"/>
                <a:gd name="T20" fmla="*/ 40590032 w 210"/>
                <a:gd name="T21" fmla="*/ 175779385 h 210"/>
                <a:gd name="T22" fmla="*/ 46388186 w 210"/>
                <a:gd name="T23" fmla="*/ 169920799 h 210"/>
                <a:gd name="T24" fmla="*/ 46388186 w 210"/>
                <a:gd name="T25" fmla="*/ 158201645 h 210"/>
                <a:gd name="T26" fmla="*/ 28992739 w 210"/>
                <a:gd name="T27" fmla="*/ 152342068 h 210"/>
                <a:gd name="T28" fmla="*/ 23194585 w 210"/>
                <a:gd name="T29" fmla="*/ 140623904 h 210"/>
                <a:gd name="T30" fmla="*/ 23194585 w 210"/>
                <a:gd name="T31" fmla="*/ 140623904 h 210"/>
                <a:gd name="T32" fmla="*/ 23194585 w 210"/>
                <a:gd name="T33" fmla="*/ 128904751 h 210"/>
                <a:gd name="T34" fmla="*/ 17395447 w 210"/>
                <a:gd name="T35" fmla="*/ 123046164 h 210"/>
                <a:gd name="T36" fmla="*/ 17395447 w 210"/>
                <a:gd name="T37" fmla="*/ 111327010 h 210"/>
                <a:gd name="T38" fmla="*/ 11597292 w 210"/>
                <a:gd name="T39" fmla="*/ 105467433 h 210"/>
                <a:gd name="T40" fmla="*/ 0 w 210"/>
                <a:gd name="T41" fmla="*/ 87889693 h 210"/>
                <a:gd name="T42" fmla="*/ 5798155 w 210"/>
                <a:gd name="T43" fmla="*/ 82030116 h 210"/>
                <a:gd name="T44" fmla="*/ 11597292 w 210"/>
                <a:gd name="T45" fmla="*/ 76171529 h 210"/>
                <a:gd name="T46" fmla="*/ 0 w 210"/>
                <a:gd name="T47" fmla="*/ 64452375 h 210"/>
                <a:gd name="T48" fmla="*/ 5798155 w 210"/>
                <a:gd name="T49" fmla="*/ 46874635 h 210"/>
                <a:gd name="T50" fmla="*/ 11597292 w 210"/>
                <a:gd name="T51" fmla="*/ 23437317 h 210"/>
                <a:gd name="T52" fmla="*/ 28992739 w 210"/>
                <a:gd name="T53" fmla="*/ 29296894 h 210"/>
                <a:gd name="T54" fmla="*/ 40590032 w 210"/>
                <a:gd name="T55" fmla="*/ 29296894 h 210"/>
                <a:gd name="T56" fmla="*/ 57985479 w 210"/>
                <a:gd name="T57" fmla="*/ 29296894 h 210"/>
                <a:gd name="T58" fmla="*/ 57985479 w 210"/>
                <a:gd name="T59" fmla="*/ 29296894 h 210"/>
                <a:gd name="T60" fmla="*/ 63784616 w 210"/>
                <a:gd name="T61" fmla="*/ 35155481 h 210"/>
                <a:gd name="T62" fmla="*/ 75381908 w 210"/>
                <a:gd name="T63" fmla="*/ 29296894 h 210"/>
                <a:gd name="T64" fmla="*/ 86978218 w 210"/>
                <a:gd name="T65" fmla="*/ 35155481 h 210"/>
                <a:gd name="T66" fmla="*/ 104374648 w 210"/>
                <a:gd name="T67" fmla="*/ 29296894 h 210"/>
                <a:gd name="T68" fmla="*/ 121770095 w 210"/>
                <a:gd name="T69" fmla="*/ 23437317 h 210"/>
                <a:gd name="T70" fmla="*/ 133367387 w 210"/>
                <a:gd name="T71" fmla="*/ 11718164 h 210"/>
                <a:gd name="T72" fmla="*/ 139165542 w 210"/>
                <a:gd name="T73" fmla="*/ 5859577 h 210"/>
                <a:gd name="T74" fmla="*/ 150762834 w 210"/>
                <a:gd name="T75" fmla="*/ 0 h 210"/>
                <a:gd name="T76" fmla="*/ 156561971 w 210"/>
                <a:gd name="T77" fmla="*/ 5859577 h 210"/>
                <a:gd name="T78" fmla="*/ 173957418 w 210"/>
                <a:gd name="T79" fmla="*/ 11718164 h 210"/>
                <a:gd name="T80" fmla="*/ 185554711 w 210"/>
                <a:gd name="T81" fmla="*/ 5859577 h 210"/>
                <a:gd name="T82" fmla="*/ 191352865 w 210"/>
                <a:gd name="T83" fmla="*/ 11718164 h 210"/>
                <a:gd name="T84" fmla="*/ 202950158 w 210"/>
                <a:gd name="T85" fmla="*/ 23437317 h 210"/>
                <a:gd name="T86" fmla="*/ 202950158 w 210"/>
                <a:gd name="T87" fmla="*/ 35155481 h 210"/>
                <a:gd name="T88" fmla="*/ 202950158 w 210"/>
                <a:gd name="T89" fmla="*/ 46874635 h 210"/>
                <a:gd name="T90" fmla="*/ 197152003 w 210"/>
                <a:gd name="T91" fmla="*/ 52734212 h 210"/>
                <a:gd name="T92" fmla="*/ 197152003 w 210"/>
                <a:gd name="T93" fmla="*/ 64452375 h 210"/>
                <a:gd name="T94" fmla="*/ 202950158 w 210"/>
                <a:gd name="T95" fmla="*/ 70311952 h 210"/>
                <a:gd name="T96" fmla="*/ 191352865 w 210"/>
                <a:gd name="T97" fmla="*/ 87889693 h 210"/>
                <a:gd name="T98" fmla="*/ 179755573 w 210"/>
                <a:gd name="T99" fmla="*/ 87889693 h 210"/>
                <a:gd name="T100" fmla="*/ 185554711 w 210"/>
                <a:gd name="T101" fmla="*/ 99608847 h 210"/>
                <a:gd name="T102" fmla="*/ 173957418 w 210"/>
                <a:gd name="T103" fmla="*/ 105467433 h 210"/>
                <a:gd name="T104" fmla="*/ 162360126 w 210"/>
                <a:gd name="T105" fmla="*/ 117186587 h 210"/>
                <a:gd name="T106" fmla="*/ 150762834 w 210"/>
                <a:gd name="T107" fmla="*/ 117186587 h 210"/>
                <a:gd name="T108" fmla="*/ 139165542 w 210"/>
                <a:gd name="T109" fmla="*/ 117186587 h 210"/>
                <a:gd name="T110" fmla="*/ 127568249 w 210"/>
                <a:gd name="T111" fmla="*/ 123046164 h 210"/>
                <a:gd name="T112" fmla="*/ 121770095 w 210"/>
                <a:gd name="T113" fmla="*/ 128904751 h 210"/>
                <a:gd name="T114" fmla="*/ 121770095 w 210"/>
                <a:gd name="T115" fmla="*/ 140623904 h 210"/>
                <a:gd name="T116" fmla="*/ 127568249 w 210"/>
                <a:gd name="T117" fmla="*/ 146483481 h 210"/>
                <a:gd name="T118" fmla="*/ 121770095 w 210"/>
                <a:gd name="T119" fmla="*/ 152342068 h 210"/>
                <a:gd name="T120" fmla="*/ 115971940 w 210"/>
                <a:gd name="T121" fmla="*/ 158201645 h 21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10"/>
                <a:gd name="T184" fmla="*/ 0 h 210"/>
                <a:gd name="T185" fmla="*/ 210 w 210"/>
                <a:gd name="T186" fmla="*/ 210 h 21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10" h="210">
                  <a:moveTo>
                    <a:pt x="126" y="162"/>
                  </a:moveTo>
                  <a:lnTo>
                    <a:pt x="126" y="168"/>
                  </a:lnTo>
                  <a:lnTo>
                    <a:pt x="120" y="168"/>
                  </a:lnTo>
                  <a:lnTo>
                    <a:pt x="120" y="174"/>
                  </a:lnTo>
                  <a:lnTo>
                    <a:pt x="114" y="168"/>
                  </a:lnTo>
                  <a:lnTo>
                    <a:pt x="114" y="174"/>
                  </a:lnTo>
                  <a:lnTo>
                    <a:pt x="114" y="180"/>
                  </a:lnTo>
                  <a:lnTo>
                    <a:pt x="108" y="180"/>
                  </a:lnTo>
                  <a:lnTo>
                    <a:pt x="114" y="180"/>
                  </a:lnTo>
                  <a:lnTo>
                    <a:pt x="108" y="186"/>
                  </a:lnTo>
                  <a:lnTo>
                    <a:pt x="114" y="186"/>
                  </a:lnTo>
                  <a:lnTo>
                    <a:pt x="108" y="186"/>
                  </a:lnTo>
                  <a:lnTo>
                    <a:pt x="108" y="192"/>
                  </a:lnTo>
                  <a:lnTo>
                    <a:pt x="102" y="192"/>
                  </a:lnTo>
                  <a:lnTo>
                    <a:pt x="102" y="198"/>
                  </a:lnTo>
                  <a:lnTo>
                    <a:pt x="96" y="198"/>
                  </a:lnTo>
                  <a:lnTo>
                    <a:pt x="96" y="204"/>
                  </a:lnTo>
                  <a:lnTo>
                    <a:pt x="96" y="210"/>
                  </a:lnTo>
                  <a:lnTo>
                    <a:pt x="90" y="210"/>
                  </a:lnTo>
                  <a:lnTo>
                    <a:pt x="84" y="210"/>
                  </a:lnTo>
                  <a:lnTo>
                    <a:pt x="84" y="204"/>
                  </a:lnTo>
                  <a:lnTo>
                    <a:pt x="78" y="204"/>
                  </a:lnTo>
                  <a:lnTo>
                    <a:pt x="78" y="198"/>
                  </a:lnTo>
                  <a:lnTo>
                    <a:pt x="72" y="198"/>
                  </a:lnTo>
                  <a:lnTo>
                    <a:pt x="78" y="198"/>
                  </a:lnTo>
                  <a:lnTo>
                    <a:pt x="78" y="192"/>
                  </a:lnTo>
                  <a:lnTo>
                    <a:pt x="72" y="192"/>
                  </a:lnTo>
                  <a:lnTo>
                    <a:pt x="78" y="192"/>
                  </a:lnTo>
                  <a:lnTo>
                    <a:pt x="78" y="186"/>
                  </a:lnTo>
                  <a:lnTo>
                    <a:pt x="72" y="186"/>
                  </a:lnTo>
                  <a:lnTo>
                    <a:pt x="66" y="186"/>
                  </a:lnTo>
                  <a:lnTo>
                    <a:pt x="66" y="180"/>
                  </a:lnTo>
                  <a:lnTo>
                    <a:pt x="60" y="180"/>
                  </a:lnTo>
                  <a:lnTo>
                    <a:pt x="54" y="180"/>
                  </a:lnTo>
                  <a:lnTo>
                    <a:pt x="48" y="180"/>
                  </a:lnTo>
                  <a:lnTo>
                    <a:pt x="48" y="186"/>
                  </a:lnTo>
                  <a:lnTo>
                    <a:pt x="48" y="180"/>
                  </a:lnTo>
                  <a:lnTo>
                    <a:pt x="42" y="180"/>
                  </a:lnTo>
                  <a:lnTo>
                    <a:pt x="48" y="180"/>
                  </a:lnTo>
                  <a:lnTo>
                    <a:pt x="42" y="180"/>
                  </a:lnTo>
                  <a:lnTo>
                    <a:pt x="48" y="180"/>
                  </a:lnTo>
                  <a:lnTo>
                    <a:pt x="42" y="180"/>
                  </a:lnTo>
                  <a:lnTo>
                    <a:pt x="48" y="180"/>
                  </a:lnTo>
                  <a:lnTo>
                    <a:pt x="42" y="180"/>
                  </a:lnTo>
                  <a:lnTo>
                    <a:pt x="48" y="180"/>
                  </a:lnTo>
                  <a:lnTo>
                    <a:pt x="48" y="174"/>
                  </a:lnTo>
                  <a:lnTo>
                    <a:pt x="48" y="180"/>
                  </a:lnTo>
                  <a:lnTo>
                    <a:pt x="48" y="174"/>
                  </a:lnTo>
                  <a:lnTo>
                    <a:pt x="48" y="168"/>
                  </a:lnTo>
                  <a:lnTo>
                    <a:pt x="48" y="162"/>
                  </a:lnTo>
                  <a:lnTo>
                    <a:pt x="48" y="156"/>
                  </a:lnTo>
                  <a:lnTo>
                    <a:pt x="48" y="162"/>
                  </a:lnTo>
                  <a:lnTo>
                    <a:pt x="42" y="162"/>
                  </a:lnTo>
                  <a:lnTo>
                    <a:pt x="42" y="156"/>
                  </a:lnTo>
                  <a:lnTo>
                    <a:pt x="36" y="156"/>
                  </a:lnTo>
                  <a:lnTo>
                    <a:pt x="30" y="156"/>
                  </a:lnTo>
                  <a:lnTo>
                    <a:pt x="30" y="150"/>
                  </a:lnTo>
                  <a:lnTo>
                    <a:pt x="24" y="150"/>
                  </a:lnTo>
                  <a:lnTo>
                    <a:pt x="30" y="150"/>
                  </a:lnTo>
                  <a:lnTo>
                    <a:pt x="24" y="144"/>
                  </a:lnTo>
                  <a:lnTo>
                    <a:pt x="24" y="150"/>
                  </a:lnTo>
                  <a:lnTo>
                    <a:pt x="24" y="144"/>
                  </a:lnTo>
                  <a:lnTo>
                    <a:pt x="24" y="150"/>
                  </a:lnTo>
                  <a:lnTo>
                    <a:pt x="24" y="144"/>
                  </a:lnTo>
                  <a:lnTo>
                    <a:pt x="24" y="138"/>
                  </a:lnTo>
                  <a:lnTo>
                    <a:pt x="18" y="138"/>
                  </a:lnTo>
                  <a:lnTo>
                    <a:pt x="24" y="138"/>
                  </a:lnTo>
                  <a:lnTo>
                    <a:pt x="24" y="132"/>
                  </a:lnTo>
                  <a:lnTo>
                    <a:pt x="18" y="132"/>
                  </a:lnTo>
                  <a:lnTo>
                    <a:pt x="18" y="126"/>
                  </a:lnTo>
                  <a:lnTo>
                    <a:pt x="18" y="132"/>
                  </a:lnTo>
                  <a:lnTo>
                    <a:pt x="18" y="126"/>
                  </a:lnTo>
                  <a:lnTo>
                    <a:pt x="12" y="126"/>
                  </a:lnTo>
                  <a:lnTo>
                    <a:pt x="18" y="126"/>
                  </a:lnTo>
                  <a:lnTo>
                    <a:pt x="18" y="120"/>
                  </a:lnTo>
                  <a:lnTo>
                    <a:pt x="18" y="114"/>
                  </a:lnTo>
                  <a:lnTo>
                    <a:pt x="12" y="114"/>
                  </a:lnTo>
                  <a:lnTo>
                    <a:pt x="6" y="114"/>
                  </a:lnTo>
                  <a:lnTo>
                    <a:pt x="12" y="114"/>
                  </a:lnTo>
                  <a:lnTo>
                    <a:pt x="12" y="108"/>
                  </a:lnTo>
                  <a:lnTo>
                    <a:pt x="6" y="108"/>
                  </a:lnTo>
                  <a:lnTo>
                    <a:pt x="0" y="102"/>
                  </a:lnTo>
                  <a:lnTo>
                    <a:pt x="0" y="96"/>
                  </a:lnTo>
                  <a:lnTo>
                    <a:pt x="0" y="90"/>
                  </a:lnTo>
                  <a:lnTo>
                    <a:pt x="6" y="90"/>
                  </a:lnTo>
                  <a:lnTo>
                    <a:pt x="6" y="84"/>
                  </a:lnTo>
                  <a:lnTo>
                    <a:pt x="12" y="84"/>
                  </a:lnTo>
                  <a:lnTo>
                    <a:pt x="6" y="84"/>
                  </a:lnTo>
                  <a:lnTo>
                    <a:pt x="6" y="78"/>
                  </a:lnTo>
                  <a:lnTo>
                    <a:pt x="12" y="78"/>
                  </a:lnTo>
                  <a:lnTo>
                    <a:pt x="6" y="78"/>
                  </a:lnTo>
                  <a:lnTo>
                    <a:pt x="12" y="78"/>
                  </a:lnTo>
                  <a:lnTo>
                    <a:pt x="6" y="78"/>
                  </a:lnTo>
                  <a:lnTo>
                    <a:pt x="6" y="72"/>
                  </a:lnTo>
                  <a:lnTo>
                    <a:pt x="6" y="66"/>
                  </a:lnTo>
                  <a:lnTo>
                    <a:pt x="0" y="66"/>
                  </a:lnTo>
                  <a:lnTo>
                    <a:pt x="0" y="60"/>
                  </a:lnTo>
                  <a:lnTo>
                    <a:pt x="6" y="60"/>
                  </a:lnTo>
                  <a:lnTo>
                    <a:pt x="6" y="54"/>
                  </a:lnTo>
                  <a:lnTo>
                    <a:pt x="6" y="48"/>
                  </a:lnTo>
                  <a:lnTo>
                    <a:pt x="6" y="42"/>
                  </a:lnTo>
                  <a:lnTo>
                    <a:pt x="6" y="36"/>
                  </a:lnTo>
                  <a:lnTo>
                    <a:pt x="12" y="30"/>
                  </a:lnTo>
                  <a:lnTo>
                    <a:pt x="12" y="24"/>
                  </a:lnTo>
                  <a:lnTo>
                    <a:pt x="18" y="24"/>
                  </a:lnTo>
                  <a:lnTo>
                    <a:pt x="18" y="30"/>
                  </a:lnTo>
                  <a:lnTo>
                    <a:pt x="24" y="30"/>
                  </a:lnTo>
                  <a:lnTo>
                    <a:pt x="30" y="30"/>
                  </a:lnTo>
                  <a:lnTo>
                    <a:pt x="36" y="30"/>
                  </a:lnTo>
                  <a:lnTo>
                    <a:pt x="42" y="30"/>
                  </a:lnTo>
                  <a:lnTo>
                    <a:pt x="48" y="30"/>
                  </a:lnTo>
                  <a:lnTo>
                    <a:pt x="42" y="30"/>
                  </a:lnTo>
                  <a:lnTo>
                    <a:pt x="48" y="30"/>
                  </a:lnTo>
                  <a:lnTo>
                    <a:pt x="48" y="24"/>
                  </a:lnTo>
                  <a:lnTo>
                    <a:pt x="54" y="24"/>
                  </a:lnTo>
                  <a:lnTo>
                    <a:pt x="60" y="30"/>
                  </a:lnTo>
                  <a:lnTo>
                    <a:pt x="54" y="30"/>
                  </a:lnTo>
                  <a:lnTo>
                    <a:pt x="54" y="36"/>
                  </a:lnTo>
                  <a:lnTo>
                    <a:pt x="60" y="36"/>
                  </a:lnTo>
                  <a:lnTo>
                    <a:pt x="60" y="30"/>
                  </a:lnTo>
                  <a:lnTo>
                    <a:pt x="60" y="36"/>
                  </a:lnTo>
                  <a:lnTo>
                    <a:pt x="60" y="30"/>
                  </a:lnTo>
                  <a:lnTo>
                    <a:pt x="66" y="30"/>
                  </a:lnTo>
                  <a:lnTo>
                    <a:pt x="66" y="36"/>
                  </a:lnTo>
                  <a:lnTo>
                    <a:pt x="66" y="30"/>
                  </a:lnTo>
                  <a:lnTo>
                    <a:pt x="72" y="30"/>
                  </a:lnTo>
                  <a:lnTo>
                    <a:pt x="78" y="36"/>
                  </a:lnTo>
                  <a:lnTo>
                    <a:pt x="78" y="30"/>
                  </a:lnTo>
                  <a:lnTo>
                    <a:pt x="78" y="36"/>
                  </a:lnTo>
                  <a:lnTo>
                    <a:pt x="78" y="30"/>
                  </a:lnTo>
                  <a:lnTo>
                    <a:pt x="84" y="30"/>
                  </a:lnTo>
                  <a:lnTo>
                    <a:pt x="90" y="36"/>
                  </a:lnTo>
                  <a:lnTo>
                    <a:pt x="96" y="36"/>
                  </a:lnTo>
                  <a:lnTo>
                    <a:pt x="102" y="36"/>
                  </a:lnTo>
                  <a:lnTo>
                    <a:pt x="108" y="36"/>
                  </a:lnTo>
                  <a:lnTo>
                    <a:pt x="108" y="30"/>
                  </a:lnTo>
                  <a:lnTo>
                    <a:pt x="114" y="30"/>
                  </a:lnTo>
                  <a:lnTo>
                    <a:pt x="120" y="30"/>
                  </a:lnTo>
                  <a:lnTo>
                    <a:pt x="120" y="24"/>
                  </a:lnTo>
                  <a:lnTo>
                    <a:pt x="126" y="24"/>
                  </a:lnTo>
                  <a:lnTo>
                    <a:pt x="126" y="18"/>
                  </a:lnTo>
                  <a:lnTo>
                    <a:pt x="132" y="18"/>
                  </a:lnTo>
                  <a:lnTo>
                    <a:pt x="132" y="12"/>
                  </a:lnTo>
                  <a:lnTo>
                    <a:pt x="138" y="12"/>
                  </a:lnTo>
                  <a:lnTo>
                    <a:pt x="138" y="6"/>
                  </a:lnTo>
                  <a:lnTo>
                    <a:pt x="138" y="0"/>
                  </a:lnTo>
                  <a:lnTo>
                    <a:pt x="144" y="0"/>
                  </a:lnTo>
                  <a:lnTo>
                    <a:pt x="144" y="6"/>
                  </a:lnTo>
                  <a:lnTo>
                    <a:pt x="150" y="0"/>
                  </a:lnTo>
                  <a:lnTo>
                    <a:pt x="150" y="6"/>
                  </a:lnTo>
                  <a:lnTo>
                    <a:pt x="150" y="0"/>
                  </a:lnTo>
                  <a:lnTo>
                    <a:pt x="156" y="0"/>
                  </a:lnTo>
                  <a:lnTo>
                    <a:pt x="156" y="6"/>
                  </a:lnTo>
                  <a:lnTo>
                    <a:pt x="156" y="0"/>
                  </a:lnTo>
                  <a:lnTo>
                    <a:pt x="156" y="6"/>
                  </a:lnTo>
                  <a:lnTo>
                    <a:pt x="162" y="6"/>
                  </a:lnTo>
                  <a:lnTo>
                    <a:pt x="168" y="6"/>
                  </a:lnTo>
                  <a:lnTo>
                    <a:pt x="168" y="12"/>
                  </a:lnTo>
                  <a:lnTo>
                    <a:pt x="174" y="12"/>
                  </a:lnTo>
                  <a:lnTo>
                    <a:pt x="180" y="12"/>
                  </a:lnTo>
                  <a:lnTo>
                    <a:pt x="180" y="6"/>
                  </a:lnTo>
                  <a:lnTo>
                    <a:pt x="180" y="12"/>
                  </a:lnTo>
                  <a:lnTo>
                    <a:pt x="186" y="12"/>
                  </a:lnTo>
                  <a:lnTo>
                    <a:pt x="192" y="6"/>
                  </a:lnTo>
                  <a:lnTo>
                    <a:pt x="192" y="12"/>
                  </a:lnTo>
                  <a:lnTo>
                    <a:pt x="192" y="6"/>
                  </a:lnTo>
                  <a:lnTo>
                    <a:pt x="198" y="6"/>
                  </a:lnTo>
                  <a:lnTo>
                    <a:pt x="198" y="12"/>
                  </a:lnTo>
                  <a:lnTo>
                    <a:pt x="204" y="12"/>
                  </a:lnTo>
                  <a:lnTo>
                    <a:pt x="204" y="18"/>
                  </a:lnTo>
                  <a:lnTo>
                    <a:pt x="204" y="24"/>
                  </a:lnTo>
                  <a:lnTo>
                    <a:pt x="210" y="24"/>
                  </a:lnTo>
                  <a:lnTo>
                    <a:pt x="210" y="30"/>
                  </a:lnTo>
                  <a:lnTo>
                    <a:pt x="204" y="30"/>
                  </a:lnTo>
                  <a:lnTo>
                    <a:pt x="210" y="30"/>
                  </a:lnTo>
                  <a:lnTo>
                    <a:pt x="210" y="36"/>
                  </a:lnTo>
                  <a:lnTo>
                    <a:pt x="210" y="42"/>
                  </a:lnTo>
                  <a:lnTo>
                    <a:pt x="204" y="42"/>
                  </a:lnTo>
                  <a:lnTo>
                    <a:pt x="210" y="42"/>
                  </a:lnTo>
                  <a:lnTo>
                    <a:pt x="210" y="48"/>
                  </a:lnTo>
                  <a:lnTo>
                    <a:pt x="204" y="48"/>
                  </a:lnTo>
                  <a:lnTo>
                    <a:pt x="210" y="48"/>
                  </a:lnTo>
                  <a:lnTo>
                    <a:pt x="204" y="48"/>
                  </a:lnTo>
                  <a:lnTo>
                    <a:pt x="204" y="54"/>
                  </a:lnTo>
                  <a:lnTo>
                    <a:pt x="210" y="54"/>
                  </a:lnTo>
                  <a:lnTo>
                    <a:pt x="204" y="54"/>
                  </a:lnTo>
                  <a:lnTo>
                    <a:pt x="204" y="60"/>
                  </a:lnTo>
                  <a:lnTo>
                    <a:pt x="204" y="66"/>
                  </a:lnTo>
                  <a:lnTo>
                    <a:pt x="210" y="66"/>
                  </a:lnTo>
                  <a:lnTo>
                    <a:pt x="204" y="66"/>
                  </a:lnTo>
                  <a:lnTo>
                    <a:pt x="210" y="66"/>
                  </a:lnTo>
                  <a:lnTo>
                    <a:pt x="210" y="72"/>
                  </a:lnTo>
                  <a:lnTo>
                    <a:pt x="204" y="72"/>
                  </a:lnTo>
                  <a:lnTo>
                    <a:pt x="204" y="78"/>
                  </a:lnTo>
                  <a:lnTo>
                    <a:pt x="204" y="84"/>
                  </a:lnTo>
                  <a:lnTo>
                    <a:pt x="198" y="90"/>
                  </a:lnTo>
                  <a:lnTo>
                    <a:pt x="192" y="90"/>
                  </a:lnTo>
                  <a:lnTo>
                    <a:pt x="192" y="96"/>
                  </a:lnTo>
                  <a:lnTo>
                    <a:pt x="192" y="90"/>
                  </a:lnTo>
                  <a:lnTo>
                    <a:pt x="186" y="90"/>
                  </a:lnTo>
                  <a:lnTo>
                    <a:pt x="192" y="96"/>
                  </a:lnTo>
                  <a:lnTo>
                    <a:pt x="186" y="96"/>
                  </a:lnTo>
                  <a:lnTo>
                    <a:pt x="186" y="102"/>
                  </a:lnTo>
                  <a:lnTo>
                    <a:pt x="192" y="102"/>
                  </a:lnTo>
                  <a:lnTo>
                    <a:pt x="186" y="102"/>
                  </a:lnTo>
                  <a:lnTo>
                    <a:pt x="186" y="108"/>
                  </a:lnTo>
                  <a:lnTo>
                    <a:pt x="186" y="114"/>
                  </a:lnTo>
                  <a:lnTo>
                    <a:pt x="180" y="108"/>
                  </a:lnTo>
                  <a:lnTo>
                    <a:pt x="180" y="114"/>
                  </a:lnTo>
                  <a:lnTo>
                    <a:pt x="174" y="114"/>
                  </a:lnTo>
                  <a:lnTo>
                    <a:pt x="168" y="114"/>
                  </a:lnTo>
                  <a:lnTo>
                    <a:pt x="168" y="120"/>
                  </a:lnTo>
                  <a:lnTo>
                    <a:pt x="168" y="126"/>
                  </a:lnTo>
                  <a:lnTo>
                    <a:pt x="162" y="126"/>
                  </a:lnTo>
                  <a:lnTo>
                    <a:pt x="156" y="126"/>
                  </a:lnTo>
                  <a:lnTo>
                    <a:pt x="156" y="120"/>
                  </a:lnTo>
                  <a:lnTo>
                    <a:pt x="150" y="120"/>
                  </a:lnTo>
                  <a:lnTo>
                    <a:pt x="150" y="126"/>
                  </a:lnTo>
                  <a:lnTo>
                    <a:pt x="150" y="120"/>
                  </a:lnTo>
                  <a:lnTo>
                    <a:pt x="144" y="120"/>
                  </a:lnTo>
                  <a:lnTo>
                    <a:pt x="138" y="120"/>
                  </a:lnTo>
                  <a:lnTo>
                    <a:pt x="132" y="126"/>
                  </a:lnTo>
                  <a:lnTo>
                    <a:pt x="132" y="132"/>
                  </a:lnTo>
                  <a:lnTo>
                    <a:pt x="132" y="126"/>
                  </a:lnTo>
                  <a:lnTo>
                    <a:pt x="132" y="132"/>
                  </a:lnTo>
                  <a:lnTo>
                    <a:pt x="126" y="132"/>
                  </a:lnTo>
                  <a:lnTo>
                    <a:pt x="126" y="138"/>
                  </a:lnTo>
                  <a:lnTo>
                    <a:pt x="126" y="132"/>
                  </a:lnTo>
                  <a:lnTo>
                    <a:pt x="126" y="138"/>
                  </a:lnTo>
                  <a:lnTo>
                    <a:pt x="132" y="138"/>
                  </a:lnTo>
                  <a:lnTo>
                    <a:pt x="132" y="144"/>
                  </a:lnTo>
                  <a:lnTo>
                    <a:pt x="126" y="144"/>
                  </a:lnTo>
                  <a:lnTo>
                    <a:pt x="126" y="150"/>
                  </a:lnTo>
                  <a:lnTo>
                    <a:pt x="132" y="150"/>
                  </a:lnTo>
                  <a:lnTo>
                    <a:pt x="126" y="150"/>
                  </a:lnTo>
                  <a:lnTo>
                    <a:pt x="132" y="150"/>
                  </a:lnTo>
                  <a:lnTo>
                    <a:pt x="126" y="150"/>
                  </a:lnTo>
                  <a:lnTo>
                    <a:pt x="126" y="156"/>
                  </a:lnTo>
                  <a:lnTo>
                    <a:pt x="126" y="162"/>
                  </a:lnTo>
                  <a:lnTo>
                    <a:pt x="126" y="156"/>
                  </a:lnTo>
                  <a:lnTo>
                    <a:pt x="120" y="156"/>
                  </a:lnTo>
                  <a:lnTo>
                    <a:pt x="120" y="162"/>
                  </a:lnTo>
                  <a:lnTo>
                    <a:pt x="126" y="162"/>
                  </a:lnTo>
                  <a:lnTo>
                    <a:pt x="120" y="162"/>
                  </a:lnTo>
                  <a:lnTo>
                    <a:pt x="126" y="162"/>
                  </a:lnTo>
                  <a:close/>
                </a:path>
              </a:pathLst>
            </a:custGeom>
            <a:solidFill>
              <a:schemeClr val="accent1"/>
            </a:solidFill>
            <a:ln w="9525">
              <a:solidFill>
                <a:srgbClr val="B2B2B2"/>
              </a:solidFill>
              <a:round/>
              <a:headEnd/>
              <a:tailEnd/>
            </a:ln>
          </p:spPr>
          <p:txBody>
            <a:bodyPr/>
            <a:lstStyle/>
            <a:p>
              <a:endParaRPr lang="en-CA"/>
            </a:p>
          </p:txBody>
        </p:sp>
        <p:sp>
          <p:nvSpPr>
            <p:cNvPr id="406" name="Freeform 465"/>
            <p:cNvSpPr>
              <a:spLocks/>
            </p:cNvSpPr>
            <p:nvPr>
              <p:custDataLst>
                <p:tags r:id="rId29"/>
              </p:custDataLst>
            </p:nvPr>
          </p:nvSpPr>
          <p:spPr bwMode="gray">
            <a:xfrm>
              <a:off x="714" y="3114"/>
              <a:ext cx="119" cy="105"/>
            </a:xfrm>
            <a:custGeom>
              <a:avLst/>
              <a:gdLst>
                <a:gd name="T0" fmla="*/ 162334318 w 192"/>
                <a:gd name="T1" fmla="*/ 129853921 h 168"/>
                <a:gd name="T2" fmla="*/ 162334318 w 192"/>
                <a:gd name="T3" fmla="*/ 135756462 h 168"/>
                <a:gd name="T4" fmla="*/ 156537051 w 192"/>
                <a:gd name="T5" fmla="*/ 135756462 h 168"/>
                <a:gd name="T6" fmla="*/ 150739783 w 192"/>
                <a:gd name="T7" fmla="*/ 147560552 h 168"/>
                <a:gd name="T8" fmla="*/ 144941531 w 192"/>
                <a:gd name="T9" fmla="*/ 153463093 h 168"/>
                <a:gd name="T10" fmla="*/ 139144264 w 192"/>
                <a:gd name="T11" fmla="*/ 165268175 h 168"/>
                <a:gd name="T12" fmla="*/ 133346012 w 192"/>
                <a:gd name="T13" fmla="*/ 165268175 h 168"/>
                <a:gd name="T14" fmla="*/ 127548744 w 192"/>
                <a:gd name="T15" fmla="*/ 153463093 h 168"/>
                <a:gd name="T16" fmla="*/ 121751477 w 192"/>
                <a:gd name="T17" fmla="*/ 135756462 h 168"/>
                <a:gd name="T18" fmla="*/ 110155957 w 192"/>
                <a:gd name="T19" fmla="*/ 129853921 h 168"/>
                <a:gd name="T20" fmla="*/ 98560438 w 192"/>
                <a:gd name="T21" fmla="*/ 123951380 h 168"/>
                <a:gd name="T22" fmla="*/ 92763170 w 192"/>
                <a:gd name="T23" fmla="*/ 123951380 h 168"/>
                <a:gd name="T24" fmla="*/ 81167651 w 192"/>
                <a:gd name="T25" fmla="*/ 129853921 h 168"/>
                <a:gd name="T26" fmla="*/ 69572132 w 192"/>
                <a:gd name="T27" fmla="*/ 135756462 h 168"/>
                <a:gd name="T28" fmla="*/ 57976613 w 192"/>
                <a:gd name="T29" fmla="*/ 129853921 h 168"/>
                <a:gd name="T30" fmla="*/ 52179345 w 192"/>
                <a:gd name="T31" fmla="*/ 141658011 h 168"/>
                <a:gd name="T32" fmla="*/ 40583826 w 192"/>
                <a:gd name="T33" fmla="*/ 147560552 h 168"/>
                <a:gd name="T34" fmla="*/ 28988306 w 192"/>
                <a:gd name="T35" fmla="*/ 147560552 h 168"/>
                <a:gd name="T36" fmla="*/ 23191039 w 192"/>
                <a:gd name="T37" fmla="*/ 135756462 h 168"/>
                <a:gd name="T38" fmla="*/ 17392787 w 192"/>
                <a:gd name="T39" fmla="*/ 118048838 h 168"/>
                <a:gd name="T40" fmla="*/ 17392787 w 192"/>
                <a:gd name="T41" fmla="*/ 112146297 h 168"/>
                <a:gd name="T42" fmla="*/ 11595519 w 192"/>
                <a:gd name="T43" fmla="*/ 100341215 h 168"/>
                <a:gd name="T44" fmla="*/ 17392787 w 192"/>
                <a:gd name="T45" fmla="*/ 88536133 h 168"/>
                <a:gd name="T46" fmla="*/ 5797268 w 192"/>
                <a:gd name="T47" fmla="*/ 82634584 h 168"/>
                <a:gd name="T48" fmla="*/ 5797268 w 192"/>
                <a:gd name="T49" fmla="*/ 76732043 h 168"/>
                <a:gd name="T50" fmla="*/ 5797268 w 192"/>
                <a:gd name="T51" fmla="*/ 70829502 h 168"/>
                <a:gd name="T52" fmla="*/ 11595519 w 192"/>
                <a:gd name="T53" fmla="*/ 70829502 h 168"/>
                <a:gd name="T54" fmla="*/ 23191039 w 192"/>
                <a:gd name="T55" fmla="*/ 64926960 h 168"/>
                <a:gd name="T56" fmla="*/ 34785574 w 192"/>
                <a:gd name="T57" fmla="*/ 70829502 h 168"/>
                <a:gd name="T58" fmla="*/ 40583826 w 192"/>
                <a:gd name="T59" fmla="*/ 70829502 h 168"/>
                <a:gd name="T60" fmla="*/ 52179345 w 192"/>
                <a:gd name="T61" fmla="*/ 64926960 h 168"/>
                <a:gd name="T62" fmla="*/ 63773880 w 192"/>
                <a:gd name="T63" fmla="*/ 59024419 h 168"/>
                <a:gd name="T64" fmla="*/ 63773880 w 192"/>
                <a:gd name="T65" fmla="*/ 53121878 h 168"/>
                <a:gd name="T66" fmla="*/ 69572132 w 192"/>
                <a:gd name="T67" fmla="*/ 53121878 h 168"/>
                <a:gd name="T68" fmla="*/ 75369400 w 192"/>
                <a:gd name="T69" fmla="*/ 41316796 h 168"/>
                <a:gd name="T70" fmla="*/ 81167651 w 192"/>
                <a:gd name="T71" fmla="*/ 29511714 h 168"/>
                <a:gd name="T72" fmla="*/ 92763170 w 192"/>
                <a:gd name="T73" fmla="*/ 23610165 h 168"/>
                <a:gd name="T74" fmla="*/ 86964919 w 192"/>
                <a:gd name="T75" fmla="*/ 17707623 h 168"/>
                <a:gd name="T76" fmla="*/ 92763170 w 192"/>
                <a:gd name="T77" fmla="*/ 5902541 h 168"/>
                <a:gd name="T78" fmla="*/ 104357706 w 192"/>
                <a:gd name="T79" fmla="*/ 5902541 h 168"/>
                <a:gd name="T80" fmla="*/ 104357706 w 192"/>
                <a:gd name="T81" fmla="*/ 0 h 168"/>
                <a:gd name="T82" fmla="*/ 115953225 w 192"/>
                <a:gd name="T83" fmla="*/ 11805082 h 168"/>
                <a:gd name="T84" fmla="*/ 133346012 w 192"/>
                <a:gd name="T85" fmla="*/ 11805082 h 168"/>
                <a:gd name="T86" fmla="*/ 139144264 w 192"/>
                <a:gd name="T87" fmla="*/ 23610165 h 168"/>
                <a:gd name="T88" fmla="*/ 144941531 w 192"/>
                <a:gd name="T89" fmla="*/ 35414255 h 168"/>
                <a:gd name="T90" fmla="*/ 144941531 w 192"/>
                <a:gd name="T91" fmla="*/ 41316796 h 168"/>
                <a:gd name="T92" fmla="*/ 150739783 w 192"/>
                <a:gd name="T93" fmla="*/ 53121878 h 168"/>
                <a:gd name="T94" fmla="*/ 168132570 w 192"/>
                <a:gd name="T95" fmla="*/ 53121878 h 168"/>
                <a:gd name="T96" fmla="*/ 173929838 w 192"/>
                <a:gd name="T97" fmla="*/ 64926960 h 168"/>
                <a:gd name="T98" fmla="*/ 185525357 w 192"/>
                <a:gd name="T99" fmla="*/ 70829502 h 168"/>
                <a:gd name="T100" fmla="*/ 179728089 w 192"/>
                <a:gd name="T101" fmla="*/ 76732043 h 168"/>
                <a:gd name="T102" fmla="*/ 168132570 w 192"/>
                <a:gd name="T103" fmla="*/ 82634584 h 168"/>
                <a:gd name="T104" fmla="*/ 162334318 w 192"/>
                <a:gd name="T105" fmla="*/ 94438674 h 168"/>
                <a:gd name="T106" fmla="*/ 168132570 w 192"/>
                <a:gd name="T107" fmla="*/ 94438674 h 168"/>
                <a:gd name="T108" fmla="*/ 173929838 w 192"/>
                <a:gd name="T109" fmla="*/ 106243756 h 168"/>
                <a:gd name="T110" fmla="*/ 168132570 w 192"/>
                <a:gd name="T111" fmla="*/ 118048838 h 168"/>
                <a:gd name="T112" fmla="*/ 168132570 w 192"/>
                <a:gd name="T113" fmla="*/ 123951380 h 16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2"/>
                <a:gd name="T172" fmla="*/ 0 h 168"/>
                <a:gd name="T173" fmla="*/ 192 w 192"/>
                <a:gd name="T174" fmla="*/ 168 h 16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2" h="168">
                  <a:moveTo>
                    <a:pt x="174" y="126"/>
                  </a:moveTo>
                  <a:lnTo>
                    <a:pt x="174" y="132"/>
                  </a:lnTo>
                  <a:lnTo>
                    <a:pt x="168" y="132"/>
                  </a:lnTo>
                  <a:lnTo>
                    <a:pt x="174" y="132"/>
                  </a:lnTo>
                  <a:lnTo>
                    <a:pt x="168" y="132"/>
                  </a:lnTo>
                  <a:lnTo>
                    <a:pt x="168" y="138"/>
                  </a:lnTo>
                  <a:lnTo>
                    <a:pt x="168" y="144"/>
                  </a:lnTo>
                  <a:lnTo>
                    <a:pt x="162" y="144"/>
                  </a:lnTo>
                  <a:lnTo>
                    <a:pt x="162" y="138"/>
                  </a:lnTo>
                  <a:lnTo>
                    <a:pt x="162" y="144"/>
                  </a:lnTo>
                  <a:lnTo>
                    <a:pt x="162" y="150"/>
                  </a:lnTo>
                  <a:lnTo>
                    <a:pt x="156" y="150"/>
                  </a:lnTo>
                  <a:lnTo>
                    <a:pt x="156" y="156"/>
                  </a:lnTo>
                  <a:lnTo>
                    <a:pt x="156" y="150"/>
                  </a:lnTo>
                  <a:lnTo>
                    <a:pt x="150" y="156"/>
                  </a:lnTo>
                  <a:lnTo>
                    <a:pt x="144" y="162"/>
                  </a:lnTo>
                  <a:lnTo>
                    <a:pt x="150" y="162"/>
                  </a:lnTo>
                  <a:lnTo>
                    <a:pt x="144" y="168"/>
                  </a:lnTo>
                  <a:lnTo>
                    <a:pt x="150" y="168"/>
                  </a:lnTo>
                  <a:lnTo>
                    <a:pt x="144" y="168"/>
                  </a:lnTo>
                  <a:lnTo>
                    <a:pt x="138" y="168"/>
                  </a:lnTo>
                  <a:lnTo>
                    <a:pt x="138" y="162"/>
                  </a:lnTo>
                  <a:lnTo>
                    <a:pt x="138" y="156"/>
                  </a:lnTo>
                  <a:lnTo>
                    <a:pt x="132" y="156"/>
                  </a:lnTo>
                  <a:lnTo>
                    <a:pt x="132" y="150"/>
                  </a:lnTo>
                  <a:lnTo>
                    <a:pt x="132" y="144"/>
                  </a:lnTo>
                  <a:lnTo>
                    <a:pt x="126" y="138"/>
                  </a:lnTo>
                  <a:lnTo>
                    <a:pt x="126" y="132"/>
                  </a:lnTo>
                  <a:lnTo>
                    <a:pt x="120" y="132"/>
                  </a:lnTo>
                  <a:lnTo>
                    <a:pt x="114" y="132"/>
                  </a:lnTo>
                  <a:lnTo>
                    <a:pt x="108" y="132"/>
                  </a:lnTo>
                  <a:lnTo>
                    <a:pt x="102" y="132"/>
                  </a:lnTo>
                  <a:lnTo>
                    <a:pt x="102" y="126"/>
                  </a:lnTo>
                  <a:lnTo>
                    <a:pt x="102" y="132"/>
                  </a:lnTo>
                  <a:lnTo>
                    <a:pt x="96" y="132"/>
                  </a:lnTo>
                  <a:lnTo>
                    <a:pt x="96" y="126"/>
                  </a:lnTo>
                  <a:lnTo>
                    <a:pt x="90" y="126"/>
                  </a:lnTo>
                  <a:lnTo>
                    <a:pt x="90" y="132"/>
                  </a:lnTo>
                  <a:lnTo>
                    <a:pt x="84" y="132"/>
                  </a:lnTo>
                  <a:lnTo>
                    <a:pt x="84" y="138"/>
                  </a:lnTo>
                  <a:lnTo>
                    <a:pt x="78" y="138"/>
                  </a:lnTo>
                  <a:lnTo>
                    <a:pt x="72" y="138"/>
                  </a:lnTo>
                  <a:lnTo>
                    <a:pt x="66" y="138"/>
                  </a:lnTo>
                  <a:lnTo>
                    <a:pt x="66" y="132"/>
                  </a:lnTo>
                  <a:lnTo>
                    <a:pt x="60" y="132"/>
                  </a:lnTo>
                  <a:lnTo>
                    <a:pt x="54" y="132"/>
                  </a:lnTo>
                  <a:lnTo>
                    <a:pt x="54" y="138"/>
                  </a:lnTo>
                  <a:lnTo>
                    <a:pt x="54" y="144"/>
                  </a:lnTo>
                  <a:lnTo>
                    <a:pt x="54" y="150"/>
                  </a:lnTo>
                  <a:lnTo>
                    <a:pt x="48" y="150"/>
                  </a:lnTo>
                  <a:lnTo>
                    <a:pt x="42" y="150"/>
                  </a:lnTo>
                  <a:lnTo>
                    <a:pt x="36" y="156"/>
                  </a:lnTo>
                  <a:lnTo>
                    <a:pt x="36" y="150"/>
                  </a:lnTo>
                  <a:lnTo>
                    <a:pt x="30" y="150"/>
                  </a:lnTo>
                  <a:lnTo>
                    <a:pt x="30" y="144"/>
                  </a:lnTo>
                  <a:lnTo>
                    <a:pt x="24" y="144"/>
                  </a:lnTo>
                  <a:lnTo>
                    <a:pt x="24" y="138"/>
                  </a:lnTo>
                  <a:lnTo>
                    <a:pt x="18" y="132"/>
                  </a:lnTo>
                  <a:lnTo>
                    <a:pt x="18" y="126"/>
                  </a:lnTo>
                  <a:lnTo>
                    <a:pt x="18" y="120"/>
                  </a:lnTo>
                  <a:lnTo>
                    <a:pt x="18" y="114"/>
                  </a:lnTo>
                  <a:lnTo>
                    <a:pt x="24" y="114"/>
                  </a:lnTo>
                  <a:lnTo>
                    <a:pt x="18" y="114"/>
                  </a:lnTo>
                  <a:lnTo>
                    <a:pt x="18" y="108"/>
                  </a:lnTo>
                  <a:lnTo>
                    <a:pt x="12" y="108"/>
                  </a:lnTo>
                  <a:lnTo>
                    <a:pt x="12" y="102"/>
                  </a:lnTo>
                  <a:lnTo>
                    <a:pt x="18" y="102"/>
                  </a:lnTo>
                  <a:lnTo>
                    <a:pt x="18" y="96"/>
                  </a:lnTo>
                  <a:lnTo>
                    <a:pt x="18" y="90"/>
                  </a:lnTo>
                  <a:lnTo>
                    <a:pt x="12" y="90"/>
                  </a:lnTo>
                  <a:lnTo>
                    <a:pt x="6" y="90"/>
                  </a:lnTo>
                  <a:lnTo>
                    <a:pt x="6" y="84"/>
                  </a:lnTo>
                  <a:lnTo>
                    <a:pt x="6" y="78"/>
                  </a:lnTo>
                  <a:lnTo>
                    <a:pt x="0" y="78"/>
                  </a:lnTo>
                  <a:lnTo>
                    <a:pt x="6" y="78"/>
                  </a:lnTo>
                  <a:lnTo>
                    <a:pt x="0" y="78"/>
                  </a:lnTo>
                  <a:lnTo>
                    <a:pt x="6" y="78"/>
                  </a:lnTo>
                  <a:lnTo>
                    <a:pt x="6" y="72"/>
                  </a:lnTo>
                  <a:lnTo>
                    <a:pt x="12" y="72"/>
                  </a:lnTo>
                  <a:lnTo>
                    <a:pt x="6" y="72"/>
                  </a:lnTo>
                  <a:lnTo>
                    <a:pt x="12" y="72"/>
                  </a:lnTo>
                  <a:lnTo>
                    <a:pt x="12" y="66"/>
                  </a:lnTo>
                  <a:lnTo>
                    <a:pt x="18" y="66"/>
                  </a:lnTo>
                  <a:lnTo>
                    <a:pt x="24" y="66"/>
                  </a:lnTo>
                  <a:lnTo>
                    <a:pt x="30" y="66"/>
                  </a:lnTo>
                  <a:lnTo>
                    <a:pt x="30" y="72"/>
                  </a:lnTo>
                  <a:lnTo>
                    <a:pt x="36" y="72"/>
                  </a:lnTo>
                  <a:lnTo>
                    <a:pt x="42" y="72"/>
                  </a:lnTo>
                  <a:lnTo>
                    <a:pt x="42" y="78"/>
                  </a:lnTo>
                  <a:lnTo>
                    <a:pt x="42" y="72"/>
                  </a:lnTo>
                  <a:lnTo>
                    <a:pt x="48" y="72"/>
                  </a:lnTo>
                  <a:lnTo>
                    <a:pt x="54" y="72"/>
                  </a:lnTo>
                  <a:lnTo>
                    <a:pt x="54" y="66"/>
                  </a:lnTo>
                  <a:lnTo>
                    <a:pt x="60" y="66"/>
                  </a:lnTo>
                  <a:lnTo>
                    <a:pt x="60" y="60"/>
                  </a:lnTo>
                  <a:lnTo>
                    <a:pt x="66" y="60"/>
                  </a:lnTo>
                  <a:lnTo>
                    <a:pt x="66" y="54"/>
                  </a:lnTo>
                  <a:lnTo>
                    <a:pt x="66" y="60"/>
                  </a:lnTo>
                  <a:lnTo>
                    <a:pt x="66" y="54"/>
                  </a:lnTo>
                  <a:lnTo>
                    <a:pt x="72" y="54"/>
                  </a:lnTo>
                  <a:lnTo>
                    <a:pt x="72" y="48"/>
                  </a:lnTo>
                  <a:lnTo>
                    <a:pt x="72" y="54"/>
                  </a:lnTo>
                  <a:lnTo>
                    <a:pt x="72" y="48"/>
                  </a:lnTo>
                  <a:lnTo>
                    <a:pt x="78" y="48"/>
                  </a:lnTo>
                  <a:lnTo>
                    <a:pt x="78" y="42"/>
                  </a:lnTo>
                  <a:lnTo>
                    <a:pt x="78" y="36"/>
                  </a:lnTo>
                  <a:lnTo>
                    <a:pt x="84" y="36"/>
                  </a:lnTo>
                  <a:lnTo>
                    <a:pt x="84" y="30"/>
                  </a:lnTo>
                  <a:lnTo>
                    <a:pt x="90" y="30"/>
                  </a:lnTo>
                  <a:lnTo>
                    <a:pt x="90" y="24"/>
                  </a:lnTo>
                  <a:lnTo>
                    <a:pt x="96" y="24"/>
                  </a:lnTo>
                  <a:lnTo>
                    <a:pt x="90" y="24"/>
                  </a:lnTo>
                  <a:lnTo>
                    <a:pt x="96" y="18"/>
                  </a:lnTo>
                  <a:lnTo>
                    <a:pt x="90" y="18"/>
                  </a:lnTo>
                  <a:lnTo>
                    <a:pt x="96" y="18"/>
                  </a:lnTo>
                  <a:lnTo>
                    <a:pt x="96" y="12"/>
                  </a:lnTo>
                  <a:lnTo>
                    <a:pt x="96" y="6"/>
                  </a:lnTo>
                  <a:lnTo>
                    <a:pt x="102" y="12"/>
                  </a:lnTo>
                  <a:lnTo>
                    <a:pt x="102" y="6"/>
                  </a:lnTo>
                  <a:lnTo>
                    <a:pt x="108" y="6"/>
                  </a:lnTo>
                  <a:lnTo>
                    <a:pt x="108" y="0"/>
                  </a:lnTo>
                  <a:lnTo>
                    <a:pt x="108" y="6"/>
                  </a:lnTo>
                  <a:lnTo>
                    <a:pt x="108" y="0"/>
                  </a:lnTo>
                  <a:lnTo>
                    <a:pt x="114" y="0"/>
                  </a:lnTo>
                  <a:lnTo>
                    <a:pt x="120" y="6"/>
                  </a:lnTo>
                  <a:lnTo>
                    <a:pt x="120" y="12"/>
                  </a:lnTo>
                  <a:lnTo>
                    <a:pt x="126" y="12"/>
                  </a:lnTo>
                  <a:lnTo>
                    <a:pt x="132" y="12"/>
                  </a:lnTo>
                  <a:lnTo>
                    <a:pt x="138" y="12"/>
                  </a:lnTo>
                  <a:lnTo>
                    <a:pt x="138" y="18"/>
                  </a:lnTo>
                  <a:lnTo>
                    <a:pt x="144" y="18"/>
                  </a:lnTo>
                  <a:lnTo>
                    <a:pt x="144" y="24"/>
                  </a:lnTo>
                  <a:lnTo>
                    <a:pt x="150" y="24"/>
                  </a:lnTo>
                  <a:lnTo>
                    <a:pt x="150" y="30"/>
                  </a:lnTo>
                  <a:lnTo>
                    <a:pt x="150" y="36"/>
                  </a:lnTo>
                  <a:lnTo>
                    <a:pt x="150" y="42"/>
                  </a:lnTo>
                  <a:lnTo>
                    <a:pt x="156" y="42"/>
                  </a:lnTo>
                  <a:lnTo>
                    <a:pt x="150" y="42"/>
                  </a:lnTo>
                  <a:lnTo>
                    <a:pt x="156" y="42"/>
                  </a:lnTo>
                  <a:lnTo>
                    <a:pt x="156" y="48"/>
                  </a:lnTo>
                  <a:lnTo>
                    <a:pt x="156" y="54"/>
                  </a:lnTo>
                  <a:lnTo>
                    <a:pt x="162" y="54"/>
                  </a:lnTo>
                  <a:lnTo>
                    <a:pt x="168" y="54"/>
                  </a:lnTo>
                  <a:lnTo>
                    <a:pt x="174" y="54"/>
                  </a:lnTo>
                  <a:lnTo>
                    <a:pt x="180" y="54"/>
                  </a:lnTo>
                  <a:lnTo>
                    <a:pt x="180" y="60"/>
                  </a:lnTo>
                  <a:lnTo>
                    <a:pt x="180" y="66"/>
                  </a:lnTo>
                  <a:lnTo>
                    <a:pt x="180" y="72"/>
                  </a:lnTo>
                  <a:lnTo>
                    <a:pt x="186" y="72"/>
                  </a:lnTo>
                  <a:lnTo>
                    <a:pt x="192" y="72"/>
                  </a:lnTo>
                  <a:lnTo>
                    <a:pt x="186" y="78"/>
                  </a:lnTo>
                  <a:lnTo>
                    <a:pt x="186" y="84"/>
                  </a:lnTo>
                  <a:lnTo>
                    <a:pt x="186" y="78"/>
                  </a:lnTo>
                  <a:lnTo>
                    <a:pt x="180" y="78"/>
                  </a:lnTo>
                  <a:lnTo>
                    <a:pt x="180" y="84"/>
                  </a:lnTo>
                  <a:lnTo>
                    <a:pt x="174" y="84"/>
                  </a:lnTo>
                  <a:lnTo>
                    <a:pt x="168" y="84"/>
                  </a:lnTo>
                  <a:lnTo>
                    <a:pt x="168" y="90"/>
                  </a:lnTo>
                  <a:lnTo>
                    <a:pt x="168" y="96"/>
                  </a:lnTo>
                  <a:lnTo>
                    <a:pt x="174" y="96"/>
                  </a:lnTo>
                  <a:lnTo>
                    <a:pt x="174" y="102"/>
                  </a:lnTo>
                  <a:lnTo>
                    <a:pt x="174" y="96"/>
                  </a:lnTo>
                  <a:lnTo>
                    <a:pt x="174" y="102"/>
                  </a:lnTo>
                  <a:lnTo>
                    <a:pt x="180" y="102"/>
                  </a:lnTo>
                  <a:lnTo>
                    <a:pt x="180" y="108"/>
                  </a:lnTo>
                  <a:lnTo>
                    <a:pt x="174" y="108"/>
                  </a:lnTo>
                  <a:lnTo>
                    <a:pt x="174" y="114"/>
                  </a:lnTo>
                  <a:lnTo>
                    <a:pt x="174" y="120"/>
                  </a:lnTo>
                  <a:lnTo>
                    <a:pt x="168" y="120"/>
                  </a:lnTo>
                  <a:lnTo>
                    <a:pt x="168" y="126"/>
                  </a:lnTo>
                  <a:lnTo>
                    <a:pt x="174" y="126"/>
                  </a:lnTo>
                  <a:close/>
                </a:path>
              </a:pathLst>
            </a:custGeom>
            <a:solidFill>
              <a:schemeClr val="accent1"/>
            </a:solidFill>
            <a:ln w="9525">
              <a:solidFill>
                <a:srgbClr val="B2B2B2"/>
              </a:solidFill>
              <a:round/>
              <a:headEnd/>
              <a:tailEnd/>
            </a:ln>
          </p:spPr>
          <p:txBody>
            <a:bodyPr/>
            <a:lstStyle/>
            <a:p>
              <a:endParaRPr lang="en-CA"/>
            </a:p>
          </p:txBody>
        </p:sp>
        <p:sp>
          <p:nvSpPr>
            <p:cNvPr id="407" name="Freeform 466"/>
            <p:cNvSpPr>
              <a:spLocks noEditPoints="1"/>
            </p:cNvSpPr>
            <p:nvPr>
              <p:custDataLst>
                <p:tags r:id="rId30"/>
              </p:custDataLst>
            </p:nvPr>
          </p:nvSpPr>
          <p:spPr bwMode="gray">
            <a:xfrm>
              <a:off x="665" y="2788"/>
              <a:ext cx="38" cy="34"/>
            </a:xfrm>
            <a:custGeom>
              <a:avLst/>
              <a:gdLst>
                <a:gd name="T0" fmla="*/ 12036848 w 60"/>
                <a:gd name="T1" fmla="*/ 23998884 h 54"/>
                <a:gd name="T2" fmla="*/ 18055273 w 60"/>
                <a:gd name="T3" fmla="*/ 29998106 h 54"/>
                <a:gd name="T4" fmla="*/ 30092121 w 60"/>
                <a:gd name="T5" fmla="*/ 29998106 h 54"/>
                <a:gd name="T6" fmla="*/ 30092121 w 60"/>
                <a:gd name="T7" fmla="*/ 29998106 h 54"/>
                <a:gd name="T8" fmla="*/ 36109540 w 60"/>
                <a:gd name="T9" fmla="*/ 23998884 h 54"/>
                <a:gd name="T10" fmla="*/ 36109540 w 60"/>
                <a:gd name="T11" fmla="*/ 23998884 h 54"/>
                <a:gd name="T12" fmla="*/ 30092121 w 60"/>
                <a:gd name="T13" fmla="*/ 17998663 h 54"/>
                <a:gd name="T14" fmla="*/ 30092121 w 60"/>
                <a:gd name="T15" fmla="*/ 17998663 h 54"/>
                <a:gd name="T16" fmla="*/ 24073697 w 60"/>
                <a:gd name="T17" fmla="*/ 11999442 h 54"/>
                <a:gd name="T18" fmla="*/ 24073697 w 60"/>
                <a:gd name="T19" fmla="*/ 11999442 h 54"/>
                <a:gd name="T20" fmla="*/ 24073697 w 60"/>
                <a:gd name="T21" fmla="*/ 11999442 h 54"/>
                <a:gd name="T22" fmla="*/ 12036848 w 60"/>
                <a:gd name="T23" fmla="*/ 5999221 h 54"/>
                <a:gd name="T24" fmla="*/ 6018424 w 60"/>
                <a:gd name="T25" fmla="*/ 0 h 54"/>
                <a:gd name="T26" fmla="*/ 0 w 60"/>
                <a:gd name="T27" fmla="*/ 5999221 h 54"/>
                <a:gd name="T28" fmla="*/ 6018424 w 60"/>
                <a:gd name="T29" fmla="*/ 0 h 54"/>
                <a:gd name="T30" fmla="*/ 18055273 w 60"/>
                <a:gd name="T31" fmla="*/ 0 h 54"/>
                <a:gd name="T32" fmla="*/ 30092121 w 60"/>
                <a:gd name="T33" fmla="*/ 5999221 h 54"/>
                <a:gd name="T34" fmla="*/ 36109540 w 60"/>
                <a:gd name="T35" fmla="*/ 5999221 h 54"/>
                <a:gd name="T36" fmla="*/ 42127964 w 60"/>
                <a:gd name="T37" fmla="*/ 11999442 h 54"/>
                <a:gd name="T38" fmla="*/ 48146388 w 60"/>
                <a:gd name="T39" fmla="*/ 17998663 h 54"/>
                <a:gd name="T40" fmla="*/ 48146388 w 60"/>
                <a:gd name="T41" fmla="*/ 17998663 h 54"/>
                <a:gd name="T42" fmla="*/ 48146388 w 60"/>
                <a:gd name="T43" fmla="*/ 29998106 h 54"/>
                <a:gd name="T44" fmla="*/ 54164812 w 60"/>
                <a:gd name="T45" fmla="*/ 35998326 h 54"/>
                <a:gd name="T46" fmla="*/ 60183236 w 60"/>
                <a:gd name="T47" fmla="*/ 41997548 h 54"/>
                <a:gd name="T48" fmla="*/ 54164812 w 60"/>
                <a:gd name="T49" fmla="*/ 47997769 h 54"/>
                <a:gd name="T50" fmla="*/ 48146388 w 60"/>
                <a:gd name="T51" fmla="*/ 47997769 h 54"/>
                <a:gd name="T52" fmla="*/ 42127964 w 60"/>
                <a:gd name="T53" fmla="*/ 53996990 h 54"/>
                <a:gd name="T54" fmla="*/ 36109540 w 60"/>
                <a:gd name="T55" fmla="*/ 47997769 h 54"/>
                <a:gd name="T56" fmla="*/ 36109540 w 60"/>
                <a:gd name="T57" fmla="*/ 35998326 h 54"/>
                <a:gd name="T58" fmla="*/ 30092121 w 60"/>
                <a:gd name="T59" fmla="*/ 47997769 h 54"/>
                <a:gd name="T60" fmla="*/ 24073697 w 60"/>
                <a:gd name="T61" fmla="*/ 41997548 h 54"/>
                <a:gd name="T62" fmla="*/ 30092121 w 60"/>
                <a:gd name="T63" fmla="*/ 35998326 h 54"/>
                <a:gd name="T64" fmla="*/ 18055273 w 60"/>
                <a:gd name="T65" fmla="*/ 35998326 h 54"/>
                <a:gd name="T66" fmla="*/ 12036848 w 60"/>
                <a:gd name="T67" fmla="*/ 35998326 h 54"/>
                <a:gd name="T68" fmla="*/ 6018424 w 60"/>
                <a:gd name="T69" fmla="*/ 29998106 h 54"/>
                <a:gd name="T70" fmla="*/ 6018424 w 60"/>
                <a:gd name="T71" fmla="*/ 17998663 h 54"/>
                <a:gd name="T72" fmla="*/ 12036848 w 60"/>
                <a:gd name="T73" fmla="*/ 23998884 h 54"/>
                <a:gd name="T74" fmla="*/ 6018424 w 60"/>
                <a:gd name="T75" fmla="*/ 17998663 h 5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0"/>
                <a:gd name="T115" fmla="*/ 0 h 54"/>
                <a:gd name="T116" fmla="*/ 60 w 60"/>
                <a:gd name="T117" fmla="*/ 54 h 5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0" h="54">
                  <a:moveTo>
                    <a:pt x="6" y="24"/>
                  </a:moveTo>
                  <a:lnTo>
                    <a:pt x="12" y="24"/>
                  </a:lnTo>
                  <a:lnTo>
                    <a:pt x="12" y="30"/>
                  </a:lnTo>
                  <a:lnTo>
                    <a:pt x="18" y="30"/>
                  </a:lnTo>
                  <a:lnTo>
                    <a:pt x="24" y="30"/>
                  </a:lnTo>
                  <a:lnTo>
                    <a:pt x="30" y="30"/>
                  </a:lnTo>
                  <a:lnTo>
                    <a:pt x="36" y="30"/>
                  </a:lnTo>
                  <a:lnTo>
                    <a:pt x="30" y="30"/>
                  </a:lnTo>
                  <a:lnTo>
                    <a:pt x="36" y="30"/>
                  </a:lnTo>
                  <a:lnTo>
                    <a:pt x="36" y="24"/>
                  </a:lnTo>
                  <a:lnTo>
                    <a:pt x="30" y="24"/>
                  </a:lnTo>
                  <a:lnTo>
                    <a:pt x="36" y="24"/>
                  </a:lnTo>
                  <a:lnTo>
                    <a:pt x="30" y="24"/>
                  </a:lnTo>
                  <a:lnTo>
                    <a:pt x="30" y="18"/>
                  </a:lnTo>
                  <a:lnTo>
                    <a:pt x="30" y="24"/>
                  </a:lnTo>
                  <a:lnTo>
                    <a:pt x="30" y="18"/>
                  </a:lnTo>
                  <a:lnTo>
                    <a:pt x="24" y="18"/>
                  </a:lnTo>
                  <a:lnTo>
                    <a:pt x="24" y="12"/>
                  </a:lnTo>
                  <a:lnTo>
                    <a:pt x="18" y="12"/>
                  </a:lnTo>
                  <a:lnTo>
                    <a:pt x="24" y="12"/>
                  </a:lnTo>
                  <a:lnTo>
                    <a:pt x="18" y="12"/>
                  </a:lnTo>
                  <a:lnTo>
                    <a:pt x="24" y="12"/>
                  </a:lnTo>
                  <a:lnTo>
                    <a:pt x="18" y="6"/>
                  </a:lnTo>
                  <a:lnTo>
                    <a:pt x="12" y="6"/>
                  </a:lnTo>
                  <a:lnTo>
                    <a:pt x="12" y="0"/>
                  </a:lnTo>
                  <a:lnTo>
                    <a:pt x="6" y="0"/>
                  </a:lnTo>
                  <a:lnTo>
                    <a:pt x="0" y="0"/>
                  </a:lnTo>
                  <a:lnTo>
                    <a:pt x="0" y="6"/>
                  </a:lnTo>
                  <a:lnTo>
                    <a:pt x="0" y="0"/>
                  </a:lnTo>
                  <a:lnTo>
                    <a:pt x="6" y="0"/>
                  </a:lnTo>
                  <a:lnTo>
                    <a:pt x="12" y="0"/>
                  </a:lnTo>
                  <a:lnTo>
                    <a:pt x="18" y="0"/>
                  </a:lnTo>
                  <a:lnTo>
                    <a:pt x="24" y="6"/>
                  </a:lnTo>
                  <a:lnTo>
                    <a:pt x="30" y="6"/>
                  </a:lnTo>
                  <a:lnTo>
                    <a:pt x="30" y="12"/>
                  </a:lnTo>
                  <a:lnTo>
                    <a:pt x="36" y="6"/>
                  </a:lnTo>
                  <a:lnTo>
                    <a:pt x="36" y="12"/>
                  </a:lnTo>
                  <a:lnTo>
                    <a:pt x="42" y="12"/>
                  </a:lnTo>
                  <a:lnTo>
                    <a:pt x="42" y="18"/>
                  </a:lnTo>
                  <a:lnTo>
                    <a:pt x="48" y="18"/>
                  </a:lnTo>
                  <a:lnTo>
                    <a:pt x="48" y="24"/>
                  </a:lnTo>
                  <a:lnTo>
                    <a:pt x="48" y="18"/>
                  </a:lnTo>
                  <a:lnTo>
                    <a:pt x="48" y="24"/>
                  </a:lnTo>
                  <a:lnTo>
                    <a:pt x="48" y="30"/>
                  </a:lnTo>
                  <a:lnTo>
                    <a:pt x="48" y="36"/>
                  </a:lnTo>
                  <a:lnTo>
                    <a:pt x="54" y="36"/>
                  </a:lnTo>
                  <a:lnTo>
                    <a:pt x="54" y="42"/>
                  </a:lnTo>
                  <a:lnTo>
                    <a:pt x="60" y="42"/>
                  </a:lnTo>
                  <a:lnTo>
                    <a:pt x="54" y="42"/>
                  </a:lnTo>
                  <a:lnTo>
                    <a:pt x="54" y="48"/>
                  </a:lnTo>
                  <a:lnTo>
                    <a:pt x="54" y="42"/>
                  </a:lnTo>
                  <a:lnTo>
                    <a:pt x="48" y="48"/>
                  </a:lnTo>
                  <a:lnTo>
                    <a:pt x="42" y="48"/>
                  </a:lnTo>
                  <a:lnTo>
                    <a:pt x="42" y="54"/>
                  </a:lnTo>
                  <a:lnTo>
                    <a:pt x="36" y="54"/>
                  </a:lnTo>
                  <a:lnTo>
                    <a:pt x="36" y="48"/>
                  </a:lnTo>
                  <a:lnTo>
                    <a:pt x="36" y="42"/>
                  </a:lnTo>
                  <a:lnTo>
                    <a:pt x="36" y="36"/>
                  </a:lnTo>
                  <a:lnTo>
                    <a:pt x="30" y="42"/>
                  </a:lnTo>
                  <a:lnTo>
                    <a:pt x="30" y="48"/>
                  </a:lnTo>
                  <a:lnTo>
                    <a:pt x="24" y="48"/>
                  </a:lnTo>
                  <a:lnTo>
                    <a:pt x="24" y="42"/>
                  </a:lnTo>
                  <a:lnTo>
                    <a:pt x="30" y="42"/>
                  </a:lnTo>
                  <a:lnTo>
                    <a:pt x="30" y="36"/>
                  </a:lnTo>
                  <a:lnTo>
                    <a:pt x="24" y="36"/>
                  </a:lnTo>
                  <a:lnTo>
                    <a:pt x="18" y="36"/>
                  </a:lnTo>
                  <a:lnTo>
                    <a:pt x="18" y="30"/>
                  </a:lnTo>
                  <a:lnTo>
                    <a:pt x="12" y="36"/>
                  </a:lnTo>
                  <a:lnTo>
                    <a:pt x="12" y="30"/>
                  </a:lnTo>
                  <a:lnTo>
                    <a:pt x="6" y="30"/>
                  </a:lnTo>
                  <a:lnTo>
                    <a:pt x="6" y="24"/>
                  </a:lnTo>
                  <a:close/>
                  <a:moveTo>
                    <a:pt x="6" y="18"/>
                  </a:moveTo>
                  <a:lnTo>
                    <a:pt x="12" y="18"/>
                  </a:lnTo>
                  <a:lnTo>
                    <a:pt x="12" y="24"/>
                  </a:lnTo>
                  <a:lnTo>
                    <a:pt x="12" y="18"/>
                  </a:lnTo>
                  <a:lnTo>
                    <a:pt x="6" y="18"/>
                  </a:lnTo>
                  <a:close/>
                </a:path>
              </a:pathLst>
            </a:custGeom>
            <a:solidFill>
              <a:schemeClr val="accent1"/>
            </a:solidFill>
            <a:ln w="9525">
              <a:solidFill>
                <a:srgbClr val="B2B2B2"/>
              </a:solidFill>
              <a:round/>
              <a:headEnd/>
              <a:tailEnd/>
            </a:ln>
          </p:spPr>
          <p:txBody>
            <a:bodyPr/>
            <a:lstStyle/>
            <a:p>
              <a:endParaRPr lang="en-CA"/>
            </a:p>
          </p:txBody>
        </p:sp>
        <p:sp>
          <p:nvSpPr>
            <p:cNvPr id="408" name="Freeform 467"/>
            <p:cNvSpPr>
              <a:spLocks noEditPoints="1"/>
            </p:cNvSpPr>
            <p:nvPr>
              <p:custDataLst>
                <p:tags r:id="rId31"/>
              </p:custDataLst>
            </p:nvPr>
          </p:nvSpPr>
          <p:spPr bwMode="gray">
            <a:xfrm>
              <a:off x="617" y="2721"/>
              <a:ext cx="224" cy="168"/>
            </a:xfrm>
            <a:custGeom>
              <a:avLst/>
              <a:gdLst>
                <a:gd name="T0" fmla="*/ 286104894 w 360"/>
                <a:gd name="T1" fmla="*/ 199350348 h 270"/>
                <a:gd name="T2" fmla="*/ 268587643 w 360"/>
                <a:gd name="T3" fmla="*/ 187624438 h 270"/>
                <a:gd name="T4" fmla="*/ 239393871 w 360"/>
                <a:gd name="T5" fmla="*/ 181760989 h 270"/>
                <a:gd name="T6" fmla="*/ 221876620 w 360"/>
                <a:gd name="T7" fmla="*/ 199350348 h 270"/>
                <a:gd name="T8" fmla="*/ 210199111 w 360"/>
                <a:gd name="T9" fmla="*/ 199350348 h 270"/>
                <a:gd name="T10" fmla="*/ 192682848 w 360"/>
                <a:gd name="T11" fmla="*/ 181760989 h 270"/>
                <a:gd name="T12" fmla="*/ 175166584 w 360"/>
                <a:gd name="T13" fmla="*/ 187624438 h 270"/>
                <a:gd name="T14" fmla="*/ 163488088 w 360"/>
                <a:gd name="T15" fmla="*/ 205213797 h 270"/>
                <a:gd name="T16" fmla="*/ 140133070 w 360"/>
                <a:gd name="T17" fmla="*/ 216940694 h 270"/>
                <a:gd name="T18" fmla="*/ 128455561 w 360"/>
                <a:gd name="T19" fmla="*/ 234530053 h 270"/>
                <a:gd name="T20" fmla="*/ 105099556 w 360"/>
                <a:gd name="T21" fmla="*/ 234530053 h 270"/>
                <a:gd name="T22" fmla="*/ 99260801 w 360"/>
                <a:gd name="T23" fmla="*/ 246256951 h 270"/>
                <a:gd name="T24" fmla="*/ 93422047 w 360"/>
                <a:gd name="T25" fmla="*/ 257982861 h 270"/>
                <a:gd name="T26" fmla="*/ 81744538 w 360"/>
                <a:gd name="T27" fmla="*/ 257982861 h 270"/>
                <a:gd name="T28" fmla="*/ 64227287 w 360"/>
                <a:gd name="T29" fmla="*/ 246256951 h 270"/>
                <a:gd name="T30" fmla="*/ 40872269 w 360"/>
                <a:gd name="T31" fmla="*/ 228666604 h 270"/>
                <a:gd name="T32" fmla="*/ 23355018 w 360"/>
                <a:gd name="T33" fmla="*/ 222803156 h 270"/>
                <a:gd name="T34" fmla="*/ 11677509 w 360"/>
                <a:gd name="T35" fmla="*/ 216940694 h 270"/>
                <a:gd name="T36" fmla="*/ 0 w 360"/>
                <a:gd name="T37" fmla="*/ 199350348 h 270"/>
                <a:gd name="T38" fmla="*/ 17516263 w 360"/>
                <a:gd name="T39" fmla="*/ 175897540 h 270"/>
                <a:gd name="T40" fmla="*/ 11677509 w 360"/>
                <a:gd name="T41" fmla="*/ 140717834 h 270"/>
                <a:gd name="T42" fmla="*/ 29194760 w 360"/>
                <a:gd name="T43" fmla="*/ 158308181 h 270"/>
                <a:gd name="T44" fmla="*/ 46711023 w 360"/>
                <a:gd name="T45" fmla="*/ 146581283 h 270"/>
                <a:gd name="T46" fmla="*/ 52549778 w 360"/>
                <a:gd name="T47" fmla="*/ 134854386 h 270"/>
                <a:gd name="T48" fmla="*/ 75905783 w 360"/>
                <a:gd name="T49" fmla="*/ 128991924 h 270"/>
                <a:gd name="T50" fmla="*/ 99260801 w 360"/>
                <a:gd name="T51" fmla="*/ 140717834 h 270"/>
                <a:gd name="T52" fmla="*/ 110938310 w 360"/>
                <a:gd name="T53" fmla="*/ 140717834 h 270"/>
                <a:gd name="T54" fmla="*/ 128455561 w 360"/>
                <a:gd name="T55" fmla="*/ 146581283 h 270"/>
                <a:gd name="T56" fmla="*/ 122615819 w 360"/>
                <a:gd name="T57" fmla="*/ 134854386 h 270"/>
                <a:gd name="T58" fmla="*/ 110938310 w 360"/>
                <a:gd name="T59" fmla="*/ 117265027 h 270"/>
                <a:gd name="T60" fmla="*/ 81744538 w 360"/>
                <a:gd name="T61" fmla="*/ 105538129 h 270"/>
                <a:gd name="T62" fmla="*/ 52549778 w 360"/>
                <a:gd name="T63" fmla="*/ 105538129 h 270"/>
                <a:gd name="T64" fmla="*/ 35033514 w 360"/>
                <a:gd name="T65" fmla="*/ 82085321 h 270"/>
                <a:gd name="T66" fmla="*/ 40872269 w 360"/>
                <a:gd name="T67" fmla="*/ 82085321 h 270"/>
                <a:gd name="T68" fmla="*/ 35033514 w 360"/>
                <a:gd name="T69" fmla="*/ 64495962 h 270"/>
                <a:gd name="T70" fmla="*/ 46711023 w 360"/>
                <a:gd name="T71" fmla="*/ 58632513 h 270"/>
                <a:gd name="T72" fmla="*/ 35033514 w 360"/>
                <a:gd name="T73" fmla="*/ 58632513 h 270"/>
                <a:gd name="T74" fmla="*/ 23355018 w 360"/>
                <a:gd name="T75" fmla="*/ 76221872 h 270"/>
                <a:gd name="T76" fmla="*/ 11677509 w 360"/>
                <a:gd name="T77" fmla="*/ 82085321 h 270"/>
                <a:gd name="T78" fmla="*/ 5838754 w 360"/>
                <a:gd name="T79" fmla="*/ 82085321 h 270"/>
                <a:gd name="T80" fmla="*/ 17516263 w 360"/>
                <a:gd name="T81" fmla="*/ 58632513 h 270"/>
                <a:gd name="T82" fmla="*/ 40872269 w 360"/>
                <a:gd name="T83" fmla="*/ 41043154 h 270"/>
                <a:gd name="T84" fmla="*/ 58388532 w 360"/>
                <a:gd name="T85" fmla="*/ 17589359 h 270"/>
                <a:gd name="T86" fmla="*/ 70066041 w 360"/>
                <a:gd name="T87" fmla="*/ 11726898 h 270"/>
                <a:gd name="T88" fmla="*/ 140133070 w 360"/>
                <a:gd name="T89" fmla="*/ 35179706 h 270"/>
                <a:gd name="T90" fmla="*/ 239393871 w 360"/>
                <a:gd name="T91" fmla="*/ 52769064 h 270"/>
                <a:gd name="T92" fmla="*/ 251071380 w 360"/>
                <a:gd name="T93" fmla="*/ 35179706 h 270"/>
                <a:gd name="T94" fmla="*/ 268587643 w 360"/>
                <a:gd name="T95" fmla="*/ 23452808 h 270"/>
                <a:gd name="T96" fmla="*/ 256910134 w 360"/>
                <a:gd name="T97" fmla="*/ 17589359 h 270"/>
                <a:gd name="T98" fmla="*/ 297782403 w 360"/>
                <a:gd name="T99" fmla="*/ 17589359 h 270"/>
                <a:gd name="T100" fmla="*/ 332815918 w 360"/>
                <a:gd name="T101" fmla="*/ 11726898 h 270"/>
                <a:gd name="T102" fmla="*/ 350332181 w 360"/>
                <a:gd name="T103" fmla="*/ 35179706 h 270"/>
                <a:gd name="T104" fmla="*/ 326977163 w 360"/>
                <a:gd name="T105" fmla="*/ 58632513 h 270"/>
                <a:gd name="T106" fmla="*/ 326977163 w 360"/>
                <a:gd name="T107" fmla="*/ 105538129 h 270"/>
                <a:gd name="T108" fmla="*/ 338654672 w 360"/>
                <a:gd name="T109" fmla="*/ 128991924 h 270"/>
                <a:gd name="T110" fmla="*/ 350332181 w 360"/>
                <a:gd name="T111" fmla="*/ 158308181 h 270"/>
                <a:gd name="T112" fmla="*/ 332815918 w 360"/>
                <a:gd name="T113" fmla="*/ 170034091 h 270"/>
                <a:gd name="T114" fmla="*/ 332815918 w 360"/>
                <a:gd name="T115" fmla="*/ 187624438 h 270"/>
                <a:gd name="T116" fmla="*/ 40872269 w 360"/>
                <a:gd name="T117" fmla="*/ 99675668 h 270"/>
                <a:gd name="T118" fmla="*/ 35033514 w 360"/>
                <a:gd name="T119" fmla="*/ 99675668 h 270"/>
                <a:gd name="T120" fmla="*/ 35033514 w 360"/>
                <a:gd name="T121" fmla="*/ 93812219 h 270"/>
                <a:gd name="T122" fmla="*/ 5838754 w 360"/>
                <a:gd name="T123" fmla="*/ 82085321 h 27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0"/>
                <a:gd name="T187" fmla="*/ 0 h 270"/>
                <a:gd name="T188" fmla="*/ 360 w 360"/>
                <a:gd name="T189" fmla="*/ 270 h 27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0" h="270">
                  <a:moveTo>
                    <a:pt x="318" y="210"/>
                  </a:moveTo>
                  <a:lnTo>
                    <a:pt x="312" y="210"/>
                  </a:lnTo>
                  <a:lnTo>
                    <a:pt x="306" y="204"/>
                  </a:lnTo>
                  <a:lnTo>
                    <a:pt x="300" y="204"/>
                  </a:lnTo>
                  <a:lnTo>
                    <a:pt x="300" y="198"/>
                  </a:lnTo>
                  <a:lnTo>
                    <a:pt x="300" y="204"/>
                  </a:lnTo>
                  <a:lnTo>
                    <a:pt x="294" y="204"/>
                  </a:lnTo>
                  <a:lnTo>
                    <a:pt x="294" y="198"/>
                  </a:lnTo>
                  <a:lnTo>
                    <a:pt x="294" y="204"/>
                  </a:lnTo>
                  <a:lnTo>
                    <a:pt x="288" y="204"/>
                  </a:lnTo>
                  <a:lnTo>
                    <a:pt x="282" y="204"/>
                  </a:lnTo>
                  <a:lnTo>
                    <a:pt x="282" y="198"/>
                  </a:lnTo>
                  <a:lnTo>
                    <a:pt x="276" y="198"/>
                  </a:lnTo>
                  <a:lnTo>
                    <a:pt x="276" y="192"/>
                  </a:lnTo>
                  <a:lnTo>
                    <a:pt x="270" y="192"/>
                  </a:lnTo>
                  <a:lnTo>
                    <a:pt x="270" y="186"/>
                  </a:lnTo>
                  <a:lnTo>
                    <a:pt x="264" y="186"/>
                  </a:lnTo>
                  <a:lnTo>
                    <a:pt x="258" y="186"/>
                  </a:lnTo>
                  <a:lnTo>
                    <a:pt x="252" y="192"/>
                  </a:lnTo>
                  <a:lnTo>
                    <a:pt x="252" y="186"/>
                  </a:lnTo>
                  <a:lnTo>
                    <a:pt x="246" y="186"/>
                  </a:lnTo>
                  <a:lnTo>
                    <a:pt x="240" y="186"/>
                  </a:lnTo>
                  <a:lnTo>
                    <a:pt x="240" y="180"/>
                  </a:lnTo>
                  <a:lnTo>
                    <a:pt x="234" y="180"/>
                  </a:lnTo>
                  <a:lnTo>
                    <a:pt x="234" y="186"/>
                  </a:lnTo>
                  <a:lnTo>
                    <a:pt x="228" y="192"/>
                  </a:lnTo>
                  <a:lnTo>
                    <a:pt x="228" y="198"/>
                  </a:lnTo>
                  <a:lnTo>
                    <a:pt x="228" y="204"/>
                  </a:lnTo>
                  <a:lnTo>
                    <a:pt x="222" y="204"/>
                  </a:lnTo>
                  <a:lnTo>
                    <a:pt x="222" y="210"/>
                  </a:lnTo>
                  <a:lnTo>
                    <a:pt x="216" y="210"/>
                  </a:lnTo>
                  <a:lnTo>
                    <a:pt x="222" y="204"/>
                  </a:lnTo>
                  <a:lnTo>
                    <a:pt x="216" y="210"/>
                  </a:lnTo>
                  <a:lnTo>
                    <a:pt x="210" y="204"/>
                  </a:lnTo>
                  <a:lnTo>
                    <a:pt x="216" y="204"/>
                  </a:lnTo>
                  <a:lnTo>
                    <a:pt x="210" y="204"/>
                  </a:lnTo>
                  <a:lnTo>
                    <a:pt x="204" y="204"/>
                  </a:lnTo>
                  <a:lnTo>
                    <a:pt x="204" y="198"/>
                  </a:lnTo>
                  <a:lnTo>
                    <a:pt x="210" y="198"/>
                  </a:lnTo>
                  <a:lnTo>
                    <a:pt x="204" y="198"/>
                  </a:lnTo>
                  <a:lnTo>
                    <a:pt x="204" y="192"/>
                  </a:lnTo>
                  <a:lnTo>
                    <a:pt x="198" y="186"/>
                  </a:lnTo>
                  <a:lnTo>
                    <a:pt x="192" y="180"/>
                  </a:lnTo>
                  <a:lnTo>
                    <a:pt x="192" y="186"/>
                  </a:lnTo>
                  <a:lnTo>
                    <a:pt x="192" y="180"/>
                  </a:lnTo>
                  <a:lnTo>
                    <a:pt x="192" y="186"/>
                  </a:lnTo>
                  <a:lnTo>
                    <a:pt x="186" y="186"/>
                  </a:lnTo>
                  <a:lnTo>
                    <a:pt x="186" y="192"/>
                  </a:lnTo>
                  <a:lnTo>
                    <a:pt x="180" y="192"/>
                  </a:lnTo>
                  <a:lnTo>
                    <a:pt x="180" y="186"/>
                  </a:lnTo>
                  <a:lnTo>
                    <a:pt x="174" y="186"/>
                  </a:lnTo>
                  <a:lnTo>
                    <a:pt x="174" y="192"/>
                  </a:lnTo>
                  <a:lnTo>
                    <a:pt x="174" y="198"/>
                  </a:lnTo>
                  <a:lnTo>
                    <a:pt x="168" y="198"/>
                  </a:lnTo>
                  <a:lnTo>
                    <a:pt x="168" y="204"/>
                  </a:lnTo>
                  <a:lnTo>
                    <a:pt x="168" y="210"/>
                  </a:lnTo>
                  <a:lnTo>
                    <a:pt x="162" y="210"/>
                  </a:lnTo>
                  <a:lnTo>
                    <a:pt x="162" y="216"/>
                  </a:lnTo>
                  <a:lnTo>
                    <a:pt x="156" y="216"/>
                  </a:lnTo>
                  <a:lnTo>
                    <a:pt x="156" y="210"/>
                  </a:lnTo>
                  <a:lnTo>
                    <a:pt x="150" y="210"/>
                  </a:lnTo>
                  <a:lnTo>
                    <a:pt x="144" y="216"/>
                  </a:lnTo>
                  <a:lnTo>
                    <a:pt x="144" y="222"/>
                  </a:lnTo>
                  <a:lnTo>
                    <a:pt x="138" y="228"/>
                  </a:lnTo>
                  <a:lnTo>
                    <a:pt x="132" y="234"/>
                  </a:lnTo>
                  <a:lnTo>
                    <a:pt x="132" y="228"/>
                  </a:lnTo>
                  <a:lnTo>
                    <a:pt x="132" y="234"/>
                  </a:lnTo>
                  <a:lnTo>
                    <a:pt x="132" y="240"/>
                  </a:lnTo>
                  <a:lnTo>
                    <a:pt x="132" y="246"/>
                  </a:lnTo>
                  <a:lnTo>
                    <a:pt x="132" y="240"/>
                  </a:lnTo>
                  <a:lnTo>
                    <a:pt x="132" y="246"/>
                  </a:lnTo>
                  <a:lnTo>
                    <a:pt x="126" y="246"/>
                  </a:lnTo>
                  <a:lnTo>
                    <a:pt x="126" y="240"/>
                  </a:lnTo>
                  <a:lnTo>
                    <a:pt x="120" y="246"/>
                  </a:lnTo>
                  <a:lnTo>
                    <a:pt x="120" y="240"/>
                  </a:lnTo>
                  <a:lnTo>
                    <a:pt x="114" y="240"/>
                  </a:lnTo>
                  <a:lnTo>
                    <a:pt x="108" y="240"/>
                  </a:lnTo>
                  <a:lnTo>
                    <a:pt x="108" y="246"/>
                  </a:lnTo>
                  <a:lnTo>
                    <a:pt x="108" y="240"/>
                  </a:lnTo>
                  <a:lnTo>
                    <a:pt x="108" y="246"/>
                  </a:lnTo>
                  <a:lnTo>
                    <a:pt x="102" y="246"/>
                  </a:lnTo>
                  <a:lnTo>
                    <a:pt x="102" y="252"/>
                  </a:lnTo>
                  <a:lnTo>
                    <a:pt x="108" y="252"/>
                  </a:lnTo>
                  <a:lnTo>
                    <a:pt x="102" y="252"/>
                  </a:lnTo>
                  <a:lnTo>
                    <a:pt x="108" y="252"/>
                  </a:lnTo>
                  <a:lnTo>
                    <a:pt x="108" y="258"/>
                  </a:lnTo>
                  <a:lnTo>
                    <a:pt x="108" y="264"/>
                  </a:lnTo>
                  <a:lnTo>
                    <a:pt x="102" y="264"/>
                  </a:lnTo>
                  <a:lnTo>
                    <a:pt x="102" y="270"/>
                  </a:lnTo>
                  <a:lnTo>
                    <a:pt x="102" y="264"/>
                  </a:lnTo>
                  <a:lnTo>
                    <a:pt x="96" y="264"/>
                  </a:lnTo>
                  <a:lnTo>
                    <a:pt x="96" y="270"/>
                  </a:lnTo>
                  <a:lnTo>
                    <a:pt x="96" y="264"/>
                  </a:lnTo>
                  <a:lnTo>
                    <a:pt x="96" y="270"/>
                  </a:lnTo>
                  <a:lnTo>
                    <a:pt x="90" y="270"/>
                  </a:lnTo>
                  <a:lnTo>
                    <a:pt x="90" y="264"/>
                  </a:lnTo>
                  <a:lnTo>
                    <a:pt x="84" y="270"/>
                  </a:lnTo>
                  <a:lnTo>
                    <a:pt x="84" y="264"/>
                  </a:lnTo>
                  <a:lnTo>
                    <a:pt x="78" y="264"/>
                  </a:lnTo>
                  <a:lnTo>
                    <a:pt x="84" y="258"/>
                  </a:lnTo>
                  <a:lnTo>
                    <a:pt x="78" y="258"/>
                  </a:lnTo>
                  <a:lnTo>
                    <a:pt x="78" y="252"/>
                  </a:lnTo>
                  <a:lnTo>
                    <a:pt x="72" y="258"/>
                  </a:lnTo>
                  <a:lnTo>
                    <a:pt x="72" y="252"/>
                  </a:lnTo>
                  <a:lnTo>
                    <a:pt x="66" y="252"/>
                  </a:lnTo>
                  <a:lnTo>
                    <a:pt x="66" y="246"/>
                  </a:lnTo>
                  <a:lnTo>
                    <a:pt x="60" y="246"/>
                  </a:lnTo>
                  <a:lnTo>
                    <a:pt x="60" y="240"/>
                  </a:lnTo>
                  <a:lnTo>
                    <a:pt x="60" y="234"/>
                  </a:lnTo>
                  <a:lnTo>
                    <a:pt x="54" y="234"/>
                  </a:lnTo>
                  <a:lnTo>
                    <a:pt x="48" y="234"/>
                  </a:lnTo>
                  <a:lnTo>
                    <a:pt x="42" y="234"/>
                  </a:lnTo>
                  <a:lnTo>
                    <a:pt x="42" y="228"/>
                  </a:lnTo>
                  <a:lnTo>
                    <a:pt x="42" y="234"/>
                  </a:lnTo>
                  <a:lnTo>
                    <a:pt x="36" y="228"/>
                  </a:lnTo>
                  <a:lnTo>
                    <a:pt x="30" y="228"/>
                  </a:lnTo>
                  <a:lnTo>
                    <a:pt x="24" y="228"/>
                  </a:lnTo>
                  <a:lnTo>
                    <a:pt x="24" y="234"/>
                  </a:lnTo>
                  <a:lnTo>
                    <a:pt x="24" y="228"/>
                  </a:lnTo>
                  <a:lnTo>
                    <a:pt x="18" y="228"/>
                  </a:lnTo>
                  <a:lnTo>
                    <a:pt x="24" y="228"/>
                  </a:lnTo>
                  <a:lnTo>
                    <a:pt x="18" y="228"/>
                  </a:lnTo>
                  <a:lnTo>
                    <a:pt x="18" y="222"/>
                  </a:lnTo>
                  <a:lnTo>
                    <a:pt x="18" y="216"/>
                  </a:lnTo>
                  <a:lnTo>
                    <a:pt x="12" y="216"/>
                  </a:lnTo>
                  <a:lnTo>
                    <a:pt x="12" y="222"/>
                  </a:lnTo>
                  <a:lnTo>
                    <a:pt x="12" y="216"/>
                  </a:lnTo>
                  <a:lnTo>
                    <a:pt x="6" y="216"/>
                  </a:lnTo>
                  <a:lnTo>
                    <a:pt x="0" y="216"/>
                  </a:lnTo>
                  <a:lnTo>
                    <a:pt x="0" y="222"/>
                  </a:lnTo>
                  <a:lnTo>
                    <a:pt x="0" y="216"/>
                  </a:lnTo>
                  <a:lnTo>
                    <a:pt x="0" y="210"/>
                  </a:lnTo>
                  <a:lnTo>
                    <a:pt x="0" y="204"/>
                  </a:lnTo>
                  <a:lnTo>
                    <a:pt x="6" y="204"/>
                  </a:lnTo>
                  <a:lnTo>
                    <a:pt x="6" y="198"/>
                  </a:lnTo>
                  <a:lnTo>
                    <a:pt x="6" y="192"/>
                  </a:lnTo>
                  <a:lnTo>
                    <a:pt x="12" y="192"/>
                  </a:lnTo>
                  <a:lnTo>
                    <a:pt x="18" y="192"/>
                  </a:lnTo>
                  <a:lnTo>
                    <a:pt x="18" y="186"/>
                  </a:lnTo>
                  <a:lnTo>
                    <a:pt x="18" y="180"/>
                  </a:lnTo>
                  <a:lnTo>
                    <a:pt x="12" y="180"/>
                  </a:lnTo>
                  <a:lnTo>
                    <a:pt x="12" y="174"/>
                  </a:lnTo>
                  <a:lnTo>
                    <a:pt x="12" y="168"/>
                  </a:lnTo>
                  <a:lnTo>
                    <a:pt x="12" y="162"/>
                  </a:lnTo>
                  <a:lnTo>
                    <a:pt x="12" y="156"/>
                  </a:lnTo>
                  <a:lnTo>
                    <a:pt x="12" y="150"/>
                  </a:lnTo>
                  <a:lnTo>
                    <a:pt x="12" y="144"/>
                  </a:lnTo>
                  <a:lnTo>
                    <a:pt x="18" y="144"/>
                  </a:lnTo>
                  <a:lnTo>
                    <a:pt x="18" y="150"/>
                  </a:lnTo>
                  <a:lnTo>
                    <a:pt x="18" y="156"/>
                  </a:lnTo>
                  <a:lnTo>
                    <a:pt x="24" y="156"/>
                  </a:lnTo>
                  <a:lnTo>
                    <a:pt x="24" y="162"/>
                  </a:lnTo>
                  <a:lnTo>
                    <a:pt x="24" y="156"/>
                  </a:lnTo>
                  <a:lnTo>
                    <a:pt x="30" y="162"/>
                  </a:lnTo>
                  <a:lnTo>
                    <a:pt x="30" y="156"/>
                  </a:lnTo>
                  <a:lnTo>
                    <a:pt x="30" y="150"/>
                  </a:lnTo>
                  <a:lnTo>
                    <a:pt x="30" y="144"/>
                  </a:lnTo>
                  <a:lnTo>
                    <a:pt x="36" y="144"/>
                  </a:lnTo>
                  <a:lnTo>
                    <a:pt x="42" y="144"/>
                  </a:lnTo>
                  <a:lnTo>
                    <a:pt x="42" y="150"/>
                  </a:lnTo>
                  <a:lnTo>
                    <a:pt x="48" y="150"/>
                  </a:lnTo>
                  <a:lnTo>
                    <a:pt x="48" y="144"/>
                  </a:lnTo>
                  <a:lnTo>
                    <a:pt x="48" y="150"/>
                  </a:lnTo>
                  <a:lnTo>
                    <a:pt x="48" y="144"/>
                  </a:lnTo>
                  <a:lnTo>
                    <a:pt x="54" y="144"/>
                  </a:lnTo>
                  <a:lnTo>
                    <a:pt x="60" y="144"/>
                  </a:lnTo>
                  <a:lnTo>
                    <a:pt x="60" y="138"/>
                  </a:lnTo>
                  <a:lnTo>
                    <a:pt x="54" y="138"/>
                  </a:lnTo>
                  <a:lnTo>
                    <a:pt x="60" y="138"/>
                  </a:lnTo>
                  <a:lnTo>
                    <a:pt x="60" y="132"/>
                  </a:lnTo>
                  <a:lnTo>
                    <a:pt x="66" y="132"/>
                  </a:lnTo>
                  <a:lnTo>
                    <a:pt x="66" y="126"/>
                  </a:lnTo>
                  <a:lnTo>
                    <a:pt x="66" y="132"/>
                  </a:lnTo>
                  <a:lnTo>
                    <a:pt x="72" y="132"/>
                  </a:lnTo>
                  <a:lnTo>
                    <a:pt x="78" y="132"/>
                  </a:lnTo>
                  <a:lnTo>
                    <a:pt x="84" y="132"/>
                  </a:lnTo>
                  <a:lnTo>
                    <a:pt x="84" y="138"/>
                  </a:lnTo>
                  <a:lnTo>
                    <a:pt x="90" y="138"/>
                  </a:lnTo>
                  <a:lnTo>
                    <a:pt x="90" y="144"/>
                  </a:lnTo>
                  <a:lnTo>
                    <a:pt x="96" y="138"/>
                  </a:lnTo>
                  <a:lnTo>
                    <a:pt x="96" y="144"/>
                  </a:lnTo>
                  <a:lnTo>
                    <a:pt x="102" y="144"/>
                  </a:lnTo>
                  <a:lnTo>
                    <a:pt x="108" y="144"/>
                  </a:lnTo>
                  <a:lnTo>
                    <a:pt x="108" y="150"/>
                  </a:lnTo>
                  <a:lnTo>
                    <a:pt x="102" y="150"/>
                  </a:lnTo>
                  <a:lnTo>
                    <a:pt x="102" y="156"/>
                  </a:lnTo>
                  <a:lnTo>
                    <a:pt x="108" y="156"/>
                  </a:lnTo>
                  <a:lnTo>
                    <a:pt x="108" y="150"/>
                  </a:lnTo>
                  <a:lnTo>
                    <a:pt x="114" y="144"/>
                  </a:lnTo>
                  <a:lnTo>
                    <a:pt x="114" y="150"/>
                  </a:lnTo>
                  <a:lnTo>
                    <a:pt x="114" y="156"/>
                  </a:lnTo>
                  <a:lnTo>
                    <a:pt x="114" y="162"/>
                  </a:lnTo>
                  <a:lnTo>
                    <a:pt x="120" y="162"/>
                  </a:lnTo>
                  <a:lnTo>
                    <a:pt x="120" y="156"/>
                  </a:lnTo>
                  <a:lnTo>
                    <a:pt x="126" y="156"/>
                  </a:lnTo>
                  <a:lnTo>
                    <a:pt x="132" y="150"/>
                  </a:lnTo>
                  <a:lnTo>
                    <a:pt x="132" y="156"/>
                  </a:lnTo>
                  <a:lnTo>
                    <a:pt x="132" y="150"/>
                  </a:lnTo>
                  <a:lnTo>
                    <a:pt x="138" y="150"/>
                  </a:lnTo>
                  <a:lnTo>
                    <a:pt x="132" y="150"/>
                  </a:lnTo>
                  <a:lnTo>
                    <a:pt x="132" y="144"/>
                  </a:lnTo>
                  <a:lnTo>
                    <a:pt x="126" y="144"/>
                  </a:lnTo>
                  <a:lnTo>
                    <a:pt x="126" y="138"/>
                  </a:lnTo>
                  <a:lnTo>
                    <a:pt x="126" y="132"/>
                  </a:lnTo>
                  <a:lnTo>
                    <a:pt x="126" y="126"/>
                  </a:lnTo>
                  <a:lnTo>
                    <a:pt x="126" y="132"/>
                  </a:lnTo>
                  <a:lnTo>
                    <a:pt x="126" y="126"/>
                  </a:lnTo>
                  <a:lnTo>
                    <a:pt x="120" y="126"/>
                  </a:lnTo>
                  <a:lnTo>
                    <a:pt x="120" y="120"/>
                  </a:lnTo>
                  <a:lnTo>
                    <a:pt x="114" y="120"/>
                  </a:lnTo>
                  <a:lnTo>
                    <a:pt x="114" y="114"/>
                  </a:lnTo>
                  <a:lnTo>
                    <a:pt x="108" y="120"/>
                  </a:lnTo>
                  <a:lnTo>
                    <a:pt x="108" y="114"/>
                  </a:lnTo>
                  <a:lnTo>
                    <a:pt x="102" y="114"/>
                  </a:lnTo>
                  <a:lnTo>
                    <a:pt x="96" y="108"/>
                  </a:lnTo>
                  <a:lnTo>
                    <a:pt x="90" y="108"/>
                  </a:lnTo>
                  <a:lnTo>
                    <a:pt x="84" y="108"/>
                  </a:lnTo>
                  <a:lnTo>
                    <a:pt x="78" y="108"/>
                  </a:lnTo>
                  <a:lnTo>
                    <a:pt x="78" y="114"/>
                  </a:lnTo>
                  <a:lnTo>
                    <a:pt x="72" y="114"/>
                  </a:lnTo>
                  <a:lnTo>
                    <a:pt x="66" y="114"/>
                  </a:lnTo>
                  <a:lnTo>
                    <a:pt x="60" y="114"/>
                  </a:lnTo>
                  <a:lnTo>
                    <a:pt x="54" y="114"/>
                  </a:lnTo>
                  <a:lnTo>
                    <a:pt x="54" y="108"/>
                  </a:lnTo>
                  <a:lnTo>
                    <a:pt x="54" y="102"/>
                  </a:lnTo>
                  <a:lnTo>
                    <a:pt x="48" y="102"/>
                  </a:lnTo>
                  <a:lnTo>
                    <a:pt x="48" y="96"/>
                  </a:lnTo>
                  <a:lnTo>
                    <a:pt x="42" y="96"/>
                  </a:lnTo>
                  <a:lnTo>
                    <a:pt x="36" y="96"/>
                  </a:lnTo>
                  <a:lnTo>
                    <a:pt x="36" y="90"/>
                  </a:lnTo>
                  <a:lnTo>
                    <a:pt x="36" y="84"/>
                  </a:lnTo>
                  <a:lnTo>
                    <a:pt x="30" y="84"/>
                  </a:lnTo>
                  <a:lnTo>
                    <a:pt x="30" y="78"/>
                  </a:lnTo>
                  <a:lnTo>
                    <a:pt x="36" y="78"/>
                  </a:lnTo>
                  <a:lnTo>
                    <a:pt x="36" y="84"/>
                  </a:lnTo>
                  <a:lnTo>
                    <a:pt x="42" y="84"/>
                  </a:lnTo>
                  <a:lnTo>
                    <a:pt x="42" y="90"/>
                  </a:lnTo>
                  <a:lnTo>
                    <a:pt x="42" y="84"/>
                  </a:lnTo>
                  <a:lnTo>
                    <a:pt x="42" y="78"/>
                  </a:lnTo>
                  <a:lnTo>
                    <a:pt x="42" y="72"/>
                  </a:lnTo>
                  <a:lnTo>
                    <a:pt x="36" y="72"/>
                  </a:lnTo>
                  <a:lnTo>
                    <a:pt x="42" y="78"/>
                  </a:lnTo>
                  <a:lnTo>
                    <a:pt x="36" y="78"/>
                  </a:lnTo>
                  <a:lnTo>
                    <a:pt x="36" y="72"/>
                  </a:lnTo>
                  <a:lnTo>
                    <a:pt x="36" y="66"/>
                  </a:lnTo>
                  <a:lnTo>
                    <a:pt x="36" y="72"/>
                  </a:lnTo>
                  <a:lnTo>
                    <a:pt x="42" y="72"/>
                  </a:lnTo>
                  <a:lnTo>
                    <a:pt x="42" y="66"/>
                  </a:lnTo>
                  <a:lnTo>
                    <a:pt x="42" y="72"/>
                  </a:lnTo>
                  <a:lnTo>
                    <a:pt x="42" y="66"/>
                  </a:lnTo>
                  <a:lnTo>
                    <a:pt x="42" y="60"/>
                  </a:lnTo>
                  <a:lnTo>
                    <a:pt x="48" y="60"/>
                  </a:lnTo>
                  <a:lnTo>
                    <a:pt x="42" y="60"/>
                  </a:lnTo>
                  <a:lnTo>
                    <a:pt x="42" y="54"/>
                  </a:lnTo>
                  <a:lnTo>
                    <a:pt x="42" y="60"/>
                  </a:lnTo>
                  <a:lnTo>
                    <a:pt x="42" y="66"/>
                  </a:lnTo>
                  <a:lnTo>
                    <a:pt x="42" y="60"/>
                  </a:lnTo>
                  <a:lnTo>
                    <a:pt x="36" y="66"/>
                  </a:lnTo>
                  <a:lnTo>
                    <a:pt x="36" y="60"/>
                  </a:lnTo>
                  <a:lnTo>
                    <a:pt x="36" y="66"/>
                  </a:lnTo>
                  <a:lnTo>
                    <a:pt x="42" y="66"/>
                  </a:lnTo>
                  <a:lnTo>
                    <a:pt x="36" y="66"/>
                  </a:lnTo>
                  <a:lnTo>
                    <a:pt x="30" y="66"/>
                  </a:lnTo>
                  <a:lnTo>
                    <a:pt x="30" y="72"/>
                  </a:lnTo>
                  <a:lnTo>
                    <a:pt x="24" y="72"/>
                  </a:lnTo>
                  <a:lnTo>
                    <a:pt x="24" y="78"/>
                  </a:lnTo>
                  <a:lnTo>
                    <a:pt x="24" y="72"/>
                  </a:lnTo>
                  <a:lnTo>
                    <a:pt x="24" y="78"/>
                  </a:lnTo>
                  <a:lnTo>
                    <a:pt x="18" y="78"/>
                  </a:lnTo>
                  <a:lnTo>
                    <a:pt x="24" y="78"/>
                  </a:lnTo>
                  <a:lnTo>
                    <a:pt x="18" y="78"/>
                  </a:lnTo>
                  <a:lnTo>
                    <a:pt x="12" y="78"/>
                  </a:lnTo>
                  <a:lnTo>
                    <a:pt x="12" y="84"/>
                  </a:lnTo>
                  <a:lnTo>
                    <a:pt x="12" y="78"/>
                  </a:lnTo>
                  <a:lnTo>
                    <a:pt x="12" y="84"/>
                  </a:lnTo>
                  <a:lnTo>
                    <a:pt x="6" y="84"/>
                  </a:lnTo>
                  <a:lnTo>
                    <a:pt x="6" y="78"/>
                  </a:lnTo>
                  <a:lnTo>
                    <a:pt x="6" y="84"/>
                  </a:lnTo>
                  <a:lnTo>
                    <a:pt x="6" y="78"/>
                  </a:lnTo>
                  <a:lnTo>
                    <a:pt x="6" y="84"/>
                  </a:lnTo>
                  <a:lnTo>
                    <a:pt x="6" y="78"/>
                  </a:lnTo>
                  <a:lnTo>
                    <a:pt x="0" y="78"/>
                  </a:lnTo>
                  <a:lnTo>
                    <a:pt x="0" y="72"/>
                  </a:lnTo>
                  <a:lnTo>
                    <a:pt x="6" y="72"/>
                  </a:lnTo>
                  <a:lnTo>
                    <a:pt x="12" y="66"/>
                  </a:lnTo>
                  <a:lnTo>
                    <a:pt x="12" y="60"/>
                  </a:lnTo>
                  <a:lnTo>
                    <a:pt x="18" y="60"/>
                  </a:lnTo>
                  <a:lnTo>
                    <a:pt x="18" y="54"/>
                  </a:lnTo>
                  <a:lnTo>
                    <a:pt x="24" y="54"/>
                  </a:lnTo>
                  <a:lnTo>
                    <a:pt x="24" y="48"/>
                  </a:lnTo>
                  <a:lnTo>
                    <a:pt x="30" y="48"/>
                  </a:lnTo>
                  <a:lnTo>
                    <a:pt x="30" y="42"/>
                  </a:lnTo>
                  <a:lnTo>
                    <a:pt x="36" y="42"/>
                  </a:lnTo>
                  <a:lnTo>
                    <a:pt x="42" y="42"/>
                  </a:lnTo>
                  <a:lnTo>
                    <a:pt x="42" y="36"/>
                  </a:lnTo>
                  <a:lnTo>
                    <a:pt x="42" y="30"/>
                  </a:lnTo>
                  <a:lnTo>
                    <a:pt x="48" y="30"/>
                  </a:lnTo>
                  <a:lnTo>
                    <a:pt x="48" y="24"/>
                  </a:lnTo>
                  <a:lnTo>
                    <a:pt x="54" y="24"/>
                  </a:lnTo>
                  <a:lnTo>
                    <a:pt x="54" y="18"/>
                  </a:lnTo>
                  <a:lnTo>
                    <a:pt x="60" y="18"/>
                  </a:lnTo>
                  <a:lnTo>
                    <a:pt x="60" y="12"/>
                  </a:lnTo>
                  <a:lnTo>
                    <a:pt x="66" y="12"/>
                  </a:lnTo>
                  <a:lnTo>
                    <a:pt x="66" y="6"/>
                  </a:lnTo>
                  <a:lnTo>
                    <a:pt x="72" y="6"/>
                  </a:lnTo>
                  <a:lnTo>
                    <a:pt x="72" y="0"/>
                  </a:lnTo>
                  <a:lnTo>
                    <a:pt x="72" y="6"/>
                  </a:lnTo>
                  <a:lnTo>
                    <a:pt x="72" y="12"/>
                  </a:lnTo>
                  <a:lnTo>
                    <a:pt x="78" y="12"/>
                  </a:lnTo>
                  <a:lnTo>
                    <a:pt x="84" y="12"/>
                  </a:lnTo>
                  <a:lnTo>
                    <a:pt x="84" y="18"/>
                  </a:lnTo>
                  <a:lnTo>
                    <a:pt x="90" y="18"/>
                  </a:lnTo>
                  <a:lnTo>
                    <a:pt x="96" y="18"/>
                  </a:lnTo>
                  <a:lnTo>
                    <a:pt x="108" y="24"/>
                  </a:lnTo>
                  <a:lnTo>
                    <a:pt x="144" y="36"/>
                  </a:lnTo>
                  <a:lnTo>
                    <a:pt x="168" y="42"/>
                  </a:lnTo>
                  <a:lnTo>
                    <a:pt x="198" y="54"/>
                  </a:lnTo>
                  <a:lnTo>
                    <a:pt x="222" y="60"/>
                  </a:lnTo>
                  <a:lnTo>
                    <a:pt x="234" y="66"/>
                  </a:lnTo>
                  <a:lnTo>
                    <a:pt x="240" y="60"/>
                  </a:lnTo>
                  <a:lnTo>
                    <a:pt x="246" y="60"/>
                  </a:lnTo>
                  <a:lnTo>
                    <a:pt x="246" y="54"/>
                  </a:lnTo>
                  <a:lnTo>
                    <a:pt x="252" y="54"/>
                  </a:lnTo>
                  <a:lnTo>
                    <a:pt x="246" y="54"/>
                  </a:lnTo>
                  <a:lnTo>
                    <a:pt x="246" y="48"/>
                  </a:lnTo>
                  <a:lnTo>
                    <a:pt x="252" y="48"/>
                  </a:lnTo>
                  <a:lnTo>
                    <a:pt x="258" y="48"/>
                  </a:lnTo>
                  <a:lnTo>
                    <a:pt x="258" y="42"/>
                  </a:lnTo>
                  <a:lnTo>
                    <a:pt x="258" y="36"/>
                  </a:lnTo>
                  <a:lnTo>
                    <a:pt x="264" y="36"/>
                  </a:lnTo>
                  <a:lnTo>
                    <a:pt x="264" y="42"/>
                  </a:lnTo>
                  <a:lnTo>
                    <a:pt x="270" y="42"/>
                  </a:lnTo>
                  <a:lnTo>
                    <a:pt x="276" y="42"/>
                  </a:lnTo>
                  <a:lnTo>
                    <a:pt x="276" y="36"/>
                  </a:lnTo>
                  <a:lnTo>
                    <a:pt x="282" y="30"/>
                  </a:lnTo>
                  <a:lnTo>
                    <a:pt x="276" y="24"/>
                  </a:lnTo>
                  <a:lnTo>
                    <a:pt x="270" y="24"/>
                  </a:lnTo>
                  <a:lnTo>
                    <a:pt x="270" y="30"/>
                  </a:lnTo>
                  <a:lnTo>
                    <a:pt x="264" y="30"/>
                  </a:lnTo>
                  <a:lnTo>
                    <a:pt x="264" y="24"/>
                  </a:lnTo>
                  <a:lnTo>
                    <a:pt x="258" y="24"/>
                  </a:lnTo>
                  <a:lnTo>
                    <a:pt x="258" y="18"/>
                  </a:lnTo>
                  <a:lnTo>
                    <a:pt x="264" y="18"/>
                  </a:lnTo>
                  <a:lnTo>
                    <a:pt x="270" y="12"/>
                  </a:lnTo>
                  <a:lnTo>
                    <a:pt x="282" y="12"/>
                  </a:lnTo>
                  <a:lnTo>
                    <a:pt x="294" y="12"/>
                  </a:lnTo>
                  <a:lnTo>
                    <a:pt x="300" y="12"/>
                  </a:lnTo>
                  <a:lnTo>
                    <a:pt x="300" y="18"/>
                  </a:lnTo>
                  <a:lnTo>
                    <a:pt x="306" y="24"/>
                  </a:lnTo>
                  <a:lnTo>
                    <a:pt x="306" y="18"/>
                  </a:lnTo>
                  <a:lnTo>
                    <a:pt x="306" y="12"/>
                  </a:lnTo>
                  <a:lnTo>
                    <a:pt x="312" y="12"/>
                  </a:lnTo>
                  <a:lnTo>
                    <a:pt x="318" y="6"/>
                  </a:lnTo>
                  <a:lnTo>
                    <a:pt x="324" y="6"/>
                  </a:lnTo>
                  <a:lnTo>
                    <a:pt x="330" y="12"/>
                  </a:lnTo>
                  <a:lnTo>
                    <a:pt x="336" y="12"/>
                  </a:lnTo>
                  <a:lnTo>
                    <a:pt x="342" y="12"/>
                  </a:lnTo>
                  <a:lnTo>
                    <a:pt x="348" y="6"/>
                  </a:lnTo>
                  <a:lnTo>
                    <a:pt x="348" y="12"/>
                  </a:lnTo>
                  <a:lnTo>
                    <a:pt x="348" y="18"/>
                  </a:lnTo>
                  <a:lnTo>
                    <a:pt x="348" y="24"/>
                  </a:lnTo>
                  <a:lnTo>
                    <a:pt x="354" y="18"/>
                  </a:lnTo>
                  <a:lnTo>
                    <a:pt x="360" y="18"/>
                  </a:lnTo>
                  <a:lnTo>
                    <a:pt x="360" y="36"/>
                  </a:lnTo>
                  <a:lnTo>
                    <a:pt x="354" y="42"/>
                  </a:lnTo>
                  <a:lnTo>
                    <a:pt x="354" y="48"/>
                  </a:lnTo>
                  <a:lnTo>
                    <a:pt x="348" y="48"/>
                  </a:lnTo>
                  <a:lnTo>
                    <a:pt x="342" y="48"/>
                  </a:lnTo>
                  <a:lnTo>
                    <a:pt x="342" y="54"/>
                  </a:lnTo>
                  <a:lnTo>
                    <a:pt x="336" y="54"/>
                  </a:lnTo>
                  <a:lnTo>
                    <a:pt x="336" y="60"/>
                  </a:lnTo>
                  <a:lnTo>
                    <a:pt x="342" y="60"/>
                  </a:lnTo>
                  <a:lnTo>
                    <a:pt x="342" y="66"/>
                  </a:lnTo>
                  <a:lnTo>
                    <a:pt x="342" y="72"/>
                  </a:lnTo>
                  <a:lnTo>
                    <a:pt x="342" y="84"/>
                  </a:lnTo>
                  <a:lnTo>
                    <a:pt x="342" y="96"/>
                  </a:lnTo>
                  <a:lnTo>
                    <a:pt x="342" y="102"/>
                  </a:lnTo>
                  <a:lnTo>
                    <a:pt x="336" y="108"/>
                  </a:lnTo>
                  <a:lnTo>
                    <a:pt x="342" y="108"/>
                  </a:lnTo>
                  <a:lnTo>
                    <a:pt x="336" y="114"/>
                  </a:lnTo>
                  <a:lnTo>
                    <a:pt x="342" y="120"/>
                  </a:lnTo>
                  <a:lnTo>
                    <a:pt x="336" y="126"/>
                  </a:lnTo>
                  <a:lnTo>
                    <a:pt x="342" y="126"/>
                  </a:lnTo>
                  <a:lnTo>
                    <a:pt x="348" y="126"/>
                  </a:lnTo>
                  <a:lnTo>
                    <a:pt x="348" y="132"/>
                  </a:lnTo>
                  <a:lnTo>
                    <a:pt x="354" y="132"/>
                  </a:lnTo>
                  <a:lnTo>
                    <a:pt x="348" y="138"/>
                  </a:lnTo>
                  <a:lnTo>
                    <a:pt x="348" y="150"/>
                  </a:lnTo>
                  <a:lnTo>
                    <a:pt x="348" y="156"/>
                  </a:lnTo>
                  <a:lnTo>
                    <a:pt x="354" y="156"/>
                  </a:lnTo>
                  <a:lnTo>
                    <a:pt x="360" y="156"/>
                  </a:lnTo>
                  <a:lnTo>
                    <a:pt x="360" y="162"/>
                  </a:lnTo>
                  <a:lnTo>
                    <a:pt x="354" y="162"/>
                  </a:lnTo>
                  <a:lnTo>
                    <a:pt x="354" y="168"/>
                  </a:lnTo>
                  <a:lnTo>
                    <a:pt x="348" y="168"/>
                  </a:lnTo>
                  <a:lnTo>
                    <a:pt x="348" y="174"/>
                  </a:lnTo>
                  <a:lnTo>
                    <a:pt x="354" y="174"/>
                  </a:lnTo>
                  <a:lnTo>
                    <a:pt x="348" y="174"/>
                  </a:lnTo>
                  <a:lnTo>
                    <a:pt x="342" y="174"/>
                  </a:lnTo>
                  <a:lnTo>
                    <a:pt x="348" y="174"/>
                  </a:lnTo>
                  <a:lnTo>
                    <a:pt x="348" y="180"/>
                  </a:lnTo>
                  <a:lnTo>
                    <a:pt x="348" y="186"/>
                  </a:lnTo>
                  <a:lnTo>
                    <a:pt x="342" y="186"/>
                  </a:lnTo>
                  <a:lnTo>
                    <a:pt x="342" y="192"/>
                  </a:lnTo>
                  <a:lnTo>
                    <a:pt x="348" y="192"/>
                  </a:lnTo>
                  <a:lnTo>
                    <a:pt x="342" y="192"/>
                  </a:lnTo>
                  <a:lnTo>
                    <a:pt x="336" y="198"/>
                  </a:lnTo>
                  <a:lnTo>
                    <a:pt x="330" y="198"/>
                  </a:lnTo>
                  <a:lnTo>
                    <a:pt x="324" y="198"/>
                  </a:lnTo>
                  <a:lnTo>
                    <a:pt x="324" y="204"/>
                  </a:lnTo>
                  <a:lnTo>
                    <a:pt x="324" y="210"/>
                  </a:lnTo>
                  <a:lnTo>
                    <a:pt x="318" y="210"/>
                  </a:lnTo>
                  <a:close/>
                  <a:moveTo>
                    <a:pt x="42" y="102"/>
                  </a:moveTo>
                  <a:lnTo>
                    <a:pt x="36" y="102"/>
                  </a:lnTo>
                  <a:lnTo>
                    <a:pt x="36" y="96"/>
                  </a:lnTo>
                  <a:lnTo>
                    <a:pt x="42" y="96"/>
                  </a:lnTo>
                  <a:lnTo>
                    <a:pt x="42" y="102"/>
                  </a:lnTo>
                  <a:close/>
                  <a:moveTo>
                    <a:pt x="30" y="96"/>
                  </a:moveTo>
                  <a:lnTo>
                    <a:pt x="36" y="96"/>
                  </a:lnTo>
                  <a:lnTo>
                    <a:pt x="36" y="102"/>
                  </a:lnTo>
                  <a:lnTo>
                    <a:pt x="30" y="96"/>
                  </a:lnTo>
                  <a:close/>
                  <a:moveTo>
                    <a:pt x="36" y="96"/>
                  </a:moveTo>
                  <a:lnTo>
                    <a:pt x="30" y="90"/>
                  </a:lnTo>
                  <a:lnTo>
                    <a:pt x="30" y="84"/>
                  </a:lnTo>
                  <a:lnTo>
                    <a:pt x="30" y="90"/>
                  </a:lnTo>
                  <a:lnTo>
                    <a:pt x="36" y="90"/>
                  </a:lnTo>
                  <a:lnTo>
                    <a:pt x="36" y="96"/>
                  </a:lnTo>
                  <a:close/>
                  <a:moveTo>
                    <a:pt x="36" y="78"/>
                  </a:moveTo>
                  <a:lnTo>
                    <a:pt x="36" y="84"/>
                  </a:lnTo>
                  <a:lnTo>
                    <a:pt x="42" y="84"/>
                  </a:lnTo>
                  <a:lnTo>
                    <a:pt x="36" y="84"/>
                  </a:lnTo>
                  <a:lnTo>
                    <a:pt x="36" y="78"/>
                  </a:lnTo>
                  <a:close/>
                  <a:moveTo>
                    <a:pt x="0" y="84"/>
                  </a:moveTo>
                  <a:lnTo>
                    <a:pt x="6" y="84"/>
                  </a:lnTo>
                  <a:lnTo>
                    <a:pt x="0" y="84"/>
                  </a:lnTo>
                  <a:close/>
                  <a:moveTo>
                    <a:pt x="0" y="78"/>
                  </a:moveTo>
                  <a:lnTo>
                    <a:pt x="0" y="84"/>
                  </a:lnTo>
                  <a:lnTo>
                    <a:pt x="1" y="84"/>
                  </a:lnTo>
                  <a:lnTo>
                    <a:pt x="0" y="78"/>
                  </a:lnTo>
                  <a:close/>
                </a:path>
              </a:pathLst>
            </a:custGeom>
            <a:solidFill>
              <a:schemeClr val="accent1"/>
            </a:solidFill>
            <a:ln w="9525">
              <a:solidFill>
                <a:srgbClr val="B2B2B2"/>
              </a:solidFill>
              <a:round/>
              <a:headEnd/>
              <a:tailEnd/>
            </a:ln>
          </p:spPr>
          <p:txBody>
            <a:bodyPr/>
            <a:lstStyle/>
            <a:p>
              <a:endParaRPr lang="en-CA"/>
            </a:p>
          </p:txBody>
        </p:sp>
        <p:sp>
          <p:nvSpPr>
            <p:cNvPr id="409" name="Freeform 468"/>
            <p:cNvSpPr>
              <a:spLocks/>
            </p:cNvSpPr>
            <p:nvPr>
              <p:custDataLst>
                <p:tags r:id="rId32"/>
              </p:custDataLst>
            </p:nvPr>
          </p:nvSpPr>
          <p:spPr bwMode="gray">
            <a:xfrm>
              <a:off x="669" y="2834"/>
              <a:ext cx="187" cy="134"/>
            </a:xfrm>
            <a:custGeom>
              <a:avLst/>
              <a:gdLst>
                <a:gd name="T0" fmla="*/ 46913102 w 300"/>
                <a:gd name="T1" fmla="*/ 204028881 h 216"/>
                <a:gd name="T2" fmla="*/ 41049088 w 300"/>
                <a:gd name="T3" fmla="*/ 174881616 h 216"/>
                <a:gd name="T4" fmla="*/ 35184084 w 300"/>
                <a:gd name="T5" fmla="*/ 169052361 h 216"/>
                <a:gd name="T6" fmla="*/ 41049088 w 300"/>
                <a:gd name="T7" fmla="*/ 163223105 h 216"/>
                <a:gd name="T8" fmla="*/ 41049088 w 300"/>
                <a:gd name="T9" fmla="*/ 151564593 h 216"/>
                <a:gd name="T10" fmla="*/ 35184084 w 300"/>
                <a:gd name="T11" fmla="*/ 139905096 h 216"/>
                <a:gd name="T12" fmla="*/ 35184084 w 300"/>
                <a:gd name="T13" fmla="*/ 128246584 h 216"/>
                <a:gd name="T14" fmla="*/ 17592042 w 300"/>
                <a:gd name="T15" fmla="*/ 128246584 h 216"/>
                <a:gd name="T16" fmla="*/ 17592042 w 300"/>
                <a:gd name="T17" fmla="*/ 116588073 h 216"/>
                <a:gd name="T18" fmla="*/ 0 w 300"/>
                <a:gd name="T19" fmla="*/ 110758817 h 216"/>
                <a:gd name="T20" fmla="*/ 0 w 300"/>
                <a:gd name="T21" fmla="*/ 99099320 h 216"/>
                <a:gd name="T22" fmla="*/ 17592042 w 300"/>
                <a:gd name="T23" fmla="*/ 93270064 h 216"/>
                <a:gd name="T24" fmla="*/ 17592042 w 300"/>
                <a:gd name="T25" fmla="*/ 81611552 h 216"/>
                <a:gd name="T26" fmla="*/ 23456056 w 300"/>
                <a:gd name="T27" fmla="*/ 75782296 h 216"/>
                <a:gd name="T28" fmla="*/ 17592042 w 300"/>
                <a:gd name="T29" fmla="*/ 69953041 h 216"/>
                <a:gd name="T30" fmla="*/ 23456056 w 300"/>
                <a:gd name="T31" fmla="*/ 64123785 h 216"/>
                <a:gd name="T32" fmla="*/ 35184084 w 300"/>
                <a:gd name="T33" fmla="*/ 64123785 h 216"/>
                <a:gd name="T34" fmla="*/ 46913102 w 300"/>
                <a:gd name="T35" fmla="*/ 58293544 h 216"/>
                <a:gd name="T36" fmla="*/ 46913102 w 300"/>
                <a:gd name="T37" fmla="*/ 46635032 h 216"/>
                <a:gd name="T38" fmla="*/ 58641130 w 300"/>
                <a:gd name="T39" fmla="*/ 34976520 h 216"/>
                <a:gd name="T40" fmla="*/ 76233172 w 300"/>
                <a:gd name="T41" fmla="*/ 34976520 h 216"/>
                <a:gd name="T42" fmla="*/ 82097186 w 300"/>
                <a:gd name="T43" fmla="*/ 17487768 h 216"/>
                <a:gd name="T44" fmla="*/ 93825214 w 300"/>
                <a:gd name="T45" fmla="*/ 5829256 h 216"/>
                <a:gd name="T46" fmla="*/ 105553242 w 300"/>
                <a:gd name="T47" fmla="*/ 5829256 h 216"/>
                <a:gd name="T48" fmla="*/ 111418246 w 300"/>
                <a:gd name="T49" fmla="*/ 5829256 h 216"/>
                <a:gd name="T50" fmla="*/ 117282260 w 300"/>
                <a:gd name="T51" fmla="*/ 17487768 h 216"/>
                <a:gd name="T52" fmla="*/ 123146274 w 300"/>
                <a:gd name="T53" fmla="*/ 23318008 h 216"/>
                <a:gd name="T54" fmla="*/ 134874302 w 300"/>
                <a:gd name="T55" fmla="*/ 29147264 h 216"/>
                <a:gd name="T56" fmla="*/ 140738316 w 300"/>
                <a:gd name="T57" fmla="*/ 11658512 h 216"/>
                <a:gd name="T58" fmla="*/ 152466344 w 300"/>
                <a:gd name="T59" fmla="*/ 5829256 h 216"/>
                <a:gd name="T60" fmla="*/ 170058386 w 300"/>
                <a:gd name="T61" fmla="*/ 5829256 h 216"/>
                <a:gd name="T62" fmla="*/ 187651418 w 300"/>
                <a:gd name="T63" fmla="*/ 11658512 h 216"/>
                <a:gd name="T64" fmla="*/ 199379446 w 300"/>
                <a:gd name="T65" fmla="*/ 23318008 h 216"/>
                <a:gd name="T66" fmla="*/ 211107474 w 300"/>
                <a:gd name="T67" fmla="*/ 23318008 h 216"/>
                <a:gd name="T68" fmla="*/ 222835502 w 300"/>
                <a:gd name="T69" fmla="*/ 29147264 h 216"/>
                <a:gd name="T70" fmla="*/ 234563530 w 300"/>
                <a:gd name="T71" fmla="*/ 40805776 h 216"/>
                <a:gd name="T72" fmla="*/ 252155572 w 300"/>
                <a:gd name="T73" fmla="*/ 40805776 h 216"/>
                <a:gd name="T74" fmla="*/ 252155572 w 300"/>
                <a:gd name="T75" fmla="*/ 52464288 h 216"/>
                <a:gd name="T76" fmla="*/ 269748604 w 300"/>
                <a:gd name="T77" fmla="*/ 52464288 h 216"/>
                <a:gd name="T78" fmla="*/ 275612618 w 300"/>
                <a:gd name="T79" fmla="*/ 58293544 h 216"/>
                <a:gd name="T80" fmla="*/ 293204660 w 300"/>
                <a:gd name="T81" fmla="*/ 69953041 h 216"/>
                <a:gd name="T82" fmla="*/ 281476632 w 300"/>
                <a:gd name="T83" fmla="*/ 81611552 h 216"/>
                <a:gd name="T84" fmla="*/ 275612618 w 300"/>
                <a:gd name="T85" fmla="*/ 87440808 h 216"/>
                <a:gd name="T86" fmla="*/ 263884590 w 300"/>
                <a:gd name="T87" fmla="*/ 87440808 h 216"/>
                <a:gd name="T88" fmla="*/ 252155572 w 300"/>
                <a:gd name="T89" fmla="*/ 99099320 h 216"/>
                <a:gd name="T90" fmla="*/ 234563530 w 300"/>
                <a:gd name="T91" fmla="*/ 104929561 h 216"/>
                <a:gd name="T92" fmla="*/ 222835502 w 300"/>
                <a:gd name="T93" fmla="*/ 116588073 h 216"/>
                <a:gd name="T94" fmla="*/ 216971488 w 300"/>
                <a:gd name="T95" fmla="*/ 116588073 h 216"/>
                <a:gd name="T96" fmla="*/ 205243460 w 300"/>
                <a:gd name="T97" fmla="*/ 104929561 h 216"/>
                <a:gd name="T98" fmla="*/ 193515432 w 300"/>
                <a:gd name="T99" fmla="*/ 104929561 h 216"/>
                <a:gd name="T100" fmla="*/ 181786414 w 300"/>
                <a:gd name="T101" fmla="*/ 116588073 h 216"/>
                <a:gd name="T102" fmla="*/ 175922400 w 300"/>
                <a:gd name="T103" fmla="*/ 122417328 h 216"/>
                <a:gd name="T104" fmla="*/ 175922400 w 300"/>
                <a:gd name="T105" fmla="*/ 134075840 h 216"/>
                <a:gd name="T106" fmla="*/ 170058386 w 300"/>
                <a:gd name="T107" fmla="*/ 145734352 h 216"/>
                <a:gd name="T108" fmla="*/ 164194372 w 300"/>
                <a:gd name="T109" fmla="*/ 163223105 h 216"/>
                <a:gd name="T110" fmla="*/ 158330358 w 300"/>
                <a:gd name="T111" fmla="*/ 169052361 h 216"/>
                <a:gd name="T112" fmla="*/ 134874302 w 300"/>
                <a:gd name="T113" fmla="*/ 169052361 h 216"/>
                <a:gd name="T114" fmla="*/ 129010288 w 300"/>
                <a:gd name="T115" fmla="*/ 186540128 h 216"/>
                <a:gd name="T116" fmla="*/ 111418246 w 300"/>
                <a:gd name="T117" fmla="*/ 192370369 h 216"/>
                <a:gd name="T118" fmla="*/ 105553242 w 300"/>
                <a:gd name="T119" fmla="*/ 198199625 h 216"/>
                <a:gd name="T120" fmla="*/ 93825214 w 300"/>
                <a:gd name="T121" fmla="*/ 204028881 h 216"/>
                <a:gd name="T122" fmla="*/ 76233172 w 300"/>
                <a:gd name="T123" fmla="*/ 209858137 h 216"/>
                <a:gd name="T124" fmla="*/ 64505144 w 300"/>
                <a:gd name="T125" fmla="*/ 209858137 h 21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0"/>
                <a:gd name="T190" fmla="*/ 0 h 216"/>
                <a:gd name="T191" fmla="*/ 300 w 300"/>
                <a:gd name="T192" fmla="*/ 216 h 21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0" h="216">
                  <a:moveTo>
                    <a:pt x="60" y="216"/>
                  </a:moveTo>
                  <a:lnTo>
                    <a:pt x="54" y="216"/>
                  </a:lnTo>
                  <a:lnTo>
                    <a:pt x="48" y="216"/>
                  </a:lnTo>
                  <a:lnTo>
                    <a:pt x="48" y="210"/>
                  </a:lnTo>
                  <a:lnTo>
                    <a:pt x="48" y="198"/>
                  </a:lnTo>
                  <a:lnTo>
                    <a:pt x="54" y="192"/>
                  </a:lnTo>
                  <a:lnTo>
                    <a:pt x="42" y="186"/>
                  </a:lnTo>
                  <a:lnTo>
                    <a:pt x="42" y="180"/>
                  </a:lnTo>
                  <a:lnTo>
                    <a:pt x="36" y="180"/>
                  </a:lnTo>
                  <a:lnTo>
                    <a:pt x="42" y="180"/>
                  </a:lnTo>
                  <a:lnTo>
                    <a:pt x="36" y="180"/>
                  </a:lnTo>
                  <a:lnTo>
                    <a:pt x="36" y="174"/>
                  </a:lnTo>
                  <a:lnTo>
                    <a:pt x="42" y="174"/>
                  </a:lnTo>
                  <a:lnTo>
                    <a:pt x="36" y="174"/>
                  </a:lnTo>
                  <a:lnTo>
                    <a:pt x="42" y="174"/>
                  </a:lnTo>
                  <a:lnTo>
                    <a:pt x="42" y="168"/>
                  </a:lnTo>
                  <a:lnTo>
                    <a:pt x="36" y="168"/>
                  </a:lnTo>
                  <a:lnTo>
                    <a:pt x="42" y="168"/>
                  </a:lnTo>
                  <a:lnTo>
                    <a:pt x="48" y="156"/>
                  </a:lnTo>
                  <a:lnTo>
                    <a:pt x="42" y="156"/>
                  </a:lnTo>
                  <a:lnTo>
                    <a:pt x="36" y="156"/>
                  </a:lnTo>
                  <a:lnTo>
                    <a:pt x="42" y="150"/>
                  </a:lnTo>
                  <a:lnTo>
                    <a:pt x="42" y="144"/>
                  </a:lnTo>
                  <a:lnTo>
                    <a:pt x="36" y="144"/>
                  </a:lnTo>
                  <a:lnTo>
                    <a:pt x="42" y="144"/>
                  </a:lnTo>
                  <a:lnTo>
                    <a:pt x="42" y="138"/>
                  </a:lnTo>
                  <a:lnTo>
                    <a:pt x="36" y="138"/>
                  </a:lnTo>
                  <a:lnTo>
                    <a:pt x="36" y="132"/>
                  </a:lnTo>
                  <a:lnTo>
                    <a:pt x="30" y="132"/>
                  </a:lnTo>
                  <a:lnTo>
                    <a:pt x="30" y="138"/>
                  </a:lnTo>
                  <a:lnTo>
                    <a:pt x="24" y="132"/>
                  </a:lnTo>
                  <a:lnTo>
                    <a:pt x="18" y="132"/>
                  </a:lnTo>
                  <a:lnTo>
                    <a:pt x="12" y="132"/>
                  </a:lnTo>
                  <a:lnTo>
                    <a:pt x="12" y="126"/>
                  </a:lnTo>
                  <a:lnTo>
                    <a:pt x="18" y="126"/>
                  </a:lnTo>
                  <a:lnTo>
                    <a:pt x="18" y="120"/>
                  </a:lnTo>
                  <a:lnTo>
                    <a:pt x="12" y="120"/>
                  </a:lnTo>
                  <a:lnTo>
                    <a:pt x="6" y="120"/>
                  </a:lnTo>
                  <a:lnTo>
                    <a:pt x="0" y="120"/>
                  </a:lnTo>
                  <a:lnTo>
                    <a:pt x="0" y="114"/>
                  </a:lnTo>
                  <a:lnTo>
                    <a:pt x="6" y="114"/>
                  </a:lnTo>
                  <a:lnTo>
                    <a:pt x="6" y="108"/>
                  </a:lnTo>
                  <a:lnTo>
                    <a:pt x="0" y="108"/>
                  </a:lnTo>
                  <a:lnTo>
                    <a:pt x="0" y="102"/>
                  </a:lnTo>
                  <a:lnTo>
                    <a:pt x="6" y="102"/>
                  </a:lnTo>
                  <a:lnTo>
                    <a:pt x="12" y="102"/>
                  </a:lnTo>
                  <a:lnTo>
                    <a:pt x="12" y="96"/>
                  </a:lnTo>
                  <a:lnTo>
                    <a:pt x="18" y="96"/>
                  </a:lnTo>
                  <a:lnTo>
                    <a:pt x="12" y="96"/>
                  </a:lnTo>
                  <a:lnTo>
                    <a:pt x="12" y="90"/>
                  </a:lnTo>
                  <a:lnTo>
                    <a:pt x="12" y="84"/>
                  </a:lnTo>
                  <a:lnTo>
                    <a:pt x="18" y="84"/>
                  </a:lnTo>
                  <a:lnTo>
                    <a:pt x="18" y="90"/>
                  </a:lnTo>
                  <a:lnTo>
                    <a:pt x="18" y="84"/>
                  </a:lnTo>
                  <a:lnTo>
                    <a:pt x="24" y="84"/>
                  </a:lnTo>
                  <a:lnTo>
                    <a:pt x="24" y="78"/>
                  </a:lnTo>
                  <a:lnTo>
                    <a:pt x="24" y="72"/>
                  </a:lnTo>
                  <a:lnTo>
                    <a:pt x="18" y="72"/>
                  </a:lnTo>
                  <a:lnTo>
                    <a:pt x="24" y="72"/>
                  </a:lnTo>
                  <a:lnTo>
                    <a:pt x="18" y="72"/>
                  </a:lnTo>
                  <a:lnTo>
                    <a:pt x="18" y="66"/>
                  </a:lnTo>
                  <a:lnTo>
                    <a:pt x="24" y="66"/>
                  </a:lnTo>
                  <a:lnTo>
                    <a:pt x="24" y="60"/>
                  </a:lnTo>
                  <a:lnTo>
                    <a:pt x="24" y="66"/>
                  </a:lnTo>
                  <a:lnTo>
                    <a:pt x="24" y="60"/>
                  </a:lnTo>
                  <a:lnTo>
                    <a:pt x="30" y="60"/>
                  </a:lnTo>
                  <a:lnTo>
                    <a:pt x="36" y="60"/>
                  </a:lnTo>
                  <a:lnTo>
                    <a:pt x="36" y="66"/>
                  </a:lnTo>
                  <a:lnTo>
                    <a:pt x="42" y="60"/>
                  </a:lnTo>
                  <a:lnTo>
                    <a:pt x="42" y="66"/>
                  </a:lnTo>
                  <a:lnTo>
                    <a:pt x="48" y="66"/>
                  </a:lnTo>
                  <a:lnTo>
                    <a:pt x="48" y="60"/>
                  </a:lnTo>
                  <a:lnTo>
                    <a:pt x="48" y="66"/>
                  </a:lnTo>
                  <a:lnTo>
                    <a:pt x="48" y="60"/>
                  </a:lnTo>
                  <a:lnTo>
                    <a:pt x="48" y="54"/>
                  </a:lnTo>
                  <a:lnTo>
                    <a:pt x="48" y="48"/>
                  </a:lnTo>
                  <a:lnTo>
                    <a:pt x="48" y="54"/>
                  </a:lnTo>
                  <a:lnTo>
                    <a:pt x="54" y="48"/>
                  </a:lnTo>
                  <a:lnTo>
                    <a:pt x="60" y="42"/>
                  </a:lnTo>
                  <a:lnTo>
                    <a:pt x="60" y="36"/>
                  </a:lnTo>
                  <a:lnTo>
                    <a:pt x="66" y="30"/>
                  </a:lnTo>
                  <a:lnTo>
                    <a:pt x="72" y="30"/>
                  </a:lnTo>
                  <a:lnTo>
                    <a:pt x="72" y="36"/>
                  </a:lnTo>
                  <a:lnTo>
                    <a:pt x="78" y="36"/>
                  </a:lnTo>
                  <a:lnTo>
                    <a:pt x="78" y="30"/>
                  </a:lnTo>
                  <a:lnTo>
                    <a:pt x="84" y="30"/>
                  </a:lnTo>
                  <a:lnTo>
                    <a:pt x="84" y="24"/>
                  </a:lnTo>
                  <a:lnTo>
                    <a:pt x="84" y="18"/>
                  </a:lnTo>
                  <a:lnTo>
                    <a:pt x="90" y="18"/>
                  </a:lnTo>
                  <a:lnTo>
                    <a:pt x="90" y="12"/>
                  </a:lnTo>
                  <a:lnTo>
                    <a:pt x="90" y="6"/>
                  </a:lnTo>
                  <a:lnTo>
                    <a:pt x="96" y="6"/>
                  </a:lnTo>
                  <a:lnTo>
                    <a:pt x="96" y="12"/>
                  </a:lnTo>
                  <a:lnTo>
                    <a:pt x="102" y="12"/>
                  </a:lnTo>
                  <a:lnTo>
                    <a:pt x="102" y="6"/>
                  </a:lnTo>
                  <a:lnTo>
                    <a:pt x="108" y="6"/>
                  </a:lnTo>
                  <a:lnTo>
                    <a:pt x="108" y="0"/>
                  </a:lnTo>
                  <a:lnTo>
                    <a:pt x="108" y="6"/>
                  </a:lnTo>
                  <a:lnTo>
                    <a:pt x="108" y="0"/>
                  </a:lnTo>
                  <a:lnTo>
                    <a:pt x="114" y="6"/>
                  </a:lnTo>
                  <a:lnTo>
                    <a:pt x="120" y="12"/>
                  </a:lnTo>
                  <a:lnTo>
                    <a:pt x="120" y="18"/>
                  </a:lnTo>
                  <a:lnTo>
                    <a:pt x="126" y="18"/>
                  </a:lnTo>
                  <a:lnTo>
                    <a:pt x="120" y="18"/>
                  </a:lnTo>
                  <a:lnTo>
                    <a:pt x="120" y="24"/>
                  </a:lnTo>
                  <a:lnTo>
                    <a:pt x="126" y="24"/>
                  </a:lnTo>
                  <a:lnTo>
                    <a:pt x="132" y="24"/>
                  </a:lnTo>
                  <a:lnTo>
                    <a:pt x="126" y="24"/>
                  </a:lnTo>
                  <a:lnTo>
                    <a:pt x="132" y="30"/>
                  </a:lnTo>
                  <a:lnTo>
                    <a:pt x="138" y="24"/>
                  </a:lnTo>
                  <a:lnTo>
                    <a:pt x="132" y="30"/>
                  </a:lnTo>
                  <a:lnTo>
                    <a:pt x="138" y="30"/>
                  </a:lnTo>
                  <a:lnTo>
                    <a:pt x="138" y="24"/>
                  </a:lnTo>
                  <a:lnTo>
                    <a:pt x="144" y="24"/>
                  </a:lnTo>
                  <a:lnTo>
                    <a:pt x="144" y="18"/>
                  </a:lnTo>
                  <a:lnTo>
                    <a:pt x="144" y="12"/>
                  </a:lnTo>
                  <a:lnTo>
                    <a:pt x="150" y="6"/>
                  </a:lnTo>
                  <a:lnTo>
                    <a:pt x="150" y="0"/>
                  </a:lnTo>
                  <a:lnTo>
                    <a:pt x="156" y="0"/>
                  </a:lnTo>
                  <a:lnTo>
                    <a:pt x="156" y="6"/>
                  </a:lnTo>
                  <a:lnTo>
                    <a:pt x="162" y="6"/>
                  </a:lnTo>
                  <a:lnTo>
                    <a:pt x="168" y="6"/>
                  </a:lnTo>
                  <a:lnTo>
                    <a:pt x="168" y="12"/>
                  </a:lnTo>
                  <a:lnTo>
                    <a:pt x="174" y="6"/>
                  </a:lnTo>
                  <a:lnTo>
                    <a:pt x="180" y="6"/>
                  </a:lnTo>
                  <a:lnTo>
                    <a:pt x="186" y="6"/>
                  </a:lnTo>
                  <a:lnTo>
                    <a:pt x="186" y="12"/>
                  </a:lnTo>
                  <a:lnTo>
                    <a:pt x="192" y="12"/>
                  </a:lnTo>
                  <a:lnTo>
                    <a:pt x="192" y="18"/>
                  </a:lnTo>
                  <a:lnTo>
                    <a:pt x="198" y="18"/>
                  </a:lnTo>
                  <a:lnTo>
                    <a:pt x="198" y="24"/>
                  </a:lnTo>
                  <a:lnTo>
                    <a:pt x="204" y="24"/>
                  </a:lnTo>
                  <a:lnTo>
                    <a:pt x="210" y="24"/>
                  </a:lnTo>
                  <a:lnTo>
                    <a:pt x="210" y="18"/>
                  </a:lnTo>
                  <a:lnTo>
                    <a:pt x="210" y="24"/>
                  </a:lnTo>
                  <a:lnTo>
                    <a:pt x="216" y="24"/>
                  </a:lnTo>
                  <a:lnTo>
                    <a:pt x="216" y="18"/>
                  </a:lnTo>
                  <a:lnTo>
                    <a:pt x="216" y="24"/>
                  </a:lnTo>
                  <a:lnTo>
                    <a:pt x="222" y="24"/>
                  </a:lnTo>
                  <a:lnTo>
                    <a:pt x="228" y="30"/>
                  </a:lnTo>
                  <a:lnTo>
                    <a:pt x="234" y="30"/>
                  </a:lnTo>
                  <a:lnTo>
                    <a:pt x="234" y="36"/>
                  </a:lnTo>
                  <a:lnTo>
                    <a:pt x="240" y="36"/>
                  </a:lnTo>
                  <a:lnTo>
                    <a:pt x="240" y="42"/>
                  </a:lnTo>
                  <a:lnTo>
                    <a:pt x="246" y="42"/>
                  </a:lnTo>
                  <a:lnTo>
                    <a:pt x="252" y="48"/>
                  </a:lnTo>
                  <a:lnTo>
                    <a:pt x="252" y="42"/>
                  </a:lnTo>
                  <a:lnTo>
                    <a:pt x="258" y="42"/>
                  </a:lnTo>
                  <a:lnTo>
                    <a:pt x="258" y="48"/>
                  </a:lnTo>
                  <a:lnTo>
                    <a:pt x="252" y="48"/>
                  </a:lnTo>
                  <a:lnTo>
                    <a:pt x="252" y="54"/>
                  </a:lnTo>
                  <a:lnTo>
                    <a:pt x="258" y="54"/>
                  </a:lnTo>
                  <a:lnTo>
                    <a:pt x="258" y="60"/>
                  </a:lnTo>
                  <a:lnTo>
                    <a:pt x="264" y="54"/>
                  </a:lnTo>
                  <a:lnTo>
                    <a:pt x="270" y="54"/>
                  </a:lnTo>
                  <a:lnTo>
                    <a:pt x="276" y="54"/>
                  </a:lnTo>
                  <a:lnTo>
                    <a:pt x="270" y="54"/>
                  </a:lnTo>
                  <a:lnTo>
                    <a:pt x="276" y="54"/>
                  </a:lnTo>
                  <a:lnTo>
                    <a:pt x="282" y="54"/>
                  </a:lnTo>
                  <a:lnTo>
                    <a:pt x="282" y="60"/>
                  </a:lnTo>
                  <a:lnTo>
                    <a:pt x="288" y="60"/>
                  </a:lnTo>
                  <a:lnTo>
                    <a:pt x="294" y="66"/>
                  </a:lnTo>
                  <a:lnTo>
                    <a:pt x="300" y="66"/>
                  </a:lnTo>
                  <a:lnTo>
                    <a:pt x="300" y="72"/>
                  </a:lnTo>
                  <a:lnTo>
                    <a:pt x="300" y="78"/>
                  </a:lnTo>
                  <a:lnTo>
                    <a:pt x="300" y="84"/>
                  </a:lnTo>
                  <a:lnTo>
                    <a:pt x="294" y="84"/>
                  </a:lnTo>
                  <a:lnTo>
                    <a:pt x="288" y="84"/>
                  </a:lnTo>
                  <a:lnTo>
                    <a:pt x="288" y="90"/>
                  </a:lnTo>
                  <a:lnTo>
                    <a:pt x="282" y="90"/>
                  </a:lnTo>
                  <a:lnTo>
                    <a:pt x="282" y="84"/>
                  </a:lnTo>
                  <a:lnTo>
                    <a:pt x="282" y="90"/>
                  </a:lnTo>
                  <a:lnTo>
                    <a:pt x="276" y="90"/>
                  </a:lnTo>
                  <a:lnTo>
                    <a:pt x="276" y="84"/>
                  </a:lnTo>
                  <a:lnTo>
                    <a:pt x="276" y="90"/>
                  </a:lnTo>
                  <a:lnTo>
                    <a:pt x="270" y="90"/>
                  </a:lnTo>
                  <a:lnTo>
                    <a:pt x="264" y="90"/>
                  </a:lnTo>
                  <a:lnTo>
                    <a:pt x="258" y="90"/>
                  </a:lnTo>
                  <a:lnTo>
                    <a:pt x="258" y="96"/>
                  </a:lnTo>
                  <a:lnTo>
                    <a:pt x="258" y="102"/>
                  </a:lnTo>
                  <a:lnTo>
                    <a:pt x="258" y="108"/>
                  </a:lnTo>
                  <a:lnTo>
                    <a:pt x="252" y="108"/>
                  </a:lnTo>
                  <a:lnTo>
                    <a:pt x="246" y="108"/>
                  </a:lnTo>
                  <a:lnTo>
                    <a:pt x="240" y="108"/>
                  </a:lnTo>
                  <a:lnTo>
                    <a:pt x="234" y="108"/>
                  </a:lnTo>
                  <a:lnTo>
                    <a:pt x="234" y="114"/>
                  </a:lnTo>
                  <a:lnTo>
                    <a:pt x="234" y="120"/>
                  </a:lnTo>
                  <a:lnTo>
                    <a:pt x="228" y="120"/>
                  </a:lnTo>
                  <a:lnTo>
                    <a:pt x="228" y="114"/>
                  </a:lnTo>
                  <a:lnTo>
                    <a:pt x="228" y="120"/>
                  </a:lnTo>
                  <a:lnTo>
                    <a:pt x="222" y="114"/>
                  </a:lnTo>
                  <a:lnTo>
                    <a:pt x="222" y="120"/>
                  </a:lnTo>
                  <a:lnTo>
                    <a:pt x="222" y="114"/>
                  </a:lnTo>
                  <a:lnTo>
                    <a:pt x="216" y="114"/>
                  </a:lnTo>
                  <a:lnTo>
                    <a:pt x="216" y="108"/>
                  </a:lnTo>
                  <a:lnTo>
                    <a:pt x="210" y="108"/>
                  </a:lnTo>
                  <a:lnTo>
                    <a:pt x="210" y="114"/>
                  </a:lnTo>
                  <a:lnTo>
                    <a:pt x="210" y="108"/>
                  </a:lnTo>
                  <a:lnTo>
                    <a:pt x="204" y="108"/>
                  </a:lnTo>
                  <a:lnTo>
                    <a:pt x="198" y="108"/>
                  </a:lnTo>
                  <a:lnTo>
                    <a:pt x="198" y="114"/>
                  </a:lnTo>
                  <a:lnTo>
                    <a:pt x="192" y="114"/>
                  </a:lnTo>
                  <a:lnTo>
                    <a:pt x="186" y="114"/>
                  </a:lnTo>
                  <a:lnTo>
                    <a:pt x="186" y="120"/>
                  </a:lnTo>
                  <a:lnTo>
                    <a:pt x="186" y="114"/>
                  </a:lnTo>
                  <a:lnTo>
                    <a:pt x="180" y="114"/>
                  </a:lnTo>
                  <a:lnTo>
                    <a:pt x="180" y="120"/>
                  </a:lnTo>
                  <a:lnTo>
                    <a:pt x="180" y="126"/>
                  </a:lnTo>
                  <a:lnTo>
                    <a:pt x="186" y="126"/>
                  </a:lnTo>
                  <a:lnTo>
                    <a:pt x="186" y="132"/>
                  </a:lnTo>
                  <a:lnTo>
                    <a:pt x="186" y="138"/>
                  </a:lnTo>
                  <a:lnTo>
                    <a:pt x="180" y="138"/>
                  </a:lnTo>
                  <a:lnTo>
                    <a:pt x="180" y="144"/>
                  </a:lnTo>
                  <a:lnTo>
                    <a:pt x="180" y="150"/>
                  </a:lnTo>
                  <a:lnTo>
                    <a:pt x="174" y="156"/>
                  </a:lnTo>
                  <a:lnTo>
                    <a:pt x="174" y="150"/>
                  </a:lnTo>
                  <a:lnTo>
                    <a:pt x="174" y="156"/>
                  </a:lnTo>
                  <a:lnTo>
                    <a:pt x="168" y="156"/>
                  </a:lnTo>
                  <a:lnTo>
                    <a:pt x="168" y="162"/>
                  </a:lnTo>
                  <a:lnTo>
                    <a:pt x="168" y="168"/>
                  </a:lnTo>
                  <a:lnTo>
                    <a:pt x="168" y="162"/>
                  </a:lnTo>
                  <a:lnTo>
                    <a:pt x="168" y="168"/>
                  </a:lnTo>
                  <a:lnTo>
                    <a:pt x="168" y="174"/>
                  </a:lnTo>
                  <a:lnTo>
                    <a:pt x="162" y="174"/>
                  </a:lnTo>
                  <a:lnTo>
                    <a:pt x="156" y="174"/>
                  </a:lnTo>
                  <a:lnTo>
                    <a:pt x="150" y="174"/>
                  </a:lnTo>
                  <a:lnTo>
                    <a:pt x="144" y="174"/>
                  </a:lnTo>
                  <a:lnTo>
                    <a:pt x="138" y="174"/>
                  </a:lnTo>
                  <a:lnTo>
                    <a:pt x="138" y="180"/>
                  </a:lnTo>
                  <a:lnTo>
                    <a:pt x="138" y="186"/>
                  </a:lnTo>
                  <a:lnTo>
                    <a:pt x="132" y="186"/>
                  </a:lnTo>
                  <a:lnTo>
                    <a:pt x="132" y="192"/>
                  </a:lnTo>
                  <a:lnTo>
                    <a:pt x="126" y="192"/>
                  </a:lnTo>
                  <a:lnTo>
                    <a:pt x="120" y="192"/>
                  </a:lnTo>
                  <a:lnTo>
                    <a:pt x="120" y="198"/>
                  </a:lnTo>
                  <a:lnTo>
                    <a:pt x="114" y="198"/>
                  </a:lnTo>
                  <a:lnTo>
                    <a:pt x="108" y="198"/>
                  </a:lnTo>
                  <a:lnTo>
                    <a:pt x="108" y="204"/>
                  </a:lnTo>
                  <a:lnTo>
                    <a:pt x="102" y="204"/>
                  </a:lnTo>
                  <a:lnTo>
                    <a:pt x="108" y="204"/>
                  </a:lnTo>
                  <a:lnTo>
                    <a:pt x="102" y="198"/>
                  </a:lnTo>
                  <a:lnTo>
                    <a:pt x="102" y="204"/>
                  </a:lnTo>
                  <a:lnTo>
                    <a:pt x="96" y="204"/>
                  </a:lnTo>
                  <a:lnTo>
                    <a:pt x="96" y="210"/>
                  </a:lnTo>
                  <a:lnTo>
                    <a:pt x="90" y="210"/>
                  </a:lnTo>
                  <a:lnTo>
                    <a:pt x="90" y="216"/>
                  </a:lnTo>
                  <a:lnTo>
                    <a:pt x="84" y="216"/>
                  </a:lnTo>
                  <a:lnTo>
                    <a:pt x="78" y="216"/>
                  </a:lnTo>
                  <a:lnTo>
                    <a:pt x="72" y="216"/>
                  </a:lnTo>
                  <a:lnTo>
                    <a:pt x="66" y="216"/>
                  </a:lnTo>
                  <a:lnTo>
                    <a:pt x="66" y="210"/>
                  </a:lnTo>
                  <a:lnTo>
                    <a:pt x="66" y="216"/>
                  </a:lnTo>
                  <a:lnTo>
                    <a:pt x="60" y="216"/>
                  </a:lnTo>
                  <a:close/>
                </a:path>
              </a:pathLst>
            </a:custGeom>
            <a:solidFill>
              <a:schemeClr val="accent1"/>
            </a:solidFill>
            <a:ln w="9525">
              <a:solidFill>
                <a:srgbClr val="B2B2B2"/>
              </a:solidFill>
              <a:round/>
              <a:headEnd/>
              <a:tailEnd/>
            </a:ln>
          </p:spPr>
          <p:txBody>
            <a:bodyPr/>
            <a:lstStyle/>
            <a:p>
              <a:endParaRPr lang="en-CA"/>
            </a:p>
          </p:txBody>
        </p:sp>
        <p:sp>
          <p:nvSpPr>
            <p:cNvPr id="410" name="Freeform 469"/>
            <p:cNvSpPr>
              <a:spLocks/>
            </p:cNvSpPr>
            <p:nvPr>
              <p:custDataLst>
                <p:tags r:id="rId33"/>
              </p:custDataLst>
            </p:nvPr>
          </p:nvSpPr>
          <p:spPr bwMode="gray">
            <a:xfrm>
              <a:off x="606" y="2856"/>
              <a:ext cx="120" cy="184"/>
            </a:xfrm>
            <a:custGeom>
              <a:avLst/>
              <a:gdLst>
                <a:gd name="T0" fmla="*/ 147320000 w 192"/>
                <a:gd name="T1" fmla="*/ 283337000 h 294"/>
                <a:gd name="T2" fmla="*/ 141427398 w 192"/>
                <a:gd name="T3" fmla="*/ 271530795 h 294"/>
                <a:gd name="T4" fmla="*/ 117856000 w 192"/>
                <a:gd name="T5" fmla="*/ 265628189 h 294"/>
                <a:gd name="T6" fmla="*/ 100177203 w 192"/>
                <a:gd name="T7" fmla="*/ 277434394 h 294"/>
                <a:gd name="T8" fmla="*/ 94284602 w 192"/>
                <a:gd name="T9" fmla="*/ 265628189 h 294"/>
                <a:gd name="T10" fmla="*/ 94284602 w 192"/>
                <a:gd name="T11" fmla="*/ 259725583 h 294"/>
                <a:gd name="T12" fmla="*/ 70713203 w 192"/>
                <a:gd name="T13" fmla="*/ 253822978 h 294"/>
                <a:gd name="T14" fmla="*/ 58928000 w 192"/>
                <a:gd name="T15" fmla="*/ 259725583 h 294"/>
                <a:gd name="T16" fmla="*/ 53035398 w 192"/>
                <a:gd name="T17" fmla="*/ 247919378 h 294"/>
                <a:gd name="T18" fmla="*/ 47142797 w 192"/>
                <a:gd name="T19" fmla="*/ 247919378 h 294"/>
                <a:gd name="T20" fmla="*/ 35356602 w 192"/>
                <a:gd name="T21" fmla="*/ 242016772 h 294"/>
                <a:gd name="T22" fmla="*/ 35356602 w 192"/>
                <a:gd name="T23" fmla="*/ 224307962 h 294"/>
                <a:gd name="T24" fmla="*/ 35356602 w 192"/>
                <a:gd name="T25" fmla="*/ 206600144 h 294"/>
                <a:gd name="T26" fmla="*/ 23571398 w 192"/>
                <a:gd name="T27" fmla="*/ 188891333 h 294"/>
                <a:gd name="T28" fmla="*/ 11785203 w 192"/>
                <a:gd name="T29" fmla="*/ 182988728 h 294"/>
                <a:gd name="T30" fmla="*/ 17678797 w 192"/>
                <a:gd name="T31" fmla="*/ 171182522 h 294"/>
                <a:gd name="T32" fmla="*/ 23571398 w 192"/>
                <a:gd name="T33" fmla="*/ 147571106 h 294"/>
                <a:gd name="T34" fmla="*/ 5892602 w 192"/>
                <a:gd name="T35" fmla="*/ 135765894 h 294"/>
                <a:gd name="T36" fmla="*/ 0 w 192"/>
                <a:gd name="T37" fmla="*/ 112154478 h 294"/>
                <a:gd name="T38" fmla="*/ 17678797 w 192"/>
                <a:gd name="T39" fmla="*/ 100348272 h 294"/>
                <a:gd name="T40" fmla="*/ 11785203 w 192"/>
                <a:gd name="T41" fmla="*/ 88543061 h 294"/>
                <a:gd name="T42" fmla="*/ 23571398 w 192"/>
                <a:gd name="T43" fmla="*/ 94445667 h 294"/>
                <a:gd name="T44" fmla="*/ 23571398 w 192"/>
                <a:gd name="T45" fmla="*/ 100348272 h 294"/>
                <a:gd name="T46" fmla="*/ 41249203 w 192"/>
                <a:gd name="T47" fmla="*/ 100348272 h 294"/>
                <a:gd name="T48" fmla="*/ 29464000 w 192"/>
                <a:gd name="T49" fmla="*/ 82639462 h 294"/>
                <a:gd name="T50" fmla="*/ 17678797 w 192"/>
                <a:gd name="T51" fmla="*/ 76736856 h 294"/>
                <a:gd name="T52" fmla="*/ 5892602 w 192"/>
                <a:gd name="T53" fmla="*/ 59028045 h 294"/>
                <a:gd name="T54" fmla="*/ 17678797 w 192"/>
                <a:gd name="T55" fmla="*/ 53125439 h 294"/>
                <a:gd name="T56" fmla="*/ 17678797 w 192"/>
                <a:gd name="T57" fmla="*/ 47222833 h 294"/>
                <a:gd name="T58" fmla="*/ 17678797 w 192"/>
                <a:gd name="T59" fmla="*/ 23611417 h 294"/>
                <a:gd name="T60" fmla="*/ 17678797 w 192"/>
                <a:gd name="T61" fmla="*/ 0 h 294"/>
                <a:gd name="T62" fmla="*/ 35356602 w 192"/>
                <a:gd name="T63" fmla="*/ 0 h 294"/>
                <a:gd name="T64" fmla="*/ 41249203 w 192"/>
                <a:gd name="T65" fmla="*/ 11805212 h 294"/>
                <a:gd name="T66" fmla="*/ 58928000 w 192"/>
                <a:gd name="T67" fmla="*/ 17708811 h 294"/>
                <a:gd name="T68" fmla="*/ 76605805 w 192"/>
                <a:gd name="T69" fmla="*/ 17708811 h 294"/>
                <a:gd name="T70" fmla="*/ 88392000 w 192"/>
                <a:gd name="T71" fmla="*/ 35416628 h 294"/>
                <a:gd name="T72" fmla="*/ 94284602 w 192"/>
                <a:gd name="T73" fmla="*/ 47222833 h 294"/>
                <a:gd name="T74" fmla="*/ 111963398 w 192"/>
                <a:gd name="T75" fmla="*/ 53125439 h 294"/>
                <a:gd name="T76" fmla="*/ 111963398 w 192"/>
                <a:gd name="T77" fmla="*/ 59028045 h 294"/>
                <a:gd name="T78" fmla="*/ 106069805 w 192"/>
                <a:gd name="T79" fmla="*/ 70834250 h 294"/>
                <a:gd name="T80" fmla="*/ 111963398 w 192"/>
                <a:gd name="T81" fmla="*/ 82639462 h 294"/>
                <a:gd name="T82" fmla="*/ 117856000 w 192"/>
                <a:gd name="T83" fmla="*/ 94445667 h 294"/>
                <a:gd name="T84" fmla="*/ 135533805 w 192"/>
                <a:gd name="T85" fmla="*/ 100348272 h 294"/>
                <a:gd name="T86" fmla="*/ 141427398 w 192"/>
                <a:gd name="T87" fmla="*/ 112154478 h 294"/>
                <a:gd name="T88" fmla="*/ 135533805 w 192"/>
                <a:gd name="T89" fmla="*/ 129862295 h 294"/>
                <a:gd name="T90" fmla="*/ 135533805 w 192"/>
                <a:gd name="T91" fmla="*/ 135765894 h 294"/>
                <a:gd name="T92" fmla="*/ 141427398 w 192"/>
                <a:gd name="T93" fmla="*/ 147571106 h 294"/>
                <a:gd name="T94" fmla="*/ 153212602 w 192"/>
                <a:gd name="T95" fmla="*/ 177085128 h 294"/>
                <a:gd name="T96" fmla="*/ 159105203 w 192"/>
                <a:gd name="T97" fmla="*/ 177085128 h 294"/>
                <a:gd name="T98" fmla="*/ 153212602 w 192"/>
                <a:gd name="T99" fmla="*/ 200696545 h 294"/>
                <a:gd name="T100" fmla="*/ 164997805 w 192"/>
                <a:gd name="T101" fmla="*/ 218405356 h 294"/>
                <a:gd name="T102" fmla="*/ 188569203 w 192"/>
                <a:gd name="T103" fmla="*/ 230211561 h 294"/>
                <a:gd name="T104" fmla="*/ 182676602 w 192"/>
                <a:gd name="T105" fmla="*/ 253822978 h 294"/>
                <a:gd name="T106" fmla="*/ 182676602 w 192"/>
                <a:gd name="T107" fmla="*/ 271530795 h 294"/>
                <a:gd name="T108" fmla="*/ 164997805 w 192"/>
                <a:gd name="T109" fmla="*/ 271530795 h 29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92"/>
                <a:gd name="T166" fmla="*/ 0 h 294"/>
                <a:gd name="T167" fmla="*/ 192 w 192"/>
                <a:gd name="T168" fmla="*/ 294 h 29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92" h="294">
                  <a:moveTo>
                    <a:pt x="162" y="288"/>
                  </a:moveTo>
                  <a:lnTo>
                    <a:pt x="156" y="288"/>
                  </a:lnTo>
                  <a:lnTo>
                    <a:pt x="156" y="294"/>
                  </a:lnTo>
                  <a:lnTo>
                    <a:pt x="156" y="288"/>
                  </a:lnTo>
                  <a:lnTo>
                    <a:pt x="150" y="288"/>
                  </a:lnTo>
                  <a:lnTo>
                    <a:pt x="150" y="282"/>
                  </a:lnTo>
                  <a:lnTo>
                    <a:pt x="150" y="288"/>
                  </a:lnTo>
                  <a:lnTo>
                    <a:pt x="150" y="282"/>
                  </a:lnTo>
                  <a:lnTo>
                    <a:pt x="144" y="282"/>
                  </a:lnTo>
                  <a:lnTo>
                    <a:pt x="144" y="276"/>
                  </a:lnTo>
                  <a:lnTo>
                    <a:pt x="138" y="276"/>
                  </a:lnTo>
                  <a:lnTo>
                    <a:pt x="138" y="270"/>
                  </a:lnTo>
                  <a:lnTo>
                    <a:pt x="132" y="270"/>
                  </a:lnTo>
                  <a:lnTo>
                    <a:pt x="126" y="270"/>
                  </a:lnTo>
                  <a:lnTo>
                    <a:pt x="120" y="270"/>
                  </a:lnTo>
                  <a:lnTo>
                    <a:pt x="114" y="270"/>
                  </a:lnTo>
                  <a:lnTo>
                    <a:pt x="114" y="276"/>
                  </a:lnTo>
                  <a:lnTo>
                    <a:pt x="108" y="276"/>
                  </a:lnTo>
                  <a:lnTo>
                    <a:pt x="102" y="276"/>
                  </a:lnTo>
                  <a:lnTo>
                    <a:pt x="102" y="282"/>
                  </a:lnTo>
                  <a:lnTo>
                    <a:pt x="96" y="282"/>
                  </a:lnTo>
                  <a:lnTo>
                    <a:pt x="90" y="282"/>
                  </a:lnTo>
                  <a:lnTo>
                    <a:pt x="90" y="276"/>
                  </a:lnTo>
                  <a:lnTo>
                    <a:pt x="90" y="270"/>
                  </a:lnTo>
                  <a:lnTo>
                    <a:pt x="96" y="270"/>
                  </a:lnTo>
                  <a:lnTo>
                    <a:pt x="90" y="270"/>
                  </a:lnTo>
                  <a:lnTo>
                    <a:pt x="90" y="264"/>
                  </a:lnTo>
                  <a:lnTo>
                    <a:pt x="96" y="264"/>
                  </a:lnTo>
                  <a:lnTo>
                    <a:pt x="90" y="264"/>
                  </a:lnTo>
                  <a:lnTo>
                    <a:pt x="96" y="264"/>
                  </a:lnTo>
                  <a:lnTo>
                    <a:pt x="96" y="258"/>
                  </a:lnTo>
                  <a:lnTo>
                    <a:pt x="90" y="258"/>
                  </a:lnTo>
                  <a:lnTo>
                    <a:pt x="84" y="258"/>
                  </a:lnTo>
                  <a:lnTo>
                    <a:pt x="78" y="258"/>
                  </a:lnTo>
                  <a:lnTo>
                    <a:pt x="72" y="258"/>
                  </a:lnTo>
                  <a:lnTo>
                    <a:pt x="66" y="258"/>
                  </a:lnTo>
                  <a:lnTo>
                    <a:pt x="66" y="264"/>
                  </a:lnTo>
                  <a:lnTo>
                    <a:pt x="66" y="258"/>
                  </a:lnTo>
                  <a:lnTo>
                    <a:pt x="60" y="258"/>
                  </a:lnTo>
                  <a:lnTo>
                    <a:pt x="60" y="264"/>
                  </a:lnTo>
                  <a:lnTo>
                    <a:pt x="60" y="258"/>
                  </a:lnTo>
                  <a:lnTo>
                    <a:pt x="60" y="264"/>
                  </a:lnTo>
                  <a:lnTo>
                    <a:pt x="60" y="258"/>
                  </a:lnTo>
                  <a:lnTo>
                    <a:pt x="60" y="252"/>
                  </a:lnTo>
                  <a:lnTo>
                    <a:pt x="54" y="252"/>
                  </a:lnTo>
                  <a:lnTo>
                    <a:pt x="54" y="246"/>
                  </a:lnTo>
                  <a:lnTo>
                    <a:pt x="54" y="252"/>
                  </a:lnTo>
                  <a:lnTo>
                    <a:pt x="48" y="252"/>
                  </a:lnTo>
                  <a:lnTo>
                    <a:pt x="42" y="252"/>
                  </a:lnTo>
                  <a:lnTo>
                    <a:pt x="48" y="252"/>
                  </a:lnTo>
                  <a:lnTo>
                    <a:pt x="42" y="252"/>
                  </a:lnTo>
                  <a:lnTo>
                    <a:pt x="36" y="252"/>
                  </a:lnTo>
                  <a:lnTo>
                    <a:pt x="42" y="252"/>
                  </a:lnTo>
                  <a:lnTo>
                    <a:pt x="42" y="246"/>
                  </a:lnTo>
                  <a:lnTo>
                    <a:pt x="36" y="246"/>
                  </a:lnTo>
                  <a:lnTo>
                    <a:pt x="36" y="240"/>
                  </a:lnTo>
                  <a:lnTo>
                    <a:pt x="36" y="234"/>
                  </a:lnTo>
                  <a:lnTo>
                    <a:pt x="42" y="234"/>
                  </a:lnTo>
                  <a:lnTo>
                    <a:pt x="36" y="234"/>
                  </a:lnTo>
                  <a:lnTo>
                    <a:pt x="36" y="228"/>
                  </a:lnTo>
                  <a:lnTo>
                    <a:pt x="36" y="222"/>
                  </a:lnTo>
                  <a:lnTo>
                    <a:pt x="36" y="216"/>
                  </a:lnTo>
                  <a:lnTo>
                    <a:pt x="30" y="216"/>
                  </a:lnTo>
                  <a:lnTo>
                    <a:pt x="36" y="216"/>
                  </a:lnTo>
                  <a:lnTo>
                    <a:pt x="36" y="210"/>
                  </a:lnTo>
                  <a:lnTo>
                    <a:pt x="30" y="210"/>
                  </a:lnTo>
                  <a:lnTo>
                    <a:pt x="30" y="204"/>
                  </a:lnTo>
                  <a:lnTo>
                    <a:pt x="30" y="198"/>
                  </a:lnTo>
                  <a:lnTo>
                    <a:pt x="24" y="198"/>
                  </a:lnTo>
                  <a:lnTo>
                    <a:pt x="24" y="192"/>
                  </a:lnTo>
                  <a:lnTo>
                    <a:pt x="24" y="186"/>
                  </a:lnTo>
                  <a:lnTo>
                    <a:pt x="18" y="186"/>
                  </a:lnTo>
                  <a:lnTo>
                    <a:pt x="12" y="186"/>
                  </a:lnTo>
                  <a:lnTo>
                    <a:pt x="12" y="192"/>
                  </a:lnTo>
                  <a:lnTo>
                    <a:pt x="12" y="186"/>
                  </a:lnTo>
                  <a:lnTo>
                    <a:pt x="12" y="180"/>
                  </a:lnTo>
                  <a:lnTo>
                    <a:pt x="18" y="180"/>
                  </a:lnTo>
                  <a:lnTo>
                    <a:pt x="18" y="174"/>
                  </a:lnTo>
                  <a:lnTo>
                    <a:pt x="12" y="174"/>
                  </a:lnTo>
                  <a:lnTo>
                    <a:pt x="18" y="174"/>
                  </a:lnTo>
                  <a:lnTo>
                    <a:pt x="18" y="168"/>
                  </a:lnTo>
                  <a:lnTo>
                    <a:pt x="18" y="162"/>
                  </a:lnTo>
                  <a:lnTo>
                    <a:pt x="18" y="156"/>
                  </a:lnTo>
                  <a:lnTo>
                    <a:pt x="24" y="156"/>
                  </a:lnTo>
                  <a:lnTo>
                    <a:pt x="24" y="150"/>
                  </a:lnTo>
                  <a:lnTo>
                    <a:pt x="18" y="150"/>
                  </a:lnTo>
                  <a:lnTo>
                    <a:pt x="18" y="144"/>
                  </a:lnTo>
                  <a:lnTo>
                    <a:pt x="12" y="144"/>
                  </a:lnTo>
                  <a:lnTo>
                    <a:pt x="12" y="138"/>
                  </a:lnTo>
                  <a:lnTo>
                    <a:pt x="6" y="138"/>
                  </a:lnTo>
                  <a:lnTo>
                    <a:pt x="6" y="132"/>
                  </a:lnTo>
                  <a:lnTo>
                    <a:pt x="0" y="132"/>
                  </a:lnTo>
                  <a:lnTo>
                    <a:pt x="0" y="126"/>
                  </a:lnTo>
                  <a:lnTo>
                    <a:pt x="0" y="120"/>
                  </a:lnTo>
                  <a:lnTo>
                    <a:pt x="0" y="114"/>
                  </a:lnTo>
                  <a:lnTo>
                    <a:pt x="6" y="114"/>
                  </a:lnTo>
                  <a:lnTo>
                    <a:pt x="6" y="108"/>
                  </a:lnTo>
                  <a:lnTo>
                    <a:pt x="6" y="102"/>
                  </a:lnTo>
                  <a:lnTo>
                    <a:pt x="12" y="102"/>
                  </a:lnTo>
                  <a:lnTo>
                    <a:pt x="18" y="102"/>
                  </a:lnTo>
                  <a:lnTo>
                    <a:pt x="18" y="96"/>
                  </a:lnTo>
                  <a:lnTo>
                    <a:pt x="18" y="102"/>
                  </a:lnTo>
                  <a:lnTo>
                    <a:pt x="18" y="96"/>
                  </a:lnTo>
                  <a:lnTo>
                    <a:pt x="12" y="96"/>
                  </a:lnTo>
                  <a:lnTo>
                    <a:pt x="12" y="90"/>
                  </a:lnTo>
                  <a:lnTo>
                    <a:pt x="12" y="84"/>
                  </a:lnTo>
                  <a:lnTo>
                    <a:pt x="18" y="90"/>
                  </a:lnTo>
                  <a:lnTo>
                    <a:pt x="18" y="96"/>
                  </a:lnTo>
                  <a:lnTo>
                    <a:pt x="18" y="90"/>
                  </a:lnTo>
                  <a:lnTo>
                    <a:pt x="24" y="96"/>
                  </a:lnTo>
                  <a:lnTo>
                    <a:pt x="18" y="96"/>
                  </a:lnTo>
                  <a:lnTo>
                    <a:pt x="24" y="96"/>
                  </a:lnTo>
                  <a:lnTo>
                    <a:pt x="18" y="96"/>
                  </a:lnTo>
                  <a:lnTo>
                    <a:pt x="24" y="96"/>
                  </a:lnTo>
                  <a:lnTo>
                    <a:pt x="24" y="102"/>
                  </a:lnTo>
                  <a:lnTo>
                    <a:pt x="30" y="102"/>
                  </a:lnTo>
                  <a:lnTo>
                    <a:pt x="36" y="102"/>
                  </a:lnTo>
                  <a:lnTo>
                    <a:pt x="36" y="108"/>
                  </a:lnTo>
                  <a:lnTo>
                    <a:pt x="36" y="102"/>
                  </a:lnTo>
                  <a:lnTo>
                    <a:pt x="42" y="102"/>
                  </a:lnTo>
                  <a:lnTo>
                    <a:pt x="36" y="102"/>
                  </a:lnTo>
                  <a:lnTo>
                    <a:pt x="36" y="96"/>
                  </a:lnTo>
                  <a:lnTo>
                    <a:pt x="36" y="90"/>
                  </a:lnTo>
                  <a:lnTo>
                    <a:pt x="30" y="90"/>
                  </a:lnTo>
                  <a:lnTo>
                    <a:pt x="30" y="84"/>
                  </a:lnTo>
                  <a:lnTo>
                    <a:pt x="30" y="78"/>
                  </a:lnTo>
                  <a:lnTo>
                    <a:pt x="24" y="78"/>
                  </a:lnTo>
                  <a:lnTo>
                    <a:pt x="18" y="78"/>
                  </a:lnTo>
                  <a:lnTo>
                    <a:pt x="18" y="72"/>
                  </a:lnTo>
                  <a:lnTo>
                    <a:pt x="18" y="78"/>
                  </a:lnTo>
                  <a:lnTo>
                    <a:pt x="12" y="78"/>
                  </a:lnTo>
                  <a:lnTo>
                    <a:pt x="12" y="72"/>
                  </a:lnTo>
                  <a:lnTo>
                    <a:pt x="6" y="72"/>
                  </a:lnTo>
                  <a:lnTo>
                    <a:pt x="6" y="66"/>
                  </a:lnTo>
                  <a:lnTo>
                    <a:pt x="6" y="60"/>
                  </a:lnTo>
                  <a:lnTo>
                    <a:pt x="6" y="66"/>
                  </a:lnTo>
                  <a:lnTo>
                    <a:pt x="12" y="66"/>
                  </a:lnTo>
                  <a:lnTo>
                    <a:pt x="12" y="60"/>
                  </a:lnTo>
                  <a:lnTo>
                    <a:pt x="12" y="54"/>
                  </a:lnTo>
                  <a:lnTo>
                    <a:pt x="18" y="54"/>
                  </a:lnTo>
                  <a:lnTo>
                    <a:pt x="18" y="48"/>
                  </a:lnTo>
                  <a:lnTo>
                    <a:pt x="18" y="54"/>
                  </a:lnTo>
                  <a:lnTo>
                    <a:pt x="18" y="48"/>
                  </a:lnTo>
                  <a:lnTo>
                    <a:pt x="24" y="48"/>
                  </a:lnTo>
                  <a:lnTo>
                    <a:pt x="18" y="48"/>
                  </a:lnTo>
                  <a:lnTo>
                    <a:pt x="24" y="48"/>
                  </a:lnTo>
                  <a:lnTo>
                    <a:pt x="18" y="42"/>
                  </a:lnTo>
                  <a:lnTo>
                    <a:pt x="18" y="36"/>
                  </a:lnTo>
                  <a:lnTo>
                    <a:pt x="18" y="30"/>
                  </a:lnTo>
                  <a:lnTo>
                    <a:pt x="18" y="24"/>
                  </a:lnTo>
                  <a:lnTo>
                    <a:pt x="18" y="18"/>
                  </a:lnTo>
                  <a:lnTo>
                    <a:pt x="18" y="12"/>
                  </a:lnTo>
                  <a:lnTo>
                    <a:pt x="12" y="6"/>
                  </a:lnTo>
                  <a:lnTo>
                    <a:pt x="18" y="6"/>
                  </a:lnTo>
                  <a:lnTo>
                    <a:pt x="18" y="0"/>
                  </a:lnTo>
                  <a:lnTo>
                    <a:pt x="24" y="0"/>
                  </a:lnTo>
                  <a:lnTo>
                    <a:pt x="30" y="0"/>
                  </a:lnTo>
                  <a:lnTo>
                    <a:pt x="30" y="6"/>
                  </a:lnTo>
                  <a:lnTo>
                    <a:pt x="30" y="0"/>
                  </a:lnTo>
                  <a:lnTo>
                    <a:pt x="36" y="0"/>
                  </a:lnTo>
                  <a:lnTo>
                    <a:pt x="36" y="6"/>
                  </a:lnTo>
                  <a:lnTo>
                    <a:pt x="36" y="12"/>
                  </a:lnTo>
                  <a:lnTo>
                    <a:pt x="42" y="12"/>
                  </a:lnTo>
                  <a:lnTo>
                    <a:pt x="36" y="12"/>
                  </a:lnTo>
                  <a:lnTo>
                    <a:pt x="42" y="12"/>
                  </a:lnTo>
                  <a:lnTo>
                    <a:pt x="42" y="18"/>
                  </a:lnTo>
                  <a:lnTo>
                    <a:pt x="42" y="12"/>
                  </a:lnTo>
                  <a:lnTo>
                    <a:pt x="48" y="12"/>
                  </a:lnTo>
                  <a:lnTo>
                    <a:pt x="54" y="12"/>
                  </a:lnTo>
                  <a:lnTo>
                    <a:pt x="60" y="18"/>
                  </a:lnTo>
                  <a:lnTo>
                    <a:pt x="60" y="12"/>
                  </a:lnTo>
                  <a:lnTo>
                    <a:pt x="60" y="18"/>
                  </a:lnTo>
                  <a:lnTo>
                    <a:pt x="66" y="18"/>
                  </a:lnTo>
                  <a:lnTo>
                    <a:pt x="72" y="18"/>
                  </a:lnTo>
                  <a:lnTo>
                    <a:pt x="78" y="18"/>
                  </a:lnTo>
                  <a:lnTo>
                    <a:pt x="78" y="24"/>
                  </a:lnTo>
                  <a:lnTo>
                    <a:pt x="78" y="30"/>
                  </a:lnTo>
                  <a:lnTo>
                    <a:pt x="84" y="30"/>
                  </a:lnTo>
                  <a:lnTo>
                    <a:pt x="84" y="36"/>
                  </a:lnTo>
                  <a:lnTo>
                    <a:pt x="90" y="36"/>
                  </a:lnTo>
                  <a:lnTo>
                    <a:pt x="90" y="42"/>
                  </a:lnTo>
                  <a:lnTo>
                    <a:pt x="96" y="36"/>
                  </a:lnTo>
                  <a:lnTo>
                    <a:pt x="96" y="42"/>
                  </a:lnTo>
                  <a:lnTo>
                    <a:pt x="102" y="42"/>
                  </a:lnTo>
                  <a:lnTo>
                    <a:pt x="96" y="48"/>
                  </a:lnTo>
                  <a:lnTo>
                    <a:pt x="102" y="48"/>
                  </a:lnTo>
                  <a:lnTo>
                    <a:pt x="102" y="54"/>
                  </a:lnTo>
                  <a:lnTo>
                    <a:pt x="108" y="48"/>
                  </a:lnTo>
                  <a:lnTo>
                    <a:pt x="108" y="54"/>
                  </a:lnTo>
                  <a:lnTo>
                    <a:pt x="114" y="54"/>
                  </a:lnTo>
                  <a:lnTo>
                    <a:pt x="114" y="48"/>
                  </a:lnTo>
                  <a:lnTo>
                    <a:pt x="114" y="54"/>
                  </a:lnTo>
                  <a:lnTo>
                    <a:pt x="114" y="60"/>
                  </a:lnTo>
                  <a:lnTo>
                    <a:pt x="120" y="60"/>
                  </a:lnTo>
                  <a:lnTo>
                    <a:pt x="114" y="60"/>
                  </a:lnTo>
                  <a:lnTo>
                    <a:pt x="114" y="66"/>
                  </a:lnTo>
                  <a:lnTo>
                    <a:pt x="108" y="66"/>
                  </a:lnTo>
                  <a:lnTo>
                    <a:pt x="102" y="66"/>
                  </a:lnTo>
                  <a:lnTo>
                    <a:pt x="102" y="72"/>
                  </a:lnTo>
                  <a:lnTo>
                    <a:pt x="108" y="72"/>
                  </a:lnTo>
                  <a:lnTo>
                    <a:pt x="108" y="78"/>
                  </a:lnTo>
                  <a:lnTo>
                    <a:pt x="102" y="78"/>
                  </a:lnTo>
                  <a:lnTo>
                    <a:pt x="102" y="84"/>
                  </a:lnTo>
                  <a:lnTo>
                    <a:pt x="108" y="84"/>
                  </a:lnTo>
                  <a:lnTo>
                    <a:pt x="114" y="84"/>
                  </a:lnTo>
                  <a:lnTo>
                    <a:pt x="120" y="84"/>
                  </a:lnTo>
                  <a:lnTo>
                    <a:pt x="120" y="90"/>
                  </a:lnTo>
                  <a:lnTo>
                    <a:pt x="114" y="90"/>
                  </a:lnTo>
                  <a:lnTo>
                    <a:pt x="114" y="96"/>
                  </a:lnTo>
                  <a:lnTo>
                    <a:pt x="120" y="96"/>
                  </a:lnTo>
                  <a:lnTo>
                    <a:pt x="126" y="96"/>
                  </a:lnTo>
                  <a:lnTo>
                    <a:pt x="132" y="102"/>
                  </a:lnTo>
                  <a:lnTo>
                    <a:pt x="132" y="96"/>
                  </a:lnTo>
                  <a:lnTo>
                    <a:pt x="138" y="96"/>
                  </a:lnTo>
                  <a:lnTo>
                    <a:pt x="138" y="102"/>
                  </a:lnTo>
                  <a:lnTo>
                    <a:pt x="144" y="102"/>
                  </a:lnTo>
                  <a:lnTo>
                    <a:pt x="144" y="108"/>
                  </a:lnTo>
                  <a:lnTo>
                    <a:pt x="138" y="108"/>
                  </a:lnTo>
                  <a:lnTo>
                    <a:pt x="144" y="108"/>
                  </a:lnTo>
                  <a:lnTo>
                    <a:pt x="144" y="114"/>
                  </a:lnTo>
                  <a:lnTo>
                    <a:pt x="138" y="120"/>
                  </a:lnTo>
                  <a:lnTo>
                    <a:pt x="144" y="120"/>
                  </a:lnTo>
                  <a:lnTo>
                    <a:pt x="150" y="120"/>
                  </a:lnTo>
                  <a:lnTo>
                    <a:pt x="144" y="132"/>
                  </a:lnTo>
                  <a:lnTo>
                    <a:pt x="138" y="132"/>
                  </a:lnTo>
                  <a:lnTo>
                    <a:pt x="144" y="132"/>
                  </a:lnTo>
                  <a:lnTo>
                    <a:pt x="144" y="138"/>
                  </a:lnTo>
                  <a:lnTo>
                    <a:pt x="138" y="138"/>
                  </a:lnTo>
                  <a:lnTo>
                    <a:pt x="144" y="138"/>
                  </a:lnTo>
                  <a:lnTo>
                    <a:pt x="138" y="138"/>
                  </a:lnTo>
                  <a:lnTo>
                    <a:pt x="138" y="144"/>
                  </a:lnTo>
                  <a:lnTo>
                    <a:pt x="144" y="144"/>
                  </a:lnTo>
                  <a:lnTo>
                    <a:pt x="138" y="144"/>
                  </a:lnTo>
                  <a:lnTo>
                    <a:pt x="144" y="144"/>
                  </a:lnTo>
                  <a:lnTo>
                    <a:pt x="144" y="150"/>
                  </a:lnTo>
                  <a:lnTo>
                    <a:pt x="156" y="156"/>
                  </a:lnTo>
                  <a:lnTo>
                    <a:pt x="150" y="162"/>
                  </a:lnTo>
                  <a:lnTo>
                    <a:pt x="150" y="174"/>
                  </a:lnTo>
                  <a:lnTo>
                    <a:pt x="150" y="180"/>
                  </a:lnTo>
                  <a:lnTo>
                    <a:pt x="156" y="180"/>
                  </a:lnTo>
                  <a:lnTo>
                    <a:pt x="162" y="180"/>
                  </a:lnTo>
                  <a:lnTo>
                    <a:pt x="168" y="180"/>
                  </a:lnTo>
                  <a:lnTo>
                    <a:pt x="162" y="180"/>
                  </a:lnTo>
                  <a:lnTo>
                    <a:pt x="168" y="180"/>
                  </a:lnTo>
                  <a:lnTo>
                    <a:pt x="162" y="180"/>
                  </a:lnTo>
                  <a:lnTo>
                    <a:pt x="162" y="186"/>
                  </a:lnTo>
                  <a:lnTo>
                    <a:pt x="162" y="192"/>
                  </a:lnTo>
                  <a:lnTo>
                    <a:pt x="156" y="192"/>
                  </a:lnTo>
                  <a:lnTo>
                    <a:pt x="156" y="198"/>
                  </a:lnTo>
                  <a:lnTo>
                    <a:pt x="156" y="204"/>
                  </a:lnTo>
                  <a:lnTo>
                    <a:pt x="162" y="204"/>
                  </a:lnTo>
                  <a:lnTo>
                    <a:pt x="168" y="204"/>
                  </a:lnTo>
                  <a:lnTo>
                    <a:pt x="168" y="210"/>
                  </a:lnTo>
                  <a:lnTo>
                    <a:pt x="168" y="216"/>
                  </a:lnTo>
                  <a:lnTo>
                    <a:pt x="168" y="222"/>
                  </a:lnTo>
                  <a:lnTo>
                    <a:pt x="174" y="222"/>
                  </a:lnTo>
                  <a:lnTo>
                    <a:pt x="174" y="228"/>
                  </a:lnTo>
                  <a:lnTo>
                    <a:pt x="180" y="234"/>
                  </a:lnTo>
                  <a:lnTo>
                    <a:pt x="186" y="234"/>
                  </a:lnTo>
                  <a:lnTo>
                    <a:pt x="192" y="234"/>
                  </a:lnTo>
                  <a:lnTo>
                    <a:pt x="186" y="234"/>
                  </a:lnTo>
                  <a:lnTo>
                    <a:pt x="186" y="240"/>
                  </a:lnTo>
                  <a:lnTo>
                    <a:pt x="186" y="246"/>
                  </a:lnTo>
                  <a:lnTo>
                    <a:pt x="186" y="252"/>
                  </a:lnTo>
                  <a:lnTo>
                    <a:pt x="186" y="258"/>
                  </a:lnTo>
                  <a:lnTo>
                    <a:pt x="180" y="258"/>
                  </a:lnTo>
                  <a:lnTo>
                    <a:pt x="180" y="264"/>
                  </a:lnTo>
                  <a:lnTo>
                    <a:pt x="186" y="264"/>
                  </a:lnTo>
                  <a:lnTo>
                    <a:pt x="186" y="270"/>
                  </a:lnTo>
                  <a:lnTo>
                    <a:pt x="186" y="276"/>
                  </a:lnTo>
                  <a:lnTo>
                    <a:pt x="186" y="282"/>
                  </a:lnTo>
                  <a:lnTo>
                    <a:pt x="180" y="282"/>
                  </a:lnTo>
                  <a:lnTo>
                    <a:pt x="174" y="282"/>
                  </a:lnTo>
                  <a:lnTo>
                    <a:pt x="174" y="276"/>
                  </a:lnTo>
                  <a:lnTo>
                    <a:pt x="168" y="276"/>
                  </a:lnTo>
                  <a:lnTo>
                    <a:pt x="168" y="282"/>
                  </a:lnTo>
                  <a:lnTo>
                    <a:pt x="162" y="288"/>
                  </a:lnTo>
                  <a:close/>
                </a:path>
              </a:pathLst>
            </a:custGeom>
            <a:solidFill>
              <a:schemeClr val="accent1"/>
            </a:solidFill>
            <a:ln w="9525">
              <a:solidFill>
                <a:srgbClr val="B2B2B2"/>
              </a:solidFill>
              <a:round/>
              <a:headEnd/>
              <a:tailEnd/>
            </a:ln>
          </p:spPr>
          <p:txBody>
            <a:bodyPr/>
            <a:lstStyle/>
            <a:p>
              <a:endParaRPr lang="en-CA"/>
            </a:p>
          </p:txBody>
        </p:sp>
        <p:sp>
          <p:nvSpPr>
            <p:cNvPr id="411" name="Freeform 470"/>
            <p:cNvSpPr>
              <a:spLocks/>
            </p:cNvSpPr>
            <p:nvPr>
              <p:custDataLst>
                <p:tags r:id="rId34"/>
              </p:custDataLst>
            </p:nvPr>
          </p:nvSpPr>
          <p:spPr bwMode="gray">
            <a:xfrm>
              <a:off x="703" y="2863"/>
              <a:ext cx="216" cy="173"/>
            </a:xfrm>
            <a:custGeom>
              <a:avLst/>
              <a:gdLst>
                <a:gd name="T0" fmla="*/ 320206523 w 348"/>
                <a:gd name="T1" fmla="*/ 172271034 h 276"/>
                <a:gd name="T2" fmla="*/ 296918884 w 348"/>
                <a:gd name="T3" fmla="*/ 172271034 h 276"/>
                <a:gd name="T4" fmla="*/ 285275064 w 348"/>
                <a:gd name="T5" fmla="*/ 184152069 h 276"/>
                <a:gd name="T6" fmla="*/ 279453647 w 348"/>
                <a:gd name="T7" fmla="*/ 190092587 h 276"/>
                <a:gd name="T8" fmla="*/ 273631244 w 348"/>
                <a:gd name="T9" fmla="*/ 196033104 h 276"/>
                <a:gd name="T10" fmla="*/ 250343604 w 348"/>
                <a:gd name="T11" fmla="*/ 207913145 h 276"/>
                <a:gd name="T12" fmla="*/ 221233562 w 348"/>
                <a:gd name="T13" fmla="*/ 213853663 h 276"/>
                <a:gd name="T14" fmla="*/ 203768325 w 348"/>
                <a:gd name="T15" fmla="*/ 207913145 h 276"/>
                <a:gd name="T16" fmla="*/ 203768325 w 348"/>
                <a:gd name="T17" fmla="*/ 231675216 h 276"/>
                <a:gd name="T18" fmla="*/ 197945922 w 348"/>
                <a:gd name="T19" fmla="*/ 237615733 h 276"/>
                <a:gd name="T20" fmla="*/ 192124505 w 348"/>
                <a:gd name="T21" fmla="*/ 243556251 h 276"/>
                <a:gd name="T22" fmla="*/ 174658283 w 348"/>
                <a:gd name="T23" fmla="*/ 243556251 h 276"/>
                <a:gd name="T24" fmla="*/ 151370643 w 348"/>
                <a:gd name="T25" fmla="*/ 243556251 h 276"/>
                <a:gd name="T26" fmla="*/ 145548241 w 348"/>
                <a:gd name="T27" fmla="*/ 237615733 h 276"/>
                <a:gd name="T28" fmla="*/ 128083003 w 348"/>
                <a:gd name="T29" fmla="*/ 249495774 h 276"/>
                <a:gd name="T30" fmla="*/ 110616781 w 348"/>
                <a:gd name="T31" fmla="*/ 267317327 h 276"/>
                <a:gd name="T32" fmla="*/ 81506739 w 348"/>
                <a:gd name="T33" fmla="*/ 267317327 h 276"/>
                <a:gd name="T34" fmla="*/ 64041502 w 348"/>
                <a:gd name="T35" fmla="*/ 267317327 h 276"/>
                <a:gd name="T36" fmla="*/ 58219099 w 348"/>
                <a:gd name="T37" fmla="*/ 273257845 h 276"/>
                <a:gd name="T38" fmla="*/ 46575279 w 348"/>
                <a:gd name="T39" fmla="*/ 267317327 h 276"/>
                <a:gd name="T40" fmla="*/ 29110042 w 348"/>
                <a:gd name="T41" fmla="*/ 261376809 h 276"/>
                <a:gd name="T42" fmla="*/ 29110042 w 348"/>
                <a:gd name="T43" fmla="*/ 237615733 h 276"/>
                <a:gd name="T44" fmla="*/ 23287640 w 348"/>
                <a:gd name="T45" fmla="*/ 219794180 h 276"/>
                <a:gd name="T46" fmla="*/ 11643820 w 348"/>
                <a:gd name="T47" fmla="*/ 190092587 h 276"/>
                <a:gd name="T48" fmla="*/ 5822403 w 348"/>
                <a:gd name="T49" fmla="*/ 172271034 h 276"/>
                <a:gd name="T50" fmla="*/ 11643820 w 348"/>
                <a:gd name="T51" fmla="*/ 166330516 h 276"/>
                <a:gd name="T52" fmla="*/ 34931459 w 348"/>
                <a:gd name="T53" fmla="*/ 166330516 h 276"/>
                <a:gd name="T54" fmla="*/ 52397682 w 348"/>
                <a:gd name="T55" fmla="*/ 154450475 h 276"/>
                <a:gd name="T56" fmla="*/ 64041502 w 348"/>
                <a:gd name="T57" fmla="*/ 142569440 h 276"/>
                <a:gd name="T58" fmla="*/ 81506739 w 348"/>
                <a:gd name="T59" fmla="*/ 124747887 h 276"/>
                <a:gd name="T60" fmla="*/ 110616781 w 348"/>
                <a:gd name="T61" fmla="*/ 118807369 h 276"/>
                <a:gd name="T62" fmla="*/ 116439184 w 348"/>
                <a:gd name="T63" fmla="*/ 100986811 h 276"/>
                <a:gd name="T64" fmla="*/ 128083003 w 348"/>
                <a:gd name="T65" fmla="*/ 83165258 h 276"/>
                <a:gd name="T66" fmla="*/ 128083003 w 348"/>
                <a:gd name="T67" fmla="*/ 71284222 h 276"/>
                <a:gd name="T68" fmla="*/ 151370643 w 348"/>
                <a:gd name="T69" fmla="*/ 59404182 h 276"/>
                <a:gd name="T70" fmla="*/ 163014463 w 348"/>
                <a:gd name="T71" fmla="*/ 71284222 h 276"/>
                <a:gd name="T72" fmla="*/ 174658283 w 348"/>
                <a:gd name="T73" fmla="*/ 65344700 h 276"/>
                <a:gd name="T74" fmla="*/ 197945922 w 348"/>
                <a:gd name="T75" fmla="*/ 53463664 h 276"/>
                <a:gd name="T76" fmla="*/ 215412145 w 348"/>
                <a:gd name="T77" fmla="*/ 35642111 h 276"/>
                <a:gd name="T78" fmla="*/ 227055965 w 348"/>
                <a:gd name="T79" fmla="*/ 35642111 h 276"/>
                <a:gd name="T80" fmla="*/ 256166007 w 348"/>
                <a:gd name="T81" fmla="*/ 29701594 h 276"/>
                <a:gd name="T82" fmla="*/ 267809827 w 348"/>
                <a:gd name="T83" fmla="*/ 5940518 h 276"/>
                <a:gd name="T84" fmla="*/ 285275064 w 348"/>
                <a:gd name="T85" fmla="*/ 11881035 h 276"/>
                <a:gd name="T86" fmla="*/ 302741286 w 348"/>
                <a:gd name="T87" fmla="*/ 41582629 h 276"/>
                <a:gd name="T88" fmla="*/ 291097466 w 348"/>
                <a:gd name="T89" fmla="*/ 53463664 h 276"/>
                <a:gd name="T90" fmla="*/ 296918884 w 348"/>
                <a:gd name="T91" fmla="*/ 65344700 h 276"/>
                <a:gd name="T92" fmla="*/ 302741286 w 348"/>
                <a:gd name="T93" fmla="*/ 77224740 h 276"/>
                <a:gd name="T94" fmla="*/ 291097466 w 348"/>
                <a:gd name="T95" fmla="*/ 89105776 h 276"/>
                <a:gd name="T96" fmla="*/ 291097466 w 348"/>
                <a:gd name="T97" fmla="*/ 95046293 h 276"/>
                <a:gd name="T98" fmla="*/ 302741286 w 348"/>
                <a:gd name="T99" fmla="*/ 106927329 h 276"/>
                <a:gd name="T100" fmla="*/ 314385106 w 348"/>
                <a:gd name="T101" fmla="*/ 112867847 h 276"/>
                <a:gd name="T102" fmla="*/ 320206523 w 348"/>
                <a:gd name="T103" fmla="*/ 130688405 h 276"/>
                <a:gd name="T104" fmla="*/ 331850343 w 348"/>
                <a:gd name="T105" fmla="*/ 136628922 h 276"/>
                <a:gd name="T106" fmla="*/ 331850343 w 348"/>
                <a:gd name="T107" fmla="*/ 160389998 h 276"/>
                <a:gd name="T108" fmla="*/ 331850343 w 348"/>
                <a:gd name="T109" fmla="*/ 178211551 h 27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48"/>
                <a:gd name="T166" fmla="*/ 0 h 276"/>
                <a:gd name="T167" fmla="*/ 348 w 348"/>
                <a:gd name="T168" fmla="*/ 276 h 27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48" h="276">
                  <a:moveTo>
                    <a:pt x="342" y="180"/>
                  </a:moveTo>
                  <a:lnTo>
                    <a:pt x="336" y="180"/>
                  </a:lnTo>
                  <a:lnTo>
                    <a:pt x="336" y="186"/>
                  </a:lnTo>
                  <a:lnTo>
                    <a:pt x="330" y="186"/>
                  </a:lnTo>
                  <a:lnTo>
                    <a:pt x="330" y="180"/>
                  </a:lnTo>
                  <a:lnTo>
                    <a:pt x="330" y="174"/>
                  </a:lnTo>
                  <a:lnTo>
                    <a:pt x="324" y="174"/>
                  </a:lnTo>
                  <a:lnTo>
                    <a:pt x="324" y="168"/>
                  </a:lnTo>
                  <a:lnTo>
                    <a:pt x="318" y="168"/>
                  </a:lnTo>
                  <a:lnTo>
                    <a:pt x="312" y="168"/>
                  </a:lnTo>
                  <a:lnTo>
                    <a:pt x="306" y="168"/>
                  </a:lnTo>
                  <a:lnTo>
                    <a:pt x="306" y="174"/>
                  </a:lnTo>
                  <a:lnTo>
                    <a:pt x="312" y="174"/>
                  </a:lnTo>
                  <a:lnTo>
                    <a:pt x="306" y="174"/>
                  </a:lnTo>
                  <a:lnTo>
                    <a:pt x="306" y="180"/>
                  </a:lnTo>
                  <a:lnTo>
                    <a:pt x="300" y="180"/>
                  </a:lnTo>
                  <a:lnTo>
                    <a:pt x="294" y="180"/>
                  </a:lnTo>
                  <a:lnTo>
                    <a:pt x="294" y="186"/>
                  </a:lnTo>
                  <a:lnTo>
                    <a:pt x="294" y="180"/>
                  </a:lnTo>
                  <a:lnTo>
                    <a:pt x="288" y="180"/>
                  </a:lnTo>
                  <a:lnTo>
                    <a:pt x="288" y="186"/>
                  </a:lnTo>
                  <a:lnTo>
                    <a:pt x="294" y="186"/>
                  </a:lnTo>
                  <a:lnTo>
                    <a:pt x="294" y="192"/>
                  </a:lnTo>
                  <a:lnTo>
                    <a:pt x="288" y="192"/>
                  </a:lnTo>
                  <a:lnTo>
                    <a:pt x="294" y="192"/>
                  </a:lnTo>
                  <a:lnTo>
                    <a:pt x="288" y="192"/>
                  </a:lnTo>
                  <a:lnTo>
                    <a:pt x="288" y="198"/>
                  </a:lnTo>
                  <a:lnTo>
                    <a:pt x="288" y="204"/>
                  </a:lnTo>
                  <a:lnTo>
                    <a:pt x="282" y="204"/>
                  </a:lnTo>
                  <a:lnTo>
                    <a:pt x="282" y="198"/>
                  </a:lnTo>
                  <a:lnTo>
                    <a:pt x="276" y="198"/>
                  </a:lnTo>
                  <a:lnTo>
                    <a:pt x="270" y="198"/>
                  </a:lnTo>
                  <a:lnTo>
                    <a:pt x="270" y="204"/>
                  </a:lnTo>
                  <a:lnTo>
                    <a:pt x="264" y="204"/>
                  </a:lnTo>
                  <a:lnTo>
                    <a:pt x="264" y="210"/>
                  </a:lnTo>
                  <a:lnTo>
                    <a:pt x="258" y="210"/>
                  </a:lnTo>
                  <a:lnTo>
                    <a:pt x="252" y="210"/>
                  </a:lnTo>
                  <a:lnTo>
                    <a:pt x="246" y="210"/>
                  </a:lnTo>
                  <a:lnTo>
                    <a:pt x="246" y="216"/>
                  </a:lnTo>
                  <a:lnTo>
                    <a:pt x="240" y="216"/>
                  </a:lnTo>
                  <a:lnTo>
                    <a:pt x="234" y="216"/>
                  </a:lnTo>
                  <a:lnTo>
                    <a:pt x="228" y="216"/>
                  </a:lnTo>
                  <a:lnTo>
                    <a:pt x="228" y="210"/>
                  </a:lnTo>
                  <a:lnTo>
                    <a:pt x="222" y="210"/>
                  </a:lnTo>
                  <a:lnTo>
                    <a:pt x="216" y="210"/>
                  </a:lnTo>
                  <a:lnTo>
                    <a:pt x="210" y="210"/>
                  </a:lnTo>
                  <a:lnTo>
                    <a:pt x="216" y="210"/>
                  </a:lnTo>
                  <a:lnTo>
                    <a:pt x="210" y="210"/>
                  </a:lnTo>
                  <a:lnTo>
                    <a:pt x="210" y="216"/>
                  </a:lnTo>
                  <a:lnTo>
                    <a:pt x="216" y="216"/>
                  </a:lnTo>
                  <a:lnTo>
                    <a:pt x="216" y="222"/>
                  </a:lnTo>
                  <a:lnTo>
                    <a:pt x="216" y="228"/>
                  </a:lnTo>
                  <a:lnTo>
                    <a:pt x="210" y="228"/>
                  </a:lnTo>
                  <a:lnTo>
                    <a:pt x="210" y="234"/>
                  </a:lnTo>
                  <a:lnTo>
                    <a:pt x="204" y="234"/>
                  </a:lnTo>
                  <a:lnTo>
                    <a:pt x="210" y="234"/>
                  </a:lnTo>
                  <a:lnTo>
                    <a:pt x="204" y="234"/>
                  </a:lnTo>
                  <a:lnTo>
                    <a:pt x="204" y="240"/>
                  </a:lnTo>
                  <a:lnTo>
                    <a:pt x="210" y="240"/>
                  </a:lnTo>
                  <a:lnTo>
                    <a:pt x="204" y="240"/>
                  </a:lnTo>
                  <a:lnTo>
                    <a:pt x="204" y="246"/>
                  </a:lnTo>
                  <a:lnTo>
                    <a:pt x="204" y="240"/>
                  </a:lnTo>
                  <a:lnTo>
                    <a:pt x="204" y="246"/>
                  </a:lnTo>
                  <a:lnTo>
                    <a:pt x="198" y="246"/>
                  </a:lnTo>
                  <a:lnTo>
                    <a:pt x="198" y="252"/>
                  </a:lnTo>
                  <a:lnTo>
                    <a:pt x="198" y="246"/>
                  </a:lnTo>
                  <a:lnTo>
                    <a:pt x="192" y="246"/>
                  </a:lnTo>
                  <a:lnTo>
                    <a:pt x="192" y="252"/>
                  </a:lnTo>
                  <a:lnTo>
                    <a:pt x="192" y="246"/>
                  </a:lnTo>
                  <a:lnTo>
                    <a:pt x="186" y="252"/>
                  </a:lnTo>
                  <a:lnTo>
                    <a:pt x="180" y="252"/>
                  </a:lnTo>
                  <a:lnTo>
                    <a:pt x="180" y="246"/>
                  </a:lnTo>
                  <a:lnTo>
                    <a:pt x="180" y="252"/>
                  </a:lnTo>
                  <a:lnTo>
                    <a:pt x="174" y="252"/>
                  </a:lnTo>
                  <a:lnTo>
                    <a:pt x="168" y="252"/>
                  </a:lnTo>
                  <a:lnTo>
                    <a:pt x="168" y="246"/>
                  </a:lnTo>
                  <a:lnTo>
                    <a:pt x="162" y="246"/>
                  </a:lnTo>
                  <a:lnTo>
                    <a:pt x="156" y="246"/>
                  </a:lnTo>
                  <a:lnTo>
                    <a:pt x="156" y="240"/>
                  </a:lnTo>
                  <a:lnTo>
                    <a:pt x="156" y="246"/>
                  </a:lnTo>
                  <a:lnTo>
                    <a:pt x="156" y="240"/>
                  </a:lnTo>
                  <a:lnTo>
                    <a:pt x="150" y="240"/>
                  </a:lnTo>
                  <a:lnTo>
                    <a:pt x="150" y="246"/>
                  </a:lnTo>
                  <a:lnTo>
                    <a:pt x="150" y="240"/>
                  </a:lnTo>
                  <a:lnTo>
                    <a:pt x="144" y="246"/>
                  </a:lnTo>
                  <a:lnTo>
                    <a:pt x="144" y="240"/>
                  </a:lnTo>
                  <a:lnTo>
                    <a:pt x="138" y="240"/>
                  </a:lnTo>
                  <a:lnTo>
                    <a:pt x="138" y="246"/>
                  </a:lnTo>
                  <a:lnTo>
                    <a:pt x="138" y="252"/>
                  </a:lnTo>
                  <a:lnTo>
                    <a:pt x="132" y="252"/>
                  </a:lnTo>
                  <a:lnTo>
                    <a:pt x="132" y="258"/>
                  </a:lnTo>
                  <a:lnTo>
                    <a:pt x="126" y="258"/>
                  </a:lnTo>
                  <a:lnTo>
                    <a:pt x="126" y="264"/>
                  </a:lnTo>
                  <a:lnTo>
                    <a:pt x="120" y="264"/>
                  </a:lnTo>
                  <a:lnTo>
                    <a:pt x="120" y="270"/>
                  </a:lnTo>
                  <a:lnTo>
                    <a:pt x="114" y="270"/>
                  </a:lnTo>
                  <a:lnTo>
                    <a:pt x="108" y="270"/>
                  </a:lnTo>
                  <a:lnTo>
                    <a:pt x="108" y="276"/>
                  </a:lnTo>
                  <a:lnTo>
                    <a:pt x="102" y="276"/>
                  </a:lnTo>
                  <a:lnTo>
                    <a:pt x="96" y="276"/>
                  </a:lnTo>
                  <a:lnTo>
                    <a:pt x="90" y="276"/>
                  </a:lnTo>
                  <a:lnTo>
                    <a:pt x="84" y="270"/>
                  </a:lnTo>
                  <a:lnTo>
                    <a:pt x="78" y="270"/>
                  </a:lnTo>
                  <a:lnTo>
                    <a:pt x="78" y="276"/>
                  </a:lnTo>
                  <a:lnTo>
                    <a:pt x="78" y="270"/>
                  </a:lnTo>
                  <a:lnTo>
                    <a:pt x="78" y="276"/>
                  </a:lnTo>
                  <a:lnTo>
                    <a:pt x="72" y="270"/>
                  </a:lnTo>
                  <a:lnTo>
                    <a:pt x="66" y="270"/>
                  </a:lnTo>
                  <a:lnTo>
                    <a:pt x="66" y="276"/>
                  </a:lnTo>
                  <a:lnTo>
                    <a:pt x="66" y="270"/>
                  </a:lnTo>
                  <a:lnTo>
                    <a:pt x="60" y="270"/>
                  </a:lnTo>
                  <a:lnTo>
                    <a:pt x="60" y="276"/>
                  </a:lnTo>
                  <a:lnTo>
                    <a:pt x="60" y="270"/>
                  </a:lnTo>
                  <a:lnTo>
                    <a:pt x="60" y="276"/>
                  </a:lnTo>
                  <a:lnTo>
                    <a:pt x="54" y="276"/>
                  </a:lnTo>
                  <a:lnTo>
                    <a:pt x="54" y="270"/>
                  </a:lnTo>
                  <a:lnTo>
                    <a:pt x="60" y="270"/>
                  </a:lnTo>
                  <a:lnTo>
                    <a:pt x="54" y="264"/>
                  </a:lnTo>
                  <a:lnTo>
                    <a:pt x="48" y="264"/>
                  </a:lnTo>
                  <a:lnTo>
                    <a:pt x="48" y="270"/>
                  </a:lnTo>
                  <a:lnTo>
                    <a:pt x="42" y="270"/>
                  </a:lnTo>
                  <a:lnTo>
                    <a:pt x="48" y="270"/>
                  </a:lnTo>
                  <a:lnTo>
                    <a:pt x="42" y="270"/>
                  </a:lnTo>
                  <a:lnTo>
                    <a:pt x="36" y="270"/>
                  </a:lnTo>
                  <a:lnTo>
                    <a:pt x="30" y="270"/>
                  </a:lnTo>
                  <a:lnTo>
                    <a:pt x="30" y="264"/>
                  </a:lnTo>
                  <a:lnTo>
                    <a:pt x="30" y="258"/>
                  </a:lnTo>
                  <a:lnTo>
                    <a:pt x="30" y="252"/>
                  </a:lnTo>
                  <a:lnTo>
                    <a:pt x="24" y="252"/>
                  </a:lnTo>
                  <a:lnTo>
                    <a:pt x="24" y="246"/>
                  </a:lnTo>
                  <a:lnTo>
                    <a:pt x="30" y="246"/>
                  </a:lnTo>
                  <a:lnTo>
                    <a:pt x="30" y="240"/>
                  </a:lnTo>
                  <a:lnTo>
                    <a:pt x="30" y="234"/>
                  </a:lnTo>
                  <a:lnTo>
                    <a:pt x="30" y="228"/>
                  </a:lnTo>
                  <a:lnTo>
                    <a:pt x="30" y="222"/>
                  </a:lnTo>
                  <a:lnTo>
                    <a:pt x="36" y="222"/>
                  </a:lnTo>
                  <a:lnTo>
                    <a:pt x="30" y="222"/>
                  </a:lnTo>
                  <a:lnTo>
                    <a:pt x="24" y="222"/>
                  </a:lnTo>
                  <a:lnTo>
                    <a:pt x="18" y="216"/>
                  </a:lnTo>
                  <a:lnTo>
                    <a:pt x="18" y="210"/>
                  </a:lnTo>
                  <a:lnTo>
                    <a:pt x="12" y="210"/>
                  </a:lnTo>
                  <a:lnTo>
                    <a:pt x="12" y="204"/>
                  </a:lnTo>
                  <a:lnTo>
                    <a:pt x="12" y="198"/>
                  </a:lnTo>
                  <a:lnTo>
                    <a:pt x="12" y="192"/>
                  </a:lnTo>
                  <a:lnTo>
                    <a:pt x="6" y="192"/>
                  </a:lnTo>
                  <a:lnTo>
                    <a:pt x="0" y="192"/>
                  </a:lnTo>
                  <a:lnTo>
                    <a:pt x="0" y="186"/>
                  </a:lnTo>
                  <a:lnTo>
                    <a:pt x="0" y="180"/>
                  </a:lnTo>
                  <a:lnTo>
                    <a:pt x="6" y="180"/>
                  </a:lnTo>
                  <a:lnTo>
                    <a:pt x="6" y="174"/>
                  </a:lnTo>
                  <a:lnTo>
                    <a:pt x="6" y="168"/>
                  </a:lnTo>
                  <a:lnTo>
                    <a:pt x="12" y="168"/>
                  </a:lnTo>
                  <a:lnTo>
                    <a:pt x="6" y="168"/>
                  </a:lnTo>
                  <a:lnTo>
                    <a:pt x="12" y="168"/>
                  </a:lnTo>
                  <a:lnTo>
                    <a:pt x="6" y="168"/>
                  </a:lnTo>
                  <a:lnTo>
                    <a:pt x="12" y="168"/>
                  </a:lnTo>
                  <a:lnTo>
                    <a:pt x="12" y="162"/>
                  </a:lnTo>
                  <a:lnTo>
                    <a:pt x="12" y="168"/>
                  </a:lnTo>
                  <a:lnTo>
                    <a:pt x="18" y="168"/>
                  </a:lnTo>
                  <a:lnTo>
                    <a:pt x="24" y="168"/>
                  </a:lnTo>
                  <a:lnTo>
                    <a:pt x="30" y="168"/>
                  </a:lnTo>
                  <a:lnTo>
                    <a:pt x="36" y="168"/>
                  </a:lnTo>
                  <a:lnTo>
                    <a:pt x="36" y="162"/>
                  </a:lnTo>
                  <a:lnTo>
                    <a:pt x="42" y="162"/>
                  </a:lnTo>
                  <a:lnTo>
                    <a:pt x="42" y="156"/>
                  </a:lnTo>
                  <a:lnTo>
                    <a:pt x="48" y="156"/>
                  </a:lnTo>
                  <a:lnTo>
                    <a:pt x="48" y="150"/>
                  </a:lnTo>
                  <a:lnTo>
                    <a:pt x="54" y="156"/>
                  </a:lnTo>
                  <a:lnTo>
                    <a:pt x="48" y="156"/>
                  </a:lnTo>
                  <a:lnTo>
                    <a:pt x="54" y="156"/>
                  </a:lnTo>
                  <a:lnTo>
                    <a:pt x="54" y="150"/>
                  </a:lnTo>
                  <a:lnTo>
                    <a:pt x="60" y="150"/>
                  </a:lnTo>
                  <a:lnTo>
                    <a:pt x="66" y="150"/>
                  </a:lnTo>
                  <a:lnTo>
                    <a:pt x="66" y="144"/>
                  </a:lnTo>
                  <a:lnTo>
                    <a:pt x="72" y="144"/>
                  </a:lnTo>
                  <a:lnTo>
                    <a:pt x="78" y="144"/>
                  </a:lnTo>
                  <a:lnTo>
                    <a:pt x="78" y="138"/>
                  </a:lnTo>
                  <a:lnTo>
                    <a:pt x="84" y="138"/>
                  </a:lnTo>
                  <a:lnTo>
                    <a:pt x="84" y="132"/>
                  </a:lnTo>
                  <a:lnTo>
                    <a:pt x="84" y="126"/>
                  </a:lnTo>
                  <a:lnTo>
                    <a:pt x="90" y="126"/>
                  </a:lnTo>
                  <a:lnTo>
                    <a:pt x="96" y="126"/>
                  </a:lnTo>
                  <a:lnTo>
                    <a:pt x="102" y="126"/>
                  </a:lnTo>
                  <a:lnTo>
                    <a:pt x="108" y="126"/>
                  </a:lnTo>
                  <a:lnTo>
                    <a:pt x="114" y="126"/>
                  </a:lnTo>
                  <a:lnTo>
                    <a:pt x="114" y="120"/>
                  </a:lnTo>
                  <a:lnTo>
                    <a:pt x="114" y="114"/>
                  </a:lnTo>
                  <a:lnTo>
                    <a:pt x="114" y="120"/>
                  </a:lnTo>
                  <a:lnTo>
                    <a:pt x="114" y="114"/>
                  </a:lnTo>
                  <a:lnTo>
                    <a:pt x="114" y="108"/>
                  </a:lnTo>
                  <a:lnTo>
                    <a:pt x="120" y="108"/>
                  </a:lnTo>
                  <a:lnTo>
                    <a:pt x="120" y="102"/>
                  </a:lnTo>
                  <a:lnTo>
                    <a:pt x="120" y="108"/>
                  </a:lnTo>
                  <a:lnTo>
                    <a:pt x="126" y="102"/>
                  </a:lnTo>
                  <a:lnTo>
                    <a:pt x="126" y="96"/>
                  </a:lnTo>
                  <a:lnTo>
                    <a:pt x="126" y="90"/>
                  </a:lnTo>
                  <a:lnTo>
                    <a:pt x="132" y="90"/>
                  </a:lnTo>
                  <a:lnTo>
                    <a:pt x="132" y="84"/>
                  </a:lnTo>
                  <a:lnTo>
                    <a:pt x="132" y="78"/>
                  </a:lnTo>
                  <a:lnTo>
                    <a:pt x="126" y="78"/>
                  </a:lnTo>
                  <a:lnTo>
                    <a:pt x="126" y="72"/>
                  </a:lnTo>
                  <a:lnTo>
                    <a:pt x="126" y="66"/>
                  </a:lnTo>
                  <a:lnTo>
                    <a:pt x="132" y="66"/>
                  </a:lnTo>
                  <a:lnTo>
                    <a:pt x="132" y="72"/>
                  </a:lnTo>
                  <a:lnTo>
                    <a:pt x="132" y="66"/>
                  </a:lnTo>
                  <a:lnTo>
                    <a:pt x="138" y="66"/>
                  </a:lnTo>
                  <a:lnTo>
                    <a:pt x="144" y="66"/>
                  </a:lnTo>
                  <a:lnTo>
                    <a:pt x="144" y="60"/>
                  </a:lnTo>
                  <a:lnTo>
                    <a:pt x="150" y="60"/>
                  </a:lnTo>
                  <a:lnTo>
                    <a:pt x="156" y="60"/>
                  </a:lnTo>
                  <a:lnTo>
                    <a:pt x="156" y="66"/>
                  </a:lnTo>
                  <a:lnTo>
                    <a:pt x="156" y="60"/>
                  </a:lnTo>
                  <a:lnTo>
                    <a:pt x="162" y="60"/>
                  </a:lnTo>
                  <a:lnTo>
                    <a:pt x="162" y="66"/>
                  </a:lnTo>
                  <a:lnTo>
                    <a:pt x="168" y="66"/>
                  </a:lnTo>
                  <a:lnTo>
                    <a:pt x="168" y="72"/>
                  </a:lnTo>
                  <a:lnTo>
                    <a:pt x="168" y="66"/>
                  </a:lnTo>
                  <a:lnTo>
                    <a:pt x="174" y="72"/>
                  </a:lnTo>
                  <a:lnTo>
                    <a:pt x="174" y="66"/>
                  </a:lnTo>
                  <a:lnTo>
                    <a:pt x="174" y="72"/>
                  </a:lnTo>
                  <a:lnTo>
                    <a:pt x="180" y="72"/>
                  </a:lnTo>
                  <a:lnTo>
                    <a:pt x="180" y="66"/>
                  </a:lnTo>
                  <a:lnTo>
                    <a:pt x="180" y="60"/>
                  </a:lnTo>
                  <a:lnTo>
                    <a:pt x="186" y="60"/>
                  </a:lnTo>
                  <a:lnTo>
                    <a:pt x="192" y="60"/>
                  </a:lnTo>
                  <a:lnTo>
                    <a:pt x="198" y="60"/>
                  </a:lnTo>
                  <a:lnTo>
                    <a:pt x="204" y="60"/>
                  </a:lnTo>
                  <a:lnTo>
                    <a:pt x="204" y="54"/>
                  </a:lnTo>
                  <a:lnTo>
                    <a:pt x="204" y="48"/>
                  </a:lnTo>
                  <a:lnTo>
                    <a:pt x="204" y="42"/>
                  </a:lnTo>
                  <a:lnTo>
                    <a:pt x="210" y="42"/>
                  </a:lnTo>
                  <a:lnTo>
                    <a:pt x="216" y="42"/>
                  </a:lnTo>
                  <a:lnTo>
                    <a:pt x="222" y="42"/>
                  </a:lnTo>
                  <a:lnTo>
                    <a:pt x="222" y="36"/>
                  </a:lnTo>
                  <a:lnTo>
                    <a:pt x="222" y="42"/>
                  </a:lnTo>
                  <a:lnTo>
                    <a:pt x="228" y="42"/>
                  </a:lnTo>
                  <a:lnTo>
                    <a:pt x="228" y="36"/>
                  </a:lnTo>
                  <a:lnTo>
                    <a:pt x="228" y="42"/>
                  </a:lnTo>
                  <a:lnTo>
                    <a:pt x="234" y="42"/>
                  </a:lnTo>
                  <a:lnTo>
                    <a:pt x="234" y="36"/>
                  </a:lnTo>
                  <a:lnTo>
                    <a:pt x="240" y="36"/>
                  </a:lnTo>
                  <a:lnTo>
                    <a:pt x="246" y="36"/>
                  </a:lnTo>
                  <a:lnTo>
                    <a:pt x="252" y="36"/>
                  </a:lnTo>
                  <a:lnTo>
                    <a:pt x="258" y="36"/>
                  </a:lnTo>
                  <a:lnTo>
                    <a:pt x="264" y="36"/>
                  </a:lnTo>
                  <a:lnTo>
                    <a:pt x="264" y="30"/>
                  </a:lnTo>
                  <a:lnTo>
                    <a:pt x="264" y="24"/>
                  </a:lnTo>
                  <a:lnTo>
                    <a:pt x="270" y="18"/>
                  </a:lnTo>
                  <a:lnTo>
                    <a:pt x="276" y="18"/>
                  </a:lnTo>
                  <a:lnTo>
                    <a:pt x="276" y="12"/>
                  </a:lnTo>
                  <a:lnTo>
                    <a:pt x="270" y="6"/>
                  </a:lnTo>
                  <a:lnTo>
                    <a:pt x="276" y="6"/>
                  </a:lnTo>
                  <a:lnTo>
                    <a:pt x="282" y="6"/>
                  </a:lnTo>
                  <a:lnTo>
                    <a:pt x="288" y="6"/>
                  </a:lnTo>
                  <a:lnTo>
                    <a:pt x="288" y="0"/>
                  </a:lnTo>
                  <a:lnTo>
                    <a:pt x="288" y="6"/>
                  </a:lnTo>
                  <a:lnTo>
                    <a:pt x="294" y="6"/>
                  </a:lnTo>
                  <a:lnTo>
                    <a:pt x="294" y="12"/>
                  </a:lnTo>
                  <a:lnTo>
                    <a:pt x="294" y="18"/>
                  </a:lnTo>
                  <a:lnTo>
                    <a:pt x="300" y="18"/>
                  </a:lnTo>
                  <a:lnTo>
                    <a:pt x="300" y="24"/>
                  </a:lnTo>
                  <a:lnTo>
                    <a:pt x="306" y="30"/>
                  </a:lnTo>
                  <a:lnTo>
                    <a:pt x="312" y="36"/>
                  </a:lnTo>
                  <a:lnTo>
                    <a:pt x="312" y="42"/>
                  </a:lnTo>
                  <a:lnTo>
                    <a:pt x="306" y="42"/>
                  </a:lnTo>
                  <a:lnTo>
                    <a:pt x="306" y="48"/>
                  </a:lnTo>
                  <a:lnTo>
                    <a:pt x="306" y="42"/>
                  </a:lnTo>
                  <a:lnTo>
                    <a:pt x="306" y="48"/>
                  </a:lnTo>
                  <a:lnTo>
                    <a:pt x="300" y="48"/>
                  </a:lnTo>
                  <a:lnTo>
                    <a:pt x="300" y="54"/>
                  </a:lnTo>
                  <a:lnTo>
                    <a:pt x="306" y="48"/>
                  </a:lnTo>
                  <a:lnTo>
                    <a:pt x="306" y="54"/>
                  </a:lnTo>
                  <a:lnTo>
                    <a:pt x="300" y="54"/>
                  </a:lnTo>
                  <a:lnTo>
                    <a:pt x="300" y="60"/>
                  </a:lnTo>
                  <a:lnTo>
                    <a:pt x="306" y="60"/>
                  </a:lnTo>
                  <a:lnTo>
                    <a:pt x="306" y="66"/>
                  </a:lnTo>
                  <a:lnTo>
                    <a:pt x="312" y="66"/>
                  </a:lnTo>
                  <a:lnTo>
                    <a:pt x="318" y="72"/>
                  </a:lnTo>
                  <a:lnTo>
                    <a:pt x="312" y="72"/>
                  </a:lnTo>
                  <a:lnTo>
                    <a:pt x="306" y="72"/>
                  </a:lnTo>
                  <a:lnTo>
                    <a:pt x="306" y="78"/>
                  </a:lnTo>
                  <a:lnTo>
                    <a:pt x="312" y="78"/>
                  </a:lnTo>
                  <a:lnTo>
                    <a:pt x="306" y="78"/>
                  </a:lnTo>
                  <a:lnTo>
                    <a:pt x="306" y="84"/>
                  </a:lnTo>
                  <a:lnTo>
                    <a:pt x="306" y="78"/>
                  </a:lnTo>
                  <a:lnTo>
                    <a:pt x="300" y="78"/>
                  </a:lnTo>
                  <a:lnTo>
                    <a:pt x="300" y="84"/>
                  </a:lnTo>
                  <a:lnTo>
                    <a:pt x="300" y="90"/>
                  </a:lnTo>
                  <a:lnTo>
                    <a:pt x="300" y="84"/>
                  </a:lnTo>
                  <a:lnTo>
                    <a:pt x="300" y="90"/>
                  </a:lnTo>
                  <a:lnTo>
                    <a:pt x="306" y="90"/>
                  </a:lnTo>
                  <a:lnTo>
                    <a:pt x="300" y="90"/>
                  </a:lnTo>
                  <a:lnTo>
                    <a:pt x="306" y="90"/>
                  </a:lnTo>
                  <a:lnTo>
                    <a:pt x="300" y="96"/>
                  </a:lnTo>
                  <a:lnTo>
                    <a:pt x="300" y="90"/>
                  </a:lnTo>
                  <a:lnTo>
                    <a:pt x="300" y="96"/>
                  </a:lnTo>
                  <a:lnTo>
                    <a:pt x="306" y="96"/>
                  </a:lnTo>
                  <a:lnTo>
                    <a:pt x="312" y="96"/>
                  </a:lnTo>
                  <a:lnTo>
                    <a:pt x="312" y="102"/>
                  </a:lnTo>
                  <a:lnTo>
                    <a:pt x="312" y="108"/>
                  </a:lnTo>
                  <a:lnTo>
                    <a:pt x="318" y="108"/>
                  </a:lnTo>
                  <a:lnTo>
                    <a:pt x="318" y="114"/>
                  </a:lnTo>
                  <a:lnTo>
                    <a:pt x="318" y="108"/>
                  </a:lnTo>
                  <a:lnTo>
                    <a:pt x="318" y="114"/>
                  </a:lnTo>
                  <a:lnTo>
                    <a:pt x="318" y="108"/>
                  </a:lnTo>
                  <a:lnTo>
                    <a:pt x="324" y="114"/>
                  </a:lnTo>
                  <a:lnTo>
                    <a:pt x="324" y="108"/>
                  </a:lnTo>
                  <a:lnTo>
                    <a:pt x="324" y="114"/>
                  </a:lnTo>
                  <a:lnTo>
                    <a:pt x="324" y="120"/>
                  </a:lnTo>
                  <a:lnTo>
                    <a:pt x="324" y="126"/>
                  </a:lnTo>
                  <a:lnTo>
                    <a:pt x="324" y="132"/>
                  </a:lnTo>
                  <a:lnTo>
                    <a:pt x="330" y="132"/>
                  </a:lnTo>
                  <a:lnTo>
                    <a:pt x="336" y="138"/>
                  </a:lnTo>
                  <a:lnTo>
                    <a:pt x="336" y="132"/>
                  </a:lnTo>
                  <a:lnTo>
                    <a:pt x="342" y="132"/>
                  </a:lnTo>
                  <a:lnTo>
                    <a:pt x="342" y="138"/>
                  </a:lnTo>
                  <a:lnTo>
                    <a:pt x="348" y="138"/>
                  </a:lnTo>
                  <a:lnTo>
                    <a:pt x="342" y="138"/>
                  </a:lnTo>
                  <a:lnTo>
                    <a:pt x="342" y="144"/>
                  </a:lnTo>
                  <a:lnTo>
                    <a:pt x="336" y="144"/>
                  </a:lnTo>
                  <a:lnTo>
                    <a:pt x="336" y="150"/>
                  </a:lnTo>
                  <a:lnTo>
                    <a:pt x="342" y="150"/>
                  </a:lnTo>
                  <a:lnTo>
                    <a:pt x="342" y="156"/>
                  </a:lnTo>
                  <a:lnTo>
                    <a:pt x="342" y="162"/>
                  </a:lnTo>
                  <a:lnTo>
                    <a:pt x="336" y="162"/>
                  </a:lnTo>
                  <a:lnTo>
                    <a:pt x="336" y="168"/>
                  </a:lnTo>
                  <a:lnTo>
                    <a:pt x="342" y="174"/>
                  </a:lnTo>
                  <a:lnTo>
                    <a:pt x="336" y="174"/>
                  </a:lnTo>
                  <a:lnTo>
                    <a:pt x="336" y="180"/>
                  </a:lnTo>
                  <a:lnTo>
                    <a:pt x="342" y="180"/>
                  </a:lnTo>
                  <a:close/>
                </a:path>
              </a:pathLst>
            </a:custGeom>
            <a:solidFill>
              <a:schemeClr val="accent1"/>
            </a:solidFill>
            <a:ln w="9525">
              <a:solidFill>
                <a:srgbClr val="B2B2B2"/>
              </a:solidFill>
              <a:round/>
              <a:headEnd/>
              <a:tailEnd/>
            </a:ln>
          </p:spPr>
          <p:txBody>
            <a:bodyPr/>
            <a:lstStyle/>
            <a:p>
              <a:endParaRPr lang="en-CA"/>
            </a:p>
          </p:txBody>
        </p:sp>
        <p:sp>
          <p:nvSpPr>
            <p:cNvPr id="412" name="Freeform 471"/>
            <p:cNvSpPr>
              <a:spLocks/>
            </p:cNvSpPr>
            <p:nvPr>
              <p:custDataLst>
                <p:tags r:id="rId35"/>
              </p:custDataLst>
            </p:nvPr>
          </p:nvSpPr>
          <p:spPr bwMode="gray">
            <a:xfrm>
              <a:off x="890" y="2859"/>
              <a:ext cx="108" cy="131"/>
            </a:xfrm>
            <a:custGeom>
              <a:avLst/>
              <a:gdLst>
                <a:gd name="T0" fmla="*/ 128642679 w 174"/>
                <a:gd name="T1" fmla="*/ 141642918 h 210"/>
                <a:gd name="T2" fmla="*/ 122794658 w 174"/>
                <a:gd name="T3" fmla="*/ 147545078 h 210"/>
                <a:gd name="T4" fmla="*/ 116947622 w 174"/>
                <a:gd name="T5" fmla="*/ 147545078 h 210"/>
                <a:gd name="T6" fmla="*/ 116947622 w 174"/>
                <a:gd name="T7" fmla="*/ 153446247 h 210"/>
                <a:gd name="T8" fmla="*/ 105252564 w 174"/>
                <a:gd name="T9" fmla="*/ 159348407 h 210"/>
                <a:gd name="T10" fmla="*/ 99405528 w 174"/>
                <a:gd name="T11" fmla="*/ 159348407 h 210"/>
                <a:gd name="T12" fmla="*/ 99405528 w 174"/>
                <a:gd name="T13" fmla="*/ 165250566 h 210"/>
                <a:gd name="T14" fmla="*/ 93558491 w 174"/>
                <a:gd name="T15" fmla="*/ 177053895 h 210"/>
                <a:gd name="T16" fmla="*/ 87710470 w 174"/>
                <a:gd name="T17" fmla="*/ 194759384 h 210"/>
                <a:gd name="T18" fmla="*/ 81863434 w 174"/>
                <a:gd name="T19" fmla="*/ 206562713 h 210"/>
                <a:gd name="T20" fmla="*/ 76015412 w 174"/>
                <a:gd name="T21" fmla="*/ 206562713 h 210"/>
                <a:gd name="T22" fmla="*/ 64321340 w 174"/>
                <a:gd name="T23" fmla="*/ 200660553 h 210"/>
                <a:gd name="T24" fmla="*/ 58473318 w 174"/>
                <a:gd name="T25" fmla="*/ 200660553 h 210"/>
                <a:gd name="T26" fmla="*/ 52626282 w 174"/>
                <a:gd name="T27" fmla="*/ 200660553 h 210"/>
                <a:gd name="T28" fmla="*/ 46779246 w 174"/>
                <a:gd name="T29" fmla="*/ 188857224 h 210"/>
                <a:gd name="T30" fmla="*/ 40931224 w 174"/>
                <a:gd name="T31" fmla="*/ 188857224 h 210"/>
                <a:gd name="T32" fmla="*/ 35084188 w 174"/>
                <a:gd name="T33" fmla="*/ 177053895 h 210"/>
                <a:gd name="T34" fmla="*/ 35084188 w 174"/>
                <a:gd name="T35" fmla="*/ 165250566 h 210"/>
                <a:gd name="T36" fmla="*/ 40931224 w 174"/>
                <a:gd name="T37" fmla="*/ 153446247 h 210"/>
                <a:gd name="T38" fmla="*/ 40931224 w 174"/>
                <a:gd name="T39" fmla="*/ 147545078 h 210"/>
                <a:gd name="T40" fmla="*/ 40931224 w 174"/>
                <a:gd name="T41" fmla="*/ 141642918 h 210"/>
                <a:gd name="T42" fmla="*/ 35084188 w 174"/>
                <a:gd name="T43" fmla="*/ 141642918 h 210"/>
                <a:gd name="T44" fmla="*/ 23389130 w 174"/>
                <a:gd name="T45" fmla="*/ 129839589 h 210"/>
                <a:gd name="T46" fmla="*/ 23389130 w 174"/>
                <a:gd name="T47" fmla="*/ 112134101 h 210"/>
                <a:gd name="T48" fmla="*/ 17542094 w 174"/>
                <a:gd name="T49" fmla="*/ 118036260 h 210"/>
                <a:gd name="T50" fmla="*/ 17542094 w 174"/>
                <a:gd name="T51" fmla="*/ 112134101 h 210"/>
                <a:gd name="T52" fmla="*/ 11695058 w 174"/>
                <a:gd name="T53" fmla="*/ 100330772 h 210"/>
                <a:gd name="T54" fmla="*/ 0 w 174"/>
                <a:gd name="T55" fmla="*/ 94428612 h 210"/>
                <a:gd name="T56" fmla="*/ 0 w 174"/>
                <a:gd name="T57" fmla="*/ 94428612 h 210"/>
                <a:gd name="T58" fmla="*/ 0 w 174"/>
                <a:gd name="T59" fmla="*/ 88526453 h 210"/>
                <a:gd name="T60" fmla="*/ 0 w 174"/>
                <a:gd name="T61" fmla="*/ 82625283 h 210"/>
                <a:gd name="T62" fmla="*/ 5847036 w 174"/>
                <a:gd name="T63" fmla="*/ 82625283 h 210"/>
                <a:gd name="T64" fmla="*/ 5847036 w 174"/>
                <a:gd name="T65" fmla="*/ 76723124 h 210"/>
                <a:gd name="T66" fmla="*/ 11695058 w 174"/>
                <a:gd name="T67" fmla="*/ 70821954 h 210"/>
                <a:gd name="T68" fmla="*/ 0 w 174"/>
                <a:gd name="T69" fmla="*/ 64919795 h 210"/>
                <a:gd name="T70" fmla="*/ 5847036 w 174"/>
                <a:gd name="T71" fmla="*/ 53116466 h 210"/>
                <a:gd name="T72" fmla="*/ 5847036 w 174"/>
                <a:gd name="T73" fmla="*/ 53116466 h 210"/>
                <a:gd name="T74" fmla="*/ 5847036 w 174"/>
                <a:gd name="T75" fmla="*/ 47214306 h 210"/>
                <a:gd name="T76" fmla="*/ 17542094 w 174"/>
                <a:gd name="T77" fmla="*/ 41312146 h 210"/>
                <a:gd name="T78" fmla="*/ 23389130 w 174"/>
                <a:gd name="T79" fmla="*/ 29508818 h 210"/>
                <a:gd name="T80" fmla="*/ 29237152 w 174"/>
                <a:gd name="T81" fmla="*/ 29508818 h 210"/>
                <a:gd name="T82" fmla="*/ 52626282 w 174"/>
                <a:gd name="T83" fmla="*/ 23607648 h 210"/>
                <a:gd name="T84" fmla="*/ 58473318 w 174"/>
                <a:gd name="T85" fmla="*/ 23607648 h 210"/>
                <a:gd name="T86" fmla="*/ 70168376 w 174"/>
                <a:gd name="T87" fmla="*/ 23607648 h 210"/>
                <a:gd name="T88" fmla="*/ 70168376 w 174"/>
                <a:gd name="T89" fmla="*/ 5902160 h 210"/>
                <a:gd name="T90" fmla="*/ 81863434 w 174"/>
                <a:gd name="T91" fmla="*/ 0 h 210"/>
                <a:gd name="T92" fmla="*/ 99405528 w 174"/>
                <a:gd name="T93" fmla="*/ 11803329 h 210"/>
                <a:gd name="T94" fmla="*/ 111100585 w 174"/>
                <a:gd name="T95" fmla="*/ 11803329 h 210"/>
                <a:gd name="T96" fmla="*/ 116947622 w 174"/>
                <a:gd name="T97" fmla="*/ 23607648 h 210"/>
                <a:gd name="T98" fmla="*/ 122794658 w 174"/>
                <a:gd name="T99" fmla="*/ 35410977 h 210"/>
                <a:gd name="T100" fmla="*/ 140336752 w 174"/>
                <a:gd name="T101" fmla="*/ 35410977 h 210"/>
                <a:gd name="T102" fmla="*/ 157878846 w 174"/>
                <a:gd name="T103" fmla="*/ 35410977 h 210"/>
                <a:gd name="T104" fmla="*/ 169573903 w 174"/>
                <a:gd name="T105" fmla="*/ 41312146 h 210"/>
                <a:gd name="T106" fmla="*/ 169573903 w 174"/>
                <a:gd name="T107" fmla="*/ 53116466 h 210"/>
                <a:gd name="T108" fmla="*/ 163726867 w 174"/>
                <a:gd name="T109" fmla="*/ 64919795 h 210"/>
                <a:gd name="T110" fmla="*/ 157878846 w 174"/>
                <a:gd name="T111" fmla="*/ 76723124 h 210"/>
                <a:gd name="T112" fmla="*/ 152031809 w 174"/>
                <a:gd name="T113" fmla="*/ 76723124 h 210"/>
                <a:gd name="T114" fmla="*/ 146184773 w 174"/>
                <a:gd name="T115" fmla="*/ 88526453 h 210"/>
                <a:gd name="T116" fmla="*/ 146184773 w 174"/>
                <a:gd name="T117" fmla="*/ 106231941 h 210"/>
                <a:gd name="T118" fmla="*/ 140336752 w 174"/>
                <a:gd name="T119" fmla="*/ 118036260 h 210"/>
                <a:gd name="T120" fmla="*/ 134489716 w 174"/>
                <a:gd name="T121" fmla="*/ 129839589 h 210"/>
                <a:gd name="T122" fmla="*/ 134489716 w 174"/>
                <a:gd name="T123" fmla="*/ 135740759 h 210"/>
                <a:gd name="T124" fmla="*/ 134489716 w 174"/>
                <a:gd name="T125" fmla="*/ 141642918 h 21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74"/>
                <a:gd name="T190" fmla="*/ 0 h 210"/>
                <a:gd name="T191" fmla="*/ 174 w 174"/>
                <a:gd name="T192" fmla="*/ 210 h 21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74" h="210">
                  <a:moveTo>
                    <a:pt x="144" y="144"/>
                  </a:moveTo>
                  <a:lnTo>
                    <a:pt x="138" y="144"/>
                  </a:lnTo>
                  <a:lnTo>
                    <a:pt x="132" y="144"/>
                  </a:lnTo>
                  <a:lnTo>
                    <a:pt x="132" y="150"/>
                  </a:lnTo>
                  <a:lnTo>
                    <a:pt x="126" y="156"/>
                  </a:lnTo>
                  <a:lnTo>
                    <a:pt x="126" y="150"/>
                  </a:lnTo>
                  <a:lnTo>
                    <a:pt x="126" y="156"/>
                  </a:lnTo>
                  <a:lnTo>
                    <a:pt x="126" y="150"/>
                  </a:lnTo>
                  <a:lnTo>
                    <a:pt x="120" y="150"/>
                  </a:lnTo>
                  <a:lnTo>
                    <a:pt x="120" y="156"/>
                  </a:lnTo>
                  <a:lnTo>
                    <a:pt x="120" y="150"/>
                  </a:lnTo>
                  <a:lnTo>
                    <a:pt x="120" y="156"/>
                  </a:lnTo>
                  <a:lnTo>
                    <a:pt x="114" y="156"/>
                  </a:lnTo>
                  <a:lnTo>
                    <a:pt x="114" y="162"/>
                  </a:lnTo>
                  <a:lnTo>
                    <a:pt x="108" y="162"/>
                  </a:lnTo>
                  <a:lnTo>
                    <a:pt x="114" y="162"/>
                  </a:lnTo>
                  <a:lnTo>
                    <a:pt x="108" y="162"/>
                  </a:lnTo>
                  <a:lnTo>
                    <a:pt x="102" y="162"/>
                  </a:lnTo>
                  <a:lnTo>
                    <a:pt x="108" y="162"/>
                  </a:lnTo>
                  <a:lnTo>
                    <a:pt x="102" y="162"/>
                  </a:lnTo>
                  <a:lnTo>
                    <a:pt x="102" y="168"/>
                  </a:lnTo>
                  <a:lnTo>
                    <a:pt x="102" y="174"/>
                  </a:lnTo>
                  <a:lnTo>
                    <a:pt x="96" y="174"/>
                  </a:lnTo>
                  <a:lnTo>
                    <a:pt x="96" y="180"/>
                  </a:lnTo>
                  <a:lnTo>
                    <a:pt x="96" y="186"/>
                  </a:lnTo>
                  <a:lnTo>
                    <a:pt x="90" y="192"/>
                  </a:lnTo>
                  <a:lnTo>
                    <a:pt x="90" y="198"/>
                  </a:lnTo>
                  <a:lnTo>
                    <a:pt x="90" y="204"/>
                  </a:lnTo>
                  <a:lnTo>
                    <a:pt x="90" y="210"/>
                  </a:lnTo>
                  <a:lnTo>
                    <a:pt x="84" y="210"/>
                  </a:lnTo>
                  <a:lnTo>
                    <a:pt x="84" y="204"/>
                  </a:lnTo>
                  <a:lnTo>
                    <a:pt x="78" y="204"/>
                  </a:lnTo>
                  <a:lnTo>
                    <a:pt x="78" y="210"/>
                  </a:lnTo>
                  <a:lnTo>
                    <a:pt x="72" y="210"/>
                  </a:lnTo>
                  <a:lnTo>
                    <a:pt x="72" y="204"/>
                  </a:lnTo>
                  <a:lnTo>
                    <a:pt x="66" y="204"/>
                  </a:lnTo>
                  <a:lnTo>
                    <a:pt x="60" y="204"/>
                  </a:lnTo>
                  <a:lnTo>
                    <a:pt x="66" y="204"/>
                  </a:lnTo>
                  <a:lnTo>
                    <a:pt x="60" y="204"/>
                  </a:lnTo>
                  <a:lnTo>
                    <a:pt x="60" y="210"/>
                  </a:lnTo>
                  <a:lnTo>
                    <a:pt x="54" y="210"/>
                  </a:lnTo>
                  <a:lnTo>
                    <a:pt x="54" y="204"/>
                  </a:lnTo>
                  <a:lnTo>
                    <a:pt x="54" y="198"/>
                  </a:lnTo>
                  <a:lnTo>
                    <a:pt x="48" y="198"/>
                  </a:lnTo>
                  <a:lnTo>
                    <a:pt x="48" y="192"/>
                  </a:lnTo>
                  <a:lnTo>
                    <a:pt x="48" y="198"/>
                  </a:lnTo>
                  <a:lnTo>
                    <a:pt x="42" y="198"/>
                  </a:lnTo>
                  <a:lnTo>
                    <a:pt x="42" y="192"/>
                  </a:lnTo>
                  <a:lnTo>
                    <a:pt x="42" y="186"/>
                  </a:lnTo>
                  <a:lnTo>
                    <a:pt x="36" y="186"/>
                  </a:lnTo>
                  <a:lnTo>
                    <a:pt x="36" y="180"/>
                  </a:lnTo>
                  <a:lnTo>
                    <a:pt x="42" y="180"/>
                  </a:lnTo>
                  <a:lnTo>
                    <a:pt x="36" y="174"/>
                  </a:lnTo>
                  <a:lnTo>
                    <a:pt x="36" y="168"/>
                  </a:lnTo>
                  <a:lnTo>
                    <a:pt x="42" y="168"/>
                  </a:lnTo>
                  <a:lnTo>
                    <a:pt x="42" y="162"/>
                  </a:lnTo>
                  <a:lnTo>
                    <a:pt x="42" y="156"/>
                  </a:lnTo>
                  <a:lnTo>
                    <a:pt x="36" y="156"/>
                  </a:lnTo>
                  <a:lnTo>
                    <a:pt x="36" y="150"/>
                  </a:lnTo>
                  <a:lnTo>
                    <a:pt x="42" y="150"/>
                  </a:lnTo>
                  <a:lnTo>
                    <a:pt x="42" y="144"/>
                  </a:lnTo>
                  <a:lnTo>
                    <a:pt x="48" y="144"/>
                  </a:lnTo>
                  <a:lnTo>
                    <a:pt x="42" y="144"/>
                  </a:lnTo>
                  <a:lnTo>
                    <a:pt x="42" y="138"/>
                  </a:lnTo>
                  <a:lnTo>
                    <a:pt x="36" y="138"/>
                  </a:lnTo>
                  <a:lnTo>
                    <a:pt x="36" y="144"/>
                  </a:lnTo>
                  <a:lnTo>
                    <a:pt x="30" y="138"/>
                  </a:lnTo>
                  <a:lnTo>
                    <a:pt x="24" y="138"/>
                  </a:lnTo>
                  <a:lnTo>
                    <a:pt x="24" y="132"/>
                  </a:lnTo>
                  <a:lnTo>
                    <a:pt x="24" y="126"/>
                  </a:lnTo>
                  <a:lnTo>
                    <a:pt x="24" y="120"/>
                  </a:lnTo>
                  <a:lnTo>
                    <a:pt x="24" y="114"/>
                  </a:lnTo>
                  <a:lnTo>
                    <a:pt x="24" y="120"/>
                  </a:lnTo>
                  <a:lnTo>
                    <a:pt x="18" y="114"/>
                  </a:lnTo>
                  <a:lnTo>
                    <a:pt x="18" y="120"/>
                  </a:lnTo>
                  <a:lnTo>
                    <a:pt x="18" y="114"/>
                  </a:lnTo>
                  <a:lnTo>
                    <a:pt x="18" y="120"/>
                  </a:lnTo>
                  <a:lnTo>
                    <a:pt x="18" y="114"/>
                  </a:lnTo>
                  <a:lnTo>
                    <a:pt x="12" y="114"/>
                  </a:lnTo>
                  <a:lnTo>
                    <a:pt x="12" y="108"/>
                  </a:lnTo>
                  <a:lnTo>
                    <a:pt x="12" y="102"/>
                  </a:lnTo>
                  <a:lnTo>
                    <a:pt x="6" y="102"/>
                  </a:lnTo>
                  <a:lnTo>
                    <a:pt x="0" y="102"/>
                  </a:lnTo>
                  <a:lnTo>
                    <a:pt x="0" y="96"/>
                  </a:lnTo>
                  <a:lnTo>
                    <a:pt x="0" y="102"/>
                  </a:lnTo>
                  <a:lnTo>
                    <a:pt x="6" y="96"/>
                  </a:lnTo>
                  <a:lnTo>
                    <a:pt x="0" y="96"/>
                  </a:lnTo>
                  <a:lnTo>
                    <a:pt x="6" y="96"/>
                  </a:lnTo>
                  <a:lnTo>
                    <a:pt x="0" y="96"/>
                  </a:lnTo>
                  <a:lnTo>
                    <a:pt x="0" y="90"/>
                  </a:lnTo>
                  <a:lnTo>
                    <a:pt x="0" y="96"/>
                  </a:lnTo>
                  <a:lnTo>
                    <a:pt x="0" y="90"/>
                  </a:lnTo>
                  <a:lnTo>
                    <a:pt x="0" y="84"/>
                  </a:lnTo>
                  <a:lnTo>
                    <a:pt x="6" y="84"/>
                  </a:lnTo>
                  <a:lnTo>
                    <a:pt x="6" y="90"/>
                  </a:lnTo>
                  <a:lnTo>
                    <a:pt x="6" y="84"/>
                  </a:lnTo>
                  <a:lnTo>
                    <a:pt x="12" y="84"/>
                  </a:lnTo>
                  <a:lnTo>
                    <a:pt x="6" y="84"/>
                  </a:lnTo>
                  <a:lnTo>
                    <a:pt x="6" y="78"/>
                  </a:lnTo>
                  <a:lnTo>
                    <a:pt x="12" y="78"/>
                  </a:lnTo>
                  <a:lnTo>
                    <a:pt x="18" y="78"/>
                  </a:lnTo>
                  <a:lnTo>
                    <a:pt x="12" y="72"/>
                  </a:lnTo>
                  <a:lnTo>
                    <a:pt x="6" y="72"/>
                  </a:lnTo>
                  <a:lnTo>
                    <a:pt x="6" y="66"/>
                  </a:lnTo>
                  <a:lnTo>
                    <a:pt x="0" y="66"/>
                  </a:lnTo>
                  <a:lnTo>
                    <a:pt x="0" y="60"/>
                  </a:lnTo>
                  <a:lnTo>
                    <a:pt x="6" y="60"/>
                  </a:lnTo>
                  <a:lnTo>
                    <a:pt x="6" y="54"/>
                  </a:lnTo>
                  <a:lnTo>
                    <a:pt x="0" y="60"/>
                  </a:lnTo>
                  <a:lnTo>
                    <a:pt x="0" y="54"/>
                  </a:lnTo>
                  <a:lnTo>
                    <a:pt x="6" y="54"/>
                  </a:lnTo>
                  <a:lnTo>
                    <a:pt x="6" y="48"/>
                  </a:lnTo>
                  <a:lnTo>
                    <a:pt x="6" y="54"/>
                  </a:lnTo>
                  <a:lnTo>
                    <a:pt x="6" y="48"/>
                  </a:lnTo>
                  <a:lnTo>
                    <a:pt x="12" y="48"/>
                  </a:lnTo>
                  <a:lnTo>
                    <a:pt x="12" y="42"/>
                  </a:lnTo>
                  <a:lnTo>
                    <a:pt x="18" y="42"/>
                  </a:lnTo>
                  <a:lnTo>
                    <a:pt x="18" y="36"/>
                  </a:lnTo>
                  <a:lnTo>
                    <a:pt x="18" y="30"/>
                  </a:lnTo>
                  <a:lnTo>
                    <a:pt x="24" y="30"/>
                  </a:lnTo>
                  <a:lnTo>
                    <a:pt x="24" y="36"/>
                  </a:lnTo>
                  <a:lnTo>
                    <a:pt x="24" y="30"/>
                  </a:lnTo>
                  <a:lnTo>
                    <a:pt x="30" y="30"/>
                  </a:lnTo>
                  <a:lnTo>
                    <a:pt x="30" y="24"/>
                  </a:lnTo>
                  <a:lnTo>
                    <a:pt x="36" y="24"/>
                  </a:lnTo>
                  <a:lnTo>
                    <a:pt x="54" y="24"/>
                  </a:lnTo>
                  <a:lnTo>
                    <a:pt x="54" y="18"/>
                  </a:lnTo>
                  <a:lnTo>
                    <a:pt x="60" y="18"/>
                  </a:lnTo>
                  <a:lnTo>
                    <a:pt x="60" y="24"/>
                  </a:lnTo>
                  <a:lnTo>
                    <a:pt x="60" y="18"/>
                  </a:lnTo>
                  <a:lnTo>
                    <a:pt x="66" y="24"/>
                  </a:lnTo>
                  <a:lnTo>
                    <a:pt x="72" y="24"/>
                  </a:lnTo>
                  <a:lnTo>
                    <a:pt x="72" y="18"/>
                  </a:lnTo>
                  <a:lnTo>
                    <a:pt x="78" y="12"/>
                  </a:lnTo>
                  <a:lnTo>
                    <a:pt x="72" y="6"/>
                  </a:lnTo>
                  <a:lnTo>
                    <a:pt x="78" y="0"/>
                  </a:lnTo>
                  <a:lnTo>
                    <a:pt x="78" y="6"/>
                  </a:lnTo>
                  <a:lnTo>
                    <a:pt x="84" y="0"/>
                  </a:lnTo>
                  <a:lnTo>
                    <a:pt x="90" y="6"/>
                  </a:lnTo>
                  <a:lnTo>
                    <a:pt x="96" y="6"/>
                  </a:lnTo>
                  <a:lnTo>
                    <a:pt x="102" y="12"/>
                  </a:lnTo>
                  <a:lnTo>
                    <a:pt x="102" y="6"/>
                  </a:lnTo>
                  <a:lnTo>
                    <a:pt x="108" y="12"/>
                  </a:lnTo>
                  <a:lnTo>
                    <a:pt x="114" y="12"/>
                  </a:lnTo>
                  <a:lnTo>
                    <a:pt x="114" y="18"/>
                  </a:lnTo>
                  <a:lnTo>
                    <a:pt x="120" y="18"/>
                  </a:lnTo>
                  <a:lnTo>
                    <a:pt x="120" y="24"/>
                  </a:lnTo>
                  <a:lnTo>
                    <a:pt x="126" y="24"/>
                  </a:lnTo>
                  <a:lnTo>
                    <a:pt x="126" y="30"/>
                  </a:lnTo>
                  <a:lnTo>
                    <a:pt x="126" y="36"/>
                  </a:lnTo>
                  <a:lnTo>
                    <a:pt x="132" y="36"/>
                  </a:lnTo>
                  <a:lnTo>
                    <a:pt x="138" y="36"/>
                  </a:lnTo>
                  <a:lnTo>
                    <a:pt x="144" y="36"/>
                  </a:lnTo>
                  <a:lnTo>
                    <a:pt x="150" y="36"/>
                  </a:lnTo>
                  <a:lnTo>
                    <a:pt x="156" y="36"/>
                  </a:lnTo>
                  <a:lnTo>
                    <a:pt x="162" y="36"/>
                  </a:lnTo>
                  <a:lnTo>
                    <a:pt x="168" y="36"/>
                  </a:lnTo>
                  <a:lnTo>
                    <a:pt x="168" y="42"/>
                  </a:lnTo>
                  <a:lnTo>
                    <a:pt x="174" y="42"/>
                  </a:lnTo>
                  <a:lnTo>
                    <a:pt x="168" y="48"/>
                  </a:lnTo>
                  <a:lnTo>
                    <a:pt x="174" y="48"/>
                  </a:lnTo>
                  <a:lnTo>
                    <a:pt x="174" y="54"/>
                  </a:lnTo>
                  <a:lnTo>
                    <a:pt x="174" y="60"/>
                  </a:lnTo>
                  <a:lnTo>
                    <a:pt x="168" y="60"/>
                  </a:lnTo>
                  <a:lnTo>
                    <a:pt x="168" y="66"/>
                  </a:lnTo>
                  <a:lnTo>
                    <a:pt x="162" y="66"/>
                  </a:lnTo>
                  <a:lnTo>
                    <a:pt x="162" y="72"/>
                  </a:lnTo>
                  <a:lnTo>
                    <a:pt x="162" y="78"/>
                  </a:lnTo>
                  <a:lnTo>
                    <a:pt x="162" y="72"/>
                  </a:lnTo>
                  <a:lnTo>
                    <a:pt x="162" y="78"/>
                  </a:lnTo>
                  <a:lnTo>
                    <a:pt x="156" y="78"/>
                  </a:lnTo>
                  <a:lnTo>
                    <a:pt x="156" y="84"/>
                  </a:lnTo>
                  <a:lnTo>
                    <a:pt x="150" y="84"/>
                  </a:lnTo>
                  <a:lnTo>
                    <a:pt x="150" y="90"/>
                  </a:lnTo>
                  <a:lnTo>
                    <a:pt x="150" y="96"/>
                  </a:lnTo>
                  <a:lnTo>
                    <a:pt x="150" y="102"/>
                  </a:lnTo>
                  <a:lnTo>
                    <a:pt x="150" y="108"/>
                  </a:lnTo>
                  <a:lnTo>
                    <a:pt x="156" y="114"/>
                  </a:lnTo>
                  <a:lnTo>
                    <a:pt x="150" y="120"/>
                  </a:lnTo>
                  <a:lnTo>
                    <a:pt x="144" y="120"/>
                  </a:lnTo>
                  <a:lnTo>
                    <a:pt x="144" y="126"/>
                  </a:lnTo>
                  <a:lnTo>
                    <a:pt x="138" y="126"/>
                  </a:lnTo>
                  <a:lnTo>
                    <a:pt x="138" y="132"/>
                  </a:lnTo>
                  <a:lnTo>
                    <a:pt x="144" y="132"/>
                  </a:lnTo>
                  <a:lnTo>
                    <a:pt x="144" y="138"/>
                  </a:lnTo>
                  <a:lnTo>
                    <a:pt x="138" y="138"/>
                  </a:lnTo>
                  <a:lnTo>
                    <a:pt x="144" y="138"/>
                  </a:lnTo>
                  <a:lnTo>
                    <a:pt x="144" y="144"/>
                  </a:lnTo>
                  <a:lnTo>
                    <a:pt x="138" y="144"/>
                  </a:lnTo>
                  <a:lnTo>
                    <a:pt x="144" y="144"/>
                  </a:lnTo>
                  <a:close/>
                </a:path>
              </a:pathLst>
            </a:custGeom>
            <a:solidFill>
              <a:schemeClr val="accent1"/>
            </a:solidFill>
            <a:ln w="9525">
              <a:solidFill>
                <a:srgbClr val="B2B2B2"/>
              </a:solidFill>
              <a:round/>
              <a:headEnd/>
              <a:tailEnd/>
            </a:ln>
          </p:spPr>
          <p:txBody>
            <a:bodyPr/>
            <a:lstStyle/>
            <a:p>
              <a:endParaRPr lang="en-CA"/>
            </a:p>
          </p:txBody>
        </p:sp>
        <p:sp>
          <p:nvSpPr>
            <p:cNvPr id="413" name="Freeform 472"/>
            <p:cNvSpPr>
              <a:spLocks/>
            </p:cNvSpPr>
            <p:nvPr>
              <p:custDataLst>
                <p:tags r:id="rId36"/>
              </p:custDataLst>
            </p:nvPr>
          </p:nvSpPr>
          <p:spPr bwMode="gray">
            <a:xfrm>
              <a:off x="949" y="2927"/>
              <a:ext cx="112" cy="71"/>
            </a:xfrm>
            <a:custGeom>
              <a:avLst/>
              <a:gdLst>
                <a:gd name="T0" fmla="*/ 140724749 w 180"/>
                <a:gd name="T1" fmla="*/ 105418347 h 114"/>
                <a:gd name="T2" fmla="*/ 123133414 w 180"/>
                <a:gd name="T3" fmla="*/ 105418347 h 114"/>
                <a:gd name="T4" fmla="*/ 111406517 w 180"/>
                <a:gd name="T5" fmla="*/ 111275416 h 114"/>
                <a:gd name="T6" fmla="*/ 105543068 w 180"/>
                <a:gd name="T7" fmla="*/ 99562267 h 114"/>
                <a:gd name="T8" fmla="*/ 93816170 w 180"/>
                <a:gd name="T9" fmla="*/ 105418347 h 114"/>
                <a:gd name="T10" fmla="*/ 82089272 w 180"/>
                <a:gd name="T11" fmla="*/ 99562267 h 114"/>
                <a:gd name="T12" fmla="*/ 76225823 w 180"/>
                <a:gd name="T13" fmla="*/ 99562267 h 114"/>
                <a:gd name="T14" fmla="*/ 64498926 w 180"/>
                <a:gd name="T15" fmla="*/ 93705197 h 114"/>
                <a:gd name="T16" fmla="*/ 46908579 w 180"/>
                <a:gd name="T17" fmla="*/ 93705197 h 114"/>
                <a:gd name="T18" fmla="*/ 35180693 w 180"/>
                <a:gd name="T19" fmla="*/ 99562267 h 114"/>
                <a:gd name="T20" fmla="*/ 29317244 w 180"/>
                <a:gd name="T21" fmla="*/ 99562267 h 114"/>
                <a:gd name="T22" fmla="*/ 23453796 w 180"/>
                <a:gd name="T23" fmla="*/ 105418347 h 114"/>
                <a:gd name="T24" fmla="*/ 17590347 w 180"/>
                <a:gd name="T25" fmla="*/ 93705197 h 114"/>
                <a:gd name="T26" fmla="*/ 23453796 w 180"/>
                <a:gd name="T27" fmla="*/ 76135967 h 114"/>
                <a:gd name="T28" fmla="*/ 5863449 w 180"/>
                <a:gd name="T29" fmla="*/ 76135967 h 114"/>
                <a:gd name="T30" fmla="*/ 0 w 180"/>
                <a:gd name="T31" fmla="*/ 76135967 h 114"/>
                <a:gd name="T32" fmla="*/ 5863449 w 180"/>
                <a:gd name="T33" fmla="*/ 64422818 h 114"/>
                <a:gd name="T34" fmla="*/ 11726898 w 180"/>
                <a:gd name="T35" fmla="*/ 52709668 h 114"/>
                <a:gd name="T36" fmla="*/ 17590347 w 180"/>
                <a:gd name="T37" fmla="*/ 52709668 h 114"/>
                <a:gd name="T38" fmla="*/ 17590347 w 180"/>
                <a:gd name="T39" fmla="*/ 46852599 h 114"/>
                <a:gd name="T40" fmla="*/ 23453796 w 180"/>
                <a:gd name="T41" fmla="*/ 46852599 h 114"/>
                <a:gd name="T42" fmla="*/ 29317244 w 180"/>
                <a:gd name="T43" fmla="*/ 46852599 h 114"/>
                <a:gd name="T44" fmla="*/ 35180693 w 180"/>
                <a:gd name="T45" fmla="*/ 40996518 h 114"/>
                <a:gd name="T46" fmla="*/ 46908579 w 180"/>
                <a:gd name="T47" fmla="*/ 35139449 h 114"/>
                <a:gd name="T48" fmla="*/ 64498926 w 180"/>
                <a:gd name="T49" fmla="*/ 35139449 h 114"/>
                <a:gd name="T50" fmla="*/ 76225823 w 180"/>
                <a:gd name="T51" fmla="*/ 29283369 h 114"/>
                <a:gd name="T52" fmla="*/ 82089272 w 180"/>
                <a:gd name="T53" fmla="*/ 23426299 h 114"/>
                <a:gd name="T54" fmla="*/ 82089272 w 180"/>
                <a:gd name="T55" fmla="*/ 29283369 h 114"/>
                <a:gd name="T56" fmla="*/ 87952721 w 180"/>
                <a:gd name="T57" fmla="*/ 17570219 h 114"/>
                <a:gd name="T58" fmla="*/ 99679619 w 180"/>
                <a:gd name="T59" fmla="*/ 17570219 h 114"/>
                <a:gd name="T60" fmla="*/ 99679619 w 180"/>
                <a:gd name="T61" fmla="*/ 11713150 h 114"/>
                <a:gd name="T62" fmla="*/ 99679619 w 180"/>
                <a:gd name="T63" fmla="*/ 5857069 h 114"/>
                <a:gd name="T64" fmla="*/ 99679619 w 180"/>
                <a:gd name="T65" fmla="*/ 0 h 114"/>
                <a:gd name="T66" fmla="*/ 111406517 w 180"/>
                <a:gd name="T67" fmla="*/ 5857069 h 114"/>
                <a:gd name="T68" fmla="*/ 123133414 w 180"/>
                <a:gd name="T69" fmla="*/ 11713150 h 114"/>
                <a:gd name="T70" fmla="*/ 134861300 w 180"/>
                <a:gd name="T71" fmla="*/ 5857069 h 114"/>
                <a:gd name="T72" fmla="*/ 140724749 w 180"/>
                <a:gd name="T73" fmla="*/ 5857069 h 114"/>
                <a:gd name="T74" fmla="*/ 146588198 w 180"/>
                <a:gd name="T75" fmla="*/ 5857069 h 114"/>
                <a:gd name="T76" fmla="*/ 152451647 w 180"/>
                <a:gd name="T77" fmla="*/ 17570219 h 114"/>
                <a:gd name="T78" fmla="*/ 158315096 w 180"/>
                <a:gd name="T79" fmla="*/ 29283369 h 114"/>
                <a:gd name="T80" fmla="*/ 164178544 w 180"/>
                <a:gd name="T81" fmla="*/ 23426299 h 114"/>
                <a:gd name="T82" fmla="*/ 164178544 w 180"/>
                <a:gd name="T83" fmla="*/ 29283369 h 114"/>
                <a:gd name="T84" fmla="*/ 170041993 w 180"/>
                <a:gd name="T85" fmla="*/ 11713150 h 114"/>
                <a:gd name="T86" fmla="*/ 175905442 w 180"/>
                <a:gd name="T87" fmla="*/ 23426299 h 114"/>
                <a:gd name="T88" fmla="*/ 164178544 w 180"/>
                <a:gd name="T89" fmla="*/ 40996518 h 114"/>
                <a:gd name="T90" fmla="*/ 164178544 w 180"/>
                <a:gd name="T91" fmla="*/ 58565748 h 114"/>
                <a:gd name="T92" fmla="*/ 170041993 w 180"/>
                <a:gd name="T93" fmla="*/ 70278898 h 114"/>
                <a:gd name="T94" fmla="*/ 170041993 w 180"/>
                <a:gd name="T95" fmla="*/ 70278898 h 114"/>
                <a:gd name="T96" fmla="*/ 158315096 w 180"/>
                <a:gd name="T97" fmla="*/ 76135967 h 114"/>
                <a:gd name="T98" fmla="*/ 152451647 w 180"/>
                <a:gd name="T99" fmla="*/ 87849117 h 114"/>
                <a:gd name="T100" fmla="*/ 152451647 w 180"/>
                <a:gd name="T101" fmla="*/ 99562267 h 114"/>
                <a:gd name="T102" fmla="*/ 140724749 w 180"/>
                <a:gd name="T103" fmla="*/ 105418347 h 11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0"/>
                <a:gd name="T157" fmla="*/ 0 h 114"/>
                <a:gd name="T158" fmla="*/ 180 w 180"/>
                <a:gd name="T159" fmla="*/ 114 h 11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0" h="114">
                  <a:moveTo>
                    <a:pt x="144" y="108"/>
                  </a:moveTo>
                  <a:lnTo>
                    <a:pt x="144" y="114"/>
                  </a:lnTo>
                  <a:lnTo>
                    <a:pt x="144" y="108"/>
                  </a:lnTo>
                  <a:lnTo>
                    <a:pt x="138" y="108"/>
                  </a:lnTo>
                  <a:lnTo>
                    <a:pt x="132" y="108"/>
                  </a:lnTo>
                  <a:lnTo>
                    <a:pt x="126" y="108"/>
                  </a:lnTo>
                  <a:lnTo>
                    <a:pt x="126" y="114"/>
                  </a:lnTo>
                  <a:lnTo>
                    <a:pt x="120" y="114"/>
                  </a:lnTo>
                  <a:lnTo>
                    <a:pt x="114" y="114"/>
                  </a:lnTo>
                  <a:lnTo>
                    <a:pt x="114" y="108"/>
                  </a:lnTo>
                  <a:lnTo>
                    <a:pt x="114" y="102"/>
                  </a:lnTo>
                  <a:lnTo>
                    <a:pt x="108" y="102"/>
                  </a:lnTo>
                  <a:lnTo>
                    <a:pt x="102" y="102"/>
                  </a:lnTo>
                  <a:lnTo>
                    <a:pt x="96" y="102"/>
                  </a:lnTo>
                  <a:lnTo>
                    <a:pt x="96" y="108"/>
                  </a:lnTo>
                  <a:lnTo>
                    <a:pt x="96" y="102"/>
                  </a:lnTo>
                  <a:lnTo>
                    <a:pt x="90" y="102"/>
                  </a:lnTo>
                  <a:lnTo>
                    <a:pt x="84" y="102"/>
                  </a:lnTo>
                  <a:lnTo>
                    <a:pt x="78" y="102"/>
                  </a:lnTo>
                  <a:lnTo>
                    <a:pt x="78" y="108"/>
                  </a:lnTo>
                  <a:lnTo>
                    <a:pt x="78" y="102"/>
                  </a:lnTo>
                  <a:lnTo>
                    <a:pt x="72" y="102"/>
                  </a:lnTo>
                  <a:lnTo>
                    <a:pt x="66" y="102"/>
                  </a:lnTo>
                  <a:lnTo>
                    <a:pt x="66" y="96"/>
                  </a:lnTo>
                  <a:lnTo>
                    <a:pt x="60" y="96"/>
                  </a:lnTo>
                  <a:lnTo>
                    <a:pt x="54" y="96"/>
                  </a:lnTo>
                  <a:lnTo>
                    <a:pt x="48" y="96"/>
                  </a:lnTo>
                  <a:lnTo>
                    <a:pt x="48" y="102"/>
                  </a:lnTo>
                  <a:lnTo>
                    <a:pt x="42" y="102"/>
                  </a:lnTo>
                  <a:lnTo>
                    <a:pt x="36" y="102"/>
                  </a:lnTo>
                  <a:lnTo>
                    <a:pt x="36" y="108"/>
                  </a:lnTo>
                  <a:lnTo>
                    <a:pt x="30" y="108"/>
                  </a:lnTo>
                  <a:lnTo>
                    <a:pt x="30" y="102"/>
                  </a:lnTo>
                  <a:lnTo>
                    <a:pt x="30" y="108"/>
                  </a:lnTo>
                  <a:lnTo>
                    <a:pt x="30" y="102"/>
                  </a:lnTo>
                  <a:lnTo>
                    <a:pt x="24" y="108"/>
                  </a:lnTo>
                  <a:lnTo>
                    <a:pt x="24" y="102"/>
                  </a:lnTo>
                  <a:lnTo>
                    <a:pt x="24" y="96"/>
                  </a:lnTo>
                  <a:lnTo>
                    <a:pt x="18" y="96"/>
                  </a:lnTo>
                  <a:lnTo>
                    <a:pt x="18" y="90"/>
                  </a:lnTo>
                  <a:lnTo>
                    <a:pt x="18" y="84"/>
                  </a:lnTo>
                  <a:lnTo>
                    <a:pt x="24" y="78"/>
                  </a:lnTo>
                  <a:lnTo>
                    <a:pt x="18" y="78"/>
                  </a:lnTo>
                  <a:lnTo>
                    <a:pt x="12" y="78"/>
                  </a:lnTo>
                  <a:lnTo>
                    <a:pt x="6" y="78"/>
                  </a:lnTo>
                  <a:lnTo>
                    <a:pt x="0" y="78"/>
                  </a:lnTo>
                  <a:lnTo>
                    <a:pt x="0" y="84"/>
                  </a:lnTo>
                  <a:lnTo>
                    <a:pt x="0" y="78"/>
                  </a:lnTo>
                  <a:lnTo>
                    <a:pt x="0" y="72"/>
                  </a:lnTo>
                  <a:lnTo>
                    <a:pt x="0" y="66"/>
                  </a:lnTo>
                  <a:lnTo>
                    <a:pt x="6" y="66"/>
                  </a:lnTo>
                  <a:lnTo>
                    <a:pt x="6" y="60"/>
                  </a:lnTo>
                  <a:lnTo>
                    <a:pt x="6" y="54"/>
                  </a:lnTo>
                  <a:lnTo>
                    <a:pt x="12" y="54"/>
                  </a:lnTo>
                  <a:lnTo>
                    <a:pt x="6" y="54"/>
                  </a:lnTo>
                  <a:lnTo>
                    <a:pt x="12" y="54"/>
                  </a:lnTo>
                  <a:lnTo>
                    <a:pt x="18" y="54"/>
                  </a:lnTo>
                  <a:lnTo>
                    <a:pt x="12" y="54"/>
                  </a:lnTo>
                  <a:lnTo>
                    <a:pt x="18" y="54"/>
                  </a:lnTo>
                  <a:lnTo>
                    <a:pt x="18" y="48"/>
                  </a:lnTo>
                  <a:lnTo>
                    <a:pt x="24" y="48"/>
                  </a:lnTo>
                  <a:lnTo>
                    <a:pt x="24" y="42"/>
                  </a:lnTo>
                  <a:lnTo>
                    <a:pt x="24" y="48"/>
                  </a:lnTo>
                  <a:lnTo>
                    <a:pt x="24" y="42"/>
                  </a:lnTo>
                  <a:lnTo>
                    <a:pt x="30" y="42"/>
                  </a:lnTo>
                  <a:lnTo>
                    <a:pt x="30" y="48"/>
                  </a:lnTo>
                  <a:lnTo>
                    <a:pt x="30" y="42"/>
                  </a:lnTo>
                  <a:lnTo>
                    <a:pt x="30" y="48"/>
                  </a:lnTo>
                  <a:lnTo>
                    <a:pt x="36" y="42"/>
                  </a:lnTo>
                  <a:lnTo>
                    <a:pt x="36" y="36"/>
                  </a:lnTo>
                  <a:lnTo>
                    <a:pt x="42" y="36"/>
                  </a:lnTo>
                  <a:lnTo>
                    <a:pt x="48" y="36"/>
                  </a:lnTo>
                  <a:lnTo>
                    <a:pt x="54" y="36"/>
                  </a:lnTo>
                  <a:lnTo>
                    <a:pt x="60" y="36"/>
                  </a:lnTo>
                  <a:lnTo>
                    <a:pt x="66" y="36"/>
                  </a:lnTo>
                  <a:lnTo>
                    <a:pt x="72" y="36"/>
                  </a:lnTo>
                  <a:lnTo>
                    <a:pt x="72" y="30"/>
                  </a:lnTo>
                  <a:lnTo>
                    <a:pt x="78" y="30"/>
                  </a:lnTo>
                  <a:lnTo>
                    <a:pt x="78" y="24"/>
                  </a:lnTo>
                  <a:lnTo>
                    <a:pt x="78" y="30"/>
                  </a:lnTo>
                  <a:lnTo>
                    <a:pt x="84" y="24"/>
                  </a:lnTo>
                  <a:lnTo>
                    <a:pt x="84" y="30"/>
                  </a:lnTo>
                  <a:lnTo>
                    <a:pt x="84" y="24"/>
                  </a:lnTo>
                  <a:lnTo>
                    <a:pt x="84" y="30"/>
                  </a:lnTo>
                  <a:lnTo>
                    <a:pt x="84" y="24"/>
                  </a:lnTo>
                  <a:lnTo>
                    <a:pt x="90" y="24"/>
                  </a:lnTo>
                  <a:lnTo>
                    <a:pt x="90" y="18"/>
                  </a:lnTo>
                  <a:lnTo>
                    <a:pt x="90" y="24"/>
                  </a:lnTo>
                  <a:lnTo>
                    <a:pt x="96" y="24"/>
                  </a:lnTo>
                  <a:lnTo>
                    <a:pt x="102" y="18"/>
                  </a:lnTo>
                  <a:lnTo>
                    <a:pt x="96" y="18"/>
                  </a:lnTo>
                  <a:lnTo>
                    <a:pt x="96" y="12"/>
                  </a:lnTo>
                  <a:lnTo>
                    <a:pt x="102" y="12"/>
                  </a:lnTo>
                  <a:lnTo>
                    <a:pt x="96" y="12"/>
                  </a:lnTo>
                  <a:lnTo>
                    <a:pt x="102" y="12"/>
                  </a:lnTo>
                  <a:lnTo>
                    <a:pt x="102" y="6"/>
                  </a:lnTo>
                  <a:lnTo>
                    <a:pt x="96" y="6"/>
                  </a:lnTo>
                  <a:lnTo>
                    <a:pt x="96" y="0"/>
                  </a:lnTo>
                  <a:lnTo>
                    <a:pt x="102" y="0"/>
                  </a:lnTo>
                  <a:lnTo>
                    <a:pt x="108" y="0"/>
                  </a:lnTo>
                  <a:lnTo>
                    <a:pt x="114" y="0"/>
                  </a:lnTo>
                  <a:lnTo>
                    <a:pt x="114" y="6"/>
                  </a:lnTo>
                  <a:lnTo>
                    <a:pt x="120" y="6"/>
                  </a:lnTo>
                  <a:lnTo>
                    <a:pt x="120" y="12"/>
                  </a:lnTo>
                  <a:lnTo>
                    <a:pt x="126" y="12"/>
                  </a:lnTo>
                  <a:lnTo>
                    <a:pt x="132" y="12"/>
                  </a:lnTo>
                  <a:lnTo>
                    <a:pt x="138" y="12"/>
                  </a:lnTo>
                  <a:lnTo>
                    <a:pt x="138" y="6"/>
                  </a:lnTo>
                  <a:lnTo>
                    <a:pt x="138" y="12"/>
                  </a:lnTo>
                  <a:lnTo>
                    <a:pt x="138" y="6"/>
                  </a:lnTo>
                  <a:lnTo>
                    <a:pt x="144" y="6"/>
                  </a:lnTo>
                  <a:lnTo>
                    <a:pt x="150" y="6"/>
                  </a:lnTo>
                  <a:lnTo>
                    <a:pt x="150" y="12"/>
                  </a:lnTo>
                  <a:lnTo>
                    <a:pt x="150" y="6"/>
                  </a:lnTo>
                  <a:lnTo>
                    <a:pt x="156" y="6"/>
                  </a:lnTo>
                  <a:lnTo>
                    <a:pt x="156" y="12"/>
                  </a:lnTo>
                  <a:lnTo>
                    <a:pt x="156" y="18"/>
                  </a:lnTo>
                  <a:lnTo>
                    <a:pt x="156" y="24"/>
                  </a:lnTo>
                  <a:lnTo>
                    <a:pt x="156" y="30"/>
                  </a:lnTo>
                  <a:lnTo>
                    <a:pt x="162" y="30"/>
                  </a:lnTo>
                  <a:lnTo>
                    <a:pt x="168" y="24"/>
                  </a:lnTo>
                  <a:lnTo>
                    <a:pt x="168" y="30"/>
                  </a:lnTo>
                  <a:lnTo>
                    <a:pt x="168" y="24"/>
                  </a:lnTo>
                  <a:lnTo>
                    <a:pt x="168" y="30"/>
                  </a:lnTo>
                  <a:lnTo>
                    <a:pt x="168" y="24"/>
                  </a:lnTo>
                  <a:lnTo>
                    <a:pt x="168" y="30"/>
                  </a:lnTo>
                  <a:lnTo>
                    <a:pt x="174" y="24"/>
                  </a:lnTo>
                  <a:lnTo>
                    <a:pt x="174" y="18"/>
                  </a:lnTo>
                  <a:lnTo>
                    <a:pt x="174" y="12"/>
                  </a:lnTo>
                  <a:lnTo>
                    <a:pt x="174" y="18"/>
                  </a:lnTo>
                  <a:lnTo>
                    <a:pt x="174" y="24"/>
                  </a:lnTo>
                  <a:lnTo>
                    <a:pt x="180" y="24"/>
                  </a:lnTo>
                  <a:lnTo>
                    <a:pt x="174" y="30"/>
                  </a:lnTo>
                  <a:lnTo>
                    <a:pt x="168" y="36"/>
                  </a:lnTo>
                  <a:lnTo>
                    <a:pt x="168" y="42"/>
                  </a:lnTo>
                  <a:lnTo>
                    <a:pt x="168" y="48"/>
                  </a:lnTo>
                  <a:lnTo>
                    <a:pt x="168" y="54"/>
                  </a:lnTo>
                  <a:lnTo>
                    <a:pt x="168" y="60"/>
                  </a:lnTo>
                  <a:lnTo>
                    <a:pt x="174" y="60"/>
                  </a:lnTo>
                  <a:lnTo>
                    <a:pt x="174" y="66"/>
                  </a:lnTo>
                  <a:lnTo>
                    <a:pt x="174" y="72"/>
                  </a:lnTo>
                  <a:lnTo>
                    <a:pt x="180" y="78"/>
                  </a:lnTo>
                  <a:lnTo>
                    <a:pt x="174" y="78"/>
                  </a:lnTo>
                  <a:lnTo>
                    <a:pt x="174" y="72"/>
                  </a:lnTo>
                  <a:lnTo>
                    <a:pt x="168" y="72"/>
                  </a:lnTo>
                  <a:lnTo>
                    <a:pt x="168" y="78"/>
                  </a:lnTo>
                  <a:lnTo>
                    <a:pt x="162" y="78"/>
                  </a:lnTo>
                  <a:lnTo>
                    <a:pt x="156" y="78"/>
                  </a:lnTo>
                  <a:lnTo>
                    <a:pt x="156" y="84"/>
                  </a:lnTo>
                  <a:lnTo>
                    <a:pt x="156" y="90"/>
                  </a:lnTo>
                  <a:lnTo>
                    <a:pt x="162" y="96"/>
                  </a:lnTo>
                  <a:lnTo>
                    <a:pt x="156" y="96"/>
                  </a:lnTo>
                  <a:lnTo>
                    <a:pt x="156" y="102"/>
                  </a:lnTo>
                  <a:lnTo>
                    <a:pt x="156" y="108"/>
                  </a:lnTo>
                  <a:lnTo>
                    <a:pt x="150" y="108"/>
                  </a:lnTo>
                  <a:lnTo>
                    <a:pt x="144" y="108"/>
                  </a:lnTo>
                  <a:lnTo>
                    <a:pt x="150" y="108"/>
                  </a:lnTo>
                  <a:lnTo>
                    <a:pt x="144" y="108"/>
                  </a:lnTo>
                  <a:close/>
                </a:path>
              </a:pathLst>
            </a:custGeom>
            <a:solidFill>
              <a:schemeClr val="accent1"/>
            </a:solidFill>
            <a:ln w="9525">
              <a:solidFill>
                <a:srgbClr val="B2B2B2"/>
              </a:solidFill>
              <a:round/>
              <a:headEnd/>
              <a:tailEnd/>
            </a:ln>
          </p:spPr>
          <p:txBody>
            <a:bodyPr/>
            <a:lstStyle/>
            <a:p>
              <a:endParaRPr lang="en-CA"/>
            </a:p>
          </p:txBody>
        </p:sp>
        <p:sp>
          <p:nvSpPr>
            <p:cNvPr id="414" name="Freeform 473"/>
            <p:cNvSpPr>
              <a:spLocks/>
            </p:cNvSpPr>
            <p:nvPr>
              <p:custDataLst>
                <p:tags r:id="rId37"/>
              </p:custDataLst>
            </p:nvPr>
          </p:nvSpPr>
          <p:spPr bwMode="gray">
            <a:xfrm>
              <a:off x="1016" y="2908"/>
              <a:ext cx="172" cy="187"/>
            </a:xfrm>
            <a:custGeom>
              <a:avLst/>
              <a:gdLst>
                <a:gd name="T0" fmla="*/ 200252496 w 276"/>
                <a:gd name="T1" fmla="*/ 99965647 h 300"/>
                <a:gd name="T2" fmla="*/ 182583391 w 276"/>
                <a:gd name="T3" fmla="*/ 111726369 h 300"/>
                <a:gd name="T4" fmla="*/ 182583391 w 276"/>
                <a:gd name="T5" fmla="*/ 117607225 h 300"/>
                <a:gd name="T6" fmla="*/ 176693029 w 276"/>
                <a:gd name="T7" fmla="*/ 135247814 h 300"/>
                <a:gd name="T8" fmla="*/ 182583391 w 276"/>
                <a:gd name="T9" fmla="*/ 152888403 h 300"/>
                <a:gd name="T10" fmla="*/ 194363124 w 276"/>
                <a:gd name="T11" fmla="*/ 158769259 h 300"/>
                <a:gd name="T12" fmla="*/ 194363124 w 276"/>
                <a:gd name="T13" fmla="*/ 164649126 h 300"/>
                <a:gd name="T14" fmla="*/ 194363124 w 276"/>
                <a:gd name="T15" fmla="*/ 182290704 h 300"/>
                <a:gd name="T16" fmla="*/ 188472763 w 276"/>
                <a:gd name="T17" fmla="*/ 194051427 h 300"/>
                <a:gd name="T18" fmla="*/ 194363124 w 276"/>
                <a:gd name="T19" fmla="*/ 211692016 h 300"/>
                <a:gd name="T20" fmla="*/ 200252496 w 276"/>
                <a:gd name="T21" fmla="*/ 223452738 h 300"/>
                <a:gd name="T22" fmla="*/ 188472763 w 276"/>
                <a:gd name="T23" fmla="*/ 241094317 h 300"/>
                <a:gd name="T24" fmla="*/ 188472763 w 276"/>
                <a:gd name="T25" fmla="*/ 252855039 h 300"/>
                <a:gd name="T26" fmla="*/ 176693029 w 276"/>
                <a:gd name="T27" fmla="*/ 246974183 h 300"/>
                <a:gd name="T28" fmla="*/ 164914286 w 276"/>
                <a:gd name="T29" fmla="*/ 241094317 h 300"/>
                <a:gd name="T30" fmla="*/ 153134552 w 276"/>
                <a:gd name="T31" fmla="*/ 258734906 h 300"/>
                <a:gd name="T32" fmla="*/ 147244191 w 276"/>
                <a:gd name="T33" fmla="*/ 270495628 h 300"/>
                <a:gd name="T34" fmla="*/ 147244191 w 276"/>
                <a:gd name="T35" fmla="*/ 288137207 h 300"/>
                <a:gd name="T36" fmla="*/ 123685714 w 276"/>
                <a:gd name="T37" fmla="*/ 288137207 h 300"/>
                <a:gd name="T38" fmla="*/ 117795353 w 276"/>
                <a:gd name="T39" fmla="*/ 288137207 h 300"/>
                <a:gd name="T40" fmla="*/ 100126248 w 276"/>
                <a:gd name="T41" fmla="*/ 276376484 h 300"/>
                <a:gd name="T42" fmla="*/ 94236876 w 276"/>
                <a:gd name="T43" fmla="*/ 264615762 h 300"/>
                <a:gd name="T44" fmla="*/ 76566782 w 276"/>
                <a:gd name="T45" fmla="*/ 252855039 h 300"/>
                <a:gd name="T46" fmla="*/ 58897676 w 276"/>
                <a:gd name="T47" fmla="*/ 264615762 h 300"/>
                <a:gd name="T48" fmla="*/ 47117943 w 276"/>
                <a:gd name="T49" fmla="*/ 264615762 h 300"/>
                <a:gd name="T50" fmla="*/ 29448838 w 276"/>
                <a:gd name="T51" fmla="*/ 264615762 h 300"/>
                <a:gd name="T52" fmla="*/ 17669105 w 276"/>
                <a:gd name="T53" fmla="*/ 252855039 h 300"/>
                <a:gd name="T54" fmla="*/ 5889372 w 276"/>
                <a:gd name="T55" fmla="*/ 246974183 h 300"/>
                <a:gd name="T56" fmla="*/ 0 w 276"/>
                <a:gd name="T57" fmla="*/ 235213461 h 300"/>
                <a:gd name="T58" fmla="*/ 5889372 w 276"/>
                <a:gd name="T59" fmla="*/ 223452738 h 300"/>
                <a:gd name="T60" fmla="*/ 11779733 w 276"/>
                <a:gd name="T61" fmla="*/ 211692016 h 300"/>
                <a:gd name="T62" fmla="*/ 23559466 w 276"/>
                <a:gd name="T63" fmla="*/ 194051427 h 300"/>
                <a:gd name="T64" fmla="*/ 35338210 w 276"/>
                <a:gd name="T65" fmla="*/ 176409848 h 300"/>
                <a:gd name="T66" fmla="*/ 53008305 w 276"/>
                <a:gd name="T67" fmla="*/ 158769259 h 300"/>
                <a:gd name="T68" fmla="*/ 47117943 w 276"/>
                <a:gd name="T69" fmla="*/ 152888403 h 300"/>
                <a:gd name="T70" fmla="*/ 47117943 w 276"/>
                <a:gd name="T71" fmla="*/ 147008537 h 300"/>
                <a:gd name="T72" fmla="*/ 41228571 w 276"/>
                <a:gd name="T73" fmla="*/ 135247814 h 300"/>
                <a:gd name="T74" fmla="*/ 47117943 w 276"/>
                <a:gd name="T75" fmla="*/ 123487092 h 300"/>
                <a:gd name="T76" fmla="*/ 53008305 w 276"/>
                <a:gd name="T77" fmla="*/ 105846503 h 300"/>
                <a:gd name="T78" fmla="*/ 70677410 w 276"/>
                <a:gd name="T79" fmla="*/ 105846503 h 300"/>
                <a:gd name="T80" fmla="*/ 58897676 w 276"/>
                <a:gd name="T81" fmla="*/ 82325058 h 300"/>
                <a:gd name="T82" fmla="*/ 70677410 w 276"/>
                <a:gd name="T83" fmla="*/ 52922757 h 300"/>
                <a:gd name="T84" fmla="*/ 82457143 w 276"/>
                <a:gd name="T85" fmla="*/ 47042890 h 300"/>
                <a:gd name="T86" fmla="*/ 106015620 w 276"/>
                <a:gd name="T87" fmla="*/ 52922757 h 300"/>
                <a:gd name="T88" fmla="*/ 123685714 w 276"/>
                <a:gd name="T89" fmla="*/ 35282168 h 300"/>
                <a:gd name="T90" fmla="*/ 135465447 w 276"/>
                <a:gd name="T91" fmla="*/ 17640589 h 300"/>
                <a:gd name="T92" fmla="*/ 135465447 w 276"/>
                <a:gd name="T93" fmla="*/ 0 h 300"/>
                <a:gd name="T94" fmla="*/ 159023924 w 276"/>
                <a:gd name="T95" fmla="*/ 5879866 h 300"/>
                <a:gd name="T96" fmla="*/ 176693029 w 276"/>
                <a:gd name="T97" fmla="*/ 5879866 h 300"/>
                <a:gd name="T98" fmla="*/ 194363124 w 276"/>
                <a:gd name="T99" fmla="*/ 0 h 300"/>
                <a:gd name="T100" fmla="*/ 212032229 w 276"/>
                <a:gd name="T101" fmla="*/ 5879866 h 300"/>
                <a:gd name="T102" fmla="*/ 259150172 w 276"/>
                <a:gd name="T103" fmla="*/ 5879866 h 300"/>
                <a:gd name="T104" fmla="*/ 270929905 w 276"/>
                <a:gd name="T105" fmla="*/ 17640589 h 300"/>
                <a:gd name="T106" fmla="*/ 259150172 w 276"/>
                <a:gd name="T107" fmla="*/ 29401312 h 300"/>
                <a:gd name="T108" fmla="*/ 247370439 w 276"/>
                <a:gd name="T109" fmla="*/ 41162034 h 300"/>
                <a:gd name="T110" fmla="*/ 229701334 w 276"/>
                <a:gd name="T111" fmla="*/ 47042890 h 300"/>
                <a:gd name="T112" fmla="*/ 217921601 w 276"/>
                <a:gd name="T113" fmla="*/ 58803613 h 300"/>
                <a:gd name="T114" fmla="*/ 223811962 w 276"/>
                <a:gd name="T115" fmla="*/ 64683479 h 300"/>
                <a:gd name="T116" fmla="*/ 223811962 w 276"/>
                <a:gd name="T117" fmla="*/ 82325058 h 3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76"/>
                <a:gd name="T178" fmla="*/ 0 h 300"/>
                <a:gd name="T179" fmla="*/ 276 w 276"/>
                <a:gd name="T180" fmla="*/ 300 h 3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76" h="300">
                  <a:moveTo>
                    <a:pt x="228" y="96"/>
                  </a:moveTo>
                  <a:lnTo>
                    <a:pt x="222" y="96"/>
                  </a:lnTo>
                  <a:lnTo>
                    <a:pt x="216" y="96"/>
                  </a:lnTo>
                  <a:lnTo>
                    <a:pt x="204" y="96"/>
                  </a:lnTo>
                  <a:lnTo>
                    <a:pt x="204" y="102"/>
                  </a:lnTo>
                  <a:lnTo>
                    <a:pt x="198" y="102"/>
                  </a:lnTo>
                  <a:lnTo>
                    <a:pt x="192" y="102"/>
                  </a:lnTo>
                  <a:lnTo>
                    <a:pt x="186" y="114"/>
                  </a:lnTo>
                  <a:lnTo>
                    <a:pt x="186" y="120"/>
                  </a:lnTo>
                  <a:lnTo>
                    <a:pt x="186" y="114"/>
                  </a:lnTo>
                  <a:lnTo>
                    <a:pt x="186" y="120"/>
                  </a:lnTo>
                  <a:lnTo>
                    <a:pt x="192" y="120"/>
                  </a:lnTo>
                  <a:lnTo>
                    <a:pt x="186" y="120"/>
                  </a:lnTo>
                  <a:lnTo>
                    <a:pt x="192" y="120"/>
                  </a:lnTo>
                  <a:lnTo>
                    <a:pt x="186" y="120"/>
                  </a:lnTo>
                  <a:lnTo>
                    <a:pt x="180" y="120"/>
                  </a:lnTo>
                  <a:lnTo>
                    <a:pt x="180" y="126"/>
                  </a:lnTo>
                  <a:lnTo>
                    <a:pt x="174" y="126"/>
                  </a:lnTo>
                  <a:lnTo>
                    <a:pt x="174" y="132"/>
                  </a:lnTo>
                  <a:lnTo>
                    <a:pt x="180" y="138"/>
                  </a:lnTo>
                  <a:lnTo>
                    <a:pt x="186" y="138"/>
                  </a:lnTo>
                  <a:lnTo>
                    <a:pt x="192" y="138"/>
                  </a:lnTo>
                  <a:lnTo>
                    <a:pt x="192" y="144"/>
                  </a:lnTo>
                  <a:lnTo>
                    <a:pt x="192" y="150"/>
                  </a:lnTo>
                  <a:lnTo>
                    <a:pt x="186" y="156"/>
                  </a:lnTo>
                  <a:lnTo>
                    <a:pt x="186" y="150"/>
                  </a:lnTo>
                  <a:lnTo>
                    <a:pt x="186" y="156"/>
                  </a:lnTo>
                  <a:lnTo>
                    <a:pt x="192" y="156"/>
                  </a:lnTo>
                  <a:lnTo>
                    <a:pt x="192" y="162"/>
                  </a:lnTo>
                  <a:lnTo>
                    <a:pt x="198" y="162"/>
                  </a:lnTo>
                  <a:lnTo>
                    <a:pt x="192" y="162"/>
                  </a:lnTo>
                  <a:lnTo>
                    <a:pt x="192" y="168"/>
                  </a:lnTo>
                  <a:lnTo>
                    <a:pt x="198" y="168"/>
                  </a:lnTo>
                  <a:lnTo>
                    <a:pt x="198" y="174"/>
                  </a:lnTo>
                  <a:lnTo>
                    <a:pt x="198" y="168"/>
                  </a:lnTo>
                  <a:lnTo>
                    <a:pt x="198" y="174"/>
                  </a:lnTo>
                  <a:lnTo>
                    <a:pt x="198" y="180"/>
                  </a:lnTo>
                  <a:lnTo>
                    <a:pt x="198" y="186"/>
                  </a:lnTo>
                  <a:lnTo>
                    <a:pt x="198" y="180"/>
                  </a:lnTo>
                  <a:lnTo>
                    <a:pt x="198" y="186"/>
                  </a:lnTo>
                  <a:lnTo>
                    <a:pt x="198" y="192"/>
                  </a:lnTo>
                  <a:lnTo>
                    <a:pt x="192" y="192"/>
                  </a:lnTo>
                  <a:lnTo>
                    <a:pt x="192" y="198"/>
                  </a:lnTo>
                  <a:lnTo>
                    <a:pt x="192" y="192"/>
                  </a:lnTo>
                  <a:lnTo>
                    <a:pt x="192" y="198"/>
                  </a:lnTo>
                  <a:lnTo>
                    <a:pt x="186" y="198"/>
                  </a:lnTo>
                  <a:lnTo>
                    <a:pt x="186" y="204"/>
                  </a:lnTo>
                  <a:lnTo>
                    <a:pt x="192" y="204"/>
                  </a:lnTo>
                  <a:lnTo>
                    <a:pt x="198" y="210"/>
                  </a:lnTo>
                  <a:lnTo>
                    <a:pt x="198" y="216"/>
                  </a:lnTo>
                  <a:lnTo>
                    <a:pt x="204" y="216"/>
                  </a:lnTo>
                  <a:lnTo>
                    <a:pt x="210" y="216"/>
                  </a:lnTo>
                  <a:lnTo>
                    <a:pt x="210" y="222"/>
                  </a:lnTo>
                  <a:lnTo>
                    <a:pt x="204" y="222"/>
                  </a:lnTo>
                  <a:lnTo>
                    <a:pt x="204" y="228"/>
                  </a:lnTo>
                  <a:lnTo>
                    <a:pt x="204" y="234"/>
                  </a:lnTo>
                  <a:lnTo>
                    <a:pt x="198" y="234"/>
                  </a:lnTo>
                  <a:lnTo>
                    <a:pt x="198" y="240"/>
                  </a:lnTo>
                  <a:lnTo>
                    <a:pt x="192" y="240"/>
                  </a:lnTo>
                  <a:lnTo>
                    <a:pt x="192" y="246"/>
                  </a:lnTo>
                  <a:lnTo>
                    <a:pt x="198" y="246"/>
                  </a:lnTo>
                  <a:lnTo>
                    <a:pt x="192" y="252"/>
                  </a:lnTo>
                  <a:lnTo>
                    <a:pt x="198" y="252"/>
                  </a:lnTo>
                  <a:lnTo>
                    <a:pt x="192" y="252"/>
                  </a:lnTo>
                  <a:lnTo>
                    <a:pt x="192" y="258"/>
                  </a:lnTo>
                  <a:lnTo>
                    <a:pt x="192" y="252"/>
                  </a:lnTo>
                  <a:lnTo>
                    <a:pt x="186" y="258"/>
                  </a:lnTo>
                  <a:lnTo>
                    <a:pt x="186" y="252"/>
                  </a:lnTo>
                  <a:lnTo>
                    <a:pt x="180" y="258"/>
                  </a:lnTo>
                  <a:lnTo>
                    <a:pt x="180" y="252"/>
                  </a:lnTo>
                  <a:lnTo>
                    <a:pt x="180" y="246"/>
                  </a:lnTo>
                  <a:lnTo>
                    <a:pt x="180" y="240"/>
                  </a:lnTo>
                  <a:lnTo>
                    <a:pt x="174" y="240"/>
                  </a:lnTo>
                  <a:lnTo>
                    <a:pt x="174" y="246"/>
                  </a:lnTo>
                  <a:lnTo>
                    <a:pt x="168" y="246"/>
                  </a:lnTo>
                  <a:lnTo>
                    <a:pt x="168" y="252"/>
                  </a:lnTo>
                  <a:lnTo>
                    <a:pt x="168" y="258"/>
                  </a:lnTo>
                  <a:lnTo>
                    <a:pt x="168" y="264"/>
                  </a:lnTo>
                  <a:lnTo>
                    <a:pt x="162" y="264"/>
                  </a:lnTo>
                  <a:lnTo>
                    <a:pt x="156" y="264"/>
                  </a:lnTo>
                  <a:lnTo>
                    <a:pt x="156" y="270"/>
                  </a:lnTo>
                  <a:lnTo>
                    <a:pt x="156" y="276"/>
                  </a:lnTo>
                  <a:lnTo>
                    <a:pt x="156" y="270"/>
                  </a:lnTo>
                  <a:lnTo>
                    <a:pt x="150" y="270"/>
                  </a:lnTo>
                  <a:lnTo>
                    <a:pt x="150" y="276"/>
                  </a:lnTo>
                  <a:lnTo>
                    <a:pt x="150" y="282"/>
                  </a:lnTo>
                  <a:lnTo>
                    <a:pt x="150" y="288"/>
                  </a:lnTo>
                  <a:lnTo>
                    <a:pt x="150" y="294"/>
                  </a:lnTo>
                  <a:lnTo>
                    <a:pt x="150" y="300"/>
                  </a:lnTo>
                  <a:lnTo>
                    <a:pt x="150" y="294"/>
                  </a:lnTo>
                  <a:lnTo>
                    <a:pt x="144" y="294"/>
                  </a:lnTo>
                  <a:lnTo>
                    <a:pt x="144" y="300"/>
                  </a:lnTo>
                  <a:lnTo>
                    <a:pt x="138" y="294"/>
                  </a:lnTo>
                  <a:lnTo>
                    <a:pt x="132" y="294"/>
                  </a:lnTo>
                  <a:lnTo>
                    <a:pt x="126" y="294"/>
                  </a:lnTo>
                  <a:lnTo>
                    <a:pt x="132" y="294"/>
                  </a:lnTo>
                  <a:lnTo>
                    <a:pt x="132" y="288"/>
                  </a:lnTo>
                  <a:lnTo>
                    <a:pt x="126" y="288"/>
                  </a:lnTo>
                  <a:lnTo>
                    <a:pt x="126" y="294"/>
                  </a:lnTo>
                  <a:lnTo>
                    <a:pt x="120" y="294"/>
                  </a:lnTo>
                  <a:lnTo>
                    <a:pt x="120" y="288"/>
                  </a:lnTo>
                  <a:lnTo>
                    <a:pt x="114" y="288"/>
                  </a:lnTo>
                  <a:lnTo>
                    <a:pt x="108" y="288"/>
                  </a:lnTo>
                  <a:lnTo>
                    <a:pt x="108" y="282"/>
                  </a:lnTo>
                  <a:lnTo>
                    <a:pt x="102" y="282"/>
                  </a:lnTo>
                  <a:lnTo>
                    <a:pt x="102" y="276"/>
                  </a:lnTo>
                  <a:lnTo>
                    <a:pt x="108" y="276"/>
                  </a:lnTo>
                  <a:lnTo>
                    <a:pt x="102" y="276"/>
                  </a:lnTo>
                  <a:lnTo>
                    <a:pt x="96" y="276"/>
                  </a:lnTo>
                  <a:lnTo>
                    <a:pt x="96" y="270"/>
                  </a:lnTo>
                  <a:lnTo>
                    <a:pt x="90" y="270"/>
                  </a:lnTo>
                  <a:lnTo>
                    <a:pt x="84" y="270"/>
                  </a:lnTo>
                  <a:lnTo>
                    <a:pt x="84" y="264"/>
                  </a:lnTo>
                  <a:lnTo>
                    <a:pt x="78" y="264"/>
                  </a:lnTo>
                  <a:lnTo>
                    <a:pt x="78" y="258"/>
                  </a:lnTo>
                  <a:lnTo>
                    <a:pt x="72" y="258"/>
                  </a:lnTo>
                  <a:lnTo>
                    <a:pt x="66" y="258"/>
                  </a:lnTo>
                  <a:lnTo>
                    <a:pt x="66" y="264"/>
                  </a:lnTo>
                  <a:lnTo>
                    <a:pt x="60" y="264"/>
                  </a:lnTo>
                  <a:lnTo>
                    <a:pt x="60" y="270"/>
                  </a:lnTo>
                  <a:lnTo>
                    <a:pt x="60" y="276"/>
                  </a:lnTo>
                  <a:lnTo>
                    <a:pt x="54" y="270"/>
                  </a:lnTo>
                  <a:lnTo>
                    <a:pt x="54" y="276"/>
                  </a:lnTo>
                  <a:lnTo>
                    <a:pt x="48" y="276"/>
                  </a:lnTo>
                  <a:lnTo>
                    <a:pt x="48" y="270"/>
                  </a:lnTo>
                  <a:lnTo>
                    <a:pt x="42" y="270"/>
                  </a:lnTo>
                  <a:lnTo>
                    <a:pt x="36" y="270"/>
                  </a:lnTo>
                  <a:lnTo>
                    <a:pt x="30" y="270"/>
                  </a:lnTo>
                  <a:lnTo>
                    <a:pt x="30" y="276"/>
                  </a:lnTo>
                  <a:lnTo>
                    <a:pt x="30" y="270"/>
                  </a:lnTo>
                  <a:lnTo>
                    <a:pt x="30" y="264"/>
                  </a:lnTo>
                  <a:lnTo>
                    <a:pt x="30" y="258"/>
                  </a:lnTo>
                  <a:lnTo>
                    <a:pt x="30" y="252"/>
                  </a:lnTo>
                  <a:lnTo>
                    <a:pt x="24" y="258"/>
                  </a:lnTo>
                  <a:lnTo>
                    <a:pt x="18" y="258"/>
                  </a:lnTo>
                  <a:lnTo>
                    <a:pt x="12" y="258"/>
                  </a:lnTo>
                  <a:lnTo>
                    <a:pt x="12" y="252"/>
                  </a:lnTo>
                  <a:lnTo>
                    <a:pt x="6" y="252"/>
                  </a:lnTo>
                  <a:lnTo>
                    <a:pt x="12" y="252"/>
                  </a:lnTo>
                  <a:lnTo>
                    <a:pt x="6" y="252"/>
                  </a:lnTo>
                  <a:lnTo>
                    <a:pt x="12" y="246"/>
                  </a:lnTo>
                  <a:lnTo>
                    <a:pt x="6" y="246"/>
                  </a:lnTo>
                  <a:lnTo>
                    <a:pt x="0" y="252"/>
                  </a:lnTo>
                  <a:lnTo>
                    <a:pt x="0" y="246"/>
                  </a:lnTo>
                  <a:lnTo>
                    <a:pt x="0" y="240"/>
                  </a:lnTo>
                  <a:lnTo>
                    <a:pt x="6" y="240"/>
                  </a:lnTo>
                  <a:lnTo>
                    <a:pt x="0" y="240"/>
                  </a:lnTo>
                  <a:lnTo>
                    <a:pt x="0" y="234"/>
                  </a:lnTo>
                  <a:lnTo>
                    <a:pt x="6" y="234"/>
                  </a:lnTo>
                  <a:lnTo>
                    <a:pt x="6" y="228"/>
                  </a:lnTo>
                  <a:lnTo>
                    <a:pt x="12" y="228"/>
                  </a:lnTo>
                  <a:lnTo>
                    <a:pt x="12" y="222"/>
                  </a:lnTo>
                  <a:lnTo>
                    <a:pt x="18" y="222"/>
                  </a:lnTo>
                  <a:lnTo>
                    <a:pt x="18" y="216"/>
                  </a:lnTo>
                  <a:lnTo>
                    <a:pt x="12" y="216"/>
                  </a:lnTo>
                  <a:lnTo>
                    <a:pt x="12" y="210"/>
                  </a:lnTo>
                  <a:lnTo>
                    <a:pt x="12" y="204"/>
                  </a:lnTo>
                  <a:lnTo>
                    <a:pt x="18" y="204"/>
                  </a:lnTo>
                  <a:lnTo>
                    <a:pt x="18" y="198"/>
                  </a:lnTo>
                  <a:lnTo>
                    <a:pt x="24" y="198"/>
                  </a:lnTo>
                  <a:lnTo>
                    <a:pt x="24" y="192"/>
                  </a:lnTo>
                  <a:lnTo>
                    <a:pt x="30" y="192"/>
                  </a:lnTo>
                  <a:lnTo>
                    <a:pt x="30" y="186"/>
                  </a:lnTo>
                  <a:lnTo>
                    <a:pt x="30" y="180"/>
                  </a:lnTo>
                  <a:lnTo>
                    <a:pt x="36" y="180"/>
                  </a:lnTo>
                  <a:lnTo>
                    <a:pt x="42" y="180"/>
                  </a:lnTo>
                  <a:lnTo>
                    <a:pt x="42" y="174"/>
                  </a:lnTo>
                  <a:lnTo>
                    <a:pt x="42" y="168"/>
                  </a:lnTo>
                  <a:lnTo>
                    <a:pt x="48" y="162"/>
                  </a:lnTo>
                  <a:lnTo>
                    <a:pt x="54" y="162"/>
                  </a:lnTo>
                  <a:lnTo>
                    <a:pt x="54" y="156"/>
                  </a:lnTo>
                  <a:lnTo>
                    <a:pt x="54" y="162"/>
                  </a:lnTo>
                  <a:lnTo>
                    <a:pt x="48" y="156"/>
                  </a:lnTo>
                  <a:lnTo>
                    <a:pt x="54" y="156"/>
                  </a:lnTo>
                  <a:lnTo>
                    <a:pt x="48" y="156"/>
                  </a:lnTo>
                  <a:lnTo>
                    <a:pt x="42" y="156"/>
                  </a:lnTo>
                  <a:lnTo>
                    <a:pt x="48" y="156"/>
                  </a:lnTo>
                  <a:lnTo>
                    <a:pt x="42" y="156"/>
                  </a:lnTo>
                  <a:lnTo>
                    <a:pt x="42" y="150"/>
                  </a:lnTo>
                  <a:lnTo>
                    <a:pt x="48" y="150"/>
                  </a:lnTo>
                  <a:lnTo>
                    <a:pt x="42" y="150"/>
                  </a:lnTo>
                  <a:lnTo>
                    <a:pt x="42" y="144"/>
                  </a:lnTo>
                  <a:lnTo>
                    <a:pt x="36" y="144"/>
                  </a:lnTo>
                  <a:lnTo>
                    <a:pt x="36" y="138"/>
                  </a:lnTo>
                  <a:lnTo>
                    <a:pt x="42" y="138"/>
                  </a:lnTo>
                  <a:lnTo>
                    <a:pt x="36" y="138"/>
                  </a:lnTo>
                  <a:lnTo>
                    <a:pt x="42" y="138"/>
                  </a:lnTo>
                  <a:lnTo>
                    <a:pt x="48" y="138"/>
                  </a:lnTo>
                  <a:lnTo>
                    <a:pt x="48" y="132"/>
                  </a:lnTo>
                  <a:lnTo>
                    <a:pt x="48" y="126"/>
                  </a:lnTo>
                  <a:lnTo>
                    <a:pt x="54" y="126"/>
                  </a:lnTo>
                  <a:lnTo>
                    <a:pt x="48" y="120"/>
                  </a:lnTo>
                  <a:lnTo>
                    <a:pt x="48" y="114"/>
                  </a:lnTo>
                  <a:lnTo>
                    <a:pt x="48" y="108"/>
                  </a:lnTo>
                  <a:lnTo>
                    <a:pt x="54" y="108"/>
                  </a:lnTo>
                  <a:lnTo>
                    <a:pt x="60" y="108"/>
                  </a:lnTo>
                  <a:lnTo>
                    <a:pt x="60" y="102"/>
                  </a:lnTo>
                  <a:lnTo>
                    <a:pt x="66" y="102"/>
                  </a:lnTo>
                  <a:lnTo>
                    <a:pt x="66" y="108"/>
                  </a:lnTo>
                  <a:lnTo>
                    <a:pt x="72" y="108"/>
                  </a:lnTo>
                  <a:lnTo>
                    <a:pt x="66" y="102"/>
                  </a:lnTo>
                  <a:lnTo>
                    <a:pt x="66" y="96"/>
                  </a:lnTo>
                  <a:lnTo>
                    <a:pt x="66" y="90"/>
                  </a:lnTo>
                  <a:lnTo>
                    <a:pt x="60" y="90"/>
                  </a:lnTo>
                  <a:lnTo>
                    <a:pt x="60" y="84"/>
                  </a:lnTo>
                  <a:lnTo>
                    <a:pt x="60" y="78"/>
                  </a:lnTo>
                  <a:lnTo>
                    <a:pt x="60" y="72"/>
                  </a:lnTo>
                  <a:lnTo>
                    <a:pt x="60" y="66"/>
                  </a:lnTo>
                  <a:lnTo>
                    <a:pt x="66" y="60"/>
                  </a:lnTo>
                  <a:lnTo>
                    <a:pt x="72" y="54"/>
                  </a:lnTo>
                  <a:lnTo>
                    <a:pt x="72" y="48"/>
                  </a:lnTo>
                  <a:lnTo>
                    <a:pt x="78" y="48"/>
                  </a:lnTo>
                  <a:lnTo>
                    <a:pt x="78" y="42"/>
                  </a:lnTo>
                  <a:lnTo>
                    <a:pt x="84" y="42"/>
                  </a:lnTo>
                  <a:lnTo>
                    <a:pt x="84" y="48"/>
                  </a:lnTo>
                  <a:lnTo>
                    <a:pt x="90" y="48"/>
                  </a:lnTo>
                  <a:lnTo>
                    <a:pt x="90" y="54"/>
                  </a:lnTo>
                  <a:lnTo>
                    <a:pt x="96" y="54"/>
                  </a:lnTo>
                  <a:lnTo>
                    <a:pt x="102" y="54"/>
                  </a:lnTo>
                  <a:lnTo>
                    <a:pt x="108" y="54"/>
                  </a:lnTo>
                  <a:lnTo>
                    <a:pt x="114" y="48"/>
                  </a:lnTo>
                  <a:lnTo>
                    <a:pt x="120" y="48"/>
                  </a:lnTo>
                  <a:lnTo>
                    <a:pt x="120" y="42"/>
                  </a:lnTo>
                  <a:lnTo>
                    <a:pt x="126" y="42"/>
                  </a:lnTo>
                  <a:lnTo>
                    <a:pt x="126" y="36"/>
                  </a:lnTo>
                  <a:lnTo>
                    <a:pt x="126" y="30"/>
                  </a:lnTo>
                  <a:lnTo>
                    <a:pt x="132" y="30"/>
                  </a:lnTo>
                  <a:lnTo>
                    <a:pt x="138" y="30"/>
                  </a:lnTo>
                  <a:lnTo>
                    <a:pt x="138" y="24"/>
                  </a:lnTo>
                  <a:lnTo>
                    <a:pt x="138" y="18"/>
                  </a:lnTo>
                  <a:lnTo>
                    <a:pt x="144" y="18"/>
                  </a:lnTo>
                  <a:lnTo>
                    <a:pt x="138" y="18"/>
                  </a:lnTo>
                  <a:lnTo>
                    <a:pt x="138" y="12"/>
                  </a:lnTo>
                  <a:lnTo>
                    <a:pt x="138" y="6"/>
                  </a:lnTo>
                  <a:lnTo>
                    <a:pt x="138" y="0"/>
                  </a:lnTo>
                  <a:lnTo>
                    <a:pt x="144" y="0"/>
                  </a:lnTo>
                  <a:lnTo>
                    <a:pt x="150" y="0"/>
                  </a:lnTo>
                  <a:lnTo>
                    <a:pt x="156" y="0"/>
                  </a:lnTo>
                  <a:lnTo>
                    <a:pt x="162" y="0"/>
                  </a:lnTo>
                  <a:lnTo>
                    <a:pt x="162" y="6"/>
                  </a:lnTo>
                  <a:lnTo>
                    <a:pt x="168" y="6"/>
                  </a:lnTo>
                  <a:lnTo>
                    <a:pt x="168" y="12"/>
                  </a:lnTo>
                  <a:lnTo>
                    <a:pt x="174" y="12"/>
                  </a:lnTo>
                  <a:lnTo>
                    <a:pt x="180" y="12"/>
                  </a:lnTo>
                  <a:lnTo>
                    <a:pt x="180" y="6"/>
                  </a:lnTo>
                  <a:lnTo>
                    <a:pt x="186" y="6"/>
                  </a:lnTo>
                  <a:lnTo>
                    <a:pt x="186" y="0"/>
                  </a:lnTo>
                  <a:lnTo>
                    <a:pt x="192" y="0"/>
                  </a:lnTo>
                  <a:lnTo>
                    <a:pt x="186" y="0"/>
                  </a:lnTo>
                  <a:lnTo>
                    <a:pt x="198" y="0"/>
                  </a:lnTo>
                  <a:lnTo>
                    <a:pt x="210" y="0"/>
                  </a:lnTo>
                  <a:lnTo>
                    <a:pt x="210" y="6"/>
                  </a:lnTo>
                  <a:lnTo>
                    <a:pt x="216" y="6"/>
                  </a:lnTo>
                  <a:lnTo>
                    <a:pt x="216" y="0"/>
                  </a:lnTo>
                  <a:lnTo>
                    <a:pt x="216" y="6"/>
                  </a:lnTo>
                  <a:lnTo>
                    <a:pt x="222" y="6"/>
                  </a:lnTo>
                  <a:lnTo>
                    <a:pt x="240" y="6"/>
                  </a:lnTo>
                  <a:lnTo>
                    <a:pt x="252" y="6"/>
                  </a:lnTo>
                  <a:lnTo>
                    <a:pt x="258" y="6"/>
                  </a:lnTo>
                  <a:lnTo>
                    <a:pt x="264" y="6"/>
                  </a:lnTo>
                  <a:lnTo>
                    <a:pt x="264" y="12"/>
                  </a:lnTo>
                  <a:lnTo>
                    <a:pt x="264" y="6"/>
                  </a:lnTo>
                  <a:lnTo>
                    <a:pt x="264" y="12"/>
                  </a:lnTo>
                  <a:lnTo>
                    <a:pt x="270" y="12"/>
                  </a:lnTo>
                  <a:lnTo>
                    <a:pt x="276" y="18"/>
                  </a:lnTo>
                  <a:lnTo>
                    <a:pt x="270" y="18"/>
                  </a:lnTo>
                  <a:lnTo>
                    <a:pt x="264" y="18"/>
                  </a:lnTo>
                  <a:lnTo>
                    <a:pt x="270" y="18"/>
                  </a:lnTo>
                  <a:lnTo>
                    <a:pt x="264" y="24"/>
                  </a:lnTo>
                  <a:lnTo>
                    <a:pt x="264" y="30"/>
                  </a:lnTo>
                  <a:lnTo>
                    <a:pt x="264" y="36"/>
                  </a:lnTo>
                  <a:lnTo>
                    <a:pt x="264" y="42"/>
                  </a:lnTo>
                  <a:lnTo>
                    <a:pt x="258" y="48"/>
                  </a:lnTo>
                  <a:lnTo>
                    <a:pt x="258" y="42"/>
                  </a:lnTo>
                  <a:lnTo>
                    <a:pt x="252" y="42"/>
                  </a:lnTo>
                  <a:lnTo>
                    <a:pt x="252" y="48"/>
                  </a:lnTo>
                  <a:lnTo>
                    <a:pt x="252" y="42"/>
                  </a:lnTo>
                  <a:lnTo>
                    <a:pt x="246" y="48"/>
                  </a:lnTo>
                  <a:lnTo>
                    <a:pt x="240" y="48"/>
                  </a:lnTo>
                  <a:lnTo>
                    <a:pt x="234" y="48"/>
                  </a:lnTo>
                  <a:lnTo>
                    <a:pt x="228" y="48"/>
                  </a:lnTo>
                  <a:lnTo>
                    <a:pt x="228" y="54"/>
                  </a:lnTo>
                  <a:lnTo>
                    <a:pt x="234" y="54"/>
                  </a:lnTo>
                  <a:lnTo>
                    <a:pt x="228" y="54"/>
                  </a:lnTo>
                  <a:lnTo>
                    <a:pt x="222" y="60"/>
                  </a:lnTo>
                  <a:lnTo>
                    <a:pt x="228" y="60"/>
                  </a:lnTo>
                  <a:lnTo>
                    <a:pt x="228" y="54"/>
                  </a:lnTo>
                  <a:lnTo>
                    <a:pt x="228" y="60"/>
                  </a:lnTo>
                  <a:lnTo>
                    <a:pt x="222" y="60"/>
                  </a:lnTo>
                  <a:lnTo>
                    <a:pt x="228" y="66"/>
                  </a:lnTo>
                  <a:lnTo>
                    <a:pt x="228" y="72"/>
                  </a:lnTo>
                  <a:lnTo>
                    <a:pt x="234" y="72"/>
                  </a:lnTo>
                  <a:lnTo>
                    <a:pt x="234" y="78"/>
                  </a:lnTo>
                  <a:lnTo>
                    <a:pt x="228" y="78"/>
                  </a:lnTo>
                  <a:lnTo>
                    <a:pt x="228" y="84"/>
                  </a:lnTo>
                  <a:lnTo>
                    <a:pt x="228" y="90"/>
                  </a:lnTo>
                  <a:lnTo>
                    <a:pt x="228" y="96"/>
                  </a:lnTo>
                  <a:close/>
                </a:path>
              </a:pathLst>
            </a:custGeom>
            <a:solidFill>
              <a:schemeClr val="accent1"/>
            </a:solidFill>
            <a:ln w="9525">
              <a:solidFill>
                <a:srgbClr val="B2B2B2"/>
              </a:solidFill>
              <a:round/>
              <a:headEnd/>
              <a:tailEnd/>
            </a:ln>
          </p:spPr>
          <p:txBody>
            <a:bodyPr/>
            <a:lstStyle/>
            <a:p>
              <a:endParaRPr lang="en-CA"/>
            </a:p>
          </p:txBody>
        </p:sp>
        <p:sp>
          <p:nvSpPr>
            <p:cNvPr id="415" name="Freeform 474"/>
            <p:cNvSpPr>
              <a:spLocks/>
            </p:cNvSpPr>
            <p:nvPr>
              <p:custDataLst>
                <p:tags r:id="rId38"/>
              </p:custDataLst>
            </p:nvPr>
          </p:nvSpPr>
          <p:spPr bwMode="gray">
            <a:xfrm>
              <a:off x="975" y="2822"/>
              <a:ext cx="210" cy="128"/>
            </a:xfrm>
            <a:custGeom>
              <a:avLst/>
              <a:gdLst>
                <a:gd name="T0" fmla="*/ 253105047 w 336"/>
                <a:gd name="T1" fmla="*/ 136504580 h 204"/>
                <a:gd name="T2" fmla="*/ 241331750 w 336"/>
                <a:gd name="T3" fmla="*/ 148374847 h 204"/>
                <a:gd name="T4" fmla="*/ 223673789 w 336"/>
                <a:gd name="T5" fmla="*/ 142439216 h 204"/>
                <a:gd name="T6" fmla="*/ 206014836 w 336"/>
                <a:gd name="T7" fmla="*/ 136504580 h 204"/>
                <a:gd name="T8" fmla="*/ 200129180 w 336"/>
                <a:gd name="T9" fmla="*/ 154309482 h 204"/>
                <a:gd name="T10" fmla="*/ 200129180 w 336"/>
                <a:gd name="T11" fmla="*/ 166179749 h 204"/>
                <a:gd name="T12" fmla="*/ 188356875 w 336"/>
                <a:gd name="T13" fmla="*/ 178050016 h 204"/>
                <a:gd name="T14" fmla="*/ 170697922 w 336"/>
                <a:gd name="T15" fmla="*/ 189919286 h 204"/>
                <a:gd name="T16" fmla="*/ 153039961 w 336"/>
                <a:gd name="T17" fmla="*/ 183984651 h 204"/>
                <a:gd name="T18" fmla="*/ 141267656 w 336"/>
                <a:gd name="T19" fmla="*/ 183984651 h 204"/>
                <a:gd name="T20" fmla="*/ 129495352 w 336"/>
                <a:gd name="T21" fmla="*/ 183984651 h 204"/>
                <a:gd name="T22" fmla="*/ 123608703 w 336"/>
                <a:gd name="T23" fmla="*/ 195854918 h 204"/>
                <a:gd name="T24" fmla="*/ 123608703 w 336"/>
                <a:gd name="T25" fmla="*/ 195854918 h 204"/>
                <a:gd name="T26" fmla="*/ 111836398 w 336"/>
                <a:gd name="T27" fmla="*/ 189919286 h 204"/>
                <a:gd name="T28" fmla="*/ 105950742 w 336"/>
                <a:gd name="T29" fmla="*/ 172114384 h 204"/>
                <a:gd name="T30" fmla="*/ 94178438 w 336"/>
                <a:gd name="T31" fmla="*/ 172114384 h 204"/>
                <a:gd name="T32" fmla="*/ 88291789 w 336"/>
                <a:gd name="T33" fmla="*/ 178050016 h 204"/>
                <a:gd name="T34" fmla="*/ 70633828 w 336"/>
                <a:gd name="T35" fmla="*/ 172114384 h 204"/>
                <a:gd name="T36" fmla="*/ 52974875 w 336"/>
                <a:gd name="T37" fmla="*/ 166179749 h 204"/>
                <a:gd name="T38" fmla="*/ 52974875 w 336"/>
                <a:gd name="T39" fmla="*/ 178050016 h 204"/>
                <a:gd name="T40" fmla="*/ 58861523 w 336"/>
                <a:gd name="T41" fmla="*/ 183984651 h 204"/>
                <a:gd name="T42" fmla="*/ 47089219 w 336"/>
                <a:gd name="T43" fmla="*/ 189919286 h 204"/>
                <a:gd name="T44" fmla="*/ 41203563 w 336"/>
                <a:gd name="T45" fmla="*/ 195854918 h 204"/>
                <a:gd name="T46" fmla="*/ 35316914 w 336"/>
                <a:gd name="T47" fmla="*/ 195854918 h 204"/>
                <a:gd name="T48" fmla="*/ 17658953 w 336"/>
                <a:gd name="T49" fmla="*/ 201789553 h 204"/>
                <a:gd name="T50" fmla="*/ 5885656 w 336"/>
                <a:gd name="T51" fmla="*/ 201789553 h 204"/>
                <a:gd name="T52" fmla="*/ 5885656 w 336"/>
                <a:gd name="T53" fmla="*/ 189919286 h 204"/>
                <a:gd name="T54" fmla="*/ 5885656 w 336"/>
                <a:gd name="T55" fmla="*/ 178050016 h 204"/>
                <a:gd name="T56" fmla="*/ 11772305 w 336"/>
                <a:gd name="T57" fmla="*/ 160245114 h 204"/>
                <a:gd name="T58" fmla="*/ 17658953 w 336"/>
                <a:gd name="T59" fmla="*/ 142439216 h 204"/>
                <a:gd name="T60" fmla="*/ 23544609 w 336"/>
                <a:gd name="T61" fmla="*/ 136504580 h 204"/>
                <a:gd name="T62" fmla="*/ 29430266 w 336"/>
                <a:gd name="T63" fmla="*/ 118699678 h 204"/>
                <a:gd name="T64" fmla="*/ 29430266 w 336"/>
                <a:gd name="T65" fmla="*/ 106829412 h 204"/>
                <a:gd name="T66" fmla="*/ 23544609 w 336"/>
                <a:gd name="T67" fmla="*/ 94960141 h 204"/>
                <a:gd name="T68" fmla="*/ 35316914 w 336"/>
                <a:gd name="T69" fmla="*/ 89024510 h 204"/>
                <a:gd name="T70" fmla="*/ 35316914 w 336"/>
                <a:gd name="T71" fmla="*/ 77155239 h 204"/>
                <a:gd name="T72" fmla="*/ 41203563 w 336"/>
                <a:gd name="T73" fmla="*/ 71219608 h 204"/>
                <a:gd name="T74" fmla="*/ 41203563 w 336"/>
                <a:gd name="T75" fmla="*/ 59350337 h 204"/>
                <a:gd name="T76" fmla="*/ 58861523 w 336"/>
                <a:gd name="T77" fmla="*/ 47480071 h 204"/>
                <a:gd name="T78" fmla="*/ 76520477 w 336"/>
                <a:gd name="T79" fmla="*/ 41544439 h 204"/>
                <a:gd name="T80" fmla="*/ 70633828 w 336"/>
                <a:gd name="T81" fmla="*/ 23739537 h 204"/>
                <a:gd name="T82" fmla="*/ 88291789 w 336"/>
                <a:gd name="T83" fmla="*/ 35609804 h 204"/>
                <a:gd name="T84" fmla="*/ 105950742 w 336"/>
                <a:gd name="T85" fmla="*/ 29675169 h 204"/>
                <a:gd name="T86" fmla="*/ 117723047 w 336"/>
                <a:gd name="T87" fmla="*/ 41544439 h 204"/>
                <a:gd name="T88" fmla="*/ 135382000 w 336"/>
                <a:gd name="T89" fmla="*/ 35609804 h 204"/>
                <a:gd name="T90" fmla="*/ 141267656 w 336"/>
                <a:gd name="T91" fmla="*/ 29675169 h 204"/>
                <a:gd name="T92" fmla="*/ 147154305 w 336"/>
                <a:gd name="T93" fmla="*/ 35609804 h 204"/>
                <a:gd name="T94" fmla="*/ 170697922 w 336"/>
                <a:gd name="T95" fmla="*/ 35609804 h 204"/>
                <a:gd name="T96" fmla="*/ 182470227 w 336"/>
                <a:gd name="T97" fmla="*/ 41544439 h 204"/>
                <a:gd name="T98" fmla="*/ 223673789 w 336"/>
                <a:gd name="T99" fmla="*/ 41544439 h 204"/>
                <a:gd name="T100" fmla="*/ 253105047 w 336"/>
                <a:gd name="T101" fmla="*/ 29675169 h 204"/>
                <a:gd name="T102" fmla="*/ 270763008 w 336"/>
                <a:gd name="T103" fmla="*/ 11870267 h 204"/>
                <a:gd name="T104" fmla="*/ 300194266 w 336"/>
                <a:gd name="T105" fmla="*/ 23739537 h 204"/>
                <a:gd name="T106" fmla="*/ 306079922 w 336"/>
                <a:gd name="T107" fmla="*/ 35609804 h 204"/>
                <a:gd name="T108" fmla="*/ 323738875 w 336"/>
                <a:gd name="T109" fmla="*/ 47480071 h 204"/>
                <a:gd name="T110" fmla="*/ 323738875 w 336"/>
                <a:gd name="T111" fmla="*/ 65284973 h 204"/>
                <a:gd name="T112" fmla="*/ 311966570 w 336"/>
                <a:gd name="T113" fmla="*/ 71219608 h 204"/>
                <a:gd name="T114" fmla="*/ 300194266 w 336"/>
                <a:gd name="T115" fmla="*/ 83089875 h 204"/>
                <a:gd name="T116" fmla="*/ 282535313 w 336"/>
                <a:gd name="T117" fmla="*/ 94960141 h 204"/>
                <a:gd name="T118" fmla="*/ 282535313 w 336"/>
                <a:gd name="T119" fmla="*/ 100894776 h 204"/>
                <a:gd name="T120" fmla="*/ 270763008 w 336"/>
                <a:gd name="T121" fmla="*/ 118699678 h 204"/>
                <a:gd name="T122" fmla="*/ 270763008 w 336"/>
                <a:gd name="T123" fmla="*/ 136504580 h 2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36"/>
                <a:gd name="T187" fmla="*/ 0 h 204"/>
                <a:gd name="T188" fmla="*/ 336 w 336"/>
                <a:gd name="T189" fmla="*/ 204 h 2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36" h="204">
                  <a:moveTo>
                    <a:pt x="276" y="138"/>
                  </a:moveTo>
                  <a:lnTo>
                    <a:pt x="264" y="138"/>
                  </a:lnTo>
                  <a:lnTo>
                    <a:pt x="252" y="138"/>
                  </a:lnTo>
                  <a:lnTo>
                    <a:pt x="258" y="138"/>
                  </a:lnTo>
                  <a:lnTo>
                    <a:pt x="252" y="138"/>
                  </a:lnTo>
                  <a:lnTo>
                    <a:pt x="252" y="144"/>
                  </a:lnTo>
                  <a:lnTo>
                    <a:pt x="246" y="144"/>
                  </a:lnTo>
                  <a:lnTo>
                    <a:pt x="246" y="150"/>
                  </a:lnTo>
                  <a:lnTo>
                    <a:pt x="240" y="150"/>
                  </a:lnTo>
                  <a:lnTo>
                    <a:pt x="234" y="150"/>
                  </a:lnTo>
                  <a:lnTo>
                    <a:pt x="234" y="144"/>
                  </a:lnTo>
                  <a:lnTo>
                    <a:pt x="228" y="144"/>
                  </a:lnTo>
                  <a:lnTo>
                    <a:pt x="228" y="138"/>
                  </a:lnTo>
                  <a:lnTo>
                    <a:pt x="222" y="138"/>
                  </a:lnTo>
                  <a:lnTo>
                    <a:pt x="216" y="138"/>
                  </a:lnTo>
                  <a:lnTo>
                    <a:pt x="210" y="138"/>
                  </a:lnTo>
                  <a:lnTo>
                    <a:pt x="204" y="138"/>
                  </a:lnTo>
                  <a:lnTo>
                    <a:pt x="204" y="144"/>
                  </a:lnTo>
                  <a:lnTo>
                    <a:pt x="204" y="150"/>
                  </a:lnTo>
                  <a:lnTo>
                    <a:pt x="204" y="156"/>
                  </a:lnTo>
                  <a:lnTo>
                    <a:pt x="210" y="156"/>
                  </a:lnTo>
                  <a:lnTo>
                    <a:pt x="204" y="156"/>
                  </a:lnTo>
                  <a:lnTo>
                    <a:pt x="204" y="162"/>
                  </a:lnTo>
                  <a:lnTo>
                    <a:pt x="204" y="168"/>
                  </a:lnTo>
                  <a:lnTo>
                    <a:pt x="198" y="168"/>
                  </a:lnTo>
                  <a:lnTo>
                    <a:pt x="192" y="168"/>
                  </a:lnTo>
                  <a:lnTo>
                    <a:pt x="192" y="174"/>
                  </a:lnTo>
                  <a:lnTo>
                    <a:pt x="192" y="180"/>
                  </a:lnTo>
                  <a:lnTo>
                    <a:pt x="186" y="180"/>
                  </a:lnTo>
                  <a:lnTo>
                    <a:pt x="186" y="186"/>
                  </a:lnTo>
                  <a:lnTo>
                    <a:pt x="180" y="186"/>
                  </a:lnTo>
                  <a:lnTo>
                    <a:pt x="174" y="192"/>
                  </a:lnTo>
                  <a:lnTo>
                    <a:pt x="168" y="192"/>
                  </a:lnTo>
                  <a:lnTo>
                    <a:pt x="162" y="192"/>
                  </a:lnTo>
                  <a:lnTo>
                    <a:pt x="156" y="192"/>
                  </a:lnTo>
                  <a:lnTo>
                    <a:pt x="156" y="186"/>
                  </a:lnTo>
                  <a:lnTo>
                    <a:pt x="150" y="186"/>
                  </a:lnTo>
                  <a:lnTo>
                    <a:pt x="150" y="180"/>
                  </a:lnTo>
                  <a:lnTo>
                    <a:pt x="144" y="180"/>
                  </a:lnTo>
                  <a:lnTo>
                    <a:pt x="144" y="186"/>
                  </a:lnTo>
                  <a:lnTo>
                    <a:pt x="138" y="186"/>
                  </a:lnTo>
                  <a:lnTo>
                    <a:pt x="138" y="192"/>
                  </a:lnTo>
                  <a:lnTo>
                    <a:pt x="132" y="192"/>
                  </a:lnTo>
                  <a:lnTo>
                    <a:pt x="132" y="186"/>
                  </a:lnTo>
                  <a:lnTo>
                    <a:pt x="132" y="180"/>
                  </a:lnTo>
                  <a:lnTo>
                    <a:pt x="132" y="186"/>
                  </a:lnTo>
                  <a:lnTo>
                    <a:pt x="132" y="192"/>
                  </a:lnTo>
                  <a:lnTo>
                    <a:pt x="126" y="198"/>
                  </a:lnTo>
                  <a:lnTo>
                    <a:pt x="126" y="192"/>
                  </a:lnTo>
                  <a:lnTo>
                    <a:pt x="126" y="198"/>
                  </a:lnTo>
                  <a:lnTo>
                    <a:pt x="126" y="192"/>
                  </a:lnTo>
                  <a:lnTo>
                    <a:pt x="126" y="198"/>
                  </a:lnTo>
                  <a:lnTo>
                    <a:pt x="126" y="192"/>
                  </a:lnTo>
                  <a:lnTo>
                    <a:pt x="120" y="198"/>
                  </a:lnTo>
                  <a:lnTo>
                    <a:pt x="114" y="198"/>
                  </a:lnTo>
                  <a:lnTo>
                    <a:pt x="114" y="192"/>
                  </a:lnTo>
                  <a:lnTo>
                    <a:pt x="114" y="186"/>
                  </a:lnTo>
                  <a:lnTo>
                    <a:pt x="114" y="180"/>
                  </a:lnTo>
                  <a:lnTo>
                    <a:pt x="114" y="174"/>
                  </a:lnTo>
                  <a:lnTo>
                    <a:pt x="108" y="174"/>
                  </a:lnTo>
                  <a:lnTo>
                    <a:pt x="108" y="180"/>
                  </a:lnTo>
                  <a:lnTo>
                    <a:pt x="108" y="174"/>
                  </a:lnTo>
                  <a:lnTo>
                    <a:pt x="102" y="174"/>
                  </a:lnTo>
                  <a:lnTo>
                    <a:pt x="96" y="174"/>
                  </a:lnTo>
                  <a:lnTo>
                    <a:pt x="96" y="180"/>
                  </a:lnTo>
                  <a:lnTo>
                    <a:pt x="96" y="174"/>
                  </a:lnTo>
                  <a:lnTo>
                    <a:pt x="96" y="180"/>
                  </a:lnTo>
                  <a:lnTo>
                    <a:pt x="90" y="180"/>
                  </a:lnTo>
                  <a:lnTo>
                    <a:pt x="84" y="180"/>
                  </a:lnTo>
                  <a:lnTo>
                    <a:pt x="78" y="180"/>
                  </a:lnTo>
                  <a:lnTo>
                    <a:pt x="78" y="174"/>
                  </a:lnTo>
                  <a:lnTo>
                    <a:pt x="72" y="174"/>
                  </a:lnTo>
                  <a:lnTo>
                    <a:pt x="72" y="168"/>
                  </a:lnTo>
                  <a:lnTo>
                    <a:pt x="66" y="168"/>
                  </a:lnTo>
                  <a:lnTo>
                    <a:pt x="60" y="168"/>
                  </a:lnTo>
                  <a:lnTo>
                    <a:pt x="54" y="168"/>
                  </a:lnTo>
                  <a:lnTo>
                    <a:pt x="54" y="174"/>
                  </a:lnTo>
                  <a:lnTo>
                    <a:pt x="60" y="174"/>
                  </a:lnTo>
                  <a:lnTo>
                    <a:pt x="60" y="180"/>
                  </a:lnTo>
                  <a:lnTo>
                    <a:pt x="54" y="180"/>
                  </a:lnTo>
                  <a:lnTo>
                    <a:pt x="60" y="180"/>
                  </a:lnTo>
                  <a:lnTo>
                    <a:pt x="54" y="180"/>
                  </a:lnTo>
                  <a:lnTo>
                    <a:pt x="54" y="186"/>
                  </a:lnTo>
                  <a:lnTo>
                    <a:pt x="60" y="186"/>
                  </a:lnTo>
                  <a:lnTo>
                    <a:pt x="54" y="192"/>
                  </a:lnTo>
                  <a:lnTo>
                    <a:pt x="48" y="192"/>
                  </a:lnTo>
                  <a:lnTo>
                    <a:pt x="48" y="186"/>
                  </a:lnTo>
                  <a:lnTo>
                    <a:pt x="48" y="192"/>
                  </a:lnTo>
                  <a:lnTo>
                    <a:pt x="42" y="192"/>
                  </a:lnTo>
                  <a:lnTo>
                    <a:pt x="42" y="198"/>
                  </a:lnTo>
                  <a:lnTo>
                    <a:pt x="42" y="192"/>
                  </a:lnTo>
                  <a:lnTo>
                    <a:pt x="42" y="198"/>
                  </a:lnTo>
                  <a:lnTo>
                    <a:pt x="42" y="192"/>
                  </a:lnTo>
                  <a:lnTo>
                    <a:pt x="36" y="198"/>
                  </a:lnTo>
                  <a:lnTo>
                    <a:pt x="36" y="192"/>
                  </a:lnTo>
                  <a:lnTo>
                    <a:pt x="36" y="198"/>
                  </a:lnTo>
                  <a:lnTo>
                    <a:pt x="30" y="198"/>
                  </a:lnTo>
                  <a:lnTo>
                    <a:pt x="30" y="204"/>
                  </a:lnTo>
                  <a:lnTo>
                    <a:pt x="24" y="204"/>
                  </a:lnTo>
                  <a:lnTo>
                    <a:pt x="18" y="204"/>
                  </a:lnTo>
                  <a:lnTo>
                    <a:pt x="12" y="204"/>
                  </a:lnTo>
                  <a:lnTo>
                    <a:pt x="6" y="204"/>
                  </a:lnTo>
                  <a:lnTo>
                    <a:pt x="0" y="204"/>
                  </a:lnTo>
                  <a:lnTo>
                    <a:pt x="6" y="204"/>
                  </a:lnTo>
                  <a:lnTo>
                    <a:pt x="6" y="198"/>
                  </a:lnTo>
                  <a:lnTo>
                    <a:pt x="0" y="198"/>
                  </a:lnTo>
                  <a:lnTo>
                    <a:pt x="6" y="198"/>
                  </a:lnTo>
                  <a:lnTo>
                    <a:pt x="6" y="192"/>
                  </a:lnTo>
                  <a:lnTo>
                    <a:pt x="0" y="192"/>
                  </a:lnTo>
                  <a:lnTo>
                    <a:pt x="0" y="186"/>
                  </a:lnTo>
                  <a:lnTo>
                    <a:pt x="6" y="186"/>
                  </a:lnTo>
                  <a:lnTo>
                    <a:pt x="6" y="180"/>
                  </a:lnTo>
                  <a:lnTo>
                    <a:pt x="12" y="180"/>
                  </a:lnTo>
                  <a:lnTo>
                    <a:pt x="18" y="174"/>
                  </a:lnTo>
                  <a:lnTo>
                    <a:pt x="12" y="168"/>
                  </a:lnTo>
                  <a:lnTo>
                    <a:pt x="12" y="162"/>
                  </a:lnTo>
                  <a:lnTo>
                    <a:pt x="12" y="156"/>
                  </a:lnTo>
                  <a:lnTo>
                    <a:pt x="12" y="150"/>
                  </a:lnTo>
                  <a:lnTo>
                    <a:pt x="12" y="144"/>
                  </a:lnTo>
                  <a:lnTo>
                    <a:pt x="18" y="144"/>
                  </a:lnTo>
                  <a:lnTo>
                    <a:pt x="18" y="138"/>
                  </a:lnTo>
                  <a:lnTo>
                    <a:pt x="24" y="138"/>
                  </a:lnTo>
                  <a:lnTo>
                    <a:pt x="24" y="132"/>
                  </a:lnTo>
                  <a:lnTo>
                    <a:pt x="24" y="138"/>
                  </a:lnTo>
                  <a:lnTo>
                    <a:pt x="24" y="132"/>
                  </a:lnTo>
                  <a:lnTo>
                    <a:pt x="24" y="126"/>
                  </a:lnTo>
                  <a:lnTo>
                    <a:pt x="30" y="126"/>
                  </a:lnTo>
                  <a:lnTo>
                    <a:pt x="30" y="120"/>
                  </a:lnTo>
                  <a:lnTo>
                    <a:pt x="36" y="120"/>
                  </a:lnTo>
                  <a:lnTo>
                    <a:pt x="36" y="114"/>
                  </a:lnTo>
                  <a:lnTo>
                    <a:pt x="36" y="108"/>
                  </a:lnTo>
                  <a:lnTo>
                    <a:pt x="30" y="108"/>
                  </a:lnTo>
                  <a:lnTo>
                    <a:pt x="36" y="102"/>
                  </a:lnTo>
                  <a:lnTo>
                    <a:pt x="30" y="102"/>
                  </a:lnTo>
                  <a:lnTo>
                    <a:pt x="30" y="96"/>
                  </a:lnTo>
                  <a:lnTo>
                    <a:pt x="24" y="96"/>
                  </a:lnTo>
                  <a:lnTo>
                    <a:pt x="24" y="90"/>
                  </a:lnTo>
                  <a:lnTo>
                    <a:pt x="30" y="96"/>
                  </a:lnTo>
                  <a:lnTo>
                    <a:pt x="30" y="90"/>
                  </a:lnTo>
                  <a:lnTo>
                    <a:pt x="36" y="90"/>
                  </a:lnTo>
                  <a:lnTo>
                    <a:pt x="36" y="84"/>
                  </a:lnTo>
                  <a:lnTo>
                    <a:pt x="42" y="84"/>
                  </a:lnTo>
                  <a:lnTo>
                    <a:pt x="42" y="78"/>
                  </a:lnTo>
                  <a:lnTo>
                    <a:pt x="36" y="78"/>
                  </a:lnTo>
                  <a:lnTo>
                    <a:pt x="36" y="72"/>
                  </a:lnTo>
                  <a:lnTo>
                    <a:pt x="42" y="72"/>
                  </a:lnTo>
                  <a:lnTo>
                    <a:pt x="36" y="72"/>
                  </a:lnTo>
                  <a:lnTo>
                    <a:pt x="42" y="72"/>
                  </a:lnTo>
                  <a:lnTo>
                    <a:pt x="42" y="66"/>
                  </a:lnTo>
                  <a:lnTo>
                    <a:pt x="36" y="66"/>
                  </a:lnTo>
                  <a:lnTo>
                    <a:pt x="36" y="60"/>
                  </a:lnTo>
                  <a:lnTo>
                    <a:pt x="42" y="60"/>
                  </a:lnTo>
                  <a:lnTo>
                    <a:pt x="48" y="60"/>
                  </a:lnTo>
                  <a:lnTo>
                    <a:pt x="54" y="54"/>
                  </a:lnTo>
                  <a:lnTo>
                    <a:pt x="60" y="54"/>
                  </a:lnTo>
                  <a:lnTo>
                    <a:pt x="60" y="48"/>
                  </a:lnTo>
                  <a:lnTo>
                    <a:pt x="66" y="48"/>
                  </a:lnTo>
                  <a:lnTo>
                    <a:pt x="72" y="48"/>
                  </a:lnTo>
                  <a:lnTo>
                    <a:pt x="78" y="48"/>
                  </a:lnTo>
                  <a:lnTo>
                    <a:pt x="78" y="42"/>
                  </a:lnTo>
                  <a:lnTo>
                    <a:pt x="78" y="36"/>
                  </a:lnTo>
                  <a:lnTo>
                    <a:pt x="72" y="36"/>
                  </a:lnTo>
                  <a:lnTo>
                    <a:pt x="72" y="30"/>
                  </a:lnTo>
                  <a:lnTo>
                    <a:pt x="72" y="24"/>
                  </a:lnTo>
                  <a:lnTo>
                    <a:pt x="78" y="18"/>
                  </a:lnTo>
                  <a:lnTo>
                    <a:pt x="84" y="18"/>
                  </a:lnTo>
                  <a:lnTo>
                    <a:pt x="84" y="30"/>
                  </a:lnTo>
                  <a:lnTo>
                    <a:pt x="90" y="36"/>
                  </a:lnTo>
                  <a:lnTo>
                    <a:pt x="90" y="30"/>
                  </a:lnTo>
                  <a:lnTo>
                    <a:pt x="96" y="30"/>
                  </a:lnTo>
                  <a:lnTo>
                    <a:pt x="102" y="30"/>
                  </a:lnTo>
                  <a:lnTo>
                    <a:pt x="108" y="30"/>
                  </a:lnTo>
                  <a:lnTo>
                    <a:pt x="108" y="36"/>
                  </a:lnTo>
                  <a:lnTo>
                    <a:pt x="114" y="42"/>
                  </a:lnTo>
                  <a:lnTo>
                    <a:pt x="120" y="36"/>
                  </a:lnTo>
                  <a:lnTo>
                    <a:pt x="120" y="42"/>
                  </a:lnTo>
                  <a:lnTo>
                    <a:pt x="126" y="36"/>
                  </a:lnTo>
                  <a:lnTo>
                    <a:pt x="126" y="30"/>
                  </a:lnTo>
                  <a:lnTo>
                    <a:pt x="132" y="36"/>
                  </a:lnTo>
                  <a:lnTo>
                    <a:pt x="138" y="36"/>
                  </a:lnTo>
                  <a:lnTo>
                    <a:pt x="138" y="42"/>
                  </a:lnTo>
                  <a:lnTo>
                    <a:pt x="138" y="36"/>
                  </a:lnTo>
                  <a:lnTo>
                    <a:pt x="138" y="30"/>
                  </a:lnTo>
                  <a:lnTo>
                    <a:pt x="144" y="30"/>
                  </a:lnTo>
                  <a:lnTo>
                    <a:pt x="144" y="36"/>
                  </a:lnTo>
                  <a:lnTo>
                    <a:pt x="144" y="42"/>
                  </a:lnTo>
                  <a:lnTo>
                    <a:pt x="150" y="42"/>
                  </a:lnTo>
                  <a:lnTo>
                    <a:pt x="150" y="36"/>
                  </a:lnTo>
                  <a:lnTo>
                    <a:pt x="156" y="36"/>
                  </a:lnTo>
                  <a:lnTo>
                    <a:pt x="162" y="36"/>
                  </a:lnTo>
                  <a:lnTo>
                    <a:pt x="168" y="36"/>
                  </a:lnTo>
                  <a:lnTo>
                    <a:pt x="174" y="36"/>
                  </a:lnTo>
                  <a:lnTo>
                    <a:pt x="174" y="42"/>
                  </a:lnTo>
                  <a:lnTo>
                    <a:pt x="180" y="42"/>
                  </a:lnTo>
                  <a:lnTo>
                    <a:pt x="180" y="48"/>
                  </a:lnTo>
                  <a:lnTo>
                    <a:pt x="186" y="42"/>
                  </a:lnTo>
                  <a:lnTo>
                    <a:pt x="198" y="42"/>
                  </a:lnTo>
                  <a:lnTo>
                    <a:pt x="216" y="48"/>
                  </a:lnTo>
                  <a:lnTo>
                    <a:pt x="216" y="36"/>
                  </a:lnTo>
                  <a:lnTo>
                    <a:pt x="228" y="42"/>
                  </a:lnTo>
                  <a:lnTo>
                    <a:pt x="228" y="36"/>
                  </a:lnTo>
                  <a:lnTo>
                    <a:pt x="246" y="42"/>
                  </a:lnTo>
                  <a:lnTo>
                    <a:pt x="258" y="42"/>
                  </a:lnTo>
                  <a:lnTo>
                    <a:pt x="258" y="30"/>
                  </a:lnTo>
                  <a:lnTo>
                    <a:pt x="264" y="30"/>
                  </a:lnTo>
                  <a:lnTo>
                    <a:pt x="264" y="24"/>
                  </a:lnTo>
                  <a:lnTo>
                    <a:pt x="276" y="24"/>
                  </a:lnTo>
                  <a:lnTo>
                    <a:pt x="276" y="12"/>
                  </a:lnTo>
                  <a:lnTo>
                    <a:pt x="276" y="0"/>
                  </a:lnTo>
                  <a:lnTo>
                    <a:pt x="294" y="0"/>
                  </a:lnTo>
                  <a:lnTo>
                    <a:pt x="312" y="0"/>
                  </a:lnTo>
                  <a:lnTo>
                    <a:pt x="306" y="24"/>
                  </a:lnTo>
                  <a:lnTo>
                    <a:pt x="318" y="24"/>
                  </a:lnTo>
                  <a:lnTo>
                    <a:pt x="312" y="36"/>
                  </a:lnTo>
                  <a:lnTo>
                    <a:pt x="318" y="36"/>
                  </a:lnTo>
                  <a:lnTo>
                    <a:pt x="312" y="36"/>
                  </a:lnTo>
                  <a:lnTo>
                    <a:pt x="318" y="42"/>
                  </a:lnTo>
                  <a:lnTo>
                    <a:pt x="324" y="42"/>
                  </a:lnTo>
                  <a:lnTo>
                    <a:pt x="324" y="48"/>
                  </a:lnTo>
                  <a:lnTo>
                    <a:pt x="330" y="48"/>
                  </a:lnTo>
                  <a:lnTo>
                    <a:pt x="330" y="54"/>
                  </a:lnTo>
                  <a:lnTo>
                    <a:pt x="330" y="60"/>
                  </a:lnTo>
                  <a:lnTo>
                    <a:pt x="336" y="66"/>
                  </a:lnTo>
                  <a:lnTo>
                    <a:pt x="330" y="66"/>
                  </a:lnTo>
                  <a:lnTo>
                    <a:pt x="324" y="66"/>
                  </a:lnTo>
                  <a:lnTo>
                    <a:pt x="318" y="60"/>
                  </a:lnTo>
                  <a:lnTo>
                    <a:pt x="318" y="66"/>
                  </a:lnTo>
                  <a:lnTo>
                    <a:pt x="318" y="72"/>
                  </a:lnTo>
                  <a:lnTo>
                    <a:pt x="318" y="78"/>
                  </a:lnTo>
                  <a:lnTo>
                    <a:pt x="312" y="78"/>
                  </a:lnTo>
                  <a:lnTo>
                    <a:pt x="306" y="78"/>
                  </a:lnTo>
                  <a:lnTo>
                    <a:pt x="306" y="84"/>
                  </a:lnTo>
                  <a:lnTo>
                    <a:pt x="306" y="90"/>
                  </a:lnTo>
                  <a:lnTo>
                    <a:pt x="300" y="90"/>
                  </a:lnTo>
                  <a:lnTo>
                    <a:pt x="294" y="90"/>
                  </a:lnTo>
                  <a:lnTo>
                    <a:pt x="288" y="96"/>
                  </a:lnTo>
                  <a:lnTo>
                    <a:pt x="288" y="90"/>
                  </a:lnTo>
                  <a:lnTo>
                    <a:pt x="288" y="96"/>
                  </a:lnTo>
                  <a:lnTo>
                    <a:pt x="282" y="102"/>
                  </a:lnTo>
                  <a:lnTo>
                    <a:pt x="288" y="102"/>
                  </a:lnTo>
                  <a:lnTo>
                    <a:pt x="288" y="108"/>
                  </a:lnTo>
                  <a:lnTo>
                    <a:pt x="276" y="108"/>
                  </a:lnTo>
                  <a:lnTo>
                    <a:pt x="276" y="114"/>
                  </a:lnTo>
                  <a:lnTo>
                    <a:pt x="276" y="120"/>
                  </a:lnTo>
                  <a:lnTo>
                    <a:pt x="276" y="126"/>
                  </a:lnTo>
                  <a:lnTo>
                    <a:pt x="276" y="132"/>
                  </a:lnTo>
                  <a:lnTo>
                    <a:pt x="270" y="132"/>
                  </a:lnTo>
                  <a:lnTo>
                    <a:pt x="276" y="138"/>
                  </a:lnTo>
                  <a:close/>
                </a:path>
              </a:pathLst>
            </a:custGeom>
            <a:solidFill>
              <a:schemeClr val="accent1"/>
            </a:solidFill>
            <a:ln w="9525">
              <a:solidFill>
                <a:srgbClr val="B2B2B2"/>
              </a:solidFill>
              <a:round/>
              <a:headEnd/>
              <a:tailEnd/>
            </a:ln>
          </p:spPr>
          <p:txBody>
            <a:bodyPr/>
            <a:lstStyle/>
            <a:p>
              <a:endParaRPr lang="en-CA"/>
            </a:p>
          </p:txBody>
        </p:sp>
        <p:sp>
          <p:nvSpPr>
            <p:cNvPr id="416" name="Freeform 475"/>
            <p:cNvSpPr>
              <a:spLocks/>
            </p:cNvSpPr>
            <p:nvPr>
              <p:custDataLst>
                <p:tags r:id="rId39"/>
              </p:custDataLst>
            </p:nvPr>
          </p:nvSpPr>
          <p:spPr bwMode="gray">
            <a:xfrm>
              <a:off x="815" y="2706"/>
              <a:ext cx="355" cy="180"/>
            </a:xfrm>
            <a:custGeom>
              <a:avLst/>
              <a:gdLst>
                <a:gd name="T0" fmla="*/ 245953287 w 570"/>
                <a:gd name="T1" fmla="*/ 276997914 h 288"/>
                <a:gd name="T2" fmla="*/ 228384984 w 570"/>
                <a:gd name="T3" fmla="*/ 259317133 h 288"/>
                <a:gd name="T4" fmla="*/ 204961567 w 570"/>
                <a:gd name="T5" fmla="*/ 247529945 h 288"/>
                <a:gd name="T6" fmla="*/ 187393263 w 570"/>
                <a:gd name="T7" fmla="*/ 259317133 h 288"/>
                <a:gd name="T8" fmla="*/ 169824960 w 570"/>
                <a:gd name="T9" fmla="*/ 259317133 h 288"/>
                <a:gd name="T10" fmla="*/ 140544453 w 570"/>
                <a:gd name="T11" fmla="*/ 276997914 h 288"/>
                <a:gd name="T12" fmla="*/ 122977138 w 570"/>
                <a:gd name="T13" fmla="*/ 276997914 h 288"/>
                <a:gd name="T14" fmla="*/ 105408834 w 570"/>
                <a:gd name="T15" fmla="*/ 253423539 h 288"/>
                <a:gd name="T16" fmla="*/ 93696632 w 570"/>
                <a:gd name="T17" fmla="*/ 259317133 h 288"/>
                <a:gd name="T18" fmla="*/ 76128328 w 570"/>
                <a:gd name="T19" fmla="*/ 282891508 h 288"/>
                <a:gd name="T20" fmla="*/ 58560024 w 570"/>
                <a:gd name="T21" fmla="*/ 265210727 h 288"/>
                <a:gd name="T22" fmla="*/ 40992709 w 570"/>
                <a:gd name="T23" fmla="*/ 253423539 h 288"/>
                <a:gd name="T24" fmla="*/ 17568304 w 570"/>
                <a:gd name="T25" fmla="*/ 247529945 h 288"/>
                <a:gd name="T26" fmla="*/ 5856101 w 570"/>
                <a:gd name="T27" fmla="*/ 241636352 h 288"/>
                <a:gd name="T28" fmla="*/ 5856101 w 570"/>
                <a:gd name="T29" fmla="*/ 218061977 h 288"/>
                <a:gd name="T30" fmla="*/ 23424405 w 570"/>
                <a:gd name="T31" fmla="*/ 206274789 h 288"/>
                <a:gd name="T32" fmla="*/ 35136608 w 570"/>
                <a:gd name="T33" fmla="*/ 194487602 h 288"/>
                <a:gd name="T34" fmla="*/ 40992709 w 570"/>
                <a:gd name="T35" fmla="*/ 176806820 h 288"/>
                <a:gd name="T36" fmla="*/ 29280506 w 570"/>
                <a:gd name="T37" fmla="*/ 153232445 h 288"/>
                <a:gd name="T38" fmla="*/ 23424405 w 570"/>
                <a:gd name="T39" fmla="*/ 129659063 h 288"/>
                <a:gd name="T40" fmla="*/ 23424405 w 570"/>
                <a:gd name="T41" fmla="*/ 88403906 h 288"/>
                <a:gd name="T42" fmla="*/ 29280506 w 570"/>
                <a:gd name="T43" fmla="*/ 70723125 h 288"/>
                <a:gd name="T44" fmla="*/ 81984429 w 570"/>
                <a:gd name="T45" fmla="*/ 11787188 h 288"/>
                <a:gd name="T46" fmla="*/ 105408834 w 570"/>
                <a:gd name="T47" fmla="*/ 5893594 h 288"/>
                <a:gd name="T48" fmla="*/ 140544453 w 570"/>
                <a:gd name="T49" fmla="*/ 11787188 h 288"/>
                <a:gd name="T50" fmla="*/ 146400554 w 570"/>
                <a:gd name="T51" fmla="*/ 41255156 h 288"/>
                <a:gd name="T52" fmla="*/ 158112757 w 570"/>
                <a:gd name="T53" fmla="*/ 64829531 h 288"/>
                <a:gd name="T54" fmla="*/ 175681061 w 570"/>
                <a:gd name="T55" fmla="*/ 82510313 h 288"/>
                <a:gd name="T56" fmla="*/ 193249365 w 570"/>
                <a:gd name="T57" fmla="*/ 88403906 h 288"/>
                <a:gd name="T58" fmla="*/ 216673770 w 570"/>
                <a:gd name="T59" fmla="*/ 82510313 h 288"/>
                <a:gd name="T60" fmla="*/ 263521591 w 570"/>
                <a:gd name="T61" fmla="*/ 82510313 h 288"/>
                <a:gd name="T62" fmla="*/ 286945996 w 570"/>
                <a:gd name="T63" fmla="*/ 88403906 h 288"/>
                <a:gd name="T64" fmla="*/ 310370401 w 570"/>
                <a:gd name="T65" fmla="*/ 70723125 h 288"/>
                <a:gd name="T66" fmla="*/ 333793818 w 570"/>
                <a:gd name="T67" fmla="*/ 76616719 h 288"/>
                <a:gd name="T68" fmla="*/ 351362122 w 570"/>
                <a:gd name="T69" fmla="*/ 70723125 h 288"/>
                <a:gd name="T70" fmla="*/ 374786527 w 570"/>
                <a:gd name="T71" fmla="*/ 82510313 h 288"/>
                <a:gd name="T72" fmla="*/ 404067033 w 570"/>
                <a:gd name="T73" fmla="*/ 53042344 h 288"/>
                <a:gd name="T74" fmla="*/ 497763665 w 570"/>
                <a:gd name="T75" fmla="*/ 41255156 h 288"/>
                <a:gd name="T76" fmla="*/ 527043182 w 570"/>
                <a:gd name="T77" fmla="*/ 58935938 h 288"/>
                <a:gd name="T78" fmla="*/ 544611486 w 570"/>
                <a:gd name="T79" fmla="*/ 94297500 h 288"/>
                <a:gd name="T80" fmla="*/ 538755385 w 570"/>
                <a:gd name="T81" fmla="*/ 111978281 h 288"/>
                <a:gd name="T82" fmla="*/ 527043182 w 570"/>
                <a:gd name="T83" fmla="*/ 129659063 h 288"/>
                <a:gd name="T84" fmla="*/ 521187081 w 570"/>
                <a:gd name="T85" fmla="*/ 135552656 h 288"/>
                <a:gd name="T86" fmla="*/ 538755385 w 570"/>
                <a:gd name="T87" fmla="*/ 141446250 h 288"/>
                <a:gd name="T88" fmla="*/ 550467587 w 570"/>
                <a:gd name="T89" fmla="*/ 153232445 h 288"/>
                <a:gd name="T90" fmla="*/ 521187081 w 570"/>
                <a:gd name="T91" fmla="*/ 194487602 h 288"/>
                <a:gd name="T92" fmla="*/ 491907563 w 570"/>
                <a:gd name="T93" fmla="*/ 223955570 h 288"/>
                <a:gd name="T94" fmla="*/ 433346551 w 570"/>
                <a:gd name="T95" fmla="*/ 223955570 h 288"/>
                <a:gd name="T96" fmla="*/ 409923134 w 570"/>
                <a:gd name="T97" fmla="*/ 218061977 h 288"/>
                <a:gd name="T98" fmla="*/ 392354831 w 570"/>
                <a:gd name="T99" fmla="*/ 212168383 h 288"/>
                <a:gd name="T100" fmla="*/ 374786527 w 570"/>
                <a:gd name="T101" fmla="*/ 212168383 h 288"/>
                <a:gd name="T102" fmla="*/ 357218223 w 570"/>
                <a:gd name="T103" fmla="*/ 212168383 h 288"/>
                <a:gd name="T104" fmla="*/ 333793818 w 570"/>
                <a:gd name="T105" fmla="*/ 200381195 h 288"/>
                <a:gd name="T106" fmla="*/ 327937717 w 570"/>
                <a:gd name="T107" fmla="*/ 223955570 h 288"/>
                <a:gd name="T108" fmla="*/ 304514300 w 570"/>
                <a:gd name="T109" fmla="*/ 235742758 h 288"/>
                <a:gd name="T110" fmla="*/ 292802098 w 570"/>
                <a:gd name="T111" fmla="*/ 253423539 h 288"/>
                <a:gd name="T112" fmla="*/ 292802098 w 570"/>
                <a:gd name="T113" fmla="*/ 265210727 h 288"/>
                <a:gd name="T114" fmla="*/ 275233794 w 570"/>
                <a:gd name="T115" fmla="*/ 276997914 h 28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70"/>
                <a:gd name="T175" fmla="*/ 0 h 288"/>
                <a:gd name="T176" fmla="*/ 570 w 570"/>
                <a:gd name="T177" fmla="*/ 288 h 28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70" h="288">
                  <a:moveTo>
                    <a:pt x="282" y="282"/>
                  </a:moveTo>
                  <a:lnTo>
                    <a:pt x="276" y="282"/>
                  </a:lnTo>
                  <a:lnTo>
                    <a:pt x="270" y="282"/>
                  </a:lnTo>
                  <a:lnTo>
                    <a:pt x="264" y="282"/>
                  </a:lnTo>
                  <a:lnTo>
                    <a:pt x="258" y="282"/>
                  </a:lnTo>
                  <a:lnTo>
                    <a:pt x="252" y="282"/>
                  </a:lnTo>
                  <a:lnTo>
                    <a:pt x="246" y="282"/>
                  </a:lnTo>
                  <a:lnTo>
                    <a:pt x="246" y="276"/>
                  </a:lnTo>
                  <a:lnTo>
                    <a:pt x="246" y="270"/>
                  </a:lnTo>
                  <a:lnTo>
                    <a:pt x="240" y="270"/>
                  </a:lnTo>
                  <a:lnTo>
                    <a:pt x="240" y="264"/>
                  </a:lnTo>
                  <a:lnTo>
                    <a:pt x="234" y="264"/>
                  </a:lnTo>
                  <a:lnTo>
                    <a:pt x="234" y="258"/>
                  </a:lnTo>
                  <a:lnTo>
                    <a:pt x="228" y="258"/>
                  </a:lnTo>
                  <a:lnTo>
                    <a:pt x="222" y="252"/>
                  </a:lnTo>
                  <a:lnTo>
                    <a:pt x="222" y="258"/>
                  </a:lnTo>
                  <a:lnTo>
                    <a:pt x="216" y="252"/>
                  </a:lnTo>
                  <a:lnTo>
                    <a:pt x="210" y="252"/>
                  </a:lnTo>
                  <a:lnTo>
                    <a:pt x="204" y="246"/>
                  </a:lnTo>
                  <a:lnTo>
                    <a:pt x="198" y="252"/>
                  </a:lnTo>
                  <a:lnTo>
                    <a:pt x="198" y="246"/>
                  </a:lnTo>
                  <a:lnTo>
                    <a:pt x="192" y="252"/>
                  </a:lnTo>
                  <a:lnTo>
                    <a:pt x="198" y="258"/>
                  </a:lnTo>
                  <a:lnTo>
                    <a:pt x="192" y="264"/>
                  </a:lnTo>
                  <a:lnTo>
                    <a:pt x="192" y="270"/>
                  </a:lnTo>
                  <a:lnTo>
                    <a:pt x="186" y="270"/>
                  </a:lnTo>
                  <a:lnTo>
                    <a:pt x="180" y="264"/>
                  </a:lnTo>
                  <a:lnTo>
                    <a:pt x="180" y="270"/>
                  </a:lnTo>
                  <a:lnTo>
                    <a:pt x="180" y="264"/>
                  </a:lnTo>
                  <a:lnTo>
                    <a:pt x="174" y="264"/>
                  </a:lnTo>
                  <a:lnTo>
                    <a:pt x="174" y="270"/>
                  </a:lnTo>
                  <a:lnTo>
                    <a:pt x="156" y="270"/>
                  </a:lnTo>
                  <a:lnTo>
                    <a:pt x="150" y="270"/>
                  </a:lnTo>
                  <a:lnTo>
                    <a:pt x="150" y="276"/>
                  </a:lnTo>
                  <a:lnTo>
                    <a:pt x="144" y="276"/>
                  </a:lnTo>
                  <a:lnTo>
                    <a:pt x="144" y="282"/>
                  </a:lnTo>
                  <a:lnTo>
                    <a:pt x="144" y="276"/>
                  </a:lnTo>
                  <a:lnTo>
                    <a:pt x="138" y="276"/>
                  </a:lnTo>
                  <a:lnTo>
                    <a:pt x="138" y="282"/>
                  </a:lnTo>
                  <a:lnTo>
                    <a:pt x="138" y="288"/>
                  </a:lnTo>
                  <a:lnTo>
                    <a:pt x="132" y="288"/>
                  </a:lnTo>
                  <a:lnTo>
                    <a:pt x="126" y="282"/>
                  </a:lnTo>
                  <a:lnTo>
                    <a:pt x="120" y="276"/>
                  </a:lnTo>
                  <a:lnTo>
                    <a:pt x="120" y="270"/>
                  </a:lnTo>
                  <a:lnTo>
                    <a:pt x="114" y="270"/>
                  </a:lnTo>
                  <a:lnTo>
                    <a:pt x="114" y="264"/>
                  </a:lnTo>
                  <a:lnTo>
                    <a:pt x="114" y="258"/>
                  </a:lnTo>
                  <a:lnTo>
                    <a:pt x="108" y="258"/>
                  </a:lnTo>
                  <a:lnTo>
                    <a:pt x="108" y="252"/>
                  </a:lnTo>
                  <a:lnTo>
                    <a:pt x="108" y="258"/>
                  </a:lnTo>
                  <a:lnTo>
                    <a:pt x="102" y="258"/>
                  </a:lnTo>
                  <a:lnTo>
                    <a:pt x="96" y="258"/>
                  </a:lnTo>
                  <a:lnTo>
                    <a:pt x="90" y="258"/>
                  </a:lnTo>
                  <a:lnTo>
                    <a:pt x="96" y="264"/>
                  </a:lnTo>
                  <a:lnTo>
                    <a:pt x="96" y="270"/>
                  </a:lnTo>
                  <a:lnTo>
                    <a:pt x="90" y="270"/>
                  </a:lnTo>
                  <a:lnTo>
                    <a:pt x="84" y="276"/>
                  </a:lnTo>
                  <a:lnTo>
                    <a:pt x="84" y="282"/>
                  </a:lnTo>
                  <a:lnTo>
                    <a:pt x="84" y="288"/>
                  </a:lnTo>
                  <a:lnTo>
                    <a:pt x="78" y="288"/>
                  </a:lnTo>
                  <a:lnTo>
                    <a:pt x="72" y="288"/>
                  </a:lnTo>
                  <a:lnTo>
                    <a:pt x="66" y="288"/>
                  </a:lnTo>
                  <a:lnTo>
                    <a:pt x="66" y="282"/>
                  </a:lnTo>
                  <a:lnTo>
                    <a:pt x="66" y="276"/>
                  </a:lnTo>
                  <a:lnTo>
                    <a:pt x="66" y="270"/>
                  </a:lnTo>
                  <a:lnTo>
                    <a:pt x="60" y="270"/>
                  </a:lnTo>
                  <a:lnTo>
                    <a:pt x="54" y="264"/>
                  </a:lnTo>
                  <a:lnTo>
                    <a:pt x="48" y="264"/>
                  </a:lnTo>
                  <a:lnTo>
                    <a:pt x="48" y="258"/>
                  </a:lnTo>
                  <a:lnTo>
                    <a:pt x="42" y="258"/>
                  </a:lnTo>
                  <a:lnTo>
                    <a:pt x="36" y="258"/>
                  </a:lnTo>
                  <a:lnTo>
                    <a:pt x="42" y="258"/>
                  </a:lnTo>
                  <a:lnTo>
                    <a:pt x="36" y="258"/>
                  </a:lnTo>
                  <a:lnTo>
                    <a:pt x="30" y="258"/>
                  </a:lnTo>
                  <a:lnTo>
                    <a:pt x="24" y="264"/>
                  </a:lnTo>
                  <a:lnTo>
                    <a:pt x="24" y="258"/>
                  </a:lnTo>
                  <a:lnTo>
                    <a:pt x="18" y="258"/>
                  </a:lnTo>
                  <a:lnTo>
                    <a:pt x="18" y="252"/>
                  </a:lnTo>
                  <a:lnTo>
                    <a:pt x="24" y="252"/>
                  </a:lnTo>
                  <a:lnTo>
                    <a:pt x="24" y="246"/>
                  </a:lnTo>
                  <a:lnTo>
                    <a:pt x="18" y="246"/>
                  </a:lnTo>
                  <a:lnTo>
                    <a:pt x="18" y="252"/>
                  </a:lnTo>
                  <a:lnTo>
                    <a:pt x="12" y="246"/>
                  </a:lnTo>
                  <a:lnTo>
                    <a:pt x="6" y="246"/>
                  </a:lnTo>
                  <a:lnTo>
                    <a:pt x="6" y="240"/>
                  </a:lnTo>
                  <a:lnTo>
                    <a:pt x="0" y="240"/>
                  </a:lnTo>
                  <a:lnTo>
                    <a:pt x="0" y="234"/>
                  </a:lnTo>
                  <a:lnTo>
                    <a:pt x="6" y="234"/>
                  </a:lnTo>
                  <a:lnTo>
                    <a:pt x="6" y="228"/>
                  </a:lnTo>
                  <a:lnTo>
                    <a:pt x="6" y="222"/>
                  </a:lnTo>
                  <a:lnTo>
                    <a:pt x="12" y="222"/>
                  </a:lnTo>
                  <a:lnTo>
                    <a:pt x="18" y="222"/>
                  </a:lnTo>
                  <a:lnTo>
                    <a:pt x="24" y="216"/>
                  </a:lnTo>
                  <a:lnTo>
                    <a:pt x="30" y="216"/>
                  </a:lnTo>
                  <a:lnTo>
                    <a:pt x="24" y="216"/>
                  </a:lnTo>
                  <a:lnTo>
                    <a:pt x="24" y="210"/>
                  </a:lnTo>
                  <a:lnTo>
                    <a:pt x="30" y="210"/>
                  </a:lnTo>
                  <a:lnTo>
                    <a:pt x="30" y="204"/>
                  </a:lnTo>
                  <a:lnTo>
                    <a:pt x="30" y="198"/>
                  </a:lnTo>
                  <a:lnTo>
                    <a:pt x="24" y="198"/>
                  </a:lnTo>
                  <a:lnTo>
                    <a:pt x="30" y="198"/>
                  </a:lnTo>
                  <a:lnTo>
                    <a:pt x="36" y="198"/>
                  </a:lnTo>
                  <a:lnTo>
                    <a:pt x="30" y="198"/>
                  </a:lnTo>
                  <a:lnTo>
                    <a:pt x="30" y="192"/>
                  </a:lnTo>
                  <a:lnTo>
                    <a:pt x="36" y="192"/>
                  </a:lnTo>
                  <a:lnTo>
                    <a:pt x="36" y="186"/>
                  </a:lnTo>
                  <a:lnTo>
                    <a:pt x="42" y="186"/>
                  </a:lnTo>
                  <a:lnTo>
                    <a:pt x="42" y="180"/>
                  </a:lnTo>
                  <a:lnTo>
                    <a:pt x="36" y="180"/>
                  </a:lnTo>
                  <a:lnTo>
                    <a:pt x="30" y="180"/>
                  </a:lnTo>
                  <a:lnTo>
                    <a:pt x="30" y="174"/>
                  </a:lnTo>
                  <a:lnTo>
                    <a:pt x="30" y="162"/>
                  </a:lnTo>
                  <a:lnTo>
                    <a:pt x="36" y="156"/>
                  </a:lnTo>
                  <a:lnTo>
                    <a:pt x="30" y="156"/>
                  </a:lnTo>
                  <a:lnTo>
                    <a:pt x="30" y="150"/>
                  </a:lnTo>
                  <a:lnTo>
                    <a:pt x="24" y="150"/>
                  </a:lnTo>
                  <a:lnTo>
                    <a:pt x="18" y="150"/>
                  </a:lnTo>
                  <a:lnTo>
                    <a:pt x="24" y="144"/>
                  </a:lnTo>
                  <a:lnTo>
                    <a:pt x="18" y="138"/>
                  </a:lnTo>
                  <a:lnTo>
                    <a:pt x="24" y="132"/>
                  </a:lnTo>
                  <a:lnTo>
                    <a:pt x="18" y="132"/>
                  </a:lnTo>
                  <a:lnTo>
                    <a:pt x="24" y="126"/>
                  </a:lnTo>
                  <a:lnTo>
                    <a:pt x="24" y="120"/>
                  </a:lnTo>
                  <a:lnTo>
                    <a:pt x="24" y="108"/>
                  </a:lnTo>
                  <a:lnTo>
                    <a:pt x="24" y="96"/>
                  </a:lnTo>
                  <a:lnTo>
                    <a:pt x="24" y="90"/>
                  </a:lnTo>
                  <a:lnTo>
                    <a:pt x="24" y="84"/>
                  </a:lnTo>
                  <a:lnTo>
                    <a:pt x="18" y="84"/>
                  </a:lnTo>
                  <a:lnTo>
                    <a:pt x="18" y="78"/>
                  </a:lnTo>
                  <a:lnTo>
                    <a:pt x="24" y="78"/>
                  </a:lnTo>
                  <a:lnTo>
                    <a:pt x="24" y="72"/>
                  </a:lnTo>
                  <a:lnTo>
                    <a:pt x="30" y="72"/>
                  </a:lnTo>
                  <a:lnTo>
                    <a:pt x="36" y="72"/>
                  </a:lnTo>
                  <a:lnTo>
                    <a:pt x="36" y="66"/>
                  </a:lnTo>
                  <a:lnTo>
                    <a:pt x="42" y="60"/>
                  </a:lnTo>
                  <a:lnTo>
                    <a:pt x="42" y="42"/>
                  </a:lnTo>
                  <a:lnTo>
                    <a:pt x="84" y="18"/>
                  </a:lnTo>
                  <a:lnTo>
                    <a:pt x="84" y="12"/>
                  </a:lnTo>
                  <a:lnTo>
                    <a:pt x="84" y="6"/>
                  </a:lnTo>
                  <a:lnTo>
                    <a:pt x="90" y="6"/>
                  </a:lnTo>
                  <a:lnTo>
                    <a:pt x="96" y="6"/>
                  </a:lnTo>
                  <a:lnTo>
                    <a:pt x="102" y="6"/>
                  </a:lnTo>
                  <a:lnTo>
                    <a:pt x="108" y="0"/>
                  </a:lnTo>
                  <a:lnTo>
                    <a:pt x="108" y="6"/>
                  </a:lnTo>
                  <a:lnTo>
                    <a:pt x="114" y="6"/>
                  </a:lnTo>
                  <a:lnTo>
                    <a:pt x="120" y="12"/>
                  </a:lnTo>
                  <a:lnTo>
                    <a:pt x="126" y="12"/>
                  </a:lnTo>
                  <a:lnTo>
                    <a:pt x="132" y="6"/>
                  </a:lnTo>
                  <a:lnTo>
                    <a:pt x="138" y="6"/>
                  </a:lnTo>
                  <a:lnTo>
                    <a:pt x="144" y="12"/>
                  </a:lnTo>
                  <a:lnTo>
                    <a:pt x="138" y="18"/>
                  </a:lnTo>
                  <a:lnTo>
                    <a:pt x="144" y="18"/>
                  </a:lnTo>
                  <a:lnTo>
                    <a:pt x="144" y="24"/>
                  </a:lnTo>
                  <a:lnTo>
                    <a:pt x="144" y="30"/>
                  </a:lnTo>
                  <a:lnTo>
                    <a:pt x="150" y="36"/>
                  </a:lnTo>
                  <a:lnTo>
                    <a:pt x="150" y="42"/>
                  </a:lnTo>
                  <a:lnTo>
                    <a:pt x="150" y="48"/>
                  </a:lnTo>
                  <a:lnTo>
                    <a:pt x="156" y="42"/>
                  </a:lnTo>
                  <a:lnTo>
                    <a:pt x="156" y="48"/>
                  </a:lnTo>
                  <a:lnTo>
                    <a:pt x="162" y="54"/>
                  </a:lnTo>
                  <a:lnTo>
                    <a:pt x="156" y="60"/>
                  </a:lnTo>
                  <a:lnTo>
                    <a:pt x="162" y="66"/>
                  </a:lnTo>
                  <a:lnTo>
                    <a:pt x="168" y="66"/>
                  </a:lnTo>
                  <a:lnTo>
                    <a:pt x="168" y="72"/>
                  </a:lnTo>
                  <a:lnTo>
                    <a:pt x="168" y="78"/>
                  </a:lnTo>
                  <a:lnTo>
                    <a:pt x="174" y="78"/>
                  </a:lnTo>
                  <a:lnTo>
                    <a:pt x="174" y="84"/>
                  </a:lnTo>
                  <a:lnTo>
                    <a:pt x="180" y="84"/>
                  </a:lnTo>
                  <a:lnTo>
                    <a:pt x="186" y="84"/>
                  </a:lnTo>
                  <a:lnTo>
                    <a:pt x="192" y="84"/>
                  </a:lnTo>
                  <a:lnTo>
                    <a:pt x="192" y="78"/>
                  </a:lnTo>
                  <a:lnTo>
                    <a:pt x="192" y="84"/>
                  </a:lnTo>
                  <a:lnTo>
                    <a:pt x="198" y="84"/>
                  </a:lnTo>
                  <a:lnTo>
                    <a:pt x="198" y="90"/>
                  </a:lnTo>
                  <a:lnTo>
                    <a:pt x="204" y="90"/>
                  </a:lnTo>
                  <a:lnTo>
                    <a:pt x="204" y="84"/>
                  </a:lnTo>
                  <a:lnTo>
                    <a:pt x="210" y="84"/>
                  </a:lnTo>
                  <a:lnTo>
                    <a:pt x="210" y="90"/>
                  </a:lnTo>
                  <a:lnTo>
                    <a:pt x="216" y="90"/>
                  </a:lnTo>
                  <a:lnTo>
                    <a:pt x="222" y="84"/>
                  </a:lnTo>
                  <a:lnTo>
                    <a:pt x="228" y="84"/>
                  </a:lnTo>
                  <a:lnTo>
                    <a:pt x="234" y="84"/>
                  </a:lnTo>
                  <a:lnTo>
                    <a:pt x="234" y="90"/>
                  </a:lnTo>
                  <a:lnTo>
                    <a:pt x="240" y="90"/>
                  </a:lnTo>
                  <a:lnTo>
                    <a:pt x="252" y="90"/>
                  </a:lnTo>
                  <a:lnTo>
                    <a:pt x="270" y="84"/>
                  </a:lnTo>
                  <a:lnTo>
                    <a:pt x="276" y="78"/>
                  </a:lnTo>
                  <a:lnTo>
                    <a:pt x="276" y="84"/>
                  </a:lnTo>
                  <a:lnTo>
                    <a:pt x="282" y="90"/>
                  </a:lnTo>
                  <a:lnTo>
                    <a:pt x="294" y="90"/>
                  </a:lnTo>
                  <a:lnTo>
                    <a:pt x="294" y="96"/>
                  </a:lnTo>
                  <a:lnTo>
                    <a:pt x="294" y="90"/>
                  </a:lnTo>
                  <a:lnTo>
                    <a:pt x="300" y="90"/>
                  </a:lnTo>
                  <a:lnTo>
                    <a:pt x="306" y="96"/>
                  </a:lnTo>
                  <a:lnTo>
                    <a:pt x="300" y="90"/>
                  </a:lnTo>
                  <a:lnTo>
                    <a:pt x="306" y="78"/>
                  </a:lnTo>
                  <a:lnTo>
                    <a:pt x="306" y="72"/>
                  </a:lnTo>
                  <a:lnTo>
                    <a:pt x="318" y="72"/>
                  </a:lnTo>
                  <a:lnTo>
                    <a:pt x="324" y="72"/>
                  </a:lnTo>
                  <a:lnTo>
                    <a:pt x="324" y="66"/>
                  </a:lnTo>
                  <a:lnTo>
                    <a:pt x="330" y="66"/>
                  </a:lnTo>
                  <a:lnTo>
                    <a:pt x="330" y="72"/>
                  </a:lnTo>
                  <a:lnTo>
                    <a:pt x="336" y="72"/>
                  </a:lnTo>
                  <a:lnTo>
                    <a:pt x="342" y="78"/>
                  </a:lnTo>
                  <a:lnTo>
                    <a:pt x="354" y="84"/>
                  </a:lnTo>
                  <a:lnTo>
                    <a:pt x="360" y="78"/>
                  </a:lnTo>
                  <a:lnTo>
                    <a:pt x="354" y="84"/>
                  </a:lnTo>
                  <a:lnTo>
                    <a:pt x="360" y="84"/>
                  </a:lnTo>
                  <a:lnTo>
                    <a:pt x="360" y="78"/>
                  </a:lnTo>
                  <a:lnTo>
                    <a:pt x="360" y="72"/>
                  </a:lnTo>
                  <a:lnTo>
                    <a:pt x="366" y="72"/>
                  </a:lnTo>
                  <a:lnTo>
                    <a:pt x="372" y="72"/>
                  </a:lnTo>
                  <a:lnTo>
                    <a:pt x="372" y="78"/>
                  </a:lnTo>
                  <a:lnTo>
                    <a:pt x="378" y="78"/>
                  </a:lnTo>
                  <a:lnTo>
                    <a:pt x="378" y="84"/>
                  </a:lnTo>
                  <a:lnTo>
                    <a:pt x="384" y="84"/>
                  </a:lnTo>
                  <a:lnTo>
                    <a:pt x="384" y="78"/>
                  </a:lnTo>
                  <a:lnTo>
                    <a:pt x="402" y="84"/>
                  </a:lnTo>
                  <a:lnTo>
                    <a:pt x="402" y="72"/>
                  </a:lnTo>
                  <a:lnTo>
                    <a:pt x="408" y="72"/>
                  </a:lnTo>
                  <a:lnTo>
                    <a:pt x="414" y="72"/>
                  </a:lnTo>
                  <a:lnTo>
                    <a:pt x="414" y="54"/>
                  </a:lnTo>
                  <a:lnTo>
                    <a:pt x="432" y="54"/>
                  </a:lnTo>
                  <a:lnTo>
                    <a:pt x="432" y="66"/>
                  </a:lnTo>
                  <a:lnTo>
                    <a:pt x="444" y="66"/>
                  </a:lnTo>
                  <a:lnTo>
                    <a:pt x="480" y="72"/>
                  </a:lnTo>
                  <a:lnTo>
                    <a:pt x="486" y="42"/>
                  </a:lnTo>
                  <a:lnTo>
                    <a:pt x="510" y="42"/>
                  </a:lnTo>
                  <a:lnTo>
                    <a:pt x="504" y="60"/>
                  </a:lnTo>
                  <a:lnTo>
                    <a:pt x="528" y="60"/>
                  </a:lnTo>
                  <a:lnTo>
                    <a:pt x="534" y="60"/>
                  </a:lnTo>
                  <a:lnTo>
                    <a:pt x="540" y="60"/>
                  </a:lnTo>
                  <a:lnTo>
                    <a:pt x="540" y="54"/>
                  </a:lnTo>
                  <a:lnTo>
                    <a:pt x="540" y="60"/>
                  </a:lnTo>
                  <a:lnTo>
                    <a:pt x="552" y="60"/>
                  </a:lnTo>
                  <a:lnTo>
                    <a:pt x="552" y="72"/>
                  </a:lnTo>
                  <a:lnTo>
                    <a:pt x="558" y="72"/>
                  </a:lnTo>
                  <a:lnTo>
                    <a:pt x="564" y="72"/>
                  </a:lnTo>
                  <a:lnTo>
                    <a:pt x="564" y="84"/>
                  </a:lnTo>
                  <a:lnTo>
                    <a:pt x="558" y="96"/>
                  </a:lnTo>
                  <a:lnTo>
                    <a:pt x="564" y="102"/>
                  </a:lnTo>
                  <a:lnTo>
                    <a:pt x="558" y="102"/>
                  </a:lnTo>
                  <a:lnTo>
                    <a:pt x="552" y="102"/>
                  </a:lnTo>
                  <a:lnTo>
                    <a:pt x="558" y="108"/>
                  </a:lnTo>
                  <a:lnTo>
                    <a:pt x="552" y="108"/>
                  </a:lnTo>
                  <a:lnTo>
                    <a:pt x="552" y="114"/>
                  </a:lnTo>
                  <a:lnTo>
                    <a:pt x="552" y="120"/>
                  </a:lnTo>
                  <a:lnTo>
                    <a:pt x="552" y="126"/>
                  </a:lnTo>
                  <a:lnTo>
                    <a:pt x="552" y="132"/>
                  </a:lnTo>
                  <a:lnTo>
                    <a:pt x="546" y="126"/>
                  </a:lnTo>
                  <a:lnTo>
                    <a:pt x="540" y="126"/>
                  </a:lnTo>
                  <a:lnTo>
                    <a:pt x="540" y="132"/>
                  </a:lnTo>
                  <a:lnTo>
                    <a:pt x="534" y="126"/>
                  </a:lnTo>
                  <a:lnTo>
                    <a:pt x="534" y="132"/>
                  </a:lnTo>
                  <a:lnTo>
                    <a:pt x="528" y="126"/>
                  </a:lnTo>
                  <a:lnTo>
                    <a:pt x="528" y="132"/>
                  </a:lnTo>
                  <a:lnTo>
                    <a:pt x="528" y="138"/>
                  </a:lnTo>
                  <a:lnTo>
                    <a:pt x="534" y="138"/>
                  </a:lnTo>
                  <a:lnTo>
                    <a:pt x="528" y="138"/>
                  </a:lnTo>
                  <a:lnTo>
                    <a:pt x="534" y="144"/>
                  </a:lnTo>
                  <a:lnTo>
                    <a:pt x="534" y="138"/>
                  </a:lnTo>
                  <a:lnTo>
                    <a:pt x="540" y="144"/>
                  </a:lnTo>
                  <a:lnTo>
                    <a:pt x="546" y="144"/>
                  </a:lnTo>
                  <a:lnTo>
                    <a:pt x="552" y="144"/>
                  </a:lnTo>
                  <a:lnTo>
                    <a:pt x="552" y="150"/>
                  </a:lnTo>
                  <a:lnTo>
                    <a:pt x="552" y="144"/>
                  </a:lnTo>
                  <a:lnTo>
                    <a:pt x="558" y="144"/>
                  </a:lnTo>
                  <a:lnTo>
                    <a:pt x="558" y="138"/>
                  </a:lnTo>
                  <a:lnTo>
                    <a:pt x="564" y="138"/>
                  </a:lnTo>
                  <a:lnTo>
                    <a:pt x="564" y="156"/>
                  </a:lnTo>
                  <a:lnTo>
                    <a:pt x="558" y="174"/>
                  </a:lnTo>
                  <a:lnTo>
                    <a:pt x="570" y="174"/>
                  </a:lnTo>
                  <a:lnTo>
                    <a:pt x="570" y="186"/>
                  </a:lnTo>
                  <a:lnTo>
                    <a:pt x="552" y="186"/>
                  </a:lnTo>
                  <a:lnTo>
                    <a:pt x="534" y="186"/>
                  </a:lnTo>
                  <a:lnTo>
                    <a:pt x="534" y="198"/>
                  </a:lnTo>
                  <a:lnTo>
                    <a:pt x="534" y="210"/>
                  </a:lnTo>
                  <a:lnTo>
                    <a:pt x="522" y="210"/>
                  </a:lnTo>
                  <a:lnTo>
                    <a:pt x="522" y="216"/>
                  </a:lnTo>
                  <a:lnTo>
                    <a:pt x="516" y="216"/>
                  </a:lnTo>
                  <a:lnTo>
                    <a:pt x="516" y="228"/>
                  </a:lnTo>
                  <a:lnTo>
                    <a:pt x="504" y="228"/>
                  </a:lnTo>
                  <a:lnTo>
                    <a:pt x="486" y="222"/>
                  </a:lnTo>
                  <a:lnTo>
                    <a:pt x="486" y="228"/>
                  </a:lnTo>
                  <a:lnTo>
                    <a:pt x="474" y="222"/>
                  </a:lnTo>
                  <a:lnTo>
                    <a:pt x="474" y="234"/>
                  </a:lnTo>
                  <a:lnTo>
                    <a:pt x="456" y="228"/>
                  </a:lnTo>
                  <a:lnTo>
                    <a:pt x="444" y="228"/>
                  </a:lnTo>
                  <a:lnTo>
                    <a:pt x="438" y="234"/>
                  </a:lnTo>
                  <a:lnTo>
                    <a:pt x="438" y="228"/>
                  </a:lnTo>
                  <a:lnTo>
                    <a:pt x="432" y="228"/>
                  </a:lnTo>
                  <a:lnTo>
                    <a:pt x="432" y="222"/>
                  </a:lnTo>
                  <a:lnTo>
                    <a:pt x="426" y="222"/>
                  </a:lnTo>
                  <a:lnTo>
                    <a:pt x="420" y="222"/>
                  </a:lnTo>
                  <a:lnTo>
                    <a:pt x="414" y="222"/>
                  </a:lnTo>
                  <a:lnTo>
                    <a:pt x="408" y="222"/>
                  </a:lnTo>
                  <a:lnTo>
                    <a:pt x="408" y="228"/>
                  </a:lnTo>
                  <a:lnTo>
                    <a:pt x="402" y="228"/>
                  </a:lnTo>
                  <a:lnTo>
                    <a:pt x="402" y="222"/>
                  </a:lnTo>
                  <a:lnTo>
                    <a:pt x="402" y="216"/>
                  </a:lnTo>
                  <a:lnTo>
                    <a:pt x="396" y="216"/>
                  </a:lnTo>
                  <a:lnTo>
                    <a:pt x="396" y="222"/>
                  </a:lnTo>
                  <a:lnTo>
                    <a:pt x="396" y="228"/>
                  </a:lnTo>
                  <a:lnTo>
                    <a:pt x="396" y="222"/>
                  </a:lnTo>
                  <a:lnTo>
                    <a:pt x="390" y="222"/>
                  </a:lnTo>
                  <a:lnTo>
                    <a:pt x="384" y="216"/>
                  </a:lnTo>
                  <a:lnTo>
                    <a:pt x="384" y="222"/>
                  </a:lnTo>
                  <a:lnTo>
                    <a:pt x="378" y="228"/>
                  </a:lnTo>
                  <a:lnTo>
                    <a:pt x="378" y="222"/>
                  </a:lnTo>
                  <a:lnTo>
                    <a:pt x="372" y="228"/>
                  </a:lnTo>
                  <a:lnTo>
                    <a:pt x="366" y="222"/>
                  </a:lnTo>
                  <a:lnTo>
                    <a:pt x="366" y="216"/>
                  </a:lnTo>
                  <a:lnTo>
                    <a:pt x="360" y="216"/>
                  </a:lnTo>
                  <a:lnTo>
                    <a:pt x="354" y="216"/>
                  </a:lnTo>
                  <a:lnTo>
                    <a:pt x="348" y="216"/>
                  </a:lnTo>
                  <a:lnTo>
                    <a:pt x="348" y="222"/>
                  </a:lnTo>
                  <a:lnTo>
                    <a:pt x="342" y="216"/>
                  </a:lnTo>
                  <a:lnTo>
                    <a:pt x="342" y="204"/>
                  </a:lnTo>
                  <a:lnTo>
                    <a:pt x="336" y="204"/>
                  </a:lnTo>
                  <a:lnTo>
                    <a:pt x="330" y="210"/>
                  </a:lnTo>
                  <a:lnTo>
                    <a:pt x="330" y="216"/>
                  </a:lnTo>
                  <a:lnTo>
                    <a:pt x="330" y="222"/>
                  </a:lnTo>
                  <a:lnTo>
                    <a:pt x="336" y="222"/>
                  </a:lnTo>
                  <a:lnTo>
                    <a:pt x="336" y="228"/>
                  </a:lnTo>
                  <a:lnTo>
                    <a:pt x="336" y="234"/>
                  </a:lnTo>
                  <a:lnTo>
                    <a:pt x="330" y="234"/>
                  </a:lnTo>
                  <a:lnTo>
                    <a:pt x="324" y="234"/>
                  </a:lnTo>
                  <a:lnTo>
                    <a:pt x="318" y="234"/>
                  </a:lnTo>
                  <a:lnTo>
                    <a:pt x="318" y="240"/>
                  </a:lnTo>
                  <a:lnTo>
                    <a:pt x="312" y="240"/>
                  </a:lnTo>
                  <a:lnTo>
                    <a:pt x="306" y="246"/>
                  </a:lnTo>
                  <a:lnTo>
                    <a:pt x="300" y="246"/>
                  </a:lnTo>
                  <a:lnTo>
                    <a:pt x="294" y="246"/>
                  </a:lnTo>
                  <a:lnTo>
                    <a:pt x="294" y="252"/>
                  </a:lnTo>
                  <a:lnTo>
                    <a:pt x="300" y="252"/>
                  </a:lnTo>
                  <a:lnTo>
                    <a:pt x="300" y="258"/>
                  </a:lnTo>
                  <a:lnTo>
                    <a:pt x="294" y="258"/>
                  </a:lnTo>
                  <a:lnTo>
                    <a:pt x="300" y="258"/>
                  </a:lnTo>
                  <a:lnTo>
                    <a:pt x="294" y="258"/>
                  </a:lnTo>
                  <a:lnTo>
                    <a:pt x="294" y="264"/>
                  </a:lnTo>
                  <a:lnTo>
                    <a:pt x="300" y="264"/>
                  </a:lnTo>
                  <a:lnTo>
                    <a:pt x="300" y="270"/>
                  </a:lnTo>
                  <a:lnTo>
                    <a:pt x="294" y="270"/>
                  </a:lnTo>
                  <a:lnTo>
                    <a:pt x="294" y="276"/>
                  </a:lnTo>
                  <a:lnTo>
                    <a:pt x="288" y="276"/>
                  </a:lnTo>
                  <a:lnTo>
                    <a:pt x="288" y="282"/>
                  </a:lnTo>
                  <a:lnTo>
                    <a:pt x="282" y="276"/>
                  </a:lnTo>
                  <a:lnTo>
                    <a:pt x="282" y="282"/>
                  </a:lnTo>
                  <a:close/>
                </a:path>
              </a:pathLst>
            </a:custGeom>
            <a:solidFill>
              <a:schemeClr val="accent1"/>
            </a:solidFill>
            <a:ln w="9525">
              <a:solidFill>
                <a:srgbClr val="B2B2B2"/>
              </a:solidFill>
              <a:round/>
              <a:headEnd/>
              <a:tailEnd/>
            </a:ln>
          </p:spPr>
          <p:txBody>
            <a:bodyPr/>
            <a:lstStyle/>
            <a:p>
              <a:endParaRPr lang="en-CA"/>
            </a:p>
          </p:txBody>
        </p:sp>
        <p:sp>
          <p:nvSpPr>
            <p:cNvPr id="417" name="Freeform 476"/>
            <p:cNvSpPr>
              <a:spLocks/>
            </p:cNvSpPr>
            <p:nvPr>
              <p:custDataLst>
                <p:tags r:id="rId40"/>
              </p:custDataLst>
            </p:nvPr>
          </p:nvSpPr>
          <p:spPr bwMode="gray">
            <a:xfrm>
              <a:off x="661" y="2373"/>
              <a:ext cx="244" cy="390"/>
            </a:xfrm>
            <a:custGeom>
              <a:avLst/>
              <a:gdLst>
                <a:gd name="T0" fmla="*/ 348073703 w 390"/>
                <a:gd name="T1" fmla="*/ 524951523 h 624"/>
                <a:gd name="T2" fmla="*/ 283178673 w 390"/>
                <a:gd name="T3" fmla="*/ 566240414 h 624"/>
                <a:gd name="T4" fmla="*/ 259580119 w 390"/>
                <a:gd name="T5" fmla="*/ 560341859 h 624"/>
                <a:gd name="T6" fmla="*/ 230081927 w 390"/>
                <a:gd name="T7" fmla="*/ 572138969 h 624"/>
                <a:gd name="T8" fmla="*/ 182885813 w 390"/>
                <a:gd name="T9" fmla="*/ 566240414 h 624"/>
                <a:gd name="T10" fmla="*/ 206484367 w 390"/>
                <a:gd name="T11" fmla="*/ 578036531 h 624"/>
                <a:gd name="T12" fmla="*/ 182885813 w 390"/>
                <a:gd name="T13" fmla="*/ 589833641 h 624"/>
                <a:gd name="T14" fmla="*/ 171086536 w 390"/>
                <a:gd name="T15" fmla="*/ 607528313 h 624"/>
                <a:gd name="T16" fmla="*/ 35396838 w 390"/>
                <a:gd name="T17" fmla="*/ 572138969 h 624"/>
                <a:gd name="T18" fmla="*/ 0 w 390"/>
                <a:gd name="T19" fmla="*/ 554443305 h 624"/>
                <a:gd name="T20" fmla="*/ 17698915 w 390"/>
                <a:gd name="T21" fmla="*/ 530850078 h 624"/>
                <a:gd name="T22" fmla="*/ 35396838 w 390"/>
                <a:gd name="T23" fmla="*/ 507256852 h 624"/>
                <a:gd name="T24" fmla="*/ 53095753 w 390"/>
                <a:gd name="T25" fmla="*/ 483663625 h 624"/>
                <a:gd name="T26" fmla="*/ 70794668 w 390"/>
                <a:gd name="T27" fmla="*/ 460070398 h 624"/>
                <a:gd name="T28" fmla="*/ 88493584 w 390"/>
                <a:gd name="T29" fmla="*/ 436477172 h 624"/>
                <a:gd name="T30" fmla="*/ 100291867 w 390"/>
                <a:gd name="T31" fmla="*/ 406985391 h 624"/>
                <a:gd name="T32" fmla="*/ 88493584 w 390"/>
                <a:gd name="T33" fmla="*/ 377493609 h 624"/>
                <a:gd name="T34" fmla="*/ 70794668 w 390"/>
                <a:gd name="T35" fmla="*/ 353900383 h 624"/>
                <a:gd name="T36" fmla="*/ 47196114 w 390"/>
                <a:gd name="T37" fmla="*/ 336204719 h 624"/>
                <a:gd name="T38" fmla="*/ 35396838 w 390"/>
                <a:gd name="T39" fmla="*/ 312611492 h 624"/>
                <a:gd name="T40" fmla="*/ 53095753 w 390"/>
                <a:gd name="T41" fmla="*/ 271323594 h 624"/>
                <a:gd name="T42" fmla="*/ 35396838 w 390"/>
                <a:gd name="T43" fmla="*/ 253628922 h 624"/>
                <a:gd name="T44" fmla="*/ 29498192 w 390"/>
                <a:gd name="T45" fmla="*/ 218238586 h 624"/>
                <a:gd name="T46" fmla="*/ 11799277 w 390"/>
                <a:gd name="T47" fmla="*/ 200542922 h 624"/>
                <a:gd name="T48" fmla="*/ 23598554 w 390"/>
                <a:gd name="T49" fmla="*/ 171052133 h 624"/>
                <a:gd name="T50" fmla="*/ 17698915 w 390"/>
                <a:gd name="T51" fmla="*/ 129763242 h 624"/>
                <a:gd name="T52" fmla="*/ 35396838 w 390"/>
                <a:gd name="T53" fmla="*/ 100271461 h 624"/>
                <a:gd name="T54" fmla="*/ 23598554 w 390"/>
                <a:gd name="T55" fmla="*/ 64882117 h 624"/>
                <a:gd name="T56" fmla="*/ 5899638 w 390"/>
                <a:gd name="T57" fmla="*/ 23593227 h 624"/>
                <a:gd name="T58" fmla="*/ 112091144 w 390"/>
                <a:gd name="T59" fmla="*/ 23593227 h 624"/>
                <a:gd name="T60" fmla="*/ 159288252 w 390"/>
                <a:gd name="T61" fmla="*/ 11797109 h 624"/>
                <a:gd name="T62" fmla="*/ 188785451 w 390"/>
                <a:gd name="T63" fmla="*/ 23593227 h 624"/>
                <a:gd name="T64" fmla="*/ 194685090 w 390"/>
                <a:gd name="T65" fmla="*/ 41287898 h 624"/>
                <a:gd name="T66" fmla="*/ 200584728 w 390"/>
                <a:gd name="T67" fmla="*/ 47186453 h 624"/>
                <a:gd name="T68" fmla="*/ 218283643 w 390"/>
                <a:gd name="T69" fmla="*/ 58983563 h 624"/>
                <a:gd name="T70" fmla="*/ 235981566 w 390"/>
                <a:gd name="T71" fmla="*/ 70779680 h 624"/>
                <a:gd name="T72" fmla="*/ 241881204 w 390"/>
                <a:gd name="T73" fmla="*/ 88475344 h 624"/>
                <a:gd name="T74" fmla="*/ 247780843 w 390"/>
                <a:gd name="T75" fmla="*/ 100271461 h 624"/>
                <a:gd name="T76" fmla="*/ 247780843 w 390"/>
                <a:gd name="T77" fmla="*/ 106170016 h 624"/>
                <a:gd name="T78" fmla="*/ 241881204 w 390"/>
                <a:gd name="T79" fmla="*/ 106170016 h 624"/>
                <a:gd name="T80" fmla="*/ 235981566 w 390"/>
                <a:gd name="T81" fmla="*/ 129763242 h 624"/>
                <a:gd name="T82" fmla="*/ 230081927 w 390"/>
                <a:gd name="T83" fmla="*/ 141560352 h 624"/>
                <a:gd name="T84" fmla="*/ 230081927 w 390"/>
                <a:gd name="T85" fmla="*/ 159255023 h 624"/>
                <a:gd name="T86" fmla="*/ 241881204 w 390"/>
                <a:gd name="T87" fmla="*/ 171052133 h 624"/>
                <a:gd name="T88" fmla="*/ 241881204 w 390"/>
                <a:gd name="T89" fmla="*/ 176949695 h 624"/>
                <a:gd name="T90" fmla="*/ 247780843 w 390"/>
                <a:gd name="T91" fmla="*/ 200542922 h 624"/>
                <a:gd name="T92" fmla="*/ 247780843 w 390"/>
                <a:gd name="T93" fmla="*/ 218238586 h 624"/>
                <a:gd name="T94" fmla="*/ 247780843 w 390"/>
                <a:gd name="T95" fmla="*/ 235933258 h 624"/>
                <a:gd name="T96" fmla="*/ 259580119 w 390"/>
                <a:gd name="T97" fmla="*/ 253628922 h 624"/>
                <a:gd name="T98" fmla="*/ 277279035 w 390"/>
                <a:gd name="T99" fmla="*/ 253628922 h 624"/>
                <a:gd name="T100" fmla="*/ 294976957 w 390"/>
                <a:gd name="T101" fmla="*/ 259526484 h 624"/>
                <a:gd name="T102" fmla="*/ 294976957 w 390"/>
                <a:gd name="T103" fmla="*/ 265425039 h 624"/>
                <a:gd name="T104" fmla="*/ 312675872 w 390"/>
                <a:gd name="T105" fmla="*/ 283119711 h 624"/>
                <a:gd name="T106" fmla="*/ 324475149 w 390"/>
                <a:gd name="T107" fmla="*/ 312611492 h 624"/>
                <a:gd name="T108" fmla="*/ 306776234 w 390"/>
                <a:gd name="T109" fmla="*/ 371595055 h 624"/>
                <a:gd name="T110" fmla="*/ 336274426 w 390"/>
                <a:gd name="T111" fmla="*/ 418781508 h 624"/>
                <a:gd name="T112" fmla="*/ 359871987 w 390"/>
                <a:gd name="T113" fmla="*/ 418781508 h 624"/>
                <a:gd name="T114" fmla="*/ 371671264 w 390"/>
                <a:gd name="T115" fmla="*/ 448273289 h 624"/>
                <a:gd name="T116" fmla="*/ 377570902 w 390"/>
                <a:gd name="T117" fmla="*/ 471866516 h 624"/>
                <a:gd name="T118" fmla="*/ 383470541 w 390"/>
                <a:gd name="T119" fmla="*/ 519053961 h 62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90"/>
                <a:gd name="T181" fmla="*/ 0 h 624"/>
                <a:gd name="T182" fmla="*/ 390 w 390"/>
                <a:gd name="T183" fmla="*/ 624 h 62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90" h="624">
                  <a:moveTo>
                    <a:pt x="384" y="540"/>
                  </a:moveTo>
                  <a:lnTo>
                    <a:pt x="378" y="540"/>
                  </a:lnTo>
                  <a:lnTo>
                    <a:pt x="372" y="546"/>
                  </a:lnTo>
                  <a:lnTo>
                    <a:pt x="366" y="546"/>
                  </a:lnTo>
                  <a:lnTo>
                    <a:pt x="360" y="540"/>
                  </a:lnTo>
                  <a:lnTo>
                    <a:pt x="354" y="540"/>
                  </a:lnTo>
                  <a:lnTo>
                    <a:pt x="354" y="534"/>
                  </a:lnTo>
                  <a:lnTo>
                    <a:pt x="348" y="540"/>
                  </a:lnTo>
                  <a:lnTo>
                    <a:pt x="342" y="540"/>
                  </a:lnTo>
                  <a:lnTo>
                    <a:pt x="336" y="540"/>
                  </a:lnTo>
                  <a:lnTo>
                    <a:pt x="330" y="540"/>
                  </a:lnTo>
                  <a:lnTo>
                    <a:pt x="330" y="546"/>
                  </a:lnTo>
                  <a:lnTo>
                    <a:pt x="330" y="552"/>
                  </a:lnTo>
                  <a:lnTo>
                    <a:pt x="288" y="576"/>
                  </a:lnTo>
                  <a:lnTo>
                    <a:pt x="282" y="576"/>
                  </a:lnTo>
                  <a:lnTo>
                    <a:pt x="276" y="582"/>
                  </a:lnTo>
                  <a:lnTo>
                    <a:pt x="276" y="576"/>
                  </a:lnTo>
                  <a:lnTo>
                    <a:pt x="276" y="570"/>
                  </a:lnTo>
                  <a:lnTo>
                    <a:pt x="276" y="564"/>
                  </a:lnTo>
                  <a:lnTo>
                    <a:pt x="270" y="570"/>
                  </a:lnTo>
                  <a:lnTo>
                    <a:pt x="264" y="570"/>
                  </a:lnTo>
                  <a:lnTo>
                    <a:pt x="258" y="570"/>
                  </a:lnTo>
                  <a:lnTo>
                    <a:pt x="252" y="564"/>
                  </a:lnTo>
                  <a:lnTo>
                    <a:pt x="246" y="564"/>
                  </a:lnTo>
                  <a:lnTo>
                    <a:pt x="240" y="570"/>
                  </a:lnTo>
                  <a:lnTo>
                    <a:pt x="234" y="570"/>
                  </a:lnTo>
                  <a:lnTo>
                    <a:pt x="234" y="576"/>
                  </a:lnTo>
                  <a:lnTo>
                    <a:pt x="234" y="582"/>
                  </a:lnTo>
                  <a:lnTo>
                    <a:pt x="228" y="576"/>
                  </a:lnTo>
                  <a:lnTo>
                    <a:pt x="228" y="570"/>
                  </a:lnTo>
                  <a:lnTo>
                    <a:pt x="222" y="570"/>
                  </a:lnTo>
                  <a:lnTo>
                    <a:pt x="210" y="570"/>
                  </a:lnTo>
                  <a:lnTo>
                    <a:pt x="198" y="570"/>
                  </a:lnTo>
                  <a:lnTo>
                    <a:pt x="192" y="576"/>
                  </a:lnTo>
                  <a:lnTo>
                    <a:pt x="186" y="576"/>
                  </a:lnTo>
                  <a:lnTo>
                    <a:pt x="186" y="582"/>
                  </a:lnTo>
                  <a:lnTo>
                    <a:pt x="192" y="582"/>
                  </a:lnTo>
                  <a:lnTo>
                    <a:pt x="192" y="588"/>
                  </a:lnTo>
                  <a:lnTo>
                    <a:pt x="198" y="588"/>
                  </a:lnTo>
                  <a:lnTo>
                    <a:pt x="198" y="582"/>
                  </a:lnTo>
                  <a:lnTo>
                    <a:pt x="204" y="582"/>
                  </a:lnTo>
                  <a:lnTo>
                    <a:pt x="210" y="588"/>
                  </a:lnTo>
                  <a:lnTo>
                    <a:pt x="204" y="594"/>
                  </a:lnTo>
                  <a:lnTo>
                    <a:pt x="204" y="600"/>
                  </a:lnTo>
                  <a:lnTo>
                    <a:pt x="198" y="600"/>
                  </a:lnTo>
                  <a:lnTo>
                    <a:pt x="192" y="600"/>
                  </a:lnTo>
                  <a:lnTo>
                    <a:pt x="192" y="594"/>
                  </a:lnTo>
                  <a:lnTo>
                    <a:pt x="186" y="594"/>
                  </a:lnTo>
                  <a:lnTo>
                    <a:pt x="186" y="600"/>
                  </a:lnTo>
                  <a:lnTo>
                    <a:pt x="186" y="606"/>
                  </a:lnTo>
                  <a:lnTo>
                    <a:pt x="180" y="606"/>
                  </a:lnTo>
                  <a:lnTo>
                    <a:pt x="174" y="606"/>
                  </a:lnTo>
                  <a:lnTo>
                    <a:pt x="174" y="612"/>
                  </a:lnTo>
                  <a:lnTo>
                    <a:pt x="180" y="612"/>
                  </a:lnTo>
                  <a:lnTo>
                    <a:pt x="174" y="612"/>
                  </a:lnTo>
                  <a:lnTo>
                    <a:pt x="174" y="618"/>
                  </a:lnTo>
                  <a:lnTo>
                    <a:pt x="168" y="618"/>
                  </a:lnTo>
                  <a:lnTo>
                    <a:pt x="162" y="624"/>
                  </a:lnTo>
                  <a:lnTo>
                    <a:pt x="150" y="618"/>
                  </a:lnTo>
                  <a:lnTo>
                    <a:pt x="126" y="612"/>
                  </a:lnTo>
                  <a:lnTo>
                    <a:pt x="96" y="600"/>
                  </a:lnTo>
                  <a:lnTo>
                    <a:pt x="72" y="594"/>
                  </a:lnTo>
                  <a:lnTo>
                    <a:pt x="36" y="582"/>
                  </a:lnTo>
                  <a:lnTo>
                    <a:pt x="24" y="576"/>
                  </a:lnTo>
                  <a:lnTo>
                    <a:pt x="18" y="576"/>
                  </a:lnTo>
                  <a:lnTo>
                    <a:pt x="12" y="576"/>
                  </a:lnTo>
                  <a:lnTo>
                    <a:pt x="12" y="570"/>
                  </a:lnTo>
                  <a:lnTo>
                    <a:pt x="6" y="570"/>
                  </a:lnTo>
                  <a:lnTo>
                    <a:pt x="0" y="570"/>
                  </a:lnTo>
                  <a:lnTo>
                    <a:pt x="0" y="564"/>
                  </a:lnTo>
                  <a:lnTo>
                    <a:pt x="0" y="558"/>
                  </a:lnTo>
                  <a:lnTo>
                    <a:pt x="0" y="552"/>
                  </a:lnTo>
                  <a:lnTo>
                    <a:pt x="6" y="552"/>
                  </a:lnTo>
                  <a:lnTo>
                    <a:pt x="6" y="546"/>
                  </a:lnTo>
                  <a:lnTo>
                    <a:pt x="12" y="546"/>
                  </a:lnTo>
                  <a:lnTo>
                    <a:pt x="12" y="540"/>
                  </a:lnTo>
                  <a:lnTo>
                    <a:pt x="18" y="540"/>
                  </a:lnTo>
                  <a:lnTo>
                    <a:pt x="18" y="534"/>
                  </a:lnTo>
                  <a:lnTo>
                    <a:pt x="24" y="534"/>
                  </a:lnTo>
                  <a:lnTo>
                    <a:pt x="24" y="528"/>
                  </a:lnTo>
                  <a:lnTo>
                    <a:pt x="24" y="522"/>
                  </a:lnTo>
                  <a:lnTo>
                    <a:pt x="30" y="522"/>
                  </a:lnTo>
                  <a:lnTo>
                    <a:pt x="30" y="516"/>
                  </a:lnTo>
                  <a:lnTo>
                    <a:pt x="36" y="516"/>
                  </a:lnTo>
                  <a:lnTo>
                    <a:pt x="36" y="510"/>
                  </a:lnTo>
                  <a:lnTo>
                    <a:pt x="42" y="510"/>
                  </a:lnTo>
                  <a:lnTo>
                    <a:pt x="42" y="504"/>
                  </a:lnTo>
                  <a:lnTo>
                    <a:pt x="42" y="498"/>
                  </a:lnTo>
                  <a:lnTo>
                    <a:pt x="48" y="498"/>
                  </a:lnTo>
                  <a:lnTo>
                    <a:pt x="48" y="492"/>
                  </a:lnTo>
                  <a:lnTo>
                    <a:pt x="54" y="492"/>
                  </a:lnTo>
                  <a:lnTo>
                    <a:pt x="54" y="486"/>
                  </a:lnTo>
                  <a:lnTo>
                    <a:pt x="60" y="486"/>
                  </a:lnTo>
                  <a:lnTo>
                    <a:pt x="60" y="480"/>
                  </a:lnTo>
                  <a:lnTo>
                    <a:pt x="60" y="474"/>
                  </a:lnTo>
                  <a:lnTo>
                    <a:pt x="66" y="474"/>
                  </a:lnTo>
                  <a:lnTo>
                    <a:pt x="66" y="468"/>
                  </a:lnTo>
                  <a:lnTo>
                    <a:pt x="72" y="468"/>
                  </a:lnTo>
                  <a:lnTo>
                    <a:pt x="72" y="462"/>
                  </a:lnTo>
                  <a:lnTo>
                    <a:pt x="78" y="462"/>
                  </a:lnTo>
                  <a:lnTo>
                    <a:pt x="78" y="456"/>
                  </a:lnTo>
                  <a:lnTo>
                    <a:pt x="84" y="456"/>
                  </a:lnTo>
                  <a:lnTo>
                    <a:pt x="84" y="450"/>
                  </a:lnTo>
                  <a:lnTo>
                    <a:pt x="84" y="444"/>
                  </a:lnTo>
                  <a:lnTo>
                    <a:pt x="90" y="444"/>
                  </a:lnTo>
                  <a:lnTo>
                    <a:pt x="90" y="432"/>
                  </a:lnTo>
                  <a:lnTo>
                    <a:pt x="96" y="432"/>
                  </a:lnTo>
                  <a:lnTo>
                    <a:pt x="90" y="432"/>
                  </a:lnTo>
                  <a:lnTo>
                    <a:pt x="96" y="426"/>
                  </a:lnTo>
                  <a:lnTo>
                    <a:pt x="96" y="420"/>
                  </a:lnTo>
                  <a:lnTo>
                    <a:pt x="96" y="414"/>
                  </a:lnTo>
                  <a:lnTo>
                    <a:pt x="102" y="414"/>
                  </a:lnTo>
                  <a:lnTo>
                    <a:pt x="102" y="408"/>
                  </a:lnTo>
                  <a:lnTo>
                    <a:pt x="102" y="402"/>
                  </a:lnTo>
                  <a:lnTo>
                    <a:pt x="96" y="402"/>
                  </a:lnTo>
                  <a:lnTo>
                    <a:pt x="96" y="396"/>
                  </a:lnTo>
                  <a:lnTo>
                    <a:pt x="96" y="390"/>
                  </a:lnTo>
                  <a:lnTo>
                    <a:pt x="90" y="390"/>
                  </a:lnTo>
                  <a:lnTo>
                    <a:pt x="90" y="384"/>
                  </a:lnTo>
                  <a:lnTo>
                    <a:pt x="90" y="378"/>
                  </a:lnTo>
                  <a:lnTo>
                    <a:pt x="84" y="378"/>
                  </a:lnTo>
                  <a:lnTo>
                    <a:pt x="84" y="372"/>
                  </a:lnTo>
                  <a:lnTo>
                    <a:pt x="78" y="372"/>
                  </a:lnTo>
                  <a:lnTo>
                    <a:pt x="78" y="366"/>
                  </a:lnTo>
                  <a:lnTo>
                    <a:pt x="72" y="366"/>
                  </a:lnTo>
                  <a:lnTo>
                    <a:pt x="72" y="360"/>
                  </a:lnTo>
                  <a:lnTo>
                    <a:pt x="66" y="360"/>
                  </a:lnTo>
                  <a:lnTo>
                    <a:pt x="66" y="354"/>
                  </a:lnTo>
                  <a:lnTo>
                    <a:pt x="60" y="354"/>
                  </a:lnTo>
                  <a:lnTo>
                    <a:pt x="54" y="354"/>
                  </a:lnTo>
                  <a:lnTo>
                    <a:pt x="54" y="348"/>
                  </a:lnTo>
                  <a:lnTo>
                    <a:pt x="48" y="348"/>
                  </a:lnTo>
                  <a:lnTo>
                    <a:pt x="48" y="342"/>
                  </a:lnTo>
                  <a:lnTo>
                    <a:pt x="42" y="342"/>
                  </a:lnTo>
                  <a:lnTo>
                    <a:pt x="42" y="336"/>
                  </a:lnTo>
                  <a:lnTo>
                    <a:pt x="36" y="330"/>
                  </a:lnTo>
                  <a:lnTo>
                    <a:pt x="30" y="330"/>
                  </a:lnTo>
                  <a:lnTo>
                    <a:pt x="30" y="324"/>
                  </a:lnTo>
                  <a:lnTo>
                    <a:pt x="30" y="318"/>
                  </a:lnTo>
                  <a:lnTo>
                    <a:pt x="36" y="318"/>
                  </a:lnTo>
                  <a:lnTo>
                    <a:pt x="42" y="312"/>
                  </a:lnTo>
                  <a:lnTo>
                    <a:pt x="42" y="306"/>
                  </a:lnTo>
                  <a:lnTo>
                    <a:pt x="48" y="300"/>
                  </a:lnTo>
                  <a:lnTo>
                    <a:pt x="54" y="294"/>
                  </a:lnTo>
                  <a:lnTo>
                    <a:pt x="54" y="288"/>
                  </a:lnTo>
                  <a:lnTo>
                    <a:pt x="54" y="282"/>
                  </a:lnTo>
                  <a:lnTo>
                    <a:pt x="54" y="276"/>
                  </a:lnTo>
                  <a:lnTo>
                    <a:pt x="48" y="276"/>
                  </a:lnTo>
                  <a:lnTo>
                    <a:pt x="54" y="270"/>
                  </a:lnTo>
                  <a:lnTo>
                    <a:pt x="48" y="270"/>
                  </a:lnTo>
                  <a:lnTo>
                    <a:pt x="48" y="264"/>
                  </a:lnTo>
                  <a:lnTo>
                    <a:pt x="42" y="264"/>
                  </a:lnTo>
                  <a:lnTo>
                    <a:pt x="42" y="258"/>
                  </a:lnTo>
                  <a:lnTo>
                    <a:pt x="36" y="258"/>
                  </a:lnTo>
                  <a:lnTo>
                    <a:pt x="30" y="252"/>
                  </a:lnTo>
                  <a:lnTo>
                    <a:pt x="30" y="246"/>
                  </a:lnTo>
                  <a:lnTo>
                    <a:pt x="30" y="240"/>
                  </a:lnTo>
                  <a:lnTo>
                    <a:pt x="30" y="234"/>
                  </a:lnTo>
                  <a:lnTo>
                    <a:pt x="30" y="228"/>
                  </a:lnTo>
                  <a:lnTo>
                    <a:pt x="36" y="228"/>
                  </a:lnTo>
                  <a:lnTo>
                    <a:pt x="30" y="222"/>
                  </a:lnTo>
                  <a:lnTo>
                    <a:pt x="30" y="216"/>
                  </a:lnTo>
                  <a:lnTo>
                    <a:pt x="36" y="216"/>
                  </a:lnTo>
                  <a:lnTo>
                    <a:pt x="30" y="210"/>
                  </a:lnTo>
                  <a:lnTo>
                    <a:pt x="24" y="210"/>
                  </a:lnTo>
                  <a:lnTo>
                    <a:pt x="18" y="210"/>
                  </a:lnTo>
                  <a:lnTo>
                    <a:pt x="18" y="204"/>
                  </a:lnTo>
                  <a:lnTo>
                    <a:pt x="12" y="204"/>
                  </a:lnTo>
                  <a:lnTo>
                    <a:pt x="12" y="198"/>
                  </a:lnTo>
                  <a:lnTo>
                    <a:pt x="12" y="192"/>
                  </a:lnTo>
                  <a:lnTo>
                    <a:pt x="12" y="186"/>
                  </a:lnTo>
                  <a:lnTo>
                    <a:pt x="12" y="180"/>
                  </a:lnTo>
                  <a:lnTo>
                    <a:pt x="18" y="180"/>
                  </a:lnTo>
                  <a:lnTo>
                    <a:pt x="24" y="180"/>
                  </a:lnTo>
                  <a:lnTo>
                    <a:pt x="24" y="174"/>
                  </a:lnTo>
                  <a:lnTo>
                    <a:pt x="24" y="168"/>
                  </a:lnTo>
                  <a:lnTo>
                    <a:pt x="18" y="162"/>
                  </a:lnTo>
                  <a:lnTo>
                    <a:pt x="12" y="162"/>
                  </a:lnTo>
                  <a:lnTo>
                    <a:pt x="12" y="156"/>
                  </a:lnTo>
                  <a:lnTo>
                    <a:pt x="18" y="150"/>
                  </a:lnTo>
                  <a:lnTo>
                    <a:pt x="18" y="138"/>
                  </a:lnTo>
                  <a:lnTo>
                    <a:pt x="18" y="132"/>
                  </a:lnTo>
                  <a:lnTo>
                    <a:pt x="24" y="126"/>
                  </a:lnTo>
                  <a:lnTo>
                    <a:pt x="18" y="120"/>
                  </a:lnTo>
                  <a:lnTo>
                    <a:pt x="24" y="114"/>
                  </a:lnTo>
                  <a:lnTo>
                    <a:pt x="30" y="114"/>
                  </a:lnTo>
                  <a:lnTo>
                    <a:pt x="36" y="114"/>
                  </a:lnTo>
                  <a:lnTo>
                    <a:pt x="36" y="108"/>
                  </a:lnTo>
                  <a:lnTo>
                    <a:pt x="36" y="102"/>
                  </a:lnTo>
                  <a:lnTo>
                    <a:pt x="36" y="96"/>
                  </a:lnTo>
                  <a:lnTo>
                    <a:pt x="36" y="90"/>
                  </a:lnTo>
                  <a:lnTo>
                    <a:pt x="30" y="90"/>
                  </a:lnTo>
                  <a:lnTo>
                    <a:pt x="30" y="84"/>
                  </a:lnTo>
                  <a:lnTo>
                    <a:pt x="30" y="78"/>
                  </a:lnTo>
                  <a:lnTo>
                    <a:pt x="30" y="72"/>
                  </a:lnTo>
                  <a:lnTo>
                    <a:pt x="24" y="66"/>
                  </a:lnTo>
                  <a:lnTo>
                    <a:pt x="24" y="60"/>
                  </a:lnTo>
                  <a:lnTo>
                    <a:pt x="24" y="54"/>
                  </a:lnTo>
                  <a:lnTo>
                    <a:pt x="18" y="48"/>
                  </a:lnTo>
                  <a:lnTo>
                    <a:pt x="12" y="42"/>
                  </a:lnTo>
                  <a:lnTo>
                    <a:pt x="12" y="36"/>
                  </a:lnTo>
                  <a:lnTo>
                    <a:pt x="12" y="30"/>
                  </a:lnTo>
                  <a:lnTo>
                    <a:pt x="6" y="24"/>
                  </a:lnTo>
                  <a:lnTo>
                    <a:pt x="6" y="18"/>
                  </a:lnTo>
                  <a:lnTo>
                    <a:pt x="0" y="12"/>
                  </a:lnTo>
                  <a:lnTo>
                    <a:pt x="0" y="6"/>
                  </a:lnTo>
                  <a:lnTo>
                    <a:pt x="0" y="0"/>
                  </a:lnTo>
                  <a:lnTo>
                    <a:pt x="102" y="6"/>
                  </a:lnTo>
                  <a:lnTo>
                    <a:pt x="108" y="24"/>
                  </a:lnTo>
                  <a:lnTo>
                    <a:pt x="114" y="24"/>
                  </a:lnTo>
                  <a:lnTo>
                    <a:pt x="114" y="36"/>
                  </a:lnTo>
                  <a:lnTo>
                    <a:pt x="120" y="42"/>
                  </a:lnTo>
                  <a:lnTo>
                    <a:pt x="138" y="42"/>
                  </a:lnTo>
                  <a:lnTo>
                    <a:pt x="138" y="24"/>
                  </a:lnTo>
                  <a:lnTo>
                    <a:pt x="144" y="24"/>
                  </a:lnTo>
                  <a:lnTo>
                    <a:pt x="150" y="12"/>
                  </a:lnTo>
                  <a:lnTo>
                    <a:pt x="162" y="12"/>
                  </a:lnTo>
                  <a:lnTo>
                    <a:pt x="168" y="12"/>
                  </a:lnTo>
                  <a:lnTo>
                    <a:pt x="174" y="18"/>
                  </a:lnTo>
                  <a:lnTo>
                    <a:pt x="180" y="18"/>
                  </a:lnTo>
                  <a:lnTo>
                    <a:pt x="180" y="24"/>
                  </a:lnTo>
                  <a:lnTo>
                    <a:pt x="186" y="24"/>
                  </a:lnTo>
                  <a:lnTo>
                    <a:pt x="192" y="30"/>
                  </a:lnTo>
                  <a:lnTo>
                    <a:pt x="192" y="24"/>
                  </a:lnTo>
                  <a:lnTo>
                    <a:pt x="198" y="24"/>
                  </a:lnTo>
                  <a:lnTo>
                    <a:pt x="192" y="24"/>
                  </a:lnTo>
                  <a:lnTo>
                    <a:pt x="192" y="30"/>
                  </a:lnTo>
                  <a:lnTo>
                    <a:pt x="198" y="30"/>
                  </a:lnTo>
                  <a:lnTo>
                    <a:pt x="192" y="36"/>
                  </a:lnTo>
                  <a:lnTo>
                    <a:pt x="198" y="36"/>
                  </a:lnTo>
                  <a:lnTo>
                    <a:pt x="198" y="42"/>
                  </a:lnTo>
                  <a:lnTo>
                    <a:pt x="192" y="42"/>
                  </a:lnTo>
                  <a:lnTo>
                    <a:pt x="186" y="42"/>
                  </a:lnTo>
                  <a:lnTo>
                    <a:pt x="192" y="42"/>
                  </a:lnTo>
                  <a:lnTo>
                    <a:pt x="198" y="42"/>
                  </a:lnTo>
                  <a:lnTo>
                    <a:pt x="192" y="48"/>
                  </a:lnTo>
                  <a:lnTo>
                    <a:pt x="198" y="48"/>
                  </a:lnTo>
                  <a:lnTo>
                    <a:pt x="204" y="48"/>
                  </a:lnTo>
                  <a:lnTo>
                    <a:pt x="210" y="48"/>
                  </a:lnTo>
                  <a:lnTo>
                    <a:pt x="204" y="48"/>
                  </a:lnTo>
                  <a:lnTo>
                    <a:pt x="204" y="54"/>
                  </a:lnTo>
                  <a:lnTo>
                    <a:pt x="210" y="54"/>
                  </a:lnTo>
                  <a:lnTo>
                    <a:pt x="216" y="54"/>
                  </a:lnTo>
                  <a:lnTo>
                    <a:pt x="222" y="54"/>
                  </a:lnTo>
                  <a:lnTo>
                    <a:pt x="222" y="60"/>
                  </a:lnTo>
                  <a:lnTo>
                    <a:pt x="228" y="60"/>
                  </a:lnTo>
                  <a:lnTo>
                    <a:pt x="228" y="66"/>
                  </a:lnTo>
                  <a:lnTo>
                    <a:pt x="234" y="66"/>
                  </a:lnTo>
                  <a:lnTo>
                    <a:pt x="234" y="72"/>
                  </a:lnTo>
                  <a:lnTo>
                    <a:pt x="240" y="72"/>
                  </a:lnTo>
                  <a:lnTo>
                    <a:pt x="240" y="78"/>
                  </a:lnTo>
                  <a:lnTo>
                    <a:pt x="240" y="72"/>
                  </a:lnTo>
                  <a:lnTo>
                    <a:pt x="240" y="78"/>
                  </a:lnTo>
                  <a:lnTo>
                    <a:pt x="246" y="78"/>
                  </a:lnTo>
                  <a:lnTo>
                    <a:pt x="246" y="84"/>
                  </a:lnTo>
                  <a:lnTo>
                    <a:pt x="240" y="90"/>
                  </a:lnTo>
                  <a:lnTo>
                    <a:pt x="246" y="90"/>
                  </a:lnTo>
                  <a:lnTo>
                    <a:pt x="246" y="96"/>
                  </a:lnTo>
                  <a:lnTo>
                    <a:pt x="246" y="90"/>
                  </a:lnTo>
                  <a:lnTo>
                    <a:pt x="252" y="90"/>
                  </a:lnTo>
                  <a:lnTo>
                    <a:pt x="252" y="96"/>
                  </a:lnTo>
                  <a:lnTo>
                    <a:pt x="246" y="96"/>
                  </a:lnTo>
                  <a:lnTo>
                    <a:pt x="246" y="102"/>
                  </a:lnTo>
                  <a:lnTo>
                    <a:pt x="252" y="102"/>
                  </a:lnTo>
                  <a:lnTo>
                    <a:pt x="252" y="96"/>
                  </a:lnTo>
                  <a:lnTo>
                    <a:pt x="252" y="102"/>
                  </a:lnTo>
                  <a:lnTo>
                    <a:pt x="258" y="102"/>
                  </a:lnTo>
                  <a:lnTo>
                    <a:pt x="258" y="108"/>
                  </a:lnTo>
                  <a:lnTo>
                    <a:pt x="252" y="108"/>
                  </a:lnTo>
                  <a:lnTo>
                    <a:pt x="258" y="108"/>
                  </a:lnTo>
                  <a:lnTo>
                    <a:pt x="258" y="114"/>
                  </a:lnTo>
                  <a:lnTo>
                    <a:pt x="252" y="114"/>
                  </a:lnTo>
                  <a:lnTo>
                    <a:pt x="252" y="108"/>
                  </a:lnTo>
                  <a:lnTo>
                    <a:pt x="246" y="108"/>
                  </a:lnTo>
                  <a:lnTo>
                    <a:pt x="246" y="102"/>
                  </a:lnTo>
                  <a:lnTo>
                    <a:pt x="240" y="102"/>
                  </a:lnTo>
                  <a:lnTo>
                    <a:pt x="246" y="102"/>
                  </a:lnTo>
                  <a:lnTo>
                    <a:pt x="246" y="108"/>
                  </a:lnTo>
                  <a:lnTo>
                    <a:pt x="240" y="108"/>
                  </a:lnTo>
                  <a:lnTo>
                    <a:pt x="246" y="108"/>
                  </a:lnTo>
                  <a:lnTo>
                    <a:pt x="246" y="114"/>
                  </a:lnTo>
                  <a:lnTo>
                    <a:pt x="246" y="120"/>
                  </a:lnTo>
                  <a:lnTo>
                    <a:pt x="246" y="126"/>
                  </a:lnTo>
                  <a:lnTo>
                    <a:pt x="252" y="126"/>
                  </a:lnTo>
                  <a:lnTo>
                    <a:pt x="246" y="126"/>
                  </a:lnTo>
                  <a:lnTo>
                    <a:pt x="246" y="132"/>
                  </a:lnTo>
                  <a:lnTo>
                    <a:pt x="240" y="132"/>
                  </a:lnTo>
                  <a:lnTo>
                    <a:pt x="240" y="138"/>
                  </a:lnTo>
                  <a:lnTo>
                    <a:pt x="246" y="138"/>
                  </a:lnTo>
                  <a:lnTo>
                    <a:pt x="246" y="144"/>
                  </a:lnTo>
                  <a:lnTo>
                    <a:pt x="240" y="144"/>
                  </a:lnTo>
                  <a:lnTo>
                    <a:pt x="234" y="144"/>
                  </a:lnTo>
                  <a:lnTo>
                    <a:pt x="240" y="144"/>
                  </a:lnTo>
                  <a:lnTo>
                    <a:pt x="234" y="144"/>
                  </a:lnTo>
                  <a:lnTo>
                    <a:pt x="228" y="144"/>
                  </a:lnTo>
                  <a:lnTo>
                    <a:pt x="228" y="150"/>
                  </a:lnTo>
                  <a:lnTo>
                    <a:pt x="234" y="150"/>
                  </a:lnTo>
                  <a:lnTo>
                    <a:pt x="228" y="150"/>
                  </a:lnTo>
                  <a:lnTo>
                    <a:pt x="234" y="150"/>
                  </a:lnTo>
                  <a:lnTo>
                    <a:pt x="234" y="156"/>
                  </a:lnTo>
                  <a:lnTo>
                    <a:pt x="234" y="162"/>
                  </a:lnTo>
                  <a:lnTo>
                    <a:pt x="240" y="162"/>
                  </a:lnTo>
                  <a:lnTo>
                    <a:pt x="234" y="168"/>
                  </a:lnTo>
                  <a:lnTo>
                    <a:pt x="240" y="168"/>
                  </a:lnTo>
                  <a:lnTo>
                    <a:pt x="240" y="162"/>
                  </a:lnTo>
                  <a:lnTo>
                    <a:pt x="240" y="168"/>
                  </a:lnTo>
                  <a:lnTo>
                    <a:pt x="246" y="168"/>
                  </a:lnTo>
                  <a:lnTo>
                    <a:pt x="246" y="174"/>
                  </a:lnTo>
                  <a:lnTo>
                    <a:pt x="240" y="174"/>
                  </a:lnTo>
                  <a:lnTo>
                    <a:pt x="246" y="174"/>
                  </a:lnTo>
                  <a:lnTo>
                    <a:pt x="240" y="174"/>
                  </a:lnTo>
                  <a:lnTo>
                    <a:pt x="246" y="174"/>
                  </a:lnTo>
                  <a:lnTo>
                    <a:pt x="246" y="180"/>
                  </a:lnTo>
                  <a:lnTo>
                    <a:pt x="240" y="180"/>
                  </a:lnTo>
                  <a:lnTo>
                    <a:pt x="246" y="180"/>
                  </a:lnTo>
                  <a:lnTo>
                    <a:pt x="246" y="186"/>
                  </a:lnTo>
                  <a:lnTo>
                    <a:pt x="252" y="186"/>
                  </a:lnTo>
                  <a:lnTo>
                    <a:pt x="252" y="192"/>
                  </a:lnTo>
                  <a:lnTo>
                    <a:pt x="246" y="192"/>
                  </a:lnTo>
                  <a:lnTo>
                    <a:pt x="246" y="198"/>
                  </a:lnTo>
                  <a:lnTo>
                    <a:pt x="252" y="198"/>
                  </a:lnTo>
                  <a:lnTo>
                    <a:pt x="252" y="204"/>
                  </a:lnTo>
                  <a:lnTo>
                    <a:pt x="258" y="210"/>
                  </a:lnTo>
                  <a:lnTo>
                    <a:pt x="252" y="210"/>
                  </a:lnTo>
                  <a:lnTo>
                    <a:pt x="252" y="216"/>
                  </a:lnTo>
                  <a:lnTo>
                    <a:pt x="246" y="216"/>
                  </a:lnTo>
                  <a:lnTo>
                    <a:pt x="252" y="216"/>
                  </a:lnTo>
                  <a:lnTo>
                    <a:pt x="258" y="216"/>
                  </a:lnTo>
                  <a:lnTo>
                    <a:pt x="252" y="222"/>
                  </a:lnTo>
                  <a:lnTo>
                    <a:pt x="252" y="228"/>
                  </a:lnTo>
                  <a:lnTo>
                    <a:pt x="258" y="228"/>
                  </a:lnTo>
                  <a:lnTo>
                    <a:pt x="258" y="234"/>
                  </a:lnTo>
                  <a:lnTo>
                    <a:pt x="252" y="234"/>
                  </a:lnTo>
                  <a:lnTo>
                    <a:pt x="252" y="240"/>
                  </a:lnTo>
                  <a:lnTo>
                    <a:pt x="246" y="240"/>
                  </a:lnTo>
                  <a:lnTo>
                    <a:pt x="252" y="240"/>
                  </a:lnTo>
                  <a:lnTo>
                    <a:pt x="252" y="246"/>
                  </a:lnTo>
                  <a:lnTo>
                    <a:pt x="258" y="246"/>
                  </a:lnTo>
                  <a:lnTo>
                    <a:pt x="258" y="240"/>
                  </a:lnTo>
                  <a:lnTo>
                    <a:pt x="258" y="246"/>
                  </a:lnTo>
                  <a:lnTo>
                    <a:pt x="258" y="252"/>
                  </a:lnTo>
                  <a:lnTo>
                    <a:pt x="264" y="252"/>
                  </a:lnTo>
                  <a:lnTo>
                    <a:pt x="264" y="258"/>
                  </a:lnTo>
                  <a:lnTo>
                    <a:pt x="270" y="258"/>
                  </a:lnTo>
                  <a:lnTo>
                    <a:pt x="270" y="252"/>
                  </a:lnTo>
                  <a:lnTo>
                    <a:pt x="270" y="258"/>
                  </a:lnTo>
                  <a:lnTo>
                    <a:pt x="276" y="258"/>
                  </a:lnTo>
                  <a:lnTo>
                    <a:pt x="276" y="264"/>
                  </a:lnTo>
                  <a:lnTo>
                    <a:pt x="282" y="264"/>
                  </a:lnTo>
                  <a:lnTo>
                    <a:pt x="282" y="258"/>
                  </a:lnTo>
                  <a:lnTo>
                    <a:pt x="288" y="264"/>
                  </a:lnTo>
                  <a:lnTo>
                    <a:pt x="288" y="258"/>
                  </a:lnTo>
                  <a:lnTo>
                    <a:pt x="288" y="252"/>
                  </a:lnTo>
                  <a:lnTo>
                    <a:pt x="288" y="258"/>
                  </a:lnTo>
                  <a:lnTo>
                    <a:pt x="294" y="258"/>
                  </a:lnTo>
                  <a:lnTo>
                    <a:pt x="294" y="264"/>
                  </a:lnTo>
                  <a:lnTo>
                    <a:pt x="300" y="264"/>
                  </a:lnTo>
                  <a:lnTo>
                    <a:pt x="300" y="258"/>
                  </a:lnTo>
                  <a:lnTo>
                    <a:pt x="300" y="252"/>
                  </a:lnTo>
                  <a:lnTo>
                    <a:pt x="300" y="258"/>
                  </a:lnTo>
                  <a:lnTo>
                    <a:pt x="306" y="258"/>
                  </a:lnTo>
                  <a:lnTo>
                    <a:pt x="306" y="264"/>
                  </a:lnTo>
                  <a:lnTo>
                    <a:pt x="300" y="264"/>
                  </a:lnTo>
                  <a:lnTo>
                    <a:pt x="300" y="270"/>
                  </a:lnTo>
                  <a:lnTo>
                    <a:pt x="300" y="276"/>
                  </a:lnTo>
                  <a:lnTo>
                    <a:pt x="306" y="276"/>
                  </a:lnTo>
                  <a:lnTo>
                    <a:pt x="312" y="276"/>
                  </a:lnTo>
                  <a:lnTo>
                    <a:pt x="318" y="282"/>
                  </a:lnTo>
                  <a:lnTo>
                    <a:pt x="312" y="282"/>
                  </a:lnTo>
                  <a:lnTo>
                    <a:pt x="312" y="288"/>
                  </a:lnTo>
                  <a:lnTo>
                    <a:pt x="318" y="288"/>
                  </a:lnTo>
                  <a:lnTo>
                    <a:pt x="318" y="294"/>
                  </a:lnTo>
                  <a:lnTo>
                    <a:pt x="318" y="300"/>
                  </a:lnTo>
                  <a:lnTo>
                    <a:pt x="318" y="294"/>
                  </a:lnTo>
                  <a:lnTo>
                    <a:pt x="324" y="300"/>
                  </a:lnTo>
                  <a:lnTo>
                    <a:pt x="330" y="300"/>
                  </a:lnTo>
                  <a:lnTo>
                    <a:pt x="324" y="312"/>
                  </a:lnTo>
                  <a:lnTo>
                    <a:pt x="330" y="318"/>
                  </a:lnTo>
                  <a:lnTo>
                    <a:pt x="324" y="330"/>
                  </a:lnTo>
                  <a:lnTo>
                    <a:pt x="300" y="336"/>
                  </a:lnTo>
                  <a:lnTo>
                    <a:pt x="306" y="348"/>
                  </a:lnTo>
                  <a:lnTo>
                    <a:pt x="312" y="354"/>
                  </a:lnTo>
                  <a:lnTo>
                    <a:pt x="312" y="366"/>
                  </a:lnTo>
                  <a:lnTo>
                    <a:pt x="312" y="372"/>
                  </a:lnTo>
                  <a:lnTo>
                    <a:pt x="312" y="378"/>
                  </a:lnTo>
                  <a:lnTo>
                    <a:pt x="318" y="372"/>
                  </a:lnTo>
                  <a:lnTo>
                    <a:pt x="318" y="378"/>
                  </a:lnTo>
                  <a:lnTo>
                    <a:pt x="318" y="384"/>
                  </a:lnTo>
                  <a:lnTo>
                    <a:pt x="312" y="390"/>
                  </a:lnTo>
                  <a:lnTo>
                    <a:pt x="312" y="396"/>
                  </a:lnTo>
                  <a:lnTo>
                    <a:pt x="330" y="420"/>
                  </a:lnTo>
                  <a:lnTo>
                    <a:pt x="342" y="426"/>
                  </a:lnTo>
                  <a:lnTo>
                    <a:pt x="348" y="426"/>
                  </a:lnTo>
                  <a:lnTo>
                    <a:pt x="348" y="432"/>
                  </a:lnTo>
                  <a:lnTo>
                    <a:pt x="354" y="432"/>
                  </a:lnTo>
                  <a:lnTo>
                    <a:pt x="360" y="432"/>
                  </a:lnTo>
                  <a:lnTo>
                    <a:pt x="360" y="426"/>
                  </a:lnTo>
                  <a:lnTo>
                    <a:pt x="360" y="432"/>
                  </a:lnTo>
                  <a:lnTo>
                    <a:pt x="366" y="426"/>
                  </a:lnTo>
                  <a:lnTo>
                    <a:pt x="366" y="432"/>
                  </a:lnTo>
                  <a:lnTo>
                    <a:pt x="372" y="432"/>
                  </a:lnTo>
                  <a:lnTo>
                    <a:pt x="372" y="438"/>
                  </a:lnTo>
                  <a:lnTo>
                    <a:pt x="372" y="444"/>
                  </a:lnTo>
                  <a:lnTo>
                    <a:pt x="378" y="444"/>
                  </a:lnTo>
                  <a:lnTo>
                    <a:pt x="378" y="450"/>
                  </a:lnTo>
                  <a:lnTo>
                    <a:pt x="378" y="456"/>
                  </a:lnTo>
                  <a:lnTo>
                    <a:pt x="378" y="462"/>
                  </a:lnTo>
                  <a:lnTo>
                    <a:pt x="372" y="462"/>
                  </a:lnTo>
                  <a:lnTo>
                    <a:pt x="372" y="468"/>
                  </a:lnTo>
                  <a:lnTo>
                    <a:pt x="372" y="474"/>
                  </a:lnTo>
                  <a:lnTo>
                    <a:pt x="378" y="474"/>
                  </a:lnTo>
                  <a:lnTo>
                    <a:pt x="384" y="474"/>
                  </a:lnTo>
                  <a:lnTo>
                    <a:pt x="384" y="480"/>
                  </a:lnTo>
                  <a:lnTo>
                    <a:pt x="384" y="486"/>
                  </a:lnTo>
                  <a:lnTo>
                    <a:pt x="384" y="492"/>
                  </a:lnTo>
                  <a:lnTo>
                    <a:pt x="390" y="498"/>
                  </a:lnTo>
                  <a:lnTo>
                    <a:pt x="390" y="504"/>
                  </a:lnTo>
                  <a:lnTo>
                    <a:pt x="390" y="516"/>
                  </a:lnTo>
                  <a:lnTo>
                    <a:pt x="390" y="522"/>
                  </a:lnTo>
                  <a:lnTo>
                    <a:pt x="390" y="528"/>
                  </a:lnTo>
                  <a:lnTo>
                    <a:pt x="384" y="528"/>
                  </a:lnTo>
                  <a:lnTo>
                    <a:pt x="384" y="534"/>
                  </a:lnTo>
                  <a:lnTo>
                    <a:pt x="384" y="540"/>
                  </a:lnTo>
                  <a:close/>
                </a:path>
              </a:pathLst>
            </a:custGeom>
            <a:solidFill>
              <a:schemeClr val="accent1"/>
            </a:solidFill>
            <a:ln w="9525">
              <a:solidFill>
                <a:srgbClr val="B2B2B2"/>
              </a:solidFill>
              <a:round/>
              <a:headEnd/>
              <a:tailEnd/>
            </a:ln>
          </p:spPr>
          <p:txBody>
            <a:bodyPr/>
            <a:lstStyle/>
            <a:p>
              <a:endParaRPr lang="en-CA"/>
            </a:p>
          </p:txBody>
        </p:sp>
        <p:sp>
          <p:nvSpPr>
            <p:cNvPr id="418" name="Freeform 477"/>
            <p:cNvSpPr>
              <a:spLocks/>
            </p:cNvSpPr>
            <p:nvPr>
              <p:custDataLst>
                <p:tags r:id="rId41"/>
              </p:custDataLst>
            </p:nvPr>
          </p:nvSpPr>
          <p:spPr bwMode="gray">
            <a:xfrm>
              <a:off x="635" y="2118"/>
              <a:ext cx="371" cy="300"/>
            </a:xfrm>
            <a:custGeom>
              <a:avLst/>
              <a:gdLst>
                <a:gd name="T0" fmla="*/ 153144993 w 594"/>
                <a:gd name="T1" fmla="*/ 424783250 h 480"/>
                <a:gd name="T2" fmla="*/ 29451075 w 594"/>
                <a:gd name="T3" fmla="*/ 359886250 h 480"/>
                <a:gd name="T4" fmla="*/ 58902149 w 594"/>
                <a:gd name="T5" fmla="*/ 318587438 h 480"/>
                <a:gd name="T6" fmla="*/ 64792761 w 594"/>
                <a:gd name="T7" fmla="*/ 277289617 h 480"/>
                <a:gd name="T8" fmla="*/ 29451075 w 594"/>
                <a:gd name="T9" fmla="*/ 230091258 h 480"/>
                <a:gd name="T10" fmla="*/ 0 w 594"/>
                <a:gd name="T11" fmla="*/ 194691992 h 480"/>
                <a:gd name="T12" fmla="*/ 11780232 w 594"/>
                <a:gd name="T13" fmla="*/ 147494625 h 480"/>
                <a:gd name="T14" fmla="*/ 29451075 w 594"/>
                <a:gd name="T15" fmla="*/ 123895445 h 480"/>
                <a:gd name="T16" fmla="*/ 41231306 w 594"/>
                <a:gd name="T17" fmla="*/ 82596633 h 480"/>
                <a:gd name="T18" fmla="*/ 76572992 w 594"/>
                <a:gd name="T19" fmla="*/ 47198359 h 480"/>
                <a:gd name="T20" fmla="*/ 111913687 w 594"/>
                <a:gd name="T21" fmla="*/ 58997453 h 480"/>
                <a:gd name="T22" fmla="*/ 117804298 w 594"/>
                <a:gd name="T23" fmla="*/ 23599180 h 480"/>
                <a:gd name="T24" fmla="*/ 135475141 w 594"/>
                <a:gd name="T25" fmla="*/ 35398273 h 480"/>
                <a:gd name="T26" fmla="*/ 147255373 w 594"/>
                <a:gd name="T27" fmla="*/ 35398273 h 480"/>
                <a:gd name="T28" fmla="*/ 164926216 w 594"/>
                <a:gd name="T29" fmla="*/ 29498727 h 480"/>
                <a:gd name="T30" fmla="*/ 176706447 w 594"/>
                <a:gd name="T31" fmla="*/ 11799094 h 480"/>
                <a:gd name="T32" fmla="*/ 206157522 w 594"/>
                <a:gd name="T33" fmla="*/ 41298813 h 480"/>
                <a:gd name="T34" fmla="*/ 170815836 w 594"/>
                <a:gd name="T35" fmla="*/ 47198359 h 480"/>
                <a:gd name="T36" fmla="*/ 164926216 w 594"/>
                <a:gd name="T37" fmla="*/ 47198359 h 480"/>
                <a:gd name="T38" fmla="*/ 176706447 w 594"/>
                <a:gd name="T39" fmla="*/ 58997453 h 480"/>
                <a:gd name="T40" fmla="*/ 200266910 w 594"/>
                <a:gd name="T41" fmla="*/ 64897000 h 480"/>
                <a:gd name="T42" fmla="*/ 200266910 w 594"/>
                <a:gd name="T43" fmla="*/ 82596633 h 480"/>
                <a:gd name="T44" fmla="*/ 223828365 w 594"/>
                <a:gd name="T45" fmla="*/ 70797539 h 480"/>
                <a:gd name="T46" fmla="*/ 217937753 w 594"/>
                <a:gd name="T47" fmla="*/ 94396719 h 480"/>
                <a:gd name="T48" fmla="*/ 229717985 w 594"/>
                <a:gd name="T49" fmla="*/ 100296266 h 480"/>
                <a:gd name="T50" fmla="*/ 229717985 w 594"/>
                <a:gd name="T51" fmla="*/ 112095359 h 480"/>
                <a:gd name="T52" fmla="*/ 235608596 w 594"/>
                <a:gd name="T53" fmla="*/ 88496180 h 480"/>
                <a:gd name="T54" fmla="*/ 259169059 w 594"/>
                <a:gd name="T55" fmla="*/ 76697086 h 480"/>
                <a:gd name="T56" fmla="*/ 276839903 w 594"/>
                <a:gd name="T57" fmla="*/ 94396719 h 480"/>
                <a:gd name="T58" fmla="*/ 300400366 w 594"/>
                <a:gd name="T59" fmla="*/ 106195813 h 480"/>
                <a:gd name="T60" fmla="*/ 318071209 w 594"/>
                <a:gd name="T61" fmla="*/ 94396719 h 480"/>
                <a:gd name="T62" fmla="*/ 341632663 w 594"/>
                <a:gd name="T63" fmla="*/ 106195813 h 480"/>
                <a:gd name="T64" fmla="*/ 359302515 w 594"/>
                <a:gd name="T65" fmla="*/ 123895445 h 480"/>
                <a:gd name="T66" fmla="*/ 382863969 w 594"/>
                <a:gd name="T67" fmla="*/ 135694539 h 480"/>
                <a:gd name="T68" fmla="*/ 412315044 w 594"/>
                <a:gd name="T69" fmla="*/ 159293719 h 480"/>
                <a:gd name="T70" fmla="*/ 435875507 w 594"/>
                <a:gd name="T71" fmla="*/ 182892898 h 480"/>
                <a:gd name="T72" fmla="*/ 447655738 w 594"/>
                <a:gd name="T73" fmla="*/ 206492078 h 480"/>
                <a:gd name="T74" fmla="*/ 471217193 w 594"/>
                <a:gd name="T75" fmla="*/ 218291172 h 480"/>
                <a:gd name="T76" fmla="*/ 506557887 w 594"/>
                <a:gd name="T77" fmla="*/ 241890352 h 480"/>
                <a:gd name="T78" fmla="*/ 518338119 w 594"/>
                <a:gd name="T79" fmla="*/ 247789898 h 480"/>
                <a:gd name="T80" fmla="*/ 536008962 w 594"/>
                <a:gd name="T81" fmla="*/ 265489531 h 480"/>
                <a:gd name="T82" fmla="*/ 547789194 w 594"/>
                <a:gd name="T83" fmla="*/ 271389078 h 480"/>
                <a:gd name="T84" fmla="*/ 565460037 w 594"/>
                <a:gd name="T85" fmla="*/ 294988258 h 480"/>
                <a:gd name="T86" fmla="*/ 571350648 w 594"/>
                <a:gd name="T87" fmla="*/ 342186617 h 480"/>
                <a:gd name="T88" fmla="*/ 577240268 w 594"/>
                <a:gd name="T89" fmla="*/ 365785797 h 480"/>
                <a:gd name="T90" fmla="*/ 559570417 w 594"/>
                <a:gd name="T91" fmla="*/ 407084609 h 480"/>
                <a:gd name="T92" fmla="*/ 524228730 w 594"/>
                <a:gd name="T93" fmla="*/ 442482883 h 480"/>
                <a:gd name="T94" fmla="*/ 482997424 w 594"/>
                <a:gd name="T95" fmla="*/ 466082063 h 480"/>
                <a:gd name="T96" fmla="*/ 429984895 w 594"/>
                <a:gd name="T97" fmla="*/ 471981609 h 480"/>
                <a:gd name="T98" fmla="*/ 400533821 w 594"/>
                <a:gd name="T99" fmla="*/ 454281977 h 480"/>
                <a:gd name="T100" fmla="*/ 347522283 w 594"/>
                <a:gd name="T101" fmla="*/ 442482883 h 480"/>
                <a:gd name="T102" fmla="*/ 300400366 w 594"/>
                <a:gd name="T103" fmla="*/ 424783250 h 480"/>
                <a:gd name="T104" fmla="*/ 265059671 w 594"/>
                <a:gd name="T105" fmla="*/ 407084609 h 480"/>
                <a:gd name="T106" fmla="*/ 247388828 w 594"/>
                <a:gd name="T107" fmla="*/ 401184070 h 480"/>
                <a:gd name="T108" fmla="*/ 235608596 w 594"/>
                <a:gd name="T109" fmla="*/ 383485430 h 480"/>
                <a:gd name="T110" fmla="*/ 235608596 w 594"/>
                <a:gd name="T111" fmla="*/ 395284523 h 480"/>
                <a:gd name="T112" fmla="*/ 212047142 w 594"/>
                <a:gd name="T113" fmla="*/ 383485430 h 480"/>
                <a:gd name="T114" fmla="*/ 164926216 w 594"/>
                <a:gd name="T115" fmla="*/ 348086164 h 480"/>
                <a:gd name="T116" fmla="*/ 176706447 w 594"/>
                <a:gd name="T117" fmla="*/ 371685344 h 480"/>
                <a:gd name="T118" fmla="*/ 188486679 w 594"/>
                <a:gd name="T119" fmla="*/ 395284523 h 480"/>
                <a:gd name="T120" fmla="*/ 229717985 w 594"/>
                <a:gd name="T121" fmla="*/ 418883703 h 4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94"/>
                <a:gd name="T184" fmla="*/ 0 h 480"/>
                <a:gd name="T185" fmla="*/ 594 w 594"/>
                <a:gd name="T186" fmla="*/ 480 h 48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94" h="480">
                  <a:moveTo>
                    <a:pt x="216" y="426"/>
                  </a:moveTo>
                  <a:lnTo>
                    <a:pt x="210" y="420"/>
                  </a:lnTo>
                  <a:lnTo>
                    <a:pt x="204" y="420"/>
                  </a:lnTo>
                  <a:lnTo>
                    <a:pt x="192" y="420"/>
                  </a:lnTo>
                  <a:lnTo>
                    <a:pt x="186" y="432"/>
                  </a:lnTo>
                  <a:lnTo>
                    <a:pt x="180" y="432"/>
                  </a:lnTo>
                  <a:lnTo>
                    <a:pt x="180" y="450"/>
                  </a:lnTo>
                  <a:lnTo>
                    <a:pt x="162" y="450"/>
                  </a:lnTo>
                  <a:lnTo>
                    <a:pt x="156" y="444"/>
                  </a:lnTo>
                  <a:lnTo>
                    <a:pt x="156" y="432"/>
                  </a:lnTo>
                  <a:lnTo>
                    <a:pt x="150" y="432"/>
                  </a:lnTo>
                  <a:lnTo>
                    <a:pt x="144" y="414"/>
                  </a:lnTo>
                  <a:lnTo>
                    <a:pt x="42" y="408"/>
                  </a:lnTo>
                  <a:lnTo>
                    <a:pt x="36" y="402"/>
                  </a:lnTo>
                  <a:lnTo>
                    <a:pt x="30" y="396"/>
                  </a:lnTo>
                  <a:lnTo>
                    <a:pt x="30" y="390"/>
                  </a:lnTo>
                  <a:lnTo>
                    <a:pt x="30" y="384"/>
                  </a:lnTo>
                  <a:lnTo>
                    <a:pt x="30" y="378"/>
                  </a:lnTo>
                  <a:lnTo>
                    <a:pt x="30" y="372"/>
                  </a:lnTo>
                  <a:lnTo>
                    <a:pt x="30" y="366"/>
                  </a:lnTo>
                  <a:lnTo>
                    <a:pt x="36" y="360"/>
                  </a:lnTo>
                  <a:lnTo>
                    <a:pt x="36" y="354"/>
                  </a:lnTo>
                  <a:lnTo>
                    <a:pt x="42" y="354"/>
                  </a:lnTo>
                  <a:lnTo>
                    <a:pt x="42" y="348"/>
                  </a:lnTo>
                  <a:lnTo>
                    <a:pt x="48" y="348"/>
                  </a:lnTo>
                  <a:lnTo>
                    <a:pt x="48" y="342"/>
                  </a:lnTo>
                  <a:lnTo>
                    <a:pt x="48" y="336"/>
                  </a:lnTo>
                  <a:lnTo>
                    <a:pt x="54" y="336"/>
                  </a:lnTo>
                  <a:lnTo>
                    <a:pt x="54" y="330"/>
                  </a:lnTo>
                  <a:lnTo>
                    <a:pt x="60" y="324"/>
                  </a:lnTo>
                  <a:lnTo>
                    <a:pt x="60" y="318"/>
                  </a:lnTo>
                  <a:lnTo>
                    <a:pt x="66" y="318"/>
                  </a:lnTo>
                  <a:lnTo>
                    <a:pt x="66" y="312"/>
                  </a:lnTo>
                  <a:lnTo>
                    <a:pt x="66" y="306"/>
                  </a:lnTo>
                  <a:lnTo>
                    <a:pt x="72" y="306"/>
                  </a:lnTo>
                  <a:lnTo>
                    <a:pt x="72" y="300"/>
                  </a:lnTo>
                  <a:lnTo>
                    <a:pt x="72" y="294"/>
                  </a:lnTo>
                  <a:lnTo>
                    <a:pt x="72" y="288"/>
                  </a:lnTo>
                  <a:lnTo>
                    <a:pt x="66" y="288"/>
                  </a:lnTo>
                  <a:lnTo>
                    <a:pt x="66" y="282"/>
                  </a:lnTo>
                  <a:lnTo>
                    <a:pt x="60" y="282"/>
                  </a:lnTo>
                  <a:lnTo>
                    <a:pt x="54" y="276"/>
                  </a:lnTo>
                  <a:lnTo>
                    <a:pt x="54" y="270"/>
                  </a:lnTo>
                  <a:lnTo>
                    <a:pt x="48" y="258"/>
                  </a:lnTo>
                  <a:lnTo>
                    <a:pt x="48" y="252"/>
                  </a:lnTo>
                  <a:lnTo>
                    <a:pt x="42" y="252"/>
                  </a:lnTo>
                  <a:lnTo>
                    <a:pt x="42" y="246"/>
                  </a:lnTo>
                  <a:lnTo>
                    <a:pt x="42" y="240"/>
                  </a:lnTo>
                  <a:lnTo>
                    <a:pt x="36" y="240"/>
                  </a:lnTo>
                  <a:lnTo>
                    <a:pt x="30" y="234"/>
                  </a:lnTo>
                  <a:lnTo>
                    <a:pt x="24" y="234"/>
                  </a:lnTo>
                  <a:lnTo>
                    <a:pt x="18" y="234"/>
                  </a:lnTo>
                  <a:lnTo>
                    <a:pt x="18" y="228"/>
                  </a:lnTo>
                  <a:lnTo>
                    <a:pt x="12" y="228"/>
                  </a:lnTo>
                  <a:lnTo>
                    <a:pt x="6" y="222"/>
                  </a:lnTo>
                  <a:lnTo>
                    <a:pt x="6" y="216"/>
                  </a:lnTo>
                  <a:lnTo>
                    <a:pt x="6" y="210"/>
                  </a:lnTo>
                  <a:lnTo>
                    <a:pt x="6" y="204"/>
                  </a:lnTo>
                  <a:lnTo>
                    <a:pt x="6" y="198"/>
                  </a:lnTo>
                  <a:lnTo>
                    <a:pt x="0" y="198"/>
                  </a:lnTo>
                  <a:lnTo>
                    <a:pt x="0" y="192"/>
                  </a:lnTo>
                  <a:lnTo>
                    <a:pt x="0" y="186"/>
                  </a:lnTo>
                  <a:lnTo>
                    <a:pt x="0" y="180"/>
                  </a:lnTo>
                  <a:lnTo>
                    <a:pt x="6" y="180"/>
                  </a:lnTo>
                  <a:lnTo>
                    <a:pt x="6" y="174"/>
                  </a:lnTo>
                  <a:lnTo>
                    <a:pt x="6" y="168"/>
                  </a:lnTo>
                  <a:lnTo>
                    <a:pt x="12" y="168"/>
                  </a:lnTo>
                  <a:lnTo>
                    <a:pt x="12" y="162"/>
                  </a:lnTo>
                  <a:lnTo>
                    <a:pt x="12" y="156"/>
                  </a:lnTo>
                  <a:lnTo>
                    <a:pt x="12" y="150"/>
                  </a:lnTo>
                  <a:lnTo>
                    <a:pt x="18" y="150"/>
                  </a:lnTo>
                  <a:lnTo>
                    <a:pt x="18" y="144"/>
                  </a:lnTo>
                  <a:lnTo>
                    <a:pt x="12" y="144"/>
                  </a:lnTo>
                  <a:lnTo>
                    <a:pt x="6" y="144"/>
                  </a:lnTo>
                  <a:lnTo>
                    <a:pt x="0" y="144"/>
                  </a:lnTo>
                  <a:lnTo>
                    <a:pt x="0" y="138"/>
                  </a:lnTo>
                  <a:lnTo>
                    <a:pt x="12" y="126"/>
                  </a:lnTo>
                  <a:lnTo>
                    <a:pt x="24" y="120"/>
                  </a:lnTo>
                  <a:lnTo>
                    <a:pt x="24" y="126"/>
                  </a:lnTo>
                  <a:lnTo>
                    <a:pt x="30" y="126"/>
                  </a:lnTo>
                  <a:lnTo>
                    <a:pt x="30" y="120"/>
                  </a:lnTo>
                  <a:lnTo>
                    <a:pt x="36" y="120"/>
                  </a:lnTo>
                  <a:lnTo>
                    <a:pt x="36" y="114"/>
                  </a:lnTo>
                  <a:lnTo>
                    <a:pt x="36" y="108"/>
                  </a:lnTo>
                  <a:lnTo>
                    <a:pt x="42" y="102"/>
                  </a:lnTo>
                  <a:lnTo>
                    <a:pt x="42" y="96"/>
                  </a:lnTo>
                  <a:lnTo>
                    <a:pt x="36" y="96"/>
                  </a:lnTo>
                  <a:lnTo>
                    <a:pt x="36" y="90"/>
                  </a:lnTo>
                  <a:lnTo>
                    <a:pt x="42" y="90"/>
                  </a:lnTo>
                  <a:lnTo>
                    <a:pt x="42" y="84"/>
                  </a:lnTo>
                  <a:lnTo>
                    <a:pt x="48" y="84"/>
                  </a:lnTo>
                  <a:lnTo>
                    <a:pt x="54" y="84"/>
                  </a:lnTo>
                  <a:lnTo>
                    <a:pt x="60" y="78"/>
                  </a:lnTo>
                  <a:lnTo>
                    <a:pt x="60" y="72"/>
                  </a:lnTo>
                  <a:lnTo>
                    <a:pt x="66" y="72"/>
                  </a:lnTo>
                  <a:lnTo>
                    <a:pt x="72" y="72"/>
                  </a:lnTo>
                  <a:lnTo>
                    <a:pt x="78" y="66"/>
                  </a:lnTo>
                  <a:lnTo>
                    <a:pt x="78" y="60"/>
                  </a:lnTo>
                  <a:lnTo>
                    <a:pt x="78" y="54"/>
                  </a:lnTo>
                  <a:lnTo>
                    <a:pt x="78" y="48"/>
                  </a:lnTo>
                  <a:lnTo>
                    <a:pt x="78" y="42"/>
                  </a:lnTo>
                  <a:lnTo>
                    <a:pt x="84" y="42"/>
                  </a:lnTo>
                  <a:lnTo>
                    <a:pt x="84" y="48"/>
                  </a:lnTo>
                  <a:lnTo>
                    <a:pt x="90" y="48"/>
                  </a:lnTo>
                  <a:lnTo>
                    <a:pt x="90" y="54"/>
                  </a:lnTo>
                  <a:lnTo>
                    <a:pt x="96" y="54"/>
                  </a:lnTo>
                  <a:lnTo>
                    <a:pt x="102" y="54"/>
                  </a:lnTo>
                  <a:lnTo>
                    <a:pt x="102" y="60"/>
                  </a:lnTo>
                  <a:lnTo>
                    <a:pt x="108" y="60"/>
                  </a:lnTo>
                  <a:lnTo>
                    <a:pt x="114" y="60"/>
                  </a:lnTo>
                  <a:lnTo>
                    <a:pt x="114" y="54"/>
                  </a:lnTo>
                  <a:lnTo>
                    <a:pt x="114" y="48"/>
                  </a:lnTo>
                  <a:lnTo>
                    <a:pt x="114" y="42"/>
                  </a:lnTo>
                  <a:lnTo>
                    <a:pt x="114" y="36"/>
                  </a:lnTo>
                  <a:lnTo>
                    <a:pt x="114" y="30"/>
                  </a:lnTo>
                  <a:lnTo>
                    <a:pt x="108" y="24"/>
                  </a:lnTo>
                  <a:lnTo>
                    <a:pt x="114" y="24"/>
                  </a:lnTo>
                  <a:lnTo>
                    <a:pt x="114" y="30"/>
                  </a:lnTo>
                  <a:lnTo>
                    <a:pt x="114" y="24"/>
                  </a:lnTo>
                  <a:lnTo>
                    <a:pt x="120" y="24"/>
                  </a:lnTo>
                  <a:lnTo>
                    <a:pt x="120" y="30"/>
                  </a:lnTo>
                  <a:lnTo>
                    <a:pt x="126" y="30"/>
                  </a:lnTo>
                  <a:lnTo>
                    <a:pt x="132" y="30"/>
                  </a:lnTo>
                  <a:lnTo>
                    <a:pt x="132" y="36"/>
                  </a:lnTo>
                  <a:lnTo>
                    <a:pt x="138" y="36"/>
                  </a:lnTo>
                  <a:lnTo>
                    <a:pt x="138" y="42"/>
                  </a:lnTo>
                  <a:lnTo>
                    <a:pt x="132" y="42"/>
                  </a:lnTo>
                  <a:lnTo>
                    <a:pt x="132" y="48"/>
                  </a:lnTo>
                  <a:lnTo>
                    <a:pt x="138" y="42"/>
                  </a:lnTo>
                  <a:lnTo>
                    <a:pt x="138" y="36"/>
                  </a:lnTo>
                  <a:lnTo>
                    <a:pt x="138" y="42"/>
                  </a:lnTo>
                  <a:lnTo>
                    <a:pt x="144" y="42"/>
                  </a:lnTo>
                  <a:lnTo>
                    <a:pt x="138" y="36"/>
                  </a:lnTo>
                  <a:lnTo>
                    <a:pt x="144" y="36"/>
                  </a:lnTo>
                  <a:lnTo>
                    <a:pt x="144" y="42"/>
                  </a:lnTo>
                  <a:lnTo>
                    <a:pt x="144" y="36"/>
                  </a:lnTo>
                  <a:lnTo>
                    <a:pt x="144" y="42"/>
                  </a:lnTo>
                  <a:lnTo>
                    <a:pt x="150" y="42"/>
                  </a:lnTo>
                  <a:lnTo>
                    <a:pt x="156" y="42"/>
                  </a:lnTo>
                  <a:lnTo>
                    <a:pt x="150" y="36"/>
                  </a:lnTo>
                  <a:lnTo>
                    <a:pt x="150" y="30"/>
                  </a:lnTo>
                  <a:lnTo>
                    <a:pt x="150" y="24"/>
                  </a:lnTo>
                  <a:lnTo>
                    <a:pt x="150" y="18"/>
                  </a:lnTo>
                  <a:lnTo>
                    <a:pt x="156" y="18"/>
                  </a:lnTo>
                  <a:lnTo>
                    <a:pt x="162" y="24"/>
                  </a:lnTo>
                  <a:lnTo>
                    <a:pt x="162" y="30"/>
                  </a:lnTo>
                  <a:lnTo>
                    <a:pt x="168" y="30"/>
                  </a:lnTo>
                  <a:lnTo>
                    <a:pt x="162" y="30"/>
                  </a:lnTo>
                  <a:lnTo>
                    <a:pt x="168" y="24"/>
                  </a:lnTo>
                  <a:lnTo>
                    <a:pt x="168" y="30"/>
                  </a:lnTo>
                  <a:lnTo>
                    <a:pt x="168" y="24"/>
                  </a:lnTo>
                  <a:lnTo>
                    <a:pt x="162" y="18"/>
                  </a:lnTo>
                  <a:lnTo>
                    <a:pt x="162" y="12"/>
                  </a:lnTo>
                  <a:lnTo>
                    <a:pt x="156" y="6"/>
                  </a:lnTo>
                  <a:lnTo>
                    <a:pt x="162" y="0"/>
                  </a:lnTo>
                  <a:lnTo>
                    <a:pt x="162" y="6"/>
                  </a:lnTo>
                  <a:lnTo>
                    <a:pt x="168" y="6"/>
                  </a:lnTo>
                  <a:lnTo>
                    <a:pt x="174" y="6"/>
                  </a:lnTo>
                  <a:lnTo>
                    <a:pt x="174" y="12"/>
                  </a:lnTo>
                  <a:lnTo>
                    <a:pt x="180" y="12"/>
                  </a:lnTo>
                  <a:lnTo>
                    <a:pt x="186" y="18"/>
                  </a:lnTo>
                  <a:lnTo>
                    <a:pt x="186" y="24"/>
                  </a:lnTo>
                  <a:lnTo>
                    <a:pt x="192" y="24"/>
                  </a:lnTo>
                  <a:lnTo>
                    <a:pt x="198" y="24"/>
                  </a:lnTo>
                  <a:lnTo>
                    <a:pt x="204" y="24"/>
                  </a:lnTo>
                  <a:lnTo>
                    <a:pt x="204" y="30"/>
                  </a:lnTo>
                  <a:lnTo>
                    <a:pt x="210" y="30"/>
                  </a:lnTo>
                  <a:lnTo>
                    <a:pt x="216" y="30"/>
                  </a:lnTo>
                  <a:lnTo>
                    <a:pt x="216" y="36"/>
                  </a:lnTo>
                  <a:lnTo>
                    <a:pt x="210" y="42"/>
                  </a:lnTo>
                  <a:lnTo>
                    <a:pt x="216" y="42"/>
                  </a:lnTo>
                  <a:lnTo>
                    <a:pt x="210" y="48"/>
                  </a:lnTo>
                  <a:lnTo>
                    <a:pt x="210" y="54"/>
                  </a:lnTo>
                  <a:lnTo>
                    <a:pt x="204" y="54"/>
                  </a:lnTo>
                  <a:lnTo>
                    <a:pt x="198" y="54"/>
                  </a:lnTo>
                  <a:lnTo>
                    <a:pt x="192" y="54"/>
                  </a:lnTo>
                  <a:lnTo>
                    <a:pt x="192" y="48"/>
                  </a:lnTo>
                  <a:lnTo>
                    <a:pt x="186" y="48"/>
                  </a:lnTo>
                  <a:lnTo>
                    <a:pt x="180" y="48"/>
                  </a:lnTo>
                  <a:lnTo>
                    <a:pt x="174" y="48"/>
                  </a:lnTo>
                  <a:lnTo>
                    <a:pt x="174" y="42"/>
                  </a:lnTo>
                  <a:lnTo>
                    <a:pt x="168" y="42"/>
                  </a:lnTo>
                  <a:lnTo>
                    <a:pt x="174" y="42"/>
                  </a:lnTo>
                  <a:lnTo>
                    <a:pt x="174" y="36"/>
                  </a:lnTo>
                  <a:lnTo>
                    <a:pt x="168" y="30"/>
                  </a:lnTo>
                  <a:lnTo>
                    <a:pt x="168" y="36"/>
                  </a:lnTo>
                  <a:lnTo>
                    <a:pt x="168" y="42"/>
                  </a:lnTo>
                  <a:lnTo>
                    <a:pt x="162" y="42"/>
                  </a:lnTo>
                  <a:lnTo>
                    <a:pt x="162" y="48"/>
                  </a:lnTo>
                  <a:lnTo>
                    <a:pt x="168" y="48"/>
                  </a:lnTo>
                  <a:lnTo>
                    <a:pt x="168" y="54"/>
                  </a:lnTo>
                  <a:lnTo>
                    <a:pt x="162" y="54"/>
                  </a:lnTo>
                  <a:lnTo>
                    <a:pt x="168" y="54"/>
                  </a:lnTo>
                  <a:lnTo>
                    <a:pt x="168" y="48"/>
                  </a:lnTo>
                  <a:lnTo>
                    <a:pt x="168" y="54"/>
                  </a:lnTo>
                  <a:lnTo>
                    <a:pt x="174" y="48"/>
                  </a:lnTo>
                  <a:lnTo>
                    <a:pt x="174" y="54"/>
                  </a:lnTo>
                  <a:lnTo>
                    <a:pt x="180" y="54"/>
                  </a:lnTo>
                  <a:lnTo>
                    <a:pt x="186" y="54"/>
                  </a:lnTo>
                  <a:lnTo>
                    <a:pt x="180" y="60"/>
                  </a:lnTo>
                  <a:lnTo>
                    <a:pt x="186" y="60"/>
                  </a:lnTo>
                  <a:lnTo>
                    <a:pt x="186" y="66"/>
                  </a:lnTo>
                  <a:lnTo>
                    <a:pt x="180" y="66"/>
                  </a:lnTo>
                  <a:lnTo>
                    <a:pt x="186" y="72"/>
                  </a:lnTo>
                  <a:lnTo>
                    <a:pt x="186" y="66"/>
                  </a:lnTo>
                  <a:lnTo>
                    <a:pt x="192" y="66"/>
                  </a:lnTo>
                  <a:lnTo>
                    <a:pt x="192" y="72"/>
                  </a:lnTo>
                  <a:lnTo>
                    <a:pt x="192" y="66"/>
                  </a:lnTo>
                  <a:lnTo>
                    <a:pt x="198" y="66"/>
                  </a:lnTo>
                  <a:lnTo>
                    <a:pt x="204" y="66"/>
                  </a:lnTo>
                  <a:lnTo>
                    <a:pt x="204" y="72"/>
                  </a:lnTo>
                  <a:lnTo>
                    <a:pt x="198" y="72"/>
                  </a:lnTo>
                  <a:lnTo>
                    <a:pt x="198" y="78"/>
                  </a:lnTo>
                  <a:lnTo>
                    <a:pt x="204" y="78"/>
                  </a:lnTo>
                  <a:lnTo>
                    <a:pt x="204" y="72"/>
                  </a:lnTo>
                  <a:lnTo>
                    <a:pt x="210" y="66"/>
                  </a:lnTo>
                  <a:lnTo>
                    <a:pt x="210" y="72"/>
                  </a:lnTo>
                  <a:lnTo>
                    <a:pt x="210" y="78"/>
                  </a:lnTo>
                  <a:lnTo>
                    <a:pt x="204" y="78"/>
                  </a:lnTo>
                  <a:lnTo>
                    <a:pt x="204" y="84"/>
                  </a:lnTo>
                  <a:lnTo>
                    <a:pt x="198" y="84"/>
                  </a:lnTo>
                  <a:lnTo>
                    <a:pt x="204" y="84"/>
                  </a:lnTo>
                  <a:lnTo>
                    <a:pt x="204" y="90"/>
                  </a:lnTo>
                  <a:lnTo>
                    <a:pt x="204" y="84"/>
                  </a:lnTo>
                  <a:lnTo>
                    <a:pt x="210" y="84"/>
                  </a:lnTo>
                  <a:lnTo>
                    <a:pt x="210" y="78"/>
                  </a:lnTo>
                  <a:lnTo>
                    <a:pt x="216" y="78"/>
                  </a:lnTo>
                  <a:lnTo>
                    <a:pt x="216" y="72"/>
                  </a:lnTo>
                  <a:lnTo>
                    <a:pt x="222" y="72"/>
                  </a:lnTo>
                  <a:lnTo>
                    <a:pt x="228" y="72"/>
                  </a:lnTo>
                  <a:lnTo>
                    <a:pt x="234" y="78"/>
                  </a:lnTo>
                  <a:lnTo>
                    <a:pt x="228" y="78"/>
                  </a:lnTo>
                  <a:lnTo>
                    <a:pt x="228" y="84"/>
                  </a:lnTo>
                  <a:lnTo>
                    <a:pt x="228" y="78"/>
                  </a:lnTo>
                  <a:lnTo>
                    <a:pt x="228" y="84"/>
                  </a:lnTo>
                  <a:lnTo>
                    <a:pt x="234" y="84"/>
                  </a:lnTo>
                  <a:lnTo>
                    <a:pt x="228" y="84"/>
                  </a:lnTo>
                  <a:lnTo>
                    <a:pt x="228" y="90"/>
                  </a:lnTo>
                  <a:lnTo>
                    <a:pt x="222" y="90"/>
                  </a:lnTo>
                  <a:lnTo>
                    <a:pt x="222" y="96"/>
                  </a:lnTo>
                  <a:lnTo>
                    <a:pt x="228" y="96"/>
                  </a:lnTo>
                  <a:lnTo>
                    <a:pt x="222" y="90"/>
                  </a:lnTo>
                  <a:lnTo>
                    <a:pt x="228" y="90"/>
                  </a:lnTo>
                  <a:lnTo>
                    <a:pt x="228" y="96"/>
                  </a:lnTo>
                  <a:lnTo>
                    <a:pt x="234" y="96"/>
                  </a:lnTo>
                  <a:lnTo>
                    <a:pt x="228" y="96"/>
                  </a:lnTo>
                  <a:lnTo>
                    <a:pt x="222" y="96"/>
                  </a:lnTo>
                  <a:lnTo>
                    <a:pt x="222" y="102"/>
                  </a:lnTo>
                  <a:lnTo>
                    <a:pt x="228" y="102"/>
                  </a:lnTo>
                  <a:lnTo>
                    <a:pt x="234" y="102"/>
                  </a:lnTo>
                  <a:lnTo>
                    <a:pt x="234" y="108"/>
                  </a:lnTo>
                  <a:lnTo>
                    <a:pt x="228" y="108"/>
                  </a:lnTo>
                  <a:lnTo>
                    <a:pt x="228" y="114"/>
                  </a:lnTo>
                  <a:lnTo>
                    <a:pt x="222" y="114"/>
                  </a:lnTo>
                  <a:lnTo>
                    <a:pt x="216" y="114"/>
                  </a:lnTo>
                  <a:lnTo>
                    <a:pt x="216" y="120"/>
                  </a:lnTo>
                  <a:lnTo>
                    <a:pt x="222" y="120"/>
                  </a:lnTo>
                  <a:lnTo>
                    <a:pt x="228" y="120"/>
                  </a:lnTo>
                  <a:lnTo>
                    <a:pt x="228" y="114"/>
                  </a:lnTo>
                  <a:lnTo>
                    <a:pt x="234" y="114"/>
                  </a:lnTo>
                  <a:lnTo>
                    <a:pt x="234" y="108"/>
                  </a:lnTo>
                  <a:lnTo>
                    <a:pt x="234" y="102"/>
                  </a:lnTo>
                  <a:lnTo>
                    <a:pt x="240" y="102"/>
                  </a:lnTo>
                  <a:lnTo>
                    <a:pt x="234" y="102"/>
                  </a:lnTo>
                  <a:lnTo>
                    <a:pt x="234" y="96"/>
                  </a:lnTo>
                  <a:lnTo>
                    <a:pt x="240" y="96"/>
                  </a:lnTo>
                  <a:lnTo>
                    <a:pt x="234" y="90"/>
                  </a:lnTo>
                  <a:lnTo>
                    <a:pt x="234" y="96"/>
                  </a:lnTo>
                  <a:lnTo>
                    <a:pt x="234" y="90"/>
                  </a:lnTo>
                  <a:lnTo>
                    <a:pt x="240" y="90"/>
                  </a:lnTo>
                  <a:lnTo>
                    <a:pt x="246" y="90"/>
                  </a:lnTo>
                  <a:lnTo>
                    <a:pt x="246" y="96"/>
                  </a:lnTo>
                  <a:lnTo>
                    <a:pt x="246" y="90"/>
                  </a:lnTo>
                  <a:lnTo>
                    <a:pt x="252" y="90"/>
                  </a:lnTo>
                  <a:lnTo>
                    <a:pt x="258" y="90"/>
                  </a:lnTo>
                  <a:lnTo>
                    <a:pt x="264" y="90"/>
                  </a:lnTo>
                  <a:lnTo>
                    <a:pt x="258" y="84"/>
                  </a:lnTo>
                  <a:lnTo>
                    <a:pt x="252" y="84"/>
                  </a:lnTo>
                  <a:lnTo>
                    <a:pt x="258" y="78"/>
                  </a:lnTo>
                  <a:lnTo>
                    <a:pt x="264" y="78"/>
                  </a:lnTo>
                  <a:lnTo>
                    <a:pt x="270" y="84"/>
                  </a:lnTo>
                  <a:lnTo>
                    <a:pt x="264" y="84"/>
                  </a:lnTo>
                  <a:lnTo>
                    <a:pt x="264" y="90"/>
                  </a:lnTo>
                  <a:lnTo>
                    <a:pt x="270" y="90"/>
                  </a:lnTo>
                  <a:lnTo>
                    <a:pt x="276" y="90"/>
                  </a:lnTo>
                  <a:lnTo>
                    <a:pt x="270" y="90"/>
                  </a:lnTo>
                  <a:lnTo>
                    <a:pt x="270" y="96"/>
                  </a:lnTo>
                  <a:lnTo>
                    <a:pt x="276" y="90"/>
                  </a:lnTo>
                  <a:lnTo>
                    <a:pt x="276" y="96"/>
                  </a:lnTo>
                  <a:lnTo>
                    <a:pt x="282" y="96"/>
                  </a:lnTo>
                  <a:lnTo>
                    <a:pt x="288" y="96"/>
                  </a:lnTo>
                  <a:lnTo>
                    <a:pt x="294" y="96"/>
                  </a:lnTo>
                  <a:lnTo>
                    <a:pt x="294" y="102"/>
                  </a:lnTo>
                  <a:lnTo>
                    <a:pt x="294" y="96"/>
                  </a:lnTo>
                  <a:lnTo>
                    <a:pt x="294" y="102"/>
                  </a:lnTo>
                  <a:lnTo>
                    <a:pt x="300" y="102"/>
                  </a:lnTo>
                  <a:lnTo>
                    <a:pt x="300" y="108"/>
                  </a:lnTo>
                  <a:lnTo>
                    <a:pt x="300" y="102"/>
                  </a:lnTo>
                  <a:lnTo>
                    <a:pt x="306" y="102"/>
                  </a:lnTo>
                  <a:lnTo>
                    <a:pt x="306" y="108"/>
                  </a:lnTo>
                  <a:lnTo>
                    <a:pt x="306" y="114"/>
                  </a:lnTo>
                  <a:lnTo>
                    <a:pt x="306" y="108"/>
                  </a:lnTo>
                  <a:lnTo>
                    <a:pt x="306" y="102"/>
                  </a:lnTo>
                  <a:lnTo>
                    <a:pt x="312" y="102"/>
                  </a:lnTo>
                  <a:lnTo>
                    <a:pt x="306" y="96"/>
                  </a:lnTo>
                  <a:lnTo>
                    <a:pt x="312" y="96"/>
                  </a:lnTo>
                  <a:lnTo>
                    <a:pt x="318" y="96"/>
                  </a:lnTo>
                  <a:lnTo>
                    <a:pt x="318" y="102"/>
                  </a:lnTo>
                  <a:lnTo>
                    <a:pt x="318" y="96"/>
                  </a:lnTo>
                  <a:lnTo>
                    <a:pt x="324" y="96"/>
                  </a:lnTo>
                  <a:lnTo>
                    <a:pt x="324" y="102"/>
                  </a:lnTo>
                  <a:lnTo>
                    <a:pt x="324" y="96"/>
                  </a:lnTo>
                  <a:lnTo>
                    <a:pt x="324" y="102"/>
                  </a:lnTo>
                  <a:lnTo>
                    <a:pt x="330" y="102"/>
                  </a:lnTo>
                  <a:lnTo>
                    <a:pt x="336" y="102"/>
                  </a:lnTo>
                  <a:lnTo>
                    <a:pt x="336" y="108"/>
                  </a:lnTo>
                  <a:lnTo>
                    <a:pt x="336" y="102"/>
                  </a:lnTo>
                  <a:lnTo>
                    <a:pt x="342" y="102"/>
                  </a:lnTo>
                  <a:lnTo>
                    <a:pt x="342" y="108"/>
                  </a:lnTo>
                  <a:lnTo>
                    <a:pt x="348" y="108"/>
                  </a:lnTo>
                  <a:lnTo>
                    <a:pt x="348" y="114"/>
                  </a:lnTo>
                  <a:lnTo>
                    <a:pt x="348" y="108"/>
                  </a:lnTo>
                  <a:lnTo>
                    <a:pt x="348" y="114"/>
                  </a:lnTo>
                  <a:lnTo>
                    <a:pt x="354" y="114"/>
                  </a:lnTo>
                  <a:lnTo>
                    <a:pt x="360" y="114"/>
                  </a:lnTo>
                  <a:lnTo>
                    <a:pt x="360" y="120"/>
                  </a:lnTo>
                  <a:lnTo>
                    <a:pt x="360" y="114"/>
                  </a:lnTo>
                  <a:lnTo>
                    <a:pt x="360" y="120"/>
                  </a:lnTo>
                  <a:lnTo>
                    <a:pt x="366" y="120"/>
                  </a:lnTo>
                  <a:lnTo>
                    <a:pt x="366" y="126"/>
                  </a:lnTo>
                  <a:lnTo>
                    <a:pt x="366" y="120"/>
                  </a:lnTo>
                  <a:lnTo>
                    <a:pt x="366" y="126"/>
                  </a:lnTo>
                  <a:lnTo>
                    <a:pt x="372" y="126"/>
                  </a:lnTo>
                  <a:lnTo>
                    <a:pt x="378" y="126"/>
                  </a:lnTo>
                  <a:lnTo>
                    <a:pt x="378" y="132"/>
                  </a:lnTo>
                  <a:lnTo>
                    <a:pt x="384" y="132"/>
                  </a:lnTo>
                  <a:lnTo>
                    <a:pt x="384" y="138"/>
                  </a:lnTo>
                  <a:lnTo>
                    <a:pt x="384" y="132"/>
                  </a:lnTo>
                  <a:lnTo>
                    <a:pt x="384" y="138"/>
                  </a:lnTo>
                  <a:lnTo>
                    <a:pt x="390" y="138"/>
                  </a:lnTo>
                  <a:lnTo>
                    <a:pt x="390" y="144"/>
                  </a:lnTo>
                  <a:lnTo>
                    <a:pt x="396" y="144"/>
                  </a:lnTo>
                  <a:lnTo>
                    <a:pt x="390" y="144"/>
                  </a:lnTo>
                  <a:lnTo>
                    <a:pt x="396" y="144"/>
                  </a:lnTo>
                  <a:lnTo>
                    <a:pt x="402" y="144"/>
                  </a:lnTo>
                  <a:lnTo>
                    <a:pt x="402" y="150"/>
                  </a:lnTo>
                  <a:lnTo>
                    <a:pt x="408" y="150"/>
                  </a:lnTo>
                  <a:lnTo>
                    <a:pt x="408" y="156"/>
                  </a:lnTo>
                  <a:lnTo>
                    <a:pt x="414" y="162"/>
                  </a:lnTo>
                  <a:lnTo>
                    <a:pt x="420" y="162"/>
                  </a:lnTo>
                  <a:lnTo>
                    <a:pt x="420" y="168"/>
                  </a:lnTo>
                  <a:lnTo>
                    <a:pt x="420" y="162"/>
                  </a:lnTo>
                  <a:lnTo>
                    <a:pt x="420" y="168"/>
                  </a:lnTo>
                  <a:lnTo>
                    <a:pt x="426" y="168"/>
                  </a:lnTo>
                  <a:lnTo>
                    <a:pt x="426" y="174"/>
                  </a:lnTo>
                  <a:lnTo>
                    <a:pt x="432" y="174"/>
                  </a:lnTo>
                  <a:lnTo>
                    <a:pt x="432" y="180"/>
                  </a:lnTo>
                  <a:lnTo>
                    <a:pt x="438" y="180"/>
                  </a:lnTo>
                  <a:lnTo>
                    <a:pt x="438" y="186"/>
                  </a:lnTo>
                  <a:lnTo>
                    <a:pt x="444" y="186"/>
                  </a:lnTo>
                  <a:lnTo>
                    <a:pt x="438" y="186"/>
                  </a:lnTo>
                  <a:lnTo>
                    <a:pt x="444" y="192"/>
                  </a:lnTo>
                  <a:lnTo>
                    <a:pt x="450" y="198"/>
                  </a:lnTo>
                  <a:lnTo>
                    <a:pt x="450" y="204"/>
                  </a:lnTo>
                  <a:lnTo>
                    <a:pt x="450" y="198"/>
                  </a:lnTo>
                  <a:lnTo>
                    <a:pt x="456" y="198"/>
                  </a:lnTo>
                  <a:lnTo>
                    <a:pt x="456" y="204"/>
                  </a:lnTo>
                  <a:lnTo>
                    <a:pt x="456" y="210"/>
                  </a:lnTo>
                  <a:lnTo>
                    <a:pt x="456" y="216"/>
                  </a:lnTo>
                  <a:lnTo>
                    <a:pt x="456" y="210"/>
                  </a:lnTo>
                  <a:lnTo>
                    <a:pt x="462" y="210"/>
                  </a:lnTo>
                  <a:lnTo>
                    <a:pt x="468" y="210"/>
                  </a:lnTo>
                  <a:lnTo>
                    <a:pt x="468" y="204"/>
                  </a:lnTo>
                  <a:lnTo>
                    <a:pt x="468" y="210"/>
                  </a:lnTo>
                  <a:lnTo>
                    <a:pt x="474" y="210"/>
                  </a:lnTo>
                  <a:lnTo>
                    <a:pt x="474" y="216"/>
                  </a:lnTo>
                  <a:lnTo>
                    <a:pt x="480" y="216"/>
                  </a:lnTo>
                  <a:lnTo>
                    <a:pt x="480" y="222"/>
                  </a:lnTo>
                  <a:lnTo>
                    <a:pt x="480" y="216"/>
                  </a:lnTo>
                  <a:lnTo>
                    <a:pt x="480" y="222"/>
                  </a:lnTo>
                  <a:lnTo>
                    <a:pt x="486" y="222"/>
                  </a:lnTo>
                  <a:lnTo>
                    <a:pt x="486" y="228"/>
                  </a:lnTo>
                  <a:lnTo>
                    <a:pt x="492" y="228"/>
                  </a:lnTo>
                  <a:lnTo>
                    <a:pt x="498" y="234"/>
                  </a:lnTo>
                  <a:lnTo>
                    <a:pt x="498" y="240"/>
                  </a:lnTo>
                  <a:lnTo>
                    <a:pt x="504" y="240"/>
                  </a:lnTo>
                  <a:lnTo>
                    <a:pt x="504" y="246"/>
                  </a:lnTo>
                  <a:lnTo>
                    <a:pt x="510" y="246"/>
                  </a:lnTo>
                  <a:lnTo>
                    <a:pt x="516" y="252"/>
                  </a:lnTo>
                  <a:lnTo>
                    <a:pt x="516" y="246"/>
                  </a:lnTo>
                  <a:lnTo>
                    <a:pt x="510" y="246"/>
                  </a:lnTo>
                  <a:lnTo>
                    <a:pt x="516" y="246"/>
                  </a:lnTo>
                  <a:lnTo>
                    <a:pt x="522" y="246"/>
                  </a:lnTo>
                  <a:lnTo>
                    <a:pt x="522" y="240"/>
                  </a:lnTo>
                  <a:lnTo>
                    <a:pt x="522" y="234"/>
                  </a:lnTo>
                  <a:lnTo>
                    <a:pt x="516" y="234"/>
                  </a:lnTo>
                  <a:lnTo>
                    <a:pt x="522" y="234"/>
                  </a:lnTo>
                  <a:lnTo>
                    <a:pt x="522" y="240"/>
                  </a:lnTo>
                  <a:lnTo>
                    <a:pt x="528" y="246"/>
                  </a:lnTo>
                  <a:lnTo>
                    <a:pt x="528" y="252"/>
                  </a:lnTo>
                  <a:lnTo>
                    <a:pt x="534" y="252"/>
                  </a:lnTo>
                  <a:lnTo>
                    <a:pt x="528" y="252"/>
                  </a:lnTo>
                  <a:lnTo>
                    <a:pt x="534" y="252"/>
                  </a:lnTo>
                  <a:lnTo>
                    <a:pt x="534" y="258"/>
                  </a:lnTo>
                  <a:lnTo>
                    <a:pt x="540" y="258"/>
                  </a:lnTo>
                  <a:lnTo>
                    <a:pt x="540" y="264"/>
                  </a:lnTo>
                  <a:lnTo>
                    <a:pt x="546" y="264"/>
                  </a:lnTo>
                  <a:lnTo>
                    <a:pt x="540" y="264"/>
                  </a:lnTo>
                  <a:lnTo>
                    <a:pt x="546" y="264"/>
                  </a:lnTo>
                  <a:lnTo>
                    <a:pt x="546" y="270"/>
                  </a:lnTo>
                  <a:lnTo>
                    <a:pt x="540" y="270"/>
                  </a:lnTo>
                  <a:lnTo>
                    <a:pt x="546" y="276"/>
                  </a:lnTo>
                  <a:lnTo>
                    <a:pt x="546" y="282"/>
                  </a:lnTo>
                  <a:lnTo>
                    <a:pt x="552" y="282"/>
                  </a:lnTo>
                  <a:lnTo>
                    <a:pt x="552" y="288"/>
                  </a:lnTo>
                  <a:lnTo>
                    <a:pt x="552" y="282"/>
                  </a:lnTo>
                  <a:lnTo>
                    <a:pt x="552" y="288"/>
                  </a:lnTo>
                  <a:lnTo>
                    <a:pt x="552" y="282"/>
                  </a:lnTo>
                  <a:lnTo>
                    <a:pt x="558" y="282"/>
                  </a:lnTo>
                  <a:lnTo>
                    <a:pt x="558" y="276"/>
                  </a:lnTo>
                  <a:lnTo>
                    <a:pt x="552" y="276"/>
                  </a:lnTo>
                  <a:lnTo>
                    <a:pt x="552" y="270"/>
                  </a:lnTo>
                  <a:lnTo>
                    <a:pt x="552" y="276"/>
                  </a:lnTo>
                  <a:lnTo>
                    <a:pt x="558" y="276"/>
                  </a:lnTo>
                  <a:lnTo>
                    <a:pt x="564" y="282"/>
                  </a:lnTo>
                  <a:lnTo>
                    <a:pt x="564" y="288"/>
                  </a:lnTo>
                  <a:lnTo>
                    <a:pt x="570" y="288"/>
                  </a:lnTo>
                  <a:lnTo>
                    <a:pt x="576" y="288"/>
                  </a:lnTo>
                  <a:lnTo>
                    <a:pt x="576" y="294"/>
                  </a:lnTo>
                  <a:lnTo>
                    <a:pt x="576" y="300"/>
                  </a:lnTo>
                  <a:lnTo>
                    <a:pt x="576" y="306"/>
                  </a:lnTo>
                  <a:lnTo>
                    <a:pt x="576" y="312"/>
                  </a:lnTo>
                  <a:lnTo>
                    <a:pt x="576" y="318"/>
                  </a:lnTo>
                  <a:lnTo>
                    <a:pt x="582" y="318"/>
                  </a:lnTo>
                  <a:lnTo>
                    <a:pt x="582" y="324"/>
                  </a:lnTo>
                  <a:lnTo>
                    <a:pt x="582" y="330"/>
                  </a:lnTo>
                  <a:lnTo>
                    <a:pt x="582" y="336"/>
                  </a:lnTo>
                  <a:lnTo>
                    <a:pt x="576" y="342"/>
                  </a:lnTo>
                  <a:lnTo>
                    <a:pt x="582" y="342"/>
                  </a:lnTo>
                  <a:lnTo>
                    <a:pt x="582" y="348"/>
                  </a:lnTo>
                  <a:lnTo>
                    <a:pt x="588" y="348"/>
                  </a:lnTo>
                  <a:lnTo>
                    <a:pt x="594" y="348"/>
                  </a:lnTo>
                  <a:lnTo>
                    <a:pt x="588" y="348"/>
                  </a:lnTo>
                  <a:lnTo>
                    <a:pt x="588" y="354"/>
                  </a:lnTo>
                  <a:lnTo>
                    <a:pt x="588" y="360"/>
                  </a:lnTo>
                  <a:lnTo>
                    <a:pt x="594" y="360"/>
                  </a:lnTo>
                  <a:lnTo>
                    <a:pt x="588" y="360"/>
                  </a:lnTo>
                  <a:lnTo>
                    <a:pt x="588" y="366"/>
                  </a:lnTo>
                  <a:lnTo>
                    <a:pt x="594" y="372"/>
                  </a:lnTo>
                  <a:lnTo>
                    <a:pt x="588" y="372"/>
                  </a:lnTo>
                  <a:lnTo>
                    <a:pt x="588" y="378"/>
                  </a:lnTo>
                  <a:lnTo>
                    <a:pt x="588" y="384"/>
                  </a:lnTo>
                  <a:lnTo>
                    <a:pt x="588" y="390"/>
                  </a:lnTo>
                  <a:lnTo>
                    <a:pt x="582" y="390"/>
                  </a:lnTo>
                  <a:lnTo>
                    <a:pt x="582" y="396"/>
                  </a:lnTo>
                  <a:lnTo>
                    <a:pt x="582" y="402"/>
                  </a:lnTo>
                  <a:lnTo>
                    <a:pt x="576" y="402"/>
                  </a:lnTo>
                  <a:lnTo>
                    <a:pt x="576" y="408"/>
                  </a:lnTo>
                  <a:lnTo>
                    <a:pt x="570" y="408"/>
                  </a:lnTo>
                  <a:lnTo>
                    <a:pt x="570" y="414"/>
                  </a:lnTo>
                  <a:lnTo>
                    <a:pt x="564" y="414"/>
                  </a:lnTo>
                  <a:lnTo>
                    <a:pt x="564" y="420"/>
                  </a:lnTo>
                  <a:lnTo>
                    <a:pt x="564" y="426"/>
                  </a:lnTo>
                  <a:lnTo>
                    <a:pt x="558" y="426"/>
                  </a:lnTo>
                  <a:lnTo>
                    <a:pt x="558" y="432"/>
                  </a:lnTo>
                  <a:lnTo>
                    <a:pt x="552" y="438"/>
                  </a:lnTo>
                  <a:lnTo>
                    <a:pt x="546" y="444"/>
                  </a:lnTo>
                  <a:lnTo>
                    <a:pt x="540" y="444"/>
                  </a:lnTo>
                  <a:lnTo>
                    <a:pt x="540" y="450"/>
                  </a:lnTo>
                  <a:lnTo>
                    <a:pt x="534" y="450"/>
                  </a:lnTo>
                  <a:lnTo>
                    <a:pt x="534" y="456"/>
                  </a:lnTo>
                  <a:lnTo>
                    <a:pt x="528" y="456"/>
                  </a:lnTo>
                  <a:lnTo>
                    <a:pt x="528" y="462"/>
                  </a:lnTo>
                  <a:lnTo>
                    <a:pt x="522" y="462"/>
                  </a:lnTo>
                  <a:lnTo>
                    <a:pt x="516" y="462"/>
                  </a:lnTo>
                  <a:lnTo>
                    <a:pt x="510" y="468"/>
                  </a:lnTo>
                  <a:lnTo>
                    <a:pt x="504" y="468"/>
                  </a:lnTo>
                  <a:lnTo>
                    <a:pt x="498" y="468"/>
                  </a:lnTo>
                  <a:lnTo>
                    <a:pt x="498" y="474"/>
                  </a:lnTo>
                  <a:lnTo>
                    <a:pt x="492" y="474"/>
                  </a:lnTo>
                  <a:lnTo>
                    <a:pt x="486" y="474"/>
                  </a:lnTo>
                  <a:lnTo>
                    <a:pt x="480" y="474"/>
                  </a:lnTo>
                  <a:lnTo>
                    <a:pt x="474" y="474"/>
                  </a:lnTo>
                  <a:lnTo>
                    <a:pt x="474" y="480"/>
                  </a:lnTo>
                  <a:lnTo>
                    <a:pt x="468" y="480"/>
                  </a:lnTo>
                  <a:lnTo>
                    <a:pt x="462" y="480"/>
                  </a:lnTo>
                  <a:lnTo>
                    <a:pt x="456" y="480"/>
                  </a:lnTo>
                  <a:lnTo>
                    <a:pt x="450" y="480"/>
                  </a:lnTo>
                  <a:lnTo>
                    <a:pt x="444" y="480"/>
                  </a:lnTo>
                  <a:lnTo>
                    <a:pt x="438" y="480"/>
                  </a:lnTo>
                  <a:lnTo>
                    <a:pt x="432" y="480"/>
                  </a:lnTo>
                  <a:lnTo>
                    <a:pt x="432" y="474"/>
                  </a:lnTo>
                  <a:lnTo>
                    <a:pt x="432" y="480"/>
                  </a:lnTo>
                  <a:lnTo>
                    <a:pt x="432" y="474"/>
                  </a:lnTo>
                  <a:lnTo>
                    <a:pt x="426" y="474"/>
                  </a:lnTo>
                  <a:lnTo>
                    <a:pt x="420" y="474"/>
                  </a:lnTo>
                  <a:lnTo>
                    <a:pt x="420" y="468"/>
                  </a:lnTo>
                  <a:lnTo>
                    <a:pt x="414" y="468"/>
                  </a:lnTo>
                  <a:lnTo>
                    <a:pt x="408" y="468"/>
                  </a:lnTo>
                  <a:lnTo>
                    <a:pt x="408" y="462"/>
                  </a:lnTo>
                  <a:lnTo>
                    <a:pt x="402" y="462"/>
                  </a:lnTo>
                  <a:lnTo>
                    <a:pt x="396" y="462"/>
                  </a:lnTo>
                  <a:lnTo>
                    <a:pt x="396" y="456"/>
                  </a:lnTo>
                  <a:lnTo>
                    <a:pt x="390" y="456"/>
                  </a:lnTo>
                  <a:lnTo>
                    <a:pt x="384" y="456"/>
                  </a:lnTo>
                  <a:lnTo>
                    <a:pt x="378" y="456"/>
                  </a:lnTo>
                  <a:lnTo>
                    <a:pt x="372" y="456"/>
                  </a:lnTo>
                  <a:lnTo>
                    <a:pt x="366" y="456"/>
                  </a:lnTo>
                  <a:lnTo>
                    <a:pt x="366" y="450"/>
                  </a:lnTo>
                  <a:lnTo>
                    <a:pt x="354" y="450"/>
                  </a:lnTo>
                  <a:lnTo>
                    <a:pt x="348" y="450"/>
                  </a:lnTo>
                  <a:lnTo>
                    <a:pt x="342" y="444"/>
                  </a:lnTo>
                  <a:lnTo>
                    <a:pt x="342" y="450"/>
                  </a:lnTo>
                  <a:lnTo>
                    <a:pt x="336" y="444"/>
                  </a:lnTo>
                  <a:lnTo>
                    <a:pt x="330" y="444"/>
                  </a:lnTo>
                  <a:lnTo>
                    <a:pt x="324" y="444"/>
                  </a:lnTo>
                  <a:lnTo>
                    <a:pt x="318" y="438"/>
                  </a:lnTo>
                  <a:lnTo>
                    <a:pt x="318" y="432"/>
                  </a:lnTo>
                  <a:lnTo>
                    <a:pt x="312" y="432"/>
                  </a:lnTo>
                  <a:lnTo>
                    <a:pt x="306" y="432"/>
                  </a:lnTo>
                  <a:lnTo>
                    <a:pt x="306" y="426"/>
                  </a:lnTo>
                  <a:lnTo>
                    <a:pt x="300" y="426"/>
                  </a:lnTo>
                  <a:lnTo>
                    <a:pt x="300" y="420"/>
                  </a:lnTo>
                  <a:lnTo>
                    <a:pt x="294" y="420"/>
                  </a:lnTo>
                  <a:lnTo>
                    <a:pt x="288" y="420"/>
                  </a:lnTo>
                  <a:lnTo>
                    <a:pt x="282" y="426"/>
                  </a:lnTo>
                  <a:lnTo>
                    <a:pt x="276" y="426"/>
                  </a:lnTo>
                  <a:lnTo>
                    <a:pt x="276" y="420"/>
                  </a:lnTo>
                  <a:lnTo>
                    <a:pt x="270" y="420"/>
                  </a:lnTo>
                  <a:lnTo>
                    <a:pt x="270" y="414"/>
                  </a:lnTo>
                  <a:lnTo>
                    <a:pt x="276" y="414"/>
                  </a:lnTo>
                  <a:lnTo>
                    <a:pt x="270" y="414"/>
                  </a:lnTo>
                  <a:lnTo>
                    <a:pt x="270" y="408"/>
                  </a:lnTo>
                  <a:lnTo>
                    <a:pt x="264" y="408"/>
                  </a:lnTo>
                  <a:lnTo>
                    <a:pt x="258" y="408"/>
                  </a:lnTo>
                  <a:lnTo>
                    <a:pt x="264" y="408"/>
                  </a:lnTo>
                  <a:lnTo>
                    <a:pt x="258" y="408"/>
                  </a:lnTo>
                  <a:lnTo>
                    <a:pt x="258" y="402"/>
                  </a:lnTo>
                  <a:lnTo>
                    <a:pt x="258" y="408"/>
                  </a:lnTo>
                  <a:lnTo>
                    <a:pt x="252" y="408"/>
                  </a:lnTo>
                  <a:lnTo>
                    <a:pt x="252" y="402"/>
                  </a:lnTo>
                  <a:lnTo>
                    <a:pt x="246" y="402"/>
                  </a:lnTo>
                  <a:lnTo>
                    <a:pt x="246" y="408"/>
                  </a:lnTo>
                  <a:lnTo>
                    <a:pt x="252" y="408"/>
                  </a:lnTo>
                  <a:lnTo>
                    <a:pt x="246" y="408"/>
                  </a:lnTo>
                  <a:lnTo>
                    <a:pt x="246" y="402"/>
                  </a:lnTo>
                  <a:lnTo>
                    <a:pt x="246" y="396"/>
                  </a:lnTo>
                  <a:lnTo>
                    <a:pt x="246" y="402"/>
                  </a:lnTo>
                  <a:lnTo>
                    <a:pt x="240" y="396"/>
                  </a:lnTo>
                  <a:lnTo>
                    <a:pt x="240" y="390"/>
                  </a:lnTo>
                  <a:lnTo>
                    <a:pt x="240" y="396"/>
                  </a:lnTo>
                  <a:lnTo>
                    <a:pt x="240" y="390"/>
                  </a:lnTo>
                  <a:lnTo>
                    <a:pt x="240" y="396"/>
                  </a:lnTo>
                  <a:lnTo>
                    <a:pt x="234" y="396"/>
                  </a:lnTo>
                  <a:lnTo>
                    <a:pt x="234" y="402"/>
                  </a:lnTo>
                  <a:lnTo>
                    <a:pt x="240" y="402"/>
                  </a:lnTo>
                  <a:lnTo>
                    <a:pt x="234" y="402"/>
                  </a:lnTo>
                  <a:lnTo>
                    <a:pt x="234" y="396"/>
                  </a:lnTo>
                  <a:lnTo>
                    <a:pt x="234" y="402"/>
                  </a:lnTo>
                  <a:lnTo>
                    <a:pt x="240" y="402"/>
                  </a:lnTo>
                  <a:lnTo>
                    <a:pt x="234" y="402"/>
                  </a:lnTo>
                  <a:lnTo>
                    <a:pt x="240" y="402"/>
                  </a:lnTo>
                  <a:lnTo>
                    <a:pt x="240" y="408"/>
                  </a:lnTo>
                  <a:lnTo>
                    <a:pt x="234" y="408"/>
                  </a:lnTo>
                  <a:lnTo>
                    <a:pt x="234" y="402"/>
                  </a:lnTo>
                  <a:lnTo>
                    <a:pt x="234" y="408"/>
                  </a:lnTo>
                  <a:lnTo>
                    <a:pt x="234" y="402"/>
                  </a:lnTo>
                  <a:lnTo>
                    <a:pt x="228" y="402"/>
                  </a:lnTo>
                  <a:lnTo>
                    <a:pt x="222" y="396"/>
                  </a:lnTo>
                  <a:lnTo>
                    <a:pt x="216" y="390"/>
                  </a:lnTo>
                  <a:lnTo>
                    <a:pt x="210" y="384"/>
                  </a:lnTo>
                  <a:lnTo>
                    <a:pt x="204" y="378"/>
                  </a:lnTo>
                  <a:lnTo>
                    <a:pt x="198" y="372"/>
                  </a:lnTo>
                  <a:lnTo>
                    <a:pt x="198" y="366"/>
                  </a:lnTo>
                  <a:lnTo>
                    <a:pt x="198" y="360"/>
                  </a:lnTo>
                  <a:lnTo>
                    <a:pt x="192" y="360"/>
                  </a:lnTo>
                  <a:lnTo>
                    <a:pt x="186" y="360"/>
                  </a:lnTo>
                  <a:lnTo>
                    <a:pt x="180" y="354"/>
                  </a:lnTo>
                  <a:lnTo>
                    <a:pt x="174" y="354"/>
                  </a:lnTo>
                  <a:lnTo>
                    <a:pt x="168" y="354"/>
                  </a:lnTo>
                  <a:lnTo>
                    <a:pt x="168" y="360"/>
                  </a:lnTo>
                  <a:lnTo>
                    <a:pt x="174" y="360"/>
                  </a:lnTo>
                  <a:lnTo>
                    <a:pt x="180" y="360"/>
                  </a:lnTo>
                  <a:lnTo>
                    <a:pt x="180" y="366"/>
                  </a:lnTo>
                  <a:lnTo>
                    <a:pt x="174" y="366"/>
                  </a:lnTo>
                  <a:lnTo>
                    <a:pt x="180" y="366"/>
                  </a:lnTo>
                  <a:lnTo>
                    <a:pt x="186" y="366"/>
                  </a:lnTo>
                  <a:lnTo>
                    <a:pt x="186" y="372"/>
                  </a:lnTo>
                  <a:lnTo>
                    <a:pt x="186" y="378"/>
                  </a:lnTo>
                  <a:lnTo>
                    <a:pt x="180" y="378"/>
                  </a:lnTo>
                  <a:lnTo>
                    <a:pt x="186" y="378"/>
                  </a:lnTo>
                  <a:lnTo>
                    <a:pt x="186" y="384"/>
                  </a:lnTo>
                  <a:lnTo>
                    <a:pt x="192" y="390"/>
                  </a:lnTo>
                  <a:lnTo>
                    <a:pt x="198" y="396"/>
                  </a:lnTo>
                  <a:lnTo>
                    <a:pt x="192" y="396"/>
                  </a:lnTo>
                  <a:lnTo>
                    <a:pt x="198" y="396"/>
                  </a:lnTo>
                  <a:lnTo>
                    <a:pt x="204" y="396"/>
                  </a:lnTo>
                  <a:lnTo>
                    <a:pt x="204" y="402"/>
                  </a:lnTo>
                  <a:lnTo>
                    <a:pt x="198" y="402"/>
                  </a:lnTo>
                  <a:lnTo>
                    <a:pt x="192" y="402"/>
                  </a:lnTo>
                  <a:lnTo>
                    <a:pt x="198" y="402"/>
                  </a:lnTo>
                  <a:lnTo>
                    <a:pt x="204" y="408"/>
                  </a:lnTo>
                  <a:lnTo>
                    <a:pt x="210" y="408"/>
                  </a:lnTo>
                  <a:lnTo>
                    <a:pt x="216" y="408"/>
                  </a:lnTo>
                  <a:lnTo>
                    <a:pt x="222" y="408"/>
                  </a:lnTo>
                  <a:lnTo>
                    <a:pt x="222" y="414"/>
                  </a:lnTo>
                  <a:lnTo>
                    <a:pt x="222" y="420"/>
                  </a:lnTo>
                  <a:lnTo>
                    <a:pt x="228" y="420"/>
                  </a:lnTo>
                  <a:lnTo>
                    <a:pt x="228" y="426"/>
                  </a:lnTo>
                  <a:lnTo>
                    <a:pt x="234" y="426"/>
                  </a:lnTo>
                  <a:lnTo>
                    <a:pt x="228" y="426"/>
                  </a:lnTo>
                  <a:lnTo>
                    <a:pt x="222" y="426"/>
                  </a:lnTo>
                  <a:lnTo>
                    <a:pt x="222" y="420"/>
                  </a:lnTo>
                  <a:lnTo>
                    <a:pt x="216" y="420"/>
                  </a:lnTo>
                  <a:lnTo>
                    <a:pt x="216" y="426"/>
                  </a:lnTo>
                  <a:close/>
                </a:path>
              </a:pathLst>
            </a:custGeom>
            <a:solidFill>
              <a:schemeClr val="accent1"/>
            </a:solidFill>
            <a:ln w="9525">
              <a:solidFill>
                <a:srgbClr val="B2B2B2"/>
              </a:solidFill>
              <a:round/>
              <a:headEnd/>
              <a:tailEnd/>
            </a:ln>
          </p:spPr>
          <p:txBody>
            <a:bodyPr/>
            <a:lstStyle/>
            <a:p>
              <a:endParaRPr lang="en-CA"/>
            </a:p>
          </p:txBody>
        </p:sp>
        <p:sp>
          <p:nvSpPr>
            <p:cNvPr id="419" name="Freeform 478"/>
            <p:cNvSpPr>
              <a:spLocks noEditPoints="1"/>
            </p:cNvSpPr>
            <p:nvPr>
              <p:custDataLst>
                <p:tags r:id="rId42"/>
              </p:custDataLst>
            </p:nvPr>
          </p:nvSpPr>
          <p:spPr bwMode="gray">
            <a:xfrm>
              <a:off x="837" y="632"/>
              <a:ext cx="956" cy="2133"/>
            </a:xfrm>
            <a:custGeom>
              <a:avLst/>
              <a:gdLst>
                <a:gd name="T0" fmla="*/ 234267458 w 1536"/>
                <a:gd name="T1" fmla="*/ 2147483647 h 3420"/>
                <a:gd name="T2" fmla="*/ 76136430 w 1536"/>
                <a:gd name="T3" fmla="*/ 2147483647 h 3420"/>
                <a:gd name="T4" fmla="*/ 87849803 w 1536"/>
                <a:gd name="T5" fmla="*/ 2147483647 h 3420"/>
                <a:gd name="T6" fmla="*/ 134703294 w 1536"/>
                <a:gd name="T7" fmla="*/ 2147483647 h 3420"/>
                <a:gd name="T8" fmla="*/ 345544006 w 1536"/>
                <a:gd name="T9" fmla="*/ 2147483647 h 3420"/>
                <a:gd name="T10" fmla="*/ 351400198 w 1536"/>
                <a:gd name="T11" fmla="*/ 2147483647 h 3420"/>
                <a:gd name="T12" fmla="*/ 433393809 w 1536"/>
                <a:gd name="T13" fmla="*/ 2147483647 h 3420"/>
                <a:gd name="T14" fmla="*/ 585667656 w 1536"/>
                <a:gd name="T15" fmla="*/ 2147483647 h 3420"/>
                <a:gd name="T16" fmla="*/ 814077933 w 1536"/>
                <a:gd name="T17" fmla="*/ 2147483647 h 3420"/>
                <a:gd name="T18" fmla="*/ 831647499 w 1536"/>
                <a:gd name="T19" fmla="*/ 2147483647 h 3420"/>
                <a:gd name="T20" fmla="*/ 1019061465 w 1536"/>
                <a:gd name="T21" fmla="*/ 2147483647 h 3420"/>
                <a:gd name="T22" fmla="*/ 1130338013 w 1536"/>
                <a:gd name="T23" fmla="*/ 2147483647 h 3420"/>
                <a:gd name="T24" fmla="*/ 1306038606 w 1536"/>
                <a:gd name="T25" fmla="*/ 2147483647 h 3420"/>
                <a:gd name="T26" fmla="*/ 1265042295 w 1536"/>
                <a:gd name="T27" fmla="*/ 2147483647 h 3420"/>
                <a:gd name="T28" fmla="*/ 655947893 w 1536"/>
                <a:gd name="T29" fmla="*/ 2147483647 h 3420"/>
                <a:gd name="T30" fmla="*/ 620807775 w 1536"/>
                <a:gd name="T31" fmla="*/ 2147483647 h 3420"/>
                <a:gd name="T32" fmla="*/ 767224442 w 1536"/>
                <a:gd name="T33" fmla="*/ 2000258053 h 3420"/>
                <a:gd name="T34" fmla="*/ 819934126 w 1536"/>
                <a:gd name="T35" fmla="*/ 1859064019 h 3420"/>
                <a:gd name="T36" fmla="*/ 825791306 w 1536"/>
                <a:gd name="T37" fmla="*/ 1811998681 h 3420"/>
                <a:gd name="T38" fmla="*/ 901927736 w 1536"/>
                <a:gd name="T39" fmla="*/ 1694336327 h 3420"/>
                <a:gd name="T40" fmla="*/ 913641109 w 1536"/>
                <a:gd name="T41" fmla="*/ 1617856142 h 3420"/>
                <a:gd name="T42" fmla="*/ 960494600 w 1536"/>
                <a:gd name="T43" fmla="*/ 1511960122 h 3420"/>
                <a:gd name="T44" fmla="*/ 1095197895 w 1536"/>
                <a:gd name="T45" fmla="*/ 1406064102 h 3420"/>
                <a:gd name="T46" fmla="*/ 1188904878 w 1536"/>
                <a:gd name="T47" fmla="*/ 1353116586 h 3420"/>
                <a:gd name="T48" fmla="*/ 1364605471 w 1536"/>
                <a:gd name="T49" fmla="*/ 1306051248 h 3420"/>
                <a:gd name="T50" fmla="*/ 1452455273 w 1536"/>
                <a:gd name="T51" fmla="*/ 1353116586 h 3420"/>
                <a:gd name="T52" fmla="*/ 1200618250 w 1536"/>
                <a:gd name="T53" fmla="*/ 1506076955 h 3420"/>
                <a:gd name="T54" fmla="*/ 1083484522 w 1536"/>
                <a:gd name="T55" fmla="*/ 1623739310 h 3420"/>
                <a:gd name="T56" fmla="*/ 1030774838 w 1536"/>
                <a:gd name="T57" fmla="*/ 1700219494 h 3420"/>
                <a:gd name="T58" fmla="*/ 995634719 w 1536"/>
                <a:gd name="T59" fmla="*/ 1770817501 h 3420"/>
                <a:gd name="T60" fmla="*/ 925354482 w 1536"/>
                <a:gd name="T61" fmla="*/ 1906128367 h 3420"/>
                <a:gd name="T62" fmla="*/ 896071544 w 1536"/>
                <a:gd name="T63" fmla="*/ 2088505562 h 3420"/>
                <a:gd name="T64" fmla="*/ 966350793 w 1536"/>
                <a:gd name="T65" fmla="*/ 2147483647 h 3420"/>
                <a:gd name="T66" fmla="*/ 913641109 w 1536"/>
                <a:gd name="T67" fmla="*/ 2147483647 h 3420"/>
                <a:gd name="T68" fmla="*/ 843360872 w 1536"/>
                <a:gd name="T69" fmla="*/ 2147483647 h 3420"/>
                <a:gd name="T70" fmla="*/ 796507380 w 1536"/>
                <a:gd name="T71" fmla="*/ 2147483647 h 3420"/>
                <a:gd name="T72" fmla="*/ 790651188 w 1536"/>
                <a:gd name="T73" fmla="*/ 2147483647 h 3420"/>
                <a:gd name="T74" fmla="*/ 743797696 w 1536"/>
                <a:gd name="T75" fmla="*/ 2123804565 h 3420"/>
                <a:gd name="T76" fmla="*/ 538814165 w 1536"/>
                <a:gd name="T77" fmla="*/ 411817747 h 3420"/>
                <a:gd name="T78" fmla="*/ 626663967 w 1536"/>
                <a:gd name="T79" fmla="*/ 305921727 h 3420"/>
                <a:gd name="T80" fmla="*/ 714514758 w 1536"/>
                <a:gd name="T81" fmla="*/ 358870232 h 3420"/>
                <a:gd name="T82" fmla="*/ 573954283 w 1536"/>
                <a:gd name="T83" fmla="*/ 505947433 h 3420"/>
                <a:gd name="T84" fmla="*/ 650090713 w 1536"/>
                <a:gd name="T85" fmla="*/ 2147483647 h 3420"/>
                <a:gd name="T86" fmla="*/ 901927736 w 1536"/>
                <a:gd name="T87" fmla="*/ 252974212 h 3420"/>
                <a:gd name="T88" fmla="*/ 1036632018 w 1536"/>
                <a:gd name="T89" fmla="*/ 252974212 h 3420"/>
                <a:gd name="T90" fmla="*/ 907784916 w 1536"/>
                <a:gd name="T91" fmla="*/ 364753399 h 3420"/>
                <a:gd name="T92" fmla="*/ 1071771149 w 1536"/>
                <a:gd name="T93" fmla="*/ 341220730 h 3420"/>
                <a:gd name="T94" fmla="*/ 1106911267 w 1536"/>
                <a:gd name="T95" fmla="*/ 411817747 h 3420"/>
                <a:gd name="T96" fmla="*/ 1311894799 w 1536"/>
                <a:gd name="T97" fmla="*/ 323571228 h 3420"/>
                <a:gd name="T98" fmla="*/ 1112768448 w 1536"/>
                <a:gd name="T99" fmla="*/ 2147483647 h 3420"/>
                <a:gd name="T100" fmla="*/ 462677735 w 1536"/>
                <a:gd name="T101" fmla="*/ 352987065 h 3420"/>
                <a:gd name="T102" fmla="*/ 544670357 w 1536"/>
                <a:gd name="T103" fmla="*/ 335337563 h 3420"/>
                <a:gd name="T104" fmla="*/ 995634719 w 1536"/>
                <a:gd name="T105" fmla="*/ 405934580 h 3420"/>
                <a:gd name="T106" fmla="*/ 919498289 w 1536"/>
                <a:gd name="T107" fmla="*/ 464766252 h 3420"/>
                <a:gd name="T108" fmla="*/ 937067855 w 1536"/>
                <a:gd name="T109" fmla="*/ 176493037 h 3420"/>
                <a:gd name="T110" fmla="*/ 773080634 w 1536"/>
                <a:gd name="T111" fmla="*/ 452999918 h 3420"/>
                <a:gd name="T112" fmla="*/ 1153764759 w 1536"/>
                <a:gd name="T113" fmla="*/ 270623713 h 3420"/>
                <a:gd name="T114" fmla="*/ 855074244 w 1536"/>
                <a:gd name="T115" fmla="*/ 294155392 h 3420"/>
                <a:gd name="T116" fmla="*/ 1036632018 w 1536"/>
                <a:gd name="T117" fmla="*/ 41182171 h 3420"/>
                <a:gd name="T118" fmla="*/ 860931425 w 1536"/>
                <a:gd name="T119" fmla="*/ 405934580 h 3420"/>
                <a:gd name="T120" fmla="*/ 1077628329 w 1536"/>
                <a:gd name="T121" fmla="*/ 547129604 h 3420"/>
                <a:gd name="T122" fmla="*/ 5856192 w 1536"/>
                <a:gd name="T123" fmla="*/ 2147483647 h 3420"/>
                <a:gd name="T124" fmla="*/ 843360872 w 1536"/>
                <a:gd name="T125" fmla="*/ 2147483647 h 34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536"/>
                <a:gd name="T190" fmla="*/ 0 h 3420"/>
                <a:gd name="T191" fmla="*/ 1536 w 1536"/>
                <a:gd name="T192" fmla="*/ 3420 h 342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536" h="3420">
                  <a:moveTo>
                    <a:pt x="594" y="3396"/>
                  </a:moveTo>
                  <a:lnTo>
                    <a:pt x="570" y="3396"/>
                  </a:lnTo>
                  <a:lnTo>
                    <a:pt x="570" y="3384"/>
                  </a:lnTo>
                  <a:lnTo>
                    <a:pt x="564" y="3384"/>
                  </a:lnTo>
                  <a:lnTo>
                    <a:pt x="564" y="3378"/>
                  </a:lnTo>
                  <a:lnTo>
                    <a:pt x="558" y="3378"/>
                  </a:lnTo>
                  <a:lnTo>
                    <a:pt x="552" y="3378"/>
                  </a:lnTo>
                  <a:lnTo>
                    <a:pt x="546" y="3378"/>
                  </a:lnTo>
                  <a:lnTo>
                    <a:pt x="534" y="3378"/>
                  </a:lnTo>
                  <a:lnTo>
                    <a:pt x="534" y="3384"/>
                  </a:lnTo>
                  <a:lnTo>
                    <a:pt x="528" y="3390"/>
                  </a:lnTo>
                  <a:lnTo>
                    <a:pt x="528" y="3396"/>
                  </a:lnTo>
                  <a:lnTo>
                    <a:pt x="522" y="3396"/>
                  </a:lnTo>
                  <a:lnTo>
                    <a:pt x="516" y="3396"/>
                  </a:lnTo>
                  <a:lnTo>
                    <a:pt x="516" y="3384"/>
                  </a:lnTo>
                  <a:lnTo>
                    <a:pt x="504" y="3384"/>
                  </a:lnTo>
                  <a:lnTo>
                    <a:pt x="504" y="3378"/>
                  </a:lnTo>
                  <a:lnTo>
                    <a:pt x="504" y="3384"/>
                  </a:lnTo>
                  <a:lnTo>
                    <a:pt x="498" y="3384"/>
                  </a:lnTo>
                  <a:lnTo>
                    <a:pt x="492" y="3384"/>
                  </a:lnTo>
                  <a:lnTo>
                    <a:pt x="468" y="3384"/>
                  </a:lnTo>
                  <a:lnTo>
                    <a:pt x="474" y="3366"/>
                  </a:lnTo>
                  <a:lnTo>
                    <a:pt x="450" y="3366"/>
                  </a:lnTo>
                  <a:lnTo>
                    <a:pt x="444" y="3396"/>
                  </a:lnTo>
                  <a:lnTo>
                    <a:pt x="408" y="3390"/>
                  </a:lnTo>
                  <a:lnTo>
                    <a:pt x="396" y="3390"/>
                  </a:lnTo>
                  <a:lnTo>
                    <a:pt x="396" y="3378"/>
                  </a:lnTo>
                  <a:lnTo>
                    <a:pt x="378" y="3378"/>
                  </a:lnTo>
                  <a:lnTo>
                    <a:pt x="378" y="3396"/>
                  </a:lnTo>
                  <a:lnTo>
                    <a:pt x="372" y="3396"/>
                  </a:lnTo>
                  <a:lnTo>
                    <a:pt x="366" y="3396"/>
                  </a:lnTo>
                  <a:lnTo>
                    <a:pt x="366" y="3408"/>
                  </a:lnTo>
                  <a:lnTo>
                    <a:pt x="348" y="3402"/>
                  </a:lnTo>
                  <a:lnTo>
                    <a:pt x="348" y="3408"/>
                  </a:lnTo>
                  <a:lnTo>
                    <a:pt x="342" y="3408"/>
                  </a:lnTo>
                  <a:lnTo>
                    <a:pt x="342" y="3402"/>
                  </a:lnTo>
                  <a:lnTo>
                    <a:pt x="336" y="3402"/>
                  </a:lnTo>
                  <a:lnTo>
                    <a:pt x="336" y="3396"/>
                  </a:lnTo>
                  <a:lnTo>
                    <a:pt x="330" y="3396"/>
                  </a:lnTo>
                  <a:lnTo>
                    <a:pt x="324" y="3396"/>
                  </a:lnTo>
                  <a:lnTo>
                    <a:pt x="324" y="3402"/>
                  </a:lnTo>
                  <a:lnTo>
                    <a:pt x="324" y="3408"/>
                  </a:lnTo>
                  <a:lnTo>
                    <a:pt x="318" y="3408"/>
                  </a:lnTo>
                  <a:lnTo>
                    <a:pt x="324" y="3402"/>
                  </a:lnTo>
                  <a:lnTo>
                    <a:pt x="318" y="3408"/>
                  </a:lnTo>
                  <a:lnTo>
                    <a:pt x="306" y="3402"/>
                  </a:lnTo>
                  <a:lnTo>
                    <a:pt x="300" y="3396"/>
                  </a:lnTo>
                  <a:lnTo>
                    <a:pt x="294" y="3396"/>
                  </a:lnTo>
                  <a:lnTo>
                    <a:pt x="294" y="3390"/>
                  </a:lnTo>
                  <a:lnTo>
                    <a:pt x="288" y="3390"/>
                  </a:lnTo>
                  <a:lnTo>
                    <a:pt x="288" y="3396"/>
                  </a:lnTo>
                  <a:lnTo>
                    <a:pt x="282" y="3396"/>
                  </a:lnTo>
                  <a:lnTo>
                    <a:pt x="270" y="3396"/>
                  </a:lnTo>
                  <a:lnTo>
                    <a:pt x="270" y="3402"/>
                  </a:lnTo>
                  <a:lnTo>
                    <a:pt x="264" y="3414"/>
                  </a:lnTo>
                  <a:lnTo>
                    <a:pt x="270" y="3420"/>
                  </a:lnTo>
                  <a:lnTo>
                    <a:pt x="264" y="3414"/>
                  </a:lnTo>
                  <a:lnTo>
                    <a:pt x="258" y="3414"/>
                  </a:lnTo>
                  <a:lnTo>
                    <a:pt x="258" y="3420"/>
                  </a:lnTo>
                  <a:lnTo>
                    <a:pt x="258" y="3414"/>
                  </a:lnTo>
                  <a:lnTo>
                    <a:pt x="246" y="3414"/>
                  </a:lnTo>
                  <a:lnTo>
                    <a:pt x="240" y="3408"/>
                  </a:lnTo>
                  <a:lnTo>
                    <a:pt x="240" y="3402"/>
                  </a:lnTo>
                  <a:lnTo>
                    <a:pt x="234" y="3408"/>
                  </a:lnTo>
                  <a:lnTo>
                    <a:pt x="216" y="3414"/>
                  </a:lnTo>
                  <a:lnTo>
                    <a:pt x="204" y="3414"/>
                  </a:lnTo>
                  <a:lnTo>
                    <a:pt x="198" y="3414"/>
                  </a:lnTo>
                  <a:lnTo>
                    <a:pt x="198" y="3408"/>
                  </a:lnTo>
                  <a:lnTo>
                    <a:pt x="192" y="3408"/>
                  </a:lnTo>
                  <a:lnTo>
                    <a:pt x="186" y="3408"/>
                  </a:lnTo>
                  <a:lnTo>
                    <a:pt x="180" y="3414"/>
                  </a:lnTo>
                  <a:lnTo>
                    <a:pt x="174" y="3414"/>
                  </a:lnTo>
                  <a:lnTo>
                    <a:pt x="174" y="3408"/>
                  </a:lnTo>
                  <a:lnTo>
                    <a:pt x="168" y="3408"/>
                  </a:lnTo>
                  <a:lnTo>
                    <a:pt x="168" y="3414"/>
                  </a:lnTo>
                  <a:lnTo>
                    <a:pt x="162" y="3414"/>
                  </a:lnTo>
                  <a:lnTo>
                    <a:pt x="162" y="3408"/>
                  </a:lnTo>
                  <a:lnTo>
                    <a:pt x="156" y="3408"/>
                  </a:lnTo>
                  <a:lnTo>
                    <a:pt x="156" y="3402"/>
                  </a:lnTo>
                  <a:lnTo>
                    <a:pt x="156" y="3408"/>
                  </a:lnTo>
                  <a:lnTo>
                    <a:pt x="150" y="3408"/>
                  </a:lnTo>
                  <a:lnTo>
                    <a:pt x="144" y="3408"/>
                  </a:lnTo>
                  <a:lnTo>
                    <a:pt x="138" y="3408"/>
                  </a:lnTo>
                  <a:lnTo>
                    <a:pt x="138" y="3402"/>
                  </a:lnTo>
                  <a:lnTo>
                    <a:pt x="132" y="3402"/>
                  </a:lnTo>
                  <a:lnTo>
                    <a:pt x="132" y="3396"/>
                  </a:lnTo>
                  <a:lnTo>
                    <a:pt x="132" y="3390"/>
                  </a:lnTo>
                  <a:lnTo>
                    <a:pt x="126" y="3390"/>
                  </a:lnTo>
                  <a:lnTo>
                    <a:pt x="120" y="3384"/>
                  </a:lnTo>
                  <a:lnTo>
                    <a:pt x="126" y="3378"/>
                  </a:lnTo>
                  <a:lnTo>
                    <a:pt x="120" y="3372"/>
                  </a:lnTo>
                  <a:lnTo>
                    <a:pt x="120" y="3366"/>
                  </a:lnTo>
                  <a:lnTo>
                    <a:pt x="114" y="3372"/>
                  </a:lnTo>
                  <a:lnTo>
                    <a:pt x="114" y="3366"/>
                  </a:lnTo>
                  <a:lnTo>
                    <a:pt x="114" y="3360"/>
                  </a:lnTo>
                  <a:lnTo>
                    <a:pt x="108" y="3354"/>
                  </a:lnTo>
                  <a:lnTo>
                    <a:pt x="108" y="3348"/>
                  </a:lnTo>
                  <a:lnTo>
                    <a:pt x="108" y="3342"/>
                  </a:lnTo>
                  <a:lnTo>
                    <a:pt x="102" y="3342"/>
                  </a:lnTo>
                  <a:lnTo>
                    <a:pt x="108" y="3336"/>
                  </a:lnTo>
                  <a:lnTo>
                    <a:pt x="102" y="3330"/>
                  </a:lnTo>
                  <a:lnTo>
                    <a:pt x="102" y="3324"/>
                  </a:lnTo>
                  <a:lnTo>
                    <a:pt x="102" y="3318"/>
                  </a:lnTo>
                  <a:lnTo>
                    <a:pt x="108" y="3318"/>
                  </a:lnTo>
                  <a:lnTo>
                    <a:pt x="108" y="3312"/>
                  </a:lnTo>
                  <a:lnTo>
                    <a:pt x="108" y="3306"/>
                  </a:lnTo>
                  <a:lnTo>
                    <a:pt x="108" y="3294"/>
                  </a:lnTo>
                  <a:lnTo>
                    <a:pt x="108" y="3288"/>
                  </a:lnTo>
                  <a:lnTo>
                    <a:pt x="102" y="3282"/>
                  </a:lnTo>
                  <a:lnTo>
                    <a:pt x="102" y="3276"/>
                  </a:lnTo>
                  <a:lnTo>
                    <a:pt x="102" y="3270"/>
                  </a:lnTo>
                  <a:lnTo>
                    <a:pt x="102" y="3264"/>
                  </a:lnTo>
                  <a:lnTo>
                    <a:pt x="96" y="3264"/>
                  </a:lnTo>
                  <a:lnTo>
                    <a:pt x="90" y="3264"/>
                  </a:lnTo>
                  <a:lnTo>
                    <a:pt x="90" y="3258"/>
                  </a:lnTo>
                  <a:lnTo>
                    <a:pt x="90" y="3252"/>
                  </a:lnTo>
                  <a:lnTo>
                    <a:pt x="96" y="3252"/>
                  </a:lnTo>
                  <a:lnTo>
                    <a:pt x="96" y="3246"/>
                  </a:lnTo>
                  <a:lnTo>
                    <a:pt x="96" y="3240"/>
                  </a:lnTo>
                  <a:lnTo>
                    <a:pt x="96" y="3234"/>
                  </a:lnTo>
                  <a:lnTo>
                    <a:pt x="90" y="3234"/>
                  </a:lnTo>
                  <a:lnTo>
                    <a:pt x="90" y="3228"/>
                  </a:lnTo>
                  <a:lnTo>
                    <a:pt x="90" y="3222"/>
                  </a:lnTo>
                  <a:lnTo>
                    <a:pt x="84" y="3222"/>
                  </a:lnTo>
                  <a:lnTo>
                    <a:pt x="84" y="3216"/>
                  </a:lnTo>
                  <a:lnTo>
                    <a:pt x="78" y="3222"/>
                  </a:lnTo>
                  <a:lnTo>
                    <a:pt x="78" y="3216"/>
                  </a:lnTo>
                  <a:lnTo>
                    <a:pt x="78" y="3222"/>
                  </a:lnTo>
                  <a:lnTo>
                    <a:pt x="72" y="3222"/>
                  </a:lnTo>
                  <a:lnTo>
                    <a:pt x="66" y="3222"/>
                  </a:lnTo>
                  <a:lnTo>
                    <a:pt x="66" y="3216"/>
                  </a:lnTo>
                  <a:lnTo>
                    <a:pt x="60" y="3216"/>
                  </a:lnTo>
                  <a:lnTo>
                    <a:pt x="48" y="3210"/>
                  </a:lnTo>
                  <a:lnTo>
                    <a:pt x="30" y="3186"/>
                  </a:lnTo>
                  <a:lnTo>
                    <a:pt x="30" y="3180"/>
                  </a:lnTo>
                  <a:lnTo>
                    <a:pt x="36" y="3174"/>
                  </a:lnTo>
                  <a:lnTo>
                    <a:pt x="36" y="3168"/>
                  </a:lnTo>
                  <a:lnTo>
                    <a:pt x="36" y="3162"/>
                  </a:lnTo>
                  <a:lnTo>
                    <a:pt x="30" y="3168"/>
                  </a:lnTo>
                  <a:lnTo>
                    <a:pt x="30" y="3162"/>
                  </a:lnTo>
                  <a:lnTo>
                    <a:pt x="30" y="3156"/>
                  </a:lnTo>
                  <a:lnTo>
                    <a:pt x="30" y="3144"/>
                  </a:lnTo>
                  <a:lnTo>
                    <a:pt x="24" y="3138"/>
                  </a:lnTo>
                  <a:lnTo>
                    <a:pt x="18" y="3126"/>
                  </a:lnTo>
                  <a:lnTo>
                    <a:pt x="42" y="3120"/>
                  </a:lnTo>
                  <a:lnTo>
                    <a:pt x="48" y="3108"/>
                  </a:lnTo>
                  <a:lnTo>
                    <a:pt x="42" y="3102"/>
                  </a:lnTo>
                  <a:lnTo>
                    <a:pt x="48" y="3090"/>
                  </a:lnTo>
                  <a:lnTo>
                    <a:pt x="54" y="3090"/>
                  </a:lnTo>
                  <a:lnTo>
                    <a:pt x="54" y="3096"/>
                  </a:lnTo>
                  <a:lnTo>
                    <a:pt x="60" y="3096"/>
                  </a:lnTo>
                  <a:lnTo>
                    <a:pt x="66" y="3096"/>
                  </a:lnTo>
                  <a:lnTo>
                    <a:pt x="72" y="3096"/>
                  </a:lnTo>
                  <a:lnTo>
                    <a:pt x="78" y="3096"/>
                  </a:lnTo>
                  <a:lnTo>
                    <a:pt x="78" y="3102"/>
                  </a:lnTo>
                  <a:lnTo>
                    <a:pt x="78" y="3108"/>
                  </a:lnTo>
                  <a:lnTo>
                    <a:pt x="84" y="3108"/>
                  </a:lnTo>
                  <a:lnTo>
                    <a:pt x="90" y="3108"/>
                  </a:lnTo>
                  <a:lnTo>
                    <a:pt x="96" y="3108"/>
                  </a:lnTo>
                  <a:lnTo>
                    <a:pt x="96" y="3102"/>
                  </a:lnTo>
                  <a:lnTo>
                    <a:pt x="96" y="3096"/>
                  </a:lnTo>
                  <a:lnTo>
                    <a:pt x="102" y="3096"/>
                  </a:lnTo>
                  <a:lnTo>
                    <a:pt x="108" y="3096"/>
                  </a:lnTo>
                  <a:lnTo>
                    <a:pt x="114" y="3096"/>
                  </a:lnTo>
                  <a:lnTo>
                    <a:pt x="114" y="3090"/>
                  </a:lnTo>
                  <a:lnTo>
                    <a:pt x="120" y="3084"/>
                  </a:lnTo>
                  <a:lnTo>
                    <a:pt x="114" y="3084"/>
                  </a:lnTo>
                  <a:lnTo>
                    <a:pt x="114" y="3078"/>
                  </a:lnTo>
                  <a:lnTo>
                    <a:pt x="114" y="3072"/>
                  </a:lnTo>
                  <a:lnTo>
                    <a:pt x="114" y="3066"/>
                  </a:lnTo>
                  <a:lnTo>
                    <a:pt x="108" y="3066"/>
                  </a:lnTo>
                  <a:lnTo>
                    <a:pt x="108" y="3060"/>
                  </a:lnTo>
                  <a:lnTo>
                    <a:pt x="114" y="3060"/>
                  </a:lnTo>
                  <a:lnTo>
                    <a:pt x="114" y="3054"/>
                  </a:lnTo>
                  <a:lnTo>
                    <a:pt x="108" y="3054"/>
                  </a:lnTo>
                  <a:lnTo>
                    <a:pt x="114" y="3054"/>
                  </a:lnTo>
                  <a:lnTo>
                    <a:pt x="114" y="3048"/>
                  </a:lnTo>
                  <a:lnTo>
                    <a:pt x="108" y="3048"/>
                  </a:lnTo>
                  <a:lnTo>
                    <a:pt x="102" y="3048"/>
                  </a:lnTo>
                  <a:lnTo>
                    <a:pt x="102" y="3042"/>
                  </a:lnTo>
                  <a:lnTo>
                    <a:pt x="108" y="3042"/>
                  </a:lnTo>
                  <a:lnTo>
                    <a:pt x="108" y="3036"/>
                  </a:lnTo>
                  <a:lnTo>
                    <a:pt x="102" y="3036"/>
                  </a:lnTo>
                  <a:lnTo>
                    <a:pt x="102" y="3042"/>
                  </a:lnTo>
                  <a:lnTo>
                    <a:pt x="96" y="3042"/>
                  </a:lnTo>
                  <a:lnTo>
                    <a:pt x="96" y="3048"/>
                  </a:lnTo>
                  <a:lnTo>
                    <a:pt x="96" y="3042"/>
                  </a:lnTo>
                  <a:lnTo>
                    <a:pt x="90" y="3042"/>
                  </a:lnTo>
                  <a:lnTo>
                    <a:pt x="90" y="3048"/>
                  </a:lnTo>
                  <a:lnTo>
                    <a:pt x="84" y="3048"/>
                  </a:lnTo>
                  <a:lnTo>
                    <a:pt x="78" y="3048"/>
                  </a:lnTo>
                  <a:lnTo>
                    <a:pt x="78" y="3042"/>
                  </a:lnTo>
                  <a:lnTo>
                    <a:pt x="72" y="3042"/>
                  </a:lnTo>
                  <a:lnTo>
                    <a:pt x="72" y="3036"/>
                  </a:lnTo>
                  <a:lnTo>
                    <a:pt x="66" y="3030"/>
                  </a:lnTo>
                  <a:lnTo>
                    <a:pt x="60" y="3024"/>
                  </a:lnTo>
                  <a:lnTo>
                    <a:pt x="60" y="3018"/>
                  </a:lnTo>
                  <a:lnTo>
                    <a:pt x="54" y="3012"/>
                  </a:lnTo>
                  <a:lnTo>
                    <a:pt x="48" y="3012"/>
                  </a:lnTo>
                  <a:lnTo>
                    <a:pt x="48" y="3006"/>
                  </a:lnTo>
                  <a:lnTo>
                    <a:pt x="48" y="3000"/>
                  </a:lnTo>
                  <a:lnTo>
                    <a:pt x="48" y="2994"/>
                  </a:lnTo>
                  <a:lnTo>
                    <a:pt x="48" y="3000"/>
                  </a:lnTo>
                  <a:lnTo>
                    <a:pt x="42" y="2994"/>
                  </a:lnTo>
                  <a:lnTo>
                    <a:pt x="42" y="2988"/>
                  </a:lnTo>
                  <a:lnTo>
                    <a:pt x="48" y="2988"/>
                  </a:lnTo>
                  <a:lnTo>
                    <a:pt x="54" y="2988"/>
                  </a:lnTo>
                  <a:lnTo>
                    <a:pt x="60" y="2982"/>
                  </a:lnTo>
                  <a:lnTo>
                    <a:pt x="60" y="2976"/>
                  </a:lnTo>
                  <a:lnTo>
                    <a:pt x="60" y="2970"/>
                  </a:lnTo>
                  <a:lnTo>
                    <a:pt x="60" y="2964"/>
                  </a:lnTo>
                  <a:lnTo>
                    <a:pt x="66" y="2964"/>
                  </a:lnTo>
                  <a:lnTo>
                    <a:pt x="66" y="2958"/>
                  </a:lnTo>
                  <a:lnTo>
                    <a:pt x="72" y="2964"/>
                  </a:lnTo>
                  <a:lnTo>
                    <a:pt x="78" y="2964"/>
                  </a:lnTo>
                  <a:lnTo>
                    <a:pt x="84" y="2970"/>
                  </a:lnTo>
                  <a:lnTo>
                    <a:pt x="96" y="2970"/>
                  </a:lnTo>
                  <a:lnTo>
                    <a:pt x="96" y="2976"/>
                  </a:lnTo>
                  <a:lnTo>
                    <a:pt x="102" y="2976"/>
                  </a:lnTo>
                  <a:lnTo>
                    <a:pt x="102" y="2982"/>
                  </a:lnTo>
                  <a:lnTo>
                    <a:pt x="102" y="2988"/>
                  </a:lnTo>
                  <a:lnTo>
                    <a:pt x="108" y="2988"/>
                  </a:lnTo>
                  <a:lnTo>
                    <a:pt x="114" y="2994"/>
                  </a:lnTo>
                  <a:lnTo>
                    <a:pt x="120" y="2994"/>
                  </a:lnTo>
                  <a:lnTo>
                    <a:pt x="126" y="2994"/>
                  </a:lnTo>
                  <a:lnTo>
                    <a:pt x="132" y="2994"/>
                  </a:lnTo>
                  <a:lnTo>
                    <a:pt x="132" y="3000"/>
                  </a:lnTo>
                  <a:lnTo>
                    <a:pt x="132" y="3006"/>
                  </a:lnTo>
                  <a:lnTo>
                    <a:pt x="132" y="3000"/>
                  </a:lnTo>
                  <a:lnTo>
                    <a:pt x="126" y="3000"/>
                  </a:lnTo>
                  <a:lnTo>
                    <a:pt x="132" y="3000"/>
                  </a:lnTo>
                  <a:lnTo>
                    <a:pt x="126" y="3000"/>
                  </a:lnTo>
                  <a:lnTo>
                    <a:pt x="126" y="3006"/>
                  </a:lnTo>
                  <a:lnTo>
                    <a:pt x="126" y="3000"/>
                  </a:lnTo>
                  <a:lnTo>
                    <a:pt x="120" y="3000"/>
                  </a:lnTo>
                  <a:lnTo>
                    <a:pt x="114" y="3006"/>
                  </a:lnTo>
                  <a:lnTo>
                    <a:pt x="114" y="3012"/>
                  </a:lnTo>
                  <a:lnTo>
                    <a:pt x="120" y="3012"/>
                  </a:lnTo>
                  <a:lnTo>
                    <a:pt x="120" y="3018"/>
                  </a:lnTo>
                  <a:lnTo>
                    <a:pt x="114" y="3018"/>
                  </a:lnTo>
                  <a:lnTo>
                    <a:pt x="114" y="3024"/>
                  </a:lnTo>
                  <a:lnTo>
                    <a:pt x="114" y="3018"/>
                  </a:lnTo>
                  <a:lnTo>
                    <a:pt x="120" y="3018"/>
                  </a:lnTo>
                  <a:lnTo>
                    <a:pt x="120" y="3012"/>
                  </a:lnTo>
                  <a:lnTo>
                    <a:pt x="126" y="3012"/>
                  </a:lnTo>
                  <a:lnTo>
                    <a:pt x="126" y="3006"/>
                  </a:lnTo>
                  <a:lnTo>
                    <a:pt x="132" y="3006"/>
                  </a:lnTo>
                  <a:lnTo>
                    <a:pt x="138" y="3006"/>
                  </a:lnTo>
                  <a:lnTo>
                    <a:pt x="132" y="3006"/>
                  </a:lnTo>
                  <a:lnTo>
                    <a:pt x="132" y="3000"/>
                  </a:lnTo>
                  <a:lnTo>
                    <a:pt x="138" y="3000"/>
                  </a:lnTo>
                  <a:lnTo>
                    <a:pt x="138" y="3006"/>
                  </a:lnTo>
                  <a:lnTo>
                    <a:pt x="144" y="3006"/>
                  </a:lnTo>
                  <a:lnTo>
                    <a:pt x="150" y="3006"/>
                  </a:lnTo>
                  <a:lnTo>
                    <a:pt x="156" y="3006"/>
                  </a:lnTo>
                  <a:lnTo>
                    <a:pt x="162" y="3012"/>
                  </a:lnTo>
                  <a:lnTo>
                    <a:pt x="168" y="3012"/>
                  </a:lnTo>
                  <a:lnTo>
                    <a:pt x="168" y="3018"/>
                  </a:lnTo>
                  <a:lnTo>
                    <a:pt x="174" y="3018"/>
                  </a:lnTo>
                  <a:lnTo>
                    <a:pt x="180" y="3024"/>
                  </a:lnTo>
                  <a:lnTo>
                    <a:pt x="186" y="3024"/>
                  </a:lnTo>
                  <a:lnTo>
                    <a:pt x="186" y="3030"/>
                  </a:lnTo>
                  <a:lnTo>
                    <a:pt x="192" y="3030"/>
                  </a:lnTo>
                  <a:lnTo>
                    <a:pt x="192" y="3024"/>
                  </a:lnTo>
                  <a:lnTo>
                    <a:pt x="198" y="3024"/>
                  </a:lnTo>
                  <a:lnTo>
                    <a:pt x="192" y="3024"/>
                  </a:lnTo>
                  <a:lnTo>
                    <a:pt x="198" y="3024"/>
                  </a:lnTo>
                  <a:lnTo>
                    <a:pt x="198" y="3018"/>
                  </a:lnTo>
                  <a:lnTo>
                    <a:pt x="198" y="3012"/>
                  </a:lnTo>
                  <a:lnTo>
                    <a:pt x="204" y="3006"/>
                  </a:lnTo>
                  <a:lnTo>
                    <a:pt x="210" y="3006"/>
                  </a:lnTo>
                  <a:lnTo>
                    <a:pt x="210" y="3000"/>
                  </a:lnTo>
                  <a:lnTo>
                    <a:pt x="216" y="3000"/>
                  </a:lnTo>
                  <a:lnTo>
                    <a:pt x="222" y="3006"/>
                  </a:lnTo>
                  <a:lnTo>
                    <a:pt x="228" y="3006"/>
                  </a:lnTo>
                  <a:lnTo>
                    <a:pt x="228" y="3012"/>
                  </a:lnTo>
                  <a:lnTo>
                    <a:pt x="228" y="3006"/>
                  </a:lnTo>
                  <a:lnTo>
                    <a:pt x="228" y="3000"/>
                  </a:lnTo>
                  <a:lnTo>
                    <a:pt x="228" y="2994"/>
                  </a:lnTo>
                  <a:lnTo>
                    <a:pt x="228" y="2988"/>
                  </a:lnTo>
                  <a:lnTo>
                    <a:pt x="222" y="2988"/>
                  </a:lnTo>
                  <a:lnTo>
                    <a:pt x="222" y="2982"/>
                  </a:lnTo>
                  <a:lnTo>
                    <a:pt x="222" y="2976"/>
                  </a:lnTo>
                  <a:lnTo>
                    <a:pt x="210" y="2970"/>
                  </a:lnTo>
                  <a:lnTo>
                    <a:pt x="210" y="2964"/>
                  </a:lnTo>
                  <a:lnTo>
                    <a:pt x="204" y="2958"/>
                  </a:lnTo>
                  <a:lnTo>
                    <a:pt x="204" y="2952"/>
                  </a:lnTo>
                  <a:lnTo>
                    <a:pt x="192" y="2940"/>
                  </a:lnTo>
                  <a:lnTo>
                    <a:pt x="192" y="2928"/>
                  </a:lnTo>
                  <a:lnTo>
                    <a:pt x="192" y="2922"/>
                  </a:lnTo>
                  <a:lnTo>
                    <a:pt x="198" y="2916"/>
                  </a:lnTo>
                  <a:lnTo>
                    <a:pt x="198" y="2910"/>
                  </a:lnTo>
                  <a:lnTo>
                    <a:pt x="204" y="2910"/>
                  </a:lnTo>
                  <a:lnTo>
                    <a:pt x="204" y="2904"/>
                  </a:lnTo>
                  <a:lnTo>
                    <a:pt x="216" y="2904"/>
                  </a:lnTo>
                  <a:lnTo>
                    <a:pt x="216" y="2898"/>
                  </a:lnTo>
                  <a:lnTo>
                    <a:pt x="228" y="2892"/>
                  </a:lnTo>
                  <a:lnTo>
                    <a:pt x="228" y="2886"/>
                  </a:lnTo>
                  <a:lnTo>
                    <a:pt x="234" y="2880"/>
                  </a:lnTo>
                  <a:lnTo>
                    <a:pt x="240" y="2868"/>
                  </a:lnTo>
                  <a:lnTo>
                    <a:pt x="252" y="2868"/>
                  </a:lnTo>
                  <a:lnTo>
                    <a:pt x="264" y="2862"/>
                  </a:lnTo>
                  <a:lnTo>
                    <a:pt x="270" y="2862"/>
                  </a:lnTo>
                  <a:lnTo>
                    <a:pt x="276" y="2850"/>
                  </a:lnTo>
                  <a:lnTo>
                    <a:pt x="288" y="2838"/>
                  </a:lnTo>
                  <a:lnTo>
                    <a:pt x="288" y="2832"/>
                  </a:lnTo>
                  <a:lnTo>
                    <a:pt x="294" y="2832"/>
                  </a:lnTo>
                  <a:lnTo>
                    <a:pt x="300" y="2826"/>
                  </a:lnTo>
                  <a:lnTo>
                    <a:pt x="300" y="2820"/>
                  </a:lnTo>
                  <a:lnTo>
                    <a:pt x="300" y="2814"/>
                  </a:lnTo>
                  <a:lnTo>
                    <a:pt x="312" y="2808"/>
                  </a:lnTo>
                  <a:lnTo>
                    <a:pt x="324" y="2820"/>
                  </a:lnTo>
                  <a:lnTo>
                    <a:pt x="330" y="2826"/>
                  </a:lnTo>
                  <a:lnTo>
                    <a:pt x="336" y="2826"/>
                  </a:lnTo>
                  <a:lnTo>
                    <a:pt x="354" y="2820"/>
                  </a:lnTo>
                  <a:lnTo>
                    <a:pt x="360" y="2826"/>
                  </a:lnTo>
                  <a:lnTo>
                    <a:pt x="360" y="2832"/>
                  </a:lnTo>
                  <a:lnTo>
                    <a:pt x="372" y="2838"/>
                  </a:lnTo>
                  <a:lnTo>
                    <a:pt x="378" y="2844"/>
                  </a:lnTo>
                  <a:lnTo>
                    <a:pt x="378" y="2850"/>
                  </a:lnTo>
                  <a:lnTo>
                    <a:pt x="384" y="2850"/>
                  </a:lnTo>
                  <a:lnTo>
                    <a:pt x="390" y="2862"/>
                  </a:lnTo>
                  <a:lnTo>
                    <a:pt x="396" y="2862"/>
                  </a:lnTo>
                  <a:lnTo>
                    <a:pt x="396" y="2856"/>
                  </a:lnTo>
                  <a:lnTo>
                    <a:pt x="390" y="2850"/>
                  </a:lnTo>
                  <a:lnTo>
                    <a:pt x="390" y="2844"/>
                  </a:lnTo>
                  <a:lnTo>
                    <a:pt x="396" y="2832"/>
                  </a:lnTo>
                  <a:lnTo>
                    <a:pt x="402" y="2820"/>
                  </a:lnTo>
                  <a:lnTo>
                    <a:pt x="402" y="2814"/>
                  </a:lnTo>
                  <a:lnTo>
                    <a:pt x="408" y="2814"/>
                  </a:lnTo>
                  <a:lnTo>
                    <a:pt x="408" y="2808"/>
                  </a:lnTo>
                  <a:lnTo>
                    <a:pt x="408" y="2802"/>
                  </a:lnTo>
                  <a:lnTo>
                    <a:pt x="408" y="2796"/>
                  </a:lnTo>
                  <a:lnTo>
                    <a:pt x="414" y="2790"/>
                  </a:lnTo>
                  <a:lnTo>
                    <a:pt x="408" y="2790"/>
                  </a:lnTo>
                  <a:lnTo>
                    <a:pt x="408" y="2784"/>
                  </a:lnTo>
                  <a:lnTo>
                    <a:pt x="408" y="2778"/>
                  </a:lnTo>
                  <a:lnTo>
                    <a:pt x="408" y="2772"/>
                  </a:lnTo>
                  <a:lnTo>
                    <a:pt x="414" y="2772"/>
                  </a:lnTo>
                  <a:lnTo>
                    <a:pt x="408" y="2766"/>
                  </a:lnTo>
                  <a:lnTo>
                    <a:pt x="414" y="2766"/>
                  </a:lnTo>
                  <a:lnTo>
                    <a:pt x="408" y="2760"/>
                  </a:lnTo>
                  <a:lnTo>
                    <a:pt x="408" y="2754"/>
                  </a:lnTo>
                  <a:lnTo>
                    <a:pt x="402" y="2754"/>
                  </a:lnTo>
                  <a:lnTo>
                    <a:pt x="402" y="2748"/>
                  </a:lnTo>
                  <a:lnTo>
                    <a:pt x="396" y="2736"/>
                  </a:lnTo>
                  <a:lnTo>
                    <a:pt x="390" y="2736"/>
                  </a:lnTo>
                  <a:lnTo>
                    <a:pt x="384" y="2736"/>
                  </a:lnTo>
                  <a:lnTo>
                    <a:pt x="378" y="2736"/>
                  </a:lnTo>
                  <a:lnTo>
                    <a:pt x="378" y="2730"/>
                  </a:lnTo>
                  <a:lnTo>
                    <a:pt x="378" y="2724"/>
                  </a:lnTo>
                  <a:lnTo>
                    <a:pt x="378" y="2712"/>
                  </a:lnTo>
                  <a:lnTo>
                    <a:pt x="384" y="2706"/>
                  </a:lnTo>
                  <a:lnTo>
                    <a:pt x="384" y="2694"/>
                  </a:lnTo>
                  <a:lnTo>
                    <a:pt x="384" y="2688"/>
                  </a:lnTo>
                  <a:lnTo>
                    <a:pt x="390" y="2688"/>
                  </a:lnTo>
                  <a:lnTo>
                    <a:pt x="390" y="2682"/>
                  </a:lnTo>
                  <a:lnTo>
                    <a:pt x="390" y="2676"/>
                  </a:lnTo>
                  <a:lnTo>
                    <a:pt x="396" y="2670"/>
                  </a:lnTo>
                  <a:lnTo>
                    <a:pt x="396" y="2664"/>
                  </a:lnTo>
                  <a:lnTo>
                    <a:pt x="396" y="2658"/>
                  </a:lnTo>
                  <a:lnTo>
                    <a:pt x="396" y="2652"/>
                  </a:lnTo>
                  <a:lnTo>
                    <a:pt x="396" y="2646"/>
                  </a:lnTo>
                  <a:lnTo>
                    <a:pt x="402" y="2646"/>
                  </a:lnTo>
                  <a:lnTo>
                    <a:pt x="396" y="2646"/>
                  </a:lnTo>
                  <a:lnTo>
                    <a:pt x="402" y="2646"/>
                  </a:lnTo>
                  <a:lnTo>
                    <a:pt x="396" y="2646"/>
                  </a:lnTo>
                  <a:lnTo>
                    <a:pt x="396" y="2640"/>
                  </a:lnTo>
                  <a:lnTo>
                    <a:pt x="396" y="2634"/>
                  </a:lnTo>
                  <a:lnTo>
                    <a:pt x="396" y="2628"/>
                  </a:lnTo>
                  <a:lnTo>
                    <a:pt x="396" y="2616"/>
                  </a:lnTo>
                  <a:lnTo>
                    <a:pt x="402" y="2610"/>
                  </a:lnTo>
                  <a:lnTo>
                    <a:pt x="396" y="2598"/>
                  </a:lnTo>
                  <a:lnTo>
                    <a:pt x="396" y="2592"/>
                  </a:lnTo>
                  <a:lnTo>
                    <a:pt x="390" y="2586"/>
                  </a:lnTo>
                  <a:lnTo>
                    <a:pt x="384" y="2580"/>
                  </a:lnTo>
                  <a:lnTo>
                    <a:pt x="378" y="2580"/>
                  </a:lnTo>
                  <a:lnTo>
                    <a:pt x="360" y="2562"/>
                  </a:lnTo>
                  <a:lnTo>
                    <a:pt x="354" y="2556"/>
                  </a:lnTo>
                  <a:lnTo>
                    <a:pt x="354" y="2550"/>
                  </a:lnTo>
                  <a:lnTo>
                    <a:pt x="360" y="2550"/>
                  </a:lnTo>
                  <a:lnTo>
                    <a:pt x="366" y="2550"/>
                  </a:lnTo>
                  <a:lnTo>
                    <a:pt x="366" y="2556"/>
                  </a:lnTo>
                  <a:lnTo>
                    <a:pt x="372" y="2556"/>
                  </a:lnTo>
                  <a:lnTo>
                    <a:pt x="378" y="2556"/>
                  </a:lnTo>
                  <a:lnTo>
                    <a:pt x="378" y="2562"/>
                  </a:lnTo>
                  <a:lnTo>
                    <a:pt x="384" y="2562"/>
                  </a:lnTo>
                  <a:lnTo>
                    <a:pt x="390" y="2568"/>
                  </a:lnTo>
                  <a:lnTo>
                    <a:pt x="396" y="2568"/>
                  </a:lnTo>
                  <a:lnTo>
                    <a:pt x="408" y="2568"/>
                  </a:lnTo>
                  <a:lnTo>
                    <a:pt x="420" y="2568"/>
                  </a:lnTo>
                  <a:lnTo>
                    <a:pt x="426" y="2568"/>
                  </a:lnTo>
                  <a:lnTo>
                    <a:pt x="432" y="2568"/>
                  </a:lnTo>
                  <a:lnTo>
                    <a:pt x="438" y="2568"/>
                  </a:lnTo>
                  <a:lnTo>
                    <a:pt x="450" y="2568"/>
                  </a:lnTo>
                  <a:lnTo>
                    <a:pt x="456" y="2574"/>
                  </a:lnTo>
                  <a:lnTo>
                    <a:pt x="462" y="2574"/>
                  </a:lnTo>
                  <a:lnTo>
                    <a:pt x="468" y="2574"/>
                  </a:lnTo>
                  <a:lnTo>
                    <a:pt x="474" y="2580"/>
                  </a:lnTo>
                  <a:lnTo>
                    <a:pt x="480" y="2580"/>
                  </a:lnTo>
                  <a:lnTo>
                    <a:pt x="474" y="2580"/>
                  </a:lnTo>
                  <a:lnTo>
                    <a:pt x="474" y="2586"/>
                  </a:lnTo>
                  <a:lnTo>
                    <a:pt x="480" y="2586"/>
                  </a:lnTo>
                  <a:lnTo>
                    <a:pt x="480" y="2592"/>
                  </a:lnTo>
                  <a:lnTo>
                    <a:pt x="480" y="2598"/>
                  </a:lnTo>
                  <a:lnTo>
                    <a:pt x="486" y="2598"/>
                  </a:lnTo>
                  <a:lnTo>
                    <a:pt x="492" y="2604"/>
                  </a:lnTo>
                  <a:lnTo>
                    <a:pt x="498" y="2610"/>
                  </a:lnTo>
                  <a:lnTo>
                    <a:pt x="498" y="2616"/>
                  </a:lnTo>
                  <a:lnTo>
                    <a:pt x="504" y="2616"/>
                  </a:lnTo>
                  <a:lnTo>
                    <a:pt x="504" y="2622"/>
                  </a:lnTo>
                  <a:lnTo>
                    <a:pt x="504" y="2628"/>
                  </a:lnTo>
                  <a:lnTo>
                    <a:pt x="504" y="2634"/>
                  </a:lnTo>
                  <a:lnTo>
                    <a:pt x="510" y="2640"/>
                  </a:lnTo>
                  <a:lnTo>
                    <a:pt x="510" y="2646"/>
                  </a:lnTo>
                  <a:lnTo>
                    <a:pt x="510" y="2652"/>
                  </a:lnTo>
                  <a:lnTo>
                    <a:pt x="510" y="2658"/>
                  </a:lnTo>
                  <a:lnTo>
                    <a:pt x="504" y="2658"/>
                  </a:lnTo>
                  <a:lnTo>
                    <a:pt x="498" y="2658"/>
                  </a:lnTo>
                  <a:lnTo>
                    <a:pt x="492" y="2658"/>
                  </a:lnTo>
                  <a:lnTo>
                    <a:pt x="486" y="2658"/>
                  </a:lnTo>
                  <a:lnTo>
                    <a:pt x="480" y="2658"/>
                  </a:lnTo>
                  <a:lnTo>
                    <a:pt x="474" y="2658"/>
                  </a:lnTo>
                  <a:lnTo>
                    <a:pt x="474" y="2664"/>
                  </a:lnTo>
                  <a:lnTo>
                    <a:pt x="468" y="2664"/>
                  </a:lnTo>
                  <a:lnTo>
                    <a:pt x="462" y="2664"/>
                  </a:lnTo>
                  <a:lnTo>
                    <a:pt x="456" y="2664"/>
                  </a:lnTo>
                  <a:lnTo>
                    <a:pt x="456" y="2670"/>
                  </a:lnTo>
                  <a:lnTo>
                    <a:pt x="450" y="2670"/>
                  </a:lnTo>
                  <a:lnTo>
                    <a:pt x="450" y="2676"/>
                  </a:lnTo>
                  <a:lnTo>
                    <a:pt x="450" y="2682"/>
                  </a:lnTo>
                  <a:lnTo>
                    <a:pt x="450" y="2688"/>
                  </a:lnTo>
                  <a:lnTo>
                    <a:pt x="450" y="2682"/>
                  </a:lnTo>
                  <a:lnTo>
                    <a:pt x="444" y="2682"/>
                  </a:lnTo>
                  <a:lnTo>
                    <a:pt x="444" y="2688"/>
                  </a:lnTo>
                  <a:lnTo>
                    <a:pt x="432" y="2694"/>
                  </a:lnTo>
                  <a:lnTo>
                    <a:pt x="432" y="2700"/>
                  </a:lnTo>
                  <a:lnTo>
                    <a:pt x="432" y="2706"/>
                  </a:lnTo>
                  <a:lnTo>
                    <a:pt x="432" y="2712"/>
                  </a:lnTo>
                  <a:lnTo>
                    <a:pt x="432" y="2718"/>
                  </a:lnTo>
                  <a:lnTo>
                    <a:pt x="444" y="2724"/>
                  </a:lnTo>
                  <a:lnTo>
                    <a:pt x="450" y="2730"/>
                  </a:lnTo>
                  <a:lnTo>
                    <a:pt x="456" y="2730"/>
                  </a:lnTo>
                  <a:lnTo>
                    <a:pt x="462" y="2736"/>
                  </a:lnTo>
                  <a:lnTo>
                    <a:pt x="462" y="2742"/>
                  </a:lnTo>
                  <a:lnTo>
                    <a:pt x="462" y="2748"/>
                  </a:lnTo>
                  <a:lnTo>
                    <a:pt x="468" y="2748"/>
                  </a:lnTo>
                  <a:lnTo>
                    <a:pt x="468" y="2754"/>
                  </a:lnTo>
                  <a:lnTo>
                    <a:pt x="468" y="2760"/>
                  </a:lnTo>
                  <a:lnTo>
                    <a:pt x="474" y="2766"/>
                  </a:lnTo>
                  <a:lnTo>
                    <a:pt x="474" y="2772"/>
                  </a:lnTo>
                  <a:lnTo>
                    <a:pt x="480" y="2772"/>
                  </a:lnTo>
                  <a:lnTo>
                    <a:pt x="486" y="2772"/>
                  </a:lnTo>
                  <a:lnTo>
                    <a:pt x="492" y="2772"/>
                  </a:lnTo>
                  <a:lnTo>
                    <a:pt x="498" y="2772"/>
                  </a:lnTo>
                  <a:lnTo>
                    <a:pt x="504" y="2766"/>
                  </a:lnTo>
                  <a:lnTo>
                    <a:pt x="504" y="2772"/>
                  </a:lnTo>
                  <a:lnTo>
                    <a:pt x="510" y="2772"/>
                  </a:lnTo>
                  <a:lnTo>
                    <a:pt x="516" y="2772"/>
                  </a:lnTo>
                  <a:lnTo>
                    <a:pt x="522" y="2772"/>
                  </a:lnTo>
                  <a:lnTo>
                    <a:pt x="528" y="2772"/>
                  </a:lnTo>
                  <a:lnTo>
                    <a:pt x="534" y="2766"/>
                  </a:lnTo>
                  <a:lnTo>
                    <a:pt x="540" y="2766"/>
                  </a:lnTo>
                  <a:lnTo>
                    <a:pt x="546" y="2760"/>
                  </a:lnTo>
                  <a:lnTo>
                    <a:pt x="546" y="2766"/>
                  </a:lnTo>
                  <a:lnTo>
                    <a:pt x="552" y="2766"/>
                  </a:lnTo>
                  <a:lnTo>
                    <a:pt x="552" y="2760"/>
                  </a:lnTo>
                  <a:lnTo>
                    <a:pt x="558" y="2760"/>
                  </a:lnTo>
                  <a:lnTo>
                    <a:pt x="558" y="2754"/>
                  </a:lnTo>
                  <a:lnTo>
                    <a:pt x="558" y="2736"/>
                  </a:lnTo>
                  <a:lnTo>
                    <a:pt x="558" y="2730"/>
                  </a:lnTo>
                  <a:lnTo>
                    <a:pt x="564" y="2724"/>
                  </a:lnTo>
                  <a:lnTo>
                    <a:pt x="564" y="2718"/>
                  </a:lnTo>
                  <a:lnTo>
                    <a:pt x="564" y="2712"/>
                  </a:lnTo>
                  <a:lnTo>
                    <a:pt x="564" y="2706"/>
                  </a:lnTo>
                  <a:lnTo>
                    <a:pt x="570" y="2706"/>
                  </a:lnTo>
                  <a:lnTo>
                    <a:pt x="570" y="2700"/>
                  </a:lnTo>
                  <a:lnTo>
                    <a:pt x="570" y="2694"/>
                  </a:lnTo>
                  <a:lnTo>
                    <a:pt x="564" y="2694"/>
                  </a:lnTo>
                  <a:lnTo>
                    <a:pt x="564" y="2688"/>
                  </a:lnTo>
                  <a:lnTo>
                    <a:pt x="564" y="2682"/>
                  </a:lnTo>
                  <a:lnTo>
                    <a:pt x="570" y="2682"/>
                  </a:lnTo>
                  <a:lnTo>
                    <a:pt x="570" y="2676"/>
                  </a:lnTo>
                  <a:lnTo>
                    <a:pt x="576" y="2676"/>
                  </a:lnTo>
                  <a:lnTo>
                    <a:pt x="576" y="2682"/>
                  </a:lnTo>
                  <a:lnTo>
                    <a:pt x="582" y="2676"/>
                  </a:lnTo>
                  <a:lnTo>
                    <a:pt x="588" y="2676"/>
                  </a:lnTo>
                  <a:lnTo>
                    <a:pt x="594" y="2676"/>
                  </a:lnTo>
                  <a:lnTo>
                    <a:pt x="600" y="2676"/>
                  </a:lnTo>
                  <a:lnTo>
                    <a:pt x="600" y="2670"/>
                  </a:lnTo>
                  <a:lnTo>
                    <a:pt x="606" y="2670"/>
                  </a:lnTo>
                  <a:lnTo>
                    <a:pt x="600" y="2670"/>
                  </a:lnTo>
                  <a:lnTo>
                    <a:pt x="600" y="2676"/>
                  </a:lnTo>
                  <a:lnTo>
                    <a:pt x="606" y="2676"/>
                  </a:lnTo>
                  <a:lnTo>
                    <a:pt x="606" y="2670"/>
                  </a:lnTo>
                  <a:lnTo>
                    <a:pt x="612" y="2670"/>
                  </a:lnTo>
                  <a:lnTo>
                    <a:pt x="612" y="2676"/>
                  </a:lnTo>
                  <a:lnTo>
                    <a:pt x="612" y="2670"/>
                  </a:lnTo>
                  <a:lnTo>
                    <a:pt x="606" y="2670"/>
                  </a:lnTo>
                  <a:lnTo>
                    <a:pt x="606" y="2664"/>
                  </a:lnTo>
                  <a:lnTo>
                    <a:pt x="606" y="2658"/>
                  </a:lnTo>
                  <a:lnTo>
                    <a:pt x="606" y="2652"/>
                  </a:lnTo>
                  <a:lnTo>
                    <a:pt x="606" y="2646"/>
                  </a:lnTo>
                  <a:lnTo>
                    <a:pt x="600" y="2646"/>
                  </a:lnTo>
                  <a:lnTo>
                    <a:pt x="606" y="2646"/>
                  </a:lnTo>
                  <a:lnTo>
                    <a:pt x="606" y="2652"/>
                  </a:lnTo>
                  <a:lnTo>
                    <a:pt x="612" y="2652"/>
                  </a:lnTo>
                  <a:lnTo>
                    <a:pt x="618" y="2652"/>
                  </a:lnTo>
                  <a:lnTo>
                    <a:pt x="624" y="2652"/>
                  </a:lnTo>
                  <a:lnTo>
                    <a:pt x="642" y="2640"/>
                  </a:lnTo>
                  <a:lnTo>
                    <a:pt x="648" y="2634"/>
                  </a:lnTo>
                  <a:lnTo>
                    <a:pt x="666" y="2622"/>
                  </a:lnTo>
                  <a:lnTo>
                    <a:pt x="678" y="2610"/>
                  </a:lnTo>
                  <a:lnTo>
                    <a:pt x="684" y="2604"/>
                  </a:lnTo>
                  <a:lnTo>
                    <a:pt x="690" y="2598"/>
                  </a:lnTo>
                  <a:lnTo>
                    <a:pt x="696" y="2592"/>
                  </a:lnTo>
                  <a:lnTo>
                    <a:pt x="702" y="2586"/>
                  </a:lnTo>
                  <a:lnTo>
                    <a:pt x="702" y="2580"/>
                  </a:lnTo>
                  <a:lnTo>
                    <a:pt x="708" y="2580"/>
                  </a:lnTo>
                  <a:lnTo>
                    <a:pt x="708" y="2574"/>
                  </a:lnTo>
                  <a:lnTo>
                    <a:pt x="714" y="2574"/>
                  </a:lnTo>
                  <a:lnTo>
                    <a:pt x="720" y="2574"/>
                  </a:lnTo>
                  <a:lnTo>
                    <a:pt x="726" y="2574"/>
                  </a:lnTo>
                  <a:lnTo>
                    <a:pt x="732" y="2574"/>
                  </a:lnTo>
                  <a:lnTo>
                    <a:pt x="738" y="2574"/>
                  </a:lnTo>
                  <a:lnTo>
                    <a:pt x="744" y="2574"/>
                  </a:lnTo>
                  <a:lnTo>
                    <a:pt x="750" y="2574"/>
                  </a:lnTo>
                  <a:lnTo>
                    <a:pt x="756" y="2568"/>
                  </a:lnTo>
                  <a:lnTo>
                    <a:pt x="762" y="2562"/>
                  </a:lnTo>
                  <a:lnTo>
                    <a:pt x="768" y="2562"/>
                  </a:lnTo>
                  <a:lnTo>
                    <a:pt x="768" y="2568"/>
                  </a:lnTo>
                  <a:lnTo>
                    <a:pt x="762" y="2568"/>
                  </a:lnTo>
                  <a:lnTo>
                    <a:pt x="756" y="2568"/>
                  </a:lnTo>
                  <a:lnTo>
                    <a:pt x="756" y="2574"/>
                  </a:lnTo>
                  <a:lnTo>
                    <a:pt x="762" y="2574"/>
                  </a:lnTo>
                  <a:lnTo>
                    <a:pt x="768" y="2574"/>
                  </a:lnTo>
                  <a:lnTo>
                    <a:pt x="768" y="2580"/>
                  </a:lnTo>
                  <a:lnTo>
                    <a:pt x="768" y="2574"/>
                  </a:lnTo>
                  <a:lnTo>
                    <a:pt x="768" y="2580"/>
                  </a:lnTo>
                  <a:lnTo>
                    <a:pt x="768" y="2586"/>
                  </a:lnTo>
                  <a:lnTo>
                    <a:pt x="762" y="2586"/>
                  </a:lnTo>
                  <a:lnTo>
                    <a:pt x="762" y="2592"/>
                  </a:lnTo>
                  <a:lnTo>
                    <a:pt x="768" y="2592"/>
                  </a:lnTo>
                  <a:lnTo>
                    <a:pt x="774" y="2592"/>
                  </a:lnTo>
                  <a:lnTo>
                    <a:pt x="780" y="2592"/>
                  </a:lnTo>
                  <a:lnTo>
                    <a:pt x="780" y="2586"/>
                  </a:lnTo>
                  <a:lnTo>
                    <a:pt x="786" y="2586"/>
                  </a:lnTo>
                  <a:lnTo>
                    <a:pt x="786" y="2580"/>
                  </a:lnTo>
                  <a:lnTo>
                    <a:pt x="792" y="2580"/>
                  </a:lnTo>
                  <a:lnTo>
                    <a:pt x="792" y="2574"/>
                  </a:lnTo>
                  <a:lnTo>
                    <a:pt x="786" y="2574"/>
                  </a:lnTo>
                  <a:lnTo>
                    <a:pt x="780" y="2568"/>
                  </a:lnTo>
                  <a:lnTo>
                    <a:pt x="780" y="2562"/>
                  </a:lnTo>
                  <a:lnTo>
                    <a:pt x="780" y="2556"/>
                  </a:lnTo>
                  <a:lnTo>
                    <a:pt x="774" y="2562"/>
                  </a:lnTo>
                  <a:lnTo>
                    <a:pt x="768" y="2562"/>
                  </a:lnTo>
                  <a:lnTo>
                    <a:pt x="774" y="2556"/>
                  </a:lnTo>
                  <a:lnTo>
                    <a:pt x="780" y="2550"/>
                  </a:lnTo>
                  <a:lnTo>
                    <a:pt x="786" y="2544"/>
                  </a:lnTo>
                  <a:lnTo>
                    <a:pt x="792" y="2544"/>
                  </a:lnTo>
                  <a:lnTo>
                    <a:pt x="792" y="2538"/>
                  </a:lnTo>
                  <a:lnTo>
                    <a:pt x="804" y="2532"/>
                  </a:lnTo>
                  <a:lnTo>
                    <a:pt x="810" y="2526"/>
                  </a:lnTo>
                  <a:lnTo>
                    <a:pt x="816" y="2526"/>
                  </a:lnTo>
                  <a:lnTo>
                    <a:pt x="822" y="2520"/>
                  </a:lnTo>
                  <a:lnTo>
                    <a:pt x="828" y="2520"/>
                  </a:lnTo>
                  <a:lnTo>
                    <a:pt x="834" y="2514"/>
                  </a:lnTo>
                  <a:lnTo>
                    <a:pt x="840" y="2514"/>
                  </a:lnTo>
                  <a:lnTo>
                    <a:pt x="846" y="2514"/>
                  </a:lnTo>
                  <a:lnTo>
                    <a:pt x="852" y="2514"/>
                  </a:lnTo>
                  <a:lnTo>
                    <a:pt x="858" y="2508"/>
                  </a:lnTo>
                  <a:lnTo>
                    <a:pt x="864" y="2508"/>
                  </a:lnTo>
                  <a:lnTo>
                    <a:pt x="870" y="2508"/>
                  </a:lnTo>
                  <a:lnTo>
                    <a:pt x="876" y="2514"/>
                  </a:lnTo>
                  <a:lnTo>
                    <a:pt x="870" y="2514"/>
                  </a:lnTo>
                  <a:lnTo>
                    <a:pt x="864" y="2514"/>
                  </a:lnTo>
                  <a:lnTo>
                    <a:pt x="858" y="2514"/>
                  </a:lnTo>
                  <a:lnTo>
                    <a:pt x="852" y="2520"/>
                  </a:lnTo>
                  <a:lnTo>
                    <a:pt x="846" y="2520"/>
                  </a:lnTo>
                  <a:lnTo>
                    <a:pt x="840" y="2520"/>
                  </a:lnTo>
                  <a:lnTo>
                    <a:pt x="834" y="2520"/>
                  </a:lnTo>
                  <a:lnTo>
                    <a:pt x="828" y="2520"/>
                  </a:lnTo>
                  <a:lnTo>
                    <a:pt x="828" y="2526"/>
                  </a:lnTo>
                  <a:lnTo>
                    <a:pt x="834" y="2526"/>
                  </a:lnTo>
                  <a:lnTo>
                    <a:pt x="834" y="2532"/>
                  </a:lnTo>
                  <a:lnTo>
                    <a:pt x="834" y="2526"/>
                  </a:lnTo>
                  <a:lnTo>
                    <a:pt x="840" y="2526"/>
                  </a:lnTo>
                  <a:lnTo>
                    <a:pt x="846" y="2526"/>
                  </a:lnTo>
                  <a:lnTo>
                    <a:pt x="846" y="2532"/>
                  </a:lnTo>
                  <a:lnTo>
                    <a:pt x="846" y="2538"/>
                  </a:lnTo>
                  <a:lnTo>
                    <a:pt x="840" y="2538"/>
                  </a:lnTo>
                  <a:lnTo>
                    <a:pt x="840" y="2544"/>
                  </a:lnTo>
                  <a:lnTo>
                    <a:pt x="840" y="2550"/>
                  </a:lnTo>
                  <a:lnTo>
                    <a:pt x="834" y="2556"/>
                  </a:lnTo>
                  <a:lnTo>
                    <a:pt x="834" y="2562"/>
                  </a:lnTo>
                  <a:lnTo>
                    <a:pt x="840" y="2562"/>
                  </a:lnTo>
                  <a:lnTo>
                    <a:pt x="840" y="2568"/>
                  </a:lnTo>
                  <a:lnTo>
                    <a:pt x="846" y="2568"/>
                  </a:lnTo>
                  <a:lnTo>
                    <a:pt x="846" y="2574"/>
                  </a:lnTo>
                  <a:lnTo>
                    <a:pt x="846" y="2580"/>
                  </a:lnTo>
                  <a:lnTo>
                    <a:pt x="846" y="2586"/>
                  </a:lnTo>
                  <a:lnTo>
                    <a:pt x="840" y="2586"/>
                  </a:lnTo>
                  <a:lnTo>
                    <a:pt x="840" y="2592"/>
                  </a:lnTo>
                  <a:lnTo>
                    <a:pt x="834" y="2592"/>
                  </a:lnTo>
                  <a:lnTo>
                    <a:pt x="834" y="2586"/>
                  </a:lnTo>
                  <a:lnTo>
                    <a:pt x="828" y="2586"/>
                  </a:lnTo>
                  <a:lnTo>
                    <a:pt x="834" y="2592"/>
                  </a:lnTo>
                  <a:lnTo>
                    <a:pt x="828" y="2592"/>
                  </a:lnTo>
                  <a:lnTo>
                    <a:pt x="834" y="2592"/>
                  </a:lnTo>
                  <a:lnTo>
                    <a:pt x="828" y="2592"/>
                  </a:lnTo>
                  <a:lnTo>
                    <a:pt x="822" y="2592"/>
                  </a:lnTo>
                  <a:lnTo>
                    <a:pt x="822" y="2586"/>
                  </a:lnTo>
                  <a:lnTo>
                    <a:pt x="822" y="2592"/>
                  </a:lnTo>
                  <a:lnTo>
                    <a:pt x="816" y="2592"/>
                  </a:lnTo>
                  <a:lnTo>
                    <a:pt x="816" y="2598"/>
                  </a:lnTo>
                  <a:lnTo>
                    <a:pt x="810" y="2598"/>
                  </a:lnTo>
                  <a:lnTo>
                    <a:pt x="810" y="2604"/>
                  </a:lnTo>
                  <a:lnTo>
                    <a:pt x="810" y="2610"/>
                  </a:lnTo>
                  <a:lnTo>
                    <a:pt x="816" y="2610"/>
                  </a:lnTo>
                  <a:lnTo>
                    <a:pt x="816" y="2604"/>
                  </a:lnTo>
                  <a:lnTo>
                    <a:pt x="822" y="2604"/>
                  </a:lnTo>
                  <a:lnTo>
                    <a:pt x="828" y="2604"/>
                  </a:lnTo>
                  <a:lnTo>
                    <a:pt x="834" y="2604"/>
                  </a:lnTo>
                  <a:lnTo>
                    <a:pt x="840" y="2604"/>
                  </a:lnTo>
                  <a:lnTo>
                    <a:pt x="840" y="2610"/>
                  </a:lnTo>
                  <a:lnTo>
                    <a:pt x="846" y="2610"/>
                  </a:lnTo>
                  <a:lnTo>
                    <a:pt x="846" y="2604"/>
                  </a:lnTo>
                  <a:lnTo>
                    <a:pt x="846" y="2610"/>
                  </a:lnTo>
                  <a:lnTo>
                    <a:pt x="852" y="2610"/>
                  </a:lnTo>
                  <a:lnTo>
                    <a:pt x="852" y="2604"/>
                  </a:lnTo>
                  <a:lnTo>
                    <a:pt x="858" y="2604"/>
                  </a:lnTo>
                  <a:lnTo>
                    <a:pt x="858" y="2610"/>
                  </a:lnTo>
                  <a:lnTo>
                    <a:pt x="858" y="2616"/>
                  </a:lnTo>
                  <a:lnTo>
                    <a:pt x="858" y="2604"/>
                  </a:lnTo>
                  <a:lnTo>
                    <a:pt x="864" y="2604"/>
                  </a:lnTo>
                  <a:lnTo>
                    <a:pt x="864" y="2598"/>
                  </a:lnTo>
                  <a:lnTo>
                    <a:pt x="870" y="2598"/>
                  </a:lnTo>
                  <a:lnTo>
                    <a:pt x="876" y="2604"/>
                  </a:lnTo>
                  <a:lnTo>
                    <a:pt x="876" y="2610"/>
                  </a:lnTo>
                  <a:lnTo>
                    <a:pt x="882" y="2616"/>
                  </a:lnTo>
                  <a:lnTo>
                    <a:pt x="888" y="2616"/>
                  </a:lnTo>
                  <a:lnTo>
                    <a:pt x="882" y="2622"/>
                  </a:lnTo>
                  <a:lnTo>
                    <a:pt x="888" y="2622"/>
                  </a:lnTo>
                  <a:lnTo>
                    <a:pt x="888" y="2616"/>
                  </a:lnTo>
                  <a:lnTo>
                    <a:pt x="888" y="2610"/>
                  </a:lnTo>
                  <a:lnTo>
                    <a:pt x="888" y="2604"/>
                  </a:lnTo>
                  <a:lnTo>
                    <a:pt x="888" y="2598"/>
                  </a:lnTo>
                  <a:lnTo>
                    <a:pt x="888" y="2592"/>
                  </a:lnTo>
                  <a:lnTo>
                    <a:pt x="888" y="2586"/>
                  </a:lnTo>
                  <a:lnTo>
                    <a:pt x="894" y="2586"/>
                  </a:lnTo>
                  <a:lnTo>
                    <a:pt x="894" y="2580"/>
                  </a:lnTo>
                  <a:lnTo>
                    <a:pt x="900" y="2580"/>
                  </a:lnTo>
                  <a:lnTo>
                    <a:pt x="900" y="2574"/>
                  </a:lnTo>
                  <a:lnTo>
                    <a:pt x="906" y="2574"/>
                  </a:lnTo>
                  <a:lnTo>
                    <a:pt x="906" y="2568"/>
                  </a:lnTo>
                  <a:lnTo>
                    <a:pt x="912" y="2568"/>
                  </a:lnTo>
                  <a:lnTo>
                    <a:pt x="918" y="2568"/>
                  </a:lnTo>
                  <a:lnTo>
                    <a:pt x="924" y="2568"/>
                  </a:lnTo>
                  <a:lnTo>
                    <a:pt x="924" y="2562"/>
                  </a:lnTo>
                  <a:lnTo>
                    <a:pt x="930" y="2562"/>
                  </a:lnTo>
                  <a:lnTo>
                    <a:pt x="930" y="2556"/>
                  </a:lnTo>
                  <a:lnTo>
                    <a:pt x="936" y="2556"/>
                  </a:lnTo>
                  <a:lnTo>
                    <a:pt x="942" y="2556"/>
                  </a:lnTo>
                  <a:lnTo>
                    <a:pt x="948" y="2556"/>
                  </a:lnTo>
                  <a:lnTo>
                    <a:pt x="948" y="2562"/>
                  </a:lnTo>
                  <a:lnTo>
                    <a:pt x="954" y="2562"/>
                  </a:lnTo>
                  <a:lnTo>
                    <a:pt x="960" y="2562"/>
                  </a:lnTo>
                  <a:lnTo>
                    <a:pt x="966" y="2556"/>
                  </a:lnTo>
                  <a:lnTo>
                    <a:pt x="972" y="2556"/>
                  </a:lnTo>
                  <a:lnTo>
                    <a:pt x="972" y="2562"/>
                  </a:lnTo>
                  <a:lnTo>
                    <a:pt x="978" y="2562"/>
                  </a:lnTo>
                  <a:lnTo>
                    <a:pt x="978" y="2568"/>
                  </a:lnTo>
                  <a:lnTo>
                    <a:pt x="984" y="2568"/>
                  </a:lnTo>
                  <a:lnTo>
                    <a:pt x="990" y="2568"/>
                  </a:lnTo>
                  <a:lnTo>
                    <a:pt x="996" y="2568"/>
                  </a:lnTo>
                  <a:lnTo>
                    <a:pt x="1002" y="2568"/>
                  </a:lnTo>
                  <a:lnTo>
                    <a:pt x="1002" y="2562"/>
                  </a:lnTo>
                  <a:lnTo>
                    <a:pt x="1008" y="2562"/>
                  </a:lnTo>
                  <a:lnTo>
                    <a:pt x="1008" y="2556"/>
                  </a:lnTo>
                  <a:lnTo>
                    <a:pt x="1008" y="2550"/>
                  </a:lnTo>
                  <a:lnTo>
                    <a:pt x="1014" y="2544"/>
                  </a:lnTo>
                  <a:lnTo>
                    <a:pt x="1008" y="2544"/>
                  </a:lnTo>
                  <a:lnTo>
                    <a:pt x="1002" y="2544"/>
                  </a:lnTo>
                  <a:lnTo>
                    <a:pt x="996" y="2544"/>
                  </a:lnTo>
                  <a:lnTo>
                    <a:pt x="1002" y="2544"/>
                  </a:lnTo>
                  <a:lnTo>
                    <a:pt x="1008" y="2538"/>
                  </a:lnTo>
                  <a:lnTo>
                    <a:pt x="1014" y="2538"/>
                  </a:lnTo>
                  <a:lnTo>
                    <a:pt x="1020" y="2538"/>
                  </a:lnTo>
                  <a:lnTo>
                    <a:pt x="1026" y="2538"/>
                  </a:lnTo>
                  <a:lnTo>
                    <a:pt x="1026" y="2532"/>
                  </a:lnTo>
                  <a:lnTo>
                    <a:pt x="1032" y="2532"/>
                  </a:lnTo>
                  <a:lnTo>
                    <a:pt x="1038" y="2526"/>
                  </a:lnTo>
                  <a:lnTo>
                    <a:pt x="1044" y="2526"/>
                  </a:lnTo>
                  <a:lnTo>
                    <a:pt x="1050" y="2526"/>
                  </a:lnTo>
                  <a:lnTo>
                    <a:pt x="1050" y="2520"/>
                  </a:lnTo>
                  <a:lnTo>
                    <a:pt x="1056" y="2520"/>
                  </a:lnTo>
                  <a:lnTo>
                    <a:pt x="1068" y="2514"/>
                  </a:lnTo>
                  <a:lnTo>
                    <a:pt x="1074" y="2514"/>
                  </a:lnTo>
                  <a:lnTo>
                    <a:pt x="1080" y="2514"/>
                  </a:lnTo>
                  <a:lnTo>
                    <a:pt x="1080" y="2508"/>
                  </a:lnTo>
                  <a:lnTo>
                    <a:pt x="1086" y="2514"/>
                  </a:lnTo>
                  <a:lnTo>
                    <a:pt x="1092" y="2514"/>
                  </a:lnTo>
                  <a:lnTo>
                    <a:pt x="1086" y="2514"/>
                  </a:lnTo>
                  <a:lnTo>
                    <a:pt x="1080" y="2514"/>
                  </a:lnTo>
                  <a:lnTo>
                    <a:pt x="1080" y="2520"/>
                  </a:lnTo>
                  <a:lnTo>
                    <a:pt x="1074" y="2520"/>
                  </a:lnTo>
                  <a:lnTo>
                    <a:pt x="1080" y="2520"/>
                  </a:lnTo>
                  <a:lnTo>
                    <a:pt x="1080" y="2526"/>
                  </a:lnTo>
                  <a:lnTo>
                    <a:pt x="1086" y="2526"/>
                  </a:lnTo>
                  <a:lnTo>
                    <a:pt x="1092" y="2532"/>
                  </a:lnTo>
                  <a:lnTo>
                    <a:pt x="1098" y="2532"/>
                  </a:lnTo>
                  <a:lnTo>
                    <a:pt x="1098" y="2538"/>
                  </a:lnTo>
                  <a:lnTo>
                    <a:pt x="1110" y="2544"/>
                  </a:lnTo>
                  <a:lnTo>
                    <a:pt x="1122" y="2550"/>
                  </a:lnTo>
                  <a:lnTo>
                    <a:pt x="1128" y="2550"/>
                  </a:lnTo>
                  <a:lnTo>
                    <a:pt x="1134" y="2550"/>
                  </a:lnTo>
                  <a:lnTo>
                    <a:pt x="1140" y="2550"/>
                  </a:lnTo>
                  <a:lnTo>
                    <a:pt x="1146" y="2550"/>
                  </a:lnTo>
                  <a:lnTo>
                    <a:pt x="1146" y="2544"/>
                  </a:lnTo>
                  <a:lnTo>
                    <a:pt x="1152" y="2544"/>
                  </a:lnTo>
                  <a:lnTo>
                    <a:pt x="1152" y="2538"/>
                  </a:lnTo>
                  <a:lnTo>
                    <a:pt x="1158" y="2532"/>
                  </a:lnTo>
                  <a:lnTo>
                    <a:pt x="1158" y="2526"/>
                  </a:lnTo>
                  <a:lnTo>
                    <a:pt x="1164" y="2526"/>
                  </a:lnTo>
                  <a:lnTo>
                    <a:pt x="1164" y="2520"/>
                  </a:lnTo>
                  <a:lnTo>
                    <a:pt x="1164" y="2514"/>
                  </a:lnTo>
                  <a:lnTo>
                    <a:pt x="1164" y="2508"/>
                  </a:lnTo>
                  <a:lnTo>
                    <a:pt x="1164" y="2502"/>
                  </a:lnTo>
                  <a:lnTo>
                    <a:pt x="1164" y="2496"/>
                  </a:lnTo>
                  <a:lnTo>
                    <a:pt x="1164" y="2490"/>
                  </a:lnTo>
                  <a:lnTo>
                    <a:pt x="1158" y="2490"/>
                  </a:lnTo>
                  <a:lnTo>
                    <a:pt x="1158" y="2496"/>
                  </a:lnTo>
                  <a:lnTo>
                    <a:pt x="1152" y="2496"/>
                  </a:lnTo>
                  <a:lnTo>
                    <a:pt x="1152" y="2490"/>
                  </a:lnTo>
                  <a:lnTo>
                    <a:pt x="1152" y="2484"/>
                  </a:lnTo>
                  <a:lnTo>
                    <a:pt x="1152" y="2478"/>
                  </a:lnTo>
                  <a:lnTo>
                    <a:pt x="1146" y="2472"/>
                  </a:lnTo>
                  <a:lnTo>
                    <a:pt x="1146" y="2466"/>
                  </a:lnTo>
                  <a:lnTo>
                    <a:pt x="1140" y="2460"/>
                  </a:lnTo>
                  <a:lnTo>
                    <a:pt x="1140" y="2454"/>
                  </a:lnTo>
                  <a:lnTo>
                    <a:pt x="1134" y="2454"/>
                  </a:lnTo>
                  <a:lnTo>
                    <a:pt x="1134" y="2448"/>
                  </a:lnTo>
                  <a:lnTo>
                    <a:pt x="1134" y="2442"/>
                  </a:lnTo>
                  <a:lnTo>
                    <a:pt x="1134" y="2436"/>
                  </a:lnTo>
                  <a:lnTo>
                    <a:pt x="1128" y="2436"/>
                  </a:lnTo>
                  <a:lnTo>
                    <a:pt x="1134" y="2436"/>
                  </a:lnTo>
                  <a:lnTo>
                    <a:pt x="1128" y="2430"/>
                  </a:lnTo>
                  <a:lnTo>
                    <a:pt x="1134" y="2430"/>
                  </a:lnTo>
                  <a:lnTo>
                    <a:pt x="1134" y="2424"/>
                  </a:lnTo>
                  <a:lnTo>
                    <a:pt x="1140" y="2424"/>
                  </a:lnTo>
                  <a:lnTo>
                    <a:pt x="1146" y="2424"/>
                  </a:lnTo>
                  <a:lnTo>
                    <a:pt x="1152" y="2424"/>
                  </a:lnTo>
                  <a:lnTo>
                    <a:pt x="1152" y="2418"/>
                  </a:lnTo>
                  <a:lnTo>
                    <a:pt x="1152" y="2412"/>
                  </a:lnTo>
                  <a:lnTo>
                    <a:pt x="1152" y="2418"/>
                  </a:lnTo>
                  <a:lnTo>
                    <a:pt x="1158" y="2418"/>
                  </a:lnTo>
                  <a:lnTo>
                    <a:pt x="1158" y="2412"/>
                  </a:lnTo>
                  <a:lnTo>
                    <a:pt x="1158" y="2406"/>
                  </a:lnTo>
                  <a:lnTo>
                    <a:pt x="1152" y="2406"/>
                  </a:lnTo>
                  <a:lnTo>
                    <a:pt x="1158" y="2400"/>
                  </a:lnTo>
                  <a:lnTo>
                    <a:pt x="1158" y="2394"/>
                  </a:lnTo>
                  <a:lnTo>
                    <a:pt x="1164" y="2400"/>
                  </a:lnTo>
                  <a:lnTo>
                    <a:pt x="1164" y="2394"/>
                  </a:lnTo>
                  <a:lnTo>
                    <a:pt x="1164" y="2400"/>
                  </a:lnTo>
                  <a:lnTo>
                    <a:pt x="1170" y="2400"/>
                  </a:lnTo>
                  <a:lnTo>
                    <a:pt x="1170" y="2394"/>
                  </a:lnTo>
                  <a:lnTo>
                    <a:pt x="1176" y="2400"/>
                  </a:lnTo>
                  <a:lnTo>
                    <a:pt x="1182" y="2400"/>
                  </a:lnTo>
                  <a:lnTo>
                    <a:pt x="1182" y="2406"/>
                  </a:lnTo>
                  <a:lnTo>
                    <a:pt x="1188" y="2406"/>
                  </a:lnTo>
                  <a:lnTo>
                    <a:pt x="1194" y="2412"/>
                  </a:lnTo>
                  <a:lnTo>
                    <a:pt x="1200" y="2412"/>
                  </a:lnTo>
                  <a:lnTo>
                    <a:pt x="1200" y="2406"/>
                  </a:lnTo>
                  <a:lnTo>
                    <a:pt x="1200" y="2412"/>
                  </a:lnTo>
                  <a:lnTo>
                    <a:pt x="1206" y="2412"/>
                  </a:lnTo>
                  <a:lnTo>
                    <a:pt x="1212" y="2412"/>
                  </a:lnTo>
                  <a:lnTo>
                    <a:pt x="1218" y="2412"/>
                  </a:lnTo>
                  <a:lnTo>
                    <a:pt x="1224" y="2412"/>
                  </a:lnTo>
                  <a:lnTo>
                    <a:pt x="1230" y="2412"/>
                  </a:lnTo>
                  <a:lnTo>
                    <a:pt x="1236" y="2412"/>
                  </a:lnTo>
                  <a:lnTo>
                    <a:pt x="1242" y="2412"/>
                  </a:lnTo>
                  <a:lnTo>
                    <a:pt x="1248" y="2418"/>
                  </a:lnTo>
                  <a:lnTo>
                    <a:pt x="1254" y="2418"/>
                  </a:lnTo>
                  <a:lnTo>
                    <a:pt x="1260" y="2418"/>
                  </a:lnTo>
                  <a:lnTo>
                    <a:pt x="1266" y="2418"/>
                  </a:lnTo>
                  <a:lnTo>
                    <a:pt x="1266" y="2424"/>
                  </a:lnTo>
                  <a:lnTo>
                    <a:pt x="1272" y="2424"/>
                  </a:lnTo>
                  <a:lnTo>
                    <a:pt x="1278" y="2424"/>
                  </a:lnTo>
                  <a:lnTo>
                    <a:pt x="1284" y="2430"/>
                  </a:lnTo>
                  <a:lnTo>
                    <a:pt x="1290" y="2430"/>
                  </a:lnTo>
                  <a:lnTo>
                    <a:pt x="1296" y="2430"/>
                  </a:lnTo>
                  <a:lnTo>
                    <a:pt x="1296" y="2436"/>
                  </a:lnTo>
                  <a:lnTo>
                    <a:pt x="1302" y="2436"/>
                  </a:lnTo>
                  <a:lnTo>
                    <a:pt x="1308" y="2436"/>
                  </a:lnTo>
                  <a:lnTo>
                    <a:pt x="1314" y="2442"/>
                  </a:lnTo>
                  <a:lnTo>
                    <a:pt x="1320" y="2448"/>
                  </a:lnTo>
                  <a:lnTo>
                    <a:pt x="1326" y="2454"/>
                  </a:lnTo>
                  <a:lnTo>
                    <a:pt x="1332" y="2460"/>
                  </a:lnTo>
                  <a:lnTo>
                    <a:pt x="1344" y="2466"/>
                  </a:lnTo>
                  <a:lnTo>
                    <a:pt x="1350" y="2478"/>
                  </a:lnTo>
                  <a:lnTo>
                    <a:pt x="1344" y="2472"/>
                  </a:lnTo>
                  <a:lnTo>
                    <a:pt x="1344" y="2478"/>
                  </a:lnTo>
                  <a:lnTo>
                    <a:pt x="1338" y="2472"/>
                  </a:lnTo>
                  <a:lnTo>
                    <a:pt x="1338" y="2478"/>
                  </a:lnTo>
                  <a:lnTo>
                    <a:pt x="1344" y="2478"/>
                  </a:lnTo>
                  <a:lnTo>
                    <a:pt x="1338" y="2478"/>
                  </a:lnTo>
                  <a:lnTo>
                    <a:pt x="1344" y="2478"/>
                  </a:lnTo>
                  <a:lnTo>
                    <a:pt x="1344" y="2484"/>
                  </a:lnTo>
                  <a:lnTo>
                    <a:pt x="1338" y="2484"/>
                  </a:lnTo>
                  <a:lnTo>
                    <a:pt x="1338" y="2490"/>
                  </a:lnTo>
                  <a:lnTo>
                    <a:pt x="1338" y="2496"/>
                  </a:lnTo>
                  <a:lnTo>
                    <a:pt x="1338" y="2502"/>
                  </a:lnTo>
                  <a:lnTo>
                    <a:pt x="1332" y="2502"/>
                  </a:lnTo>
                  <a:lnTo>
                    <a:pt x="1332" y="2508"/>
                  </a:lnTo>
                  <a:lnTo>
                    <a:pt x="1326" y="2508"/>
                  </a:lnTo>
                  <a:lnTo>
                    <a:pt x="1332" y="2514"/>
                  </a:lnTo>
                  <a:lnTo>
                    <a:pt x="1332" y="2520"/>
                  </a:lnTo>
                  <a:lnTo>
                    <a:pt x="1332" y="2526"/>
                  </a:lnTo>
                  <a:lnTo>
                    <a:pt x="1338" y="2526"/>
                  </a:lnTo>
                  <a:lnTo>
                    <a:pt x="1344" y="2520"/>
                  </a:lnTo>
                  <a:lnTo>
                    <a:pt x="1344" y="2526"/>
                  </a:lnTo>
                  <a:lnTo>
                    <a:pt x="1350" y="2526"/>
                  </a:lnTo>
                  <a:lnTo>
                    <a:pt x="1344" y="2526"/>
                  </a:lnTo>
                  <a:lnTo>
                    <a:pt x="1350" y="2526"/>
                  </a:lnTo>
                  <a:lnTo>
                    <a:pt x="1350" y="2532"/>
                  </a:lnTo>
                  <a:lnTo>
                    <a:pt x="1356" y="2532"/>
                  </a:lnTo>
                  <a:lnTo>
                    <a:pt x="1362" y="2532"/>
                  </a:lnTo>
                  <a:lnTo>
                    <a:pt x="1368" y="2532"/>
                  </a:lnTo>
                  <a:lnTo>
                    <a:pt x="1368" y="2538"/>
                  </a:lnTo>
                  <a:lnTo>
                    <a:pt x="1368" y="2544"/>
                  </a:lnTo>
                  <a:lnTo>
                    <a:pt x="1374" y="2544"/>
                  </a:lnTo>
                  <a:lnTo>
                    <a:pt x="1374" y="2550"/>
                  </a:lnTo>
                  <a:lnTo>
                    <a:pt x="1368" y="2550"/>
                  </a:lnTo>
                  <a:lnTo>
                    <a:pt x="1374" y="2556"/>
                  </a:lnTo>
                  <a:lnTo>
                    <a:pt x="1374" y="2562"/>
                  </a:lnTo>
                  <a:lnTo>
                    <a:pt x="1380" y="2562"/>
                  </a:lnTo>
                  <a:lnTo>
                    <a:pt x="1380" y="2568"/>
                  </a:lnTo>
                  <a:lnTo>
                    <a:pt x="1380" y="2574"/>
                  </a:lnTo>
                  <a:lnTo>
                    <a:pt x="1374" y="2574"/>
                  </a:lnTo>
                  <a:lnTo>
                    <a:pt x="1374" y="2580"/>
                  </a:lnTo>
                  <a:lnTo>
                    <a:pt x="1368" y="2580"/>
                  </a:lnTo>
                  <a:lnTo>
                    <a:pt x="1368" y="2586"/>
                  </a:lnTo>
                  <a:lnTo>
                    <a:pt x="1362" y="2586"/>
                  </a:lnTo>
                  <a:lnTo>
                    <a:pt x="1356" y="2586"/>
                  </a:lnTo>
                  <a:lnTo>
                    <a:pt x="1356" y="2580"/>
                  </a:lnTo>
                  <a:lnTo>
                    <a:pt x="1356" y="2586"/>
                  </a:lnTo>
                  <a:lnTo>
                    <a:pt x="1356" y="2580"/>
                  </a:lnTo>
                  <a:lnTo>
                    <a:pt x="1350" y="2580"/>
                  </a:lnTo>
                  <a:lnTo>
                    <a:pt x="1344" y="2586"/>
                  </a:lnTo>
                  <a:lnTo>
                    <a:pt x="1338" y="2586"/>
                  </a:lnTo>
                  <a:lnTo>
                    <a:pt x="1338" y="2592"/>
                  </a:lnTo>
                  <a:lnTo>
                    <a:pt x="1332" y="2592"/>
                  </a:lnTo>
                  <a:lnTo>
                    <a:pt x="1332" y="2598"/>
                  </a:lnTo>
                  <a:lnTo>
                    <a:pt x="1332" y="2604"/>
                  </a:lnTo>
                  <a:lnTo>
                    <a:pt x="1332" y="2610"/>
                  </a:lnTo>
                  <a:lnTo>
                    <a:pt x="1326" y="2610"/>
                  </a:lnTo>
                  <a:lnTo>
                    <a:pt x="1320" y="2610"/>
                  </a:lnTo>
                  <a:lnTo>
                    <a:pt x="1320" y="2616"/>
                  </a:lnTo>
                  <a:lnTo>
                    <a:pt x="1326" y="2616"/>
                  </a:lnTo>
                  <a:lnTo>
                    <a:pt x="1320" y="2616"/>
                  </a:lnTo>
                  <a:lnTo>
                    <a:pt x="1320" y="2622"/>
                  </a:lnTo>
                  <a:lnTo>
                    <a:pt x="1314" y="2622"/>
                  </a:lnTo>
                  <a:lnTo>
                    <a:pt x="1308" y="2622"/>
                  </a:lnTo>
                  <a:lnTo>
                    <a:pt x="1308" y="2628"/>
                  </a:lnTo>
                  <a:lnTo>
                    <a:pt x="1302" y="2628"/>
                  </a:lnTo>
                  <a:lnTo>
                    <a:pt x="1296" y="2628"/>
                  </a:lnTo>
                  <a:lnTo>
                    <a:pt x="1296" y="2634"/>
                  </a:lnTo>
                  <a:lnTo>
                    <a:pt x="1302" y="2634"/>
                  </a:lnTo>
                  <a:lnTo>
                    <a:pt x="1302" y="2640"/>
                  </a:lnTo>
                  <a:lnTo>
                    <a:pt x="1296" y="2640"/>
                  </a:lnTo>
                  <a:lnTo>
                    <a:pt x="1302" y="2646"/>
                  </a:lnTo>
                  <a:lnTo>
                    <a:pt x="1308" y="2646"/>
                  </a:lnTo>
                  <a:lnTo>
                    <a:pt x="1302" y="2646"/>
                  </a:lnTo>
                  <a:lnTo>
                    <a:pt x="1302" y="2652"/>
                  </a:lnTo>
                  <a:lnTo>
                    <a:pt x="1302" y="2658"/>
                  </a:lnTo>
                  <a:lnTo>
                    <a:pt x="1296" y="2658"/>
                  </a:lnTo>
                  <a:lnTo>
                    <a:pt x="1296" y="2652"/>
                  </a:lnTo>
                  <a:lnTo>
                    <a:pt x="1296" y="2658"/>
                  </a:lnTo>
                  <a:lnTo>
                    <a:pt x="1290" y="2658"/>
                  </a:lnTo>
                  <a:lnTo>
                    <a:pt x="1290" y="2664"/>
                  </a:lnTo>
                  <a:lnTo>
                    <a:pt x="1296" y="2664"/>
                  </a:lnTo>
                  <a:lnTo>
                    <a:pt x="1296" y="2670"/>
                  </a:lnTo>
                  <a:lnTo>
                    <a:pt x="1290" y="2670"/>
                  </a:lnTo>
                  <a:lnTo>
                    <a:pt x="1290" y="2664"/>
                  </a:lnTo>
                  <a:lnTo>
                    <a:pt x="1290" y="2670"/>
                  </a:lnTo>
                  <a:lnTo>
                    <a:pt x="1284" y="2670"/>
                  </a:lnTo>
                  <a:lnTo>
                    <a:pt x="1278" y="2664"/>
                  </a:lnTo>
                  <a:lnTo>
                    <a:pt x="1272" y="2664"/>
                  </a:lnTo>
                  <a:lnTo>
                    <a:pt x="1272" y="2670"/>
                  </a:lnTo>
                  <a:lnTo>
                    <a:pt x="1266" y="2670"/>
                  </a:lnTo>
                  <a:lnTo>
                    <a:pt x="1266" y="2676"/>
                  </a:lnTo>
                  <a:lnTo>
                    <a:pt x="1260" y="2676"/>
                  </a:lnTo>
                  <a:lnTo>
                    <a:pt x="1254" y="2682"/>
                  </a:lnTo>
                  <a:lnTo>
                    <a:pt x="1254" y="2688"/>
                  </a:lnTo>
                  <a:lnTo>
                    <a:pt x="1260" y="2688"/>
                  </a:lnTo>
                  <a:lnTo>
                    <a:pt x="1254" y="2688"/>
                  </a:lnTo>
                  <a:lnTo>
                    <a:pt x="1254" y="2694"/>
                  </a:lnTo>
                  <a:lnTo>
                    <a:pt x="1248" y="2694"/>
                  </a:lnTo>
                  <a:lnTo>
                    <a:pt x="1254" y="2694"/>
                  </a:lnTo>
                  <a:lnTo>
                    <a:pt x="1254" y="2700"/>
                  </a:lnTo>
                  <a:lnTo>
                    <a:pt x="1248" y="2700"/>
                  </a:lnTo>
                  <a:lnTo>
                    <a:pt x="1254" y="2712"/>
                  </a:lnTo>
                  <a:lnTo>
                    <a:pt x="1206" y="2742"/>
                  </a:lnTo>
                  <a:lnTo>
                    <a:pt x="1200" y="2742"/>
                  </a:lnTo>
                  <a:lnTo>
                    <a:pt x="1200" y="2748"/>
                  </a:lnTo>
                  <a:lnTo>
                    <a:pt x="1200" y="2754"/>
                  </a:lnTo>
                  <a:lnTo>
                    <a:pt x="1194" y="2754"/>
                  </a:lnTo>
                  <a:lnTo>
                    <a:pt x="1200" y="2754"/>
                  </a:lnTo>
                  <a:lnTo>
                    <a:pt x="1194" y="2754"/>
                  </a:lnTo>
                  <a:lnTo>
                    <a:pt x="1188" y="2754"/>
                  </a:lnTo>
                  <a:lnTo>
                    <a:pt x="1182" y="2754"/>
                  </a:lnTo>
                  <a:lnTo>
                    <a:pt x="1164" y="2754"/>
                  </a:lnTo>
                  <a:lnTo>
                    <a:pt x="1122" y="2754"/>
                  </a:lnTo>
                  <a:lnTo>
                    <a:pt x="1062" y="2754"/>
                  </a:lnTo>
                  <a:lnTo>
                    <a:pt x="972" y="2754"/>
                  </a:lnTo>
                  <a:lnTo>
                    <a:pt x="876" y="2754"/>
                  </a:lnTo>
                  <a:lnTo>
                    <a:pt x="834" y="2754"/>
                  </a:lnTo>
                  <a:lnTo>
                    <a:pt x="804" y="2754"/>
                  </a:lnTo>
                  <a:lnTo>
                    <a:pt x="774" y="2748"/>
                  </a:lnTo>
                  <a:lnTo>
                    <a:pt x="768" y="2748"/>
                  </a:lnTo>
                  <a:lnTo>
                    <a:pt x="762" y="2748"/>
                  </a:lnTo>
                  <a:lnTo>
                    <a:pt x="756" y="2748"/>
                  </a:lnTo>
                  <a:lnTo>
                    <a:pt x="756" y="2754"/>
                  </a:lnTo>
                  <a:lnTo>
                    <a:pt x="750" y="2754"/>
                  </a:lnTo>
                  <a:lnTo>
                    <a:pt x="744" y="2754"/>
                  </a:lnTo>
                  <a:lnTo>
                    <a:pt x="750" y="2754"/>
                  </a:lnTo>
                  <a:lnTo>
                    <a:pt x="744" y="2754"/>
                  </a:lnTo>
                  <a:lnTo>
                    <a:pt x="750" y="2754"/>
                  </a:lnTo>
                  <a:lnTo>
                    <a:pt x="750" y="2760"/>
                  </a:lnTo>
                  <a:lnTo>
                    <a:pt x="744" y="2760"/>
                  </a:lnTo>
                  <a:lnTo>
                    <a:pt x="744" y="2766"/>
                  </a:lnTo>
                  <a:lnTo>
                    <a:pt x="744" y="2760"/>
                  </a:lnTo>
                  <a:lnTo>
                    <a:pt x="738" y="2760"/>
                  </a:lnTo>
                  <a:lnTo>
                    <a:pt x="738" y="2754"/>
                  </a:lnTo>
                  <a:lnTo>
                    <a:pt x="738" y="2760"/>
                  </a:lnTo>
                  <a:lnTo>
                    <a:pt x="732" y="2760"/>
                  </a:lnTo>
                  <a:lnTo>
                    <a:pt x="732" y="2766"/>
                  </a:lnTo>
                  <a:lnTo>
                    <a:pt x="732" y="2772"/>
                  </a:lnTo>
                  <a:lnTo>
                    <a:pt x="666" y="2826"/>
                  </a:lnTo>
                  <a:lnTo>
                    <a:pt x="612" y="2856"/>
                  </a:lnTo>
                  <a:lnTo>
                    <a:pt x="612" y="2928"/>
                  </a:lnTo>
                  <a:lnTo>
                    <a:pt x="618" y="2952"/>
                  </a:lnTo>
                  <a:lnTo>
                    <a:pt x="642" y="2946"/>
                  </a:lnTo>
                  <a:lnTo>
                    <a:pt x="648" y="2958"/>
                  </a:lnTo>
                  <a:lnTo>
                    <a:pt x="672" y="2994"/>
                  </a:lnTo>
                  <a:lnTo>
                    <a:pt x="678" y="3000"/>
                  </a:lnTo>
                  <a:lnTo>
                    <a:pt x="672" y="3030"/>
                  </a:lnTo>
                  <a:lnTo>
                    <a:pt x="654" y="3024"/>
                  </a:lnTo>
                  <a:lnTo>
                    <a:pt x="636" y="3024"/>
                  </a:lnTo>
                  <a:lnTo>
                    <a:pt x="636" y="3036"/>
                  </a:lnTo>
                  <a:lnTo>
                    <a:pt x="612" y="3030"/>
                  </a:lnTo>
                  <a:lnTo>
                    <a:pt x="612" y="3048"/>
                  </a:lnTo>
                  <a:lnTo>
                    <a:pt x="594" y="3048"/>
                  </a:lnTo>
                  <a:lnTo>
                    <a:pt x="588" y="3060"/>
                  </a:lnTo>
                  <a:lnTo>
                    <a:pt x="576" y="3060"/>
                  </a:lnTo>
                  <a:lnTo>
                    <a:pt x="576" y="3054"/>
                  </a:lnTo>
                  <a:lnTo>
                    <a:pt x="576" y="3048"/>
                  </a:lnTo>
                  <a:lnTo>
                    <a:pt x="540" y="3048"/>
                  </a:lnTo>
                  <a:lnTo>
                    <a:pt x="504" y="3054"/>
                  </a:lnTo>
                  <a:lnTo>
                    <a:pt x="498" y="3060"/>
                  </a:lnTo>
                  <a:lnTo>
                    <a:pt x="492" y="3060"/>
                  </a:lnTo>
                  <a:lnTo>
                    <a:pt x="474" y="3054"/>
                  </a:lnTo>
                  <a:lnTo>
                    <a:pt x="462" y="3060"/>
                  </a:lnTo>
                  <a:lnTo>
                    <a:pt x="450" y="3066"/>
                  </a:lnTo>
                  <a:lnTo>
                    <a:pt x="462" y="3078"/>
                  </a:lnTo>
                  <a:lnTo>
                    <a:pt x="474" y="3090"/>
                  </a:lnTo>
                  <a:lnTo>
                    <a:pt x="480" y="3090"/>
                  </a:lnTo>
                  <a:lnTo>
                    <a:pt x="486" y="3090"/>
                  </a:lnTo>
                  <a:lnTo>
                    <a:pt x="498" y="3096"/>
                  </a:lnTo>
                  <a:lnTo>
                    <a:pt x="516" y="3108"/>
                  </a:lnTo>
                  <a:lnTo>
                    <a:pt x="516" y="3114"/>
                  </a:lnTo>
                  <a:lnTo>
                    <a:pt x="522" y="3120"/>
                  </a:lnTo>
                  <a:lnTo>
                    <a:pt x="522" y="3126"/>
                  </a:lnTo>
                  <a:lnTo>
                    <a:pt x="528" y="3132"/>
                  </a:lnTo>
                  <a:lnTo>
                    <a:pt x="522" y="3138"/>
                  </a:lnTo>
                  <a:lnTo>
                    <a:pt x="522" y="3144"/>
                  </a:lnTo>
                  <a:lnTo>
                    <a:pt x="522" y="3150"/>
                  </a:lnTo>
                  <a:lnTo>
                    <a:pt x="522" y="3156"/>
                  </a:lnTo>
                  <a:lnTo>
                    <a:pt x="528" y="3156"/>
                  </a:lnTo>
                  <a:lnTo>
                    <a:pt x="528" y="3162"/>
                  </a:lnTo>
                  <a:lnTo>
                    <a:pt x="534" y="3162"/>
                  </a:lnTo>
                  <a:lnTo>
                    <a:pt x="540" y="3174"/>
                  </a:lnTo>
                  <a:lnTo>
                    <a:pt x="552" y="3174"/>
                  </a:lnTo>
                  <a:lnTo>
                    <a:pt x="552" y="3180"/>
                  </a:lnTo>
                  <a:lnTo>
                    <a:pt x="546" y="3192"/>
                  </a:lnTo>
                  <a:lnTo>
                    <a:pt x="528" y="3204"/>
                  </a:lnTo>
                  <a:lnTo>
                    <a:pt x="534" y="3222"/>
                  </a:lnTo>
                  <a:lnTo>
                    <a:pt x="534" y="3252"/>
                  </a:lnTo>
                  <a:lnTo>
                    <a:pt x="546" y="3252"/>
                  </a:lnTo>
                  <a:lnTo>
                    <a:pt x="546" y="3270"/>
                  </a:lnTo>
                  <a:lnTo>
                    <a:pt x="558" y="3270"/>
                  </a:lnTo>
                  <a:lnTo>
                    <a:pt x="558" y="3252"/>
                  </a:lnTo>
                  <a:lnTo>
                    <a:pt x="576" y="3252"/>
                  </a:lnTo>
                  <a:lnTo>
                    <a:pt x="588" y="3258"/>
                  </a:lnTo>
                  <a:lnTo>
                    <a:pt x="588" y="3240"/>
                  </a:lnTo>
                  <a:lnTo>
                    <a:pt x="582" y="3240"/>
                  </a:lnTo>
                  <a:lnTo>
                    <a:pt x="588" y="3216"/>
                  </a:lnTo>
                  <a:lnTo>
                    <a:pt x="600" y="3216"/>
                  </a:lnTo>
                  <a:lnTo>
                    <a:pt x="606" y="3198"/>
                  </a:lnTo>
                  <a:lnTo>
                    <a:pt x="648" y="3210"/>
                  </a:lnTo>
                  <a:lnTo>
                    <a:pt x="636" y="3270"/>
                  </a:lnTo>
                  <a:lnTo>
                    <a:pt x="630" y="3270"/>
                  </a:lnTo>
                  <a:lnTo>
                    <a:pt x="630" y="3276"/>
                  </a:lnTo>
                  <a:lnTo>
                    <a:pt x="618" y="3318"/>
                  </a:lnTo>
                  <a:lnTo>
                    <a:pt x="636" y="3324"/>
                  </a:lnTo>
                  <a:lnTo>
                    <a:pt x="642" y="3324"/>
                  </a:lnTo>
                  <a:lnTo>
                    <a:pt x="636" y="3342"/>
                  </a:lnTo>
                  <a:lnTo>
                    <a:pt x="636" y="3348"/>
                  </a:lnTo>
                  <a:lnTo>
                    <a:pt x="630" y="3366"/>
                  </a:lnTo>
                  <a:lnTo>
                    <a:pt x="624" y="3366"/>
                  </a:lnTo>
                  <a:lnTo>
                    <a:pt x="618" y="3372"/>
                  </a:lnTo>
                  <a:lnTo>
                    <a:pt x="612" y="3372"/>
                  </a:lnTo>
                  <a:lnTo>
                    <a:pt x="594" y="3378"/>
                  </a:lnTo>
                  <a:lnTo>
                    <a:pt x="594" y="3396"/>
                  </a:lnTo>
                  <a:close/>
                  <a:moveTo>
                    <a:pt x="732" y="2130"/>
                  </a:moveTo>
                  <a:lnTo>
                    <a:pt x="726" y="2124"/>
                  </a:lnTo>
                  <a:lnTo>
                    <a:pt x="732" y="2124"/>
                  </a:lnTo>
                  <a:lnTo>
                    <a:pt x="732" y="2112"/>
                  </a:lnTo>
                  <a:lnTo>
                    <a:pt x="732" y="2106"/>
                  </a:lnTo>
                  <a:lnTo>
                    <a:pt x="732" y="2100"/>
                  </a:lnTo>
                  <a:lnTo>
                    <a:pt x="732" y="2094"/>
                  </a:lnTo>
                  <a:lnTo>
                    <a:pt x="738" y="2088"/>
                  </a:lnTo>
                  <a:lnTo>
                    <a:pt x="738" y="2082"/>
                  </a:lnTo>
                  <a:lnTo>
                    <a:pt x="744" y="2082"/>
                  </a:lnTo>
                  <a:lnTo>
                    <a:pt x="744" y="2076"/>
                  </a:lnTo>
                  <a:lnTo>
                    <a:pt x="750" y="2076"/>
                  </a:lnTo>
                  <a:lnTo>
                    <a:pt x="750" y="2082"/>
                  </a:lnTo>
                  <a:lnTo>
                    <a:pt x="756" y="2082"/>
                  </a:lnTo>
                  <a:lnTo>
                    <a:pt x="762" y="2082"/>
                  </a:lnTo>
                  <a:lnTo>
                    <a:pt x="762" y="2076"/>
                  </a:lnTo>
                  <a:lnTo>
                    <a:pt x="768" y="2076"/>
                  </a:lnTo>
                  <a:lnTo>
                    <a:pt x="768" y="2082"/>
                  </a:lnTo>
                  <a:lnTo>
                    <a:pt x="762" y="2082"/>
                  </a:lnTo>
                  <a:lnTo>
                    <a:pt x="768" y="2082"/>
                  </a:lnTo>
                  <a:lnTo>
                    <a:pt x="762" y="2088"/>
                  </a:lnTo>
                  <a:lnTo>
                    <a:pt x="768" y="2088"/>
                  </a:lnTo>
                  <a:lnTo>
                    <a:pt x="768" y="2082"/>
                  </a:lnTo>
                  <a:lnTo>
                    <a:pt x="768" y="2088"/>
                  </a:lnTo>
                  <a:lnTo>
                    <a:pt x="768" y="2082"/>
                  </a:lnTo>
                  <a:lnTo>
                    <a:pt x="768" y="2088"/>
                  </a:lnTo>
                  <a:lnTo>
                    <a:pt x="774" y="2088"/>
                  </a:lnTo>
                  <a:lnTo>
                    <a:pt x="774" y="2082"/>
                  </a:lnTo>
                  <a:lnTo>
                    <a:pt x="774" y="2076"/>
                  </a:lnTo>
                  <a:lnTo>
                    <a:pt x="774" y="2070"/>
                  </a:lnTo>
                  <a:lnTo>
                    <a:pt x="780" y="2076"/>
                  </a:lnTo>
                  <a:lnTo>
                    <a:pt x="780" y="2082"/>
                  </a:lnTo>
                  <a:lnTo>
                    <a:pt x="780" y="2076"/>
                  </a:lnTo>
                  <a:lnTo>
                    <a:pt x="780" y="2070"/>
                  </a:lnTo>
                  <a:lnTo>
                    <a:pt x="774" y="2070"/>
                  </a:lnTo>
                  <a:lnTo>
                    <a:pt x="774" y="2064"/>
                  </a:lnTo>
                  <a:lnTo>
                    <a:pt x="780" y="2064"/>
                  </a:lnTo>
                  <a:lnTo>
                    <a:pt x="780" y="2070"/>
                  </a:lnTo>
                  <a:lnTo>
                    <a:pt x="780" y="2064"/>
                  </a:lnTo>
                  <a:lnTo>
                    <a:pt x="780" y="2058"/>
                  </a:lnTo>
                  <a:lnTo>
                    <a:pt x="774" y="2058"/>
                  </a:lnTo>
                  <a:lnTo>
                    <a:pt x="780" y="2058"/>
                  </a:lnTo>
                  <a:lnTo>
                    <a:pt x="786" y="2064"/>
                  </a:lnTo>
                  <a:lnTo>
                    <a:pt x="786" y="2058"/>
                  </a:lnTo>
                  <a:lnTo>
                    <a:pt x="780" y="2058"/>
                  </a:lnTo>
                  <a:lnTo>
                    <a:pt x="780" y="2052"/>
                  </a:lnTo>
                  <a:lnTo>
                    <a:pt x="786" y="2052"/>
                  </a:lnTo>
                  <a:lnTo>
                    <a:pt x="786" y="2058"/>
                  </a:lnTo>
                  <a:lnTo>
                    <a:pt x="786" y="2052"/>
                  </a:lnTo>
                  <a:lnTo>
                    <a:pt x="786" y="2046"/>
                  </a:lnTo>
                  <a:lnTo>
                    <a:pt x="780" y="2046"/>
                  </a:lnTo>
                  <a:lnTo>
                    <a:pt x="780" y="2040"/>
                  </a:lnTo>
                  <a:lnTo>
                    <a:pt x="780" y="2046"/>
                  </a:lnTo>
                  <a:lnTo>
                    <a:pt x="786" y="2046"/>
                  </a:lnTo>
                  <a:lnTo>
                    <a:pt x="792" y="2046"/>
                  </a:lnTo>
                  <a:lnTo>
                    <a:pt x="786" y="2046"/>
                  </a:lnTo>
                  <a:lnTo>
                    <a:pt x="786" y="2040"/>
                  </a:lnTo>
                  <a:lnTo>
                    <a:pt x="792" y="2040"/>
                  </a:lnTo>
                  <a:lnTo>
                    <a:pt x="786" y="2034"/>
                  </a:lnTo>
                  <a:lnTo>
                    <a:pt x="792" y="2034"/>
                  </a:lnTo>
                  <a:lnTo>
                    <a:pt x="792" y="2028"/>
                  </a:lnTo>
                  <a:lnTo>
                    <a:pt x="786" y="2028"/>
                  </a:lnTo>
                  <a:lnTo>
                    <a:pt x="792" y="2028"/>
                  </a:lnTo>
                  <a:lnTo>
                    <a:pt x="786" y="2028"/>
                  </a:lnTo>
                  <a:lnTo>
                    <a:pt x="786" y="2022"/>
                  </a:lnTo>
                  <a:lnTo>
                    <a:pt x="792" y="2022"/>
                  </a:lnTo>
                  <a:lnTo>
                    <a:pt x="792" y="2028"/>
                  </a:lnTo>
                  <a:lnTo>
                    <a:pt x="792" y="2022"/>
                  </a:lnTo>
                  <a:lnTo>
                    <a:pt x="792" y="2028"/>
                  </a:lnTo>
                  <a:lnTo>
                    <a:pt x="792" y="2022"/>
                  </a:lnTo>
                  <a:lnTo>
                    <a:pt x="798" y="2022"/>
                  </a:lnTo>
                  <a:lnTo>
                    <a:pt x="792" y="2022"/>
                  </a:lnTo>
                  <a:lnTo>
                    <a:pt x="798" y="2016"/>
                  </a:lnTo>
                  <a:lnTo>
                    <a:pt x="798" y="2010"/>
                  </a:lnTo>
                  <a:lnTo>
                    <a:pt x="792" y="2016"/>
                  </a:lnTo>
                  <a:lnTo>
                    <a:pt x="786" y="2016"/>
                  </a:lnTo>
                  <a:lnTo>
                    <a:pt x="792" y="2016"/>
                  </a:lnTo>
                  <a:lnTo>
                    <a:pt x="792" y="2010"/>
                  </a:lnTo>
                  <a:lnTo>
                    <a:pt x="792" y="2004"/>
                  </a:lnTo>
                  <a:lnTo>
                    <a:pt x="786" y="2004"/>
                  </a:lnTo>
                  <a:lnTo>
                    <a:pt x="792" y="2004"/>
                  </a:lnTo>
                  <a:lnTo>
                    <a:pt x="792" y="1998"/>
                  </a:lnTo>
                  <a:lnTo>
                    <a:pt x="786" y="1998"/>
                  </a:lnTo>
                  <a:lnTo>
                    <a:pt x="780" y="1998"/>
                  </a:lnTo>
                  <a:lnTo>
                    <a:pt x="780" y="1992"/>
                  </a:lnTo>
                  <a:lnTo>
                    <a:pt x="774" y="1992"/>
                  </a:lnTo>
                  <a:lnTo>
                    <a:pt x="774" y="1986"/>
                  </a:lnTo>
                  <a:lnTo>
                    <a:pt x="774" y="1980"/>
                  </a:lnTo>
                  <a:lnTo>
                    <a:pt x="780" y="1974"/>
                  </a:lnTo>
                  <a:lnTo>
                    <a:pt x="780" y="1968"/>
                  </a:lnTo>
                  <a:lnTo>
                    <a:pt x="786" y="1968"/>
                  </a:lnTo>
                  <a:lnTo>
                    <a:pt x="786" y="1962"/>
                  </a:lnTo>
                  <a:lnTo>
                    <a:pt x="792" y="1962"/>
                  </a:lnTo>
                  <a:lnTo>
                    <a:pt x="798" y="1962"/>
                  </a:lnTo>
                  <a:lnTo>
                    <a:pt x="798" y="1956"/>
                  </a:lnTo>
                  <a:lnTo>
                    <a:pt x="798" y="1962"/>
                  </a:lnTo>
                  <a:lnTo>
                    <a:pt x="804" y="1962"/>
                  </a:lnTo>
                  <a:lnTo>
                    <a:pt x="810" y="1962"/>
                  </a:lnTo>
                  <a:lnTo>
                    <a:pt x="810" y="1956"/>
                  </a:lnTo>
                  <a:lnTo>
                    <a:pt x="804" y="1956"/>
                  </a:lnTo>
                  <a:lnTo>
                    <a:pt x="804" y="1950"/>
                  </a:lnTo>
                  <a:lnTo>
                    <a:pt x="804" y="1944"/>
                  </a:lnTo>
                  <a:lnTo>
                    <a:pt x="810" y="1944"/>
                  </a:lnTo>
                  <a:lnTo>
                    <a:pt x="816" y="1944"/>
                  </a:lnTo>
                  <a:lnTo>
                    <a:pt x="816" y="1938"/>
                  </a:lnTo>
                  <a:lnTo>
                    <a:pt x="810" y="1938"/>
                  </a:lnTo>
                  <a:lnTo>
                    <a:pt x="816" y="1938"/>
                  </a:lnTo>
                  <a:lnTo>
                    <a:pt x="810" y="1938"/>
                  </a:lnTo>
                  <a:lnTo>
                    <a:pt x="810" y="1932"/>
                  </a:lnTo>
                  <a:lnTo>
                    <a:pt x="810" y="1938"/>
                  </a:lnTo>
                  <a:lnTo>
                    <a:pt x="810" y="1932"/>
                  </a:lnTo>
                  <a:lnTo>
                    <a:pt x="810" y="1926"/>
                  </a:lnTo>
                  <a:lnTo>
                    <a:pt x="810" y="1920"/>
                  </a:lnTo>
                  <a:lnTo>
                    <a:pt x="816" y="1914"/>
                  </a:lnTo>
                  <a:lnTo>
                    <a:pt x="816" y="1908"/>
                  </a:lnTo>
                  <a:lnTo>
                    <a:pt x="822" y="1908"/>
                  </a:lnTo>
                  <a:lnTo>
                    <a:pt x="828" y="1908"/>
                  </a:lnTo>
                  <a:lnTo>
                    <a:pt x="834" y="1902"/>
                  </a:lnTo>
                  <a:lnTo>
                    <a:pt x="840" y="1902"/>
                  </a:lnTo>
                  <a:lnTo>
                    <a:pt x="840" y="1896"/>
                  </a:lnTo>
                  <a:lnTo>
                    <a:pt x="840" y="1902"/>
                  </a:lnTo>
                  <a:lnTo>
                    <a:pt x="846" y="1902"/>
                  </a:lnTo>
                  <a:lnTo>
                    <a:pt x="846" y="1896"/>
                  </a:lnTo>
                  <a:lnTo>
                    <a:pt x="846" y="1902"/>
                  </a:lnTo>
                  <a:lnTo>
                    <a:pt x="852" y="1902"/>
                  </a:lnTo>
                  <a:lnTo>
                    <a:pt x="858" y="1902"/>
                  </a:lnTo>
                  <a:lnTo>
                    <a:pt x="864" y="1896"/>
                  </a:lnTo>
                  <a:lnTo>
                    <a:pt x="864" y="1902"/>
                  </a:lnTo>
                  <a:lnTo>
                    <a:pt x="864" y="1896"/>
                  </a:lnTo>
                  <a:lnTo>
                    <a:pt x="864" y="1902"/>
                  </a:lnTo>
                  <a:lnTo>
                    <a:pt x="870" y="1902"/>
                  </a:lnTo>
                  <a:lnTo>
                    <a:pt x="870" y="1896"/>
                  </a:lnTo>
                  <a:lnTo>
                    <a:pt x="864" y="1896"/>
                  </a:lnTo>
                  <a:lnTo>
                    <a:pt x="864" y="1890"/>
                  </a:lnTo>
                  <a:lnTo>
                    <a:pt x="870" y="1890"/>
                  </a:lnTo>
                  <a:lnTo>
                    <a:pt x="870" y="1884"/>
                  </a:lnTo>
                  <a:lnTo>
                    <a:pt x="864" y="1884"/>
                  </a:lnTo>
                  <a:lnTo>
                    <a:pt x="864" y="1890"/>
                  </a:lnTo>
                  <a:lnTo>
                    <a:pt x="858" y="1896"/>
                  </a:lnTo>
                  <a:lnTo>
                    <a:pt x="852" y="1896"/>
                  </a:lnTo>
                  <a:lnTo>
                    <a:pt x="852" y="1890"/>
                  </a:lnTo>
                  <a:lnTo>
                    <a:pt x="846" y="1890"/>
                  </a:lnTo>
                  <a:lnTo>
                    <a:pt x="846" y="1884"/>
                  </a:lnTo>
                  <a:lnTo>
                    <a:pt x="852" y="1884"/>
                  </a:lnTo>
                  <a:lnTo>
                    <a:pt x="852" y="1878"/>
                  </a:lnTo>
                  <a:lnTo>
                    <a:pt x="852" y="1884"/>
                  </a:lnTo>
                  <a:lnTo>
                    <a:pt x="858" y="1884"/>
                  </a:lnTo>
                  <a:lnTo>
                    <a:pt x="858" y="1878"/>
                  </a:lnTo>
                  <a:lnTo>
                    <a:pt x="864" y="1878"/>
                  </a:lnTo>
                  <a:lnTo>
                    <a:pt x="864" y="1872"/>
                  </a:lnTo>
                  <a:lnTo>
                    <a:pt x="870" y="1872"/>
                  </a:lnTo>
                  <a:lnTo>
                    <a:pt x="870" y="1866"/>
                  </a:lnTo>
                  <a:lnTo>
                    <a:pt x="864" y="1866"/>
                  </a:lnTo>
                  <a:lnTo>
                    <a:pt x="864" y="1872"/>
                  </a:lnTo>
                  <a:lnTo>
                    <a:pt x="858" y="1872"/>
                  </a:lnTo>
                  <a:lnTo>
                    <a:pt x="858" y="1866"/>
                  </a:lnTo>
                  <a:lnTo>
                    <a:pt x="864" y="1860"/>
                  </a:lnTo>
                  <a:lnTo>
                    <a:pt x="864" y="1854"/>
                  </a:lnTo>
                  <a:lnTo>
                    <a:pt x="870" y="1848"/>
                  </a:lnTo>
                  <a:lnTo>
                    <a:pt x="876" y="1848"/>
                  </a:lnTo>
                  <a:lnTo>
                    <a:pt x="876" y="1842"/>
                  </a:lnTo>
                  <a:lnTo>
                    <a:pt x="882" y="1842"/>
                  </a:lnTo>
                  <a:lnTo>
                    <a:pt x="888" y="1842"/>
                  </a:lnTo>
                  <a:lnTo>
                    <a:pt x="894" y="1836"/>
                  </a:lnTo>
                  <a:lnTo>
                    <a:pt x="900" y="1836"/>
                  </a:lnTo>
                  <a:lnTo>
                    <a:pt x="894" y="1830"/>
                  </a:lnTo>
                  <a:lnTo>
                    <a:pt x="888" y="1836"/>
                  </a:lnTo>
                  <a:lnTo>
                    <a:pt x="882" y="1836"/>
                  </a:lnTo>
                  <a:lnTo>
                    <a:pt x="888" y="1836"/>
                  </a:lnTo>
                  <a:lnTo>
                    <a:pt x="888" y="1830"/>
                  </a:lnTo>
                  <a:lnTo>
                    <a:pt x="882" y="1830"/>
                  </a:lnTo>
                  <a:lnTo>
                    <a:pt x="882" y="1836"/>
                  </a:lnTo>
                  <a:lnTo>
                    <a:pt x="876" y="1836"/>
                  </a:lnTo>
                  <a:lnTo>
                    <a:pt x="876" y="1830"/>
                  </a:lnTo>
                  <a:lnTo>
                    <a:pt x="876" y="1836"/>
                  </a:lnTo>
                  <a:lnTo>
                    <a:pt x="870" y="1836"/>
                  </a:lnTo>
                  <a:lnTo>
                    <a:pt x="864" y="1836"/>
                  </a:lnTo>
                  <a:lnTo>
                    <a:pt x="864" y="1842"/>
                  </a:lnTo>
                  <a:lnTo>
                    <a:pt x="864" y="1848"/>
                  </a:lnTo>
                  <a:lnTo>
                    <a:pt x="858" y="1848"/>
                  </a:lnTo>
                  <a:lnTo>
                    <a:pt x="852" y="1842"/>
                  </a:lnTo>
                  <a:lnTo>
                    <a:pt x="852" y="1848"/>
                  </a:lnTo>
                  <a:lnTo>
                    <a:pt x="846" y="1848"/>
                  </a:lnTo>
                  <a:lnTo>
                    <a:pt x="846" y="1842"/>
                  </a:lnTo>
                  <a:lnTo>
                    <a:pt x="846" y="1836"/>
                  </a:lnTo>
                  <a:lnTo>
                    <a:pt x="840" y="1836"/>
                  </a:lnTo>
                  <a:lnTo>
                    <a:pt x="840" y="1830"/>
                  </a:lnTo>
                  <a:lnTo>
                    <a:pt x="834" y="1830"/>
                  </a:lnTo>
                  <a:lnTo>
                    <a:pt x="828" y="1824"/>
                  </a:lnTo>
                  <a:lnTo>
                    <a:pt x="834" y="1818"/>
                  </a:lnTo>
                  <a:lnTo>
                    <a:pt x="840" y="1824"/>
                  </a:lnTo>
                  <a:lnTo>
                    <a:pt x="846" y="1818"/>
                  </a:lnTo>
                  <a:lnTo>
                    <a:pt x="846" y="1812"/>
                  </a:lnTo>
                  <a:lnTo>
                    <a:pt x="852" y="1812"/>
                  </a:lnTo>
                  <a:lnTo>
                    <a:pt x="846" y="1812"/>
                  </a:lnTo>
                  <a:lnTo>
                    <a:pt x="852" y="1806"/>
                  </a:lnTo>
                  <a:lnTo>
                    <a:pt x="858" y="1800"/>
                  </a:lnTo>
                  <a:lnTo>
                    <a:pt x="864" y="1794"/>
                  </a:lnTo>
                  <a:lnTo>
                    <a:pt x="870" y="1794"/>
                  </a:lnTo>
                  <a:lnTo>
                    <a:pt x="876" y="1794"/>
                  </a:lnTo>
                  <a:lnTo>
                    <a:pt x="876" y="1788"/>
                  </a:lnTo>
                  <a:lnTo>
                    <a:pt x="882" y="1788"/>
                  </a:lnTo>
                  <a:lnTo>
                    <a:pt x="882" y="1794"/>
                  </a:lnTo>
                  <a:lnTo>
                    <a:pt x="888" y="1794"/>
                  </a:lnTo>
                  <a:lnTo>
                    <a:pt x="888" y="1788"/>
                  </a:lnTo>
                  <a:lnTo>
                    <a:pt x="882" y="1788"/>
                  </a:lnTo>
                  <a:lnTo>
                    <a:pt x="876" y="1788"/>
                  </a:lnTo>
                  <a:lnTo>
                    <a:pt x="876" y="1782"/>
                  </a:lnTo>
                  <a:lnTo>
                    <a:pt x="876" y="1776"/>
                  </a:lnTo>
                  <a:lnTo>
                    <a:pt x="882" y="1770"/>
                  </a:lnTo>
                  <a:lnTo>
                    <a:pt x="882" y="1764"/>
                  </a:lnTo>
                  <a:lnTo>
                    <a:pt x="888" y="1764"/>
                  </a:lnTo>
                  <a:lnTo>
                    <a:pt x="888" y="1758"/>
                  </a:lnTo>
                  <a:lnTo>
                    <a:pt x="894" y="1758"/>
                  </a:lnTo>
                  <a:lnTo>
                    <a:pt x="900" y="1758"/>
                  </a:lnTo>
                  <a:lnTo>
                    <a:pt x="906" y="1758"/>
                  </a:lnTo>
                  <a:lnTo>
                    <a:pt x="906" y="1764"/>
                  </a:lnTo>
                  <a:lnTo>
                    <a:pt x="912" y="1764"/>
                  </a:lnTo>
                  <a:lnTo>
                    <a:pt x="918" y="1764"/>
                  </a:lnTo>
                  <a:lnTo>
                    <a:pt x="924" y="1764"/>
                  </a:lnTo>
                  <a:lnTo>
                    <a:pt x="918" y="1770"/>
                  </a:lnTo>
                  <a:lnTo>
                    <a:pt x="924" y="1770"/>
                  </a:lnTo>
                  <a:lnTo>
                    <a:pt x="924" y="1764"/>
                  </a:lnTo>
                  <a:lnTo>
                    <a:pt x="924" y="1770"/>
                  </a:lnTo>
                  <a:lnTo>
                    <a:pt x="930" y="1770"/>
                  </a:lnTo>
                  <a:lnTo>
                    <a:pt x="930" y="1764"/>
                  </a:lnTo>
                  <a:lnTo>
                    <a:pt x="924" y="1764"/>
                  </a:lnTo>
                  <a:lnTo>
                    <a:pt x="924" y="1758"/>
                  </a:lnTo>
                  <a:lnTo>
                    <a:pt x="924" y="1752"/>
                  </a:lnTo>
                  <a:lnTo>
                    <a:pt x="918" y="1752"/>
                  </a:lnTo>
                  <a:lnTo>
                    <a:pt x="912" y="1752"/>
                  </a:lnTo>
                  <a:lnTo>
                    <a:pt x="906" y="1746"/>
                  </a:lnTo>
                  <a:lnTo>
                    <a:pt x="900" y="1746"/>
                  </a:lnTo>
                  <a:lnTo>
                    <a:pt x="900" y="1740"/>
                  </a:lnTo>
                  <a:lnTo>
                    <a:pt x="906" y="1734"/>
                  </a:lnTo>
                  <a:lnTo>
                    <a:pt x="906" y="1740"/>
                  </a:lnTo>
                  <a:lnTo>
                    <a:pt x="912" y="1740"/>
                  </a:lnTo>
                  <a:lnTo>
                    <a:pt x="918" y="1740"/>
                  </a:lnTo>
                  <a:lnTo>
                    <a:pt x="918" y="1734"/>
                  </a:lnTo>
                  <a:lnTo>
                    <a:pt x="924" y="1734"/>
                  </a:lnTo>
                  <a:lnTo>
                    <a:pt x="924" y="1740"/>
                  </a:lnTo>
                  <a:lnTo>
                    <a:pt x="930" y="1734"/>
                  </a:lnTo>
                  <a:lnTo>
                    <a:pt x="930" y="1740"/>
                  </a:lnTo>
                  <a:lnTo>
                    <a:pt x="930" y="1734"/>
                  </a:lnTo>
                  <a:lnTo>
                    <a:pt x="924" y="1734"/>
                  </a:lnTo>
                  <a:lnTo>
                    <a:pt x="924" y="1728"/>
                  </a:lnTo>
                  <a:lnTo>
                    <a:pt x="924" y="1734"/>
                  </a:lnTo>
                  <a:lnTo>
                    <a:pt x="918" y="1734"/>
                  </a:lnTo>
                  <a:lnTo>
                    <a:pt x="918" y="1728"/>
                  </a:lnTo>
                  <a:lnTo>
                    <a:pt x="912" y="1728"/>
                  </a:lnTo>
                  <a:lnTo>
                    <a:pt x="912" y="1722"/>
                  </a:lnTo>
                  <a:lnTo>
                    <a:pt x="912" y="1728"/>
                  </a:lnTo>
                  <a:lnTo>
                    <a:pt x="912" y="1722"/>
                  </a:lnTo>
                  <a:lnTo>
                    <a:pt x="906" y="1722"/>
                  </a:lnTo>
                  <a:lnTo>
                    <a:pt x="912" y="1716"/>
                  </a:lnTo>
                  <a:lnTo>
                    <a:pt x="912" y="1710"/>
                  </a:lnTo>
                  <a:lnTo>
                    <a:pt x="912" y="1716"/>
                  </a:lnTo>
                  <a:lnTo>
                    <a:pt x="918" y="1716"/>
                  </a:lnTo>
                  <a:lnTo>
                    <a:pt x="918" y="1710"/>
                  </a:lnTo>
                  <a:lnTo>
                    <a:pt x="924" y="1710"/>
                  </a:lnTo>
                  <a:lnTo>
                    <a:pt x="930" y="1710"/>
                  </a:lnTo>
                  <a:lnTo>
                    <a:pt x="936" y="1710"/>
                  </a:lnTo>
                  <a:lnTo>
                    <a:pt x="942" y="1710"/>
                  </a:lnTo>
                  <a:lnTo>
                    <a:pt x="942" y="1704"/>
                  </a:lnTo>
                  <a:lnTo>
                    <a:pt x="948" y="1704"/>
                  </a:lnTo>
                  <a:lnTo>
                    <a:pt x="948" y="1698"/>
                  </a:lnTo>
                  <a:lnTo>
                    <a:pt x="948" y="1704"/>
                  </a:lnTo>
                  <a:lnTo>
                    <a:pt x="942" y="1704"/>
                  </a:lnTo>
                  <a:lnTo>
                    <a:pt x="936" y="1704"/>
                  </a:lnTo>
                  <a:lnTo>
                    <a:pt x="936" y="1698"/>
                  </a:lnTo>
                  <a:lnTo>
                    <a:pt x="942" y="1698"/>
                  </a:lnTo>
                  <a:lnTo>
                    <a:pt x="942" y="1692"/>
                  </a:lnTo>
                  <a:lnTo>
                    <a:pt x="936" y="1692"/>
                  </a:lnTo>
                  <a:lnTo>
                    <a:pt x="930" y="1692"/>
                  </a:lnTo>
                  <a:lnTo>
                    <a:pt x="930" y="1698"/>
                  </a:lnTo>
                  <a:lnTo>
                    <a:pt x="924" y="1698"/>
                  </a:lnTo>
                  <a:lnTo>
                    <a:pt x="924" y="1692"/>
                  </a:lnTo>
                  <a:lnTo>
                    <a:pt x="918" y="1692"/>
                  </a:lnTo>
                  <a:lnTo>
                    <a:pt x="918" y="1686"/>
                  </a:lnTo>
                  <a:lnTo>
                    <a:pt x="918" y="1680"/>
                  </a:lnTo>
                  <a:lnTo>
                    <a:pt x="918" y="1674"/>
                  </a:lnTo>
                  <a:lnTo>
                    <a:pt x="924" y="1674"/>
                  </a:lnTo>
                  <a:lnTo>
                    <a:pt x="930" y="1668"/>
                  </a:lnTo>
                  <a:lnTo>
                    <a:pt x="936" y="1668"/>
                  </a:lnTo>
                  <a:lnTo>
                    <a:pt x="936" y="1674"/>
                  </a:lnTo>
                  <a:lnTo>
                    <a:pt x="942" y="1674"/>
                  </a:lnTo>
                  <a:lnTo>
                    <a:pt x="942" y="1668"/>
                  </a:lnTo>
                  <a:lnTo>
                    <a:pt x="948" y="1668"/>
                  </a:lnTo>
                  <a:lnTo>
                    <a:pt x="954" y="1668"/>
                  </a:lnTo>
                  <a:lnTo>
                    <a:pt x="954" y="1662"/>
                  </a:lnTo>
                  <a:lnTo>
                    <a:pt x="960" y="1662"/>
                  </a:lnTo>
                  <a:lnTo>
                    <a:pt x="960" y="1668"/>
                  </a:lnTo>
                  <a:lnTo>
                    <a:pt x="966" y="1668"/>
                  </a:lnTo>
                  <a:lnTo>
                    <a:pt x="966" y="1674"/>
                  </a:lnTo>
                  <a:lnTo>
                    <a:pt x="972" y="1674"/>
                  </a:lnTo>
                  <a:lnTo>
                    <a:pt x="972" y="1668"/>
                  </a:lnTo>
                  <a:lnTo>
                    <a:pt x="966" y="1668"/>
                  </a:lnTo>
                  <a:lnTo>
                    <a:pt x="966" y="1662"/>
                  </a:lnTo>
                  <a:lnTo>
                    <a:pt x="966" y="1656"/>
                  </a:lnTo>
                  <a:lnTo>
                    <a:pt x="960" y="1656"/>
                  </a:lnTo>
                  <a:lnTo>
                    <a:pt x="960" y="1650"/>
                  </a:lnTo>
                  <a:lnTo>
                    <a:pt x="966" y="1656"/>
                  </a:lnTo>
                  <a:lnTo>
                    <a:pt x="966" y="1650"/>
                  </a:lnTo>
                  <a:lnTo>
                    <a:pt x="960" y="1650"/>
                  </a:lnTo>
                  <a:lnTo>
                    <a:pt x="954" y="1650"/>
                  </a:lnTo>
                  <a:lnTo>
                    <a:pt x="948" y="1650"/>
                  </a:lnTo>
                  <a:lnTo>
                    <a:pt x="942" y="1650"/>
                  </a:lnTo>
                  <a:lnTo>
                    <a:pt x="942" y="1656"/>
                  </a:lnTo>
                  <a:lnTo>
                    <a:pt x="936" y="1650"/>
                  </a:lnTo>
                  <a:lnTo>
                    <a:pt x="930" y="1650"/>
                  </a:lnTo>
                  <a:lnTo>
                    <a:pt x="930" y="1644"/>
                  </a:lnTo>
                  <a:lnTo>
                    <a:pt x="936" y="1644"/>
                  </a:lnTo>
                  <a:lnTo>
                    <a:pt x="936" y="1638"/>
                  </a:lnTo>
                  <a:lnTo>
                    <a:pt x="942" y="1638"/>
                  </a:lnTo>
                  <a:lnTo>
                    <a:pt x="948" y="1632"/>
                  </a:lnTo>
                  <a:lnTo>
                    <a:pt x="954" y="1632"/>
                  </a:lnTo>
                  <a:lnTo>
                    <a:pt x="954" y="1626"/>
                  </a:lnTo>
                  <a:lnTo>
                    <a:pt x="954" y="1632"/>
                  </a:lnTo>
                  <a:lnTo>
                    <a:pt x="960" y="1632"/>
                  </a:lnTo>
                  <a:lnTo>
                    <a:pt x="960" y="1626"/>
                  </a:lnTo>
                  <a:lnTo>
                    <a:pt x="966" y="1626"/>
                  </a:lnTo>
                  <a:lnTo>
                    <a:pt x="972" y="1626"/>
                  </a:lnTo>
                  <a:lnTo>
                    <a:pt x="972" y="1620"/>
                  </a:lnTo>
                  <a:lnTo>
                    <a:pt x="966" y="1620"/>
                  </a:lnTo>
                  <a:lnTo>
                    <a:pt x="960" y="1620"/>
                  </a:lnTo>
                  <a:lnTo>
                    <a:pt x="960" y="1626"/>
                  </a:lnTo>
                  <a:lnTo>
                    <a:pt x="954" y="1626"/>
                  </a:lnTo>
                  <a:lnTo>
                    <a:pt x="954" y="1620"/>
                  </a:lnTo>
                  <a:lnTo>
                    <a:pt x="954" y="1614"/>
                  </a:lnTo>
                  <a:lnTo>
                    <a:pt x="960" y="1614"/>
                  </a:lnTo>
                  <a:lnTo>
                    <a:pt x="960" y="1608"/>
                  </a:lnTo>
                  <a:lnTo>
                    <a:pt x="954" y="1608"/>
                  </a:lnTo>
                  <a:lnTo>
                    <a:pt x="948" y="1614"/>
                  </a:lnTo>
                  <a:lnTo>
                    <a:pt x="942" y="1614"/>
                  </a:lnTo>
                  <a:lnTo>
                    <a:pt x="936" y="1614"/>
                  </a:lnTo>
                  <a:lnTo>
                    <a:pt x="936" y="1608"/>
                  </a:lnTo>
                  <a:lnTo>
                    <a:pt x="936" y="1602"/>
                  </a:lnTo>
                  <a:lnTo>
                    <a:pt x="936" y="1596"/>
                  </a:lnTo>
                  <a:lnTo>
                    <a:pt x="930" y="1596"/>
                  </a:lnTo>
                  <a:lnTo>
                    <a:pt x="930" y="1602"/>
                  </a:lnTo>
                  <a:lnTo>
                    <a:pt x="930" y="1596"/>
                  </a:lnTo>
                  <a:lnTo>
                    <a:pt x="930" y="1590"/>
                  </a:lnTo>
                  <a:lnTo>
                    <a:pt x="930" y="1584"/>
                  </a:lnTo>
                  <a:lnTo>
                    <a:pt x="936" y="1578"/>
                  </a:lnTo>
                  <a:lnTo>
                    <a:pt x="942" y="1578"/>
                  </a:lnTo>
                  <a:lnTo>
                    <a:pt x="942" y="1584"/>
                  </a:lnTo>
                  <a:lnTo>
                    <a:pt x="948" y="1584"/>
                  </a:lnTo>
                  <a:lnTo>
                    <a:pt x="948" y="1578"/>
                  </a:lnTo>
                  <a:lnTo>
                    <a:pt x="948" y="1584"/>
                  </a:lnTo>
                  <a:lnTo>
                    <a:pt x="954" y="1584"/>
                  </a:lnTo>
                  <a:lnTo>
                    <a:pt x="954" y="1578"/>
                  </a:lnTo>
                  <a:lnTo>
                    <a:pt x="954" y="1584"/>
                  </a:lnTo>
                  <a:lnTo>
                    <a:pt x="960" y="1590"/>
                  </a:lnTo>
                  <a:lnTo>
                    <a:pt x="960" y="1596"/>
                  </a:lnTo>
                  <a:lnTo>
                    <a:pt x="960" y="1602"/>
                  </a:lnTo>
                  <a:lnTo>
                    <a:pt x="966" y="1596"/>
                  </a:lnTo>
                  <a:lnTo>
                    <a:pt x="966" y="1590"/>
                  </a:lnTo>
                  <a:lnTo>
                    <a:pt x="972" y="1584"/>
                  </a:lnTo>
                  <a:lnTo>
                    <a:pt x="972" y="1578"/>
                  </a:lnTo>
                  <a:lnTo>
                    <a:pt x="978" y="1578"/>
                  </a:lnTo>
                  <a:lnTo>
                    <a:pt x="978" y="1572"/>
                  </a:lnTo>
                  <a:lnTo>
                    <a:pt x="984" y="1572"/>
                  </a:lnTo>
                  <a:lnTo>
                    <a:pt x="984" y="1566"/>
                  </a:lnTo>
                  <a:lnTo>
                    <a:pt x="978" y="1566"/>
                  </a:lnTo>
                  <a:lnTo>
                    <a:pt x="984" y="1566"/>
                  </a:lnTo>
                  <a:lnTo>
                    <a:pt x="978" y="1566"/>
                  </a:lnTo>
                  <a:lnTo>
                    <a:pt x="972" y="1566"/>
                  </a:lnTo>
                  <a:lnTo>
                    <a:pt x="972" y="1560"/>
                  </a:lnTo>
                  <a:lnTo>
                    <a:pt x="972" y="1554"/>
                  </a:lnTo>
                  <a:lnTo>
                    <a:pt x="978" y="1548"/>
                  </a:lnTo>
                  <a:lnTo>
                    <a:pt x="984" y="1548"/>
                  </a:lnTo>
                  <a:lnTo>
                    <a:pt x="984" y="1542"/>
                  </a:lnTo>
                  <a:lnTo>
                    <a:pt x="990" y="1548"/>
                  </a:lnTo>
                  <a:lnTo>
                    <a:pt x="996" y="1548"/>
                  </a:lnTo>
                  <a:lnTo>
                    <a:pt x="1002" y="1548"/>
                  </a:lnTo>
                  <a:lnTo>
                    <a:pt x="1002" y="1554"/>
                  </a:lnTo>
                  <a:lnTo>
                    <a:pt x="1008" y="1554"/>
                  </a:lnTo>
                  <a:lnTo>
                    <a:pt x="1014" y="1554"/>
                  </a:lnTo>
                  <a:lnTo>
                    <a:pt x="1020" y="1554"/>
                  </a:lnTo>
                  <a:lnTo>
                    <a:pt x="1026" y="1554"/>
                  </a:lnTo>
                  <a:lnTo>
                    <a:pt x="1026" y="1548"/>
                  </a:lnTo>
                  <a:lnTo>
                    <a:pt x="1020" y="1548"/>
                  </a:lnTo>
                  <a:lnTo>
                    <a:pt x="1014" y="1542"/>
                  </a:lnTo>
                  <a:lnTo>
                    <a:pt x="1020" y="1542"/>
                  </a:lnTo>
                  <a:lnTo>
                    <a:pt x="1020" y="1536"/>
                  </a:lnTo>
                  <a:lnTo>
                    <a:pt x="1014" y="1536"/>
                  </a:lnTo>
                  <a:lnTo>
                    <a:pt x="1014" y="1530"/>
                  </a:lnTo>
                  <a:lnTo>
                    <a:pt x="1008" y="1524"/>
                  </a:lnTo>
                  <a:lnTo>
                    <a:pt x="1014" y="1524"/>
                  </a:lnTo>
                  <a:lnTo>
                    <a:pt x="1014" y="1518"/>
                  </a:lnTo>
                  <a:lnTo>
                    <a:pt x="1020" y="1518"/>
                  </a:lnTo>
                  <a:lnTo>
                    <a:pt x="1026" y="1518"/>
                  </a:lnTo>
                  <a:lnTo>
                    <a:pt x="1026" y="1512"/>
                  </a:lnTo>
                  <a:lnTo>
                    <a:pt x="1032" y="1512"/>
                  </a:lnTo>
                  <a:lnTo>
                    <a:pt x="1038" y="1512"/>
                  </a:lnTo>
                  <a:lnTo>
                    <a:pt x="1044" y="1506"/>
                  </a:lnTo>
                  <a:lnTo>
                    <a:pt x="1038" y="1500"/>
                  </a:lnTo>
                  <a:lnTo>
                    <a:pt x="1032" y="1500"/>
                  </a:lnTo>
                  <a:lnTo>
                    <a:pt x="1026" y="1500"/>
                  </a:lnTo>
                  <a:lnTo>
                    <a:pt x="1032" y="1494"/>
                  </a:lnTo>
                  <a:lnTo>
                    <a:pt x="1032" y="1488"/>
                  </a:lnTo>
                  <a:lnTo>
                    <a:pt x="1032" y="1494"/>
                  </a:lnTo>
                  <a:lnTo>
                    <a:pt x="1038" y="1494"/>
                  </a:lnTo>
                  <a:lnTo>
                    <a:pt x="1038" y="1488"/>
                  </a:lnTo>
                  <a:lnTo>
                    <a:pt x="1038" y="1494"/>
                  </a:lnTo>
                  <a:lnTo>
                    <a:pt x="1044" y="1488"/>
                  </a:lnTo>
                  <a:lnTo>
                    <a:pt x="1050" y="1488"/>
                  </a:lnTo>
                  <a:lnTo>
                    <a:pt x="1050" y="1482"/>
                  </a:lnTo>
                  <a:lnTo>
                    <a:pt x="1056" y="1482"/>
                  </a:lnTo>
                  <a:lnTo>
                    <a:pt x="1062" y="1482"/>
                  </a:lnTo>
                  <a:lnTo>
                    <a:pt x="1062" y="1476"/>
                  </a:lnTo>
                  <a:lnTo>
                    <a:pt x="1056" y="1476"/>
                  </a:lnTo>
                  <a:lnTo>
                    <a:pt x="1062" y="1470"/>
                  </a:lnTo>
                  <a:lnTo>
                    <a:pt x="1062" y="1464"/>
                  </a:lnTo>
                  <a:lnTo>
                    <a:pt x="1068" y="1464"/>
                  </a:lnTo>
                  <a:lnTo>
                    <a:pt x="1068" y="1458"/>
                  </a:lnTo>
                  <a:lnTo>
                    <a:pt x="1074" y="1458"/>
                  </a:lnTo>
                  <a:lnTo>
                    <a:pt x="1080" y="1458"/>
                  </a:lnTo>
                  <a:lnTo>
                    <a:pt x="1086" y="1458"/>
                  </a:lnTo>
                  <a:lnTo>
                    <a:pt x="1086" y="1452"/>
                  </a:lnTo>
                  <a:lnTo>
                    <a:pt x="1080" y="1452"/>
                  </a:lnTo>
                  <a:lnTo>
                    <a:pt x="1074" y="1452"/>
                  </a:lnTo>
                  <a:lnTo>
                    <a:pt x="1080" y="1452"/>
                  </a:lnTo>
                  <a:lnTo>
                    <a:pt x="1080" y="1446"/>
                  </a:lnTo>
                  <a:lnTo>
                    <a:pt x="1086" y="1446"/>
                  </a:lnTo>
                  <a:lnTo>
                    <a:pt x="1086" y="1452"/>
                  </a:lnTo>
                  <a:lnTo>
                    <a:pt x="1092" y="1452"/>
                  </a:lnTo>
                  <a:lnTo>
                    <a:pt x="1092" y="1446"/>
                  </a:lnTo>
                  <a:lnTo>
                    <a:pt x="1098" y="1446"/>
                  </a:lnTo>
                  <a:lnTo>
                    <a:pt x="1098" y="1440"/>
                  </a:lnTo>
                  <a:lnTo>
                    <a:pt x="1104" y="1446"/>
                  </a:lnTo>
                  <a:lnTo>
                    <a:pt x="1110" y="1446"/>
                  </a:lnTo>
                  <a:lnTo>
                    <a:pt x="1116" y="1440"/>
                  </a:lnTo>
                  <a:lnTo>
                    <a:pt x="1122" y="1440"/>
                  </a:lnTo>
                  <a:lnTo>
                    <a:pt x="1122" y="1434"/>
                  </a:lnTo>
                  <a:lnTo>
                    <a:pt x="1128" y="1434"/>
                  </a:lnTo>
                  <a:lnTo>
                    <a:pt x="1134" y="1434"/>
                  </a:lnTo>
                  <a:lnTo>
                    <a:pt x="1140" y="1428"/>
                  </a:lnTo>
                  <a:lnTo>
                    <a:pt x="1134" y="1428"/>
                  </a:lnTo>
                  <a:lnTo>
                    <a:pt x="1134" y="1422"/>
                  </a:lnTo>
                  <a:lnTo>
                    <a:pt x="1128" y="1422"/>
                  </a:lnTo>
                  <a:lnTo>
                    <a:pt x="1128" y="1416"/>
                  </a:lnTo>
                  <a:lnTo>
                    <a:pt x="1134" y="1410"/>
                  </a:lnTo>
                  <a:lnTo>
                    <a:pt x="1128" y="1410"/>
                  </a:lnTo>
                  <a:lnTo>
                    <a:pt x="1122" y="1410"/>
                  </a:lnTo>
                  <a:lnTo>
                    <a:pt x="1116" y="1410"/>
                  </a:lnTo>
                  <a:lnTo>
                    <a:pt x="1116" y="1404"/>
                  </a:lnTo>
                  <a:lnTo>
                    <a:pt x="1122" y="1404"/>
                  </a:lnTo>
                  <a:lnTo>
                    <a:pt x="1128" y="1398"/>
                  </a:lnTo>
                  <a:lnTo>
                    <a:pt x="1134" y="1398"/>
                  </a:lnTo>
                  <a:lnTo>
                    <a:pt x="1140" y="1398"/>
                  </a:lnTo>
                  <a:lnTo>
                    <a:pt x="1146" y="1398"/>
                  </a:lnTo>
                  <a:lnTo>
                    <a:pt x="1140" y="1404"/>
                  </a:lnTo>
                  <a:lnTo>
                    <a:pt x="1134" y="1404"/>
                  </a:lnTo>
                  <a:lnTo>
                    <a:pt x="1134" y="1410"/>
                  </a:lnTo>
                  <a:lnTo>
                    <a:pt x="1140" y="1410"/>
                  </a:lnTo>
                  <a:lnTo>
                    <a:pt x="1146" y="1404"/>
                  </a:lnTo>
                  <a:lnTo>
                    <a:pt x="1152" y="1404"/>
                  </a:lnTo>
                  <a:lnTo>
                    <a:pt x="1152" y="1410"/>
                  </a:lnTo>
                  <a:lnTo>
                    <a:pt x="1158" y="1404"/>
                  </a:lnTo>
                  <a:lnTo>
                    <a:pt x="1158" y="1410"/>
                  </a:lnTo>
                  <a:lnTo>
                    <a:pt x="1152" y="1416"/>
                  </a:lnTo>
                  <a:lnTo>
                    <a:pt x="1152" y="1422"/>
                  </a:lnTo>
                  <a:lnTo>
                    <a:pt x="1146" y="1422"/>
                  </a:lnTo>
                  <a:lnTo>
                    <a:pt x="1146" y="1428"/>
                  </a:lnTo>
                  <a:lnTo>
                    <a:pt x="1140" y="1428"/>
                  </a:lnTo>
                  <a:lnTo>
                    <a:pt x="1146" y="1428"/>
                  </a:lnTo>
                  <a:lnTo>
                    <a:pt x="1146" y="1434"/>
                  </a:lnTo>
                  <a:lnTo>
                    <a:pt x="1152" y="1434"/>
                  </a:lnTo>
                  <a:lnTo>
                    <a:pt x="1152" y="1428"/>
                  </a:lnTo>
                  <a:lnTo>
                    <a:pt x="1158" y="1428"/>
                  </a:lnTo>
                  <a:lnTo>
                    <a:pt x="1158" y="1422"/>
                  </a:lnTo>
                  <a:lnTo>
                    <a:pt x="1164" y="1416"/>
                  </a:lnTo>
                  <a:lnTo>
                    <a:pt x="1164" y="1422"/>
                  </a:lnTo>
                  <a:lnTo>
                    <a:pt x="1164" y="1416"/>
                  </a:lnTo>
                  <a:lnTo>
                    <a:pt x="1170" y="1416"/>
                  </a:lnTo>
                  <a:lnTo>
                    <a:pt x="1176" y="1410"/>
                  </a:lnTo>
                  <a:lnTo>
                    <a:pt x="1176" y="1404"/>
                  </a:lnTo>
                  <a:lnTo>
                    <a:pt x="1170" y="1404"/>
                  </a:lnTo>
                  <a:lnTo>
                    <a:pt x="1164" y="1404"/>
                  </a:lnTo>
                  <a:lnTo>
                    <a:pt x="1164" y="1398"/>
                  </a:lnTo>
                  <a:lnTo>
                    <a:pt x="1170" y="1392"/>
                  </a:lnTo>
                  <a:lnTo>
                    <a:pt x="1164" y="1392"/>
                  </a:lnTo>
                  <a:lnTo>
                    <a:pt x="1164" y="1386"/>
                  </a:lnTo>
                  <a:lnTo>
                    <a:pt x="1170" y="1386"/>
                  </a:lnTo>
                  <a:lnTo>
                    <a:pt x="1164" y="1386"/>
                  </a:lnTo>
                  <a:lnTo>
                    <a:pt x="1164" y="1380"/>
                  </a:lnTo>
                  <a:lnTo>
                    <a:pt x="1170" y="1380"/>
                  </a:lnTo>
                  <a:lnTo>
                    <a:pt x="1176" y="1374"/>
                  </a:lnTo>
                  <a:lnTo>
                    <a:pt x="1176" y="1380"/>
                  </a:lnTo>
                  <a:lnTo>
                    <a:pt x="1182" y="1380"/>
                  </a:lnTo>
                  <a:lnTo>
                    <a:pt x="1188" y="1374"/>
                  </a:lnTo>
                  <a:lnTo>
                    <a:pt x="1194" y="1374"/>
                  </a:lnTo>
                  <a:lnTo>
                    <a:pt x="1200" y="1374"/>
                  </a:lnTo>
                  <a:lnTo>
                    <a:pt x="1206" y="1374"/>
                  </a:lnTo>
                  <a:lnTo>
                    <a:pt x="1212" y="1374"/>
                  </a:lnTo>
                  <a:lnTo>
                    <a:pt x="1212" y="1380"/>
                  </a:lnTo>
                  <a:lnTo>
                    <a:pt x="1218" y="1380"/>
                  </a:lnTo>
                  <a:lnTo>
                    <a:pt x="1224" y="1380"/>
                  </a:lnTo>
                  <a:lnTo>
                    <a:pt x="1230" y="1380"/>
                  </a:lnTo>
                  <a:lnTo>
                    <a:pt x="1230" y="1386"/>
                  </a:lnTo>
                  <a:lnTo>
                    <a:pt x="1230" y="1392"/>
                  </a:lnTo>
                  <a:lnTo>
                    <a:pt x="1236" y="1392"/>
                  </a:lnTo>
                  <a:lnTo>
                    <a:pt x="1236" y="1398"/>
                  </a:lnTo>
                  <a:lnTo>
                    <a:pt x="1236" y="1392"/>
                  </a:lnTo>
                  <a:lnTo>
                    <a:pt x="1242" y="1392"/>
                  </a:lnTo>
                  <a:lnTo>
                    <a:pt x="1242" y="1386"/>
                  </a:lnTo>
                  <a:lnTo>
                    <a:pt x="1242" y="1392"/>
                  </a:lnTo>
                  <a:lnTo>
                    <a:pt x="1242" y="1386"/>
                  </a:lnTo>
                  <a:lnTo>
                    <a:pt x="1248" y="1386"/>
                  </a:lnTo>
                  <a:lnTo>
                    <a:pt x="1242" y="1386"/>
                  </a:lnTo>
                  <a:lnTo>
                    <a:pt x="1248" y="1386"/>
                  </a:lnTo>
                  <a:lnTo>
                    <a:pt x="1248" y="1380"/>
                  </a:lnTo>
                  <a:lnTo>
                    <a:pt x="1254" y="1380"/>
                  </a:lnTo>
                  <a:lnTo>
                    <a:pt x="1254" y="1386"/>
                  </a:lnTo>
                  <a:lnTo>
                    <a:pt x="1248" y="1386"/>
                  </a:lnTo>
                  <a:lnTo>
                    <a:pt x="1254" y="1386"/>
                  </a:lnTo>
                  <a:lnTo>
                    <a:pt x="1254" y="1392"/>
                  </a:lnTo>
                  <a:lnTo>
                    <a:pt x="1260" y="1392"/>
                  </a:lnTo>
                  <a:lnTo>
                    <a:pt x="1266" y="1386"/>
                  </a:lnTo>
                  <a:lnTo>
                    <a:pt x="1266" y="1380"/>
                  </a:lnTo>
                  <a:lnTo>
                    <a:pt x="1272" y="1380"/>
                  </a:lnTo>
                  <a:lnTo>
                    <a:pt x="1278" y="1380"/>
                  </a:lnTo>
                  <a:lnTo>
                    <a:pt x="1278" y="1374"/>
                  </a:lnTo>
                  <a:lnTo>
                    <a:pt x="1284" y="1374"/>
                  </a:lnTo>
                  <a:lnTo>
                    <a:pt x="1284" y="1368"/>
                  </a:lnTo>
                  <a:lnTo>
                    <a:pt x="1290" y="1368"/>
                  </a:lnTo>
                  <a:lnTo>
                    <a:pt x="1296" y="1368"/>
                  </a:lnTo>
                  <a:lnTo>
                    <a:pt x="1302" y="1368"/>
                  </a:lnTo>
                  <a:lnTo>
                    <a:pt x="1308" y="1374"/>
                  </a:lnTo>
                  <a:lnTo>
                    <a:pt x="1308" y="1368"/>
                  </a:lnTo>
                  <a:lnTo>
                    <a:pt x="1314" y="1368"/>
                  </a:lnTo>
                  <a:lnTo>
                    <a:pt x="1314" y="1362"/>
                  </a:lnTo>
                  <a:lnTo>
                    <a:pt x="1320" y="1362"/>
                  </a:lnTo>
                  <a:lnTo>
                    <a:pt x="1326" y="1362"/>
                  </a:lnTo>
                  <a:lnTo>
                    <a:pt x="1326" y="1356"/>
                  </a:lnTo>
                  <a:lnTo>
                    <a:pt x="1332" y="1362"/>
                  </a:lnTo>
                  <a:lnTo>
                    <a:pt x="1338" y="1362"/>
                  </a:lnTo>
                  <a:lnTo>
                    <a:pt x="1338" y="1356"/>
                  </a:lnTo>
                  <a:lnTo>
                    <a:pt x="1332" y="1356"/>
                  </a:lnTo>
                  <a:lnTo>
                    <a:pt x="1332" y="1350"/>
                  </a:lnTo>
                  <a:lnTo>
                    <a:pt x="1338" y="1350"/>
                  </a:lnTo>
                  <a:lnTo>
                    <a:pt x="1338" y="1344"/>
                  </a:lnTo>
                  <a:lnTo>
                    <a:pt x="1344" y="1344"/>
                  </a:lnTo>
                  <a:lnTo>
                    <a:pt x="1338" y="1344"/>
                  </a:lnTo>
                  <a:lnTo>
                    <a:pt x="1338" y="1338"/>
                  </a:lnTo>
                  <a:lnTo>
                    <a:pt x="1344" y="1338"/>
                  </a:lnTo>
                  <a:lnTo>
                    <a:pt x="1350" y="1338"/>
                  </a:lnTo>
                  <a:lnTo>
                    <a:pt x="1356" y="1338"/>
                  </a:lnTo>
                  <a:lnTo>
                    <a:pt x="1356" y="1344"/>
                  </a:lnTo>
                  <a:lnTo>
                    <a:pt x="1362" y="1338"/>
                  </a:lnTo>
                  <a:lnTo>
                    <a:pt x="1362" y="1332"/>
                  </a:lnTo>
                  <a:lnTo>
                    <a:pt x="1368" y="1332"/>
                  </a:lnTo>
                  <a:lnTo>
                    <a:pt x="1368" y="1326"/>
                  </a:lnTo>
                  <a:lnTo>
                    <a:pt x="1368" y="1320"/>
                  </a:lnTo>
                  <a:lnTo>
                    <a:pt x="1374" y="1320"/>
                  </a:lnTo>
                  <a:lnTo>
                    <a:pt x="1380" y="1320"/>
                  </a:lnTo>
                  <a:lnTo>
                    <a:pt x="1380" y="1326"/>
                  </a:lnTo>
                  <a:lnTo>
                    <a:pt x="1392" y="1326"/>
                  </a:lnTo>
                  <a:lnTo>
                    <a:pt x="1392" y="1332"/>
                  </a:lnTo>
                  <a:lnTo>
                    <a:pt x="1398" y="1332"/>
                  </a:lnTo>
                  <a:lnTo>
                    <a:pt x="1398" y="1326"/>
                  </a:lnTo>
                  <a:lnTo>
                    <a:pt x="1398" y="1320"/>
                  </a:lnTo>
                  <a:lnTo>
                    <a:pt x="1392" y="1320"/>
                  </a:lnTo>
                  <a:lnTo>
                    <a:pt x="1392" y="1314"/>
                  </a:lnTo>
                  <a:lnTo>
                    <a:pt x="1392" y="1308"/>
                  </a:lnTo>
                  <a:lnTo>
                    <a:pt x="1386" y="1302"/>
                  </a:lnTo>
                  <a:lnTo>
                    <a:pt x="1392" y="1290"/>
                  </a:lnTo>
                  <a:lnTo>
                    <a:pt x="1392" y="1284"/>
                  </a:lnTo>
                  <a:lnTo>
                    <a:pt x="1398" y="1284"/>
                  </a:lnTo>
                  <a:lnTo>
                    <a:pt x="1404" y="1284"/>
                  </a:lnTo>
                  <a:lnTo>
                    <a:pt x="1410" y="1278"/>
                  </a:lnTo>
                  <a:lnTo>
                    <a:pt x="1416" y="1272"/>
                  </a:lnTo>
                  <a:lnTo>
                    <a:pt x="1416" y="1266"/>
                  </a:lnTo>
                  <a:lnTo>
                    <a:pt x="1422" y="1266"/>
                  </a:lnTo>
                  <a:lnTo>
                    <a:pt x="1422" y="1260"/>
                  </a:lnTo>
                  <a:lnTo>
                    <a:pt x="1428" y="1260"/>
                  </a:lnTo>
                  <a:lnTo>
                    <a:pt x="1428" y="1254"/>
                  </a:lnTo>
                  <a:lnTo>
                    <a:pt x="1434" y="1254"/>
                  </a:lnTo>
                  <a:lnTo>
                    <a:pt x="1440" y="1254"/>
                  </a:lnTo>
                  <a:lnTo>
                    <a:pt x="1440" y="1248"/>
                  </a:lnTo>
                  <a:lnTo>
                    <a:pt x="1446" y="1242"/>
                  </a:lnTo>
                  <a:lnTo>
                    <a:pt x="1452" y="1248"/>
                  </a:lnTo>
                  <a:lnTo>
                    <a:pt x="1458" y="1236"/>
                  </a:lnTo>
                  <a:lnTo>
                    <a:pt x="1464" y="1236"/>
                  </a:lnTo>
                  <a:lnTo>
                    <a:pt x="1470" y="1236"/>
                  </a:lnTo>
                  <a:lnTo>
                    <a:pt x="1470" y="1230"/>
                  </a:lnTo>
                  <a:lnTo>
                    <a:pt x="1476" y="1230"/>
                  </a:lnTo>
                  <a:lnTo>
                    <a:pt x="1482" y="1236"/>
                  </a:lnTo>
                  <a:lnTo>
                    <a:pt x="1482" y="1230"/>
                  </a:lnTo>
                  <a:lnTo>
                    <a:pt x="1494" y="1236"/>
                  </a:lnTo>
                  <a:lnTo>
                    <a:pt x="1500" y="1242"/>
                  </a:lnTo>
                  <a:lnTo>
                    <a:pt x="1500" y="1236"/>
                  </a:lnTo>
                  <a:lnTo>
                    <a:pt x="1506" y="1242"/>
                  </a:lnTo>
                  <a:lnTo>
                    <a:pt x="1512" y="1242"/>
                  </a:lnTo>
                  <a:lnTo>
                    <a:pt x="1512" y="1248"/>
                  </a:lnTo>
                  <a:lnTo>
                    <a:pt x="1518" y="1248"/>
                  </a:lnTo>
                  <a:lnTo>
                    <a:pt x="1518" y="1254"/>
                  </a:lnTo>
                  <a:lnTo>
                    <a:pt x="1524" y="1254"/>
                  </a:lnTo>
                  <a:lnTo>
                    <a:pt x="1524" y="1260"/>
                  </a:lnTo>
                  <a:lnTo>
                    <a:pt x="1524" y="1266"/>
                  </a:lnTo>
                  <a:lnTo>
                    <a:pt x="1524" y="1272"/>
                  </a:lnTo>
                  <a:lnTo>
                    <a:pt x="1530" y="1272"/>
                  </a:lnTo>
                  <a:lnTo>
                    <a:pt x="1530" y="1278"/>
                  </a:lnTo>
                  <a:lnTo>
                    <a:pt x="1530" y="1284"/>
                  </a:lnTo>
                  <a:lnTo>
                    <a:pt x="1530" y="1290"/>
                  </a:lnTo>
                  <a:lnTo>
                    <a:pt x="1536" y="1290"/>
                  </a:lnTo>
                  <a:lnTo>
                    <a:pt x="1536" y="1296"/>
                  </a:lnTo>
                  <a:lnTo>
                    <a:pt x="1530" y="1302"/>
                  </a:lnTo>
                  <a:lnTo>
                    <a:pt x="1524" y="1314"/>
                  </a:lnTo>
                  <a:lnTo>
                    <a:pt x="1524" y="1320"/>
                  </a:lnTo>
                  <a:lnTo>
                    <a:pt x="1530" y="1320"/>
                  </a:lnTo>
                  <a:lnTo>
                    <a:pt x="1530" y="1326"/>
                  </a:lnTo>
                  <a:lnTo>
                    <a:pt x="1524" y="1326"/>
                  </a:lnTo>
                  <a:lnTo>
                    <a:pt x="1518" y="1344"/>
                  </a:lnTo>
                  <a:lnTo>
                    <a:pt x="1518" y="1350"/>
                  </a:lnTo>
                  <a:lnTo>
                    <a:pt x="1512" y="1350"/>
                  </a:lnTo>
                  <a:lnTo>
                    <a:pt x="1506" y="1356"/>
                  </a:lnTo>
                  <a:lnTo>
                    <a:pt x="1512" y="1356"/>
                  </a:lnTo>
                  <a:lnTo>
                    <a:pt x="1500" y="1368"/>
                  </a:lnTo>
                  <a:lnTo>
                    <a:pt x="1500" y="1374"/>
                  </a:lnTo>
                  <a:lnTo>
                    <a:pt x="1500" y="1380"/>
                  </a:lnTo>
                  <a:lnTo>
                    <a:pt x="1494" y="1380"/>
                  </a:lnTo>
                  <a:lnTo>
                    <a:pt x="1488" y="1380"/>
                  </a:lnTo>
                  <a:lnTo>
                    <a:pt x="1488" y="1386"/>
                  </a:lnTo>
                  <a:lnTo>
                    <a:pt x="1482" y="1386"/>
                  </a:lnTo>
                  <a:lnTo>
                    <a:pt x="1476" y="1392"/>
                  </a:lnTo>
                  <a:lnTo>
                    <a:pt x="1470" y="1392"/>
                  </a:lnTo>
                  <a:lnTo>
                    <a:pt x="1470" y="1398"/>
                  </a:lnTo>
                  <a:lnTo>
                    <a:pt x="1464" y="1398"/>
                  </a:lnTo>
                  <a:lnTo>
                    <a:pt x="1458" y="1410"/>
                  </a:lnTo>
                  <a:lnTo>
                    <a:pt x="1446" y="1416"/>
                  </a:lnTo>
                  <a:lnTo>
                    <a:pt x="1440" y="1416"/>
                  </a:lnTo>
                  <a:lnTo>
                    <a:pt x="1434" y="1422"/>
                  </a:lnTo>
                  <a:lnTo>
                    <a:pt x="1428" y="1422"/>
                  </a:lnTo>
                  <a:lnTo>
                    <a:pt x="1422" y="1422"/>
                  </a:lnTo>
                  <a:lnTo>
                    <a:pt x="1422" y="1428"/>
                  </a:lnTo>
                  <a:lnTo>
                    <a:pt x="1416" y="1434"/>
                  </a:lnTo>
                  <a:lnTo>
                    <a:pt x="1416" y="1428"/>
                  </a:lnTo>
                  <a:lnTo>
                    <a:pt x="1410" y="1428"/>
                  </a:lnTo>
                  <a:lnTo>
                    <a:pt x="1410" y="1434"/>
                  </a:lnTo>
                  <a:lnTo>
                    <a:pt x="1404" y="1440"/>
                  </a:lnTo>
                  <a:lnTo>
                    <a:pt x="1398" y="1440"/>
                  </a:lnTo>
                  <a:lnTo>
                    <a:pt x="1392" y="1440"/>
                  </a:lnTo>
                  <a:lnTo>
                    <a:pt x="1392" y="1446"/>
                  </a:lnTo>
                  <a:lnTo>
                    <a:pt x="1386" y="1440"/>
                  </a:lnTo>
                  <a:lnTo>
                    <a:pt x="1386" y="1446"/>
                  </a:lnTo>
                  <a:lnTo>
                    <a:pt x="1380" y="1446"/>
                  </a:lnTo>
                  <a:lnTo>
                    <a:pt x="1374" y="1446"/>
                  </a:lnTo>
                  <a:lnTo>
                    <a:pt x="1374" y="1452"/>
                  </a:lnTo>
                  <a:lnTo>
                    <a:pt x="1368" y="1452"/>
                  </a:lnTo>
                  <a:lnTo>
                    <a:pt x="1368" y="1458"/>
                  </a:lnTo>
                  <a:lnTo>
                    <a:pt x="1362" y="1458"/>
                  </a:lnTo>
                  <a:lnTo>
                    <a:pt x="1356" y="1464"/>
                  </a:lnTo>
                  <a:lnTo>
                    <a:pt x="1350" y="1470"/>
                  </a:lnTo>
                  <a:lnTo>
                    <a:pt x="1344" y="1470"/>
                  </a:lnTo>
                  <a:lnTo>
                    <a:pt x="1338" y="1470"/>
                  </a:lnTo>
                  <a:lnTo>
                    <a:pt x="1332" y="1476"/>
                  </a:lnTo>
                  <a:lnTo>
                    <a:pt x="1326" y="1476"/>
                  </a:lnTo>
                  <a:lnTo>
                    <a:pt x="1320" y="1482"/>
                  </a:lnTo>
                  <a:lnTo>
                    <a:pt x="1314" y="1482"/>
                  </a:lnTo>
                  <a:lnTo>
                    <a:pt x="1308" y="1482"/>
                  </a:lnTo>
                  <a:lnTo>
                    <a:pt x="1308" y="1488"/>
                  </a:lnTo>
                  <a:lnTo>
                    <a:pt x="1302" y="1488"/>
                  </a:lnTo>
                  <a:lnTo>
                    <a:pt x="1296" y="1488"/>
                  </a:lnTo>
                  <a:lnTo>
                    <a:pt x="1296" y="1494"/>
                  </a:lnTo>
                  <a:lnTo>
                    <a:pt x="1296" y="1500"/>
                  </a:lnTo>
                  <a:lnTo>
                    <a:pt x="1290" y="1500"/>
                  </a:lnTo>
                  <a:lnTo>
                    <a:pt x="1290" y="1494"/>
                  </a:lnTo>
                  <a:lnTo>
                    <a:pt x="1290" y="1488"/>
                  </a:lnTo>
                  <a:lnTo>
                    <a:pt x="1290" y="1482"/>
                  </a:lnTo>
                  <a:lnTo>
                    <a:pt x="1290" y="1488"/>
                  </a:lnTo>
                  <a:lnTo>
                    <a:pt x="1284" y="1494"/>
                  </a:lnTo>
                  <a:lnTo>
                    <a:pt x="1284" y="1500"/>
                  </a:lnTo>
                  <a:lnTo>
                    <a:pt x="1278" y="1500"/>
                  </a:lnTo>
                  <a:lnTo>
                    <a:pt x="1272" y="1500"/>
                  </a:lnTo>
                  <a:lnTo>
                    <a:pt x="1272" y="1506"/>
                  </a:lnTo>
                  <a:lnTo>
                    <a:pt x="1266" y="1506"/>
                  </a:lnTo>
                  <a:lnTo>
                    <a:pt x="1260" y="1506"/>
                  </a:lnTo>
                  <a:lnTo>
                    <a:pt x="1260" y="1512"/>
                  </a:lnTo>
                  <a:lnTo>
                    <a:pt x="1254" y="1512"/>
                  </a:lnTo>
                  <a:lnTo>
                    <a:pt x="1254" y="1518"/>
                  </a:lnTo>
                  <a:lnTo>
                    <a:pt x="1248" y="1518"/>
                  </a:lnTo>
                  <a:lnTo>
                    <a:pt x="1242" y="1524"/>
                  </a:lnTo>
                  <a:lnTo>
                    <a:pt x="1236" y="1524"/>
                  </a:lnTo>
                  <a:lnTo>
                    <a:pt x="1230" y="1530"/>
                  </a:lnTo>
                  <a:lnTo>
                    <a:pt x="1230" y="1536"/>
                  </a:lnTo>
                  <a:lnTo>
                    <a:pt x="1224" y="1536"/>
                  </a:lnTo>
                  <a:lnTo>
                    <a:pt x="1224" y="1530"/>
                  </a:lnTo>
                  <a:lnTo>
                    <a:pt x="1218" y="1530"/>
                  </a:lnTo>
                  <a:lnTo>
                    <a:pt x="1212" y="1530"/>
                  </a:lnTo>
                  <a:lnTo>
                    <a:pt x="1212" y="1536"/>
                  </a:lnTo>
                  <a:lnTo>
                    <a:pt x="1212" y="1542"/>
                  </a:lnTo>
                  <a:lnTo>
                    <a:pt x="1206" y="1542"/>
                  </a:lnTo>
                  <a:lnTo>
                    <a:pt x="1206" y="1548"/>
                  </a:lnTo>
                  <a:lnTo>
                    <a:pt x="1206" y="1554"/>
                  </a:lnTo>
                  <a:lnTo>
                    <a:pt x="1206" y="1548"/>
                  </a:lnTo>
                  <a:lnTo>
                    <a:pt x="1200" y="1548"/>
                  </a:lnTo>
                  <a:lnTo>
                    <a:pt x="1206" y="1542"/>
                  </a:lnTo>
                  <a:lnTo>
                    <a:pt x="1200" y="1542"/>
                  </a:lnTo>
                  <a:lnTo>
                    <a:pt x="1200" y="1548"/>
                  </a:lnTo>
                  <a:lnTo>
                    <a:pt x="1200" y="1554"/>
                  </a:lnTo>
                  <a:lnTo>
                    <a:pt x="1200" y="1560"/>
                  </a:lnTo>
                  <a:lnTo>
                    <a:pt x="1194" y="1560"/>
                  </a:lnTo>
                  <a:lnTo>
                    <a:pt x="1194" y="1566"/>
                  </a:lnTo>
                  <a:lnTo>
                    <a:pt x="1194" y="1572"/>
                  </a:lnTo>
                  <a:lnTo>
                    <a:pt x="1188" y="1572"/>
                  </a:lnTo>
                  <a:lnTo>
                    <a:pt x="1188" y="1566"/>
                  </a:lnTo>
                  <a:lnTo>
                    <a:pt x="1188" y="1560"/>
                  </a:lnTo>
                  <a:lnTo>
                    <a:pt x="1182" y="1560"/>
                  </a:lnTo>
                  <a:lnTo>
                    <a:pt x="1182" y="1566"/>
                  </a:lnTo>
                  <a:lnTo>
                    <a:pt x="1176" y="1566"/>
                  </a:lnTo>
                  <a:lnTo>
                    <a:pt x="1176" y="1572"/>
                  </a:lnTo>
                  <a:lnTo>
                    <a:pt x="1176" y="1578"/>
                  </a:lnTo>
                  <a:lnTo>
                    <a:pt x="1170" y="1578"/>
                  </a:lnTo>
                  <a:lnTo>
                    <a:pt x="1170" y="1584"/>
                  </a:lnTo>
                  <a:lnTo>
                    <a:pt x="1164" y="1584"/>
                  </a:lnTo>
                  <a:lnTo>
                    <a:pt x="1158" y="1584"/>
                  </a:lnTo>
                  <a:lnTo>
                    <a:pt x="1158" y="1590"/>
                  </a:lnTo>
                  <a:lnTo>
                    <a:pt x="1158" y="1596"/>
                  </a:lnTo>
                  <a:lnTo>
                    <a:pt x="1158" y="1602"/>
                  </a:lnTo>
                  <a:lnTo>
                    <a:pt x="1158" y="1608"/>
                  </a:lnTo>
                  <a:lnTo>
                    <a:pt x="1152" y="1608"/>
                  </a:lnTo>
                  <a:lnTo>
                    <a:pt x="1152" y="1602"/>
                  </a:lnTo>
                  <a:lnTo>
                    <a:pt x="1152" y="1596"/>
                  </a:lnTo>
                  <a:lnTo>
                    <a:pt x="1146" y="1596"/>
                  </a:lnTo>
                  <a:lnTo>
                    <a:pt x="1146" y="1602"/>
                  </a:lnTo>
                  <a:lnTo>
                    <a:pt x="1140" y="1602"/>
                  </a:lnTo>
                  <a:lnTo>
                    <a:pt x="1146" y="1602"/>
                  </a:lnTo>
                  <a:lnTo>
                    <a:pt x="1140" y="1602"/>
                  </a:lnTo>
                  <a:lnTo>
                    <a:pt x="1140" y="1608"/>
                  </a:lnTo>
                  <a:lnTo>
                    <a:pt x="1140" y="1614"/>
                  </a:lnTo>
                  <a:lnTo>
                    <a:pt x="1134" y="1614"/>
                  </a:lnTo>
                  <a:lnTo>
                    <a:pt x="1128" y="1614"/>
                  </a:lnTo>
                  <a:lnTo>
                    <a:pt x="1128" y="1620"/>
                  </a:lnTo>
                  <a:lnTo>
                    <a:pt x="1134" y="1620"/>
                  </a:lnTo>
                  <a:lnTo>
                    <a:pt x="1146" y="1620"/>
                  </a:lnTo>
                  <a:lnTo>
                    <a:pt x="1152" y="1620"/>
                  </a:lnTo>
                  <a:lnTo>
                    <a:pt x="1152" y="1626"/>
                  </a:lnTo>
                  <a:lnTo>
                    <a:pt x="1146" y="1638"/>
                  </a:lnTo>
                  <a:lnTo>
                    <a:pt x="1134" y="1638"/>
                  </a:lnTo>
                  <a:lnTo>
                    <a:pt x="1134" y="1644"/>
                  </a:lnTo>
                  <a:lnTo>
                    <a:pt x="1134" y="1650"/>
                  </a:lnTo>
                  <a:lnTo>
                    <a:pt x="1140" y="1650"/>
                  </a:lnTo>
                  <a:lnTo>
                    <a:pt x="1134" y="1656"/>
                  </a:lnTo>
                  <a:lnTo>
                    <a:pt x="1134" y="1662"/>
                  </a:lnTo>
                  <a:lnTo>
                    <a:pt x="1128" y="1662"/>
                  </a:lnTo>
                  <a:lnTo>
                    <a:pt x="1122" y="1662"/>
                  </a:lnTo>
                  <a:lnTo>
                    <a:pt x="1116" y="1662"/>
                  </a:lnTo>
                  <a:lnTo>
                    <a:pt x="1110" y="1656"/>
                  </a:lnTo>
                  <a:lnTo>
                    <a:pt x="1110" y="1662"/>
                  </a:lnTo>
                  <a:lnTo>
                    <a:pt x="1104" y="1662"/>
                  </a:lnTo>
                  <a:lnTo>
                    <a:pt x="1104" y="1656"/>
                  </a:lnTo>
                  <a:lnTo>
                    <a:pt x="1104" y="1650"/>
                  </a:lnTo>
                  <a:lnTo>
                    <a:pt x="1098" y="1650"/>
                  </a:lnTo>
                  <a:lnTo>
                    <a:pt x="1098" y="1656"/>
                  </a:lnTo>
                  <a:lnTo>
                    <a:pt x="1104" y="1656"/>
                  </a:lnTo>
                  <a:lnTo>
                    <a:pt x="1104" y="1662"/>
                  </a:lnTo>
                  <a:lnTo>
                    <a:pt x="1110" y="1662"/>
                  </a:lnTo>
                  <a:lnTo>
                    <a:pt x="1110" y="1668"/>
                  </a:lnTo>
                  <a:lnTo>
                    <a:pt x="1116" y="1668"/>
                  </a:lnTo>
                  <a:lnTo>
                    <a:pt x="1116" y="1674"/>
                  </a:lnTo>
                  <a:lnTo>
                    <a:pt x="1116" y="1680"/>
                  </a:lnTo>
                  <a:lnTo>
                    <a:pt x="1110" y="1680"/>
                  </a:lnTo>
                  <a:lnTo>
                    <a:pt x="1110" y="1686"/>
                  </a:lnTo>
                  <a:lnTo>
                    <a:pt x="1104" y="1686"/>
                  </a:lnTo>
                  <a:lnTo>
                    <a:pt x="1104" y="1680"/>
                  </a:lnTo>
                  <a:lnTo>
                    <a:pt x="1098" y="1680"/>
                  </a:lnTo>
                  <a:lnTo>
                    <a:pt x="1092" y="1674"/>
                  </a:lnTo>
                  <a:lnTo>
                    <a:pt x="1092" y="1668"/>
                  </a:lnTo>
                  <a:lnTo>
                    <a:pt x="1086" y="1668"/>
                  </a:lnTo>
                  <a:lnTo>
                    <a:pt x="1086" y="1662"/>
                  </a:lnTo>
                  <a:lnTo>
                    <a:pt x="1086" y="1656"/>
                  </a:lnTo>
                  <a:lnTo>
                    <a:pt x="1080" y="1662"/>
                  </a:lnTo>
                  <a:lnTo>
                    <a:pt x="1080" y="1656"/>
                  </a:lnTo>
                  <a:lnTo>
                    <a:pt x="1080" y="1662"/>
                  </a:lnTo>
                  <a:lnTo>
                    <a:pt x="1080" y="1668"/>
                  </a:lnTo>
                  <a:lnTo>
                    <a:pt x="1086" y="1668"/>
                  </a:lnTo>
                  <a:lnTo>
                    <a:pt x="1086" y="1674"/>
                  </a:lnTo>
                  <a:lnTo>
                    <a:pt x="1086" y="1680"/>
                  </a:lnTo>
                  <a:lnTo>
                    <a:pt x="1086" y="1674"/>
                  </a:lnTo>
                  <a:lnTo>
                    <a:pt x="1080" y="1680"/>
                  </a:lnTo>
                  <a:lnTo>
                    <a:pt x="1086" y="1680"/>
                  </a:lnTo>
                  <a:lnTo>
                    <a:pt x="1086" y="1686"/>
                  </a:lnTo>
                  <a:lnTo>
                    <a:pt x="1080" y="1692"/>
                  </a:lnTo>
                  <a:lnTo>
                    <a:pt x="1080" y="1698"/>
                  </a:lnTo>
                  <a:lnTo>
                    <a:pt x="1080" y="1704"/>
                  </a:lnTo>
                  <a:lnTo>
                    <a:pt x="1080" y="1710"/>
                  </a:lnTo>
                  <a:lnTo>
                    <a:pt x="1080" y="1704"/>
                  </a:lnTo>
                  <a:lnTo>
                    <a:pt x="1080" y="1710"/>
                  </a:lnTo>
                  <a:lnTo>
                    <a:pt x="1086" y="1710"/>
                  </a:lnTo>
                  <a:lnTo>
                    <a:pt x="1080" y="1710"/>
                  </a:lnTo>
                  <a:lnTo>
                    <a:pt x="1074" y="1710"/>
                  </a:lnTo>
                  <a:lnTo>
                    <a:pt x="1068" y="1710"/>
                  </a:lnTo>
                  <a:lnTo>
                    <a:pt x="1068" y="1704"/>
                  </a:lnTo>
                  <a:lnTo>
                    <a:pt x="1062" y="1698"/>
                  </a:lnTo>
                  <a:lnTo>
                    <a:pt x="1056" y="1698"/>
                  </a:lnTo>
                  <a:lnTo>
                    <a:pt x="1050" y="1692"/>
                  </a:lnTo>
                  <a:lnTo>
                    <a:pt x="1044" y="1692"/>
                  </a:lnTo>
                  <a:lnTo>
                    <a:pt x="1044" y="1686"/>
                  </a:lnTo>
                  <a:lnTo>
                    <a:pt x="1044" y="1692"/>
                  </a:lnTo>
                  <a:lnTo>
                    <a:pt x="1038" y="1692"/>
                  </a:lnTo>
                  <a:lnTo>
                    <a:pt x="1044" y="1698"/>
                  </a:lnTo>
                  <a:lnTo>
                    <a:pt x="1050" y="1698"/>
                  </a:lnTo>
                  <a:lnTo>
                    <a:pt x="1050" y="1704"/>
                  </a:lnTo>
                  <a:lnTo>
                    <a:pt x="1056" y="1704"/>
                  </a:lnTo>
                  <a:lnTo>
                    <a:pt x="1056" y="1710"/>
                  </a:lnTo>
                  <a:lnTo>
                    <a:pt x="1062" y="1716"/>
                  </a:lnTo>
                  <a:lnTo>
                    <a:pt x="1056" y="1722"/>
                  </a:lnTo>
                  <a:lnTo>
                    <a:pt x="1062" y="1722"/>
                  </a:lnTo>
                  <a:lnTo>
                    <a:pt x="1062" y="1728"/>
                  </a:lnTo>
                  <a:lnTo>
                    <a:pt x="1062" y="1734"/>
                  </a:lnTo>
                  <a:lnTo>
                    <a:pt x="1056" y="1734"/>
                  </a:lnTo>
                  <a:lnTo>
                    <a:pt x="1062" y="1734"/>
                  </a:lnTo>
                  <a:lnTo>
                    <a:pt x="1062" y="1740"/>
                  </a:lnTo>
                  <a:lnTo>
                    <a:pt x="1056" y="1740"/>
                  </a:lnTo>
                  <a:lnTo>
                    <a:pt x="1062" y="1746"/>
                  </a:lnTo>
                  <a:lnTo>
                    <a:pt x="1056" y="1746"/>
                  </a:lnTo>
                  <a:lnTo>
                    <a:pt x="1056" y="1752"/>
                  </a:lnTo>
                  <a:lnTo>
                    <a:pt x="1056" y="1746"/>
                  </a:lnTo>
                  <a:lnTo>
                    <a:pt x="1062" y="1746"/>
                  </a:lnTo>
                  <a:lnTo>
                    <a:pt x="1062" y="1752"/>
                  </a:lnTo>
                  <a:lnTo>
                    <a:pt x="1056" y="1752"/>
                  </a:lnTo>
                  <a:lnTo>
                    <a:pt x="1050" y="1752"/>
                  </a:lnTo>
                  <a:lnTo>
                    <a:pt x="1056" y="1752"/>
                  </a:lnTo>
                  <a:lnTo>
                    <a:pt x="1056" y="1758"/>
                  </a:lnTo>
                  <a:lnTo>
                    <a:pt x="1050" y="1758"/>
                  </a:lnTo>
                  <a:lnTo>
                    <a:pt x="1050" y="1752"/>
                  </a:lnTo>
                  <a:lnTo>
                    <a:pt x="1044" y="1752"/>
                  </a:lnTo>
                  <a:lnTo>
                    <a:pt x="1044" y="1758"/>
                  </a:lnTo>
                  <a:lnTo>
                    <a:pt x="1044" y="1764"/>
                  </a:lnTo>
                  <a:lnTo>
                    <a:pt x="1050" y="1764"/>
                  </a:lnTo>
                  <a:lnTo>
                    <a:pt x="1056" y="1764"/>
                  </a:lnTo>
                  <a:lnTo>
                    <a:pt x="1050" y="1764"/>
                  </a:lnTo>
                  <a:lnTo>
                    <a:pt x="1044" y="1764"/>
                  </a:lnTo>
                  <a:lnTo>
                    <a:pt x="1044" y="1770"/>
                  </a:lnTo>
                  <a:lnTo>
                    <a:pt x="1044" y="1764"/>
                  </a:lnTo>
                  <a:lnTo>
                    <a:pt x="1038" y="1764"/>
                  </a:lnTo>
                  <a:lnTo>
                    <a:pt x="1038" y="1758"/>
                  </a:lnTo>
                  <a:lnTo>
                    <a:pt x="1038" y="1764"/>
                  </a:lnTo>
                  <a:lnTo>
                    <a:pt x="1038" y="1758"/>
                  </a:lnTo>
                  <a:lnTo>
                    <a:pt x="1032" y="1758"/>
                  </a:lnTo>
                  <a:lnTo>
                    <a:pt x="1032" y="1764"/>
                  </a:lnTo>
                  <a:lnTo>
                    <a:pt x="1038" y="1764"/>
                  </a:lnTo>
                  <a:lnTo>
                    <a:pt x="1038" y="1758"/>
                  </a:lnTo>
                  <a:lnTo>
                    <a:pt x="1038" y="1764"/>
                  </a:lnTo>
                  <a:lnTo>
                    <a:pt x="1038" y="1770"/>
                  </a:lnTo>
                  <a:lnTo>
                    <a:pt x="1038" y="1776"/>
                  </a:lnTo>
                  <a:lnTo>
                    <a:pt x="1044" y="1782"/>
                  </a:lnTo>
                  <a:lnTo>
                    <a:pt x="1038" y="1782"/>
                  </a:lnTo>
                  <a:lnTo>
                    <a:pt x="1038" y="1788"/>
                  </a:lnTo>
                  <a:lnTo>
                    <a:pt x="1032" y="1788"/>
                  </a:lnTo>
                  <a:lnTo>
                    <a:pt x="1032" y="1782"/>
                  </a:lnTo>
                  <a:lnTo>
                    <a:pt x="1026" y="1782"/>
                  </a:lnTo>
                  <a:lnTo>
                    <a:pt x="1020" y="1776"/>
                  </a:lnTo>
                  <a:lnTo>
                    <a:pt x="1014" y="1776"/>
                  </a:lnTo>
                  <a:lnTo>
                    <a:pt x="1014" y="1770"/>
                  </a:lnTo>
                  <a:lnTo>
                    <a:pt x="1014" y="1764"/>
                  </a:lnTo>
                  <a:lnTo>
                    <a:pt x="1014" y="1758"/>
                  </a:lnTo>
                  <a:lnTo>
                    <a:pt x="1008" y="1758"/>
                  </a:lnTo>
                  <a:lnTo>
                    <a:pt x="1008" y="1752"/>
                  </a:lnTo>
                  <a:lnTo>
                    <a:pt x="1008" y="1770"/>
                  </a:lnTo>
                  <a:lnTo>
                    <a:pt x="1002" y="1770"/>
                  </a:lnTo>
                  <a:lnTo>
                    <a:pt x="996" y="1770"/>
                  </a:lnTo>
                  <a:lnTo>
                    <a:pt x="990" y="1770"/>
                  </a:lnTo>
                  <a:lnTo>
                    <a:pt x="996" y="1770"/>
                  </a:lnTo>
                  <a:lnTo>
                    <a:pt x="1002" y="1770"/>
                  </a:lnTo>
                  <a:lnTo>
                    <a:pt x="1008" y="1776"/>
                  </a:lnTo>
                  <a:lnTo>
                    <a:pt x="1008" y="1770"/>
                  </a:lnTo>
                  <a:lnTo>
                    <a:pt x="1014" y="1782"/>
                  </a:lnTo>
                  <a:lnTo>
                    <a:pt x="1014" y="1788"/>
                  </a:lnTo>
                  <a:lnTo>
                    <a:pt x="1020" y="1788"/>
                  </a:lnTo>
                  <a:lnTo>
                    <a:pt x="1020" y="1794"/>
                  </a:lnTo>
                  <a:lnTo>
                    <a:pt x="1026" y="1800"/>
                  </a:lnTo>
                  <a:lnTo>
                    <a:pt x="1020" y="1800"/>
                  </a:lnTo>
                  <a:lnTo>
                    <a:pt x="1020" y="1806"/>
                  </a:lnTo>
                  <a:lnTo>
                    <a:pt x="1026" y="1806"/>
                  </a:lnTo>
                  <a:lnTo>
                    <a:pt x="1026" y="1818"/>
                  </a:lnTo>
                  <a:lnTo>
                    <a:pt x="1026" y="1824"/>
                  </a:lnTo>
                  <a:lnTo>
                    <a:pt x="1020" y="1824"/>
                  </a:lnTo>
                  <a:lnTo>
                    <a:pt x="1020" y="1830"/>
                  </a:lnTo>
                  <a:lnTo>
                    <a:pt x="1014" y="1830"/>
                  </a:lnTo>
                  <a:lnTo>
                    <a:pt x="1014" y="1824"/>
                  </a:lnTo>
                  <a:lnTo>
                    <a:pt x="1014" y="1818"/>
                  </a:lnTo>
                  <a:lnTo>
                    <a:pt x="1008" y="1818"/>
                  </a:lnTo>
                  <a:lnTo>
                    <a:pt x="1008" y="1812"/>
                  </a:lnTo>
                  <a:lnTo>
                    <a:pt x="1002" y="1812"/>
                  </a:lnTo>
                  <a:lnTo>
                    <a:pt x="996" y="1812"/>
                  </a:lnTo>
                  <a:lnTo>
                    <a:pt x="1002" y="1818"/>
                  </a:lnTo>
                  <a:lnTo>
                    <a:pt x="1002" y="1824"/>
                  </a:lnTo>
                  <a:lnTo>
                    <a:pt x="1008" y="1824"/>
                  </a:lnTo>
                  <a:lnTo>
                    <a:pt x="1008" y="1830"/>
                  </a:lnTo>
                  <a:lnTo>
                    <a:pt x="1008" y="1836"/>
                  </a:lnTo>
                  <a:lnTo>
                    <a:pt x="1014" y="1848"/>
                  </a:lnTo>
                  <a:lnTo>
                    <a:pt x="1008" y="1848"/>
                  </a:lnTo>
                  <a:lnTo>
                    <a:pt x="1008" y="1854"/>
                  </a:lnTo>
                  <a:lnTo>
                    <a:pt x="1002" y="1854"/>
                  </a:lnTo>
                  <a:lnTo>
                    <a:pt x="1002" y="1860"/>
                  </a:lnTo>
                  <a:lnTo>
                    <a:pt x="996" y="1860"/>
                  </a:lnTo>
                  <a:lnTo>
                    <a:pt x="990" y="1854"/>
                  </a:lnTo>
                  <a:lnTo>
                    <a:pt x="984" y="1854"/>
                  </a:lnTo>
                  <a:lnTo>
                    <a:pt x="978" y="1854"/>
                  </a:lnTo>
                  <a:lnTo>
                    <a:pt x="984" y="1854"/>
                  </a:lnTo>
                  <a:lnTo>
                    <a:pt x="990" y="1860"/>
                  </a:lnTo>
                  <a:lnTo>
                    <a:pt x="990" y="1866"/>
                  </a:lnTo>
                  <a:lnTo>
                    <a:pt x="996" y="1866"/>
                  </a:lnTo>
                  <a:lnTo>
                    <a:pt x="996" y="1872"/>
                  </a:lnTo>
                  <a:lnTo>
                    <a:pt x="996" y="1878"/>
                  </a:lnTo>
                  <a:lnTo>
                    <a:pt x="990" y="1878"/>
                  </a:lnTo>
                  <a:lnTo>
                    <a:pt x="990" y="1884"/>
                  </a:lnTo>
                  <a:lnTo>
                    <a:pt x="984" y="1890"/>
                  </a:lnTo>
                  <a:lnTo>
                    <a:pt x="984" y="1896"/>
                  </a:lnTo>
                  <a:lnTo>
                    <a:pt x="978" y="1896"/>
                  </a:lnTo>
                  <a:lnTo>
                    <a:pt x="972" y="1896"/>
                  </a:lnTo>
                  <a:lnTo>
                    <a:pt x="972" y="1902"/>
                  </a:lnTo>
                  <a:lnTo>
                    <a:pt x="972" y="1908"/>
                  </a:lnTo>
                  <a:lnTo>
                    <a:pt x="966" y="1908"/>
                  </a:lnTo>
                  <a:lnTo>
                    <a:pt x="960" y="1902"/>
                  </a:lnTo>
                  <a:lnTo>
                    <a:pt x="954" y="1902"/>
                  </a:lnTo>
                  <a:lnTo>
                    <a:pt x="948" y="1902"/>
                  </a:lnTo>
                  <a:lnTo>
                    <a:pt x="942" y="1902"/>
                  </a:lnTo>
                  <a:lnTo>
                    <a:pt x="936" y="1896"/>
                  </a:lnTo>
                  <a:lnTo>
                    <a:pt x="936" y="1902"/>
                  </a:lnTo>
                  <a:lnTo>
                    <a:pt x="942" y="1908"/>
                  </a:lnTo>
                  <a:lnTo>
                    <a:pt x="948" y="1908"/>
                  </a:lnTo>
                  <a:lnTo>
                    <a:pt x="954" y="1908"/>
                  </a:lnTo>
                  <a:lnTo>
                    <a:pt x="960" y="1908"/>
                  </a:lnTo>
                  <a:lnTo>
                    <a:pt x="960" y="1914"/>
                  </a:lnTo>
                  <a:lnTo>
                    <a:pt x="966" y="1920"/>
                  </a:lnTo>
                  <a:lnTo>
                    <a:pt x="966" y="1926"/>
                  </a:lnTo>
                  <a:lnTo>
                    <a:pt x="954" y="1932"/>
                  </a:lnTo>
                  <a:lnTo>
                    <a:pt x="948" y="1932"/>
                  </a:lnTo>
                  <a:lnTo>
                    <a:pt x="942" y="1932"/>
                  </a:lnTo>
                  <a:lnTo>
                    <a:pt x="942" y="1938"/>
                  </a:lnTo>
                  <a:lnTo>
                    <a:pt x="948" y="1938"/>
                  </a:lnTo>
                  <a:lnTo>
                    <a:pt x="954" y="1938"/>
                  </a:lnTo>
                  <a:lnTo>
                    <a:pt x="960" y="1938"/>
                  </a:lnTo>
                  <a:lnTo>
                    <a:pt x="954" y="1944"/>
                  </a:lnTo>
                  <a:lnTo>
                    <a:pt x="948" y="1944"/>
                  </a:lnTo>
                  <a:lnTo>
                    <a:pt x="942" y="1944"/>
                  </a:lnTo>
                  <a:lnTo>
                    <a:pt x="942" y="1950"/>
                  </a:lnTo>
                  <a:lnTo>
                    <a:pt x="936" y="1950"/>
                  </a:lnTo>
                  <a:lnTo>
                    <a:pt x="930" y="1950"/>
                  </a:lnTo>
                  <a:lnTo>
                    <a:pt x="930" y="1956"/>
                  </a:lnTo>
                  <a:lnTo>
                    <a:pt x="930" y="1950"/>
                  </a:lnTo>
                  <a:lnTo>
                    <a:pt x="924" y="1950"/>
                  </a:lnTo>
                  <a:lnTo>
                    <a:pt x="918" y="1950"/>
                  </a:lnTo>
                  <a:lnTo>
                    <a:pt x="918" y="1956"/>
                  </a:lnTo>
                  <a:lnTo>
                    <a:pt x="924" y="1956"/>
                  </a:lnTo>
                  <a:lnTo>
                    <a:pt x="930" y="1956"/>
                  </a:lnTo>
                  <a:lnTo>
                    <a:pt x="936" y="1956"/>
                  </a:lnTo>
                  <a:lnTo>
                    <a:pt x="942" y="1956"/>
                  </a:lnTo>
                  <a:lnTo>
                    <a:pt x="942" y="1950"/>
                  </a:lnTo>
                  <a:lnTo>
                    <a:pt x="948" y="1950"/>
                  </a:lnTo>
                  <a:lnTo>
                    <a:pt x="948" y="1956"/>
                  </a:lnTo>
                  <a:lnTo>
                    <a:pt x="948" y="1962"/>
                  </a:lnTo>
                  <a:lnTo>
                    <a:pt x="948" y="1968"/>
                  </a:lnTo>
                  <a:lnTo>
                    <a:pt x="942" y="1974"/>
                  </a:lnTo>
                  <a:lnTo>
                    <a:pt x="942" y="1980"/>
                  </a:lnTo>
                  <a:lnTo>
                    <a:pt x="936" y="1980"/>
                  </a:lnTo>
                  <a:lnTo>
                    <a:pt x="930" y="1980"/>
                  </a:lnTo>
                  <a:lnTo>
                    <a:pt x="924" y="1980"/>
                  </a:lnTo>
                  <a:lnTo>
                    <a:pt x="924" y="1986"/>
                  </a:lnTo>
                  <a:lnTo>
                    <a:pt x="930" y="1986"/>
                  </a:lnTo>
                  <a:lnTo>
                    <a:pt x="930" y="1992"/>
                  </a:lnTo>
                  <a:lnTo>
                    <a:pt x="936" y="1998"/>
                  </a:lnTo>
                  <a:lnTo>
                    <a:pt x="930" y="1998"/>
                  </a:lnTo>
                  <a:lnTo>
                    <a:pt x="924" y="1998"/>
                  </a:lnTo>
                  <a:lnTo>
                    <a:pt x="924" y="2004"/>
                  </a:lnTo>
                  <a:lnTo>
                    <a:pt x="918" y="2010"/>
                  </a:lnTo>
                  <a:lnTo>
                    <a:pt x="924" y="2010"/>
                  </a:lnTo>
                  <a:lnTo>
                    <a:pt x="924" y="2016"/>
                  </a:lnTo>
                  <a:lnTo>
                    <a:pt x="918" y="2016"/>
                  </a:lnTo>
                  <a:lnTo>
                    <a:pt x="912" y="2016"/>
                  </a:lnTo>
                  <a:lnTo>
                    <a:pt x="918" y="2022"/>
                  </a:lnTo>
                  <a:lnTo>
                    <a:pt x="918" y="2028"/>
                  </a:lnTo>
                  <a:lnTo>
                    <a:pt x="912" y="2028"/>
                  </a:lnTo>
                  <a:lnTo>
                    <a:pt x="912" y="2034"/>
                  </a:lnTo>
                  <a:lnTo>
                    <a:pt x="912" y="2040"/>
                  </a:lnTo>
                  <a:lnTo>
                    <a:pt x="912" y="2046"/>
                  </a:lnTo>
                  <a:lnTo>
                    <a:pt x="906" y="2052"/>
                  </a:lnTo>
                  <a:lnTo>
                    <a:pt x="912" y="2052"/>
                  </a:lnTo>
                  <a:lnTo>
                    <a:pt x="912" y="2058"/>
                  </a:lnTo>
                  <a:lnTo>
                    <a:pt x="912" y="2064"/>
                  </a:lnTo>
                  <a:lnTo>
                    <a:pt x="918" y="2064"/>
                  </a:lnTo>
                  <a:lnTo>
                    <a:pt x="918" y="2070"/>
                  </a:lnTo>
                  <a:lnTo>
                    <a:pt x="918" y="2076"/>
                  </a:lnTo>
                  <a:lnTo>
                    <a:pt x="912" y="2076"/>
                  </a:lnTo>
                  <a:lnTo>
                    <a:pt x="912" y="2082"/>
                  </a:lnTo>
                  <a:lnTo>
                    <a:pt x="912" y="2088"/>
                  </a:lnTo>
                  <a:lnTo>
                    <a:pt x="912" y="2094"/>
                  </a:lnTo>
                  <a:lnTo>
                    <a:pt x="912" y="2100"/>
                  </a:lnTo>
                  <a:lnTo>
                    <a:pt x="906" y="2100"/>
                  </a:lnTo>
                  <a:lnTo>
                    <a:pt x="912" y="2100"/>
                  </a:lnTo>
                  <a:lnTo>
                    <a:pt x="906" y="2100"/>
                  </a:lnTo>
                  <a:lnTo>
                    <a:pt x="912" y="2100"/>
                  </a:lnTo>
                  <a:lnTo>
                    <a:pt x="912" y="2106"/>
                  </a:lnTo>
                  <a:lnTo>
                    <a:pt x="912" y="2112"/>
                  </a:lnTo>
                  <a:lnTo>
                    <a:pt x="918" y="2112"/>
                  </a:lnTo>
                  <a:lnTo>
                    <a:pt x="918" y="2118"/>
                  </a:lnTo>
                  <a:lnTo>
                    <a:pt x="918" y="2124"/>
                  </a:lnTo>
                  <a:lnTo>
                    <a:pt x="918" y="2130"/>
                  </a:lnTo>
                  <a:lnTo>
                    <a:pt x="918" y="2136"/>
                  </a:lnTo>
                  <a:lnTo>
                    <a:pt x="918" y="2142"/>
                  </a:lnTo>
                  <a:lnTo>
                    <a:pt x="924" y="2148"/>
                  </a:lnTo>
                  <a:lnTo>
                    <a:pt x="924" y="2154"/>
                  </a:lnTo>
                  <a:lnTo>
                    <a:pt x="924" y="2160"/>
                  </a:lnTo>
                  <a:lnTo>
                    <a:pt x="930" y="2166"/>
                  </a:lnTo>
                  <a:lnTo>
                    <a:pt x="930" y="2172"/>
                  </a:lnTo>
                  <a:lnTo>
                    <a:pt x="930" y="2178"/>
                  </a:lnTo>
                  <a:lnTo>
                    <a:pt x="936" y="2178"/>
                  </a:lnTo>
                  <a:lnTo>
                    <a:pt x="942" y="2196"/>
                  </a:lnTo>
                  <a:lnTo>
                    <a:pt x="942" y="2202"/>
                  </a:lnTo>
                  <a:lnTo>
                    <a:pt x="942" y="2208"/>
                  </a:lnTo>
                  <a:lnTo>
                    <a:pt x="948" y="2208"/>
                  </a:lnTo>
                  <a:lnTo>
                    <a:pt x="948" y="2214"/>
                  </a:lnTo>
                  <a:lnTo>
                    <a:pt x="948" y="2220"/>
                  </a:lnTo>
                  <a:lnTo>
                    <a:pt x="954" y="2220"/>
                  </a:lnTo>
                  <a:lnTo>
                    <a:pt x="954" y="2226"/>
                  </a:lnTo>
                  <a:lnTo>
                    <a:pt x="960" y="2226"/>
                  </a:lnTo>
                  <a:lnTo>
                    <a:pt x="960" y="2232"/>
                  </a:lnTo>
                  <a:lnTo>
                    <a:pt x="966" y="2238"/>
                  </a:lnTo>
                  <a:lnTo>
                    <a:pt x="972" y="2244"/>
                  </a:lnTo>
                  <a:lnTo>
                    <a:pt x="978" y="2250"/>
                  </a:lnTo>
                  <a:lnTo>
                    <a:pt x="978" y="2256"/>
                  </a:lnTo>
                  <a:lnTo>
                    <a:pt x="984" y="2262"/>
                  </a:lnTo>
                  <a:lnTo>
                    <a:pt x="990" y="2262"/>
                  </a:lnTo>
                  <a:lnTo>
                    <a:pt x="996" y="2268"/>
                  </a:lnTo>
                  <a:lnTo>
                    <a:pt x="1002" y="2268"/>
                  </a:lnTo>
                  <a:lnTo>
                    <a:pt x="1002" y="2274"/>
                  </a:lnTo>
                  <a:lnTo>
                    <a:pt x="1008" y="2274"/>
                  </a:lnTo>
                  <a:lnTo>
                    <a:pt x="1008" y="2280"/>
                  </a:lnTo>
                  <a:lnTo>
                    <a:pt x="1008" y="2286"/>
                  </a:lnTo>
                  <a:lnTo>
                    <a:pt x="1002" y="2286"/>
                  </a:lnTo>
                  <a:lnTo>
                    <a:pt x="1008" y="2292"/>
                  </a:lnTo>
                  <a:lnTo>
                    <a:pt x="1002" y="2292"/>
                  </a:lnTo>
                  <a:lnTo>
                    <a:pt x="1002" y="2298"/>
                  </a:lnTo>
                  <a:lnTo>
                    <a:pt x="1002" y="2292"/>
                  </a:lnTo>
                  <a:lnTo>
                    <a:pt x="1002" y="2298"/>
                  </a:lnTo>
                  <a:lnTo>
                    <a:pt x="996" y="2298"/>
                  </a:lnTo>
                  <a:lnTo>
                    <a:pt x="996" y="2292"/>
                  </a:lnTo>
                  <a:lnTo>
                    <a:pt x="990" y="2292"/>
                  </a:lnTo>
                  <a:lnTo>
                    <a:pt x="984" y="2286"/>
                  </a:lnTo>
                  <a:lnTo>
                    <a:pt x="984" y="2292"/>
                  </a:lnTo>
                  <a:lnTo>
                    <a:pt x="978" y="2292"/>
                  </a:lnTo>
                  <a:lnTo>
                    <a:pt x="978" y="2286"/>
                  </a:lnTo>
                  <a:lnTo>
                    <a:pt x="972" y="2286"/>
                  </a:lnTo>
                  <a:lnTo>
                    <a:pt x="978" y="2292"/>
                  </a:lnTo>
                  <a:lnTo>
                    <a:pt x="984" y="2292"/>
                  </a:lnTo>
                  <a:lnTo>
                    <a:pt x="984" y="2298"/>
                  </a:lnTo>
                  <a:lnTo>
                    <a:pt x="990" y="2292"/>
                  </a:lnTo>
                  <a:lnTo>
                    <a:pt x="990" y="2298"/>
                  </a:lnTo>
                  <a:lnTo>
                    <a:pt x="996" y="2298"/>
                  </a:lnTo>
                  <a:lnTo>
                    <a:pt x="996" y="2304"/>
                  </a:lnTo>
                  <a:lnTo>
                    <a:pt x="990" y="2304"/>
                  </a:lnTo>
                  <a:lnTo>
                    <a:pt x="984" y="2298"/>
                  </a:lnTo>
                  <a:lnTo>
                    <a:pt x="978" y="2298"/>
                  </a:lnTo>
                  <a:lnTo>
                    <a:pt x="984" y="2304"/>
                  </a:lnTo>
                  <a:lnTo>
                    <a:pt x="990" y="2304"/>
                  </a:lnTo>
                  <a:lnTo>
                    <a:pt x="984" y="2304"/>
                  </a:lnTo>
                  <a:lnTo>
                    <a:pt x="990" y="2304"/>
                  </a:lnTo>
                  <a:lnTo>
                    <a:pt x="990" y="2310"/>
                  </a:lnTo>
                  <a:lnTo>
                    <a:pt x="984" y="2310"/>
                  </a:lnTo>
                  <a:lnTo>
                    <a:pt x="990" y="2310"/>
                  </a:lnTo>
                  <a:lnTo>
                    <a:pt x="990" y="2316"/>
                  </a:lnTo>
                  <a:lnTo>
                    <a:pt x="990" y="2310"/>
                  </a:lnTo>
                  <a:lnTo>
                    <a:pt x="984" y="2310"/>
                  </a:lnTo>
                  <a:lnTo>
                    <a:pt x="978" y="2310"/>
                  </a:lnTo>
                  <a:lnTo>
                    <a:pt x="978" y="2304"/>
                  </a:lnTo>
                  <a:lnTo>
                    <a:pt x="978" y="2298"/>
                  </a:lnTo>
                  <a:lnTo>
                    <a:pt x="978" y="2304"/>
                  </a:lnTo>
                  <a:lnTo>
                    <a:pt x="972" y="2304"/>
                  </a:lnTo>
                  <a:lnTo>
                    <a:pt x="978" y="2298"/>
                  </a:lnTo>
                  <a:lnTo>
                    <a:pt x="972" y="2298"/>
                  </a:lnTo>
                  <a:lnTo>
                    <a:pt x="978" y="2298"/>
                  </a:lnTo>
                  <a:lnTo>
                    <a:pt x="972" y="2298"/>
                  </a:lnTo>
                  <a:lnTo>
                    <a:pt x="978" y="2298"/>
                  </a:lnTo>
                  <a:lnTo>
                    <a:pt x="972" y="2298"/>
                  </a:lnTo>
                  <a:lnTo>
                    <a:pt x="972" y="2292"/>
                  </a:lnTo>
                  <a:lnTo>
                    <a:pt x="966" y="2292"/>
                  </a:lnTo>
                  <a:lnTo>
                    <a:pt x="966" y="2286"/>
                  </a:lnTo>
                  <a:lnTo>
                    <a:pt x="966" y="2292"/>
                  </a:lnTo>
                  <a:lnTo>
                    <a:pt x="966" y="2286"/>
                  </a:lnTo>
                  <a:lnTo>
                    <a:pt x="966" y="2292"/>
                  </a:lnTo>
                  <a:lnTo>
                    <a:pt x="960" y="2292"/>
                  </a:lnTo>
                  <a:lnTo>
                    <a:pt x="960" y="2286"/>
                  </a:lnTo>
                  <a:lnTo>
                    <a:pt x="960" y="2280"/>
                  </a:lnTo>
                  <a:lnTo>
                    <a:pt x="966" y="2280"/>
                  </a:lnTo>
                  <a:lnTo>
                    <a:pt x="960" y="2280"/>
                  </a:lnTo>
                  <a:lnTo>
                    <a:pt x="960" y="2286"/>
                  </a:lnTo>
                  <a:lnTo>
                    <a:pt x="954" y="2280"/>
                  </a:lnTo>
                  <a:lnTo>
                    <a:pt x="960" y="2280"/>
                  </a:lnTo>
                  <a:lnTo>
                    <a:pt x="954" y="2280"/>
                  </a:lnTo>
                  <a:lnTo>
                    <a:pt x="948" y="2280"/>
                  </a:lnTo>
                  <a:lnTo>
                    <a:pt x="954" y="2280"/>
                  </a:lnTo>
                  <a:lnTo>
                    <a:pt x="954" y="2286"/>
                  </a:lnTo>
                  <a:lnTo>
                    <a:pt x="948" y="2286"/>
                  </a:lnTo>
                  <a:lnTo>
                    <a:pt x="954" y="2286"/>
                  </a:lnTo>
                  <a:lnTo>
                    <a:pt x="954" y="2292"/>
                  </a:lnTo>
                  <a:lnTo>
                    <a:pt x="948" y="2292"/>
                  </a:lnTo>
                  <a:lnTo>
                    <a:pt x="954" y="2292"/>
                  </a:lnTo>
                  <a:lnTo>
                    <a:pt x="960" y="2292"/>
                  </a:lnTo>
                  <a:lnTo>
                    <a:pt x="954" y="2292"/>
                  </a:lnTo>
                  <a:lnTo>
                    <a:pt x="954" y="2286"/>
                  </a:lnTo>
                  <a:lnTo>
                    <a:pt x="960" y="2286"/>
                  </a:lnTo>
                  <a:lnTo>
                    <a:pt x="960" y="2292"/>
                  </a:lnTo>
                  <a:lnTo>
                    <a:pt x="960" y="2298"/>
                  </a:lnTo>
                  <a:lnTo>
                    <a:pt x="966" y="2298"/>
                  </a:lnTo>
                  <a:lnTo>
                    <a:pt x="966" y="2304"/>
                  </a:lnTo>
                  <a:lnTo>
                    <a:pt x="966" y="2298"/>
                  </a:lnTo>
                  <a:lnTo>
                    <a:pt x="960" y="2298"/>
                  </a:lnTo>
                  <a:lnTo>
                    <a:pt x="960" y="2304"/>
                  </a:lnTo>
                  <a:lnTo>
                    <a:pt x="966" y="2304"/>
                  </a:lnTo>
                  <a:lnTo>
                    <a:pt x="960" y="2304"/>
                  </a:lnTo>
                  <a:lnTo>
                    <a:pt x="954" y="2304"/>
                  </a:lnTo>
                  <a:lnTo>
                    <a:pt x="954" y="2298"/>
                  </a:lnTo>
                  <a:lnTo>
                    <a:pt x="948" y="2298"/>
                  </a:lnTo>
                  <a:lnTo>
                    <a:pt x="948" y="2292"/>
                  </a:lnTo>
                  <a:lnTo>
                    <a:pt x="942" y="2292"/>
                  </a:lnTo>
                  <a:lnTo>
                    <a:pt x="948" y="2292"/>
                  </a:lnTo>
                  <a:lnTo>
                    <a:pt x="942" y="2292"/>
                  </a:lnTo>
                  <a:lnTo>
                    <a:pt x="936" y="2286"/>
                  </a:lnTo>
                  <a:lnTo>
                    <a:pt x="942" y="2292"/>
                  </a:lnTo>
                  <a:lnTo>
                    <a:pt x="936" y="2292"/>
                  </a:lnTo>
                  <a:lnTo>
                    <a:pt x="936" y="2286"/>
                  </a:lnTo>
                  <a:lnTo>
                    <a:pt x="930" y="2286"/>
                  </a:lnTo>
                  <a:lnTo>
                    <a:pt x="930" y="2292"/>
                  </a:lnTo>
                  <a:lnTo>
                    <a:pt x="936" y="2292"/>
                  </a:lnTo>
                  <a:lnTo>
                    <a:pt x="936" y="2298"/>
                  </a:lnTo>
                  <a:lnTo>
                    <a:pt x="936" y="2304"/>
                  </a:lnTo>
                  <a:lnTo>
                    <a:pt x="936" y="2298"/>
                  </a:lnTo>
                  <a:lnTo>
                    <a:pt x="930" y="2298"/>
                  </a:lnTo>
                  <a:lnTo>
                    <a:pt x="936" y="2298"/>
                  </a:lnTo>
                  <a:lnTo>
                    <a:pt x="930" y="2298"/>
                  </a:lnTo>
                  <a:lnTo>
                    <a:pt x="924" y="2298"/>
                  </a:lnTo>
                  <a:lnTo>
                    <a:pt x="924" y="2292"/>
                  </a:lnTo>
                  <a:lnTo>
                    <a:pt x="918" y="2292"/>
                  </a:lnTo>
                  <a:lnTo>
                    <a:pt x="924" y="2292"/>
                  </a:lnTo>
                  <a:lnTo>
                    <a:pt x="924" y="2298"/>
                  </a:lnTo>
                  <a:lnTo>
                    <a:pt x="924" y="2292"/>
                  </a:lnTo>
                  <a:lnTo>
                    <a:pt x="918" y="2286"/>
                  </a:lnTo>
                  <a:lnTo>
                    <a:pt x="924" y="2286"/>
                  </a:lnTo>
                  <a:lnTo>
                    <a:pt x="924" y="2292"/>
                  </a:lnTo>
                  <a:lnTo>
                    <a:pt x="930" y="2292"/>
                  </a:lnTo>
                  <a:lnTo>
                    <a:pt x="930" y="2286"/>
                  </a:lnTo>
                  <a:lnTo>
                    <a:pt x="924" y="2286"/>
                  </a:lnTo>
                  <a:lnTo>
                    <a:pt x="918" y="2280"/>
                  </a:lnTo>
                  <a:lnTo>
                    <a:pt x="918" y="2286"/>
                  </a:lnTo>
                  <a:lnTo>
                    <a:pt x="924" y="2286"/>
                  </a:lnTo>
                  <a:lnTo>
                    <a:pt x="924" y="2292"/>
                  </a:lnTo>
                  <a:lnTo>
                    <a:pt x="930" y="2292"/>
                  </a:lnTo>
                  <a:lnTo>
                    <a:pt x="924" y="2292"/>
                  </a:lnTo>
                  <a:lnTo>
                    <a:pt x="924" y="2286"/>
                  </a:lnTo>
                  <a:lnTo>
                    <a:pt x="918" y="2286"/>
                  </a:lnTo>
                  <a:lnTo>
                    <a:pt x="912" y="2286"/>
                  </a:lnTo>
                  <a:lnTo>
                    <a:pt x="912" y="2280"/>
                  </a:lnTo>
                  <a:lnTo>
                    <a:pt x="906" y="2280"/>
                  </a:lnTo>
                  <a:lnTo>
                    <a:pt x="912" y="2286"/>
                  </a:lnTo>
                  <a:lnTo>
                    <a:pt x="912" y="2292"/>
                  </a:lnTo>
                  <a:lnTo>
                    <a:pt x="906" y="2286"/>
                  </a:lnTo>
                  <a:lnTo>
                    <a:pt x="900" y="2286"/>
                  </a:lnTo>
                  <a:lnTo>
                    <a:pt x="900" y="2292"/>
                  </a:lnTo>
                  <a:lnTo>
                    <a:pt x="906" y="2292"/>
                  </a:lnTo>
                  <a:lnTo>
                    <a:pt x="906" y="2298"/>
                  </a:lnTo>
                  <a:lnTo>
                    <a:pt x="906" y="2304"/>
                  </a:lnTo>
                  <a:lnTo>
                    <a:pt x="906" y="2298"/>
                  </a:lnTo>
                  <a:lnTo>
                    <a:pt x="900" y="2298"/>
                  </a:lnTo>
                  <a:lnTo>
                    <a:pt x="900" y="2304"/>
                  </a:lnTo>
                  <a:lnTo>
                    <a:pt x="894" y="2298"/>
                  </a:lnTo>
                  <a:lnTo>
                    <a:pt x="894" y="2292"/>
                  </a:lnTo>
                  <a:lnTo>
                    <a:pt x="888" y="2292"/>
                  </a:lnTo>
                  <a:lnTo>
                    <a:pt x="882" y="2292"/>
                  </a:lnTo>
                  <a:lnTo>
                    <a:pt x="882" y="2286"/>
                  </a:lnTo>
                  <a:lnTo>
                    <a:pt x="876" y="2286"/>
                  </a:lnTo>
                  <a:lnTo>
                    <a:pt x="876" y="2280"/>
                  </a:lnTo>
                  <a:lnTo>
                    <a:pt x="876" y="2274"/>
                  </a:lnTo>
                  <a:lnTo>
                    <a:pt x="870" y="2274"/>
                  </a:lnTo>
                  <a:lnTo>
                    <a:pt x="870" y="2280"/>
                  </a:lnTo>
                  <a:lnTo>
                    <a:pt x="864" y="2280"/>
                  </a:lnTo>
                  <a:lnTo>
                    <a:pt x="870" y="2280"/>
                  </a:lnTo>
                  <a:lnTo>
                    <a:pt x="876" y="2286"/>
                  </a:lnTo>
                  <a:lnTo>
                    <a:pt x="882" y="2286"/>
                  </a:lnTo>
                  <a:lnTo>
                    <a:pt x="882" y="2292"/>
                  </a:lnTo>
                  <a:lnTo>
                    <a:pt x="876" y="2292"/>
                  </a:lnTo>
                  <a:lnTo>
                    <a:pt x="870" y="2286"/>
                  </a:lnTo>
                  <a:lnTo>
                    <a:pt x="870" y="2280"/>
                  </a:lnTo>
                  <a:lnTo>
                    <a:pt x="864" y="2280"/>
                  </a:lnTo>
                  <a:lnTo>
                    <a:pt x="864" y="2274"/>
                  </a:lnTo>
                  <a:lnTo>
                    <a:pt x="858" y="2274"/>
                  </a:lnTo>
                  <a:lnTo>
                    <a:pt x="858" y="2280"/>
                  </a:lnTo>
                  <a:lnTo>
                    <a:pt x="864" y="2280"/>
                  </a:lnTo>
                  <a:lnTo>
                    <a:pt x="858" y="2280"/>
                  </a:lnTo>
                  <a:lnTo>
                    <a:pt x="852" y="2280"/>
                  </a:lnTo>
                  <a:lnTo>
                    <a:pt x="846" y="2280"/>
                  </a:lnTo>
                  <a:lnTo>
                    <a:pt x="846" y="2274"/>
                  </a:lnTo>
                  <a:lnTo>
                    <a:pt x="840" y="2268"/>
                  </a:lnTo>
                  <a:lnTo>
                    <a:pt x="840" y="2274"/>
                  </a:lnTo>
                  <a:lnTo>
                    <a:pt x="834" y="2274"/>
                  </a:lnTo>
                  <a:lnTo>
                    <a:pt x="840" y="2274"/>
                  </a:lnTo>
                  <a:lnTo>
                    <a:pt x="834" y="2274"/>
                  </a:lnTo>
                  <a:lnTo>
                    <a:pt x="834" y="2268"/>
                  </a:lnTo>
                  <a:lnTo>
                    <a:pt x="828" y="2262"/>
                  </a:lnTo>
                  <a:lnTo>
                    <a:pt x="828" y="2268"/>
                  </a:lnTo>
                  <a:lnTo>
                    <a:pt x="822" y="2268"/>
                  </a:lnTo>
                  <a:lnTo>
                    <a:pt x="828" y="2268"/>
                  </a:lnTo>
                  <a:lnTo>
                    <a:pt x="822" y="2268"/>
                  </a:lnTo>
                  <a:lnTo>
                    <a:pt x="822" y="2262"/>
                  </a:lnTo>
                  <a:lnTo>
                    <a:pt x="816" y="2262"/>
                  </a:lnTo>
                  <a:lnTo>
                    <a:pt x="822" y="2262"/>
                  </a:lnTo>
                  <a:lnTo>
                    <a:pt x="828" y="2262"/>
                  </a:lnTo>
                  <a:lnTo>
                    <a:pt x="828" y="2256"/>
                  </a:lnTo>
                  <a:lnTo>
                    <a:pt x="828" y="2262"/>
                  </a:lnTo>
                  <a:lnTo>
                    <a:pt x="834" y="2262"/>
                  </a:lnTo>
                  <a:lnTo>
                    <a:pt x="834" y="2268"/>
                  </a:lnTo>
                  <a:lnTo>
                    <a:pt x="834" y="2262"/>
                  </a:lnTo>
                  <a:lnTo>
                    <a:pt x="834" y="2250"/>
                  </a:lnTo>
                  <a:lnTo>
                    <a:pt x="834" y="2244"/>
                  </a:lnTo>
                  <a:lnTo>
                    <a:pt x="828" y="2238"/>
                  </a:lnTo>
                  <a:lnTo>
                    <a:pt x="828" y="2232"/>
                  </a:lnTo>
                  <a:lnTo>
                    <a:pt x="822" y="2232"/>
                  </a:lnTo>
                  <a:lnTo>
                    <a:pt x="822" y="2226"/>
                  </a:lnTo>
                  <a:lnTo>
                    <a:pt x="828" y="2226"/>
                  </a:lnTo>
                  <a:lnTo>
                    <a:pt x="822" y="2226"/>
                  </a:lnTo>
                  <a:lnTo>
                    <a:pt x="822" y="2220"/>
                  </a:lnTo>
                  <a:lnTo>
                    <a:pt x="822" y="2226"/>
                  </a:lnTo>
                  <a:lnTo>
                    <a:pt x="828" y="2226"/>
                  </a:lnTo>
                  <a:lnTo>
                    <a:pt x="828" y="2220"/>
                  </a:lnTo>
                  <a:lnTo>
                    <a:pt x="828" y="2226"/>
                  </a:lnTo>
                  <a:lnTo>
                    <a:pt x="828" y="2232"/>
                  </a:lnTo>
                  <a:lnTo>
                    <a:pt x="828" y="2226"/>
                  </a:lnTo>
                  <a:lnTo>
                    <a:pt x="828" y="2232"/>
                  </a:lnTo>
                  <a:lnTo>
                    <a:pt x="834" y="2232"/>
                  </a:lnTo>
                  <a:lnTo>
                    <a:pt x="828" y="2232"/>
                  </a:lnTo>
                  <a:lnTo>
                    <a:pt x="834" y="2232"/>
                  </a:lnTo>
                  <a:lnTo>
                    <a:pt x="840" y="2232"/>
                  </a:lnTo>
                  <a:lnTo>
                    <a:pt x="840" y="2238"/>
                  </a:lnTo>
                  <a:lnTo>
                    <a:pt x="846" y="2238"/>
                  </a:lnTo>
                  <a:lnTo>
                    <a:pt x="840" y="2232"/>
                  </a:lnTo>
                  <a:lnTo>
                    <a:pt x="840" y="2226"/>
                  </a:lnTo>
                  <a:lnTo>
                    <a:pt x="846" y="2226"/>
                  </a:lnTo>
                  <a:lnTo>
                    <a:pt x="852" y="2226"/>
                  </a:lnTo>
                  <a:lnTo>
                    <a:pt x="846" y="2220"/>
                  </a:lnTo>
                  <a:lnTo>
                    <a:pt x="852" y="2220"/>
                  </a:lnTo>
                  <a:lnTo>
                    <a:pt x="852" y="2214"/>
                  </a:lnTo>
                  <a:lnTo>
                    <a:pt x="846" y="2214"/>
                  </a:lnTo>
                  <a:lnTo>
                    <a:pt x="846" y="2220"/>
                  </a:lnTo>
                  <a:lnTo>
                    <a:pt x="840" y="2220"/>
                  </a:lnTo>
                  <a:lnTo>
                    <a:pt x="840" y="2214"/>
                  </a:lnTo>
                  <a:lnTo>
                    <a:pt x="840" y="2220"/>
                  </a:lnTo>
                  <a:lnTo>
                    <a:pt x="834" y="2220"/>
                  </a:lnTo>
                  <a:lnTo>
                    <a:pt x="834" y="2214"/>
                  </a:lnTo>
                  <a:lnTo>
                    <a:pt x="828" y="2214"/>
                  </a:lnTo>
                  <a:lnTo>
                    <a:pt x="822" y="2202"/>
                  </a:lnTo>
                  <a:lnTo>
                    <a:pt x="816" y="2202"/>
                  </a:lnTo>
                  <a:lnTo>
                    <a:pt x="810" y="2196"/>
                  </a:lnTo>
                  <a:lnTo>
                    <a:pt x="810" y="2190"/>
                  </a:lnTo>
                  <a:lnTo>
                    <a:pt x="810" y="2184"/>
                  </a:lnTo>
                  <a:lnTo>
                    <a:pt x="816" y="2184"/>
                  </a:lnTo>
                  <a:lnTo>
                    <a:pt x="816" y="2190"/>
                  </a:lnTo>
                  <a:lnTo>
                    <a:pt x="810" y="2190"/>
                  </a:lnTo>
                  <a:lnTo>
                    <a:pt x="816" y="2196"/>
                  </a:lnTo>
                  <a:lnTo>
                    <a:pt x="816" y="2202"/>
                  </a:lnTo>
                  <a:lnTo>
                    <a:pt x="822" y="2202"/>
                  </a:lnTo>
                  <a:lnTo>
                    <a:pt x="816" y="2196"/>
                  </a:lnTo>
                  <a:lnTo>
                    <a:pt x="816" y="2190"/>
                  </a:lnTo>
                  <a:lnTo>
                    <a:pt x="816" y="2184"/>
                  </a:lnTo>
                  <a:lnTo>
                    <a:pt x="816" y="2178"/>
                  </a:lnTo>
                  <a:lnTo>
                    <a:pt x="816" y="2172"/>
                  </a:lnTo>
                  <a:lnTo>
                    <a:pt x="822" y="2166"/>
                  </a:lnTo>
                  <a:lnTo>
                    <a:pt x="822" y="2160"/>
                  </a:lnTo>
                  <a:lnTo>
                    <a:pt x="816" y="2166"/>
                  </a:lnTo>
                  <a:lnTo>
                    <a:pt x="816" y="2172"/>
                  </a:lnTo>
                  <a:lnTo>
                    <a:pt x="810" y="2178"/>
                  </a:lnTo>
                  <a:lnTo>
                    <a:pt x="810" y="2172"/>
                  </a:lnTo>
                  <a:lnTo>
                    <a:pt x="810" y="2178"/>
                  </a:lnTo>
                  <a:lnTo>
                    <a:pt x="810" y="2184"/>
                  </a:lnTo>
                  <a:lnTo>
                    <a:pt x="804" y="2178"/>
                  </a:lnTo>
                  <a:lnTo>
                    <a:pt x="804" y="2172"/>
                  </a:lnTo>
                  <a:lnTo>
                    <a:pt x="804" y="2166"/>
                  </a:lnTo>
                  <a:lnTo>
                    <a:pt x="804" y="2172"/>
                  </a:lnTo>
                  <a:lnTo>
                    <a:pt x="804" y="2178"/>
                  </a:lnTo>
                  <a:lnTo>
                    <a:pt x="804" y="2172"/>
                  </a:lnTo>
                  <a:lnTo>
                    <a:pt x="804" y="2178"/>
                  </a:lnTo>
                  <a:lnTo>
                    <a:pt x="798" y="2178"/>
                  </a:lnTo>
                  <a:lnTo>
                    <a:pt x="804" y="2178"/>
                  </a:lnTo>
                  <a:lnTo>
                    <a:pt x="798" y="2178"/>
                  </a:lnTo>
                  <a:lnTo>
                    <a:pt x="798" y="2172"/>
                  </a:lnTo>
                  <a:lnTo>
                    <a:pt x="798" y="2178"/>
                  </a:lnTo>
                  <a:lnTo>
                    <a:pt x="798" y="2184"/>
                  </a:lnTo>
                  <a:lnTo>
                    <a:pt x="804" y="2184"/>
                  </a:lnTo>
                  <a:lnTo>
                    <a:pt x="798" y="2184"/>
                  </a:lnTo>
                  <a:lnTo>
                    <a:pt x="798" y="2190"/>
                  </a:lnTo>
                  <a:lnTo>
                    <a:pt x="798" y="2196"/>
                  </a:lnTo>
                  <a:lnTo>
                    <a:pt x="804" y="2196"/>
                  </a:lnTo>
                  <a:lnTo>
                    <a:pt x="804" y="2202"/>
                  </a:lnTo>
                  <a:lnTo>
                    <a:pt x="804" y="2208"/>
                  </a:lnTo>
                  <a:lnTo>
                    <a:pt x="804" y="2202"/>
                  </a:lnTo>
                  <a:lnTo>
                    <a:pt x="798" y="2202"/>
                  </a:lnTo>
                  <a:lnTo>
                    <a:pt x="804" y="2202"/>
                  </a:lnTo>
                  <a:lnTo>
                    <a:pt x="798" y="2202"/>
                  </a:lnTo>
                  <a:lnTo>
                    <a:pt x="798" y="2196"/>
                  </a:lnTo>
                  <a:lnTo>
                    <a:pt x="798" y="2190"/>
                  </a:lnTo>
                  <a:lnTo>
                    <a:pt x="792" y="2190"/>
                  </a:lnTo>
                  <a:lnTo>
                    <a:pt x="798" y="2196"/>
                  </a:lnTo>
                  <a:lnTo>
                    <a:pt x="792" y="2196"/>
                  </a:lnTo>
                  <a:lnTo>
                    <a:pt x="798" y="2202"/>
                  </a:lnTo>
                  <a:lnTo>
                    <a:pt x="804" y="2208"/>
                  </a:lnTo>
                  <a:lnTo>
                    <a:pt x="810" y="2208"/>
                  </a:lnTo>
                  <a:lnTo>
                    <a:pt x="810" y="2202"/>
                  </a:lnTo>
                  <a:lnTo>
                    <a:pt x="810" y="2208"/>
                  </a:lnTo>
                  <a:lnTo>
                    <a:pt x="810" y="2202"/>
                  </a:lnTo>
                  <a:lnTo>
                    <a:pt x="810" y="2208"/>
                  </a:lnTo>
                  <a:lnTo>
                    <a:pt x="810" y="2214"/>
                  </a:lnTo>
                  <a:lnTo>
                    <a:pt x="816" y="2214"/>
                  </a:lnTo>
                  <a:lnTo>
                    <a:pt x="810" y="2214"/>
                  </a:lnTo>
                  <a:lnTo>
                    <a:pt x="810" y="2220"/>
                  </a:lnTo>
                  <a:lnTo>
                    <a:pt x="810" y="2226"/>
                  </a:lnTo>
                  <a:lnTo>
                    <a:pt x="810" y="2232"/>
                  </a:lnTo>
                  <a:lnTo>
                    <a:pt x="804" y="2232"/>
                  </a:lnTo>
                  <a:lnTo>
                    <a:pt x="804" y="2238"/>
                  </a:lnTo>
                  <a:lnTo>
                    <a:pt x="804" y="2244"/>
                  </a:lnTo>
                  <a:lnTo>
                    <a:pt x="810" y="2244"/>
                  </a:lnTo>
                  <a:lnTo>
                    <a:pt x="810" y="2250"/>
                  </a:lnTo>
                  <a:lnTo>
                    <a:pt x="804" y="2250"/>
                  </a:lnTo>
                  <a:lnTo>
                    <a:pt x="804" y="2244"/>
                  </a:lnTo>
                  <a:lnTo>
                    <a:pt x="798" y="2238"/>
                  </a:lnTo>
                  <a:lnTo>
                    <a:pt x="798" y="2232"/>
                  </a:lnTo>
                  <a:lnTo>
                    <a:pt x="792" y="2232"/>
                  </a:lnTo>
                  <a:lnTo>
                    <a:pt x="792" y="2226"/>
                  </a:lnTo>
                  <a:lnTo>
                    <a:pt x="792" y="2220"/>
                  </a:lnTo>
                  <a:lnTo>
                    <a:pt x="786" y="2220"/>
                  </a:lnTo>
                  <a:lnTo>
                    <a:pt x="786" y="2214"/>
                  </a:lnTo>
                  <a:lnTo>
                    <a:pt x="786" y="2208"/>
                  </a:lnTo>
                  <a:lnTo>
                    <a:pt x="780" y="2208"/>
                  </a:lnTo>
                  <a:lnTo>
                    <a:pt x="774" y="2208"/>
                  </a:lnTo>
                  <a:lnTo>
                    <a:pt x="768" y="2208"/>
                  </a:lnTo>
                  <a:lnTo>
                    <a:pt x="768" y="2202"/>
                  </a:lnTo>
                  <a:lnTo>
                    <a:pt x="768" y="2196"/>
                  </a:lnTo>
                  <a:lnTo>
                    <a:pt x="768" y="2190"/>
                  </a:lnTo>
                  <a:lnTo>
                    <a:pt x="774" y="2190"/>
                  </a:lnTo>
                  <a:lnTo>
                    <a:pt x="780" y="2190"/>
                  </a:lnTo>
                  <a:lnTo>
                    <a:pt x="780" y="2184"/>
                  </a:lnTo>
                  <a:lnTo>
                    <a:pt x="786" y="2190"/>
                  </a:lnTo>
                  <a:lnTo>
                    <a:pt x="792" y="2190"/>
                  </a:lnTo>
                  <a:lnTo>
                    <a:pt x="792" y="2196"/>
                  </a:lnTo>
                  <a:lnTo>
                    <a:pt x="792" y="2190"/>
                  </a:lnTo>
                  <a:lnTo>
                    <a:pt x="786" y="2190"/>
                  </a:lnTo>
                  <a:lnTo>
                    <a:pt x="792" y="2190"/>
                  </a:lnTo>
                  <a:lnTo>
                    <a:pt x="786" y="2190"/>
                  </a:lnTo>
                  <a:lnTo>
                    <a:pt x="792" y="2184"/>
                  </a:lnTo>
                  <a:lnTo>
                    <a:pt x="786" y="2184"/>
                  </a:lnTo>
                  <a:lnTo>
                    <a:pt x="792" y="2184"/>
                  </a:lnTo>
                  <a:lnTo>
                    <a:pt x="792" y="2190"/>
                  </a:lnTo>
                  <a:lnTo>
                    <a:pt x="798" y="2190"/>
                  </a:lnTo>
                  <a:lnTo>
                    <a:pt x="798" y="2184"/>
                  </a:lnTo>
                  <a:lnTo>
                    <a:pt x="792" y="2178"/>
                  </a:lnTo>
                  <a:lnTo>
                    <a:pt x="798" y="2178"/>
                  </a:lnTo>
                  <a:lnTo>
                    <a:pt x="792" y="2178"/>
                  </a:lnTo>
                  <a:lnTo>
                    <a:pt x="792" y="2184"/>
                  </a:lnTo>
                  <a:lnTo>
                    <a:pt x="792" y="2178"/>
                  </a:lnTo>
                  <a:lnTo>
                    <a:pt x="786" y="2178"/>
                  </a:lnTo>
                  <a:lnTo>
                    <a:pt x="792" y="2178"/>
                  </a:lnTo>
                  <a:lnTo>
                    <a:pt x="786" y="2172"/>
                  </a:lnTo>
                  <a:lnTo>
                    <a:pt x="786" y="2166"/>
                  </a:lnTo>
                  <a:lnTo>
                    <a:pt x="786" y="2160"/>
                  </a:lnTo>
                  <a:lnTo>
                    <a:pt x="780" y="2160"/>
                  </a:lnTo>
                  <a:lnTo>
                    <a:pt x="780" y="2154"/>
                  </a:lnTo>
                  <a:lnTo>
                    <a:pt x="780" y="2160"/>
                  </a:lnTo>
                  <a:lnTo>
                    <a:pt x="780" y="2166"/>
                  </a:lnTo>
                  <a:lnTo>
                    <a:pt x="774" y="2166"/>
                  </a:lnTo>
                  <a:lnTo>
                    <a:pt x="774" y="2160"/>
                  </a:lnTo>
                  <a:lnTo>
                    <a:pt x="774" y="2166"/>
                  </a:lnTo>
                  <a:lnTo>
                    <a:pt x="774" y="2172"/>
                  </a:lnTo>
                  <a:lnTo>
                    <a:pt x="774" y="2178"/>
                  </a:lnTo>
                  <a:lnTo>
                    <a:pt x="774" y="2172"/>
                  </a:lnTo>
                  <a:lnTo>
                    <a:pt x="768" y="2166"/>
                  </a:lnTo>
                  <a:lnTo>
                    <a:pt x="768" y="2160"/>
                  </a:lnTo>
                  <a:lnTo>
                    <a:pt x="768" y="2166"/>
                  </a:lnTo>
                  <a:lnTo>
                    <a:pt x="762" y="2160"/>
                  </a:lnTo>
                  <a:lnTo>
                    <a:pt x="762" y="2166"/>
                  </a:lnTo>
                  <a:lnTo>
                    <a:pt x="768" y="2172"/>
                  </a:lnTo>
                  <a:lnTo>
                    <a:pt x="762" y="2172"/>
                  </a:lnTo>
                  <a:lnTo>
                    <a:pt x="762" y="2178"/>
                  </a:lnTo>
                  <a:lnTo>
                    <a:pt x="756" y="2178"/>
                  </a:lnTo>
                  <a:lnTo>
                    <a:pt x="756" y="2172"/>
                  </a:lnTo>
                  <a:lnTo>
                    <a:pt x="750" y="2172"/>
                  </a:lnTo>
                  <a:lnTo>
                    <a:pt x="750" y="2178"/>
                  </a:lnTo>
                  <a:lnTo>
                    <a:pt x="750" y="2172"/>
                  </a:lnTo>
                  <a:lnTo>
                    <a:pt x="744" y="2166"/>
                  </a:lnTo>
                  <a:lnTo>
                    <a:pt x="738" y="2166"/>
                  </a:lnTo>
                  <a:lnTo>
                    <a:pt x="738" y="2160"/>
                  </a:lnTo>
                  <a:lnTo>
                    <a:pt x="738" y="2154"/>
                  </a:lnTo>
                  <a:lnTo>
                    <a:pt x="732" y="2148"/>
                  </a:lnTo>
                  <a:lnTo>
                    <a:pt x="732" y="2142"/>
                  </a:lnTo>
                  <a:lnTo>
                    <a:pt x="732" y="2136"/>
                  </a:lnTo>
                  <a:lnTo>
                    <a:pt x="732" y="2130"/>
                  </a:lnTo>
                  <a:close/>
                  <a:moveTo>
                    <a:pt x="516" y="462"/>
                  </a:moveTo>
                  <a:lnTo>
                    <a:pt x="516" y="456"/>
                  </a:lnTo>
                  <a:lnTo>
                    <a:pt x="522" y="450"/>
                  </a:lnTo>
                  <a:lnTo>
                    <a:pt x="528" y="444"/>
                  </a:lnTo>
                  <a:lnTo>
                    <a:pt x="528" y="438"/>
                  </a:lnTo>
                  <a:lnTo>
                    <a:pt x="534" y="438"/>
                  </a:lnTo>
                  <a:lnTo>
                    <a:pt x="540" y="438"/>
                  </a:lnTo>
                  <a:lnTo>
                    <a:pt x="540" y="444"/>
                  </a:lnTo>
                  <a:lnTo>
                    <a:pt x="540" y="450"/>
                  </a:lnTo>
                  <a:lnTo>
                    <a:pt x="540" y="456"/>
                  </a:lnTo>
                  <a:lnTo>
                    <a:pt x="546" y="456"/>
                  </a:lnTo>
                  <a:lnTo>
                    <a:pt x="546" y="450"/>
                  </a:lnTo>
                  <a:lnTo>
                    <a:pt x="546" y="456"/>
                  </a:lnTo>
                  <a:lnTo>
                    <a:pt x="552" y="450"/>
                  </a:lnTo>
                  <a:lnTo>
                    <a:pt x="552" y="456"/>
                  </a:lnTo>
                  <a:lnTo>
                    <a:pt x="552" y="462"/>
                  </a:lnTo>
                  <a:lnTo>
                    <a:pt x="558" y="462"/>
                  </a:lnTo>
                  <a:lnTo>
                    <a:pt x="558" y="456"/>
                  </a:lnTo>
                  <a:lnTo>
                    <a:pt x="564" y="456"/>
                  </a:lnTo>
                  <a:lnTo>
                    <a:pt x="564" y="462"/>
                  </a:lnTo>
                  <a:lnTo>
                    <a:pt x="564" y="456"/>
                  </a:lnTo>
                  <a:lnTo>
                    <a:pt x="576" y="456"/>
                  </a:lnTo>
                  <a:lnTo>
                    <a:pt x="570" y="456"/>
                  </a:lnTo>
                  <a:lnTo>
                    <a:pt x="570" y="450"/>
                  </a:lnTo>
                  <a:lnTo>
                    <a:pt x="564" y="450"/>
                  </a:lnTo>
                  <a:lnTo>
                    <a:pt x="570" y="450"/>
                  </a:lnTo>
                  <a:lnTo>
                    <a:pt x="576" y="450"/>
                  </a:lnTo>
                  <a:lnTo>
                    <a:pt x="576" y="444"/>
                  </a:lnTo>
                  <a:lnTo>
                    <a:pt x="564" y="444"/>
                  </a:lnTo>
                  <a:lnTo>
                    <a:pt x="558" y="444"/>
                  </a:lnTo>
                  <a:lnTo>
                    <a:pt x="558" y="438"/>
                  </a:lnTo>
                  <a:lnTo>
                    <a:pt x="552" y="438"/>
                  </a:lnTo>
                  <a:lnTo>
                    <a:pt x="552" y="432"/>
                  </a:lnTo>
                  <a:lnTo>
                    <a:pt x="558" y="432"/>
                  </a:lnTo>
                  <a:lnTo>
                    <a:pt x="564" y="432"/>
                  </a:lnTo>
                  <a:lnTo>
                    <a:pt x="570" y="432"/>
                  </a:lnTo>
                  <a:lnTo>
                    <a:pt x="576" y="426"/>
                  </a:lnTo>
                  <a:lnTo>
                    <a:pt x="576" y="432"/>
                  </a:lnTo>
                  <a:lnTo>
                    <a:pt x="582" y="432"/>
                  </a:lnTo>
                  <a:lnTo>
                    <a:pt x="588" y="432"/>
                  </a:lnTo>
                  <a:lnTo>
                    <a:pt x="588" y="426"/>
                  </a:lnTo>
                  <a:lnTo>
                    <a:pt x="582" y="426"/>
                  </a:lnTo>
                  <a:lnTo>
                    <a:pt x="582" y="420"/>
                  </a:lnTo>
                  <a:lnTo>
                    <a:pt x="582" y="414"/>
                  </a:lnTo>
                  <a:lnTo>
                    <a:pt x="570" y="414"/>
                  </a:lnTo>
                  <a:lnTo>
                    <a:pt x="564" y="414"/>
                  </a:lnTo>
                  <a:lnTo>
                    <a:pt x="552" y="420"/>
                  </a:lnTo>
                  <a:lnTo>
                    <a:pt x="546" y="420"/>
                  </a:lnTo>
                  <a:lnTo>
                    <a:pt x="546" y="414"/>
                  </a:lnTo>
                  <a:lnTo>
                    <a:pt x="552" y="414"/>
                  </a:lnTo>
                  <a:lnTo>
                    <a:pt x="552" y="408"/>
                  </a:lnTo>
                  <a:lnTo>
                    <a:pt x="564" y="402"/>
                  </a:lnTo>
                  <a:lnTo>
                    <a:pt x="570" y="396"/>
                  </a:lnTo>
                  <a:lnTo>
                    <a:pt x="576" y="396"/>
                  </a:lnTo>
                  <a:lnTo>
                    <a:pt x="576" y="390"/>
                  </a:lnTo>
                  <a:lnTo>
                    <a:pt x="576" y="396"/>
                  </a:lnTo>
                  <a:lnTo>
                    <a:pt x="582" y="396"/>
                  </a:lnTo>
                  <a:lnTo>
                    <a:pt x="588" y="390"/>
                  </a:lnTo>
                  <a:lnTo>
                    <a:pt x="594" y="390"/>
                  </a:lnTo>
                  <a:lnTo>
                    <a:pt x="594" y="396"/>
                  </a:lnTo>
                  <a:lnTo>
                    <a:pt x="600" y="396"/>
                  </a:lnTo>
                  <a:lnTo>
                    <a:pt x="600" y="402"/>
                  </a:lnTo>
                  <a:lnTo>
                    <a:pt x="606" y="402"/>
                  </a:lnTo>
                  <a:lnTo>
                    <a:pt x="606" y="408"/>
                  </a:lnTo>
                  <a:lnTo>
                    <a:pt x="612" y="408"/>
                  </a:lnTo>
                  <a:lnTo>
                    <a:pt x="612" y="402"/>
                  </a:lnTo>
                  <a:lnTo>
                    <a:pt x="612" y="396"/>
                  </a:lnTo>
                  <a:lnTo>
                    <a:pt x="618" y="396"/>
                  </a:lnTo>
                  <a:lnTo>
                    <a:pt x="624" y="402"/>
                  </a:lnTo>
                  <a:lnTo>
                    <a:pt x="630" y="396"/>
                  </a:lnTo>
                  <a:lnTo>
                    <a:pt x="624" y="390"/>
                  </a:lnTo>
                  <a:lnTo>
                    <a:pt x="630" y="390"/>
                  </a:lnTo>
                  <a:lnTo>
                    <a:pt x="630" y="384"/>
                  </a:lnTo>
                  <a:lnTo>
                    <a:pt x="630" y="378"/>
                  </a:lnTo>
                  <a:lnTo>
                    <a:pt x="636" y="378"/>
                  </a:lnTo>
                  <a:lnTo>
                    <a:pt x="636" y="372"/>
                  </a:lnTo>
                  <a:lnTo>
                    <a:pt x="630" y="372"/>
                  </a:lnTo>
                  <a:lnTo>
                    <a:pt x="630" y="366"/>
                  </a:lnTo>
                  <a:lnTo>
                    <a:pt x="636" y="366"/>
                  </a:lnTo>
                  <a:lnTo>
                    <a:pt x="636" y="360"/>
                  </a:lnTo>
                  <a:lnTo>
                    <a:pt x="642" y="366"/>
                  </a:lnTo>
                  <a:lnTo>
                    <a:pt x="642" y="360"/>
                  </a:lnTo>
                  <a:lnTo>
                    <a:pt x="648" y="360"/>
                  </a:lnTo>
                  <a:lnTo>
                    <a:pt x="648" y="354"/>
                  </a:lnTo>
                  <a:lnTo>
                    <a:pt x="648" y="348"/>
                  </a:lnTo>
                  <a:lnTo>
                    <a:pt x="648" y="342"/>
                  </a:lnTo>
                  <a:lnTo>
                    <a:pt x="642" y="342"/>
                  </a:lnTo>
                  <a:lnTo>
                    <a:pt x="642" y="348"/>
                  </a:lnTo>
                  <a:lnTo>
                    <a:pt x="636" y="342"/>
                  </a:lnTo>
                  <a:lnTo>
                    <a:pt x="636" y="348"/>
                  </a:lnTo>
                  <a:lnTo>
                    <a:pt x="630" y="348"/>
                  </a:lnTo>
                  <a:lnTo>
                    <a:pt x="630" y="342"/>
                  </a:lnTo>
                  <a:lnTo>
                    <a:pt x="630" y="336"/>
                  </a:lnTo>
                  <a:lnTo>
                    <a:pt x="636" y="336"/>
                  </a:lnTo>
                  <a:lnTo>
                    <a:pt x="636" y="330"/>
                  </a:lnTo>
                  <a:lnTo>
                    <a:pt x="630" y="330"/>
                  </a:lnTo>
                  <a:lnTo>
                    <a:pt x="630" y="336"/>
                  </a:lnTo>
                  <a:lnTo>
                    <a:pt x="624" y="336"/>
                  </a:lnTo>
                  <a:lnTo>
                    <a:pt x="624" y="342"/>
                  </a:lnTo>
                  <a:lnTo>
                    <a:pt x="618" y="342"/>
                  </a:lnTo>
                  <a:lnTo>
                    <a:pt x="618" y="336"/>
                  </a:lnTo>
                  <a:lnTo>
                    <a:pt x="624" y="336"/>
                  </a:lnTo>
                  <a:lnTo>
                    <a:pt x="624" y="330"/>
                  </a:lnTo>
                  <a:lnTo>
                    <a:pt x="624" y="324"/>
                  </a:lnTo>
                  <a:lnTo>
                    <a:pt x="618" y="324"/>
                  </a:lnTo>
                  <a:lnTo>
                    <a:pt x="624" y="324"/>
                  </a:lnTo>
                  <a:lnTo>
                    <a:pt x="624" y="318"/>
                  </a:lnTo>
                  <a:lnTo>
                    <a:pt x="630" y="318"/>
                  </a:lnTo>
                  <a:lnTo>
                    <a:pt x="636" y="312"/>
                  </a:lnTo>
                  <a:lnTo>
                    <a:pt x="642" y="312"/>
                  </a:lnTo>
                  <a:lnTo>
                    <a:pt x="648" y="306"/>
                  </a:lnTo>
                  <a:lnTo>
                    <a:pt x="648" y="300"/>
                  </a:lnTo>
                  <a:lnTo>
                    <a:pt x="654" y="294"/>
                  </a:lnTo>
                  <a:lnTo>
                    <a:pt x="654" y="288"/>
                  </a:lnTo>
                  <a:lnTo>
                    <a:pt x="666" y="282"/>
                  </a:lnTo>
                  <a:lnTo>
                    <a:pt x="672" y="282"/>
                  </a:lnTo>
                  <a:lnTo>
                    <a:pt x="672" y="276"/>
                  </a:lnTo>
                  <a:lnTo>
                    <a:pt x="678" y="282"/>
                  </a:lnTo>
                  <a:lnTo>
                    <a:pt x="684" y="282"/>
                  </a:lnTo>
                  <a:lnTo>
                    <a:pt x="684" y="288"/>
                  </a:lnTo>
                  <a:lnTo>
                    <a:pt x="678" y="288"/>
                  </a:lnTo>
                  <a:lnTo>
                    <a:pt x="672" y="288"/>
                  </a:lnTo>
                  <a:lnTo>
                    <a:pt x="666" y="294"/>
                  </a:lnTo>
                  <a:lnTo>
                    <a:pt x="660" y="300"/>
                  </a:lnTo>
                  <a:lnTo>
                    <a:pt x="666" y="300"/>
                  </a:lnTo>
                  <a:lnTo>
                    <a:pt x="666" y="306"/>
                  </a:lnTo>
                  <a:lnTo>
                    <a:pt x="672" y="306"/>
                  </a:lnTo>
                  <a:lnTo>
                    <a:pt x="672" y="300"/>
                  </a:lnTo>
                  <a:lnTo>
                    <a:pt x="678" y="294"/>
                  </a:lnTo>
                  <a:lnTo>
                    <a:pt x="684" y="294"/>
                  </a:lnTo>
                  <a:lnTo>
                    <a:pt x="690" y="294"/>
                  </a:lnTo>
                  <a:lnTo>
                    <a:pt x="690" y="288"/>
                  </a:lnTo>
                  <a:lnTo>
                    <a:pt x="702" y="276"/>
                  </a:lnTo>
                  <a:lnTo>
                    <a:pt x="702" y="282"/>
                  </a:lnTo>
                  <a:lnTo>
                    <a:pt x="708" y="288"/>
                  </a:lnTo>
                  <a:lnTo>
                    <a:pt x="708" y="294"/>
                  </a:lnTo>
                  <a:lnTo>
                    <a:pt x="708" y="300"/>
                  </a:lnTo>
                  <a:lnTo>
                    <a:pt x="708" y="306"/>
                  </a:lnTo>
                  <a:lnTo>
                    <a:pt x="702" y="306"/>
                  </a:lnTo>
                  <a:lnTo>
                    <a:pt x="696" y="306"/>
                  </a:lnTo>
                  <a:lnTo>
                    <a:pt x="696" y="312"/>
                  </a:lnTo>
                  <a:lnTo>
                    <a:pt x="696" y="318"/>
                  </a:lnTo>
                  <a:lnTo>
                    <a:pt x="690" y="318"/>
                  </a:lnTo>
                  <a:lnTo>
                    <a:pt x="684" y="318"/>
                  </a:lnTo>
                  <a:lnTo>
                    <a:pt x="690" y="318"/>
                  </a:lnTo>
                  <a:lnTo>
                    <a:pt x="690" y="324"/>
                  </a:lnTo>
                  <a:lnTo>
                    <a:pt x="684" y="324"/>
                  </a:lnTo>
                  <a:lnTo>
                    <a:pt x="684" y="330"/>
                  </a:lnTo>
                  <a:lnTo>
                    <a:pt x="678" y="330"/>
                  </a:lnTo>
                  <a:lnTo>
                    <a:pt x="672" y="330"/>
                  </a:lnTo>
                  <a:lnTo>
                    <a:pt x="678" y="336"/>
                  </a:lnTo>
                  <a:lnTo>
                    <a:pt x="678" y="342"/>
                  </a:lnTo>
                  <a:lnTo>
                    <a:pt x="684" y="342"/>
                  </a:lnTo>
                  <a:lnTo>
                    <a:pt x="690" y="336"/>
                  </a:lnTo>
                  <a:lnTo>
                    <a:pt x="690" y="330"/>
                  </a:lnTo>
                  <a:lnTo>
                    <a:pt x="696" y="330"/>
                  </a:lnTo>
                  <a:lnTo>
                    <a:pt x="696" y="336"/>
                  </a:lnTo>
                  <a:lnTo>
                    <a:pt x="702" y="330"/>
                  </a:lnTo>
                  <a:lnTo>
                    <a:pt x="702" y="324"/>
                  </a:lnTo>
                  <a:lnTo>
                    <a:pt x="708" y="324"/>
                  </a:lnTo>
                  <a:lnTo>
                    <a:pt x="708" y="330"/>
                  </a:lnTo>
                  <a:lnTo>
                    <a:pt x="714" y="330"/>
                  </a:lnTo>
                  <a:lnTo>
                    <a:pt x="714" y="324"/>
                  </a:lnTo>
                  <a:lnTo>
                    <a:pt x="720" y="318"/>
                  </a:lnTo>
                  <a:lnTo>
                    <a:pt x="732" y="330"/>
                  </a:lnTo>
                  <a:lnTo>
                    <a:pt x="732" y="336"/>
                  </a:lnTo>
                  <a:lnTo>
                    <a:pt x="738" y="336"/>
                  </a:lnTo>
                  <a:lnTo>
                    <a:pt x="744" y="342"/>
                  </a:lnTo>
                  <a:lnTo>
                    <a:pt x="744" y="348"/>
                  </a:lnTo>
                  <a:lnTo>
                    <a:pt x="744" y="354"/>
                  </a:lnTo>
                  <a:lnTo>
                    <a:pt x="738" y="354"/>
                  </a:lnTo>
                  <a:lnTo>
                    <a:pt x="732" y="360"/>
                  </a:lnTo>
                  <a:lnTo>
                    <a:pt x="732" y="366"/>
                  </a:lnTo>
                  <a:lnTo>
                    <a:pt x="726" y="366"/>
                  </a:lnTo>
                  <a:lnTo>
                    <a:pt x="720" y="372"/>
                  </a:lnTo>
                  <a:lnTo>
                    <a:pt x="714" y="372"/>
                  </a:lnTo>
                  <a:lnTo>
                    <a:pt x="714" y="378"/>
                  </a:lnTo>
                  <a:lnTo>
                    <a:pt x="714" y="384"/>
                  </a:lnTo>
                  <a:lnTo>
                    <a:pt x="714" y="390"/>
                  </a:lnTo>
                  <a:lnTo>
                    <a:pt x="708" y="390"/>
                  </a:lnTo>
                  <a:lnTo>
                    <a:pt x="702" y="396"/>
                  </a:lnTo>
                  <a:lnTo>
                    <a:pt x="696" y="396"/>
                  </a:lnTo>
                  <a:lnTo>
                    <a:pt x="690" y="396"/>
                  </a:lnTo>
                  <a:lnTo>
                    <a:pt x="678" y="396"/>
                  </a:lnTo>
                  <a:lnTo>
                    <a:pt x="672" y="396"/>
                  </a:lnTo>
                  <a:lnTo>
                    <a:pt x="666" y="402"/>
                  </a:lnTo>
                  <a:lnTo>
                    <a:pt x="660" y="408"/>
                  </a:lnTo>
                  <a:lnTo>
                    <a:pt x="654" y="408"/>
                  </a:lnTo>
                  <a:lnTo>
                    <a:pt x="648" y="408"/>
                  </a:lnTo>
                  <a:lnTo>
                    <a:pt x="648" y="414"/>
                  </a:lnTo>
                  <a:lnTo>
                    <a:pt x="654" y="420"/>
                  </a:lnTo>
                  <a:lnTo>
                    <a:pt x="654" y="426"/>
                  </a:lnTo>
                  <a:lnTo>
                    <a:pt x="654" y="432"/>
                  </a:lnTo>
                  <a:lnTo>
                    <a:pt x="654" y="438"/>
                  </a:lnTo>
                  <a:lnTo>
                    <a:pt x="648" y="438"/>
                  </a:lnTo>
                  <a:lnTo>
                    <a:pt x="648" y="444"/>
                  </a:lnTo>
                  <a:lnTo>
                    <a:pt x="642" y="444"/>
                  </a:lnTo>
                  <a:lnTo>
                    <a:pt x="636" y="444"/>
                  </a:lnTo>
                  <a:lnTo>
                    <a:pt x="630" y="444"/>
                  </a:lnTo>
                  <a:lnTo>
                    <a:pt x="624" y="438"/>
                  </a:lnTo>
                  <a:lnTo>
                    <a:pt x="618" y="438"/>
                  </a:lnTo>
                  <a:lnTo>
                    <a:pt x="612" y="438"/>
                  </a:lnTo>
                  <a:lnTo>
                    <a:pt x="606" y="438"/>
                  </a:lnTo>
                  <a:lnTo>
                    <a:pt x="606" y="444"/>
                  </a:lnTo>
                  <a:lnTo>
                    <a:pt x="612" y="450"/>
                  </a:lnTo>
                  <a:lnTo>
                    <a:pt x="606" y="450"/>
                  </a:lnTo>
                  <a:lnTo>
                    <a:pt x="600" y="450"/>
                  </a:lnTo>
                  <a:lnTo>
                    <a:pt x="594" y="456"/>
                  </a:lnTo>
                  <a:lnTo>
                    <a:pt x="594" y="462"/>
                  </a:lnTo>
                  <a:lnTo>
                    <a:pt x="594" y="468"/>
                  </a:lnTo>
                  <a:lnTo>
                    <a:pt x="600" y="468"/>
                  </a:lnTo>
                  <a:lnTo>
                    <a:pt x="600" y="462"/>
                  </a:lnTo>
                  <a:lnTo>
                    <a:pt x="606" y="468"/>
                  </a:lnTo>
                  <a:lnTo>
                    <a:pt x="606" y="462"/>
                  </a:lnTo>
                  <a:lnTo>
                    <a:pt x="612" y="462"/>
                  </a:lnTo>
                  <a:lnTo>
                    <a:pt x="618" y="468"/>
                  </a:lnTo>
                  <a:lnTo>
                    <a:pt x="612" y="474"/>
                  </a:lnTo>
                  <a:lnTo>
                    <a:pt x="618" y="474"/>
                  </a:lnTo>
                  <a:lnTo>
                    <a:pt x="612" y="480"/>
                  </a:lnTo>
                  <a:lnTo>
                    <a:pt x="612" y="486"/>
                  </a:lnTo>
                  <a:lnTo>
                    <a:pt x="618" y="486"/>
                  </a:lnTo>
                  <a:lnTo>
                    <a:pt x="624" y="492"/>
                  </a:lnTo>
                  <a:lnTo>
                    <a:pt x="618" y="498"/>
                  </a:lnTo>
                  <a:lnTo>
                    <a:pt x="612" y="498"/>
                  </a:lnTo>
                  <a:lnTo>
                    <a:pt x="612" y="504"/>
                  </a:lnTo>
                  <a:lnTo>
                    <a:pt x="612" y="498"/>
                  </a:lnTo>
                  <a:lnTo>
                    <a:pt x="606" y="498"/>
                  </a:lnTo>
                  <a:lnTo>
                    <a:pt x="600" y="498"/>
                  </a:lnTo>
                  <a:lnTo>
                    <a:pt x="600" y="492"/>
                  </a:lnTo>
                  <a:lnTo>
                    <a:pt x="600" y="486"/>
                  </a:lnTo>
                  <a:lnTo>
                    <a:pt x="594" y="486"/>
                  </a:lnTo>
                  <a:lnTo>
                    <a:pt x="594" y="492"/>
                  </a:lnTo>
                  <a:lnTo>
                    <a:pt x="594" y="498"/>
                  </a:lnTo>
                  <a:lnTo>
                    <a:pt x="594" y="504"/>
                  </a:lnTo>
                  <a:lnTo>
                    <a:pt x="588" y="522"/>
                  </a:lnTo>
                  <a:lnTo>
                    <a:pt x="588" y="516"/>
                  </a:lnTo>
                  <a:lnTo>
                    <a:pt x="588" y="510"/>
                  </a:lnTo>
                  <a:lnTo>
                    <a:pt x="582" y="510"/>
                  </a:lnTo>
                  <a:lnTo>
                    <a:pt x="582" y="504"/>
                  </a:lnTo>
                  <a:lnTo>
                    <a:pt x="576" y="510"/>
                  </a:lnTo>
                  <a:lnTo>
                    <a:pt x="570" y="510"/>
                  </a:lnTo>
                  <a:lnTo>
                    <a:pt x="570" y="516"/>
                  </a:lnTo>
                  <a:lnTo>
                    <a:pt x="576" y="516"/>
                  </a:lnTo>
                  <a:lnTo>
                    <a:pt x="570" y="516"/>
                  </a:lnTo>
                  <a:lnTo>
                    <a:pt x="570" y="522"/>
                  </a:lnTo>
                  <a:lnTo>
                    <a:pt x="564" y="522"/>
                  </a:lnTo>
                  <a:lnTo>
                    <a:pt x="558" y="528"/>
                  </a:lnTo>
                  <a:lnTo>
                    <a:pt x="558" y="522"/>
                  </a:lnTo>
                  <a:lnTo>
                    <a:pt x="558" y="516"/>
                  </a:lnTo>
                  <a:lnTo>
                    <a:pt x="558" y="510"/>
                  </a:lnTo>
                  <a:lnTo>
                    <a:pt x="564" y="504"/>
                  </a:lnTo>
                  <a:lnTo>
                    <a:pt x="564" y="498"/>
                  </a:lnTo>
                  <a:lnTo>
                    <a:pt x="564" y="492"/>
                  </a:lnTo>
                  <a:lnTo>
                    <a:pt x="570" y="492"/>
                  </a:lnTo>
                  <a:lnTo>
                    <a:pt x="576" y="492"/>
                  </a:lnTo>
                  <a:lnTo>
                    <a:pt x="582" y="486"/>
                  </a:lnTo>
                  <a:lnTo>
                    <a:pt x="576" y="486"/>
                  </a:lnTo>
                  <a:lnTo>
                    <a:pt x="570" y="486"/>
                  </a:lnTo>
                  <a:lnTo>
                    <a:pt x="564" y="486"/>
                  </a:lnTo>
                  <a:lnTo>
                    <a:pt x="564" y="480"/>
                  </a:lnTo>
                  <a:lnTo>
                    <a:pt x="570" y="480"/>
                  </a:lnTo>
                  <a:lnTo>
                    <a:pt x="570" y="474"/>
                  </a:lnTo>
                  <a:lnTo>
                    <a:pt x="564" y="474"/>
                  </a:lnTo>
                  <a:lnTo>
                    <a:pt x="558" y="480"/>
                  </a:lnTo>
                  <a:lnTo>
                    <a:pt x="558" y="474"/>
                  </a:lnTo>
                  <a:lnTo>
                    <a:pt x="552" y="474"/>
                  </a:lnTo>
                  <a:lnTo>
                    <a:pt x="552" y="480"/>
                  </a:lnTo>
                  <a:lnTo>
                    <a:pt x="546" y="480"/>
                  </a:lnTo>
                  <a:lnTo>
                    <a:pt x="540" y="480"/>
                  </a:lnTo>
                  <a:lnTo>
                    <a:pt x="546" y="486"/>
                  </a:lnTo>
                  <a:lnTo>
                    <a:pt x="546" y="492"/>
                  </a:lnTo>
                  <a:lnTo>
                    <a:pt x="540" y="492"/>
                  </a:lnTo>
                  <a:lnTo>
                    <a:pt x="534" y="498"/>
                  </a:lnTo>
                  <a:lnTo>
                    <a:pt x="528" y="498"/>
                  </a:lnTo>
                  <a:lnTo>
                    <a:pt x="528" y="492"/>
                  </a:lnTo>
                  <a:lnTo>
                    <a:pt x="522" y="492"/>
                  </a:lnTo>
                  <a:lnTo>
                    <a:pt x="522" y="486"/>
                  </a:lnTo>
                  <a:lnTo>
                    <a:pt x="528" y="480"/>
                  </a:lnTo>
                  <a:lnTo>
                    <a:pt x="522" y="474"/>
                  </a:lnTo>
                  <a:lnTo>
                    <a:pt x="522" y="468"/>
                  </a:lnTo>
                  <a:lnTo>
                    <a:pt x="516" y="462"/>
                  </a:lnTo>
                  <a:close/>
                  <a:moveTo>
                    <a:pt x="582" y="2490"/>
                  </a:moveTo>
                  <a:lnTo>
                    <a:pt x="588" y="2478"/>
                  </a:lnTo>
                  <a:lnTo>
                    <a:pt x="588" y="2472"/>
                  </a:lnTo>
                  <a:lnTo>
                    <a:pt x="588" y="2466"/>
                  </a:lnTo>
                  <a:lnTo>
                    <a:pt x="594" y="2460"/>
                  </a:lnTo>
                  <a:lnTo>
                    <a:pt x="600" y="2454"/>
                  </a:lnTo>
                  <a:lnTo>
                    <a:pt x="600" y="2448"/>
                  </a:lnTo>
                  <a:lnTo>
                    <a:pt x="606" y="2448"/>
                  </a:lnTo>
                  <a:lnTo>
                    <a:pt x="612" y="2442"/>
                  </a:lnTo>
                  <a:lnTo>
                    <a:pt x="618" y="2442"/>
                  </a:lnTo>
                  <a:lnTo>
                    <a:pt x="624" y="2442"/>
                  </a:lnTo>
                  <a:lnTo>
                    <a:pt x="630" y="2442"/>
                  </a:lnTo>
                  <a:lnTo>
                    <a:pt x="630" y="2448"/>
                  </a:lnTo>
                  <a:lnTo>
                    <a:pt x="636" y="2448"/>
                  </a:lnTo>
                  <a:lnTo>
                    <a:pt x="642" y="2454"/>
                  </a:lnTo>
                  <a:lnTo>
                    <a:pt x="654" y="2460"/>
                  </a:lnTo>
                  <a:lnTo>
                    <a:pt x="660" y="2466"/>
                  </a:lnTo>
                  <a:lnTo>
                    <a:pt x="666" y="2472"/>
                  </a:lnTo>
                  <a:lnTo>
                    <a:pt x="672" y="2478"/>
                  </a:lnTo>
                  <a:lnTo>
                    <a:pt x="678" y="2484"/>
                  </a:lnTo>
                  <a:lnTo>
                    <a:pt x="678" y="2490"/>
                  </a:lnTo>
                  <a:lnTo>
                    <a:pt x="678" y="2496"/>
                  </a:lnTo>
                  <a:lnTo>
                    <a:pt x="678" y="2502"/>
                  </a:lnTo>
                  <a:lnTo>
                    <a:pt x="672" y="2502"/>
                  </a:lnTo>
                  <a:lnTo>
                    <a:pt x="672" y="2508"/>
                  </a:lnTo>
                  <a:lnTo>
                    <a:pt x="672" y="2514"/>
                  </a:lnTo>
                  <a:lnTo>
                    <a:pt x="672" y="2508"/>
                  </a:lnTo>
                  <a:lnTo>
                    <a:pt x="666" y="2508"/>
                  </a:lnTo>
                  <a:lnTo>
                    <a:pt x="672" y="2508"/>
                  </a:lnTo>
                  <a:lnTo>
                    <a:pt x="666" y="2508"/>
                  </a:lnTo>
                  <a:lnTo>
                    <a:pt x="672" y="2502"/>
                  </a:lnTo>
                  <a:lnTo>
                    <a:pt x="672" y="2496"/>
                  </a:lnTo>
                  <a:lnTo>
                    <a:pt x="666" y="2496"/>
                  </a:lnTo>
                  <a:lnTo>
                    <a:pt x="666" y="2502"/>
                  </a:lnTo>
                  <a:lnTo>
                    <a:pt x="660" y="2502"/>
                  </a:lnTo>
                  <a:lnTo>
                    <a:pt x="660" y="2508"/>
                  </a:lnTo>
                  <a:lnTo>
                    <a:pt x="654" y="2514"/>
                  </a:lnTo>
                  <a:lnTo>
                    <a:pt x="654" y="2520"/>
                  </a:lnTo>
                  <a:lnTo>
                    <a:pt x="648" y="2520"/>
                  </a:lnTo>
                  <a:lnTo>
                    <a:pt x="654" y="2520"/>
                  </a:lnTo>
                  <a:lnTo>
                    <a:pt x="648" y="2526"/>
                  </a:lnTo>
                  <a:lnTo>
                    <a:pt x="642" y="2526"/>
                  </a:lnTo>
                  <a:lnTo>
                    <a:pt x="642" y="2532"/>
                  </a:lnTo>
                  <a:lnTo>
                    <a:pt x="636" y="2532"/>
                  </a:lnTo>
                  <a:lnTo>
                    <a:pt x="630" y="2538"/>
                  </a:lnTo>
                  <a:lnTo>
                    <a:pt x="624" y="2538"/>
                  </a:lnTo>
                  <a:lnTo>
                    <a:pt x="618" y="2544"/>
                  </a:lnTo>
                  <a:lnTo>
                    <a:pt x="612" y="2544"/>
                  </a:lnTo>
                  <a:lnTo>
                    <a:pt x="618" y="2544"/>
                  </a:lnTo>
                  <a:lnTo>
                    <a:pt x="612" y="2544"/>
                  </a:lnTo>
                  <a:lnTo>
                    <a:pt x="606" y="2544"/>
                  </a:lnTo>
                  <a:lnTo>
                    <a:pt x="600" y="2544"/>
                  </a:lnTo>
                  <a:lnTo>
                    <a:pt x="594" y="2544"/>
                  </a:lnTo>
                  <a:lnTo>
                    <a:pt x="588" y="2544"/>
                  </a:lnTo>
                  <a:lnTo>
                    <a:pt x="588" y="2538"/>
                  </a:lnTo>
                  <a:lnTo>
                    <a:pt x="582" y="2538"/>
                  </a:lnTo>
                  <a:lnTo>
                    <a:pt x="582" y="2532"/>
                  </a:lnTo>
                  <a:lnTo>
                    <a:pt x="582" y="2520"/>
                  </a:lnTo>
                  <a:lnTo>
                    <a:pt x="582" y="2514"/>
                  </a:lnTo>
                  <a:lnTo>
                    <a:pt x="582" y="2508"/>
                  </a:lnTo>
                  <a:lnTo>
                    <a:pt x="582" y="2502"/>
                  </a:lnTo>
                  <a:lnTo>
                    <a:pt x="582" y="2496"/>
                  </a:lnTo>
                  <a:lnTo>
                    <a:pt x="582" y="2490"/>
                  </a:lnTo>
                  <a:close/>
                  <a:moveTo>
                    <a:pt x="870" y="258"/>
                  </a:moveTo>
                  <a:lnTo>
                    <a:pt x="870" y="252"/>
                  </a:lnTo>
                  <a:lnTo>
                    <a:pt x="870" y="246"/>
                  </a:lnTo>
                  <a:lnTo>
                    <a:pt x="876" y="246"/>
                  </a:lnTo>
                  <a:lnTo>
                    <a:pt x="876" y="240"/>
                  </a:lnTo>
                  <a:lnTo>
                    <a:pt x="876" y="234"/>
                  </a:lnTo>
                  <a:lnTo>
                    <a:pt x="876" y="228"/>
                  </a:lnTo>
                  <a:lnTo>
                    <a:pt x="882" y="228"/>
                  </a:lnTo>
                  <a:lnTo>
                    <a:pt x="894" y="240"/>
                  </a:lnTo>
                  <a:lnTo>
                    <a:pt x="900" y="246"/>
                  </a:lnTo>
                  <a:lnTo>
                    <a:pt x="906" y="246"/>
                  </a:lnTo>
                  <a:lnTo>
                    <a:pt x="906" y="252"/>
                  </a:lnTo>
                  <a:lnTo>
                    <a:pt x="912" y="252"/>
                  </a:lnTo>
                  <a:lnTo>
                    <a:pt x="912" y="258"/>
                  </a:lnTo>
                  <a:lnTo>
                    <a:pt x="912" y="264"/>
                  </a:lnTo>
                  <a:lnTo>
                    <a:pt x="918" y="264"/>
                  </a:lnTo>
                  <a:lnTo>
                    <a:pt x="918" y="258"/>
                  </a:lnTo>
                  <a:lnTo>
                    <a:pt x="924" y="258"/>
                  </a:lnTo>
                  <a:lnTo>
                    <a:pt x="930" y="258"/>
                  </a:lnTo>
                  <a:lnTo>
                    <a:pt x="936" y="258"/>
                  </a:lnTo>
                  <a:lnTo>
                    <a:pt x="936" y="252"/>
                  </a:lnTo>
                  <a:lnTo>
                    <a:pt x="942" y="252"/>
                  </a:lnTo>
                  <a:lnTo>
                    <a:pt x="942" y="258"/>
                  </a:lnTo>
                  <a:lnTo>
                    <a:pt x="948" y="258"/>
                  </a:lnTo>
                  <a:lnTo>
                    <a:pt x="948" y="264"/>
                  </a:lnTo>
                  <a:lnTo>
                    <a:pt x="954" y="264"/>
                  </a:lnTo>
                  <a:lnTo>
                    <a:pt x="966" y="276"/>
                  </a:lnTo>
                  <a:lnTo>
                    <a:pt x="972" y="276"/>
                  </a:lnTo>
                  <a:lnTo>
                    <a:pt x="972" y="282"/>
                  </a:lnTo>
                  <a:lnTo>
                    <a:pt x="972" y="288"/>
                  </a:lnTo>
                  <a:lnTo>
                    <a:pt x="978" y="288"/>
                  </a:lnTo>
                  <a:lnTo>
                    <a:pt x="978" y="300"/>
                  </a:lnTo>
                  <a:lnTo>
                    <a:pt x="984" y="300"/>
                  </a:lnTo>
                  <a:lnTo>
                    <a:pt x="990" y="306"/>
                  </a:lnTo>
                  <a:lnTo>
                    <a:pt x="996" y="306"/>
                  </a:lnTo>
                  <a:lnTo>
                    <a:pt x="996" y="300"/>
                  </a:lnTo>
                  <a:lnTo>
                    <a:pt x="1002" y="294"/>
                  </a:lnTo>
                  <a:lnTo>
                    <a:pt x="996" y="282"/>
                  </a:lnTo>
                  <a:lnTo>
                    <a:pt x="990" y="282"/>
                  </a:lnTo>
                  <a:lnTo>
                    <a:pt x="984" y="282"/>
                  </a:lnTo>
                  <a:lnTo>
                    <a:pt x="978" y="270"/>
                  </a:lnTo>
                  <a:lnTo>
                    <a:pt x="984" y="264"/>
                  </a:lnTo>
                  <a:lnTo>
                    <a:pt x="978" y="264"/>
                  </a:lnTo>
                  <a:lnTo>
                    <a:pt x="978" y="258"/>
                  </a:lnTo>
                  <a:lnTo>
                    <a:pt x="972" y="252"/>
                  </a:lnTo>
                  <a:lnTo>
                    <a:pt x="960" y="252"/>
                  </a:lnTo>
                  <a:lnTo>
                    <a:pt x="960" y="246"/>
                  </a:lnTo>
                  <a:lnTo>
                    <a:pt x="948" y="240"/>
                  </a:lnTo>
                  <a:lnTo>
                    <a:pt x="942" y="234"/>
                  </a:lnTo>
                  <a:lnTo>
                    <a:pt x="948" y="228"/>
                  </a:lnTo>
                  <a:lnTo>
                    <a:pt x="948" y="234"/>
                  </a:lnTo>
                  <a:lnTo>
                    <a:pt x="960" y="240"/>
                  </a:lnTo>
                  <a:lnTo>
                    <a:pt x="966" y="234"/>
                  </a:lnTo>
                  <a:lnTo>
                    <a:pt x="972" y="234"/>
                  </a:lnTo>
                  <a:lnTo>
                    <a:pt x="978" y="240"/>
                  </a:lnTo>
                  <a:lnTo>
                    <a:pt x="984" y="246"/>
                  </a:lnTo>
                  <a:lnTo>
                    <a:pt x="990" y="246"/>
                  </a:lnTo>
                  <a:lnTo>
                    <a:pt x="996" y="246"/>
                  </a:lnTo>
                  <a:lnTo>
                    <a:pt x="1002" y="252"/>
                  </a:lnTo>
                  <a:lnTo>
                    <a:pt x="1008" y="252"/>
                  </a:lnTo>
                  <a:lnTo>
                    <a:pt x="1014" y="252"/>
                  </a:lnTo>
                  <a:lnTo>
                    <a:pt x="1014" y="258"/>
                  </a:lnTo>
                  <a:lnTo>
                    <a:pt x="1014" y="264"/>
                  </a:lnTo>
                  <a:lnTo>
                    <a:pt x="1020" y="270"/>
                  </a:lnTo>
                  <a:lnTo>
                    <a:pt x="1026" y="276"/>
                  </a:lnTo>
                  <a:lnTo>
                    <a:pt x="1026" y="270"/>
                  </a:lnTo>
                  <a:lnTo>
                    <a:pt x="1038" y="270"/>
                  </a:lnTo>
                  <a:lnTo>
                    <a:pt x="1038" y="264"/>
                  </a:lnTo>
                  <a:lnTo>
                    <a:pt x="1032" y="264"/>
                  </a:lnTo>
                  <a:lnTo>
                    <a:pt x="1032" y="258"/>
                  </a:lnTo>
                  <a:lnTo>
                    <a:pt x="1026" y="252"/>
                  </a:lnTo>
                  <a:lnTo>
                    <a:pt x="1026" y="246"/>
                  </a:lnTo>
                  <a:lnTo>
                    <a:pt x="1032" y="246"/>
                  </a:lnTo>
                  <a:lnTo>
                    <a:pt x="1032" y="240"/>
                  </a:lnTo>
                  <a:lnTo>
                    <a:pt x="1038" y="234"/>
                  </a:lnTo>
                  <a:lnTo>
                    <a:pt x="1044" y="240"/>
                  </a:lnTo>
                  <a:lnTo>
                    <a:pt x="1050" y="240"/>
                  </a:lnTo>
                  <a:lnTo>
                    <a:pt x="1050" y="246"/>
                  </a:lnTo>
                  <a:lnTo>
                    <a:pt x="1056" y="252"/>
                  </a:lnTo>
                  <a:lnTo>
                    <a:pt x="1062" y="252"/>
                  </a:lnTo>
                  <a:lnTo>
                    <a:pt x="1062" y="258"/>
                  </a:lnTo>
                  <a:lnTo>
                    <a:pt x="1062" y="264"/>
                  </a:lnTo>
                  <a:lnTo>
                    <a:pt x="1062" y="270"/>
                  </a:lnTo>
                  <a:lnTo>
                    <a:pt x="1062" y="276"/>
                  </a:lnTo>
                  <a:lnTo>
                    <a:pt x="1056" y="282"/>
                  </a:lnTo>
                  <a:lnTo>
                    <a:pt x="1050" y="282"/>
                  </a:lnTo>
                  <a:lnTo>
                    <a:pt x="1044" y="282"/>
                  </a:lnTo>
                  <a:lnTo>
                    <a:pt x="1038" y="276"/>
                  </a:lnTo>
                  <a:lnTo>
                    <a:pt x="1038" y="282"/>
                  </a:lnTo>
                  <a:lnTo>
                    <a:pt x="1044" y="288"/>
                  </a:lnTo>
                  <a:lnTo>
                    <a:pt x="1044" y="294"/>
                  </a:lnTo>
                  <a:lnTo>
                    <a:pt x="1038" y="294"/>
                  </a:lnTo>
                  <a:lnTo>
                    <a:pt x="1032" y="300"/>
                  </a:lnTo>
                  <a:lnTo>
                    <a:pt x="1026" y="306"/>
                  </a:lnTo>
                  <a:lnTo>
                    <a:pt x="1032" y="306"/>
                  </a:lnTo>
                  <a:lnTo>
                    <a:pt x="1026" y="306"/>
                  </a:lnTo>
                  <a:lnTo>
                    <a:pt x="1026" y="312"/>
                  </a:lnTo>
                  <a:lnTo>
                    <a:pt x="1020" y="312"/>
                  </a:lnTo>
                  <a:lnTo>
                    <a:pt x="1014" y="312"/>
                  </a:lnTo>
                  <a:lnTo>
                    <a:pt x="1014" y="318"/>
                  </a:lnTo>
                  <a:lnTo>
                    <a:pt x="1020" y="324"/>
                  </a:lnTo>
                  <a:lnTo>
                    <a:pt x="1026" y="324"/>
                  </a:lnTo>
                  <a:lnTo>
                    <a:pt x="1026" y="318"/>
                  </a:lnTo>
                  <a:lnTo>
                    <a:pt x="1032" y="318"/>
                  </a:lnTo>
                  <a:lnTo>
                    <a:pt x="1032" y="312"/>
                  </a:lnTo>
                  <a:lnTo>
                    <a:pt x="1038" y="306"/>
                  </a:lnTo>
                  <a:lnTo>
                    <a:pt x="1044" y="306"/>
                  </a:lnTo>
                  <a:lnTo>
                    <a:pt x="1044" y="300"/>
                  </a:lnTo>
                  <a:lnTo>
                    <a:pt x="1050" y="300"/>
                  </a:lnTo>
                  <a:lnTo>
                    <a:pt x="1062" y="300"/>
                  </a:lnTo>
                  <a:lnTo>
                    <a:pt x="1074" y="300"/>
                  </a:lnTo>
                  <a:lnTo>
                    <a:pt x="1074" y="312"/>
                  </a:lnTo>
                  <a:lnTo>
                    <a:pt x="1074" y="318"/>
                  </a:lnTo>
                  <a:lnTo>
                    <a:pt x="1074" y="324"/>
                  </a:lnTo>
                  <a:lnTo>
                    <a:pt x="1074" y="330"/>
                  </a:lnTo>
                  <a:lnTo>
                    <a:pt x="1068" y="330"/>
                  </a:lnTo>
                  <a:lnTo>
                    <a:pt x="1062" y="336"/>
                  </a:lnTo>
                  <a:lnTo>
                    <a:pt x="1056" y="342"/>
                  </a:lnTo>
                  <a:lnTo>
                    <a:pt x="1050" y="342"/>
                  </a:lnTo>
                  <a:lnTo>
                    <a:pt x="1044" y="342"/>
                  </a:lnTo>
                  <a:lnTo>
                    <a:pt x="1044" y="336"/>
                  </a:lnTo>
                  <a:lnTo>
                    <a:pt x="1038" y="336"/>
                  </a:lnTo>
                  <a:lnTo>
                    <a:pt x="1032" y="336"/>
                  </a:lnTo>
                  <a:lnTo>
                    <a:pt x="1032" y="330"/>
                  </a:lnTo>
                  <a:lnTo>
                    <a:pt x="1026" y="330"/>
                  </a:lnTo>
                  <a:lnTo>
                    <a:pt x="1020" y="330"/>
                  </a:lnTo>
                  <a:lnTo>
                    <a:pt x="1020" y="336"/>
                  </a:lnTo>
                  <a:lnTo>
                    <a:pt x="1014" y="342"/>
                  </a:lnTo>
                  <a:lnTo>
                    <a:pt x="1008" y="348"/>
                  </a:lnTo>
                  <a:lnTo>
                    <a:pt x="1008" y="354"/>
                  </a:lnTo>
                  <a:lnTo>
                    <a:pt x="990" y="354"/>
                  </a:lnTo>
                  <a:lnTo>
                    <a:pt x="984" y="354"/>
                  </a:lnTo>
                  <a:lnTo>
                    <a:pt x="984" y="360"/>
                  </a:lnTo>
                  <a:lnTo>
                    <a:pt x="984" y="366"/>
                  </a:lnTo>
                  <a:lnTo>
                    <a:pt x="978" y="372"/>
                  </a:lnTo>
                  <a:lnTo>
                    <a:pt x="972" y="372"/>
                  </a:lnTo>
                  <a:lnTo>
                    <a:pt x="966" y="372"/>
                  </a:lnTo>
                  <a:lnTo>
                    <a:pt x="960" y="378"/>
                  </a:lnTo>
                  <a:lnTo>
                    <a:pt x="954" y="378"/>
                  </a:lnTo>
                  <a:lnTo>
                    <a:pt x="954" y="372"/>
                  </a:lnTo>
                  <a:lnTo>
                    <a:pt x="948" y="372"/>
                  </a:lnTo>
                  <a:lnTo>
                    <a:pt x="942" y="372"/>
                  </a:lnTo>
                  <a:lnTo>
                    <a:pt x="942" y="378"/>
                  </a:lnTo>
                  <a:lnTo>
                    <a:pt x="930" y="372"/>
                  </a:lnTo>
                  <a:lnTo>
                    <a:pt x="924" y="372"/>
                  </a:lnTo>
                  <a:lnTo>
                    <a:pt x="918" y="366"/>
                  </a:lnTo>
                  <a:lnTo>
                    <a:pt x="924" y="360"/>
                  </a:lnTo>
                  <a:lnTo>
                    <a:pt x="930" y="354"/>
                  </a:lnTo>
                  <a:lnTo>
                    <a:pt x="924" y="354"/>
                  </a:lnTo>
                  <a:lnTo>
                    <a:pt x="924" y="348"/>
                  </a:lnTo>
                  <a:lnTo>
                    <a:pt x="912" y="354"/>
                  </a:lnTo>
                  <a:lnTo>
                    <a:pt x="912" y="348"/>
                  </a:lnTo>
                  <a:lnTo>
                    <a:pt x="918" y="342"/>
                  </a:lnTo>
                  <a:lnTo>
                    <a:pt x="924" y="342"/>
                  </a:lnTo>
                  <a:lnTo>
                    <a:pt x="930" y="336"/>
                  </a:lnTo>
                  <a:lnTo>
                    <a:pt x="936" y="336"/>
                  </a:lnTo>
                  <a:lnTo>
                    <a:pt x="942" y="336"/>
                  </a:lnTo>
                  <a:lnTo>
                    <a:pt x="948" y="336"/>
                  </a:lnTo>
                  <a:lnTo>
                    <a:pt x="954" y="330"/>
                  </a:lnTo>
                  <a:lnTo>
                    <a:pt x="960" y="330"/>
                  </a:lnTo>
                  <a:lnTo>
                    <a:pt x="966" y="336"/>
                  </a:lnTo>
                  <a:lnTo>
                    <a:pt x="972" y="336"/>
                  </a:lnTo>
                  <a:lnTo>
                    <a:pt x="978" y="342"/>
                  </a:lnTo>
                  <a:lnTo>
                    <a:pt x="984" y="342"/>
                  </a:lnTo>
                  <a:lnTo>
                    <a:pt x="978" y="336"/>
                  </a:lnTo>
                  <a:lnTo>
                    <a:pt x="972" y="336"/>
                  </a:lnTo>
                  <a:lnTo>
                    <a:pt x="972" y="330"/>
                  </a:lnTo>
                  <a:lnTo>
                    <a:pt x="972" y="324"/>
                  </a:lnTo>
                  <a:lnTo>
                    <a:pt x="966" y="324"/>
                  </a:lnTo>
                  <a:lnTo>
                    <a:pt x="954" y="318"/>
                  </a:lnTo>
                  <a:lnTo>
                    <a:pt x="948" y="318"/>
                  </a:lnTo>
                  <a:lnTo>
                    <a:pt x="942" y="318"/>
                  </a:lnTo>
                  <a:lnTo>
                    <a:pt x="936" y="312"/>
                  </a:lnTo>
                  <a:lnTo>
                    <a:pt x="930" y="312"/>
                  </a:lnTo>
                  <a:lnTo>
                    <a:pt x="930" y="306"/>
                  </a:lnTo>
                  <a:lnTo>
                    <a:pt x="930" y="300"/>
                  </a:lnTo>
                  <a:lnTo>
                    <a:pt x="930" y="294"/>
                  </a:lnTo>
                  <a:lnTo>
                    <a:pt x="924" y="300"/>
                  </a:lnTo>
                  <a:lnTo>
                    <a:pt x="924" y="294"/>
                  </a:lnTo>
                  <a:lnTo>
                    <a:pt x="918" y="294"/>
                  </a:lnTo>
                  <a:lnTo>
                    <a:pt x="918" y="288"/>
                  </a:lnTo>
                  <a:lnTo>
                    <a:pt x="912" y="288"/>
                  </a:lnTo>
                  <a:lnTo>
                    <a:pt x="912" y="282"/>
                  </a:lnTo>
                  <a:lnTo>
                    <a:pt x="912" y="276"/>
                  </a:lnTo>
                  <a:lnTo>
                    <a:pt x="906" y="276"/>
                  </a:lnTo>
                  <a:lnTo>
                    <a:pt x="906" y="282"/>
                  </a:lnTo>
                  <a:lnTo>
                    <a:pt x="900" y="282"/>
                  </a:lnTo>
                  <a:lnTo>
                    <a:pt x="894" y="282"/>
                  </a:lnTo>
                  <a:lnTo>
                    <a:pt x="888" y="276"/>
                  </a:lnTo>
                  <a:lnTo>
                    <a:pt x="888" y="270"/>
                  </a:lnTo>
                  <a:lnTo>
                    <a:pt x="882" y="264"/>
                  </a:lnTo>
                  <a:lnTo>
                    <a:pt x="876" y="270"/>
                  </a:lnTo>
                  <a:lnTo>
                    <a:pt x="870" y="264"/>
                  </a:lnTo>
                  <a:lnTo>
                    <a:pt x="870" y="258"/>
                  </a:lnTo>
                  <a:close/>
                  <a:moveTo>
                    <a:pt x="1092" y="408"/>
                  </a:moveTo>
                  <a:lnTo>
                    <a:pt x="1092" y="402"/>
                  </a:lnTo>
                  <a:lnTo>
                    <a:pt x="1098" y="402"/>
                  </a:lnTo>
                  <a:lnTo>
                    <a:pt x="1098" y="396"/>
                  </a:lnTo>
                  <a:lnTo>
                    <a:pt x="1092" y="390"/>
                  </a:lnTo>
                  <a:lnTo>
                    <a:pt x="1092" y="384"/>
                  </a:lnTo>
                  <a:lnTo>
                    <a:pt x="1092" y="378"/>
                  </a:lnTo>
                  <a:lnTo>
                    <a:pt x="1092" y="372"/>
                  </a:lnTo>
                  <a:lnTo>
                    <a:pt x="1098" y="372"/>
                  </a:lnTo>
                  <a:lnTo>
                    <a:pt x="1092" y="366"/>
                  </a:lnTo>
                  <a:lnTo>
                    <a:pt x="1098" y="360"/>
                  </a:lnTo>
                  <a:lnTo>
                    <a:pt x="1098" y="354"/>
                  </a:lnTo>
                  <a:lnTo>
                    <a:pt x="1098" y="348"/>
                  </a:lnTo>
                  <a:lnTo>
                    <a:pt x="1098" y="342"/>
                  </a:lnTo>
                  <a:lnTo>
                    <a:pt x="1104" y="342"/>
                  </a:lnTo>
                  <a:lnTo>
                    <a:pt x="1104" y="336"/>
                  </a:lnTo>
                  <a:lnTo>
                    <a:pt x="1104" y="330"/>
                  </a:lnTo>
                  <a:lnTo>
                    <a:pt x="1104" y="324"/>
                  </a:lnTo>
                  <a:lnTo>
                    <a:pt x="1110" y="324"/>
                  </a:lnTo>
                  <a:lnTo>
                    <a:pt x="1110" y="318"/>
                  </a:lnTo>
                  <a:lnTo>
                    <a:pt x="1116" y="318"/>
                  </a:lnTo>
                  <a:lnTo>
                    <a:pt x="1116" y="312"/>
                  </a:lnTo>
                  <a:lnTo>
                    <a:pt x="1122" y="312"/>
                  </a:lnTo>
                  <a:lnTo>
                    <a:pt x="1128" y="312"/>
                  </a:lnTo>
                  <a:lnTo>
                    <a:pt x="1134" y="318"/>
                  </a:lnTo>
                  <a:lnTo>
                    <a:pt x="1128" y="318"/>
                  </a:lnTo>
                  <a:lnTo>
                    <a:pt x="1122" y="324"/>
                  </a:lnTo>
                  <a:lnTo>
                    <a:pt x="1128" y="324"/>
                  </a:lnTo>
                  <a:lnTo>
                    <a:pt x="1134" y="318"/>
                  </a:lnTo>
                  <a:lnTo>
                    <a:pt x="1140" y="324"/>
                  </a:lnTo>
                  <a:lnTo>
                    <a:pt x="1146" y="324"/>
                  </a:lnTo>
                  <a:lnTo>
                    <a:pt x="1152" y="324"/>
                  </a:lnTo>
                  <a:lnTo>
                    <a:pt x="1152" y="318"/>
                  </a:lnTo>
                  <a:lnTo>
                    <a:pt x="1152" y="324"/>
                  </a:lnTo>
                  <a:lnTo>
                    <a:pt x="1158" y="324"/>
                  </a:lnTo>
                  <a:lnTo>
                    <a:pt x="1158" y="318"/>
                  </a:lnTo>
                  <a:lnTo>
                    <a:pt x="1164" y="318"/>
                  </a:lnTo>
                  <a:lnTo>
                    <a:pt x="1170" y="318"/>
                  </a:lnTo>
                  <a:lnTo>
                    <a:pt x="1176" y="312"/>
                  </a:lnTo>
                  <a:lnTo>
                    <a:pt x="1182" y="312"/>
                  </a:lnTo>
                  <a:lnTo>
                    <a:pt x="1194" y="306"/>
                  </a:lnTo>
                  <a:lnTo>
                    <a:pt x="1194" y="300"/>
                  </a:lnTo>
                  <a:lnTo>
                    <a:pt x="1218" y="300"/>
                  </a:lnTo>
                  <a:lnTo>
                    <a:pt x="1218" y="312"/>
                  </a:lnTo>
                  <a:lnTo>
                    <a:pt x="1218" y="318"/>
                  </a:lnTo>
                  <a:lnTo>
                    <a:pt x="1218" y="324"/>
                  </a:lnTo>
                  <a:lnTo>
                    <a:pt x="1224" y="324"/>
                  </a:lnTo>
                  <a:lnTo>
                    <a:pt x="1224" y="330"/>
                  </a:lnTo>
                  <a:lnTo>
                    <a:pt x="1224" y="342"/>
                  </a:lnTo>
                  <a:lnTo>
                    <a:pt x="1224" y="360"/>
                  </a:lnTo>
                  <a:lnTo>
                    <a:pt x="1218" y="360"/>
                  </a:lnTo>
                  <a:lnTo>
                    <a:pt x="1218" y="366"/>
                  </a:lnTo>
                  <a:lnTo>
                    <a:pt x="1212" y="366"/>
                  </a:lnTo>
                  <a:lnTo>
                    <a:pt x="1212" y="372"/>
                  </a:lnTo>
                  <a:lnTo>
                    <a:pt x="1218" y="378"/>
                  </a:lnTo>
                  <a:lnTo>
                    <a:pt x="1212" y="378"/>
                  </a:lnTo>
                  <a:lnTo>
                    <a:pt x="1212" y="384"/>
                  </a:lnTo>
                  <a:lnTo>
                    <a:pt x="1206" y="384"/>
                  </a:lnTo>
                  <a:lnTo>
                    <a:pt x="1200" y="390"/>
                  </a:lnTo>
                  <a:lnTo>
                    <a:pt x="1194" y="396"/>
                  </a:lnTo>
                  <a:lnTo>
                    <a:pt x="1194" y="402"/>
                  </a:lnTo>
                  <a:lnTo>
                    <a:pt x="1194" y="408"/>
                  </a:lnTo>
                  <a:lnTo>
                    <a:pt x="1200" y="414"/>
                  </a:lnTo>
                  <a:lnTo>
                    <a:pt x="1194" y="414"/>
                  </a:lnTo>
                  <a:lnTo>
                    <a:pt x="1188" y="420"/>
                  </a:lnTo>
                  <a:lnTo>
                    <a:pt x="1182" y="420"/>
                  </a:lnTo>
                  <a:lnTo>
                    <a:pt x="1188" y="420"/>
                  </a:lnTo>
                  <a:lnTo>
                    <a:pt x="1182" y="426"/>
                  </a:lnTo>
                  <a:lnTo>
                    <a:pt x="1182" y="438"/>
                  </a:lnTo>
                  <a:lnTo>
                    <a:pt x="1176" y="438"/>
                  </a:lnTo>
                  <a:lnTo>
                    <a:pt x="1170" y="444"/>
                  </a:lnTo>
                  <a:lnTo>
                    <a:pt x="1158" y="438"/>
                  </a:lnTo>
                  <a:lnTo>
                    <a:pt x="1146" y="432"/>
                  </a:lnTo>
                  <a:lnTo>
                    <a:pt x="1146" y="426"/>
                  </a:lnTo>
                  <a:lnTo>
                    <a:pt x="1140" y="420"/>
                  </a:lnTo>
                  <a:lnTo>
                    <a:pt x="1134" y="420"/>
                  </a:lnTo>
                  <a:lnTo>
                    <a:pt x="1128" y="420"/>
                  </a:lnTo>
                  <a:lnTo>
                    <a:pt x="1128" y="426"/>
                  </a:lnTo>
                  <a:lnTo>
                    <a:pt x="1122" y="426"/>
                  </a:lnTo>
                  <a:lnTo>
                    <a:pt x="1110" y="432"/>
                  </a:lnTo>
                  <a:lnTo>
                    <a:pt x="1110" y="438"/>
                  </a:lnTo>
                  <a:lnTo>
                    <a:pt x="1104" y="438"/>
                  </a:lnTo>
                  <a:lnTo>
                    <a:pt x="1104" y="432"/>
                  </a:lnTo>
                  <a:lnTo>
                    <a:pt x="1104" y="426"/>
                  </a:lnTo>
                  <a:lnTo>
                    <a:pt x="1098" y="414"/>
                  </a:lnTo>
                  <a:lnTo>
                    <a:pt x="1092" y="408"/>
                  </a:lnTo>
                  <a:close/>
                  <a:moveTo>
                    <a:pt x="1236" y="324"/>
                  </a:moveTo>
                  <a:lnTo>
                    <a:pt x="1236" y="318"/>
                  </a:lnTo>
                  <a:lnTo>
                    <a:pt x="1242" y="318"/>
                  </a:lnTo>
                  <a:lnTo>
                    <a:pt x="1242" y="312"/>
                  </a:lnTo>
                  <a:lnTo>
                    <a:pt x="1248" y="306"/>
                  </a:lnTo>
                  <a:lnTo>
                    <a:pt x="1248" y="300"/>
                  </a:lnTo>
                  <a:lnTo>
                    <a:pt x="1254" y="300"/>
                  </a:lnTo>
                  <a:lnTo>
                    <a:pt x="1260" y="294"/>
                  </a:lnTo>
                  <a:lnTo>
                    <a:pt x="1266" y="288"/>
                  </a:lnTo>
                  <a:lnTo>
                    <a:pt x="1266" y="282"/>
                  </a:lnTo>
                  <a:lnTo>
                    <a:pt x="1272" y="276"/>
                  </a:lnTo>
                  <a:lnTo>
                    <a:pt x="1278" y="276"/>
                  </a:lnTo>
                  <a:lnTo>
                    <a:pt x="1284" y="276"/>
                  </a:lnTo>
                  <a:lnTo>
                    <a:pt x="1290" y="276"/>
                  </a:lnTo>
                  <a:lnTo>
                    <a:pt x="1296" y="276"/>
                  </a:lnTo>
                  <a:lnTo>
                    <a:pt x="1308" y="270"/>
                  </a:lnTo>
                  <a:lnTo>
                    <a:pt x="1308" y="264"/>
                  </a:lnTo>
                  <a:lnTo>
                    <a:pt x="1314" y="258"/>
                  </a:lnTo>
                  <a:lnTo>
                    <a:pt x="1314" y="252"/>
                  </a:lnTo>
                  <a:lnTo>
                    <a:pt x="1314" y="246"/>
                  </a:lnTo>
                  <a:lnTo>
                    <a:pt x="1308" y="240"/>
                  </a:lnTo>
                  <a:lnTo>
                    <a:pt x="1314" y="234"/>
                  </a:lnTo>
                  <a:lnTo>
                    <a:pt x="1314" y="228"/>
                  </a:lnTo>
                  <a:lnTo>
                    <a:pt x="1314" y="222"/>
                  </a:lnTo>
                  <a:lnTo>
                    <a:pt x="1320" y="210"/>
                  </a:lnTo>
                  <a:lnTo>
                    <a:pt x="1332" y="204"/>
                  </a:lnTo>
                  <a:lnTo>
                    <a:pt x="1338" y="204"/>
                  </a:lnTo>
                  <a:lnTo>
                    <a:pt x="1344" y="204"/>
                  </a:lnTo>
                  <a:lnTo>
                    <a:pt x="1344" y="210"/>
                  </a:lnTo>
                  <a:lnTo>
                    <a:pt x="1350" y="210"/>
                  </a:lnTo>
                  <a:lnTo>
                    <a:pt x="1356" y="216"/>
                  </a:lnTo>
                  <a:lnTo>
                    <a:pt x="1356" y="222"/>
                  </a:lnTo>
                  <a:lnTo>
                    <a:pt x="1362" y="222"/>
                  </a:lnTo>
                  <a:lnTo>
                    <a:pt x="1362" y="234"/>
                  </a:lnTo>
                  <a:lnTo>
                    <a:pt x="1368" y="234"/>
                  </a:lnTo>
                  <a:lnTo>
                    <a:pt x="1368" y="240"/>
                  </a:lnTo>
                  <a:lnTo>
                    <a:pt x="1368" y="252"/>
                  </a:lnTo>
                  <a:lnTo>
                    <a:pt x="1368" y="258"/>
                  </a:lnTo>
                  <a:lnTo>
                    <a:pt x="1368" y="264"/>
                  </a:lnTo>
                  <a:lnTo>
                    <a:pt x="1362" y="264"/>
                  </a:lnTo>
                  <a:lnTo>
                    <a:pt x="1356" y="270"/>
                  </a:lnTo>
                  <a:lnTo>
                    <a:pt x="1362" y="270"/>
                  </a:lnTo>
                  <a:lnTo>
                    <a:pt x="1362" y="276"/>
                  </a:lnTo>
                  <a:lnTo>
                    <a:pt x="1368" y="282"/>
                  </a:lnTo>
                  <a:lnTo>
                    <a:pt x="1368" y="288"/>
                  </a:lnTo>
                  <a:lnTo>
                    <a:pt x="1368" y="294"/>
                  </a:lnTo>
                  <a:lnTo>
                    <a:pt x="1362" y="300"/>
                  </a:lnTo>
                  <a:lnTo>
                    <a:pt x="1362" y="306"/>
                  </a:lnTo>
                  <a:lnTo>
                    <a:pt x="1356" y="312"/>
                  </a:lnTo>
                  <a:lnTo>
                    <a:pt x="1356" y="318"/>
                  </a:lnTo>
                  <a:lnTo>
                    <a:pt x="1350" y="324"/>
                  </a:lnTo>
                  <a:lnTo>
                    <a:pt x="1350" y="330"/>
                  </a:lnTo>
                  <a:lnTo>
                    <a:pt x="1344" y="330"/>
                  </a:lnTo>
                  <a:lnTo>
                    <a:pt x="1338" y="330"/>
                  </a:lnTo>
                  <a:lnTo>
                    <a:pt x="1338" y="336"/>
                  </a:lnTo>
                  <a:lnTo>
                    <a:pt x="1332" y="336"/>
                  </a:lnTo>
                  <a:lnTo>
                    <a:pt x="1332" y="342"/>
                  </a:lnTo>
                  <a:lnTo>
                    <a:pt x="1326" y="342"/>
                  </a:lnTo>
                  <a:lnTo>
                    <a:pt x="1326" y="348"/>
                  </a:lnTo>
                  <a:lnTo>
                    <a:pt x="1320" y="348"/>
                  </a:lnTo>
                  <a:lnTo>
                    <a:pt x="1314" y="348"/>
                  </a:lnTo>
                  <a:lnTo>
                    <a:pt x="1308" y="348"/>
                  </a:lnTo>
                  <a:lnTo>
                    <a:pt x="1302" y="354"/>
                  </a:lnTo>
                  <a:lnTo>
                    <a:pt x="1296" y="354"/>
                  </a:lnTo>
                  <a:lnTo>
                    <a:pt x="1290" y="354"/>
                  </a:lnTo>
                  <a:lnTo>
                    <a:pt x="1290" y="348"/>
                  </a:lnTo>
                  <a:lnTo>
                    <a:pt x="1284" y="354"/>
                  </a:lnTo>
                  <a:lnTo>
                    <a:pt x="1278" y="354"/>
                  </a:lnTo>
                  <a:lnTo>
                    <a:pt x="1278" y="360"/>
                  </a:lnTo>
                  <a:lnTo>
                    <a:pt x="1272" y="360"/>
                  </a:lnTo>
                  <a:lnTo>
                    <a:pt x="1266" y="366"/>
                  </a:lnTo>
                  <a:lnTo>
                    <a:pt x="1260" y="366"/>
                  </a:lnTo>
                  <a:lnTo>
                    <a:pt x="1260" y="360"/>
                  </a:lnTo>
                  <a:lnTo>
                    <a:pt x="1260" y="354"/>
                  </a:lnTo>
                  <a:lnTo>
                    <a:pt x="1254" y="354"/>
                  </a:lnTo>
                  <a:lnTo>
                    <a:pt x="1254" y="348"/>
                  </a:lnTo>
                  <a:lnTo>
                    <a:pt x="1254" y="342"/>
                  </a:lnTo>
                  <a:lnTo>
                    <a:pt x="1248" y="336"/>
                  </a:lnTo>
                  <a:lnTo>
                    <a:pt x="1242" y="330"/>
                  </a:lnTo>
                  <a:lnTo>
                    <a:pt x="1236" y="324"/>
                  </a:lnTo>
                  <a:close/>
                  <a:moveTo>
                    <a:pt x="1050" y="2346"/>
                  </a:moveTo>
                  <a:lnTo>
                    <a:pt x="1050" y="2340"/>
                  </a:lnTo>
                  <a:lnTo>
                    <a:pt x="1056" y="2346"/>
                  </a:lnTo>
                  <a:lnTo>
                    <a:pt x="1062" y="2346"/>
                  </a:lnTo>
                  <a:lnTo>
                    <a:pt x="1062" y="2352"/>
                  </a:lnTo>
                  <a:lnTo>
                    <a:pt x="1068" y="2352"/>
                  </a:lnTo>
                  <a:lnTo>
                    <a:pt x="1068" y="2346"/>
                  </a:lnTo>
                  <a:lnTo>
                    <a:pt x="1062" y="2346"/>
                  </a:lnTo>
                  <a:lnTo>
                    <a:pt x="1062" y="2340"/>
                  </a:lnTo>
                  <a:lnTo>
                    <a:pt x="1056" y="2340"/>
                  </a:lnTo>
                  <a:lnTo>
                    <a:pt x="1056" y="2334"/>
                  </a:lnTo>
                  <a:lnTo>
                    <a:pt x="1062" y="2334"/>
                  </a:lnTo>
                  <a:lnTo>
                    <a:pt x="1062" y="2328"/>
                  </a:lnTo>
                  <a:lnTo>
                    <a:pt x="1068" y="2328"/>
                  </a:lnTo>
                  <a:lnTo>
                    <a:pt x="1068" y="2322"/>
                  </a:lnTo>
                  <a:lnTo>
                    <a:pt x="1074" y="2322"/>
                  </a:lnTo>
                  <a:lnTo>
                    <a:pt x="1074" y="2316"/>
                  </a:lnTo>
                  <a:lnTo>
                    <a:pt x="1080" y="2316"/>
                  </a:lnTo>
                  <a:lnTo>
                    <a:pt x="1080" y="2322"/>
                  </a:lnTo>
                  <a:lnTo>
                    <a:pt x="1086" y="2322"/>
                  </a:lnTo>
                  <a:lnTo>
                    <a:pt x="1086" y="2328"/>
                  </a:lnTo>
                  <a:lnTo>
                    <a:pt x="1092" y="2334"/>
                  </a:lnTo>
                  <a:lnTo>
                    <a:pt x="1098" y="2334"/>
                  </a:lnTo>
                  <a:lnTo>
                    <a:pt x="1098" y="2340"/>
                  </a:lnTo>
                  <a:lnTo>
                    <a:pt x="1104" y="2346"/>
                  </a:lnTo>
                  <a:lnTo>
                    <a:pt x="1104" y="2352"/>
                  </a:lnTo>
                  <a:lnTo>
                    <a:pt x="1110" y="2358"/>
                  </a:lnTo>
                  <a:lnTo>
                    <a:pt x="1116" y="2364"/>
                  </a:lnTo>
                  <a:lnTo>
                    <a:pt x="1122" y="2364"/>
                  </a:lnTo>
                  <a:lnTo>
                    <a:pt x="1122" y="2370"/>
                  </a:lnTo>
                  <a:lnTo>
                    <a:pt x="1128" y="2376"/>
                  </a:lnTo>
                  <a:lnTo>
                    <a:pt x="1134" y="2376"/>
                  </a:lnTo>
                  <a:lnTo>
                    <a:pt x="1134" y="2382"/>
                  </a:lnTo>
                  <a:lnTo>
                    <a:pt x="1140" y="2388"/>
                  </a:lnTo>
                  <a:lnTo>
                    <a:pt x="1146" y="2388"/>
                  </a:lnTo>
                  <a:lnTo>
                    <a:pt x="1140" y="2394"/>
                  </a:lnTo>
                  <a:lnTo>
                    <a:pt x="1146" y="2400"/>
                  </a:lnTo>
                  <a:lnTo>
                    <a:pt x="1146" y="2406"/>
                  </a:lnTo>
                  <a:lnTo>
                    <a:pt x="1146" y="2412"/>
                  </a:lnTo>
                  <a:lnTo>
                    <a:pt x="1146" y="2418"/>
                  </a:lnTo>
                  <a:lnTo>
                    <a:pt x="1140" y="2418"/>
                  </a:lnTo>
                  <a:lnTo>
                    <a:pt x="1140" y="2412"/>
                  </a:lnTo>
                  <a:lnTo>
                    <a:pt x="1140" y="2418"/>
                  </a:lnTo>
                  <a:lnTo>
                    <a:pt x="1134" y="2418"/>
                  </a:lnTo>
                  <a:lnTo>
                    <a:pt x="1128" y="2418"/>
                  </a:lnTo>
                  <a:lnTo>
                    <a:pt x="1134" y="2424"/>
                  </a:lnTo>
                  <a:lnTo>
                    <a:pt x="1128" y="2424"/>
                  </a:lnTo>
                  <a:lnTo>
                    <a:pt x="1128" y="2418"/>
                  </a:lnTo>
                  <a:lnTo>
                    <a:pt x="1122" y="2418"/>
                  </a:lnTo>
                  <a:lnTo>
                    <a:pt x="1122" y="2424"/>
                  </a:lnTo>
                  <a:lnTo>
                    <a:pt x="1116" y="2424"/>
                  </a:lnTo>
                  <a:lnTo>
                    <a:pt x="1116" y="2418"/>
                  </a:lnTo>
                  <a:lnTo>
                    <a:pt x="1110" y="2418"/>
                  </a:lnTo>
                  <a:lnTo>
                    <a:pt x="1104" y="2418"/>
                  </a:lnTo>
                  <a:lnTo>
                    <a:pt x="1104" y="2412"/>
                  </a:lnTo>
                  <a:lnTo>
                    <a:pt x="1104" y="2406"/>
                  </a:lnTo>
                  <a:lnTo>
                    <a:pt x="1110" y="2406"/>
                  </a:lnTo>
                  <a:lnTo>
                    <a:pt x="1104" y="2406"/>
                  </a:lnTo>
                  <a:lnTo>
                    <a:pt x="1104" y="2400"/>
                  </a:lnTo>
                  <a:lnTo>
                    <a:pt x="1098" y="2394"/>
                  </a:lnTo>
                  <a:lnTo>
                    <a:pt x="1092" y="2394"/>
                  </a:lnTo>
                  <a:lnTo>
                    <a:pt x="1086" y="2394"/>
                  </a:lnTo>
                  <a:lnTo>
                    <a:pt x="1086" y="2388"/>
                  </a:lnTo>
                  <a:lnTo>
                    <a:pt x="1080" y="2388"/>
                  </a:lnTo>
                  <a:lnTo>
                    <a:pt x="1074" y="2388"/>
                  </a:lnTo>
                  <a:lnTo>
                    <a:pt x="1080" y="2388"/>
                  </a:lnTo>
                  <a:lnTo>
                    <a:pt x="1080" y="2394"/>
                  </a:lnTo>
                  <a:lnTo>
                    <a:pt x="1086" y="2400"/>
                  </a:lnTo>
                  <a:lnTo>
                    <a:pt x="1080" y="2400"/>
                  </a:lnTo>
                  <a:lnTo>
                    <a:pt x="1080" y="2394"/>
                  </a:lnTo>
                  <a:lnTo>
                    <a:pt x="1074" y="2394"/>
                  </a:lnTo>
                  <a:lnTo>
                    <a:pt x="1074" y="2388"/>
                  </a:lnTo>
                  <a:lnTo>
                    <a:pt x="1068" y="2382"/>
                  </a:lnTo>
                  <a:lnTo>
                    <a:pt x="1062" y="2376"/>
                  </a:lnTo>
                  <a:lnTo>
                    <a:pt x="1056" y="2370"/>
                  </a:lnTo>
                  <a:lnTo>
                    <a:pt x="1056" y="2364"/>
                  </a:lnTo>
                  <a:lnTo>
                    <a:pt x="1062" y="2364"/>
                  </a:lnTo>
                  <a:lnTo>
                    <a:pt x="1056" y="2364"/>
                  </a:lnTo>
                  <a:lnTo>
                    <a:pt x="1056" y="2358"/>
                  </a:lnTo>
                  <a:lnTo>
                    <a:pt x="1056" y="2364"/>
                  </a:lnTo>
                  <a:lnTo>
                    <a:pt x="1062" y="2364"/>
                  </a:lnTo>
                  <a:lnTo>
                    <a:pt x="1062" y="2358"/>
                  </a:lnTo>
                  <a:lnTo>
                    <a:pt x="1056" y="2358"/>
                  </a:lnTo>
                  <a:lnTo>
                    <a:pt x="1056" y="2352"/>
                  </a:lnTo>
                  <a:lnTo>
                    <a:pt x="1056" y="2358"/>
                  </a:lnTo>
                  <a:lnTo>
                    <a:pt x="1056" y="2352"/>
                  </a:lnTo>
                  <a:lnTo>
                    <a:pt x="1056" y="2358"/>
                  </a:lnTo>
                  <a:lnTo>
                    <a:pt x="1056" y="2352"/>
                  </a:lnTo>
                  <a:lnTo>
                    <a:pt x="1050" y="2352"/>
                  </a:lnTo>
                  <a:lnTo>
                    <a:pt x="1056" y="2352"/>
                  </a:lnTo>
                  <a:lnTo>
                    <a:pt x="1056" y="2346"/>
                  </a:lnTo>
                  <a:lnTo>
                    <a:pt x="1056" y="2352"/>
                  </a:lnTo>
                  <a:lnTo>
                    <a:pt x="1050" y="2346"/>
                  </a:lnTo>
                  <a:close/>
                  <a:moveTo>
                    <a:pt x="426" y="378"/>
                  </a:moveTo>
                  <a:lnTo>
                    <a:pt x="432" y="372"/>
                  </a:lnTo>
                  <a:lnTo>
                    <a:pt x="450" y="372"/>
                  </a:lnTo>
                  <a:lnTo>
                    <a:pt x="450" y="366"/>
                  </a:lnTo>
                  <a:lnTo>
                    <a:pt x="462" y="360"/>
                  </a:lnTo>
                  <a:lnTo>
                    <a:pt x="474" y="360"/>
                  </a:lnTo>
                  <a:lnTo>
                    <a:pt x="480" y="360"/>
                  </a:lnTo>
                  <a:lnTo>
                    <a:pt x="486" y="360"/>
                  </a:lnTo>
                  <a:lnTo>
                    <a:pt x="492" y="354"/>
                  </a:lnTo>
                  <a:lnTo>
                    <a:pt x="498" y="348"/>
                  </a:lnTo>
                  <a:lnTo>
                    <a:pt x="504" y="342"/>
                  </a:lnTo>
                  <a:lnTo>
                    <a:pt x="510" y="342"/>
                  </a:lnTo>
                  <a:lnTo>
                    <a:pt x="516" y="336"/>
                  </a:lnTo>
                  <a:lnTo>
                    <a:pt x="522" y="336"/>
                  </a:lnTo>
                  <a:lnTo>
                    <a:pt x="528" y="324"/>
                  </a:lnTo>
                  <a:lnTo>
                    <a:pt x="534" y="324"/>
                  </a:lnTo>
                  <a:lnTo>
                    <a:pt x="540" y="324"/>
                  </a:lnTo>
                  <a:lnTo>
                    <a:pt x="534" y="318"/>
                  </a:lnTo>
                  <a:lnTo>
                    <a:pt x="534" y="312"/>
                  </a:lnTo>
                  <a:lnTo>
                    <a:pt x="534" y="306"/>
                  </a:lnTo>
                  <a:lnTo>
                    <a:pt x="540" y="312"/>
                  </a:lnTo>
                  <a:lnTo>
                    <a:pt x="540" y="306"/>
                  </a:lnTo>
                  <a:lnTo>
                    <a:pt x="546" y="306"/>
                  </a:lnTo>
                  <a:lnTo>
                    <a:pt x="552" y="306"/>
                  </a:lnTo>
                  <a:lnTo>
                    <a:pt x="558" y="306"/>
                  </a:lnTo>
                  <a:lnTo>
                    <a:pt x="558" y="312"/>
                  </a:lnTo>
                  <a:lnTo>
                    <a:pt x="564" y="312"/>
                  </a:lnTo>
                  <a:lnTo>
                    <a:pt x="564" y="318"/>
                  </a:lnTo>
                  <a:lnTo>
                    <a:pt x="570" y="318"/>
                  </a:lnTo>
                  <a:lnTo>
                    <a:pt x="576" y="318"/>
                  </a:lnTo>
                  <a:lnTo>
                    <a:pt x="582" y="318"/>
                  </a:lnTo>
                  <a:lnTo>
                    <a:pt x="582" y="312"/>
                  </a:lnTo>
                  <a:lnTo>
                    <a:pt x="588" y="312"/>
                  </a:lnTo>
                  <a:lnTo>
                    <a:pt x="588" y="318"/>
                  </a:lnTo>
                  <a:lnTo>
                    <a:pt x="594" y="318"/>
                  </a:lnTo>
                  <a:lnTo>
                    <a:pt x="600" y="324"/>
                  </a:lnTo>
                  <a:lnTo>
                    <a:pt x="600" y="330"/>
                  </a:lnTo>
                  <a:lnTo>
                    <a:pt x="600" y="336"/>
                  </a:lnTo>
                  <a:lnTo>
                    <a:pt x="594" y="336"/>
                  </a:lnTo>
                  <a:lnTo>
                    <a:pt x="594" y="342"/>
                  </a:lnTo>
                  <a:lnTo>
                    <a:pt x="600" y="342"/>
                  </a:lnTo>
                  <a:lnTo>
                    <a:pt x="600" y="348"/>
                  </a:lnTo>
                  <a:lnTo>
                    <a:pt x="600" y="354"/>
                  </a:lnTo>
                  <a:lnTo>
                    <a:pt x="606" y="354"/>
                  </a:lnTo>
                  <a:lnTo>
                    <a:pt x="606" y="360"/>
                  </a:lnTo>
                  <a:lnTo>
                    <a:pt x="606" y="372"/>
                  </a:lnTo>
                  <a:lnTo>
                    <a:pt x="600" y="372"/>
                  </a:lnTo>
                  <a:lnTo>
                    <a:pt x="600" y="366"/>
                  </a:lnTo>
                  <a:lnTo>
                    <a:pt x="594" y="372"/>
                  </a:lnTo>
                  <a:lnTo>
                    <a:pt x="594" y="366"/>
                  </a:lnTo>
                  <a:lnTo>
                    <a:pt x="588" y="360"/>
                  </a:lnTo>
                  <a:lnTo>
                    <a:pt x="588" y="366"/>
                  </a:lnTo>
                  <a:lnTo>
                    <a:pt x="582" y="366"/>
                  </a:lnTo>
                  <a:lnTo>
                    <a:pt x="576" y="360"/>
                  </a:lnTo>
                  <a:lnTo>
                    <a:pt x="570" y="354"/>
                  </a:lnTo>
                  <a:lnTo>
                    <a:pt x="576" y="354"/>
                  </a:lnTo>
                  <a:lnTo>
                    <a:pt x="576" y="348"/>
                  </a:lnTo>
                  <a:lnTo>
                    <a:pt x="570" y="348"/>
                  </a:lnTo>
                  <a:lnTo>
                    <a:pt x="570" y="342"/>
                  </a:lnTo>
                  <a:lnTo>
                    <a:pt x="564" y="342"/>
                  </a:lnTo>
                  <a:lnTo>
                    <a:pt x="564" y="336"/>
                  </a:lnTo>
                  <a:lnTo>
                    <a:pt x="570" y="336"/>
                  </a:lnTo>
                  <a:lnTo>
                    <a:pt x="564" y="336"/>
                  </a:lnTo>
                  <a:lnTo>
                    <a:pt x="564" y="330"/>
                  </a:lnTo>
                  <a:lnTo>
                    <a:pt x="558" y="330"/>
                  </a:lnTo>
                  <a:lnTo>
                    <a:pt x="552" y="330"/>
                  </a:lnTo>
                  <a:lnTo>
                    <a:pt x="552" y="336"/>
                  </a:lnTo>
                  <a:lnTo>
                    <a:pt x="558" y="336"/>
                  </a:lnTo>
                  <a:lnTo>
                    <a:pt x="558" y="342"/>
                  </a:lnTo>
                  <a:lnTo>
                    <a:pt x="552" y="336"/>
                  </a:lnTo>
                  <a:lnTo>
                    <a:pt x="546" y="336"/>
                  </a:lnTo>
                  <a:lnTo>
                    <a:pt x="546" y="342"/>
                  </a:lnTo>
                  <a:lnTo>
                    <a:pt x="552" y="348"/>
                  </a:lnTo>
                  <a:lnTo>
                    <a:pt x="552" y="354"/>
                  </a:lnTo>
                  <a:lnTo>
                    <a:pt x="546" y="354"/>
                  </a:lnTo>
                  <a:lnTo>
                    <a:pt x="540" y="354"/>
                  </a:lnTo>
                  <a:lnTo>
                    <a:pt x="540" y="348"/>
                  </a:lnTo>
                  <a:lnTo>
                    <a:pt x="540" y="354"/>
                  </a:lnTo>
                  <a:lnTo>
                    <a:pt x="540" y="360"/>
                  </a:lnTo>
                  <a:lnTo>
                    <a:pt x="540" y="366"/>
                  </a:lnTo>
                  <a:lnTo>
                    <a:pt x="540" y="372"/>
                  </a:lnTo>
                  <a:lnTo>
                    <a:pt x="546" y="372"/>
                  </a:lnTo>
                  <a:lnTo>
                    <a:pt x="546" y="378"/>
                  </a:lnTo>
                  <a:lnTo>
                    <a:pt x="540" y="378"/>
                  </a:lnTo>
                  <a:lnTo>
                    <a:pt x="534" y="378"/>
                  </a:lnTo>
                  <a:lnTo>
                    <a:pt x="534" y="372"/>
                  </a:lnTo>
                  <a:lnTo>
                    <a:pt x="528" y="378"/>
                  </a:lnTo>
                  <a:lnTo>
                    <a:pt x="528" y="384"/>
                  </a:lnTo>
                  <a:lnTo>
                    <a:pt x="522" y="384"/>
                  </a:lnTo>
                  <a:lnTo>
                    <a:pt x="522" y="390"/>
                  </a:lnTo>
                  <a:lnTo>
                    <a:pt x="522" y="396"/>
                  </a:lnTo>
                  <a:lnTo>
                    <a:pt x="516" y="396"/>
                  </a:lnTo>
                  <a:lnTo>
                    <a:pt x="510" y="396"/>
                  </a:lnTo>
                  <a:lnTo>
                    <a:pt x="510" y="390"/>
                  </a:lnTo>
                  <a:lnTo>
                    <a:pt x="504" y="390"/>
                  </a:lnTo>
                  <a:lnTo>
                    <a:pt x="504" y="396"/>
                  </a:lnTo>
                  <a:lnTo>
                    <a:pt x="504" y="402"/>
                  </a:lnTo>
                  <a:lnTo>
                    <a:pt x="510" y="408"/>
                  </a:lnTo>
                  <a:lnTo>
                    <a:pt x="504" y="408"/>
                  </a:lnTo>
                  <a:lnTo>
                    <a:pt x="504" y="402"/>
                  </a:lnTo>
                  <a:lnTo>
                    <a:pt x="498" y="402"/>
                  </a:lnTo>
                  <a:lnTo>
                    <a:pt x="498" y="408"/>
                  </a:lnTo>
                  <a:lnTo>
                    <a:pt x="498" y="414"/>
                  </a:lnTo>
                  <a:lnTo>
                    <a:pt x="498" y="420"/>
                  </a:lnTo>
                  <a:lnTo>
                    <a:pt x="492" y="420"/>
                  </a:lnTo>
                  <a:lnTo>
                    <a:pt x="486" y="420"/>
                  </a:lnTo>
                  <a:lnTo>
                    <a:pt x="480" y="420"/>
                  </a:lnTo>
                  <a:lnTo>
                    <a:pt x="480" y="414"/>
                  </a:lnTo>
                  <a:lnTo>
                    <a:pt x="480" y="408"/>
                  </a:lnTo>
                  <a:lnTo>
                    <a:pt x="486" y="402"/>
                  </a:lnTo>
                  <a:lnTo>
                    <a:pt x="486" y="390"/>
                  </a:lnTo>
                  <a:lnTo>
                    <a:pt x="480" y="390"/>
                  </a:lnTo>
                  <a:lnTo>
                    <a:pt x="474" y="390"/>
                  </a:lnTo>
                  <a:lnTo>
                    <a:pt x="474" y="396"/>
                  </a:lnTo>
                  <a:lnTo>
                    <a:pt x="468" y="390"/>
                  </a:lnTo>
                  <a:lnTo>
                    <a:pt x="468" y="396"/>
                  </a:lnTo>
                  <a:lnTo>
                    <a:pt x="462" y="396"/>
                  </a:lnTo>
                  <a:lnTo>
                    <a:pt x="462" y="402"/>
                  </a:lnTo>
                  <a:lnTo>
                    <a:pt x="456" y="390"/>
                  </a:lnTo>
                  <a:lnTo>
                    <a:pt x="450" y="390"/>
                  </a:lnTo>
                  <a:lnTo>
                    <a:pt x="450" y="384"/>
                  </a:lnTo>
                  <a:lnTo>
                    <a:pt x="444" y="384"/>
                  </a:lnTo>
                  <a:lnTo>
                    <a:pt x="438" y="384"/>
                  </a:lnTo>
                  <a:lnTo>
                    <a:pt x="432" y="384"/>
                  </a:lnTo>
                  <a:lnTo>
                    <a:pt x="426" y="378"/>
                  </a:lnTo>
                  <a:close/>
                  <a:moveTo>
                    <a:pt x="984" y="420"/>
                  </a:moveTo>
                  <a:lnTo>
                    <a:pt x="990" y="414"/>
                  </a:lnTo>
                  <a:lnTo>
                    <a:pt x="996" y="414"/>
                  </a:lnTo>
                  <a:lnTo>
                    <a:pt x="1002" y="414"/>
                  </a:lnTo>
                  <a:lnTo>
                    <a:pt x="1008" y="414"/>
                  </a:lnTo>
                  <a:lnTo>
                    <a:pt x="1014" y="414"/>
                  </a:lnTo>
                  <a:lnTo>
                    <a:pt x="1020" y="414"/>
                  </a:lnTo>
                  <a:lnTo>
                    <a:pt x="1020" y="408"/>
                  </a:lnTo>
                  <a:lnTo>
                    <a:pt x="1026" y="408"/>
                  </a:lnTo>
                  <a:lnTo>
                    <a:pt x="1026" y="414"/>
                  </a:lnTo>
                  <a:lnTo>
                    <a:pt x="1032" y="408"/>
                  </a:lnTo>
                  <a:lnTo>
                    <a:pt x="1038" y="414"/>
                  </a:lnTo>
                  <a:lnTo>
                    <a:pt x="1044" y="414"/>
                  </a:lnTo>
                  <a:lnTo>
                    <a:pt x="1068" y="426"/>
                  </a:lnTo>
                  <a:lnTo>
                    <a:pt x="1074" y="426"/>
                  </a:lnTo>
                  <a:lnTo>
                    <a:pt x="1074" y="432"/>
                  </a:lnTo>
                  <a:lnTo>
                    <a:pt x="1080" y="438"/>
                  </a:lnTo>
                  <a:lnTo>
                    <a:pt x="1086" y="438"/>
                  </a:lnTo>
                  <a:lnTo>
                    <a:pt x="1086" y="444"/>
                  </a:lnTo>
                  <a:lnTo>
                    <a:pt x="1086" y="450"/>
                  </a:lnTo>
                  <a:lnTo>
                    <a:pt x="1092" y="450"/>
                  </a:lnTo>
                  <a:lnTo>
                    <a:pt x="1092" y="456"/>
                  </a:lnTo>
                  <a:lnTo>
                    <a:pt x="1086" y="456"/>
                  </a:lnTo>
                  <a:lnTo>
                    <a:pt x="1080" y="456"/>
                  </a:lnTo>
                  <a:lnTo>
                    <a:pt x="1074" y="456"/>
                  </a:lnTo>
                  <a:lnTo>
                    <a:pt x="1068" y="456"/>
                  </a:lnTo>
                  <a:lnTo>
                    <a:pt x="1068" y="450"/>
                  </a:lnTo>
                  <a:lnTo>
                    <a:pt x="1062" y="450"/>
                  </a:lnTo>
                  <a:lnTo>
                    <a:pt x="1062" y="456"/>
                  </a:lnTo>
                  <a:lnTo>
                    <a:pt x="1056" y="456"/>
                  </a:lnTo>
                  <a:lnTo>
                    <a:pt x="1050" y="456"/>
                  </a:lnTo>
                  <a:lnTo>
                    <a:pt x="1044" y="462"/>
                  </a:lnTo>
                  <a:lnTo>
                    <a:pt x="1038" y="468"/>
                  </a:lnTo>
                  <a:lnTo>
                    <a:pt x="1038" y="474"/>
                  </a:lnTo>
                  <a:lnTo>
                    <a:pt x="1032" y="480"/>
                  </a:lnTo>
                  <a:lnTo>
                    <a:pt x="1038" y="480"/>
                  </a:lnTo>
                  <a:lnTo>
                    <a:pt x="1044" y="480"/>
                  </a:lnTo>
                  <a:lnTo>
                    <a:pt x="1050" y="480"/>
                  </a:lnTo>
                  <a:lnTo>
                    <a:pt x="1050" y="486"/>
                  </a:lnTo>
                  <a:lnTo>
                    <a:pt x="1050" y="492"/>
                  </a:lnTo>
                  <a:lnTo>
                    <a:pt x="1050" y="498"/>
                  </a:lnTo>
                  <a:lnTo>
                    <a:pt x="1050" y="504"/>
                  </a:lnTo>
                  <a:lnTo>
                    <a:pt x="1032" y="498"/>
                  </a:lnTo>
                  <a:lnTo>
                    <a:pt x="1032" y="504"/>
                  </a:lnTo>
                  <a:lnTo>
                    <a:pt x="1032" y="510"/>
                  </a:lnTo>
                  <a:lnTo>
                    <a:pt x="1032" y="516"/>
                  </a:lnTo>
                  <a:lnTo>
                    <a:pt x="1026" y="516"/>
                  </a:lnTo>
                  <a:lnTo>
                    <a:pt x="1020" y="510"/>
                  </a:lnTo>
                  <a:lnTo>
                    <a:pt x="1014" y="510"/>
                  </a:lnTo>
                  <a:lnTo>
                    <a:pt x="1014" y="504"/>
                  </a:lnTo>
                  <a:lnTo>
                    <a:pt x="1002" y="498"/>
                  </a:lnTo>
                  <a:lnTo>
                    <a:pt x="1002" y="492"/>
                  </a:lnTo>
                  <a:lnTo>
                    <a:pt x="996" y="486"/>
                  </a:lnTo>
                  <a:lnTo>
                    <a:pt x="996" y="480"/>
                  </a:lnTo>
                  <a:lnTo>
                    <a:pt x="996" y="474"/>
                  </a:lnTo>
                  <a:lnTo>
                    <a:pt x="996" y="468"/>
                  </a:lnTo>
                  <a:lnTo>
                    <a:pt x="996" y="462"/>
                  </a:lnTo>
                  <a:lnTo>
                    <a:pt x="996" y="456"/>
                  </a:lnTo>
                  <a:lnTo>
                    <a:pt x="996" y="450"/>
                  </a:lnTo>
                  <a:lnTo>
                    <a:pt x="996" y="444"/>
                  </a:lnTo>
                  <a:lnTo>
                    <a:pt x="996" y="438"/>
                  </a:lnTo>
                  <a:lnTo>
                    <a:pt x="996" y="432"/>
                  </a:lnTo>
                  <a:lnTo>
                    <a:pt x="984" y="420"/>
                  </a:lnTo>
                  <a:close/>
                  <a:moveTo>
                    <a:pt x="930" y="516"/>
                  </a:moveTo>
                  <a:lnTo>
                    <a:pt x="936" y="504"/>
                  </a:lnTo>
                  <a:lnTo>
                    <a:pt x="942" y="498"/>
                  </a:lnTo>
                  <a:lnTo>
                    <a:pt x="948" y="492"/>
                  </a:lnTo>
                  <a:lnTo>
                    <a:pt x="942" y="486"/>
                  </a:lnTo>
                  <a:lnTo>
                    <a:pt x="942" y="480"/>
                  </a:lnTo>
                  <a:lnTo>
                    <a:pt x="942" y="474"/>
                  </a:lnTo>
                  <a:lnTo>
                    <a:pt x="942" y="468"/>
                  </a:lnTo>
                  <a:lnTo>
                    <a:pt x="936" y="462"/>
                  </a:lnTo>
                  <a:lnTo>
                    <a:pt x="936" y="456"/>
                  </a:lnTo>
                  <a:lnTo>
                    <a:pt x="942" y="456"/>
                  </a:lnTo>
                  <a:lnTo>
                    <a:pt x="948" y="450"/>
                  </a:lnTo>
                  <a:lnTo>
                    <a:pt x="954" y="450"/>
                  </a:lnTo>
                  <a:lnTo>
                    <a:pt x="960" y="450"/>
                  </a:lnTo>
                  <a:lnTo>
                    <a:pt x="966" y="450"/>
                  </a:lnTo>
                  <a:lnTo>
                    <a:pt x="966" y="456"/>
                  </a:lnTo>
                  <a:lnTo>
                    <a:pt x="972" y="456"/>
                  </a:lnTo>
                  <a:lnTo>
                    <a:pt x="972" y="450"/>
                  </a:lnTo>
                  <a:lnTo>
                    <a:pt x="972" y="444"/>
                  </a:lnTo>
                  <a:lnTo>
                    <a:pt x="978" y="444"/>
                  </a:lnTo>
                  <a:lnTo>
                    <a:pt x="984" y="444"/>
                  </a:lnTo>
                  <a:lnTo>
                    <a:pt x="984" y="450"/>
                  </a:lnTo>
                  <a:lnTo>
                    <a:pt x="990" y="450"/>
                  </a:lnTo>
                  <a:lnTo>
                    <a:pt x="990" y="456"/>
                  </a:lnTo>
                  <a:lnTo>
                    <a:pt x="996" y="456"/>
                  </a:lnTo>
                  <a:lnTo>
                    <a:pt x="996" y="462"/>
                  </a:lnTo>
                  <a:lnTo>
                    <a:pt x="990" y="462"/>
                  </a:lnTo>
                  <a:lnTo>
                    <a:pt x="990" y="468"/>
                  </a:lnTo>
                  <a:lnTo>
                    <a:pt x="990" y="474"/>
                  </a:lnTo>
                  <a:lnTo>
                    <a:pt x="990" y="480"/>
                  </a:lnTo>
                  <a:lnTo>
                    <a:pt x="996" y="486"/>
                  </a:lnTo>
                  <a:lnTo>
                    <a:pt x="990" y="492"/>
                  </a:lnTo>
                  <a:lnTo>
                    <a:pt x="990" y="504"/>
                  </a:lnTo>
                  <a:lnTo>
                    <a:pt x="990" y="510"/>
                  </a:lnTo>
                  <a:lnTo>
                    <a:pt x="990" y="516"/>
                  </a:lnTo>
                  <a:lnTo>
                    <a:pt x="990" y="522"/>
                  </a:lnTo>
                  <a:lnTo>
                    <a:pt x="984" y="522"/>
                  </a:lnTo>
                  <a:lnTo>
                    <a:pt x="978" y="522"/>
                  </a:lnTo>
                  <a:lnTo>
                    <a:pt x="972" y="522"/>
                  </a:lnTo>
                  <a:lnTo>
                    <a:pt x="972" y="528"/>
                  </a:lnTo>
                  <a:lnTo>
                    <a:pt x="972" y="522"/>
                  </a:lnTo>
                  <a:lnTo>
                    <a:pt x="972" y="528"/>
                  </a:lnTo>
                  <a:lnTo>
                    <a:pt x="966" y="522"/>
                  </a:lnTo>
                  <a:lnTo>
                    <a:pt x="960" y="522"/>
                  </a:lnTo>
                  <a:lnTo>
                    <a:pt x="954" y="522"/>
                  </a:lnTo>
                  <a:lnTo>
                    <a:pt x="948" y="522"/>
                  </a:lnTo>
                  <a:lnTo>
                    <a:pt x="942" y="522"/>
                  </a:lnTo>
                  <a:lnTo>
                    <a:pt x="936" y="516"/>
                  </a:lnTo>
                  <a:lnTo>
                    <a:pt x="930" y="516"/>
                  </a:lnTo>
                  <a:close/>
                  <a:moveTo>
                    <a:pt x="912" y="180"/>
                  </a:moveTo>
                  <a:lnTo>
                    <a:pt x="918" y="180"/>
                  </a:lnTo>
                  <a:lnTo>
                    <a:pt x="918" y="174"/>
                  </a:lnTo>
                  <a:lnTo>
                    <a:pt x="918" y="168"/>
                  </a:lnTo>
                  <a:lnTo>
                    <a:pt x="912" y="168"/>
                  </a:lnTo>
                  <a:lnTo>
                    <a:pt x="918" y="168"/>
                  </a:lnTo>
                  <a:lnTo>
                    <a:pt x="924" y="162"/>
                  </a:lnTo>
                  <a:lnTo>
                    <a:pt x="924" y="168"/>
                  </a:lnTo>
                  <a:lnTo>
                    <a:pt x="930" y="168"/>
                  </a:lnTo>
                  <a:lnTo>
                    <a:pt x="936" y="168"/>
                  </a:lnTo>
                  <a:lnTo>
                    <a:pt x="936" y="174"/>
                  </a:lnTo>
                  <a:lnTo>
                    <a:pt x="942" y="174"/>
                  </a:lnTo>
                  <a:lnTo>
                    <a:pt x="942" y="180"/>
                  </a:lnTo>
                  <a:lnTo>
                    <a:pt x="948" y="180"/>
                  </a:lnTo>
                  <a:lnTo>
                    <a:pt x="948" y="174"/>
                  </a:lnTo>
                  <a:lnTo>
                    <a:pt x="954" y="180"/>
                  </a:lnTo>
                  <a:lnTo>
                    <a:pt x="960" y="180"/>
                  </a:lnTo>
                  <a:lnTo>
                    <a:pt x="960" y="186"/>
                  </a:lnTo>
                  <a:lnTo>
                    <a:pt x="966" y="186"/>
                  </a:lnTo>
                  <a:lnTo>
                    <a:pt x="966" y="180"/>
                  </a:lnTo>
                  <a:lnTo>
                    <a:pt x="960" y="180"/>
                  </a:lnTo>
                  <a:lnTo>
                    <a:pt x="960" y="174"/>
                  </a:lnTo>
                  <a:lnTo>
                    <a:pt x="960" y="168"/>
                  </a:lnTo>
                  <a:lnTo>
                    <a:pt x="960" y="162"/>
                  </a:lnTo>
                  <a:lnTo>
                    <a:pt x="960" y="156"/>
                  </a:lnTo>
                  <a:lnTo>
                    <a:pt x="960" y="150"/>
                  </a:lnTo>
                  <a:lnTo>
                    <a:pt x="954" y="144"/>
                  </a:lnTo>
                  <a:lnTo>
                    <a:pt x="960" y="144"/>
                  </a:lnTo>
                  <a:lnTo>
                    <a:pt x="960" y="138"/>
                  </a:lnTo>
                  <a:lnTo>
                    <a:pt x="966" y="138"/>
                  </a:lnTo>
                  <a:lnTo>
                    <a:pt x="972" y="144"/>
                  </a:lnTo>
                  <a:lnTo>
                    <a:pt x="978" y="144"/>
                  </a:lnTo>
                  <a:lnTo>
                    <a:pt x="978" y="150"/>
                  </a:lnTo>
                  <a:lnTo>
                    <a:pt x="978" y="144"/>
                  </a:lnTo>
                  <a:lnTo>
                    <a:pt x="984" y="144"/>
                  </a:lnTo>
                  <a:lnTo>
                    <a:pt x="990" y="150"/>
                  </a:lnTo>
                  <a:lnTo>
                    <a:pt x="996" y="150"/>
                  </a:lnTo>
                  <a:lnTo>
                    <a:pt x="996" y="156"/>
                  </a:lnTo>
                  <a:lnTo>
                    <a:pt x="1002" y="156"/>
                  </a:lnTo>
                  <a:lnTo>
                    <a:pt x="1002" y="162"/>
                  </a:lnTo>
                  <a:lnTo>
                    <a:pt x="1008" y="162"/>
                  </a:lnTo>
                  <a:lnTo>
                    <a:pt x="1008" y="168"/>
                  </a:lnTo>
                  <a:lnTo>
                    <a:pt x="1014" y="168"/>
                  </a:lnTo>
                  <a:lnTo>
                    <a:pt x="1014" y="162"/>
                  </a:lnTo>
                  <a:lnTo>
                    <a:pt x="1020" y="168"/>
                  </a:lnTo>
                  <a:lnTo>
                    <a:pt x="1026" y="174"/>
                  </a:lnTo>
                  <a:lnTo>
                    <a:pt x="1020" y="174"/>
                  </a:lnTo>
                  <a:lnTo>
                    <a:pt x="1020" y="180"/>
                  </a:lnTo>
                  <a:lnTo>
                    <a:pt x="1014" y="180"/>
                  </a:lnTo>
                  <a:lnTo>
                    <a:pt x="1008" y="180"/>
                  </a:lnTo>
                  <a:lnTo>
                    <a:pt x="1002" y="186"/>
                  </a:lnTo>
                  <a:lnTo>
                    <a:pt x="996" y="186"/>
                  </a:lnTo>
                  <a:lnTo>
                    <a:pt x="984" y="192"/>
                  </a:lnTo>
                  <a:lnTo>
                    <a:pt x="984" y="198"/>
                  </a:lnTo>
                  <a:lnTo>
                    <a:pt x="978" y="198"/>
                  </a:lnTo>
                  <a:lnTo>
                    <a:pt x="978" y="204"/>
                  </a:lnTo>
                  <a:lnTo>
                    <a:pt x="972" y="204"/>
                  </a:lnTo>
                  <a:lnTo>
                    <a:pt x="972" y="210"/>
                  </a:lnTo>
                  <a:lnTo>
                    <a:pt x="966" y="210"/>
                  </a:lnTo>
                  <a:lnTo>
                    <a:pt x="966" y="216"/>
                  </a:lnTo>
                  <a:lnTo>
                    <a:pt x="960" y="216"/>
                  </a:lnTo>
                  <a:lnTo>
                    <a:pt x="954" y="216"/>
                  </a:lnTo>
                  <a:lnTo>
                    <a:pt x="954" y="210"/>
                  </a:lnTo>
                  <a:lnTo>
                    <a:pt x="960" y="204"/>
                  </a:lnTo>
                  <a:lnTo>
                    <a:pt x="948" y="198"/>
                  </a:lnTo>
                  <a:lnTo>
                    <a:pt x="948" y="204"/>
                  </a:lnTo>
                  <a:lnTo>
                    <a:pt x="942" y="204"/>
                  </a:lnTo>
                  <a:lnTo>
                    <a:pt x="936" y="204"/>
                  </a:lnTo>
                  <a:lnTo>
                    <a:pt x="930" y="204"/>
                  </a:lnTo>
                  <a:lnTo>
                    <a:pt x="924" y="204"/>
                  </a:lnTo>
                  <a:lnTo>
                    <a:pt x="918" y="204"/>
                  </a:lnTo>
                  <a:lnTo>
                    <a:pt x="918" y="198"/>
                  </a:lnTo>
                  <a:lnTo>
                    <a:pt x="918" y="192"/>
                  </a:lnTo>
                  <a:lnTo>
                    <a:pt x="924" y="192"/>
                  </a:lnTo>
                  <a:lnTo>
                    <a:pt x="918" y="186"/>
                  </a:lnTo>
                  <a:lnTo>
                    <a:pt x="912" y="186"/>
                  </a:lnTo>
                  <a:lnTo>
                    <a:pt x="912" y="180"/>
                  </a:lnTo>
                  <a:close/>
                  <a:moveTo>
                    <a:pt x="768" y="474"/>
                  </a:moveTo>
                  <a:lnTo>
                    <a:pt x="768" y="468"/>
                  </a:lnTo>
                  <a:lnTo>
                    <a:pt x="774" y="468"/>
                  </a:lnTo>
                  <a:lnTo>
                    <a:pt x="780" y="468"/>
                  </a:lnTo>
                  <a:lnTo>
                    <a:pt x="786" y="468"/>
                  </a:lnTo>
                  <a:lnTo>
                    <a:pt x="786" y="462"/>
                  </a:lnTo>
                  <a:lnTo>
                    <a:pt x="792" y="462"/>
                  </a:lnTo>
                  <a:lnTo>
                    <a:pt x="798" y="456"/>
                  </a:lnTo>
                  <a:lnTo>
                    <a:pt x="792" y="456"/>
                  </a:lnTo>
                  <a:lnTo>
                    <a:pt x="798" y="450"/>
                  </a:lnTo>
                  <a:lnTo>
                    <a:pt x="792" y="450"/>
                  </a:lnTo>
                  <a:lnTo>
                    <a:pt x="792" y="444"/>
                  </a:lnTo>
                  <a:lnTo>
                    <a:pt x="798" y="438"/>
                  </a:lnTo>
                  <a:lnTo>
                    <a:pt x="804" y="438"/>
                  </a:lnTo>
                  <a:lnTo>
                    <a:pt x="804" y="432"/>
                  </a:lnTo>
                  <a:lnTo>
                    <a:pt x="804" y="438"/>
                  </a:lnTo>
                  <a:lnTo>
                    <a:pt x="810" y="438"/>
                  </a:lnTo>
                  <a:lnTo>
                    <a:pt x="816" y="432"/>
                  </a:lnTo>
                  <a:lnTo>
                    <a:pt x="816" y="438"/>
                  </a:lnTo>
                  <a:lnTo>
                    <a:pt x="822" y="438"/>
                  </a:lnTo>
                  <a:lnTo>
                    <a:pt x="822" y="444"/>
                  </a:lnTo>
                  <a:lnTo>
                    <a:pt x="816" y="444"/>
                  </a:lnTo>
                  <a:lnTo>
                    <a:pt x="816" y="450"/>
                  </a:lnTo>
                  <a:lnTo>
                    <a:pt x="822" y="450"/>
                  </a:lnTo>
                  <a:lnTo>
                    <a:pt x="822" y="456"/>
                  </a:lnTo>
                  <a:lnTo>
                    <a:pt x="828" y="456"/>
                  </a:lnTo>
                  <a:lnTo>
                    <a:pt x="828" y="462"/>
                  </a:lnTo>
                  <a:lnTo>
                    <a:pt x="834" y="468"/>
                  </a:lnTo>
                  <a:lnTo>
                    <a:pt x="840" y="474"/>
                  </a:lnTo>
                  <a:lnTo>
                    <a:pt x="846" y="480"/>
                  </a:lnTo>
                  <a:lnTo>
                    <a:pt x="840" y="480"/>
                  </a:lnTo>
                  <a:lnTo>
                    <a:pt x="840" y="486"/>
                  </a:lnTo>
                  <a:lnTo>
                    <a:pt x="840" y="492"/>
                  </a:lnTo>
                  <a:lnTo>
                    <a:pt x="834" y="492"/>
                  </a:lnTo>
                  <a:lnTo>
                    <a:pt x="834" y="486"/>
                  </a:lnTo>
                  <a:lnTo>
                    <a:pt x="828" y="486"/>
                  </a:lnTo>
                  <a:lnTo>
                    <a:pt x="828" y="492"/>
                  </a:lnTo>
                  <a:lnTo>
                    <a:pt x="828" y="498"/>
                  </a:lnTo>
                  <a:lnTo>
                    <a:pt x="828" y="504"/>
                  </a:lnTo>
                  <a:lnTo>
                    <a:pt x="822" y="504"/>
                  </a:lnTo>
                  <a:lnTo>
                    <a:pt x="816" y="504"/>
                  </a:lnTo>
                  <a:lnTo>
                    <a:pt x="816" y="498"/>
                  </a:lnTo>
                  <a:lnTo>
                    <a:pt x="810" y="498"/>
                  </a:lnTo>
                  <a:lnTo>
                    <a:pt x="804" y="498"/>
                  </a:lnTo>
                  <a:lnTo>
                    <a:pt x="798" y="498"/>
                  </a:lnTo>
                  <a:lnTo>
                    <a:pt x="792" y="498"/>
                  </a:lnTo>
                  <a:lnTo>
                    <a:pt x="786" y="498"/>
                  </a:lnTo>
                  <a:lnTo>
                    <a:pt x="786" y="492"/>
                  </a:lnTo>
                  <a:lnTo>
                    <a:pt x="774" y="486"/>
                  </a:lnTo>
                  <a:lnTo>
                    <a:pt x="768" y="480"/>
                  </a:lnTo>
                  <a:lnTo>
                    <a:pt x="768" y="474"/>
                  </a:lnTo>
                  <a:close/>
                  <a:moveTo>
                    <a:pt x="1122" y="270"/>
                  </a:moveTo>
                  <a:lnTo>
                    <a:pt x="1128" y="264"/>
                  </a:lnTo>
                  <a:lnTo>
                    <a:pt x="1134" y="258"/>
                  </a:lnTo>
                  <a:lnTo>
                    <a:pt x="1146" y="246"/>
                  </a:lnTo>
                  <a:lnTo>
                    <a:pt x="1152" y="246"/>
                  </a:lnTo>
                  <a:lnTo>
                    <a:pt x="1152" y="240"/>
                  </a:lnTo>
                  <a:lnTo>
                    <a:pt x="1158" y="240"/>
                  </a:lnTo>
                  <a:lnTo>
                    <a:pt x="1164" y="234"/>
                  </a:lnTo>
                  <a:lnTo>
                    <a:pt x="1170" y="228"/>
                  </a:lnTo>
                  <a:lnTo>
                    <a:pt x="1176" y="228"/>
                  </a:lnTo>
                  <a:lnTo>
                    <a:pt x="1182" y="228"/>
                  </a:lnTo>
                  <a:lnTo>
                    <a:pt x="1188" y="228"/>
                  </a:lnTo>
                  <a:lnTo>
                    <a:pt x="1194" y="228"/>
                  </a:lnTo>
                  <a:lnTo>
                    <a:pt x="1194" y="234"/>
                  </a:lnTo>
                  <a:lnTo>
                    <a:pt x="1194" y="240"/>
                  </a:lnTo>
                  <a:lnTo>
                    <a:pt x="1194" y="252"/>
                  </a:lnTo>
                  <a:lnTo>
                    <a:pt x="1194" y="258"/>
                  </a:lnTo>
                  <a:lnTo>
                    <a:pt x="1188" y="270"/>
                  </a:lnTo>
                  <a:lnTo>
                    <a:pt x="1182" y="276"/>
                  </a:lnTo>
                  <a:lnTo>
                    <a:pt x="1176" y="282"/>
                  </a:lnTo>
                  <a:lnTo>
                    <a:pt x="1176" y="288"/>
                  </a:lnTo>
                  <a:lnTo>
                    <a:pt x="1170" y="288"/>
                  </a:lnTo>
                  <a:lnTo>
                    <a:pt x="1158" y="294"/>
                  </a:lnTo>
                  <a:lnTo>
                    <a:pt x="1146" y="288"/>
                  </a:lnTo>
                  <a:lnTo>
                    <a:pt x="1134" y="282"/>
                  </a:lnTo>
                  <a:lnTo>
                    <a:pt x="1134" y="276"/>
                  </a:lnTo>
                  <a:lnTo>
                    <a:pt x="1128" y="276"/>
                  </a:lnTo>
                  <a:lnTo>
                    <a:pt x="1122" y="270"/>
                  </a:lnTo>
                  <a:close/>
                  <a:moveTo>
                    <a:pt x="978" y="120"/>
                  </a:moveTo>
                  <a:lnTo>
                    <a:pt x="978" y="114"/>
                  </a:lnTo>
                  <a:lnTo>
                    <a:pt x="984" y="114"/>
                  </a:lnTo>
                  <a:lnTo>
                    <a:pt x="984" y="108"/>
                  </a:lnTo>
                  <a:lnTo>
                    <a:pt x="978" y="102"/>
                  </a:lnTo>
                  <a:lnTo>
                    <a:pt x="984" y="102"/>
                  </a:lnTo>
                  <a:lnTo>
                    <a:pt x="984" y="96"/>
                  </a:lnTo>
                  <a:lnTo>
                    <a:pt x="990" y="96"/>
                  </a:lnTo>
                  <a:lnTo>
                    <a:pt x="996" y="102"/>
                  </a:lnTo>
                  <a:lnTo>
                    <a:pt x="1002" y="102"/>
                  </a:lnTo>
                  <a:lnTo>
                    <a:pt x="1002" y="96"/>
                  </a:lnTo>
                  <a:lnTo>
                    <a:pt x="1008" y="96"/>
                  </a:lnTo>
                  <a:lnTo>
                    <a:pt x="1002" y="96"/>
                  </a:lnTo>
                  <a:lnTo>
                    <a:pt x="1008" y="90"/>
                  </a:lnTo>
                  <a:lnTo>
                    <a:pt x="1014" y="90"/>
                  </a:lnTo>
                  <a:lnTo>
                    <a:pt x="1020" y="96"/>
                  </a:lnTo>
                  <a:lnTo>
                    <a:pt x="1020" y="102"/>
                  </a:lnTo>
                  <a:lnTo>
                    <a:pt x="1026" y="102"/>
                  </a:lnTo>
                  <a:lnTo>
                    <a:pt x="1026" y="108"/>
                  </a:lnTo>
                  <a:lnTo>
                    <a:pt x="1032" y="114"/>
                  </a:lnTo>
                  <a:lnTo>
                    <a:pt x="1038" y="114"/>
                  </a:lnTo>
                  <a:lnTo>
                    <a:pt x="1044" y="114"/>
                  </a:lnTo>
                  <a:lnTo>
                    <a:pt x="1056" y="132"/>
                  </a:lnTo>
                  <a:lnTo>
                    <a:pt x="1056" y="138"/>
                  </a:lnTo>
                  <a:lnTo>
                    <a:pt x="1056" y="144"/>
                  </a:lnTo>
                  <a:lnTo>
                    <a:pt x="1050" y="144"/>
                  </a:lnTo>
                  <a:lnTo>
                    <a:pt x="1044" y="144"/>
                  </a:lnTo>
                  <a:lnTo>
                    <a:pt x="1044" y="150"/>
                  </a:lnTo>
                  <a:lnTo>
                    <a:pt x="1038" y="150"/>
                  </a:lnTo>
                  <a:lnTo>
                    <a:pt x="1032" y="150"/>
                  </a:lnTo>
                  <a:lnTo>
                    <a:pt x="1026" y="150"/>
                  </a:lnTo>
                  <a:lnTo>
                    <a:pt x="1020" y="150"/>
                  </a:lnTo>
                  <a:lnTo>
                    <a:pt x="1020" y="144"/>
                  </a:lnTo>
                  <a:lnTo>
                    <a:pt x="1014" y="144"/>
                  </a:lnTo>
                  <a:lnTo>
                    <a:pt x="1014" y="138"/>
                  </a:lnTo>
                  <a:lnTo>
                    <a:pt x="1008" y="138"/>
                  </a:lnTo>
                  <a:lnTo>
                    <a:pt x="1014" y="138"/>
                  </a:lnTo>
                  <a:lnTo>
                    <a:pt x="1008" y="132"/>
                  </a:lnTo>
                  <a:lnTo>
                    <a:pt x="1002" y="132"/>
                  </a:lnTo>
                  <a:lnTo>
                    <a:pt x="996" y="132"/>
                  </a:lnTo>
                  <a:lnTo>
                    <a:pt x="990" y="132"/>
                  </a:lnTo>
                  <a:lnTo>
                    <a:pt x="990" y="126"/>
                  </a:lnTo>
                  <a:lnTo>
                    <a:pt x="984" y="126"/>
                  </a:lnTo>
                  <a:lnTo>
                    <a:pt x="978" y="126"/>
                  </a:lnTo>
                  <a:lnTo>
                    <a:pt x="978" y="120"/>
                  </a:lnTo>
                  <a:close/>
                  <a:moveTo>
                    <a:pt x="852" y="318"/>
                  </a:moveTo>
                  <a:lnTo>
                    <a:pt x="846" y="312"/>
                  </a:lnTo>
                  <a:lnTo>
                    <a:pt x="852" y="312"/>
                  </a:lnTo>
                  <a:lnTo>
                    <a:pt x="852" y="306"/>
                  </a:lnTo>
                  <a:lnTo>
                    <a:pt x="858" y="306"/>
                  </a:lnTo>
                  <a:lnTo>
                    <a:pt x="858" y="300"/>
                  </a:lnTo>
                  <a:lnTo>
                    <a:pt x="864" y="300"/>
                  </a:lnTo>
                  <a:lnTo>
                    <a:pt x="870" y="306"/>
                  </a:lnTo>
                  <a:lnTo>
                    <a:pt x="876" y="300"/>
                  </a:lnTo>
                  <a:lnTo>
                    <a:pt x="882" y="300"/>
                  </a:lnTo>
                  <a:lnTo>
                    <a:pt x="882" y="306"/>
                  </a:lnTo>
                  <a:lnTo>
                    <a:pt x="888" y="306"/>
                  </a:lnTo>
                  <a:lnTo>
                    <a:pt x="888" y="300"/>
                  </a:lnTo>
                  <a:lnTo>
                    <a:pt x="894" y="300"/>
                  </a:lnTo>
                  <a:lnTo>
                    <a:pt x="900" y="300"/>
                  </a:lnTo>
                  <a:lnTo>
                    <a:pt x="906" y="306"/>
                  </a:lnTo>
                  <a:lnTo>
                    <a:pt x="906" y="312"/>
                  </a:lnTo>
                  <a:lnTo>
                    <a:pt x="912" y="312"/>
                  </a:lnTo>
                  <a:lnTo>
                    <a:pt x="918" y="318"/>
                  </a:lnTo>
                  <a:lnTo>
                    <a:pt x="924" y="318"/>
                  </a:lnTo>
                  <a:lnTo>
                    <a:pt x="930" y="318"/>
                  </a:lnTo>
                  <a:lnTo>
                    <a:pt x="930" y="324"/>
                  </a:lnTo>
                  <a:lnTo>
                    <a:pt x="936" y="324"/>
                  </a:lnTo>
                  <a:lnTo>
                    <a:pt x="936" y="330"/>
                  </a:lnTo>
                  <a:lnTo>
                    <a:pt x="930" y="330"/>
                  </a:lnTo>
                  <a:lnTo>
                    <a:pt x="924" y="330"/>
                  </a:lnTo>
                  <a:lnTo>
                    <a:pt x="918" y="336"/>
                  </a:lnTo>
                  <a:lnTo>
                    <a:pt x="912" y="336"/>
                  </a:lnTo>
                  <a:lnTo>
                    <a:pt x="906" y="336"/>
                  </a:lnTo>
                  <a:lnTo>
                    <a:pt x="900" y="336"/>
                  </a:lnTo>
                  <a:lnTo>
                    <a:pt x="894" y="342"/>
                  </a:lnTo>
                  <a:lnTo>
                    <a:pt x="888" y="342"/>
                  </a:lnTo>
                  <a:lnTo>
                    <a:pt x="882" y="342"/>
                  </a:lnTo>
                  <a:lnTo>
                    <a:pt x="882" y="336"/>
                  </a:lnTo>
                  <a:lnTo>
                    <a:pt x="876" y="336"/>
                  </a:lnTo>
                  <a:lnTo>
                    <a:pt x="876" y="330"/>
                  </a:lnTo>
                  <a:lnTo>
                    <a:pt x="882" y="330"/>
                  </a:lnTo>
                  <a:lnTo>
                    <a:pt x="882" y="324"/>
                  </a:lnTo>
                  <a:lnTo>
                    <a:pt x="876" y="324"/>
                  </a:lnTo>
                  <a:lnTo>
                    <a:pt x="870" y="324"/>
                  </a:lnTo>
                  <a:lnTo>
                    <a:pt x="864" y="324"/>
                  </a:lnTo>
                  <a:lnTo>
                    <a:pt x="864" y="330"/>
                  </a:lnTo>
                  <a:lnTo>
                    <a:pt x="858" y="330"/>
                  </a:lnTo>
                  <a:lnTo>
                    <a:pt x="858" y="324"/>
                  </a:lnTo>
                  <a:lnTo>
                    <a:pt x="852" y="324"/>
                  </a:lnTo>
                  <a:lnTo>
                    <a:pt x="852" y="318"/>
                  </a:lnTo>
                  <a:close/>
                  <a:moveTo>
                    <a:pt x="1026" y="42"/>
                  </a:moveTo>
                  <a:lnTo>
                    <a:pt x="1032" y="42"/>
                  </a:lnTo>
                  <a:lnTo>
                    <a:pt x="1026" y="36"/>
                  </a:lnTo>
                  <a:lnTo>
                    <a:pt x="1026" y="30"/>
                  </a:lnTo>
                  <a:lnTo>
                    <a:pt x="1032" y="30"/>
                  </a:lnTo>
                  <a:lnTo>
                    <a:pt x="1032" y="24"/>
                  </a:lnTo>
                  <a:lnTo>
                    <a:pt x="1032" y="18"/>
                  </a:lnTo>
                  <a:lnTo>
                    <a:pt x="1026" y="12"/>
                  </a:lnTo>
                  <a:lnTo>
                    <a:pt x="1032" y="12"/>
                  </a:lnTo>
                  <a:lnTo>
                    <a:pt x="1038" y="6"/>
                  </a:lnTo>
                  <a:lnTo>
                    <a:pt x="1044" y="6"/>
                  </a:lnTo>
                  <a:lnTo>
                    <a:pt x="1050" y="6"/>
                  </a:lnTo>
                  <a:lnTo>
                    <a:pt x="1056" y="6"/>
                  </a:lnTo>
                  <a:lnTo>
                    <a:pt x="1056" y="0"/>
                  </a:lnTo>
                  <a:lnTo>
                    <a:pt x="1068" y="0"/>
                  </a:lnTo>
                  <a:lnTo>
                    <a:pt x="1074" y="0"/>
                  </a:lnTo>
                  <a:lnTo>
                    <a:pt x="1080" y="0"/>
                  </a:lnTo>
                  <a:lnTo>
                    <a:pt x="1086" y="0"/>
                  </a:lnTo>
                  <a:lnTo>
                    <a:pt x="1092" y="6"/>
                  </a:lnTo>
                  <a:lnTo>
                    <a:pt x="1092" y="18"/>
                  </a:lnTo>
                  <a:lnTo>
                    <a:pt x="1092" y="24"/>
                  </a:lnTo>
                  <a:lnTo>
                    <a:pt x="1092" y="30"/>
                  </a:lnTo>
                  <a:lnTo>
                    <a:pt x="1086" y="36"/>
                  </a:lnTo>
                  <a:lnTo>
                    <a:pt x="1080" y="36"/>
                  </a:lnTo>
                  <a:lnTo>
                    <a:pt x="1068" y="42"/>
                  </a:lnTo>
                  <a:lnTo>
                    <a:pt x="1062" y="42"/>
                  </a:lnTo>
                  <a:lnTo>
                    <a:pt x="1056" y="42"/>
                  </a:lnTo>
                  <a:lnTo>
                    <a:pt x="1050" y="42"/>
                  </a:lnTo>
                  <a:lnTo>
                    <a:pt x="1050" y="48"/>
                  </a:lnTo>
                  <a:lnTo>
                    <a:pt x="1044" y="48"/>
                  </a:lnTo>
                  <a:lnTo>
                    <a:pt x="1038" y="54"/>
                  </a:lnTo>
                  <a:lnTo>
                    <a:pt x="1026" y="42"/>
                  </a:lnTo>
                  <a:close/>
                  <a:moveTo>
                    <a:pt x="1224" y="60"/>
                  </a:moveTo>
                  <a:lnTo>
                    <a:pt x="1224" y="54"/>
                  </a:lnTo>
                  <a:lnTo>
                    <a:pt x="1230" y="48"/>
                  </a:lnTo>
                  <a:lnTo>
                    <a:pt x="1236" y="48"/>
                  </a:lnTo>
                  <a:lnTo>
                    <a:pt x="1242" y="48"/>
                  </a:lnTo>
                  <a:lnTo>
                    <a:pt x="1248" y="48"/>
                  </a:lnTo>
                  <a:lnTo>
                    <a:pt x="1254" y="48"/>
                  </a:lnTo>
                  <a:lnTo>
                    <a:pt x="1248" y="48"/>
                  </a:lnTo>
                  <a:lnTo>
                    <a:pt x="1248" y="54"/>
                  </a:lnTo>
                  <a:lnTo>
                    <a:pt x="1254" y="48"/>
                  </a:lnTo>
                  <a:lnTo>
                    <a:pt x="1260" y="48"/>
                  </a:lnTo>
                  <a:lnTo>
                    <a:pt x="1266" y="48"/>
                  </a:lnTo>
                  <a:lnTo>
                    <a:pt x="1272" y="42"/>
                  </a:lnTo>
                  <a:lnTo>
                    <a:pt x="1284" y="48"/>
                  </a:lnTo>
                  <a:lnTo>
                    <a:pt x="1290" y="48"/>
                  </a:lnTo>
                  <a:lnTo>
                    <a:pt x="1296" y="54"/>
                  </a:lnTo>
                  <a:lnTo>
                    <a:pt x="1296" y="60"/>
                  </a:lnTo>
                  <a:lnTo>
                    <a:pt x="1296" y="66"/>
                  </a:lnTo>
                  <a:lnTo>
                    <a:pt x="1296" y="72"/>
                  </a:lnTo>
                  <a:lnTo>
                    <a:pt x="1296" y="78"/>
                  </a:lnTo>
                  <a:lnTo>
                    <a:pt x="1284" y="84"/>
                  </a:lnTo>
                  <a:lnTo>
                    <a:pt x="1278" y="90"/>
                  </a:lnTo>
                  <a:lnTo>
                    <a:pt x="1272" y="90"/>
                  </a:lnTo>
                  <a:lnTo>
                    <a:pt x="1272" y="84"/>
                  </a:lnTo>
                  <a:lnTo>
                    <a:pt x="1266" y="84"/>
                  </a:lnTo>
                  <a:lnTo>
                    <a:pt x="1260" y="84"/>
                  </a:lnTo>
                  <a:lnTo>
                    <a:pt x="1254" y="84"/>
                  </a:lnTo>
                  <a:lnTo>
                    <a:pt x="1248" y="84"/>
                  </a:lnTo>
                  <a:lnTo>
                    <a:pt x="1242" y="78"/>
                  </a:lnTo>
                  <a:lnTo>
                    <a:pt x="1242" y="72"/>
                  </a:lnTo>
                  <a:lnTo>
                    <a:pt x="1242" y="66"/>
                  </a:lnTo>
                  <a:lnTo>
                    <a:pt x="1236" y="66"/>
                  </a:lnTo>
                  <a:lnTo>
                    <a:pt x="1230" y="66"/>
                  </a:lnTo>
                  <a:lnTo>
                    <a:pt x="1224" y="60"/>
                  </a:lnTo>
                  <a:close/>
                  <a:moveTo>
                    <a:pt x="840" y="414"/>
                  </a:moveTo>
                  <a:lnTo>
                    <a:pt x="840" y="408"/>
                  </a:lnTo>
                  <a:lnTo>
                    <a:pt x="840" y="402"/>
                  </a:lnTo>
                  <a:lnTo>
                    <a:pt x="846" y="402"/>
                  </a:lnTo>
                  <a:lnTo>
                    <a:pt x="846" y="396"/>
                  </a:lnTo>
                  <a:lnTo>
                    <a:pt x="840" y="390"/>
                  </a:lnTo>
                  <a:lnTo>
                    <a:pt x="840" y="384"/>
                  </a:lnTo>
                  <a:lnTo>
                    <a:pt x="840" y="378"/>
                  </a:lnTo>
                  <a:lnTo>
                    <a:pt x="846" y="378"/>
                  </a:lnTo>
                  <a:lnTo>
                    <a:pt x="852" y="378"/>
                  </a:lnTo>
                  <a:lnTo>
                    <a:pt x="858" y="378"/>
                  </a:lnTo>
                  <a:lnTo>
                    <a:pt x="858" y="384"/>
                  </a:lnTo>
                  <a:lnTo>
                    <a:pt x="858" y="390"/>
                  </a:lnTo>
                  <a:lnTo>
                    <a:pt x="852" y="390"/>
                  </a:lnTo>
                  <a:lnTo>
                    <a:pt x="852" y="396"/>
                  </a:lnTo>
                  <a:lnTo>
                    <a:pt x="858" y="396"/>
                  </a:lnTo>
                  <a:lnTo>
                    <a:pt x="864" y="396"/>
                  </a:lnTo>
                  <a:lnTo>
                    <a:pt x="864" y="402"/>
                  </a:lnTo>
                  <a:lnTo>
                    <a:pt x="864" y="408"/>
                  </a:lnTo>
                  <a:lnTo>
                    <a:pt x="870" y="408"/>
                  </a:lnTo>
                  <a:lnTo>
                    <a:pt x="876" y="414"/>
                  </a:lnTo>
                  <a:lnTo>
                    <a:pt x="876" y="408"/>
                  </a:lnTo>
                  <a:lnTo>
                    <a:pt x="882" y="414"/>
                  </a:lnTo>
                  <a:lnTo>
                    <a:pt x="882" y="408"/>
                  </a:lnTo>
                  <a:lnTo>
                    <a:pt x="876" y="408"/>
                  </a:lnTo>
                  <a:lnTo>
                    <a:pt x="876" y="402"/>
                  </a:lnTo>
                  <a:lnTo>
                    <a:pt x="876" y="396"/>
                  </a:lnTo>
                  <a:lnTo>
                    <a:pt x="882" y="396"/>
                  </a:lnTo>
                  <a:lnTo>
                    <a:pt x="888" y="396"/>
                  </a:lnTo>
                  <a:lnTo>
                    <a:pt x="894" y="396"/>
                  </a:lnTo>
                  <a:lnTo>
                    <a:pt x="894" y="402"/>
                  </a:lnTo>
                  <a:lnTo>
                    <a:pt x="900" y="402"/>
                  </a:lnTo>
                  <a:lnTo>
                    <a:pt x="900" y="408"/>
                  </a:lnTo>
                  <a:lnTo>
                    <a:pt x="894" y="414"/>
                  </a:lnTo>
                  <a:lnTo>
                    <a:pt x="894" y="420"/>
                  </a:lnTo>
                  <a:lnTo>
                    <a:pt x="888" y="420"/>
                  </a:lnTo>
                  <a:lnTo>
                    <a:pt x="888" y="414"/>
                  </a:lnTo>
                  <a:lnTo>
                    <a:pt x="882" y="420"/>
                  </a:lnTo>
                  <a:lnTo>
                    <a:pt x="888" y="420"/>
                  </a:lnTo>
                  <a:lnTo>
                    <a:pt x="888" y="426"/>
                  </a:lnTo>
                  <a:lnTo>
                    <a:pt x="882" y="426"/>
                  </a:lnTo>
                  <a:lnTo>
                    <a:pt x="882" y="432"/>
                  </a:lnTo>
                  <a:lnTo>
                    <a:pt x="882" y="438"/>
                  </a:lnTo>
                  <a:lnTo>
                    <a:pt x="888" y="432"/>
                  </a:lnTo>
                  <a:lnTo>
                    <a:pt x="894" y="426"/>
                  </a:lnTo>
                  <a:lnTo>
                    <a:pt x="900" y="426"/>
                  </a:lnTo>
                  <a:lnTo>
                    <a:pt x="906" y="420"/>
                  </a:lnTo>
                  <a:lnTo>
                    <a:pt x="906" y="426"/>
                  </a:lnTo>
                  <a:lnTo>
                    <a:pt x="906" y="432"/>
                  </a:lnTo>
                  <a:lnTo>
                    <a:pt x="906" y="438"/>
                  </a:lnTo>
                  <a:lnTo>
                    <a:pt x="900" y="438"/>
                  </a:lnTo>
                  <a:lnTo>
                    <a:pt x="894" y="432"/>
                  </a:lnTo>
                  <a:lnTo>
                    <a:pt x="888" y="432"/>
                  </a:lnTo>
                  <a:lnTo>
                    <a:pt x="888" y="438"/>
                  </a:lnTo>
                  <a:lnTo>
                    <a:pt x="888" y="444"/>
                  </a:lnTo>
                  <a:lnTo>
                    <a:pt x="882" y="444"/>
                  </a:lnTo>
                  <a:lnTo>
                    <a:pt x="876" y="444"/>
                  </a:lnTo>
                  <a:lnTo>
                    <a:pt x="876" y="438"/>
                  </a:lnTo>
                  <a:lnTo>
                    <a:pt x="870" y="438"/>
                  </a:lnTo>
                  <a:lnTo>
                    <a:pt x="870" y="432"/>
                  </a:lnTo>
                  <a:lnTo>
                    <a:pt x="870" y="426"/>
                  </a:lnTo>
                  <a:lnTo>
                    <a:pt x="870" y="420"/>
                  </a:lnTo>
                  <a:lnTo>
                    <a:pt x="876" y="414"/>
                  </a:lnTo>
                  <a:lnTo>
                    <a:pt x="870" y="414"/>
                  </a:lnTo>
                  <a:lnTo>
                    <a:pt x="864" y="414"/>
                  </a:lnTo>
                  <a:lnTo>
                    <a:pt x="864" y="420"/>
                  </a:lnTo>
                  <a:lnTo>
                    <a:pt x="864" y="426"/>
                  </a:lnTo>
                  <a:lnTo>
                    <a:pt x="858" y="426"/>
                  </a:lnTo>
                  <a:lnTo>
                    <a:pt x="852" y="420"/>
                  </a:lnTo>
                  <a:lnTo>
                    <a:pt x="846" y="420"/>
                  </a:lnTo>
                  <a:lnTo>
                    <a:pt x="840" y="420"/>
                  </a:lnTo>
                  <a:lnTo>
                    <a:pt x="840" y="414"/>
                  </a:lnTo>
                  <a:close/>
                  <a:moveTo>
                    <a:pt x="1068" y="540"/>
                  </a:moveTo>
                  <a:lnTo>
                    <a:pt x="1068" y="534"/>
                  </a:lnTo>
                  <a:lnTo>
                    <a:pt x="1092" y="516"/>
                  </a:lnTo>
                  <a:lnTo>
                    <a:pt x="1098" y="516"/>
                  </a:lnTo>
                  <a:lnTo>
                    <a:pt x="1104" y="516"/>
                  </a:lnTo>
                  <a:lnTo>
                    <a:pt x="1110" y="522"/>
                  </a:lnTo>
                  <a:lnTo>
                    <a:pt x="1116" y="522"/>
                  </a:lnTo>
                  <a:lnTo>
                    <a:pt x="1116" y="528"/>
                  </a:lnTo>
                  <a:lnTo>
                    <a:pt x="1116" y="534"/>
                  </a:lnTo>
                  <a:lnTo>
                    <a:pt x="1122" y="540"/>
                  </a:lnTo>
                  <a:lnTo>
                    <a:pt x="1116" y="546"/>
                  </a:lnTo>
                  <a:lnTo>
                    <a:pt x="1110" y="552"/>
                  </a:lnTo>
                  <a:lnTo>
                    <a:pt x="1110" y="558"/>
                  </a:lnTo>
                  <a:lnTo>
                    <a:pt x="1104" y="558"/>
                  </a:lnTo>
                  <a:lnTo>
                    <a:pt x="1098" y="558"/>
                  </a:lnTo>
                  <a:lnTo>
                    <a:pt x="1098" y="564"/>
                  </a:lnTo>
                  <a:lnTo>
                    <a:pt x="1092" y="564"/>
                  </a:lnTo>
                  <a:lnTo>
                    <a:pt x="1092" y="558"/>
                  </a:lnTo>
                  <a:lnTo>
                    <a:pt x="1086" y="552"/>
                  </a:lnTo>
                  <a:lnTo>
                    <a:pt x="1080" y="546"/>
                  </a:lnTo>
                  <a:lnTo>
                    <a:pt x="1074" y="540"/>
                  </a:lnTo>
                  <a:lnTo>
                    <a:pt x="1068" y="540"/>
                  </a:lnTo>
                  <a:close/>
                  <a:moveTo>
                    <a:pt x="984" y="216"/>
                  </a:moveTo>
                  <a:lnTo>
                    <a:pt x="984" y="210"/>
                  </a:lnTo>
                  <a:lnTo>
                    <a:pt x="990" y="210"/>
                  </a:lnTo>
                  <a:lnTo>
                    <a:pt x="996" y="210"/>
                  </a:lnTo>
                  <a:lnTo>
                    <a:pt x="996" y="204"/>
                  </a:lnTo>
                  <a:lnTo>
                    <a:pt x="1002" y="204"/>
                  </a:lnTo>
                  <a:lnTo>
                    <a:pt x="1002" y="198"/>
                  </a:lnTo>
                  <a:lnTo>
                    <a:pt x="1008" y="198"/>
                  </a:lnTo>
                  <a:lnTo>
                    <a:pt x="1014" y="198"/>
                  </a:lnTo>
                  <a:lnTo>
                    <a:pt x="1020" y="198"/>
                  </a:lnTo>
                  <a:lnTo>
                    <a:pt x="1026" y="192"/>
                  </a:lnTo>
                  <a:lnTo>
                    <a:pt x="1032" y="198"/>
                  </a:lnTo>
                  <a:lnTo>
                    <a:pt x="1032" y="204"/>
                  </a:lnTo>
                  <a:lnTo>
                    <a:pt x="1026" y="210"/>
                  </a:lnTo>
                  <a:lnTo>
                    <a:pt x="1026" y="216"/>
                  </a:lnTo>
                  <a:lnTo>
                    <a:pt x="1026" y="222"/>
                  </a:lnTo>
                  <a:lnTo>
                    <a:pt x="1020" y="228"/>
                  </a:lnTo>
                  <a:lnTo>
                    <a:pt x="1014" y="228"/>
                  </a:lnTo>
                  <a:lnTo>
                    <a:pt x="1014" y="234"/>
                  </a:lnTo>
                  <a:lnTo>
                    <a:pt x="1008" y="234"/>
                  </a:lnTo>
                  <a:lnTo>
                    <a:pt x="990" y="228"/>
                  </a:lnTo>
                  <a:lnTo>
                    <a:pt x="990" y="222"/>
                  </a:lnTo>
                  <a:lnTo>
                    <a:pt x="984" y="222"/>
                  </a:lnTo>
                  <a:lnTo>
                    <a:pt x="984" y="216"/>
                  </a:lnTo>
                  <a:close/>
                  <a:moveTo>
                    <a:pt x="1056" y="156"/>
                  </a:moveTo>
                  <a:lnTo>
                    <a:pt x="1056" y="150"/>
                  </a:lnTo>
                  <a:lnTo>
                    <a:pt x="1062" y="144"/>
                  </a:lnTo>
                  <a:lnTo>
                    <a:pt x="1068" y="138"/>
                  </a:lnTo>
                  <a:lnTo>
                    <a:pt x="1074" y="132"/>
                  </a:lnTo>
                  <a:lnTo>
                    <a:pt x="1080" y="138"/>
                  </a:lnTo>
                  <a:lnTo>
                    <a:pt x="1086" y="132"/>
                  </a:lnTo>
                  <a:lnTo>
                    <a:pt x="1086" y="138"/>
                  </a:lnTo>
                  <a:lnTo>
                    <a:pt x="1086" y="144"/>
                  </a:lnTo>
                  <a:lnTo>
                    <a:pt x="1086" y="156"/>
                  </a:lnTo>
                  <a:lnTo>
                    <a:pt x="1092" y="156"/>
                  </a:lnTo>
                  <a:lnTo>
                    <a:pt x="1092" y="162"/>
                  </a:lnTo>
                  <a:lnTo>
                    <a:pt x="1092" y="168"/>
                  </a:lnTo>
                  <a:lnTo>
                    <a:pt x="1086" y="168"/>
                  </a:lnTo>
                  <a:lnTo>
                    <a:pt x="1080" y="174"/>
                  </a:lnTo>
                  <a:lnTo>
                    <a:pt x="1074" y="174"/>
                  </a:lnTo>
                  <a:lnTo>
                    <a:pt x="1068" y="168"/>
                  </a:lnTo>
                  <a:lnTo>
                    <a:pt x="1062" y="168"/>
                  </a:lnTo>
                  <a:lnTo>
                    <a:pt x="1056" y="168"/>
                  </a:lnTo>
                  <a:lnTo>
                    <a:pt x="1056" y="156"/>
                  </a:lnTo>
                  <a:close/>
                  <a:moveTo>
                    <a:pt x="18" y="2982"/>
                  </a:moveTo>
                  <a:lnTo>
                    <a:pt x="12" y="2982"/>
                  </a:lnTo>
                  <a:lnTo>
                    <a:pt x="6" y="2982"/>
                  </a:lnTo>
                  <a:lnTo>
                    <a:pt x="12" y="2976"/>
                  </a:lnTo>
                  <a:lnTo>
                    <a:pt x="6" y="2976"/>
                  </a:lnTo>
                  <a:lnTo>
                    <a:pt x="0" y="2976"/>
                  </a:lnTo>
                  <a:lnTo>
                    <a:pt x="0" y="2970"/>
                  </a:lnTo>
                  <a:lnTo>
                    <a:pt x="0" y="2964"/>
                  </a:lnTo>
                  <a:lnTo>
                    <a:pt x="6" y="2964"/>
                  </a:lnTo>
                  <a:lnTo>
                    <a:pt x="0" y="2964"/>
                  </a:lnTo>
                  <a:lnTo>
                    <a:pt x="6" y="2964"/>
                  </a:lnTo>
                  <a:lnTo>
                    <a:pt x="0" y="2964"/>
                  </a:lnTo>
                  <a:lnTo>
                    <a:pt x="6" y="2964"/>
                  </a:lnTo>
                  <a:lnTo>
                    <a:pt x="12" y="2958"/>
                  </a:lnTo>
                  <a:lnTo>
                    <a:pt x="12" y="2964"/>
                  </a:lnTo>
                  <a:lnTo>
                    <a:pt x="18" y="2970"/>
                  </a:lnTo>
                  <a:lnTo>
                    <a:pt x="12" y="2970"/>
                  </a:lnTo>
                  <a:lnTo>
                    <a:pt x="18" y="2970"/>
                  </a:lnTo>
                  <a:lnTo>
                    <a:pt x="18" y="2976"/>
                  </a:lnTo>
                  <a:lnTo>
                    <a:pt x="12" y="2976"/>
                  </a:lnTo>
                  <a:lnTo>
                    <a:pt x="12" y="2970"/>
                  </a:lnTo>
                  <a:lnTo>
                    <a:pt x="12" y="2976"/>
                  </a:lnTo>
                  <a:lnTo>
                    <a:pt x="18" y="2976"/>
                  </a:lnTo>
                  <a:lnTo>
                    <a:pt x="18" y="2982"/>
                  </a:lnTo>
                  <a:close/>
                  <a:moveTo>
                    <a:pt x="1092" y="2496"/>
                  </a:moveTo>
                  <a:lnTo>
                    <a:pt x="1086" y="2496"/>
                  </a:lnTo>
                  <a:lnTo>
                    <a:pt x="1086" y="2490"/>
                  </a:lnTo>
                  <a:lnTo>
                    <a:pt x="1086" y="2484"/>
                  </a:lnTo>
                  <a:lnTo>
                    <a:pt x="1086" y="2478"/>
                  </a:lnTo>
                  <a:lnTo>
                    <a:pt x="1080" y="2478"/>
                  </a:lnTo>
                  <a:lnTo>
                    <a:pt x="1080" y="2472"/>
                  </a:lnTo>
                  <a:lnTo>
                    <a:pt x="1074" y="2472"/>
                  </a:lnTo>
                  <a:lnTo>
                    <a:pt x="1068" y="2472"/>
                  </a:lnTo>
                  <a:lnTo>
                    <a:pt x="1068" y="2466"/>
                  </a:lnTo>
                  <a:lnTo>
                    <a:pt x="1062" y="2466"/>
                  </a:lnTo>
                  <a:lnTo>
                    <a:pt x="1062" y="2460"/>
                  </a:lnTo>
                  <a:lnTo>
                    <a:pt x="1068" y="2460"/>
                  </a:lnTo>
                  <a:lnTo>
                    <a:pt x="1068" y="2466"/>
                  </a:lnTo>
                  <a:lnTo>
                    <a:pt x="1074" y="2466"/>
                  </a:lnTo>
                  <a:lnTo>
                    <a:pt x="1080" y="2472"/>
                  </a:lnTo>
                  <a:lnTo>
                    <a:pt x="1086" y="2472"/>
                  </a:lnTo>
                  <a:lnTo>
                    <a:pt x="1086" y="2478"/>
                  </a:lnTo>
                  <a:lnTo>
                    <a:pt x="1086" y="2484"/>
                  </a:lnTo>
                  <a:lnTo>
                    <a:pt x="1092" y="2484"/>
                  </a:lnTo>
                  <a:lnTo>
                    <a:pt x="1092" y="2490"/>
                  </a:lnTo>
                  <a:lnTo>
                    <a:pt x="1086" y="2490"/>
                  </a:lnTo>
                  <a:lnTo>
                    <a:pt x="1092" y="2490"/>
                  </a:lnTo>
                  <a:lnTo>
                    <a:pt x="1092" y="2496"/>
                  </a:lnTo>
                  <a:close/>
                  <a:moveTo>
                    <a:pt x="18" y="2958"/>
                  </a:moveTo>
                  <a:lnTo>
                    <a:pt x="24" y="2958"/>
                  </a:lnTo>
                  <a:lnTo>
                    <a:pt x="18" y="2958"/>
                  </a:lnTo>
                  <a:lnTo>
                    <a:pt x="24" y="2958"/>
                  </a:lnTo>
                  <a:lnTo>
                    <a:pt x="24" y="2964"/>
                  </a:lnTo>
                  <a:lnTo>
                    <a:pt x="30" y="2964"/>
                  </a:lnTo>
                  <a:lnTo>
                    <a:pt x="36" y="2964"/>
                  </a:lnTo>
                  <a:lnTo>
                    <a:pt x="30" y="2964"/>
                  </a:lnTo>
                  <a:lnTo>
                    <a:pt x="24" y="2964"/>
                  </a:lnTo>
                  <a:lnTo>
                    <a:pt x="18" y="2964"/>
                  </a:lnTo>
                  <a:lnTo>
                    <a:pt x="18" y="2958"/>
                  </a:lnTo>
                  <a:close/>
                  <a:moveTo>
                    <a:pt x="840" y="2592"/>
                  </a:moveTo>
                  <a:lnTo>
                    <a:pt x="846" y="2592"/>
                  </a:lnTo>
                  <a:lnTo>
                    <a:pt x="846" y="2586"/>
                  </a:lnTo>
                  <a:lnTo>
                    <a:pt x="846" y="2592"/>
                  </a:lnTo>
                  <a:lnTo>
                    <a:pt x="846" y="2598"/>
                  </a:lnTo>
                  <a:lnTo>
                    <a:pt x="840" y="2598"/>
                  </a:lnTo>
                  <a:lnTo>
                    <a:pt x="840" y="2592"/>
                  </a:lnTo>
                  <a:close/>
                  <a:moveTo>
                    <a:pt x="858" y="2604"/>
                  </a:moveTo>
                  <a:lnTo>
                    <a:pt x="858" y="2598"/>
                  </a:lnTo>
                  <a:lnTo>
                    <a:pt x="858" y="2592"/>
                  </a:lnTo>
                  <a:lnTo>
                    <a:pt x="864" y="2592"/>
                  </a:lnTo>
                  <a:lnTo>
                    <a:pt x="858" y="2592"/>
                  </a:lnTo>
                  <a:lnTo>
                    <a:pt x="858" y="2598"/>
                  </a:lnTo>
                  <a:lnTo>
                    <a:pt x="864" y="2598"/>
                  </a:lnTo>
                  <a:lnTo>
                    <a:pt x="864" y="2604"/>
                  </a:lnTo>
                  <a:lnTo>
                    <a:pt x="858" y="2604"/>
                  </a:lnTo>
                  <a:close/>
                  <a:moveTo>
                    <a:pt x="18" y="2976"/>
                  </a:moveTo>
                  <a:lnTo>
                    <a:pt x="24" y="2976"/>
                  </a:lnTo>
                  <a:lnTo>
                    <a:pt x="18" y="2976"/>
                  </a:lnTo>
                  <a:close/>
                </a:path>
              </a:pathLst>
            </a:custGeom>
            <a:solidFill>
              <a:schemeClr val="accent1"/>
            </a:solidFill>
            <a:ln w="9525">
              <a:solidFill>
                <a:srgbClr val="B2B2B2"/>
              </a:solidFill>
              <a:round/>
              <a:headEnd/>
              <a:tailEnd/>
            </a:ln>
          </p:spPr>
          <p:txBody>
            <a:bodyPr/>
            <a:lstStyle/>
            <a:p>
              <a:endParaRPr lang="en-CA"/>
            </a:p>
          </p:txBody>
        </p:sp>
        <p:sp>
          <p:nvSpPr>
            <p:cNvPr id="420" name="Freeform 479"/>
            <p:cNvSpPr>
              <a:spLocks/>
            </p:cNvSpPr>
            <p:nvPr>
              <p:custDataLst>
                <p:tags r:id="rId43"/>
              </p:custDataLst>
            </p:nvPr>
          </p:nvSpPr>
          <p:spPr bwMode="gray">
            <a:xfrm>
              <a:off x="1961" y="2744"/>
              <a:ext cx="410" cy="288"/>
            </a:xfrm>
            <a:custGeom>
              <a:avLst/>
              <a:gdLst>
                <a:gd name="T0" fmla="*/ 402691432 w 660"/>
                <a:gd name="T1" fmla="*/ 429405803 h 462"/>
                <a:gd name="T2" fmla="*/ 385182894 w 660"/>
                <a:gd name="T3" fmla="*/ 447052535 h 462"/>
                <a:gd name="T4" fmla="*/ 379346715 w 660"/>
                <a:gd name="T5" fmla="*/ 452934779 h 462"/>
                <a:gd name="T6" fmla="*/ 367674357 w 660"/>
                <a:gd name="T7" fmla="*/ 447052535 h 462"/>
                <a:gd name="T8" fmla="*/ 373510536 w 660"/>
                <a:gd name="T9" fmla="*/ 435288047 h 462"/>
                <a:gd name="T10" fmla="*/ 373510536 w 660"/>
                <a:gd name="T11" fmla="*/ 423523558 h 462"/>
                <a:gd name="T12" fmla="*/ 367674357 w 660"/>
                <a:gd name="T13" fmla="*/ 417641314 h 462"/>
                <a:gd name="T14" fmla="*/ 367674357 w 660"/>
                <a:gd name="T15" fmla="*/ 399994582 h 462"/>
                <a:gd name="T16" fmla="*/ 361838177 w 660"/>
                <a:gd name="T17" fmla="*/ 382347849 h 462"/>
                <a:gd name="T18" fmla="*/ 350166805 w 660"/>
                <a:gd name="T19" fmla="*/ 394112338 h 462"/>
                <a:gd name="T20" fmla="*/ 326822089 w 660"/>
                <a:gd name="T21" fmla="*/ 399994582 h 462"/>
                <a:gd name="T22" fmla="*/ 297641193 w 660"/>
                <a:gd name="T23" fmla="*/ 405876826 h 462"/>
                <a:gd name="T24" fmla="*/ 210099491 w 660"/>
                <a:gd name="T25" fmla="*/ 358818873 h 462"/>
                <a:gd name="T26" fmla="*/ 87541701 w 660"/>
                <a:gd name="T27" fmla="*/ 335289896 h 462"/>
                <a:gd name="T28" fmla="*/ 40852268 w 660"/>
                <a:gd name="T29" fmla="*/ 317642174 h 462"/>
                <a:gd name="T30" fmla="*/ 5836179 w 660"/>
                <a:gd name="T31" fmla="*/ 252937488 h 462"/>
                <a:gd name="T32" fmla="*/ 5836179 w 660"/>
                <a:gd name="T33" fmla="*/ 217644023 h 462"/>
                <a:gd name="T34" fmla="*/ 23344717 w 660"/>
                <a:gd name="T35" fmla="*/ 158821582 h 462"/>
                <a:gd name="T36" fmla="*/ 46688447 w 660"/>
                <a:gd name="T37" fmla="*/ 129410361 h 462"/>
                <a:gd name="T38" fmla="*/ 75869343 w 660"/>
                <a:gd name="T39" fmla="*/ 88233662 h 462"/>
                <a:gd name="T40" fmla="*/ 87541701 w 660"/>
                <a:gd name="T41" fmla="*/ 70586930 h 462"/>
                <a:gd name="T42" fmla="*/ 81705522 w 660"/>
                <a:gd name="T43" fmla="*/ 52940197 h 462"/>
                <a:gd name="T44" fmla="*/ 93377880 w 660"/>
                <a:gd name="T45" fmla="*/ 41175709 h 462"/>
                <a:gd name="T46" fmla="*/ 87541701 w 660"/>
                <a:gd name="T47" fmla="*/ 29411221 h 462"/>
                <a:gd name="T48" fmla="*/ 93377880 w 660"/>
                <a:gd name="T49" fmla="*/ 17646732 h 462"/>
                <a:gd name="T50" fmla="*/ 105050239 w 660"/>
                <a:gd name="T51" fmla="*/ 11764488 h 462"/>
                <a:gd name="T52" fmla="*/ 134230148 w 660"/>
                <a:gd name="T53" fmla="*/ 17646732 h 462"/>
                <a:gd name="T54" fmla="*/ 169247223 w 660"/>
                <a:gd name="T55" fmla="*/ 23528977 h 462"/>
                <a:gd name="T56" fmla="*/ 175083403 w 660"/>
                <a:gd name="T57" fmla="*/ 17646732 h 462"/>
                <a:gd name="T58" fmla="*/ 192591940 w 660"/>
                <a:gd name="T59" fmla="*/ 23528977 h 462"/>
                <a:gd name="T60" fmla="*/ 210099491 w 660"/>
                <a:gd name="T61" fmla="*/ 29411221 h 462"/>
                <a:gd name="T62" fmla="*/ 268461283 w 660"/>
                <a:gd name="T63" fmla="*/ 23528977 h 462"/>
                <a:gd name="T64" fmla="*/ 303477372 w 660"/>
                <a:gd name="T65" fmla="*/ 35293465 h 462"/>
                <a:gd name="T66" fmla="*/ 361838177 w 660"/>
                <a:gd name="T67" fmla="*/ 0 h 462"/>
                <a:gd name="T68" fmla="*/ 402691432 w 660"/>
                <a:gd name="T69" fmla="*/ 47057953 h 462"/>
                <a:gd name="T70" fmla="*/ 420199969 w 660"/>
                <a:gd name="T71" fmla="*/ 105880395 h 462"/>
                <a:gd name="T72" fmla="*/ 536921580 w 660"/>
                <a:gd name="T73" fmla="*/ 141174849 h 462"/>
                <a:gd name="T74" fmla="*/ 612790923 w 660"/>
                <a:gd name="T75" fmla="*/ 194115047 h 462"/>
                <a:gd name="T76" fmla="*/ 618627102 w 660"/>
                <a:gd name="T77" fmla="*/ 288230953 h 462"/>
                <a:gd name="T78" fmla="*/ 630299461 w 660"/>
                <a:gd name="T79" fmla="*/ 311759930 h 462"/>
                <a:gd name="T80" fmla="*/ 612790923 w 660"/>
                <a:gd name="T81" fmla="*/ 358818873 h 462"/>
                <a:gd name="T82" fmla="*/ 595283372 w 660"/>
                <a:gd name="T83" fmla="*/ 364701117 h 462"/>
                <a:gd name="T84" fmla="*/ 554430118 w 660"/>
                <a:gd name="T85" fmla="*/ 382347849 h 462"/>
                <a:gd name="T86" fmla="*/ 542757759 w 660"/>
                <a:gd name="T87" fmla="*/ 382347849 h 462"/>
                <a:gd name="T88" fmla="*/ 525249222 w 660"/>
                <a:gd name="T89" fmla="*/ 382347849 h 462"/>
                <a:gd name="T90" fmla="*/ 519414029 w 660"/>
                <a:gd name="T91" fmla="*/ 376465605 h 462"/>
                <a:gd name="T92" fmla="*/ 501905491 w 660"/>
                <a:gd name="T93" fmla="*/ 376465605 h 462"/>
                <a:gd name="T94" fmla="*/ 496069312 w 660"/>
                <a:gd name="T95" fmla="*/ 388230094 h 462"/>
                <a:gd name="T96" fmla="*/ 484396954 w 660"/>
                <a:gd name="T97" fmla="*/ 399994582 h 462"/>
                <a:gd name="T98" fmla="*/ 472724595 w 660"/>
                <a:gd name="T99" fmla="*/ 405876826 h 462"/>
                <a:gd name="T100" fmla="*/ 478560775 w 660"/>
                <a:gd name="T101" fmla="*/ 411759070 h 462"/>
                <a:gd name="T102" fmla="*/ 449379879 w 660"/>
                <a:gd name="T103" fmla="*/ 417641314 h 462"/>
                <a:gd name="T104" fmla="*/ 426036148 w 660"/>
                <a:gd name="T105" fmla="*/ 423523558 h 46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660"/>
                <a:gd name="T160" fmla="*/ 0 h 462"/>
                <a:gd name="T161" fmla="*/ 660 w 660"/>
                <a:gd name="T162" fmla="*/ 462 h 46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660" h="462">
                  <a:moveTo>
                    <a:pt x="432" y="438"/>
                  </a:moveTo>
                  <a:lnTo>
                    <a:pt x="426" y="432"/>
                  </a:lnTo>
                  <a:lnTo>
                    <a:pt x="420" y="432"/>
                  </a:lnTo>
                  <a:lnTo>
                    <a:pt x="414" y="438"/>
                  </a:lnTo>
                  <a:lnTo>
                    <a:pt x="408" y="444"/>
                  </a:lnTo>
                  <a:lnTo>
                    <a:pt x="402" y="450"/>
                  </a:lnTo>
                  <a:lnTo>
                    <a:pt x="402" y="456"/>
                  </a:lnTo>
                  <a:lnTo>
                    <a:pt x="396" y="456"/>
                  </a:lnTo>
                  <a:lnTo>
                    <a:pt x="396" y="462"/>
                  </a:lnTo>
                  <a:lnTo>
                    <a:pt x="402" y="462"/>
                  </a:lnTo>
                  <a:lnTo>
                    <a:pt x="396" y="462"/>
                  </a:lnTo>
                  <a:lnTo>
                    <a:pt x="390" y="462"/>
                  </a:lnTo>
                  <a:lnTo>
                    <a:pt x="390" y="456"/>
                  </a:lnTo>
                  <a:lnTo>
                    <a:pt x="390" y="462"/>
                  </a:lnTo>
                  <a:lnTo>
                    <a:pt x="384" y="462"/>
                  </a:lnTo>
                  <a:lnTo>
                    <a:pt x="378" y="456"/>
                  </a:lnTo>
                  <a:lnTo>
                    <a:pt x="384" y="456"/>
                  </a:lnTo>
                  <a:lnTo>
                    <a:pt x="384" y="450"/>
                  </a:lnTo>
                  <a:lnTo>
                    <a:pt x="390" y="450"/>
                  </a:lnTo>
                  <a:lnTo>
                    <a:pt x="384" y="444"/>
                  </a:lnTo>
                  <a:lnTo>
                    <a:pt x="390" y="444"/>
                  </a:lnTo>
                  <a:lnTo>
                    <a:pt x="384" y="438"/>
                  </a:lnTo>
                  <a:lnTo>
                    <a:pt x="378" y="438"/>
                  </a:lnTo>
                  <a:lnTo>
                    <a:pt x="384" y="432"/>
                  </a:lnTo>
                  <a:lnTo>
                    <a:pt x="378" y="432"/>
                  </a:lnTo>
                  <a:lnTo>
                    <a:pt x="384" y="426"/>
                  </a:lnTo>
                  <a:lnTo>
                    <a:pt x="378" y="432"/>
                  </a:lnTo>
                  <a:lnTo>
                    <a:pt x="378" y="426"/>
                  </a:lnTo>
                  <a:lnTo>
                    <a:pt x="378" y="420"/>
                  </a:lnTo>
                  <a:lnTo>
                    <a:pt x="372" y="420"/>
                  </a:lnTo>
                  <a:lnTo>
                    <a:pt x="378" y="414"/>
                  </a:lnTo>
                  <a:lnTo>
                    <a:pt x="378" y="408"/>
                  </a:lnTo>
                  <a:lnTo>
                    <a:pt x="378" y="402"/>
                  </a:lnTo>
                  <a:lnTo>
                    <a:pt x="384" y="402"/>
                  </a:lnTo>
                  <a:lnTo>
                    <a:pt x="378" y="390"/>
                  </a:lnTo>
                  <a:lnTo>
                    <a:pt x="372" y="390"/>
                  </a:lnTo>
                  <a:lnTo>
                    <a:pt x="372" y="396"/>
                  </a:lnTo>
                  <a:lnTo>
                    <a:pt x="366" y="396"/>
                  </a:lnTo>
                  <a:lnTo>
                    <a:pt x="360" y="396"/>
                  </a:lnTo>
                  <a:lnTo>
                    <a:pt x="360" y="402"/>
                  </a:lnTo>
                  <a:lnTo>
                    <a:pt x="354" y="402"/>
                  </a:lnTo>
                  <a:lnTo>
                    <a:pt x="348" y="408"/>
                  </a:lnTo>
                  <a:lnTo>
                    <a:pt x="342" y="408"/>
                  </a:lnTo>
                  <a:lnTo>
                    <a:pt x="336" y="408"/>
                  </a:lnTo>
                  <a:lnTo>
                    <a:pt x="330" y="408"/>
                  </a:lnTo>
                  <a:lnTo>
                    <a:pt x="330" y="414"/>
                  </a:lnTo>
                  <a:lnTo>
                    <a:pt x="324" y="408"/>
                  </a:lnTo>
                  <a:lnTo>
                    <a:pt x="306" y="414"/>
                  </a:lnTo>
                  <a:lnTo>
                    <a:pt x="288" y="390"/>
                  </a:lnTo>
                  <a:lnTo>
                    <a:pt x="258" y="402"/>
                  </a:lnTo>
                  <a:lnTo>
                    <a:pt x="246" y="402"/>
                  </a:lnTo>
                  <a:lnTo>
                    <a:pt x="216" y="366"/>
                  </a:lnTo>
                  <a:lnTo>
                    <a:pt x="210" y="360"/>
                  </a:lnTo>
                  <a:lnTo>
                    <a:pt x="162" y="348"/>
                  </a:lnTo>
                  <a:lnTo>
                    <a:pt x="162" y="342"/>
                  </a:lnTo>
                  <a:lnTo>
                    <a:pt x="90" y="342"/>
                  </a:lnTo>
                  <a:lnTo>
                    <a:pt x="78" y="336"/>
                  </a:lnTo>
                  <a:lnTo>
                    <a:pt x="54" y="336"/>
                  </a:lnTo>
                  <a:lnTo>
                    <a:pt x="48" y="324"/>
                  </a:lnTo>
                  <a:lnTo>
                    <a:pt x="42" y="324"/>
                  </a:lnTo>
                  <a:lnTo>
                    <a:pt x="36" y="300"/>
                  </a:lnTo>
                  <a:lnTo>
                    <a:pt x="30" y="300"/>
                  </a:lnTo>
                  <a:lnTo>
                    <a:pt x="30" y="276"/>
                  </a:lnTo>
                  <a:lnTo>
                    <a:pt x="6" y="258"/>
                  </a:lnTo>
                  <a:lnTo>
                    <a:pt x="12" y="252"/>
                  </a:lnTo>
                  <a:lnTo>
                    <a:pt x="6" y="240"/>
                  </a:lnTo>
                  <a:lnTo>
                    <a:pt x="18" y="228"/>
                  </a:lnTo>
                  <a:lnTo>
                    <a:pt x="6" y="222"/>
                  </a:lnTo>
                  <a:lnTo>
                    <a:pt x="12" y="216"/>
                  </a:lnTo>
                  <a:lnTo>
                    <a:pt x="0" y="216"/>
                  </a:lnTo>
                  <a:lnTo>
                    <a:pt x="30" y="180"/>
                  </a:lnTo>
                  <a:lnTo>
                    <a:pt x="24" y="162"/>
                  </a:lnTo>
                  <a:lnTo>
                    <a:pt x="36" y="156"/>
                  </a:lnTo>
                  <a:lnTo>
                    <a:pt x="36" y="144"/>
                  </a:lnTo>
                  <a:lnTo>
                    <a:pt x="42" y="144"/>
                  </a:lnTo>
                  <a:lnTo>
                    <a:pt x="48" y="132"/>
                  </a:lnTo>
                  <a:lnTo>
                    <a:pt x="72" y="126"/>
                  </a:lnTo>
                  <a:lnTo>
                    <a:pt x="72" y="120"/>
                  </a:lnTo>
                  <a:lnTo>
                    <a:pt x="78" y="114"/>
                  </a:lnTo>
                  <a:lnTo>
                    <a:pt x="78" y="90"/>
                  </a:lnTo>
                  <a:lnTo>
                    <a:pt x="78" y="84"/>
                  </a:lnTo>
                  <a:lnTo>
                    <a:pt x="84" y="78"/>
                  </a:lnTo>
                  <a:lnTo>
                    <a:pt x="84" y="72"/>
                  </a:lnTo>
                  <a:lnTo>
                    <a:pt x="90" y="72"/>
                  </a:lnTo>
                  <a:lnTo>
                    <a:pt x="90" y="66"/>
                  </a:lnTo>
                  <a:lnTo>
                    <a:pt x="84" y="66"/>
                  </a:lnTo>
                  <a:lnTo>
                    <a:pt x="84" y="60"/>
                  </a:lnTo>
                  <a:lnTo>
                    <a:pt x="84" y="54"/>
                  </a:lnTo>
                  <a:lnTo>
                    <a:pt x="84" y="48"/>
                  </a:lnTo>
                  <a:lnTo>
                    <a:pt x="90" y="48"/>
                  </a:lnTo>
                  <a:lnTo>
                    <a:pt x="96" y="48"/>
                  </a:lnTo>
                  <a:lnTo>
                    <a:pt x="96" y="42"/>
                  </a:lnTo>
                  <a:lnTo>
                    <a:pt x="96" y="36"/>
                  </a:lnTo>
                  <a:lnTo>
                    <a:pt x="90" y="36"/>
                  </a:lnTo>
                  <a:lnTo>
                    <a:pt x="96" y="36"/>
                  </a:lnTo>
                  <a:lnTo>
                    <a:pt x="90" y="30"/>
                  </a:lnTo>
                  <a:lnTo>
                    <a:pt x="96" y="30"/>
                  </a:lnTo>
                  <a:lnTo>
                    <a:pt x="96" y="24"/>
                  </a:lnTo>
                  <a:lnTo>
                    <a:pt x="90" y="24"/>
                  </a:lnTo>
                  <a:lnTo>
                    <a:pt x="96" y="18"/>
                  </a:lnTo>
                  <a:lnTo>
                    <a:pt x="90" y="18"/>
                  </a:lnTo>
                  <a:lnTo>
                    <a:pt x="90" y="12"/>
                  </a:lnTo>
                  <a:lnTo>
                    <a:pt x="96" y="6"/>
                  </a:lnTo>
                  <a:lnTo>
                    <a:pt x="108" y="12"/>
                  </a:lnTo>
                  <a:lnTo>
                    <a:pt x="120" y="12"/>
                  </a:lnTo>
                  <a:lnTo>
                    <a:pt x="126" y="12"/>
                  </a:lnTo>
                  <a:lnTo>
                    <a:pt x="132" y="18"/>
                  </a:lnTo>
                  <a:lnTo>
                    <a:pt x="138" y="18"/>
                  </a:lnTo>
                  <a:lnTo>
                    <a:pt x="144" y="12"/>
                  </a:lnTo>
                  <a:lnTo>
                    <a:pt x="156" y="18"/>
                  </a:lnTo>
                  <a:lnTo>
                    <a:pt x="168" y="12"/>
                  </a:lnTo>
                  <a:lnTo>
                    <a:pt x="174" y="24"/>
                  </a:lnTo>
                  <a:lnTo>
                    <a:pt x="180" y="24"/>
                  </a:lnTo>
                  <a:lnTo>
                    <a:pt x="180" y="18"/>
                  </a:lnTo>
                  <a:lnTo>
                    <a:pt x="180" y="24"/>
                  </a:lnTo>
                  <a:lnTo>
                    <a:pt x="180" y="18"/>
                  </a:lnTo>
                  <a:lnTo>
                    <a:pt x="186" y="18"/>
                  </a:lnTo>
                  <a:lnTo>
                    <a:pt x="192" y="18"/>
                  </a:lnTo>
                  <a:lnTo>
                    <a:pt x="198" y="18"/>
                  </a:lnTo>
                  <a:lnTo>
                    <a:pt x="198" y="24"/>
                  </a:lnTo>
                  <a:lnTo>
                    <a:pt x="198" y="30"/>
                  </a:lnTo>
                  <a:lnTo>
                    <a:pt x="204" y="30"/>
                  </a:lnTo>
                  <a:lnTo>
                    <a:pt x="210" y="30"/>
                  </a:lnTo>
                  <a:lnTo>
                    <a:pt x="216" y="30"/>
                  </a:lnTo>
                  <a:lnTo>
                    <a:pt x="234" y="30"/>
                  </a:lnTo>
                  <a:lnTo>
                    <a:pt x="246" y="24"/>
                  </a:lnTo>
                  <a:lnTo>
                    <a:pt x="258" y="18"/>
                  </a:lnTo>
                  <a:lnTo>
                    <a:pt x="276" y="24"/>
                  </a:lnTo>
                  <a:lnTo>
                    <a:pt x="276" y="30"/>
                  </a:lnTo>
                  <a:lnTo>
                    <a:pt x="294" y="36"/>
                  </a:lnTo>
                  <a:lnTo>
                    <a:pt x="300" y="30"/>
                  </a:lnTo>
                  <a:lnTo>
                    <a:pt x="312" y="36"/>
                  </a:lnTo>
                  <a:lnTo>
                    <a:pt x="324" y="48"/>
                  </a:lnTo>
                  <a:lnTo>
                    <a:pt x="336" y="36"/>
                  </a:lnTo>
                  <a:lnTo>
                    <a:pt x="336" y="30"/>
                  </a:lnTo>
                  <a:lnTo>
                    <a:pt x="372" y="0"/>
                  </a:lnTo>
                  <a:lnTo>
                    <a:pt x="384" y="0"/>
                  </a:lnTo>
                  <a:lnTo>
                    <a:pt x="408" y="18"/>
                  </a:lnTo>
                  <a:lnTo>
                    <a:pt x="420" y="12"/>
                  </a:lnTo>
                  <a:lnTo>
                    <a:pt x="414" y="48"/>
                  </a:lnTo>
                  <a:lnTo>
                    <a:pt x="438" y="90"/>
                  </a:lnTo>
                  <a:lnTo>
                    <a:pt x="438" y="102"/>
                  </a:lnTo>
                  <a:lnTo>
                    <a:pt x="432" y="102"/>
                  </a:lnTo>
                  <a:lnTo>
                    <a:pt x="432" y="108"/>
                  </a:lnTo>
                  <a:lnTo>
                    <a:pt x="486" y="126"/>
                  </a:lnTo>
                  <a:lnTo>
                    <a:pt x="522" y="126"/>
                  </a:lnTo>
                  <a:lnTo>
                    <a:pt x="552" y="132"/>
                  </a:lnTo>
                  <a:lnTo>
                    <a:pt x="552" y="144"/>
                  </a:lnTo>
                  <a:lnTo>
                    <a:pt x="570" y="150"/>
                  </a:lnTo>
                  <a:lnTo>
                    <a:pt x="588" y="180"/>
                  </a:lnTo>
                  <a:lnTo>
                    <a:pt x="618" y="180"/>
                  </a:lnTo>
                  <a:lnTo>
                    <a:pt x="630" y="198"/>
                  </a:lnTo>
                  <a:lnTo>
                    <a:pt x="612" y="210"/>
                  </a:lnTo>
                  <a:lnTo>
                    <a:pt x="588" y="246"/>
                  </a:lnTo>
                  <a:lnTo>
                    <a:pt x="594" y="276"/>
                  </a:lnTo>
                  <a:lnTo>
                    <a:pt x="636" y="294"/>
                  </a:lnTo>
                  <a:lnTo>
                    <a:pt x="654" y="294"/>
                  </a:lnTo>
                  <a:lnTo>
                    <a:pt x="660" y="318"/>
                  </a:lnTo>
                  <a:lnTo>
                    <a:pt x="648" y="324"/>
                  </a:lnTo>
                  <a:lnTo>
                    <a:pt x="648" y="318"/>
                  </a:lnTo>
                  <a:lnTo>
                    <a:pt x="636" y="336"/>
                  </a:lnTo>
                  <a:lnTo>
                    <a:pt x="630" y="360"/>
                  </a:lnTo>
                  <a:lnTo>
                    <a:pt x="618" y="360"/>
                  </a:lnTo>
                  <a:lnTo>
                    <a:pt x="630" y="366"/>
                  </a:lnTo>
                  <a:lnTo>
                    <a:pt x="630" y="372"/>
                  </a:lnTo>
                  <a:lnTo>
                    <a:pt x="624" y="372"/>
                  </a:lnTo>
                  <a:lnTo>
                    <a:pt x="618" y="372"/>
                  </a:lnTo>
                  <a:lnTo>
                    <a:pt x="612" y="372"/>
                  </a:lnTo>
                  <a:lnTo>
                    <a:pt x="600" y="384"/>
                  </a:lnTo>
                  <a:lnTo>
                    <a:pt x="582" y="390"/>
                  </a:lnTo>
                  <a:lnTo>
                    <a:pt x="582" y="384"/>
                  </a:lnTo>
                  <a:lnTo>
                    <a:pt x="570" y="390"/>
                  </a:lnTo>
                  <a:lnTo>
                    <a:pt x="570" y="384"/>
                  </a:lnTo>
                  <a:lnTo>
                    <a:pt x="564" y="384"/>
                  </a:lnTo>
                  <a:lnTo>
                    <a:pt x="558" y="384"/>
                  </a:lnTo>
                  <a:lnTo>
                    <a:pt x="558" y="390"/>
                  </a:lnTo>
                  <a:lnTo>
                    <a:pt x="552" y="390"/>
                  </a:lnTo>
                  <a:lnTo>
                    <a:pt x="546" y="390"/>
                  </a:lnTo>
                  <a:lnTo>
                    <a:pt x="546" y="384"/>
                  </a:lnTo>
                  <a:lnTo>
                    <a:pt x="540" y="390"/>
                  </a:lnTo>
                  <a:lnTo>
                    <a:pt x="540" y="384"/>
                  </a:lnTo>
                  <a:lnTo>
                    <a:pt x="534" y="384"/>
                  </a:lnTo>
                  <a:lnTo>
                    <a:pt x="534" y="390"/>
                  </a:lnTo>
                  <a:lnTo>
                    <a:pt x="534" y="384"/>
                  </a:lnTo>
                  <a:lnTo>
                    <a:pt x="534" y="390"/>
                  </a:lnTo>
                  <a:lnTo>
                    <a:pt x="528" y="390"/>
                  </a:lnTo>
                  <a:lnTo>
                    <a:pt x="522" y="390"/>
                  </a:lnTo>
                  <a:lnTo>
                    <a:pt x="516" y="384"/>
                  </a:lnTo>
                  <a:lnTo>
                    <a:pt x="516" y="390"/>
                  </a:lnTo>
                  <a:lnTo>
                    <a:pt x="510" y="390"/>
                  </a:lnTo>
                  <a:lnTo>
                    <a:pt x="516" y="396"/>
                  </a:lnTo>
                  <a:lnTo>
                    <a:pt x="510" y="396"/>
                  </a:lnTo>
                  <a:lnTo>
                    <a:pt x="504" y="396"/>
                  </a:lnTo>
                  <a:lnTo>
                    <a:pt x="504" y="402"/>
                  </a:lnTo>
                  <a:lnTo>
                    <a:pt x="498" y="402"/>
                  </a:lnTo>
                  <a:lnTo>
                    <a:pt x="498" y="408"/>
                  </a:lnTo>
                  <a:lnTo>
                    <a:pt x="492" y="408"/>
                  </a:lnTo>
                  <a:lnTo>
                    <a:pt x="492" y="414"/>
                  </a:lnTo>
                  <a:lnTo>
                    <a:pt x="492" y="408"/>
                  </a:lnTo>
                  <a:lnTo>
                    <a:pt x="486" y="414"/>
                  </a:lnTo>
                  <a:lnTo>
                    <a:pt x="486" y="420"/>
                  </a:lnTo>
                  <a:lnTo>
                    <a:pt x="492" y="420"/>
                  </a:lnTo>
                  <a:lnTo>
                    <a:pt x="492" y="414"/>
                  </a:lnTo>
                  <a:lnTo>
                    <a:pt x="492" y="420"/>
                  </a:lnTo>
                  <a:lnTo>
                    <a:pt x="480" y="420"/>
                  </a:lnTo>
                  <a:lnTo>
                    <a:pt x="474" y="420"/>
                  </a:lnTo>
                  <a:lnTo>
                    <a:pt x="468" y="420"/>
                  </a:lnTo>
                  <a:lnTo>
                    <a:pt x="462" y="426"/>
                  </a:lnTo>
                  <a:lnTo>
                    <a:pt x="456" y="426"/>
                  </a:lnTo>
                  <a:lnTo>
                    <a:pt x="450" y="426"/>
                  </a:lnTo>
                  <a:lnTo>
                    <a:pt x="444" y="432"/>
                  </a:lnTo>
                  <a:lnTo>
                    <a:pt x="438" y="432"/>
                  </a:lnTo>
                  <a:lnTo>
                    <a:pt x="432" y="438"/>
                  </a:lnTo>
                  <a:close/>
                </a:path>
              </a:pathLst>
            </a:custGeom>
            <a:solidFill>
              <a:schemeClr val="accent1"/>
            </a:solidFill>
            <a:ln w="9525">
              <a:solidFill>
                <a:srgbClr val="B2B2B2"/>
              </a:solidFill>
              <a:round/>
              <a:headEnd/>
              <a:tailEnd/>
            </a:ln>
          </p:spPr>
          <p:txBody>
            <a:bodyPr/>
            <a:lstStyle/>
            <a:p>
              <a:endParaRPr lang="en-CA"/>
            </a:p>
          </p:txBody>
        </p:sp>
        <p:sp>
          <p:nvSpPr>
            <p:cNvPr id="421" name="Freeform 480"/>
            <p:cNvSpPr>
              <a:spLocks noEditPoints="1"/>
            </p:cNvSpPr>
            <p:nvPr>
              <p:custDataLst>
                <p:tags r:id="rId44"/>
              </p:custDataLst>
            </p:nvPr>
          </p:nvSpPr>
          <p:spPr bwMode="gray">
            <a:xfrm>
              <a:off x="1509" y="1793"/>
              <a:ext cx="769" cy="1268"/>
            </a:xfrm>
            <a:custGeom>
              <a:avLst/>
              <a:gdLst>
                <a:gd name="T0" fmla="*/ 796262272 w 1236"/>
                <a:gd name="T1" fmla="*/ 1505036399 h 2034"/>
                <a:gd name="T2" fmla="*/ 696729611 w 1236"/>
                <a:gd name="T3" fmla="*/ 1728439212 h 2034"/>
                <a:gd name="T4" fmla="*/ 521083449 w 1236"/>
                <a:gd name="T5" fmla="*/ 1822504543 h 2034"/>
                <a:gd name="T6" fmla="*/ 521083449 w 1236"/>
                <a:gd name="T7" fmla="*/ 1934206444 h 2034"/>
                <a:gd name="T8" fmla="*/ 403985679 w 1236"/>
                <a:gd name="T9" fmla="*/ 1945964487 h 2034"/>
                <a:gd name="T10" fmla="*/ 263468749 w 1236"/>
                <a:gd name="T11" fmla="*/ 1863657198 h 2034"/>
                <a:gd name="T12" fmla="*/ 275178822 w 1236"/>
                <a:gd name="T13" fmla="*/ 1652012429 h 2034"/>
                <a:gd name="T14" fmla="*/ 11710073 w 1236"/>
                <a:gd name="T15" fmla="*/ 1399213025 h 2034"/>
                <a:gd name="T16" fmla="*/ 17564122 w 1236"/>
                <a:gd name="T17" fmla="*/ 1175809223 h 2034"/>
                <a:gd name="T18" fmla="*/ 122951820 w 1236"/>
                <a:gd name="T19" fmla="*/ 1028833194 h 2034"/>
                <a:gd name="T20" fmla="*/ 269323786 w 1236"/>
                <a:gd name="T21" fmla="*/ 875977649 h 2034"/>
                <a:gd name="T22" fmla="*/ 281033859 w 1236"/>
                <a:gd name="T23" fmla="*/ 752517705 h 2034"/>
                <a:gd name="T24" fmla="*/ 275178822 w 1236"/>
                <a:gd name="T25" fmla="*/ 658453363 h 2034"/>
                <a:gd name="T26" fmla="*/ 333727214 w 1236"/>
                <a:gd name="T27" fmla="*/ 640815804 h 2034"/>
                <a:gd name="T28" fmla="*/ 374711483 w 1236"/>
                <a:gd name="T29" fmla="*/ 664331889 h 2034"/>
                <a:gd name="T30" fmla="*/ 421550789 w 1236"/>
                <a:gd name="T31" fmla="*/ 729001619 h 2034"/>
                <a:gd name="T32" fmla="*/ 403985679 w 1236"/>
                <a:gd name="T33" fmla="*/ 582025590 h 2034"/>
                <a:gd name="T34" fmla="*/ 363001410 w 1236"/>
                <a:gd name="T35" fmla="*/ 558509505 h 2034"/>
                <a:gd name="T36" fmla="*/ 363001410 w 1236"/>
                <a:gd name="T37" fmla="*/ 482081732 h 2034"/>
                <a:gd name="T38" fmla="*/ 345437287 w 1236"/>
                <a:gd name="T39" fmla="*/ 364501304 h 2034"/>
                <a:gd name="T40" fmla="*/ 421550789 w 1236"/>
                <a:gd name="T41" fmla="*/ 264557446 h 2034"/>
                <a:gd name="T42" fmla="*/ 474244143 w 1236"/>
                <a:gd name="T43" fmla="*/ 94064342 h 2034"/>
                <a:gd name="T44" fmla="*/ 614761073 w 1236"/>
                <a:gd name="T45" fmla="*/ 129339460 h 2034"/>
                <a:gd name="T46" fmla="*/ 585486877 w 1236"/>
                <a:gd name="T47" fmla="*/ 293952058 h 2034"/>
                <a:gd name="T48" fmla="*/ 608906036 w 1236"/>
                <a:gd name="T49" fmla="*/ 458565646 h 2034"/>
                <a:gd name="T50" fmla="*/ 597196951 w 1236"/>
                <a:gd name="T51" fmla="*/ 629057761 h 2034"/>
                <a:gd name="T52" fmla="*/ 626471146 w 1236"/>
                <a:gd name="T53" fmla="*/ 787791833 h 2034"/>
                <a:gd name="T54" fmla="*/ 562067718 w 1236"/>
                <a:gd name="T55" fmla="*/ 881857165 h 2034"/>
                <a:gd name="T56" fmla="*/ 538647571 w 1236"/>
                <a:gd name="T57" fmla="*/ 923009820 h 2034"/>
                <a:gd name="T58" fmla="*/ 468389107 w 1236"/>
                <a:gd name="T59" fmla="*/ 893615207 h 2034"/>
                <a:gd name="T60" fmla="*/ 567922755 w 1236"/>
                <a:gd name="T61" fmla="*/ 964163464 h 2034"/>
                <a:gd name="T62" fmla="*/ 649890305 w 1236"/>
                <a:gd name="T63" fmla="*/ 893615207 h 2034"/>
                <a:gd name="T64" fmla="*/ 685019538 w 1236"/>
                <a:gd name="T65" fmla="*/ 723123093 h 2034"/>
                <a:gd name="T66" fmla="*/ 796262272 w 1236"/>
                <a:gd name="T67" fmla="*/ 681969448 h 2034"/>
                <a:gd name="T68" fmla="*/ 843100590 w 1236"/>
                <a:gd name="T69" fmla="*/ 811308908 h 2034"/>
                <a:gd name="T70" fmla="*/ 819681431 w 1236"/>
                <a:gd name="T71" fmla="*/ 752517705 h 2034"/>
                <a:gd name="T72" fmla="*/ 778697161 w 1236"/>
                <a:gd name="T73" fmla="*/ 617299718 h 2034"/>
                <a:gd name="T74" fmla="*/ 661600379 w 1236"/>
                <a:gd name="T75" fmla="*/ 570267547 h 2034"/>
                <a:gd name="T76" fmla="*/ 655745342 w 1236"/>
                <a:gd name="T77" fmla="*/ 370379831 h 2034"/>
                <a:gd name="T78" fmla="*/ 714293733 w 1236"/>
                <a:gd name="T79" fmla="*/ 199887716 h 2034"/>
                <a:gd name="T80" fmla="*/ 737713880 w 1236"/>
                <a:gd name="T81" fmla="*/ 182250157 h 2034"/>
                <a:gd name="T82" fmla="*/ 743567929 w 1236"/>
                <a:gd name="T83" fmla="*/ 340984229 h 2034"/>
                <a:gd name="T84" fmla="*/ 854810663 w 1236"/>
                <a:gd name="T85" fmla="*/ 346863746 h 2034"/>
                <a:gd name="T86" fmla="*/ 766988076 w 1236"/>
                <a:gd name="T87" fmla="*/ 293952058 h 2034"/>
                <a:gd name="T88" fmla="*/ 854810663 w 1236"/>
                <a:gd name="T89" fmla="*/ 241041361 h 2034"/>
                <a:gd name="T90" fmla="*/ 889939895 w 1236"/>
                <a:gd name="T91" fmla="*/ 211645759 h 2034"/>
                <a:gd name="T92" fmla="*/ 936779201 w 1236"/>
                <a:gd name="T93" fmla="*/ 264557446 h 2034"/>
                <a:gd name="T94" fmla="*/ 971908433 w 1236"/>
                <a:gd name="T95" fmla="*/ 376259347 h 2034"/>
                <a:gd name="T96" fmla="*/ 942634238 w 1236"/>
                <a:gd name="T97" fmla="*/ 458565646 h 2034"/>
                <a:gd name="T98" fmla="*/ 901649969 w 1236"/>
                <a:gd name="T99" fmla="*/ 546751462 h 2034"/>
                <a:gd name="T100" fmla="*/ 966053397 w 1236"/>
                <a:gd name="T101" fmla="*/ 599663149 h 2034"/>
                <a:gd name="T102" fmla="*/ 1059731021 w 1236"/>
                <a:gd name="T103" fmla="*/ 658453363 h 2034"/>
                <a:gd name="T104" fmla="*/ 1024601788 w 1236"/>
                <a:gd name="T105" fmla="*/ 770155264 h 2034"/>
                <a:gd name="T106" fmla="*/ 1077296131 w 1236"/>
                <a:gd name="T107" fmla="*/ 923009820 h 2034"/>
                <a:gd name="T108" fmla="*/ 1194392913 w 1236"/>
                <a:gd name="T109" fmla="*/ 1134656568 h 2034"/>
                <a:gd name="T110" fmla="*/ 1176828791 w 1236"/>
                <a:gd name="T111" fmla="*/ 1440366669 h 2034"/>
                <a:gd name="T112" fmla="*/ 544502608 w 1236"/>
                <a:gd name="T113" fmla="*/ 58790214 h 2034"/>
                <a:gd name="T114" fmla="*/ 854810663 w 1236"/>
                <a:gd name="T115" fmla="*/ 146976029 h 2034"/>
                <a:gd name="T116" fmla="*/ 901649969 w 1236"/>
                <a:gd name="T117" fmla="*/ 76427773 h 2034"/>
                <a:gd name="T118" fmla="*/ 480099180 w 1236"/>
                <a:gd name="T119" fmla="*/ 905373250 h 2034"/>
                <a:gd name="T120" fmla="*/ 690874574 w 1236"/>
                <a:gd name="T121" fmla="*/ 64669730 h 2034"/>
                <a:gd name="T122" fmla="*/ 761133039 w 1236"/>
                <a:gd name="T123" fmla="*/ 0 h 2034"/>
                <a:gd name="T124" fmla="*/ 784552198 w 1236"/>
                <a:gd name="T125" fmla="*/ 17637559 h 20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236"/>
                <a:gd name="T190" fmla="*/ 0 h 2034"/>
                <a:gd name="T191" fmla="*/ 1236 w 1236"/>
                <a:gd name="T192" fmla="*/ 2034 h 20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236" h="2034">
                  <a:moveTo>
                    <a:pt x="1146" y="1536"/>
                  </a:moveTo>
                  <a:lnTo>
                    <a:pt x="1134" y="1542"/>
                  </a:lnTo>
                  <a:lnTo>
                    <a:pt x="1110" y="1524"/>
                  </a:lnTo>
                  <a:lnTo>
                    <a:pt x="1098" y="1524"/>
                  </a:lnTo>
                  <a:lnTo>
                    <a:pt x="1062" y="1554"/>
                  </a:lnTo>
                  <a:lnTo>
                    <a:pt x="1062" y="1560"/>
                  </a:lnTo>
                  <a:lnTo>
                    <a:pt x="1050" y="1572"/>
                  </a:lnTo>
                  <a:lnTo>
                    <a:pt x="1038" y="1560"/>
                  </a:lnTo>
                  <a:lnTo>
                    <a:pt x="1026" y="1554"/>
                  </a:lnTo>
                  <a:lnTo>
                    <a:pt x="1020" y="1560"/>
                  </a:lnTo>
                  <a:lnTo>
                    <a:pt x="1002" y="1554"/>
                  </a:lnTo>
                  <a:lnTo>
                    <a:pt x="1002" y="1548"/>
                  </a:lnTo>
                  <a:lnTo>
                    <a:pt x="984" y="1542"/>
                  </a:lnTo>
                  <a:lnTo>
                    <a:pt x="972" y="1548"/>
                  </a:lnTo>
                  <a:lnTo>
                    <a:pt x="960" y="1554"/>
                  </a:lnTo>
                  <a:lnTo>
                    <a:pt x="942" y="1554"/>
                  </a:lnTo>
                  <a:lnTo>
                    <a:pt x="936" y="1554"/>
                  </a:lnTo>
                  <a:lnTo>
                    <a:pt x="930" y="1554"/>
                  </a:lnTo>
                  <a:lnTo>
                    <a:pt x="924" y="1554"/>
                  </a:lnTo>
                  <a:lnTo>
                    <a:pt x="924" y="1548"/>
                  </a:lnTo>
                  <a:lnTo>
                    <a:pt x="924" y="1542"/>
                  </a:lnTo>
                  <a:lnTo>
                    <a:pt x="918" y="1542"/>
                  </a:lnTo>
                  <a:lnTo>
                    <a:pt x="912" y="1542"/>
                  </a:lnTo>
                  <a:lnTo>
                    <a:pt x="906" y="1542"/>
                  </a:lnTo>
                  <a:lnTo>
                    <a:pt x="906" y="1548"/>
                  </a:lnTo>
                  <a:lnTo>
                    <a:pt x="906" y="1542"/>
                  </a:lnTo>
                  <a:lnTo>
                    <a:pt x="906" y="1548"/>
                  </a:lnTo>
                  <a:lnTo>
                    <a:pt x="900" y="1548"/>
                  </a:lnTo>
                  <a:lnTo>
                    <a:pt x="894" y="1536"/>
                  </a:lnTo>
                  <a:lnTo>
                    <a:pt x="882" y="1542"/>
                  </a:lnTo>
                  <a:lnTo>
                    <a:pt x="870" y="1536"/>
                  </a:lnTo>
                  <a:lnTo>
                    <a:pt x="864" y="1542"/>
                  </a:lnTo>
                  <a:lnTo>
                    <a:pt x="858" y="1542"/>
                  </a:lnTo>
                  <a:lnTo>
                    <a:pt x="852" y="1536"/>
                  </a:lnTo>
                  <a:lnTo>
                    <a:pt x="846" y="1536"/>
                  </a:lnTo>
                  <a:lnTo>
                    <a:pt x="834" y="1536"/>
                  </a:lnTo>
                  <a:lnTo>
                    <a:pt x="822" y="1530"/>
                  </a:lnTo>
                  <a:lnTo>
                    <a:pt x="816" y="1536"/>
                  </a:lnTo>
                  <a:lnTo>
                    <a:pt x="816" y="1542"/>
                  </a:lnTo>
                  <a:lnTo>
                    <a:pt x="822" y="1542"/>
                  </a:lnTo>
                  <a:lnTo>
                    <a:pt x="816" y="1548"/>
                  </a:lnTo>
                  <a:lnTo>
                    <a:pt x="822" y="1548"/>
                  </a:lnTo>
                  <a:lnTo>
                    <a:pt x="822" y="1554"/>
                  </a:lnTo>
                  <a:lnTo>
                    <a:pt x="816" y="1554"/>
                  </a:lnTo>
                  <a:lnTo>
                    <a:pt x="822" y="1560"/>
                  </a:lnTo>
                  <a:lnTo>
                    <a:pt x="816" y="1560"/>
                  </a:lnTo>
                  <a:lnTo>
                    <a:pt x="822" y="1560"/>
                  </a:lnTo>
                  <a:lnTo>
                    <a:pt x="822" y="1566"/>
                  </a:lnTo>
                  <a:lnTo>
                    <a:pt x="822" y="1572"/>
                  </a:lnTo>
                  <a:lnTo>
                    <a:pt x="816" y="1572"/>
                  </a:lnTo>
                  <a:lnTo>
                    <a:pt x="810" y="1572"/>
                  </a:lnTo>
                  <a:lnTo>
                    <a:pt x="810" y="1578"/>
                  </a:lnTo>
                  <a:lnTo>
                    <a:pt x="810" y="1584"/>
                  </a:lnTo>
                  <a:lnTo>
                    <a:pt x="810" y="1590"/>
                  </a:lnTo>
                  <a:lnTo>
                    <a:pt x="816" y="1590"/>
                  </a:lnTo>
                  <a:lnTo>
                    <a:pt x="816" y="1596"/>
                  </a:lnTo>
                  <a:lnTo>
                    <a:pt x="810" y="1596"/>
                  </a:lnTo>
                  <a:lnTo>
                    <a:pt x="810" y="1602"/>
                  </a:lnTo>
                  <a:lnTo>
                    <a:pt x="804" y="1608"/>
                  </a:lnTo>
                  <a:lnTo>
                    <a:pt x="804" y="1614"/>
                  </a:lnTo>
                  <a:lnTo>
                    <a:pt x="804" y="1638"/>
                  </a:lnTo>
                  <a:lnTo>
                    <a:pt x="798" y="1644"/>
                  </a:lnTo>
                  <a:lnTo>
                    <a:pt x="798" y="1650"/>
                  </a:lnTo>
                  <a:lnTo>
                    <a:pt x="774" y="1656"/>
                  </a:lnTo>
                  <a:lnTo>
                    <a:pt x="768" y="1668"/>
                  </a:lnTo>
                  <a:lnTo>
                    <a:pt x="762" y="1668"/>
                  </a:lnTo>
                  <a:lnTo>
                    <a:pt x="762" y="1680"/>
                  </a:lnTo>
                  <a:lnTo>
                    <a:pt x="750" y="1686"/>
                  </a:lnTo>
                  <a:lnTo>
                    <a:pt x="756" y="1704"/>
                  </a:lnTo>
                  <a:lnTo>
                    <a:pt x="726" y="1740"/>
                  </a:lnTo>
                  <a:lnTo>
                    <a:pt x="738" y="1740"/>
                  </a:lnTo>
                  <a:lnTo>
                    <a:pt x="732" y="1746"/>
                  </a:lnTo>
                  <a:lnTo>
                    <a:pt x="726" y="1752"/>
                  </a:lnTo>
                  <a:lnTo>
                    <a:pt x="726" y="1758"/>
                  </a:lnTo>
                  <a:lnTo>
                    <a:pt x="720" y="1758"/>
                  </a:lnTo>
                  <a:lnTo>
                    <a:pt x="714" y="1764"/>
                  </a:lnTo>
                  <a:lnTo>
                    <a:pt x="714" y="1770"/>
                  </a:lnTo>
                  <a:lnTo>
                    <a:pt x="696" y="1782"/>
                  </a:lnTo>
                  <a:lnTo>
                    <a:pt x="642" y="1782"/>
                  </a:lnTo>
                  <a:lnTo>
                    <a:pt x="636" y="1788"/>
                  </a:lnTo>
                  <a:lnTo>
                    <a:pt x="630" y="1794"/>
                  </a:lnTo>
                  <a:lnTo>
                    <a:pt x="600" y="1794"/>
                  </a:lnTo>
                  <a:lnTo>
                    <a:pt x="594" y="1788"/>
                  </a:lnTo>
                  <a:lnTo>
                    <a:pt x="594" y="1782"/>
                  </a:lnTo>
                  <a:lnTo>
                    <a:pt x="588" y="1782"/>
                  </a:lnTo>
                  <a:lnTo>
                    <a:pt x="570" y="1788"/>
                  </a:lnTo>
                  <a:lnTo>
                    <a:pt x="564" y="1788"/>
                  </a:lnTo>
                  <a:lnTo>
                    <a:pt x="558" y="1788"/>
                  </a:lnTo>
                  <a:lnTo>
                    <a:pt x="558" y="1764"/>
                  </a:lnTo>
                  <a:lnTo>
                    <a:pt x="558" y="1758"/>
                  </a:lnTo>
                  <a:lnTo>
                    <a:pt x="552" y="1758"/>
                  </a:lnTo>
                  <a:lnTo>
                    <a:pt x="552" y="1752"/>
                  </a:lnTo>
                  <a:lnTo>
                    <a:pt x="546" y="1752"/>
                  </a:lnTo>
                  <a:lnTo>
                    <a:pt x="546" y="1746"/>
                  </a:lnTo>
                  <a:lnTo>
                    <a:pt x="540" y="1746"/>
                  </a:lnTo>
                  <a:lnTo>
                    <a:pt x="540" y="1752"/>
                  </a:lnTo>
                  <a:lnTo>
                    <a:pt x="534" y="1752"/>
                  </a:lnTo>
                  <a:lnTo>
                    <a:pt x="522" y="1800"/>
                  </a:lnTo>
                  <a:lnTo>
                    <a:pt x="516" y="1800"/>
                  </a:lnTo>
                  <a:lnTo>
                    <a:pt x="516" y="1806"/>
                  </a:lnTo>
                  <a:lnTo>
                    <a:pt x="522" y="1806"/>
                  </a:lnTo>
                  <a:lnTo>
                    <a:pt x="522" y="1812"/>
                  </a:lnTo>
                  <a:lnTo>
                    <a:pt x="522" y="1818"/>
                  </a:lnTo>
                  <a:lnTo>
                    <a:pt x="528" y="1818"/>
                  </a:lnTo>
                  <a:lnTo>
                    <a:pt x="528" y="1830"/>
                  </a:lnTo>
                  <a:lnTo>
                    <a:pt x="528" y="1836"/>
                  </a:lnTo>
                  <a:lnTo>
                    <a:pt x="522" y="1848"/>
                  </a:lnTo>
                  <a:lnTo>
                    <a:pt x="516" y="1848"/>
                  </a:lnTo>
                  <a:lnTo>
                    <a:pt x="522" y="1854"/>
                  </a:lnTo>
                  <a:lnTo>
                    <a:pt x="528" y="1854"/>
                  </a:lnTo>
                  <a:lnTo>
                    <a:pt x="528" y="1860"/>
                  </a:lnTo>
                  <a:lnTo>
                    <a:pt x="534" y="1860"/>
                  </a:lnTo>
                  <a:lnTo>
                    <a:pt x="528" y="1860"/>
                  </a:lnTo>
                  <a:lnTo>
                    <a:pt x="534" y="1860"/>
                  </a:lnTo>
                  <a:lnTo>
                    <a:pt x="534" y="1854"/>
                  </a:lnTo>
                  <a:lnTo>
                    <a:pt x="534" y="1848"/>
                  </a:lnTo>
                  <a:lnTo>
                    <a:pt x="540" y="1848"/>
                  </a:lnTo>
                  <a:lnTo>
                    <a:pt x="546" y="1848"/>
                  </a:lnTo>
                  <a:lnTo>
                    <a:pt x="546" y="1854"/>
                  </a:lnTo>
                  <a:lnTo>
                    <a:pt x="552" y="1854"/>
                  </a:lnTo>
                  <a:lnTo>
                    <a:pt x="552" y="1860"/>
                  </a:lnTo>
                  <a:lnTo>
                    <a:pt x="558" y="1872"/>
                  </a:lnTo>
                  <a:lnTo>
                    <a:pt x="576" y="1884"/>
                  </a:lnTo>
                  <a:lnTo>
                    <a:pt x="576" y="1902"/>
                  </a:lnTo>
                  <a:lnTo>
                    <a:pt x="570" y="1902"/>
                  </a:lnTo>
                  <a:lnTo>
                    <a:pt x="570" y="1908"/>
                  </a:lnTo>
                  <a:lnTo>
                    <a:pt x="564" y="1908"/>
                  </a:lnTo>
                  <a:lnTo>
                    <a:pt x="558" y="1908"/>
                  </a:lnTo>
                  <a:lnTo>
                    <a:pt x="552" y="1908"/>
                  </a:lnTo>
                  <a:lnTo>
                    <a:pt x="546" y="1908"/>
                  </a:lnTo>
                  <a:lnTo>
                    <a:pt x="552" y="1908"/>
                  </a:lnTo>
                  <a:lnTo>
                    <a:pt x="552" y="1920"/>
                  </a:lnTo>
                  <a:lnTo>
                    <a:pt x="546" y="1926"/>
                  </a:lnTo>
                  <a:lnTo>
                    <a:pt x="534" y="1926"/>
                  </a:lnTo>
                  <a:lnTo>
                    <a:pt x="540" y="1926"/>
                  </a:lnTo>
                  <a:lnTo>
                    <a:pt x="540" y="1932"/>
                  </a:lnTo>
                  <a:lnTo>
                    <a:pt x="546" y="1938"/>
                  </a:lnTo>
                  <a:lnTo>
                    <a:pt x="540" y="1938"/>
                  </a:lnTo>
                  <a:lnTo>
                    <a:pt x="534" y="1944"/>
                  </a:lnTo>
                  <a:lnTo>
                    <a:pt x="540" y="1944"/>
                  </a:lnTo>
                  <a:lnTo>
                    <a:pt x="540" y="1950"/>
                  </a:lnTo>
                  <a:lnTo>
                    <a:pt x="540" y="1956"/>
                  </a:lnTo>
                  <a:lnTo>
                    <a:pt x="540" y="1962"/>
                  </a:lnTo>
                  <a:lnTo>
                    <a:pt x="540" y="1968"/>
                  </a:lnTo>
                  <a:lnTo>
                    <a:pt x="534" y="1968"/>
                  </a:lnTo>
                  <a:lnTo>
                    <a:pt x="528" y="1968"/>
                  </a:lnTo>
                  <a:lnTo>
                    <a:pt x="522" y="1968"/>
                  </a:lnTo>
                  <a:lnTo>
                    <a:pt x="522" y="1974"/>
                  </a:lnTo>
                  <a:lnTo>
                    <a:pt x="528" y="1974"/>
                  </a:lnTo>
                  <a:lnTo>
                    <a:pt x="534" y="1974"/>
                  </a:lnTo>
                  <a:lnTo>
                    <a:pt x="540" y="1974"/>
                  </a:lnTo>
                  <a:lnTo>
                    <a:pt x="534" y="1974"/>
                  </a:lnTo>
                  <a:lnTo>
                    <a:pt x="528" y="1980"/>
                  </a:lnTo>
                  <a:lnTo>
                    <a:pt x="522" y="1986"/>
                  </a:lnTo>
                  <a:lnTo>
                    <a:pt x="528" y="1992"/>
                  </a:lnTo>
                  <a:lnTo>
                    <a:pt x="534" y="1992"/>
                  </a:lnTo>
                  <a:lnTo>
                    <a:pt x="534" y="1998"/>
                  </a:lnTo>
                  <a:lnTo>
                    <a:pt x="528" y="2004"/>
                  </a:lnTo>
                  <a:lnTo>
                    <a:pt x="522" y="2010"/>
                  </a:lnTo>
                  <a:lnTo>
                    <a:pt x="522" y="2016"/>
                  </a:lnTo>
                  <a:lnTo>
                    <a:pt x="522" y="2022"/>
                  </a:lnTo>
                  <a:lnTo>
                    <a:pt x="516" y="2022"/>
                  </a:lnTo>
                  <a:lnTo>
                    <a:pt x="516" y="2028"/>
                  </a:lnTo>
                  <a:lnTo>
                    <a:pt x="510" y="2034"/>
                  </a:lnTo>
                  <a:lnTo>
                    <a:pt x="510" y="2028"/>
                  </a:lnTo>
                  <a:lnTo>
                    <a:pt x="504" y="2028"/>
                  </a:lnTo>
                  <a:lnTo>
                    <a:pt x="498" y="2028"/>
                  </a:lnTo>
                  <a:lnTo>
                    <a:pt x="492" y="2016"/>
                  </a:lnTo>
                  <a:lnTo>
                    <a:pt x="486" y="2016"/>
                  </a:lnTo>
                  <a:lnTo>
                    <a:pt x="480" y="2016"/>
                  </a:lnTo>
                  <a:lnTo>
                    <a:pt x="474" y="2016"/>
                  </a:lnTo>
                  <a:lnTo>
                    <a:pt x="468" y="2016"/>
                  </a:lnTo>
                  <a:lnTo>
                    <a:pt x="462" y="2016"/>
                  </a:lnTo>
                  <a:lnTo>
                    <a:pt x="462" y="2010"/>
                  </a:lnTo>
                  <a:lnTo>
                    <a:pt x="456" y="2010"/>
                  </a:lnTo>
                  <a:lnTo>
                    <a:pt x="450" y="2010"/>
                  </a:lnTo>
                  <a:lnTo>
                    <a:pt x="450" y="2016"/>
                  </a:lnTo>
                  <a:lnTo>
                    <a:pt x="456" y="2016"/>
                  </a:lnTo>
                  <a:lnTo>
                    <a:pt x="456" y="2022"/>
                  </a:lnTo>
                  <a:lnTo>
                    <a:pt x="450" y="2016"/>
                  </a:lnTo>
                  <a:lnTo>
                    <a:pt x="444" y="2010"/>
                  </a:lnTo>
                  <a:lnTo>
                    <a:pt x="438" y="2016"/>
                  </a:lnTo>
                  <a:lnTo>
                    <a:pt x="438" y="2010"/>
                  </a:lnTo>
                  <a:lnTo>
                    <a:pt x="432" y="2010"/>
                  </a:lnTo>
                  <a:lnTo>
                    <a:pt x="426" y="2004"/>
                  </a:lnTo>
                  <a:lnTo>
                    <a:pt x="420" y="2004"/>
                  </a:lnTo>
                  <a:lnTo>
                    <a:pt x="420" y="1998"/>
                  </a:lnTo>
                  <a:lnTo>
                    <a:pt x="414" y="1998"/>
                  </a:lnTo>
                  <a:lnTo>
                    <a:pt x="414" y="1992"/>
                  </a:lnTo>
                  <a:lnTo>
                    <a:pt x="414" y="1986"/>
                  </a:lnTo>
                  <a:lnTo>
                    <a:pt x="408" y="1986"/>
                  </a:lnTo>
                  <a:lnTo>
                    <a:pt x="408" y="1992"/>
                  </a:lnTo>
                  <a:lnTo>
                    <a:pt x="402" y="1992"/>
                  </a:lnTo>
                  <a:lnTo>
                    <a:pt x="402" y="1986"/>
                  </a:lnTo>
                  <a:lnTo>
                    <a:pt x="396" y="1986"/>
                  </a:lnTo>
                  <a:lnTo>
                    <a:pt x="390" y="1986"/>
                  </a:lnTo>
                  <a:lnTo>
                    <a:pt x="384" y="1986"/>
                  </a:lnTo>
                  <a:lnTo>
                    <a:pt x="378" y="1974"/>
                  </a:lnTo>
                  <a:lnTo>
                    <a:pt x="378" y="1968"/>
                  </a:lnTo>
                  <a:lnTo>
                    <a:pt x="366" y="1968"/>
                  </a:lnTo>
                  <a:lnTo>
                    <a:pt x="360" y="1968"/>
                  </a:lnTo>
                  <a:lnTo>
                    <a:pt x="360" y="1962"/>
                  </a:lnTo>
                  <a:lnTo>
                    <a:pt x="354" y="1962"/>
                  </a:lnTo>
                  <a:lnTo>
                    <a:pt x="348" y="1962"/>
                  </a:lnTo>
                  <a:lnTo>
                    <a:pt x="348" y="1956"/>
                  </a:lnTo>
                  <a:lnTo>
                    <a:pt x="348" y="1962"/>
                  </a:lnTo>
                  <a:lnTo>
                    <a:pt x="336" y="1968"/>
                  </a:lnTo>
                  <a:lnTo>
                    <a:pt x="330" y="1956"/>
                  </a:lnTo>
                  <a:lnTo>
                    <a:pt x="324" y="1956"/>
                  </a:lnTo>
                  <a:lnTo>
                    <a:pt x="324" y="1962"/>
                  </a:lnTo>
                  <a:lnTo>
                    <a:pt x="318" y="1962"/>
                  </a:lnTo>
                  <a:lnTo>
                    <a:pt x="306" y="1956"/>
                  </a:lnTo>
                  <a:lnTo>
                    <a:pt x="306" y="1950"/>
                  </a:lnTo>
                  <a:lnTo>
                    <a:pt x="306" y="1944"/>
                  </a:lnTo>
                  <a:lnTo>
                    <a:pt x="300" y="1944"/>
                  </a:lnTo>
                  <a:lnTo>
                    <a:pt x="300" y="1938"/>
                  </a:lnTo>
                  <a:lnTo>
                    <a:pt x="288" y="1938"/>
                  </a:lnTo>
                  <a:lnTo>
                    <a:pt x="282" y="1938"/>
                  </a:lnTo>
                  <a:lnTo>
                    <a:pt x="276" y="1938"/>
                  </a:lnTo>
                  <a:lnTo>
                    <a:pt x="276" y="1932"/>
                  </a:lnTo>
                  <a:lnTo>
                    <a:pt x="282" y="1932"/>
                  </a:lnTo>
                  <a:lnTo>
                    <a:pt x="276" y="1932"/>
                  </a:lnTo>
                  <a:lnTo>
                    <a:pt x="276" y="1926"/>
                  </a:lnTo>
                  <a:lnTo>
                    <a:pt x="270" y="1926"/>
                  </a:lnTo>
                  <a:lnTo>
                    <a:pt x="270" y="1920"/>
                  </a:lnTo>
                  <a:lnTo>
                    <a:pt x="270" y="1914"/>
                  </a:lnTo>
                  <a:lnTo>
                    <a:pt x="270" y="1908"/>
                  </a:lnTo>
                  <a:lnTo>
                    <a:pt x="270" y="1902"/>
                  </a:lnTo>
                  <a:lnTo>
                    <a:pt x="270" y="1896"/>
                  </a:lnTo>
                  <a:lnTo>
                    <a:pt x="276" y="1902"/>
                  </a:lnTo>
                  <a:lnTo>
                    <a:pt x="282" y="1890"/>
                  </a:lnTo>
                  <a:lnTo>
                    <a:pt x="282" y="1884"/>
                  </a:lnTo>
                  <a:lnTo>
                    <a:pt x="276" y="1884"/>
                  </a:lnTo>
                  <a:lnTo>
                    <a:pt x="276" y="1890"/>
                  </a:lnTo>
                  <a:lnTo>
                    <a:pt x="276" y="1884"/>
                  </a:lnTo>
                  <a:lnTo>
                    <a:pt x="270" y="1884"/>
                  </a:lnTo>
                  <a:lnTo>
                    <a:pt x="270" y="1878"/>
                  </a:lnTo>
                  <a:lnTo>
                    <a:pt x="276" y="1878"/>
                  </a:lnTo>
                  <a:lnTo>
                    <a:pt x="270" y="1872"/>
                  </a:lnTo>
                  <a:lnTo>
                    <a:pt x="270" y="1866"/>
                  </a:lnTo>
                  <a:lnTo>
                    <a:pt x="270" y="1860"/>
                  </a:lnTo>
                  <a:lnTo>
                    <a:pt x="264" y="1854"/>
                  </a:lnTo>
                  <a:lnTo>
                    <a:pt x="264" y="1848"/>
                  </a:lnTo>
                  <a:lnTo>
                    <a:pt x="264" y="1842"/>
                  </a:lnTo>
                  <a:lnTo>
                    <a:pt x="270" y="1836"/>
                  </a:lnTo>
                  <a:lnTo>
                    <a:pt x="270" y="1830"/>
                  </a:lnTo>
                  <a:lnTo>
                    <a:pt x="264" y="1830"/>
                  </a:lnTo>
                  <a:lnTo>
                    <a:pt x="264" y="1824"/>
                  </a:lnTo>
                  <a:lnTo>
                    <a:pt x="288" y="1812"/>
                  </a:lnTo>
                  <a:lnTo>
                    <a:pt x="294" y="1812"/>
                  </a:lnTo>
                  <a:lnTo>
                    <a:pt x="294" y="1818"/>
                  </a:lnTo>
                  <a:lnTo>
                    <a:pt x="294" y="1812"/>
                  </a:lnTo>
                  <a:lnTo>
                    <a:pt x="300" y="1812"/>
                  </a:lnTo>
                  <a:lnTo>
                    <a:pt x="300" y="1806"/>
                  </a:lnTo>
                  <a:lnTo>
                    <a:pt x="306" y="1806"/>
                  </a:lnTo>
                  <a:lnTo>
                    <a:pt x="306" y="1800"/>
                  </a:lnTo>
                  <a:lnTo>
                    <a:pt x="312" y="1800"/>
                  </a:lnTo>
                  <a:lnTo>
                    <a:pt x="318" y="1800"/>
                  </a:lnTo>
                  <a:lnTo>
                    <a:pt x="318" y="1794"/>
                  </a:lnTo>
                  <a:lnTo>
                    <a:pt x="324" y="1794"/>
                  </a:lnTo>
                  <a:lnTo>
                    <a:pt x="318" y="1770"/>
                  </a:lnTo>
                  <a:lnTo>
                    <a:pt x="312" y="1740"/>
                  </a:lnTo>
                  <a:lnTo>
                    <a:pt x="300" y="1734"/>
                  </a:lnTo>
                  <a:lnTo>
                    <a:pt x="288" y="1716"/>
                  </a:lnTo>
                  <a:lnTo>
                    <a:pt x="288" y="1704"/>
                  </a:lnTo>
                  <a:lnTo>
                    <a:pt x="282" y="1686"/>
                  </a:lnTo>
                  <a:lnTo>
                    <a:pt x="276" y="1686"/>
                  </a:lnTo>
                  <a:lnTo>
                    <a:pt x="276" y="1680"/>
                  </a:lnTo>
                  <a:lnTo>
                    <a:pt x="246" y="1674"/>
                  </a:lnTo>
                  <a:lnTo>
                    <a:pt x="228" y="1674"/>
                  </a:lnTo>
                  <a:lnTo>
                    <a:pt x="222" y="1668"/>
                  </a:lnTo>
                  <a:lnTo>
                    <a:pt x="216" y="1638"/>
                  </a:lnTo>
                  <a:lnTo>
                    <a:pt x="210" y="1608"/>
                  </a:lnTo>
                  <a:lnTo>
                    <a:pt x="210" y="1602"/>
                  </a:lnTo>
                  <a:lnTo>
                    <a:pt x="204" y="1602"/>
                  </a:lnTo>
                  <a:lnTo>
                    <a:pt x="198" y="1602"/>
                  </a:lnTo>
                  <a:lnTo>
                    <a:pt x="186" y="1596"/>
                  </a:lnTo>
                  <a:lnTo>
                    <a:pt x="192" y="1590"/>
                  </a:lnTo>
                  <a:lnTo>
                    <a:pt x="186" y="1584"/>
                  </a:lnTo>
                  <a:lnTo>
                    <a:pt x="180" y="1578"/>
                  </a:lnTo>
                  <a:lnTo>
                    <a:pt x="180" y="1572"/>
                  </a:lnTo>
                  <a:lnTo>
                    <a:pt x="168" y="1536"/>
                  </a:lnTo>
                  <a:lnTo>
                    <a:pt x="174" y="1524"/>
                  </a:lnTo>
                  <a:lnTo>
                    <a:pt x="162" y="1506"/>
                  </a:lnTo>
                  <a:lnTo>
                    <a:pt x="156" y="1500"/>
                  </a:lnTo>
                  <a:lnTo>
                    <a:pt x="132" y="1482"/>
                  </a:lnTo>
                  <a:lnTo>
                    <a:pt x="108" y="1470"/>
                  </a:lnTo>
                  <a:lnTo>
                    <a:pt x="96" y="1458"/>
                  </a:lnTo>
                  <a:lnTo>
                    <a:pt x="90" y="1458"/>
                  </a:lnTo>
                  <a:lnTo>
                    <a:pt x="78" y="1452"/>
                  </a:lnTo>
                  <a:lnTo>
                    <a:pt x="66" y="1452"/>
                  </a:lnTo>
                  <a:lnTo>
                    <a:pt x="42" y="1452"/>
                  </a:lnTo>
                  <a:lnTo>
                    <a:pt x="36" y="1452"/>
                  </a:lnTo>
                  <a:lnTo>
                    <a:pt x="42" y="1446"/>
                  </a:lnTo>
                  <a:lnTo>
                    <a:pt x="36" y="1446"/>
                  </a:lnTo>
                  <a:lnTo>
                    <a:pt x="42" y="1446"/>
                  </a:lnTo>
                  <a:lnTo>
                    <a:pt x="36" y="1446"/>
                  </a:lnTo>
                  <a:lnTo>
                    <a:pt x="42" y="1440"/>
                  </a:lnTo>
                  <a:lnTo>
                    <a:pt x="36" y="1434"/>
                  </a:lnTo>
                  <a:lnTo>
                    <a:pt x="30" y="1434"/>
                  </a:lnTo>
                  <a:lnTo>
                    <a:pt x="24" y="1434"/>
                  </a:lnTo>
                  <a:lnTo>
                    <a:pt x="18" y="1434"/>
                  </a:lnTo>
                  <a:lnTo>
                    <a:pt x="18" y="1428"/>
                  </a:lnTo>
                  <a:lnTo>
                    <a:pt x="12" y="1428"/>
                  </a:lnTo>
                  <a:lnTo>
                    <a:pt x="12" y="1416"/>
                  </a:lnTo>
                  <a:lnTo>
                    <a:pt x="12" y="1410"/>
                  </a:lnTo>
                  <a:lnTo>
                    <a:pt x="18" y="1398"/>
                  </a:lnTo>
                  <a:lnTo>
                    <a:pt x="18" y="1392"/>
                  </a:lnTo>
                  <a:lnTo>
                    <a:pt x="18" y="1386"/>
                  </a:lnTo>
                  <a:lnTo>
                    <a:pt x="24" y="1374"/>
                  </a:lnTo>
                  <a:lnTo>
                    <a:pt x="18" y="1374"/>
                  </a:lnTo>
                  <a:lnTo>
                    <a:pt x="12" y="1368"/>
                  </a:lnTo>
                  <a:lnTo>
                    <a:pt x="18" y="1368"/>
                  </a:lnTo>
                  <a:lnTo>
                    <a:pt x="12" y="1362"/>
                  </a:lnTo>
                  <a:lnTo>
                    <a:pt x="12" y="1356"/>
                  </a:lnTo>
                  <a:lnTo>
                    <a:pt x="12" y="1350"/>
                  </a:lnTo>
                  <a:lnTo>
                    <a:pt x="12" y="1344"/>
                  </a:lnTo>
                  <a:lnTo>
                    <a:pt x="12" y="1338"/>
                  </a:lnTo>
                  <a:lnTo>
                    <a:pt x="12" y="1332"/>
                  </a:lnTo>
                  <a:lnTo>
                    <a:pt x="6" y="1332"/>
                  </a:lnTo>
                  <a:lnTo>
                    <a:pt x="6" y="1326"/>
                  </a:lnTo>
                  <a:lnTo>
                    <a:pt x="0" y="1326"/>
                  </a:lnTo>
                  <a:lnTo>
                    <a:pt x="6" y="1320"/>
                  </a:lnTo>
                  <a:lnTo>
                    <a:pt x="6" y="1314"/>
                  </a:lnTo>
                  <a:lnTo>
                    <a:pt x="6" y="1308"/>
                  </a:lnTo>
                  <a:lnTo>
                    <a:pt x="12" y="1296"/>
                  </a:lnTo>
                  <a:lnTo>
                    <a:pt x="12" y="1290"/>
                  </a:lnTo>
                  <a:lnTo>
                    <a:pt x="6" y="1284"/>
                  </a:lnTo>
                  <a:lnTo>
                    <a:pt x="12" y="1284"/>
                  </a:lnTo>
                  <a:lnTo>
                    <a:pt x="12" y="1266"/>
                  </a:lnTo>
                  <a:lnTo>
                    <a:pt x="18" y="1260"/>
                  </a:lnTo>
                  <a:lnTo>
                    <a:pt x="18" y="1254"/>
                  </a:lnTo>
                  <a:lnTo>
                    <a:pt x="18" y="1248"/>
                  </a:lnTo>
                  <a:lnTo>
                    <a:pt x="18" y="1236"/>
                  </a:lnTo>
                  <a:lnTo>
                    <a:pt x="18" y="1230"/>
                  </a:lnTo>
                  <a:lnTo>
                    <a:pt x="24" y="1230"/>
                  </a:lnTo>
                  <a:lnTo>
                    <a:pt x="30" y="1224"/>
                  </a:lnTo>
                  <a:lnTo>
                    <a:pt x="30" y="1212"/>
                  </a:lnTo>
                  <a:lnTo>
                    <a:pt x="30" y="1206"/>
                  </a:lnTo>
                  <a:lnTo>
                    <a:pt x="24" y="1206"/>
                  </a:lnTo>
                  <a:lnTo>
                    <a:pt x="24" y="1200"/>
                  </a:lnTo>
                  <a:lnTo>
                    <a:pt x="18" y="1200"/>
                  </a:lnTo>
                  <a:lnTo>
                    <a:pt x="18" y="1194"/>
                  </a:lnTo>
                  <a:lnTo>
                    <a:pt x="18" y="1188"/>
                  </a:lnTo>
                  <a:lnTo>
                    <a:pt x="24" y="1182"/>
                  </a:lnTo>
                  <a:lnTo>
                    <a:pt x="24" y="1176"/>
                  </a:lnTo>
                  <a:lnTo>
                    <a:pt x="18" y="1176"/>
                  </a:lnTo>
                  <a:lnTo>
                    <a:pt x="18" y="1170"/>
                  </a:lnTo>
                  <a:lnTo>
                    <a:pt x="30" y="1158"/>
                  </a:lnTo>
                  <a:lnTo>
                    <a:pt x="24" y="1152"/>
                  </a:lnTo>
                  <a:lnTo>
                    <a:pt x="24" y="1146"/>
                  </a:lnTo>
                  <a:lnTo>
                    <a:pt x="18" y="1146"/>
                  </a:lnTo>
                  <a:lnTo>
                    <a:pt x="24" y="1140"/>
                  </a:lnTo>
                  <a:lnTo>
                    <a:pt x="24" y="1134"/>
                  </a:lnTo>
                  <a:lnTo>
                    <a:pt x="30" y="1128"/>
                  </a:lnTo>
                  <a:lnTo>
                    <a:pt x="36" y="1122"/>
                  </a:lnTo>
                  <a:lnTo>
                    <a:pt x="36" y="1116"/>
                  </a:lnTo>
                  <a:lnTo>
                    <a:pt x="42" y="1110"/>
                  </a:lnTo>
                  <a:lnTo>
                    <a:pt x="54" y="1110"/>
                  </a:lnTo>
                  <a:lnTo>
                    <a:pt x="60" y="1116"/>
                  </a:lnTo>
                  <a:lnTo>
                    <a:pt x="60" y="1122"/>
                  </a:lnTo>
                  <a:lnTo>
                    <a:pt x="66" y="1128"/>
                  </a:lnTo>
                  <a:lnTo>
                    <a:pt x="78" y="1128"/>
                  </a:lnTo>
                  <a:lnTo>
                    <a:pt x="78" y="1116"/>
                  </a:lnTo>
                  <a:lnTo>
                    <a:pt x="84" y="1116"/>
                  </a:lnTo>
                  <a:lnTo>
                    <a:pt x="84" y="1110"/>
                  </a:lnTo>
                  <a:lnTo>
                    <a:pt x="90" y="1110"/>
                  </a:lnTo>
                  <a:lnTo>
                    <a:pt x="90" y="1104"/>
                  </a:lnTo>
                  <a:lnTo>
                    <a:pt x="96" y="1098"/>
                  </a:lnTo>
                  <a:lnTo>
                    <a:pt x="96" y="1104"/>
                  </a:lnTo>
                  <a:lnTo>
                    <a:pt x="102" y="1098"/>
                  </a:lnTo>
                  <a:lnTo>
                    <a:pt x="102" y="1092"/>
                  </a:lnTo>
                  <a:lnTo>
                    <a:pt x="102" y="1086"/>
                  </a:lnTo>
                  <a:lnTo>
                    <a:pt x="102" y="1080"/>
                  </a:lnTo>
                  <a:lnTo>
                    <a:pt x="108" y="1074"/>
                  </a:lnTo>
                  <a:lnTo>
                    <a:pt x="108" y="1068"/>
                  </a:lnTo>
                  <a:lnTo>
                    <a:pt x="114" y="1062"/>
                  </a:lnTo>
                  <a:lnTo>
                    <a:pt x="120" y="1056"/>
                  </a:lnTo>
                  <a:lnTo>
                    <a:pt x="120" y="1050"/>
                  </a:lnTo>
                  <a:lnTo>
                    <a:pt x="126" y="1050"/>
                  </a:lnTo>
                  <a:lnTo>
                    <a:pt x="126" y="1044"/>
                  </a:lnTo>
                  <a:lnTo>
                    <a:pt x="132" y="1044"/>
                  </a:lnTo>
                  <a:lnTo>
                    <a:pt x="132" y="1038"/>
                  </a:lnTo>
                  <a:lnTo>
                    <a:pt x="138" y="1038"/>
                  </a:lnTo>
                  <a:lnTo>
                    <a:pt x="144" y="1032"/>
                  </a:lnTo>
                  <a:lnTo>
                    <a:pt x="156" y="1026"/>
                  </a:lnTo>
                  <a:lnTo>
                    <a:pt x="162" y="1026"/>
                  </a:lnTo>
                  <a:lnTo>
                    <a:pt x="168" y="1026"/>
                  </a:lnTo>
                  <a:lnTo>
                    <a:pt x="174" y="1020"/>
                  </a:lnTo>
                  <a:lnTo>
                    <a:pt x="168" y="1020"/>
                  </a:lnTo>
                  <a:lnTo>
                    <a:pt x="174" y="1008"/>
                  </a:lnTo>
                  <a:lnTo>
                    <a:pt x="168" y="1008"/>
                  </a:lnTo>
                  <a:lnTo>
                    <a:pt x="174" y="1002"/>
                  </a:lnTo>
                  <a:lnTo>
                    <a:pt x="174" y="996"/>
                  </a:lnTo>
                  <a:lnTo>
                    <a:pt x="180" y="984"/>
                  </a:lnTo>
                  <a:lnTo>
                    <a:pt x="186" y="978"/>
                  </a:lnTo>
                  <a:lnTo>
                    <a:pt x="192" y="978"/>
                  </a:lnTo>
                  <a:lnTo>
                    <a:pt x="192" y="966"/>
                  </a:lnTo>
                  <a:lnTo>
                    <a:pt x="192" y="960"/>
                  </a:lnTo>
                  <a:lnTo>
                    <a:pt x="198" y="954"/>
                  </a:lnTo>
                  <a:lnTo>
                    <a:pt x="204" y="954"/>
                  </a:lnTo>
                  <a:lnTo>
                    <a:pt x="210" y="948"/>
                  </a:lnTo>
                  <a:lnTo>
                    <a:pt x="216" y="948"/>
                  </a:lnTo>
                  <a:lnTo>
                    <a:pt x="222" y="942"/>
                  </a:lnTo>
                  <a:lnTo>
                    <a:pt x="228" y="936"/>
                  </a:lnTo>
                  <a:lnTo>
                    <a:pt x="234" y="936"/>
                  </a:lnTo>
                  <a:lnTo>
                    <a:pt x="240" y="936"/>
                  </a:lnTo>
                  <a:lnTo>
                    <a:pt x="240" y="930"/>
                  </a:lnTo>
                  <a:lnTo>
                    <a:pt x="246" y="924"/>
                  </a:lnTo>
                  <a:lnTo>
                    <a:pt x="252" y="924"/>
                  </a:lnTo>
                  <a:lnTo>
                    <a:pt x="252" y="918"/>
                  </a:lnTo>
                  <a:lnTo>
                    <a:pt x="258" y="918"/>
                  </a:lnTo>
                  <a:lnTo>
                    <a:pt x="258" y="912"/>
                  </a:lnTo>
                  <a:lnTo>
                    <a:pt x="264" y="912"/>
                  </a:lnTo>
                  <a:lnTo>
                    <a:pt x="270" y="912"/>
                  </a:lnTo>
                  <a:lnTo>
                    <a:pt x="276" y="906"/>
                  </a:lnTo>
                  <a:lnTo>
                    <a:pt x="276" y="900"/>
                  </a:lnTo>
                  <a:lnTo>
                    <a:pt x="276" y="894"/>
                  </a:lnTo>
                  <a:lnTo>
                    <a:pt x="276" y="888"/>
                  </a:lnTo>
                  <a:lnTo>
                    <a:pt x="282" y="882"/>
                  </a:lnTo>
                  <a:lnTo>
                    <a:pt x="282" y="876"/>
                  </a:lnTo>
                  <a:lnTo>
                    <a:pt x="288" y="870"/>
                  </a:lnTo>
                  <a:lnTo>
                    <a:pt x="294" y="864"/>
                  </a:lnTo>
                  <a:lnTo>
                    <a:pt x="300" y="858"/>
                  </a:lnTo>
                  <a:lnTo>
                    <a:pt x="300" y="852"/>
                  </a:lnTo>
                  <a:lnTo>
                    <a:pt x="306" y="852"/>
                  </a:lnTo>
                  <a:lnTo>
                    <a:pt x="300" y="852"/>
                  </a:lnTo>
                  <a:lnTo>
                    <a:pt x="306" y="846"/>
                  </a:lnTo>
                  <a:lnTo>
                    <a:pt x="312" y="846"/>
                  </a:lnTo>
                  <a:lnTo>
                    <a:pt x="318" y="846"/>
                  </a:lnTo>
                  <a:lnTo>
                    <a:pt x="318" y="834"/>
                  </a:lnTo>
                  <a:lnTo>
                    <a:pt x="318" y="822"/>
                  </a:lnTo>
                  <a:lnTo>
                    <a:pt x="312" y="828"/>
                  </a:lnTo>
                  <a:lnTo>
                    <a:pt x="306" y="828"/>
                  </a:lnTo>
                  <a:lnTo>
                    <a:pt x="306" y="822"/>
                  </a:lnTo>
                  <a:lnTo>
                    <a:pt x="306" y="816"/>
                  </a:lnTo>
                  <a:lnTo>
                    <a:pt x="312" y="810"/>
                  </a:lnTo>
                  <a:lnTo>
                    <a:pt x="312" y="816"/>
                  </a:lnTo>
                  <a:lnTo>
                    <a:pt x="312" y="810"/>
                  </a:lnTo>
                  <a:lnTo>
                    <a:pt x="324" y="816"/>
                  </a:lnTo>
                  <a:lnTo>
                    <a:pt x="324" y="810"/>
                  </a:lnTo>
                  <a:lnTo>
                    <a:pt x="330" y="804"/>
                  </a:lnTo>
                  <a:lnTo>
                    <a:pt x="324" y="804"/>
                  </a:lnTo>
                  <a:lnTo>
                    <a:pt x="318" y="798"/>
                  </a:lnTo>
                  <a:lnTo>
                    <a:pt x="318" y="792"/>
                  </a:lnTo>
                  <a:lnTo>
                    <a:pt x="318" y="786"/>
                  </a:lnTo>
                  <a:lnTo>
                    <a:pt x="318" y="780"/>
                  </a:lnTo>
                  <a:lnTo>
                    <a:pt x="312" y="780"/>
                  </a:lnTo>
                  <a:lnTo>
                    <a:pt x="306" y="786"/>
                  </a:lnTo>
                  <a:lnTo>
                    <a:pt x="300" y="780"/>
                  </a:lnTo>
                  <a:lnTo>
                    <a:pt x="294" y="780"/>
                  </a:lnTo>
                  <a:lnTo>
                    <a:pt x="294" y="786"/>
                  </a:lnTo>
                  <a:lnTo>
                    <a:pt x="288" y="786"/>
                  </a:lnTo>
                  <a:lnTo>
                    <a:pt x="288" y="780"/>
                  </a:lnTo>
                  <a:lnTo>
                    <a:pt x="288" y="774"/>
                  </a:lnTo>
                  <a:lnTo>
                    <a:pt x="288" y="768"/>
                  </a:lnTo>
                  <a:lnTo>
                    <a:pt x="288" y="762"/>
                  </a:lnTo>
                  <a:lnTo>
                    <a:pt x="288" y="756"/>
                  </a:lnTo>
                  <a:lnTo>
                    <a:pt x="282" y="756"/>
                  </a:lnTo>
                  <a:lnTo>
                    <a:pt x="288" y="756"/>
                  </a:lnTo>
                  <a:lnTo>
                    <a:pt x="282" y="756"/>
                  </a:lnTo>
                  <a:lnTo>
                    <a:pt x="288" y="756"/>
                  </a:lnTo>
                  <a:lnTo>
                    <a:pt x="288" y="750"/>
                  </a:lnTo>
                  <a:lnTo>
                    <a:pt x="282" y="750"/>
                  </a:lnTo>
                  <a:lnTo>
                    <a:pt x="288" y="750"/>
                  </a:lnTo>
                  <a:lnTo>
                    <a:pt x="282" y="750"/>
                  </a:lnTo>
                  <a:lnTo>
                    <a:pt x="282" y="744"/>
                  </a:lnTo>
                  <a:lnTo>
                    <a:pt x="288" y="744"/>
                  </a:lnTo>
                  <a:lnTo>
                    <a:pt x="282" y="744"/>
                  </a:lnTo>
                  <a:lnTo>
                    <a:pt x="288" y="744"/>
                  </a:lnTo>
                  <a:lnTo>
                    <a:pt x="288" y="738"/>
                  </a:lnTo>
                  <a:lnTo>
                    <a:pt x="288" y="744"/>
                  </a:lnTo>
                  <a:lnTo>
                    <a:pt x="288" y="738"/>
                  </a:lnTo>
                  <a:lnTo>
                    <a:pt x="288" y="732"/>
                  </a:lnTo>
                  <a:lnTo>
                    <a:pt x="294" y="732"/>
                  </a:lnTo>
                  <a:lnTo>
                    <a:pt x="294" y="726"/>
                  </a:lnTo>
                  <a:lnTo>
                    <a:pt x="288" y="726"/>
                  </a:lnTo>
                  <a:lnTo>
                    <a:pt x="294" y="726"/>
                  </a:lnTo>
                  <a:lnTo>
                    <a:pt x="288" y="726"/>
                  </a:lnTo>
                  <a:lnTo>
                    <a:pt x="294" y="726"/>
                  </a:lnTo>
                  <a:lnTo>
                    <a:pt x="294" y="720"/>
                  </a:lnTo>
                  <a:lnTo>
                    <a:pt x="294" y="714"/>
                  </a:lnTo>
                  <a:lnTo>
                    <a:pt x="300" y="714"/>
                  </a:lnTo>
                  <a:lnTo>
                    <a:pt x="300" y="708"/>
                  </a:lnTo>
                  <a:lnTo>
                    <a:pt x="300" y="702"/>
                  </a:lnTo>
                  <a:lnTo>
                    <a:pt x="294" y="702"/>
                  </a:lnTo>
                  <a:lnTo>
                    <a:pt x="294" y="696"/>
                  </a:lnTo>
                  <a:lnTo>
                    <a:pt x="288" y="690"/>
                  </a:lnTo>
                  <a:lnTo>
                    <a:pt x="294" y="690"/>
                  </a:lnTo>
                  <a:lnTo>
                    <a:pt x="294" y="684"/>
                  </a:lnTo>
                  <a:lnTo>
                    <a:pt x="288" y="684"/>
                  </a:lnTo>
                  <a:lnTo>
                    <a:pt x="288" y="678"/>
                  </a:lnTo>
                  <a:lnTo>
                    <a:pt x="288" y="672"/>
                  </a:lnTo>
                  <a:lnTo>
                    <a:pt x="282" y="672"/>
                  </a:lnTo>
                  <a:lnTo>
                    <a:pt x="276" y="672"/>
                  </a:lnTo>
                  <a:lnTo>
                    <a:pt x="270" y="672"/>
                  </a:lnTo>
                  <a:lnTo>
                    <a:pt x="270" y="666"/>
                  </a:lnTo>
                  <a:lnTo>
                    <a:pt x="264" y="666"/>
                  </a:lnTo>
                  <a:lnTo>
                    <a:pt x="270" y="666"/>
                  </a:lnTo>
                  <a:lnTo>
                    <a:pt x="264" y="666"/>
                  </a:lnTo>
                  <a:lnTo>
                    <a:pt x="264" y="660"/>
                  </a:lnTo>
                  <a:lnTo>
                    <a:pt x="258" y="666"/>
                  </a:lnTo>
                  <a:lnTo>
                    <a:pt x="252" y="666"/>
                  </a:lnTo>
                  <a:lnTo>
                    <a:pt x="252" y="660"/>
                  </a:lnTo>
                  <a:lnTo>
                    <a:pt x="252" y="654"/>
                  </a:lnTo>
                  <a:lnTo>
                    <a:pt x="246" y="648"/>
                  </a:lnTo>
                  <a:lnTo>
                    <a:pt x="252" y="648"/>
                  </a:lnTo>
                  <a:lnTo>
                    <a:pt x="252" y="642"/>
                  </a:lnTo>
                  <a:lnTo>
                    <a:pt x="258" y="642"/>
                  </a:lnTo>
                  <a:lnTo>
                    <a:pt x="258" y="636"/>
                  </a:lnTo>
                  <a:lnTo>
                    <a:pt x="264" y="630"/>
                  </a:lnTo>
                  <a:lnTo>
                    <a:pt x="270" y="624"/>
                  </a:lnTo>
                  <a:lnTo>
                    <a:pt x="270" y="618"/>
                  </a:lnTo>
                  <a:lnTo>
                    <a:pt x="276" y="618"/>
                  </a:lnTo>
                  <a:lnTo>
                    <a:pt x="282" y="618"/>
                  </a:lnTo>
                  <a:lnTo>
                    <a:pt x="282" y="624"/>
                  </a:lnTo>
                  <a:lnTo>
                    <a:pt x="288" y="630"/>
                  </a:lnTo>
                  <a:lnTo>
                    <a:pt x="294" y="630"/>
                  </a:lnTo>
                  <a:lnTo>
                    <a:pt x="300" y="630"/>
                  </a:lnTo>
                  <a:lnTo>
                    <a:pt x="306" y="630"/>
                  </a:lnTo>
                  <a:lnTo>
                    <a:pt x="306" y="636"/>
                  </a:lnTo>
                  <a:lnTo>
                    <a:pt x="312" y="636"/>
                  </a:lnTo>
                  <a:lnTo>
                    <a:pt x="318" y="636"/>
                  </a:lnTo>
                  <a:lnTo>
                    <a:pt x="324" y="636"/>
                  </a:lnTo>
                  <a:lnTo>
                    <a:pt x="324" y="642"/>
                  </a:lnTo>
                  <a:lnTo>
                    <a:pt x="330" y="642"/>
                  </a:lnTo>
                  <a:lnTo>
                    <a:pt x="330" y="648"/>
                  </a:lnTo>
                  <a:lnTo>
                    <a:pt x="336" y="648"/>
                  </a:lnTo>
                  <a:lnTo>
                    <a:pt x="336" y="654"/>
                  </a:lnTo>
                  <a:lnTo>
                    <a:pt x="342" y="654"/>
                  </a:lnTo>
                  <a:lnTo>
                    <a:pt x="342" y="660"/>
                  </a:lnTo>
                  <a:lnTo>
                    <a:pt x="342" y="654"/>
                  </a:lnTo>
                  <a:lnTo>
                    <a:pt x="336" y="654"/>
                  </a:lnTo>
                  <a:lnTo>
                    <a:pt x="336" y="648"/>
                  </a:lnTo>
                  <a:lnTo>
                    <a:pt x="330" y="648"/>
                  </a:lnTo>
                  <a:lnTo>
                    <a:pt x="330" y="642"/>
                  </a:lnTo>
                  <a:lnTo>
                    <a:pt x="324" y="642"/>
                  </a:lnTo>
                  <a:lnTo>
                    <a:pt x="318" y="642"/>
                  </a:lnTo>
                  <a:lnTo>
                    <a:pt x="312" y="642"/>
                  </a:lnTo>
                  <a:lnTo>
                    <a:pt x="312" y="636"/>
                  </a:lnTo>
                  <a:lnTo>
                    <a:pt x="312" y="642"/>
                  </a:lnTo>
                  <a:lnTo>
                    <a:pt x="312" y="636"/>
                  </a:lnTo>
                  <a:lnTo>
                    <a:pt x="306" y="636"/>
                  </a:lnTo>
                  <a:lnTo>
                    <a:pt x="300" y="636"/>
                  </a:lnTo>
                  <a:lnTo>
                    <a:pt x="300" y="630"/>
                  </a:lnTo>
                  <a:lnTo>
                    <a:pt x="300" y="636"/>
                  </a:lnTo>
                  <a:lnTo>
                    <a:pt x="294" y="630"/>
                  </a:lnTo>
                  <a:lnTo>
                    <a:pt x="300" y="630"/>
                  </a:lnTo>
                  <a:lnTo>
                    <a:pt x="300" y="636"/>
                  </a:lnTo>
                  <a:lnTo>
                    <a:pt x="306" y="636"/>
                  </a:lnTo>
                  <a:lnTo>
                    <a:pt x="306" y="642"/>
                  </a:lnTo>
                  <a:lnTo>
                    <a:pt x="312" y="642"/>
                  </a:lnTo>
                  <a:lnTo>
                    <a:pt x="318" y="642"/>
                  </a:lnTo>
                  <a:lnTo>
                    <a:pt x="312" y="642"/>
                  </a:lnTo>
                  <a:lnTo>
                    <a:pt x="318" y="642"/>
                  </a:lnTo>
                  <a:lnTo>
                    <a:pt x="318" y="648"/>
                  </a:lnTo>
                  <a:lnTo>
                    <a:pt x="324" y="648"/>
                  </a:lnTo>
                  <a:lnTo>
                    <a:pt x="330" y="654"/>
                  </a:lnTo>
                  <a:lnTo>
                    <a:pt x="330" y="648"/>
                  </a:lnTo>
                  <a:lnTo>
                    <a:pt x="330" y="654"/>
                  </a:lnTo>
                  <a:lnTo>
                    <a:pt x="336" y="660"/>
                  </a:lnTo>
                  <a:lnTo>
                    <a:pt x="342" y="660"/>
                  </a:lnTo>
                  <a:lnTo>
                    <a:pt x="348" y="666"/>
                  </a:lnTo>
                  <a:lnTo>
                    <a:pt x="354" y="666"/>
                  </a:lnTo>
                  <a:lnTo>
                    <a:pt x="360" y="666"/>
                  </a:lnTo>
                  <a:lnTo>
                    <a:pt x="360" y="672"/>
                  </a:lnTo>
                  <a:lnTo>
                    <a:pt x="366" y="672"/>
                  </a:lnTo>
                  <a:lnTo>
                    <a:pt x="372" y="672"/>
                  </a:lnTo>
                  <a:lnTo>
                    <a:pt x="378" y="672"/>
                  </a:lnTo>
                  <a:lnTo>
                    <a:pt x="384" y="678"/>
                  </a:lnTo>
                  <a:lnTo>
                    <a:pt x="378" y="678"/>
                  </a:lnTo>
                  <a:lnTo>
                    <a:pt x="372" y="672"/>
                  </a:lnTo>
                  <a:lnTo>
                    <a:pt x="366" y="672"/>
                  </a:lnTo>
                  <a:lnTo>
                    <a:pt x="366" y="678"/>
                  </a:lnTo>
                  <a:lnTo>
                    <a:pt x="366" y="684"/>
                  </a:lnTo>
                  <a:lnTo>
                    <a:pt x="372" y="684"/>
                  </a:lnTo>
                  <a:lnTo>
                    <a:pt x="372" y="690"/>
                  </a:lnTo>
                  <a:lnTo>
                    <a:pt x="378" y="690"/>
                  </a:lnTo>
                  <a:lnTo>
                    <a:pt x="378" y="696"/>
                  </a:lnTo>
                  <a:lnTo>
                    <a:pt x="384" y="696"/>
                  </a:lnTo>
                  <a:lnTo>
                    <a:pt x="390" y="702"/>
                  </a:lnTo>
                  <a:lnTo>
                    <a:pt x="390" y="708"/>
                  </a:lnTo>
                  <a:lnTo>
                    <a:pt x="396" y="708"/>
                  </a:lnTo>
                  <a:lnTo>
                    <a:pt x="396" y="714"/>
                  </a:lnTo>
                  <a:lnTo>
                    <a:pt x="402" y="714"/>
                  </a:lnTo>
                  <a:lnTo>
                    <a:pt x="396" y="714"/>
                  </a:lnTo>
                  <a:lnTo>
                    <a:pt x="396" y="720"/>
                  </a:lnTo>
                  <a:lnTo>
                    <a:pt x="402" y="720"/>
                  </a:lnTo>
                  <a:lnTo>
                    <a:pt x="396" y="720"/>
                  </a:lnTo>
                  <a:lnTo>
                    <a:pt x="402" y="720"/>
                  </a:lnTo>
                  <a:lnTo>
                    <a:pt x="408" y="720"/>
                  </a:lnTo>
                  <a:lnTo>
                    <a:pt x="414" y="726"/>
                  </a:lnTo>
                  <a:lnTo>
                    <a:pt x="420" y="732"/>
                  </a:lnTo>
                  <a:lnTo>
                    <a:pt x="420" y="738"/>
                  </a:lnTo>
                  <a:lnTo>
                    <a:pt x="414" y="738"/>
                  </a:lnTo>
                  <a:lnTo>
                    <a:pt x="420" y="738"/>
                  </a:lnTo>
                  <a:lnTo>
                    <a:pt x="420" y="744"/>
                  </a:lnTo>
                  <a:lnTo>
                    <a:pt x="414" y="744"/>
                  </a:lnTo>
                  <a:lnTo>
                    <a:pt x="420" y="744"/>
                  </a:lnTo>
                  <a:lnTo>
                    <a:pt x="414" y="750"/>
                  </a:lnTo>
                  <a:lnTo>
                    <a:pt x="420" y="750"/>
                  </a:lnTo>
                  <a:lnTo>
                    <a:pt x="420" y="744"/>
                  </a:lnTo>
                  <a:lnTo>
                    <a:pt x="420" y="750"/>
                  </a:lnTo>
                  <a:lnTo>
                    <a:pt x="426" y="756"/>
                  </a:lnTo>
                  <a:lnTo>
                    <a:pt x="426" y="750"/>
                  </a:lnTo>
                  <a:lnTo>
                    <a:pt x="432" y="744"/>
                  </a:lnTo>
                  <a:lnTo>
                    <a:pt x="438" y="744"/>
                  </a:lnTo>
                  <a:lnTo>
                    <a:pt x="432" y="744"/>
                  </a:lnTo>
                  <a:lnTo>
                    <a:pt x="432" y="738"/>
                  </a:lnTo>
                  <a:lnTo>
                    <a:pt x="438" y="738"/>
                  </a:lnTo>
                  <a:lnTo>
                    <a:pt x="432" y="738"/>
                  </a:lnTo>
                  <a:lnTo>
                    <a:pt x="432" y="732"/>
                  </a:lnTo>
                  <a:lnTo>
                    <a:pt x="438" y="732"/>
                  </a:lnTo>
                  <a:lnTo>
                    <a:pt x="438" y="720"/>
                  </a:lnTo>
                  <a:lnTo>
                    <a:pt x="444" y="714"/>
                  </a:lnTo>
                  <a:lnTo>
                    <a:pt x="444" y="708"/>
                  </a:lnTo>
                  <a:lnTo>
                    <a:pt x="450" y="696"/>
                  </a:lnTo>
                  <a:lnTo>
                    <a:pt x="450" y="690"/>
                  </a:lnTo>
                  <a:lnTo>
                    <a:pt x="456" y="684"/>
                  </a:lnTo>
                  <a:lnTo>
                    <a:pt x="456" y="678"/>
                  </a:lnTo>
                  <a:lnTo>
                    <a:pt x="456" y="672"/>
                  </a:lnTo>
                  <a:lnTo>
                    <a:pt x="462" y="672"/>
                  </a:lnTo>
                  <a:lnTo>
                    <a:pt x="456" y="672"/>
                  </a:lnTo>
                  <a:lnTo>
                    <a:pt x="462" y="666"/>
                  </a:lnTo>
                  <a:lnTo>
                    <a:pt x="456" y="666"/>
                  </a:lnTo>
                  <a:lnTo>
                    <a:pt x="450" y="666"/>
                  </a:lnTo>
                  <a:lnTo>
                    <a:pt x="456" y="666"/>
                  </a:lnTo>
                  <a:lnTo>
                    <a:pt x="456" y="660"/>
                  </a:lnTo>
                  <a:lnTo>
                    <a:pt x="456" y="654"/>
                  </a:lnTo>
                  <a:lnTo>
                    <a:pt x="456" y="660"/>
                  </a:lnTo>
                  <a:lnTo>
                    <a:pt x="450" y="660"/>
                  </a:lnTo>
                  <a:lnTo>
                    <a:pt x="444" y="660"/>
                  </a:lnTo>
                  <a:lnTo>
                    <a:pt x="438" y="660"/>
                  </a:lnTo>
                  <a:lnTo>
                    <a:pt x="432" y="654"/>
                  </a:lnTo>
                  <a:lnTo>
                    <a:pt x="426" y="648"/>
                  </a:lnTo>
                  <a:lnTo>
                    <a:pt x="426" y="642"/>
                  </a:lnTo>
                  <a:lnTo>
                    <a:pt x="420" y="636"/>
                  </a:lnTo>
                  <a:lnTo>
                    <a:pt x="420" y="630"/>
                  </a:lnTo>
                  <a:lnTo>
                    <a:pt x="414" y="624"/>
                  </a:lnTo>
                  <a:lnTo>
                    <a:pt x="414" y="618"/>
                  </a:lnTo>
                  <a:lnTo>
                    <a:pt x="414" y="612"/>
                  </a:lnTo>
                  <a:lnTo>
                    <a:pt x="408" y="612"/>
                  </a:lnTo>
                  <a:lnTo>
                    <a:pt x="408" y="606"/>
                  </a:lnTo>
                  <a:lnTo>
                    <a:pt x="414" y="606"/>
                  </a:lnTo>
                  <a:lnTo>
                    <a:pt x="414" y="600"/>
                  </a:lnTo>
                  <a:lnTo>
                    <a:pt x="414" y="594"/>
                  </a:lnTo>
                  <a:lnTo>
                    <a:pt x="414" y="588"/>
                  </a:lnTo>
                  <a:lnTo>
                    <a:pt x="414" y="582"/>
                  </a:lnTo>
                  <a:lnTo>
                    <a:pt x="408" y="582"/>
                  </a:lnTo>
                  <a:lnTo>
                    <a:pt x="408" y="588"/>
                  </a:lnTo>
                  <a:lnTo>
                    <a:pt x="414" y="588"/>
                  </a:lnTo>
                  <a:lnTo>
                    <a:pt x="408" y="588"/>
                  </a:lnTo>
                  <a:lnTo>
                    <a:pt x="402" y="588"/>
                  </a:lnTo>
                  <a:lnTo>
                    <a:pt x="402" y="582"/>
                  </a:lnTo>
                  <a:lnTo>
                    <a:pt x="396" y="582"/>
                  </a:lnTo>
                  <a:lnTo>
                    <a:pt x="396" y="576"/>
                  </a:lnTo>
                  <a:lnTo>
                    <a:pt x="390" y="576"/>
                  </a:lnTo>
                  <a:lnTo>
                    <a:pt x="390" y="570"/>
                  </a:lnTo>
                  <a:lnTo>
                    <a:pt x="384" y="570"/>
                  </a:lnTo>
                  <a:lnTo>
                    <a:pt x="378" y="570"/>
                  </a:lnTo>
                  <a:lnTo>
                    <a:pt x="378" y="576"/>
                  </a:lnTo>
                  <a:lnTo>
                    <a:pt x="378" y="582"/>
                  </a:lnTo>
                  <a:lnTo>
                    <a:pt x="378" y="588"/>
                  </a:lnTo>
                  <a:lnTo>
                    <a:pt x="378" y="594"/>
                  </a:lnTo>
                  <a:lnTo>
                    <a:pt x="378" y="588"/>
                  </a:lnTo>
                  <a:lnTo>
                    <a:pt x="378" y="594"/>
                  </a:lnTo>
                  <a:lnTo>
                    <a:pt x="372" y="600"/>
                  </a:lnTo>
                  <a:lnTo>
                    <a:pt x="372" y="606"/>
                  </a:lnTo>
                  <a:lnTo>
                    <a:pt x="366" y="606"/>
                  </a:lnTo>
                  <a:lnTo>
                    <a:pt x="366" y="600"/>
                  </a:lnTo>
                  <a:lnTo>
                    <a:pt x="360" y="600"/>
                  </a:lnTo>
                  <a:lnTo>
                    <a:pt x="360" y="594"/>
                  </a:lnTo>
                  <a:lnTo>
                    <a:pt x="366" y="594"/>
                  </a:lnTo>
                  <a:lnTo>
                    <a:pt x="372" y="594"/>
                  </a:lnTo>
                  <a:lnTo>
                    <a:pt x="378" y="594"/>
                  </a:lnTo>
                  <a:lnTo>
                    <a:pt x="372" y="594"/>
                  </a:lnTo>
                  <a:lnTo>
                    <a:pt x="366" y="594"/>
                  </a:lnTo>
                  <a:lnTo>
                    <a:pt x="366" y="588"/>
                  </a:lnTo>
                  <a:lnTo>
                    <a:pt x="366" y="582"/>
                  </a:lnTo>
                  <a:lnTo>
                    <a:pt x="366" y="576"/>
                  </a:lnTo>
                  <a:lnTo>
                    <a:pt x="372" y="576"/>
                  </a:lnTo>
                  <a:lnTo>
                    <a:pt x="378" y="576"/>
                  </a:lnTo>
                  <a:lnTo>
                    <a:pt x="378" y="570"/>
                  </a:lnTo>
                  <a:lnTo>
                    <a:pt x="372" y="570"/>
                  </a:lnTo>
                  <a:lnTo>
                    <a:pt x="372" y="564"/>
                  </a:lnTo>
                  <a:lnTo>
                    <a:pt x="366" y="564"/>
                  </a:lnTo>
                  <a:lnTo>
                    <a:pt x="366" y="558"/>
                  </a:lnTo>
                  <a:lnTo>
                    <a:pt x="360" y="558"/>
                  </a:lnTo>
                  <a:lnTo>
                    <a:pt x="360" y="564"/>
                  </a:lnTo>
                  <a:lnTo>
                    <a:pt x="366" y="564"/>
                  </a:lnTo>
                  <a:lnTo>
                    <a:pt x="360" y="570"/>
                  </a:lnTo>
                  <a:lnTo>
                    <a:pt x="360" y="564"/>
                  </a:lnTo>
                  <a:lnTo>
                    <a:pt x="360" y="570"/>
                  </a:lnTo>
                  <a:lnTo>
                    <a:pt x="354" y="570"/>
                  </a:lnTo>
                  <a:lnTo>
                    <a:pt x="360" y="570"/>
                  </a:lnTo>
                  <a:lnTo>
                    <a:pt x="360" y="576"/>
                  </a:lnTo>
                  <a:lnTo>
                    <a:pt x="360" y="582"/>
                  </a:lnTo>
                  <a:lnTo>
                    <a:pt x="354" y="576"/>
                  </a:lnTo>
                  <a:lnTo>
                    <a:pt x="354" y="570"/>
                  </a:lnTo>
                  <a:lnTo>
                    <a:pt x="354" y="564"/>
                  </a:lnTo>
                  <a:lnTo>
                    <a:pt x="354" y="558"/>
                  </a:lnTo>
                  <a:lnTo>
                    <a:pt x="354" y="552"/>
                  </a:lnTo>
                  <a:lnTo>
                    <a:pt x="354" y="546"/>
                  </a:lnTo>
                  <a:lnTo>
                    <a:pt x="354" y="540"/>
                  </a:lnTo>
                  <a:lnTo>
                    <a:pt x="354" y="534"/>
                  </a:lnTo>
                  <a:lnTo>
                    <a:pt x="354" y="528"/>
                  </a:lnTo>
                  <a:lnTo>
                    <a:pt x="360" y="522"/>
                  </a:lnTo>
                  <a:lnTo>
                    <a:pt x="360" y="516"/>
                  </a:lnTo>
                  <a:lnTo>
                    <a:pt x="366" y="516"/>
                  </a:lnTo>
                  <a:lnTo>
                    <a:pt x="360" y="516"/>
                  </a:lnTo>
                  <a:lnTo>
                    <a:pt x="360" y="522"/>
                  </a:lnTo>
                  <a:lnTo>
                    <a:pt x="366" y="528"/>
                  </a:lnTo>
                  <a:lnTo>
                    <a:pt x="372" y="522"/>
                  </a:lnTo>
                  <a:lnTo>
                    <a:pt x="378" y="522"/>
                  </a:lnTo>
                  <a:lnTo>
                    <a:pt x="378" y="516"/>
                  </a:lnTo>
                  <a:lnTo>
                    <a:pt x="384" y="516"/>
                  </a:lnTo>
                  <a:lnTo>
                    <a:pt x="384" y="510"/>
                  </a:lnTo>
                  <a:lnTo>
                    <a:pt x="378" y="510"/>
                  </a:lnTo>
                  <a:lnTo>
                    <a:pt x="378" y="504"/>
                  </a:lnTo>
                  <a:lnTo>
                    <a:pt x="378" y="498"/>
                  </a:lnTo>
                  <a:lnTo>
                    <a:pt x="378" y="492"/>
                  </a:lnTo>
                  <a:lnTo>
                    <a:pt x="372" y="492"/>
                  </a:lnTo>
                  <a:lnTo>
                    <a:pt x="366" y="492"/>
                  </a:lnTo>
                  <a:lnTo>
                    <a:pt x="366" y="486"/>
                  </a:lnTo>
                  <a:lnTo>
                    <a:pt x="372" y="486"/>
                  </a:lnTo>
                  <a:lnTo>
                    <a:pt x="372" y="480"/>
                  </a:lnTo>
                  <a:lnTo>
                    <a:pt x="372" y="474"/>
                  </a:lnTo>
                  <a:lnTo>
                    <a:pt x="372" y="468"/>
                  </a:lnTo>
                  <a:lnTo>
                    <a:pt x="372" y="462"/>
                  </a:lnTo>
                  <a:lnTo>
                    <a:pt x="378" y="462"/>
                  </a:lnTo>
                  <a:lnTo>
                    <a:pt x="378" y="456"/>
                  </a:lnTo>
                  <a:lnTo>
                    <a:pt x="378" y="450"/>
                  </a:lnTo>
                  <a:lnTo>
                    <a:pt x="372" y="450"/>
                  </a:lnTo>
                  <a:lnTo>
                    <a:pt x="372" y="444"/>
                  </a:lnTo>
                  <a:lnTo>
                    <a:pt x="372" y="438"/>
                  </a:lnTo>
                  <a:lnTo>
                    <a:pt x="378" y="432"/>
                  </a:lnTo>
                  <a:lnTo>
                    <a:pt x="378" y="426"/>
                  </a:lnTo>
                  <a:lnTo>
                    <a:pt x="378" y="420"/>
                  </a:lnTo>
                  <a:lnTo>
                    <a:pt x="378" y="414"/>
                  </a:lnTo>
                  <a:lnTo>
                    <a:pt x="378" y="408"/>
                  </a:lnTo>
                  <a:lnTo>
                    <a:pt x="372" y="408"/>
                  </a:lnTo>
                  <a:lnTo>
                    <a:pt x="372" y="402"/>
                  </a:lnTo>
                  <a:lnTo>
                    <a:pt x="366" y="402"/>
                  </a:lnTo>
                  <a:lnTo>
                    <a:pt x="366" y="408"/>
                  </a:lnTo>
                  <a:lnTo>
                    <a:pt x="360" y="408"/>
                  </a:lnTo>
                  <a:lnTo>
                    <a:pt x="360" y="414"/>
                  </a:lnTo>
                  <a:lnTo>
                    <a:pt x="354" y="414"/>
                  </a:lnTo>
                  <a:lnTo>
                    <a:pt x="348" y="414"/>
                  </a:lnTo>
                  <a:lnTo>
                    <a:pt x="348" y="408"/>
                  </a:lnTo>
                  <a:lnTo>
                    <a:pt x="348" y="402"/>
                  </a:lnTo>
                  <a:lnTo>
                    <a:pt x="348" y="396"/>
                  </a:lnTo>
                  <a:lnTo>
                    <a:pt x="354" y="396"/>
                  </a:lnTo>
                  <a:lnTo>
                    <a:pt x="354" y="390"/>
                  </a:lnTo>
                  <a:lnTo>
                    <a:pt x="354" y="384"/>
                  </a:lnTo>
                  <a:lnTo>
                    <a:pt x="360" y="378"/>
                  </a:lnTo>
                  <a:lnTo>
                    <a:pt x="354" y="378"/>
                  </a:lnTo>
                  <a:lnTo>
                    <a:pt x="360" y="378"/>
                  </a:lnTo>
                  <a:lnTo>
                    <a:pt x="360" y="372"/>
                  </a:lnTo>
                  <a:lnTo>
                    <a:pt x="354" y="366"/>
                  </a:lnTo>
                  <a:lnTo>
                    <a:pt x="354" y="372"/>
                  </a:lnTo>
                  <a:lnTo>
                    <a:pt x="354" y="378"/>
                  </a:lnTo>
                  <a:lnTo>
                    <a:pt x="354" y="384"/>
                  </a:lnTo>
                  <a:lnTo>
                    <a:pt x="348" y="384"/>
                  </a:lnTo>
                  <a:lnTo>
                    <a:pt x="348" y="390"/>
                  </a:lnTo>
                  <a:lnTo>
                    <a:pt x="342" y="390"/>
                  </a:lnTo>
                  <a:lnTo>
                    <a:pt x="342" y="396"/>
                  </a:lnTo>
                  <a:lnTo>
                    <a:pt x="342" y="402"/>
                  </a:lnTo>
                  <a:lnTo>
                    <a:pt x="336" y="408"/>
                  </a:lnTo>
                  <a:lnTo>
                    <a:pt x="336" y="402"/>
                  </a:lnTo>
                  <a:lnTo>
                    <a:pt x="342" y="402"/>
                  </a:lnTo>
                  <a:lnTo>
                    <a:pt x="342" y="390"/>
                  </a:lnTo>
                  <a:lnTo>
                    <a:pt x="342" y="384"/>
                  </a:lnTo>
                  <a:lnTo>
                    <a:pt x="348" y="384"/>
                  </a:lnTo>
                  <a:lnTo>
                    <a:pt x="348" y="378"/>
                  </a:lnTo>
                  <a:lnTo>
                    <a:pt x="348" y="372"/>
                  </a:lnTo>
                  <a:lnTo>
                    <a:pt x="348" y="366"/>
                  </a:lnTo>
                  <a:lnTo>
                    <a:pt x="354" y="366"/>
                  </a:lnTo>
                  <a:lnTo>
                    <a:pt x="360" y="342"/>
                  </a:lnTo>
                  <a:lnTo>
                    <a:pt x="366" y="342"/>
                  </a:lnTo>
                  <a:lnTo>
                    <a:pt x="372" y="336"/>
                  </a:lnTo>
                  <a:lnTo>
                    <a:pt x="378" y="336"/>
                  </a:lnTo>
                  <a:lnTo>
                    <a:pt x="378" y="330"/>
                  </a:lnTo>
                  <a:lnTo>
                    <a:pt x="384" y="330"/>
                  </a:lnTo>
                  <a:lnTo>
                    <a:pt x="384" y="324"/>
                  </a:lnTo>
                  <a:lnTo>
                    <a:pt x="390" y="324"/>
                  </a:lnTo>
                  <a:lnTo>
                    <a:pt x="390" y="318"/>
                  </a:lnTo>
                  <a:lnTo>
                    <a:pt x="396" y="318"/>
                  </a:lnTo>
                  <a:lnTo>
                    <a:pt x="402" y="312"/>
                  </a:lnTo>
                  <a:lnTo>
                    <a:pt x="408" y="306"/>
                  </a:lnTo>
                  <a:lnTo>
                    <a:pt x="414" y="300"/>
                  </a:lnTo>
                  <a:lnTo>
                    <a:pt x="414" y="294"/>
                  </a:lnTo>
                  <a:lnTo>
                    <a:pt x="420" y="294"/>
                  </a:lnTo>
                  <a:lnTo>
                    <a:pt x="420" y="288"/>
                  </a:lnTo>
                  <a:lnTo>
                    <a:pt x="420" y="282"/>
                  </a:lnTo>
                  <a:lnTo>
                    <a:pt x="426" y="282"/>
                  </a:lnTo>
                  <a:lnTo>
                    <a:pt x="426" y="276"/>
                  </a:lnTo>
                  <a:lnTo>
                    <a:pt x="426" y="270"/>
                  </a:lnTo>
                  <a:lnTo>
                    <a:pt x="432" y="270"/>
                  </a:lnTo>
                  <a:lnTo>
                    <a:pt x="432" y="264"/>
                  </a:lnTo>
                  <a:lnTo>
                    <a:pt x="432" y="252"/>
                  </a:lnTo>
                  <a:lnTo>
                    <a:pt x="432" y="240"/>
                  </a:lnTo>
                  <a:lnTo>
                    <a:pt x="438" y="240"/>
                  </a:lnTo>
                  <a:lnTo>
                    <a:pt x="438" y="234"/>
                  </a:lnTo>
                  <a:lnTo>
                    <a:pt x="438" y="228"/>
                  </a:lnTo>
                  <a:lnTo>
                    <a:pt x="438" y="222"/>
                  </a:lnTo>
                  <a:lnTo>
                    <a:pt x="444" y="222"/>
                  </a:lnTo>
                  <a:lnTo>
                    <a:pt x="438" y="222"/>
                  </a:lnTo>
                  <a:lnTo>
                    <a:pt x="438" y="216"/>
                  </a:lnTo>
                  <a:lnTo>
                    <a:pt x="444" y="210"/>
                  </a:lnTo>
                  <a:lnTo>
                    <a:pt x="444" y="204"/>
                  </a:lnTo>
                  <a:lnTo>
                    <a:pt x="444" y="198"/>
                  </a:lnTo>
                  <a:lnTo>
                    <a:pt x="444" y="192"/>
                  </a:lnTo>
                  <a:lnTo>
                    <a:pt x="444" y="186"/>
                  </a:lnTo>
                  <a:lnTo>
                    <a:pt x="444" y="168"/>
                  </a:lnTo>
                  <a:lnTo>
                    <a:pt x="450" y="156"/>
                  </a:lnTo>
                  <a:lnTo>
                    <a:pt x="450" y="150"/>
                  </a:lnTo>
                  <a:lnTo>
                    <a:pt x="450" y="144"/>
                  </a:lnTo>
                  <a:lnTo>
                    <a:pt x="450" y="138"/>
                  </a:lnTo>
                  <a:lnTo>
                    <a:pt x="450" y="144"/>
                  </a:lnTo>
                  <a:lnTo>
                    <a:pt x="456" y="144"/>
                  </a:lnTo>
                  <a:lnTo>
                    <a:pt x="456" y="138"/>
                  </a:lnTo>
                  <a:lnTo>
                    <a:pt x="450" y="138"/>
                  </a:lnTo>
                  <a:lnTo>
                    <a:pt x="450" y="132"/>
                  </a:lnTo>
                  <a:lnTo>
                    <a:pt x="456" y="132"/>
                  </a:lnTo>
                  <a:lnTo>
                    <a:pt x="456" y="126"/>
                  </a:lnTo>
                  <a:lnTo>
                    <a:pt x="462" y="120"/>
                  </a:lnTo>
                  <a:lnTo>
                    <a:pt x="462" y="114"/>
                  </a:lnTo>
                  <a:lnTo>
                    <a:pt x="462" y="108"/>
                  </a:lnTo>
                  <a:lnTo>
                    <a:pt x="468" y="108"/>
                  </a:lnTo>
                  <a:lnTo>
                    <a:pt x="468" y="96"/>
                  </a:lnTo>
                  <a:lnTo>
                    <a:pt x="474" y="96"/>
                  </a:lnTo>
                  <a:lnTo>
                    <a:pt x="480" y="90"/>
                  </a:lnTo>
                  <a:lnTo>
                    <a:pt x="486" y="90"/>
                  </a:lnTo>
                  <a:lnTo>
                    <a:pt x="486" y="96"/>
                  </a:lnTo>
                  <a:lnTo>
                    <a:pt x="492" y="96"/>
                  </a:lnTo>
                  <a:lnTo>
                    <a:pt x="486" y="96"/>
                  </a:lnTo>
                  <a:lnTo>
                    <a:pt x="486" y="102"/>
                  </a:lnTo>
                  <a:lnTo>
                    <a:pt x="480" y="96"/>
                  </a:lnTo>
                  <a:lnTo>
                    <a:pt x="480" y="102"/>
                  </a:lnTo>
                  <a:lnTo>
                    <a:pt x="480" y="108"/>
                  </a:lnTo>
                  <a:lnTo>
                    <a:pt x="486" y="108"/>
                  </a:lnTo>
                  <a:lnTo>
                    <a:pt x="492" y="108"/>
                  </a:lnTo>
                  <a:lnTo>
                    <a:pt x="492" y="102"/>
                  </a:lnTo>
                  <a:lnTo>
                    <a:pt x="498" y="102"/>
                  </a:lnTo>
                  <a:lnTo>
                    <a:pt x="498" y="108"/>
                  </a:lnTo>
                  <a:lnTo>
                    <a:pt x="504" y="108"/>
                  </a:lnTo>
                  <a:lnTo>
                    <a:pt x="504" y="102"/>
                  </a:lnTo>
                  <a:lnTo>
                    <a:pt x="510" y="102"/>
                  </a:lnTo>
                  <a:lnTo>
                    <a:pt x="516" y="102"/>
                  </a:lnTo>
                  <a:lnTo>
                    <a:pt x="522" y="102"/>
                  </a:lnTo>
                  <a:lnTo>
                    <a:pt x="534" y="108"/>
                  </a:lnTo>
                  <a:lnTo>
                    <a:pt x="540" y="102"/>
                  </a:lnTo>
                  <a:lnTo>
                    <a:pt x="546" y="102"/>
                  </a:lnTo>
                  <a:lnTo>
                    <a:pt x="552" y="102"/>
                  </a:lnTo>
                  <a:lnTo>
                    <a:pt x="558" y="102"/>
                  </a:lnTo>
                  <a:lnTo>
                    <a:pt x="564" y="102"/>
                  </a:lnTo>
                  <a:lnTo>
                    <a:pt x="570" y="102"/>
                  </a:lnTo>
                  <a:lnTo>
                    <a:pt x="576" y="108"/>
                  </a:lnTo>
                  <a:lnTo>
                    <a:pt x="582" y="108"/>
                  </a:lnTo>
                  <a:lnTo>
                    <a:pt x="588" y="108"/>
                  </a:lnTo>
                  <a:lnTo>
                    <a:pt x="588" y="114"/>
                  </a:lnTo>
                  <a:lnTo>
                    <a:pt x="594" y="114"/>
                  </a:lnTo>
                  <a:lnTo>
                    <a:pt x="594" y="120"/>
                  </a:lnTo>
                  <a:lnTo>
                    <a:pt x="594" y="114"/>
                  </a:lnTo>
                  <a:lnTo>
                    <a:pt x="600" y="114"/>
                  </a:lnTo>
                  <a:lnTo>
                    <a:pt x="606" y="120"/>
                  </a:lnTo>
                  <a:lnTo>
                    <a:pt x="612" y="120"/>
                  </a:lnTo>
                  <a:lnTo>
                    <a:pt x="612" y="126"/>
                  </a:lnTo>
                  <a:lnTo>
                    <a:pt x="618" y="126"/>
                  </a:lnTo>
                  <a:lnTo>
                    <a:pt x="630" y="132"/>
                  </a:lnTo>
                  <a:lnTo>
                    <a:pt x="624" y="132"/>
                  </a:lnTo>
                  <a:lnTo>
                    <a:pt x="624" y="138"/>
                  </a:lnTo>
                  <a:lnTo>
                    <a:pt x="630" y="138"/>
                  </a:lnTo>
                  <a:lnTo>
                    <a:pt x="630" y="132"/>
                  </a:lnTo>
                  <a:lnTo>
                    <a:pt x="636" y="138"/>
                  </a:lnTo>
                  <a:lnTo>
                    <a:pt x="630" y="144"/>
                  </a:lnTo>
                  <a:lnTo>
                    <a:pt x="630" y="150"/>
                  </a:lnTo>
                  <a:lnTo>
                    <a:pt x="636" y="150"/>
                  </a:lnTo>
                  <a:lnTo>
                    <a:pt x="630" y="150"/>
                  </a:lnTo>
                  <a:lnTo>
                    <a:pt x="630" y="144"/>
                  </a:lnTo>
                  <a:lnTo>
                    <a:pt x="624" y="144"/>
                  </a:lnTo>
                  <a:lnTo>
                    <a:pt x="624" y="150"/>
                  </a:lnTo>
                  <a:lnTo>
                    <a:pt x="624" y="156"/>
                  </a:lnTo>
                  <a:lnTo>
                    <a:pt x="624" y="162"/>
                  </a:lnTo>
                  <a:lnTo>
                    <a:pt x="618" y="162"/>
                  </a:lnTo>
                  <a:lnTo>
                    <a:pt x="624" y="162"/>
                  </a:lnTo>
                  <a:lnTo>
                    <a:pt x="624" y="168"/>
                  </a:lnTo>
                  <a:lnTo>
                    <a:pt x="624" y="174"/>
                  </a:lnTo>
                  <a:lnTo>
                    <a:pt x="624" y="180"/>
                  </a:lnTo>
                  <a:lnTo>
                    <a:pt x="624" y="186"/>
                  </a:lnTo>
                  <a:lnTo>
                    <a:pt x="630" y="192"/>
                  </a:lnTo>
                  <a:lnTo>
                    <a:pt x="630" y="198"/>
                  </a:lnTo>
                  <a:lnTo>
                    <a:pt x="624" y="198"/>
                  </a:lnTo>
                  <a:lnTo>
                    <a:pt x="624" y="204"/>
                  </a:lnTo>
                  <a:lnTo>
                    <a:pt x="624" y="210"/>
                  </a:lnTo>
                  <a:lnTo>
                    <a:pt x="624" y="216"/>
                  </a:lnTo>
                  <a:lnTo>
                    <a:pt x="624" y="222"/>
                  </a:lnTo>
                  <a:lnTo>
                    <a:pt x="618" y="222"/>
                  </a:lnTo>
                  <a:lnTo>
                    <a:pt x="618" y="228"/>
                  </a:lnTo>
                  <a:lnTo>
                    <a:pt x="618" y="234"/>
                  </a:lnTo>
                  <a:lnTo>
                    <a:pt x="618" y="240"/>
                  </a:lnTo>
                  <a:lnTo>
                    <a:pt x="618" y="246"/>
                  </a:lnTo>
                  <a:lnTo>
                    <a:pt x="612" y="252"/>
                  </a:lnTo>
                  <a:lnTo>
                    <a:pt x="612" y="258"/>
                  </a:lnTo>
                  <a:lnTo>
                    <a:pt x="606" y="258"/>
                  </a:lnTo>
                  <a:lnTo>
                    <a:pt x="606" y="264"/>
                  </a:lnTo>
                  <a:lnTo>
                    <a:pt x="606" y="270"/>
                  </a:lnTo>
                  <a:lnTo>
                    <a:pt x="606" y="276"/>
                  </a:lnTo>
                  <a:lnTo>
                    <a:pt x="606" y="282"/>
                  </a:lnTo>
                  <a:lnTo>
                    <a:pt x="600" y="288"/>
                  </a:lnTo>
                  <a:lnTo>
                    <a:pt x="600" y="294"/>
                  </a:lnTo>
                  <a:lnTo>
                    <a:pt x="600" y="300"/>
                  </a:lnTo>
                  <a:lnTo>
                    <a:pt x="594" y="300"/>
                  </a:lnTo>
                  <a:lnTo>
                    <a:pt x="588" y="300"/>
                  </a:lnTo>
                  <a:lnTo>
                    <a:pt x="588" y="306"/>
                  </a:lnTo>
                  <a:lnTo>
                    <a:pt x="582" y="306"/>
                  </a:lnTo>
                  <a:lnTo>
                    <a:pt x="582" y="312"/>
                  </a:lnTo>
                  <a:lnTo>
                    <a:pt x="582" y="318"/>
                  </a:lnTo>
                  <a:lnTo>
                    <a:pt x="588" y="324"/>
                  </a:lnTo>
                  <a:lnTo>
                    <a:pt x="588" y="330"/>
                  </a:lnTo>
                  <a:lnTo>
                    <a:pt x="594" y="330"/>
                  </a:lnTo>
                  <a:lnTo>
                    <a:pt x="594" y="336"/>
                  </a:lnTo>
                  <a:lnTo>
                    <a:pt x="594" y="342"/>
                  </a:lnTo>
                  <a:lnTo>
                    <a:pt x="600" y="348"/>
                  </a:lnTo>
                  <a:lnTo>
                    <a:pt x="600" y="354"/>
                  </a:lnTo>
                  <a:lnTo>
                    <a:pt x="600" y="348"/>
                  </a:lnTo>
                  <a:lnTo>
                    <a:pt x="606" y="354"/>
                  </a:lnTo>
                  <a:lnTo>
                    <a:pt x="612" y="360"/>
                  </a:lnTo>
                  <a:lnTo>
                    <a:pt x="618" y="360"/>
                  </a:lnTo>
                  <a:lnTo>
                    <a:pt x="618" y="366"/>
                  </a:lnTo>
                  <a:lnTo>
                    <a:pt x="624" y="366"/>
                  </a:lnTo>
                  <a:lnTo>
                    <a:pt x="624" y="372"/>
                  </a:lnTo>
                  <a:lnTo>
                    <a:pt x="618" y="378"/>
                  </a:lnTo>
                  <a:lnTo>
                    <a:pt x="618" y="384"/>
                  </a:lnTo>
                  <a:lnTo>
                    <a:pt x="624" y="390"/>
                  </a:lnTo>
                  <a:lnTo>
                    <a:pt x="624" y="396"/>
                  </a:lnTo>
                  <a:lnTo>
                    <a:pt x="630" y="396"/>
                  </a:lnTo>
                  <a:lnTo>
                    <a:pt x="630" y="402"/>
                  </a:lnTo>
                  <a:lnTo>
                    <a:pt x="630" y="408"/>
                  </a:lnTo>
                  <a:lnTo>
                    <a:pt x="630" y="414"/>
                  </a:lnTo>
                  <a:lnTo>
                    <a:pt x="630" y="420"/>
                  </a:lnTo>
                  <a:lnTo>
                    <a:pt x="630" y="426"/>
                  </a:lnTo>
                  <a:lnTo>
                    <a:pt x="624" y="426"/>
                  </a:lnTo>
                  <a:lnTo>
                    <a:pt x="624" y="432"/>
                  </a:lnTo>
                  <a:lnTo>
                    <a:pt x="624" y="438"/>
                  </a:lnTo>
                  <a:lnTo>
                    <a:pt x="624" y="444"/>
                  </a:lnTo>
                  <a:lnTo>
                    <a:pt x="624" y="450"/>
                  </a:lnTo>
                  <a:lnTo>
                    <a:pt x="624" y="456"/>
                  </a:lnTo>
                  <a:lnTo>
                    <a:pt x="624" y="462"/>
                  </a:lnTo>
                  <a:lnTo>
                    <a:pt x="624" y="468"/>
                  </a:lnTo>
                  <a:lnTo>
                    <a:pt x="618" y="468"/>
                  </a:lnTo>
                  <a:lnTo>
                    <a:pt x="618" y="474"/>
                  </a:lnTo>
                  <a:lnTo>
                    <a:pt x="612" y="480"/>
                  </a:lnTo>
                  <a:lnTo>
                    <a:pt x="606" y="480"/>
                  </a:lnTo>
                  <a:lnTo>
                    <a:pt x="612" y="480"/>
                  </a:lnTo>
                  <a:lnTo>
                    <a:pt x="612" y="486"/>
                  </a:lnTo>
                  <a:lnTo>
                    <a:pt x="618" y="492"/>
                  </a:lnTo>
                  <a:lnTo>
                    <a:pt x="618" y="498"/>
                  </a:lnTo>
                  <a:lnTo>
                    <a:pt x="618" y="504"/>
                  </a:lnTo>
                  <a:lnTo>
                    <a:pt x="618" y="510"/>
                  </a:lnTo>
                  <a:lnTo>
                    <a:pt x="612" y="516"/>
                  </a:lnTo>
                  <a:lnTo>
                    <a:pt x="612" y="522"/>
                  </a:lnTo>
                  <a:lnTo>
                    <a:pt x="618" y="522"/>
                  </a:lnTo>
                  <a:lnTo>
                    <a:pt x="618" y="528"/>
                  </a:lnTo>
                  <a:lnTo>
                    <a:pt x="618" y="534"/>
                  </a:lnTo>
                  <a:lnTo>
                    <a:pt x="624" y="540"/>
                  </a:lnTo>
                  <a:lnTo>
                    <a:pt x="624" y="546"/>
                  </a:lnTo>
                  <a:lnTo>
                    <a:pt x="624" y="552"/>
                  </a:lnTo>
                  <a:lnTo>
                    <a:pt x="618" y="558"/>
                  </a:lnTo>
                  <a:lnTo>
                    <a:pt x="618" y="564"/>
                  </a:lnTo>
                  <a:lnTo>
                    <a:pt x="612" y="570"/>
                  </a:lnTo>
                  <a:lnTo>
                    <a:pt x="618" y="570"/>
                  </a:lnTo>
                  <a:lnTo>
                    <a:pt x="618" y="576"/>
                  </a:lnTo>
                  <a:lnTo>
                    <a:pt x="618" y="582"/>
                  </a:lnTo>
                  <a:lnTo>
                    <a:pt x="624" y="582"/>
                  </a:lnTo>
                  <a:lnTo>
                    <a:pt x="624" y="588"/>
                  </a:lnTo>
                  <a:lnTo>
                    <a:pt x="624" y="594"/>
                  </a:lnTo>
                  <a:lnTo>
                    <a:pt x="618" y="594"/>
                  </a:lnTo>
                  <a:lnTo>
                    <a:pt x="612" y="594"/>
                  </a:lnTo>
                  <a:lnTo>
                    <a:pt x="618" y="594"/>
                  </a:lnTo>
                  <a:lnTo>
                    <a:pt x="618" y="600"/>
                  </a:lnTo>
                  <a:lnTo>
                    <a:pt x="618" y="606"/>
                  </a:lnTo>
                  <a:lnTo>
                    <a:pt x="618" y="612"/>
                  </a:lnTo>
                  <a:lnTo>
                    <a:pt x="618" y="618"/>
                  </a:lnTo>
                  <a:lnTo>
                    <a:pt x="612" y="624"/>
                  </a:lnTo>
                  <a:lnTo>
                    <a:pt x="612" y="630"/>
                  </a:lnTo>
                  <a:lnTo>
                    <a:pt x="612" y="636"/>
                  </a:lnTo>
                  <a:lnTo>
                    <a:pt x="612" y="642"/>
                  </a:lnTo>
                  <a:lnTo>
                    <a:pt x="618" y="642"/>
                  </a:lnTo>
                  <a:lnTo>
                    <a:pt x="618" y="648"/>
                  </a:lnTo>
                  <a:lnTo>
                    <a:pt x="618" y="660"/>
                  </a:lnTo>
                  <a:lnTo>
                    <a:pt x="624" y="666"/>
                  </a:lnTo>
                  <a:lnTo>
                    <a:pt x="624" y="672"/>
                  </a:lnTo>
                  <a:lnTo>
                    <a:pt x="630" y="672"/>
                  </a:lnTo>
                  <a:lnTo>
                    <a:pt x="630" y="678"/>
                  </a:lnTo>
                  <a:lnTo>
                    <a:pt x="636" y="678"/>
                  </a:lnTo>
                  <a:lnTo>
                    <a:pt x="642" y="684"/>
                  </a:lnTo>
                  <a:lnTo>
                    <a:pt x="648" y="690"/>
                  </a:lnTo>
                  <a:lnTo>
                    <a:pt x="654" y="696"/>
                  </a:lnTo>
                  <a:lnTo>
                    <a:pt x="654" y="702"/>
                  </a:lnTo>
                  <a:lnTo>
                    <a:pt x="660" y="702"/>
                  </a:lnTo>
                  <a:lnTo>
                    <a:pt x="660" y="708"/>
                  </a:lnTo>
                  <a:lnTo>
                    <a:pt x="666" y="708"/>
                  </a:lnTo>
                  <a:lnTo>
                    <a:pt x="666" y="714"/>
                  </a:lnTo>
                  <a:lnTo>
                    <a:pt x="666" y="720"/>
                  </a:lnTo>
                  <a:lnTo>
                    <a:pt x="666" y="726"/>
                  </a:lnTo>
                  <a:lnTo>
                    <a:pt x="660" y="720"/>
                  </a:lnTo>
                  <a:lnTo>
                    <a:pt x="666" y="714"/>
                  </a:lnTo>
                  <a:lnTo>
                    <a:pt x="660" y="714"/>
                  </a:lnTo>
                  <a:lnTo>
                    <a:pt x="660" y="720"/>
                  </a:lnTo>
                  <a:lnTo>
                    <a:pt x="654" y="726"/>
                  </a:lnTo>
                  <a:lnTo>
                    <a:pt x="654" y="732"/>
                  </a:lnTo>
                  <a:lnTo>
                    <a:pt x="648" y="738"/>
                  </a:lnTo>
                  <a:lnTo>
                    <a:pt x="648" y="744"/>
                  </a:lnTo>
                  <a:lnTo>
                    <a:pt x="642" y="744"/>
                  </a:lnTo>
                  <a:lnTo>
                    <a:pt x="642" y="750"/>
                  </a:lnTo>
                  <a:lnTo>
                    <a:pt x="642" y="756"/>
                  </a:lnTo>
                  <a:lnTo>
                    <a:pt x="642" y="762"/>
                  </a:lnTo>
                  <a:lnTo>
                    <a:pt x="636" y="762"/>
                  </a:lnTo>
                  <a:lnTo>
                    <a:pt x="642" y="768"/>
                  </a:lnTo>
                  <a:lnTo>
                    <a:pt x="642" y="774"/>
                  </a:lnTo>
                  <a:lnTo>
                    <a:pt x="648" y="780"/>
                  </a:lnTo>
                  <a:lnTo>
                    <a:pt x="648" y="786"/>
                  </a:lnTo>
                  <a:lnTo>
                    <a:pt x="648" y="792"/>
                  </a:lnTo>
                  <a:lnTo>
                    <a:pt x="642" y="798"/>
                  </a:lnTo>
                  <a:lnTo>
                    <a:pt x="642" y="804"/>
                  </a:lnTo>
                  <a:lnTo>
                    <a:pt x="642" y="810"/>
                  </a:lnTo>
                  <a:lnTo>
                    <a:pt x="636" y="810"/>
                  </a:lnTo>
                  <a:lnTo>
                    <a:pt x="630" y="810"/>
                  </a:lnTo>
                  <a:lnTo>
                    <a:pt x="630" y="816"/>
                  </a:lnTo>
                  <a:lnTo>
                    <a:pt x="630" y="810"/>
                  </a:lnTo>
                  <a:lnTo>
                    <a:pt x="630" y="816"/>
                  </a:lnTo>
                  <a:lnTo>
                    <a:pt x="630" y="822"/>
                  </a:lnTo>
                  <a:lnTo>
                    <a:pt x="624" y="822"/>
                  </a:lnTo>
                  <a:lnTo>
                    <a:pt x="618" y="822"/>
                  </a:lnTo>
                  <a:lnTo>
                    <a:pt x="618" y="828"/>
                  </a:lnTo>
                  <a:lnTo>
                    <a:pt x="618" y="834"/>
                  </a:lnTo>
                  <a:lnTo>
                    <a:pt x="612" y="840"/>
                  </a:lnTo>
                  <a:lnTo>
                    <a:pt x="612" y="846"/>
                  </a:lnTo>
                  <a:lnTo>
                    <a:pt x="612" y="852"/>
                  </a:lnTo>
                  <a:lnTo>
                    <a:pt x="612" y="858"/>
                  </a:lnTo>
                  <a:lnTo>
                    <a:pt x="606" y="858"/>
                  </a:lnTo>
                  <a:lnTo>
                    <a:pt x="600" y="858"/>
                  </a:lnTo>
                  <a:lnTo>
                    <a:pt x="600" y="864"/>
                  </a:lnTo>
                  <a:lnTo>
                    <a:pt x="600" y="870"/>
                  </a:lnTo>
                  <a:lnTo>
                    <a:pt x="600" y="876"/>
                  </a:lnTo>
                  <a:lnTo>
                    <a:pt x="594" y="876"/>
                  </a:lnTo>
                  <a:lnTo>
                    <a:pt x="594" y="882"/>
                  </a:lnTo>
                  <a:lnTo>
                    <a:pt x="588" y="882"/>
                  </a:lnTo>
                  <a:lnTo>
                    <a:pt x="588" y="876"/>
                  </a:lnTo>
                  <a:lnTo>
                    <a:pt x="588" y="882"/>
                  </a:lnTo>
                  <a:lnTo>
                    <a:pt x="594" y="882"/>
                  </a:lnTo>
                  <a:lnTo>
                    <a:pt x="594" y="888"/>
                  </a:lnTo>
                  <a:lnTo>
                    <a:pt x="588" y="888"/>
                  </a:lnTo>
                  <a:lnTo>
                    <a:pt x="588" y="894"/>
                  </a:lnTo>
                  <a:lnTo>
                    <a:pt x="588" y="900"/>
                  </a:lnTo>
                  <a:lnTo>
                    <a:pt x="582" y="900"/>
                  </a:lnTo>
                  <a:lnTo>
                    <a:pt x="582" y="906"/>
                  </a:lnTo>
                  <a:lnTo>
                    <a:pt x="576" y="906"/>
                  </a:lnTo>
                  <a:lnTo>
                    <a:pt x="582" y="906"/>
                  </a:lnTo>
                  <a:lnTo>
                    <a:pt x="576" y="906"/>
                  </a:lnTo>
                  <a:lnTo>
                    <a:pt x="576" y="912"/>
                  </a:lnTo>
                  <a:lnTo>
                    <a:pt x="576" y="906"/>
                  </a:lnTo>
                  <a:lnTo>
                    <a:pt x="576" y="900"/>
                  </a:lnTo>
                  <a:lnTo>
                    <a:pt x="570" y="900"/>
                  </a:lnTo>
                  <a:lnTo>
                    <a:pt x="570" y="906"/>
                  </a:lnTo>
                  <a:lnTo>
                    <a:pt x="570" y="900"/>
                  </a:lnTo>
                  <a:lnTo>
                    <a:pt x="564" y="900"/>
                  </a:lnTo>
                  <a:lnTo>
                    <a:pt x="558" y="900"/>
                  </a:lnTo>
                  <a:lnTo>
                    <a:pt x="564" y="900"/>
                  </a:lnTo>
                  <a:lnTo>
                    <a:pt x="564" y="906"/>
                  </a:lnTo>
                  <a:lnTo>
                    <a:pt x="564" y="900"/>
                  </a:lnTo>
                  <a:lnTo>
                    <a:pt x="564" y="906"/>
                  </a:lnTo>
                  <a:lnTo>
                    <a:pt x="570" y="906"/>
                  </a:lnTo>
                  <a:lnTo>
                    <a:pt x="564" y="906"/>
                  </a:lnTo>
                  <a:lnTo>
                    <a:pt x="564" y="912"/>
                  </a:lnTo>
                  <a:lnTo>
                    <a:pt x="570" y="906"/>
                  </a:lnTo>
                  <a:lnTo>
                    <a:pt x="570" y="912"/>
                  </a:lnTo>
                  <a:lnTo>
                    <a:pt x="570" y="918"/>
                  </a:lnTo>
                  <a:lnTo>
                    <a:pt x="570" y="912"/>
                  </a:lnTo>
                  <a:lnTo>
                    <a:pt x="570" y="918"/>
                  </a:lnTo>
                  <a:lnTo>
                    <a:pt x="570" y="924"/>
                  </a:lnTo>
                  <a:lnTo>
                    <a:pt x="576" y="924"/>
                  </a:lnTo>
                  <a:lnTo>
                    <a:pt x="576" y="930"/>
                  </a:lnTo>
                  <a:lnTo>
                    <a:pt x="570" y="930"/>
                  </a:lnTo>
                  <a:lnTo>
                    <a:pt x="576" y="930"/>
                  </a:lnTo>
                  <a:lnTo>
                    <a:pt x="570" y="930"/>
                  </a:lnTo>
                  <a:lnTo>
                    <a:pt x="570" y="936"/>
                  </a:lnTo>
                  <a:lnTo>
                    <a:pt x="576" y="936"/>
                  </a:lnTo>
                  <a:lnTo>
                    <a:pt x="570" y="936"/>
                  </a:lnTo>
                  <a:lnTo>
                    <a:pt x="564" y="936"/>
                  </a:lnTo>
                  <a:lnTo>
                    <a:pt x="564" y="942"/>
                  </a:lnTo>
                  <a:lnTo>
                    <a:pt x="564" y="936"/>
                  </a:lnTo>
                  <a:lnTo>
                    <a:pt x="558" y="936"/>
                  </a:lnTo>
                  <a:lnTo>
                    <a:pt x="564" y="936"/>
                  </a:lnTo>
                  <a:lnTo>
                    <a:pt x="558" y="936"/>
                  </a:lnTo>
                  <a:lnTo>
                    <a:pt x="558" y="942"/>
                  </a:lnTo>
                  <a:lnTo>
                    <a:pt x="552" y="942"/>
                  </a:lnTo>
                  <a:lnTo>
                    <a:pt x="552" y="936"/>
                  </a:lnTo>
                  <a:lnTo>
                    <a:pt x="546" y="936"/>
                  </a:lnTo>
                  <a:lnTo>
                    <a:pt x="552" y="936"/>
                  </a:lnTo>
                  <a:lnTo>
                    <a:pt x="552" y="942"/>
                  </a:lnTo>
                  <a:lnTo>
                    <a:pt x="546" y="942"/>
                  </a:lnTo>
                  <a:lnTo>
                    <a:pt x="552" y="942"/>
                  </a:lnTo>
                  <a:lnTo>
                    <a:pt x="546" y="942"/>
                  </a:lnTo>
                  <a:lnTo>
                    <a:pt x="546" y="948"/>
                  </a:lnTo>
                  <a:lnTo>
                    <a:pt x="540" y="948"/>
                  </a:lnTo>
                  <a:lnTo>
                    <a:pt x="546" y="948"/>
                  </a:lnTo>
                  <a:lnTo>
                    <a:pt x="540" y="948"/>
                  </a:lnTo>
                  <a:lnTo>
                    <a:pt x="534" y="948"/>
                  </a:lnTo>
                  <a:lnTo>
                    <a:pt x="534" y="954"/>
                  </a:lnTo>
                  <a:lnTo>
                    <a:pt x="528" y="954"/>
                  </a:lnTo>
                  <a:lnTo>
                    <a:pt x="528" y="948"/>
                  </a:lnTo>
                  <a:lnTo>
                    <a:pt x="522" y="948"/>
                  </a:lnTo>
                  <a:lnTo>
                    <a:pt x="516" y="942"/>
                  </a:lnTo>
                  <a:lnTo>
                    <a:pt x="516" y="936"/>
                  </a:lnTo>
                  <a:lnTo>
                    <a:pt x="522" y="936"/>
                  </a:lnTo>
                  <a:lnTo>
                    <a:pt x="522" y="930"/>
                  </a:lnTo>
                  <a:lnTo>
                    <a:pt x="522" y="936"/>
                  </a:lnTo>
                  <a:lnTo>
                    <a:pt x="522" y="930"/>
                  </a:lnTo>
                  <a:lnTo>
                    <a:pt x="528" y="930"/>
                  </a:lnTo>
                  <a:lnTo>
                    <a:pt x="534" y="930"/>
                  </a:lnTo>
                  <a:lnTo>
                    <a:pt x="534" y="924"/>
                  </a:lnTo>
                  <a:lnTo>
                    <a:pt x="528" y="924"/>
                  </a:lnTo>
                  <a:lnTo>
                    <a:pt x="522" y="924"/>
                  </a:lnTo>
                  <a:lnTo>
                    <a:pt x="528" y="924"/>
                  </a:lnTo>
                  <a:lnTo>
                    <a:pt x="528" y="930"/>
                  </a:lnTo>
                  <a:lnTo>
                    <a:pt x="522" y="930"/>
                  </a:lnTo>
                  <a:lnTo>
                    <a:pt x="516" y="930"/>
                  </a:lnTo>
                  <a:lnTo>
                    <a:pt x="510" y="930"/>
                  </a:lnTo>
                  <a:lnTo>
                    <a:pt x="510" y="924"/>
                  </a:lnTo>
                  <a:lnTo>
                    <a:pt x="504" y="924"/>
                  </a:lnTo>
                  <a:lnTo>
                    <a:pt x="504" y="918"/>
                  </a:lnTo>
                  <a:lnTo>
                    <a:pt x="498" y="918"/>
                  </a:lnTo>
                  <a:lnTo>
                    <a:pt x="498" y="912"/>
                  </a:lnTo>
                  <a:lnTo>
                    <a:pt x="492" y="912"/>
                  </a:lnTo>
                  <a:lnTo>
                    <a:pt x="498" y="918"/>
                  </a:lnTo>
                  <a:lnTo>
                    <a:pt x="492" y="918"/>
                  </a:lnTo>
                  <a:lnTo>
                    <a:pt x="486" y="918"/>
                  </a:lnTo>
                  <a:lnTo>
                    <a:pt x="480" y="912"/>
                  </a:lnTo>
                  <a:lnTo>
                    <a:pt x="474" y="912"/>
                  </a:lnTo>
                  <a:lnTo>
                    <a:pt x="468" y="912"/>
                  </a:lnTo>
                  <a:lnTo>
                    <a:pt x="462" y="906"/>
                  </a:lnTo>
                  <a:lnTo>
                    <a:pt x="456" y="906"/>
                  </a:lnTo>
                  <a:lnTo>
                    <a:pt x="456" y="912"/>
                  </a:lnTo>
                  <a:lnTo>
                    <a:pt x="456" y="918"/>
                  </a:lnTo>
                  <a:lnTo>
                    <a:pt x="450" y="918"/>
                  </a:lnTo>
                  <a:lnTo>
                    <a:pt x="456" y="924"/>
                  </a:lnTo>
                  <a:lnTo>
                    <a:pt x="456" y="918"/>
                  </a:lnTo>
                  <a:lnTo>
                    <a:pt x="462" y="918"/>
                  </a:lnTo>
                  <a:lnTo>
                    <a:pt x="462" y="924"/>
                  </a:lnTo>
                  <a:lnTo>
                    <a:pt x="462" y="930"/>
                  </a:lnTo>
                  <a:lnTo>
                    <a:pt x="462" y="936"/>
                  </a:lnTo>
                  <a:lnTo>
                    <a:pt x="462" y="942"/>
                  </a:lnTo>
                  <a:lnTo>
                    <a:pt x="468" y="948"/>
                  </a:lnTo>
                  <a:lnTo>
                    <a:pt x="474" y="948"/>
                  </a:lnTo>
                  <a:lnTo>
                    <a:pt x="474" y="954"/>
                  </a:lnTo>
                  <a:lnTo>
                    <a:pt x="480" y="954"/>
                  </a:lnTo>
                  <a:lnTo>
                    <a:pt x="486" y="954"/>
                  </a:lnTo>
                  <a:lnTo>
                    <a:pt x="492" y="960"/>
                  </a:lnTo>
                  <a:lnTo>
                    <a:pt x="498" y="966"/>
                  </a:lnTo>
                  <a:lnTo>
                    <a:pt x="504" y="966"/>
                  </a:lnTo>
                  <a:lnTo>
                    <a:pt x="510" y="966"/>
                  </a:lnTo>
                  <a:lnTo>
                    <a:pt x="516" y="972"/>
                  </a:lnTo>
                  <a:lnTo>
                    <a:pt x="522" y="972"/>
                  </a:lnTo>
                  <a:lnTo>
                    <a:pt x="528" y="972"/>
                  </a:lnTo>
                  <a:lnTo>
                    <a:pt x="534" y="972"/>
                  </a:lnTo>
                  <a:lnTo>
                    <a:pt x="540" y="972"/>
                  </a:lnTo>
                  <a:lnTo>
                    <a:pt x="546" y="966"/>
                  </a:lnTo>
                  <a:lnTo>
                    <a:pt x="546" y="972"/>
                  </a:lnTo>
                  <a:lnTo>
                    <a:pt x="552" y="972"/>
                  </a:lnTo>
                  <a:lnTo>
                    <a:pt x="558" y="972"/>
                  </a:lnTo>
                  <a:lnTo>
                    <a:pt x="564" y="972"/>
                  </a:lnTo>
                  <a:lnTo>
                    <a:pt x="570" y="972"/>
                  </a:lnTo>
                  <a:lnTo>
                    <a:pt x="576" y="972"/>
                  </a:lnTo>
                  <a:lnTo>
                    <a:pt x="576" y="978"/>
                  </a:lnTo>
                  <a:lnTo>
                    <a:pt x="582" y="978"/>
                  </a:lnTo>
                  <a:lnTo>
                    <a:pt x="582" y="984"/>
                  </a:lnTo>
                  <a:lnTo>
                    <a:pt x="588" y="984"/>
                  </a:lnTo>
                  <a:lnTo>
                    <a:pt x="588" y="978"/>
                  </a:lnTo>
                  <a:lnTo>
                    <a:pt x="594" y="984"/>
                  </a:lnTo>
                  <a:lnTo>
                    <a:pt x="600" y="984"/>
                  </a:lnTo>
                  <a:lnTo>
                    <a:pt x="600" y="978"/>
                  </a:lnTo>
                  <a:lnTo>
                    <a:pt x="606" y="978"/>
                  </a:lnTo>
                  <a:lnTo>
                    <a:pt x="606" y="972"/>
                  </a:lnTo>
                  <a:lnTo>
                    <a:pt x="612" y="972"/>
                  </a:lnTo>
                  <a:lnTo>
                    <a:pt x="612" y="966"/>
                  </a:lnTo>
                  <a:lnTo>
                    <a:pt x="612" y="972"/>
                  </a:lnTo>
                  <a:lnTo>
                    <a:pt x="612" y="966"/>
                  </a:lnTo>
                  <a:lnTo>
                    <a:pt x="612" y="960"/>
                  </a:lnTo>
                  <a:lnTo>
                    <a:pt x="606" y="960"/>
                  </a:lnTo>
                  <a:lnTo>
                    <a:pt x="606" y="954"/>
                  </a:lnTo>
                  <a:lnTo>
                    <a:pt x="612" y="954"/>
                  </a:lnTo>
                  <a:lnTo>
                    <a:pt x="606" y="954"/>
                  </a:lnTo>
                  <a:lnTo>
                    <a:pt x="606" y="948"/>
                  </a:lnTo>
                  <a:lnTo>
                    <a:pt x="612" y="948"/>
                  </a:lnTo>
                  <a:lnTo>
                    <a:pt x="612" y="942"/>
                  </a:lnTo>
                  <a:lnTo>
                    <a:pt x="618" y="942"/>
                  </a:lnTo>
                  <a:lnTo>
                    <a:pt x="624" y="936"/>
                  </a:lnTo>
                  <a:lnTo>
                    <a:pt x="630" y="936"/>
                  </a:lnTo>
                  <a:lnTo>
                    <a:pt x="636" y="936"/>
                  </a:lnTo>
                  <a:lnTo>
                    <a:pt x="636" y="930"/>
                  </a:lnTo>
                  <a:lnTo>
                    <a:pt x="636" y="924"/>
                  </a:lnTo>
                  <a:lnTo>
                    <a:pt x="636" y="930"/>
                  </a:lnTo>
                  <a:lnTo>
                    <a:pt x="642" y="930"/>
                  </a:lnTo>
                  <a:lnTo>
                    <a:pt x="636" y="924"/>
                  </a:lnTo>
                  <a:lnTo>
                    <a:pt x="642" y="924"/>
                  </a:lnTo>
                  <a:lnTo>
                    <a:pt x="648" y="924"/>
                  </a:lnTo>
                  <a:lnTo>
                    <a:pt x="648" y="918"/>
                  </a:lnTo>
                  <a:lnTo>
                    <a:pt x="648" y="924"/>
                  </a:lnTo>
                  <a:lnTo>
                    <a:pt x="648" y="918"/>
                  </a:lnTo>
                  <a:lnTo>
                    <a:pt x="654" y="918"/>
                  </a:lnTo>
                  <a:lnTo>
                    <a:pt x="660" y="912"/>
                  </a:lnTo>
                  <a:lnTo>
                    <a:pt x="666" y="912"/>
                  </a:lnTo>
                  <a:lnTo>
                    <a:pt x="666" y="906"/>
                  </a:lnTo>
                  <a:lnTo>
                    <a:pt x="666" y="912"/>
                  </a:lnTo>
                  <a:lnTo>
                    <a:pt x="666" y="906"/>
                  </a:lnTo>
                  <a:lnTo>
                    <a:pt x="666" y="900"/>
                  </a:lnTo>
                  <a:lnTo>
                    <a:pt x="672" y="900"/>
                  </a:lnTo>
                  <a:lnTo>
                    <a:pt x="678" y="894"/>
                  </a:lnTo>
                  <a:lnTo>
                    <a:pt x="678" y="888"/>
                  </a:lnTo>
                  <a:lnTo>
                    <a:pt x="678" y="882"/>
                  </a:lnTo>
                  <a:lnTo>
                    <a:pt x="678" y="876"/>
                  </a:lnTo>
                  <a:lnTo>
                    <a:pt x="684" y="870"/>
                  </a:lnTo>
                  <a:lnTo>
                    <a:pt x="678" y="870"/>
                  </a:lnTo>
                  <a:lnTo>
                    <a:pt x="678" y="864"/>
                  </a:lnTo>
                  <a:lnTo>
                    <a:pt x="678" y="858"/>
                  </a:lnTo>
                  <a:lnTo>
                    <a:pt x="684" y="858"/>
                  </a:lnTo>
                  <a:lnTo>
                    <a:pt x="684" y="852"/>
                  </a:lnTo>
                  <a:lnTo>
                    <a:pt x="684" y="846"/>
                  </a:lnTo>
                  <a:lnTo>
                    <a:pt x="690" y="846"/>
                  </a:lnTo>
                  <a:lnTo>
                    <a:pt x="690" y="840"/>
                  </a:lnTo>
                  <a:lnTo>
                    <a:pt x="696" y="834"/>
                  </a:lnTo>
                  <a:lnTo>
                    <a:pt x="702" y="834"/>
                  </a:lnTo>
                  <a:lnTo>
                    <a:pt x="702" y="828"/>
                  </a:lnTo>
                  <a:lnTo>
                    <a:pt x="708" y="828"/>
                  </a:lnTo>
                  <a:lnTo>
                    <a:pt x="708" y="822"/>
                  </a:lnTo>
                  <a:lnTo>
                    <a:pt x="714" y="816"/>
                  </a:lnTo>
                  <a:lnTo>
                    <a:pt x="720" y="810"/>
                  </a:lnTo>
                  <a:lnTo>
                    <a:pt x="720" y="804"/>
                  </a:lnTo>
                  <a:lnTo>
                    <a:pt x="720" y="798"/>
                  </a:lnTo>
                  <a:lnTo>
                    <a:pt x="720" y="792"/>
                  </a:lnTo>
                  <a:lnTo>
                    <a:pt x="720" y="786"/>
                  </a:lnTo>
                  <a:lnTo>
                    <a:pt x="720" y="780"/>
                  </a:lnTo>
                  <a:lnTo>
                    <a:pt x="720" y="774"/>
                  </a:lnTo>
                  <a:lnTo>
                    <a:pt x="720" y="768"/>
                  </a:lnTo>
                  <a:lnTo>
                    <a:pt x="720" y="762"/>
                  </a:lnTo>
                  <a:lnTo>
                    <a:pt x="714" y="762"/>
                  </a:lnTo>
                  <a:lnTo>
                    <a:pt x="714" y="756"/>
                  </a:lnTo>
                  <a:lnTo>
                    <a:pt x="714" y="750"/>
                  </a:lnTo>
                  <a:lnTo>
                    <a:pt x="714" y="744"/>
                  </a:lnTo>
                  <a:lnTo>
                    <a:pt x="708" y="744"/>
                  </a:lnTo>
                  <a:lnTo>
                    <a:pt x="708" y="738"/>
                  </a:lnTo>
                  <a:lnTo>
                    <a:pt x="702" y="738"/>
                  </a:lnTo>
                  <a:lnTo>
                    <a:pt x="702" y="732"/>
                  </a:lnTo>
                  <a:lnTo>
                    <a:pt x="696" y="732"/>
                  </a:lnTo>
                  <a:lnTo>
                    <a:pt x="696" y="726"/>
                  </a:lnTo>
                  <a:lnTo>
                    <a:pt x="702" y="720"/>
                  </a:lnTo>
                  <a:lnTo>
                    <a:pt x="702" y="714"/>
                  </a:lnTo>
                  <a:lnTo>
                    <a:pt x="702" y="708"/>
                  </a:lnTo>
                  <a:lnTo>
                    <a:pt x="702" y="702"/>
                  </a:lnTo>
                  <a:lnTo>
                    <a:pt x="702" y="696"/>
                  </a:lnTo>
                  <a:lnTo>
                    <a:pt x="702" y="690"/>
                  </a:lnTo>
                  <a:lnTo>
                    <a:pt x="708" y="684"/>
                  </a:lnTo>
                  <a:lnTo>
                    <a:pt x="708" y="678"/>
                  </a:lnTo>
                  <a:lnTo>
                    <a:pt x="714" y="678"/>
                  </a:lnTo>
                  <a:lnTo>
                    <a:pt x="720" y="672"/>
                  </a:lnTo>
                  <a:lnTo>
                    <a:pt x="726" y="672"/>
                  </a:lnTo>
                  <a:lnTo>
                    <a:pt x="732" y="666"/>
                  </a:lnTo>
                  <a:lnTo>
                    <a:pt x="738" y="666"/>
                  </a:lnTo>
                  <a:lnTo>
                    <a:pt x="744" y="666"/>
                  </a:lnTo>
                  <a:lnTo>
                    <a:pt x="744" y="660"/>
                  </a:lnTo>
                  <a:lnTo>
                    <a:pt x="750" y="660"/>
                  </a:lnTo>
                  <a:lnTo>
                    <a:pt x="756" y="660"/>
                  </a:lnTo>
                  <a:lnTo>
                    <a:pt x="762" y="660"/>
                  </a:lnTo>
                  <a:lnTo>
                    <a:pt x="762" y="654"/>
                  </a:lnTo>
                  <a:lnTo>
                    <a:pt x="768" y="654"/>
                  </a:lnTo>
                  <a:lnTo>
                    <a:pt x="774" y="654"/>
                  </a:lnTo>
                  <a:lnTo>
                    <a:pt x="780" y="648"/>
                  </a:lnTo>
                  <a:lnTo>
                    <a:pt x="786" y="648"/>
                  </a:lnTo>
                  <a:lnTo>
                    <a:pt x="792" y="648"/>
                  </a:lnTo>
                  <a:lnTo>
                    <a:pt x="798" y="648"/>
                  </a:lnTo>
                  <a:lnTo>
                    <a:pt x="804" y="654"/>
                  </a:lnTo>
                  <a:lnTo>
                    <a:pt x="804" y="660"/>
                  </a:lnTo>
                  <a:lnTo>
                    <a:pt x="804" y="666"/>
                  </a:lnTo>
                  <a:lnTo>
                    <a:pt x="804" y="672"/>
                  </a:lnTo>
                  <a:lnTo>
                    <a:pt x="804" y="678"/>
                  </a:lnTo>
                  <a:lnTo>
                    <a:pt x="804" y="684"/>
                  </a:lnTo>
                  <a:lnTo>
                    <a:pt x="810" y="684"/>
                  </a:lnTo>
                  <a:lnTo>
                    <a:pt x="810" y="690"/>
                  </a:lnTo>
                  <a:lnTo>
                    <a:pt x="816" y="690"/>
                  </a:lnTo>
                  <a:lnTo>
                    <a:pt x="816" y="696"/>
                  </a:lnTo>
                  <a:lnTo>
                    <a:pt x="822" y="696"/>
                  </a:lnTo>
                  <a:lnTo>
                    <a:pt x="822" y="702"/>
                  </a:lnTo>
                  <a:lnTo>
                    <a:pt x="822" y="708"/>
                  </a:lnTo>
                  <a:lnTo>
                    <a:pt x="822" y="702"/>
                  </a:lnTo>
                  <a:lnTo>
                    <a:pt x="828" y="702"/>
                  </a:lnTo>
                  <a:lnTo>
                    <a:pt x="828" y="708"/>
                  </a:lnTo>
                  <a:lnTo>
                    <a:pt x="834" y="708"/>
                  </a:lnTo>
                  <a:lnTo>
                    <a:pt x="834" y="714"/>
                  </a:lnTo>
                  <a:lnTo>
                    <a:pt x="828" y="714"/>
                  </a:lnTo>
                  <a:lnTo>
                    <a:pt x="828" y="720"/>
                  </a:lnTo>
                  <a:lnTo>
                    <a:pt x="834" y="726"/>
                  </a:lnTo>
                  <a:lnTo>
                    <a:pt x="828" y="732"/>
                  </a:lnTo>
                  <a:lnTo>
                    <a:pt x="828" y="738"/>
                  </a:lnTo>
                  <a:lnTo>
                    <a:pt x="828" y="744"/>
                  </a:lnTo>
                  <a:lnTo>
                    <a:pt x="834" y="744"/>
                  </a:lnTo>
                  <a:lnTo>
                    <a:pt x="834" y="750"/>
                  </a:lnTo>
                  <a:lnTo>
                    <a:pt x="834" y="756"/>
                  </a:lnTo>
                  <a:lnTo>
                    <a:pt x="828" y="756"/>
                  </a:lnTo>
                  <a:lnTo>
                    <a:pt x="828" y="762"/>
                  </a:lnTo>
                  <a:lnTo>
                    <a:pt x="828" y="768"/>
                  </a:lnTo>
                  <a:lnTo>
                    <a:pt x="828" y="774"/>
                  </a:lnTo>
                  <a:lnTo>
                    <a:pt x="828" y="780"/>
                  </a:lnTo>
                  <a:lnTo>
                    <a:pt x="828" y="786"/>
                  </a:lnTo>
                  <a:lnTo>
                    <a:pt x="834" y="786"/>
                  </a:lnTo>
                  <a:lnTo>
                    <a:pt x="834" y="792"/>
                  </a:lnTo>
                  <a:lnTo>
                    <a:pt x="828" y="798"/>
                  </a:lnTo>
                  <a:lnTo>
                    <a:pt x="822" y="798"/>
                  </a:lnTo>
                  <a:lnTo>
                    <a:pt x="822" y="804"/>
                  </a:lnTo>
                  <a:lnTo>
                    <a:pt x="828" y="804"/>
                  </a:lnTo>
                  <a:lnTo>
                    <a:pt x="828" y="810"/>
                  </a:lnTo>
                  <a:lnTo>
                    <a:pt x="834" y="810"/>
                  </a:lnTo>
                  <a:lnTo>
                    <a:pt x="834" y="816"/>
                  </a:lnTo>
                  <a:lnTo>
                    <a:pt x="840" y="816"/>
                  </a:lnTo>
                  <a:lnTo>
                    <a:pt x="846" y="816"/>
                  </a:lnTo>
                  <a:lnTo>
                    <a:pt x="846" y="822"/>
                  </a:lnTo>
                  <a:lnTo>
                    <a:pt x="852" y="828"/>
                  </a:lnTo>
                  <a:lnTo>
                    <a:pt x="858" y="828"/>
                  </a:lnTo>
                  <a:lnTo>
                    <a:pt x="864" y="828"/>
                  </a:lnTo>
                  <a:lnTo>
                    <a:pt x="870" y="828"/>
                  </a:lnTo>
                  <a:lnTo>
                    <a:pt x="876" y="828"/>
                  </a:lnTo>
                  <a:lnTo>
                    <a:pt x="882" y="834"/>
                  </a:lnTo>
                  <a:lnTo>
                    <a:pt x="888" y="834"/>
                  </a:lnTo>
                  <a:lnTo>
                    <a:pt x="888" y="828"/>
                  </a:lnTo>
                  <a:lnTo>
                    <a:pt x="894" y="828"/>
                  </a:lnTo>
                  <a:lnTo>
                    <a:pt x="900" y="828"/>
                  </a:lnTo>
                  <a:lnTo>
                    <a:pt x="894" y="822"/>
                  </a:lnTo>
                  <a:lnTo>
                    <a:pt x="888" y="822"/>
                  </a:lnTo>
                  <a:lnTo>
                    <a:pt x="894" y="822"/>
                  </a:lnTo>
                  <a:lnTo>
                    <a:pt x="894" y="816"/>
                  </a:lnTo>
                  <a:lnTo>
                    <a:pt x="888" y="816"/>
                  </a:lnTo>
                  <a:lnTo>
                    <a:pt x="882" y="816"/>
                  </a:lnTo>
                  <a:lnTo>
                    <a:pt x="882" y="822"/>
                  </a:lnTo>
                  <a:lnTo>
                    <a:pt x="882" y="816"/>
                  </a:lnTo>
                  <a:lnTo>
                    <a:pt x="876" y="816"/>
                  </a:lnTo>
                  <a:lnTo>
                    <a:pt x="870" y="816"/>
                  </a:lnTo>
                  <a:lnTo>
                    <a:pt x="864" y="816"/>
                  </a:lnTo>
                  <a:lnTo>
                    <a:pt x="864" y="810"/>
                  </a:lnTo>
                  <a:lnTo>
                    <a:pt x="864" y="816"/>
                  </a:lnTo>
                  <a:lnTo>
                    <a:pt x="858" y="816"/>
                  </a:lnTo>
                  <a:lnTo>
                    <a:pt x="858" y="810"/>
                  </a:lnTo>
                  <a:lnTo>
                    <a:pt x="864" y="810"/>
                  </a:lnTo>
                  <a:lnTo>
                    <a:pt x="858" y="810"/>
                  </a:lnTo>
                  <a:lnTo>
                    <a:pt x="858" y="804"/>
                  </a:lnTo>
                  <a:lnTo>
                    <a:pt x="852" y="804"/>
                  </a:lnTo>
                  <a:lnTo>
                    <a:pt x="852" y="810"/>
                  </a:lnTo>
                  <a:lnTo>
                    <a:pt x="846" y="810"/>
                  </a:lnTo>
                  <a:lnTo>
                    <a:pt x="846" y="804"/>
                  </a:lnTo>
                  <a:lnTo>
                    <a:pt x="840" y="804"/>
                  </a:lnTo>
                  <a:lnTo>
                    <a:pt x="840" y="798"/>
                  </a:lnTo>
                  <a:lnTo>
                    <a:pt x="840" y="792"/>
                  </a:lnTo>
                  <a:lnTo>
                    <a:pt x="840" y="786"/>
                  </a:lnTo>
                  <a:lnTo>
                    <a:pt x="846" y="786"/>
                  </a:lnTo>
                  <a:lnTo>
                    <a:pt x="846" y="780"/>
                  </a:lnTo>
                  <a:lnTo>
                    <a:pt x="840" y="780"/>
                  </a:lnTo>
                  <a:lnTo>
                    <a:pt x="840" y="774"/>
                  </a:lnTo>
                  <a:lnTo>
                    <a:pt x="840" y="768"/>
                  </a:lnTo>
                  <a:lnTo>
                    <a:pt x="840" y="762"/>
                  </a:lnTo>
                  <a:lnTo>
                    <a:pt x="846" y="756"/>
                  </a:lnTo>
                  <a:lnTo>
                    <a:pt x="846" y="750"/>
                  </a:lnTo>
                  <a:lnTo>
                    <a:pt x="852" y="750"/>
                  </a:lnTo>
                  <a:lnTo>
                    <a:pt x="852" y="744"/>
                  </a:lnTo>
                  <a:lnTo>
                    <a:pt x="858" y="744"/>
                  </a:lnTo>
                  <a:lnTo>
                    <a:pt x="864" y="744"/>
                  </a:lnTo>
                  <a:lnTo>
                    <a:pt x="870" y="744"/>
                  </a:lnTo>
                  <a:lnTo>
                    <a:pt x="870" y="738"/>
                  </a:lnTo>
                  <a:lnTo>
                    <a:pt x="870" y="732"/>
                  </a:lnTo>
                  <a:lnTo>
                    <a:pt x="864" y="732"/>
                  </a:lnTo>
                  <a:lnTo>
                    <a:pt x="864" y="726"/>
                  </a:lnTo>
                  <a:lnTo>
                    <a:pt x="864" y="720"/>
                  </a:lnTo>
                  <a:lnTo>
                    <a:pt x="858" y="720"/>
                  </a:lnTo>
                  <a:lnTo>
                    <a:pt x="858" y="714"/>
                  </a:lnTo>
                  <a:lnTo>
                    <a:pt x="864" y="714"/>
                  </a:lnTo>
                  <a:lnTo>
                    <a:pt x="858" y="708"/>
                  </a:lnTo>
                  <a:lnTo>
                    <a:pt x="852" y="702"/>
                  </a:lnTo>
                  <a:lnTo>
                    <a:pt x="852" y="696"/>
                  </a:lnTo>
                  <a:lnTo>
                    <a:pt x="852" y="690"/>
                  </a:lnTo>
                  <a:lnTo>
                    <a:pt x="852" y="684"/>
                  </a:lnTo>
                  <a:lnTo>
                    <a:pt x="852" y="678"/>
                  </a:lnTo>
                  <a:lnTo>
                    <a:pt x="852" y="672"/>
                  </a:lnTo>
                  <a:lnTo>
                    <a:pt x="852" y="666"/>
                  </a:lnTo>
                  <a:lnTo>
                    <a:pt x="846" y="660"/>
                  </a:lnTo>
                  <a:lnTo>
                    <a:pt x="840" y="660"/>
                  </a:lnTo>
                  <a:lnTo>
                    <a:pt x="834" y="660"/>
                  </a:lnTo>
                  <a:lnTo>
                    <a:pt x="834" y="654"/>
                  </a:lnTo>
                  <a:lnTo>
                    <a:pt x="828" y="654"/>
                  </a:lnTo>
                  <a:lnTo>
                    <a:pt x="828" y="648"/>
                  </a:lnTo>
                  <a:lnTo>
                    <a:pt x="822" y="648"/>
                  </a:lnTo>
                  <a:lnTo>
                    <a:pt x="816" y="648"/>
                  </a:lnTo>
                  <a:lnTo>
                    <a:pt x="816" y="642"/>
                  </a:lnTo>
                  <a:lnTo>
                    <a:pt x="810" y="642"/>
                  </a:lnTo>
                  <a:lnTo>
                    <a:pt x="810" y="636"/>
                  </a:lnTo>
                  <a:lnTo>
                    <a:pt x="810" y="630"/>
                  </a:lnTo>
                  <a:lnTo>
                    <a:pt x="804" y="630"/>
                  </a:lnTo>
                  <a:lnTo>
                    <a:pt x="798" y="630"/>
                  </a:lnTo>
                  <a:lnTo>
                    <a:pt x="792" y="630"/>
                  </a:lnTo>
                  <a:lnTo>
                    <a:pt x="786" y="624"/>
                  </a:lnTo>
                  <a:lnTo>
                    <a:pt x="780" y="624"/>
                  </a:lnTo>
                  <a:lnTo>
                    <a:pt x="780" y="618"/>
                  </a:lnTo>
                  <a:lnTo>
                    <a:pt x="774" y="618"/>
                  </a:lnTo>
                  <a:lnTo>
                    <a:pt x="768" y="618"/>
                  </a:lnTo>
                  <a:lnTo>
                    <a:pt x="762" y="618"/>
                  </a:lnTo>
                  <a:lnTo>
                    <a:pt x="756" y="618"/>
                  </a:lnTo>
                  <a:lnTo>
                    <a:pt x="756" y="612"/>
                  </a:lnTo>
                  <a:lnTo>
                    <a:pt x="750" y="612"/>
                  </a:lnTo>
                  <a:lnTo>
                    <a:pt x="750" y="618"/>
                  </a:lnTo>
                  <a:lnTo>
                    <a:pt x="744" y="618"/>
                  </a:lnTo>
                  <a:lnTo>
                    <a:pt x="744" y="624"/>
                  </a:lnTo>
                  <a:lnTo>
                    <a:pt x="738" y="624"/>
                  </a:lnTo>
                  <a:lnTo>
                    <a:pt x="738" y="630"/>
                  </a:lnTo>
                  <a:lnTo>
                    <a:pt x="738" y="636"/>
                  </a:lnTo>
                  <a:lnTo>
                    <a:pt x="732" y="636"/>
                  </a:lnTo>
                  <a:lnTo>
                    <a:pt x="726" y="636"/>
                  </a:lnTo>
                  <a:lnTo>
                    <a:pt x="720" y="636"/>
                  </a:lnTo>
                  <a:lnTo>
                    <a:pt x="714" y="636"/>
                  </a:lnTo>
                  <a:lnTo>
                    <a:pt x="714" y="630"/>
                  </a:lnTo>
                  <a:lnTo>
                    <a:pt x="708" y="630"/>
                  </a:lnTo>
                  <a:lnTo>
                    <a:pt x="702" y="630"/>
                  </a:lnTo>
                  <a:lnTo>
                    <a:pt x="696" y="630"/>
                  </a:lnTo>
                  <a:lnTo>
                    <a:pt x="690" y="630"/>
                  </a:lnTo>
                  <a:lnTo>
                    <a:pt x="690" y="636"/>
                  </a:lnTo>
                  <a:lnTo>
                    <a:pt x="684" y="636"/>
                  </a:lnTo>
                  <a:lnTo>
                    <a:pt x="678" y="636"/>
                  </a:lnTo>
                  <a:lnTo>
                    <a:pt x="678" y="630"/>
                  </a:lnTo>
                  <a:lnTo>
                    <a:pt x="672" y="630"/>
                  </a:lnTo>
                  <a:lnTo>
                    <a:pt x="672" y="624"/>
                  </a:lnTo>
                  <a:lnTo>
                    <a:pt x="672" y="618"/>
                  </a:lnTo>
                  <a:lnTo>
                    <a:pt x="678" y="612"/>
                  </a:lnTo>
                  <a:lnTo>
                    <a:pt x="678" y="606"/>
                  </a:lnTo>
                  <a:lnTo>
                    <a:pt x="678" y="600"/>
                  </a:lnTo>
                  <a:lnTo>
                    <a:pt x="678" y="594"/>
                  </a:lnTo>
                  <a:lnTo>
                    <a:pt x="678" y="588"/>
                  </a:lnTo>
                  <a:lnTo>
                    <a:pt x="678" y="582"/>
                  </a:lnTo>
                  <a:lnTo>
                    <a:pt x="672" y="576"/>
                  </a:lnTo>
                  <a:lnTo>
                    <a:pt x="666" y="570"/>
                  </a:lnTo>
                  <a:lnTo>
                    <a:pt x="666" y="564"/>
                  </a:lnTo>
                  <a:lnTo>
                    <a:pt x="660" y="558"/>
                  </a:lnTo>
                  <a:lnTo>
                    <a:pt x="660" y="552"/>
                  </a:lnTo>
                  <a:lnTo>
                    <a:pt x="660" y="546"/>
                  </a:lnTo>
                  <a:lnTo>
                    <a:pt x="666" y="546"/>
                  </a:lnTo>
                  <a:lnTo>
                    <a:pt x="666" y="540"/>
                  </a:lnTo>
                  <a:lnTo>
                    <a:pt x="666" y="534"/>
                  </a:lnTo>
                  <a:lnTo>
                    <a:pt x="672" y="528"/>
                  </a:lnTo>
                  <a:lnTo>
                    <a:pt x="672" y="522"/>
                  </a:lnTo>
                  <a:lnTo>
                    <a:pt x="672" y="516"/>
                  </a:lnTo>
                  <a:lnTo>
                    <a:pt x="672" y="510"/>
                  </a:lnTo>
                  <a:lnTo>
                    <a:pt x="672" y="504"/>
                  </a:lnTo>
                  <a:lnTo>
                    <a:pt x="666" y="504"/>
                  </a:lnTo>
                  <a:lnTo>
                    <a:pt x="672" y="498"/>
                  </a:lnTo>
                  <a:lnTo>
                    <a:pt x="672" y="492"/>
                  </a:lnTo>
                  <a:lnTo>
                    <a:pt x="678" y="492"/>
                  </a:lnTo>
                  <a:lnTo>
                    <a:pt x="678" y="486"/>
                  </a:lnTo>
                  <a:lnTo>
                    <a:pt x="684" y="480"/>
                  </a:lnTo>
                  <a:lnTo>
                    <a:pt x="684" y="474"/>
                  </a:lnTo>
                  <a:lnTo>
                    <a:pt x="690" y="468"/>
                  </a:lnTo>
                  <a:lnTo>
                    <a:pt x="690" y="462"/>
                  </a:lnTo>
                  <a:lnTo>
                    <a:pt x="696" y="456"/>
                  </a:lnTo>
                  <a:lnTo>
                    <a:pt x="696" y="450"/>
                  </a:lnTo>
                  <a:lnTo>
                    <a:pt x="696" y="444"/>
                  </a:lnTo>
                  <a:lnTo>
                    <a:pt x="696" y="438"/>
                  </a:lnTo>
                  <a:lnTo>
                    <a:pt x="696" y="432"/>
                  </a:lnTo>
                  <a:lnTo>
                    <a:pt x="696" y="426"/>
                  </a:lnTo>
                  <a:lnTo>
                    <a:pt x="690" y="420"/>
                  </a:lnTo>
                  <a:lnTo>
                    <a:pt x="690" y="414"/>
                  </a:lnTo>
                  <a:lnTo>
                    <a:pt x="684" y="414"/>
                  </a:lnTo>
                  <a:lnTo>
                    <a:pt x="684" y="408"/>
                  </a:lnTo>
                  <a:lnTo>
                    <a:pt x="678" y="402"/>
                  </a:lnTo>
                  <a:lnTo>
                    <a:pt x="678" y="396"/>
                  </a:lnTo>
                  <a:lnTo>
                    <a:pt x="678" y="390"/>
                  </a:lnTo>
                  <a:lnTo>
                    <a:pt x="678" y="384"/>
                  </a:lnTo>
                  <a:lnTo>
                    <a:pt x="672" y="378"/>
                  </a:lnTo>
                  <a:lnTo>
                    <a:pt x="666" y="372"/>
                  </a:lnTo>
                  <a:lnTo>
                    <a:pt x="666" y="366"/>
                  </a:lnTo>
                  <a:lnTo>
                    <a:pt x="666" y="360"/>
                  </a:lnTo>
                  <a:lnTo>
                    <a:pt x="666" y="354"/>
                  </a:lnTo>
                  <a:lnTo>
                    <a:pt x="660" y="348"/>
                  </a:lnTo>
                  <a:lnTo>
                    <a:pt x="660" y="342"/>
                  </a:lnTo>
                  <a:lnTo>
                    <a:pt x="654" y="342"/>
                  </a:lnTo>
                  <a:lnTo>
                    <a:pt x="654" y="336"/>
                  </a:lnTo>
                  <a:lnTo>
                    <a:pt x="648" y="336"/>
                  </a:lnTo>
                  <a:lnTo>
                    <a:pt x="648" y="330"/>
                  </a:lnTo>
                  <a:lnTo>
                    <a:pt x="642" y="330"/>
                  </a:lnTo>
                  <a:lnTo>
                    <a:pt x="636" y="324"/>
                  </a:lnTo>
                  <a:lnTo>
                    <a:pt x="636" y="318"/>
                  </a:lnTo>
                  <a:lnTo>
                    <a:pt x="642" y="318"/>
                  </a:lnTo>
                  <a:lnTo>
                    <a:pt x="642" y="312"/>
                  </a:lnTo>
                  <a:lnTo>
                    <a:pt x="648" y="306"/>
                  </a:lnTo>
                  <a:lnTo>
                    <a:pt x="654" y="300"/>
                  </a:lnTo>
                  <a:lnTo>
                    <a:pt x="660" y="294"/>
                  </a:lnTo>
                  <a:lnTo>
                    <a:pt x="660" y="288"/>
                  </a:lnTo>
                  <a:lnTo>
                    <a:pt x="660" y="282"/>
                  </a:lnTo>
                  <a:lnTo>
                    <a:pt x="660" y="276"/>
                  </a:lnTo>
                  <a:lnTo>
                    <a:pt x="660" y="270"/>
                  </a:lnTo>
                  <a:lnTo>
                    <a:pt x="660" y="264"/>
                  </a:lnTo>
                  <a:lnTo>
                    <a:pt x="666" y="264"/>
                  </a:lnTo>
                  <a:lnTo>
                    <a:pt x="666" y="258"/>
                  </a:lnTo>
                  <a:lnTo>
                    <a:pt x="672" y="258"/>
                  </a:lnTo>
                  <a:lnTo>
                    <a:pt x="684" y="252"/>
                  </a:lnTo>
                  <a:lnTo>
                    <a:pt x="690" y="246"/>
                  </a:lnTo>
                  <a:lnTo>
                    <a:pt x="696" y="246"/>
                  </a:lnTo>
                  <a:lnTo>
                    <a:pt x="696" y="240"/>
                  </a:lnTo>
                  <a:lnTo>
                    <a:pt x="708" y="240"/>
                  </a:lnTo>
                  <a:lnTo>
                    <a:pt x="708" y="234"/>
                  </a:lnTo>
                  <a:lnTo>
                    <a:pt x="714" y="234"/>
                  </a:lnTo>
                  <a:lnTo>
                    <a:pt x="714" y="228"/>
                  </a:lnTo>
                  <a:lnTo>
                    <a:pt x="720" y="222"/>
                  </a:lnTo>
                  <a:lnTo>
                    <a:pt x="726" y="216"/>
                  </a:lnTo>
                  <a:lnTo>
                    <a:pt x="726" y="210"/>
                  </a:lnTo>
                  <a:lnTo>
                    <a:pt x="732" y="204"/>
                  </a:lnTo>
                  <a:lnTo>
                    <a:pt x="732" y="198"/>
                  </a:lnTo>
                  <a:lnTo>
                    <a:pt x="732" y="192"/>
                  </a:lnTo>
                  <a:lnTo>
                    <a:pt x="732" y="186"/>
                  </a:lnTo>
                  <a:lnTo>
                    <a:pt x="732" y="180"/>
                  </a:lnTo>
                  <a:lnTo>
                    <a:pt x="732" y="174"/>
                  </a:lnTo>
                  <a:lnTo>
                    <a:pt x="732" y="168"/>
                  </a:lnTo>
                  <a:lnTo>
                    <a:pt x="732" y="162"/>
                  </a:lnTo>
                  <a:lnTo>
                    <a:pt x="732" y="156"/>
                  </a:lnTo>
                  <a:lnTo>
                    <a:pt x="726" y="150"/>
                  </a:lnTo>
                  <a:lnTo>
                    <a:pt x="726" y="144"/>
                  </a:lnTo>
                  <a:lnTo>
                    <a:pt x="726" y="138"/>
                  </a:lnTo>
                  <a:lnTo>
                    <a:pt x="726" y="132"/>
                  </a:lnTo>
                  <a:lnTo>
                    <a:pt x="726" y="126"/>
                  </a:lnTo>
                  <a:lnTo>
                    <a:pt x="720" y="114"/>
                  </a:lnTo>
                  <a:lnTo>
                    <a:pt x="720" y="108"/>
                  </a:lnTo>
                  <a:lnTo>
                    <a:pt x="726" y="108"/>
                  </a:lnTo>
                  <a:lnTo>
                    <a:pt x="726" y="102"/>
                  </a:lnTo>
                  <a:lnTo>
                    <a:pt x="726" y="108"/>
                  </a:lnTo>
                  <a:lnTo>
                    <a:pt x="732" y="108"/>
                  </a:lnTo>
                  <a:lnTo>
                    <a:pt x="732" y="114"/>
                  </a:lnTo>
                  <a:lnTo>
                    <a:pt x="738" y="114"/>
                  </a:lnTo>
                  <a:lnTo>
                    <a:pt x="744" y="120"/>
                  </a:lnTo>
                  <a:lnTo>
                    <a:pt x="750" y="120"/>
                  </a:lnTo>
                  <a:lnTo>
                    <a:pt x="750" y="126"/>
                  </a:lnTo>
                  <a:lnTo>
                    <a:pt x="744" y="126"/>
                  </a:lnTo>
                  <a:lnTo>
                    <a:pt x="744" y="132"/>
                  </a:lnTo>
                  <a:lnTo>
                    <a:pt x="744" y="138"/>
                  </a:lnTo>
                  <a:lnTo>
                    <a:pt x="750" y="138"/>
                  </a:lnTo>
                  <a:lnTo>
                    <a:pt x="750" y="144"/>
                  </a:lnTo>
                  <a:lnTo>
                    <a:pt x="750" y="150"/>
                  </a:lnTo>
                  <a:lnTo>
                    <a:pt x="756" y="150"/>
                  </a:lnTo>
                  <a:lnTo>
                    <a:pt x="756" y="156"/>
                  </a:lnTo>
                  <a:lnTo>
                    <a:pt x="750" y="156"/>
                  </a:lnTo>
                  <a:lnTo>
                    <a:pt x="750" y="162"/>
                  </a:lnTo>
                  <a:lnTo>
                    <a:pt x="750" y="168"/>
                  </a:lnTo>
                  <a:lnTo>
                    <a:pt x="756" y="174"/>
                  </a:lnTo>
                  <a:lnTo>
                    <a:pt x="756" y="180"/>
                  </a:lnTo>
                  <a:lnTo>
                    <a:pt x="756" y="186"/>
                  </a:lnTo>
                  <a:lnTo>
                    <a:pt x="756" y="192"/>
                  </a:lnTo>
                  <a:lnTo>
                    <a:pt x="762" y="192"/>
                  </a:lnTo>
                  <a:lnTo>
                    <a:pt x="762" y="198"/>
                  </a:lnTo>
                  <a:lnTo>
                    <a:pt x="756" y="198"/>
                  </a:lnTo>
                  <a:lnTo>
                    <a:pt x="756" y="204"/>
                  </a:lnTo>
                  <a:lnTo>
                    <a:pt x="750" y="204"/>
                  </a:lnTo>
                  <a:lnTo>
                    <a:pt x="750" y="210"/>
                  </a:lnTo>
                  <a:lnTo>
                    <a:pt x="750" y="216"/>
                  </a:lnTo>
                  <a:lnTo>
                    <a:pt x="750" y="222"/>
                  </a:lnTo>
                  <a:lnTo>
                    <a:pt x="750" y="228"/>
                  </a:lnTo>
                  <a:lnTo>
                    <a:pt x="744" y="234"/>
                  </a:lnTo>
                  <a:lnTo>
                    <a:pt x="750" y="234"/>
                  </a:lnTo>
                  <a:lnTo>
                    <a:pt x="750" y="240"/>
                  </a:lnTo>
                  <a:lnTo>
                    <a:pt x="744" y="246"/>
                  </a:lnTo>
                  <a:lnTo>
                    <a:pt x="738" y="246"/>
                  </a:lnTo>
                  <a:lnTo>
                    <a:pt x="738" y="252"/>
                  </a:lnTo>
                  <a:lnTo>
                    <a:pt x="744" y="252"/>
                  </a:lnTo>
                  <a:lnTo>
                    <a:pt x="738" y="258"/>
                  </a:lnTo>
                  <a:lnTo>
                    <a:pt x="738" y="264"/>
                  </a:lnTo>
                  <a:lnTo>
                    <a:pt x="738" y="270"/>
                  </a:lnTo>
                  <a:lnTo>
                    <a:pt x="738" y="276"/>
                  </a:lnTo>
                  <a:lnTo>
                    <a:pt x="744" y="282"/>
                  </a:lnTo>
                  <a:lnTo>
                    <a:pt x="750" y="288"/>
                  </a:lnTo>
                  <a:lnTo>
                    <a:pt x="750" y="294"/>
                  </a:lnTo>
                  <a:lnTo>
                    <a:pt x="750" y="300"/>
                  </a:lnTo>
                  <a:lnTo>
                    <a:pt x="750" y="306"/>
                  </a:lnTo>
                  <a:lnTo>
                    <a:pt x="750" y="312"/>
                  </a:lnTo>
                  <a:lnTo>
                    <a:pt x="744" y="312"/>
                  </a:lnTo>
                  <a:lnTo>
                    <a:pt x="744" y="318"/>
                  </a:lnTo>
                  <a:lnTo>
                    <a:pt x="738" y="318"/>
                  </a:lnTo>
                  <a:lnTo>
                    <a:pt x="738" y="324"/>
                  </a:lnTo>
                  <a:lnTo>
                    <a:pt x="738" y="330"/>
                  </a:lnTo>
                  <a:lnTo>
                    <a:pt x="744" y="336"/>
                  </a:lnTo>
                  <a:lnTo>
                    <a:pt x="744" y="342"/>
                  </a:lnTo>
                  <a:lnTo>
                    <a:pt x="750" y="342"/>
                  </a:lnTo>
                  <a:lnTo>
                    <a:pt x="756" y="342"/>
                  </a:lnTo>
                  <a:lnTo>
                    <a:pt x="756" y="348"/>
                  </a:lnTo>
                  <a:lnTo>
                    <a:pt x="762" y="348"/>
                  </a:lnTo>
                  <a:lnTo>
                    <a:pt x="768" y="348"/>
                  </a:lnTo>
                  <a:lnTo>
                    <a:pt x="768" y="354"/>
                  </a:lnTo>
                  <a:lnTo>
                    <a:pt x="774" y="354"/>
                  </a:lnTo>
                  <a:lnTo>
                    <a:pt x="780" y="354"/>
                  </a:lnTo>
                  <a:lnTo>
                    <a:pt x="786" y="354"/>
                  </a:lnTo>
                  <a:lnTo>
                    <a:pt x="792" y="354"/>
                  </a:lnTo>
                  <a:lnTo>
                    <a:pt x="792" y="360"/>
                  </a:lnTo>
                  <a:lnTo>
                    <a:pt x="798" y="354"/>
                  </a:lnTo>
                  <a:lnTo>
                    <a:pt x="798" y="360"/>
                  </a:lnTo>
                  <a:lnTo>
                    <a:pt x="804" y="360"/>
                  </a:lnTo>
                  <a:lnTo>
                    <a:pt x="804" y="354"/>
                  </a:lnTo>
                  <a:lnTo>
                    <a:pt x="810" y="360"/>
                  </a:lnTo>
                  <a:lnTo>
                    <a:pt x="816" y="360"/>
                  </a:lnTo>
                  <a:lnTo>
                    <a:pt x="822" y="360"/>
                  </a:lnTo>
                  <a:lnTo>
                    <a:pt x="828" y="360"/>
                  </a:lnTo>
                  <a:lnTo>
                    <a:pt x="834" y="360"/>
                  </a:lnTo>
                  <a:lnTo>
                    <a:pt x="840" y="360"/>
                  </a:lnTo>
                  <a:lnTo>
                    <a:pt x="846" y="360"/>
                  </a:lnTo>
                  <a:lnTo>
                    <a:pt x="846" y="366"/>
                  </a:lnTo>
                  <a:lnTo>
                    <a:pt x="852" y="366"/>
                  </a:lnTo>
                  <a:lnTo>
                    <a:pt x="858" y="366"/>
                  </a:lnTo>
                  <a:lnTo>
                    <a:pt x="858" y="372"/>
                  </a:lnTo>
                  <a:lnTo>
                    <a:pt x="864" y="378"/>
                  </a:lnTo>
                  <a:lnTo>
                    <a:pt x="864" y="384"/>
                  </a:lnTo>
                  <a:lnTo>
                    <a:pt x="864" y="390"/>
                  </a:lnTo>
                  <a:lnTo>
                    <a:pt x="870" y="390"/>
                  </a:lnTo>
                  <a:lnTo>
                    <a:pt x="876" y="390"/>
                  </a:lnTo>
                  <a:lnTo>
                    <a:pt x="882" y="396"/>
                  </a:lnTo>
                  <a:lnTo>
                    <a:pt x="882" y="390"/>
                  </a:lnTo>
                  <a:lnTo>
                    <a:pt x="888" y="390"/>
                  </a:lnTo>
                  <a:lnTo>
                    <a:pt x="888" y="384"/>
                  </a:lnTo>
                  <a:lnTo>
                    <a:pt x="888" y="378"/>
                  </a:lnTo>
                  <a:lnTo>
                    <a:pt x="882" y="378"/>
                  </a:lnTo>
                  <a:lnTo>
                    <a:pt x="882" y="372"/>
                  </a:lnTo>
                  <a:lnTo>
                    <a:pt x="876" y="372"/>
                  </a:lnTo>
                  <a:lnTo>
                    <a:pt x="876" y="366"/>
                  </a:lnTo>
                  <a:lnTo>
                    <a:pt x="876" y="360"/>
                  </a:lnTo>
                  <a:lnTo>
                    <a:pt x="876" y="354"/>
                  </a:lnTo>
                  <a:lnTo>
                    <a:pt x="882" y="348"/>
                  </a:lnTo>
                  <a:lnTo>
                    <a:pt x="876" y="348"/>
                  </a:lnTo>
                  <a:lnTo>
                    <a:pt x="870" y="348"/>
                  </a:lnTo>
                  <a:lnTo>
                    <a:pt x="870" y="342"/>
                  </a:lnTo>
                  <a:lnTo>
                    <a:pt x="864" y="342"/>
                  </a:lnTo>
                  <a:lnTo>
                    <a:pt x="864" y="348"/>
                  </a:lnTo>
                  <a:lnTo>
                    <a:pt x="864" y="342"/>
                  </a:lnTo>
                  <a:lnTo>
                    <a:pt x="864" y="336"/>
                  </a:lnTo>
                  <a:lnTo>
                    <a:pt x="858" y="336"/>
                  </a:lnTo>
                  <a:lnTo>
                    <a:pt x="858" y="330"/>
                  </a:lnTo>
                  <a:lnTo>
                    <a:pt x="858" y="336"/>
                  </a:lnTo>
                  <a:lnTo>
                    <a:pt x="864" y="336"/>
                  </a:lnTo>
                  <a:lnTo>
                    <a:pt x="858" y="336"/>
                  </a:lnTo>
                  <a:lnTo>
                    <a:pt x="852" y="336"/>
                  </a:lnTo>
                  <a:lnTo>
                    <a:pt x="852" y="342"/>
                  </a:lnTo>
                  <a:lnTo>
                    <a:pt x="846" y="342"/>
                  </a:lnTo>
                  <a:lnTo>
                    <a:pt x="846" y="336"/>
                  </a:lnTo>
                  <a:lnTo>
                    <a:pt x="840" y="336"/>
                  </a:lnTo>
                  <a:lnTo>
                    <a:pt x="840" y="342"/>
                  </a:lnTo>
                  <a:lnTo>
                    <a:pt x="846" y="342"/>
                  </a:lnTo>
                  <a:lnTo>
                    <a:pt x="840" y="342"/>
                  </a:lnTo>
                  <a:lnTo>
                    <a:pt x="840" y="336"/>
                  </a:lnTo>
                  <a:lnTo>
                    <a:pt x="834" y="336"/>
                  </a:lnTo>
                  <a:lnTo>
                    <a:pt x="828" y="330"/>
                  </a:lnTo>
                  <a:lnTo>
                    <a:pt x="828" y="324"/>
                  </a:lnTo>
                  <a:lnTo>
                    <a:pt x="822" y="324"/>
                  </a:lnTo>
                  <a:lnTo>
                    <a:pt x="822" y="318"/>
                  </a:lnTo>
                  <a:lnTo>
                    <a:pt x="822" y="324"/>
                  </a:lnTo>
                  <a:lnTo>
                    <a:pt x="816" y="324"/>
                  </a:lnTo>
                  <a:lnTo>
                    <a:pt x="816" y="318"/>
                  </a:lnTo>
                  <a:lnTo>
                    <a:pt x="810" y="318"/>
                  </a:lnTo>
                  <a:lnTo>
                    <a:pt x="804" y="318"/>
                  </a:lnTo>
                  <a:lnTo>
                    <a:pt x="804" y="312"/>
                  </a:lnTo>
                  <a:lnTo>
                    <a:pt x="804" y="306"/>
                  </a:lnTo>
                  <a:lnTo>
                    <a:pt x="798" y="306"/>
                  </a:lnTo>
                  <a:lnTo>
                    <a:pt x="792" y="306"/>
                  </a:lnTo>
                  <a:lnTo>
                    <a:pt x="792" y="300"/>
                  </a:lnTo>
                  <a:lnTo>
                    <a:pt x="786" y="300"/>
                  </a:lnTo>
                  <a:lnTo>
                    <a:pt x="786" y="294"/>
                  </a:lnTo>
                  <a:lnTo>
                    <a:pt x="786" y="288"/>
                  </a:lnTo>
                  <a:lnTo>
                    <a:pt x="786" y="282"/>
                  </a:lnTo>
                  <a:lnTo>
                    <a:pt x="786" y="276"/>
                  </a:lnTo>
                  <a:lnTo>
                    <a:pt x="780" y="276"/>
                  </a:lnTo>
                  <a:lnTo>
                    <a:pt x="780" y="270"/>
                  </a:lnTo>
                  <a:lnTo>
                    <a:pt x="780" y="264"/>
                  </a:lnTo>
                  <a:lnTo>
                    <a:pt x="780" y="258"/>
                  </a:lnTo>
                  <a:lnTo>
                    <a:pt x="774" y="252"/>
                  </a:lnTo>
                  <a:lnTo>
                    <a:pt x="774" y="258"/>
                  </a:lnTo>
                  <a:lnTo>
                    <a:pt x="774" y="252"/>
                  </a:lnTo>
                  <a:lnTo>
                    <a:pt x="780" y="252"/>
                  </a:lnTo>
                  <a:lnTo>
                    <a:pt x="780" y="246"/>
                  </a:lnTo>
                  <a:lnTo>
                    <a:pt x="786" y="246"/>
                  </a:lnTo>
                  <a:lnTo>
                    <a:pt x="792" y="234"/>
                  </a:lnTo>
                  <a:lnTo>
                    <a:pt x="798" y="234"/>
                  </a:lnTo>
                  <a:lnTo>
                    <a:pt x="804" y="228"/>
                  </a:lnTo>
                  <a:lnTo>
                    <a:pt x="810" y="228"/>
                  </a:lnTo>
                  <a:lnTo>
                    <a:pt x="816" y="228"/>
                  </a:lnTo>
                  <a:lnTo>
                    <a:pt x="816" y="234"/>
                  </a:lnTo>
                  <a:lnTo>
                    <a:pt x="822" y="234"/>
                  </a:lnTo>
                  <a:lnTo>
                    <a:pt x="822" y="240"/>
                  </a:lnTo>
                  <a:lnTo>
                    <a:pt x="828" y="240"/>
                  </a:lnTo>
                  <a:lnTo>
                    <a:pt x="828" y="246"/>
                  </a:lnTo>
                  <a:lnTo>
                    <a:pt x="834" y="246"/>
                  </a:lnTo>
                  <a:lnTo>
                    <a:pt x="834" y="252"/>
                  </a:lnTo>
                  <a:lnTo>
                    <a:pt x="840" y="252"/>
                  </a:lnTo>
                  <a:lnTo>
                    <a:pt x="840" y="258"/>
                  </a:lnTo>
                  <a:lnTo>
                    <a:pt x="846" y="258"/>
                  </a:lnTo>
                  <a:lnTo>
                    <a:pt x="846" y="264"/>
                  </a:lnTo>
                  <a:lnTo>
                    <a:pt x="852" y="264"/>
                  </a:lnTo>
                  <a:lnTo>
                    <a:pt x="858" y="264"/>
                  </a:lnTo>
                  <a:lnTo>
                    <a:pt x="864" y="264"/>
                  </a:lnTo>
                  <a:lnTo>
                    <a:pt x="864" y="258"/>
                  </a:lnTo>
                  <a:lnTo>
                    <a:pt x="870" y="258"/>
                  </a:lnTo>
                  <a:lnTo>
                    <a:pt x="870" y="252"/>
                  </a:lnTo>
                  <a:lnTo>
                    <a:pt x="876" y="252"/>
                  </a:lnTo>
                  <a:lnTo>
                    <a:pt x="876" y="246"/>
                  </a:lnTo>
                  <a:lnTo>
                    <a:pt x="876" y="240"/>
                  </a:lnTo>
                  <a:lnTo>
                    <a:pt x="876" y="234"/>
                  </a:lnTo>
                  <a:lnTo>
                    <a:pt x="870" y="228"/>
                  </a:lnTo>
                  <a:lnTo>
                    <a:pt x="870" y="222"/>
                  </a:lnTo>
                  <a:lnTo>
                    <a:pt x="864" y="222"/>
                  </a:lnTo>
                  <a:lnTo>
                    <a:pt x="852" y="222"/>
                  </a:lnTo>
                  <a:lnTo>
                    <a:pt x="846" y="228"/>
                  </a:lnTo>
                  <a:lnTo>
                    <a:pt x="840" y="228"/>
                  </a:lnTo>
                  <a:lnTo>
                    <a:pt x="840" y="222"/>
                  </a:lnTo>
                  <a:lnTo>
                    <a:pt x="840" y="216"/>
                  </a:lnTo>
                  <a:lnTo>
                    <a:pt x="846" y="210"/>
                  </a:lnTo>
                  <a:lnTo>
                    <a:pt x="840" y="210"/>
                  </a:lnTo>
                  <a:lnTo>
                    <a:pt x="840" y="204"/>
                  </a:lnTo>
                  <a:lnTo>
                    <a:pt x="846" y="204"/>
                  </a:lnTo>
                  <a:lnTo>
                    <a:pt x="846" y="210"/>
                  </a:lnTo>
                  <a:lnTo>
                    <a:pt x="852" y="210"/>
                  </a:lnTo>
                  <a:lnTo>
                    <a:pt x="852" y="204"/>
                  </a:lnTo>
                  <a:lnTo>
                    <a:pt x="858" y="198"/>
                  </a:lnTo>
                  <a:lnTo>
                    <a:pt x="858" y="192"/>
                  </a:lnTo>
                  <a:lnTo>
                    <a:pt x="864" y="192"/>
                  </a:lnTo>
                  <a:lnTo>
                    <a:pt x="864" y="186"/>
                  </a:lnTo>
                  <a:lnTo>
                    <a:pt x="870" y="186"/>
                  </a:lnTo>
                  <a:lnTo>
                    <a:pt x="876" y="186"/>
                  </a:lnTo>
                  <a:lnTo>
                    <a:pt x="882" y="186"/>
                  </a:lnTo>
                  <a:lnTo>
                    <a:pt x="882" y="192"/>
                  </a:lnTo>
                  <a:lnTo>
                    <a:pt x="888" y="192"/>
                  </a:lnTo>
                  <a:lnTo>
                    <a:pt x="894" y="192"/>
                  </a:lnTo>
                  <a:lnTo>
                    <a:pt x="894" y="198"/>
                  </a:lnTo>
                  <a:lnTo>
                    <a:pt x="894" y="204"/>
                  </a:lnTo>
                  <a:lnTo>
                    <a:pt x="888" y="204"/>
                  </a:lnTo>
                  <a:lnTo>
                    <a:pt x="888" y="210"/>
                  </a:lnTo>
                  <a:lnTo>
                    <a:pt x="894" y="210"/>
                  </a:lnTo>
                  <a:lnTo>
                    <a:pt x="900" y="210"/>
                  </a:lnTo>
                  <a:lnTo>
                    <a:pt x="900" y="216"/>
                  </a:lnTo>
                  <a:lnTo>
                    <a:pt x="906" y="216"/>
                  </a:lnTo>
                  <a:lnTo>
                    <a:pt x="906" y="222"/>
                  </a:lnTo>
                  <a:lnTo>
                    <a:pt x="906" y="216"/>
                  </a:lnTo>
                  <a:lnTo>
                    <a:pt x="912" y="216"/>
                  </a:lnTo>
                  <a:lnTo>
                    <a:pt x="912" y="222"/>
                  </a:lnTo>
                  <a:lnTo>
                    <a:pt x="912" y="228"/>
                  </a:lnTo>
                  <a:lnTo>
                    <a:pt x="918" y="228"/>
                  </a:lnTo>
                  <a:lnTo>
                    <a:pt x="924" y="228"/>
                  </a:lnTo>
                  <a:lnTo>
                    <a:pt x="930" y="228"/>
                  </a:lnTo>
                  <a:lnTo>
                    <a:pt x="930" y="234"/>
                  </a:lnTo>
                  <a:lnTo>
                    <a:pt x="930" y="228"/>
                  </a:lnTo>
                  <a:lnTo>
                    <a:pt x="930" y="234"/>
                  </a:lnTo>
                  <a:lnTo>
                    <a:pt x="936" y="234"/>
                  </a:lnTo>
                  <a:lnTo>
                    <a:pt x="936" y="228"/>
                  </a:lnTo>
                  <a:lnTo>
                    <a:pt x="936" y="234"/>
                  </a:lnTo>
                  <a:lnTo>
                    <a:pt x="936" y="228"/>
                  </a:lnTo>
                  <a:lnTo>
                    <a:pt x="942" y="234"/>
                  </a:lnTo>
                  <a:lnTo>
                    <a:pt x="942" y="228"/>
                  </a:lnTo>
                  <a:lnTo>
                    <a:pt x="948" y="228"/>
                  </a:lnTo>
                  <a:lnTo>
                    <a:pt x="948" y="234"/>
                  </a:lnTo>
                  <a:lnTo>
                    <a:pt x="954" y="234"/>
                  </a:lnTo>
                  <a:lnTo>
                    <a:pt x="954" y="240"/>
                  </a:lnTo>
                  <a:lnTo>
                    <a:pt x="960" y="240"/>
                  </a:lnTo>
                  <a:lnTo>
                    <a:pt x="960" y="246"/>
                  </a:lnTo>
                  <a:lnTo>
                    <a:pt x="966" y="246"/>
                  </a:lnTo>
                  <a:lnTo>
                    <a:pt x="972" y="246"/>
                  </a:lnTo>
                  <a:lnTo>
                    <a:pt x="972" y="252"/>
                  </a:lnTo>
                  <a:lnTo>
                    <a:pt x="966" y="252"/>
                  </a:lnTo>
                  <a:lnTo>
                    <a:pt x="972" y="252"/>
                  </a:lnTo>
                  <a:lnTo>
                    <a:pt x="972" y="258"/>
                  </a:lnTo>
                  <a:lnTo>
                    <a:pt x="966" y="258"/>
                  </a:lnTo>
                  <a:lnTo>
                    <a:pt x="972" y="258"/>
                  </a:lnTo>
                  <a:lnTo>
                    <a:pt x="966" y="258"/>
                  </a:lnTo>
                  <a:lnTo>
                    <a:pt x="966" y="264"/>
                  </a:lnTo>
                  <a:lnTo>
                    <a:pt x="960" y="264"/>
                  </a:lnTo>
                  <a:lnTo>
                    <a:pt x="960" y="258"/>
                  </a:lnTo>
                  <a:lnTo>
                    <a:pt x="960" y="264"/>
                  </a:lnTo>
                  <a:lnTo>
                    <a:pt x="960" y="270"/>
                  </a:lnTo>
                  <a:lnTo>
                    <a:pt x="966" y="270"/>
                  </a:lnTo>
                  <a:lnTo>
                    <a:pt x="960" y="270"/>
                  </a:lnTo>
                  <a:lnTo>
                    <a:pt x="966" y="270"/>
                  </a:lnTo>
                  <a:lnTo>
                    <a:pt x="960" y="270"/>
                  </a:lnTo>
                  <a:lnTo>
                    <a:pt x="966" y="270"/>
                  </a:lnTo>
                  <a:lnTo>
                    <a:pt x="966" y="276"/>
                  </a:lnTo>
                  <a:lnTo>
                    <a:pt x="960" y="276"/>
                  </a:lnTo>
                  <a:lnTo>
                    <a:pt x="966" y="276"/>
                  </a:lnTo>
                  <a:lnTo>
                    <a:pt x="960" y="276"/>
                  </a:lnTo>
                  <a:lnTo>
                    <a:pt x="966" y="276"/>
                  </a:lnTo>
                  <a:lnTo>
                    <a:pt x="960" y="276"/>
                  </a:lnTo>
                  <a:lnTo>
                    <a:pt x="966" y="276"/>
                  </a:lnTo>
                  <a:lnTo>
                    <a:pt x="966" y="282"/>
                  </a:lnTo>
                  <a:lnTo>
                    <a:pt x="960" y="282"/>
                  </a:lnTo>
                  <a:lnTo>
                    <a:pt x="966" y="282"/>
                  </a:lnTo>
                  <a:lnTo>
                    <a:pt x="966" y="288"/>
                  </a:lnTo>
                  <a:lnTo>
                    <a:pt x="960" y="288"/>
                  </a:lnTo>
                  <a:lnTo>
                    <a:pt x="960" y="294"/>
                  </a:lnTo>
                  <a:lnTo>
                    <a:pt x="954" y="294"/>
                  </a:lnTo>
                  <a:lnTo>
                    <a:pt x="954" y="300"/>
                  </a:lnTo>
                  <a:lnTo>
                    <a:pt x="954" y="294"/>
                  </a:lnTo>
                  <a:lnTo>
                    <a:pt x="948" y="300"/>
                  </a:lnTo>
                  <a:lnTo>
                    <a:pt x="948" y="294"/>
                  </a:lnTo>
                  <a:lnTo>
                    <a:pt x="948" y="300"/>
                  </a:lnTo>
                  <a:lnTo>
                    <a:pt x="948" y="294"/>
                  </a:lnTo>
                  <a:lnTo>
                    <a:pt x="942" y="300"/>
                  </a:lnTo>
                  <a:lnTo>
                    <a:pt x="942" y="312"/>
                  </a:lnTo>
                  <a:lnTo>
                    <a:pt x="936" y="324"/>
                  </a:lnTo>
                  <a:lnTo>
                    <a:pt x="930" y="324"/>
                  </a:lnTo>
                  <a:lnTo>
                    <a:pt x="930" y="330"/>
                  </a:lnTo>
                  <a:lnTo>
                    <a:pt x="930" y="336"/>
                  </a:lnTo>
                  <a:lnTo>
                    <a:pt x="930" y="330"/>
                  </a:lnTo>
                  <a:lnTo>
                    <a:pt x="930" y="336"/>
                  </a:lnTo>
                  <a:lnTo>
                    <a:pt x="930" y="342"/>
                  </a:lnTo>
                  <a:lnTo>
                    <a:pt x="936" y="348"/>
                  </a:lnTo>
                  <a:lnTo>
                    <a:pt x="942" y="354"/>
                  </a:lnTo>
                  <a:lnTo>
                    <a:pt x="960" y="366"/>
                  </a:lnTo>
                  <a:lnTo>
                    <a:pt x="972" y="372"/>
                  </a:lnTo>
                  <a:lnTo>
                    <a:pt x="978" y="372"/>
                  </a:lnTo>
                  <a:lnTo>
                    <a:pt x="978" y="378"/>
                  </a:lnTo>
                  <a:lnTo>
                    <a:pt x="984" y="378"/>
                  </a:lnTo>
                  <a:lnTo>
                    <a:pt x="996" y="384"/>
                  </a:lnTo>
                  <a:lnTo>
                    <a:pt x="996" y="390"/>
                  </a:lnTo>
                  <a:lnTo>
                    <a:pt x="996" y="408"/>
                  </a:lnTo>
                  <a:lnTo>
                    <a:pt x="1002" y="408"/>
                  </a:lnTo>
                  <a:lnTo>
                    <a:pt x="996" y="408"/>
                  </a:lnTo>
                  <a:lnTo>
                    <a:pt x="1002" y="408"/>
                  </a:lnTo>
                  <a:lnTo>
                    <a:pt x="1002" y="414"/>
                  </a:lnTo>
                  <a:lnTo>
                    <a:pt x="1002" y="420"/>
                  </a:lnTo>
                  <a:lnTo>
                    <a:pt x="1002" y="426"/>
                  </a:lnTo>
                  <a:lnTo>
                    <a:pt x="996" y="426"/>
                  </a:lnTo>
                  <a:lnTo>
                    <a:pt x="996" y="432"/>
                  </a:lnTo>
                  <a:lnTo>
                    <a:pt x="1002" y="438"/>
                  </a:lnTo>
                  <a:lnTo>
                    <a:pt x="1002" y="444"/>
                  </a:lnTo>
                  <a:lnTo>
                    <a:pt x="1008" y="444"/>
                  </a:lnTo>
                  <a:lnTo>
                    <a:pt x="1002" y="444"/>
                  </a:lnTo>
                  <a:lnTo>
                    <a:pt x="1008" y="444"/>
                  </a:lnTo>
                  <a:lnTo>
                    <a:pt x="1008" y="450"/>
                  </a:lnTo>
                  <a:lnTo>
                    <a:pt x="1002" y="450"/>
                  </a:lnTo>
                  <a:lnTo>
                    <a:pt x="1002" y="456"/>
                  </a:lnTo>
                  <a:lnTo>
                    <a:pt x="1002" y="462"/>
                  </a:lnTo>
                  <a:lnTo>
                    <a:pt x="1002" y="456"/>
                  </a:lnTo>
                  <a:lnTo>
                    <a:pt x="1002" y="462"/>
                  </a:lnTo>
                  <a:lnTo>
                    <a:pt x="1002" y="468"/>
                  </a:lnTo>
                  <a:lnTo>
                    <a:pt x="1002" y="462"/>
                  </a:lnTo>
                  <a:lnTo>
                    <a:pt x="996" y="468"/>
                  </a:lnTo>
                  <a:lnTo>
                    <a:pt x="996" y="462"/>
                  </a:lnTo>
                  <a:lnTo>
                    <a:pt x="1002" y="462"/>
                  </a:lnTo>
                  <a:lnTo>
                    <a:pt x="996" y="462"/>
                  </a:lnTo>
                  <a:lnTo>
                    <a:pt x="996" y="468"/>
                  </a:lnTo>
                  <a:lnTo>
                    <a:pt x="990" y="468"/>
                  </a:lnTo>
                  <a:lnTo>
                    <a:pt x="990" y="462"/>
                  </a:lnTo>
                  <a:lnTo>
                    <a:pt x="984" y="456"/>
                  </a:lnTo>
                  <a:lnTo>
                    <a:pt x="978" y="456"/>
                  </a:lnTo>
                  <a:lnTo>
                    <a:pt x="972" y="456"/>
                  </a:lnTo>
                  <a:lnTo>
                    <a:pt x="972" y="462"/>
                  </a:lnTo>
                  <a:lnTo>
                    <a:pt x="966" y="462"/>
                  </a:lnTo>
                  <a:lnTo>
                    <a:pt x="966" y="468"/>
                  </a:lnTo>
                  <a:lnTo>
                    <a:pt x="960" y="468"/>
                  </a:lnTo>
                  <a:lnTo>
                    <a:pt x="966" y="468"/>
                  </a:lnTo>
                  <a:lnTo>
                    <a:pt x="966" y="474"/>
                  </a:lnTo>
                  <a:lnTo>
                    <a:pt x="960" y="474"/>
                  </a:lnTo>
                  <a:lnTo>
                    <a:pt x="954" y="474"/>
                  </a:lnTo>
                  <a:lnTo>
                    <a:pt x="954" y="480"/>
                  </a:lnTo>
                  <a:lnTo>
                    <a:pt x="948" y="480"/>
                  </a:lnTo>
                  <a:lnTo>
                    <a:pt x="948" y="486"/>
                  </a:lnTo>
                  <a:lnTo>
                    <a:pt x="942" y="486"/>
                  </a:lnTo>
                  <a:lnTo>
                    <a:pt x="942" y="492"/>
                  </a:lnTo>
                  <a:lnTo>
                    <a:pt x="942" y="498"/>
                  </a:lnTo>
                  <a:lnTo>
                    <a:pt x="936" y="498"/>
                  </a:lnTo>
                  <a:lnTo>
                    <a:pt x="936" y="504"/>
                  </a:lnTo>
                  <a:lnTo>
                    <a:pt x="930" y="504"/>
                  </a:lnTo>
                  <a:lnTo>
                    <a:pt x="930" y="498"/>
                  </a:lnTo>
                  <a:lnTo>
                    <a:pt x="936" y="498"/>
                  </a:lnTo>
                  <a:lnTo>
                    <a:pt x="930" y="498"/>
                  </a:lnTo>
                  <a:lnTo>
                    <a:pt x="930" y="504"/>
                  </a:lnTo>
                  <a:lnTo>
                    <a:pt x="930" y="510"/>
                  </a:lnTo>
                  <a:lnTo>
                    <a:pt x="924" y="510"/>
                  </a:lnTo>
                  <a:lnTo>
                    <a:pt x="924" y="516"/>
                  </a:lnTo>
                  <a:lnTo>
                    <a:pt x="918" y="516"/>
                  </a:lnTo>
                  <a:lnTo>
                    <a:pt x="918" y="522"/>
                  </a:lnTo>
                  <a:lnTo>
                    <a:pt x="918" y="516"/>
                  </a:lnTo>
                  <a:lnTo>
                    <a:pt x="924" y="516"/>
                  </a:lnTo>
                  <a:lnTo>
                    <a:pt x="918" y="522"/>
                  </a:lnTo>
                  <a:lnTo>
                    <a:pt x="924" y="522"/>
                  </a:lnTo>
                  <a:lnTo>
                    <a:pt x="918" y="522"/>
                  </a:lnTo>
                  <a:lnTo>
                    <a:pt x="918" y="528"/>
                  </a:lnTo>
                  <a:lnTo>
                    <a:pt x="912" y="534"/>
                  </a:lnTo>
                  <a:lnTo>
                    <a:pt x="906" y="534"/>
                  </a:lnTo>
                  <a:lnTo>
                    <a:pt x="906" y="540"/>
                  </a:lnTo>
                  <a:lnTo>
                    <a:pt x="912" y="540"/>
                  </a:lnTo>
                  <a:lnTo>
                    <a:pt x="912" y="546"/>
                  </a:lnTo>
                  <a:lnTo>
                    <a:pt x="918" y="546"/>
                  </a:lnTo>
                  <a:lnTo>
                    <a:pt x="918" y="552"/>
                  </a:lnTo>
                  <a:lnTo>
                    <a:pt x="918" y="558"/>
                  </a:lnTo>
                  <a:lnTo>
                    <a:pt x="912" y="558"/>
                  </a:lnTo>
                  <a:lnTo>
                    <a:pt x="918" y="558"/>
                  </a:lnTo>
                  <a:lnTo>
                    <a:pt x="924" y="558"/>
                  </a:lnTo>
                  <a:lnTo>
                    <a:pt x="924" y="564"/>
                  </a:lnTo>
                  <a:lnTo>
                    <a:pt x="924" y="558"/>
                  </a:lnTo>
                  <a:lnTo>
                    <a:pt x="924" y="564"/>
                  </a:lnTo>
                  <a:lnTo>
                    <a:pt x="930" y="564"/>
                  </a:lnTo>
                  <a:lnTo>
                    <a:pt x="936" y="564"/>
                  </a:lnTo>
                  <a:lnTo>
                    <a:pt x="936" y="570"/>
                  </a:lnTo>
                  <a:lnTo>
                    <a:pt x="936" y="564"/>
                  </a:lnTo>
                  <a:lnTo>
                    <a:pt x="936" y="570"/>
                  </a:lnTo>
                  <a:lnTo>
                    <a:pt x="936" y="576"/>
                  </a:lnTo>
                  <a:lnTo>
                    <a:pt x="936" y="582"/>
                  </a:lnTo>
                  <a:lnTo>
                    <a:pt x="942" y="582"/>
                  </a:lnTo>
                  <a:lnTo>
                    <a:pt x="942" y="588"/>
                  </a:lnTo>
                  <a:lnTo>
                    <a:pt x="942" y="594"/>
                  </a:lnTo>
                  <a:lnTo>
                    <a:pt x="948" y="594"/>
                  </a:lnTo>
                  <a:lnTo>
                    <a:pt x="948" y="600"/>
                  </a:lnTo>
                  <a:lnTo>
                    <a:pt x="948" y="606"/>
                  </a:lnTo>
                  <a:lnTo>
                    <a:pt x="948" y="600"/>
                  </a:lnTo>
                  <a:lnTo>
                    <a:pt x="954" y="600"/>
                  </a:lnTo>
                  <a:lnTo>
                    <a:pt x="954" y="606"/>
                  </a:lnTo>
                  <a:lnTo>
                    <a:pt x="954" y="600"/>
                  </a:lnTo>
                  <a:lnTo>
                    <a:pt x="954" y="606"/>
                  </a:lnTo>
                  <a:lnTo>
                    <a:pt x="960" y="606"/>
                  </a:lnTo>
                  <a:lnTo>
                    <a:pt x="960" y="600"/>
                  </a:lnTo>
                  <a:lnTo>
                    <a:pt x="960" y="606"/>
                  </a:lnTo>
                  <a:lnTo>
                    <a:pt x="960" y="600"/>
                  </a:lnTo>
                  <a:lnTo>
                    <a:pt x="966" y="600"/>
                  </a:lnTo>
                  <a:lnTo>
                    <a:pt x="960" y="606"/>
                  </a:lnTo>
                  <a:lnTo>
                    <a:pt x="966" y="606"/>
                  </a:lnTo>
                  <a:lnTo>
                    <a:pt x="966" y="600"/>
                  </a:lnTo>
                  <a:lnTo>
                    <a:pt x="972" y="606"/>
                  </a:lnTo>
                  <a:lnTo>
                    <a:pt x="978" y="606"/>
                  </a:lnTo>
                  <a:lnTo>
                    <a:pt x="984" y="606"/>
                  </a:lnTo>
                  <a:lnTo>
                    <a:pt x="984" y="612"/>
                  </a:lnTo>
                  <a:lnTo>
                    <a:pt x="984" y="606"/>
                  </a:lnTo>
                  <a:lnTo>
                    <a:pt x="984" y="612"/>
                  </a:lnTo>
                  <a:lnTo>
                    <a:pt x="990" y="612"/>
                  </a:lnTo>
                  <a:lnTo>
                    <a:pt x="990" y="606"/>
                  </a:lnTo>
                  <a:lnTo>
                    <a:pt x="990" y="612"/>
                  </a:lnTo>
                  <a:lnTo>
                    <a:pt x="990" y="606"/>
                  </a:lnTo>
                  <a:lnTo>
                    <a:pt x="990" y="612"/>
                  </a:lnTo>
                  <a:lnTo>
                    <a:pt x="996" y="612"/>
                  </a:lnTo>
                  <a:lnTo>
                    <a:pt x="996" y="618"/>
                  </a:lnTo>
                  <a:lnTo>
                    <a:pt x="1002" y="618"/>
                  </a:lnTo>
                  <a:lnTo>
                    <a:pt x="1002" y="624"/>
                  </a:lnTo>
                  <a:lnTo>
                    <a:pt x="1008" y="618"/>
                  </a:lnTo>
                  <a:lnTo>
                    <a:pt x="1014" y="618"/>
                  </a:lnTo>
                  <a:lnTo>
                    <a:pt x="1020" y="618"/>
                  </a:lnTo>
                  <a:lnTo>
                    <a:pt x="1020" y="624"/>
                  </a:lnTo>
                  <a:lnTo>
                    <a:pt x="1026" y="624"/>
                  </a:lnTo>
                  <a:lnTo>
                    <a:pt x="1038" y="624"/>
                  </a:lnTo>
                  <a:lnTo>
                    <a:pt x="1038" y="618"/>
                  </a:lnTo>
                  <a:lnTo>
                    <a:pt x="1038" y="612"/>
                  </a:lnTo>
                  <a:lnTo>
                    <a:pt x="1044" y="612"/>
                  </a:lnTo>
                  <a:lnTo>
                    <a:pt x="1044" y="606"/>
                  </a:lnTo>
                  <a:lnTo>
                    <a:pt x="1044" y="600"/>
                  </a:lnTo>
                  <a:lnTo>
                    <a:pt x="1050" y="600"/>
                  </a:lnTo>
                  <a:lnTo>
                    <a:pt x="1056" y="612"/>
                  </a:lnTo>
                  <a:lnTo>
                    <a:pt x="1056" y="618"/>
                  </a:lnTo>
                  <a:lnTo>
                    <a:pt x="1056" y="612"/>
                  </a:lnTo>
                  <a:lnTo>
                    <a:pt x="1050" y="618"/>
                  </a:lnTo>
                  <a:lnTo>
                    <a:pt x="1050" y="612"/>
                  </a:lnTo>
                  <a:lnTo>
                    <a:pt x="1050" y="618"/>
                  </a:lnTo>
                  <a:lnTo>
                    <a:pt x="1050" y="630"/>
                  </a:lnTo>
                  <a:lnTo>
                    <a:pt x="1056" y="630"/>
                  </a:lnTo>
                  <a:lnTo>
                    <a:pt x="1062" y="630"/>
                  </a:lnTo>
                  <a:lnTo>
                    <a:pt x="1068" y="630"/>
                  </a:lnTo>
                  <a:lnTo>
                    <a:pt x="1074" y="636"/>
                  </a:lnTo>
                  <a:lnTo>
                    <a:pt x="1080" y="642"/>
                  </a:lnTo>
                  <a:lnTo>
                    <a:pt x="1074" y="642"/>
                  </a:lnTo>
                  <a:lnTo>
                    <a:pt x="1074" y="648"/>
                  </a:lnTo>
                  <a:lnTo>
                    <a:pt x="1074" y="654"/>
                  </a:lnTo>
                  <a:lnTo>
                    <a:pt x="1074" y="660"/>
                  </a:lnTo>
                  <a:lnTo>
                    <a:pt x="1080" y="660"/>
                  </a:lnTo>
                  <a:lnTo>
                    <a:pt x="1080" y="666"/>
                  </a:lnTo>
                  <a:lnTo>
                    <a:pt x="1080" y="672"/>
                  </a:lnTo>
                  <a:lnTo>
                    <a:pt x="1086" y="672"/>
                  </a:lnTo>
                  <a:lnTo>
                    <a:pt x="1086" y="666"/>
                  </a:lnTo>
                  <a:lnTo>
                    <a:pt x="1086" y="672"/>
                  </a:lnTo>
                  <a:lnTo>
                    <a:pt x="1086" y="678"/>
                  </a:lnTo>
                  <a:lnTo>
                    <a:pt x="1092" y="678"/>
                  </a:lnTo>
                  <a:lnTo>
                    <a:pt x="1092" y="684"/>
                  </a:lnTo>
                  <a:lnTo>
                    <a:pt x="1098" y="684"/>
                  </a:lnTo>
                  <a:lnTo>
                    <a:pt x="1098" y="690"/>
                  </a:lnTo>
                  <a:lnTo>
                    <a:pt x="1098" y="702"/>
                  </a:lnTo>
                  <a:lnTo>
                    <a:pt x="1092" y="702"/>
                  </a:lnTo>
                  <a:lnTo>
                    <a:pt x="1086" y="702"/>
                  </a:lnTo>
                  <a:lnTo>
                    <a:pt x="1086" y="696"/>
                  </a:lnTo>
                  <a:lnTo>
                    <a:pt x="1086" y="702"/>
                  </a:lnTo>
                  <a:lnTo>
                    <a:pt x="1086" y="708"/>
                  </a:lnTo>
                  <a:lnTo>
                    <a:pt x="1080" y="708"/>
                  </a:lnTo>
                  <a:lnTo>
                    <a:pt x="1086" y="708"/>
                  </a:lnTo>
                  <a:lnTo>
                    <a:pt x="1080" y="708"/>
                  </a:lnTo>
                  <a:lnTo>
                    <a:pt x="1086" y="708"/>
                  </a:lnTo>
                  <a:lnTo>
                    <a:pt x="1086" y="714"/>
                  </a:lnTo>
                  <a:lnTo>
                    <a:pt x="1092" y="720"/>
                  </a:lnTo>
                  <a:lnTo>
                    <a:pt x="1086" y="738"/>
                  </a:lnTo>
                  <a:lnTo>
                    <a:pt x="1086" y="744"/>
                  </a:lnTo>
                  <a:lnTo>
                    <a:pt x="1086" y="750"/>
                  </a:lnTo>
                  <a:lnTo>
                    <a:pt x="1086" y="756"/>
                  </a:lnTo>
                  <a:lnTo>
                    <a:pt x="1080" y="756"/>
                  </a:lnTo>
                  <a:lnTo>
                    <a:pt x="1080" y="762"/>
                  </a:lnTo>
                  <a:lnTo>
                    <a:pt x="1080" y="756"/>
                  </a:lnTo>
                  <a:lnTo>
                    <a:pt x="1074" y="756"/>
                  </a:lnTo>
                  <a:lnTo>
                    <a:pt x="1074" y="762"/>
                  </a:lnTo>
                  <a:lnTo>
                    <a:pt x="1074" y="768"/>
                  </a:lnTo>
                  <a:lnTo>
                    <a:pt x="1074" y="774"/>
                  </a:lnTo>
                  <a:lnTo>
                    <a:pt x="1074" y="780"/>
                  </a:lnTo>
                  <a:lnTo>
                    <a:pt x="1080" y="780"/>
                  </a:lnTo>
                  <a:lnTo>
                    <a:pt x="1080" y="786"/>
                  </a:lnTo>
                  <a:lnTo>
                    <a:pt x="1074" y="786"/>
                  </a:lnTo>
                  <a:lnTo>
                    <a:pt x="1068" y="786"/>
                  </a:lnTo>
                  <a:lnTo>
                    <a:pt x="1062" y="786"/>
                  </a:lnTo>
                  <a:lnTo>
                    <a:pt x="1056" y="786"/>
                  </a:lnTo>
                  <a:lnTo>
                    <a:pt x="1050" y="786"/>
                  </a:lnTo>
                  <a:lnTo>
                    <a:pt x="1050" y="792"/>
                  </a:lnTo>
                  <a:lnTo>
                    <a:pt x="1044" y="792"/>
                  </a:lnTo>
                  <a:lnTo>
                    <a:pt x="1050" y="792"/>
                  </a:lnTo>
                  <a:lnTo>
                    <a:pt x="1044" y="792"/>
                  </a:lnTo>
                  <a:lnTo>
                    <a:pt x="1044" y="798"/>
                  </a:lnTo>
                  <a:lnTo>
                    <a:pt x="1050" y="798"/>
                  </a:lnTo>
                  <a:lnTo>
                    <a:pt x="1050" y="804"/>
                  </a:lnTo>
                  <a:lnTo>
                    <a:pt x="1056" y="804"/>
                  </a:lnTo>
                  <a:lnTo>
                    <a:pt x="1056" y="810"/>
                  </a:lnTo>
                  <a:lnTo>
                    <a:pt x="1056" y="816"/>
                  </a:lnTo>
                  <a:lnTo>
                    <a:pt x="1050" y="816"/>
                  </a:lnTo>
                  <a:lnTo>
                    <a:pt x="1056" y="816"/>
                  </a:lnTo>
                  <a:lnTo>
                    <a:pt x="1056" y="822"/>
                  </a:lnTo>
                  <a:lnTo>
                    <a:pt x="1056" y="828"/>
                  </a:lnTo>
                  <a:lnTo>
                    <a:pt x="1062" y="828"/>
                  </a:lnTo>
                  <a:lnTo>
                    <a:pt x="1068" y="828"/>
                  </a:lnTo>
                  <a:lnTo>
                    <a:pt x="1068" y="834"/>
                  </a:lnTo>
                  <a:lnTo>
                    <a:pt x="1068" y="828"/>
                  </a:lnTo>
                  <a:lnTo>
                    <a:pt x="1068" y="834"/>
                  </a:lnTo>
                  <a:lnTo>
                    <a:pt x="1068" y="840"/>
                  </a:lnTo>
                  <a:lnTo>
                    <a:pt x="1062" y="840"/>
                  </a:lnTo>
                  <a:lnTo>
                    <a:pt x="1062" y="846"/>
                  </a:lnTo>
                  <a:lnTo>
                    <a:pt x="1062" y="852"/>
                  </a:lnTo>
                  <a:lnTo>
                    <a:pt x="1068" y="852"/>
                  </a:lnTo>
                  <a:lnTo>
                    <a:pt x="1062" y="852"/>
                  </a:lnTo>
                  <a:lnTo>
                    <a:pt x="1068" y="852"/>
                  </a:lnTo>
                  <a:lnTo>
                    <a:pt x="1068" y="858"/>
                  </a:lnTo>
                  <a:lnTo>
                    <a:pt x="1062" y="858"/>
                  </a:lnTo>
                  <a:lnTo>
                    <a:pt x="1062" y="864"/>
                  </a:lnTo>
                  <a:lnTo>
                    <a:pt x="1062" y="858"/>
                  </a:lnTo>
                  <a:lnTo>
                    <a:pt x="1062" y="864"/>
                  </a:lnTo>
                  <a:lnTo>
                    <a:pt x="1056" y="864"/>
                  </a:lnTo>
                  <a:lnTo>
                    <a:pt x="1056" y="870"/>
                  </a:lnTo>
                  <a:lnTo>
                    <a:pt x="1086" y="894"/>
                  </a:lnTo>
                  <a:lnTo>
                    <a:pt x="1092" y="900"/>
                  </a:lnTo>
                  <a:lnTo>
                    <a:pt x="1110" y="918"/>
                  </a:lnTo>
                  <a:lnTo>
                    <a:pt x="1116" y="936"/>
                  </a:lnTo>
                  <a:lnTo>
                    <a:pt x="1104" y="942"/>
                  </a:lnTo>
                  <a:lnTo>
                    <a:pt x="1104" y="966"/>
                  </a:lnTo>
                  <a:lnTo>
                    <a:pt x="1110" y="966"/>
                  </a:lnTo>
                  <a:lnTo>
                    <a:pt x="1116" y="978"/>
                  </a:lnTo>
                  <a:lnTo>
                    <a:pt x="1116" y="996"/>
                  </a:lnTo>
                  <a:lnTo>
                    <a:pt x="1116" y="1002"/>
                  </a:lnTo>
                  <a:lnTo>
                    <a:pt x="1110" y="1008"/>
                  </a:lnTo>
                  <a:lnTo>
                    <a:pt x="1116" y="1020"/>
                  </a:lnTo>
                  <a:lnTo>
                    <a:pt x="1122" y="1032"/>
                  </a:lnTo>
                  <a:lnTo>
                    <a:pt x="1128" y="1038"/>
                  </a:lnTo>
                  <a:lnTo>
                    <a:pt x="1146" y="1038"/>
                  </a:lnTo>
                  <a:lnTo>
                    <a:pt x="1152" y="1044"/>
                  </a:lnTo>
                  <a:lnTo>
                    <a:pt x="1158" y="1056"/>
                  </a:lnTo>
                  <a:lnTo>
                    <a:pt x="1152" y="1056"/>
                  </a:lnTo>
                  <a:lnTo>
                    <a:pt x="1164" y="1062"/>
                  </a:lnTo>
                  <a:lnTo>
                    <a:pt x="1170" y="1074"/>
                  </a:lnTo>
                  <a:lnTo>
                    <a:pt x="1164" y="1080"/>
                  </a:lnTo>
                  <a:lnTo>
                    <a:pt x="1170" y="1086"/>
                  </a:lnTo>
                  <a:lnTo>
                    <a:pt x="1170" y="1092"/>
                  </a:lnTo>
                  <a:lnTo>
                    <a:pt x="1164" y="1098"/>
                  </a:lnTo>
                  <a:lnTo>
                    <a:pt x="1158" y="1104"/>
                  </a:lnTo>
                  <a:lnTo>
                    <a:pt x="1158" y="1116"/>
                  </a:lnTo>
                  <a:lnTo>
                    <a:pt x="1158" y="1122"/>
                  </a:lnTo>
                  <a:lnTo>
                    <a:pt x="1152" y="1128"/>
                  </a:lnTo>
                  <a:lnTo>
                    <a:pt x="1158" y="1128"/>
                  </a:lnTo>
                  <a:lnTo>
                    <a:pt x="1164" y="1128"/>
                  </a:lnTo>
                  <a:lnTo>
                    <a:pt x="1170" y="1128"/>
                  </a:lnTo>
                  <a:lnTo>
                    <a:pt x="1176" y="1128"/>
                  </a:lnTo>
                  <a:lnTo>
                    <a:pt x="1176" y="1122"/>
                  </a:lnTo>
                  <a:lnTo>
                    <a:pt x="1182" y="1122"/>
                  </a:lnTo>
                  <a:lnTo>
                    <a:pt x="1188" y="1128"/>
                  </a:lnTo>
                  <a:lnTo>
                    <a:pt x="1194" y="1134"/>
                  </a:lnTo>
                  <a:lnTo>
                    <a:pt x="1188" y="1140"/>
                  </a:lnTo>
                  <a:lnTo>
                    <a:pt x="1194" y="1140"/>
                  </a:lnTo>
                  <a:lnTo>
                    <a:pt x="1194" y="1146"/>
                  </a:lnTo>
                  <a:lnTo>
                    <a:pt x="1218" y="1140"/>
                  </a:lnTo>
                  <a:lnTo>
                    <a:pt x="1224" y="1140"/>
                  </a:lnTo>
                  <a:lnTo>
                    <a:pt x="1230" y="1146"/>
                  </a:lnTo>
                  <a:lnTo>
                    <a:pt x="1224" y="1158"/>
                  </a:lnTo>
                  <a:lnTo>
                    <a:pt x="1230" y="1170"/>
                  </a:lnTo>
                  <a:lnTo>
                    <a:pt x="1224" y="1176"/>
                  </a:lnTo>
                  <a:lnTo>
                    <a:pt x="1230" y="1182"/>
                  </a:lnTo>
                  <a:lnTo>
                    <a:pt x="1236" y="1206"/>
                  </a:lnTo>
                  <a:lnTo>
                    <a:pt x="1230" y="1218"/>
                  </a:lnTo>
                  <a:lnTo>
                    <a:pt x="1230" y="1224"/>
                  </a:lnTo>
                  <a:lnTo>
                    <a:pt x="1218" y="1236"/>
                  </a:lnTo>
                  <a:lnTo>
                    <a:pt x="1206" y="1242"/>
                  </a:lnTo>
                  <a:lnTo>
                    <a:pt x="1200" y="1266"/>
                  </a:lnTo>
                  <a:lnTo>
                    <a:pt x="1188" y="1272"/>
                  </a:lnTo>
                  <a:lnTo>
                    <a:pt x="1194" y="1278"/>
                  </a:lnTo>
                  <a:lnTo>
                    <a:pt x="1206" y="1284"/>
                  </a:lnTo>
                  <a:lnTo>
                    <a:pt x="1206" y="1296"/>
                  </a:lnTo>
                  <a:lnTo>
                    <a:pt x="1206" y="1302"/>
                  </a:lnTo>
                  <a:lnTo>
                    <a:pt x="1212" y="1296"/>
                  </a:lnTo>
                  <a:lnTo>
                    <a:pt x="1218" y="1302"/>
                  </a:lnTo>
                  <a:lnTo>
                    <a:pt x="1212" y="1314"/>
                  </a:lnTo>
                  <a:lnTo>
                    <a:pt x="1206" y="1326"/>
                  </a:lnTo>
                  <a:lnTo>
                    <a:pt x="1212" y="1332"/>
                  </a:lnTo>
                  <a:lnTo>
                    <a:pt x="1206" y="1344"/>
                  </a:lnTo>
                  <a:lnTo>
                    <a:pt x="1200" y="1344"/>
                  </a:lnTo>
                  <a:lnTo>
                    <a:pt x="1194" y="1350"/>
                  </a:lnTo>
                  <a:lnTo>
                    <a:pt x="1188" y="1362"/>
                  </a:lnTo>
                  <a:lnTo>
                    <a:pt x="1188" y="1368"/>
                  </a:lnTo>
                  <a:lnTo>
                    <a:pt x="1176" y="1374"/>
                  </a:lnTo>
                  <a:lnTo>
                    <a:pt x="1176" y="1380"/>
                  </a:lnTo>
                  <a:lnTo>
                    <a:pt x="1182" y="1380"/>
                  </a:lnTo>
                  <a:lnTo>
                    <a:pt x="1182" y="1386"/>
                  </a:lnTo>
                  <a:lnTo>
                    <a:pt x="1170" y="1392"/>
                  </a:lnTo>
                  <a:lnTo>
                    <a:pt x="1158" y="1410"/>
                  </a:lnTo>
                  <a:lnTo>
                    <a:pt x="1164" y="1434"/>
                  </a:lnTo>
                  <a:lnTo>
                    <a:pt x="1170" y="1452"/>
                  </a:lnTo>
                  <a:lnTo>
                    <a:pt x="1176" y="1452"/>
                  </a:lnTo>
                  <a:lnTo>
                    <a:pt x="1182" y="1452"/>
                  </a:lnTo>
                  <a:lnTo>
                    <a:pt x="1188" y="1458"/>
                  </a:lnTo>
                  <a:lnTo>
                    <a:pt x="1194" y="1464"/>
                  </a:lnTo>
                  <a:lnTo>
                    <a:pt x="1206" y="1464"/>
                  </a:lnTo>
                  <a:lnTo>
                    <a:pt x="1206" y="1470"/>
                  </a:lnTo>
                  <a:lnTo>
                    <a:pt x="1218" y="1476"/>
                  </a:lnTo>
                  <a:lnTo>
                    <a:pt x="1224" y="1470"/>
                  </a:lnTo>
                  <a:lnTo>
                    <a:pt x="1224" y="1476"/>
                  </a:lnTo>
                  <a:lnTo>
                    <a:pt x="1224" y="1482"/>
                  </a:lnTo>
                  <a:lnTo>
                    <a:pt x="1212" y="1488"/>
                  </a:lnTo>
                  <a:lnTo>
                    <a:pt x="1212" y="1500"/>
                  </a:lnTo>
                  <a:lnTo>
                    <a:pt x="1146" y="1536"/>
                  </a:lnTo>
                  <a:close/>
                  <a:moveTo>
                    <a:pt x="498" y="78"/>
                  </a:moveTo>
                  <a:lnTo>
                    <a:pt x="498" y="72"/>
                  </a:lnTo>
                  <a:lnTo>
                    <a:pt x="498" y="66"/>
                  </a:lnTo>
                  <a:lnTo>
                    <a:pt x="498" y="60"/>
                  </a:lnTo>
                  <a:lnTo>
                    <a:pt x="498" y="54"/>
                  </a:lnTo>
                  <a:lnTo>
                    <a:pt x="498" y="42"/>
                  </a:lnTo>
                  <a:lnTo>
                    <a:pt x="504" y="36"/>
                  </a:lnTo>
                  <a:lnTo>
                    <a:pt x="498" y="30"/>
                  </a:lnTo>
                  <a:lnTo>
                    <a:pt x="498" y="24"/>
                  </a:lnTo>
                  <a:lnTo>
                    <a:pt x="504" y="18"/>
                  </a:lnTo>
                  <a:lnTo>
                    <a:pt x="510" y="18"/>
                  </a:lnTo>
                  <a:lnTo>
                    <a:pt x="516" y="12"/>
                  </a:lnTo>
                  <a:lnTo>
                    <a:pt x="522" y="12"/>
                  </a:lnTo>
                  <a:lnTo>
                    <a:pt x="528" y="12"/>
                  </a:lnTo>
                  <a:lnTo>
                    <a:pt x="528" y="6"/>
                  </a:lnTo>
                  <a:lnTo>
                    <a:pt x="534" y="6"/>
                  </a:lnTo>
                  <a:lnTo>
                    <a:pt x="540" y="6"/>
                  </a:lnTo>
                  <a:lnTo>
                    <a:pt x="546" y="6"/>
                  </a:lnTo>
                  <a:lnTo>
                    <a:pt x="552" y="12"/>
                  </a:lnTo>
                  <a:lnTo>
                    <a:pt x="558" y="18"/>
                  </a:lnTo>
                  <a:lnTo>
                    <a:pt x="558" y="24"/>
                  </a:lnTo>
                  <a:lnTo>
                    <a:pt x="564" y="24"/>
                  </a:lnTo>
                  <a:lnTo>
                    <a:pt x="564" y="30"/>
                  </a:lnTo>
                  <a:lnTo>
                    <a:pt x="570" y="36"/>
                  </a:lnTo>
                  <a:lnTo>
                    <a:pt x="570" y="42"/>
                  </a:lnTo>
                  <a:lnTo>
                    <a:pt x="576" y="48"/>
                  </a:lnTo>
                  <a:lnTo>
                    <a:pt x="576" y="54"/>
                  </a:lnTo>
                  <a:lnTo>
                    <a:pt x="576" y="60"/>
                  </a:lnTo>
                  <a:lnTo>
                    <a:pt x="570" y="60"/>
                  </a:lnTo>
                  <a:lnTo>
                    <a:pt x="564" y="60"/>
                  </a:lnTo>
                  <a:lnTo>
                    <a:pt x="558" y="60"/>
                  </a:lnTo>
                  <a:lnTo>
                    <a:pt x="558" y="66"/>
                  </a:lnTo>
                  <a:lnTo>
                    <a:pt x="552" y="66"/>
                  </a:lnTo>
                  <a:lnTo>
                    <a:pt x="546" y="66"/>
                  </a:lnTo>
                  <a:lnTo>
                    <a:pt x="540" y="66"/>
                  </a:lnTo>
                  <a:lnTo>
                    <a:pt x="534" y="72"/>
                  </a:lnTo>
                  <a:lnTo>
                    <a:pt x="528" y="72"/>
                  </a:lnTo>
                  <a:lnTo>
                    <a:pt x="528" y="78"/>
                  </a:lnTo>
                  <a:lnTo>
                    <a:pt x="522" y="78"/>
                  </a:lnTo>
                  <a:lnTo>
                    <a:pt x="522" y="84"/>
                  </a:lnTo>
                  <a:lnTo>
                    <a:pt x="516" y="84"/>
                  </a:lnTo>
                  <a:lnTo>
                    <a:pt x="510" y="78"/>
                  </a:lnTo>
                  <a:lnTo>
                    <a:pt x="510" y="84"/>
                  </a:lnTo>
                  <a:lnTo>
                    <a:pt x="504" y="78"/>
                  </a:lnTo>
                  <a:lnTo>
                    <a:pt x="504" y="72"/>
                  </a:lnTo>
                  <a:lnTo>
                    <a:pt x="504" y="78"/>
                  </a:lnTo>
                  <a:lnTo>
                    <a:pt x="498" y="78"/>
                  </a:lnTo>
                  <a:lnTo>
                    <a:pt x="504" y="78"/>
                  </a:lnTo>
                  <a:lnTo>
                    <a:pt x="504" y="84"/>
                  </a:lnTo>
                  <a:lnTo>
                    <a:pt x="498" y="84"/>
                  </a:lnTo>
                  <a:lnTo>
                    <a:pt x="498" y="78"/>
                  </a:lnTo>
                  <a:close/>
                  <a:moveTo>
                    <a:pt x="816" y="192"/>
                  </a:moveTo>
                  <a:lnTo>
                    <a:pt x="816" y="186"/>
                  </a:lnTo>
                  <a:lnTo>
                    <a:pt x="816" y="180"/>
                  </a:lnTo>
                  <a:lnTo>
                    <a:pt x="822" y="180"/>
                  </a:lnTo>
                  <a:lnTo>
                    <a:pt x="822" y="174"/>
                  </a:lnTo>
                  <a:lnTo>
                    <a:pt x="828" y="174"/>
                  </a:lnTo>
                  <a:lnTo>
                    <a:pt x="834" y="168"/>
                  </a:lnTo>
                  <a:lnTo>
                    <a:pt x="834" y="162"/>
                  </a:lnTo>
                  <a:lnTo>
                    <a:pt x="834" y="156"/>
                  </a:lnTo>
                  <a:lnTo>
                    <a:pt x="840" y="156"/>
                  </a:lnTo>
                  <a:lnTo>
                    <a:pt x="840" y="150"/>
                  </a:lnTo>
                  <a:lnTo>
                    <a:pt x="846" y="150"/>
                  </a:lnTo>
                  <a:lnTo>
                    <a:pt x="846" y="144"/>
                  </a:lnTo>
                  <a:lnTo>
                    <a:pt x="852" y="144"/>
                  </a:lnTo>
                  <a:lnTo>
                    <a:pt x="858" y="144"/>
                  </a:lnTo>
                  <a:lnTo>
                    <a:pt x="864" y="150"/>
                  </a:lnTo>
                  <a:lnTo>
                    <a:pt x="870" y="150"/>
                  </a:lnTo>
                  <a:lnTo>
                    <a:pt x="876" y="150"/>
                  </a:lnTo>
                  <a:lnTo>
                    <a:pt x="876" y="156"/>
                  </a:lnTo>
                  <a:lnTo>
                    <a:pt x="882" y="162"/>
                  </a:lnTo>
                  <a:lnTo>
                    <a:pt x="882" y="168"/>
                  </a:lnTo>
                  <a:lnTo>
                    <a:pt x="882" y="174"/>
                  </a:lnTo>
                  <a:lnTo>
                    <a:pt x="882" y="180"/>
                  </a:lnTo>
                  <a:lnTo>
                    <a:pt x="882" y="174"/>
                  </a:lnTo>
                  <a:lnTo>
                    <a:pt x="882" y="168"/>
                  </a:lnTo>
                  <a:lnTo>
                    <a:pt x="876" y="168"/>
                  </a:lnTo>
                  <a:lnTo>
                    <a:pt x="876" y="174"/>
                  </a:lnTo>
                  <a:lnTo>
                    <a:pt x="870" y="174"/>
                  </a:lnTo>
                  <a:lnTo>
                    <a:pt x="870" y="180"/>
                  </a:lnTo>
                  <a:lnTo>
                    <a:pt x="864" y="180"/>
                  </a:lnTo>
                  <a:lnTo>
                    <a:pt x="864" y="186"/>
                  </a:lnTo>
                  <a:lnTo>
                    <a:pt x="858" y="186"/>
                  </a:lnTo>
                  <a:lnTo>
                    <a:pt x="858" y="192"/>
                  </a:lnTo>
                  <a:lnTo>
                    <a:pt x="852" y="192"/>
                  </a:lnTo>
                  <a:lnTo>
                    <a:pt x="846" y="192"/>
                  </a:lnTo>
                  <a:lnTo>
                    <a:pt x="840" y="192"/>
                  </a:lnTo>
                  <a:lnTo>
                    <a:pt x="834" y="192"/>
                  </a:lnTo>
                  <a:lnTo>
                    <a:pt x="828" y="192"/>
                  </a:lnTo>
                  <a:lnTo>
                    <a:pt x="822" y="198"/>
                  </a:lnTo>
                  <a:lnTo>
                    <a:pt x="822" y="192"/>
                  </a:lnTo>
                  <a:lnTo>
                    <a:pt x="822" y="198"/>
                  </a:lnTo>
                  <a:lnTo>
                    <a:pt x="816" y="198"/>
                  </a:lnTo>
                  <a:lnTo>
                    <a:pt x="816" y="192"/>
                  </a:lnTo>
                  <a:close/>
                  <a:moveTo>
                    <a:pt x="894" y="108"/>
                  </a:moveTo>
                  <a:lnTo>
                    <a:pt x="900" y="102"/>
                  </a:lnTo>
                  <a:lnTo>
                    <a:pt x="906" y="96"/>
                  </a:lnTo>
                  <a:lnTo>
                    <a:pt x="906" y="90"/>
                  </a:lnTo>
                  <a:lnTo>
                    <a:pt x="912" y="84"/>
                  </a:lnTo>
                  <a:lnTo>
                    <a:pt x="912" y="78"/>
                  </a:lnTo>
                  <a:lnTo>
                    <a:pt x="918" y="72"/>
                  </a:lnTo>
                  <a:lnTo>
                    <a:pt x="918" y="66"/>
                  </a:lnTo>
                  <a:lnTo>
                    <a:pt x="924" y="66"/>
                  </a:lnTo>
                  <a:lnTo>
                    <a:pt x="924" y="72"/>
                  </a:lnTo>
                  <a:lnTo>
                    <a:pt x="918" y="72"/>
                  </a:lnTo>
                  <a:lnTo>
                    <a:pt x="924" y="72"/>
                  </a:lnTo>
                  <a:lnTo>
                    <a:pt x="924" y="78"/>
                  </a:lnTo>
                  <a:lnTo>
                    <a:pt x="930" y="84"/>
                  </a:lnTo>
                  <a:lnTo>
                    <a:pt x="930" y="90"/>
                  </a:lnTo>
                  <a:lnTo>
                    <a:pt x="936" y="96"/>
                  </a:lnTo>
                  <a:lnTo>
                    <a:pt x="930" y="96"/>
                  </a:lnTo>
                  <a:lnTo>
                    <a:pt x="936" y="96"/>
                  </a:lnTo>
                  <a:lnTo>
                    <a:pt x="936" y="102"/>
                  </a:lnTo>
                  <a:lnTo>
                    <a:pt x="936" y="108"/>
                  </a:lnTo>
                  <a:lnTo>
                    <a:pt x="936" y="114"/>
                  </a:lnTo>
                  <a:lnTo>
                    <a:pt x="936" y="120"/>
                  </a:lnTo>
                  <a:lnTo>
                    <a:pt x="936" y="126"/>
                  </a:lnTo>
                  <a:lnTo>
                    <a:pt x="930" y="126"/>
                  </a:lnTo>
                  <a:lnTo>
                    <a:pt x="930" y="132"/>
                  </a:lnTo>
                  <a:lnTo>
                    <a:pt x="924" y="132"/>
                  </a:lnTo>
                  <a:lnTo>
                    <a:pt x="924" y="126"/>
                  </a:lnTo>
                  <a:lnTo>
                    <a:pt x="918" y="126"/>
                  </a:lnTo>
                  <a:lnTo>
                    <a:pt x="912" y="126"/>
                  </a:lnTo>
                  <a:lnTo>
                    <a:pt x="906" y="126"/>
                  </a:lnTo>
                  <a:lnTo>
                    <a:pt x="906" y="120"/>
                  </a:lnTo>
                  <a:lnTo>
                    <a:pt x="900" y="120"/>
                  </a:lnTo>
                  <a:lnTo>
                    <a:pt x="894" y="120"/>
                  </a:lnTo>
                  <a:lnTo>
                    <a:pt x="894" y="114"/>
                  </a:lnTo>
                  <a:lnTo>
                    <a:pt x="894" y="108"/>
                  </a:lnTo>
                  <a:close/>
                  <a:moveTo>
                    <a:pt x="456" y="912"/>
                  </a:moveTo>
                  <a:lnTo>
                    <a:pt x="462" y="912"/>
                  </a:lnTo>
                  <a:lnTo>
                    <a:pt x="468" y="912"/>
                  </a:lnTo>
                  <a:lnTo>
                    <a:pt x="474" y="912"/>
                  </a:lnTo>
                  <a:lnTo>
                    <a:pt x="480" y="912"/>
                  </a:lnTo>
                  <a:lnTo>
                    <a:pt x="486" y="918"/>
                  </a:lnTo>
                  <a:lnTo>
                    <a:pt x="480" y="918"/>
                  </a:lnTo>
                  <a:lnTo>
                    <a:pt x="474" y="918"/>
                  </a:lnTo>
                  <a:lnTo>
                    <a:pt x="480" y="918"/>
                  </a:lnTo>
                  <a:lnTo>
                    <a:pt x="480" y="924"/>
                  </a:lnTo>
                  <a:lnTo>
                    <a:pt x="486" y="924"/>
                  </a:lnTo>
                  <a:lnTo>
                    <a:pt x="492" y="924"/>
                  </a:lnTo>
                  <a:lnTo>
                    <a:pt x="498" y="924"/>
                  </a:lnTo>
                  <a:lnTo>
                    <a:pt x="492" y="924"/>
                  </a:lnTo>
                  <a:lnTo>
                    <a:pt x="492" y="918"/>
                  </a:lnTo>
                  <a:lnTo>
                    <a:pt x="492" y="924"/>
                  </a:lnTo>
                  <a:lnTo>
                    <a:pt x="498" y="924"/>
                  </a:lnTo>
                  <a:lnTo>
                    <a:pt x="504" y="924"/>
                  </a:lnTo>
                  <a:lnTo>
                    <a:pt x="504" y="930"/>
                  </a:lnTo>
                  <a:lnTo>
                    <a:pt x="498" y="930"/>
                  </a:lnTo>
                  <a:lnTo>
                    <a:pt x="498" y="924"/>
                  </a:lnTo>
                  <a:lnTo>
                    <a:pt x="498" y="930"/>
                  </a:lnTo>
                  <a:lnTo>
                    <a:pt x="504" y="930"/>
                  </a:lnTo>
                  <a:lnTo>
                    <a:pt x="510" y="936"/>
                  </a:lnTo>
                  <a:lnTo>
                    <a:pt x="504" y="936"/>
                  </a:lnTo>
                  <a:lnTo>
                    <a:pt x="498" y="936"/>
                  </a:lnTo>
                  <a:lnTo>
                    <a:pt x="498" y="942"/>
                  </a:lnTo>
                  <a:lnTo>
                    <a:pt x="504" y="942"/>
                  </a:lnTo>
                  <a:lnTo>
                    <a:pt x="504" y="948"/>
                  </a:lnTo>
                  <a:lnTo>
                    <a:pt x="504" y="942"/>
                  </a:lnTo>
                  <a:lnTo>
                    <a:pt x="504" y="948"/>
                  </a:lnTo>
                  <a:lnTo>
                    <a:pt x="510" y="948"/>
                  </a:lnTo>
                  <a:lnTo>
                    <a:pt x="504" y="948"/>
                  </a:lnTo>
                  <a:lnTo>
                    <a:pt x="504" y="954"/>
                  </a:lnTo>
                  <a:lnTo>
                    <a:pt x="498" y="954"/>
                  </a:lnTo>
                  <a:lnTo>
                    <a:pt x="492" y="954"/>
                  </a:lnTo>
                  <a:lnTo>
                    <a:pt x="492" y="948"/>
                  </a:lnTo>
                  <a:lnTo>
                    <a:pt x="486" y="948"/>
                  </a:lnTo>
                  <a:lnTo>
                    <a:pt x="480" y="942"/>
                  </a:lnTo>
                  <a:lnTo>
                    <a:pt x="480" y="936"/>
                  </a:lnTo>
                  <a:lnTo>
                    <a:pt x="480" y="930"/>
                  </a:lnTo>
                  <a:lnTo>
                    <a:pt x="480" y="936"/>
                  </a:lnTo>
                  <a:lnTo>
                    <a:pt x="480" y="930"/>
                  </a:lnTo>
                  <a:lnTo>
                    <a:pt x="480" y="924"/>
                  </a:lnTo>
                  <a:lnTo>
                    <a:pt x="474" y="924"/>
                  </a:lnTo>
                  <a:lnTo>
                    <a:pt x="468" y="924"/>
                  </a:lnTo>
                  <a:lnTo>
                    <a:pt x="462" y="924"/>
                  </a:lnTo>
                  <a:lnTo>
                    <a:pt x="462" y="918"/>
                  </a:lnTo>
                  <a:lnTo>
                    <a:pt x="468" y="918"/>
                  </a:lnTo>
                  <a:lnTo>
                    <a:pt x="462" y="918"/>
                  </a:lnTo>
                  <a:lnTo>
                    <a:pt x="456" y="918"/>
                  </a:lnTo>
                  <a:lnTo>
                    <a:pt x="456" y="912"/>
                  </a:lnTo>
                  <a:close/>
                  <a:moveTo>
                    <a:pt x="702" y="66"/>
                  </a:moveTo>
                  <a:lnTo>
                    <a:pt x="708" y="66"/>
                  </a:lnTo>
                  <a:lnTo>
                    <a:pt x="714" y="72"/>
                  </a:lnTo>
                  <a:lnTo>
                    <a:pt x="720" y="72"/>
                  </a:lnTo>
                  <a:lnTo>
                    <a:pt x="720" y="78"/>
                  </a:lnTo>
                  <a:lnTo>
                    <a:pt x="726" y="78"/>
                  </a:lnTo>
                  <a:lnTo>
                    <a:pt x="720" y="78"/>
                  </a:lnTo>
                  <a:lnTo>
                    <a:pt x="720" y="72"/>
                  </a:lnTo>
                  <a:lnTo>
                    <a:pt x="714" y="72"/>
                  </a:lnTo>
                  <a:lnTo>
                    <a:pt x="714" y="78"/>
                  </a:lnTo>
                  <a:lnTo>
                    <a:pt x="714" y="84"/>
                  </a:lnTo>
                  <a:lnTo>
                    <a:pt x="714" y="90"/>
                  </a:lnTo>
                  <a:lnTo>
                    <a:pt x="714" y="96"/>
                  </a:lnTo>
                  <a:lnTo>
                    <a:pt x="708" y="96"/>
                  </a:lnTo>
                  <a:lnTo>
                    <a:pt x="714" y="96"/>
                  </a:lnTo>
                  <a:lnTo>
                    <a:pt x="714" y="102"/>
                  </a:lnTo>
                  <a:lnTo>
                    <a:pt x="714" y="108"/>
                  </a:lnTo>
                  <a:lnTo>
                    <a:pt x="708" y="108"/>
                  </a:lnTo>
                  <a:lnTo>
                    <a:pt x="708" y="102"/>
                  </a:lnTo>
                  <a:lnTo>
                    <a:pt x="708" y="108"/>
                  </a:lnTo>
                  <a:lnTo>
                    <a:pt x="702" y="102"/>
                  </a:lnTo>
                  <a:lnTo>
                    <a:pt x="696" y="96"/>
                  </a:lnTo>
                  <a:lnTo>
                    <a:pt x="690" y="96"/>
                  </a:lnTo>
                  <a:lnTo>
                    <a:pt x="690" y="90"/>
                  </a:lnTo>
                  <a:lnTo>
                    <a:pt x="684" y="90"/>
                  </a:lnTo>
                  <a:lnTo>
                    <a:pt x="684" y="84"/>
                  </a:lnTo>
                  <a:lnTo>
                    <a:pt x="690" y="84"/>
                  </a:lnTo>
                  <a:lnTo>
                    <a:pt x="690" y="78"/>
                  </a:lnTo>
                  <a:lnTo>
                    <a:pt x="690" y="72"/>
                  </a:lnTo>
                  <a:lnTo>
                    <a:pt x="696" y="66"/>
                  </a:lnTo>
                  <a:lnTo>
                    <a:pt x="702" y="66"/>
                  </a:lnTo>
                  <a:close/>
                  <a:moveTo>
                    <a:pt x="744" y="18"/>
                  </a:moveTo>
                  <a:lnTo>
                    <a:pt x="750" y="12"/>
                  </a:lnTo>
                  <a:lnTo>
                    <a:pt x="750" y="6"/>
                  </a:lnTo>
                  <a:lnTo>
                    <a:pt x="756" y="6"/>
                  </a:lnTo>
                  <a:lnTo>
                    <a:pt x="756" y="0"/>
                  </a:lnTo>
                  <a:lnTo>
                    <a:pt x="762" y="0"/>
                  </a:lnTo>
                  <a:lnTo>
                    <a:pt x="768" y="0"/>
                  </a:lnTo>
                  <a:lnTo>
                    <a:pt x="774" y="0"/>
                  </a:lnTo>
                  <a:lnTo>
                    <a:pt x="780" y="0"/>
                  </a:lnTo>
                  <a:lnTo>
                    <a:pt x="774" y="0"/>
                  </a:lnTo>
                  <a:lnTo>
                    <a:pt x="774" y="6"/>
                  </a:lnTo>
                  <a:lnTo>
                    <a:pt x="768" y="6"/>
                  </a:lnTo>
                  <a:lnTo>
                    <a:pt x="768" y="12"/>
                  </a:lnTo>
                  <a:lnTo>
                    <a:pt x="768" y="18"/>
                  </a:lnTo>
                  <a:lnTo>
                    <a:pt x="762" y="18"/>
                  </a:lnTo>
                  <a:lnTo>
                    <a:pt x="756" y="18"/>
                  </a:lnTo>
                  <a:lnTo>
                    <a:pt x="756" y="12"/>
                  </a:lnTo>
                  <a:lnTo>
                    <a:pt x="756" y="6"/>
                  </a:lnTo>
                  <a:lnTo>
                    <a:pt x="750" y="12"/>
                  </a:lnTo>
                  <a:lnTo>
                    <a:pt x="750" y="18"/>
                  </a:lnTo>
                  <a:lnTo>
                    <a:pt x="744" y="18"/>
                  </a:lnTo>
                  <a:lnTo>
                    <a:pt x="750" y="24"/>
                  </a:lnTo>
                  <a:lnTo>
                    <a:pt x="744" y="24"/>
                  </a:lnTo>
                  <a:lnTo>
                    <a:pt x="750" y="24"/>
                  </a:lnTo>
                  <a:lnTo>
                    <a:pt x="744" y="24"/>
                  </a:lnTo>
                  <a:lnTo>
                    <a:pt x="744" y="18"/>
                  </a:lnTo>
                  <a:close/>
                  <a:moveTo>
                    <a:pt x="780" y="54"/>
                  </a:moveTo>
                  <a:lnTo>
                    <a:pt x="786" y="54"/>
                  </a:lnTo>
                  <a:lnTo>
                    <a:pt x="792" y="54"/>
                  </a:lnTo>
                  <a:lnTo>
                    <a:pt x="798" y="54"/>
                  </a:lnTo>
                  <a:lnTo>
                    <a:pt x="798" y="60"/>
                  </a:lnTo>
                  <a:lnTo>
                    <a:pt x="804" y="60"/>
                  </a:lnTo>
                  <a:lnTo>
                    <a:pt x="804" y="66"/>
                  </a:lnTo>
                  <a:lnTo>
                    <a:pt x="798" y="66"/>
                  </a:lnTo>
                  <a:lnTo>
                    <a:pt x="792" y="66"/>
                  </a:lnTo>
                  <a:lnTo>
                    <a:pt x="786" y="60"/>
                  </a:lnTo>
                  <a:lnTo>
                    <a:pt x="780" y="60"/>
                  </a:lnTo>
                  <a:lnTo>
                    <a:pt x="780" y="54"/>
                  </a:lnTo>
                  <a:close/>
                  <a:moveTo>
                    <a:pt x="774" y="6"/>
                  </a:moveTo>
                  <a:lnTo>
                    <a:pt x="780" y="6"/>
                  </a:lnTo>
                  <a:lnTo>
                    <a:pt x="780" y="0"/>
                  </a:lnTo>
                  <a:lnTo>
                    <a:pt x="786" y="0"/>
                  </a:lnTo>
                  <a:lnTo>
                    <a:pt x="786" y="6"/>
                  </a:lnTo>
                  <a:lnTo>
                    <a:pt x="792" y="6"/>
                  </a:lnTo>
                  <a:lnTo>
                    <a:pt x="798" y="12"/>
                  </a:lnTo>
                  <a:lnTo>
                    <a:pt x="804" y="12"/>
                  </a:lnTo>
                  <a:lnTo>
                    <a:pt x="804" y="18"/>
                  </a:lnTo>
                  <a:lnTo>
                    <a:pt x="810" y="18"/>
                  </a:lnTo>
                  <a:lnTo>
                    <a:pt x="810" y="24"/>
                  </a:lnTo>
                  <a:lnTo>
                    <a:pt x="810" y="18"/>
                  </a:lnTo>
                  <a:lnTo>
                    <a:pt x="804" y="18"/>
                  </a:lnTo>
                  <a:lnTo>
                    <a:pt x="804" y="12"/>
                  </a:lnTo>
                  <a:lnTo>
                    <a:pt x="798" y="12"/>
                  </a:lnTo>
                  <a:lnTo>
                    <a:pt x="792" y="6"/>
                  </a:lnTo>
                  <a:lnTo>
                    <a:pt x="786" y="6"/>
                  </a:lnTo>
                  <a:lnTo>
                    <a:pt x="780" y="6"/>
                  </a:lnTo>
                  <a:lnTo>
                    <a:pt x="774" y="6"/>
                  </a:lnTo>
                  <a:close/>
                  <a:moveTo>
                    <a:pt x="468" y="930"/>
                  </a:moveTo>
                  <a:lnTo>
                    <a:pt x="468" y="924"/>
                  </a:lnTo>
                  <a:lnTo>
                    <a:pt x="474" y="924"/>
                  </a:lnTo>
                  <a:lnTo>
                    <a:pt x="474" y="930"/>
                  </a:lnTo>
                  <a:lnTo>
                    <a:pt x="474" y="936"/>
                  </a:lnTo>
                  <a:lnTo>
                    <a:pt x="468" y="936"/>
                  </a:lnTo>
                  <a:lnTo>
                    <a:pt x="468" y="930"/>
                  </a:lnTo>
                  <a:close/>
                </a:path>
              </a:pathLst>
            </a:custGeom>
            <a:solidFill>
              <a:schemeClr val="accent1"/>
            </a:solidFill>
            <a:ln w="9525">
              <a:solidFill>
                <a:srgbClr val="B2B2B2"/>
              </a:solidFill>
              <a:round/>
              <a:headEnd/>
              <a:tailEnd/>
            </a:ln>
          </p:spPr>
          <p:txBody>
            <a:bodyPr/>
            <a:lstStyle/>
            <a:p>
              <a:endParaRPr lang="en-CA"/>
            </a:p>
          </p:txBody>
        </p:sp>
        <p:sp>
          <p:nvSpPr>
            <p:cNvPr id="422" name="Freeform 481"/>
            <p:cNvSpPr>
              <a:spLocks/>
            </p:cNvSpPr>
            <p:nvPr>
              <p:custDataLst>
                <p:tags r:id="rId45"/>
              </p:custDataLst>
            </p:nvPr>
          </p:nvSpPr>
          <p:spPr bwMode="gray">
            <a:xfrm>
              <a:off x="1117" y="2242"/>
              <a:ext cx="597" cy="607"/>
            </a:xfrm>
            <a:custGeom>
              <a:avLst/>
              <a:gdLst>
                <a:gd name="T0" fmla="*/ 620532775 w 960"/>
                <a:gd name="T1" fmla="*/ 725159429 h 972"/>
                <a:gd name="T2" fmla="*/ 597115773 w 960"/>
                <a:gd name="T3" fmla="*/ 742846486 h 972"/>
                <a:gd name="T4" fmla="*/ 485887977 w 960"/>
                <a:gd name="T5" fmla="*/ 772324914 h 972"/>
                <a:gd name="T6" fmla="*/ 380515418 w 960"/>
                <a:gd name="T7" fmla="*/ 790010980 h 972"/>
                <a:gd name="T8" fmla="*/ 316120638 w 960"/>
                <a:gd name="T9" fmla="*/ 801802352 h 972"/>
                <a:gd name="T10" fmla="*/ 316120638 w 960"/>
                <a:gd name="T11" fmla="*/ 848966846 h 972"/>
                <a:gd name="T12" fmla="*/ 275141872 w 960"/>
                <a:gd name="T13" fmla="*/ 890236646 h 972"/>
                <a:gd name="T14" fmla="*/ 240017357 w 960"/>
                <a:gd name="T15" fmla="*/ 896132332 h 972"/>
                <a:gd name="T16" fmla="*/ 210747092 w 960"/>
                <a:gd name="T17" fmla="*/ 907923703 h 972"/>
                <a:gd name="T18" fmla="*/ 199038591 w 960"/>
                <a:gd name="T19" fmla="*/ 949192512 h 972"/>
                <a:gd name="T20" fmla="*/ 169768326 w 960"/>
                <a:gd name="T21" fmla="*/ 931505454 h 972"/>
                <a:gd name="T22" fmla="*/ 146352312 w 960"/>
                <a:gd name="T23" fmla="*/ 843072152 h 972"/>
                <a:gd name="T24" fmla="*/ 140498061 w 960"/>
                <a:gd name="T25" fmla="*/ 801802352 h 972"/>
                <a:gd name="T26" fmla="*/ 181476827 w 960"/>
                <a:gd name="T27" fmla="*/ 748742172 h 972"/>
                <a:gd name="T28" fmla="*/ 193184341 w 960"/>
                <a:gd name="T29" fmla="*/ 619039069 h 972"/>
                <a:gd name="T30" fmla="*/ 122935310 w 960"/>
                <a:gd name="T31" fmla="*/ 660307877 h 972"/>
                <a:gd name="T32" fmla="*/ 76103281 w 960"/>
                <a:gd name="T33" fmla="*/ 613143383 h 972"/>
                <a:gd name="T34" fmla="*/ 76103281 w 960"/>
                <a:gd name="T35" fmla="*/ 565977897 h 972"/>
                <a:gd name="T36" fmla="*/ 70249031 w 960"/>
                <a:gd name="T37" fmla="*/ 530604774 h 972"/>
                <a:gd name="T38" fmla="*/ 11708501 w 960"/>
                <a:gd name="T39" fmla="*/ 489334974 h 972"/>
                <a:gd name="T40" fmla="*/ 87810795 w 960"/>
                <a:gd name="T41" fmla="*/ 459857537 h 972"/>
                <a:gd name="T42" fmla="*/ 158059825 w 960"/>
                <a:gd name="T43" fmla="*/ 442170480 h 972"/>
                <a:gd name="T44" fmla="*/ 193184341 w 960"/>
                <a:gd name="T45" fmla="*/ 371423243 h 972"/>
                <a:gd name="T46" fmla="*/ 275141872 w 960"/>
                <a:gd name="T47" fmla="*/ 182764274 h 972"/>
                <a:gd name="T48" fmla="*/ 286849386 w 960"/>
                <a:gd name="T49" fmla="*/ 176868589 h 972"/>
                <a:gd name="T50" fmla="*/ 298557887 w 960"/>
                <a:gd name="T51" fmla="*/ 170972903 h 972"/>
                <a:gd name="T52" fmla="*/ 415639934 w 960"/>
                <a:gd name="T53" fmla="*/ 170972903 h 972"/>
                <a:gd name="T54" fmla="*/ 725905334 w 960"/>
                <a:gd name="T55" fmla="*/ 170972903 h 972"/>
                <a:gd name="T56" fmla="*/ 784446851 w 960"/>
                <a:gd name="T57" fmla="*/ 129703103 h 972"/>
                <a:gd name="T58" fmla="*/ 790300114 w 960"/>
                <a:gd name="T59" fmla="*/ 106121351 h 972"/>
                <a:gd name="T60" fmla="*/ 802008615 w 960"/>
                <a:gd name="T61" fmla="*/ 82538609 h 972"/>
                <a:gd name="T62" fmla="*/ 825424630 w 960"/>
                <a:gd name="T63" fmla="*/ 82538609 h 972"/>
                <a:gd name="T64" fmla="*/ 831278880 w 960"/>
                <a:gd name="T65" fmla="*/ 70747237 h 972"/>
                <a:gd name="T66" fmla="*/ 825424630 w 960"/>
                <a:gd name="T67" fmla="*/ 53060180 h 972"/>
                <a:gd name="T68" fmla="*/ 848841631 w 960"/>
                <a:gd name="T69" fmla="*/ 35374114 h 972"/>
                <a:gd name="T70" fmla="*/ 860549145 w 960"/>
                <a:gd name="T71" fmla="*/ 17687057 h 972"/>
                <a:gd name="T72" fmla="*/ 883966147 w 960"/>
                <a:gd name="T73" fmla="*/ 5895686 h 972"/>
                <a:gd name="T74" fmla="*/ 901527911 w 960"/>
                <a:gd name="T75" fmla="*/ 5895686 h 972"/>
                <a:gd name="T76" fmla="*/ 895673660 w 960"/>
                <a:gd name="T77" fmla="*/ 17687057 h 972"/>
                <a:gd name="T78" fmla="*/ 889819410 w 960"/>
                <a:gd name="T79" fmla="*/ 29478429 h 972"/>
                <a:gd name="T80" fmla="*/ 889819410 w 960"/>
                <a:gd name="T81" fmla="*/ 35374114 h 972"/>
                <a:gd name="T82" fmla="*/ 901527911 w 960"/>
                <a:gd name="T83" fmla="*/ 64851551 h 972"/>
                <a:gd name="T84" fmla="*/ 924943925 w 960"/>
                <a:gd name="T85" fmla="*/ 70747237 h 972"/>
                <a:gd name="T86" fmla="*/ 919090662 w 960"/>
                <a:gd name="T87" fmla="*/ 94329980 h 972"/>
                <a:gd name="T88" fmla="*/ 924943925 w 960"/>
                <a:gd name="T89" fmla="*/ 112016046 h 972"/>
                <a:gd name="T90" fmla="*/ 907382161 w 960"/>
                <a:gd name="T91" fmla="*/ 135598789 h 972"/>
                <a:gd name="T92" fmla="*/ 883966147 w 960"/>
                <a:gd name="T93" fmla="*/ 176868589 h 972"/>
                <a:gd name="T94" fmla="*/ 860549145 w 960"/>
                <a:gd name="T95" fmla="*/ 200450340 h 972"/>
                <a:gd name="T96" fmla="*/ 825424630 w 960"/>
                <a:gd name="T97" fmla="*/ 224033083 h 972"/>
                <a:gd name="T98" fmla="*/ 796154365 w 960"/>
                <a:gd name="T99" fmla="*/ 253511511 h 972"/>
                <a:gd name="T100" fmla="*/ 784446851 w 960"/>
                <a:gd name="T101" fmla="*/ 294780320 h 972"/>
                <a:gd name="T102" fmla="*/ 743468085 w 960"/>
                <a:gd name="T103" fmla="*/ 318363063 h 972"/>
                <a:gd name="T104" fmla="*/ 720052071 w 960"/>
                <a:gd name="T105" fmla="*/ 347840500 h 972"/>
                <a:gd name="T106" fmla="*/ 702489320 w 960"/>
                <a:gd name="T107" fmla="*/ 377318929 h 972"/>
                <a:gd name="T108" fmla="*/ 673219055 w 960"/>
                <a:gd name="T109" fmla="*/ 395005986 h 972"/>
                <a:gd name="T110" fmla="*/ 638094539 w 960"/>
                <a:gd name="T111" fmla="*/ 406796366 h 972"/>
                <a:gd name="T112" fmla="*/ 632240289 w 960"/>
                <a:gd name="T113" fmla="*/ 448066166 h 972"/>
                <a:gd name="T114" fmla="*/ 638094539 w 960"/>
                <a:gd name="T115" fmla="*/ 477544594 h 972"/>
                <a:gd name="T116" fmla="*/ 632240289 w 960"/>
                <a:gd name="T117" fmla="*/ 518813403 h 972"/>
                <a:gd name="T118" fmla="*/ 626386038 w 960"/>
                <a:gd name="T119" fmla="*/ 565977897 h 972"/>
                <a:gd name="T120" fmla="*/ 626386038 w 960"/>
                <a:gd name="T121" fmla="*/ 601352012 h 972"/>
                <a:gd name="T122" fmla="*/ 626386038 w 960"/>
                <a:gd name="T123" fmla="*/ 636725134 h 972"/>
                <a:gd name="T124" fmla="*/ 626386038 w 960"/>
                <a:gd name="T125" fmla="*/ 683890620 h 97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60"/>
                <a:gd name="T190" fmla="*/ 0 h 972"/>
                <a:gd name="T191" fmla="*/ 960 w 960"/>
                <a:gd name="T192" fmla="*/ 972 h 97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60" h="972">
                  <a:moveTo>
                    <a:pt x="648" y="708"/>
                  </a:moveTo>
                  <a:lnTo>
                    <a:pt x="642" y="714"/>
                  </a:lnTo>
                  <a:lnTo>
                    <a:pt x="642" y="720"/>
                  </a:lnTo>
                  <a:lnTo>
                    <a:pt x="642" y="726"/>
                  </a:lnTo>
                  <a:lnTo>
                    <a:pt x="642" y="732"/>
                  </a:lnTo>
                  <a:lnTo>
                    <a:pt x="642" y="738"/>
                  </a:lnTo>
                  <a:lnTo>
                    <a:pt x="636" y="738"/>
                  </a:lnTo>
                  <a:lnTo>
                    <a:pt x="636" y="744"/>
                  </a:lnTo>
                  <a:lnTo>
                    <a:pt x="636" y="738"/>
                  </a:lnTo>
                  <a:lnTo>
                    <a:pt x="630" y="738"/>
                  </a:lnTo>
                  <a:lnTo>
                    <a:pt x="630" y="750"/>
                  </a:lnTo>
                  <a:lnTo>
                    <a:pt x="618" y="750"/>
                  </a:lnTo>
                  <a:lnTo>
                    <a:pt x="618" y="756"/>
                  </a:lnTo>
                  <a:lnTo>
                    <a:pt x="612" y="756"/>
                  </a:lnTo>
                  <a:lnTo>
                    <a:pt x="540" y="756"/>
                  </a:lnTo>
                  <a:lnTo>
                    <a:pt x="522" y="750"/>
                  </a:lnTo>
                  <a:lnTo>
                    <a:pt x="516" y="756"/>
                  </a:lnTo>
                  <a:lnTo>
                    <a:pt x="516" y="762"/>
                  </a:lnTo>
                  <a:lnTo>
                    <a:pt x="504" y="762"/>
                  </a:lnTo>
                  <a:lnTo>
                    <a:pt x="504" y="774"/>
                  </a:lnTo>
                  <a:lnTo>
                    <a:pt x="498" y="786"/>
                  </a:lnTo>
                  <a:lnTo>
                    <a:pt x="480" y="780"/>
                  </a:lnTo>
                  <a:lnTo>
                    <a:pt x="474" y="792"/>
                  </a:lnTo>
                  <a:lnTo>
                    <a:pt x="456" y="792"/>
                  </a:lnTo>
                  <a:lnTo>
                    <a:pt x="450" y="804"/>
                  </a:lnTo>
                  <a:lnTo>
                    <a:pt x="444" y="804"/>
                  </a:lnTo>
                  <a:lnTo>
                    <a:pt x="444" y="816"/>
                  </a:lnTo>
                  <a:lnTo>
                    <a:pt x="390" y="804"/>
                  </a:lnTo>
                  <a:lnTo>
                    <a:pt x="390" y="822"/>
                  </a:lnTo>
                  <a:lnTo>
                    <a:pt x="366" y="816"/>
                  </a:lnTo>
                  <a:lnTo>
                    <a:pt x="372" y="798"/>
                  </a:lnTo>
                  <a:lnTo>
                    <a:pt x="348" y="798"/>
                  </a:lnTo>
                  <a:lnTo>
                    <a:pt x="342" y="810"/>
                  </a:lnTo>
                  <a:lnTo>
                    <a:pt x="324" y="804"/>
                  </a:lnTo>
                  <a:lnTo>
                    <a:pt x="324" y="816"/>
                  </a:lnTo>
                  <a:lnTo>
                    <a:pt x="300" y="816"/>
                  </a:lnTo>
                  <a:lnTo>
                    <a:pt x="294" y="840"/>
                  </a:lnTo>
                  <a:lnTo>
                    <a:pt x="312" y="846"/>
                  </a:lnTo>
                  <a:lnTo>
                    <a:pt x="312" y="852"/>
                  </a:lnTo>
                  <a:lnTo>
                    <a:pt x="318" y="858"/>
                  </a:lnTo>
                  <a:lnTo>
                    <a:pt x="318" y="864"/>
                  </a:lnTo>
                  <a:lnTo>
                    <a:pt x="324" y="864"/>
                  </a:lnTo>
                  <a:lnTo>
                    <a:pt x="318" y="876"/>
                  </a:lnTo>
                  <a:lnTo>
                    <a:pt x="306" y="870"/>
                  </a:lnTo>
                  <a:lnTo>
                    <a:pt x="300" y="876"/>
                  </a:lnTo>
                  <a:lnTo>
                    <a:pt x="294" y="888"/>
                  </a:lnTo>
                  <a:lnTo>
                    <a:pt x="288" y="900"/>
                  </a:lnTo>
                  <a:lnTo>
                    <a:pt x="282" y="900"/>
                  </a:lnTo>
                  <a:lnTo>
                    <a:pt x="282" y="906"/>
                  </a:lnTo>
                  <a:lnTo>
                    <a:pt x="276" y="900"/>
                  </a:lnTo>
                  <a:lnTo>
                    <a:pt x="270" y="894"/>
                  </a:lnTo>
                  <a:lnTo>
                    <a:pt x="264" y="894"/>
                  </a:lnTo>
                  <a:lnTo>
                    <a:pt x="258" y="906"/>
                  </a:lnTo>
                  <a:lnTo>
                    <a:pt x="252" y="906"/>
                  </a:lnTo>
                  <a:lnTo>
                    <a:pt x="252" y="912"/>
                  </a:lnTo>
                  <a:lnTo>
                    <a:pt x="246" y="912"/>
                  </a:lnTo>
                  <a:lnTo>
                    <a:pt x="246" y="906"/>
                  </a:lnTo>
                  <a:lnTo>
                    <a:pt x="234" y="912"/>
                  </a:lnTo>
                  <a:lnTo>
                    <a:pt x="228" y="912"/>
                  </a:lnTo>
                  <a:lnTo>
                    <a:pt x="222" y="918"/>
                  </a:lnTo>
                  <a:lnTo>
                    <a:pt x="210" y="918"/>
                  </a:lnTo>
                  <a:lnTo>
                    <a:pt x="210" y="924"/>
                  </a:lnTo>
                  <a:lnTo>
                    <a:pt x="216" y="924"/>
                  </a:lnTo>
                  <a:lnTo>
                    <a:pt x="216" y="930"/>
                  </a:lnTo>
                  <a:lnTo>
                    <a:pt x="210" y="930"/>
                  </a:lnTo>
                  <a:lnTo>
                    <a:pt x="204" y="930"/>
                  </a:lnTo>
                  <a:lnTo>
                    <a:pt x="204" y="942"/>
                  </a:lnTo>
                  <a:lnTo>
                    <a:pt x="204" y="954"/>
                  </a:lnTo>
                  <a:lnTo>
                    <a:pt x="204" y="972"/>
                  </a:lnTo>
                  <a:lnTo>
                    <a:pt x="204" y="966"/>
                  </a:lnTo>
                  <a:lnTo>
                    <a:pt x="198" y="972"/>
                  </a:lnTo>
                  <a:lnTo>
                    <a:pt x="192" y="966"/>
                  </a:lnTo>
                  <a:lnTo>
                    <a:pt x="192" y="960"/>
                  </a:lnTo>
                  <a:lnTo>
                    <a:pt x="192" y="954"/>
                  </a:lnTo>
                  <a:lnTo>
                    <a:pt x="180" y="954"/>
                  </a:lnTo>
                  <a:lnTo>
                    <a:pt x="180" y="948"/>
                  </a:lnTo>
                  <a:lnTo>
                    <a:pt x="174" y="948"/>
                  </a:lnTo>
                  <a:lnTo>
                    <a:pt x="174" y="942"/>
                  </a:lnTo>
                  <a:lnTo>
                    <a:pt x="168" y="942"/>
                  </a:lnTo>
                  <a:lnTo>
                    <a:pt x="174" y="930"/>
                  </a:lnTo>
                  <a:lnTo>
                    <a:pt x="144" y="924"/>
                  </a:lnTo>
                  <a:lnTo>
                    <a:pt x="144" y="882"/>
                  </a:lnTo>
                  <a:lnTo>
                    <a:pt x="156" y="864"/>
                  </a:lnTo>
                  <a:lnTo>
                    <a:pt x="150" y="858"/>
                  </a:lnTo>
                  <a:lnTo>
                    <a:pt x="144" y="858"/>
                  </a:lnTo>
                  <a:lnTo>
                    <a:pt x="150" y="858"/>
                  </a:lnTo>
                  <a:lnTo>
                    <a:pt x="150" y="852"/>
                  </a:lnTo>
                  <a:lnTo>
                    <a:pt x="144" y="852"/>
                  </a:lnTo>
                  <a:lnTo>
                    <a:pt x="144" y="846"/>
                  </a:lnTo>
                  <a:lnTo>
                    <a:pt x="150" y="846"/>
                  </a:lnTo>
                  <a:lnTo>
                    <a:pt x="144" y="816"/>
                  </a:lnTo>
                  <a:lnTo>
                    <a:pt x="144" y="798"/>
                  </a:lnTo>
                  <a:lnTo>
                    <a:pt x="162" y="792"/>
                  </a:lnTo>
                  <a:lnTo>
                    <a:pt x="168" y="792"/>
                  </a:lnTo>
                  <a:lnTo>
                    <a:pt x="174" y="786"/>
                  </a:lnTo>
                  <a:lnTo>
                    <a:pt x="180" y="786"/>
                  </a:lnTo>
                  <a:lnTo>
                    <a:pt x="186" y="768"/>
                  </a:lnTo>
                  <a:lnTo>
                    <a:pt x="186" y="762"/>
                  </a:lnTo>
                  <a:lnTo>
                    <a:pt x="192" y="744"/>
                  </a:lnTo>
                  <a:lnTo>
                    <a:pt x="186" y="744"/>
                  </a:lnTo>
                  <a:lnTo>
                    <a:pt x="168" y="738"/>
                  </a:lnTo>
                  <a:lnTo>
                    <a:pt x="180" y="696"/>
                  </a:lnTo>
                  <a:lnTo>
                    <a:pt x="180" y="690"/>
                  </a:lnTo>
                  <a:lnTo>
                    <a:pt x="186" y="690"/>
                  </a:lnTo>
                  <a:lnTo>
                    <a:pt x="198" y="630"/>
                  </a:lnTo>
                  <a:lnTo>
                    <a:pt x="156" y="618"/>
                  </a:lnTo>
                  <a:lnTo>
                    <a:pt x="150" y="636"/>
                  </a:lnTo>
                  <a:lnTo>
                    <a:pt x="138" y="636"/>
                  </a:lnTo>
                  <a:lnTo>
                    <a:pt x="132" y="660"/>
                  </a:lnTo>
                  <a:lnTo>
                    <a:pt x="138" y="660"/>
                  </a:lnTo>
                  <a:lnTo>
                    <a:pt x="138" y="678"/>
                  </a:lnTo>
                  <a:lnTo>
                    <a:pt x="126" y="672"/>
                  </a:lnTo>
                  <a:lnTo>
                    <a:pt x="108" y="672"/>
                  </a:lnTo>
                  <a:lnTo>
                    <a:pt x="108" y="690"/>
                  </a:lnTo>
                  <a:lnTo>
                    <a:pt x="96" y="690"/>
                  </a:lnTo>
                  <a:lnTo>
                    <a:pt x="96" y="672"/>
                  </a:lnTo>
                  <a:lnTo>
                    <a:pt x="84" y="672"/>
                  </a:lnTo>
                  <a:lnTo>
                    <a:pt x="84" y="642"/>
                  </a:lnTo>
                  <a:lnTo>
                    <a:pt x="78" y="624"/>
                  </a:lnTo>
                  <a:lnTo>
                    <a:pt x="96" y="612"/>
                  </a:lnTo>
                  <a:lnTo>
                    <a:pt x="102" y="600"/>
                  </a:lnTo>
                  <a:lnTo>
                    <a:pt x="102" y="594"/>
                  </a:lnTo>
                  <a:lnTo>
                    <a:pt x="90" y="594"/>
                  </a:lnTo>
                  <a:lnTo>
                    <a:pt x="84" y="582"/>
                  </a:lnTo>
                  <a:lnTo>
                    <a:pt x="78" y="582"/>
                  </a:lnTo>
                  <a:lnTo>
                    <a:pt x="78" y="576"/>
                  </a:lnTo>
                  <a:lnTo>
                    <a:pt x="72" y="576"/>
                  </a:lnTo>
                  <a:lnTo>
                    <a:pt x="72" y="570"/>
                  </a:lnTo>
                  <a:lnTo>
                    <a:pt x="72" y="564"/>
                  </a:lnTo>
                  <a:lnTo>
                    <a:pt x="72" y="558"/>
                  </a:lnTo>
                  <a:lnTo>
                    <a:pt x="78" y="552"/>
                  </a:lnTo>
                  <a:lnTo>
                    <a:pt x="72" y="546"/>
                  </a:lnTo>
                  <a:lnTo>
                    <a:pt x="72" y="540"/>
                  </a:lnTo>
                  <a:lnTo>
                    <a:pt x="66" y="534"/>
                  </a:lnTo>
                  <a:lnTo>
                    <a:pt x="66" y="528"/>
                  </a:lnTo>
                  <a:lnTo>
                    <a:pt x="48" y="516"/>
                  </a:lnTo>
                  <a:lnTo>
                    <a:pt x="36" y="510"/>
                  </a:lnTo>
                  <a:lnTo>
                    <a:pt x="30" y="510"/>
                  </a:lnTo>
                  <a:lnTo>
                    <a:pt x="24" y="510"/>
                  </a:lnTo>
                  <a:lnTo>
                    <a:pt x="12" y="498"/>
                  </a:lnTo>
                  <a:lnTo>
                    <a:pt x="0" y="486"/>
                  </a:lnTo>
                  <a:lnTo>
                    <a:pt x="12" y="480"/>
                  </a:lnTo>
                  <a:lnTo>
                    <a:pt x="24" y="474"/>
                  </a:lnTo>
                  <a:lnTo>
                    <a:pt x="42" y="480"/>
                  </a:lnTo>
                  <a:lnTo>
                    <a:pt x="48" y="480"/>
                  </a:lnTo>
                  <a:lnTo>
                    <a:pt x="54" y="474"/>
                  </a:lnTo>
                  <a:lnTo>
                    <a:pt x="90" y="468"/>
                  </a:lnTo>
                  <a:lnTo>
                    <a:pt x="126" y="468"/>
                  </a:lnTo>
                  <a:lnTo>
                    <a:pt x="126" y="474"/>
                  </a:lnTo>
                  <a:lnTo>
                    <a:pt x="126" y="480"/>
                  </a:lnTo>
                  <a:lnTo>
                    <a:pt x="138" y="480"/>
                  </a:lnTo>
                  <a:lnTo>
                    <a:pt x="144" y="468"/>
                  </a:lnTo>
                  <a:lnTo>
                    <a:pt x="162" y="468"/>
                  </a:lnTo>
                  <a:lnTo>
                    <a:pt x="162" y="450"/>
                  </a:lnTo>
                  <a:lnTo>
                    <a:pt x="186" y="456"/>
                  </a:lnTo>
                  <a:lnTo>
                    <a:pt x="186" y="444"/>
                  </a:lnTo>
                  <a:lnTo>
                    <a:pt x="204" y="444"/>
                  </a:lnTo>
                  <a:lnTo>
                    <a:pt x="222" y="450"/>
                  </a:lnTo>
                  <a:lnTo>
                    <a:pt x="228" y="420"/>
                  </a:lnTo>
                  <a:lnTo>
                    <a:pt x="222" y="414"/>
                  </a:lnTo>
                  <a:lnTo>
                    <a:pt x="198" y="378"/>
                  </a:lnTo>
                  <a:lnTo>
                    <a:pt x="192" y="366"/>
                  </a:lnTo>
                  <a:lnTo>
                    <a:pt x="168" y="372"/>
                  </a:lnTo>
                  <a:lnTo>
                    <a:pt x="162" y="348"/>
                  </a:lnTo>
                  <a:lnTo>
                    <a:pt x="162" y="276"/>
                  </a:lnTo>
                  <a:lnTo>
                    <a:pt x="216" y="246"/>
                  </a:lnTo>
                  <a:lnTo>
                    <a:pt x="282" y="192"/>
                  </a:lnTo>
                  <a:lnTo>
                    <a:pt x="282" y="186"/>
                  </a:lnTo>
                  <a:lnTo>
                    <a:pt x="282" y="180"/>
                  </a:lnTo>
                  <a:lnTo>
                    <a:pt x="288" y="180"/>
                  </a:lnTo>
                  <a:lnTo>
                    <a:pt x="288" y="174"/>
                  </a:lnTo>
                  <a:lnTo>
                    <a:pt x="288" y="180"/>
                  </a:lnTo>
                  <a:lnTo>
                    <a:pt x="294" y="180"/>
                  </a:lnTo>
                  <a:lnTo>
                    <a:pt x="294" y="186"/>
                  </a:lnTo>
                  <a:lnTo>
                    <a:pt x="294" y="180"/>
                  </a:lnTo>
                  <a:lnTo>
                    <a:pt x="300" y="180"/>
                  </a:lnTo>
                  <a:lnTo>
                    <a:pt x="300" y="174"/>
                  </a:lnTo>
                  <a:lnTo>
                    <a:pt x="294" y="174"/>
                  </a:lnTo>
                  <a:lnTo>
                    <a:pt x="300" y="174"/>
                  </a:lnTo>
                  <a:lnTo>
                    <a:pt x="294" y="174"/>
                  </a:lnTo>
                  <a:lnTo>
                    <a:pt x="300" y="174"/>
                  </a:lnTo>
                  <a:lnTo>
                    <a:pt x="306" y="174"/>
                  </a:lnTo>
                  <a:lnTo>
                    <a:pt x="306" y="168"/>
                  </a:lnTo>
                  <a:lnTo>
                    <a:pt x="312" y="168"/>
                  </a:lnTo>
                  <a:lnTo>
                    <a:pt x="318" y="168"/>
                  </a:lnTo>
                  <a:lnTo>
                    <a:pt x="324" y="168"/>
                  </a:lnTo>
                  <a:lnTo>
                    <a:pt x="354" y="174"/>
                  </a:lnTo>
                  <a:lnTo>
                    <a:pt x="384" y="174"/>
                  </a:lnTo>
                  <a:lnTo>
                    <a:pt x="426" y="174"/>
                  </a:lnTo>
                  <a:lnTo>
                    <a:pt x="522" y="174"/>
                  </a:lnTo>
                  <a:lnTo>
                    <a:pt x="612" y="174"/>
                  </a:lnTo>
                  <a:lnTo>
                    <a:pt x="672" y="174"/>
                  </a:lnTo>
                  <a:lnTo>
                    <a:pt x="714" y="174"/>
                  </a:lnTo>
                  <a:lnTo>
                    <a:pt x="732" y="174"/>
                  </a:lnTo>
                  <a:lnTo>
                    <a:pt x="738" y="174"/>
                  </a:lnTo>
                  <a:lnTo>
                    <a:pt x="744" y="174"/>
                  </a:lnTo>
                  <a:lnTo>
                    <a:pt x="750" y="174"/>
                  </a:lnTo>
                  <a:lnTo>
                    <a:pt x="744" y="174"/>
                  </a:lnTo>
                  <a:lnTo>
                    <a:pt x="750" y="174"/>
                  </a:lnTo>
                  <a:lnTo>
                    <a:pt x="750" y="168"/>
                  </a:lnTo>
                  <a:lnTo>
                    <a:pt x="750" y="162"/>
                  </a:lnTo>
                  <a:lnTo>
                    <a:pt x="756" y="162"/>
                  </a:lnTo>
                  <a:lnTo>
                    <a:pt x="804" y="132"/>
                  </a:lnTo>
                  <a:lnTo>
                    <a:pt x="798" y="120"/>
                  </a:lnTo>
                  <a:lnTo>
                    <a:pt x="804" y="120"/>
                  </a:lnTo>
                  <a:lnTo>
                    <a:pt x="804" y="114"/>
                  </a:lnTo>
                  <a:lnTo>
                    <a:pt x="798" y="114"/>
                  </a:lnTo>
                  <a:lnTo>
                    <a:pt x="804" y="114"/>
                  </a:lnTo>
                  <a:lnTo>
                    <a:pt x="804" y="108"/>
                  </a:lnTo>
                  <a:lnTo>
                    <a:pt x="810" y="108"/>
                  </a:lnTo>
                  <a:lnTo>
                    <a:pt x="804" y="108"/>
                  </a:lnTo>
                  <a:lnTo>
                    <a:pt x="804" y="102"/>
                  </a:lnTo>
                  <a:lnTo>
                    <a:pt x="810" y="96"/>
                  </a:lnTo>
                  <a:lnTo>
                    <a:pt x="816" y="96"/>
                  </a:lnTo>
                  <a:lnTo>
                    <a:pt x="816" y="90"/>
                  </a:lnTo>
                  <a:lnTo>
                    <a:pt x="822" y="90"/>
                  </a:lnTo>
                  <a:lnTo>
                    <a:pt x="822" y="84"/>
                  </a:lnTo>
                  <a:lnTo>
                    <a:pt x="828" y="84"/>
                  </a:lnTo>
                  <a:lnTo>
                    <a:pt x="834" y="90"/>
                  </a:lnTo>
                  <a:lnTo>
                    <a:pt x="840" y="90"/>
                  </a:lnTo>
                  <a:lnTo>
                    <a:pt x="840" y="84"/>
                  </a:lnTo>
                  <a:lnTo>
                    <a:pt x="840" y="90"/>
                  </a:lnTo>
                  <a:lnTo>
                    <a:pt x="846" y="90"/>
                  </a:lnTo>
                  <a:lnTo>
                    <a:pt x="846" y="84"/>
                  </a:lnTo>
                  <a:lnTo>
                    <a:pt x="840" y="84"/>
                  </a:lnTo>
                  <a:lnTo>
                    <a:pt x="840" y="78"/>
                  </a:lnTo>
                  <a:lnTo>
                    <a:pt x="846" y="78"/>
                  </a:lnTo>
                  <a:lnTo>
                    <a:pt x="846" y="72"/>
                  </a:lnTo>
                  <a:lnTo>
                    <a:pt x="846" y="78"/>
                  </a:lnTo>
                  <a:lnTo>
                    <a:pt x="852" y="78"/>
                  </a:lnTo>
                  <a:lnTo>
                    <a:pt x="852" y="72"/>
                  </a:lnTo>
                  <a:lnTo>
                    <a:pt x="852" y="66"/>
                  </a:lnTo>
                  <a:lnTo>
                    <a:pt x="858" y="66"/>
                  </a:lnTo>
                  <a:lnTo>
                    <a:pt x="852" y="66"/>
                  </a:lnTo>
                  <a:lnTo>
                    <a:pt x="846" y="60"/>
                  </a:lnTo>
                  <a:lnTo>
                    <a:pt x="852" y="60"/>
                  </a:lnTo>
                  <a:lnTo>
                    <a:pt x="852" y="54"/>
                  </a:lnTo>
                  <a:lnTo>
                    <a:pt x="846" y="54"/>
                  </a:lnTo>
                  <a:lnTo>
                    <a:pt x="846" y="48"/>
                  </a:lnTo>
                  <a:lnTo>
                    <a:pt x="852" y="48"/>
                  </a:lnTo>
                  <a:lnTo>
                    <a:pt x="858" y="48"/>
                  </a:lnTo>
                  <a:lnTo>
                    <a:pt x="858" y="42"/>
                  </a:lnTo>
                  <a:lnTo>
                    <a:pt x="864" y="42"/>
                  </a:lnTo>
                  <a:lnTo>
                    <a:pt x="870" y="42"/>
                  </a:lnTo>
                  <a:lnTo>
                    <a:pt x="870" y="36"/>
                  </a:lnTo>
                  <a:lnTo>
                    <a:pt x="876" y="36"/>
                  </a:lnTo>
                  <a:lnTo>
                    <a:pt x="870" y="36"/>
                  </a:lnTo>
                  <a:lnTo>
                    <a:pt x="870" y="30"/>
                  </a:lnTo>
                  <a:lnTo>
                    <a:pt x="876" y="30"/>
                  </a:lnTo>
                  <a:lnTo>
                    <a:pt x="882" y="30"/>
                  </a:lnTo>
                  <a:lnTo>
                    <a:pt x="882" y="24"/>
                  </a:lnTo>
                  <a:lnTo>
                    <a:pt x="882" y="18"/>
                  </a:lnTo>
                  <a:lnTo>
                    <a:pt x="882" y="12"/>
                  </a:lnTo>
                  <a:lnTo>
                    <a:pt x="888" y="12"/>
                  </a:lnTo>
                  <a:lnTo>
                    <a:pt x="888" y="6"/>
                  </a:lnTo>
                  <a:lnTo>
                    <a:pt x="894" y="6"/>
                  </a:lnTo>
                  <a:lnTo>
                    <a:pt x="900" y="0"/>
                  </a:lnTo>
                  <a:lnTo>
                    <a:pt x="906" y="0"/>
                  </a:lnTo>
                  <a:lnTo>
                    <a:pt x="906" y="6"/>
                  </a:lnTo>
                  <a:lnTo>
                    <a:pt x="906" y="0"/>
                  </a:lnTo>
                  <a:lnTo>
                    <a:pt x="906" y="6"/>
                  </a:lnTo>
                  <a:lnTo>
                    <a:pt x="912" y="6"/>
                  </a:lnTo>
                  <a:lnTo>
                    <a:pt x="918" y="6"/>
                  </a:lnTo>
                  <a:lnTo>
                    <a:pt x="918" y="0"/>
                  </a:lnTo>
                  <a:lnTo>
                    <a:pt x="924" y="0"/>
                  </a:lnTo>
                  <a:lnTo>
                    <a:pt x="924" y="6"/>
                  </a:lnTo>
                  <a:lnTo>
                    <a:pt x="918" y="6"/>
                  </a:lnTo>
                  <a:lnTo>
                    <a:pt x="924" y="6"/>
                  </a:lnTo>
                  <a:lnTo>
                    <a:pt x="918" y="6"/>
                  </a:lnTo>
                  <a:lnTo>
                    <a:pt x="924" y="6"/>
                  </a:lnTo>
                  <a:lnTo>
                    <a:pt x="924" y="12"/>
                  </a:lnTo>
                  <a:lnTo>
                    <a:pt x="918" y="12"/>
                  </a:lnTo>
                  <a:lnTo>
                    <a:pt x="918" y="18"/>
                  </a:lnTo>
                  <a:lnTo>
                    <a:pt x="918" y="24"/>
                  </a:lnTo>
                  <a:lnTo>
                    <a:pt x="918" y="18"/>
                  </a:lnTo>
                  <a:lnTo>
                    <a:pt x="918" y="24"/>
                  </a:lnTo>
                  <a:lnTo>
                    <a:pt x="912" y="24"/>
                  </a:lnTo>
                  <a:lnTo>
                    <a:pt x="918" y="24"/>
                  </a:lnTo>
                  <a:lnTo>
                    <a:pt x="912" y="24"/>
                  </a:lnTo>
                  <a:lnTo>
                    <a:pt x="912" y="30"/>
                  </a:lnTo>
                  <a:lnTo>
                    <a:pt x="918" y="30"/>
                  </a:lnTo>
                  <a:lnTo>
                    <a:pt x="912" y="30"/>
                  </a:lnTo>
                  <a:lnTo>
                    <a:pt x="918" y="30"/>
                  </a:lnTo>
                  <a:lnTo>
                    <a:pt x="918" y="36"/>
                  </a:lnTo>
                  <a:lnTo>
                    <a:pt x="912" y="36"/>
                  </a:lnTo>
                  <a:lnTo>
                    <a:pt x="918" y="36"/>
                  </a:lnTo>
                  <a:lnTo>
                    <a:pt x="912" y="36"/>
                  </a:lnTo>
                  <a:lnTo>
                    <a:pt x="918" y="36"/>
                  </a:lnTo>
                  <a:lnTo>
                    <a:pt x="918" y="42"/>
                  </a:lnTo>
                  <a:lnTo>
                    <a:pt x="918" y="48"/>
                  </a:lnTo>
                  <a:lnTo>
                    <a:pt x="918" y="54"/>
                  </a:lnTo>
                  <a:lnTo>
                    <a:pt x="918" y="60"/>
                  </a:lnTo>
                  <a:lnTo>
                    <a:pt x="918" y="66"/>
                  </a:lnTo>
                  <a:lnTo>
                    <a:pt x="924" y="66"/>
                  </a:lnTo>
                  <a:lnTo>
                    <a:pt x="924" y="60"/>
                  </a:lnTo>
                  <a:lnTo>
                    <a:pt x="930" y="60"/>
                  </a:lnTo>
                  <a:lnTo>
                    <a:pt x="936" y="66"/>
                  </a:lnTo>
                  <a:lnTo>
                    <a:pt x="942" y="60"/>
                  </a:lnTo>
                  <a:lnTo>
                    <a:pt x="948" y="60"/>
                  </a:lnTo>
                  <a:lnTo>
                    <a:pt x="948" y="66"/>
                  </a:lnTo>
                  <a:lnTo>
                    <a:pt x="948" y="72"/>
                  </a:lnTo>
                  <a:lnTo>
                    <a:pt x="948" y="78"/>
                  </a:lnTo>
                  <a:lnTo>
                    <a:pt x="954" y="84"/>
                  </a:lnTo>
                  <a:lnTo>
                    <a:pt x="960" y="84"/>
                  </a:lnTo>
                  <a:lnTo>
                    <a:pt x="954" y="90"/>
                  </a:lnTo>
                  <a:lnTo>
                    <a:pt x="954" y="96"/>
                  </a:lnTo>
                  <a:lnTo>
                    <a:pt x="942" y="90"/>
                  </a:lnTo>
                  <a:lnTo>
                    <a:pt x="942" y="96"/>
                  </a:lnTo>
                  <a:lnTo>
                    <a:pt x="942" y="90"/>
                  </a:lnTo>
                  <a:lnTo>
                    <a:pt x="936" y="96"/>
                  </a:lnTo>
                  <a:lnTo>
                    <a:pt x="936" y="102"/>
                  </a:lnTo>
                  <a:lnTo>
                    <a:pt x="936" y="108"/>
                  </a:lnTo>
                  <a:lnTo>
                    <a:pt x="942" y="108"/>
                  </a:lnTo>
                  <a:lnTo>
                    <a:pt x="948" y="102"/>
                  </a:lnTo>
                  <a:lnTo>
                    <a:pt x="948" y="114"/>
                  </a:lnTo>
                  <a:lnTo>
                    <a:pt x="948" y="126"/>
                  </a:lnTo>
                  <a:lnTo>
                    <a:pt x="942" y="126"/>
                  </a:lnTo>
                  <a:lnTo>
                    <a:pt x="936" y="126"/>
                  </a:lnTo>
                  <a:lnTo>
                    <a:pt x="930" y="132"/>
                  </a:lnTo>
                  <a:lnTo>
                    <a:pt x="936" y="132"/>
                  </a:lnTo>
                  <a:lnTo>
                    <a:pt x="930" y="132"/>
                  </a:lnTo>
                  <a:lnTo>
                    <a:pt x="930" y="138"/>
                  </a:lnTo>
                  <a:lnTo>
                    <a:pt x="924" y="144"/>
                  </a:lnTo>
                  <a:lnTo>
                    <a:pt x="918" y="150"/>
                  </a:lnTo>
                  <a:lnTo>
                    <a:pt x="912" y="156"/>
                  </a:lnTo>
                  <a:lnTo>
                    <a:pt x="912" y="162"/>
                  </a:lnTo>
                  <a:lnTo>
                    <a:pt x="906" y="168"/>
                  </a:lnTo>
                  <a:lnTo>
                    <a:pt x="906" y="174"/>
                  </a:lnTo>
                  <a:lnTo>
                    <a:pt x="906" y="180"/>
                  </a:lnTo>
                  <a:lnTo>
                    <a:pt x="906" y="186"/>
                  </a:lnTo>
                  <a:lnTo>
                    <a:pt x="900" y="192"/>
                  </a:lnTo>
                  <a:lnTo>
                    <a:pt x="894" y="192"/>
                  </a:lnTo>
                  <a:lnTo>
                    <a:pt x="888" y="192"/>
                  </a:lnTo>
                  <a:lnTo>
                    <a:pt x="888" y="198"/>
                  </a:lnTo>
                  <a:lnTo>
                    <a:pt x="882" y="198"/>
                  </a:lnTo>
                  <a:lnTo>
                    <a:pt x="882" y="204"/>
                  </a:lnTo>
                  <a:lnTo>
                    <a:pt x="876" y="204"/>
                  </a:lnTo>
                  <a:lnTo>
                    <a:pt x="870" y="210"/>
                  </a:lnTo>
                  <a:lnTo>
                    <a:pt x="870" y="216"/>
                  </a:lnTo>
                  <a:lnTo>
                    <a:pt x="864" y="216"/>
                  </a:lnTo>
                  <a:lnTo>
                    <a:pt x="858" y="216"/>
                  </a:lnTo>
                  <a:lnTo>
                    <a:pt x="852" y="222"/>
                  </a:lnTo>
                  <a:lnTo>
                    <a:pt x="846" y="228"/>
                  </a:lnTo>
                  <a:lnTo>
                    <a:pt x="840" y="228"/>
                  </a:lnTo>
                  <a:lnTo>
                    <a:pt x="834" y="234"/>
                  </a:lnTo>
                  <a:lnTo>
                    <a:pt x="828" y="234"/>
                  </a:lnTo>
                  <a:lnTo>
                    <a:pt x="822" y="240"/>
                  </a:lnTo>
                  <a:lnTo>
                    <a:pt x="822" y="246"/>
                  </a:lnTo>
                  <a:lnTo>
                    <a:pt x="822" y="258"/>
                  </a:lnTo>
                  <a:lnTo>
                    <a:pt x="816" y="258"/>
                  </a:lnTo>
                  <a:lnTo>
                    <a:pt x="810" y="264"/>
                  </a:lnTo>
                  <a:lnTo>
                    <a:pt x="804" y="276"/>
                  </a:lnTo>
                  <a:lnTo>
                    <a:pt x="804" y="282"/>
                  </a:lnTo>
                  <a:lnTo>
                    <a:pt x="798" y="288"/>
                  </a:lnTo>
                  <a:lnTo>
                    <a:pt x="804" y="288"/>
                  </a:lnTo>
                  <a:lnTo>
                    <a:pt x="798" y="300"/>
                  </a:lnTo>
                  <a:lnTo>
                    <a:pt x="804" y="300"/>
                  </a:lnTo>
                  <a:lnTo>
                    <a:pt x="798" y="306"/>
                  </a:lnTo>
                  <a:lnTo>
                    <a:pt x="792" y="306"/>
                  </a:lnTo>
                  <a:lnTo>
                    <a:pt x="786" y="306"/>
                  </a:lnTo>
                  <a:lnTo>
                    <a:pt x="774" y="312"/>
                  </a:lnTo>
                  <a:lnTo>
                    <a:pt x="768" y="318"/>
                  </a:lnTo>
                  <a:lnTo>
                    <a:pt x="762" y="318"/>
                  </a:lnTo>
                  <a:lnTo>
                    <a:pt x="762" y="324"/>
                  </a:lnTo>
                  <a:lnTo>
                    <a:pt x="756" y="324"/>
                  </a:lnTo>
                  <a:lnTo>
                    <a:pt x="756" y="330"/>
                  </a:lnTo>
                  <a:lnTo>
                    <a:pt x="750" y="330"/>
                  </a:lnTo>
                  <a:lnTo>
                    <a:pt x="750" y="336"/>
                  </a:lnTo>
                  <a:lnTo>
                    <a:pt x="744" y="342"/>
                  </a:lnTo>
                  <a:lnTo>
                    <a:pt x="738" y="348"/>
                  </a:lnTo>
                  <a:lnTo>
                    <a:pt x="738" y="354"/>
                  </a:lnTo>
                  <a:lnTo>
                    <a:pt x="732" y="360"/>
                  </a:lnTo>
                  <a:lnTo>
                    <a:pt x="732" y="366"/>
                  </a:lnTo>
                  <a:lnTo>
                    <a:pt x="732" y="372"/>
                  </a:lnTo>
                  <a:lnTo>
                    <a:pt x="732" y="378"/>
                  </a:lnTo>
                  <a:lnTo>
                    <a:pt x="726" y="384"/>
                  </a:lnTo>
                  <a:lnTo>
                    <a:pt x="726" y="378"/>
                  </a:lnTo>
                  <a:lnTo>
                    <a:pt x="720" y="384"/>
                  </a:lnTo>
                  <a:lnTo>
                    <a:pt x="720" y="390"/>
                  </a:lnTo>
                  <a:lnTo>
                    <a:pt x="714" y="390"/>
                  </a:lnTo>
                  <a:lnTo>
                    <a:pt x="714" y="396"/>
                  </a:lnTo>
                  <a:lnTo>
                    <a:pt x="708" y="396"/>
                  </a:lnTo>
                  <a:lnTo>
                    <a:pt x="708" y="408"/>
                  </a:lnTo>
                  <a:lnTo>
                    <a:pt x="696" y="408"/>
                  </a:lnTo>
                  <a:lnTo>
                    <a:pt x="690" y="402"/>
                  </a:lnTo>
                  <a:lnTo>
                    <a:pt x="690" y="396"/>
                  </a:lnTo>
                  <a:lnTo>
                    <a:pt x="684" y="390"/>
                  </a:lnTo>
                  <a:lnTo>
                    <a:pt x="672" y="390"/>
                  </a:lnTo>
                  <a:lnTo>
                    <a:pt x="666" y="396"/>
                  </a:lnTo>
                  <a:lnTo>
                    <a:pt x="666" y="402"/>
                  </a:lnTo>
                  <a:lnTo>
                    <a:pt x="660" y="408"/>
                  </a:lnTo>
                  <a:lnTo>
                    <a:pt x="654" y="414"/>
                  </a:lnTo>
                  <a:lnTo>
                    <a:pt x="654" y="420"/>
                  </a:lnTo>
                  <a:lnTo>
                    <a:pt x="648" y="426"/>
                  </a:lnTo>
                  <a:lnTo>
                    <a:pt x="654" y="426"/>
                  </a:lnTo>
                  <a:lnTo>
                    <a:pt x="654" y="432"/>
                  </a:lnTo>
                  <a:lnTo>
                    <a:pt x="660" y="438"/>
                  </a:lnTo>
                  <a:lnTo>
                    <a:pt x="648" y="450"/>
                  </a:lnTo>
                  <a:lnTo>
                    <a:pt x="648" y="456"/>
                  </a:lnTo>
                  <a:lnTo>
                    <a:pt x="654" y="456"/>
                  </a:lnTo>
                  <a:lnTo>
                    <a:pt x="654" y="462"/>
                  </a:lnTo>
                  <a:lnTo>
                    <a:pt x="648" y="468"/>
                  </a:lnTo>
                  <a:lnTo>
                    <a:pt x="648" y="474"/>
                  </a:lnTo>
                  <a:lnTo>
                    <a:pt x="648" y="480"/>
                  </a:lnTo>
                  <a:lnTo>
                    <a:pt x="654" y="480"/>
                  </a:lnTo>
                  <a:lnTo>
                    <a:pt x="654" y="486"/>
                  </a:lnTo>
                  <a:lnTo>
                    <a:pt x="660" y="486"/>
                  </a:lnTo>
                  <a:lnTo>
                    <a:pt x="660" y="492"/>
                  </a:lnTo>
                  <a:lnTo>
                    <a:pt x="660" y="504"/>
                  </a:lnTo>
                  <a:lnTo>
                    <a:pt x="654" y="510"/>
                  </a:lnTo>
                  <a:lnTo>
                    <a:pt x="648" y="510"/>
                  </a:lnTo>
                  <a:lnTo>
                    <a:pt x="648" y="516"/>
                  </a:lnTo>
                  <a:lnTo>
                    <a:pt x="648" y="528"/>
                  </a:lnTo>
                  <a:lnTo>
                    <a:pt x="648" y="534"/>
                  </a:lnTo>
                  <a:lnTo>
                    <a:pt x="648" y="540"/>
                  </a:lnTo>
                  <a:lnTo>
                    <a:pt x="642" y="546"/>
                  </a:lnTo>
                  <a:lnTo>
                    <a:pt x="642" y="564"/>
                  </a:lnTo>
                  <a:lnTo>
                    <a:pt x="636" y="564"/>
                  </a:lnTo>
                  <a:lnTo>
                    <a:pt x="642" y="570"/>
                  </a:lnTo>
                  <a:lnTo>
                    <a:pt x="642" y="576"/>
                  </a:lnTo>
                  <a:lnTo>
                    <a:pt x="636" y="588"/>
                  </a:lnTo>
                  <a:lnTo>
                    <a:pt x="636" y="594"/>
                  </a:lnTo>
                  <a:lnTo>
                    <a:pt x="636" y="600"/>
                  </a:lnTo>
                  <a:lnTo>
                    <a:pt x="630" y="606"/>
                  </a:lnTo>
                  <a:lnTo>
                    <a:pt x="636" y="606"/>
                  </a:lnTo>
                  <a:lnTo>
                    <a:pt x="636" y="612"/>
                  </a:lnTo>
                  <a:lnTo>
                    <a:pt x="642" y="612"/>
                  </a:lnTo>
                  <a:lnTo>
                    <a:pt x="642" y="618"/>
                  </a:lnTo>
                  <a:lnTo>
                    <a:pt x="642" y="624"/>
                  </a:lnTo>
                  <a:lnTo>
                    <a:pt x="642" y="630"/>
                  </a:lnTo>
                  <a:lnTo>
                    <a:pt x="642" y="636"/>
                  </a:lnTo>
                  <a:lnTo>
                    <a:pt x="642" y="642"/>
                  </a:lnTo>
                  <a:lnTo>
                    <a:pt x="648" y="648"/>
                  </a:lnTo>
                  <a:lnTo>
                    <a:pt x="642" y="648"/>
                  </a:lnTo>
                  <a:lnTo>
                    <a:pt x="648" y="654"/>
                  </a:lnTo>
                  <a:lnTo>
                    <a:pt x="654" y="654"/>
                  </a:lnTo>
                  <a:lnTo>
                    <a:pt x="648" y="666"/>
                  </a:lnTo>
                  <a:lnTo>
                    <a:pt x="648" y="672"/>
                  </a:lnTo>
                  <a:lnTo>
                    <a:pt x="648" y="678"/>
                  </a:lnTo>
                  <a:lnTo>
                    <a:pt x="642" y="690"/>
                  </a:lnTo>
                  <a:lnTo>
                    <a:pt x="642" y="696"/>
                  </a:lnTo>
                  <a:lnTo>
                    <a:pt x="642" y="708"/>
                  </a:lnTo>
                  <a:lnTo>
                    <a:pt x="648" y="708"/>
                  </a:lnTo>
                  <a:close/>
                </a:path>
              </a:pathLst>
            </a:custGeom>
            <a:solidFill>
              <a:schemeClr val="accent1"/>
            </a:solidFill>
            <a:ln w="9525">
              <a:solidFill>
                <a:srgbClr val="B2B2B2"/>
              </a:solidFill>
              <a:round/>
              <a:headEnd/>
              <a:tailEnd/>
            </a:ln>
          </p:spPr>
          <p:txBody>
            <a:bodyPr/>
            <a:lstStyle/>
            <a:p>
              <a:endParaRPr lang="en-CA"/>
            </a:p>
          </p:txBody>
        </p:sp>
        <p:sp>
          <p:nvSpPr>
            <p:cNvPr id="423" name="Freeform 482"/>
            <p:cNvSpPr>
              <a:spLocks/>
            </p:cNvSpPr>
            <p:nvPr>
              <p:custDataLst>
                <p:tags r:id="rId46"/>
              </p:custDataLst>
            </p:nvPr>
          </p:nvSpPr>
          <p:spPr bwMode="gray">
            <a:xfrm>
              <a:off x="1143" y="2740"/>
              <a:ext cx="221" cy="273"/>
            </a:xfrm>
            <a:custGeom>
              <a:avLst/>
              <a:gdLst>
                <a:gd name="T0" fmla="*/ 211758870 w 354"/>
                <a:gd name="T1" fmla="*/ 423235045 h 438"/>
                <a:gd name="T2" fmla="*/ 205876900 w 354"/>
                <a:gd name="T3" fmla="*/ 411479148 h 438"/>
                <a:gd name="T4" fmla="*/ 194111967 w 354"/>
                <a:gd name="T5" fmla="*/ 393843819 h 438"/>
                <a:gd name="T6" fmla="*/ 176466056 w 354"/>
                <a:gd name="T7" fmla="*/ 382086932 h 438"/>
                <a:gd name="T8" fmla="*/ 164701123 w 354"/>
                <a:gd name="T9" fmla="*/ 364452592 h 438"/>
                <a:gd name="T10" fmla="*/ 152937182 w 354"/>
                <a:gd name="T11" fmla="*/ 346818252 h 438"/>
                <a:gd name="T12" fmla="*/ 135290279 w 354"/>
                <a:gd name="T13" fmla="*/ 340939809 h 438"/>
                <a:gd name="T14" fmla="*/ 135290279 w 354"/>
                <a:gd name="T15" fmla="*/ 329182923 h 438"/>
                <a:gd name="T16" fmla="*/ 123526338 w 354"/>
                <a:gd name="T17" fmla="*/ 335061366 h 438"/>
                <a:gd name="T18" fmla="*/ 99997465 w 354"/>
                <a:gd name="T19" fmla="*/ 346818252 h 438"/>
                <a:gd name="T20" fmla="*/ 88232532 w 354"/>
                <a:gd name="T21" fmla="*/ 346818252 h 438"/>
                <a:gd name="T22" fmla="*/ 76468591 w 354"/>
                <a:gd name="T23" fmla="*/ 352695706 h 438"/>
                <a:gd name="T24" fmla="*/ 58821688 w 354"/>
                <a:gd name="T25" fmla="*/ 364452592 h 438"/>
                <a:gd name="T26" fmla="*/ 35292815 w 354"/>
                <a:gd name="T27" fmla="*/ 358574149 h 438"/>
                <a:gd name="T28" fmla="*/ 29410844 w 354"/>
                <a:gd name="T29" fmla="*/ 335061366 h 438"/>
                <a:gd name="T30" fmla="*/ 17646903 w 354"/>
                <a:gd name="T31" fmla="*/ 323304480 h 438"/>
                <a:gd name="T32" fmla="*/ 41175776 w 354"/>
                <a:gd name="T33" fmla="*/ 311548583 h 438"/>
                <a:gd name="T34" fmla="*/ 58821688 w 354"/>
                <a:gd name="T35" fmla="*/ 299791696 h 438"/>
                <a:gd name="T36" fmla="*/ 64703659 w 354"/>
                <a:gd name="T37" fmla="*/ 276278913 h 438"/>
                <a:gd name="T38" fmla="*/ 35292815 w 354"/>
                <a:gd name="T39" fmla="*/ 270400470 h 438"/>
                <a:gd name="T40" fmla="*/ 0 w 354"/>
                <a:gd name="T41" fmla="*/ 258643584 h 438"/>
                <a:gd name="T42" fmla="*/ 17646903 w 354"/>
                <a:gd name="T43" fmla="*/ 229252357 h 438"/>
                <a:gd name="T44" fmla="*/ 35292815 w 354"/>
                <a:gd name="T45" fmla="*/ 217495471 h 438"/>
                <a:gd name="T46" fmla="*/ 47057747 w 354"/>
                <a:gd name="T47" fmla="*/ 188104245 h 438"/>
                <a:gd name="T48" fmla="*/ 52939718 w 354"/>
                <a:gd name="T49" fmla="*/ 176348348 h 438"/>
                <a:gd name="T50" fmla="*/ 35292815 w 354"/>
                <a:gd name="T51" fmla="*/ 152834575 h 438"/>
                <a:gd name="T52" fmla="*/ 29410844 w 354"/>
                <a:gd name="T53" fmla="*/ 88173679 h 438"/>
                <a:gd name="T54" fmla="*/ 5881971 w 354"/>
                <a:gd name="T55" fmla="*/ 88173679 h 438"/>
                <a:gd name="T56" fmla="*/ 5881971 w 354"/>
                <a:gd name="T57" fmla="*/ 70539339 h 438"/>
                <a:gd name="T58" fmla="*/ 23528873 w 354"/>
                <a:gd name="T59" fmla="*/ 58782453 h 438"/>
                <a:gd name="T60" fmla="*/ 35292815 w 354"/>
                <a:gd name="T61" fmla="*/ 29391226 h 438"/>
                <a:gd name="T62" fmla="*/ 64703659 w 354"/>
                <a:gd name="T63" fmla="*/ 0 h 438"/>
                <a:gd name="T64" fmla="*/ 99997465 w 354"/>
                <a:gd name="T65" fmla="*/ 47026556 h 438"/>
                <a:gd name="T66" fmla="*/ 99997465 w 354"/>
                <a:gd name="T67" fmla="*/ 82296225 h 438"/>
                <a:gd name="T68" fmla="*/ 135290279 w 354"/>
                <a:gd name="T69" fmla="*/ 152834575 h 438"/>
                <a:gd name="T70" fmla="*/ 158819153 w 354"/>
                <a:gd name="T71" fmla="*/ 152834575 h 438"/>
                <a:gd name="T72" fmla="*/ 164701123 w 354"/>
                <a:gd name="T73" fmla="*/ 117564905 h 438"/>
                <a:gd name="T74" fmla="*/ 205876900 w 354"/>
                <a:gd name="T75" fmla="*/ 105809009 h 438"/>
                <a:gd name="T76" fmla="*/ 241169714 w 354"/>
                <a:gd name="T77" fmla="*/ 99930565 h 438"/>
                <a:gd name="T78" fmla="*/ 317638306 w 354"/>
                <a:gd name="T79" fmla="*/ 82296225 h 438"/>
                <a:gd name="T80" fmla="*/ 329402247 w 354"/>
                <a:gd name="T81" fmla="*/ 117564905 h 438"/>
                <a:gd name="T82" fmla="*/ 329402247 w 354"/>
                <a:gd name="T83" fmla="*/ 170469905 h 438"/>
                <a:gd name="T84" fmla="*/ 341167179 w 354"/>
                <a:gd name="T85" fmla="*/ 193982688 h 438"/>
                <a:gd name="T86" fmla="*/ 335285208 w 354"/>
                <a:gd name="T87" fmla="*/ 217495471 h 438"/>
                <a:gd name="T88" fmla="*/ 323520276 w 354"/>
                <a:gd name="T89" fmla="*/ 235130800 h 438"/>
                <a:gd name="T90" fmla="*/ 294109432 w 354"/>
                <a:gd name="T91" fmla="*/ 235130800 h 438"/>
                <a:gd name="T92" fmla="*/ 252934647 w 354"/>
                <a:gd name="T93" fmla="*/ 235130800 h 438"/>
                <a:gd name="T94" fmla="*/ 247051685 w 354"/>
                <a:gd name="T95" fmla="*/ 252765141 h 438"/>
                <a:gd name="T96" fmla="*/ 252934647 w 354"/>
                <a:gd name="T97" fmla="*/ 276278913 h 438"/>
                <a:gd name="T98" fmla="*/ 252934647 w 354"/>
                <a:gd name="T99" fmla="*/ 293913253 h 438"/>
                <a:gd name="T100" fmla="*/ 241169714 w 354"/>
                <a:gd name="T101" fmla="*/ 317426036 h 438"/>
                <a:gd name="T102" fmla="*/ 223522812 w 354"/>
                <a:gd name="T103" fmla="*/ 335061366 h 438"/>
                <a:gd name="T104" fmla="*/ 229405773 w 354"/>
                <a:gd name="T105" fmla="*/ 358574149 h 438"/>
                <a:gd name="T106" fmla="*/ 229405773 w 354"/>
                <a:gd name="T107" fmla="*/ 382086932 h 438"/>
                <a:gd name="T108" fmla="*/ 223522812 w 354"/>
                <a:gd name="T109" fmla="*/ 405600705 h 438"/>
                <a:gd name="T110" fmla="*/ 235287744 w 354"/>
                <a:gd name="T111" fmla="*/ 417356602 h 43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54"/>
                <a:gd name="T169" fmla="*/ 0 h 438"/>
                <a:gd name="T170" fmla="*/ 354 w 354"/>
                <a:gd name="T171" fmla="*/ 438 h 43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54" h="438">
                  <a:moveTo>
                    <a:pt x="234" y="438"/>
                  </a:moveTo>
                  <a:lnTo>
                    <a:pt x="228" y="438"/>
                  </a:lnTo>
                  <a:lnTo>
                    <a:pt x="228" y="432"/>
                  </a:lnTo>
                  <a:lnTo>
                    <a:pt x="222" y="432"/>
                  </a:lnTo>
                  <a:lnTo>
                    <a:pt x="222" y="438"/>
                  </a:lnTo>
                  <a:lnTo>
                    <a:pt x="222" y="432"/>
                  </a:lnTo>
                  <a:lnTo>
                    <a:pt x="216" y="432"/>
                  </a:lnTo>
                  <a:lnTo>
                    <a:pt x="216" y="426"/>
                  </a:lnTo>
                  <a:lnTo>
                    <a:pt x="210" y="426"/>
                  </a:lnTo>
                  <a:lnTo>
                    <a:pt x="210" y="420"/>
                  </a:lnTo>
                  <a:lnTo>
                    <a:pt x="216" y="420"/>
                  </a:lnTo>
                  <a:lnTo>
                    <a:pt x="210" y="420"/>
                  </a:lnTo>
                  <a:lnTo>
                    <a:pt x="210" y="414"/>
                  </a:lnTo>
                  <a:lnTo>
                    <a:pt x="210" y="420"/>
                  </a:lnTo>
                  <a:lnTo>
                    <a:pt x="204" y="420"/>
                  </a:lnTo>
                  <a:lnTo>
                    <a:pt x="198" y="414"/>
                  </a:lnTo>
                  <a:lnTo>
                    <a:pt x="198" y="408"/>
                  </a:lnTo>
                  <a:lnTo>
                    <a:pt x="198" y="414"/>
                  </a:lnTo>
                  <a:lnTo>
                    <a:pt x="198" y="408"/>
                  </a:lnTo>
                  <a:lnTo>
                    <a:pt x="192" y="402"/>
                  </a:lnTo>
                  <a:lnTo>
                    <a:pt x="198" y="402"/>
                  </a:lnTo>
                  <a:lnTo>
                    <a:pt x="192" y="402"/>
                  </a:lnTo>
                  <a:lnTo>
                    <a:pt x="192" y="396"/>
                  </a:lnTo>
                  <a:lnTo>
                    <a:pt x="192" y="402"/>
                  </a:lnTo>
                  <a:lnTo>
                    <a:pt x="192" y="396"/>
                  </a:lnTo>
                  <a:lnTo>
                    <a:pt x="192" y="390"/>
                  </a:lnTo>
                  <a:lnTo>
                    <a:pt x="186" y="390"/>
                  </a:lnTo>
                  <a:lnTo>
                    <a:pt x="180" y="390"/>
                  </a:lnTo>
                  <a:lnTo>
                    <a:pt x="180" y="396"/>
                  </a:lnTo>
                  <a:lnTo>
                    <a:pt x="174" y="396"/>
                  </a:lnTo>
                  <a:lnTo>
                    <a:pt x="174" y="390"/>
                  </a:lnTo>
                  <a:lnTo>
                    <a:pt x="174" y="384"/>
                  </a:lnTo>
                  <a:lnTo>
                    <a:pt x="174" y="378"/>
                  </a:lnTo>
                  <a:lnTo>
                    <a:pt x="174" y="372"/>
                  </a:lnTo>
                  <a:lnTo>
                    <a:pt x="168" y="372"/>
                  </a:lnTo>
                  <a:lnTo>
                    <a:pt x="162" y="372"/>
                  </a:lnTo>
                  <a:lnTo>
                    <a:pt x="162" y="366"/>
                  </a:lnTo>
                  <a:lnTo>
                    <a:pt x="156" y="366"/>
                  </a:lnTo>
                  <a:lnTo>
                    <a:pt x="162" y="366"/>
                  </a:lnTo>
                  <a:lnTo>
                    <a:pt x="162" y="360"/>
                  </a:lnTo>
                  <a:lnTo>
                    <a:pt x="156" y="360"/>
                  </a:lnTo>
                  <a:lnTo>
                    <a:pt x="156" y="354"/>
                  </a:lnTo>
                  <a:lnTo>
                    <a:pt x="150" y="354"/>
                  </a:lnTo>
                  <a:lnTo>
                    <a:pt x="150" y="360"/>
                  </a:lnTo>
                  <a:lnTo>
                    <a:pt x="150" y="354"/>
                  </a:lnTo>
                  <a:lnTo>
                    <a:pt x="144" y="360"/>
                  </a:lnTo>
                  <a:lnTo>
                    <a:pt x="138" y="360"/>
                  </a:lnTo>
                  <a:lnTo>
                    <a:pt x="138" y="354"/>
                  </a:lnTo>
                  <a:lnTo>
                    <a:pt x="138" y="348"/>
                  </a:lnTo>
                  <a:lnTo>
                    <a:pt x="132" y="348"/>
                  </a:lnTo>
                  <a:lnTo>
                    <a:pt x="138" y="348"/>
                  </a:lnTo>
                  <a:lnTo>
                    <a:pt x="132" y="348"/>
                  </a:lnTo>
                  <a:lnTo>
                    <a:pt x="132" y="342"/>
                  </a:lnTo>
                  <a:lnTo>
                    <a:pt x="138" y="342"/>
                  </a:lnTo>
                  <a:lnTo>
                    <a:pt x="132" y="342"/>
                  </a:lnTo>
                  <a:lnTo>
                    <a:pt x="138" y="336"/>
                  </a:lnTo>
                  <a:lnTo>
                    <a:pt x="132" y="336"/>
                  </a:lnTo>
                  <a:lnTo>
                    <a:pt x="138" y="336"/>
                  </a:lnTo>
                  <a:lnTo>
                    <a:pt x="132" y="336"/>
                  </a:lnTo>
                  <a:lnTo>
                    <a:pt x="132" y="330"/>
                  </a:lnTo>
                  <a:lnTo>
                    <a:pt x="132" y="336"/>
                  </a:lnTo>
                  <a:lnTo>
                    <a:pt x="126" y="336"/>
                  </a:lnTo>
                  <a:lnTo>
                    <a:pt x="126" y="342"/>
                  </a:lnTo>
                  <a:lnTo>
                    <a:pt x="126" y="348"/>
                  </a:lnTo>
                  <a:lnTo>
                    <a:pt x="126" y="354"/>
                  </a:lnTo>
                  <a:lnTo>
                    <a:pt x="120" y="354"/>
                  </a:lnTo>
                  <a:lnTo>
                    <a:pt x="120" y="348"/>
                  </a:lnTo>
                  <a:lnTo>
                    <a:pt x="114" y="348"/>
                  </a:lnTo>
                  <a:lnTo>
                    <a:pt x="108" y="348"/>
                  </a:lnTo>
                  <a:lnTo>
                    <a:pt x="102" y="354"/>
                  </a:lnTo>
                  <a:lnTo>
                    <a:pt x="102" y="348"/>
                  </a:lnTo>
                  <a:lnTo>
                    <a:pt x="96" y="348"/>
                  </a:lnTo>
                  <a:lnTo>
                    <a:pt x="90" y="354"/>
                  </a:lnTo>
                  <a:lnTo>
                    <a:pt x="90" y="348"/>
                  </a:lnTo>
                  <a:lnTo>
                    <a:pt x="90" y="354"/>
                  </a:lnTo>
                  <a:lnTo>
                    <a:pt x="84" y="354"/>
                  </a:lnTo>
                  <a:lnTo>
                    <a:pt x="90" y="354"/>
                  </a:lnTo>
                  <a:lnTo>
                    <a:pt x="90" y="360"/>
                  </a:lnTo>
                  <a:lnTo>
                    <a:pt x="84" y="360"/>
                  </a:lnTo>
                  <a:lnTo>
                    <a:pt x="78" y="360"/>
                  </a:lnTo>
                  <a:lnTo>
                    <a:pt x="78" y="366"/>
                  </a:lnTo>
                  <a:lnTo>
                    <a:pt x="78" y="360"/>
                  </a:lnTo>
                  <a:lnTo>
                    <a:pt x="78" y="366"/>
                  </a:lnTo>
                  <a:lnTo>
                    <a:pt x="78" y="360"/>
                  </a:lnTo>
                  <a:lnTo>
                    <a:pt x="72" y="360"/>
                  </a:lnTo>
                  <a:lnTo>
                    <a:pt x="66" y="360"/>
                  </a:lnTo>
                  <a:lnTo>
                    <a:pt x="72" y="360"/>
                  </a:lnTo>
                  <a:lnTo>
                    <a:pt x="66" y="360"/>
                  </a:lnTo>
                  <a:lnTo>
                    <a:pt x="66" y="366"/>
                  </a:lnTo>
                  <a:lnTo>
                    <a:pt x="60" y="366"/>
                  </a:lnTo>
                  <a:lnTo>
                    <a:pt x="60" y="372"/>
                  </a:lnTo>
                  <a:lnTo>
                    <a:pt x="54" y="372"/>
                  </a:lnTo>
                  <a:lnTo>
                    <a:pt x="48" y="372"/>
                  </a:lnTo>
                  <a:lnTo>
                    <a:pt x="48" y="378"/>
                  </a:lnTo>
                  <a:lnTo>
                    <a:pt x="42" y="378"/>
                  </a:lnTo>
                  <a:lnTo>
                    <a:pt x="42" y="372"/>
                  </a:lnTo>
                  <a:lnTo>
                    <a:pt x="42" y="366"/>
                  </a:lnTo>
                  <a:lnTo>
                    <a:pt x="36" y="366"/>
                  </a:lnTo>
                  <a:lnTo>
                    <a:pt x="30" y="366"/>
                  </a:lnTo>
                  <a:lnTo>
                    <a:pt x="24" y="366"/>
                  </a:lnTo>
                  <a:lnTo>
                    <a:pt x="24" y="360"/>
                  </a:lnTo>
                  <a:lnTo>
                    <a:pt x="24" y="354"/>
                  </a:lnTo>
                  <a:lnTo>
                    <a:pt x="24" y="348"/>
                  </a:lnTo>
                  <a:lnTo>
                    <a:pt x="30" y="348"/>
                  </a:lnTo>
                  <a:lnTo>
                    <a:pt x="30" y="342"/>
                  </a:lnTo>
                  <a:lnTo>
                    <a:pt x="24" y="342"/>
                  </a:lnTo>
                  <a:lnTo>
                    <a:pt x="24" y="336"/>
                  </a:lnTo>
                  <a:lnTo>
                    <a:pt x="18" y="330"/>
                  </a:lnTo>
                  <a:lnTo>
                    <a:pt x="24" y="330"/>
                  </a:lnTo>
                  <a:lnTo>
                    <a:pt x="24" y="324"/>
                  </a:lnTo>
                  <a:lnTo>
                    <a:pt x="24" y="330"/>
                  </a:lnTo>
                  <a:lnTo>
                    <a:pt x="18" y="330"/>
                  </a:lnTo>
                  <a:lnTo>
                    <a:pt x="24" y="324"/>
                  </a:lnTo>
                  <a:lnTo>
                    <a:pt x="30" y="324"/>
                  </a:lnTo>
                  <a:lnTo>
                    <a:pt x="24" y="324"/>
                  </a:lnTo>
                  <a:lnTo>
                    <a:pt x="24" y="318"/>
                  </a:lnTo>
                  <a:lnTo>
                    <a:pt x="30" y="318"/>
                  </a:lnTo>
                  <a:lnTo>
                    <a:pt x="36" y="318"/>
                  </a:lnTo>
                  <a:lnTo>
                    <a:pt x="42" y="318"/>
                  </a:lnTo>
                  <a:lnTo>
                    <a:pt x="48" y="312"/>
                  </a:lnTo>
                  <a:lnTo>
                    <a:pt x="48" y="318"/>
                  </a:lnTo>
                  <a:lnTo>
                    <a:pt x="48" y="312"/>
                  </a:lnTo>
                  <a:lnTo>
                    <a:pt x="54" y="312"/>
                  </a:lnTo>
                  <a:lnTo>
                    <a:pt x="54" y="318"/>
                  </a:lnTo>
                  <a:lnTo>
                    <a:pt x="60" y="312"/>
                  </a:lnTo>
                  <a:lnTo>
                    <a:pt x="60" y="306"/>
                  </a:lnTo>
                  <a:lnTo>
                    <a:pt x="60" y="300"/>
                  </a:lnTo>
                  <a:lnTo>
                    <a:pt x="60" y="294"/>
                  </a:lnTo>
                  <a:lnTo>
                    <a:pt x="66" y="288"/>
                  </a:lnTo>
                  <a:lnTo>
                    <a:pt x="60" y="288"/>
                  </a:lnTo>
                  <a:lnTo>
                    <a:pt x="66" y="288"/>
                  </a:lnTo>
                  <a:lnTo>
                    <a:pt x="72" y="288"/>
                  </a:lnTo>
                  <a:lnTo>
                    <a:pt x="66" y="282"/>
                  </a:lnTo>
                  <a:lnTo>
                    <a:pt x="60" y="282"/>
                  </a:lnTo>
                  <a:lnTo>
                    <a:pt x="60" y="276"/>
                  </a:lnTo>
                  <a:lnTo>
                    <a:pt x="60" y="282"/>
                  </a:lnTo>
                  <a:lnTo>
                    <a:pt x="60" y="276"/>
                  </a:lnTo>
                  <a:lnTo>
                    <a:pt x="54" y="276"/>
                  </a:lnTo>
                  <a:lnTo>
                    <a:pt x="48" y="276"/>
                  </a:lnTo>
                  <a:lnTo>
                    <a:pt x="36" y="276"/>
                  </a:lnTo>
                  <a:lnTo>
                    <a:pt x="18" y="276"/>
                  </a:lnTo>
                  <a:lnTo>
                    <a:pt x="12" y="276"/>
                  </a:lnTo>
                  <a:lnTo>
                    <a:pt x="12" y="270"/>
                  </a:lnTo>
                  <a:lnTo>
                    <a:pt x="12" y="276"/>
                  </a:lnTo>
                  <a:lnTo>
                    <a:pt x="6" y="276"/>
                  </a:lnTo>
                  <a:lnTo>
                    <a:pt x="6" y="270"/>
                  </a:lnTo>
                  <a:lnTo>
                    <a:pt x="0" y="264"/>
                  </a:lnTo>
                  <a:lnTo>
                    <a:pt x="6" y="264"/>
                  </a:lnTo>
                  <a:lnTo>
                    <a:pt x="6" y="258"/>
                  </a:lnTo>
                  <a:lnTo>
                    <a:pt x="6" y="252"/>
                  </a:lnTo>
                  <a:lnTo>
                    <a:pt x="6" y="246"/>
                  </a:lnTo>
                  <a:lnTo>
                    <a:pt x="6" y="240"/>
                  </a:lnTo>
                  <a:lnTo>
                    <a:pt x="18" y="240"/>
                  </a:lnTo>
                  <a:lnTo>
                    <a:pt x="18" y="234"/>
                  </a:lnTo>
                  <a:lnTo>
                    <a:pt x="12" y="234"/>
                  </a:lnTo>
                  <a:lnTo>
                    <a:pt x="18" y="228"/>
                  </a:lnTo>
                  <a:lnTo>
                    <a:pt x="18" y="222"/>
                  </a:lnTo>
                  <a:lnTo>
                    <a:pt x="18" y="228"/>
                  </a:lnTo>
                  <a:lnTo>
                    <a:pt x="24" y="222"/>
                  </a:lnTo>
                  <a:lnTo>
                    <a:pt x="30" y="222"/>
                  </a:lnTo>
                  <a:lnTo>
                    <a:pt x="36" y="222"/>
                  </a:lnTo>
                  <a:lnTo>
                    <a:pt x="36" y="216"/>
                  </a:lnTo>
                  <a:lnTo>
                    <a:pt x="36" y="210"/>
                  </a:lnTo>
                  <a:lnTo>
                    <a:pt x="42" y="210"/>
                  </a:lnTo>
                  <a:lnTo>
                    <a:pt x="48" y="210"/>
                  </a:lnTo>
                  <a:lnTo>
                    <a:pt x="48" y="204"/>
                  </a:lnTo>
                  <a:lnTo>
                    <a:pt x="48" y="198"/>
                  </a:lnTo>
                  <a:lnTo>
                    <a:pt x="48" y="192"/>
                  </a:lnTo>
                  <a:lnTo>
                    <a:pt x="54" y="198"/>
                  </a:lnTo>
                  <a:lnTo>
                    <a:pt x="60" y="198"/>
                  </a:lnTo>
                  <a:lnTo>
                    <a:pt x="66" y="198"/>
                  </a:lnTo>
                  <a:lnTo>
                    <a:pt x="60" y="192"/>
                  </a:lnTo>
                  <a:lnTo>
                    <a:pt x="60" y="186"/>
                  </a:lnTo>
                  <a:lnTo>
                    <a:pt x="60" y="180"/>
                  </a:lnTo>
                  <a:lnTo>
                    <a:pt x="54" y="180"/>
                  </a:lnTo>
                  <a:lnTo>
                    <a:pt x="54" y="174"/>
                  </a:lnTo>
                  <a:lnTo>
                    <a:pt x="48" y="174"/>
                  </a:lnTo>
                  <a:lnTo>
                    <a:pt x="42" y="168"/>
                  </a:lnTo>
                  <a:lnTo>
                    <a:pt x="48" y="168"/>
                  </a:lnTo>
                  <a:lnTo>
                    <a:pt x="42" y="168"/>
                  </a:lnTo>
                  <a:lnTo>
                    <a:pt x="48" y="156"/>
                  </a:lnTo>
                  <a:lnTo>
                    <a:pt x="36" y="156"/>
                  </a:lnTo>
                  <a:lnTo>
                    <a:pt x="42" y="132"/>
                  </a:lnTo>
                  <a:lnTo>
                    <a:pt x="42" y="120"/>
                  </a:lnTo>
                  <a:lnTo>
                    <a:pt x="30" y="120"/>
                  </a:lnTo>
                  <a:lnTo>
                    <a:pt x="36" y="102"/>
                  </a:lnTo>
                  <a:lnTo>
                    <a:pt x="36" y="84"/>
                  </a:lnTo>
                  <a:lnTo>
                    <a:pt x="30" y="84"/>
                  </a:lnTo>
                  <a:lnTo>
                    <a:pt x="30" y="90"/>
                  </a:lnTo>
                  <a:lnTo>
                    <a:pt x="24" y="90"/>
                  </a:lnTo>
                  <a:lnTo>
                    <a:pt x="24" y="96"/>
                  </a:lnTo>
                  <a:lnTo>
                    <a:pt x="24" y="90"/>
                  </a:lnTo>
                  <a:lnTo>
                    <a:pt x="18" y="90"/>
                  </a:lnTo>
                  <a:lnTo>
                    <a:pt x="12" y="90"/>
                  </a:lnTo>
                  <a:lnTo>
                    <a:pt x="6" y="84"/>
                  </a:lnTo>
                  <a:lnTo>
                    <a:pt x="6" y="90"/>
                  </a:lnTo>
                  <a:lnTo>
                    <a:pt x="0" y="84"/>
                  </a:lnTo>
                  <a:lnTo>
                    <a:pt x="6" y="84"/>
                  </a:lnTo>
                  <a:lnTo>
                    <a:pt x="0" y="84"/>
                  </a:lnTo>
                  <a:lnTo>
                    <a:pt x="0" y="78"/>
                  </a:lnTo>
                  <a:lnTo>
                    <a:pt x="0" y="72"/>
                  </a:lnTo>
                  <a:lnTo>
                    <a:pt x="6" y="78"/>
                  </a:lnTo>
                  <a:lnTo>
                    <a:pt x="6" y="72"/>
                  </a:lnTo>
                  <a:lnTo>
                    <a:pt x="12" y="78"/>
                  </a:lnTo>
                  <a:lnTo>
                    <a:pt x="12" y="72"/>
                  </a:lnTo>
                  <a:lnTo>
                    <a:pt x="18" y="72"/>
                  </a:lnTo>
                  <a:lnTo>
                    <a:pt x="24" y="78"/>
                  </a:lnTo>
                  <a:lnTo>
                    <a:pt x="24" y="72"/>
                  </a:lnTo>
                  <a:lnTo>
                    <a:pt x="24" y="66"/>
                  </a:lnTo>
                  <a:lnTo>
                    <a:pt x="24" y="60"/>
                  </a:lnTo>
                  <a:lnTo>
                    <a:pt x="24" y="54"/>
                  </a:lnTo>
                  <a:lnTo>
                    <a:pt x="30" y="54"/>
                  </a:lnTo>
                  <a:lnTo>
                    <a:pt x="24" y="48"/>
                  </a:lnTo>
                  <a:lnTo>
                    <a:pt x="30" y="48"/>
                  </a:lnTo>
                  <a:lnTo>
                    <a:pt x="36" y="48"/>
                  </a:lnTo>
                  <a:lnTo>
                    <a:pt x="30" y="42"/>
                  </a:lnTo>
                  <a:lnTo>
                    <a:pt x="36" y="30"/>
                  </a:lnTo>
                  <a:lnTo>
                    <a:pt x="36" y="18"/>
                  </a:lnTo>
                  <a:lnTo>
                    <a:pt x="36" y="12"/>
                  </a:lnTo>
                  <a:lnTo>
                    <a:pt x="42" y="6"/>
                  </a:lnTo>
                  <a:lnTo>
                    <a:pt x="42" y="0"/>
                  </a:lnTo>
                  <a:lnTo>
                    <a:pt x="54" y="0"/>
                  </a:lnTo>
                  <a:lnTo>
                    <a:pt x="60" y="0"/>
                  </a:lnTo>
                  <a:lnTo>
                    <a:pt x="66" y="0"/>
                  </a:lnTo>
                  <a:lnTo>
                    <a:pt x="72" y="0"/>
                  </a:lnTo>
                  <a:lnTo>
                    <a:pt x="72" y="6"/>
                  </a:lnTo>
                  <a:lnTo>
                    <a:pt x="78" y="6"/>
                  </a:lnTo>
                  <a:lnTo>
                    <a:pt x="78" y="18"/>
                  </a:lnTo>
                  <a:lnTo>
                    <a:pt x="102" y="18"/>
                  </a:lnTo>
                  <a:lnTo>
                    <a:pt x="108" y="48"/>
                  </a:lnTo>
                  <a:lnTo>
                    <a:pt x="102" y="48"/>
                  </a:lnTo>
                  <a:lnTo>
                    <a:pt x="102" y="54"/>
                  </a:lnTo>
                  <a:lnTo>
                    <a:pt x="108" y="54"/>
                  </a:lnTo>
                  <a:lnTo>
                    <a:pt x="108" y="60"/>
                  </a:lnTo>
                  <a:lnTo>
                    <a:pt x="102" y="60"/>
                  </a:lnTo>
                  <a:lnTo>
                    <a:pt x="108" y="60"/>
                  </a:lnTo>
                  <a:lnTo>
                    <a:pt x="114" y="66"/>
                  </a:lnTo>
                  <a:lnTo>
                    <a:pt x="102" y="84"/>
                  </a:lnTo>
                  <a:lnTo>
                    <a:pt x="102" y="126"/>
                  </a:lnTo>
                  <a:lnTo>
                    <a:pt x="132" y="132"/>
                  </a:lnTo>
                  <a:lnTo>
                    <a:pt x="126" y="144"/>
                  </a:lnTo>
                  <a:lnTo>
                    <a:pt x="132" y="144"/>
                  </a:lnTo>
                  <a:lnTo>
                    <a:pt x="132" y="150"/>
                  </a:lnTo>
                  <a:lnTo>
                    <a:pt x="138" y="150"/>
                  </a:lnTo>
                  <a:lnTo>
                    <a:pt x="138" y="156"/>
                  </a:lnTo>
                  <a:lnTo>
                    <a:pt x="150" y="156"/>
                  </a:lnTo>
                  <a:lnTo>
                    <a:pt x="150" y="162"/>
                  </a:lnTo>
                  <a:lnTo>
                    <a:pt x="150" y="168"/>
                  </a:lnTo>
                  <a:lnTo>
                    <a:pt x="156" y="174"/>
                  </a:lnTo>
                  <a:lnTo>
                    <a:pt x="162" y="168"/>
                  </a:lnTo>
                  <a:lnTo>
                    <a:pt x="162" y="174"/>
                  </a:lnTo>
                  <a:lnTo>
                    <a:pt x="162" y="156"/>
                  </a:lnTo>
                  <a:lnTo>
                    <a:pt x="162" y="144"/>
                  </a:lnTo>
                  <a:lnTo>
                    <a:pt x="162" y="132"/>
                  </a:lnTo>
                  <a:lnTo>
                    <a:pt x="168" y="132"/>
                  </a:lnTo>
                  <a:lnTo>
                    <a:pt x="174" y="132"/>
                  </a:lnTo>
                  <a:lnTo>
                    <a:pt x="174" y="126"/>
                  </a:lnTo>
                  <a:lnTo>
                    <a:pt x="168" y="126"/>
                  </a:lnTo>
                  <a:lnTo>
                    <a:pt x="168" y="120"/>
                  </a:lnTo>
                  <a:lnTo>
                    <a:pt x="180" y="120"/>
                  </a:lnTo>
                  <a:lnTo>
                    <a:pt x="186" y="114"/>
                  </a:lnTo>
                  <a:lnTo>
                    <a:pt x="192" y="114"/>
                  </a:lnTo>
                  <a:lnTo>
                    <a:pt x="204" y="108"/>
                  </a:lnTo>
                  <a:lnTo>
                    <a:pt x="204" y="114"/>
                  </a:lnTo>
                  <a:lnTo>
                    <a:pt x="210" y="114"/>
                  </a:lnTo>
                  <a:lnTo>
                    <a:pt x="210" y="108"/>
                  </a:lnTo>
                  <a:lnTo>
                    <a:pt x="216" y="108"/>
                  </a:lnTo>
                  <a:lnTo>
                    <a:pt x="222" y="96"/>
                  </a:lnTo>
                  <a:lnTo>
                    <a:pt x="228" y="96"/>
                  </a:lnTo>
                  <a:lnTo>
                    <a:pt x="234" y="102"/>
                  </a:lnTo>
                  <a:lnTo>
                    <a:pt x="240" y="108"/>
                  </a:lnTo>
                  <a:lnTo>
                    <a:pt x="240" y="102"/>
                  </a:lnTo>
                  <a:lnTo>
                    <a:pt x="246" y="102"/>
                  </a:lnTo>
                  <a:lnTo>
                    <a:pt x="252" y="90"/>
                  </a:lnTo>
                  <a:lnTo>
                    <a:pt x="258" y="78"/>
                  </a:lnTo>
                  <a:lnTo>
                    <a:pt x="264" y="72"/>
                  </a:lnTo>
                  <a:lnTo>
                    <a:pt x="276" y="78"/>
                  </a:lnTo>
                  <a:lnTo>
                    <a:pt x="282" y="84"/>
                  </a:lnTo>
                  <a:lnTo>
                    <a:pt x="300" y="84"/>
                  </a:lnTo>
                  <a:lnTo>
                    <a:pt x="324" y="84"/>
                  </a:lnTo>
                  <a:lnTo>
                    <a:pt x="324" y="78"/>
                  </a:lnTo>
                  <a:lnTo>
                    <a:pt x="330" y="78"/>
                  </a:lnTo>
                  <a:lnTo>
                    <a:pt x="330" y="84"/>
                  </a:lnTo>
                  <a:lnTo>
                    <a:pt x="336" y="84"/>
                  </a:lnTo>
                  <a:lnTo>
                    <a:pt x="336" y="90"/>
                  </a:lnTo>
                  <a:lnTo>
                    <a:pt x="342" y="102"/>
                  </a:lnTo>
                  <a:lnTo>
                    <a:pt x="336" y="120"/>
                  </a:lnTo>
                  <a:lnTo>
                    <a:pt x="336" y="126"/>
                  </a:lnTo>
                  <a:lnTo>
                    <a:pt x="330" y="126"/>
                  </a:lnTo>
                  <a:lnTo>
                    <a:pt x="324" y="150"/>
                  </a:lnTo>
                  <a:lnTo>
                    <a:pt x="318" y="156"/>
                  </a:lnTo>
                  <a:lnTo>
                    <a:pt x="324" y="174"/>
                  </a:lnTo>
                  <a:lnTo>
                    <a:pt x="330" y="174"/>
                  </a:lnTo>
                  <a:lnTo>
                    <a:pt x="336" y="174"/>
                  </a:lnTo>
                  <a:lnTo>
                    <a:pt x="342" y="180"/>
                  </a:lnTo>
                  <a:lnTo>
                    <a:pt x="342" y="174"/>
                  </a:lnTo>
                  <a:lnTo>
                    <a:pt x="348" y="180"/>
                  </a:lnTo>
                  <a:lnTo>
                    <a:pt x="348" y="186"/>
                  </a:lnTo>
                  <a:lnTo>
                    <a:pt x="342" y="186"/>
                  </a:lnTo>
                  <a:lnTo>
                    <a:pt x="342" y="192"/>
                  </a:lnTo>
                  <a:lnTo>
                    <a:pt x="348" y="198"/>
                  </a:lnTo>
                  <a:lnTo>
                    <a:pt x="348" y="204"/>
                  </a:lnTo>
                  <a:lnTo>
                    <a:pt x="348" y="210"/>
                  </a:lnTo>
                  <a:lnTo>
                    <a:pt x="354" y="210"/>
                  </a:lnTo>
                  <a:lnTo>
                    <a:pt x="348" y="210"/>
                  </a:lnTo>
                  <a:lnTo>
                    <a:pt x="348" y="216"/>
                  </a:lnTo>
                  <a:lnTo>
                    <a:pt x="342" y="216"/>
                  </a:lnTo>
                  <a:lnTo>
                    <a:pt x="342" y="222"/>
                  </a:lnTo>
                  <a:lnTo>
                    <a:pt x="342" y="228"/>
                  </a:lnTo>
                  <a:lnTo>
                    <a:pt x="342" y="234"/>
                  </a:lnTo>
                  <a:lnTo>
                    <a:pt x="348" y="234"/>
                  </a:lnTo>
                  <a:lnTo>
                    <a:pt x="336" y="234"/>
                  </a:lnTo>
                  <a:lnTo>
                    <a:pt x="336" y="240"/>
                  </a:lnTo>
                  <a:lnTo>
                    <a:pt x="330" y="234"/>
                  </a:lnTo>
                  <a:lnTo>
                    <a:pt x="330" y="240"/>
                  </a:lnTo>
                  <a:lnTo>
                    <a:pt x="324" y="240"/>
                  </a:lnTo>
                  <a:lnTo>
                    <a:pt x="318" y="240"/>
                  </a:lnTo>
                  <a:lnTo>
                    <a:pt x="318" y="234"/>
                  </a:lnTo>
                  <a:lnTo>
                    <a:pt x="318" y="228"/>
                  </a:lnTo>
                  <a:lnTo>
                    <a:pt x="312" y="228"/>
                  </a:lnTo>
                  <a:lnTo>
                    <a:pt x="306" y="228"/>
                  </a:lnTo>
                  <a:lnTo>
                    <a:pt x="300" y="240"/>
                  </a:lnTo>
                  <a:lnTo>
                    <a:pt x="282" y="240"/>
                  </a:lnTo>
                  <a:lnTo>
                    <a:pt x="276" y="240"/>
                  </a:lnTo>
                  <a:lnTo>
                    <a:pt x="276" y="234"/>
                  </a:lnTo>
                  <a:lnTo>
                    <a:pt x="270" y="234"/>
                  </a:lnTo>
                  <a:lnTo>
                    <a:pt x="264" y="234"/>
                  </a:lnTo>
                  <a:lnTo>
                    <a:pt x="264" y="240"/>
                  </a:lnTo>
                  <a:lnTo>
                    <a:pt x="258" y="240"/>
                  </a:lnTo>
                  <a:lnTo>
                    <a:pt x="258" y="246"/>
                  </a:lnTo>
                  <a:lnTo>
                    <a:pt x="252" y="246"/>
                  </a:lnTo>
                  <a:lnTo>
                    <a:pt x="258" y="252"/>
                  </a:lnTo>
                  <a:lnTo>
                    <a:pt x="252" y="252"/>
                  </a:lnTo>
                  <a:lnTo>
                    <a:pt x="258" y="252"/>
                  </a:lnTo>
                  <a:lnTo>
                    <a:pt x="252" y="252"/>
                  </a:lnTo>
                  <a:lnTo>
                    <a:pt x="252" y="258"/>
                  </a:lnTo>
                  <a:lnTo>
                    <a:pt x="246" y="264"/>
                  </a:lnTo>
                  <a:lnTo>
                    <a:pt x="252" y="264"/>
                  </a:lnTo>
                  <a:lnTo>
                    <a:pt x="258" y="270"/>
                  </a:lnTo>
                  <a:lnTo>
                    <a:pt x="252" y="270"/>
                  </a:lnTo>
                  <a:lnTo>
                    <a:pt x="252" y="276"/>
                  </a:lnTo>
                  <a:lnTo>
                    <a:pt x="258" y="276"/>
                  </a:lnTo>
                  <a:lnTo>
                    <a:pt x="258" y="282"/>
                  </a:lnTo>
                  <a:lnTo>
                    <a:pt x="252" y="282"/>
                  </a:lnTo>
                  <a:lnTo>
                    <a:pt x="258" y="282"/>
                  </a:lnTo>
                  <a:lnTo>
                    <a:pt x="258" y="288"/>
                  </a:lnTo>
                  <a:lnTo>
                    <a:pt x="252" y="288"/>
                  </a:lnTo>
                  <a:lnTo>
                    <a:pt x="258" y="288"/>
                  </a:lnTo>
                  <a:lnTo>
                    <a:pt x="258" y="294"/>
                  </a:lnTo>
                  <a:lnTo>
                    <a:pt x="258" y="300"/>
                  </a:lnTo>
                  <a:lnTo>
                    <a:pt x="258" y="306"/>
                  </a:lnTo>
                  <a:lnTo>
                    <a:pt x="252" y="312"/>
                  </a:lnTo>
                  <a:lnTo>
                    <a:pt x="258" y="312"/>
                  </a:lnTo>
                  <a:lnTo>
                    <a:pt x="252" y="312"/>
                  </a:lnTo>
                  <a:lnTo>
                    <a:pt x="252" y="318"/>
                  </a:lnTo>
                  <a:lnTo>
                    <a:pt x="246" y="318"/>
                  </a:lnTo>
                  <a:lnTo>
                    <a:pt x="246" y="324"/>
                  </a:lnTo>
                  <a:lnTo>
                    <a:pt x="240" y="324"/>
                  </a:lnTo>
                  <a:lnTo>
                    <a:pt x="234" y="324"/>
                  </a:lnTo>
                  <a:lnTo>
                    <a:pt x="228" y="324"/>
                  </a:lnTo>
                  <a:lnTo>
                    <a:pt x="222" y="324"/>
                  </a:lnTo>
                  <a:lnTo>
                    <a:pt x="222" y="330"/>
                  </a:lnTo>
                  <a:lnTo>
                    <a:pt x="222" y="342"/>
                  </a:lnTo>
                  <a:lnTo>
                    <a:pt x="228" y="342"/>
                  </a:lnTo>
                  <a:lnTo>
                    <a:pt x="222" y="342"/>
                  </a:lnTo>
                  <a:lnTo>
                    <a:pt x="228" y="342"/>
                  </a:lnTo>
                  <a:lnTo>
                    <a:pt x="228" y="348"/>
                  </a:lnTo>
                  <a:lnTo>
                    <a:pt x="228" y="354"/>
                  </a:lnTo>
                  <a:lnTo>
                    <a:pt x="228" y="360"/>
                  </a:lnTo>
                  <a:lnTo>
                    <a:pt x="234" y="360"/>
                  </a:lnTo>
                  <a:lnTo>
                    <a:pt x="234" y="366"/>
                  </a:lnTo>
                  <a:lnTo>
                    <a:pt x="234" y="372"/>
                  </a:lnTo>
                  <a:lnTo>
                    <a:pt x="240" y="372"/>
                  </a:lnTo>
                  <a:lnTo>
                    <a:pt x="240" y="366"/>
                  </a:lnTo>
                  <a:lnTo>
                    <a:pt x="240" y="372"/>
                  </a:lnTo>
                  <a:lnTo>
                    <a:pt x="240" y="378"/>
                  </a:lnTo>
                  <a:lnTo>
                    <a:pt x="234" y="384"/>
                  </a:lnTo>
                  <a:lnTo>
                    <a:pt x="234" y="390"/>
                  </a:lnTo>
                  <a:lnTo>
                    <a:pt x="228" y="390"/>
                  </a:lnTo>
                  <a:lnTo>
                    <a:pt x="222" y="396"/>
                  </a:lnTo>
                  <a:lnTo>
                    <a:pt x="228" y="402"/>
                  </a:lnTo>
                  <a:lnTo>
                    <a:pt x="222" y="402"/>
                  </a:lnTo>
                  <a:lnTo>
                    <a:pt x="228" y="408"/>
                  </a:lnTo>
                  <a:lnTo>
                    <a:pt x="234" y="408"/>
                  </a:lnTo>
                  <a:lnTo>
                    <a:pt x="228" y="414"/>
                  </a:lnTo>
                  <a:lnTo>
                    <a:pt x="234" y="414"/>
                  </a:lnTo>
                  <a:lnTo>
                    <a:pt x="228" y="414"/>
                  </a:lnTo>
                  <a:lnTo>
                    <a:pt x="234" y="414"/>
                  </a:lnTo>
                  <a:lnTo>
                    <a:pt x="228" y="420"/>
                  </a:lnTo>
                  <a:lnTo>
                    <a:pt x="234" y="420"/>
                  </a:lnTo>
                  <a:lnTo>
                    <a:pt x="234" y="426"/>
                  </a:lnTo>
                  <a:lnTo>
                    <a:pt x="240" y="426"/>
                  </a:lnTo>
                  <a:lnTo>
                    <a:pt x="240" y="432"/>
                  </a:lnTo>
                  <a:lnTo>
                    <a:pt x="234" y="432"/>
                  </a:lnTo>
                  <a:lnTo>
                    <a:pt x="240" y="432"/>
                  </a:lnTo>
                  <a:lnTo>
                    <a:pt x="234" y="432"/>
                  </a:lnTo>
                  <a:lnTo>
                    <a:pt x="234" y="438"/>
                  </a:lnTo>
                  <a:close/>
                </a:path>
              </a:pathLst>
            </a:custGeom>
            <a:solidFill>
              <a:schemeClr val="accent1"/>
            </a:solidFill>
            <a:ln w="9525">
              <a:solidFill>
                <a:srgbClr val="B2B2B2"/>
              </a:solidFill>
              <a:round/>
              <a:headEnd/>
              <a:tailEnd/>
            </a:ln>
          </p:spPr>
          <p:txBody>
            <a:bodyPr/>
            <a:lstStyle/>
            <a:p>
              <a:endParaRPr lang="en-CA"/>
            </a:p>
          </p:txBody>
        </p:sp>
        <p:sp>
          <p:nvSpPr>
            <p:cNvPr id="424" name="Freeform 483"/>
            <p:cNvSpPr>
              <a:spLocks/>
            </p:cNvSpPr>
            <p:nvPr>
              <p:custDataLst>
                <p:tags r:id="rId47"/>
              </p:custDataLst>
            </p:nvPr>
          </p:nvSpPr>
          <p:spPr bwMode="gray">
            <a:xfrm>
              <a:off x="1124" y="2946"/>
              <a:ext cx="131" cy="78"/>
            </a:xfrm>
            <a:custGeom>
              <a:avLst/>
              <a:gdLst>
                <a:gd name="T0" fmla="*/ 117711019 w 210"/>
                <a:gd name="T1" fmla="*/ 116573376 h 126"/>
                <a:gd name="T2" fmla="*/ 105940313 w 210"/>
                <a:gd name="T3" fmla="*/ 110744756 h 126"/>
                <a:gd name="T4" fmla="*/ 94168617 w 210"/>
                <a:gd name="T5" fmla="*/ 99087517 h 126"/>
                <a:gd name="T6" fmla="*/ 82397912 w 210"/>
                <a:gd name="T7" fmla="*/ 93258897 h 126"/>
                <a:gd name="T8" fmla="*/ 70626215 w 210"/>
                <a:gd name="T9" fmla="*/ 87430277 h 126"/>
                <a:gd name="T10" fmla="*/ 58855510 w 210"/>
                <a:gd name="T11" fmla="*/ 93258897 h 126"/>
                <a:gd name="T12" fmla="*/ 47084804 w 210"/>
                <a:gd name="T13" fmla="*/ 104916136 h 126"/>
                <a:gd name="T14" fmla="*/ 41198461 w 210"/>
                <a:gd name="T15" fmla="*/ 104916136 h 126"/>
                <a:gd name="T16" fmla="*/ 35313108 w 210"/>
                <a:gd name="T17" fmla="*/ 104916136 h 126"/>
                <a:gd name="T18" fmla="*/ 29427755 w 210"/>
                <a:gd name="T19" fmla="*/ 104916136 h 126"/>
                <a:gd name="T20" fmla="*/ 23542402 w 210"/>
                <a:gd name="T21" fmla="*/ 104916136 h 126"/>
                <a:gd name="T22" fmla="*/ 17657049 w 210"/>
                <a:gd name="T23" fmla="*/ 104916136 h 126"/>
                <a:gd name="T24" fmla="*/ 17657049 w 210"/>
                <a:gd name="T25" fmla="*/ 99087517 h 126"/>
                <a:gd name="T26" fmla="*/ 11770706 w 210"/>
                <a:gd name="T27" fmla="*/ 87430277 h 126"/>
                <a:gd name="T28" fmla="*/ 17657049 w 210"/>
                <a:gd name="T29" fmla="*/ 81601658 h 126"/>
                <a:gd name="T30" fmla="*/ 5885353 w 210"/>
                <a:gd name="T31" fmla="*/ 75773038 h 126"/>
                <a:gd name="T32" fmla="*/ 5885353 w 210"/>
                <a:gd name="T33" fmla="*/ 64115799 h 126"/>
                <a:gd name="T34" fmla="*/ 17657049 w 210"/>
                <a:gd name="T35" fmla="*/ 58286196 h 126"/>
                <a:gd name="T36" fmla="*/ 11770706 w 210"/>
                <a:gd name="T37" fmla="*/ 58286196 h 126"/>
                <a:gd name="T38" fmla="*/ 11770706 w 210"/>
                <a:gd name="T39" fmla="*/ 52457577 h 126"/>
                <a:gd name="T40" fmla="*/ 29427755 w 210"/>
                <a:gd name="T41" fmla="*/ 40800338 h 126"/>
                <a:gd name="T42" fmla="*/ 47084804 w 210"/>
                <a:gd name="T43" fmla="*/ 34971718 h 126"/>
                <a:gd name="T44" fmla="*/ 64740863 w 210"/>
                <a:gd name="T45" fmla="*/ 34971718 h 126"/>
                <a:gd name="T46" fmla="*/ 70626215 w 210"/>
                <a:gd name="T47" fmla="*/ 46628957 h 126"/>
                <a:gd name="T48" fmla="*/ 82397912 w 210"/>
                <a:gd name="T49" fmla="*/ 40800338 h 126"/>
                <a:gd name="T50" fmla="*/ 94168617 w 210"/>
                <a:gd name="T51" fmla="*/ 34971718 h 126"/>
                <a:gd name="T52" fmla="*/ 94168617 w 210"/>
                <a:gd name="T53" fmla="*/ 29143098 h 126"/>
                <a:gd name="T54" fmla="*/ 105940313 w 210"/>
                <a:gd name="T55" fmla="*/ 34971718 h 126"/>
                <a:gd name="T56" fmla="*/ 105940313 w 210"/>
                <a:gd name="T57" fmla="*/ 29143098 h 126"/>
                <a:gd name="T58" fmla="*/ 117711019 w 210"/>
                <a:gd name="T59" fmla="*/ 23314479 h 126"/>
                <a:gd name="T60" fmla="*/ 117711019 w 210"/>
                <a:gd name="T61" fmla="*/ 17485859 h 126"/>
                <a:gd name="T62" fmla="*/ 129481725 w 210"/>
                <a:gd name="T63" fmla="*/ 17485859 h 126"/>
                <a:gd name="T64" fmla="*/ 141253421 w 210"/>
                <a:gd name="T65" fmla="*/ 17485859 h 126"/>
                <a:gd name="T66" fmla="*/ 153024127 w 210"/>
                <a:gd name="T67" fmla="*/ 23314479 h 126"/>
                <a:gd name="T68" fmla="*/ 153024127 w 210"/>
                <a:gd name="T69" fmla="*/ 5828620 h 126"/>
                <a:gd name="T70" fmla="*/ 158909480 w 210"/>
                <a:gd name="T71" fmla="*/ 5828620 h 126"/>
                <a:gd name="T72" fmla="*/ 164795823 w 210"/>
                <a:gd name="T73" fmla="*/ 5828620 h 126"/>
                <a:gd name="T74" fmla="*/ 158909480 w 210"/>
                <a:gd name="T75" fmla="*/ 11657239 h 126"/>
                <a:gd name="T76" fmla="*/ 158909480 w 210"/>
                <a:gd name="T77" fmla="*/ 17485859 h 126"/>
                <a:gd name="T78" fmla="*/ 164795823 w 210"/>
                <a:gd name="T79" fmla="*/ 29143098 h 126"/>
                <a:gd name="T80" fmla="*/ 176566529 w 210"/>
                <a:gd name="T81" fmla="*/ 29143098 h 126"/>
                <a:gd name="T82" fmla="*/ 182451882 w 210"/>
                <a:gd name="T83" fmla="*/ 29143098 h 126"/>
                <a:gd name="T84" fmla="*/ 182451882 w 210"/>
                <a:gd name="T85" fmla="*/ 34971718 h 126"/>
                <a:gd name="T86" fmla="*/ 194223578 w 210"/>
                <a:gd name="T87" fmla="*/ 40800338 h 126"/>
                <a:gd name="T88" fmla="*/ 200108931 w 210"/>
                <a:gd name="T89" fmla="*/ 52457577 h 126"/>
                <a:gd name="T90" fmla="*/ 205994284 w 210"/>
                <a:gd name="T91" fmla="*/ 64115799 h 126"/>
                <a:gd name="T92" fmla="*/ 200108931 w 210"/>
                <a:gd name="T93" fmla="*/ 75773038 h 126"/>
                <a:gd name="T94" fmla="*/ 194223578 w 210"/>
                <a:gd name="T95" fmla="*/ 69944418 h 126"/>
                <a:gd name="T96" fmla="*/ 188337235 w 210"/>
                <a:gd name="T97" fmla="*/ 69944418 h 126"/>
                <a:gd name="T98" fmla="*/ 176566529 w 210"/>
                <a:gd name="T99" fmla="*/ 75773038 h 126"/>
                <a:gd name="T100" fmla="*/ 176566529 w 210"/>
                <a:gd name="T101" fmla="*/ 69944418 h 126"/>
                <a:gd name="T102" fmla="*/ 170681176 w 210"/>
                <a:gd name="T103" fmla="*/ 75773038 h 126"/>
                <a:gd name="T104" fmla="*/ 170681176 w 210"/>
                <a:gd name="T105" fmla="*/ 81601658 h 126"/>
                <a:gd name="T106" fmla="*/ 158909480 w 210"/>
                <a:gd name="T107" fmla="*/ 81601658 h 126"/>
                <a:gd name="T108" fmla="*/ 147138774 w 210"/>
                <a:gd name="T109" fmla="*/ 93258897 h 126"/>
                <a:gd name="T110" fmla="*/ 153024127 w 210"/>
                <a:gd name="T111" fmla="*/ 93258897 h 126"/>
                <a:gd name="T112" fmla="*/ 147138774 w 210"/>
                <a:gd name="T113" fmla="*/ 104916136 h 126"/>
                <a:gd name="T114" fmla="*/ 135368068 w 210"/>
                <a:gd name="T115" fmla="*/ 110744756 h 126"/>
                <a:gd name="T116" fmla="*/ 135368068 w 210"/>
                <a:gd name="T117" fmla="*/ 116573376 h 126"/>
                <a:gd name="T118" fmla="*/ 129481725 w 210"/>
                <a:gd name="T119" fmla="*/ 122401995 h 12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0"/>
                <a:gd name="T181" fmla="*/ 0 h 126"/>
                <a:gd name="T182" fmla="*/ 210 w 210"/>
                <a:gd name="T183" fmla="*/ 126 h 12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0" h="126">
                  <a:moveTo>
                    <a:pt x="126" y="126"/>
                  </a:moveTo>
                  <a:lnTo>
                    <a:pt x="120" y="126"/>
                  </a:lnTo>
                  <a:lnTo>
                    <a:pt x="120" y="120"/>
                  </a:lnTo>
                  <a:lnTo>
                    <a:pt x="114" y="120"/>
                  </a:lnTo>
                  <a:lnTo>
                    <a:pt x="108" y="120"/>
                  </a:lnTo>
                  <a:lnTo>
                    <a:pt x="108" y="114"/>
                  </a:lnTo>
                  <a:lnTo>
                    <a:pt x="108" y="108"/>
                  </a:lnTo>
                  <a:lnTo>
                    <a:pt x="102" y="102"/>
                  </a:lnTo>
                  <a:lnTo>
                    <a:pt x="96" y="102"/>
                  </a:lnTo>
                  <a:lnTo>
                    <a:pt x="90" y="102"/>
                  </a:lnTo>
                  <a:lnTo>
                    <a:pt x="84" y="102"/>
                  </a:lnTo>
                  <a:lnTo>
                    <a:pt x="84" y="96"/>
                  </a:lnTo>
                  <a:lnTo>
                    <a:pt x="84" y="90"/>
                  </a:lnTo>
                  <a:lnTo>
                    <a:pt x="78" y="90"/>
                  </a:lnTo>
                  <a:lnTo>
                    <a:pt x="72" y="90"/>
                  </a:lnTo>
                  <a:lnTo>
                    <a:pt x="66" y="90"/>
                  </a:lnTo>
                  <a:lnTo>
                    <a:pt x="66" y="96"/>
                  </a:lnTo>
                  <a:lnTo>
                    <a:pt x="60" y="96"/>
                  </a:lnTo>
                  <a:lnTo>
                    <a:pt x="54" y="96"/>
                  </a:lnTo>
                  <a:lnTo>
                    <a:pt x="54" y="102"/>
                  </a:lnTo>
                  <a:lnTo>
                    <a:pt x="48" y="108"/>
                  </a:lnTo>
                  <a:lnTo>
                    <a:pt x="48" y="102"/>
                  </a:lnTo>
                  <a:lnTo>
                    <a:pt x="42" y="102"/>
                  </a:lnTo>
                  <a:lnTo>
                    <a:pt x="42" y="108"/>
                  </a:lnTo>
                  <a:lnTo>
                    <a:pt x="42" y="102"/>
                  </a:lnTo>
                  <a:lnTo>
                    <a:pt x="42" y="108"/>
                  </a:lnTo>
                  <a:lnTo>
                    <a:pt x="36" y="108"/>
                  </a:lnTo>
                  <a:lnTo>
                    <a:pt x="36" y="102"/>
                  </a:lnTo>
                  <a:lnTo>
                    <a:pt x="36" y="108"/>
                  </a:lnTo>
                  <a:lnTo>
                    <a:pt x="30" y="108"/>
                  </a:lnTo>
                  <a:lnTo>
                    <a:pt x="30" y="114"/>
                  </a:lnTo>
                  <a:lnTo>
                    <a:pt x="24" y="114"/>
                  </a:lnTo>
                  <a:lnTo>
                    <a:pt x="24" y="108"/>
                  </a:lnTo>
                  <a:lnTo>
                    <a:pt x="24" y="114"/>
                  </a:lnTo>
                  <a:lnTo>
                    <a:pt x="24" y="108"/>
                  </a:lnTo>
                  <a:lnTo>
                    <a:pt x="18" y="108"/>
                  </a:lnTo>
                  <a:lnTo>
                    <a:pt x="18" y="102"/>
                  </a:lnTo>
                  <a:lnTo>
                    <a:pt x="24" y="102"/>
                  </a:lnTo>
                  <a:lnTo>
                    <a:pt x="18" y="102"/>
                  </a:lnTo>
                  <a:lnTo>
                    <a:pt x="18" y="96"/>
                  </a:lnTo>
                  <a:lnTo>
                    <a:pt x="12" y="96"/>
                  </a:lnTo>
                  <a:lnTo>
                    <a:pt x="12" y="90"/>
                  </a:lnTo>
                  <a:lnTo>
                    <a:pt x="12" y="96"/>
                  </a:lnTo>
                  <a:lnTo>
                    <a:pt x="18" y="90"/>
                  </a:lnTo>
                  <a:lnTo>
                    <a:pt x="18" y="84"/>
                  </a:lnTo>
                  <a:lnTo>
                    <a:pt x="18" y="78"/>
                  </a:lnTo>
                  <a:lnTo>
                    <a:pt x="12" y="78"/>
                  </a:lnTo>
                  <a:lnTo>
                    <a:pt x="6" y="78"/>
                  </a:lnTo>
                  <a:lnTo>
                    <a:pt x="0" y="72"/>
                  </a:lnTo>
                  <a:lnTo>
                    <a:pt x="0" y="66"/>
                  </a:lnTo>
                  <a:lnTo>
                    <a:pt x="6" y="66"/>
                  </a:lnTo>
                  <a:lnTo>
                    <a:pt x="6" y="60"/>
                  </a:lnTo>
                  <a:lnTo>
                    <a:pt x="12" y="60"/>
                  </a:lnTo>
                  <a:lnTo>
                    <a:pt x="18" y="60"/>
                  </a:lnTo>
                  <a:lnTo>
                    <a:pt x="12" y="60"/>
                  </a:lnTo>
                  <a:lnTo>
                    <a:pt x="18" y="60"/>
                  </a:lnTo>
                  <a:lnTo>
                    <a:pt x="12" y="60"/>
                  </a:lnTo>
                  <a:lnTo>
                    <a:pt x="12" y="54"/>
                  </a:lnTo>
                  <a:lnTo>
                    <a:pt x="12" y="60"/>
                  </a:lnTo>
                  <a:lnTo>
                    <a:pt x="12" y="54"/>
                  </a:lnTo>
                  <a:lnTo>
                    <a:pt x="18" y="42"/>
                  </a:lnTo>
                  <a:lnTo>
                    <a:pt x="24" y="42"/>
                  </a:lnTo>
                  <a:lnTo>
                    <a:pt x="30" y="42"/>
                  </a:lnTo>
                  <a:lnTo>
                    <a:pt x="30" y="36"/>
                  </a:lnTo>
                  <a:lnTo>
                    <a:pt x="42" y="36"/>
                  </a:lnTo>
                  <a:lnTo>
                    <a:pt x="48" y="36"/>
                  </a:lnTo>
                  <a:lnTo>
                    <a:pt x="54" y="36"/>
                  </a:lnTo>
                  <a:lnTo>
                    <a:pt x="60" y="36"/>
                  </a:lnTo>
                  <a:lnTo>
                    <a:pt x="66" y="36"/>
                  </a:lnTo>
                  <a:lnTo>
                    <a:pt x="72" y="36"/>
                  </a:lnTo>
                  <a:lnTo>
                    <a:pt x="72" y="42"/>
                  </a:lnTo>
                  <a:lnTo>
                    <a:pt x="72" y="48"/>
                  </a:lnTo>
                  <a:lnTo>
                    <a:pt x="78" y="48"/>
                  </a:lnTo>
                  <a:lnTo>
                    <a:pt x="78" y="42"/>
                  </a:lnTo>
                  <a:lnTo>
                    <a:pt x="84" y="42"/>
                  </a:lnTo>
                  <a:lnTo>
                    <a:pt x="90" y="42"/>
                  </a:lnTo>
                  <a:lnTo>
                    <a:pt x="90" y="36"/>
                  </a:lnTo>
                  <a:lnTo>
                    <a:pt x="96" y="36"/>
                  </a:lnTo>
                  <a:lnTo>
                    <a:pt x="96" y="30"/>
                  </a:lnTo>
                  <a:lnTo>
                    <a:pt x="102" y="30"/>
                  </a:lnTo>
                  <a:lnTo>
                    <a:pt x="96" y="30"/>
                  </a:lnTo>
                  <a:lnTo>
                    <a:pt x="102" y="30"/>
                  </a:lnTo>
                  <a:lnTo>
                    <a:pt x="108" y="30"/>
                  </a:lnTo>
                  <a:lnTo>
                    <a:pt x="108" y="36"/>
                  </a:lnTo>
                  <a:lnTo>
                    <a:pt x="108" y="30"/>
                  </a:lnTo>
                  <a:lnTo>
                    <a:pt x="108" y="36"/>
                  </a:lnTo>
                  <a:lnTo>
                    <a:pt x="108" y="30"/>
                  </a:lnTo>
                  <a:lnTo>
                    <a:pt x="114" y="30"/>
                  </a:lnTo>
                  <a:lnTo>
                    <a:pt x="120" y="30"/>
                  </a:lnTo>
                  <a:lnTo>
                    <a:pt x="120" y="24"/>
                  </a:lnTo>
                  <a:lnTo>
                    <a:pt x="114" y="24"/>
                  </a:lnTo>
                  <a:lnTo>
                    <a:pt x="120" y="24"/>
                  </a:lnTo>
                  <a:lnTo>
                    <a:pt x="120" y="18"/>
                  </a:lnTo>
                  <a:lnTo>
                    <a:pt x="120" y="24"/>
                  </a:lnTo>
                  <a:lnTo>
                    <a:pt x="126" y="18"/>
                  </a:lnTo>
                  <a:lnTo>
                    <a:pt x="132" y="18"/>
                  </a:lnTo>
                  <a:lnTo>
                    <a:pt x="132" y="24"/>
                  </a:lnTo>
                  <a:lnTo>
                    <a:pt x="138" y="18"/>
                  </a:lnTo>
                  <a:lnTo>
                    <a:pt x="144" y="18"/>
                  </a:lnTo>
                  <a:lnTo>
                    <a:pt x="150" y="18"/>
                  </a:lnTo>
                  <a:lnTo>
                    <a:pt x="150" y="24"/>
                  </a:lnTo>
                  <a:lnTo>
                    <a:pt x="156" y="24"/>
                  </a:lnTo>
                  <a:lnTo>
                    <a:pt x="156" y="18"/>
                  </a:lnTo>
                  <a:lnTo>
                    <a:pt x="156" y="12"/>
                  </a:lnTo>
                  <a:lnTo>
                    <a:pt x="156" y="6"/>
                  </a:lnTo>
                  <a:lnTo>
                    <a:pt x="162" y="6"/>
                  </a:lnTo>
                  <a:lnTo>
                    <a:pt x="162" y="0"/>
                  </a:lnTo>
                  <a:lnTo>
                    <a:pt x="162" y="6"/>
                  </a:lnTo>
                  <a:lnTo>
                    <a:pt x="168" y="6"/>
                  </a:lnTo>
                  <a:lnTo>
                    <a:pt x="162" y="6"/>
                  </a:lnTo>
                  <a:lnTo>
                    <a:pt x="168" y="6"/>
                  </a:lnTo>
                  <a:lnTo>
                    <a:pt x="162" y="12"/>
                  </a:lnTo>
                  <a:lnTo>
                    <a:pt x="168" y="12"/>
                  </a:lnTo>
                  <a:lnTo>
                    <a:pt x="162" y="12"/>
                  </a:lnTo>
                  <a:lnTo>
                    <a:pt x="162" y="18"/>
                  </a:lnTo>
                  <a:lnTo>
                    <a:pt x="168" y="18"/>
                  </a:lnTo>
                  <a:lnTo>
                    <a:pt x="162" y="18"/>
                  </a:lnTo>
                  <a:lnTo>
                    <a:pt x="168" y="18"/>
                  </a:lnTo>
                  <a:lnTo>
                    <a:pt x="168" y="24"/>
                  </a:lnTo>
                  <a:lnTo>
                    <a:pt x="168" y="30"/>
                  </a:lnTo>
                  <a:lnTo>
                    <a:pt x="174" y="30"/>
                  </a:lnTo>
                  <a:lnTo>
                    <a:pt x="180" y="24"/>
                  </a:lnTo>
                  <a:lnTo>
                    <a:pt x="180" y="30"/>
                  </a:lnTo>
                  <a:lnTo>
                    <a:pt x="180" y="24"/>
                  </a:lnTo>
                  <a:lnTo>
                    <a:pt x="186" y="24"/>
                  </a:lnTo>
                  <a:lnTo>
                    <a:pt x="186" y="30"/>
                  </a:lnTo>
                  <a:lnTo>
                    <a:pt x="192" y="30"/>
                  </a:lnTo>
                  <a:lnTo>
                    <a:pt x="192" y="36"/>
                  </a:lnTo>
                  <a:lnTo>
                    <a:pt x="186" y="36"/>
                  </a:lnTo>
                  <a:lnTo>
                    <a:pt x="192" y="36"/>
                  </a:lnTo>
                  <a:lnTo>
                    <a:pt x="192" y="42"/>
                  </a:lnTo>
                  <a:lnTo>
                    <a:pt x="198" y="42"/>
                  </a:lnTo>
                  <a:lnTo>
                    <a:pt x="204" y="42"/>
                  </a:lnTo>
                  <a:lnTo>
                    <a:pt x="204" y="48"/>
                  </a:lnTo>
                  <a:lnTo>
                    <a:pt x="204" y="54"/>
                  </a:lnTo>
                  <a:lnTo>
                    <a:pt x="204" y="60"/>
                  </a:lnTo>
                  <a:lnTo>
                    <a:pt x="204" y="66"/>
                  </a:lnTo>
                  <a:lnTo>
                    <a:pt x="210" y="66"/>
                  </a:lnTo>
                  <a:lnTo>
                    <a:pt x="210" y="72"/>
                  </a:lnTo>
                  <a:lnTo>
                    <a:pt x="204" y="72"/>
                  </a:lnTo>
                  <a:lnTo>
                    <a:pt x="204" y="78"/>
                  </a:lnTo>
                  <a:lnTo>
                    <a:pt x="198" y="78"/>
                  </a:lnTo>
                  <a:lnTo>
                    <a:pt x="204" y="72"/>
                  </a:lnTo>
                  <a:lnTo>
                    <a:pt x="198" y="72"/>
                  </a:lnTo>
                  <a:lnTo>
                    <a:pt x="198" y="78"/>
                  </a:lnTo>
                  <a:lnTo>
                    <a:pt x="192" y="78"/>
                  </a:lnTo>
                  <a:lnTo>
                    <a:pt x="192" y="72"/>
                  </a:lnTo>
                  <a:lnTo>
                    <a:pt x="186" y="72"/>
                  </a:lnTo>
                  <a:lnTo>
                    <a:pt x="180" y="72"/>
                  </a:lnTo>
                  <a:lnTo>
                    <a:pt x="180" y="78"/>
                  </a:lnTo>
                  <a:lnTo>
                    <a:pt x="174" y="78"/>
                  </a:lnTo>
                  <a:lnTo>
                    <a:pt x="180" y="78"/>
                  </a:lnTo>
                  <a:lnTo>
                    <a:pt x="180" y="72"/>
                  </a:lnTo>
                  <a:lnTo>
                    <a:pt x="174" y="78"/>
                  </a:lnTo>
                  <a:lnTo>
                    <a:pt x="174" y="72"/>
                  </a:lnTo>
                  <a:lnTo>
                    <a:pt x="174" y="78"/>
                  </a:lnTo>
                  <a:lnTo>
                    <a:pt x="174" y="84"/>
                  </a:lnTo>
                  <a:lnTo>
                    <a:pt x="168" y="84"/>
                  </a:lnTo>
                  <a:lnTo>
                    <a:pt x="174" y="84"/>
                  </a:lnTo>
                  <a:lnTo>
                    <a:pt x="174" y="90"/>
                  </a:lnTo>
                  <a:lnTo>
                    <a:pt x="168" y="84"/>
                  </a:lnTo>
                  <a:lnTo>
                    <a:pt x="162" y="84"/>
                  </a:lnTo>
                  <a:lnTo>
                    <a:pt x="156" y="84"/>
                  </a:lnTo>
                  <a:lnTo>
                    <a:pt x="156" y="90"/>
                  </a:lnTo>
                  <a:lnTo>
                    <a:pt x="150" y="96"/>
                  </a:lnTo>
                  <a:lnTo>
                    <a:pt x="156" y="96"/>
                  </a:lnTo>
                  <a:lnTo>
                    <a:pt x="162" y="96"/>
                  </a:lnTo>
                  <a:lnTo>
                    <a:pt x="156" y="96"/>
                  </a:lnTo>
                  <a:lnTo>
                    <a:pt x="156" y="102"/>
                  </a:lnTo>
                  <a:lnTo>
                    <a:pt x="150" y="102"/>
                  </a:lnTo>
                  <a:lnTo>
                    <a:pt x="150" y="108"/>
                  </a:lnTo>
                  <a:lnTo>
                    <a:pt x="144" y="108"/>
                  </a:lnTo>
                  <a:lnTo>
                    <a:pt x="144" y="114"/>
                  </a:lnTo>
                  <a:lnTo>
                    <a:pt x="138" y="114"/>
                  </a:lnTo>
                  <a:lnTo>
                    <a:pt x="144" y="114"/>
                  </a:lnTo>
                  <a:lnTo>
                    <a:pt x="144" y="120"/>
                  </a:lnTo>
                  <a:lnTo>
                    <a:pt x="138" y="120"/>
                  </a:lnTo>
                  <a:lnTo>
                    <a:pt x="132" y="120"/>
                  </a:lnTo>
                  <a:lnTo>
                    <a:pt x="126" y="126"/>
                  </a:lnTo>
                  <a:lnTo>
                    <a:pt x="132" y="126"/>
                  </a:lnTo>
                  <a:lnTo>
                    <a:pt x="126" y="126"/>
                  </a:lnTo>
                  <a:close/>
                </a:path>
              </a:pathLst>
            </a:custGeom>
            <a:solidFill>
              <a:schemeClr val="accent1"/>
            </a:solidFill>
            <a:ln w="9525">
              <a:solidFill>
                <a:srgbClr val="B2B2B2"/>
              </a:solidFill>
              <a:round/>
              <a:headEnd/>
              <a:tailEnd/>
            </a:ln>
          </p:spPr>
          <p:txBody>
            <a:bodyPr/>
            <a:lstStyle/>
            <a:p>
              <a:endParaRPr lang="en-CA"/>
            </a:p>
          </p:txBody>
        </p:sp>
        <p:sp>
          <p:nvSpPr>
            <p:cNvPr id="425" name="Freeform 484"/>
            <p:cNvSpPr>
              <a:spLocks/>
            </p:cNvSpPr>
            <p:nvPr>
              <p:custDataLst>
                <p:tags r:id="rId48"/>
              </p:custDataLst>
            </p:nvPr>
          </p:nvSpPr>
          <p:spPr bwMode="gray">
            <a:xfrm>
              <a:off x="1282" y="2882"/>
              <a:ext cx="93" cy="142"/>
            </a:xfrm>
            <a:custGeom>
              <a:avLst/>
              <a:gdLst>
                <a:gd name="T0" fmla="*/ 104989319 w 150"/>
                <a:gd name="T1" fmla="*/ 224034879 h 228"/>
                <a:gd name="T2" fmla="*/ 99156634 w 150"/>
                <a:gd name="T3" fmla="*/ 212243570 h 228"/>
                <a:gd name="T4" fmla="*/ 104989319 w 150"/>
                <a:gd name="T5" fmla="*/ 200452260 h 228"/>
                <a:gd name="T6" fmla="*/ 99156634 w 150"/>
                <a:gd name="T7" fmla="*/ 188660951 h 228"/>
                <a:gd name="T8" fmla="*/ 99156634 w 150"/>
                <a:gd name="T9" fmla="*/ 194556606 h 228"/>
                <a:gd name="T10" fmla="*/ 87491263 w 150"/>
                <a:gd name="T11" fmla="*/ 200452260 h 228"/>
                <a:gd name="T12" fmla="*/ 81658578 w 150"/>
                <a:gd name="T13" fmla="*/ 188660951 h 228"/>
                <a:gd name="T14" fmla="*/ 87491263 w 150"/>
                <a:gd name="T15" fmla="*/ 176869641 h 228"/>
                <a:gd name="T16" fmla="*/ 87491263 w 150"/>
                <a:gd name="T17" fmla="*/ 170973987 h 228"/>
                <a:gd name="T18" fmla="*/ 69993207 w 150"/>
                <a:gd name="T19" fmla="*/ 182765296 h 228"/>
                <a:gd name="T20" fmla="*/ 64160522 w 150"/>
                <a:gd name="T21" fmla="*/ 194556606 h 228"/>
                <a:gd name="T22" fmla="*/ 75825893 w 150"/>
                <a:gd name="T23" fmla="*/ 200452260 h 228"/>
                <a:gd name="T24" fmla="*/ 75825893 w 150"/>
                <a:gd name="T25" fmla="*/ 206347915 h 228"/>
                <a:gd name="T26" fmla="*/ 69993207 w 150"/>
                <a:gd name="T27" fmla="*/ 206347915 h 228"/>
                <a:gd name="T28" fmla="*/ 69993207 w 150"/>
                <a:gd name="T29" fmla="*/ 212243570 h 228"/>
                <a:gd name="T30" fmla="*/ 64160522 w 150"/>
                <a:gd name="T31" fmla="*/ 212243570 h 228"/>
                <a:gd name="T32" fmla="*/ 46662466 w 150"/>
                <a:gd name="T33" fmla="*/ 212243570 h 228"/>
                <a:gd name="T34" fmla="*/ 40829781 w 150"/>
                <a:gd name="T35" fmla="*/ 212243570 h 228"/>
                <a:gd name="T36" fmla="*/ 29163426 w 150"/>
                <a:gd name="T37" fmla="*/ 218139224 h 228"/>
                <a:gd name="T38" fmla="*/ 23330741 w 150"/>
                <a:gd name="T39" fmla="*/ 218139224 h 228"/>
                <a:gd name="T40" fmla="*/ 11665371 w 150"/>
                <a:gd name="T41" fmla="*/ 212243570 h 228"/>
                <a:gd name="T42" fmla="*/ 17498056 w 150"/>
                <a:gd name="T43" fmla="*/ 200452260 h 228"/>
                <a:gd name="T44" fmla="*/ 11665371 w 150"/>
                <a:gd name="T45" fmla="*/ 182765296 h 228"/>
                <a:gd name="T46" fmla="*/ 5832685 w 150"/>
                <a:gd name="T47" fmla="*/ 176869641 h 228"/>
                <a:gd name="T48" fmla="*/ 11665371 w 150"/>
                <a:gd name="T49" fmla="*/ 159182677 h 228"/>
                <a:gd name="T50" fmla="*/ 17498056 w 150"/>
                <a:gd name="T51" fmla="*/ 141495713 h 228"/>
                <a:gd name="T52" fmla="*/ 5832685 w 150"/>
                <a:gd name="T53" fmla="*/ 123808749 h 228"/>
                <a:gd name="T54" fmla="*/ 0 w 150"/>
                <a:gd name="T55" fmla="*/ 112017440 h 228"/>
                <a:gd name="T56" fmla="*/ 17498056 w 150"/>
                <a:gd name="T57" fmla="*/ 94330475 h 228"/>
                <a:gd name="T58" fmla="*/ 34996112 w 150"/>
                <a:gd name="T59" fmla="*/ 82539166 h 228"/>
                <a:gd name="T60" fmla="*/ 34996112 w 150"/>
                <a:gd name="T61" fmla="*/ 58956547 h 228"/>
                <a:gd name="T62" fmla="*/ 34996112 w 150"/>
                <a:gd name="T63" fmla="*/ 53060892 h 228"/>
                <a:gd name="T64" fmla="*/ 29163426 w 150"/>
                <a:gd name="T65" fmla="*/ 35373928 h 228"/>
                <a:gd name="T66" fmla="*/ 29163426 w 150"/>
                <a:gd name="T67" fmla="*/ 23582619 h 228"/>
                <a:gd name="T68" fmla="*/ 40829781 w 150"/>
                <a:gd name="T69" fmla="*/ 11791309 h 228"/>
                <a:gd name="T70" fmla="*/ 58327837 w 150"/>
                <a:gd name="T71" fmla="*/ 11791309 h 228"/>
                <a:gd name="T72" fmla="*/ 93323948 w 150"/>
                <a:gd name="T73" fmla="*/ 5895655 h 228"/>
                <a:gd name="T74" fmla="*/ 110822988 w 150"/>
                <a:gd name="T75" fmla="*/ 11791309 h 228"/>
                <a:gd name="T76" fmla="*/ 122488359 w 150"/>
                <a:gd name="T77" fmla="*/ 17686964 h 228"/>
                <a:gd name="T78" fmla="*/ 128321044 w 150"/>
                <a:gd name="T79" fmla="*/ 35373928 h 228"/>
                <a:gd name="T80" fmla="*/ 134153729 w 150"/>
                <a:gd name="T81" fmla="*/ 58956547 h 228"/>
                <a:gd name="T82" fmla="*/ 128321044 w 150"/>
                <a:gd name="T83" fmla="*/ 82539166 h 228"/>
                <a:gd name="T84" fmla="*/ 128321044 w 150"/>
                <a:gd name="T85" fmla="*/ 88434821 h 228"/>
                <a:gd name="T86" fmla="*/ 134153729 w 150"/>
                <a:gd name="T87" fmla="*/ 100226130 h 228"/>
                <a:gd name="T88" fmla="*/ 145819100 w 150"/>
                <a:gd name="T89" fmla="*/ 112017440 h 228"/>
                <a:gd name="T90" fmla="*/ 145819100 w 150"/>
                <a:gd name="T91" fmla="*/ 123808749 h 228"/>
                <a:gd name="T92" fmla="*/ 134153729 w 150"/>
                <a:gd name="T93" fmla="*/ 129704404 h 228"/>
                <a:gd name="T94" fmla="*/ 128321044 w 150"/>
                <a:gd name="T95" fmla="*/ 147391368 h 228"/>
                <a:gd name="T96" fmla="*/ 122488359 w 150"/>
                <a:gd name="T97" fmla="*/ 159182677 h 228"/>
                <a:gd name="T98" fmla="*/ 134153729 w 150"/>
                <a:gd name="T99" fmla="*/ 170973987 h 228"/>
                <a:gd name="T100" fmla="*/ 145819100 w 150"/>
                <a:gd name="T101" fmla="*/ 182765296 h 228"/>
                <a:gd name="T102" fmla="*/ 134153729 w 150"/>
                <a:gd name="T103" fmla="*/ 200452260 h 228"/>
                <a:gd name="T104" fmla="*/ 122488359 w 150"/>
                <a:gd name="T105" fmla="*/ 212243570 h 22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0"/>
                <a:gd name="T160" fmla="*/ 0 h 228"/>
                <a:gd name="T161" fmla="*/ 150 w 150"/>
                <a:gd name="T162" fmla="*/ 228 h 22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0" h="228">
                  <a:moveTo>
                    <a:pt x="120" y="222"/>
                  </a:moveTo>
                  <a:lnTo>
                    <a:pt x="114" y="222"/>
                  </a:lnTo>
                  <a:lnTo>
                    <a:pt x="114" y="228"/>
                  </a:lnTo>
                  <a:lnTo>
                    <a:pt x="114" y="222"/>
                  </a:lnTo>
                  <a:lnTo>
                    <a:pt x="108" y="228"/>
                  </a:lnTo>
                  <a:lnTo>
                    <a:pt x="102" y="228"/>
                  </a:lnTo>
                  <a:lnTo>
                    <a:pt x="96" y="228"/>
                  </a:lnTo>
                  <a:lnTo>
                    <a:pt x="96" y="222"/>
                  </a:lnTo>
                  <a:lnTo>
                    <a:pt x="102" y="222"/>
                  </a:lnTo>
                  <a:lnTo>
                    <a:pt x="102" y="216"/>
                  </a:lnTo>
                  <a:lnTo>
                    <a:pt x="108" y="216"/>
                  </a:lnTo>
                  <a:lnTo>
                    <a:pt x="102" y="216"/>
                  </a:lnTo>
                  <a:lnTo>
                    <a:pt x="108" y="216"/>
                  </a:lnTo>
                  <a:lnTo>
                    <a:pt x="108" y="210"/>
                  </a:lnTo>
                  <a:lnTo>
                    <a:pt x="108" y="204"/>
                  </a:lnTo>
                  <a:lnTo>
                    <a:pt x="114" y="204"/>
                  </a:lnTo>
                  <a:lnTo>
                    <a:pt x="114" y="198"/>
                  </a:lnTo>
                  <a:lnTo>
                    <a:pt x="108" y="198"/>
                  </a:lnTo>
                  <a:lnTo>
                    <a:pt x="108" y="192"/>
                  </a:lnTo>
                  <a:lnTo>
                    <a:pt x="102" y="192"/>
                  </a:lnTo>
                  <a:lnTo>
                    <a:pt x="102" y="198"/>
                  </a:lnTo>
                  <a:lnTo>
                    <a:pt x="102" y="192"/>
                  </a:lnTo>
                  <a:lnTo>
                    <a:pt x="102" y="198"/>
                  </a:lnTo>
                  <a:lnTo>
                    <a:pt x="96" y="198"/>
                  </a:lnTo>
                  <a:lnTo>
                    <a:pt x="102" y="198"/>
                  </a:lnTo>
                  <a:lnTo>
                    <a:pt x="102" y="204"/>
                  </a:lnTo>
                  <a:lnTo>
                    <a:pt x="102" y="210"/>
                  </a:lnTo>
                  <a:lnTo>
                    <a:pt x="96" y="210"/>
                  </a:lnTo>
                  <a:lnTo>
                    <a:pt x="96" y="204"/>
                  </a:lnTo>
                  <a:lnTo>
                    <a:pt x="90" y="204"/>
                  </a:lnTo>
                  <a:lnTo>
                    <a:pt x="90" y="198"/>
                  </a:lnTo>
                  <a:lnTo>
                    <a:pt x="90" y="204"/>
                  </a:lnTo>
                  <a:lnTo>
                    <a:pt x="90" y="198"/>
                  </a:lnTo>
                  <a:lnTo>
                    <a:pt x="84" y="198"/>
                  </a:lnTo>
                  <a:lnTo>
                    <a:pt x="84" y="192"/>
                  </a:lnTo>
                  <a:lnTo>
                    <a:pt x="84" y="198"/>
                  </a:lnTo>
                  <a:lnTo>
                    <a:pt x="84" y="192"/>
                  </a:lnTo>
                  <a:lnTo>
                    <a:pt x="84" y="186"/>
                  </a:lnTo>
                  <a:lnTo>
                    <a:pt x="90" y="186"/>
                  </a:lnTo>
                  <a:lnTo>
                    <a:pt x="90" y="180"/>
                  </a:lnTo>
                  <a:lnTo>
                    <a:pt x="90" y="174"/>
                  </a:lnTo>
                  <a:lnTo>
                    <a:pt x="96" y="174"/>
                  </a:lnTo>
                  <a:lnTo>
                    <a:pt x="90" y="174"/>
                  </a:lnTo>
                  <a:lnTo>
                    <a:pt x="96" y="174"/>
                  </a:lnTo>
                  <a:lnTo>
                    <a:pt x="90" y="174"/>
                  </a:lnTo>
                  <a:lnTo>
                    <a:pt x="84" y="174"/>
                  </a:lnTo>
                  <a:lnTo>
                    <a:pt x="84" y="180"/>
                  </a:lnTo>
                  <a:lnTo>
                    <a:pt x="84" y="186"/>
                  </a:lnTo>
                  <a:lnTo>
                    <a:pt x="78" y="186"/>
                  </a:lnTo>
                  <a:lnTo>
                    <a:pt x="72" y="186"/>
                  </a:lnTo>
                  <a:lnTo>
                    <a:pt x="72" y="192"/>
                  </a:lnTo>
                  <a:lnTo>
                    <a:pt x="72" y="186"/>
                  </a:lnTo>
                  <a:lnTo>
                    <a:pt x="72" y="192"/>
                  </a:lnTo>
                  <a:lnTo>
                    <a:pt x="66" y="192"/>
                  </a:lnTo>
                  <a:lnTo>
                    <a:pt x="66" y="198"/>
                  </a:lnTo>
                  <a:lnTo>
                    <a:pt x="72" y="198"/>
                  </a:lnTo>
                  <a:lnTo>
                    <a:pt x="78" y="198"/>
                  </a:lnTo>
                  <a:lnTo>
                    <a:pt x="72" y="198"/>
                  </a:lnTo>
                  <a:lnTo>
                    <a:pt x="78" y="198"/>
                  </a:lnTo>
                  <a:lnTo>
                    <a:pt x="78" y="204"/>
                  </a:lnTo>
                  <a:lnTo>
                    <a:pt x="84" y="204"/>
                  </a:lnTo>
                  <a:lnTo>
                    <a:pt x="78" y="204"/>
                  </a:lnTo>
                  <a:lnTo>
                    <a:pt x="84" y="204"/>
                  </a:lnTo>
                  <a:lnTo>
                    <a:pt x="84" y="210"/>
                  </a:lnTo>
                  <a:lnTo>
                    <a:pt x="78" y="210"/>
                  </a:lnTo>
                  <a:lnTo>
                    <a:pt x="78" y="204"/>
                  </a:lnTo>
                  <a:lnTo>
                    <a:pt x="72" y="204"/>
                  </a:lnTo>
                  <a:lnTo>
                    <a:pt x="72" y="210"/>
                  </a:lnTo>
                  <a:lnTo>
                    <a:pt x="78" y="210"/>
                  </a:lnTo>
                  <a:lnTo>
                    <a:pt x="72" y="210"/>
                  </a:lnTo>
                  <a:lnTo>
                    <a:pt x="78" y="210"/>
                  </a:lnTo>
                  <a:lnTo>
                    <a:pt x="78" y="216"/>
                  </a:lnTo>
                  <a:lnTo>
                    <a:pt x="72" y="216"/>
                  </a:lnTo>
                  <a:lnTo>
                    <a:pt x="78" y="216"/>
                  </a:lnTo>
                  <a:lnTo>
                    <a:pt x="72" y="216"/>
                  </a:lnTo>
                  <a:lnTo>
                    <a:pt x="66" y="216"/>
                  </a:lnTo>
                  <a:lnTo>
                    <a:pt x="66" y="210"/>
                  </a:lnTo>
                  <a:lnTo>
                    <a:pt x="60" y="210"/>
                  </a:lnTo>
                  <a:lnTo>
                    <a:pt x="66" y="210"/>
                  </a:lnTo>
                  <a:lnTo>
                    <a:pt x="66" y="216"/>
                  </a:lnTo>
                  <a:lnTo>
                    <a:pt x="60" y="216"/>
                  </a:lnTo>
                  <a:lnTo>
                    <a:pt x="60" y="210"/>
                  </a:lnTo>
                  <a:lnTo>
                    <a:pt x="54" y="210"/>
                  </a:lnTo>
                  <a:lnTo>
                    <a:pt x="54" y="216"/>
                  </a:lnTo>
                  <a:lnTo>
                    <a:pt x="48" y="216"/>
                  </a:lnTo>
                  <a:lnTo>
                    <a:pt x="54" y="216"/>
                  </a:lnTo>
                  <a:lnTo>
                    <a:pt x="54" y="222"/>
                  </a:lnTo>
                  <a:lnTo>
                    <a:pt x="48" y="222"/>
                  </a:lnTo>
                  <a:lnTo>
                    <a:pt x="42" y="222"/>
                  </a:lnTo>
                  <a:lnTo>
                    <a:pt x="42" y="216"/>
                  </a:lnTo>
                  <a:lnTo>
                    <a:pt x="36" y="216"/>
                  </a:lnTo>
                  <a:lnTo>
                    <a:pt x="36" y="222"/>
                  </a:lnTo>
                  <a:lnTo>
                    <a:pt x="30" y="222"/>
                  </a:lnTo>
                  <a:lnTo>
                    <a:pt x="30" y="228"/>
                  </a:lnTo>
                  <a:lnTo>
                    <a:pt x="30" y="222"/>
                  </a:lnTo>
                  <a:lnTo>
                    <a:pt x="30" y="216"/>
                  </a:lnTo>
                  <a:lnTo>
                    <a:pt x="30" y="222"/>
                  </a:lnTo>
                  <a:lnTo>
                    <a:pt x="24" y="222"/>
                  </a:lnTo>
                  <a:lnTo>
                    <a:pt x="24" y="216"/>
                  </a:lnTo>
                  <a:lnTo>
                    <a:pt x="24" y="222"/>
                  </a:lnTo>
                  <a:lnTo>
                    <a:pt x="24" y="216"/>
                  </a:lnTo>
                  <a:lnTo>
                    <a:pt x="18" y="216"/>
                  </a:lnTo>
                  <a:lnTo>
                    <a:pt x="18" y="222"/>
                  </a:lnTo>
                  <a:lnTo>
                    <a:pt x="12" y="222"/>
                  </a:lnTo>
                  <a:lnTo>
                    <a:pt x="12" y="216"/>
                  </a:lnTo>
                  <a:lnTo>
                    <a:pt x="12" y="210"/>
                  </a:lnTo>
                  <a:lnTo>
                    <a:pt x="12" y="204"/>
                  </a:lnTo>
                  <a:lnTo>
                    <a:pt x="18" y="204"/>
                  </a:lnTo>
                  <a:lnTo>
                    <a:pt x="12" y="204"/>
                  </a:lnTo>
                  <a:lnTo>
                    <a:pt x="18" y="204"/>
                  </a:lnTo>
                  <a:lnTo>
                    <a:pt x="18" y="198"/>
                  </a:lnTo>
                  <a:lnTo>
                    <a:pt x="12" y="198"/>
                  </a:lnTo>
                  <a:lnTo>
                    <a:pt x="12" y="192"/>
                  </a:lnTo>
                  <a:lnTo>
                    <a:pt x="6" y="192"/>
                  </a:lnTo>
                  <a:lnTo>
                    <a:pt x="12" y="186"/>
                  </a:lnTo>
                  <a:lnTo>
                    <a:pt x="6" y="186"/>
                  </a:lnTo>
                  <a:lnTo>
                    <a:pt x="12" y="186"/>
                  </a:lnTo>
                  <a:lnTo>
                    <a:pt x="6" y="186"/>
                  </a:lnTo>
                  <a:lnTo>
                    <a:pt x="12" y="180"/>
                  </a:lnTo>
                  <a:lnTo>
                    <a:pt x="6" y="180"/>
                  </a:lnTo>
                  <a:lnTo>
                    <a:pt x="0" y="174"/>
                  </a:lnTo>
                  <a:lnTo>
                    <a:pt x="6" y="174"/>
                  </a:lnTo>
                  <a:lnTo>
                    <a:pt x="0" y="168"/>
                  </a:lnTo>
                  <a:lnTo>
                    <a:pt x="6" y="162"/>
                  </a:lnTo>
                  <a:lnTo>
                    <a:pt x="12" y="162"/>
                  </a:lnTo>
                  <a:lnTo>
                    <a:pt x="12" y="156"/>
                  </a:lnTo>
                  <a:lnTo>
                    <a:pt x="18" y="150"/>
                  </a:lnTo>
                  <a:lnTo>
                    <a:pt x="18" y="144"/>
                  </a:lnTo>
                  <a:lnTo>
                    <a:pt x="18" y="138"/>
                  </a:lnTo>
                  <a:lnTo>
                    <a:pt x="18" y="144"/>
                  </a:lnTo>
                  <a:lnTo>
                    <a:pt x="12" y="144"/>
                  </a:lnTo>
                  <a:lnTo>
                    <a:pt x="12" y="138"/>
                  </a:lnTo>
                  <a:lnTo>
                    <a:pt x="12" y="132"/>
                  </a:lnTo>
                  <a:lnTo>
                    <a:pt x="6" y="132"/>
                  </a:lnTo>
                  <a:lnTo>
                    <a:pt x="6" y="126"/>
                  </a:lnTo>
                  <a:lnTo>
                    <a:pt x="6" y="120"/>
                  </a:lnTo>
                  <a:lnTo>
                    <a:pt x="6" y="114"/>
                  </a:lnTo>
                  <a:lnTo>
                    <a:pt x="0" y="114"/>
                  </a:lnTo>
                  <a:lnTo>
                    <a:pt x="6" y="114"/>
                  </a:lnTo>
                  <a:lnTo>
                    <a:pt x="0" y="114"/>
                  </a:lnTo>
                  <a:lnTo>
                    <a:pt x="0" y="102"/>
                  </a:lnTo>
                  <a:lnTo>
                    <a:pt x="0" y="96"/>
                  </a:lnTo>
                  <a:lnTo>
                    <a:pt x="6" y="96"/>
                  </a:lnTo>
                  <a:lnTo>
                    <a:pt x="12" y="96"/>
                  </a:lnTo>
                  <a:lnTo>
                    <a:pt x="18" y="96"/>
                  </a:lnTo>
                  <a:lnTo>
                    <a:pt x="24" y="96"/>
                  </a:lnTo>
                  <a:lnTo>
                    <a:pt x="24" y="90"/>
                  </a:lnTo>
                  <a:lnTo>
                    <a:pt x="30" y="90"/>
                  </a:lnTo>
                  <a:lnTo>
                    <a:pt x="30" y="84"/>
                  </a:lnTo>
                  <a:lnTo>
                    <a:pt x="36" y="84"/>
                  </a:lnTo>
                  <a:lnTo>
                    <a:pt x="30" y="84"/>
                  </a:lnTo>
                  <a:lnTo>
                    <a:pt x="36" y="78"/>
                  </a:lnTo>
                  <a:lnTo>
                    <a:pt x="36" y="72"/>
                  </a:lnTo>
                  <a:lnTo>
                    <a:pt x="36" y="66"/>
                  </a:lnTo>
                  <a:lnTo>
                    <a:pt x="36" y="60"/>
                  </a:lnTo>
                  <a:lnTo>
                    <a:pt x="30" y="60"/>
                  </a:lnTo>
                  <a:lnTo>
                    <a:pt x="36" y="60"/>
                  </a:lnTo>
                  <a:lnTo>
                    <a:pt x="36" y="54"/>
                  </a:lnTo>
                  <a:lnTo>
                    <a:pt x="30" y="54"/>
                  </a:lnTo>
                  <a:lnTo>
                    <a:pt x="36" y="54"/>
                  </a:lnTo>
                  <a:lnTo>
                    <a:pt x="36" y="48"/>
                  </a:lnTo>
                  <a:lnTo>
                    <a:pt x="30" y="48"/>
                  </a:lnTo>
                  <a:lnTo>
                    <a:pt x="30" y="42"/>
                  </a:lnTo>
                  <a:lnTo>
                    <a:pt x="36" y="42"/>
                  </a:lnTo>
                  <a:lnTo>
                    <a:pt x="30" y="36"/>
                  </a:lnTo>
                  <a:lnTo>
                    <a:pt x="24" y="36"/>
                  </a:lnTo>
                  <a:lnTo>
                    <a:pt x="30" y="30"/>
                  </a:lnTo>
                  <a:lnTo>
                    <a:pt x="30" y="24"/>
                  </a:lnTo>
                  <a:lnTo>
                    <a:pt x="36" y="24"/>
                  </a:lnTo>
                  <a:lnTo>
                    <a:pt x="30" y="24"/>
                  </a:lnTo>
                  <a:lnTo>
                    <a:pt x="36" y="24"/>
                  </a:lnTo>
                  <a:lnTo>
                    <a:pt x="30" y="18"/>
                  </a:lnTo>
                  <a:lnTo>
                    <a:pt x="36" y="18"/>
                  </a:lnTo>
                  <a:lnTo>
                    <a:pt x="36" y="12"/>
                  </a:lnTo>
                  <a:lnTo>
                    <a:pt x="42" y="12"/>
                  </a:lnTo>
                  <a:lnTo>
                    <a:pt x="42" y="6"/>
                  </a:lnTo>
                  <a:lnTo>
                    <a:pt x="48" y="6"/>
                  </a:lnTo>
                  <a:lnTo>
                    <a:pt x="54" y="6"/>
                  </a:lnTo>
                  <a:lnTo>
                    <a:pt x="54" y="12"/>
                  </a:lnTo>
                  <a:lnTo>
                    <a:pt x="60" y="12"/>
                  </a:lnTo>
                  <a:lnTo>
                    <a:pt x="78" y="12"/>
                  </a:lnTo>
                  <a:lnTo>
                    <a:pt x="84" y="0"/>
                  </a:lnTo>
                  <a:lnTo>
                    <a:pt x="90" y="0"/>
                  </a:lnTo>
                  <a:lnTo>
                    <a:pt x="96" y="0"/>
                  </a:lnTo>
                  <a:lnTo>
                    <a:pt x="96" y="6"/>
                  </a:lnTo>
                  <a:lnTo>
                    <a:pt x="96" y="12"/>
                  </a:lnTo>
                  <a:lnTo>
                    <a:pt x="102" y="12"/>
                  </a:lnTo>
                  <a:lnTo>
                    <a:pt x="108" y="12"/>
                  </a:lnTo>
                  <a:lnTo>
                    <a:pt x="108" y="6"/>
                  </a:lnTo>
                  <a:lnTo>
                    <a:pt x="114" y="12"/>
                  </a:lnTo>
                  <a:lnTo>
                    <a:pt x="114" y="6"/>
                  </a:lnTo>
                  <a:lnTo>
                    <a:pt x="126" y="6"/>
                  </a:lnTo>
                  <a:lnTo>
                    <a:pt x="120" y="12"/>
                  </a:lnTo>
                  <a:lnTo>
                    <a:pt x="126" y="12"/>
                  </a:lnTo>
                  <a:lnTo>
                    <a:pt x="126" y="18"/>
                  </a:lnTo>
                  <a:lnTo>
                    <a:pt x="126" y="24"/>
                  </a:lnTo>
                  <a:lnTo>
                    <a:pt x="120" y="30"/>
                  </a:lnTo>
                  <a:lnTo>
                    <a:pt x="126" y="30"/>
                  </a:lnTo>
                  <a:lnTo>
                    <a:pt x="126" y="36"/>
                  </a:lnTo>
                  <a:lnTo>
                    <a:pt x="132" y="36"/>
                  </a:lnTo>
                  <a:lnTo>
                    <a:pt x="132" y="42"/>
                  </a:lnTo>
                  <a:lnTo>
                    <a:pt x="132" y="48"/>
                  </a:lnTo>
                  <a:lnTo>
                    <a:pt x="138" y="48"/>
                  </a:lnTo>
                  <a:lnTo>
                    <a:pt x="138" y="54"/>
                  </a:lnTo>
                  <a:lnTo>
                    <a:pt x="138" y="60"/>
                  </a:lnTo>
                  <a:lnTo>
                    <a:pt x="138" y="66"/>
                  </a:lnTo>
                  <a:lnTo>
                    <a:pt x="138" y="72"/>
                  </a:lnTo>
                  <a:lnTo>
                    <a:pt x="138" y="78"/>
                  </a:lnTo>
                  <a:lnTo>
                    <a:pt x="138" y="84"/>
                  </a:lnTo>
                  <a:lnTo>
                    <a:pt x="132" y="84"/>
                  </a:lnTo>
                  <a:lnTo>
                    <a:pt x="138" y="84"/>
                  </a:lnTo>
                  <a:lnTo>
                    <a:pt x="138" y="90"/>
                  </a:lnTo>
                  <a:lnTo>
                    <a:pt x="132" y="90"/>
                  </a:lnTo>
                  <a:lnTo>
                    <a:pt x="138" y="90"/>
                  </a:lnTo>
                  <a:lnTo>
                    <a:pt x="132" y="90"/>
                  </a:lnTo>
                  <a:lnTo>
                    <a:pt x="138" y="90"/>
                  </a:lnTo>
                  <a:lnTo>
                    <a:pt x="144" y="96"/>
                  </a:lnTo>
                  <a:lnTo>
                    <a:pt x="144" y="102"/>
                  </a:lnTo>
                  <a:lnTo>
                    <a:pt x="138" y="96"/>
                  </a:lnTo>
                  <a:lnTo>
                    <a:pt x="138" y="102"/>
                  </a:lnTo>
                  <a:lnTo>
                    <a:pt x="138" y="108"/>
                  </a:lnTo>
                  <a:lnTo>
                    <a:pt x="144" y="108"/>
                  </a:lnTo>
                  <a:lnTo>
                    <a:pt x="150" y="108"/>
                  </a:lnTo>
                  <a:lnTo>
                    <a:pt x="144" y="114"/>
                  </a:lnTo>
                  <a:lnTo>
                    <a:pt x="150" y="114"/>
                  </a:lnTo>
                  <a:lnTo>
                    <a:pt x="144" y="114"/>
                  </a:lnTo>
                  <a:lnTo>
                    <a:pt x="150" y="120"/>
                  </a:lnTo>
                  <a:lnTo>
                    <a:pt x="150" y="126"/>
                  </a:lnTo>
                  <a:lnTo>
                    <a:pt x="144" y="126"/>
                  </a:lnTo>
                  <a:lnTo>
                    <a:pt x="150" y="126"/>
                  </a:lnTo>
                  <a:lnTo>
                    <a:pt x="150" y="132"/>
                  </a:lnTo>
                  <a:lnTo>
                    <a:pt x="150" y="138"/>
                  </a:lnTo>
                  <a:lnTo>
                    <a:pt x="144" y="138"/>
                  </a:lnTo>
                  <a:lnTo>
                    <a:pt x="144" y="132"/>
                  </a:lnTo>
                  <a:lnTo>
                    <a:pt x="138" y="132"/>
                  </a:lnTo>
                  <a:lnTo>
                    <a:pt x="138" y="138"/>
                  </a:lnTo>
                  <a:lnTo>
                    <a:pt x="138" y="144"/>
                  </a:lnTo>
                  <a:lnTo>
                    <a:pt x="138" y="150"/>
                  </a:lnTo>
                  <a:lnTo>
                    <a:pt x="132" y="156"/>
                  </a:lnTo>
                  <a:lnTo>
                    <a:pt x="132" y="150"/>
                  </a:lnTo>
                  <a:lnTo>
                    <a:pt x="126" y="150"/>
                  </a:lnTo>
                  <a:lnTo>
                    <a:pt x="126" y="156"/>
                  </a:lnTo>
                  <a:lnTo>
                    <a:pt x="126" y="162"/>
                  </a:lnTo>
                  <a:lnTo>
                    <a:pt x="126" y="168"/>
                  </a:lnTo>
                  <a:lnTo>
                    <a:pt x="126" y="162"/>
                  </a:lnTo>
                  <a:lnTo>
                    <a:pt x="132" y="162"/>
                  </a:lnTo>
                  <a:lnTo>
                    <a:pt x="138" y="162"/>
                  </a:lnTo>
                  <a:lnTo>
                    <a:pt x="132" y="168"/>
                  </a:lnTo>
                  <a:lnTo>
                    <a:pt x="138" y="168"/>
                  </a:lnTo>
                  <a:lnTo>
                    <a:pt x="138" y="174"/>
                  </a:lnTo>
                  <a:lnTo>
                    <a:pt x="144" y="174"/>
                  </a:lnTo>
                  <a:lnTo>
                    <a:pt x="144" y="180"/>
                  </a:lnTo>
                  <a:lnTo>
                    <a:pt x="150" y="174"/>
                  </a:lnTo>
                  <a:lnTo>
                    <a:pt x="150" y="180"/>
                  </a:lnTo>
                  <a:lnTo>
                    <a:pt x="150" y="186"/>
                  </a:lnTo>
                  <a:lnTo>
                    <a:pt x="150" y="192"/>
                  </a:lnTo>
                  <a:lnTo>
                    <a:pt x="150" y="198"/>
                  </a:lnTo>
                  <a:lnTo>
                    <a:pt x="144" y="198"/>
                  </a:lnTo>
                  <a:lnTo>
                    <a:pt x="144" y="204"/>
                  </a:lnTo>
                  <a:lnTo>
                    <a:pt x="138" y="204"/>
                  </a:lnTo>
                  <a:lnTo>
                    <a:pt x="138" y="210"/>
                  </a:lnTo>
                  <a:lnTo>
                    <a:pt x="132" y="216"/>
                  </a:lnTo>
                  <a:lnTo>
                    <a:pt x="126" y="216"/>
                  </a:lnTo>
                  <a:lnTo>
                    <a:pt x="126" y="210"/>
                  </a:lnTo>
                  <a:lnTo>
                    <a:pt x="126" y="216"/>
                  </a:lnTo>
                  <a:lnTo>
                    <a:pt x="126" y="222"/>
                  </a:lnTo>
                  <a:lnTo>
                    <a:pt x="126" y="216"/>
                  </a:lnTo>
                  <a:lnTo>
                    <a:pt x="120" y="216"/>
                  </a:lnTo>
                  <a:lnTo>
                    <a:pt x="120" y="222"/>
                  </a:lnTo>
                  <a:close/>
                </a:path>
              </a:pathLst>
            </a:custGeom>
            <a:solidFill>
              <a:schemeClr val="accent1"/>
            </a:solidFill>
            <a:ln w="9525">
              <a:solidFill>
                <a:srgbClr val="B2B2B2"/>
              </a:solidFill>
              <a:round/>
              <a:headEnd/>
              <a:tailEnd/>
            </a:ln>
          </p:spPr>
          <p:txBody>
            <a:bodyPr/>
            <a:lstStyle/>
            <a:p>
              <a:endParaRPr lang="en-CA"/>
            </a:p>
          </p:txBody>
        </p:sp>
        <p:sp>
          <p:nvSpPr>
            <p:cNvPr id="426" name="Freeform 485"/>
            <p:cNvSpPr>
              <a:spLocks/>
            </p:cNvSpPr>
            <p:nvPr>
              <p:custDataLst>
                <p:tags r:id="rId49"/>
              </p:custDataLst>
            </p:nvPr>
          </p:nvSpPr>
          <p:spPr bwMode="gray">
            <a:xfrm>
              <a:off x="1300" y="2702"/>
              <a:ext cx="220" cy="311"/>
            </a:xfrm>
            <a:custGeom>
              <a:avLst/>
              <a:gdLst>
                <a:gd name="T0" fmla="*/ 240078791 w 354"/>
                <a:gd name="T1" fmla="*/ 483558176 h 498"/>
                <a:gd name="T2" fmla="*/ 222511713 w 354"/>
                <a:gd name="T3" fmla="*/ 477660388 h 498"/>
                <a:gd name="T4" fmla="*/ 210800986 w 354"/>
                <a:gd name="T5" fmla="*/ 465866794 h 498"/>
                <a:gd name="T6" fmla="*/ 193233908 w 354"/>
                <a:gd name="T7" fmla="*/ 471763591 h 498"/>
                <a:gd name="T8" fmla="*/ 175667817 w 354"/>
                <a:gd name="T9" fmla="*/ 459969997 h 498"/>
                <a:gd name="T10" fmla="*/ 163956103 w 354"/>
                <a:gd name="T11" fmla="*/ 471763591 h 498"/>
                <a:gd name="T12" fmla="*/ 152245376 w 354"/>
                <a:gd name="T13" fmla="*/ 465866794 h 498"/>
                <a:gd name="T14" fmla="*/ 134678298 w 354"/>
                <a:gd name="T15" fmla="*/ 459969997 h 498"/>
                <a:gd name="T16" fmla="*/ 122967571 w 354"/>
                <a:gd name="T17" fmla="*/ 465866794 h 498"/>
                <a:gd name="T18" fmla="*/ 111255857 w 354"/>
                <a:gd name="T19" fmla="*/ 454072208 h 498"/>
                <a:gd name="T20" fmla="*/ 99545129 w 354"/>
                <a:gd name="T21" fmla="*/ 442278614 h 498"/>
                <a:gd name="T22" fmla="*/ 93689766 w 354"/>
                <a:gd name="T23" fmla="*/ 430484029 h 498"/>
                <a:gd name="T24" fmla="*/ 105400493 w 354"/>
                <a:gd name="T25" fmla="*/ 418690435 h 498"/>
                <a:gd name="T26" fmla="*/ 117111220 w 354"/>
                <a:gd name="T27" fmla="*/ 412793638 h 498"/>
                <a:gd name="T28" fmla="*/ 111255857 w 354"/>
                <a:gd name="T29" fmla="*/ 395102255 h 498"/>
                <a:gd name="T30" fmla="*/ 105400493 w 354"/>
                <a:gd name="T31" fmla="*/ 389205458 h 498"/>
                <a:gd name="T32" fmla="*/ 105400493 w 354"/>
                <a:gd name="T33" fmla="*/ 371514076 h 498"/>
                <a:gd name="T34" fmla="*/ 105400493 w 354"/>
                <a:gd name="T35" fmla="*/ 365617279 h 498"/>
                <a:gd name="T36" fmla="*/ 105400493 w 354"/>
                <a:gd name="T37" fmla="*/ 347925896 h 498"/>
                <a:gd name="T38" fmla="*/ 99545129 w 354"/>
                <a:gd name="T39" fmla="*/ 324337716 h 498"/>
                <a:gd name="T40" fmla="*/ 93689766 w 354"/>
                <a:gd name="T41" fmla="*/ 306646334 h 498"/>
                <a:gd name="T42" fmla="*/ 87833415 w 354"/>
                <a:gd name="T43" fmla="*/ 288954951 h 498"/>
                <a:gd name="T44" fmla="*/ 93689766 w 354"/>
                <a:gd name="T45" fmla="*/ 265366772 h 498"/>
                <a:gd name="T46" fmla="*/ 87833415 w 354"/>
                <a:gd name="T47" fmla="*/ 247676381 h 498"/>
                <a:gd name="T48" fmla="*/ 87833415 w 354"/>
                <a:gd name="T49" fmla="*/ 235881795 h 498"/>
                <a:gd name="T50" fmla="*/ 70267324 w 354"/>
                <a:gd name="T51" fmla="*/ 206396819 h 498"/>
                <a:gd name="T52" fmla="*/ 81978052 w 354"/>
                <a:gd name="T53" fmla="*/ 147425874 h 498"/>
                <a:gd name="T54" fmla="*/ 70267324 w 354"/>
                <a:gd name="T55" fmla="*/ 141529077 h 498"/>
                <a:gd name="T56" fmla="*/ 23422441 w 354"/>
                <a:gd name="T57" fmla="*/ 123837695 h 498"/>
                <a:gd name="T58" fmla="*/ 5855364 w 354"/>
                <a:gd name="T59" fmla="*/ 76661336 h 498"/>
                <a:gd name="T60" fmla="*/ 76122688 w 354"/>
                <a:gd name="T61" fmla="*/ 58970945 h 498"/>
                <a:gd name="T62" fmla="*/ 146390012 w 354"/>
                <a:gd name="T63" fmla="*/ 64867742 h 498"/>
                <a:gd name="T64" fmla="*/ 199089272 w 354"/>
                <a:gd name="T65" fmla="*/ 47176359 h 498"/>
                <a:gd name="T66" fmla="*/ 222511713 w 354"/>
                <a:gd name="T67" fmla="*/ 11794585 h 498"/>
                <a:gd name="T68" fmla="*/ 327912206 w 354"/>
                <a:gd name="T69" fmla="*/ 11794585 h 498"/>
                <a:gd name="T70" fmla="*/ 339623920 w 354"/>
                <a:gd name="T71" fmla="*/ 0 h 498"/>
                <a:gd name="T72" fmla="*/ 345479284 w 354"/>
                <a:gd name="T73" fmla="*/ 17691383 h 498"/>
                <a:gd name="T74" fmla="*/ 339623920 w 354"/>
                <a:gd name="T75" fmla="*/ 35382765 h 498"/>
                <a:gd name="T76" fmla="*/ 339623920 w 354"/>
                <a:gd name="T77" fmla="*/ 53073156 h 498"/>
                <a:gd name="T78" fmla="*/ 345479284 w 354"/>
                <a:gd name="T79" fmla="*/ 76661336 h 498"/>
                <a:gd name="T80" fmla="*/ 339623920 w 354"/>
                <a:gd name="T81" fmla="*/ 100249515 h 498"/>
                <a:gd name="T82" fmla="*/ 327912206 w 354"/>
                <a:gd name="T83" fmla="*/ 123837695 h 498"/>
                <a:gd name="T84" fmla="*/ 322056843 w 354"/>
                <a:gd name="T85" fmla="*/ 159220460 h 498"/>
                <a:gd name="T86" fmla="*/ 304489765 w 354"/>
                <a:gd name="T87" fmla="*/ 182808639 h 498"/>
                <a:gd name="T88" fmla="*/ 304489765 w 354"/>
                <a:gd name="T89" fmla="*/ 212293616 h 498"/>
                <a:gd name="T90" fmla="*/ 322056843 w 354"/>
                <a:gd name="T91" fmla="*/ 224088201 h 498"/>
                <a:gd name="T92" fmla="*/ 333768556 w 354"/>
                <a:gd name="T93" fmla="*/ 253573178 h 498"/>
                <a:gd name="T94" fmla="*/ 333768556 w 354"/>
                <a:gd name="T95" fmla="*/ 271264560 h 498"/>
                <a:gd name="T96" fmla="*/ 339623920 w 354"/>
                <a:gd name="T97" fmla="*/ 294852740 h 498"/>
                <a:gd name="T98" fmla="*/ 322056843 w 354"/>
                <a:gd name="T99" fmla="*/ 306646334 h 498"/>
                <a:gd name="T100" fmla="*/ 310346115 w 354"/>
                <a:gd name="T101" fmla="*/ 318440919 h 498"/>
                <a:gd name="T102" fmla="*/ 310346115 w 354"/>
                <a:gd name="T103" fmla="*/ 336131311 h 498"/>
                <a:gd name="T104" fmla="*/ 304489765 w 354"/>
                <a:gd name="T105" fmla="*/ 365617279 h 498"/>
                <a:gd name="T106" fmla="*/ 286923674 w 354"/>
                <a:gd name="T107" fmla="*/ 353822693 h 498"/>
                <a:gd name="T108" fmla="*/ 286923674 w 354"/>
                <a:gd name="T109" fmla="*/ 365617279 h 498"/>
                <a:gd name="T110" fmla="*/ 281068310 w 354"/>
                <a:gd name="T111" fmla="*/ 389205458 h 498"/>
                <a:gd name="T112" fmla="*/ 281068310 w 354"/>
                <a:gd name="T113" fmla="*/ 395102255 h 498"/>
                <a:gd name="T114" fmla="*/ 281068310 w 354"/>
                <a:gd name="T115" fmla="*/ 412793638 h 498"/>
                <a:gd name="T116" fmla="*/ 275211960 w 354"/>
                <a:gd name="T117" fmla="*/ 406895849 h 498"/>
                <a:gd name="T118" fmla="*/ 269356596 w 354"/>
                <a:gd name="T119" fmla="*/ 418690435 h 498"/>
                <a:gd name="T120" fmla="*/ 257645869 w 354"/>
                <a:gd name="T121" fmla="*/ 424587232 h 498"/>
                <a:gd name="T122" fmla="*/ 251790505 w 354"/>
                <a:gd name="T123" fmla="*/ 436381817 h 498"/>
                <a:gd name="T124" fmla="*/ 245934155 w 354"/>
                <a:gd name="T125" fmla="*/ 465866794 h 49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54"/>
                <a:gd name="T190" fmla="*/ 0 h 498"/>
                <a:gd name="T191" fmla="*/ 354 w 354"/>
                <a:gd name="T192" fmla="*/ 498 h 49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54" h="498">
                  <a:moveTo>
                    <a:pt x="258" y="474"/>
                  </a:moveTo>
                  <a:lnTo>
                    <a:pt x="258" y="480"/>
                  </a:lnTo>
                  <a:lnTo>
                    <a:pt x="252" y="480"/>
                  </a:lnTo>
                  <a:lnTo>
                    <a:pt x="252" y="486"/>
                  </a:lnTo>
                  <a:lnTo>
                    <a:pt x="246" y="492"/>
                  </a:lnTo>
                  <a:lnTo>
                    <a:pt x="240" y="492"/>
                  </a:lnTo>
                  <a:lnTo>
                    <a:pt x="234" y="498"/>
                  </a:lnTo>
                  <a:lnTo>
                    <a:pt x="234" y="492"/>
                  </a:lnTo>
                  <a:lnTo>
                    <a:pt x="228" y="492"/>
                  </a:lnTo>
                  <a:lnTo>
                    <a:pt x="228" y="486"/>
                  </a:lnTo>
                  <a:lnTo>
                    <a:pt x="222" y="486"/>
                  </a:lnTo>
                  <a:lnTo>
                    <a:pt x="222" y="480"/>
                  </a:lnTo>
                  <a:lnTo>
                    <a:pt x="216" y="474"/>
                  </a:lnTo>
                  <a:lnTo>
                    <a:pt x="222" y="474"/>
                  </a:lnTo>
                  <a:lnTo>
                    <a:pt x="216" y="474"/>
                  </a:lnTo>
                  <a:lnTo>
                    <a:pt x="210" y="468"/>
                  </a:lnTo>
                  <a:lnTo>
                    <a:pt x="210" y="474"/>
                  </a:lnTo>
                  <a:lnTo>
                    <a:pt x="210" y="480"/>
                  </a:lnTo>
                  <a:lnTo>
                    <a:pt x="204" y="480"/>
                  </a:lnTo>
                  <a:lnTo>
                    <a:pt x="198" y="480"/>
                  </a:lnTo>
                  <a:lnTo>
                    <a:pt x="198" y="474"/>
                  </a:lnTo>
                  <a:lnTo>
                    <a:pt x="192" y="474"/>
                  </a:lnTo>
                  <a:lnTo>
                    <a:pt x="192" y="468"/>
                  </a:lnTo>
                  <a:lnTo>
                    <a:pt x="186" y="468"/>
                  </a:lnTo>
                  <a:lnTo>
                    <a:pt x="180" y="468"/>
                  </a:lnTo>
                  <a:lnTo>
                    <a:pt x="180" y="474"/>
                  </a:lnTo>
                  <a:lnTo>
                    <a:pt x="174" y="474"/>
                  </a:lnTo>
                  <a:lnTo>
                    <a:pt x="168" y="480"/>
                  </a:lnTo>
                  <a:lnTo>
                    <a:pt x="168" y="474"/>
                  </a:lnTo>
                  <a:lnTo>
                    <a:pt x="168" y="480"/>
                  </a:lnTo>
                  <a:lnTo>
                    <a:pt x="162" y="480"/>
                  </a:lnTo>
                  <a:lnTo>
                    <a:pt x="162" y="474"/>
                  </a:lnTo>
                  <a:lnTo>
                    <a:pt x="156" y="474"/>
                  </a:lnTo>
                  <a:lnTo>
                    <a:pt x="156" y="480"/>
                  </a:lnTo>
                  <a:lnTo>
                    <a:pt x="156" y="474"/>
                  </a:lnTo>
                  <a:lnTo>
                    <a:pt x="150" y="474"/>
                  </a:lnTo>
                  <a:lnTo>
                    <a:pt x="150" y="480"/>
                  </a:lnTo>
                  <a:lnTo>
                    <a:pt x="150" y="474"/>
                  </a:lnTo>
                  <a:lnTo>
                    <a:pt x="144" y="474"/>
                  </a:lnTo>
                  <a:lnTo>
                    <a:pt x="138" y="468"/>
                  </a:lnTo>
                  <a:lnTo>
                    <a:pt x="132" y="468"/>
                  </a:lnTo>
                  <a:lnTo>
                    <a:pt x="132" y="462"/>
                  </a:lnTo>
                  <a:lnTo>
                    <a:pt x="126" y="462"/>
                  </a:lnTo>
                  <a:lnTo>
                    <a:pt x="126" y="468"/>
                  </a:lnTo>
                  <a:lnTo>
                    <a:pt x="126" y="474"/>
                  </a:lnTo>
                  <a:lnTo>
                    <a:pt x="120" y="474"/>
                  </a:lnTo>
                  <a:lnTo>
                    <a:pt x="120" y="468"/>
                  </a:lnTo>
                  <a:lnTo>
                    <a:pt x="120" y="462"/>
                  </a:lnTo>
                  <a:lnTo>
                    <a:pt x="114" y="468"/>
                  </a:lnTo>
                  <a:lnTo>
                    <a:pt x="114" y="462"/>
                  </a:lnTo>
                  <a:lnTo>
                    <a:pt x="108" y="462"/>
                  </a:lnTo>
                  <a:lnTo>
                    <a:pt x="108" y="456"/>
                  </a:lnTo>
                  <a:lnTo>
                    <a:pt x="102" y="456"/>
                  </a:lnTo>
                  <a:lnTo>
                    <a:pt x="108" y="450"/>
                  </a:lnTo>
                  <a:lnTo>
                    <a:pt x="102" y="450"/>
                  </a:lnTo>
                  <a:lnTo>
                    <a:pt x="96" y="450"/>
                  </a:lnTo>
                  <a:lnTo>
                    <a:pt x="96" y="456"/>
                  </a:lnTo>
                  <a:lnTo>
                    <a:pt x="96" y="450"/>
                  </a:lnTo>
                  <a:lnTo>
                    <a:pt x="96" y="444"/>
                  </a:lnTo>
                  <a:lnTo>
                    <a:pt x="96" y="438"/>
                  </a:lnTo>
                  <a:lnTo>
                    <a:pt x="102" y="438"/>
                  </a:lnTo>
                  <a:lnTo>
                    <a:pt x="102" y="444"/>
                  </a:lnTo>
                  <a:lnTo>
                    <a:pt x="108" y="438"/>
                  </a:lnTo>
                  <a:lnTo>
                    <a:pt x="108" y="432"/>
                  </a:lnTo>
                  <a:lnTo>
                    <a:pt x="108" y="426"/>
                  </a:lnTo>
                  <a:lnTo>
                    <a:pt x="108" y="420"/>
                  </a:lnTo>
                  <a:lnTo>
                    <a:pt x="114" y="420"/>
                  </a:lnTo>
                  <a:lnTo>
                    <a:pt x="114" y="426"/>
                  </a:lnTo>
                  <a:lnTo>
                    <a:pt x="120" y="426"/>
                  </a:lnTo>
                  <a:lnTo>
                    <a:pt x="120" y="420"/>
                  </a:lnTo>
                  <a:lnTo>
                    <a:pt x="120" y="414"/>
                  </a:lnTo>
                  <a:lnTo>
                    <a:pt x="114" y="414"/>
                  </a:lnTo>
                  <a:lnTo>
                    <a:pt x="120" y="414"/>
                  </a:lnTo>
                  <a:lnTo>
                    <a:pt x="120" y="408"/>
                  </a:lnTo>
                  <a:lnTo>
                    <a:pt x="114" y="402"/>
                  </a:lnTo>
                  <a:lnTo>
                    <a:pt x="120" y="402"/>
                  </a:lnTo>
                  <a:lnTo>
                    <a:pt x="114" y="402"/>
                  </a:lnTo>
                  <a:lnTo>
                    <a:pt x="120" y="396"/>
                  </a:lnTo>
                  <a:lnTo>
                    <a:pt x="114" y="396"/>
                  </a:lnTo>
                  <a:lnTo>
                    <a:pt x="108" y="396"/>
                  </a:lnTo>
                  <a:lnTo>
                    <a:pt x="108" y="390"/>
                  </a:lnTo>
                  <a:lnTo>
                    <a:pt x="108" y="384"/>
                  </a:lnTo>
                  <a:lnTo>
                    <a:pt x="114" y="390"/>
                  </a:lnTo>
                  <a:lnTo>
                    <a:pt x="114" y="384"/>
                  </a:lnTo>
                  <a:lnTo>
                    <a:pt x="108" y="378"/>
                  </a:lnTo>
                  <a:lnTo>
                    <a:pt x="102" y="378"/>
                  </a:lnTo>
                  <a:lnTo>
                    <a:pt x="108" y="378"/>
                  </a:lnTo>
                  <a:lnTo>
                    <a:pt x="102" y="378"/>
                  </a:lnTo>
                  <a:lnTo>
                    <a:pt x="108" y="378"/>
                  </a:lnTo>
                  <a:lnTo>
                    <a:pt x="108" y="372"/>
                  </a:lnTo>
                  <a:lnTo>
                    <a:pt x="102" y="372"/>
                  </a:lnTo>
                  <a:lnTo>
                    <a:pt x="108" y="372"/>
                  </a:lnTo>
                  <a:lnTo>
                    <a:pt x="108" y="366"/>
                  </a:lnTo>
                  <a:lnTo>
                    <a:pt x="108" y="360"/>
                  </a:lnTo>
                  <a:lnTo>
                    <a:pt x="108" y="354"/>
                  </a:lnTo>
                  <a:lnTo>
                    <a:pt x="108" y="348"/>
                  </a:lnTo>
                  <a:lnTo>
                    <a:pt x="108" y="342"/>
                  </a:lnTo>
                  <a:lnTo>
                    <a:pt x="108" y="336"/>
                  </a:lnTo>
                  <a:lnTo>
                    <a:pt x="102" y="336"/>
                  </a:lnTo>
                  <a:lnTo>
                    <a:pt x="102" y="330"/>
                  </a:lnTo>
                  <a:lnTo>
                    <a:pt x="102" y="324"/>
                  </a:lnTo>
                  <a:lnTo>
                    <a:pt x="96" y="324"/>
                  </a:lnTo>
                  <a:lnTo>
                    <a:pt x="96" y="318"/>
                  </a:lnTo>
                  <a:lnTo>
                    <a:pt x="90" y="318"/>
                  </a:lnTo>
                  <a:lnTo>
                    <a:pt x="96" y="312"/>
                  </a:lnTo>
                  <a:lnTo>
                    <a:pt x="96" y="306"/>
                  </a:lnTo>
                  <a:lnTo>
                    <a:pt x="96" y="300"/>
                  </a:lnTo>
                  <a:lnTo>
                    <a:pt x="90" y="300"/>
                  </a:lnTo>
                  <a:lnTo>
                    <a:pt x="96" y="294"/>
                  </a:lnTo>
                  <a:lnTo>
                    <a:pt x="90" y="294"/>
                  </a:lnTo>
                  <a:lnTo>
                    <a:pt x="90" y="288"/>
                  </a:lnTo>
                  <a:lnTo>
                    <a:pt x="90" y="282"/>
                  </a:lnTo>
                  <a:lnTo>
                    <a:pt x="90" y="276"/>
                  </a:lnTo>
                  <a:lnTo>
                    <a:pt x="96" y="276"/>
                  </a:lnTo>
                  <a:lnTo>
                    <a:pt x="96" y="270"/>
                  </a:lnTo>
                  <a:lnTo>
                    <a:pt x="102" y="270"/>
                  </a:lnTo>
                  <a:lnTo>
                    <a:pt x="96" y="270"/>
                  </a:lnTo>
                  <a:lnTo>
                    <a:pt x="96" y="264"/>
                  </a:lnTo>
                  <a:lnTo>
                    <a:pt x="96" y="258"/>
                  </a:lnTo>
                  <a:lnTo>
                    <a:pt x="90" y="252"/>
                  </a:lnTo>
                  <a:lnTo>
                    <a:pt x="90" y="246"/>
                  </a:lnTo>
                  <a:lnTo>
                    <a:pt x="96" y="246"/>
                  </a:lnTo>
                  <a:lnTo>
                    <a:pt x="96" y="240"/>
                  </a:lnTo>
                  <a:lnTo>
                    <a:pt x="90" y="234"/>
                  </a:lnTo>
                  <a:lnTo>
                    <a:pt x="90" y="240"/>
                  </a:lnTo>
                  <a:lnTo>
                    <a:pt x="84" y="234"/>
                  </a:lnTo>
                  <a:lnTo>
                    <a:pt x="78" y="234"/>
                  </a:lnTo>
                  <a:lnTo>
                    <a:pt x="72" y="234"/>
                  </a:lnTo>
                  <a:lnTo>
                    <a:pt x="66" y="216"/>
                  </a:lnTo>
                  <a:lnTo>
                    <a:pt x="72" y="210"/>
                  </a:lnTo>
                  <a:lnTo>
                    <a:pt x="78" y="186"/>
                  </a:lnTo>
                  <a:lnTo>
                    <a:pt x="84" y="186"/>
                  </a:lnTo>
                  <a:lnTo>
                    <a:pt x="84" y="180"/>
                  </a:lnTo>
                  <a:lnTo>
                    <a:pt x="90" y="162"/>
                  </a:lnTo>
                  <a:lnTo>
                    <a:pt x="84" y="150"/>
                  </a:lnTo>
                  <a:lnTo>
                    <a:pt x="84" y="144"/>
                  </a:lnTo>
                  <a:lnTo>
                    <a:pt x="78" y="144"/>
                  </a:lnTo>
                  <a:lnTo>
                    <a:pt x="78" y="138"/>
                  </a:lnTo>
                  <a:lnTo>
                    <a:pt x="72" y="138"/>
                  </a:lnTo>
                  <a:lnTo>
                    <a:pt x="72" y="144"/>
                  </a:lnTo>
                  <a:lnTo>
                    <a:pt x="48" y="144"/>
                  </a:lnTo>
                  <a:lnTo>
                    <a:pt x="30" y="144"/>
                  </a:lnTo>
                  <a:lnTo>
                    <a:pt x="24" y="138"/>
                  </a:lnTo>
                  <a:lnTo>
                    <a:pt x="30" y="126"/>
                  </a:lnTo>
                  <a:lnTo>
                    <a:pt x="24" y="126"/>
                  </a:lnTo>
                  <a:lnTo>
                    <a:pt x="24" y="120"/>
                  </a:lnTo>
                  <a:lnTo>
                    <a:pt x="18" y="114"/>
                  </a:lnTo>
                  <a:lnTo>
                    <a:pt x="18" y="108"/>
                  </a:lnTo>
                  <a:lnTo>
                    <a:pt x="0" y="102"/>
                  </a:lnTo>
                  <a:lnTo>
                    <a:pt x="6" y="78"/>
                  </a:lnTo>
                  <a:lnTo>
                    <a:pt x="30" y="78"/>
                  </a:lnTo>
                  <a:lnTo>
                    <a:pt x="30" y="66"/>
                  </a:lnTo>
                  <a:lnTo>
                    <a:pt x="48" y="72"/>
                  </a:lnTo>
                  <a:lnTo>
                    <a:pt x="54" y="60"/>
                  </a:lnTo>
                  <a:lnTo>
                    <a:pt x="78" y="60"/>
                  </a:lnTo>
                  <a:lnTo>
                    <a:pt x="72" y="78"/>
                  </a:lnTo>
                  <a:lnTo>
                    <a:pt x="96" y="84"/>
                  </a:lnTo>
                  <a:lnTo>
                    <a:pt x="96" y="66"/>
                  </a:lnTo>
                  <a:lnTo>
                    <a:pt x="150" y="78"/>
                  </a:lnTo>
                  <a:lnTo>
                    <a:pt x="150" y="66"/>
                  </a:lnTo>
                  <a:lnTo>
                    <a:pt x="156" y="66"/>
                  </a:lnTo>
                  <a:lnTo>
                    <a:pt x="162" y="54"/>
                  </a:lnTo>
                  <a:lnTo>
                    <a:pt x="180" y="54"/>
                  </a:lnTo>
                  <a:lnTo>
                    <a:pt x="186" y="42"/>
                  </a:lnTo>
                  <a:lnTo>
                    <a:pt x="204" y="48"/>
                  </a:lnTo>
                  <a:lnTo>
                    <a:pt x="210" y="36"/>
                  </a:lnTo>
                  <a:lnTo>
                    <a:pt x="210" y="24"/>
                  </a:lnTo>
                  <a:lnTo>
                    <a:pt x="222" y="24"/>
                  </a:lnTo>
                  <a:lnTo>
                    <a:pt x="222" y="18"/>
                  </a:lnTo>
                  <a:lnTo>
                    <a:pt x="228" y="12"/>
                  </a:lnTo>
                  <a:lnTo>
                    <a:pt x="246" y="18"/>
                  </a:lnTo>
                  <a:lnTo>
                    <a:pt x="318" y="18"/>
                  </a:lnTo>
                  <a:lnTo>
                    <a:pt x="324" y="18"/>
                  </a:lnTo>
                  <a:lnTo>
                    <a:pt x="324" y="12"/>
                  </a:lnTo>
                  <a:lnTo>
                    <a:pt x="336" y="12"/>
                  </a:lnTo>
                  <a:lnTo>
                    <a:pt x="336" y="0"/>
                  </a:lnTo>
                  <a:lnTo>
                    <a:pt x="342" y="0"/>
                  </a:lnTo>
                  <a:lnTo>
                    <a:pt x="342" y="6"/>
                  </a:lnTo>
                  <a:lnTo>
                    <a:pt x="342" y="0"/>
                  </a:lnTo>
                  <a:lnTo>
                    <a:pt x="348" y="0"/>
                  </a:lnTo>
                  <a:lnTo>
                    <a:pt x="348" y="6"/>
                  </a:lnTo>
                  <a:lnTo>
                    <a:pt x="348" y="12"/>
                  </a:lnTo>
                  <a:lnTo>
                    <a:pt x="354" y="12"/>
                  </a:lnTo>
                  <a:lnTo>
                    <a:pt x="348" y="12"/>
                  </a:lnTo>
                  <a:lnTo>
                    <a:pt x="354" y="18"/>
                  </a:lnTo>
                  <a:lnTo>
                    <a:pt x="348" y="24"/>
                  </a:lnTo>
                  <a:lnTo>
                    <a:pt x="354" y="24"/>
                  </a:lnTo>
                  <a:lnTo>
                    <a:pt x="354" y="30"/>
                  </a:lnTo>
                  <a:lnTo>
                    <a:pt x="348" y="30"/>
                  </a:lnTo>
                  <a:lnTo>
                    <a:pt x="348" y="36"/>
                  </a:lnTo>
                  <a:lnTo>
                    <a:pt x="342" y="36"/>
                  </a:lnTo>
                  <a:lnTo>
                    <a:pt x="342" y="42"/>
                  </a:lnTo>
                  <a:lnTo>
                    <a:pt x="348" y="42"/>
                  </a:lnTo>
                  <a:lnTo>
                    <a:pt x="348" y="48"/>
                  </a:lnTo>
                  <a:lnTo>
                    <a:pt x="348" y="54"/>
                  </a:lnTo>
                  <a:lnTo>
                    <a:pt x="348" y="60"/>
                  </a:lnTo>
                  <a:lnTo>
                    <a:pt x="348" y="66"/>
                  </a:lnTo>
                  <a:lnTo>
                    <a:pt x="348" y="72"/>
                  </a:lnTo>
                  <a:lnTo>
                    <a:pt x="354" y="72"/>
                  </a:lnTo>
                  <a:lnTo>
                    <a:pt x="354" y="78"/>
                  </a:lnTo>
                  <a:lnTo>
                    <a:pt x="354" y="84"/>
                  </a:lnTo>
                  <a:lnTo>
                    <a:pt x="354" y="90"/>
                  </a:lnTo>
                  <a:lnTo>
                    <a:pt x="354" y="96"/>
                  </a:lnTo>
                  <a:lnTo>
                    <a:pt x="354" y="102"/>
                  </a:lnTo>
                  <a:lnTo>
                    <a:pt x="348" y="102"/>
                  </a:lnTo>
                  <a:lnTo>
                    <a:pt x="348" y="108"/>
                  </a:lnTo>
                  <a:lnTo>
                    <a:pt x="348" y="114"/>
                  </a:lnTo>
                  <a:lnTo>
                    <a:pt x="342" y="120"/>
                  </a:lnTo>
                  <a:lnTo>
                    <a:pt x="342" y="126"/>
                  </a:lnTo>
                  <a:lnTo>
                    <a:pt x="336" y="126"/>
                  </a:lnTo>
                  <a:lnTo>
                    <a:pt x="342" y="132"/>
                  </a:lnTo>
                  <a:lnTo>
                    <a:pt x="336" y="138"/>
                  </a:lnTo>
                  <a:lnTo>
                    <a:pt x="336" y="144"/>
                  </a:lnTo>
                  <a:lnTo>
                    <a:pt x="330" y="156"/>
                  </a:lnTo>
                  <a:lnTo>
                    <a:pt x="330" y="162"/>
                  </a:lnTo>
                  <a:lnTo>
                    <a:pt x="330" y="168"/>
                  </a:lnTo>
                  <a:lnTo>
                    <a:pt x="324" y="162"/>
                  </a:lnTo>
                  <a:lnTo>
                    <a:pt x="324" y="174"/>
                  </a:lnTo>
                  <a:lnTo>
                    <a:pt x="318" y="174"/>
                  </a:lnTo>
                  <a:lnTo>
                    <a:pt x="312" y="186"/>
                  </a:lnTo>
                  <a:lnTo>
                    <a:pt x="306" y="186"/>
                  </a:lnTo>
                  <a:lnTo>
                    <a:pt x="300" y="210"/>
                  </a:lnTo>
                  <a:lnTo>
                    <a:pt x="306" y="210"/>
                  </a:lnTo>
                  <a:lnTo>
                    <a:pt x="312" y="210"/>
                  </a:lnTo>
                  <a:lnTo>
                    <a:pt x="312" y="216"/>
                  </a:lnTo>
                  <a:lnTo>
                    <a:pt x="312" y="222"/>
                  </a:lnTo>
                  <a:lnTo>
                    <a:pt x="318" y="222"/>
                  </a:lnTo>
                  <a:lnTo>
                    <a:pt x="318" y="228"/>
                  </a:lnTo>
                  <a:lnTo>
                    <a:pt x="324" y="228"/>
                  </a:lnTo>
                  <a:lnTo>
                    <a:pt x="330" y="228"/>
                  </a:lnTo>
                  <a:lnTo>
                    <a:pt x="336" y="234"/>
                  </a:lnTo>
                  <a:lnTo>
                    <a:pt x="342" y="234"/>
                  </a:lnTo>
                  <a:lnTo>
                    <a:pt x="336" y="246"/>
                  </a:lnTo>
                  <a:lnTo>
                    <a:pt x="342" y="252"/>
                  </a:lnTo>
                  <a:lnTo>
                    <a:pt x="342" y="258"/>
                  </a:lnTo>
                  <a:lnTo>
                    <a:pt x="336" y="258"/>
                  </a:lnTo>
                  <a:lnTo>
                    <a:pt x="336" y="270"/>
                  </a:lnTo>
                  <a:lnTo>
                    <a:pt x="336" y="276"/>
                  </a:lnTo>
                  <a:lnTo>
                    <a:pt x="342" y="270"/>
                  </a:lnTo>
                  <a:lnTo>
                    <a:pt x="342" y="276"/>
                  </a:lnTo>
                  <a:lnTo>
                    <a:pt x="348" y="276"/>
                  </a:lnTo>
                  <a:lnTo>
                    <a:pt x="348" y="282"/>
                  </a:lnTo>
                  <a:lnTo>
                    <a:pt x="348" y="288"/>
                  </a:lnTo>
                  <a:lnTo>
                    <a:pt x="354" y="294"/>
                  </a:lnTo>
                  <a:lnTo>
                    <a:pt x="348" y="300"/>
                  </a:lnTo>
                  <a:lnTo>
                    <a:pt x="342" y="300"/>
                  </a:lnTo>
                  <a:lnTo>
                    <a:pt x="342" y="306"/>
                  </a:lnTo>
                  <a:lnTo>
                    <a:pt x="342" y="312"/>
                  </a:lnTo>
                  <a:lnTo>
                    <a:pt x="336" y="312"/>
                  </a:lnTo>
                  <a:lnTo>
                    <a:pt x="330" y="312"/>
                  </a:lnTo>
                  <a:lnTo>
                    <a:pt x="330" y="318"/>
                  </a:lnTo>
                  <a:lnTo>
                    <a:pt x="324" y="312"/>
                  </a:lnTo>
                  <a:lnTo>
                    <a:pt x="324" y="318"/>
                  </a:lnTo>
                  <a:lnTo>
                    <a:pt x="324" y="324"/>
                  </a:lnTo>
                  <a:lnTo>
                    <a:pt x="318" y="324"/>
                  </a:lnTo>
                  <a:lnTo>
                    <a:pt x="318" y="330"/>
                  </a:lnTo>
                  <a:lnTo>
                    <a:pt x="312" y="330"/>
                  </a:lnTo>
                  <a:lnTo>
                    <a:pt x="312" y="336"/>
                  </a:lnTo>
                  <a:lnTo>
                    <a:pt x="318" y="336"/>
                  </a:lnTo>
                  <a:lnTo>
                    <a:pt x="318" y="342"/>
                  </a:lnTo>
                  <a:lnTo>
                    <a:pt x="318" y="348"/>
                  </a:lnTo>
                  <a:lnTo>
                    <a:pt x="324" y="348"/>
                  </a:lnTo>
                  <a:lnTo>
                    <a:pt x="324" y="360"/>
                  </a:lnTo>
                  <a:lnTo>
                    <a:pt x="318" y="366"/>
                  </a:lnTo>
                  <a:lnTo>
                    <a:pt x="312" y="372"/>
                  </a:lnTo>
                  <a:lnTo>
                    <a:pt x="306" y="372"/>
                  </a:lnTo>
                  <a:lnTo>
                    <a:pt x="306" y="366"/>
                  </a:lnTo>
                  <a:lnTo>
                    <a:pt x="300" y="366"/>
                  </a:lnTo>
                  <a:lnTo>
                    <a:pt x="294" y="366"/>
                  </a:lnTo>
                  <a:lnTo>
                    <a:pt x="294" y="360"/>
                  </a:lnTo>
                  <a:lnTo>
                    <a:pt x="294" y="366"/>
                  </a:lnTo>
                  <a:lnTo>
                    <a:pt x="288" y="366"/>
                  </a:lnTo>
                  <a:lnTo>
                    <a:pt x="294" y="366"/>
                  </a:lnTo>
                  <a:lnTo>
                    <a:pt x="288" y="372"/>
                  </a:lnTo>
                  <a:lnTo>
                    <a:pt x="294" y="372"/>
                  </a:lnTo>
                  <a:lnTo>
                    <a:pt x="288" y="372"/>
                  </a:lnTo>
                  <a:lnTo>
                    <a:pt x="282" y="378"/>
                  </a:lnTo>
                  <a:lnTo>
                    <a:pt x="288" y="378"/>
                  </a:lnTo>
                  <a:lnTo>
                    <a:pt x="282" y="396"/>
                  </a:lnTo>
                  <a:lnTo>
                    <a:pt x="288" y="396"/>
                  </a:lnTo>
                  <a:lnTo>
                    <a:pt x="282" y="396"/>
                  </a:lnTo>
                  <a:lnTo>
                    <a:pt x="288" y="396"/>
                  </a:lnTo>
                  <a:lnTo>
                    <a:pt x="288" y="402"/>
                  </a:lnTo>
                  <a:lnTo>
                    <a:pt x="288" y="408"/>
                  </a:lnTo>
                  <a:lnTo>
                    <a:pt x="288" y="402"/>
                  </a:lnTo>
                  <a:lnTo>
                    <a:pt x="288" y="408"/>
                  </a:lnTo>
                  <a:lnTo>
                    <a:pt x="294" y="408"/>
                  </a:lnTo>
                  <a:lnTo>
                    <a:pt x="294" y="414"/>
                  </a:lnTo>
                  <a:lnTo>
                    <a:pt x="288" y="414"/>
                  </a:lnTo>
                  <a:lnTo>
                    <a:pt x="288" y="420"/>
                  </a:lnTo>
                  <a:lnTo>
                    <a:pt x="288" y="414"/>
                  </a:lnTo>
                  <a:lnTo>
                    <a:pt x="288" y="420"/>
                  </a:lnTo>
                  <a:lnTo>
                    <a:pt x="282" y="420"/>
                  </a:lnTo>
                  <a:lnTo>
                    <a:pt x="288" y="414"/>
                  </a:lnTo>
                  <a:lnTo>
                    <a:pt x="282" y="414"/>
                  </a:lnTo>
                  <a:lnTo>
                    <a:pt x="282" y="420"/>
                  </a:lnTo>
                  <a:lnTo>
                    <a:pt x="276" y="420"/>
                  </a:lnTo>
                  <a:lnTo>
                    <a:pt x="276" y="426"/>
                  </a:lnTo>
                  <a:lnTo>
                    <a:pt x="276" y="420"/>
                  </a:lnTo>
                  <a:lnTo>
                    <a:pt x="276" y="426"/>
                  </a:lnTo>
                  <a:lnTo>
                    <a:pt x="270" y="426"/>
                  </a:lnTo>
                  <a:lnTo>
                    <a:pt x="270" y="432"/>
                  </a:lnTo>
                  <a:lnTo>
                    <a:pt x="270" y="426"/>
                  </a:lnTo>
                  <a:lnTo>
                    <a:pt x="264" y="426"/>
                  </a:lnTo>
                  <a:lnTo>
                    <a:pt x="264" y="432"/>
                  </a:lnTo>
                  <a:lnTo>
                    <a:pt x="264" y="426"/>
                  </a:lnTo>
                  <a:lnTo>
                    <a:pt x="258" y="426"/>
                  </a:lnTo>
                  <a:lnTo>
                    <a:pt x="252" y="432"/>
                  </a:lnTo>
                  <a:lnTo>
                    <a:pt x="252" y="438"/>
                  </a:lnTo>
                  <a:lnTo>
                    <a:pt x="258" y="444"/>
                  </a:lnTo>
                  <a:lnTo>
                    <a:pt x="258" y="450"/>
                  </a:lnTo>
                  <a:lnTo>
                    <a:pt x="258" y="456"/>
                  </a:lnTo>
                  <a:lnTo>
                    <a:pt x="258" y="462"/>
                  </a:lnTo>
                  <a:lnTo>
                    <a:pt x="258" y="468"/>
                  </a:lnTo>
                  <a:lnTo>
                    <a:pt x="252" y="474"/>
                  </a:lnTo>
                  <a:lnTo>
                    <a:pt x="258" y="474"/>
                  </a:lnTo>
                  <a:close/>
                </a:path>
              </a:pathLst>
            </a:custGeom>
            <a:solidFill>
              <a:schemeClr val="accent1"/>
            </a:solidFill>
            <a:ln w="9525">
              <a:solidFill>
                <a:srgbClr val="B2B2B2"/>
              </a:solidFill>
              <a:round/>
              <a:headEnd/>
              <a:tailEnd/>
            </a:ln>
          </p:spPr>
          <p:txBody>
            <a:bodyPr/>
            <a:lstStyle/>
            <a:p>
              <a:endParaRPr lang="en-CA"/>
            </a:p>
          </p:txBody>
        </p:sp>
        <p:sp>
          <p:nvSpPr>
            <p:cNvPr id="427" name="Freeform 486"/>
            <p:cNvSpPr>
              <a:spLocks/>
            </p:cNvSpPr>
            <p:nvPr>
              <p:custDataLst>
                <p:tags r:id="rId50"/>
              </p:custDataLst>
            </p:nvPr>
          </p:nvSpPr>
          <p:spPr bwMode="gray">
            <a:xfrm>
              <a:off x="1457" y="2683"/>
              <a:ext cx="254" cy="330"/>
            </a:xfrm>
            <a:custGeom>
              <a:avLst/>
              <a:gdLst>
                <a:gd name="T0" fmla="*/ 327636125 w 408"/>
                <a:gd name="T1" fmla="*/ 460577406 h 528"/>
                <a:gd name="T2" fmla="*/ 310083978 w 408"/>
                <a:gd name="T3" fmla="*/ 484197422 h 528"/>
                <a:gd name="T4" fmla="*/ 292531831 w 408"/>
                <a:gd name="T5" fmla="*/ 490101930 h 528"/>
                <a:gd name="T6" fmla="*/ 274980672 w 408"/>
                <a:gd name="T7" fmla="*/ 478292914 h 528"/>
                <a:gd name="T8" fmla="*/ 251577810 w 408"/>
                <a:gd name="T9" fmla="*/ 478292914 h 528"/>
                <a:gd name="T10" fmla="*/ 234025663 w 408"/>
                <a:gd name="T11" fmla="*/ 478292914 h 528"/>
                <a:gd name="T12" fmla="*/ 216473516 w 408"/>
                <a:gd name="T13" fmla="*/ 501911938 h 528"/>
                <a:gd name="T14" fmla="*/ 198922357 w 408"/>
                <a:gd name="T15" fmla="*/ 507816445 h 528"/>
                <a:gd name="T16" fmla="*/ 181370210 w 408"/>
                <a:gd name="T17" fmla="*/ 501911938 h 528"/>
                <a:gd name="T18" fmla="*/ 175519494 w 408"/>
                <a:gd name="T19" fmla="*/ 507816445 h 528"/>
                <a:gd name="T20" fmla="*/ 157967347 w 408"/>
                <a:gd name="T21" fmla="*/ 507816445 h 528"/>
                <a:gd name="T22" fmla="*/ 122863053 w 408"/>
                <a:gd name="T23" fmla="*/ 507816445 h 528"/>
                <a:gd name="T24" fmla="*/ 111162610 w 408"/>
                <a:gd name="T25" fmla="*/ 501911938 h 528"/>
                <a:gd name="T26" fmla="*/ 87759747 w 408"/>
                <a:gd name="T27" fmla="*/ 496007430 h 528"/>
                <a:gd name="T28" fmla="*/ 81909031 w 408"/>
                <a:gd name="T29" fmla="*/ 513721945 h 528"/>
                <a:gd name="T30" fmla="*/ 64356884 w 408"/>
                <a:gd name="T31" fmla="*/ 519626453 h 528"/>
                <a:gd name="T32" fmla="*/ 52655453 w 408"/>
                <a:gd name="T33" fmla="*/ 519626453 h 528"/>
                <a:gd name="T34" fmla="*/ 35104294 w 408"/>
                <a:gd name="T35" fmla="*/ 513721945 h 528"/>
                <a:gd name="T36" fmla="*/ 17552147 w 408"/>
                <a:gd name="T37" fmla="*/ 519626453 h 528"/>
                <a:gd name="T38" fmla="*/ 5850716 w 408"/>
                <a:gd name="T39" fmla="*/ 496007430 h 528"/>
                <a:gd name="T40" fmla="*/ 5850716 w 408"/>
                <a:gd name="T41" fmla="*/ 466482906 h 528"/>
                <a:gd name="T42" fmla="*/ 11701431 w 408"/>
                <a:gd name="T43" fmla="*/ 448768391 h 528"/>
                <a:gd name="T44" fmla="*/ 23402863 w 408"/>
                <a:gd name="T45" fmla="*/ 448768391 h 528"/>
                <a:gd name="T46" fmla="*/ 35104294 w 408"/>
                <a:gd name="T47" fmla="*/ 442862891 h 528"/>
                <a:gd name="T48" fmla="*/ 35104294 w 408"/>
                <a:gd name="T49" fmla="*/ 431053875 h 528"/>
                <a:gd name="T50" fmla="*/ 35104294 w 408"/>
                <a:gd name="T51" fmla="*/ 419243867 h 528"/>
                <a:gd name="T52" fmla="*/ 35104294 w 408"/>
                <a:gd name="T53" fmla="*/ 395624844 h 528"/>
                <a:gd name="T54" fmla="*/ 46804737 w 408"/>
                <a:gd name="T55" fmla="*/ 389719344 h 528"/>
                <a:gd name="T56" fmla="*/ 70207600 w 408"/>
                <a:gd name="T57" fmla="*/ 372004828 h 528"/>
                <a:gd name="T58" fmla="*/ 64356884 w 408"/>
                <a:gd name="T59" fmla="*/ 354290313 h 528"/>
                <a:gd name="T60" fmla="*/ 76058316 w 408"/>
                <a:gd name="T61" fmla="*/ 336575797 h 528"/>
                <a:gd name="T62" fmla="*/ 99461178 w 408"/>
                <a:gd name="T63" fmla="*/ 318861281 h 528"/>
                <a:gd name="T64" fmla="*/ 81909031 w 408"/>
                <a:gd name="T65" fmla="*/ 301146766 h 528"/>
                <a:gd name="T66" fmla="*/ 87759747 w 408"/>
                <a:gd name="T67" fmla="*/ 259813227 h 528"/>
                <a:gd name="T68" fmla="*/ 58506169 w 408"/>
                <a:gd name="T69" fmla="*/ 248003219 h 528"/>
                <a:gd name="T70" fmla="*/ 58506169 w 408"/>
                <a:gd name="T71" fmla="*/ 212574188 h 528"/>
                <a:gd name="T72" fmla="*/ 76058316 w 408"/>
                <a:gd name="T73" fmla="*/ 183050656 h 528"/>
                <a:gd name="T74" fmla="*/ 87759747 w 408"/>
                <a:gd name="T75" fmla="*/ 147621625 h 528"/>
                <a:gd name="T76" fmla="*/ 99461178 w 408"/>
                <a:gd name="T77" fmla="*/ 118097102 h 528"/>
                <a:gd name="T78" fmla="*/ 93610463 w 408"/>
                <a:gd name="T79" fmla="*/ 88572578 h 528"/>
                <a:gd name="T80" fmla="*/ 93610463 w 408"/>
                <a:gd name="T81" fmla="*/ 64953555 h 528"/>
                <a:gd name="T82" fmla="*/ 93610463 w 408"/>
                <a:gd name="T83" fmla="*/ 41333539 h 528"/>
                <a:gd name="T84" fmla="*/ 93610463 w 408"/>
                <a:gd name="T85" fmla="*/ 17714516 h 528"/>
                <a:gd name="T86" fmla="*/ 111162610 w 408"/>
                <a:gd name="T87" fmla="*/ 5904508 h 528"/>
                <a:gd name="T88" fmla="*/ 122863053 w 408"/>
                <a:gd name="T89" fmla="*/ 17714516 h 528"/>
                <a:gd name="T90" fmla="*/ 175519494 w 408"/>
                <a:gd name="T91" fmla="*/ 29524523 h 528"/>
                <a:gd name="T92" fmla="*/ 245727094 w 408"/>
                <a:gd name="T93" fmla="*/ 106287094 h 528"/>
                <a:gd name="T94" fmla="*/ 274980672 w 408"/>
                <a:gd name="T95" fmla="*/ 171240648 h 528"/>
                <a:gd name="T96" fmla="*/ 304233263 w 408"/>
                <a:gd name="T97" fmla="*/ 242098711 h 528"/>
                <a:gd name="T98" fmla="*/ 362739431 w 408"/>
                <a:gd name="T99" fmla="*/ 283432250 h 528"/>
                <a:gd name="T100" fmla="*/ 391993009 w 408"/>
                <a:gd name="T101" fmla="*/ 366100320 h 528"/>
                <a:gd name="T102" fmla="*/ 368590147 w 408"/>
                <a:gd name="T103" fmla="*/ 377910328 h 528"/>
                <a:gd name="T104" fmla="*/ 345188272 w 408"/>
                <a:gd name="T105" fmla="*/ 395624844 h 528"/>
                <a:gd name="T106" fmla="*/ 345188272 w 408"/>
                <a:gd name="T107" fmla="*/ 431053875 h 528"/>
                <a:gd name="T108" fmla="*/ 351038988 w 408"/>
                <a:gd name="T109" fmla="*/ 454672898 h 52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08"/>
                <a:gd name="T166" fmla="*/ 0 h 528"/>
                <a:gd name="T167" fmla="*/ 408 w 408"/>
                <a:gd name="T168" fmla="*/ 528 h 52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08" h="528">
                  <a:moveTo>
                    <a:pt x="354" y="468"/>
                  </a:moveTo>
                  <a:lnTo>
                    <a:pt x="348" y="468"/>
                  </a:lnTo>
                  <a:lnTo>
                    <a:pt x="348" y="462"/>
                  </a:lnTo>
                  <a:lnTo>
                    <a:pt x="348" y="468"/>
                  </a:lnTo>
                  <a:lnTo>
                    <a:pt x="342" y="468"/>
                  </a:lnTo>
                  <a:lnTo>
                    <a:pt x="336" y="468"/>
                  </a:lnTo>
                  <a:lnTo>
                    <a:pt x="330" y="474"/>
                  </a:lnTo>
                  <a:lnTo>
                    <a:pt x="324" y="474"/>
                  </a:lnTo>
                  <a:lnTo>
                    <a:pt x="324" y="480"/>
                  </a:lnTo>
                  <a:lnTo>
                    <a:pt x="324" y="486"/>
                  </a:lnTo>
                  <a:lnTo>
                    <a:pt x="318" y="486"/>
                  </a:lnTo>
                  <a:lnTo>
                    <a:pt x="318" y="492"/>
                  </a:lnTo>
                  <a:lnTo>
                    <a:pt x="318" y="498"/>
                  </a:lnTo>
                  <a:lnTo>
                    <a:pt x="312" y="498"/>
                  </a:lnTo>
                  <a:lnTo>
                    <a:pt x="312" y="492"/>
                  </a:lnTo>
                  <a:lnTo>
                    <a:pt x="306" y="498"/>
                  </a:lnTo>
                  <a:lnTo>
                    <a:pt x="306" y="492"/>
                  </a:lnTo>
                  <a:lnTo>
                    <a:pt x="300" y="498"/>
                  </a:lnTo>
                  <a:lnTo>
                    <a:pt x="300" y="492"/>
                  </a:lnTo>
                  <a:lnTo>
                    <a:pt x="294" y="492"/>
                  </a:lnTo>
                  <a:lnTo>
                    <a:pt x="300" y="492"/>
                  </a:lnTo>
                  <a:lnTo>
                    <a:pt x="294" y="492"/>
                  </a:lnTo>
                  <a:lnTo>
                    <a:pt x="288" y="486"/>
                  </a:lnTo>
                  <a:lnTo>
                    <a:pt x="282" y="486"/>
                  </a:lnTo>
                  <a:lnTo>
                    <a:pt x="282" y="492"/>
                  </a:lnTo>
                  <a:lnTo>
                    <a:pt x="276" y="492"/>
                  </a:lnTo>
                  <a:lnTo>
                    <a:pt x="276" y="486"/>
                  </a:lnTo>
                  <a:lnTo>
                    <a:pt x="270" y="486"/>
                  </a:lnTo>
                  <a:lnTo>
                    <a:pt x="264" y="486"/>
                  </a:lnTo>
                  <a:lnTo>
                    <a:pt x="258" y="486"/>
                  </a:lnTo>
                  <a:lnTo>
                    <a:pt x="258" y="492"/>
                  </a:lnTo>
                  <a:lnTo>
                    <a:pt x="252" y="486"/>
                  </a:lnTo>
                  <a:lnTo>
                    <a:pt x="252" y="492"/>
                  </a:lnTo>
                  <a:lnTo>
                    <a:pt x="246" y="492"/>
                  </a:lnTo>
                  <a:lnTo>
                    <a:pt x="246" y="486"/>
                  </a:lnTo>
                  <a:lnTo>
                    <a:pt x="240" y="486"/>
                  </a:lnTo>
                  <a:lnTo>
                    <a:pt x="234" y="492"/>
                  </a:lnTo>
                  <a:lnTo>
                    <a:pt x="234" y="498"/>
                  </a:lnTo>
                  <a:lnTo>
                    <a:pt x="228" y="498"/>
                  </a:lnTo>
                  <a:lnTo>
                    <a:pt x="228" y="504"/>
                  </a:lnTo>
                  <a:lnTo>
                    <a:pt x="228" y="510"/>
                  </a:lnTo>
                  <a:lnTo>
                    <a:pt x="222" y="510"/>
                  </a:lnTo>
                  <a:lnTo>
                    <a:pt x="222" y="516"/>
                  </a:lnTo>
                  <a:lnTo>
                    <a:pt x="222" y="522"/>
                  </a:lnTo>
                  <a:lnTo>
                    <a:pt x="216" y="522"/>
                  </a:lnTo>
                  <a:lnTo>
                    <a:pt x="210" y="522"/>
                  </a:lnTo>
                  <a:lnTo>
                    <a:pt x="210" y="516"/>
                  </a:lnTo>
                  <a:lnTo>
                    <a:pt x="204" y="516"/>
                  </a:lnTo>
                  <a:lnTo>
                    <a:pt x="204" y="510"/>
                  </a:lnTo>
                  <a:lnTo>
                    <a:pt x="198" y="510"/>
                  </a:lnTo>
                  <a:lnTo>
                    <a:pt x="192" y="510"/>
                  </a:lnTo>
                  <a:lnTo>
                    <a:pt x="192" y="504"/>
                  </a:lnTo>
                  <a:lnTo>
                    <a:pt x="186" y="504"/>
                  </a:lnTo>
                  <a:lnTo>
                    <a:pt x="186" y="510"/>
                  </a:lnTo>
                  <a:lnTo>
                    <a:pt x="186" y="504"/>
                  </a:lnTo>
                  <a:lnTo>
                    <a:pt x="180" y="504"/>
                  </a:lnTo>
                  <a:lnTo>
                    <a:pt x="174" y="504"/>
                  </a:lnTo>
                  <a:lnTo>
                    <a:pt x="174" y="510"/>
                  </a:lnTo>
                  <a:lnTo>
                    <a:pt x="180" y="510"/>
                  </a:lnTo>
                  <a:lnTo>
                    <a:pt x="180" y="516"/>
                  </a:lnTo>
                  <a:lnTo>
                    <a:pt x="174" y="516"/>
                  </a:lnTo>
                  <a:lnTo>
                    <a:pt x="174" y="522"/>
                  </a:lnTo>
                  <a:lnTo>
                    <a:pt x="174" y="516"/>
                  </a:lnTo>
                  <a:lnTo>
                    <a:pt x="174" y="522"/>
                  </a:lnTo>
                  <a:lnTo>
                    <a:pt x="168" y="516"/>
                  </a:lnTo>
                  <a:lnTo>
                    <a:pt x="162" y="516"/>
                  </a:lnTo>
                  <a:lnTo>
                    <a:pt x="156" y="516"/>
                  </a:lnTo>
                  <a:lnTo>
                    <a:pt x="150" y="516"/>
                  </a:lnTo>
                  <a:lnTo>
                    <a:pt x="144" y="516"/>
                  </a:lnTo>
                  <a:lnTo>
                    <a:pt x="138" y="516"/>
                  </a:lnTo>
                  <a:lnTo>
                    <a:pt x="132" y="516"/>
                  </a:lnTo>
                  <a:lnTo>
                    <a:pt x="126" y="516"/>
                  </a:lnTo>
                  <a:lnTo>
                    <a:pt x="120" y="516"/>
                  </a:lnTo>
                  <a:lnTo>
                    <a:pt x="120" y="510"/>
                  </a:lnTo>
                  <a:lnTo>
                    <a:pt x="120" y="516"/>
                  </a:lnTo>
                  <a:lnTo>
                    <a:pt x="114" y="516"/>
                  </a:lnTo>
                  <a:lnTo>
                    <a:pt x="108" y="516"/>
                  </a:lnTo>
                  <a:lnTo>
                    <a:pt x="114" y="510"/>
                  </a:lnTo>
                  <a:lnTo>
                    <a:pt x="108" y="510"/>
                  </a:lnTo>
                  <a:lnTo>
                    <a:pt x="108" y="504"/>
                  </a:lnTo>
                  <a:lnTo>
                    <a:pt x="96" y="504"/>
                  </a:lnTo>
                  <a:lnTo>
                    <a:pt x="96" y="510"/>
                  </a:lnTo>
                  <a:lnTo>
                    <a:pt x="90" y="510"/>
                  </a:lnTo>
                  <a:lnTo>
                    <a:pt x="90" y="504"/>
                  </a:lnTo>
                  <a:lnTo>
                    <a:pt x="84" y="504"/>
                  </a:lnTo>
                  <a:lnTo>
                    <a:pt x="84" y="510"/>
                  </a:lnTo>
                  <a:lnTo>
                    <a:pt x="90" y="510"/>
                  </a:lnTo>
                  <a:lnTo>
                    <a:pt x="90" y="516"/>
                  </a:lnTo>
                  <a:lnTo>
                    <a:pt x="84" y="516"/>
                  </a:lnTo>
                  <a:lnTo>
                    <a:pt x="84" y="522"/>
                  </a:lnTo>
                  <a:lnTo>
                    <a:pt x="84" y="516"/>
                  </a:lnTo>
                  <a:lnTo>
                    <a:pt x="78" y="516"/>
                  </a:lnTo>
                  <a:lnTo>
                    <a:pt x="84" y="522"/>
                  </a:lnTo>
                  <a:lnTo>
                    <a:pt x="78" y="528"/>
                  </a:lnTo>
                  <a:lnTo>
                    <a:pt x="72" y="528"/>
                  </a:lnTo>
                  <a:lnTo>
                    <a:pt x="66" y="528"/>
                  </a:lnTo>
                  <a:lnTo>
                    <a:pt x="66" y="522"/>
                  </a:lnTo>
                  <a:lnTo>
                    <a:pt x="66" y="528"/>
                  </a:lnTo>
                  <a:lnTo>
                    <a:pt x="66" y="522"/>
                  </a:lnTo>
                  <a:lnTo>
                    <a:pt x="60" y="522"/>
                  </a:lnTo>
                  <a:lnTo>
                    <a:pt x="54" y="522"/>
                  </a:lnTo>
                  <a:lnTo>
                    <a:pt x="54" y="528"/>
                  </a:lnTo>
                  <a:lnTo>
                    <a:pt x="48" y="528"/>
                  </a:lnTo>
                  <a:lnTo>
                    <a:pt x="48" y="522"/>
                  </a:lnTo>
                  <a:lnTo>
                    <a:pt x="48" y="528"/>
                  </a:lnTo>
                  <a:lnTo>
                    <a:pt x="48" y="522"/>
                  </a:lnTo>
                  <a:lnTo>
                    <a:pt x="42" y="522"/>
                  </a:lnTo>
                  <a:lnTo>
                    <a:pt x="36" y="522"/>
                  </a:lnTo>
                  <a:lnTo>
                    <a:pt x="36" y="528"/>
                  </a:lnTo>
                  <a:lnTo>
                    <a:pt x="30" y="528"/>
                  </a:lnTo>
                  <a:lnTo>
                    <a:pt x="30" y="522"/>
                  </a:lnTo>
                  <a:lnTo>
                    <a:pt x="24" y="522"/>
                  </a:lnTo>
                  <a:lnTo>
                    <a:pt x="18" y="522"/>
                  </a:lnTo>
                  <a:lnTo>
                    <a:pt x="18" y="528"/>
                  </a:lnTo>
                  <a:lnTo>
                    <a:pt x="12" y="528"/>
                  </a:lnTo>
                  <a:lnTo>
                    <a:pt x="12" y="522"/>
                  </a:lnTo>
                  <a:lnTo>
                    <a:pt x="12" y="516"/>
                  </a:lnTo>
                  <a:lnTo>
                    <a:pt x="6" y="516"/>
                  </a:lnTo>
                  <a:lnTo>
                    <a:pt x="6" y="510"/>
                  </a:lnTo>
                  <a:lnTo>
                    <a:pt x="6" y="504"/>
                  </a:lnTo>
                  <a:lnTo>
                    <a:pt x="0" y="504"/>
                  </a:lnTo>
                  <a:lnTo>
                    <a:pt x="6" y="498"/>
                  </a:lnTo>
                  <a:lnTo>
                    <a:pt x="6" y="492"/>
                  </a:lnTo>
                  <a:lnTo>
                    <a:pt x="6" y="486"/>
                  </a:lnTo>
                  <a:lnTo>
                    <a:pt x="6" y="480"/>
                  </a:lnTo>
                  <a:lnTo>
                    <a:pt x="6" y="474"/>
                  </a:lnTo>
                  <a:lnTo>
                    <a:pt x="0" y="468"/>
                  </a:lnTo>
                  <a:lnTo>
                    <a:pt x="0" y="462"/>
                  </a:lnTo>
                  <a:lnTo>
                    <a:pt x="6" y="456"/>
                  </a:lnTo>
                  <a:lnTo>
                    <a:pt x="12" y="456"/>
                  </a:lnTo>
                  <a:lnTo>
                    <a:pt x="12" y="462"/>
                  </a:lnTo>
                  <a:lnTo>
                    <a:pt x="12" y="456"/>
                  </a:lnTo>
                  <a:lnTo>
                    <a:pt x="18" y="456"/>
                  </a:lnTo>
                  <a:lnTo>
                    <a:pt x="18" y="462"/>
                  </a:lnTo>
                  <a:lnTo>
                    <a:pt x="18" y="456"/>
                  </a:lnTo>
                  <a:lnTo>
                    <a:pt x="24" y="456"/>
                  </a:lnTo>
                  <a:lnTo>
                    <a:pt x="24" y="450"/>
                  </a:lnTo>
                  <a:lnTo>
                    <a:pt x="24" y="456"/>
                  </a:lnTo>
                  <a:lnTo>
                    <a:pt x="24" y="450"/>
                  </a:lnTo>
                  <a:lnTo>
                    <a:pt x="30" y="450"/>
                  </a:lnTo>
                  <a:lnTo>
                    <a:pt x="30" y="444"/>
                  </a:lnTo>
                  <a:lnTo>
                    <a:pt x="36" y="444"/>
                  </a:lnTo>
                  <a:lnTo>
                    <a:pt x="30" y="450"/>
                  </a:lnTo>
                  <a:lnTo>
                    <a:pt x="36" y="450"/>
                  </a:lnTo>
                  <a:lnTo>
                    <a:pt x="36" y="444"/>
                  </a:lnTo>
                  <a:lnTo>
                    <a:pt x="36" y="450"/>
                  </a:lnTo>
                  <a:lnTo>
                    <a:pt x="36" y="444"/>
                  </a:lnTo>
                  <a:lnTo>
                    <a:pt x="42" y="444"/>
                  </a:lnTo>
                  <a:lnTo>
                    <a:pt x="42" y="438"/>
                  </a:lnTo>
                  <a:lnTo>
                    <a:pt x="36" y="438"/>
                  </a:lnTo>
                  <a:lnTo>
                    <a:pt x="36" y="432"/>
                  </a:lnTo>
                  <a:lnTo>
                    <a:pt x="36" y="438"/>
                  </a:lnTo>
                  <a:lnTo>
                    <a:pt x="36" y="432"/>
                  </a:lnTo>
                  <a:lnTo>
                    <a:pt x="36" y="426"/>
                  </a:lnTo>
                  <a:lnTo>
                    <a:pt x="30" y="426"/>
                  </a:lnTo>
                  <a:lnTo>
                    <a:pt x="36" y="426"/>
                  </a:lnTo>
                  <a:lnTo>
                    <a:pt x="30" y="426"/>
                  </a:lnTo>
                  <a:lnTo>
                    <a:pt x="36" y="408"/>
                  </a:lnTo>
                  <a:lnTo>
                    <a:pt x="30" y="408"/>
                  </a:lnTo>
                  <a:lnTo>
                    <a:pt x="36" y="402"/>
                  </a:lnTo>
                  <a:lnTo>
                    <a:pt x="42" y="402"/>
                  </a:lnTo>
                  <a:lnTo>
                    <a:pt x="36" y="402"/>
                  </a:lnTo>
                  <a:lnTo>
                    <a:pt x="42" y="396"/>
                  </a:lnTo>
                  <a:lnTo>
                    <a:pt x="36" y="396"/>
                  </a:lnTo>
                  <a:lnTo>
                    <a:pt x="42" y="396"/>
                  </a:lnTo>
                  <a:lnTo>
                    <a:pt x="42" y="390"/>
                  </a:lnTo>
                  <a:lnTo>
                    <a:pt x="42" y="396"/>
                  </a:lnTo>
                  <a:lnTo>
                    <a:pt x="48" y="396"/>
                  </a:lnTo>
                  <a:lnTo>
                    <a:pt x="54" y="396"/>
                  </a:lnTo>
                  <a:lnTo>
                    <a:pt x="54" y="402"/>
                  </a:lnTo>
                  <a:lnTo>
                    <a:pt x="60" y="402"/>
                  </a:lnTo>
                  <a:lnTo>
                    <a:pt x="66" y="396"/>
                  </a:lnTo>
                  <a:lnTo>
                    <a:pt x="72" y="390"/>
                  </a:lnTo>
                  <a:lnTo>
                    <a:pt x="72" y="378"/>
                  </a:lnTo>
                  <a:lnTo>
                    <a:pt x="66" y="378"/>
                  </a:lnTo>
                  <a:lnTo>
                    <a:pt x="66" y="372"/>
                  </a:lnTo>
                  <a:lnTo>
                    <a:pt x="66" y="366"/>
                  </a:lnTo>
                  <a:lnTo>
                    <a:pt x="60" y="366"/>
                  </a:lnTo>
                  <a:lnTo>
                    <a:pt x="60" y="360"/>
                  </a:lnTo>
                  <a:lnTo>
                    <a:pt x="66" y="360"/>
                  </a:lnTo>
                  <a:lnTo>
                    <a:pt x="66" y="354"/>
                  </a:lnTo>
                  <a:lnTo>
                    <a:pt x="72" y="354"/>
                  </a:lnTo>
                  <a:lnTo>
                    <a:pt x="72" y="348"/>
                  </a:lnTo>
                  <a:lnTo>
                    <a:pt x="72" y="342"/>
                  </a:lnTo>
                  <a:lnTo>
                    <a:pt x="78" y="348"/>
                  </a:lnTo>
                  <a:lnTo>
                    <a:pt x="78" y="342"/>
                  </a:lnTo>
                  <a:lnTo>
                    <a:pt x="84" y="342"/>
                  </a:lnTo>
                  <a:lnTo>
                    <a:pt x="90" y="342"/>
                  </a:lnTo>
                  <a:lnTo>
                    <a:pt x="90" y="336"/>
                  </a:lnTo>
                  <a:lnTo>
                    <a:pt x="90" y="330"/>
                  </a:lnTo>
                  <a:lnTo>
                    <a:pt x="96" y="330"/>
                  </a:lnTo>
                  <a:lnTo>
                    <a:pt x="102" y="324"/>
                  </a:lnTo>
                  <a:lnTo>
                    <a:pt x="96" y="318"/>
                  </a:lnTo>
                  <a:lnTo>
                    <a:pt x="96" y="312"/>
                  </a:lnTo>
                  <a:lnTo>
                    <a:pt x="96" y="306"/>
                  </a:lnTo>
                  <a:lnTo>
                    <a:pt x="90" y="306"/>
                  </a:lnTo>
                  <a:lnTo>
                    <a:pt x="90" y="300"/>
                  </a:lnTo>
                  <a:lnTo>
                    <a:pt x="84" y="306"/>
                  </a:lnTo>
                  <a:lnTo>
                    <a:pt x="84" y="300"/>
                  </a:lnTo>
                  <a:lnTo>
                    <a:pt x="84" y="288"/>
                  </a:lnTo>
                  <a:lnTo>
                    <a:pt x="90" y="288"/>
                  </a:lnTo>
                  <a:lnTo>
                    <a:pt x="90" y="282"/>
                  </a:lnTo>
                  <a:lnTo>
                    <a:pt x="84" y="276"/>
                  </a:lnTo>
                  <a:lnTo>
                    <a:pt x="90" y="264"/>
                  </a:lnTo>
                  <a:lnTo>
                    <a:pt x="84" y="264"/>
                  </a:lnTo>
                  <a:lnTo>
                    <a:pt x="78" y="258"/>
                  </a:lnTo>
                  <a:lnTo>
                    <a:pt x="72" y="258"/>
                  </a:lnTo>
                  <a:lnTo>
                    <a:pt x="66" y="258"/>
                  </a:lnTo>
                  <a:lnTo>
                    <a:pt x="66" y="252"/>
                  </a:lnTo>
                  <a:lnTo>
                    <a:pt x="60" y="252"/>
                  </a:lnTo>
                  <a:lnTo>
                    <a:pt x="60" y="246"/>
                  </a:lnTo>
                  <a:lnTo>
                    <a:pt x="60" y="240"/>
                  </a:lnTo>
                  <a:lnTo>
                    <a:pt x="54" y="240"/>
                  </a:lnTo>
                  <a:lnTo>
                    <a:pt x="48" y="240"/>
                  </a:lnTo>
                  <a:lnTo>
                    <a:pt x="54" y="216"/>
                  </a:lnTo>
                  <a:lnTo>
                    <a:pt x="60" y="216"/>
                  </a:lnTo>
                  <a:lnTo>
                    <a:pt x="66" y="204"/>
                  </a:lnTo>
                  <a:lnTo>
                    <a:pt x="72" y="204"/>
                  </a:lnTo>
                  <a:lnTo>
                    <a:pt x="72" y="192"/>
                  </a:lnTo>
                  <a:lnTo>
                    <a:pt x="78" y="198"/>
                  </a:lnTo>
                  <a:lnTo>
                    <a:pt x="78" y="192"/>
                  </a:lnTo>
                  <a:lnTo>
                    <a:pt x="78" y="186"/>
                  </a:lnTo>
                  <a:lnTo>
                    <a:pt x="84" y="174"/>
                  </a:lnTo>
                  <a:lnTo>
                    <a:pt x="84" y="168"/>
                  </a:lnTo>
                  <a:lnTo>
                    <a:pt x="90" y="162"/>
                  </a:lnTo>
                  <a:lnTo>
                    <a:pt x="84" y="156"/>
                  </a:lnTo>
                  <a:lnTo>
                    <a:pt x="90" y="156"/>
                  </a:lnTo>
                  <a:lnTo>
                    <a:pt x="90" y="150"/>
                  </a:lnTo>
                  <a:lnTo>
                    <a:pt x="96" y="144"/>
                  </a:lnTo>
                  <a:lnTo>
                    <a:pt x="96" y="138"/>
                  </a:lnTo>
                  <a:lnTo>
                    <a:pt x="96" y="132"/>
                  </a:lnTo>
                  <a:lnTo>
                    <a:pt x="102" y="132"/>
                  </a:lnTo>
                  <a:lnTo>
                    <a:pt x="102" y="126"/>
                  </a:lnTo>
                  <a:lnTo>
                    <a:pt x="102" y="120"/>
                  </a:lnTo>
                  <a:lnTo>
                    <a:pt x="102" y="114"/>
                  </a:lnTo>
                  <a:lnTo>
                    <a:pt x="102" y="108"/>
                  </a:lnTo>
                  <a:lnTo>
                    <a:pt x="102" y="102"/>
                  </a:lnTo>
                  <a:lnTo>
                    <a:pt x="96" y="102"/>
                  </a:lnTo>
                  <a:lnTo>
                    <a:pt x="96" y="96"/>
                  </a:lnTo>
                  <a:lnTo>
                    <a:pt x="96" y="90"/>
                  </a:lnTo>
                  <a:lnTo>
                    <a:pt x="96" y="84"/>
                  </a:lnTo>
                  <a:lnTo>
                    <a:pt x="96" y="78"/>
                  </a:lnTo>
                  <a:lnTo>
                    <a:pt x="96" y="72"/>
                  </a:lnTo>
                  <a:lnTo>
                    <a:pt x="90" y="72"/>
                  </a:lnTo>
                  <a:lnTo>
                    <a:pt x="90" y="66"/>
                  </a:lnTo>
                  <a:lnTo>
                    <a:pt x="96" y="66"/>
                  </a:lnTo>
                  <a:lnTo>
                    <a:pt x="96" y="60"/>
                  </a:lnTo>
                  <a:lnTo>
                    <a:pt x="102" y="60"/>
                  </a:lnTo>
                  <a:lnTo>
                    <a:pt x="102" y="54"/>
                  </a:lnTo>
                  <a:lnTo>
                    <a:pt x="96" y="54"/>
                  </a:lnTo>
                  <a:lnTo>
                    <a:pt x="102" y="48"/>
                  </a:lnTo>
                  <a:lnTo>
                    <a:pt x="96" y="42"/>
                  </a:lnTo>
                  <a:lnTo>
                    <a:pt x="102" y="42"/>
                  </a:lnTo>
                  <a:lnTo>
                    <a:pt x="96" y="42"/>
                  </a:lnTo>
                  <a:lnTo>
                    <a:pt x="96" y="36"/>
                  </a:lnTo>
                  <a:lnTo>
                    <a:pt x="96" y="30"/>
                  </a:lnTo>
                  <a:lnTo>
                    <a:pt x="96" y="24"/>
                  </a:lnTo>
                  <a:lnTo>
                    <a:pt x="96" y="18"/>
                  </a:lnTo>
                  <a:lnTo>
                    <a:pt x="96" y="12"/>
                  </a:lnTo>
                  <a:lnTo>
                    <a:pt x="96" y="6"/>
                  </a:lnTo>
                  <a:lnTo>
                    <a:pt x="102" y="0"/>
                  </a:lnTo>
                  <a:lnTo>
                    <a:pt x="102" y="6"/>
                  </a:lnTo>
                  <a:lnTo>
                    <a:pt x="108" y="6"/>
                  </a:lnTo>
                  <a:lnTo>
                    <a:pt x="114" y="6"/>
                  </a:lnTo>
                  <a:lnTo>
                    <a:pt x="120" y="6"/>
                  </a:lnTo>
                  <a:lnTo>
                    <a:pt x="126" y="12"/>
                  </a:lnTo>
                  <a:lnTo>
                    <a:pt x="120" y="18"/>
                  </a:lnTo>
                  <a:lnTo>
                    <a:pt x="126" y="18"/>
                  </a:lnTo>
                  <a:lnTo>
                    <a:pt x="120" y="18"/>
                  </a:lnTo>
                  <a:lnTo>
                    <a:pt x="126" y="18"/>
                  </a:lnTo>
                  <a:lnTo>
                    <a:pt x="120" y="24"/>
                  </a:lnTo>
                  <a:lnTo>
                    <a:pt x="126" y="24"/>
                  </a:lnTo>
                  <a:lnTo>
                    <a:pt x="150" y="24"/>
                  </a:lnTo>
                  <a:lnTo>
                    <a:pt x="162" y="24"/>
                  </a:lnTo>
                  <a:lnTo>
                    <a:pt x="174" y="30"/>
                  </a:lnTo>
                  <a:lnTo>
                    <a:pt x="180" y="30"/>
                  </a:lnTo>
                  <a:lnTo>
                    <a:pt x="192" y="42"/>
                  </a:lnTo>
                  <a:lnTo>
                    <a:pt x="216" y="54"/>
                  </a:lnTo>
                  <a:lnTo>
                    <a:pt x="240" y="72"/>
                  </a:lnTo>
                  <a:lnTo>
                    <a:pt x="246" y="78"/>
                  </a:lnTo>
                  <a:lnTo>
                    <a:pt x="258" y="96"/>
                  </a:lnTo>
                  <a:lnTo>
                    <a:pt x="252" y="108"/>
                  </a:lnTo>
                  <a:lnTo>
                    <a:pt x="264" y="144"/>
                  </a:lnTo>
                  <a:lnTo>
                    <a:pt x="264" y="150"/>
                  </a:lnTo>
                  <a:lnTo>
                    <a:pt x="270" y="156"/>
                  </a:lnTo>
                  <a:lnTo>
                    <a:pt x="276" y="162"/>
                  </a:lnTo>
                  <a:lnTo>
                    <a:pt x="270" y="168"/>
                  </a:lnTo>
                  <a:lnTo>
                    <a:pt x="282" y="174"/>
                  </a:lnTo>
                  <a:lnTo>
                    <a:pt x="288" y="174"/>
                  </a:lnTo>
                  <a:lnTo>
                    <a:pt x="294" y="174"/>
                  </a:lnTo>
                  <a:lnTo>
                    <a:pt x="294" y="180"/>
                  </a:lnTo>
                  <a:lnTo>
                    <a:pt x="300" y="210"/>
                  </a:lnTo>
                  <a:lnTo>
                    <a:pt x="306" y="240"/>
                  </a:lnTo>
                  <a:lnTo>
                    <a:pt x="312" y="246"/>
                  </a:lnTo>
                  <a:lnTo>
                    <a:pt x="330" y="246"/>
                  </a:lnTo>
                  <a:lnTo>
                    <a:pt x="360" y="252"/>
                  </a:lnTo>
                  <a:lnTo>
                    <a:pt x="360" y="258"/>
                  </a:lnTo>
                  <a:lnTo>
                    <a:pt x="366" y="258"/>
                  </a:lnTo>
                  <a:lnTo>
                    <a:pt x="372" y="276"/>
                  </a:lnTo>
                  <a:lnTo>
                    <a:pt x="372" y="288"/>
                  </a:lnTo>
                  <a:lnTo>
                    <a:pt x="384" y="306"/>
                  </a:lnTo>
                  <a:lnTo>
                    <a:pt x="396" y="312"/>
                  </a:lnTo>
                  <a:lnTo>
                    <a:pt x="402" y="342"/>
                  </a:lnTo>
                  <a:lnTo>
                    <a:pt x="408" y="366"/>
                  </a:lnTo>
                  <a:lnTo>
                    <a:pt x="402" y="366"/>
                  </a:lnTo>
                  <a:lnTo>
                    <a:pt x="402" y="372"/>
                  </a:lnTo>
                  <a:lnTo>
                    <a:pt x="396" y="372"/>
                  </a:lnTo>
                  <a:lnTo>
                    <a:pt x="390" y="372"/>
                  </a:lnTo>
                  <a:lnTo>
                    <a:pt x="390" y="378"/>
                  </a:lnTo>
                  <a:lnTo>
                    <a:pt x="384" y="378"/>
                  </a:lnTo>
                  <a:lnTo>
                    <a:pt x="384" y="384"/>
                  </a:lnTo>
                  <a:lnTo>
                    <a:pt x="378" y="384"/>
                  </a:lnTo>
                  <a:lnTo>
                    <a:pt x="378" y="390"/>
                  </a:lnTo>
                  <a:lnTo>
                    <a:pt x="378" y="384"/>
                  </a:lnTo>
                  <a:lnTo>
                    <a:pt x="372" y="384"/>
                  </a:lnTo>
                  <a:lnTo>
                    <a:pt x="348" y="396"/>
                  </a:lnTo>
                  <a:lnTo>
                    <a:pt x="348" y="402"/>
                  </a:lnTo>
                  <a:lnTo>
                    <a:pt x="354" y="402"/>
                  </a:lnTo>
                  <a:lnTo>
                    <a:pt x="354" y="408"/>
                  </a:lnTo>
                  <a:lnTo>
                    <a:pt x="348" y="414"/>
                  </a:lnTo>
                  <a:lnTo>
                    <a:pt x="348" y="420"/>
                  </a:lnTo>
                  <a:lnTo>
                    <a:pt x="348" y="426"/>
                  </a:lnTo>
                  <a:lnTo>
                    <a:pt x="354" y="432"/>
                  </a:lnTo>
                  <a:lnTo>
                    <a:pt x="354" y="438"/>
                  </a:lnTo>
                  <a:lnTo>
                    <a:pt x="354" y="444"/>
                  </a:lnTo>
                  <a:lnTo>
                    <a:pt x="360" y="450"/>
                  </a:lnTo>
                  <a:lnTo>
                    <a:pt x="354" y="450"/>
                  </a:lnTo>
                  <a:lnTo>
                    <a:pt x="354" y="456"/>
                  </a:lnTo>
                  <a:lnTo>
                    <a:pt x="360" y="456"/>
                  </a:lnTo>
                  <a:lnTo>
                    <a:pt x="360" y="462"/>
                  </a:lnTo>
                  <a:lnTo>
                    <a:pt x="360" y="456"/>
                  </a:lnTo>
                  <a:lnTo>
                    <a:pt x="366" y="456"/>
                  </a:lnTo>
                  <a:lnTo>
                    <a:pt x="366" y="462"/>
                  </a:lnTo>
                  <a:lnTo>
                    <a:pt x="360" y="474"/>
                  </a:lnTo>
                  <a:lnTo>
                    <a:pt x="354" y="468"/>
                  </a:lnTo>
                  <a:close/>
                </a:path>
              </a:pathLst>
            </a:custGeom>
            <a:solidFill>
              <a:schemeClr val="accent1"/>
            </a:solidFill>
            <a:ln w="9525">
              <a:solidFill>
                <a:srgbClr val="B2B2B2"/>
              </a:solidFill>
              <a:round/>
              <a:headEnd/>
              <a:tailEnd/>
            </a:ln>
          </p:spPr>
          <p:txBody>
            <a:bodyPr/>
            <a:lstStyle/>
            <a:p>
              <a:endParaRPr lang="en-CA"/>
            </a:p>
          </p:txBody>
        </p:sp>
        <p:sp>
          <p:nvSpPr>
            <p:cNvPr id="428" name="Freeform 487"/>
            <p:cNvSpPr>
              <a:spLocks/>
            </p:cNvSpPr>
            <p:nvPr>
              <p:custDataLst>
                <p:tags r:id="rId51"/>
              </p:custDataLst>
            </p:nvPr>
          </p:nvSpPr>
          <p:spPr bwMode="gray">
            <a:xfrm>
              <a:off x="1591" y="2972"/>
              <a:ext cx="194" cy="135"/>
            </a:xfrm>
            <a:custGeom>
              <a:avLst/>
              <a:gdLst>
                <a:gd name="T0" fmla="*/ 298447517 w 312"/>
                <a:gd name="T1" fmla="*/ 130113788 h 216"/>
                <a:gd name="T2" fmla="*/ 280890968 w 312"/>
                <a:gd name="T3" fmla="*/ 136028231 h 216"/>
                <a:gd name="T4" fmla="*/ 275039443 w 312"/>
                <a:gd name="T5" fmla="*/ 141941683 h 216"/>
                <a:gd name="T6" fmla="*/ 269187918 w 312"/>
                <a:gd name="T7" fmla="*/ 153770570 h 216"/>
                <a:gd name="T8" fmla="*/ 251632356 w 312"/>
                <a:gd name="T9" fmla="*/ 165599457 h 216"/>
                <a:gd name="T10" fmla="*/ 234075806 w 312"/>
                <a:gd name="T11" fmla="*/ 165599457 h 216"/>
                <a:gd name="T12" fmla="*/ 216520244 w 312"/>
                <a:gd name="T13" fmla="*/ 171512908 h 216"/>
                <a:gd name="T14" fmla="*/ 181409120 w 312"/>
                <a:gd name="T15" fmla="*/ 177427351 h 216"/>
                <a:gd name="T16" fmla="*/ 175557595 w 312"/>
                <a:gd name="T17" fmla="*/ 177427351 h 216"/>
                <a:gd name="T18" fmla="*/ 158001046 w 312"/>
                <a:gd name="T19" fmla="*/ 177427351 h 216"/>
                <a:gd name="T20" fmla="*/ 146297996 w 312"/>
                <a:gd name="T21" fmla="*/ 189256238 h 216"/>
                <a:gd name="T22" fmla="*/ 134593959 w 312"/>
                <a:gd name="T23" fmla="*/ 195170682 h 216"/>
                <a:gd name="T24" fmla="*/ 111185885 w 312"/>
                <a:gd name="T25" fmla="*/ 201084133 h 216"/>
                <a:gd name="T26" fmla="*/ 99482835 w 312"/>
                <a:gd name="T27" fmla="*/ 201084133 h 216"/>
                <a:gd name="T28" fmla="*/ 93630323 w 312"/>
                <a:gd name="T29" fmla="*/ 206998577 h 216"/>
                <a:gd name="T30" fmla="*/ 93630323 w 312"/>
                <a:gd name="T31" fmla="*/ 206998577 h 216"/>
                <a:gd name="T32" fmla="*/ 76074760 w 312"/>
                <a:gd name="T33" fmla="*/ 206998577 h 216"/>
                <a:gd name="T34" fmla="*/ 58519198 w 312"/>
                <a:gd name="T35" fmla="*/ 212913020 h 216"/>
                <a:gd name="T36" fmla="*/ 52666686 w 312"/>
                <a:gd name="T37" fmla="*/ 206998577 h 216"/>
                <a:gd name="T38" fmla="*/ 52666686 w 312"/>
                <a:gd name="T39" fmla="*/ 195170682 h 216"/>
                <a:gd name="T40" fmla="*/ 52666686 w 312"/>
                <a:gd name="T41" fmla="*/ 195170682 h 216"/>
                <a:gd name="T42" fmla="*/ 58519198 w 312"/>
                <a:gd name="T43" fmla="*/ 177427351 h 216"/>
                <a:gd name="T44" fmla="*/ 40963636 w 312"/>
                <a:gd name="T45" fmla="*/ 177427351 h 216"/>
                <a:gd name="T46" fmla="*/ 23408074 w 312"/>
                <a:gd name="T47" fmla="*/ 177427351 h 216"/>
                <a:gd name="T48" fmla="*/ 17555562 w 312"/>
                <a:gd name="T49" fmla="*/ 177427351 h 216"/>
                <a:gd name="T50" fmla="*/ 0 w 312"/>
                <a:gd name="T51" fmla="*/ 171512908 h 216"/>
                <a:gd name="T52" fmla="*/ 0 w 312"/>
                <a:gd name="T53" fmla="*/ 159685013 h 216"/>
                <a:gd name="T54" fmla="*/ 11704037 w 312"/>
                <a:gd name="T55" fmla="*/ 153770570 h 216"/>
                <a:gd name="T56" fmla="*/ 5851525 w 312"/>
                <a:gd name="T57" fmla="*/ 136028231 h 216"/>
                <a:gd name="T58" fmla="*/ 5851525 w 312"/>
                <a:gd name="T59" fmla="*/ 130113788 h 216"/>
                <a:gd name="T60" fmla="*/ 11704037 w 312"/>
                <a:gd name="T61" fmla="*/ 118284901 h 216"/>
                <a:gd name="T62" fmla="*/ 29259599 w 312"/>
                <a:gd name="T63" fmla="*/ 112370457 h 216"/>
                <a:gd name="T64" fmla="*/ 23408074 w 312"/>
                <a:gd name="T65" fmla="*/ 94628119 h 216"/>
                <a:gd name="T66" fmla="*/ 17555562 w 312"/>
                <a:gd name="T67" fmla="*/ 82799232 h 216"/>
                <a:gd name="T68" fmla="*/ 17555562 w 312"/>
                <a:gd name="T69" fmla="*/ 76884789 h 216"/>
                <a:gd name="T70" fmla="*/ 5851525 w 312"/>
                <a:gd name="T71" fmla="*/ 59142450 h 216"/>
                <a:gd name="T72" fmla="*/ 11704037 w 312"/>
                <a:gd name="T73" fmla="*/ 41400112 h 216"/>
                <a:gd name="T74" fmla="*/ 23408074 w 312"/>
                <a:gd name="T75" fmla="*/ 23656782 h 216"/>
                <a:gd name="T76" fmla="*/ 35111124 w 312"/>
                <a:gd name="T77" fmla="*/ 23656782 h 216"/>
                <a:gd name="T78" fmla="*/ 52666686 w 312"/>
                <a:gd name="T79" fmla="*/ 23656782 h 216"/>
                <a:gd name="T80" fmla="*/ 64370723 w 312"/>
                <a:gd name="T81" fmla="*/ 23656782 h 216"/>
                <a:gd name="T82" fmla="*/ 76074760 w 312"/>
                <a:gd name="T83" fmla="*/ 29571225 h 216"/>
                <a:gd name="T84" fmla="*/ 87778798 w 312"/>
                <a:gd name="T85" fmla="*/ 35485669 h 216"/>
                <a:gd name="T86" fmla="*/ 99482835 w 312"/>
                <a:gd name="T87" fmla="*/ 29571225 h 216"/>
                <a:gd name="T88" fmla="*/ 105334360 w 312"/>
                <a:gd name="T89" fmla="*/ 11828887 h 216"/>
                <a:gd name="T90" fmla="*/ 128741447 w 312"/>
                <a:gd name="T91" fmla="*/ 5914443 h 216"/>
                <a:gd name="T92" fmla="*/ 134593959 w 312"/>
                <a:gd name="T93" fmla="*/ 11828887 h 216"/>
                <a:gd name="T94" fmla="*/ 134593959 w 312"/>
                <a:gd name="T95" fmla="*/ 35485669 h 216"/>
                <a:gd name="T96" fmla="*/ 140445484 w 312"/>
                <a:gd name="T97" fmla="*/ 41400112 h 216"/>
                <a:gd name="T98" fmla="*/ 163853558 w 312"/>
                <a:gd name="T99" fmla="*/ 47313564 h 216"/>
                <a:gd name="T100" fmla="*/ 169705083 w 312"/>
                <a:gd name="T101" fmla="*/ 65056894 h 216"/>
                <a:gd name="T102" fmla="*/ 193113157 w 312"/>
                <a:gd name="T103" fmla="*/ 65056894 h 216"/>
                <a:gd name="T104" fmla="*/ 210668719 w 312"/>
                <a:gd name="T105" fmla="*/ 70971337 h 216"/>
                <a:gd name="T106" fmla="*/ 228224281 w 312"/>
                <a:gd name="T107" fmla="*/ 76884789 h 216"/>
                <a:gd name="T108" fmla="*/ 251632356 w 312"/>
                <a:gd name="T109" fmla="*/ 94628119 h 216"/>
                <a:gd name="T110" fmla="*/ 269187918 w 312"/>
                <a:gd name="T111" fmla="*/ 100542563 h 216"/>
                <a:gd name="T112" fmla="*/ 275039443 w 312"/>
                <a:gd name="T113" fmla="*/ 106457006 h 216"/>
                <a:gd name="T114" fmla="*/ 292595005 w 312"/>
                <a:gd name="T115" fmla="*/ 118284901 h 21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2"/>
                <a:gd name="T175" fmla="*/ 0 h 216"/>
                <a:gd name="T176" fmla="*/ 312 w 312"/>
                <a:gd name="T177" fmla="*/ 216 h 21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2" h="216">
                  <a:moveTo>
                    <a:pt x="306" y="126"/>
                  </a:moveTo>
                  <a:lnTo>
                    <a:pt x="312" y="126"/>
                  </a:lnTo>
                  <a:lnTo>
                    <a:pt x="306" y="126"/>
                  </a:lnTo>
                  <a:lnTo>
                    <a:pt x="306" y="132"/>
                  </a:lnTo>
                  <a:lnTo>
                    <a:pt x="306" y="138"/>
                  </a:lnTo>
                  <a:lnTo>
                    <a:pt x="300" y="138"/>
                  </a:lnTo>
                  <a:lnTo>
                    <a:pt x="294" y="138"/>
                  </a:lnTo>
                  <a:lnTo>
                    <a:pt x="288" y="138"/>
                  </a:lnTo>
                  <a:lnTo>
                    <a:pt x="282" y="138"/>
                  </a:lnTo>
                  <a:lnTo>
                    <a:pt x="288" y="138"/>
                  </a:lnTo>
                  <a:lnTo>
                    <a:pt x="288" y="144"/>
                  </a:lnTo>
                  <a:lnTo>
                    <a:pt x="282" y="144"/>
                  </a:lnTo>
                  <a:lnTo>
                    <a:pt x="288" y="144"/>
                  </a:lnTo>
                  <a:lnTo>
                    <a:pt x="288" y="150"/>
                  </a:lnTo>
                  <a:lnTo>
                    <a:pt x="288" y="156"/>
                  </a:lnTo>
                  <a:lnTo>
                    <a:pt x="276" y="156"/>
                  </a:lnTo>
                  <a:lnTo>
                    <a:pt x="270" y="156"/>
                  </a:lnTo>
                  <a:lnTo>
                    <a:pt x="264" y="162"/>
                  </a:lnTo>
                  <a:lnTo>
                    <a:pt x="258" y="162"/>
                  </a:lnTo>
                  <a:lnTo>
                    <a:pt x="258" y="168"/>
                  </a:lnTo>
                  <a:lnTo>
                    <a:pt x="252" y="162"/>
                  </a:lnTo>
                  <a:lnTo>
                    <a:pt x="246" y="162"/>
                  </a:lnTo>
                  <a:lnTo>
                    <a:pt x="246" y="168"/>
                  </a:lnTo>
                  <a:lnTo>
                    <a:pt x="240" y="168"/>
                  </a:lnTo>
                  <a:lnTo>
                    <a:pt x="234" y="168"/>
                  </a:lnTo>
                  <a:lnTo>
                    <a:pt x="228" y="168"/>
                  </a:lnTo>
                  <a:lnTo>
                    <a:pt x="222" y="168"/>
                  </a:lnTo>
                  <a:lnTo>
                    <a:pt x="222" y="174"/>
                  </a:lnTo>
                  <a:lnTo>
                    <a:pt x="216" y="174"/>
                  </a:lnTo>
                  <a:lnTo>
                    <a:pt x="204" y="180"/>
                  </a:lnTo>
                  <a:lnTo>
                    <a:pt x="192" y="180"/>
                  </a:lnTo>
                  <a:lnTo>
                    <a:pt x="186" y="180"/>
                  </a:lnTo>
                  <a:lnTo>
                    <a:pt x="186" y="186"/>
                  </a:lnTo>
                  <a:lnTo>
                    <a:pt x="180" y="180"/>
                  </a:lnTo>
                  <a:lnTo>
                    <a:pt x="186" y="174"/>
                  </a:lnTo>
                  <a:lnTo>
                    <a:pt x="180" y="180"/>
                  </a:lnTo>
                  <a:lnTo>
                    <a:pt x="174" y="180"/>
                  </a:lnTo>
                  <a:lnTo>
                    <a:pt x="174" y="186"/>
                  </a:lnTo>
                  <a:lnTo>
                    <a:pt x="168" y="180"/>
                  </a:lnTo>
                  <a:lnTo>
                    <a:pt x="162" y="180"/>
                  </a:lnTo>
                  <a:lnTo>
                    <a:pt x="162" y="186"/>
                  </a:lnTo>
                  <a:lnTo>
                    <a:pt x="156" y="186"/>
                  </a:lnTo>
                  <a:lnTo>
                    <a:pt x="150" y="186"/>
                  </a:lnTo>
                  <a:lnTo>
                    <a:pt x="150" y="192"/>
                  </a:lnTo>
                  <a:lnTo>
                    <a:pt x="150" y="198"/>
                  </a:lnTo>
                  <a:lnTo>
                    <a:pt x="150" y="204"/>
                  </a:lnTo>
                  <a:lnTo>
                    <a:pt x="144" y="204"/>
                  </a:lnTo>
                  <a:lnTo>
                    <a:pt x="138" y="198"/>
                  </a:lnTo>
                  <a:lnTo>
                    <a:pt x="132" y="198"/>
                  </a:lnTo>
                  <a:lnTo>
                    <a:pt x="126" y="204"/>
                  </a:lnTo>
                  <a:lnTo>
                    <a:pt x="120" y="204"/>
                  </a:lnTo>
                  <a:lnTo>
                    <a:pt x="114" y="204"/>
                  </a:lnTo>
                  <a:lnTo>
                    <a:pt x="108" y="204"/>
                  </a:lnTo>
                  <a:lnTo>
                    <a:pt x="102" y="204"/>
                  </a:lnTo>
                  <a:lnTo>
                    <a:pt x="102" y="210"/>
                  </a:lnTo>
                  <a:lnTo>
                    <a:pt x="102" y="204"/>
                  </a:lnTo>
                  <a:lnTo>
                    <a:pt x="102" y="210"/>
                  </a:lnTo>
                  <a:lnTo>
                    <a:pt x="96" y="210"/>
                  </a:lnTo>
                  <a:lnTo>
                    <a:pt x="96" y="204"/>
                  </a:lnTo>
                  <a:lnTo>
                    <a:pt x="96" y="210"/>
                  </a:lnTo>
                  <a:lnTo>
                    <a:pt x="90" y="210"/>
                  </a:lnTo>
                  <a:lnTo>
                    <a:pt x="96" y="210"/>
                  </a:lnTo>
                  <a:lnTo>
                    <a:pt x="90" y="210"/>
                  </a:lnTo>
                  <a:lnTo>
                    <a:pt x="96" y="210"/>
                  </a:lnTo>
                  <a:lnTo>
                    <a:pt x="96" y="216"/>
                  </a:lnTo>
                  <a:lnTo>
                    <a:pt x="90" y="216"/>
                  </a:lnTo>
                  <a:lnTo>
                    <a:pt x="84" y="210"/>
                  </a:lnTo>
                  <a:lnTo>
                    <a:pt x="78" y="210"/>
                  </a:lnTo>
                  <a:lnTo>
                    <a:pt x="78" y="216"/>
                  </a:lnTo>
                  <a:lnTo>
                    <a:pt x="72" y="216"/>
                  </a:lnTo>
                  <a:lnTo>
                    <a:pt x="66" y="216"/>
                  </a:lnTo>
                  <a:lnTo>
                    <a:pt x="60" y="216"/>
                  </a:lnTo>
                  <a:lnTo>
                    <a:pt x="60" y="210"/>
                  </a:lnTo>
                  <a:lnTo>
                    <a:pt x="60" y="216"/>
                  </a:lnTo>
                  <a:lnTo>
                    <a:pt x="60" y="210"/>
                  </a:lnTo>
                  <a:lnTo>
                    <a:pt x="54" y="210"/>
                  </a:lnTo>
                  <a:lnTo>
                    <a:pt x="54" y="204"/>
                  </a:lnTo>
                  <a:lnTo>
                    <a:pt x="48" y="204"/>
                  </a:lnTo>
                  <a:lnTo>
                    <a:pt x="54" y="204"/>
                  </a:lnTo>
                  <a:lnTo>
                    <a:pt x="54" y="198"/>
                  </a:lnTo>
                  <a:lnTo>
                    <a:pt x="54" y="204"/>
                  </a:lnTo>
                  <a:lnTo>
                    <a:pt x="54" y="198"/>
                  </a:lnTo>
                  <a:lnTo>
                    <a:pt x="54" y="192"/>
                  </a:lnTo>
                  <a:lnTo>
                    <a:pt x="54" y="198"/>
                  </a:lnTo>
                  <a:lnTo>
                    <a:pt x="54" y="192"/>
                  </a:lnTo>
                  <a:lnTo>
                    <a:pt x="60" y="192"/>
                  </a:lnTo>
                  <a:lnTo>
                    <a:pt x="60" y="186"/>
                  </a:lnTo>
                  <a:lnTo>
                    <a:pt x="60" y="180"/>
                  </a:lnTo>
                  <a:lnTo>
                    <a:pt x="54" y="180"/>
                  </a:lnTo>
                  <a:lnTo>
                    <a:pt x="48" y="180"/>
                  </a:lnTo>
                  <a:lnTo>
                    <a:pt x="48" y="174"/>
                  </a:lnTo>
                  <a:lnTo>
                    <a:pt x="42" y="180"/>
                  </a:lnTo>
                  <a:lnTo>
                    <a:pt x="36" y="180"/>
                  </a:lnTo>
                  <a:lnTo>
                    <a:pt x="30" y="186"/>
                  </a:lnTo>
                  <a:lnTo>
                    <a:pt x="30" y="180"/>
                  </a:lnTo>
                  <a:lnTo>
                    <a:pt x="24" y="180"/>
                  </a:lnTo>
                  <a:lnTo>
                    <a:pt x="30" y="174"/>
                  </a:lnTo>
                  <a:lnTo>
                    <a:pt x="24" y="174"/>
                  </a:lnTo>
                  <a:lnTo>
                    <a:pt x="18" y="174"/>
                  </a:lnTo>
                  <a:lnTo>
                    <a:pt x="18" y="180"/>
                  </a:lnTo>
                  <a:lnTo>
                    <a:pt x="12" y="180"/>
                  </a:lnTo>
                  <a:lnTo>
                    <a:pt x="6" y="180"/>
                  </a:lnTo>
                  <a:lnTo>
                    <a:pt x="6" y="174"/>
                  </a:lnTo>
                  <a:lnTo>
                    <a:pt x="0" y="174"/>
                  </a:lnTo>
                  <a:lnTo>
                    <a:pt x="6" y="174"/>
                  </a:lnTo>
                  <a:lnTo>
                    <a:pt x="6" y="168"/>
                  </a:lnTo>
                  <a:lnTo>
                    <a:pt x="6" y="162"/>
                  </a:lnTo>
                  <a:lnTo>
                    <a:pt x="0" y="162"/>
                  </a:lnTo>
                  <a:lnTo>
                    <a:pt x="0" y="156"/>
                  </a:lnTo>
                  <a:lnTo>
                    <a:pt x="0" y="150"/>
                  </a:lnTo>
                  <a:lnTo>
                    <a:pt x="6" y="150"/>
                  </a:lnTo>
                  <a:lnTo>
                    <a:pt x="12" y="156"/>
                  </a:lnTo>
                  <a:lnTo>
                    <a:pt x="12" y="150"/>
                  </a:lnTo>
                  <a:lnTo>
                    <a:pt x="12" y="144"/>
                  </a:lnTo>
                  <a:lnTo>
                    <a:pt x="12" y="138"/>
                  </a:lnTo>
                  <a:lnTo>
                    <a:pt x="6" y="138"/>
                  </a:lnTo>
                  <a:lnTo>
                    <a:pt x="6" y="132"/>
                  </a:lnTo>
                  <a:lnTo>
                    <a:pt x="0" y="132"/>
                  </a:lnTo>
                  <a:lnTo>
                    <a:pt x="6" y="126"/>
                  </a:lnTo>
                  <a:lnTo>
                    <a:pt x="6" y="132"/>
                  </a:lnTo>
                  <a:lnTo>
                    <a:pt x="6" y="126"/>
                  </a:lnTo>
                  <a:lnTo>
                    <a:pt x="12" y="126"/>
                  </a:lnTo>
                  <a:lnTo>
                    <a:pt x="6" y="120"/>
                  </a:lnTo>
                  <a:lnTo>
                    <a:pt x="12" y="120"/>
                  </a:lnTo>
                  <a:lnTo>
                    <a:pt x="18" y="120"/>
                  </a:lnTo>
                  <a:lnTo>
                    <a:pt x="24" y="120"/>
                  </a:lnTo>
                  <a:lnTo>
                    <a:pt x="24" y="114"/>
                  </a:lnTo>
                  <a:lnTo>
                    <a:pt x="30" y="114"/>
                  </a:lnTo>
                  <a:lnTo>
                    <a:pt x="30" y="108"/>
                  </a:lnTo>
                  <a:lnTo>
                    <a:pt x="24" y="108"/>
                  </a:lnTo>
                  <a:lnTo>
                    <a:pt x="24" y="102"/>
                  </a:lnTo>
                  <a:lnTo>
                    <a:pt x="24" y="96"/>
                  </a:lnTo>
                  <a:lnTo>
                    <a:pt x="24" y="90"/>
                  </a:lnTo>
                  <a:lnTo>
                    <a:pt x="18" y="90"/>
                  </a:lnTo>
                  <a:lnTo>
                    <a:pt x="24" y="84"/>
                  </a:lnTo>
                  <a:lnTo>
                    <a:pt x="18" y="84"/>
                  </a:lnTo>
                  <a:lnTo>
                    <a:pt x="18" y="90"/>
                  </a:lnTo>
                  <a:lnTo>
                    <a:pt x="12" y="84"/>
                  </a:lnTo>
                  <a:lnTo>
                    <a:pt x="18" y="84"/>
                  </a:lnTo>
                  <a:lnTo>
                    <a:pt x="18" y="78"/>
                  </a:lnTo>
                  <a:lnTo>
                    <a:pt x="12" y="78"/>
                  </a:lnTo>
                  <a:lnTo>
                    <a:pt x="12" y="72"/>
                  </a:lnTo>
                  <a:lnTo>
                    <a:pt x="6" y="66"/>
                  </a:lnTo>
                  <a:lnTo>
                    <a:pt x="6" y="60"/>
                  </a:lnTo>
                  <a:lnTo>
                    <a:pt x="6" y="54"/>
                  </a:lnTo>
                  <a:lnTo>
                    <a:pt x="6" y="48"/>
                  </a:lnTo>
                  <a:lnTo>
                    <a:pt x="12" y="48"/>
                  </a:lnTo>
                  <a:lnTo>
                    <a:pt x="12" y="42"/>
                  </a:lnTo>
                  <a:lnTo>
                    <a:pt x="12" y="36"/>
                  </a:lnTo>
                  <a:lnTo>
                    <a:pt x="18" y="36"/>
                  </a:lnTo>
                  <a:lnTo>
                    <a:pt x="18" y="30"/>
                  </a:lnTo>
                  <a:lnTo>
                    <a:pt x="24" y="24"/>
                  </a:lnTo>
                  <a:lnTo>
                    <a:pt x="30" y="24"/>
                  </a:lnTo>
                  <a:lnTo>
                    <a:pt x="30" y="30"/>
                  </a:lnTo>
                  <a:lnTo>
                    <a:pt x="36" y="30"/>
                  </a:lnTo>
                  <a:lnTo>
                    <a:pt x="36" y="24"/>
                  </a:lnTo>
                  <a:lnTo>
                    <a:pt x="42" y="30"/>
                  </a:lnTo>
                  <a:lnTo>
                    <a:pt x="42" y="24"/>
                  </a:lnTo>
                  <a:lnTo>
                    <a:pt x="48" y="24"/>
                  </a:lnTo>
                  <a:lnTo>
                    <a:pt x="54" y="24"/>
                  </a:lnTo>
                  <a:lnTo>
                    <a:pt x="60" y="24"/>
                  </a:lnTo>
                  <a:lnTo>
                    <a:pt x="60" y="30"/>
                  </a:lnTo>
                  <a:lnTo>
                    <a:pt x="66" y="30"/>
                  </a:lnTo>
                  <a:lnTo>
                    <a:pt x="66" y="24"/>
                  </a:lnTo>
                  <a:lnTo>
                    <a:pt x="72" y="24"/>
                  </a:lnTo>
                  <a:lnTo>
                    <a:pt x="78" y="30"/>
                  </a:lnTo>
                  <a:lnTo>
                    <a:pt x="84" y="30"/>
                  </a:lnTo>
                  <a:lnTo>
                    <a:pt x="78" y="30"/>
                  </a:lnTo>
                  <a:lnTo>
                    <a:pt x="84" y="30"/>
                  </a:lnTo>
                  <a:lnTo>
                    <a:pt x="84" y="36"/>
                  </a:lnTo>
                  <a:lnTo>
                    <a:pt x="90" y="30"/>
                  </a:lnTo>
                  <a:lnTo>
                    <a:pt x="90" y="36"/>
                  </a:lnTo>
                  <a:lnTo>
                    <a:pt x="96" y="30"/>
                  </a:lnTo>
                  <a:lnTo>
                    <a:pt x="96" y="36"/>
                  </a:lnTo>
                  <a:lnTo>
                    <a:pt x="102" y="36"/>
                  </a:lnTo>
                  <a:lnTo>
                    <a:pt x="102" y="30"/>
                  </a:lnTo>
                  <a:lnTo>
                    <a:pt x="102" y="24"/>
                  </a:lnTo>
                  <a:lnTo>
                    <a:pt x="108" y="24"/>
                  </a:lnTo>
                  <a:lnTo>
                    <a:pt x="108" y="18"/>
                  </a:lnTo>
                  <a:lnTo>
                    <a:pt x="108" y="12"/>
                  </a:lnTo>
                  <a:lnTo>
                    <a:pt x="114" y="12"/>
                  </a:lnTo>
                  <a:lnTo>
                    <a:pt x="120" y="6"/>
                  </a:lnTo>
                  <a:lnTo>
                    <a:pt x="126" y="6"/>
                  </a:lnTo>
                  <a:lnTo>
                    <a:pt x="132" y="6"/>
                  </a:lnTo>
                  <a:lnTo>
                    <a:pt x="132" y="0"/>
                  </a:lnTo>
                  <a:lnTo>
                    <a:pt x="132" y="6"/>
                  </a:lnTo>
                  <a:lnTo>
                    <a:pt x="138" y="6"/>
                  </a:lnTo>
                  <a:lnTo>
                    <a:pt x="138" y="12"/>
                  </a:lnTo>
                  <a:lnTo>
                    <a:pt x="138" y="18"/>
                  </a:lnTo>
                  <a:lnTo>
                    <a:pt x="138" y="24"/>
                  </a:lnTo>
                  <a:lnTo>
                    <a:pt x="138" y="30"/>
                  </a:lnTo>
                  <a:lnTo>
                    <a:pt x="138" y="36"/>
                  </a:lnTo>
                  <a:lnTo>
                    <a:pt x="144" y="36"/>
                  </a:lnTo>
                  <a:lnTo>
                    <a:pt x="144" y="42"/>
                  </a:lnTo>
                  <a:lnTo>
                    <a:pt x="150" y="42"/>
                  </a:lnTo>
                  <a:lnTo>
                    <a:pt x="144" y="42"/>
                  </a:lnTo>
                  <a:lnTo>
                    <a:pt x="144" y="48"/>
                  </a:lnTo>
                  <a:lnTo>
                    <a:pt x="150" y="48"/>
                  </a:lnTo>
                  <a:lnTo>
                    <a:pt x="156" y="48"/>
                  </a:lnTo>
                  <a:lnTo>
                    <a:pt x="168" y="48"/>
                  </a:lnTo>
                  <a:lnTo>
                    <a:pt x="168" y="54"/>
                  </a:lnTo>
                  <a:lnTo>
                    <a:pt x="174" y="54"/>
                  </a:lnTo>
                  <a:lnTo>
                    <a:pt x="174" y="60"/>
                  </a:lnTo>
                  <a:lnTo>
                    <a:pt x="174" y="66"/>
                  </a:lnTo>
                  <a:lnTo>
                    <a:pt x="186" y="72"/>
                  </a:lnTo>
                  <a:lnTo>
                    <a:pt x="192" y="72"/>
                  </a:lnTo>
                  <a:lnTo>
                    <a:pt x="192" y="66"/>
                  </a:lnTo>
                  <a:lnTo>
                    <a:pt x="198" y="66"/>
                  </a:lnTo>
                  <a:lnTo>
                    <a:pt x="204" y="78"/>
                  </a:lnTo>
                  <a:lnTo>
                    <a:pt x="216" y="72"/>
                  </a:lnTo>
                  <a:lnTo>
                    <a:pt x="216" y="66"/>
                  </a:lnTo>
                  <a:lnTo>
                    <a:pt x="216" y="72"/>
                  </a:lnTo>
                  <a:lnTo>
                    <a:pt x="222" y="72"/>
                  </a:lnTo>
                  <a:lnTo>
                    <a:pt x="228" y="72"/>
                  </a:lnTo>
                  <a:lnTo>
                    <a:pt x="228" y="78"/>
                  </a:lnTo>
                  <a:lnTo>
                    <a:pt x="234" y="78"/>
                  </a:lnTo>
                  <a:lnTo>
                    <a:pt x="246" y="78"/>
                  </a:lnTo>
                  <a:lnTo>
                    <a:pt x="246" y="84"/>
                  </a:lnTo>
                  <a:lnTo>
                    <a:pt x="252" y="96"/>
                  </a:lnTo>
                  <a:lnTo>
                    <a:pt x="258" y="96"/>
                  </a:lnTo>
                  <a:lnTo>
                    <a:pt x="264" y="96"/>
                  </a:lnTo>
                  <a:lnTo>
                    <a:pt x="270" y="96"/>
                  </a:lnTo>
                  <a:lnTo>
                    <a:pt x="270" y="102"/>
                  </a:lnTo>
                  <a:lnTo>
                    <a:pt x="276" y="102"/>
                  </a:lnTo>
                  <a:lnTo>
                    <a:pt x="276" y="96"/>
                  </a:lnTo>
                  <a:lnTo>
                    <a:pt x="282" y="96"/>
                  </a:lnTo>
                  <a:lnTo>
                    <a:pt x="282" y="102"/>
                  </a:lnTo>
                  <a:lnTo>
                    <a:pt x="282" y="108"/>
                  </a:lnTo>
                  <a:lnTo>
                    <a:pt x="288" y="108"/>
                  </a:lnTo>
                  <a:lnTo>
                    <a:pt x="288" y="114"/>
                  </a:lnTo>
                  <a:lnTo>
                    <a:pt x="294" y="114"/>
                  </a:lnTo>
                  <a:lnTo>
                    <a:pt x="300" y="120"/>
                  </a:lnTo>
                  <a:lnTo>
                    <a:pt x="306" y="120"/>
                  </a:lnTo>
                  <a:lnTo>
                    <a:pt x="306" y="126"/>
                  </a:lnTo>
                  <a:close/>
                </a:path>
              </a:pathLst>
            </a:custGeom>
            <a:solidFill>
              <a:schemeClr val="accent1"/>
            </a:solidFill>
            <a:ln w="9525">
              <a:solidFill>
                <a:srgbClr val="B2B2B2"/>
              </a:solidFill>
              <a:round/>
              <a:headEnd/>
              <a:tailEnd/>
            </a:ln>
          </p:spPr>
          <p:txBody>
            <a:bodyPr/>
            <a:lstStyle/>
            <a:p>
              <a:endParaRPr lang="en-CA"/>
            </a:p>
          </p:txBody>
        </p:sp>
        <p:sp>
          <p:nvSpPr>
            <p:cNvPr id="429" name="Freeform 488"/>
            <p:cNvSpPr>
              <a:spLocks/>
            </p:cNvSpPr>
            <p:nvPr>
              <p:custDataLst>
                <p:tags r:id="rId52"/>
              </p:custDataLst>
            </p:nvPr>
          </p:nvSpPr>
          <p:spPr bwMode="gray">
            <a:xfrm>
              <a:off x="1341" y="2990"/>
              <a:ext cx="194" cy="241"/>
            </a:xfrm>
            <a:custGeom>
              <a:avLst/>
              <a:gdLst>
                <a:gd name="T0" fmla="*/ 245779844 w 312"/>
                <a:gd name="T1" fmla="*/ 332287641 h 384"/>
                <a:gd name="T2" fmla="*/ 239928319 w 312"/>
                <a:gd name="T3" fmla="*/ 361956145 h 384"/>
                <a:gd name="T4" fmla="*/ 210668719 w 312"/>
                <a:gd name="T5" fmla="*/ 361956145 h 384"/>
                <a:gd name="T6" fmla="*/ 187260645 w 312"/>
                <a:gd name="T7" fmla="*/ 367890244 h 384"/>
                <a:gd name="T8" fmla="*/ 163853558 w 312"/>
                <a:gd name="T9" fmla="*/ 367890244 h 384"/>
                <a:gd name="T10" fmla="*/ 158001046 w 312"/>
                <a:gd name="T11" fmla="*/ 361956145 h 384"/>
                <a:gd name="T12" fmla="*/ 146297996 w 312"/>
                <a:gd name="T13" fmla="*/ 338221741 h 384"/>
                <a:gd name="T14" fmla="*/ 134593959 w 312"/>
                <a:gd name="T15" fmla="*/ 338221741 h 384"/>
                <a:gd name="T16" fmla="*/ 146297996 w 312"/>
                <a:gd name="T17" fmla="*/ 320420439 h 384"/>
                <a:gd name="T18" fmla="*/ 140445484 w 312"/>
                <a:gd name="T19" fmla="*/ 308553237 h 384"/>
                <a:gd name="T20" fmla="*/ 122889922 w 312"/>
                <a:gd name="T21" fmla="*/ 308553237 h 384"/>
                <a:gd name="T22" fmla="*/ 117038397 w 312"/>
                <a:gd name="T23" fmla="*/ 320420439 h 384"/>
                <a:gd name="T24" fmla="*/ 105334360 w 312"/>
                <a:gd name="T25" fmla="*/ 314486340 h 384"/>
                <a:gd name="T26" fmla="*/ 93630323 w 312"/>
                <a:gd name="T27" fmla="*/ 296685038 h 384"/>
                <a:gd name="T28" fmla="*/ 93630323 w 312"/>
                <a:gd name="T29" fmla="*/ 290751935 h 384"/>
                <a:gd name="T30" fmla="*/ 76074760 w 312"/>
                <a:gd name="T31" fmla="*/ 267016534 h 384"/>
                <a:gd name="T32" fmla="*/ 58519198 w 312"/>
                <a:gd name="T33" fmla="*/ 255149332 h 384"/>
                <a:gd name="T34" fmla="*/ 40963636 w 312"/>
                <a:gd name="T35" fmla="*/ 243282130 h 384"/>
                <a:gd name="T36" fmla="*/ 17555562 w 312"/>
                <a:gd name="T37" fmla="*/ 207679527 h 384"/>
                <a:gd name="T38" fmla="*/ 11704037 w 312"/>
                <a:gd name="T39" fmla="*/ 172077920 h 384"/>
                <a:gd name="T40" fmla="*/ 11704037 w 312"/>
                <a:gd name="T41" fmla="*/ 154276618 h 384"/>
                <a:gd name="T42" fmla="*/ 11704037 w 312"/>
                <a:gd name="T43" fmla="*/ 130541218 h 384"/>
                <a:gd name="T44" fmla="*/ 5851525 w 312"/>
                <a:gd name="T45" fmla="*/ 106806813 h 384"/>
                <a:gd name="T46" fmla="*/ 17555562 w 312"/>
                <a:gd name="T47" fmla="*/ 100872714 h 384"/>
                <a:gd name="T48" fmla="*/ 35111124 w 312"/>
                <a:gd name="T49" fmla="*/ 77138309 h 384"/>
                <a:gd name="T50" fmla="*/ 35111124 w 312"/>
                <a:gd name="T51" fmla="*/ 59337008 h 384"/>
                <a:gd name="T52" fmla="*/ 29259599 w 312"/>
                <a:gd name="T53" fmla="*/ 41535706 h 384"/>
                <a:gd name="T54" fmla="*/ 46815161 w 312"/>
                <a:gd name="T55" fmla="*/ 23734405 h 384"/>
                <a:gd name="T56" fmla="*/ 64370723 w 312"/>
                <a:gd name="T57" fmla="*/ 0 h 384"/>
                <a:gd name="T58" fmla="*/ 87778798 w 312"/>
                <a:gd name="T59" fmla="*/ 11867202 h 384"/>
                <a:gd name="T60" fmla="*/ 99482835 w 312"/>
                <a:gd name="T61" fmla="*/ 17801302 h 384"/>
                <a:gd name="T62" fmla="*/ 128741447 w 312"/>
                <a:gd name="T63" fmla="*/ 11867202 h 384"/>
                <a:gd name="T64" fmla="*/ 152149521 w 312"/>
                <a:gd name="T65" fmla="*/ 11867202 h 384"/>
                <a:gd name="T66" fmla="*/ 163853558 w 312"/>
                <a:gd name="T67" fmla="*/ 35602603 h 384"/>
                <a:gd name="T68" fmla="*/ 187260645 w 312"/>
                <a:gd name="T69" fmla="*/ 17801302 h 384"/>
                <a:gd name="T70" fmla="*/ 204816207 w 312"/>
                <a:gd name="T71" fmla="*/ 29668504 h 384"/>
                <a:gd name="T72" fmla="*/ 228224281 w 312"/>
                <a:gd name="T73" fmla="*/ 35602603 h 384"/>
                <a:gd name="T74" fmla="*/ 245779844 w 312"/>
                <a:gd name="T75" fmla="*/ 35602603 h 384"/>
                <a:gd name="T76" fmla="*/ 275039443 w 312"/>
                <a:gd name="T77" fmla="*/ 29668504 h 384"/>
                <a:gd name="T78" fmla="*/ 269187918 w 312"/>
                <a:gd name="T79" fmla="*/ 59337008 h 384"/>
                <a:gd name="T80" fmla="*/ 275039443 w 312"/>
                <a:gd name="T81" fmla="*/ 71204210 h 384"/>
                <a:gd name="T82" fmla="*/ 280890968 w 312"/>
                <a:gd name="T83" fmla="*/ 83072408 h 384"/>
                <a:gd name="T84" fmla="*/ 263335406 w 312"/>
                <a:gd name="T85" fmla="*/ 94939611 h 384"/>
                <a:gd name="T86" fmla="*/ 245779844 w 312"/>
                <a:gd name="T87" fmla="*/ 100872714 h 384"/>
                <a:gd name="T88" fmla="*/ 245779844 w 312"/>
                <a:gd name="T89" fmla="*/ 112740912 h 384"/>
                <a:gd name="T90" fmla="*/ 239928319 w 312"/>
                <a:gd name="T91" fmla="*/ 118674015 h 384"/>
                <a:gd name="T92" fmla="*/ 222372756 w 312"/>
                <a:gd name="T93" fmla="*/ 112740912 h 384"/>
                <a:gd name="T94" fmla="*/ 216520244 w 312"/>
                <a:gd name="T95" fmla="*/ 124608115 h 384"/>
                <a:gd name="T96" fmla="*/ 222372756 w 312"/>
                <a:gd name="T97" fmla="*/ 106806813 h 384"/>
                <a:gd name="T98" fmla="*/ 193113157 w 312"/>
                <a:gd name="T99" fmla="*/ 94939611 h 384"/>
                <a:gd name="T100" fmla="*/ 181409120 w 312"/>
                <a:gd name="T101" fmla="*/ 112740912 h 384"/>
                <a:gd name="T102" fmla="*/ 181409120 w 312"/>
                <a:gd name="T103" fmla="*/ 136475317 h 384"/>
                <a:gd name="T104" fmla="*/ 204816207 w 312"/>
                <a:gd name="T105" fmla="*/ 154276618 h 384"/>
                <a:gd name="T106" fmla="*/ 234075806 w 312"/>
                <a:gd name="T107" fmla="*/ 160209721 h 384"/>
                <a:gd name="T108" fmla="*/ 275039443 w 312"/>
                <a:gd name="T109" fmla="*/ 148342519 h 384"/>
                <a:gd name="T110" fmla="*/ 292595005 w 312"/>
                <a:gd name="T111" fmla="*/ 136475317 h 384"/>
                <a:gd name="T112" fmla="*/ 298447517 w 312"/>
                <a:gd name="T113" fmla="*/ 154276618 h 384"/>
                <a:gd name="T114" fmla="*/ 286743480 w 312"/>
                <a:gd name="T115" fmla="*/ 172077920 h 384"/>
                <a:gd name="T116" fmla="*/ 275039443 w 312"/>
                <a:gd name="T117" fmla="*/ 189879221 h 384"/>
                <a:gd name="T118" fmla="*/ 257483881 w 312"/>
                <a:gd name="T119" fmla="*/ 213613626 h 384"/>
                <a:gd name="T120" fmla="*/ 257483881 w 312"/>
                <a:gd name="T121" fmla="*/ 237348031 h 384"/>
                <a:gd name="T122" fmla="*/ 257483881 w 312"/>
                <a:gd name="T123" fmla="*/ 272950634 h 384"/>
                <a:gd name="T124" fmla="*/ 251632356 w 312"/>
                <a:gd name="T125" fmla="*/ 296685038 h 38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2"/>
                <a:gd name="T190" fmla="*/ 0 h 384"/>
                <a:gd name="T191" fmla="*/ 312 w 312"/>
                <a:gd name="T192" fmla="*/ 384 h 38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2" h="384">
                  <a:moveTo>
                    <a:pt x="258" y="324"/>
                  </a:moveTo>
                  <a:lnTo>
                    <a:pt x="258" y="330"/>
                  </a:lnTo>
                  <a:lnTo>
                    <a:pt x="264" y="330"/>
                  </a:lnTo>
                  <a:lnTo>
                    <a:pt x="264" y="336"/>
                  </a:lnTo>
                  <a:lnTo>
                    <a:pt x="252" y="336"/>
                  </a:lnTo>
                  <a:lnTo>
                    <a:pt x="252" y="330"/>
                  </a:lnTo>
                  <a:lnTo>
                    <a:pt x="252" y="336"/>
                  </a:lnTo>
                  <a:lnTo>
                    <a:pt x="252" y="342"/>
                  </a:lnTo>
                  <a:lnTo>
                    <a:pt x="246" y="342"/>
                  </a:lnTo>
                  <a:lnTo>
                    <a:pt x="252" y="342"/>
                  </a:lnTo>
                  <a:lnTo>
                    <a:pt x="252" y="348"/>
                  </a:lnTo>
                  <a:lnTo>
                    <a:pt x="252" y="354"/>
                  </a:lnTo>
                  <a:lnTo>
                    <a:pt x="252" y="360"/>
                  </a:lnTo>
                  <a:lnTo>
                    <a:pt x="246" y="366"/>
                  </a:lnTo>
                  <a:lnTo>
                    <a:pt x="246" y="372"/>
                  </a:lnTo>
                  <a:lnTo>
                    <a:pt x="240" y="372"/>
                  </a:lnTo>
                  <a:lnTo>
                    <a:pt x="234" y="372"/>
                  </a:lnTo>
                  <a:lnTo>
                    <a:pt x="228" y="372"/>
                  </a:lnTo>
                  <a:lnTo>
                    <a:pt x="222" y="372"/>
                  </a:lnTo>
                  <a:lnTo>
                    <a:pt x="216" y="372"/>
                  </a:lnTo>
                  <a:lnTo>
                    <a:pt x="216" y="366"/>
                  </a:lnTo>
                  <a:lnTo>
                    <a:pt x="210" y="366"/>
                  </a:lnTo>
                  <a:lnTo>
                    <a:pt x="204" y="366"/>
                  </a:lnTo>
                  <a:lnTo>
                    <a:pt x="204" y="372"/>
                  </a:lnTo>
                  <a:lnTo>
                    <a:pt x="198" y="372"/>
                  </a:lnTo>
                  <a:lnTo>
                    <a:pt x="198" y="378"/>
                  </a:lnTo>
                  <a:lnTo>
                    <a:pt x="198" y="372"/>
                  </a:lnTo>
                  <a:lnTo>
                    <a:pt x="192" y="372"/>
                  </a:lnTo>
                  <a:lnTo>
                    <a:pt x="192" y="378"/>
                  </a:lnTo>
                  <a:lnTo>
                    <a:pt x="186" y="384"/>
                  </a:lnTo>
                  <a:lnTo>
                    <a:pt x="180" y="384"/>
                  </a:lnTo>
                  <a:lnTo>
                    <a:pt x="180" y="378"/>
                  </a:lnTo>
                  <a:lnTo>
                    <a:pt x="174" y="378"/>
                  </a:lnTo>
                  <a:lnTo>
                    <a:pt x="174" y="372"/>
                  </a:lnTo>
                  <a:lnTo>
                    <a:pt x="168" y="372"/>
                  </a:lnTo>
                  <a:lnTo>
                    <a:pt x="162" y="372"/>
                  </a:lnTo>
                  <a:lnTo>
                    <a:pt x="168" y="378"/>
                  </a:lnTo>
                  <a:lnTo>
                    <a:pt x="168" y="384"/>
                  </a:lnTo>
                  <a:lnTo>
                    <a:pt x="162" y="384"/>
                  </a:lnTo>
                  <a:lnTo>
                    <a:pt x="162" y="378"/>
                  </a:lnTo>
                  <a:lnTo>
                    <a:pt x="162" y="372"/>
                  </a:lnTo>
                  <a:lnTo>
                    <a:pt x="162" y="366"/>
                  </a:lnTo>
                  <a:lnTo>
                    <a:pt x="156" y="366"/>
                  </a:lnTo>
                  <a:lnTo>
                    <a:pt x="156" y="360"/>
                  </a:lnTo>
                  <a:lnTo>
                    <a:pt x="162" y="360"/>
                  </a:lnTo>
                  <a:lnTo>
                    <a:pt x="156" y="354"/>
                  </a:lnTo>
                  <a:lnTo>
                    <a:pt x="162" y="348"/>
                  </a:lnTo>
                  <a:lnTo>
                    <a:pt x="156" y="348"/>
                  </a:lnTo>
                  <a:lnTo>
                    <a:pt x="150" y="342"/>
                  </a:lnTo>
                  <a:lnTo>
                    <a:pt x="144" y="342"/>
                  </a:lnTo>
                  <a:lnTo>
                    <a:pt x="150" y="342"/>
                  </a:lnTo>
                  <a:lnTo>
                    <a:pt x="150" y="336"/>
                  </a:lnTo>
                  <a:lnTo>
                    <a:pt x="150" y="342"/>
                  </a:lnTo>
                  <a:lnTo>
                    <a:pt x="144" y="342"/>
                  </a:lnTo>
                  <a:lnTo>
                    <a:pt x="138" y="348"/>
                  </a:lnTo>
                  <a:lnTo>
                    <a:pt x="138" y="342"/>
                  </a:lnTo>
                  <a:lnTo>
                    <a:pt x="138" y="336"/>
                  </a:lnTo>
                  <a:lnTo>
                    <a:pt x="138" y="342"/>
                  </a:lnTo>
                  <a:lnTo>
                    <a:pt x="144" y="336"/>
                  </a:lnTo>
                  <a:lnTo>
                    <a:pt x="138" y="336"/>
                  </a:lnTo>
                  <a:lnTo>
                    <a:pt x="144" y="336"/>
                  </a:lnTo>
                  <a:lnTo>
                    <a:pt x="150" y="330"/>
                  </a:lnTo>
                  <a:lnTo>
                    <a:pt x="150" y="324"/>
                  </a:lnTo>
                  <a:lnTo>
                    <a:pt x="150" y="318"/>
                  </a:lnTo>
                  <a:lnTo>
                    <a:pt x="150" y="324"/>
                  </a:lnTo>
                  <a:lnTo>
                    <a:pt x="144" y="324"/>
                  </a:lnTo>
                  <a:lnTo>
                    <a:pt x="144" y="318"/>
                  </a:lnTo>
                  <a:lnTo>
                    <a:pt x="144" y="312"/>
                  </a:lnTo>
                  <a:lnTo>
                    <a:pt x="150" y="312"/>
                  </a:lnTo>
                  <a:lnTo>
                    <a:pt x="144" y="312"/>
                  </a:lnTo>
                  <a:lnTo>
                    <a:pt x="138" y="312"/>
                  </a:lnTo>
                  <a:lnTo>
                    <a:pt x="138" y="306"/>
                  </a:lnTo>
                  <a:lnTo>
                    <a:pt x="132" y="306"/>
                  </a:lnTo>
                  <a:lnTo>
                    <a:pt x="132" y="312"/>
                  </a:lnTo>
                  <a:lnTo>
                    <a:pt x="126" y="312"/>
                  </a:lnTo>
                  <a:lnTo>
                    <a:pt x="126" y="318"/>
                  </a:lnTo>
                  <a:lnTo>
                    <a:pt x="126" y="312"/>
                  </a:lnTo>
                  <a:lnTo>
                    <a:pt x="120" y="312"/>
                  </a:lnTo>
                  <a:lnTo>
                    <a:pt x="120" y="318"/>
                  </a:lnTo>
                  <a:lnTo>
                    <a:pt x="120" y="324"/>
                  </a:lnTo>
                  <a:lnTo>
                    <a:pt x="126" y="324"/>
                  </a:lnTo>
                  <a:lnTo>
                    <a:pt x="120" y="324"/>
                  </a:lnTo>
                  <a:lnTo>
                    <a:pt x="120" y="330"/>
                  </a:lnTo>
                  <a:lnTo>
                    <a:pt x="120" y="324"/>
                  </a:lnTo>
                  <a:lnTo>
                    <a:pt x="120" y="330"/>
                  </a:lnTo>
                  <a:lnTo>
                    <a:pt x="114" y="330"/>
                  </a:lnTo>
                  <a:lnTo>
                    <a:pt x="114" y="324"/>
                  </a:lnTo>
                  <a:lnTo>
                    <a:pt x="114" y="330"/>
                  </a:lnTo>
                  <a:lnTo>
                    <a:pt x="114" y="324"/>
                  </a:lnTo>
                  <a:lnTo>
                    <a:pt x="108" y="324"/>
                  </a:lnTo>
                  <a:lnTo>
                    <a:pt x="108" y="318"/>
                  </a:lnTo>
                  <a:lnTo>
                    <a:pt x="102" y="318"/>
                  </a:lnTo>
                  <a:lnTo>
                    <a:pt x="102" y="312"/>
                  </a:lnTo>
                  <a:lnTo>
                    <a:pt x="108" y="312"/>
                  </a:lnTo>
                  <a:lnTo>
                    <a:pt x="102" y="312"/>
                  </a:lnTo>
                  <a:lnTo>
                    <a:pt x="102" y="306"/>
                  </a:lnTo>
                  <a:lnTo>
                    <a:pt x="96" y="306"/>
                  </a:lnTo>
                  <a:lnTo>
                    <a:pt x="96" y="300"/>
                  </a:lnTo>
                  <a:lnTo>
                    <a:pt x="90" y="300"/>
                  </a:lnTo>
                  <a:lnTo>
                    <a:pt x="96" y="300"/>
                  </a:lnTo>
                  <a:lnTo>
                    <a:pt x="102" y="306"/>
                  </a:lnTo>
                  <a:lnTo>
                    <a:pt x="102" y="300"/>
                  </a:lnTo>
                  <a:lnTo>
                    <a:pt x="96" y="300"/>
                  </a:lnTo>
                  <a:lnTo>
                    <a:pt x="102" y="294"/>
                  </a:lnTo>
                  <a:lnTo>
                    <a:pt x="96" y="294"/>
                  </a:lnTo>
                  <a:lnTo>
                    <a:pt x="96" y="288"/>
                  </a:lnTo>
                  <a:lnTo>
                    <a:pt x="96" y="294"/>
                  </a:lnTo>
                  <a:lnTo>
                    <a:pt x="90" y="294"/>
                  </a:lnTo>
                  <a:lnTo>
                    <a:pt x="90" y="288"/>
                  </a:lnTo>
                  <a:lnTo>
                    <a:pt x="84" y="282"/>
                  </a:lnTo>
                  <a:lnTo>
                    <a:pt x="84" y="276"/>
                  </a:lnTo>
                  <a:lnTo>
                    <a:pt x="78" y="270"/>
                  </a:lnTo>
                  <a:lnTo>
                    <a:pt x="78" y="264"/>
                  </a:lnTo>
                  <a:lnTo>
                    <a:pt x="78" y="258"/>
                  </a:lnTo>
                  <a:lnTo>
                    <a:pt x="72" y="258"/>
                  </a:lnTo>
                  <a:lnTo>
                    <a:pt x="72" y="264"/>
                  </a:lnTo>
                  <a:lnTo>
                    <a:pt x="66" y="264"/>
                  </a:lnTo>
                  <a:lnTo>
                    <a:pt x="66" y="258"/>
                  </a:lnTo>
                  <a:lnTo>
                    <a:pt x="60" y="258"/>
                  </a:lnTo>
                  <a:lnTo>
                    <a:pt x="60" y="252"/>
                  </a:lnTo>
                  <a:lnTo>
                    <a:pt x="54" y="252"/>
                  </a:lnTo>
                  <a:lnTo>
                    <a:pt x="54" y="246"/>
                  </a:lnTo>
                  <a:lnTo>
                    <a:pt x="48" y="246"/>
                  </a:lnTo>
                  <a:lnTo>
                    <a:pt x="48" y="252"/>
                  </a:lnTo>
                  <a:lnTo>
                    <a:pt x="42" y="252"/>
                  </a:lnTo>
                  <a:lnTo>
                    <a:pt x="42" y="246"/>
                  </a:lnTo>
                  <a:lnTo>
                    <a:pt x="42" y="240"/>
                  </a:lnTo>
                  <a:lnTo>
                    <a:pt x="36" y="240"/>
                  </a:lnTo>
                  <a:lnTo>
                    <a:pt x="30" y="228"/>
                  </a:lnTo>
                  <a:lnTo>
                    <a:pt x="24" y="222"/>
                  </a:lnTo>
                  <a:lnTo>
                    <a:pt x="18" y="222"/>
                  </a:lnTo>
                  <a:lnTo>
                    <a:pt x="18" y="216"/>
                  </a:lnTo>
                  <a:lnTo>
                    <a:pt x="18" y="210"/>
                  </a:lnTo>
                  <a:lnTo>
                    <a:pt x="18" y="204"/>
                  </a:lnTo>
                  <a:lnTo>
                    <a:pt x="12" y="204"/>
                  </a:lnTo>
                  <a:lnTo>
                    <a:pt x="12" y="198"/>
                  </a:lnTo>
                  <a:lnTo>
                    <a:pt x="12" y="192"/>
                  </a:lnTo>
                  <a:lnTo>
                    <a:pt x="12" y="186"/>
                  </a:lnTo>
                  <a:lnTo>
                    <a:pt x="12" y="180"/>
                  </a:lnTo>
                  <a:lnTo>
                    <a:pt x="12" y="174"/>
                  </a:lnTo>
                  <a:lnTo>
                    <a:pt x="6" y="174"/>
                  </a:lnTo>
                  <a:lnTo>
                    <a:pt x="12" y="174"/>
                  </a:lnTo>
                  <a:lnTo>
                    <a:pt x="12" y="168"/>
                  </a:lnTo>
                  <a:lnTo>
                    <a:pt x="6" y="168"/>
                  </a:lnTo>
                  <a:lnTo>
                    <a:pt x="12" y="168"/>
                  </a:lnTo>
                  <a:lnTo>
                    <a:pt x="12" y="162"/>
                  </a:lnTo>
                  <a:lnTo>
                    <a:pt x="12" y="156"/>
                  </a:lnTo>
                  <a:lnTo>
                    <a:pt x="18" y="150"/>
                  </a:lnTo>
                  <a:lnTo>
                    <a:pt x="18" y="144"/>
                  </a:lnTo>
                  <a:lnTo>
                    <a:pt x="18" y="138"/>
                  </a:lnTo>
                  <a:lnTo>
                    <a:pt x="18" y="132"/>
                  </a:lnTo>
                  <a:lnTo>
                    <a:pt x="24" y="132"/>
                  </a:lnTo>
                  <a:lnTo>
                    <a:pt x="18" y="132"/>
                  </a:lnTo>
                  <a:lnTo>
                    <a:pt x="12" y="132"/>
                  </a:lnTo>
                  <a:lnTo>
                    <a:pt x="12" y="126"/>
                  </a:lnTo>
                  <a:lnTo>
                    <a:pt x="12" y="120"/>
                  </a:lnTo>
                  <a:lnTo>
                    <a:pt x="6" y="120"/>
                  </a:lnTo>
                  <a:lnTo>
                    <a:pt x="6" y="114"/>
                  </a:lnTo>
                  <a:lnTo>
                    <a:pt x="0" y="114"/>
                  </a:lnTo>
                  <a:lnTo>
                    <a:pt x="0" y="108"/>
                  </a:lnTo>
                  <a:lnTo>
                    <a:pt x="6" y="108"/>
                  </a:lnTo>
                  <a:lnTo>
                    <a:pt x="12" y="108"/>
                  </a:lnTo>
                  <a:lnTo>
                    <a:pt x="6" y="108"/>
                  </a:lnTo>
                  <a:lnTo>
                    <a:pt x="12" y="108"/>
                  </a:lnTo>
                  <a:lnTo>
                    <a:pt x="12" y="102"/>
                  </a:lnTo>
                  <a:lnTo>
                    <a:pt x="12" y="108"/>
                  </a:lnTo>
                  <a:lnTo>
                    <a:pt x="18" y="108"/>
                  </a:lnTo>
                  <a:lnTo>
                    <a:pt x="18" y="102"/>
                  </a:lnTo>
                  <a:lnTo>
                    <a:pt x="24" y="102"/>
                  </a:lnTo>
                  <a:lnTo>
                    <a:pt x="24" y="96"/>
                  </a:lnTo>
                  <a:lnTo>
                    <a:pt x="30" y="96"/>
                  </a:lnTo>
                  <a:lnTo>
                    <a:pt x="30" y="90"/>
                  </a:lnTo>
                  <a:lnTo>
                    <a:pt x="36" y="90"/>
                  </a:lnTo>
                  <a:lnTo>
                    <a:pt x="36" y="84"/>
                  </a:lnTo>
                  <a:lnTo>
                    <a:pt x="36" y="78"/>
                  </a:lnTo>
                  <a:lnTo>
                    <a:pt x="42" y="78"/>
                  </a:lnTo>
                  <a:lnTo>
                    <a:pt x="42" y="72"/>
                  </a:lnTo>
                  <a:lnTo>
                    <a:pt x="48" y="72"/>
                  </a:lnTo>
                  <a:lnTo>
                    <a:pt x="48" y="66"/>
                  </a:lnTo>
                  <a:lnTo>
                    <a:pt x="42" y="66"/>
                  </a:lnTo>
                  <a:lnTo>
                    <a:pt x="42" y="60"/>
                  </a:lnTo>
                  <a:lnTo>
                    <a:pt x="36" y="60"/>
                  </a:lnTo>
                  <a:lnTo>
                    <a:pt x="36" y="54"/>
                  </a:lnTo>
                  <a:lnTo>
                    <a:pt x="30" y="54"/>
                  </a:lnTo>
                  <a:lnTo>
                    <a:pt x="24" y="48"/>
                  </a:lnTo>
                  <a:lnTo>
                    <a:pt x="24" y="42"/>
                  </a:lnTo>
                  <a:lnTo>
                    <a:pt x="30" y="42"/>
                  </a:lnTo>
                  <a:lnTo>
                    <a:pt x="30" y="48"/>
                  </a:lnTo>
                  <a:lnTo>
                    <a:pt x="30" y="42"/>
                  </a:lnTo>
                  <a:lnTo>
                    <a:pt x="30" y="36"/>
                  </a:lnTo>
                  <a:lnTo>
                    <a:pt x="30" y="42"/>
                  </a:lnTo>
                  <a:lnTo>
                    <a:pt x="36" y="42"/>
                  </a:lnTo>
                  <a:lnTo>
                    <a:pt x="42" y="36"/>
                  </a:lnTo>
                  <a:lnTo>
                    <a:pt x="42" y="30"/>
                  </a:lnTo>
                  <a:lnTo>
                    <a:pt x="48" y="30"/>
                  </a:lnTo>
                  <a:lnTo>
                    <a:pt x="48" y="24"/>
                  </a:lnTo>
                  <a:lnTo>
                    <a:pt x="54" y="24"/>
                  </a:lnTo>
                  <a:lnTo>
                    <a:pt x="54" y="18"/>
                  </a:lnTo>
                  <a:lnTo>
                    <a:pt x="54" y="12"/>
                  </a:lnTo>
                  <a:lnTo>
                    <a:pt x="60" y="12"/>
                  </a:lnTo>
                  <a:lnTo>
                    <a:pt x="60" y="6"/>
                  </a:lnTo>
                  <a:lnTo>
                    <a:pt x="60" y="0"/>
                  </a:lnTo>
                  <a:lnTo>
                    <a:pt x="66" y="0"/>
                  </a:lnTo>
                  <a:lnTo>
                    <a:pt x="66" y="6"/>
                  </a:lnTo>
                  <a:lnTo>
                    <a:pt x="72" y="6"/>
                  </a:lnTo>
                  <a:lnTo>
                    <a:pt x="78" y="12"/>
                  </a:lnTo>
                  <a:lnTo>
                    <a:pt x="84" y="12"/>
                  </a:lnTo>
                  <a:lnTo>
                    <a:pt x="84" y="18"/>
                  </a:lnTo>
                  <a:lnTo>
                    <a:pt x="84" y="12"/>
                  </a:lnTo>
                  <a:lnTo>
                    <a:pt x="90" y="12"/>
                  </a:lnTo>
                  <a:lnTo>
                    <a:pt x="90" y="18"/>
                  </a:lnTo>
                  <a:lnTo>
                    <a:pt x="90" y="12"/>
                  </a:lnTo>
                  <a:lnTo>
                    <a:pt x="96" y="12"/>
                  </a:lnTo>
                  <a:lnTo>
                    <a:pt x="96" y="18"/>
                  </a:lnTo>
                  <a:lnTo>
                    <a:pt x="102" y="18"/>
                  </a:lnTo>
                  <a:lnTo>
                    <a:pt x="102" y="12"/>
                  </a:lnTo>
                  <a:lnTo>
                    <a:pt x="102" y="18"/>
                  </a:lnTo>
                  <a:lnTo>
                    <a:pt x="108" y="12"/>
                  </a:lnTo>
                  <a:lnTo>
                    <a:pt x="114" y="12"/>
                  </a:lnTo>
                  <a:lnTo>
                    <a:pt x="114" y="6"/>
                  </a:lnTo>
                  <a:lnTo>
                    <a:pt x="120" y="6"/>
                  </a:lnTo>
                  <a:lnTo>
                    <a:pt x="126" y="6"/>
                  </a:lnTo>
                  <a:lnTo>
                    <a:pt x="126" y="12"/>
                  </a:lnTo>
                  <a:lnTo>
                    <a:pt x="132" y="12"/>
                  </a:lnTo>
                  <a:lnTo>
                    <a:pt x="132" y="18"/>
                  </a:lnTo>
                  <a:lnTo>
                    <a:pt x="138" y="18"/>
                  </a:lnTo>
                  <a:lnTo>
                    <a:pt x="144" y="18"/>
                  </a:lnTo>
                  <a:lnTo>
                    <a:pt x="144" y="12"/>
                  </a:lnTo>
                  <a:lnTo>
                    <a:pt x="144" y="6"/>
                  </a:lnTo>
                  <a:lnTo>
                    <a:pt x="150" y="12"/>
                  </a:lnTo>
                  <a:lnTo>
                    <a:pt x="156" y="12"/>
                  </a:lnTo>
                  <a:lnTo>
                    <a:pt x="150" y="12"/>
                  </a:lnTo>
                  <a:lnTo>
                    <a:pt x="156" y="18"/>
                  </a:lnTo>
                  <a:lnTo>
                    <a:pt x="156" y="24"/>
                  </a:lnTo>
                  <a:lnTo>
                    <a:pt x="162" y="24"/>
                  </a:lnTo>
                  <a:lnTo>
                    <a:pt x="162" y="30"/>
                  </a:lnTo>
                  <a:lnTo>
                    <a:pt x="168" y="30"/>
                  </a:lnTo>
                  <a:lnTo>
                    <a:pt x="168" y="36"/>
                  </a:lnTo>
                  <a:lnTo>
                    <a:pt x="174" y="30"/>
                  </a:lnTo>
                  <a:lnTo>
                    <a:pt x="180" y="30"/>
                  </a:lnTo>
                  <a:lnTo>
                    <a:pt x="186" y="24"/>
                  </a:lnTo>
                  <a:lnTo>
                    <a:pt x="186" y="18"/>
                  </a:lnTo>
                  <a:lnTo>
                    <a:pt x="192" y="18"/>
                  </a:lnTo>
                  <a:lnTo>
                    <a:pt x="192" y="12"/>
                  </a:lnTo>
                  <a:lnTo>
                    <a:pt x="192" y="18"/>
                  </a:lnTo>
                  <a:lnTo>
                    <a:pt x="192" y="24"/>
                  </a:lnTo>
                  <a:lnTo>
                    <a:pt x="198" y="24"/>
                  </a:lnTo>
                  <a:lnTo>
                    <a:pt x="198" y="30"/>
                  </a:lnTo>
                  <a:lnTo>
                    <a:pt x="198" y="36"/>
                  </a:lnTo>
                  <a:lnTo>
                    <a:pt x="204" y="36"/>
                  </a:lnTo>
                  <a:lnTo>
                    <a:pt x="204" y="30"/>
                  </a:lnTo>
                  <a:lnTo>
                    <a:pt x="210" y="30"/>
                  </a:lnTo>
                  <a:lnTo>
                    <a:pt x="216" y="30"/>
                  </a:lnTo>
                  <a:lnTo>
                    <a:pt x="216" y="36"/>
                  </a:lnTo>
                  <a:lnTo>
                    <a:pt x="222" y="36"/>
                  </a:lnTo>
                  <a:lnTo>
                    <a:pt x="222" y="30"/>
                  </a:lnTo>
                  <a:lnTo>
                    <a:pt x="228" y="30"/>
                  </a:lnTo>
                  <a:lnTo>
                    <a:pt x="234" y="30"/>
                  </a:lnTo>
                  <a:lnTo>
                    <a:pt x="234" y="36"/>
                  </a:lnTo>
                  <a:lnTo>
                    <a:pt x="234" y="30"/>
                  </a:lnTo>
                  <a:lnTo>
                    <a:pt x="234" y="36"/>
                  </a:lnTo>
                  <a:lnTo>
                    <a:pt x="240" y="36"/>
                  </a:lnTo>
                  <a:lnTo>
                    <a:pt x="240" y="30"/>
                  </a:lnTo>
                  <a:lnTo>
                    <a:pt x="246" y="30"/>
                  </a:lnTo>
                  <a:lnTo>
                    <a:pt x="252" y="30"/>
                  </a:lnTo>
                  <a:lnTo>
                    <a:pt x="252" y="36"/>
                  </a:lnTo>
                  <a:lnTo>
                    <a:pt x="252" y="30"/>
                  </a:lnTo>
                  <a:lnTo>
                    <a:pt x="252" y="36"/>
                  </a:lnTo>
                  <a:lnTo>
                    <a:pt x="258" y="36"/>
                  </a:lnTo>
                  <a:lnTo>
                    <a:pt x="264" y="36"/>
                  </a:lnTo>
                  <a:lnTo>
                    <a:pt x="270" y="30"/>
                  </a:lnTo>
                  <a:lnTo>
                    <a:pt x="276" y="30"/>
                  </a:lnTo>
                  <a:lnTo>
                    <a:pt x="282" y="30"/>
                  </a:lnTo>
                  <a:lnTo>
                    <a:pt x="282" y="36"/>
                  </a:lnTo>
                  <a:lnTo>
                    <a:pt x="276" y="42"/>
                  </a:lnTo>
                  <a:lnTo>
                    <a:pt x="276" y="48"/>
                  </a:lnTo>
                  <a:lnTo>
                    <a:pt x="276" y="54"/>
                  </a:lnTo>
                  <a:lnTo>
                    <a:pt x="276" y="60"/>
                  </a:lnTo>
                  <a:lnTo>
                    <a:pt x="270" y="60"/>
                  </a:lnTo>
                  <a:lnTo>
                    <a:pt x="276" y="60"/>
                  </a:lnTo>
                  <a:lnTo>
                    <a:pt x="282" y="60"/>
                  </a:lnTo>
                  <a:lnTo>
                    <a:pt x="276" y="66"/>
                  </a:lnTo>
                  <a:lnTo>
                    <a:pt x="282" y="66"/>
                  </a:lnTo>
                  <a:lnTo>
                    <a:pt x="282" y="72"/>
                  </a:lnTo>
                  <a:lnTo>
                    <a:pt x="276" y="72"/>
                  </a:lnTo>
                  <a:lnTo>
                    <a:pt x="276" y="78"/>
                  </a:lnTo>
                  <a:lnTo>
                    <a:pt x="282" y="72"/>
                  </a:lnTo>
                  <a:lnTo>
                    <a:pt x="288" y="72"/>
                  </a:lnTo>
                  <a:lnTo>
                    <a:pt x="288" y="78"/>
                  </a:lnTo>
                  <a:lnTo>
                    <a:pt x="294" y="78"/>
                  </a:lnTo>
                  <a:lnTo>
                    <a:pt x="294" y="72"/>
                  </a:lnTo>
                  <a:lnTo>
                    <a:pt x="294" y="78"/>
                  </a:lnTo>
                  <a:lnTo>
                    <a:pt x="294" y="84"/>
                  </a:lnTo>
                  <a:lnTo>
                    <a:pt x="288" y="84"/>
                  </a:lnTo>
                  <a:lnTo>
                    <a:pt x="282" y="84"/>
                  </a:lnTo>
                  <a:lnTo>
                    <a:pt x="276" y="84"/>
                  </a:lnTo>
                  <a:lnTo>
                    <a:pt x="276" y="90"/>
                  </a:lnTo>
                  <a:lnTo>
                    <a:pt x="270" y="90"/>
                  </a:lnTo>
                  <a:lnTo>
                    <a:pt x="276" y="90"/>
                  </a:lnTo>
                  <a:lnTo>
                    <a:pt x="276" y="96"/>
                  </a:lnTo>
                  <a:lnTo>
                    <a:pt x="270" y="96"/>
                  </a:lnTo>
                  <a:lnTo>
                    <a:pt x="270" y="102"/>
                  </a:lnTo>
                  <a:lnTo>
                    <a:pt x="264" y="102"/>
                  </a:lnTo>
                  <a:lnTo>
                    <a:pt x="264" y="96"/>
                  </a:lnTo>
                  <a:lnTo>
                    <a:pt x="258" y="96"/>
                  </a:lnTo>
                  <a:lnTo>
                    <a:pt x="258" y="102"/>
                  </a:lnTo>
                  <a:lnTo>
                    <a:pt x="264" y="102"/>
                  </a:lnTo>
                  <a:lnTo>
                    <a:pt x="252" y="102"/>
                  </a:lnTo>
                  <a:lnTo>
                    <a:pt x="258" y="108"/>
                  </a:lnTo>
                  <a:lnTo>
                    <a:pt x="252" y="108"/>
                  </a:lnTo>
                  <a:lnTo>
                    <a:pt x="252" y="114"/>
                  </a:lnTo>
                  <a:lnTo>
                    <a:pt x="252" y="108"/>
                  </a:lnTo>
                  <a:lnTo>
                    <a:pt x="246" y="108"/>
                  </a:lnTo>
                  <a:lnTo>
                    <a:pt x="246" y="114"/>
                  </a:lnTo>
                  <a:lnTo>
                    <a:pt x="252" y="114"/>
                  </a:lnTo>
                  <a:lnTo>
                    <a:pt x="258" y="114"/>
                  </a:lnTo>
                  <a:lnTo>
                    <a:pt x="258" y="120"/>
                  </a:lnTo>
                  <a:lnTo>
                    <a:pt x="252" y="126"/>
                  </a:lnTo>
                  <a:lnTo>
                    <a:pt x="246" y="126"/>
                  </a:lnTo>
                  <a:lnTo>
                    <a:pt x="240" y="126"/>
                  </a:lnTo>
                  <a:lnTo>
                    <a:pt x="246" y="126"/>
                  </a:lnTo>
                  <a:lnTo>
                    <a:pt x="246" y="120"/>
                  </a:lnTo>
                  <a:lnTo>
                    <a:pt x="240" y="120"/>
                  </a:lnTo>
                  <a:lnTo>
                    <a:pt x="240" y="126"/>
                  </a:lnTo>
                  <a:lnTo>
                    <a:pt x="240" y="120"/>
                  </a:lnTo>
                  <a:lnTo>
                    <a:pt x="234" y="114"/>
                  </a:lnTo>
                  <a:lnTo>
                    <a:pt x="234" y="108"/>
                  </a:lnTo>
                  <a:lnTo>
                    <a:pt x="228" y="108"/>
                  </a:lnTo>
                  <a:lnTo>
                    <a:pt x="228" y="114"/>
                  </a:lnTo>
                  <a:lnTo>
                    <a:pt x="228" y="120"/>
                  </a:lnTo>
                  <a:lnTo>
                    <a:pt x="222" y="120"/>
                  </a:lnTo>
                  <a:lnTo>
                    <a:pt x="222" y="126"/>
                  </a:lnTo>
                  <a:lnTo>
                    <a:pt x="228" y="126"/>
                  </a:lnTo>
                  <a:lnTo>
                    <a:pt x="222" y="126"/>
                  </a:lnTo>
                  <a:lnTo>
                    <a:pt x="222" y="132"/>
                  </a:lnTo>
                  <a:lnTo>
                    <a:pt x="222" y="126"/>
                  </a:lnTo>
                  <a:lnTo>
                    <a:pt x="216" y="132"/>
                  </a:lnTo>
                  <a:lnTo>
                    <a:pt x="216" y="126"/>
                  </a:lnTo>
                  <a:lnTo>
                    <a:pt x="222" y="126"/>
                  </a:lnTo>
                  <a:lnTo>
                    <a:pt x="222" y="120"/>
                  </a:lnTo>
                  <a:lnTo>
                    <a:pt x="222" y="114"/>
                  </a:lnTo>
                  <a:lnTo>
                    <a:pt x="222" y="108"/>
                  </a:lnTo>
                  <a:lnTo>
                    <a:pt x="228" y="108"/>
                  </a:lnTo>
                  <a:lnTo>
                    <a:pt x="222" y="108"/>
                  </a:lnTo>
                  <a:lnTo>
                    <a:pt x="222" y="102"/>
                  </a:lnTo>
                  <a:lnTo>
                    <a:pt x="216" y="102"/>
                  </a:lnTo>
                  <a:lnTo>
                    <a:pt x="210" y="102"/>
                  </a:lnTo>
                  <a:lnTo>
                    <a:pt x="204" y="96"/>
                  </a:lnTo>
                  <a:lnTo>
                    <a:pt x="204" y="102"/>
                  </a:lnTo>
                  <a:lnTo>
                    <a:pt x="198" y="96"/>
                  </a:lnTo>
                  <a:lnTo>
                    <a:pt x="192" y="96"/>
                  </a:lnTo>
                  <a:lnTo>
                    <a:pt x="192" y="102"/>
                  </a:lnTo>
                  <a:lnTo>
                    <a:pt x="186" y="102"/>
                  </a:lnTo>
                  <a:lnTo>
                    <a:pt x="186" y="108"/>
                  </a:lnTo>
                  <a:lnTo>
                    <a:pt x="186" y="102"/>
                  </a:lnTo>
                  <a:lnTo>
                    <a:pt x="186" y="108"/>
                  </a:lnTo>
                  <a:lnTo>
                    <a:pt x="186" y="114"/>
                  </a:lnTo>
                  <a:lnTo>
                    <a:pt x="180" y="114"/>
                  </a:lnTo>
                  <a:lnTo>
                    <a:pt x="180" y="120"/>
                  </a:lnTo>
                  <a:lnTo>
                    <a:pt x="180" y="126"/>
                  </a:lnTo>
                  <a:lnTo>
                    <a:pt x="186" y="126"/>
                  </a:lnTo>
                  <a:lnTo>
                    <a:pt x="180" y="132"/>
                  </a:lnTo>
                  <a:lnTo>
                    <a:pt x="180" y="138"/>
                  </a:lnTo>
                  <a:lnTo>
                    <a:pt x="186" y="138"/>
                  </a:lnTo>
                  <a:lnTo>
                    <a:pt x="186" y="144"/>
                  </a:lnTo>
                  <a:lnTo>
                    <a:pt x="192" y="144"/>
                  </a:lnTo>
                  <a:lnTo>
                    <a:pt x="198" y="144"/>
                  </a:lnTo>
                  <a:lnTo>
                    <a:pt x="198" y="150"/>
                  </a:lnTo>
                  <a:lnTo>
                    <a:pt x="204" y="150"/>
                  </a:lnTo>
                  <a:lnTo>
                    <a:pt x="204" y="156"/>
                  </a:lnTo>
                  <a:lnTo>
                    <a:pt x="210" y="156"/>
                  </a:lnTo>
                  <a:lnTo>
                    <a:pt x="210" y="162"/>
                  </a:lnTo>
                  <a:lnTo>
                    <a:pt x="216" y="168"/>
                  </a:lnTo>
                  <a:lnTo>
                    <a:pt x="222" y="174"/>
                  </a:lnTo>
                  <a:lnTo>
                    <a:pt x="228" y="162"/>
                  </a:lnTo>
                  <a:lnTo>
                    <a:pt x="234" y="162"/>
                  </a:lnTo>
                  <a:lnTo>
                    <a:pt x="240" y="156"/>
                  </a:lnTo>
                  <a:lnTo>
                    <a:pt x="240" y="162"/>
                  </a:lnTo>
                  <a:lnTo>
                    <a:pt x="246" y="168"/>
                  </a:lnTo>
                  <a:lnTo>
                    <a:pt x="252" y="162"/>
                  </a:lnTo>
                  <a:lnTo>
                    <a:pt x="258" y="156"/>
                  </a:lnTo>
                  <a:lnTo>
                    <a:pt x="264" y="156"/>
                  </a:lnTo>
                  <a:lnTo>
                    <a:pt x="270" y="150"/>
                  </a:lnTo>
                  <a:lnTo>
                    <a:pt x="276" y="156"/>
                  </a:lnTo>
                  <a:lnTo>
                    <a:pt x="282" y="150"/>
                  </a:lnTo>
                  <a:lnTo>
                    <a:pt x="276" y="150"/>
                  </a:lnTo>
                  <a:lnTo>
                    <a:pt x="282" y="144"/>
                  </a:lnTo>
                  <a:lnTo>
                    <a:pt x="288" y="144"/>
                  </a:lnTo>
                  <a:lnTo>
                    <a:pt x="288" y="138"/>
                  </a:lnTo>
                  <a:lnTo>
                    <a:pt x="294" y="132"/>
                  </a:lnTo>
                  <a:lnTo>
                    <a:pt x="300" y="132"/>
                  </a:lnTo>
                  <a:lnTo>
                    <a:pt x="300" y="138"/>
                  </a:lnTo>
                  <a:lnTo>
                    <a:pt x="306" y="138"/>
                  </a:lnTo>
                  <a:lnTo>
                    <a:pt x="306" y="132"/>
                  </a:lnTo>
                  <a:lnTo>
                    <a:pt x="312" y="132"/>
                  </a:lnTo>
                  <a:lnTo>
                    <a:pt x="306" y="138"/>
                  </a:lnTo>
                  <a:lnTo>
                    <a:pt x="306" y="144"/>
                  </a:lnTo>
                  <a:lnTo>
                    <a:pt x="306" y="150"/>
                  </a:lnTo>
                  <a:lnTo>
                    <a:pt x="306" y="156"/>
                  </a:lnTo>
                  <a:lnTo>
                    <a:pt x="300" y="156"/>
                  </a:lnTo>
                  <a:lnTo>
                    <a:pt x="300" y="162"/>
                  </a:lnTo>
                  <a:lnTo>
                    <a:pt x="294" y="162"/>
                  </a:lnTo>
                  <a:lnTo>
                    <a:pt x="294" y="168"/>
                  </a:lnTo>
                  <a:lnTo>
                    <a:pt x="300" y="168"/>
                  </a:lnTo>
                  <a:lnTo>
                    <a:pt x="300" y="174"/>
                  </a:lnTo>
                  <a:lnTo>
                    <a:pt x="294" y="174"/>
                  </a:lnTo>
                  <a:lnTo>
                    <a:pt x="300" y="180"/>
                  </a:lnTo>
                  <a:lnTo>
                    <a:pt x="300" y="186"/>
                  </a:lnTo>
                  <a:lnTo>
                    <a:pt x="300" y="192"/>
                  </a:lnTo>
                  <a:lnTo>
                    <a:pt x="294" y="192"/>
                  </a:lnTo>
                  <a:lnTo>
                    <a:pt x="288" y="186"/>
                  </a:lnTo>
                  <a:lnTo>
                    <a:pt x="282" y="186"/>
                  </a:lnTo>
                  <a:lnTo>
                    <a:pt x="282" y="192"/>
                  </a:lnTo>
                  <a:lnTo>
                    <a:pt x="276" y="192"/>
                  </a:lnTo>
                  <a:lnTo>
                    <a:pt x="276" y="198"/>
                  </a:lnTo>
                  <a:lnTo>
                    <a:pt x="276" y="204"/>
                  </a:lnTo>
                  <a:lnTo>
                    <a:pt x="270" y="204"/>
                  </a:lnTo>
                  <a:lnTo>
                    <a:pt x="264" y="204"/>
                  </a:lnTo>
                  <a:lnTo>
                    <a:pt x="264" y="210"/>
                  </a:lnTo>
                  <a:lnTo>
                    <a:pt x="264" y="216"/>
                  </a:lnTo>
                  <a:lnTo>
                    <a:pt x="264" y="222"/>
                  </a:lnTo>
                  <a:lnTo>
                    <a:pt x="258" y="222"/>
                  </a:lnTo>
                  <a:lnTo>
                    <a:pt x="264" y="222"/>
                  </a:lnTo>
                  <a:lnTo>
                    <a:pt x="264" y="228"/>
                  </a:lnTo>
                  <a:lnTo>
                    <a:pt x="258" y="234"/>
                  </a:lnTo>
                  <a:lnTo>
                    <a:pt x="258" y="240"/>
                  </a:lnTo>
                  <a:lnTo>
                    <a:pt x="264" y="240"/>
                  </a:lnTo>
                  <a:lnTo>
                    <a:pt x="258" y="240"/>
                  </a:lnTo>
                  <a:lnTo>
                    <a:pt x="264" y="246"/>
                  </a:lnTo>
                  <a:lnTo>
                    <a:pt x="264" y="258"/>
                  </a:lnTo>
                  <a:lnTo>
                    <a:pt x="258" y="258"/>
                  </a:lnTo>
                  <a:lnTo>
                    <a:pt x="258" y="264"/>
                  </a:lnTo>
                  <a:lnTo>
                    <a:pt x="264" y="264"/>
                  </a:lnTo>
                  <a:lnTo>
                    <a:pt x="264" y="276"/>
                  </a:lnTo>
                  <a:lnTo>
                    <a:pt x="258" y="276"/>
                  </a:lnTo>
                  <a:lnTo>
                    <a:pt x="258" y="282"/>
                  </a:lnTo>
                  <a:lnTo>
                    <a:pt x="258" y="288"/>
                  </a:lnTo>
                  <a:lnTo>
                    <a:pt x="252" y="288"/>
                  </a:lnTo>
                  <a:lnTo>
                    <a:pt x="252" y="294"/>
                  </a:lnTo>
                  <a:lnTo>
                    <a:pt x="258" y="294"/>
                  </a:lnTo>
                  <a:lnTo>
                    <a:pt x="258" y="300"/>
                  </a:lnTo>
                  <a:lnTo>
                    <a:pt x="258" y="306"/>
                  </a:lnTo>
                  <a:lnTo>
                    <a:pt x="252" y="306"/>
                  </a:lnTo>
                  <a:lnTo>
                    <a:pt x="258" y="306"/>
                  </a:lnTo>
                  <a:lnTo>
                    <a:pt x="258" y="312"/>
                  </a:lnTo>
                  <a:lnTo>
                    <a:pt x="258" y="318"/>
                  </a:lnTo>
                  <a:lnTo>
                    <a:pt x="258" y="324"/>
                  </a:lnTo>
                  <a:close/>
                </a:path>
              </a:pathLst>
            </a:custGeom>
            <a:solidFill>
              <a:schemeClr val="accent1"/>
            </a:solidFill>
            <a:ln w="9525">
              <a:solidFill>
                <a:srgbClr val="B2B2B2"/>
              </a:solidFill>
              <a:round/>
              <a:headEnd/>
              <a:tailEnd/>
            </a:ln>
          </p:spPr>
          <p:txBody>
            <a:bodyPr/>
            <a:lstStyle/>
            <a:p>
              <a:endParaRPr lang="en-CA"/>
            </a:p>
          </p:txBody>
        </p:sp>
        <p:sp>
          <p:nvSpPr>
            <p:cNvPr id="430" name="Freeform 489"/>
            <p:cNvSpPr>
              <a:spLocks/>
            </p:cNvSpPr>
            <p:nvPr>
              <p:custDataLst>
                <p:tags r:id="rId53"/>
              </p:custDataLst>
            </p:nvPr>
          </p:nvSpPr>
          <p:spPr bwMode="gray">
            <a:xfrm>
              <a:off x="1453" y="2998"/>
              <a:ext cx="176" cy="214"/>
            </a:xfrm>
            <a:custGeom>
              <a:avLst/>
              <a:gdLst>
                <a:gd name="T0" fmla="*/ 129088745 w 282"/>
                <a:gd name="T1" fmla="*/ 307333910 h 342"/>
                <a:gd name="T2" fmla="*/ 99749763 w 282"/>
                <a:gd name="T3" fmla="*/ 301423490 h 342"/>
                <a:gd name="T4" fmla="*/ 82147563 w 282"/>
                <a:gd name="T5" fmla="*/ 307333910 h 342"/>
                <a:gd name="T6" fmla="*/ 76279172 w 282"/>
                <a:gd name="T7" fmla="*/ 289602649 h 342"/>
                <a:gd name="T8" fmla="*/ 76279172 w 282"/>
                <a:gd name="T9" fmla="*/ 260051541 h 342"/>
                <a:gd name="T10" fmla="*/ 76279172 w 282"/>
                <a:gd name="T11" fmla="*/ 224590012 h 342"/>
                <a:gd name="T12" fmla="*/ 82147563 w 282"/>
                <a:gd name="T13" fmla="*/ 206858751 h 342"/>
                <a:gd name="T14" fmla="*/ 93882363 w 282"/>
                <a:gd name="T15" fmla="*/ 177307643 h 342"/>
                <a:gd name="T16" fmla="*/ 117352954 w 282"/>
                <a:gd name="T17" fmla="*/ 165487796 h 342"/>
                <a:gd name="T18" fmla="*/ 117352954 w 282"/>
                <a:gd name="T19" fmla="*/ 141846114 h 342"/>
                <a:gd name="T20" fmla="*/ 123220354 w 282"/>
                <a:gd name="T21" fmla="*/ 124115847 h 342"/>
                <a:gd name="T22" fmla="*/ 93882363 w 282"/>
                <a:gd name="T23" fmla="*/ 135935694 h 342"/>
                <a:gd name="T24" fmla="*/ 64544372 w 282"/>
                <a:gd name="T25" fmla="*/ 153666955 h 342"/>
                <a:gd name="T26" fmla="*/ 29337991 w 282"/>
                <a:gd name="T27" fmla="*/ 147756535 h 342"/>
                <a:gd name="T28" fmla="*/ 5867400 w 282"/>
                <a:gd name="T29" fmla="*/ 130026267 h 342"/>
                <a:gd name="T30" fmla="*/ 0 w 282"/>
                <a:gd name="T31" fmla="*/ 100474165 h 342"/>
                <a:gd name="T32" fmla="*/ 11735791 w 282"/>
                <a:gd name="T33" fmla="*/ 82743898 h 342"/>
                <a:gd name="T34" fmla="*/ 41073782 w 282"/>
                <a:gd name="T35" fmla="*/ 94563745 h 342"/>
                <a:gd name="T36" fmla="*/ 35206382 w 282"/>
                <a:gd name="T37" fmla="*/ 118205426 h 342"/>
                <a:gd name="T38" fmla="*/ 46941182 w 282"/>
                <a:gd name="T39" fmla="*/ 106384586 h 342"/>
                <a:gd name="T40" fmla="*/ 58676972 w 282"/>
                <a:gd name="T41" fmla="*/ 106384586 h 342"/>
                <a:gd name="T42" fmla="*/ 76279172 w 282"/>
                <a:gd name="T43" fmla="*/ 100474165 h 342"/>
                <a:gd name="T44" fmla="*/ 76279172 w 282"/>
                <a:gd name="T45" fmla="*/ 94563745 h 342"/>
                <a:gd name="T46" fmla="*/ 88014963 w 282"/>
                <a:gd name="T47" fmla="*/ 88654318 h 342"/>
                <a:gd name="T48" fmla="*/ 99749763 w 282"/>
                <a:gd name="T49" fmla="*/ 70923057 h 342"/>
                <a:gd name="T50" fmla="*/ 105618154 w 282"/>
                <a:gd name="T51" fmla="*/ 59102217 h 342"/>
                <a:gd name="T52" fmla="*/ 99749763 w 282"/>
                <a:gd name="T53" fmla="*/ 47282369 h 342"/>
                <a:gd name="T54" fmla="*/ 99749763 w 282"/>
                <a:gd name="T55" fmla="*/ 23640688 h 342"/>
                <a:gd name="T56" fmla="*/ 88014963 w 282"/>
                <a:gd name="T57" fmla="*/ 11820841 h 342"/>
                <a:gd name="T58" fmla="*/ 99749763 w 282"/>
                <a:gd name="T59" fmla="*/ 5910420 h 342"/>
                <a:gd name="T60" fmla="*/ 123220354 w 282"/>
                <a:gd name="T61" fmla="*/ 11820841 h 342"/>
                <a:gd name="T62" fmla="*/ 152559335 w 282"/>
                <a:gd name="T63" fmla="*/ 11820841 h 342"/>
                <a:gd name="T64" fmla="*/ 176029926 w 282"/>
                <a:gd name="T65" fmla="*/ 11820841 h 342"/>
                <a:gd name="T66" fmla="*/ 187764726 w 282"/>
                <a:gd name="T67" fmla="*/ 5910420 h 342"/>
                <a:gd name="T68" fmla="*/ 211235317 w 282"/>
                <a:gd name="T69" fmla="*/ 11820841 h 342"/>
                <a:gd name="T70" fmla="*/ 234705908 w 282"/>
                <a:gd name="T71" fmla="*/ 35461529 h 342"/>
                <a:gd name="T72" fmla="*/ 240573308 w 282"/>
                <a:gd name="T73" fmla="*/ 47282369 h 342"/>
                <a:gd name="T74" fmla="*/ 240573308 w 282"/>
                <a:gd name="T75" fmla="*/ 76833477 h 342"/>
                <a:gd name="T76" fmla="*/ 222971108 w 282"/>
                <a:gd name="T77" fmla="*/ 82743898 h 342"/>
                <a:gd name="T78" fmla="*/ 228838508 w 282"/>
                <a:gd name="T79" fmla="*/ 112295006 h 342"/>
                <a:gd name="T80" fmla="*/ 222971108 w 282"/>
                <a:gd name="T81" fmla="*/ 130026267 h 342"/>
                <a:gd name="T82" fmla="*/ 240573308 w 282"/>
                <a:gd name="T83" fmla="*/ 130026267 h 342"/>
                <a:gd name="T84" fmla="*/ 264043899 w 282"/>
                <a:gd name="T85" fmla="*/ 130026267 h 342"/>
                <a:gd name="T86" fmla="*/ 269912289 w 282"/>
                <a:gd name="T87" fmla="*/ 153666955 h 342"/>
                <a:gd name="T88" fmla="*/ 269912289 w 282"/>
                <a:gd name="T89" fmla="*/ 159577375 h 342"/>
                <a:gd name="T90" fmla="*/ 269912289 w 282"/>
                <a:gd name="T91" fmla="*/ 177307643 h 342"/>
                <a:gd name="T92" fmla="*/ 240573308 w 282"/>
                <a:gd name="T93" fmla="*/ 189128484 h 342"/>
                <a:gd name="T94" fmla="*/ 228838508 w 282"/>
                <a:gd name="T95" fmla="*/ 183218063 h 342"/>
                <a:gd name="T96" fmla="*/ 211235317 w 282"/>
                <a:gd name="T97" fmla="*/ 183218063 h 342"/>
                <a:gd name="T98" fmla="*/ 187764726 w 282"/>
                <a:gd name="T99" fmla="*/ 183218063 h 342"/>
                <a:gd name="T100" fmla="*/ 176029926 w 282"/>
                <a:gd name="T101" fmla="*/ 189128484 h 342"/>
                <a:gd name="T102" fmla="*/ 170161535 w 282"/>
                <a:gd name="T103" fmla="*/ 212769171 h 342"/>
                <a:gd name="T104" fmla="*/ 193632126 w 282"/>
                <a:gd name="T105" fmla="*/ 224590012 h 342"/>
                <a:gd name="T106" fmla="*/ 187764726 w 282"/>
                <a:gd name="T107" fmla="*/ 242320280 h 342"/>
                <a:gd name="T108" fmla="*/ 217102717 w 282"/>
                <a:gd name="T109" fmla="*/ 254141120 h 342"/>
                <a:gd name="T110" fmla="*/ 199500517 w 282"/>
                <a:gd name="T111" fmla="*/ 265961961 h 342"/>
                <a:gd name="T112" fmla="*/ 176029926 w 282"/>
                <a:gd name="T113" fmla="*/ 265961961 h 342"/>
                <a:gd name="T114" fmla="*/ 158426735 w 282"/>
                <a:gd name="T115" fmla="*/ 289602649 h 342"/>
                <a:gd name="T116" fmla="*/ 170161535 w 282"/>
                <a:gd name="T117" fmla="*/ 319153757 h 34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2"/>
                <a:gd name="T178" fmla="*/ 0 h 342"/>
                <a:gd name="T179" fmla="*/ 282 w 282"/>
                <a:gd name="T180" fmla="*/ 342 h 34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2" h="342">
                  <a:moveTo>
                    <a:pt x="132" y="342"/>
                  </a:moveTo>
                  <a:lnTo>
                    <a:pt x="126" y="342"/>
                  </a:lnTo>
                  <a:lnTo>
                    <a:pt x="126" y="336"/>
                  </a:lnTo>
                  <a:lnTo>
                    <a:pt x="132" y="330"/>
                  </a:lnTo>
                  <a:lnTo>
                    <a:pt x="138" y="324"/>
                  </a:lnTo>
                  <a:lnTo>
                    <a:pt x="138" y="312"/>
                  </a:lnTo>
                  <a:lnTo>
                    <a:pt x="132" y="312"/>
                  </a:lnTo>
                  <a:lnTo>
                    <a:pt x="126" y="312"/>
                  </a:lnTo>
                  <a:lnTo>
                    <a:pt x="126" y="306"/>
                  </a:lnTo>
                  <a:lnTo>
                    <a:pt x="120" y="312"/>
                  </a:lnTo>
                  <a:lnTo>
                    <a:pt x="114" y="312"/>
                  </a:lnTo>
                  <a:lnTo>
                    <a:pt x="108" y="312"/>
                  </a:lnTo>
                  <a:lnTo>
                    <a:pt x="108" y="306"/>
                  </a:lnTo>
                  <a:lnTo>
                    <a:pt x="102" y="306"/>
                  </a:lnTo>
                  <a:lnTo>
                    <a:pt x="96" y="306"/>
                  </a:lnTo>
                  <a:lnTo>
                    <a:pt x="96" y="312"/>
                  </a:lnTo>
                  <a:lnTo>
                    <a:pt x="96" y="318"/>
                  </a:lnTo>
                  <a:lnTo>
                    <a:pt x="96" y="324"/>
                  </a:lnTo>
                  <a:lnTo>
                    <a:pt x="90" y="318"/>
                  </a:lnTo>
                  <a:lnTo>
                    <a:pt x="84" y="318"/>
                  </a:lnTo>
                  <a:lnTo>
                    <a:pt x="84" y="312"/>
                  </a:lnTo>
                  <a:lnTo>
                    <a:pt x="84" y="306"/>
                  </a:lnTo>
                  <a:lnTo>
                    <a:pt x="78" y="312"/>
                  </a:lnTo>
                  <a:lnTo>
                    <a:pt x="78" y="306"/>
                  </a:lnTo>
                  <a:lnTo>
                    <a:pt x="78" y="300"/>
                  </a:lnTo>
                  <a:lnTo>
                    <a:pt x="78" y="294"/>
                  </a:lnTo>
                  <a:lnTo>
                    <a:pt x="72" y="294"/>
                  </a:lnTo>
                  <a:lnTo>
                    <a:pt x="78" y="294"/>
                  </a:lnTo>
                  <a:lnTo>
                    <a:pt x="78" y="288"/>
                  </a:lnTo>
                  <a:lnTo>
                    <a:pt x="78" y="282"/>
                  </a:lnTo>
                  <a:lnTo>
                    <a:pt x="72" y="282"/>
                  </a:lnTo>
                  <a:lnTo>
                    <a:pt x="72" y="276"/>
                  </a:lnTo>
                  <a:lnTo>
                    <a:pt x="78" y="276"/>
                  </a:lnTo>
                  <a:lnTo>
                    <a:pt x="78" y="270"/>
                  </a:lnTo>
                  <a:lnTo>
                    <a:pt x="78" y="264"/>
                  </a:lnTo>
                  <a:lnTo>
                    <a:pt x="84" y="264"/>
                  </a:lnTo>
                  <a:lnTo>
                    <a:pt x="84" y="252"/>
                  </a:lnTo>
                  <a:lnTo>
                    <a:pt x="78" y="252"/>
                  </a:lnTo>
                  <a:lnTo>
                    <a:pt x="78" y="246"/>
                  </a:lnTo>
                  <a:lnTo>
                    <a:pt x="84" y="246"/>
                  </a:lnTo>
                  <a:lnTo>
                    <a:pt x="84" y="234"/>
                  </a:lnTo>
                  <a:lnTo>
                    <a:pt x="78" y="228"/>
                  </a:lnTo>
                  <a:lnTo>
                    <a:pt x="84" y="228"/>
                  </a:lnTo>
                  <a:lnTo>
                    <a:pt x="78" y="228"/>
                  </a:lnTo>
                  <a:lnTo>
                    <a:pt x="78" y="222"/>
                  </a:lnTo>
                  <a:lnTo>
                    <a:pt x="84" y="216"/>
                  </a:lnTo>
                  <a:lnTo>
                    <a:pt x="84" y="210"/>
                  </a:lnTo>
                  <a:lnTo>
                    <a:pt x="78" y="210"/>
                  </a:lnTo>
                  <a:lnTo>
                    <a:pt x="84" y="210"/>
                  </a:lnTo>
                  <a:lnTo>
                    <a:pt x="84" y="204"/>
                  </a:lnTo>
                  <a:lnTo>
                    <a:pt x="84" y="198"/>
                  </a:lnTo>
                  <a:lnTo>
                    <a:pt x="84" y="192"/>
                  </a:lnTo>
                  <a:lnTo>
                    <a:pt x="90" y="192"/>
                  </a:lnTo>
                  <a:lnTo>
                    <a:pt x="96" y="192"/>
                  </a:lnTo>
                  <a:lnTo>
                    <a:pt x="96" y="186"/>
                  </a:lnTo>
                  <a:lnTo>
                    <a:pt x="96" y="180"/>
                  </a:lnTo>
                  <a:lnTo>
                    <a:pt x="102" y="180"/>
                  </a:lnTo>
                  <a:lnTo>
                    <a:pt x="102" y="174"/>
                  </a:lnTo>
                  <a:lnTo>
                    <a:pt x="108" y="174"/>
                  </a:lnTo>
                  <a:lnTo>
                    <a:pt x="114" y="180"/>
                  </a:lnTo>
                  <a:lnTo>
                    <a:pt x="120" y="180"/>
                  </a:lnTo>
                  <a:lnTo>
                    <a:pt x="120" y="174"/>
                  </a:lnTo>
                  <a:lnTo>
                    <a:pt x="120" y="168"/>
                  </a:lnTo>
                  <a:lnTo>
                    <a:pt x="114" y="162"/>
                  </a:lnTo>
                  <a:lnTo>
                    <a:pt x="120" y="162"/>
                  </a:lnTo>
                  <a:lnTo>
                    <a:pt x="120" y="156"/>
                  </a:lnTo>
                  <a:lnTo>
                    <a:pt x="114" y="156"/>
                  </a:lnTo>
                  <a:lnTo>
                    <a:pt x="114" y="150"/>
                  </a:lnTo>
                  <a:lnTo>
                    <a:pt x="120" y="150"/>
                  </a:lnTo>
                  <a:lnTo>
                    <a:pt x="120" y="144"/>
                  </a:lnTo>
                  <a:lnTo>
                    <a:pt x="126" y="144"/>
                  </a:lnTo>
                  <a:lnTo>
                    <a:pt x="126" y="138"/>
                  </a:lnTo>
                  <a:lnTo>
                    <a:pt x="126" y="132"/>
                  </a:lnTo>
                  <a:lnTo>
                    <a:pt x="126" y="126"/>
                  </a:lnTo>
                  <a:lnTo>
                    <a:pt x="132" y="120"/>
                  </a:lnTo>
                  <a:lnTo>
                    <a:pt x="126" y="120"/>
                  </a:lnTo>
                  <a:lnTo>
                    <a:pt x="126" y="126"/>
                  </a:lnTo>
                  <a:lnTo>
                    <a:pt x="120" y="126"/>
                  </a:lnTo>
                  <a:lnTo>
                    <a:pt x="120" y="120"/>
                  </a:lnTo>
                  <a:lnTo>
                    <a:pt x="114" y="120"/>
                  </a:lnTo>
                  <a:lnTo>
                    <a:pt x="108" y="126"/>
                  </a:lnTo>
                  <a:lnTo>
                    <a:pt x="108" y="132"/>
                  </a:lnTo>
                  <a:lnTo>
                    <a:pt x="102" y="132"/>
                  </a:lnTo>
                  <a:lnTo>
                    <a:pt x="96" y="138"/>
                  </a:lnTo>
                  <a:lnTo>
                    <a:pt x="102" y="138"/>
                  </a:lnTo>
                  <a:lnTo>
                    <a:pt x="96" y="144"/>
                  </a:lnTo>
                  <a:lnTo>
                    <a:pt x="90" y="138"/>
                  </a:lnTo>
                  <a:lnTo>
                    <a:pt x="84" y="144"/>
                  </a:lnTo>
                  <a:lnTo>
                    <a:pt x="78" y="144"/>
                  </a:lnTo>
                  <a:lnTo>
                    <a:pt x="72" y="150"/>
                  </a:lnTo>
                  <a:lnTo>
                    <a:pt x="66" y="156"/>
                  </a:lnTo>
                  <a:lnTo>
                    <a:pt x="60" y="150"/>
                  </a:lnTo>
                  <a:lnTo>
                    <a:pt x="60" y="144"/>
                  </a:lnTo>
                  <a:lnTo>
                    <a:pt x="54" y="150"/>
                  </a:lnTo>
                  <a:lnTo>
                    <a:pt x="48" y="150"/>
                  </a:lnTo>
                  <a:lnTo>
                    <a:pt x="42" y="162"/>
                  </a:lnTo>
                  <a:lnTo>
                    <a:pt x="36" y="156"/>
                  </a:lnTo>
                  <a:lnTo>
                    <a:pt x="30" y="150"/>
                  </a:lnTo>
                  <a:lnTo>
                    <a:pt x="30" y="144"/>
                  </a:lnTo>
                  <a:lnTo>
                    <a:pt x="24" y="144"/>
                  </a:lnTo>
                  <a:lnTo>
                    <a:pt x="24" y="138"/>
                  </a:lnTo>
                  <a:lnTo>
                    <a:pt x="18" y="138"/>
                  </a:lnTo>
                  <a:lnTo>
                    <a:pt x="18" y="132"/>
                  </a:lnTo>
                  <a:lnTo>
                    <a:pt x="12" y="132"/>
                  </a:lnTo>
                  <a:lnTo>
                    <a:pt x="6" y="132"/>
                  </a:lnTo>
                  <a:lnTo>
                    <a:pt x="6" y="126"/>
                  </a:lnTo>
                  <a:lnTo>
                    <a:pt x="0" y="126"/>
                  </a:lnTo>
                  <a:lnTo>
                    <a:pt x="0" y="120"/>
                  </a:lnTo>
                  <a:lnTo>
                    <a:pt x="6" y="114"/>
                  </a:lnTo>
                  <a:lnTo>
                    <a:pt x="0" y="114"/>
                  </a:lnTo>
                  <a:lnTo>
                    <a:pt x="0" y="108"/>
                  </a:lnTo>
                  <a:lnTo>
                    <a:pt x="0" y="102"/>
                  </a:lnTo>
                  <a:lnTo>
                    <a:pt x="6" y="102"/>
                  </a:lnTo>
                  <a:lnTo>
                    <a:pt x="6" y="96"/>
                  </a:lnTo>
                  <a:lnTo>
                    <a:pt x="6" y="90"/>
                  </a:lnTo>
                  <a:lnTo>
                    <a:pt x="6" y="96"/>
                  </a:lnTo>
                  <a:lnTo>
                    <a:pt x="6" y="90"/>
                  </a:lnTo>
                  <a:lnTo>
                    <a:pt x="12" y="90"/>
                  </a:lnTo>
                  <a:lnTo>
                    <a:pt x="12" y="84"/>
                  </a:lnTo>
                  <a:lnTo>
                    <a:pt x="18" y="84"/>
                  </a:lnTo>
                  <a:lnTo>
                    <a:pt x="24" y="90"/>
                  </a:lnTo>
                  <a:lnTo>
                    <a:pt x="24" y="84"/>
                  </a:lnTo>
                  <a:lnTo>
                    <a:pt x="30" y="90"/>
                  </a:lnTo>
                  <a:lnTo>
                    <a:pt x="36" y="90"/>
                  </a:lnTo>
                  <a:lnTo>
                    <a:pt x="42" y="90"/>
                  </a:lnTo>
                  <a:lnTo>
                    <a:pt x="42" y="96"/>
                  </a:lnTo>
                  <a:lnTo>
                    <a:pt x="48" y="96"/>
                  </a:lnTo>
                  <a:lnTo>
                    <a:pt x="42" y="96"/>
                  </a:lnTo>
                  <a:lnTo>
                    <a:pt x="42" y="102"/>
                  </a:lnTo>
                  <a:lnTo>
                    <a:pt x="42" y="108"/>
                  </a:lnTo>
                  <a:lnTo>
                    <a:pt x="42" y="114"/>
                  </a:lnTo>
                  <a:lnTo>
                    <a:pt x="36" y="114"/>
                  </a:lnTo>
                  <a:lnTo>
                    <a:pt x="36" y="120"/>
                  </a:lnTo>
                  <a:lnTo>
                    <a:pt x="42" y="114"/>
                  </a:lnTo>
                  <a:lnTo>
                    <a:pt x="42" y="120"/>
                  </a:lnTo>
                  <a:lnTo>
                    <a:pt x="42" y="114"/>
                  </a:lnTo>
                  <a:lnTo>
                    <a:pt x="48" y="114"/>
                  </a:lnTo>
                  <a:lnTo>
                    <a:pt x="42" y="114"/>
                  </a:lnTo>
                  <a:lnTo>
                    <a:pt x="42" y="108"/>
                  </a:lnTo>
                  <a:lnTo>
                    <a:pt x="48" y="108"/>
                  </a:lnTo>
                  <a:lnTo>
                    <a:pt x="48" y="102"/>
                  </a:lnTo>
                  <a:lnTo>
                    <a:pt x="48" y="96"/>
                  </a:lnTo>
                  <a:lnTo>
                    <a:pt x="54" y="96"/>
                  </a:lnTo>
                  <a:lnTo>
                    <a:pt x="54" y="102"/>
                  </a:lnTo>
                  <a:lnTo>
                    <a:pt x="60" y="108"/>
                  </a:lnTo>
                  <a:lnTo>
                    <a:pt x="60" y="114"/>
                  </a:lnTo>
                  <a:lnTo>
                    <a:pt x="60" y="108"/>
                  </a:lnTo>
                  <a:lnTo>
                    <a:pt x="66" y="108"/>
                  </a:lnTo>
                  <a:lnTo>
                    <a:pt x="66" y="114"/>
                  </a:lnTo>
                  <a:lnTo>
                    <a:pt x="60" y="114"/>
                  </a:lnTo>
                  <a:lnTo>
                    <a:pt x="66" y="114"/>
                  </a:lnTo>
                  <a:lnTo>
                    <a:pt x="72" y="114"/>
                  </a:lnTo>
                  <a:lnTo>
                    <a:pt x="78" y="108"/>
                  </a:lnTo>
                  <a:lnTo>
                    <a:pt x="78" y="102"/>
                  </a:lnTo>
                  <a:lnTo>
                    <a:pt x="72" y="102"/>
                  </a:lnTo>
                  <a:lnTo>
                    <a:pt x="66" y="102"/>
                  </a:lnTo>
                  <a:lnTo>
                    <a:pt x="66" y="96"/>
                  </a:lnTo>
                  <a:lnTo>
                    <a:pt x="72" y="96"/>
                  </a:lnTo>
                  <a:lnTo>
                    <a:pt x="72" y="102"/>
                  </a:lnTo>
                  <a:lnTo>
                    <a:pt x="72" y="96"/>
                  </a:lnTo>
                  <a:lnTo>
                    <a:pt x="78" y="96"/>
                  </a:lnTo>
                  <a:lnTo>
                    <a:pt x="72" y="90"/>
                  </a:lnTo>
                  <a:lnTo>
                    <a:pt x="84" y="90"/>
                  </a:lnTo>
                  <a:lnTo>
                    <a:pt x="78" y="90"/>
                  </a:lnTo>
                  <a:lnTo>
                    <a:pt x="78" y="84"/>
                  </a:lnTo>
                  <a:lnTo>
                    <a:pt x="84" y="84"/>
                  </a:lnTo>
                  <a:lnTo>
                    <a:pt x="84" y="90"/>
                  </a:lnTo>
                  <a:lnTo>
                    <a:pt x="90" y="90"/>
                  </a:lnTo>
                  <a:lnTo>
                    <a:pt x="90" y="84"/>
                  </a:lnTo>
                  <a:lnTo>
                    <a:pt x="96" y="84"/>
                  </a:lnTo>
                  <a:lnTo>
                    <a:pt x="96" y="78"/>
                  </a:lnTo>
                  <a:lnTo>
                    <a:pt x="90" y="78"/>
                  </a:lnTo>
                  <a:lnTo>
                    <a:pt x="96" y="78"/>
                  </a:lnTo>
                  <a:lnTo>
                    <a:pt x="96" y="72"/>
                  </a:lnTo>
                  <a:lnTo>
                    <a:pt x="102" y="72"/>
                  </a:lnTo>
                  <a:lnTo>
                    <a:pt x="108" y="72"/>
                  </a:lnTo>
                  <a:lnTo>
                    <a:pt x="114" y="72"/>
                  </a:lnTo>
                  <a:lnTo>
                    <a:pt x="114" y="66"/>
                  </a:lnTo>
                  <a:lnTo>
                    <a:pt x="114" y="60"/>
                  </a:lnTo>
                  <a:lnTo>
                    <a:pt x="114" y="66"/>
                  </a:lnTo>
                  <a:lnTo>
                    <a:pt x="108" y="66"/>
                  </a:lnTo>
                  <a:lnTo>
                    <a:pt x="108" y="60"/>
                  </a:lnTo>
                  <a:lnTo>
                    <a:pt x="102" y="60"/>
                  </a:lnTo>
                  <a:lnTo>
                    <a:pt x="96" y="66"/>
                  </a:lnTo>
                  <a:lnTo>
                    <a:pt x="96" y="60"/>
                  </a:lnTo>
                  <a:lnTo>
                    <a:pt x="102" y="60"/>
                  </a:lnTo>
                  <a:lnTo>
                    <a:pt x="102" y="54"/>
                  </a:lnTo>
                  <a:lnTo>
                    <a:pt x="96" y="54"/>
                  </a:lnTo>
                  <a:lnTo>
                    <a:pt x="102" y="48"/>
                  </a:lnTo>
                  <a:lnTo>
                    <a:pt x="96" y="48"/>
                  </a:lnTo>
                  <a:lnTo>
                    <a:pt x="90" y="48"/>
                  </a:lnTo>
                  <a:lnTo>
                    <a:pt x="96" y="48"/>
                  </a:lnTo>
                  <a:lnTo>
                    <a:pt x="96" y="42"/>
                  </a:lnTo>
                  <a:lnTo>
                    <a:pt x="96" y="36"/>
                  </a:lnTo>
                  <a:lnTo>
                    <a:pt x="96" y="30"/>
                  </a:lnTo>
                  <a:lnTo>
                    <a:pt x="102" y="24"/>
                  </a:lnTo>
                  <a:lnTo>
                    <a:pt x="102" y="18"/>
                  </a:lnTo>
                  <a:lnTo>
                    <a:pt x="96" y="18"/>
                  </a:lnTo>
                  <a:lnTo>
                    <a:pt x="90" y="18"/>
                  </a:lnTo>
                  <a:lnTo>
                    <a:pt x="84" y="12"/>
                  </a:lnTo>
                  <a:lnTo>
                    <a:pt x="90" y="12"/>
                  </a:lnTo>
                  <a:lnTo>
                    <a:pt x="90" y="18"/>
                  </a:lnTo>
                  <a:lnTo>
                    <a:pt x="90" y="12"/>
                  </a:lnTo>
                  <a:lnTo>
                    <a:pt x="96" y="12"/>
                  </a:lnTo>
                  <a:lnTo>
                    <a:pt x="96" y="6"/>
                  </a:lnTo>
                  <a:lnTo>
                    <a:pt x="90" y="6"/>
                  </a:lnTo>
                  <a:lnTo>
                    <a:pt x="90" y="0"/>
                  </a:lnTo>
                  <a:lnTo>
                    <a:pt x="96" y="0"/>
                  </a:lnTo>
                  <a:lnTo>
                    <a:pt x="96" y="6"/>
                  </a:lnTo>
                  <a:lnTo>
                    <a:pt x="102" y="6"/>
                  </a:lnTo>
                  <a:lnTo>
                    <a:pt x="102" y="0"/>
                  </a:lnTo>
                  <a:lnTo>
                    <a:pt x="114" y="0"/>
                  </a:lnTo>
                  <a:lnTo>
                    <a:pt x="114" y="6"/>
                  </a:lnTo>
                  <a:lnTo>
                    <a:pt x="120" y="6"/>
                  </a:lnTo>
                  <a:lnTo>
                    <a:pt x="114" y="12"/>
                  </a:lnTo>
                  <a:lnTo>
                    <a:pt x="120" y="12"/>
                  </a:lnTo>
                  <a:lnTo>
                    <a:pt x="126" y="12"/>
                  </a:lnTo>
                  <a:lnTo>
                    <a:pt x="126" y="6"/>
                  </a:lnTo>
                  <a:lnTo>
                    <a:pt x="126" y="12"/>
                  </a:lnTo>
                  <a:lnTo>
                    <a:pt x="132" y="12"/>
                  </a:lnTo>
                  <a:lnTo>
                    <a:pt x="138" y="12"/>
                  </a:lnTo>
                  <a:lnTo>
                    <a:pt x="144" y="12"/>
                  </a:lnTo>
                  <a:lnTo>
                    <a:pt x="150" y="12"/>
                  </a:lnTo>
                  <a:lnTo>
                    <a:pt x="156" y="12"/>
                  </a:lnTo>
                  <a:lnTo>
                    <a:pt x="162" y="12"/>
                  </a:lnTo>
                  <a:lnTo>
                    <a:pt x="168" y="12"/>
                  </a:lnTo>
                  <a:lnTo>
                    <a:pt x="174" y="12"/>
                  </a:lnTo>
                  <a:lnTo>
                    <a:pt x="180" y="18"/>
                  </a:lnTo>
                  <a:lnTo>
                    <a:pt x="180" y="12"/>
                  </a:lnTo>
                  <a:lnTo>
                    <a:pt x="180" y="18"/>
                  </a:lnTo>
                  <a:lnTo>
                    <a:pt x="180" y="12"/>
                  </a:lnTo>
                  <a:lnTo>
                    <a:pt x="186" y="12"/>
                  </a:lnTo>
                  <a:lnTo>
                    <a:pt x="186" y="6"/>
                  </a:lnTo>
                  <a:lnTo>
                    <a:pt x="180" y="6"/>
                  </a:lnTo>
                  <a:lnTo>
                    <a:pt x="180" y="0"/>
                  </a:lnTo>
                  <a:lnTo>
                    <a:pt x="186" y="0"/>
                  </a:lnTo>
                  <a:lnTo>
                    <a:pt x="192" y="0"/>
                  </a:lnTo>
                  <a:lnTo>
                    <a:pt x="192" y="6"/>
                  </a:lnTo>
                  <a:lnTo>
                    <a:pt x="192" y="0"/>
                  </a:lnTo>
                  <a:lnTo>
                    <a:pt x="198" y="0"/>
                  </a:lnTo>
                  <a:lnTo>
                    <a:pt x="198" y="6"/>
                  </a:lnTo>
                  <a:lnTo>
                    <a:pt x="204" y="6"/>
                  </a:lnTo>
                  <a:lnTo>
                    <a:pt x="210" y="6"/>
                  </a:lnTo>
                  <a:lnTo>
                    <a:pt x="210" y="12"/>
                  </a:lnTo>
                  <a:lnTo>
                    <a:pt x="216" y="12"/>
                  </a:lnTo>
                  <a:lnTo>
                    <a:pt x="216" y="18"/>
                  </a:lnTo>
                  <a:lnTo>
                    <a:pt x="222" y="18"/>
                  </a:lnTo>
                  <a:lnTo>
                    <a:pt x="228" y="18"/>
                  </a:lnTo>
                  <a:lnTo>
                    <a:pt x="228" y="24"/>
                  </a:lnTo>
                  <a:lnTo>
                    <a:pt x="234" y="30"/>
                  </a:lnTo>
                  <a:lnTo>
                    <a:pt x="234" y="36"/>
                  </a:lnTo>
                  <a:lnTo>
                    <a:pt x="240" y="36"/>
                  </a:lnTo>
                  <a:lnTo>
                    <a:pt x="240" y="42"/>
                  </a:lnTo>
                  <a:lnTo>
                    <a:pt x="234" y="42"/>
                  </a:lnTo>
                  <a:lnTo>
                    <a:pt x="240" y="48"/>
                  </a:lnTo>
                  <a:lnTo>
                    <a:pt x="240" y="42"/>
                  </a:lnTo>
                  <a:lnTo>
                    <a:pt x="246" y="42"/>
                  </a:lnTo>
                  <a:lnTo>
                    <a:pt x="240" y="48"/>
                  </a:lnTo>
                  <a:lnTo>
                    <a:pt x="246" y="48"/>
                  </a:lnTo>
                  <a:lnTo>
                    <a:pt x="246" y="54"/>
                  </a:lnTo>
                  <a:lnTo>
                    <a:pt x="246" y="60"/>
                  </a:lnTo>
                  <a:lnTo>
                    <a:pt x="246" y="66"/>
                  </a:lnTo>
                  <a:lnTo>
                    <a:pt x="252" y="66"/>
                  </a:lnTo>
                  <a:lnTo>
                    <a:pt x="252" y="72"/>
                  </a:lnTo>
                  <a:lnTo>
                    <a:pt x="246" y="72"/>
                  </a:lnTo>
                  <a:lnTo>
                    <a:pt x="246" y="78"/>
                  </a:lnTo>
                  <a:lnTo>
                    <a:pt x="240" y="78"/>
                  </a:lnTo>
                  <a:lnTo>
                    <a:pt x="234" y="78"/>
                  </a:lnTo>
                  <a:lnTo>
                    <a:pt x="228" y="78"/>
                  </a:lnTo>
                  <a:lnTo>
                    <a:pt x="234" y="84"/>
                  </a:lnTo>
                  <a:lnTo>
                    <a:pt x="228" y="84"/>
                  </a:lnTo>
                  <a:lnTo>
                    <a:pt x="228" y="90"/>
                  </a:lnTo>
                  <a:lnTo>
                    <a:pt x="228" y="84"/>
                  </a:lnTo>
                  <a:lnTo>
                    <a:pt x="222" y="90"/>
                  </a:lnTo>
                  <a:lnTo>
                    <a:pt x="228" y="90"/>
                  </a:lnTo>
                  <a:lnTo>
                    <a:pt x="228" y="96"/>
                  </a:lnTo>
                  <a:lnTo>
                    <a:pt x="234" y="96"/>
                  </a:lnTo>
                  <a:lnTo>
                    <a:pt x="234" y="102"/>
                  </a:lnTo>
                  <a:lnTo>
                    <a:pt x="234" y="108"/>
                  </a:lnTo>
                  <a:lnTo>
                    <a:pt x="234" y="114"/>
                  </a:lnTo>
                  <a:lnTo>
                    <a:pt x="228" y="108"/>
                  </a:lnTo>
                  <a:lnTo>
                    <a:pt x="222" y="108"/>
                  </a:lnTo>
                  <a:lnTo>
                    <a:pt x="222" y="114"/>
                  </a:lnTo>
                  <a:lnTo>
                    <a:pt x="222" y="120"/>
                  </a:lnTo>
                  <a:lnTo>
                    <a:pt x="228" y="120"/>
                  </a:lnTo>
                  <a:lnTo>
                    <a:pt x="228" y="126"/>
                  </a:lnTo>
                  <a:lnTo>
                    <a:pt x="228" y="132"/>
                  </a:lnTo>
                  <a:lnTo>
                    <a:pt x="222" y="132"/>
                  </a:lnTo>
                  <a:lnTo>
                    <a:pt x="228" y="132"/>
                  </a:lnTo>
                  <a:lnTo>
                    <a:pt x="228" y="138"/>
                  </a:lnTo>
                  <a:lnTo>
                    <a:pt x="234" y="138"/>
                  </a:lnTo>
                  <a:lnTo>
                    <a:pt x="240" y="138"/>
                  </a:lnTo>
                  <a:lnTo>
                    <a:pt x="240" y="132"/>
                  </a:lnTo>
                  <a:lnTo>
                    <a:pt x="246" y="132"/>
                  </a:lnTo>
                  <a:lnTo>
                    <a:pt x="252" y="132"/>
                  </a:lnTo>
                  <a:lnTo>
                    <a:pt x="246" y="138"/>
                  </a:lnTo>
                  <a:lnTo>
                    <a:pt x="252" y="138"/>
                  </a:lnTo>
                  <a:lnTo>
                    <a:pt x="252" y="144"/>
                  </a:lnTo>
                  <a:lnTo>
                    <a:pt x="258" y="138"/>
                  </a:lnTo>
                  <a:lnTo>
                    <a:pt x="264" y="138"/>
                  </a:lnTo>
                  <a:lnTo>
                    <a:pt x="270" y="132"/>
                  </a:lnTo>
                  <a:lnTo>
                    <a:pt x="270" y="138"/>
                  </a:lnTo>
                  <a:lnTo>
                    <a:pt x="276" y="138"/>
                  </a:lnTo>
                  <a:lnTo>
                    <a:pt x="282" y="138"/>
                  </a:lnTo>
                  <a:lnTo>
                    <a:pt x="282" y="144"/>
                  </a:lnTo>
                  <a:lnTo>
                    <a:pt x="282" y="150"/>
                  </a:lnTo>
                  <a:lnTo>
                    <a:pt x="276" y="150"/>
                  </a:lnTo>
                  <a:lnTo>
                    <a:pt x="276" y="156"/>
                  </a:lnTo>
                  <a:lnTo>
                    <a:pt x="276" y="150"/>
                  </a:lnTo>
                  <a:lnTo>
                    <a:pt x="276" y="156"/>
                  </a:lnTo>
                  <a:lnTo>
                    <a:pt x="276" y="162"/>
                  </a:lnTo>
                  <a:lnTo>
                    <a:pt x="276" y="156"/>
                  </a:lnTo>
                  <a:lnTo>
                    <a:pt x="276" y="162"/>
                  </a:lnTo>
                  <a:lnTo>
                    <a:pt x="270" y="162"/>
                  </a:lnTo>
                  <a:lnTo>
                    <a:pt x="276" y="162"/>
                  </a:lnTo>
                  <a:lnTo>
                    <a:pt x="276" y="168"/>
                  </a:lnTo>
                  <a:lnTo>
                    <a:pt x="282" y="168"/>
                  </a:lnTo>
                  <a:lnTo>
                    <a:pt x="282" y="174"/>
                  </a:lnTo>
                  <a:lnTo>
                    <a:pt x="282" y="168"/>
                  </a:lnTo>
                  <a:lnTo>
                    <a:pt x="282" y="174"/>
                  </a:lnTo>
                  <a:lnTo>
                    <a:pt x="276" y="174"/>
                  </a:lnTo>
                  <a:lnTo>
                    <a:pt x="276" y="180"/>
                  </a:lnTo>
                  <a:lnTo>
                    <a:pt x="270" y="180"/>
                  </a:lnTo>
                  <a:lnTo>
                    <a:pt x="264" y="180"/>
                  </a:lnTo>
                  <a:lnTo>
                    <a:pt x="258" y="180"/>
                  </a:lnTo>
                  <a:lnTo>
                    <a:pt x="252" y="180"/>
                  </a:lnTo>
                  <a:lnTo>
                    <a:pt x="252" y="186"/>
                  </a:lnTo>
                  <a:lnTo>
                    <a:pt x="252" y="192"/>
                  </a:lnTo>
                  <a:lnTo>
                    <a:pt x="246" y="192"/>
                  </a:lnTo>
                  <a:lnTo>
                    <a:pt x="246" y="198"/>
                  </a:lnTo>
                  <a:lnTo>
                    <a:pt x="246" y="192"/>
                  </a:lnTo>
                  <a:lnTo>
                    <a:pt x="240" y="192"/>
                  </a:lnTo>
                  <a:lnTo>
                    <a:pt x="246" y="192"/>
                  </a:lnTo>
                  <a:lnTo>
                    <a:pt x="246" y="186"/>
                  </a:lnTo>
                  <a:lnTo>
                    <a:pt x="240" y="186"/>
                  </a:lnTo>
                  <a:lnTo>
                    <a:pt x="234" y="186"/>
                  </a:lnTo>
                  <a:lnTo>
                    <a:pt x="228" y="186"/>
                  </a:lnTo>
                  <a:lnTo>
                    <a:pt x="222" y="186"/>
                  </a:lnTo>
                  <a:lnTo>
                    <a:pt x="222" y="192"/>
                  </a:lnTo>
                  <a:lnTo>
                    <a:pt x="228" y="192"/>
                  </a:lnTo>
                  <a:lnTo>
                    <a:pt x="222" y="192"/>
                  </a:lnTo>
                  <a:lnTo>
                    <a:pt x="216" y="192"/>
                  </a:lnTo>
                  <a:lnTo>
                    <a:pt x="216" y="186"/>
                  </a:lnTo>
                  <a:lnTo>
                    <a:pt x="216" y="192"/>
                  </a:lnTo>
                  <a:lnTo>
                    <a:pt x="210" y="192"/>
                  </a:lnTo>
                  <a:lnTo>
                    <a:pt x="210" y="186"/>
                  </a:lnTo>
                  <a:lnTo>
                    <a:pt x="204" y="186"/>
                  </a:lnTo>
                  <a:lnTo>
                    <a:pt x="204" y="192"/>
                  </a:lnTo>
                  <a:lnTo>
                    <a:pt x="198" y="186"/>
                  </a:lnTo>
                  <a:lnTo>
                    <a:pt x="192" y="186"/>
                  </a:lnTo>
                  <a:lnTo>
                    <a:pt x="186" y="186"/>
                  </a:lnTo>
                  <a:lnTo>
                    <a:pt x="192" y="186"/>
                  </a:lnTo>
                  <a:lnTo>
                    <a:pt x="192" y="192"/>
                  </a:lnTo>
                  <a:lnTo>
                    <a:pt x="192" y="198"/>
                  </a:lnTo>
                  <a:lnTo>
                    <a:pt x="186" y="198"/>
                  </a:lnTo>
                  <a:lnTo>
                    <a:pt x="186" y="192"/>
                  </a:lnTo>
                  <a:lnTo>
                    <a:pt x="180" y="192"/>
                  </a:lnTo>
                  <a:lnTo>
                    <a:pt x="180" y="198"/>
                  </a:lnTo>
                  <a:lnTo>
                    <a:pt x="186" y="198"/>
                  </a:lnTo>
                  <a:lnTo>
                    <a:pt x="186" y="204"/>
                  </a:lnTo>
                  <a:lnTo>
                    <a:pt x="186" y="210"/>
                  </a:lnTo>
                  <a:lnTo>
                    <a:pt x="180" y="210"/>
                  </a:lnTo>
                  <a:lnTo>
                    <a:pt x="180" y="216"/>
                  </a:lnTo>
                  <a:lnTo>
                    <a:pt x="174" y="216"/>
                  </a:lnTo>
                  <a:lnTo>
                    <a:pt x="174" y="222"/>
                  </a:lnTo>
                  <a:lnTo>
                    <a:pt x="186" y="222"/>
                  </a:lnTo>
                  <a:lnTo>
                    <a:pt x="192" y="222"/>
                  </a:lnTo>
                  <a:lnTo>
                    <a:pt x="198" y="222"/>
                  </a:lnTo>
                  <a:lnTo>
                    <a:pt x="204" y="222"/>
                  </a:lnTo>
                  <a:lnTo>
                    <a:pt x="204" y="228"/>
                  </a:lnTo>
                  <a:lnTo>
                    <a:pt x="198" y="228"/>
                  </a:lnTo>
                  <a:lnTo>
                    <a:pt x="198" y="234"/>
                  </a:lnTo>
                  <a:lnTo>
                    <a:pt x="192" y="234"/>
                  </a:lnTo>
                  <a:lnTo>
                    <a:pt x="192" y="228"/>
                  </a:lnTo>
                  <a:lnTo>
                    <a:pt x="186" y="228"/>
                  </a:lnTo>
                  <a:lnTo>
                    <a:pt x="186" y="234"/>
                  </a:lnTo>
                  <a:lnTo>
                    <a:pt x="186" y="246"/>
                  </a:lnTo>
                  <a:lnTo>
                    <a:pt x="192" y="246"/>
                  </a:lnTo>
                  <a:lnTo>
                    <a:pt x="198" y="246"/>
                  </a:lnTo>
                  <a:lnTo>
                    <a:pt x="204" y="252"/>
                  </a:lnTo>
                  <a:lnTo>
                    <a:pt x="204" y="246"/>
                  </a:lnTo>
                  <a:lnTo>
                    <a:pt x="210" y="246"/>
                  </a:lnTo>
                  <a:lnTo>
                    <a:pt x="210" y="252"/>
                  </a:lnTo>
                  <a:lnTo>
                    <a:pt x="216" y="252"/>
                  </a:lnTo>
                  <a:lnTo>
                    <a:pt x="222" y="258"/>
                  </a:lnTo>
                  <a:lnTo>
                    <a:pt x="228" y="258"/>
                  </a:lnTo>
                  <a:lnTo>
                    <a:pt x="228" y="264"/>
                  </a:lnTo>
                  <a:lnTo>
                    <a:pt x="228" y="270"/>
                  </a:lnTo>
                  <a:lnTo>
                    <a:pt x="222" y="270"/>
                  </a:lnTo>
                  <a:lnTo>
                    <a:pt x="216" y="270"/>
                  </a:lnTo>
                  <a:lnTo>
                    <a:pt x="210" y="270"/>
                  </a:lnTo>
                  <a:lnTo>
                    <a:pt x="204" y="270"/>
                  </a:lnTo>
                  <a:lnTo>
                    <a:pt x="204" y="264"/>
                  </a:lnTo>
                  <a:lnTo>
                    <a:pt x="198" y="264"/>
                  </a:lnTo>
                  <a:lnTo>
                    <a:pt x="198" y="270"/>
                  </a:lnTo>
                  <a:lnTo>
                    <a:pt x="192" y="270"/>
                  </a:lnTo>
                  <a:lnTo>
                    <a:pt x="186" y="264"/>
                  </a:lnTo>
                  <a:lnTo>
                    <a:pt x="186" y="270"/>
                  </a:lnTo>
                  <a:lnTo>
                    <a:pt x="180" y="270"/>
                  </a:lnTo>
                  <a:lnTo>
                    <a:pt x="180" y="276"/>
                  </a:lnTo>
                  <a:lnTo>
                    <a:pt x="174" y="276"/>
                  </a:lnTo>
                  <a:lnTo>
                    <a:pt x="174" y="282"/>
                  </a:lnTo>
                  <a:lnTo>
                    <a:pt x="168" y="282"/>
                  </a:lnTo>
                  <a:lnTo>
                    <a:pt x="162" y="282"/>
                  </a:lnTo>
                  <a:lnTo>
                    <a:pt x="162" y="288"/>
                  </a:lnTo>
                  <a:lnTo>
                    <a:pt x="162" y="294"/>
                  </a:lnTo>
                  <a:lnTo>
                    <a:pt x="168" y="294"/>
                  </a:lnTo>
                  <a:lnTo>
                    <a:pt x="168" y="306"/>
                  </a:lnTo>
                  <a:lnTo>
                    <a:pt x="174" y="306"/>
                  </a:lnTo>
                  <a:lnTo>
                    <a:pt x="174" y="312"/>
                  </a:lnTo>
                  <a:lnTo>
                    <a:pt x="180" y="318"/>
                  </a:lnTo>
                  <a:lnTo>
                    <a:pt x="174" y="318"/>
                  </a:lnTo>
                  <a:lnTo>
                    <a:pt x="174" y="324"/>
                  </a:lnTo>
                  <a:lnTo>
                    <a:pt x="168" y="324"/>
                  </a:lnTo>
                  <a:lnTo>
                    <a:pt x="168" y="330"/>
                  </a:lnTo>
                  <a:lnTo>
                    <a:pt x="162" y="330"/>
                  </a:lnTo>
                  <a:lnTo>
                    <a:pt x="156" y="330"/>
                  </a:lnTo>
                  <a:lnTo>
                    <a:pt x="138" y="342"/>
                  </a:lnTo>
                  <a:lnTo>
                    <a:pt x="132" y="342"/>
                  </a:lnTo>
                  <a:close/>
                </a:path>
              </a:pathLst>
            </a:custGeom>
            <a:solidFill>
              <a:schemeClr val="accent1"/>
            </a:solidFill>
            <a:ln w="9525">
              <a:solidFill>
                <a:srgbClr val="B2B2B2"/>
              </a:solidFill>
              <a:round/>
              <a:headEnd/>
              <a:tailEnd/>
            </a:ln>
          </p:spPr>
          <p:txBody>
            <a:bodyPr/>
            <a:lstStyle/>
            <a:p>
              <a:endParaRPr lang="en-CA"/>
            </a:p>
          </p:txBody>
        </p:sp>
        <p:sp>
          <p:nvSpPr>
            <p:cNvPr id="431" name="Freeform 490"/>
            <p:cNvSpPr>
              <a:spLocks/>
            </p:cNvSpPr>
            <p:nvPr>
              <p:custDataLst>
                <p:tags r:id="rId54"/>
              </p:custDataLst>
            </p:nvPr>
          </p:nvSpPr>
          <p:spPr bwMode="gray">
            <a:xfrm>
              <a:off x="1173" y="2983"/>
              <a:ext cx="198" cy="135"/>
            </a:xfrm>
            <a:custGeom>
              <a:avLst/>
              <a:gdLst>
                <a:gd name="T0" fmla="*/ 263742398 w 318"/>
                <a:gd name="T1" fmla="*/ 206997611 h 216"/>
                <a:gd name="T2" fmla="*/ 263742398 w 318"/>
                <a:gd name="T3" fmla="*/ 189255355 h 216"/>
                <a:gd name="T4" fmla="*/ 252020447 w 318"/>
                <a:gd name="T5" fmla="*/ 189255355 h 216"/>
                <a:gd name="T6" fmla="*/ 234438016 w 318"/>
                <a:gd name="T7" fmla="*/ 177426524 h 216"/>
                <a:gd name="T8" fmla="*/ 216854597 w 318"/>
                <a:gd name="T9" fmla="*/ 183340939 h 216"/>
                <a:gd name="T10" fmla="*/ 205132646 w 318"/>
                <a:gd name="T11" fmla="*/ 177426524 h 216"/>
                <a:gd name="T12" fmla="*/ 181689734 w 318"/>
                <a:gd name="T13" fmla="*/ 165598684 h 216"/>
                <a:gd name="T14" fmla="*/ 164106315 w 318"/>
                <a:gd name="T15" fmla="*/ 183340939 h 216"/>
                <a:gd name="T16" fmla="*/ 140662414 w 318"/>
                <a:gd name="T17" fmla="*/ 183340939 h 216"/>
                <a:gd name="T18" fmla="*/ 105496564 w 318"/>
                <a:gd name="T19" fmla="*/ 165598684 h 216"/>
                <a:gd name="T20" fmla="*/ 76192182 w 318"/>
                <a:gd name="T21" fmla="*/ 153769852 h 216"/>
                <a:gd name="T22" fmla="*/ 41026332 w 318"/>
                <a:gd name="T23" fmla="*/ 159684268 h 216"/>
                <a:gd name="T24" fmla="*/ 29304381 w 318"/>
                <a:gd name="T25" fmla="*/ 159684268 h 216"/>
                <a:gd name="T26" fmla="*/ 17582431 w 318"/>
                <a:gd name="T27" fmla="*/ 165598684 h 216"/>
                <a:gd name="T28" fmla="*/ 5860481 w 318"/>
                <a:gd name="T29" fmla="*/ 153769852 h 216"/>
                <a:gd name="T30" fmla="*/ 5860481 w 318"/>
                <a:gd name="T31" fmla="*/ 141941020 h 216"/>
                <a:gd name="T32" fmla="*/ 23443900 w 318"/>
                <a:gd name="T33" fmla="*/ 136027597 h 216"/>
                <a:gd name="T34" fmla="*/ 35165851 w 318"/>
                <a:gd name="T35" fmla="*/ 112369933 h 216"/>
                <a:gd name="T36" fmla="*/ 17582431 w 318"/>
                <a:gd name="T37" fmla="*/ 112369933 h 216"/>
                <a:gd name="T38" fmla="*/ 23443900 w 318"/>
                <a:gd name="T39" fmla="*/ 100542094 h 216"/>
                <a:gd name="T40" fmla="*/ 35165851 w 318"/>
                <a:gd name="T41" fmla="*/ 82798846 h 216"/>
                <a:gd name="T42" fmla="*/ 35165851 w 318"/>
                <a:gd name="T43" fmla="*/ 76884430 h 216"/>
                <a:gd name="T44" fmla="*/ 52748282 w 318"/>
                <a:gd name="T45" fmla="*/ 65056590 h 216"/>
                <a:gd name="T46" fmla="*/ 64470232 w 318"/>
                <a:gd name="T47" fmla="*/ 53227759 h 216"/>
                <a:gd name="T48" fmla="*/ 76192182 w 318"/>
                <a:gd name="T49" fmla="*/ 35485503 h 216"/>
                <a:gd name="T50" fmla="*/ 93775602 w 318"/>
                <a:gd name="T51" fmla="*/ 23656671 h 216"/>
                <a:gd name="T52" fmla="*/ 99636083 w 318"/>
                <a:gd name="T53" fmla="*/ 17742255 h 216"/>
                <a:gd name="T54" fmla="*/ 117218514 w 318"/>
                <a:gd name="T55" fmla="*/ 17742255 h 216"/>
                <a:gd name="T56" fmla="*/ 128940464 w 318"/>
                <a:gd name="T57" fmla="*/ 5914416 h 216"/>
                <a:gd name="T58" fmla="*/ 140662414 w 318"/>
                <a:gd name="T59" fmla="*/ 11828832 h 216"/>
                <a:gd name="T60" fmla="*/ 146523884 w 318"/>
                <a:gd name="T61" fmla="*/ 17742255 h 216"/>
                <a:gd name="T62" fmla="*/ 158245834 w 318"/>
                <a:gd name="T63" fmla="*/ 29571087 h 216"/>
                <a:gd name="T64" fmla="*/ 175828265 w 318"/>
                <a:gd name="T65" fmla="*/ 41399919 h 216"/>
                <a:gd name="T66" fmla="*/ 193411685 w 318"/>
                <a:gd name="T67" fmla="*/ 53227759 h 216"/>
                <a:gd name="T68" fmla="*/ 199272166 w 318"/>
                <a:gd name="T69" fmla="*/ 65056590 h 216"/>
                <a:gd name="T70" fmla="*/ 222716066 w 318"/>
                <a:gd name="T71" fmla="*/ 59142175 h 216"/>
                <a:gd name="T72" fmla="*/ 234438016 w 318"/>
                <a:gd name="T73" fmla="*/ 53227759 h 216"/>
                <a:gd name="T74" fmla="*/ 240298497 w 318"/>
                <a:gd name="T75" fmla="*/ 53227759 h 216"/>
                <a:gd name="T76" fmla="*/ 246159967 w 318"/>
                <a:gd name="T77" fmla="*/ 41399919 h 216"/>
                <a:gd name="T78" fmla="*/ 246159967 w 318"/>
                <a:gd name="T79" fmla="*/ 35485503 h 216"/>
                <a:gd name="T80" fmla="*/ 240298497 w 318"/>
                <a:gd name="T81" fmla="*/ 23656671 h 216"/>
                <a:gd name="T82" fmla="*/ 257881917 w 318"/>
                <a:gd name="T83" fmla="*/ 11828832 h 216"/>
                <a:gd name="T84" fmla="*/ 252020447 w 318"/>
                <a:gd name="T85" fmla="*/ 23656671 h 216"/>
                <a:gd name="T86" fmla="*/ 257881917 w 318"/>
                <a:gd name="T87" fmla="*/ 35485503 h 216"/>
                <a:gd name="T88" fmla="*/ 263742398 w 318"/>
                <a:gd name="T89" fmla="*/ 35485503 h 216"/>
                <a:gd name="T90" fmla="*/ 281325817 w 318"/>
                <a:gd name="T91" fmla="*/ 35485503 h 216"/>
                <a:gd name="T92" fmla="*/ 269603867 w 318"/>
                <a:gd name="T93" fmla="*/ 53227759 h 216"/>
                <a:gd name="T94" fmla="*/ 281325817 w 318"/>
                <a:gd name="T95" fmla="*/ 65056590 h 216"/>
                <a:gd name="T96" fmla="*/ 304769718 w 318"/>
                <a:gd name="T97" fmla="*/ 76884430 h 216"/>
                <a:gd name="T98" fmla="*/ 298908248 w 318"/>
                <a:gd name="T99" fmla="*/ 100542094 h 216"/>
                <a:gd name="T100" fmla="*/ 275464348 w 318"/>
                <a:gd name="T101" fmla="*/ 118284349 h 216"/>
                <a:gd name="T102" fmla="*/ 263742398 w 318"/>
                <a:gd name="T103" fmla="*/ 124198765 h 216"/>
                <a:gd name="T104" fmla="*/ 287186298 w 318"/>
                <a:gd name="T105" fmla="*/ 141941020 h 216"/>
                <a:gd name="T106" fmla="*/ 275464348 w 318"/>
                <a:gd name="T107" fmla="*/ 177426524 h 216"/>
                <a:gd name="T108" fmla="*/ 275464348 w 318"/>
                <a:gd name="T109" fmla="*/ 195169771 h 21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18"/>
                <a:gd name="T166" fmla="*/ 0 h 216"/>
                <a:gd name="T167" fmla="*/ 318 w 318"/>
                <a:gd name="T168" fmla="*/ 216 h 21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18" h="216">
                  <a:moveTo>
                    <a:pt x="282" y="210"/>
                  </a:moveTo>
                  <a:lnTo>
                    <a:pt x="282" y="216"/>
                  </a:lnTo>
                  <a:lnTo>
                    <a:pt x="276" y="216"/>
                  </a:lnTo>
                  <a:lnTo>
                    <a:pt x="276" y="210"/>
                  </a:lnTo>
                  <a:lnTo>
                    <a:pt x="270" y="210"/>
                  </a:lnTo>
                  <a:lnTo>
                    <a:pt x="270" y="204"/>
                  </a:lnTo>
                  <a:lnTo>
                    <a:pt x="270" y="210"/>
                  </a:lnTo>
                  <a:lnTo>
                    <a:pt x="264" y="210"/>
                  </a:lnTo>
                  <a:lnTo>
                    <a:pt x="264" y="204"/>
                  </a:lnTo>
                  <a:lnTo>
                    <a:pt x="264" y="198"/>
                  </a:lnTo>
                  <a:lnTo>
                    <a:pt x="258" y="198"/>
                  </a:lnTo>
                  <a:lnTo>
                    <a:pt x="264" y="198"/>
                  </a:lnTo>
                  <a:lnTo>
                    <a:pt x="270" y="198"/>
                  </a:lnTo>
                  <a:lnTo>
                    <a:pt x="270" y="192"/>
                  </a:lnTo>
                  <a:lnTo>
                    <a:pt x="264" y="192"/>
                  </a:lnTo>
                  <a:lnTo>
                    <a:pt x="270" y="192"/>
                  </a:lnTo>
                  <a:lnTo>
                    <a:pt x="264" y="192"/>
                  </a:lnTo>
                  <a:lnTo>
                    <a:pt x="264" y="186"/>
                  </a:lnTo>
                  <a:lnTo>
                    <a:pt x="258" y="192"/>
                  </a:lnTo>
                  <a:lnTo>
                    <a:pt x="264" y="192"/>
                  </a:lnTo>
                  <a:lnTo>
                    <a:pt x="258" y="192"/>
                  </a:lnTo>
                  <a:lnTo>
                    <a:pt x="252" y="186"/>
                  </a:lnTo>
                  <a:lnTo>
                    <a:pt x="252" y="192"/>
                  </a:lnTo>
                  <a:lnTo>
                    <a:pt x="252" y="186"/>
                  </a:lnTo>
                  <a:lnTo>
                    <a:pt x="246" y="186"/>
                  </a:lnTo>
                  <a:lnTo>
                    <a:pt x="240" y="186"/>
                  </a:lnTo>
                  <a:lnTo>
                    <a:pt x="234" y="186"/>
                  </a:lnTo>
                  <a:lnTo>
                    <a:pt x="240" y="180"/>
                  </a:lnTo>
                  <a:lnTo>
                    <a:pt x="234" y="180"/>
                  </a:lnTo>
                  <a:lnTo>
                    <a:pt x="234" y="174"/>
                  </a:lnTo>
                  <a:lnTo>
                    <a:pt x="234" y="180"/>
                  </a:lnTo>
                  <a:lnTo>
                    <a:pt x="234" y="186"/>
                  </a:lnTo>
                  <a:lnTo>
                    <a:pt x="228" y="180"/>
                  </a:lnTo>
                  <a:lnTo>
                    <a:pt x="222" y="180"/>
                  </a:lnTo>
                  <a:lnTo>
                    <a:pt x="222" y="186"/>
                  </a:lnTo>
                  <a:lnTo>
                    <a:pt x="216" y="192"/>
                  </a:lnTo>
                  <a:lnTo>
                    <a:pt x="216" y="186"/>
                  </a:lnTo>
                  <a:lnTo>
                    <a:pt x="216" y="180"/>
                  </a:lnTo>
                  <a:lnTo>
                    <a:pt x="216" y="186"/>
                  </a:lnTo>
                  <a:lnTo>
                    <a:pt x="216" y="180"/>
                  </a:lnTo>
                  <a:lnTo>
                    <a:pt x="210" y="186"/>
                  </a:lnTo>
                  <a:lnTo>
                    <a:pt x="210" y="180"/>
                  </a:lnTo>
                  <a:lnTo>
                    <a:pt x="216" y="180"/>
                  </a:lnTo>
                  <a:lnTo>
                    <a:pt x="210" y="174"/>
                  </a:lnTo>
                  <a:lnTo>
                    <a:pt x="204" y="174"/>
                  </a:lnTo>
                  <a:lnTo>
                    <a:pt x="198" y="168"/>
                  </a:lnTo>
                  <a:lnTo>
                    <a:pt x="192" y="168"/>
                  </a:lnTo>
                  <a:lnTo>
                    <a:pt x="192" y="162"/>
                  </a:lnTo>
                  <a:lnTo>
                    <a:pt x="186" y="168"/>
                  </a:lnTo>
                  <a:lnTo>
                    <a:pt x="180" y="168"/>
                  </a:lnTo>
                  <a:lnTo>
                    <a:pt x="174" y="174"/>
                  </a:lnTo>
                  <a:lnTo>
                    <a:pt x="174" y="180"/>
                  </a:lnTo>
                  <a:lnTo>
                    <a:pt x="174" y="186"/>
                  </a:lnTo>
                  <a:lnTo>
                    <a:pt x="168" y="186"/>
                  </a:lnTo>
                  <a:lnTo>
                    <a:pt x="168" y="192"/>
                  </a:lnTo>
                  <a:lnTo>
                    <a:pt x="168" y="186"/>
                  </a:lnTo>
                  <a:lnTo>
                    <a:pt x="168" y="192"/>
                  </a:lnTo>
                  <a:lnTo>
                    <a:pt x="162" y="186"/>
                  </a:lnTo>
                  <a:lnTo>
                    <a:pt x="150" y="192"/>
                  </a:lnTo>
                  <a:lnTo>
                    <a:pt x="150" y="186"/>
                  </a:lnTo>
                  <a:lnTo>
                    <a:pt x="144" y="186"/>
                  </a:lnTo>
                  <a:lnTo>
                    <a:pt x="144" y="180"/>
                  </a:lnTo>
                  <a:lnTo>
                    <a:pt x="144" y="186"/>
                  </a:lnTo>
                  <a:lnTo>
                    <a:pt x="138" y="180"/>
                  </a:lnTo>
                  <a:lnTo>
                    <a:pt x="132" y="180"/>
                  </a:lnTo>
                  <a:lnTo>
                    <a:pt x="126" y="174"/>
                  </a:lnTo>
                  <a:lnTo>
                    <a:pt x="120" y="174"/>
                  </a:lnTo>
                  <a:lnTo>
                    <a:pt x="114" y="174"/>
                  </a:lnTo>
                  <a:lnTo>
                    <a:pt x="108" y="174"/>
                  </a:lnTo>
                  <a:lnTo>
                    <a:pt x="108" y="168"/>
                  </a:lnTo>
                  <a:lnTo>
                    <a:pt x="102" y="162"/>
                  </a:lnTo>
                  <a:lnTo>
                    <a:pt x="102" y="156"/>
                  </a:lnTo>
                  <a:lnTo>
                    <a:pt x="96" y="156"/>
                  </a:lnTo>
                  <a:lnTo>
                    <a:pt x="96" y="150"/>
                  </a:lnTo>
                  <a:lnTo>
                    <a:pt x="90" y="150"/>
                  </a:lnTo>
                  <a:lnTo>
                    <a:pt x="84" y="156"/>
                  </a:lnTo>
                  <a:lnTo>
                    <a:pt x="78" y="156"/>
                  </a:lnTo>
                  <a:lnTo>
                    <a:pt x="72" y="156"/>
                  </a:lnTo>
                  <a:lnTo>
                    <a:pt x="72" y="168"/>
                  </a:lnTo>
                  <a:lnTo>
                    <a:pt x="60" y="168"/>
                  </a:lnTo>
                  <a:lnTo>
                    <a:pt x="48" y="168"/>
                  </a:lnTo>
                  <a:lnTo>
                    <a:pt x="48" y="162"/>
                  </a:lnTo>
                  <a:lnTo>
                    <a:pt x="48" y="168"/>
                  </a:lnTo>
                  <a:lnTo>
                    <a:pt x="42" y="162"/>
                  </a:lnTo>
                  <a:lnTo>
                    <a:pt x="36" y="162"/>
                  </a:lnTo>
                  <a:lnTo>
                    <a:pt x="42" y="156"/>
                  </a:lnTo>
                  <a:lnTo>
                    <a:pt x="36" y="156"/>
                  </a:lnTo>
                  <a:lnTo>
                    <a:pt x="36" y="162"/>
                  </a:lnTo>
                  <a:lnTo>
                    <a:pt x="36" y="156"/>
                  </a:lnTo>
                  <a:lnTo>
                    <a:pt x="30" y="156"/>
                  </a:lnTo>
                  <a:lnTo>
                    <a:pt x="30" y="162"/>
                  </a:lnTo>
                  <a:lnTo>
                    <a:pt x="30" y="168"/>
                  </a:lnTo>
                  <a:lnTo>
                    <a:pt x="24" y="168"/>
                  </a:lnTo>
                  <a:lnTo>
                    <a:pt x="24" y="162"/>
                  </a:lnTo>
                  <a:lnTo>
                    <a:pt x="30" y="162"/>
                  </a:lnTo>
                  <a:lnTo>
                    <a:pt x="24" y="156"/>
                  </a:lnTo>
                  <a:lnTo>
                    <a:pt x="24" y="162"/>
                  </a:lnTo>
                  <a:lnTo>
                    <a:pt x="18" y="168"/>
                  </a:lnTo>
                  <a:lnTo>
                    <a:pt x="12" y="174"/>
                  </a:lnTo>
                  <a:lnTo>
                    <a:pt x="6" y="174"/>
                  </a:lnTo>
                  <a:lnTo>
                    <a:pt x="6" y="180"/>
                  </a:lnTo>
                  <a:lnTo>
                    <a:pt x="6" y="168"/>
                  </a:lnTo>
                  <a:lnTo>
                    <a:pt x="6" y="162"/>
                  </a:lnTo>
                  <a:lnTo>
                    <a:pt x="0" y="156"/>
                  </a:lnTo>
                  <a:lnTo>
                    <a:pt x="6" y="156"/>
                  </a:lnTo>
                  <a:lnTo>
                    <a:pt x="0" y="156"/>
                  </a:lnTo>
                  <a:lnTo>
                    <a:pt x="6" y="150"/>
                  </a:lnTo>
                  <a:lnTo>
                    <a:pt x="0" y="150"/>
                  </a:lnTo>
                  <a:lnTo>
                    <a:pt x="6" y="150"/>
                  </a:lnTo>
                  <a:lnTo>
                    <a:pt x="0" y="150"/>
                  </a:lnTo>
                  <a:lnTo>
                    <a:pt x="6" y="150"/>
                  </a:lnTo>
                  <a:lnTo>
                    <a:pt x="6" y="144"/>
                  </a:lnTo>
                  <a:lnTo>
                    <a:pt x="12" y="150"/>
                  </a:lnTo>
                  <a:lnTo>
                    <a:pt x="18" y="144"/>
                  </a:lnTo>
                  <a:lnTo>
                    <a:pt x="18" y="150"/>
                  </a:lnTo>
                  <a:lnTo>
                    <a:pt x="18" y="144"/>
                  </a:lnTo>
                  <a:lnTo>
                    <a:pt x="24" y="150"/>
                  </a:lnTo>
                  <a:lnTo>
                    <a:pt x="24" y="144"/>
                  </a:lnTo>
                  <a:lnTo>
                    <a:pt x="24" y="138"/>
                  </a:lnTo>
                  <a:lnTo>
                    <a:pt x="30" y="138"/>
                  </a:lnTo>
                  <a:lnTo>
                    <a:pt x="36" y="132"/>
                  </a:lnTo>
                  <a:lnTo>
                    <a:pt x="30" y="132"/>
                  </a:lnTo>
                  <a:lnTo>
                    <a:pt x="30" y="126"/>
                  </a:lnTo>
                  <a:lnTo>
                    <a:pt x="36" y="126"/>
                  </a:lnTo>
                  <a:lnTo>
                    <a:pt x="36" y="120"/>
                  </a:lnTo>
                  <a:lnTo>
                    <a:pt x="36" y="114"/>
                  </a:lnTo>
                  <a:lnTo>
                    <a:pt x="30" y="114"/>
                  </a:lnTo>
                  <a:lnTo>
                    <a:pt x="30" y="108"/>
                  </a:lnTo>
                  <a:lnTo>
                    <a:pt x="24" y="108"/>
                  </a:lnTo>
                  <a:lnTo>
                    <a:pt x="24" y="114"/>
                  </a:lnTo>
                  <a:lnTo>
                    <a:pt x="30" y="114"/>
                  </a:lnTo>
                  <a:lnTo>
                    <a:pt x="24" y="114"/>
                  </a:lnTo>
                  <a:lnTo>
                    <a:pt x="18" y="114"/>
                  </a:lnTo>
                  <a:lnTo>
                    <a:pt x="18" y="120"/>
                  </a:lnTo>
                  <a:lnTo>
                    <a:pt x="18" y="114"/>
                  </a:lnTo>
                  <a:lnTo>
                    <a:pt x="18" y="108"/>
                  </a:lnTo>
                  <a:lnTo>
                    <a:pt x="24" y="108"/>
                  </a:lnTo>
                  <a:lnTo>
                    <a:pt x="18" y="108"/>
                  </a:lnTo>
                  <a:lnTo>
                    <a:pt x="24" y="108"/>
                  </a:lnTo>
                  <a:lnTo>
                    <a:pt x="24" y="102"/>
                  </a:lnTo>
                  <a:lnTo>
                    <a:pt x="30" y="102"/>
                  </a:lnTo>
                  <a:lnTo>
                    <a:pt x="30" y="96"/>
                  </a:lnTo>
                  <a:lnTo>
                    <a:pt x="36" y="96"/>
                  </a:lnTo>
                  <a:lnTo>
                    <a:pt x="36" y="90"/>
                  </a:lnTo>
                  <a:lnTo>
                    <a:pt x="36" y="96"/>
                  </a:lnTo>
                  <a:lnTo>
                    <a:pt x="36" y="90"/>
                  </a:lnTo>
                  <a:lnTo>
                    <a:pt x="36" y="84"/>
                  </a:lnTo>
                  <a:lnTo>
                    <a:pt x="30" y="84"/>
                  </a:lnTo>
                  <a:lnTo>
                    <a:pt x="30" y="90"/>
                  </a:lnTo>
                  <a:lnTo>
                    <a:pt x="30" y="84"/>
                  </a:lnTo>
                  <a:lnTo>
                    <a:pt x="36" y="84"/>
                  </a:lnTo>
                  <a:lnTo>
                    <a:pt x="36" y="78"/>
                  </a:lnTo>
                  <a:lnTo>
                    <a:pt x="36" y="84"/>
                  </a:lnTo>
                  <a:lnTo>
                    <a:pt x="36" y="78"/>
                  </a:lnTo>
                  <a:lnTo>
                    <a:pt x="42" y="78"/>
                  </a:lnTo>
                  <a:lnTo>
                    <a:pt x="42" y="72"/>
                  </a:lnTo>
                  <a:lnTo>
                    <a:pt x="48" y="72"/>
                  </a:lnTo>
                  <a:lnTo>
                    <a:pt x="54" y="72"/>
                  </a:lnTo>
                  <a:lnTo>
                    <a:pt x="48" y="72"/>
                  </a:lnTo>
                  <a:lnTo>
                    <a:pt x="48" y="66"/>
                  </a:lnTo>
                  <a:lnTo>
                    <a:pt x="54" y="66"/>
                  </a:lnTo>
                  <a:lnTo>
                    <a:pt x="48" y="66"/>
                  </a:lnTo>
                  <a:lnTo>
                    <a:pt x="54" y="60"/>
                  </a:lnTo>
                  <a:lnTo>
                    <a:pt x="60" y="60"/>
                  </a:lnTo>
                  <a:lnTo>
                    <a:pt x="66" y="60"/>
                  </a:lnTo>
                  <a:lnTo>
                    <a:pt x="66" y="54"/>
                  </a:lnTo>
                  <a:lnTo>
                    <a:pt x="60" y="54"/>
                  </a:lnTo>
                  <a:lnTo>
                    <a:pt x="66" y="54"/>
                  </a:lnTo>
                  <a:lnTo>
                    <a:pt x="66" y="48"/>
                  </a:lnTo>
                  <a:lnTo>
                    <a:pt x="72" y="48"/>
                  </a:lnTo>
                  <a:lnTo>
                    <a:pt x="72" y="42"/>
                  </a:lnTo>
                  <a:lnTo>
                    <a:pt x="78" y="42"/>
                  </a:lnTo>
                  <a:lnTo>
                    <a:pt x="78" y="36"/>
                  </a:lnTo>
                  <a:lnTo>
                    <a:pt x="84" y="36"/>
                  </a:lnTo>
                  <a:lnTo>
                    <a:pt x="78" y="36"/>
                  </a:lnTo>
                  <a:lnTo>
                    <a:pt x="72" y="36"/>
                  </a:lnTo>
                  <a:lnTo>
                    <a:pt x="78" y="30"/>
                  </a:lnTo>
                  <a:lnTo>
                    <a:pt x="78" y="24"/>
                  </a:lnTo>
                  <a:lnTo>
                    <a:pt x="84" y="24"/>
                  </a:lnTo>
                  <a:lnTo>
                    <a:pt x="90" y="24"/>
                  </a:lnTo>
                  <a:lnTo>
                    <a:pt x="96" y="30"/>
                  </a:lnTo>
                  <a:lnTo>
                    <a:pt x="96" y="24"/>
                  </a:lnTo>
                  <a:lnTo>
                    <a:pt x="90" y="24"/>
                  </a:lnTo>
                  <a:lnTo>
                    <a:pt x="96" y="24"/>
                  </a:lnTo>
                  <a:lnTo>
                    <a:pt x="96" y="18"/>
                  </a:lnTo>
                  <a:lnTo>
                    <a:pt x="96" y="12"/>
                  </a:lnTo>
                  <a:lnTo>
                    <a:pt x="96" y="18"/>
                  </a:lnTo>
                  <a:lnTo>
                    <a:pt x="102" y="12"/>
                  </a:lnTo>
                  <a:lnTo>
                    <a:pt x="102" y="18"/>
                  </a:lnTo>
                  <a:lnTo>
                    <a:pt x="96" y="18"/>
                  </a:lnTo>
                  <a:lnTo>
                    <a:pt x="102" y="18"/>
                  </a:lnTo>
                  <a:lnTo>
                    <a:pt x="102" y="12"/>
                  </a:lnTo>
                  <a:lnTo>
                    <a:pt x="108" y="12"/>
                  </a:lnTo>
                  <a:lnTo>
                    <a:pt x="114" y="12"/>
                  </a:lnTo>
                  <a:lnTo>
                    <a:pt x="114" y="18"/>
                  </a:lnTo>
                  <a:lnTo>
                    <a:pt x="120" y="18"/>
                  </a:lnTo>
                  <a:lnTo>
                    <a:pt x="120" y="12"/>
                  </a:lnTo>
                  <a:lnTo>
                    <a:pt x="126" y="12"/>
                  </a:lnTo>
                  <a:lnTo>
                    <a:pt x="120" y="18"/>
                  </a:lnTo>
                  <a:lnTo>
                    <a:pt x="126" y="18"/>
                  </a:lnTo>
                  <a:lnTo>
                    <a:pt x="126" y="12"/>
                  </a:lnTo>
                  <a:lnTo>
                    <a:pt x="132" y="12"/>
                  </a:lnTo>
                  <a:lnTo>
                    <a:pt x="132" y="6"/>
                  </a:lnTo>
                  <a:lnTo>
                    <a:pt x="126" y="6"/>
                  </a:lnTo>
                  <a:lnTo>
                    <a:pt x="132" y="6"/>
                  </a:lnTo>
                  <a:lnTo>
                    <a:pt x="132" y="0"/>
                  </a:lnTo>
                  <a:lnTo>
                    <a:pt x="138" y="0"/>
                  </a:lnTo>
                  <a:lnTo>
                    <a:pt x="144" y="0"/>
                  </a:lnTo>
                  <a:lnTo>
                    <a:pt x="144" y="6"/>
                  </a:lnTo>
                  <a:lnTo>
                    <a:pt x="144" y="12"/>
                  </a:lnTo>
                  <a:lnTo>
                    <a:pt x="144" y="6"/>
                  </a:lnTo>
                  <a:lnTo>
                    <a:pt x="144" y="12"/>
                  </a:lnTo>
                  <a:lnTo>
                    <a:pt x="150" y="12"/>
                  </a:lnTo>
                  <a:lnTo>
                    <a:pt x="144" y="12"/>
                  </a:lnTo>
                  <a:lnTo>
                    <a:pt x="150" y="18"/>
                  </a:lnTo>
                  <a:lnTo>
                    <a:pt x="150" y="24"/>
                  </a:lnTo>
                  <a:lnTo>
                    <a:pt x="150" y="18"/>
                  </a:lnTo>
                  <a:lnTo>
                    <a:pt x="150" y="24"/>
                  </a:lnTo>
                  <a:lnTo>
                    <a:pt x="156" y="30"/>
                  </a:lnTo>
                  <a:lnTo>
                    <a:pt x="162" y="30"/>
                  </a:lnTo>
                  <a:lnTo>
                    <a:pt x="162" y="24"/>
                  </a:lnTo>
                  <a:lnTo>
                    <a:pt x="162" y="30"/>
                  </a:lnTo>
                  <a:lnTo>
                    <a:pt x="168" y="30"/>
                  </a:lnTo>
                  <a:lnTo>
                    <a:pt x="162" y="30"/>
                  </a:lnTo>
                  <a:lnTo>
                    <a:pt x="162" y="36"/>
                  </a:lnTo>
                  <a:lnTo>
                    <a:pt x="168" y="36"/>
                  </a:lnTo>
                  <a:lnTo>
                    <a:pt x="168" y="42"/>
                  </a:lnTo>
                  <a:lnTo>
                    <a:pt x="174" y="42"/>
                  </a:lnTo>
                  <a:lnTo>
                    <a:pt x="174" y="48"/>
                  </a:lnTo>
                  <a:lnTo>
                    <a:pt x="174" y="42"/>
                  </a:lnTo>
                  <a:lnTo>
                    <a:pt x="180" y="42"/>
                  </a:lnTo>
                  <a:lnTo>
                    <a:pt x="180" y="48"/>
                  </a:lnTo>
                  <a:lnTo>
                    <a:pt x="186" y="48"/>
                  </a:lnTo>
                  <a:lnTo>
                    <a:pt x="186" y="54"/>
                  </a:lnTo>
                  <a:lnTo>
                    <a:pt x="186" y="60"/>
                  </a:lnTo>
                  <a:lnTo>
                    <a:pt x="192" y="60"/>
                  </a:lnTo>
                  <a:lnTo>
                    <a:pt x="192" y="54"/>
                  </a:lnTo>
                  <a:lnTo>
                    <a:pt x="198" y="54"/>
                  </a:lnTo>
                  <a:lnTo>
                    <a:pt x="198" y="60"/>
                  </a:lnTo>
                  <a:lnTo>
                    <a:pt x="198" y="54"/>
                  </a:lnTo>
                  <a:lnTo>
                    <a:pt x="198" y="60"/>
                  </a:lnTo>
                  <a:lnTo>
                    <a:pt x="204" y="60"/>
                  </a:lnTo>
                  <a:lnTo>
                    <a:pt x="204" y="54"/>
                  </a:lnTo>
                  <a:lnTo>
                    <a:pt x="204" y="60"/>
                  </a:lnTo>
                  <a:lnTo>
                    <a:pt x="204" y="66"/>
                  </a:lnTo>
                  <a:lnTo>
                    <a:pt x="204" y="60"/>
                  </a:lnTo>
                  <a:lnTo>
                    <a:pt x="210" y="60"/>
                  </a:lnTo>
                  <a:lnTo>
                    <a:pt x="210" y="54"/>
                  </a:lnTo>
                  <a:lnTo>
                    <a:pt x="216" y="54"/>
                  </a:lnTo>
                  <a:lnTo>
                    <a:pt x="216" y="60"/>
                  </a:lnTo>
                  <a:lnTo>
                    <a:pt x="222" y="60"/>
                  </a:lnTo>
                  <a:lnTo>
                    <a:pt x="228" y="60"/>
                  </a:lnTo>
                  <a:lnTo>
                    <a:pt x="228" y="54"/>
                  </a:lnTo>
                  <a:lnTo>
                    <a:pt x="222" y="54"/>
                  </a:lnTo>
                  <a:lnTo>
                    <a:pt x="228" y="54"/>
                  </a:lnTo>
                  <a:lnTo>
                    <a:pt x="228" y="48"/>
                  </a:lnTo>
                  <a:lnTo>
                    <a:pt x="234" y="48"/>
                  </a:lnTo>
                  <a:lnTo>
                    <a:pt x="234" y="54"/>
                  </a:lnTo>
                  <a:lnTo>
                    <a:pt x="240" y="54"/>
                  </a:lnTo>
                  <a:lnTo>
                    <a:pt x="240" y="48"/>
                  </a:lnTo>
                  <a:lnTo>
                    <a:pt x="234" y="48"/>
                  </a:lnTo>
                  <a:lnTo>
                    <a:pt x="240" y="48"/>
                  </a:lnTo>
                  <a:lnTo>
                    <a:pt x="240" y="54"/>
                  </a:lnTo>
                  <a:lnTo>
                    <a:pt x="246" y="54"/>
                  </a:lnTo>
                  <a:lnTo>
                    <a:pt x="252" y="54"/>
                  </a:lnTo>
                  <a:lnTo>
                    <a:pt x="246" y="54"/>
                  </a:lnTo>
                  <a:lnTo>
                    <a:pt x="252" y="54"/>
                  </a:lnTo>
                  <a:lnTo>
                    <a:pt x="252" y="48"/>
                  </a:lnTo>
                  <a:lnTo>
                    <a:pt x="246" y="48"/>
                  </a:lnTo>
                  <a:lnTo>
                    <a:pt x="252" y="48"/>
                  </a:lnTo>
                  <a:lnTo>
                    <a:pt x="246" y="48"/>
                  </a:lnTo>
                  <a:lnTo>
                    <a:pt x="246" y="42"/>
                  </a:lnTo>
                  <a:lnTo>
                    <a:pt x="252" y="42"/>
                  </a:lnTo>
                  <a:lnTo>
                    <a:pt x="252" y="48"/>
                  </a:lnTo>
                  <a:lnTo>
                    <a:pt x="258" y="48"/>
                  </a:lnTo>
                  <a:lnTo>
                    <a:pt x="258" y="42"/>
                  </a:lnTo>
                  <a:lnTo>
                    <a:pt x="252" y="42"/>
                  </a:lnTo>
                  <a:lnTo>
                    <a:pt x="258" y="42"/>
                  </a:lnTo>
                  <a:lnTo>
                    <a:pt x="252" y="42"/>
                  </a:lnTo>
                  <a:lnTo>
                    <a:pt x="252" y="36"/>
                  </a:lnTo>
                  <a:lnTo>
                    <a:pt x="246" y="36"/>
                  </a:lnTo>
                  <a:lnTo>
                    <a:pt x="252" y="36"/>
                  </a:lnTo>
                  <a:lnTo>
                    <a:pt x="246" y="36"/>
                  </a:lnTo>
                  <a:lnTo>
                    <a:pt x="240" y="36"/>
                  </a:lnTo>
                  <a:lnTo>
                    <a:pt x="240" y="30"/>
                  </a:lnTo>
                  <a:lnTo>
                    <a:pt x="246" y="30"/>
                  </a:lnTo>
                  <a:lnTo>
                    <a:pt x="246" y="24"/>
                  </a:lnTo>
                  <a:lnTo>
                    <a:pt x="246" y="30"/>
                  </a:lnTo>
                  <a:lnTo>
                    <a:pt x="246" y="24"/>
                  </a:lnTo>
                  <a:lnTo>
                    <a:pt x="252" y="24"/>
                  </a:lnTo>
                  <a:lnTo>
                    <a:pt x="258" y="24"/>
                  </a:lnTo>
                  <a:lnTo>
                    <a:pt x="258" y="18"/>
                  </a:lnTo>
                  <a:lnTo>
                    <a:pt x="258" y="12"/>
                  </a:lnTo>
                  <a:lnTo>
                    <a:pt x="264" y="12"/>
                  </a:lnTo>
                  <a:lnTo>
                    <a:pt x="270" y="12"/>
                  </a:lnTo>
                  <a:lnTo>
                    <a:pt x="264" y="12"/>
                  </a:lnTo>
                  <a:lnTo>
                    <a:pt x="270" y="12"/>
                  </a:lnTo>
                  <a:lnTo>
                    <a:pt x="264" y="12"/>
                  </a:lnTo>
                  <a:lnTo>
                    <a:pt x="264" y="18"/>
                  </a:lnTo>
                  <a:lnTo>
                    <a:pt x="264" y="24"/>
                  </a:lnTo>
                  <a:lnTo>
                    <a:pt x="258" y="24"/>
                  </a:lnTo>
                  <a:lnTo>
                    <a:pt x="258" y="30"/>
                  </a:lnTo>
                  <a:lnTo>
                    <a:pt x="258" y="36"/>
                  </a:lnTo>
                  <a:lnTo>
                    <a:pt x="258" y="30"/>
                  </a:lnTo>
                  <a:lnTo>
                    <a:pt x="258" y="36"/>
                  </a:lnTo>
                  <a:lnTo>
                    <a:pt x="264" y="36"/>
                  </a:lnTo>
                  <a:lnTo>
                    <a:pt x="264" y="42"/>
                  </a:lnTo>
                  <a:lnTo>
                    <a:pt x="264" y="36"/>
                  </a:lnTo>
                  <a:lnTo>
                    <a:pt x="264" y="42"/>
                  </a:lnTo>
                  <a:lnTo>
                    <a:pt x="270" y="42"/>
                  </a:lnTo>
                  <a:lnTo>
                    <a:pt x="270" y="48"/>
                  </a:lnTo>
                  <a:lnTo>
                    <a:pt x="276" y="48"/>
                  </a:lnTo>
                  <a:lnTo>
                    <a:pt x="276" y="42"/>
                  </a:lnTo>
                  <a:lnTo>
                    <a:pt x="276" y="36"/>
                  </a:lnTo>
                  <a:lnTo>
                    <a:pt x="270" y="36"/>
                  </a:lnTo>
                  <a:lnTo>
                    <a:pt x="276" y="36"/>
                  </a:lnTo>
                  <a:lnTo>
                    <a:pt x="276" y="30"/>
                  </a:lnTo>
                  <a:lnTo>
                    <a:pt x="276" y="36"/>
                  </a:lnTo>
                  <a:lnTo>
                    <a:pt x="276" y="30"/>
                  </a:lnTo>
                  <a:lnTo>
                    <a:pt x="282" y="30"/>
                  </a:lnTo>
                  <a:lnTo>
                    <a:pt x="282" y="36"/>
                  </a:lnTo>
                  <a:lnTo>
                    <a:pt x="288" y="36"/>
                  </a:lnTo>
                  <a:lnTo>
                    <a:pt x="288" y="42"/>
                  </a:lnTo>
                  <a:lnTo>
                    <a:pt x="282" y="42"/>
                  </a:lnTo>
                  <a:lnTo>
                    <a:pt x="282" y="48"/>
                  </a:lnTo>
                  <a:lnTo>
                    <a:pt x="282" y="54"/>
                  </a:lnTo>
                  <a:lnTo>
                    <a:pt x="276" y="54"/>
                  </a:lnTo>
                  <a:lnTo>
                    <a:pt x="282" y="54"/>
                  </a:lnTo>
                  <a:lnTo>
                    <a:pt x="276" y="54"/>
                  </a:lnTo>
                  <a:lnTo>
                    <a:pt x="276" y="60"/>
                  </a:lnTo>
                  <a:lnTo>
                    <a:pt x="270" y="60"/>
                  </a:lnTo>
                  <a:lnTo>
                    <a:pt x="270" y="66"/>
                  </a:lnTo>
                  <a:lnTo>
                    <a:pt x="276" y="66"/>
                  </a:lnTo>
                  <a:lnTo>
                    <a:pt x="282" y="66"/>
                  </a:lnTo>
                  <a:lnTo>
                    <a:pt x="288" y="60"/>
                  </a:lnTo>
                  <a:lnTo>
                    <a:pt x="288" y="66"/>
                  </a:lnTo>
                  <a:lnTo>
                    <a:pt x="288" y="60"/>
                  </a:lnTo>
                  <a:lnTo>
                    <a:pt x="294" y="60"/>
                  </a:lnTo>
                  <a:lnTo>
                    <a:pt x="300" y="66"/>
                  </a:lnTo>
                  <a:lnTo>
                    <a:pt x="306" y="66"/>
                  </a:lnTo>
                  <a:lnTo>
                    <a:pt x="306" y="72"/>
                  </a:lnTo>
                  <a:lnTo>
                    <a:pt x="312" y="72"/>
                  </a:lnTo>
                  <a:lnTo>
                    <a:pt x="312" y="78"/>
                  </a:lnTo>
                  <a:lnTo>
                    <a:pt x="318" y="78"/>
                  </a:lnTo>
                  <a:lnTo>
                    <a:pt x="318" y="84"/>
                  </a:lnTo>
                  <a:lnTo>
                    <a:pt x="312" y="84"/>
                  </a:lnTo>
                  <a:lnTo>
                    <a:pt x="312" y="90"/>
                  </a:lnTo>
                  <a:lnTo>
                    <a:pt x="306" y="90"/>
                  </a:lnTo>
                  <a:lnTo>
                    <a:pt x="306" y="96"/>
                  </a:lnTo>
                  <a:lnTo>
                    <a:pt x="306" y="102"/>
                  </a:lnTo>
                  <a:lnTo>
                    <a:pt x="300" y="102"/>
                  </a:lnTo>
                  <a:lnTo>
                    <a:pt x="300" y="108"/>
                  </a:lnTo>
                  <a:lnTo>
                    <a:pt x="294" y="108"/>
                  </a:lnTo>
                  <a:lnTo>
                    <a:pt x="294" y="114"/>
                  </a:lnTo>
                  <a:lnTo>
                    <a:pt x="288" y="114"/>
                  </a:lnTo>
                  <a:lnTo>
                    <a:pt x="288" y="120"/>
                  </a:lnTo>
                  <a:lnTo>
                    <a:pt x="282" y="120"/>
                  </a:lnTo>
                  <a:lnTo>
                    <a:pt x="282" y="114"/>
                  </a:lnTo>
                  <a:lnTo>
                    <a:pt x="282" y="120"/>
                  </a:lnTo>
                  <a:lnTo>
                    <a:pt x="276" y="120"/>
                  </a:lnTo>
                  <a:lnTo>
                    <a:pt x="282" y="120"/>
                  </a:lnTo>
                  <a:lnTo>
                    <a:pt x="276" y="120"/>
                  </a:lnTo>
                  <a:lnTo>
                    <a:pt x="270" y="120"/>
                  </a:lnTo>
                  <a:lnTo>
                    <a:pt x="270" y="126"/>
                  </a:lnTo>
                  <a:lnTo>
                    <a:pt x="276" y="126"/>
                  </a:lnTo>
                  <a:lnTo>
                    <a:pt x="276" y="132"/>
                  </a:lnTo>
                  <a:lnTo>
                    <a:pt x="282" y="132"/>
                  </a:lnTo>
                  <a:lnTo>
                    <a:pt x="282" y="138"/>
                  </a:lnTo>
                  <a:lnTo>
                    <a:pt x="282" y="144"/>
                  </a:lnTo>
                  <a:lnTo>
                    <a:pt x="288" y="144"/>
                  </a:lnTo>
                  <a:lnTo>
                    <a:pt x="294" y="144"/>
                  </a:lnTo>
                  <a:lnTo>
                    <a:pt x="288" y="144"/>
                  </a:lnTo>
                  <a:lnTo>
                    <a:pt x="288" y="150"/>
                  </a:lnTo>
                  <a:lnTo>
                    <a:pt x="288" y="156"/>
                  </a:lnTo>
                  <a:lnTo>
                    <a:pt x="288" y="162"/>
                  </a:lnTo>
                  <a:lnTo>
                    <a:pt x="282" y="168"/>
                  </a:lnTo>
                  <a:lnTo>
                    <a:pt x="282" y="174"/>
                  </a:lnTo>
                  <a:lnTo>
                    <a:pt x="282" y="180"/>
                  </a:lnTo>
                  <a:lnTo>
                    <a:pt x="276" y="180"/>
                  </a:lnTo>
                  <a:lnTo>
                    <a:pt x="282" y="180"/>
                  </a:lnTo>
                  <a:lnTo>
                    <a:pt x="282" y="186"/>
                  </a:lnTo>
                  <a:lnTo>
                    <a:pt x="276" y="186"/>
                  </a:lnTo>
                  <a:lnTo>
                    <a:pt x="282" y="186"/>
                  </a:lnTo>
                  <a:lnTo>
                    <a:pt x="282" y="192"/>
                  </a:lnTo>
                  <a:lnTo>
                    <a:pt x="282" y="198"/>
                  </a:lnTo>
                  <a:lnTo>
                    <a:pt x="282" y="204"/>
                  </a:lnTo>
                  <a:lnTo>
                    <a:pt x="282" y="210"/>
                  </a:lnTo>
                  <a:close/>
                </a:path>
              </a:pathLst>
            </a:custGeom>
            <a:solidFill>
              <a:schemeClr val="accent1"/>
            </a:solidFill>
            <a:ln w="9525">
              <a:solidFill>
                <a:srgbClr val="B2B2B2"/>
              </a:solidFill>
              <a:round/>
              <a:headEnd/>
              <a:tailEnd/>
            </a:ln>
          </p:spPr>
          <p:txBody>
            <a:bodyPr/>
            <a:lstStyle/>
            <a:p>
              <a:endParaRPr lang="en-CA"/>
            </a:p>
          </p:txBody>
        </p:sp>
        <p:sp>
          <p:nvSpPr>
            <p:cNvPr id="432" name="Freeform 491"/>
            <p:cNvSpPr>
              <a:spLocks noEditPoints="1"/>
            </p:cNvSpPr>
            <p:nvPr>
              <p:custDataLst>
                <p:tags r:id="rId55"/>
              </p:custDataLst>
            </p:nvPr>
          </p:nvSpPr>
          <p:spPr bwMode="gray">
            <a:xfrm>
              <a:off x="1132" y="3002"/>
              <a:ext cx="74" cy="86"/>
            </a:xfrm>
            <a:custGeom>
              <a:avLst/>
              <a:gdLst>
                <a:gd name="T0" fmla="*/ 57867206 w 120"/>
                <a:gd name="T1" fmla="*/ 129223880 h 138"/>
                <a:gd name="T2" fmla="*/ 40507338 w 120"/>
                <a:gd name="T3" fmla="*/ 129223880 h 138"/>
                <a:gd name="T4" fmla="*/ 28934093 w 120"/>
                <a:gd name="T5" fmla="*/ 123349348 h 138"/>
                <a:gd name="T6" fmla="*/ 23146491 w 120"/>
                <a:gd name="T7" fmla="*/ 111602262 h 138"/>
                <a:gd name="T8" fmla="*/ 17359868 w 120"/>
                <a:gd name="T9" fmla="*/ 99854187 h 138"/>
                <a:gd name="T10" fmla="*/ 11573245 w 120"/>
                <a:gd name="T11" fmla="*/ 99854187 h 138"/>
                <a:gd name="T12" fmla="*/ 11573245 w 120"/>
                <a:gd name="T13" fmla="*/ 105728719 h 138"/>
                <a:gd name="T14" fmla="*/ 11573245 w 120"/>
                <a:gd name="T15" fmla="*/ 93980644 h 138"/>
                <a:gd name="T16" fmla="*/ 11573245 w 120"/>
                <a:gd name="T17" fmla="*/ 88107101 h 138"/>
                <a:gd name="T18" fmla="*/ 17359868 w 120"/>
                <a:gd name="T19" fmla="*/ 76359026 h 138"/>
                <a:gd name="T20" fmla="*/ 23146491 w 120"/>
                <a:gd name="T21" fmla="*/ 64611940 h 138"/>
                <a:gd name="T22" fmla="*/ 11573245 w 120"/>
                <a:gd name="T23" fmla="*/ 58738397 h 138"/>
                <a:gd name="T24" fmla="*/ 0 w 120"/>
                <a:gd name="T25" fmla="*/ 46990322 h 138"/>
                <a:gd name="T26" fmla="*/ 5786623 w 120"/>
                <a:gd name="T27" fmla="*/ 46990322 h 138"/>
                <a:gd name="T28" fmla="*/ 11573245 w 120"/>
                <a:gd name="T29" fmla="*/ 35243236 h 138"/>
                <a:gd name="T30" fmla="*/ 11573245 w 120"/>
                <a:gd name="T31" fmla="*/ 29368704 h 138"/>
                <a:gd name="T32" fmla="*/ 17359868 w 120"/>
                <a:gd name="T33" fmla="*/ 17621618 h 138"/>
                <a:gd name="T34" fmla="*/ 23146491 w 120"/>
                <a:gd name="T35" fmla="*/ 17621618 h 138"/>
                <a:gd name="T36" fmla="*/ 28934093 w 120"/>
                <a:gd name="T37" fmla="*/ 17621618 h 138"/>
                <a:gd name="T38" fmla="*/ 34720715 w 120"/>
                <a:gd name="T39" fmla="*/ 17621618 h 138"/>
                <a:gd name="T40" fmla="*/ 46293961 w 120"/>
                <a:gd name="T41" fmla="*/ 5873543 h 138"/>
                <a:gd name="T42" fmla="*/ 57867206 w 120"/>
                <a:gd name="T43" fmla="*/ 0 h 138"/>
                <a:gd name="T44" fmla="*/ 69440451 w 120"/>
                <a:gd name="T45" fmla="*/ 5873543 h 138"/>
                <a:gd name="T46" fmla="*/ 81013697 w 120"/>
                <a:gd name="T47" fmla="*/ 11748075 h 138"/>
                <a:gd name="T48" fmla="*/ 92587921 w 120"/>
                <a:gd name="T49" fmla="*/ 23495161 h 138"/>
                <a:gd name="T50" fmla="*/ 104161167 w 120"/>
                <a:gd name="T51" fmla="*/ 29368704 h 138"/>
                <a:gd name="T52" fmla="*/ 109947789 w 120"/>
                <a:gd name="T53" fmla="*/ 41116779 h 138"/>
                <a:gd name="T54" fmla="*/ 104161167 w 120"/>
                <a:gd name="T55" fmla="*/ 41116779 h 138"/>
                <a:gd name="T56" fmla="*/ 98374544 w 120"/>
                <a:gd name="T57" fmla="*/ 52863865 h 138"/>
                <a:gd name="T58" fmla="*/ 92587921 w 120"/>
                <a:gd name="T59" fmla="*/ 52863865 h 138"/>
                <a:gd name="T60" fmla="*/ 98374544 w 120"/>
                <a:gd name="T61" fmla="*/ 52863865 h 138"/>
                <a:gd name="T62" fmla="*/ 98374544 w 120"/>
                <a:gd name="T63" fmla="*/ 58738397 h 138"/>
                <a:gd name="T64" fmla="*/ 92587921 w 120"/>
                <a:gd name="T65" fmla="*/ 70485483 h 138"/>
                <a:gd name="T66" fmla="*/ 81013697 w 120"/>
                <a:gd name="T67" fmla="*/ 76359026 h 138"/>
                <a:gd name="T68" fmla="*/ 81013697 w 120"/>
                <a:gd name="T69" fmla="*/ 82233558 h 138"/>
                <a:gd name="T70" fmla="*/ 86801299 w 120"/>
                <a:gd name="T71" fmla="*/ 82233558 h 138"/>
                <a:gd name="T72" fmla="*/ 86801299 w 120"/>
                <a:gd name="T73" fmla="*/ 76359026 h 138"/>
                <a:gd name="T74" fmla="*/ 98374544 w 120"/>
                <a:gd name="T75" fmla="*/ 82233558 h 138"/>
                <a:gd name="T76" fmla="*/ 92587921 w 120"/>
                <a:gd name="T77" fmla="*/ 93980644 h 138"/>
                <a:gd name="T78" fmla="*/ 92587921 w 120"/>
                <a:gd name="T79" fmla="*/ 105728719 h 138"/>
                <a:gd name="T80" fmla="*/ 86801299 w 120"/>
                <a:gd name="T81" fmla="*/ 117475805 h 138"/>
                <a:gd name="T82" fmla="*/ 81013697 w 120"/>
                <a:gd name="T83" fmla="*/ 111602262 h 138"/>
                <a:gd name="T84" fmla="*/ 69440451 w 120"/>
                <a:gd name="T85" fmla="*/ 117475805 h 138"/>
                <a:gd name="T86" fmla="*/ 63653829 w 120"/>
                <a:gd name="T87" fmla="*/ 117475805 h 138"/>
                <a:gd name="T88" fmla="*/ 69440451 w 120"/>
                <a:gd name="T89" fmla="*/ 123349348 h 138"/>
                <a:gd name="T90" fmla="*/ 69440451 w 120"/>
                <a:gd name="T91" fmla="*/ 129223880 h 138"/>
                <a:gd name="T92" fmla="*/ 63653829 w 120"/>
                <a:gd name="T93" fmla="*/ 135097423 h 13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20"/>
                <a:gd name="T142" fmla="*/ 0 h 138"/>
                <a:gd name="T143" fmla="*/ 120 w 120"/>
                <a:gd name="T144" fmla="*/ 138 h 13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20" h="138">
                  <a:moveTo>
                    <a:pt x="66" y="126"/>
                  </a:moveTo>
                  <a:lnTo>
                    <a:pt x="66" y="132"/>
                  </a:lnTo>
                  <a:lnTo>
                    <a:pt x="60" y="132"/>
                  </a:lnTo>
                  <a:lnTo>
                    <a:pt x="54" y="132"/>
                  </a:lnTo>
                  <a:lnTo>
                    <a:pt x="48" y="132"/>
                  </a:lnTo>
                  <a:lnTo>
                    <a:pt x="42" y="132"/>
                  </a:lnTo>
                  <a:lnTo>
                    <a:pt x="36" y="132"/>
                  </a:lnTo>
                  <a:lnTo>
                    <a:pt x="36" y="126"/>
                  </a:lnTo>
                  <a:lnTo>
                    <a:pt x="30" y="126"/>
                  </a:lnTo>
                  <a:lnTo>
                    <a:pt x="24" y="126"/>
                  </a:lnTo>
                  <a:lnTo>
                    <a:pt x="24" y="120"/>
                  </a:lnTo>
                  <a:lnTo>
                    <a:pt x="24" y="114"/>
                  </a:lnTo>
                  <a:lnTo>
                    <a:pt x="24" y="108"/>
                  </a:lnTo>
                  <a:lnTo>
                    <a:pt x="18" y="108"/>
                  </a:lnTo>
                  <a:lnTo>
                    <a:pt x="18" y="102"/>
                  </a:lnTo>
                  <a:lnTo>
                    <a:pt x="18" y="96"/>
                  </a:lnTo>
                  <a:lnTo>
                    <a:pt x="18" y="102"/>
                  </a:lnTo>
                  <a:lnTo>
                    <a:pt x="12" y="102"/>
                  </a:lnTo>
                  <a:lnTo>
                    <a:pt x="18" y="102"/>
                  </a:lnTo>
                  <a:lnTo>
                    <a:pt x="12" y="102"/>
                  </a:lnTo>
                  <a:lnTo>
                    <a:pt x="12" y="108"/>
                  </a:lnTo>
                  <a:lnTo>
                    <a:pt x="12" y="102"/>
                  </a:lnTo>
                  <a:lnTo>
                    <a:pt x="6" y="102"/>
                  </a:lnTo>
                  <a:lnTo>
                    <a:pt x="12" y="96"/>
                  </a:lnTo>
                  <a:lnTo>
                    <a:pt x="6" y="96"/>
                  </a:lnTo>
                  <a:lnTo>
                    <a:pt x="6" y="90"/>
                  </a:lnTo>
                  <a:lnTo>
                    <a:pt x="12" y="90"/>
                  </a:lnTo>
                  <a:lnTo>
                    <a:pt x="12" y="84"/>
                  </a:lnTo>
                  <a:lnTo>
                    <a:pt x="18" y="84"/>
                  </a:lnTo>
                  <a:lnTo>
                    <a:pt x="18" y="78"/>
                  </a:lnTo>
                  <a:lnTo>
                    <a:pt x="18" y="72"/>
                  </a:lnTo>
                  <a:lnTo>
                    <a:pt x="24" y="72"/>
                  </a:lnTo>
                  <a:lnTo>
                    <a:pt x="24" y="66"/>
                  </a:lnTo>
                  <a:lnTo>
                    <a:pt x="18" y="66"/>
                  </a:lnTo>
                  <a:lnTo>
                    <a:pt x="12" y="66"/>
                  </a:lnTo>
                  <a:lnTo>
                    <a:pt x="12" y="60"/>
                  </a:lnTo>
                  <a:lnTo>
                    <a:pt x="6" y="54"/>
                  </a:lnTo>
                  <a:lnTo>
                    <a:pt x="0" y="54"/>
                  </a:lnTo>
                  <a:lnTo>
                    <a:pt x="0" y="48"/>
                  </a:lnTo>
                  <a:lnTo>
                    <a:pt x="6" y="48"/>
                  </a:lnTo>
                  <a:lnTo>
                    <a:pt x="6" y="42"/>
                  </a:lnTo>
                  <a:lnTo>
                    <a:pt x="6" y="48"/>
                  </a:lnTo>
                  <a:lnTo>
                    <a:pt x="6" y="42"/>
                  </a:lnTo>
                  <a:lnTo>
                    <a:pt x="12" y="42"/>
                  </a:lnTo>
                  <a:lnTo>
                    <a:pt x="12" y="36"/>
                  </a:lnTo>
                  <a:lnTo>
                    <a:pt x="12" y="30"/>
                  </a:lnTo>
                  <a:lnTo>
                    <a:pt x="12" y="36"/>
                  </a:lnTo>
                  <a:lnTo>
                    <a:pt x="12" y="30"/>
                  </a:lnTo>
                  <a:lnTo>
                    <a:pt x="12" y="24"/>
                  </a:lnTo>
                  <a:lnTo>
                    <a:pt x="18" y="24"/>
                  </a:lnTo>
                  <a:lnTo>
                    <a:pt x="18" y="18"/>
                  </a:lnTo>
                  <a:lnTo>
                    <a:pt x="24" y="18"/>
                  </a:lnTo>
                  <a:lnTo>
                    <a:pt x="24" y="12"/>
                  </a:lnTo>
                  <a:lnTo>
                    <a:pt x="24" y="18"/>
                  </a:lnTo>
                  <a:lnTo>
                    <a:pt x="30" y="18"/>
                  </a:lnTo>
                  <a:lnTo>
                    <a:pt x="30" y="12"/>
                  </a:lnTo>
                  <a:lnTo>
                    <a:pt x="30" y="18"/>
                  </a:lnTo>
                  <a:lnTo>
                    <a:pt x="30" y="12"/>
                  </a:lnTo>
                  <a:lnTo>
                    <a:pt x="36" y="12"/>
                  </a:lnTo>
                  <a:lnTo>
                    <a:pt x="36" y="18"/>
                  </a:lnTo>
                  <a:lnTo>
                    <a:pt x="42" y="12"/>
                  </a:lnTo>
                  <a:lnTo>
                    <a:pt x="42" y="6"/>
                  </a:lnTo>
                  <a:lnTo>
                    <a:pt x="48" y="6"/>
                  </a:lnTo>
                  <a:lnTo>
                    <a:pt x="54" y="6"/>
                  </a:lnTo>
                  <a:lnTo>
                    <a:pt x="54" y="0"/>
                  </a:lnTo>
                  <a:lnTo>
                    <a:pt x="60" y="0"/>
                  </a:lnTo>
                  <a:lnTo>
                    <a:pt x="66" y="0"/>
                  </a:lnTo>
                  <a:lnTo>
                    <a:pt x="72" y="0"/>
                  </a:lnTo>
                  <a:lnTo>
                    <a:pt x="72" y="6"/>
                  </a:lnTo>
                  <a:lnTo>
                    <a:pt x="72" y="12"/>
                  </a:lnTo>
                  <a:lnTo>
                    <a:pt x="78" y="12"/>
                  </a:lnTo>
                  <a:lnTo>
                    <a:pt x="84" y="12"/>
                  </a:lnTo>
                  <a:lnTo>
                    <a:pt x="90" y="12"/>
                  </a:lnTo>
                  <a:lnTo>
                    <a:pt x="96" y="18"/>
                  </a:lnTo>
                  <a:lnTo>
                    <a:pt x="96" y="24"/>
                  </a:lnTo>
                  <a:lnTo>
                    <a:pt x="96" y="30"/>
                  </a:lnTo>
                  <a:lnTo>
                    <a:pt x="102" y="30"/>
                  </a:lnTo>
                  <a:lnTo>
                    <a:pt x="108" y="30"/>
                  </a:lnTo>
                  <a:lnTo>
                    <a:pt x="108" y="36"/>
                  </a:lnTo>
                  <a:lnTo>
                    <a:pt x="114" y="36"/>
                  </a:lnTo>
                  <a:lnTo>
                    <a:pt x="114" y="42"/>
                  </a:lnTo>
                  <a:lnTo>
                    <a:pt x="120" y="42"/>
                  </a:lnTo>
                  <a:lnTo>
                    <a:pt x="114" y="42"/>
                  </a:lnTo>
                  <a:lnTo>
                    <a:pt x="108" y="42"/>
                  </a:lnTo>
                  <a:lnTo>
                    <a:pt x="108" y="48"/>
                  </a:lnTo>
                  <a:lnTo>
                    <a:pt x="102" y="48"/>
                  </a:lnTo>
                  <a:lnTo>
                    <a:pt x="102" y="54"/>
                  </a:lnTo>
                  <a:lnTo>
                    <a:pt x="102" y="48"/>
                  </a:lnTo>
                  <a:lnTo>
                    <a:pt x="102" y="54"/>
                  </a:lnTo>
                  <a:lnTo>
                    <a:pt x="96" y="54"/>
                  </a:lnTo>
                  <a:lnTo>
                    <a:pt x="96" y="60"/>
                  </a:lnTo>
                  <a:lnTo>
                    <a:pt x="96" y="54"/>
                  </a:lnTo>
                  <a:lnTo>
                    <a:pt x="102" y="54"/>
                  </a:lnTo>
                  <a:lnTo>
                    <a:pt x="102" y="60"/>
                  </a:lnTo>
                  <a:lnTo>
                    <a:pt x="102" y="66"/>
                  </a:lnTo>
                  <a:lnTo>
                    <a:pt x="102" y="60"/>
                  </a:lnTo>
                  <a:lnTo>
                    <a:pt x="102" y="66"/>
                  </a:lnTo>
                  <a:lnTo>
                    <a:pt x="96" y="66"/>
                  </a:lnTo>
                  <a:lnTo>
                    <a:pt x="96" y="72"/>
                  </a:lnTo>
                  <a:lnTo>
                    <a:pt x="90" y="72"/>
                  </a:lnTo>
                  <a:lnTo>
                    <a:pt x="90" y="78"/>
                  </a:lnTo>
                  <a:lnTo>
                    <a:pt x="84" y="78"/>
                  </a:lnTo>
                  <a:lnTo>
                    <a:pt x="90" y="78"/>
                  </a:lnTo>
                  <a:lnTo>
                    <a:pt x="84" y="78"/>
                  </a:lnTo>
                  <a:lnTo>
                    <a:pt x="84" y="84"/>
                  </a:lnTo>
                  <a:lnTo>
                    <a:pt x="84" y="90"/>
                  </a:lnTo>
                  <a:lnTo>
                    <a:pt x="84" y="84"/>
                  </a:lnTo>
                  <a:lnTo>
                    <a:pt x="90" y="84"/>
                  </a:lnTo>
                  <a:lnTo>
                    <a:pt x="96" y="84"/>
                  </a:lnTo>
                  <a:lnTo>
                    <a:pt x="90" y="84"/>
                  </a:lnTo>
                  <a:lnTo>
                    <a:pt x="90" y="78"/>
                  </a:lnTo>
                  <a:lnTo>
                    <a:pt x="96" y="78"/>
                  </a:lnTo>
                  <a:lnTo>
                    <a:pt x="96" y="84"/>
                  </a:lnTo>
                  <a:lnTo>
                    <a:pt x="102" y="84"/>
                  </a:lnTo>
                  <a:lnTo>
                    <a:pt x="102" y="90"/>
                  </a:lnTo>
                  <a:lnTo>
                    <a:pt x="102" y="96"/>
                  </a:lnTo>
                  <a:lnTo>
                    <a:pt x="96" y="96"/>
                  </a:lnTo>
                  <a:lnTo>
                    <a:pt x="96" y="102"/>
                  </a:lnTo>
                  <a:lnTo>
                    <a:pt x="102" y="102"/>
                  </a:lnTo>
                  <a:lnTo>
                    <a:pt x="96" y="108"/>
                  </a:lnTo>
                  <a:lnTo>
                    <a:pt x="90" y="108"/>
                  </a:lnTo>
                  <a:lnTo>
                    <a:pt x="90" y="114"/>
                  </a:lnTo>
                  <a:lnTo>
                    <a:pt x="90" y="120"/>
                  </a:lnTo>
                  <a:lnTo>
                    <a:pt x="84" y="114"/>
                  </a:lnTo>
                  <a:lnTo>
                    <a:pt x="84" y="120"/>
                  </a:lnTo>
                  <a:lnTo>
                    <a:pt x="84" y="114"/>
                  </a:lnTo>
                  <a:lnTo>
                    <a:pt x="78" y="120"/>
                  </a:lnTo>
                  <a:lnTo>
                    <a:pt x="72" y="114"/>
                  </a:lnTo>
                  <a:lnTo>
                    <a:pt x="72" y="120"/>
                  </a:lnTo>
                  <a:lnTo>
                    <a:pt x="66" y="120"/>
                  </a:lnTo>
                  <a:lnTo>
                    <a:pt x="72" y="120"/>
                  </a:lnTo>
                  <a:lnTo>
                    <a:pt x="66" y="120"/>
                  </a:lnTo>
                  <a:lnTo>
                    <a:pt x="72" y="120"/>
                  </a:lnTo>
                  <a:lnTo>
                    <a:pt x="66" y="126"/>
                  </a:lnTo>
                  <a:lnTo>
                    <a:pt x="72" y="126"/>
                  </a:lnTo>
                  <a:lnTo>
                    <a:pt x="66" y="126"/>
                  </a:lnTo>
                  <a:close/>
                  <a:moveTo>
                    <a:pt x="66" y="132"/>
                  </a:moveTo>
                  <a:lnTo>
                    <a:pt x="72" y="132"/>
                  </a:lnTo>
                  <a:lnTo>
                    <a:pt x="66" y="132"/>
                  </a:lnTo>
                  <a:lnTo>
                    <a:pt x="72" y="132"/>
                  </a:lnTo>
                  <a:lnTo>
                    <a:pt x="66" y="138"/>
                  </a:lnTo>
                  <a:lnTo>
                    <a:pt x="66" y="132"/>
                  </a:lnTo>
                  <a:close/>
                </a:path>
              </a:pathLst>
            </a:custGeom>
            <a:solidFill>
              <a:schemeClr val="accent1"/>
            </a:solidFill>
            <a:ln w="9525">
              <a:solidFill>
                <a:srgbClr val="B2B2B2"/>
              </a:solidFill>
              <a:round/>
              <a:headEnd/>
              <a:tailEnd/>
            </a:ln>
          </p:spPr>
          <p:txBody>
            <a:bodyPr/>
            <a:lstStyle/>
            <a:p>
              <a:endParaRPr lang="en-CA"/>
            </a:p>
          </p:txBody>
        </p:sp>
        <p:sp>
          <p:nvSpPr>
            <p:cNvPr id="433" name="Freeform 492"/>
            <p:cNvSpPr>
              <a:spLocks noEditPoints="1"/>
            </p:cNvSpPr>
            <p:nvPr>
              <p:custDataLst>
                <p:tags r:id="rId56"/>
              </p:custDataLst>
            </p:nvPr>
          </p:nvSpPr>
          <p:spPr bwMode="gray">
            <a:xfrm>
              <a:off x="1132" y="3076"/>
              <a:ext cx="127" cy="109"/>
            </a:xfrm>
            <a:custGeom>
              <a:avLst/>
              <a:gdLst>
                <a:gd name="T0" fmla="*/ 199662098 w 204"/>
                <a:gd name="T1" fmla="*/ 35507596 h 174"/>
                <a:gd name="T2" fmla="*/ 199662098 w 204"/>
                <a:gd name="T3" fmla="*/ 47342799 h 174"/>
                <a:gd name="T4" fmla="*/ 199662098 w 204"/>
                <a:gd name="T5" fmla="*/ 65096100 h 174"/>
                <a:gd name="T6" fmla="*/ 187917152 w 204"/>
                <a:gd name="T7" fmla="*/ 71014199 h 174"/>
                <a:gd name="T8" fmla="*/ 182044679 w 204"/>
                <a:gd name="T9" fmla="*/ 76932297 h 174"/>
                <a:gd name="T10" fmla="*/ 170299734 w 204"/>
                <a:gd name="T11" fmla="*/ 76932297 h 174"/>
                <a:gd name="T12" fmla="*/ 146810831 w 204"/>
                <a:gd name="T13" fmla="*/ 76932297 h 174"/>
                <a:gd name="T14" fmla="*/ 135065886 w 204"/>
                <a:gd name="T15" fmla="*/ 88767500 h 174"/>
                <a:gd name="T16" fmla="*/ 123320940 w 204"/>
                <a:gd name="T17" fmla="*/ 88767500 h 174"/>
                <a:gd name="T18" fmla="*/ 117448467 w 204"/>
                <a:gd name="T19" fmla="*/ 100603697 h 174"/>
                <a:gd name="T20" fmla="*/ 117448467 w 204"/>
                <a:gd name="T21" fmla="*/ 106521795 h 174"/>
                <a:gd name="T22" fmla="*/ 99831049 w 204"/>
                <a:gd name="T23" fmla="*/ 106521795 h 174"/>
                <a:gd name="T24" fmla="*/ 99831049 w 204"/>
                <a:gd name="T25" fmla="*/ 118356998 h 174"/>
                <a:gd name="T26" fmla="*/ 105703522 w 204"/>
                <a:gd name="T27" fmla="*/ 130193195 h 174"/>
                <a:gd name="T28" fmla="*/ 111575994 w 204"/>
                <a:gd name="T29" fmla="*/ 142028397 h 174"/>
                <a:gd name="T30" fmla="*/ 111575994 w 204"/>
                <a:gd name="T31" fmla="*/ 142028397 h 174"/>
                <a:gd name="T32" fmla="*/ 117448467 w 204"/>
                <a:gd name="T33" fmla="*/ 142028397 h 174"/>
                <a:gd name="T34" fmla="*/ 117448467 w 204"/>
                <a:gd name="T35" fmla="*/ 153864594 h 174"/>
                <a:gd name="T36" fmla="*/ 99831049 w 204"/>
                <a:gd name="T37" fmla="*/ 153864594 h 174"/>
                <a:gd name="T38" fmla="*/ 99831049 w 204"/>
                <a:gd name="T39" fmla="*/ 159781698 h 174"/>
                <a:gd name="T40" fmla="*/ 93958576 w 204"/>
                <a:gd name="T41" fmla="*/ 159781698 h 174"/>
                <a:gd name="T42" fmla="*/ 82213631 w 204"/>
                <a:gd name="T43" fmla="*/ 165699797 h 174"/>
                <a:gd name="T44" fmla="*/ 82213631 w 204"/>
                <a:gd name="T45" fmla="*/ 171617895 h 174"/>
                <a:gd name="T46" fmla="*/ 70468685 w 204"/>
                <a:gd name="T47" fmla="*/ 171617895 h 174"/>
                <a:gd name="T48" fmla="*/ 64596212 w 204"/>
                <a:gd name="T49" fmla="*/ 171617895 h 174"/>
                <a:gd name="T50" fmla="*/ 52851267 w 204"/>
                <a:gd name="T51" fmla="*/ 165699797 h 174"/>
                <a:gd name="T52" fmla="*/ 41107309 w 204"/>
                <a:gd name="T53" fmla="*/ 171617895 h 174"/>
                <a:gd name="T54" fmla="*/ 46979782 w 204"/>
                <a:gd name="T55" fmla="*/ 159781698 h 174"/>
                <a:gd name="T56" fmla="*/ 46979782 w 204"/>
                <a:gd name="T57" fmla="*/ 142028397 h 174"/>
                <a:gd name="T58" fmla="*/ 46979782 w 204"/>
                <a:gd name="T59" fmla="*/ 118356998 h 174"/>
                <a:gd name="T60" fmla="*/ 46979782 w 204"/>
                <a:gd name="T61" fmla="*/ 112438899 h 174"/>
                <a:gd name="T62" fmla="*/ 35234837 w 204"/>
                <a:gd name="T63" fmla="*/ 100603697 h 174"/>
                <a:gd name="T64" fmla="*/ 29362364 w 204"/>
                <a:gd name="T65" fmla="*/ 100603697 h 174"/>
                <a:gd name="T66" fmla="*/ 23489891 w 204"/>
                <a:gd name="T67" fmla="*/ 88767500 h 174"/>
                <a:gd name="T68" fmla="*/ 11744946 w 204"/>
                <a:gd name="T69" fmla="*/ 76932297 h 174"/>
                <a:gd name="T70" fmla="*/ 5872473 w 204"/>
                <a:gd name="T71" fmla="*/ 65096100 h 174"/>
                <a:gd name="T72" fmla="*/ 0 w 204"/>
                <a:gd name="T73" fmla="*/ 53260898 h 174"/>
                <a:gd name="T74" fmla="*/ 11744946 w 204"/>
                <a:gd name="T75" fmla="*/ 47342799 h 174"/>
                <a:gd name="T76" fmla="*/ 23489891 w 204"/>
                <a:gd name="T77" fmla="*/ 41424701 h 174"/>
                <a:gd name="T78" fmla="*/ 35234837 w 204"/>
                <a:gd name="T79" fmla="*/ 29589498 h 174"/>
                <a:gd name="T80" fmla="*/ 29362364 w 204"/>
                <a:gd name="T81" fmla="*/ 23671400 h 174"/>
                <a:gd name="T82" fmla="*/ 29362364 w 204"/>
                <a:gd name="T83" fmla="*/ 17753301 h 174"/>
                <a:gd name="T84" fmla="*/ 23489891 w 204"/>
                <a:gd name="T85" fmla="*/ 17753301 h 174"/>
                <a:gd name="T86" fmla="*/ 29362364 w 204"/>
                <a:gd name="T87" fmla="*/ 5918098 h 174"/>
                <a:gd name="T88" fmla="*/ 41107309 w 204"/>
                <a:gd name="T89" fmla="*/ 11836197 h 174"/>
                <a:gd name="T90" fmla="*/ 58723739 w 204"/>
                <a:gd name="T91" fmla="*/ 11836197 h 174"/>
                <a:gd name="T92" fmla="*/ 70468685 w 204"/>
                <a:gd name="T93" fmla="*/ 11836197 h 174"/>
                <a:gd name="T94" fmla="*/ 70468685 w 204"/>
                <a:gd name="T95" fmla="*/ 23671400 h 174"/>
                <a:gd name="T96" fmla="*/ 88086103 w 204"/>
                <a:gd name="T97" fmla="*/ 11836197 h 174"/>
                <a:gd name="T98" fmla="*/ 88086103 w 204"/>
                <a:gd name="T99" fmla="*/ 11836197 h 174"/>
                <a:gd name="T100" fmla="*/ 93958576 w 204"/>
                <a:gd name="T101" fmla="*/ 11836197 h 174"/>
                <a:gd name="T102" fmla="*/ 99831049 w 204"/>
                <a:gd name="T103" fmla="*/ 11836197 h 174"/>
                <a:gd name="T104" fmla="*/ 99831049 w 204"/>
                <a:gd name="T105" fmla="*/ 11836197 h 174"/>
                <a:gd name="T106" fmla="*/ 111575994 w 204"/>
                <a:gd name="T107" fmla="*/ 11836197 h 174"/>
                <a:gd name="T108" fmla="*/ 135065886 w 204"/>
                <a:gd name="T109" fmla="*/ 17753301 h 174"/>
                <a:gd name="T110" fmla="*/ 146810831 w 204"/>
                <a:gd name="T111" fmla="*/ 5918098 h 174"/>
                <a:gd name="T112" fmla="*/ 158554788 w 204"/>
                <a:gd name="T113" fmla="*/ 5918098 h 174"/>
                <a:gd name="T114" fmla="*/ 170299734 w 204"/>
                <a:gd name="T115" fmla="*/ 17753301 h 174"/>
                <a:gd name="T116" fmla="*/ 182044679 w 204"/>
                <a:gd name="T117" fmla="*/ 23671400 h 174"/>
                <a:gd name="T118" fmla="*/ 64596212 w 204"/>
                <a:gd name="T119" fmla="*/ 11836197 h 174"/>
                <a:gd name="T120" fmla="*/ 64596212 w 204"/>
                <a:gd name="T121" fmla="*/ 11836197 h 1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04"/>
                <a:gd name="T184" fmla="*/ 0 h 174"/>
                <a:gd name="T185" fmla="*/ 204 w 204"/>
                <a:gd name="T186" fmla="*/ 174 h 1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04" h="174">
                  <a:moveTo>
                    <a:pt x="198" y="30"/>
                  </a:moveTo>
                  <a:lnTo>
                    <a:pt x="198" y="36"/>
                  </a:lnTo>
                  <a:lnTo>
                    <a:pt x="204" y="36"/>
                  </a:lnTo>
                  <a:lnTo>
                    <a:pt x="198" y="36"/>
                  </a:lnTo>
                  <a:lnTo>
                    <a:pt x="204" y="42"/>
                  </a:lnTo>
                  <a:lnTo>
                    <a:pt x="204" y="48"/>
                  </a:lnTo>
                  <a:lnTo>
                    <a:pt x="204" y="54"/>
                  </a:lnTo>
                  <a:lnTo>
                    <a:pt x="204" y="60"/>
                  </a:lnTo>
                  <a:lnTo>
                    <a:pt x="204" y="66"/>
                  </a:lnTo>
                  <a:lnTo>
                    <a:pt x="198" y="66"/>
                  </a:lnTo>
                  <a:lnTo>
                    <a:pt x="198" y="72"/>
                  </a:lnTo>
                  <a:lnTo>
                    <a:pt x="192" y="72"/>
                  </a:lnTo>
                  <a:lnTo>
                    <a:pt x="192" y="78"/>
                  </a:lnTo>
                  <a:lnTo>
                    <a:pt x="192" y="84"/>
                  </a:lnTo>
                  <a:lnTo>
                    <a:pt x="186" y="78"/>
                  </a:lnTo>
                  <a:lnTo>
                    <a:pt x="180" y="78"/>
                  </a:lnTo>
                  <a:lnTo>
                    <a:pt x="174" y="84"/>
                  </a:lnTo>
                  <a:lnTo>
                    <a:pt x="174" y="78"/>
                  </a:lnTo>
                  <a:lnTo>
                    <a:pt x="162" y="78"/>
                  </a:lnTo>
                  <a:lnTo>
                    <a:pt x="156" y="78"/>
                  </a:lnTo>
                  <a:lnTo>
                    <a:pt x="150" y="78"/>
                  </a:lnTo>
                  <a:lnTo>
                    <a:pt x="150" y="84"/>
                  </a:lnTo>
                  <a:lnTo>
                    <a:pt x="144" y="90"/>
                  </a:lnTo>
                  <a:lnTo>
                    <a:pt x="138" y="90"/>
                  </a:lnTo>
                  <a:lnTo>
                    <a:pt x="132" y="90"/>
                  </a:lnTo>
                  <a:lnTo>
                    <a:pt x="126" y="84"/>
                  </a:lnTo>
                  <a:lnTo>
                    <a:pt x="126" y="90"/>
                  </a:lnTo>
                  <a:lnTo>
                    <a:pt x="126" y="96"/>
                  </a:lnTo>
                  <a:lnTo>
                    <a:pt x="120" y="96"/>
                  </a:lnTo>
                  <a:lnTo>
                    <a:pt x="120" y="102"/>
                  </a:lnTo>
                  <a:lnTo>
                    <a:pt x="126" y="102"/>
                  </a:lnTo>
                  <a:lnTo>
                    <a:pt x="120" y="102"/>
                  </a:lnTo>
                  <a:lnTo>
                    <a:pt x="120" y="108"/>
                  </a:lnTo>
                  <a:lnTo>
                    <a:pt x="114" y="108"/>
                  </a:lnTo>
                  <a:lnTo>
                    <a:pt x="108" y="108"/>
                  </a:lnTo>
                  <a:lnTo>
                    <a:pt x="102" y="108"/>
                  </a:lnTo>
                  <a:lnTo>
                    <a:pt x="108" y="108"/>
                  </a:lnTo>
                  <a:lnTo>
                    <a:pt x="102" y="114"/>
                  </a:lnTo>
                  <a:lnTo>
                    <a:pt x="102" y="120"/>
                  </a:lnTo>
                  <a:lnTo>
                    <a:pt x="108" y="120"/>
                  </a:lnTo>
                  <a:lnTo>
                    <a:pt x="108" y="126"/>
                  </a:lnTo>
                  <a:lnTo>
                    <a:pt x="108" y="132"/>
                  </a:lnTo>
                  <a:lnTo>
                    <a:pt x="108" y="138"/>
                  </a:lnTo>
                  <a:lnTo>
                    <a:pt x="108" y="144"/>
                  </a:lnTo>
                  <a:lnTo>
                    <a:pt x="114" y="144"/>
                  </a:lnTo>
                  <a:lnTo>
                    <a:pt x="114" y="138"/>
                  </a:lnTo>
                  <a:lnTo>
                    <a:pt x="120" y="138"/>
                  </a:lnTo>
                  <a:lnTo>
                    <a:pt x="114" y="144"/>
                  </a:lnTo>
                  <a:lnTo>
                    <a:pt x="120" y="144"/>
                  </a:lnTo>
                  <a:lnTo>
                    <a:pt x="114" y="144"/>
                  </a:lnTo>
                  <a:lnTo>
                    <a:pt x="120" y="144"/>
                  </a:lnTo>
                  <a:lnTo>
                    <a:pt x="126" y="150"/>
                  </a:lnTo>
                  <a:lnTo>
                    <a:pt x="126" y="156"/>
                  </a:lnTo>
                  <a:lnTo>
                    <a:pt x="120" y="156"/>
                  </a:lnTo>
                  <a:lnTo>
                    <a:pt x="114" y="156"/>
                  </a:lnTo>
                  <a:lnTo>
                    <a:pt x="108" y="156"/>
                  </a:lnTo>
                  <a:lnTo>
                    <a:pt x="102" y="156"/>
                  </a:lnTo>
                  <a:lnTo>
                    <a:pt x="102" y="162"/>
                  </a:lnTo>
                  <a:lnTo>
                    <a:pt x="96" y="162"/>
                  </a:lnTo>
                  <a:lnTo>
                    <a:pt x="102" y="162"/>
                  </a:lnTo>
                  <a:lnTo>
                    <a:pt x="102" y="168"/>
                  </a:lnTo>
                  <a:lnTo>
                    <a:pt x="96" y="168"/>
                  </a:lnTo>
                  <a:lnTo>
                    <a:pt x="96" y="162"/>
                  </a:lnTo>
                  <a:lnTo>
                    <a:pt x="90" y="162"/>
                  </a:lnTo>
                  <a:lnTo>
                    <a:pt x="90" y="168"/>
                  </a:lnTo>
                  <a:lnTo>
                    <a:pt x="84" y="168"/>
                  </a:lnTo>
                  <a:lnTo>
                    <a:pt x="90" y="168"/>
                  </a:lnTo>
                  <a:lnTo>
                    <a:pt x="90" y="174"/>
                  </a:lnTo>
                  <a:lnTo>
                    <a:pt x="84" y="174"/>
                  </a:lnTo>
                  <a:lnTo>
                    <a:pt x="78" y="174"/>
                  </a:lnTo>
                  <a:lnTo>
                    <a:pt x="72" y="168"/>
                  </a:lnTo>
                  <a:lnTo>
                    <a:pt x="72" y="174"/>
                  </a:lnTo>
                  <a:lnTo>
                    <a:pt x="78" y="174"/>
                  </a:lnTo>
                  <a:lnTo>
                    <a:pt x="72" y="174"/>
                  </a:lnTo>
                  <a:lnTo>
                    <a:pt x="66" y="174"/>
                  </a:lnTo>
                  <a:lnTo>
                    <a:pt x="60" y="174"/>
                  </a:lnTo>
                  <a:lnTo>
                    <a:pt x="54" y="174"/>
                  </a:lnTo>
                  <a:lnTo>
                    <a:pt x="54" y="168"/>
                  </a:lnTo>
                  <a:lnTo>
                    <a:pt x="48" y="168"/>
                  </a:lnTo>
                  <a:lnTo>
                    <a:pt x="42" y="168"/>
                  </a:lnTo>
                  <a:lnTo>
                    <a:pt x="42" y="174"/>
                  </a:lnTo>
                  <a:lnTo>
                    <a:pt x="42" y="168"/>
                  </a:lnTo>
                  <a:lnTo>
                    <a:pt x="42" y="162"/>
                  </a:lnTo>
                  <a:lnTo>
                    <a:pt x="48" y="162"/>
                  </a:lnTo>
                  <a:lnTo>
                    <a:pt x="48" y="156"/>
                  </a:lnTo>
                  <a:lnTo>
                    <a:pt x="48" y="150"/>
                  </a:lnTo>
                  <a:lnTo>
                    <a:pt x="48" y="144"/>
                  </a:lnTo>
                  <a:lnTo>
                    <a:pt x="48" y="132"/>
                  </a:lnTo>
                  <a:lnTo>
                    <a:pt x="48" y="126"/>
                  </a:lnTo>
                  <a:lnTo>
                    <a:pt x="48" y="120"/>
                  </a:lnTo>
                  <a:lnTo>
                    <a:pt x="48" y="114"/>
                  </a:lnTo>
                  <a:lnTo>
                    <a:pt x="48" y="120"/>
                  </a:lnTo>
                  <a:lnTo>
                    <a:pt x="48" y="114"/>
                  </a:lnTo>
                  <a:lnTo>
                    <a:pt x="42" y="108"/>
                  </a:lnTo>
                  <a:lnTo>
                    <a:pt x="36" y="108"/>
                  </a:lnTo>
                  <a:lnTo>
                    <a:pt x="36" y="102"/>
                  </a:lnTo>
                  <a:lnTo>
                    <a:pt x="36" y="108"/>
                  </a:lnTo>
                  <a:lnTo>
                    <a:pt x="36" y="102"/>
                  </a:lnTo>
                  <a:lnTo>
                    <a:pt x="30" y="102"/>
                  </a:lnTo>
                  <a:lnTo>
                    <a:pt x="24" y="102"/>
                  </a:lnTo>
                  <a:lnTo>
                    <a:pt x="24" y="96"/>
                  </a:lnTo>
                  <a:lnTo>
                    <a:pt x="24" y="90"/>
                  </a:lnTo>
                  <a:lnTo>
                    <a:pt x="24" y="84"/>
                  </a:lnTo>
                  <a:lnTo>
                    <a:pt x="18" y="78"/>
                  </a:lnTo>
                  <a:lnTo>
                    <a:pt x="12" y="78"/>
                  </a:lnTo>
                  <a:lnTo>
                    <a:pt x="12" y="72"/>
                  </a:lnTo>
                  <a:lnTo>
                    <a:pt x="12" y="66"/>
                  </a:lnTo>
                  <a:lnTo>
                    <a:pt x="6" y="66"/>
                  </a:lnTo>
                  <a:lnTo>
                    <a:pt x="6" y="60"/>
                  </a:lnTo>
                  <a:lnTo>
                    <a:pt x="0" y="60"/>
                  </a:lnTo>
                  <a:lnTo>
                    <a:pt x="0" y="54"/>
                  </a:lnTo>
                  <a:lnTo>
                    <a:pt x="6" y="54"/>
                  </a:lnTo>
                  <a:lnTo>
                    <a:pt x="6" y="48"/>
                  </a:lnTo>
                  <a:lnTo>
                    <a:pt x="12" y="48"/>
                  </a:lnTo>
                  <a:lnTo>
                    <a:pt x="18" y="48"/>
                  </a:lnTo>
                  <a:lnTo>
                    <a:pt x="24" y="48"/>
                  </a:lnTo>
                  <a:lnTo>
                    <a:pt x="24" y="42"/>
                  </a:lnTo>
                  <a:lnTo>
                    <a:pt x="30" y="42"/>
                  </a:lnTo>
                  <a:lnTo>
                    <a:pt x="36" y="36"/>
                  </a:lnTo>
                  <a:lnTo>
                    <a:pt x="36" y="30"/>
                  </a:lnTo>
                  <a:lnTo>
                    <a:pt x="30" y="30"/>
                  </a:lnTo>
                  <a:lnTo>
                    <a:pt x="24" y="30"/>
                  </a:lnTo>
                  <a:lnTo>
                    <a:pt x="30" y="24"/>
                  </a:lnTo>
                  <a:lnTo>
                    <a:pt x="24" y="24"/>
                  </a:lnTo>
                  <a:lnTo>
                    <a:pt x="30" y="24"/>
                  </a:lnTo>
                  <a:lnTo>
                    <a:pt x="30" y="18"/>
                  </a:lnTo>
                  <a:lnTo>
                    <a:pt x="24" y="18"/>
                  </a:lnTo>
                  <a:lnTo>
                    <a:pt x="30" y="18"/>
                  </a:lnTo>
                  <a:lnTo>
                    <a:pt x="24" y="18"/>
                  </a:lnTo>
                  <a:lnTo>
                    <a:pt x="30" y="12"/>
                  </a:lnTo>
                  <a:lnTo>
                    <a:pt x="24" y="6"/>
                  </a:lnTo>
                  <a:lnTo>
                    <a:pt x="30" y="6"/>
                  </a:lnTo>
                  <a:lnTo>
                    <a:pt x="36" y="6"/>
                  </a:lnTo>
                  <a:lnTo>
                    <a:pt x="36" y="12"/>
                  </a:lnTo>
                  <a:lnTo>
                    <a:pt x="42" y="12"/>
                  </a:lnTo>
                  <a:lnTo>
                    <a:pt x="48" y="12"/>
                  </a:lnTo>
                  <a:lnTo>
                    <a:pt x="54" y="12"/>
                  </a:lnTo>
                  <a:lnTo>
                    <a:pt x="60" y="12"/>
                  </a:lnTo>
                  <a:lnTo>
                    <a:pt x="66" y="12"/>
                  </a:lnTo>
                  <a:lnTo>
                    <a:pt x="66" y="6"/>
                  </a:lnTo>
                  <a:lnTo>
                    <a:pt x="72" y="12"/>
                  </a:lnTo>
                  <a:lnTo>
                    <a:pt x="72" y="18"/>
                  </a:lnTo>
                  <a:lnTo>
                    <a:pt x="72" y="30"/>
                  </a:lnTo>
                  <a:lnTo>
                    <a:pt x="72" y="24"/>
                  </a:lnTo>
                  <a:lnTo>
                    <a:pt x="78" y="24"/>
                  </a:lnTo>
                  <a:lnTo>
                    <a:pt x="84" y="18"/>
                  </a:lnTo>
                  <a:lnTo>
                    <a:pt x="90" y="12"/>
                  </a:lnTo>
                  <a:lnTo>
                    <a:pt x="90" y="6"/>
                  </a:lnTo>
                  <a:lnTo>
                    <a:pt x="96" y="12"/>
                  </a:lnTo>
                  <a:lnTo>
                    <a:pt x="90" y="12"/>
                  </a:lnTo>
                  <a:lnTo>
                    <a:pt x="90" y="18"/>
                  </a:lnTo>
                  <a:lnTo>
                    <a:pt x="96" y="18"/>
                  </a:lnTo>
                  <a:lnTo>
                    <a:pt x="96" y="12"/>
                  </a:lnTo>
                  <a:lnTo>
                    <a:pt x="96" y="6"/>
                  </a:lnTo>
                  <a:lnTo>
                    <a:pt x="102" y="6"/>
                  </a:lnTo>
                  <a:lnTo>
                    <a:pt x="102" y="12"/>
                  </a:lnTo>
                  <a:lnTo>
                    <a:pt x="102" y="6"/>
                  </a:lnTo>
                  <a:lnTo>
                    <a:pt x="108" y="6"/>
                  </a:lnTo>
                  <a:lnTo>
                    <a:pt x="102" y="12"/>
                  </a:lnTo>
                  <a:lnTo>
                    <a:pt x="108" y="12"/>
                  </a:lnTo>
                  <a:lnTo>
                    <a:pt x="114" y="18"/>
                  </a:lnTo>
                  <a:lnTo>
                    <a:pt x="114" y="12"/>
                  </a:lnTo>
                  <a:lnTo>
                    <a:pt x="114" y="18"/>
                  </a:lnTo>
                  <a:lnTo>
                    <a:pt x="126" y="18"/>
                  </a:lnTo>
                  <a:lnTo>
                    <a:pt x="138" y="18"/>
                  </a:lnTo>
                  <a:lnTo>
                    <a:pt x="138" y="6"/>
                  </a:lnTo>
                  <a:lnTo>
                    <a:pt x="144" y="6"/>
                  </a:lnTo>
                  <a:lnTo>
                    <a:pt x="150" y="6"/>
                  </a:lnTo>
                  <a:lnTo>
                    <a:pt x="156" y="0"/>
                  </a:lnTo>
                  <a:lnTo>
                    <a:pt x="162" y="0"/>
                  </a:lnTo>
                  <a:lnTo>
                    <a:pt x="162" y="6"/>
                  </a:lnTo>
                  <a:lnTo>
                    <a:pt x="168" y="6"/>
                  </a:lnTo>
                  <a:lnTo>
                    <a:pt x="168" y="12"/>
                  </a:lnTo>
                  <a:lnTo>
                    <a:pt x="174" y="18"/>
                  </a:lnTo>
                  <a:lnTo>
                    <a:pt x="174" y="24"/>
                  </a:lnTo>
                  <a:lnTo>
                    <a:pt x="180" y="24"/>
                  </a:lnTo>
                  <a:lnTo>
                    <a:pt x="186" y="24"/>
                  </a:lnTo>
                  <a:lnTo>
                    <a:pt x="192" y="24"/>
                  </a:lnTo>
                  <a:lnTo>
                    <a:pt x="198" y="30"/>
                  </a:lnTo>
                  <a:close/>
                  <a:moveTo>
                    <a:pt x="66" y="12"/>
                  </a:moveTo>
                  <a:lnTo>
                    <a:pt x="66" y="18"/>
                  </a:lnTo>
                  <a:lnTo>
                    <a:pt x="72" y="12"/>
                  </a:lnTo>
                  <a:lnTo>
                    <a:pt x="66" y="12"/>
                  </a:lnTo>
                  <a:lnTo>
                    <a:pt x="72" y="12"/>
                  </a:lnTo>
                  <a:lnTo>
                    <a:pt x="66" y="12"/>
                  </a:lnTo>
                  <a:close/>
                </a:path>
              </a:pathLst>
            </a:custGeom>
            <a:solidFill>
              <a:schemeClr val="accent1"/>
            </a:solidFill>
            <a:ln w="9525">
              <a:solidFill>
                <a:srgbClr val="B2B2B2"/>
              </a:solidFill>
              <a:round/>
              <a:headEnd/>
              <a:tailEnd/>
            </a:ln>
          </p:spPr>
          <p:txBody>
            <a:bodyPr/>
            <a:lstStyle/>
            <a:p>
              <a:endParaRPr lang="en-CA"/>
            </a:p>
          </p:txBody>
        </p:sp>
        <p:sp>
          <p:nvSpPr>
            <p:cNvPr id="434" name="Freeform 493"/>
            <p:cNvSpPr>
              <a:spLocks/>
            </p:cNvSpPr>
            <p:nvPr>
              <p:custDataLst>
                <p:tags r:id="rId57"/>
              </p:custDataLst>
            </p:nvPr>
          </p:nvSpPr>
          <p:spPr bwMode="gray">
            <a:xfrm>
              <a:off x="1196" y="3084"/>
              <a:ext cx="126" cy="139"/>
            </a:xfrm>
            <a:custGeom>
              <a:avLst/>
              <a:gdLst>
                <a:gd name="T0" fmla="*/ 115659554 w 204"/>
                <a:gd name="T1" fmla="*/ 207411292 h 222"/>
                <a:gd name="T2" fmla="*/ 98311307 w 204"/>
                <a:gd name="T3" fmla="*/ 201485199 h 222"/>
                <a:gd name="T4" fmla="*/ 92528231 w 204"/>
                <a:gd name="T5" fmla="*/ 201485199 h 222"/>
                <a:gd name="T6" fmla="*/ 86745156 w 204"/>
                <a:gd name="T7" fmla="*/ 189633011 h 222"/>
                <a:gd name="T8" fmla="*/ 75179004 w 204"/>
                <a:gd name="T9" fmla="*/ 183706917 h 222"/>
                <a:gd name="T10" fmla="*/ 63612853 w 204"/>
                <a:gd name="T11" fmla="*/ 171854730 h 222"/>
                <a:gd name="T12" fmla="*/ 57829777 w 204"/>
                <a:gd name="T13" fmla="*/ 171854730 h 222"/>
                <a:gd name="T14" fmla="*/ 57829777 w 204"/>
                <a:gd name="T15" fmla="*/ 165929630 h 222"/>
                <a:gd name="T16" fmla="*/ 40480550 w 204"/>
                <a:gd name="T17" fmla="*/ 165929630 h 222"/>
                <a:gd name="T18" fmla="*/ 34697474 w 204"/>
                <a:gd name="T19" fmla="*/ 160003536 h 222"/>
                <a:gd name="T20" fmla="*/ 23132303 w 204"/>
                <a:gd name="T21" fmla="*/ 154077443 h 222"/>
                <a:gd name="T22" fmla="*/ 11566151 w 204"/>
                <a:gd name="T23" fmla="*/ 148151349 h 222"/>
                <a:gd name="T24" fmla="*/ 23132303 w 204"/>
                <a:gd name="T25" fmla="*/ 142225255 h 222"/>
                <a:gd name="T26" fmla="*/ 11566151 w 204"/>
                <a:gd name="T27" fmla="*/ 130373068 h 222"/>
                <a:gd name="T28" fmla="*/ 17349227 w 204"/>
                <a:gd name="T29" fmla="*/ 124446974 h 222"/>
                <a:gd name="T30" fmla="*/ 5783076 w 204"/>
                <a:gd name="T31" fmla="*/ 130373068 h 222"/>
                <a:gd name="T32" fmla="*/ 5783076 w 204"/>
                <a:gd name="T33" fmla="*/ 112594787 h 222"/>
                <a:gd name="T34" fmla="*/ 0 w 204"/>
                <a:gd name="T35" fmla="*/ 100742599 h 222"/>
                <a:gd name="T36" fmla="*/ 5783076 w 204"/>
                <a:gd name="T37" fmla="*/ 94816506 h 222"/>
                <a:gd name="T38" fmla="*/ 17349227 w 204"/>
                <a:gd name="T39" fmla="*/ 88890412 h 222"/>
                <a:gd name="T40" fmla="*/ 17349227 w 204"/>
                <a:gd name="T41" fmla="*/ 82964318 h 222"/>
                <a:gd name="T42" fmla="*/ 23132303 w 204"/>
                <a:gd name="T43" fmla="*/ 71112131 h 222"/>
                <a:gd name="T44" fmla="*/ 40480550 w 204"/>
                <a:gd name="T45" fmla="*/ 77038224 h 222"/>
                <a:gd name="T46" fmla="*/ 52046701 w 204"/>
                <a:gd name="T47" fmla="*/ 65186037 h 222"/>
                <a:gd name="T48" fmla="*/ 69395928 w 204"/>
                <a:gd name="T49" fmla="*/ 71112131 h 222"/>
                <a:gd name="T50" fmla="*/ 86745156 w 204"/>
                <a:gd name="T51" fmla="*/ 71112131 h 222"/>
                <a:gd name="T52" fmla="*/ 92528231 w 204"/>
                <a:gd name="T53" fmla="*/ 59259943 h 222"/>
                <a:gd name="T54" fmla="*/ 98311307 w 204"/>
                <a:gd name="T55" fmla="*/ 47408750 h 222"/>
                <a:gd name="T56" fmla="*/ 98311307 w 204"/>
                <a:gd name="T57" fmla="*/ 29630469 h 222"/>
                <a:gd name="T58" fmla="*/ 92528231 w 204"/>
                <a:gd name="T59" fmla="*/ 23704375 h 222"/>
                <a:gd name="T60" fmla="*/ 104093402 w 204"/>
                <a:gd name="T61" fmla="*/ 23704375 h 222"/>
                <a:gd name="T62" fmla="*/ 109876478 w 204"/>
                <a:gd name="T63" fmla="*/ 23704375 h 222"/>
                <a:gd name="T64" fmla="*/ 127225705 w 204"/>
                <a:gd name="T65" fmla="*/ 29630469 h 222"/>
                <a:gd name="T66" fmla="*/ 127225705 w 204"/>
                <a:gd name="T67" fmla="*/ 23704375 h 222"/>
                <a:gd name="T68" fmla="*/ 133008781 w 204"/>
                <a:gd name="T69" fmla="*/ 11852187 h 222"/>
                <a:gd name="T70" fmla="*/ 150358008 w 204"/>
                <a:gd name="T71" fmla="*/ 0 h 222"/>
                <a:gd name="T72" fmla="*/ 161924160 w 204"/>
                <a:gd name="T73" fmla="*/ 11852187 h 222"/>
                <a:gd name="T74" fmla="*/ 167706255 w 204"/>
                <a:gd name="T75" fmla="*/ 17778281 h 222"/>
                <a:gd name="T76" fmla="*/ 173489331 w 204"/>
                <a:gd name="T77" fmla="*/ 23704375 h 222"/>
                <a:gd name="T78" fmla="*/ 173489331 w 204"/>
                <a:gd name="T79" fmla="*/ 29630469 h 222"/>
                <a:gd name="T80" fmla="*/ 185055482 w 204"/>
                <a:gd name="T81" fmla="*/ 17778281 h 222"/>
                <a:gd name="T82" fmla="*/ 190838558 w 204"/>
                <a:gd name="T83" fmla="*/ 11852187 h 222"/>
                <a:gd name="T84" fmla="*/ 190838558 w 204"/>
                <a:gd name="T85" fmla="*/ 23704375 h 222"/>
                <a:gd name="T86" fmla="*/ 190838558 w 204"/>
                <a:gd name="T87" fmla="*/ 29630469 h 222"/>
                <a:gd name="T88" fmla="*/ 190838558 w 204"/>
                <a:gd name="T89" fmla="*/ 35556562 h 222"/>
                <a:gd name="T90" fmla="*/ 185055482 w 204"/>
                <a:gd name="T91" fmla="*/ 41482656 h 222"/>
                <a:gd name="T92" fmla="*/ 190838558 w 204"/>
                <a:gd name="T93" fmla="*/ 41482656 h 222"/>
                <a:gd name="T94" fmla="*/ 190838558 w 204"/>
                <a:gd name="T95" fmla="*/ 47408750 h 222"/>
                <a:gd name="T96" fmla="*/ 190838558 w 204"/>
                <a:gd name="T97" fmla="*/ 65186037 h 222"/>
                <a:gd name="T98" fmla="*/ 185055482 w 204"/>
                <a:gd name="T99" fmla="*/ 82964318 h 222"/>
                <a:gd name="T100" fmla="*/ 179272406 w 204"/>
                <a:gd name="T101" fmla="*/ 88890412 h 222"/>
                <a:gd name="T102" fmla="*/ 179272406 w 204"/>
                <a:gd name="T103" fmla="*/ 94816506 h 222"/>
                <a:gd name="T104" fmla="*/ 179272406 w 204"/>
                <a:gd name="T105" fmla="*/ 112594787 h 222"/>
                <a:gd name="T106" fmla="*/ 173489331 w 204"/>
                <a:gd name="T107" fmla="*/ 118520880 h 222"/>
                <a:gd name="T108" fmla="*/ 167706255 w 204"/>
                <a:gd name="T109" fmla="*/ 130373068 h 222"/>
                <a:gd name="T110" fmla="*/ 161924160 w 204"/>
                <a:gd name="T111" fmla="*/ 142225255 h 222"/>
                <a:gd name="T112" fmla="*/ 150358008 w 204"/>
                <a:gd name="T113" fmla="*/ 154077443 h 222"/>
                <a:gd name="T114" fmla="*/ 150358008 w 204"/>
                <a:gd name="T115" fmla="*/ 171854730 h 222"/>
                <a:gd name="T116" fmla="*/ 144574932 w 204"/>
                <a:gd name="T117" fmla="*/ 183706917 h 222"/>
                <a:gd name="T118" fmla="*/ 144574932 w 204"/>
                <a:gd name="T119" fmla="*/ 195559105 h 222"/>
                <a:gd name="T120" fmla="*/ 133008781 w 204"/>
                <a:gd name="T121" fmla="*/ 207411292 h 222"/>
                <a:gd name="T122" fmla="*/ 115659554 w 204"/>
                <a:gd name="T123" fmla="*/ 219263480 h 2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04"/>
                <a:gd name="T187" fmla="*/ 0 h 222"/>
                <a:gd name="T188" fmla="*/ 204 w 204"/>
                <a:gd name="T189" fmla="*/ 222 h 2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04" h="222">
                  <a:moveTo>
                    <a:pt x="120" y="222"/>
                  </a:moveTo>
                  <a:lnTo>
                    <a:pt x="120" y="216"/>
                  </a:lnTo>
                  <a:lnTo>
                    <a:pt x="120" y="210"/>
                  </a:lnTo>
                  <a:lnTo>
                    <a:pt x="114" y="210"/>
                  </a:lnTo>
                  <a:lnTo>
                    <a:pt x="108" y="204"/>
                  </a:lnTo>
                  <a:lnTo>
                    <a:pt x="102" y="204"/>
                  </a:lnTo>
                  <a:lnTo>
                    <a:pt x="102" y="198"/>
                  </a:lnTo>
                  <a:lnTo>
                    <a:pt x="102" y="204"/>
                  </a:lnTo>
                  <a:lnTo>
                    <a:pt x="96" y="204"/>
                  </a:lnTo>
                  <a:lnTo>
                    <a:pt x="96" y="198"/>
                  </a:lnTo>
                  <a:lnTo>
                    <a:pt x="96" y="192"/>
                  </a:lnTo>
                  <a:lnTo>
                    <a:pt x="90" y="192"/>
                  </a:lnTo>
                  <a:lnTo>
                    <a:pt x="84" y="192"/>
                  </a:lnTo>
                  <a:lnTo>
                    <a:pt x="78" y="192"/>
                  </a:lnTo>
                  <a:lnTo>
                    <a:pt x="78" y="186"/>
                  </a:lnTo>
                  <a:lnTo>
                    <a:pt x="72" y="186"/>
                  </a:lnTo>
                  <a:lnTo>
                    <a:pt x="72" y="180"/>
                  </a:lnTo>
                  <a:lnTo>
                    <a:pt x="66" y="174"/>
                  </a:lnTo>
                  <a:lnTo>
                    <a:pt x="66" y="180"/>
                  </a:lnTo>
                  <a:lnTo>
                    <a:pt x="60" y="180"/>
                  </a:lnTo>
                  <a:lnTo>
                    <a:pt x="60" y="174"/>
                  </a:lnTo>
                  <a:lnTo>
                    <a:pt x="54" y="174"/>
                  </a:lnTo>
                  <a:lnTo>
                    <a:pt x="54" y="168"/>
                  </a:lnTo>
                  <a:lnTo>
                    <a:pt x="60" y="168"/>
                  </a:lnTo>
                  <a:lnTo>
                    <a:pt x="54" y="168"/>
                  </a:lnTo>
                  <a:lnTo>
                    <a:pt x="48" y="168"/>
                  </a:lnTo>
                  <a:lnTo>
                    <a:pt x="42" y="168"/>
                  </a:lnTo>
                  <a:lnTo>
                    <a:pt x="36" y="168"/>
                  </a:lnTo>
                  <a:lnTo>
                    <a:pt x="36" y="174"/>
                  </a:lnTo>
                  <a:lnTo>
                    <a:pt x="36" y="162"/>
                  </a:lnTo>
                  <a:lnTo>
                    <a:pt x="30" y="162"/>
                  </a:lnTo>
                  <a:lnTo>
                    <a:pt x="30" y="156"/>
                  </a:lnTo>
                  <a:lnTo>
                    <a:pt x="24" y="156"/>
                  </a:lnTo>
                  <a:lnTo>
                    <a:pt x="18" y="156"/>
                  </a:lnTo>
                  <a:lnTo>
                    <a:pt x="12" y="156"/>
                  </a:lnTo>
                  <a:lnTo>
                    <a:pt x="12" y="150"/>
                  </a:lnTo>
                  <a:lnTo>
                    <a:pt x="12" y="144"/>
                  </a:lnTo>
                  <a:lnTo>
                    <a:pt x="18" y="144"/>
                  </a:lnTo>
                  <a:lnTo>
                    <a:pt x="24" y="144"/>
                  </a:lnTo>
                  <a:lnTo>
                    <a:pt x="24" y="138"/>
                  </a:lnTo>
                  <a:lnTo>
                    <a:pt x="18" y="132"/>
                  </a:lnTo>
                  <a:lnTo>
                    <a:pt x="12" y="132"/>
                  </a:lnTo>
                  <a:lnTo>
                    <a:pt x="18" y="132"/>
                  </a:lnTo>
                  <a:lnTo>
                    <a:pt x="12" y="132"/>
                  </a:lnTo>
                  <a:lnTo>
                    <a:pt x="18" y="126"/>
                  </a:lnTo>
                  <a:lnTo>
                    <a:pt x="12" y="126"/>
                  </a:lnTo>
                  <a:lnTo>
                    <a:pt x="12" y="132"/>
                  </a:lnTo>
                  <a:lnTo>
                    <a:pt x="6" y="132"/>
                  </a:lnTo>
                  <a:lnTo>
                    <a:pt x="6" y="126"/>
                  </a:lnTo>
                  <a:lnTo>
                    <a:pt x="6" y="120"/>
                  </a:lnTo>
                  <a:lnTo>
                    <a:pt x="6" y="114"/>
                  </a:lnTo>
                  <a:lnTo>
                    <a:pt x="6" y="108"/>
                  </a:lnTo>
                  <a:lnTo>
                    <a:pt x="0" y="108"/>
                  </a:lnTo>
                  <a:lnTo>
                    <a:pt x="0" y="102"/>
                  </a:lnTo>
                  <a:lnTo>
                    <a:pt x="6" y="96"/>
                  </a:lnTo>
                  <a:lnTo>
                    <a:pt x="0" y="96"/>
                  </a:lnTo>
                  <a:lnTo>
                    <a:pt x="6" y="96"/>
                  </a:lnTo>
                  <a:lnTo>
                    <a:pt x="12" y="96"/>
                  </a:lnTo>
                  <a:lnTo>
                    <a:pt x="18" y="96"/>
                  </a:lnTo>
                  <a:lnTo>
                    <a:pt x="18" y="90"/>
                  </a:lnTo>
                  <a:lnTo>
                    <a:pt x="24" y="90"/>
                  </a:lnTo>
                  <a:lnTo>
                    <a:pt x="18" y="90"/>
                  </a:lnTo>
                  <a:lnTo>
                    <a:pt x="18" y="84"/>
                  </a:lnTo>
                  <a:lnTo>
                    <a:pt x="24" y="84"/>
                  </a:lnTo>
                  <a:lnTo>
                    <a:pt x="24" y="78"/>
                  </a:lnTo>
                  <a:lnTo>
                    <a:pt x="24" y="72"/>
                  </a:lnTo>
                  <a:lnTo>
                    <a:pt x="30" y="78"/>
                  </a:lnTo>
                  <a:lnTo>
                    <a:pt x="36" y="78"/>
                  </a:lnTo>
                  <a:lnTo>
                    <a:pt x="42" y="78"/>
                  </a:lnTo>
                  <a:lnTo>
                    <a:pt x="48" y="72"/>
                  </a:lnTo>
                  <a:lnTo>
                    <a:pt x="48" y="66"/>
                  </a:lnTo>
                  <a:lnTo>
                    <a:pt x="54" y="66"/>
                  </a:lnTo>
                  <a:lnTo>
                    <a:pt x="60" y="66"/>
                  </a:lnTo>
                  <a:lnTo>
                    <a:pt x="72" y="66"/>
                  </a:lnTo>
                  <a:lnTo>
                    <a:pt x="72" y="72"/>
                  </a:lnTo>
                  <a:lnTo>
                    <a:pt x="78" y="66"/>
                  </a:lnTo>
                  <a:lnTo>
                    <a:pt x="84" y="66"/>
                  </a:lnTo>
                  <a:lnTo>
                    <a:pt x="90" y="72"/>
                  </a:lnTo>
                  <a:lnTo>
                    <a:pt x="90" y="66"/>
                  </a:lnTo>
                  <a:lnTo>
                    <a:pt x="90" y="60"/>
                  </a:lnTo>
                  <a:lnTo>
                    <a:pt x="96" y="60"/>
                  </a:lnTo>
                  <a:lnTo>
                    <a:pt x="96" y="54"/>
                  </a:lnTo>
                  <a:lnTo>
                    <a:pt x="102" y="54"/>
                  </a:lnTo>
                  <a:lnTo>
                    <a:pt x="102" y="48"/>
                  </a:lnTo>
                  <a:lnTo>
                    <a:pt x="102" y="42"/>
                  </a:lnTo>
                  <a:lnTo>
                    <a:pt x="102" y="36"/>
                  </a:lnTo>
                  <a:lnTo>
                    <a:pt x="102" y="30"/>
                  </a:lnTo>
                  <a:lnTo>
                    <a:pt x="96" y="24"/>
                  </a:lnTo>
                  <a:lnTo>
                    <a:pt x="102" y="24"/>
                  </a:lnTo>
                  <a:lnTo>
                    <a:pt x="96" y="24"/>
                  </a:lnTo>
                  <a:lnTo>
                    <a:pt x="96" y="18"/>
                  </a:lnTo>
                  <a:lnTo>
                    <a:pt x="102" y="18"/>
                  </a:lnTo>
                  <a:lnTo>
                    <a:pt x="108" y="24"/>
                  </a:lnTo>
                  <a:lnTo>
                    <a:pt x="108" y="18"/>
                  </a:lnTo>
                  <a:lnTo>
                    <a:pt x="108" y="24"/>
                  </a:lnTo>
                  <a:lnTo>
                    <a:pt x="114" y="24"/>
                  </a:lnTo>
                  <a:lnTo>
                    <a:pt x="114" y="30"/>
                  </a:lnTo>
                  <a:lnTo>
                    <a:pt x="126" y="24"/>
                  </a:lnTo>
                  <a:lnTo>
                    <a:pt x="132" y="30"/>
                  </a:lnTo>
                  <a:lnTo>
                    <a:pt x="132" y="24"/>
                  </a:lnTo>
                  <a:lnTo>
                    <a:pt x="132" y="30"/>
                  </a:lnTo>
                  <a:lnTo>
                    <a:pt x="132" y="24"/>
                  </a:lnTo>
                  <a:lnTo>
                    <a:pt x="138" y="24"/>
                  </a:lnTo>
                  <a:lnTo>
                    <a:pt x="138" y="18"/>
                  </a:lnTo>
                  <a:lnTo>
                    <a:pt x="138" y="12"/>
                  </a:lnTo>
                  <a:lnTo>
                    <a:pt x="144" y="6"/>
                  </a:lnTo>
                  <a:lnTo>
                    <a:pt x="150" y="6"/>
                  </a:lnTo>
                  <a:lnTo>
                    <a:pt x="156" y="0"/>
                  </a:lnTo>
                  <a:lnTo>
                    <a:pt x="156" y="6"/>
                  </a:lnTo>
                  <a:lnTo>
                    <a:pt x="162" y="6"/>
                  </a:lnTo>
                  <a:lnTo>
                    <a:pt x="168" y="12"/>
                  </a:lnTo>
                  <a:lnTo>
                    <a:pt x="174" y="12"/>
                  </a:lnTo>
                  <a:lnTo>
                    <a:pt x="180" y="18"/>
                  </a:lnTo>
                  <a:lnTo>
                    <a:pt x="174" y="18"/>
                  </a:lnTo>
                  <a:lnTo>
                    <a:pt x="174" y="24"/>
                  </a:lnTo>
                  <a:lnTo>
                    <a:pt x="180" y="18"/>
                  </a:lnTo>
                  <a:lnTo>
                    <a:pt x="180" y="24"/>
                  </a:lnTo>
                  <a:lnTo>
                    <a:pt x="180" y="18"/>
                  </a:lnTo>
                  <a:lnTo>
                    <a:pt x="180" y="24"/>
                  </a:lnTo>
                  <a:lnTo>
                    <a:pt x="180" y="30"/>
                  </a:lnTo>
                  <a:lnTo>
                    <a:pt x="186" y="24"/>
                  </a:lnTo>
                  <a:lnTo>
                    <a:pt x="186" y="18"/>
                  </a:lnTo>
                  <a:lnTo>
                    <a:pt x="192" y="18"/>
                  </a:lnTo>
                  <a:lnTo>
                    <a:pt x="198" y="24"/>
                  </a:lnTo>
                  <a:lnTo>
                    <a:pt x="198" y="18"/>
                  </a:lnTo>
                  <a:lnTo>
                    <a:pt x="198" y="12"/>
                  </a:lnTo>
                  <a:lnTo>
                    <a:pt x="198" y="18"/>
                  </a:lnTo>
                  <a:lnTo>
                    <a:pt x="204" y="18"/>
                  </a:lnTo>
                  <a:lnTo>
                    <a:pt x="198" y="24"/>
                  </a:lnTo>
                  <a:lnTo>
                    <a:pt x="204" y="24"/>
                  </a:lnTo>
                  <a:lnTo>
                    <a:pt x="204" y="30"/>
                  </a:lnTo>
                  <a:lnTo>
                    <a:pt x="198" y="30"/>
                  </a:lnTo>
                  <a:lnTo>
                    <a:pt x="192" y="30"/>
                  </a:lnTo>
                  <a:lnTo>
                    <a:pt x="198" y="30"/>
                  </a:lnTo>
                  <a:lnTo>
                    <a:pt x="198" y="36"/>
                  </a:lnTo>
                  <a:lnTo>
                    <a:pt x="192" y="42"/>
                  </a:lnTo>
                  <a:lnTo>
                    <a:pt x="192" y="36"/>
                  </a:lnTo>
                  <a:lnTo>
                    <a:pt x="192" y="42"/>
                  </a:lnTo>
                  <a:lnTo>
                    <a:pt x="198" y="42"/>
                  </a:lnTo>
                  <a:lnTo>
                    <a:pt x="192" y="42"/>
                  </a:lnTo>
                  <a:lnTo>
                    <a:pt x="198" y="42"/>
                  </a:lnTo>
                  <a:lnTo>
                    <a:pt x="198" y="48"/>
                  </a:lnTo>
                  <a:lnTo>
                    <a:pt x="204" y="48"/>
                  </a:lnTo>
                  <a:lnTo>
                    <a:pt x="198" y="48"/>
                  </a:lnTo>
                  <a:lnTo>
                    <a:pt x="198" y="54"/>
                  </a:lnTo>
                  <a:lnTo>
                    <a:pt x="198" y="60"/>
                  </a:lnTo>
                  <a:lnTo>
                    <a:pt x="198" y="66"/>
                  </a:lnTo>
                  <a:lnTo>
                    <a:pt x="192" y="72"/>
                  </a:lnTo>
                  <a:lnTo>
                    <a:pt x="192" y="78"/>
                  </a:lnTo>
                  <a:lnTo>
                    <a:pt x="192" y="84"/>
                  </a:lnTo>
                  <a:lnTo>
                    <a:pt x="186" y="90"/>
                  </a:lnTo>
                  <a:lnTo>
                    <a:pt x="186" y="84"/>
                  </a:lnTo>
                  <a:lnTo>
                    <a:pt x="186" y="90"/>
                  </a:lnTo>
                  <a:lnTo>
                    <a:pt x="186" y="84"/>
                  </a:lnTo>
                  <a:lnTo>
                    <a:pt x="186" y="90"/>
                  </a:lnTo>
                  <a:lnTo>
                    <a:pt x="186" y="96"/>
                  </a:lnTo>
                  <a:lnTo>
                    <a:pt x="186" y="102"/>
                  </a:lnTo>
                  <a:lnTo>
                    <a:pt x="186" y="108"/>
                  </a:lnTo>
                  <a:lnTo>
                    <a:pt x="186" y="114"/>
                  </a:lnTo>
                  <a:lnTo>
                    <a:pt x="180" y="120"/>
                  </a:lnTo>
                  <a:lnTo>
                    <a:pt x="186" y="120"/>
                  </a:lnTo>
                  <a:lnTo>
                    <a:pt x="180" y="120"/>
                  </a:lnTo>
                  <a:lnTo>
                    <a:pt x="180" y="126"/>
                  </a:lnTo>
                  <a:lnTo>
                    <a:pt x="180" y="132"/>
                  </a:lnTo>
                  <a:lnTo>
                    <a:pt x="174" y="132"/>
                  </a:lnTo>
                  <a:lnTo>
                    <a:pt x="174" y="138"/>
                  </a:lnTo>
                  <a:lnTo>
                    <a:pt x="168" y="138"/>
                  </a:lnTo>
                  <a:lnTo>
                    <a:pt x="168" y="144"/>
                  </a:lnTo>
                  <a:lnTo>
                    <a:pt x="168" y="156"/>
                  </a:lnTo>
                  <a:lnTo>
                    <a:pt x="162" y="156"/>
                  </a:lnTo>
                  <a:lnTo>
                    <a:pt x="156" y="156"/>
                  </a:lnTo>
                  <a:lnTo>
                    <a:pt x="156" y="162"/>
                  </a:lnTo>
                  <a:lnTo>
                    <a:pt x="156" y="168"/>
                  </a:lnTo>
                  <a:lnTo>
                    <a:pt x="156" y="174"/>
                  </a:lnTo>
                  <a:lnTo>
                    <a:pt x="156" y="180"/>
                  </a:lnTo>
                  <a:lnTo>
                    <a:pt x="150" y="180"/>
                  </a:lnTo>
                  <a:lnTo>
                    <a:pt x="150" y="186"/>
                  </a:lnTo>
                  <a:lnTo>
                    <a:pt x="156" y="186"/>
                  </a:lnTo>
                  <a:lnTo>
                    <a:pt x="156" y="192"/>
                  </a:lnTo>
                  <a:lnTo>
                    <a:pt x="150" y="198"/>
                  </a:lnTo>
                  <a:lnTo>
                    <a:pt x="144" y="204"/>
                  </a:lnTo>
                  <a:lnTo>
                    <a:pt x="138" y="204"/>
                  </a:lnTo>
                  <a:lnTo>
                    <a:pt x="138" y="210"/>
                  </a:lnTo>
                  <a:lnTo>
                    <a:pt x="132" y="210"/>
                  </a:lnTo>
                  <a:lnTo>
                    <a:pt x="132" y="216"/>
                  </a:lnTo>
                  <a:lnTo>
                    <a:pt x="120" y="222"/>
                  </a:lnTo>
                  <a:close/>
                </a:path>
              </a:pathLst>
            </a:custGeom>
            <a:solidFill>
              <a:schemeClr val="accent1"/>
            </a:solidFill>
            <a:ln w="9525">
              <a:solidFill>
                <a:srgbClr val="B2B2B2"/>
              </a:solidFill>
              <a:round/>
              <a:headEnd/>
              <a:tailEnd/>
            </a:ln>
          </p:spPr>
          <p:txBody>
            <a:bodyPr/>
            <a:lstStyle/>
            <a:p>
              <a:endParaRPr lang="en-CA"/>
            </a:p>
          </p:txBody>
        </p:sp>
        <p:sp>
          <p:nvSpPr>
            <p:cNvPr id="435" name="Freeform 494"/>
            <p:cNvSpPr>
              <a:spLocks/>
            </p:cNvSpPr>
            <p:nvPr>
              <p:custDataLst>
                <p:tags r:id="rId58"/>
              </p:custDataLst>
            </p:nvPr>
          </p:nvSpPr>
          <p:spPr bwMode="gray">
            <a:xfrm>
              <a:off x="1035" y="3174"/>
              <a:ext cx="239" cy="139"/>
            </a:xfrm>
            <a:custGeom>
              <a:avLst/>
              <a:gdLst>
                <a:gd name="T0" fmla="*/ 211256404 w 384"/>
                <a:gd name="T1" fmla="*/ 165929630 h 222"/>
                <a:gd name="T2" fmla="*/ 199519333 w 384"/>
                <a:gd name="T3" fmla="*/ 160003536 h 222"/>
                <a:gd name="T4" fmla="*/ 176047168 w 384"/>
                <a:gd name="T5" fmla="*/ 160003536 h 222"/>
                <a:gd name="T6" fmla="*/ 176047168 w 384"/>
                <a:gd name="T7" fmla="*/ 165929630 h 222"/>
                <a:gd name="T8" fmla="*/ 164310097 w 384"/>
                <a:gd name="T9" fmla="*/ 160003536 h 222"/>
                <a:gd name="T10" fmla="*/ 146705973 w 384"/>
                <a:gd name="T11" fmla="*/ 154077443 h 222"/>
                <a:gd name="T12" fmla="*/ 123232820 w 384"/>
                <a:gd name="T13" fmla="*/ 160003536 h 222"/>
                <a:gd name="T14" fmla="*/ 129100861 w 384"/>
                <a:gd name="T15" fmla="*/ 136299162 h 222"/>
                <a:gd name="T16" fmla="*/ 111496737 w 384"/>
                <a:gd name="T17" fmla="*/ 118520880 h 222"/>
                <a:gd name="T18" fmla="*/ 99759667 w 384"/>
                <a:gd name="T19" fmla="*/ 124446974 h 222"/>
                <a:gd name="T20" fmla="*/ 76286513 w 384"/>
                <a:gd name="T21" fmla="*/ 118520880 h 222"/>
                <a:gd name="T22" fmla="*/ 64550431 w 384"/>
                <a:gd name="T23" fmla="*/ 118520880 h 222"/>
                <a:gd name="T24" fmla="*/ 46946307 w 384"/>
                <a:gd name="T25" fmla="*/ 130373068 h 222"/>
                <a:gd name="T26" fmla="*/ 23473153 w 384"/>
                <a:gd name="T27" fmla="*/ 118520880 h 222"/>
                <a:gd name="T28" fmla="*/ 17605112 w 384"/>
                <a:gd name="T29" fmla="*/ 100742599 h 222"/>
                <a:gd name="T30" fmla="*/ 5868041 w 384"/>
                <a:gd name="T31" fmla="*/ 94816506 h 222"/>
                <a:gd name="T32" fmla="*/ 11736083 w 384"/>
                <a:gd name="T33" fmla="*/ 71112131 h 222"/>
                <a:gd name="T34" fmla="*/ 17605112 w 384"/>
                <a:gd name="T35" fmla="*/ 53334843 h 222"/>
                <a:gd name="T36" fmla="*/ 17605112 w 384"/>
                <a:gd name="T37" fmla="*/ 47408750 h 222"/>
                <a:gd name="T38" fmla="*/ 35209236 w 384"/>
                <a:gd name="T39" fmla="*/ 29630469 h 222"/>
                <a:gd name="T40" fmla="*/ 41077277 w 384"/>
                <a:gd name="T41" fmla="*/ 29630469 h 222"/>
                <a:gd name="T42" fmla="*/ 70418472 w 384"/>
                <a:gd name="T43" fmla="*/ 35556562 h 222"/>
                <a:gd name="T44" fmla="*/ 88023584 w 384"/>
                <a:gd name="T45" fmla="*/ 35556562 h 222"/>
                <a:gd name="T46" fmla="*/ 93891625 w 384"/>
                <a:gd name="T47" fmla="*/ 23704375 h 222"/>
                <a:gd name="T48" fmla="*/ 111496737 w 384"/>
                <a:gd name="T49" fmla="*/ 29630469 h 222"/>
                <a:gd name="T50" fmla="*/ 123232820 w 384"/>
                <a:gd name="T51" fmla="*/ 35556562 h 222"/>
                <a:gd name="T52" fmla="*/ 140837932 w 384"/>
                <a:gd name="T53" fmla="*/ 23704375 h 222"/>
                <a:gd name="T54" fmla="*/ 152574015 w 384"/>
                <a:gd name="T55" fmla="*/ 29630469 h 222"/>
                <a:gd name="T56" fmla="*/ 164310097 w 384"/>
                <a:gd name="T57" fmla="*/ 17778281 h 222"/>
                <a:gd name="T58" fmla="*/ 181915209 w 384"/>
                <a:gd name="T59" fmla="*/ 5926094 h 222"/>
                <a:gd name="T60" fmla="*/ 193651292 w 384"/>
                <a:gd name="T61" fmla="*/ 17778281 h 222"/>
                <a:gd name="T62" fmla="*/ 211256404 w 384"/>
                <a:gd name="T63" fmla="*/ 17778281 h 222"/>
                <a:gd name="T64" fmla="*/ 222992487 w 384"/>
                <a:gd name="T65" fmla="*/ 11852187 h 222"/>
                <a:gd name="T66" fmla="*/ 234728569 w 384"/>
                <a:gd name="T67" fmla="*/ 11852187 h 222"/>
                <a:gd name="T68" fmla="*/ 252333681 w 384"/>
                <a:gd name="T69" fmla="*/ 11852187 h 222"/>
                <a:gd name="T70" fmla="*/ 258201723 w 384"/>
                <a:gd name="T71" fmla="*/ 0 h 222"/>
                <a:gd name="T72" fmla="*/ 264069764 w 384"/>
                <a:gd name="T73" fmla="*/ 11852187 h 222"/>
                <a:gd name="T74" fmla="*/ 287542917 w 384"/>
                <a:gd name="T75" fmla="*/ 17778281 h 222"/>
                <a:gd name="T76" fmla="*/ 305148029 w 384"/>
                <a:gd name="T77" fmla="*/ 23704375 h 222"/>
                <a:gd name="T78" fmla="*/ 311016071 w 384"/>
                <a:gd name="T79" fmla="*/ 35556562 h 222"/>
                <a:gd name="T80" fmla="*/ 328621183 w 384"/>
                <a:gd name="T81" fmla="*/ 41482656 h 222"/>
                <a:gd name="T82" fmla="*/ 346225307 w 384"/>
                <a:gd name="T83" fmla="*/ 53334843 h 222"/>
                <a:gd name="T84" fmla="*/ 357961389 w 384"/>
                <a:gd name="T85" fmla="*/ 59259943 h 222"/>
                <a:gd name="T86" fmla="*/ 369698460 w 384"/>
                <a:gd name="T87" fmla="*/ 82964318 h 222"/>
                <a:gd name="T88" fmla="*/ 363830419 w 384"/>
                <a:gd name="T89" fmla="*/ 82964318 h 222"/>
                <a:gd name="T90" fmla="*/ 352093348 w 384"/>
                <a:gd name="T91" fmla="*/ 100742599 h 222"/>
                <a:gd name="T92" fmla="*/ 334489224 w 384"/>
                <a:gd name="T93" fmla="*/ 118520880 h 222"/>
                <a:gd name="T94" fmla="*/ 311016071 w 384"/>
                <a:gd name="T95" fmla="*/ 136299162 h 222"/>
                <a:gd name="T96" fmla="*/ 293410959 w 384"/>
                <a:gd name="T97" fmla="*/ 154077443 h 222"/>
                <a:gd name="T98" fmla="*/ 275806835 w 384"/>
                <a:gd name="T99" fmla="*/ 160003536 h 222"/>
                <a:gd name="T100" fmla="*/ 287542917 w 384"/>
                <a:gd name="T101" fmla="*/ 189633011 h 222"/>
                <a:gd name="T102" fmla="*/ 281674876 w 384"/>
                <a:gd name="T103" fmla="*/ 207411292 h 222"/>
                <a:gd name="T104" fmla="*/ 258201723 w 384"/>
                <a:gd name="T105" fmla="*/ 207411292 h 222"/>
                <a:gd name="T106" fmla="*/ 246465640 w 384"/>
                <a:gd name="T107" fmla="*/ 189633011 h 222"/>
                <a:gd name="T108" fmla="*/ 234728569 w 384"/>
                <a:gd name="T109" fmla="*/ 171854730 h 2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4"/>
                <a:gd name="T166" fmla="*/ 0 h 222"/>
                <a:gd name="T167" fmla="*/ 384 w 384"/>
                <a:gd name="T168" fmla="*/ 222 h 22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4" h="222">
                  <a:moveTo>
                    <a:pt x="228" y="180"/>
                  </a:moveTo>
                  <a:lnTo>
                    <a:pt x="222" y="180"/>
                  </a:lnTo>
                  <a:lnTo>
                    <a:pt x="222" y="174"/>
                  </a:lnTo>
                  <a:lnTo>
                    <a:pt x="216" y="174"/>
                  </a:lnTo>
                  <a:lnTo>
                    <a:pt x="216" y="168"/>
                  </a:lnTo>
                  <a:lnTo>
                    <a:pt x="210" y="168"/>
                  </a:lnTo>
                  <a:lnTo>
                    <a:pt x="204" y="168"/>
                  </a:lnTo>
                  <a:lnTo>
                    <a:pt x="204" y="162"/>
                  </a:lnTo>
                  <a:lnTo>
                    <a:pt x="198" y="162"/>
                  </a:lnTo>
                  <a:lnTo>
                    <a:pt x="204" y="162"/>
                  </a:lnTo>
                  <a:lnTo>
                    <a:pt x="198" y="156"/>
                  </a:lnTo>
                  <a:lnTo>
                    <a:pt x="192" y="156"/>
                  </a:lnTo>
                  <a:lnTo>
                    <a:pt x="186" y="156"/>
                  </a:lnTo>
                  <a:lnTo>
                    <a:pt x="186" y="162"/>
                  </a:lnTo>
                  <a:lnTo>
                    <a:pt x="180" y="162"/>
                  </a:lnTo>
                  <a:lnTo>
                    <a:pt x="186" y="162"/>
                  </a:lnTo>
                  <a:lnTo>
                    <a:pt x="180" y="162"/>
                  </a:lnTo>
                  <a:lnTo>
                    <a:pt x="180" y="168"/>
                  </a:lnTo>
                  <a:lnTo>
                    <a:pt x="186" y="168"/>
                  </a:lnTo>
                  <a:lnTo>
                    <a:pt x="180" y="168"/>
                  </a:lnTo>
                  <a:lnTo>
                    <a:pt x="180" y="162"/>
                  </a:lnTo>
                  <a:lnTo>
                    <a:pt x="174" y="162"/>
                  </a:lnTo>
                  <a:lnTo>
                    <a:pt x="174" y="168"/>
                  </a:lnTo>
                  <a:lnTo>
                    <a:pt x="168" y="168"/>
                  </a:lnTo>
                  <a:lnTo>
                    <a:pt x="168" y="162"/>
                  </a:lnTo>
                  <a:lnTo>
                    <a:pt x="168" y="156"/>
                  </a:lnTo>
                  <a:lnTo>
                    <a:pt x="162" y="156"/>
                  </a:lnTo>
                  <a:lnTo>
                    <a:pt x="156" y="150"/>
                  </a:lnTo>
                  <a:lnTo>
                    <a:pt x="150" y="150"/>
                  </a:lnTo>
                  <a:lnTo>
                    <a:pt x="150" y="156"/>
                  </a:lnTo>
                  <a:lnTo>
                    <a:pt x="150" y="162"/>
                  </a:lnTo>
                  <a:lnTo>
                    <a:pt x="144" y="162"/>
                  </a:lnTo>
                  <a:lnTo>
                    <a:pt x="138" y="162"/>
                  </a:lnTo>
                  <a:lnTo>
                    <a:pt x="132" y="162"/>
                  </a:lnTo>
                  <a:lnTo>
                    <a:pt x="126" y="162"/>
                  </a:lnTo>
                  <a:lnTo>
                    <a:pt x="126" y="156"/>
                  </a:lnTo>
                  <a:lnTo>
                    <a:pt x="132" y="156"/>
                  </a:lnTo>
                  <a:lnTo>
                    <a:pt x="132" y="150"/>
                  </a:lnTo>
                  <a:lnTo>
                    <a:pt x="132" y="144"/>
                  </a:lnTo>
                  <a:lnTo>
                    <a:pt x="132" y="138"/>
                  </a:lnTo>
                  <a:lnTo>
                    <a:pt x="126" y="138"/>
                  </a:lnTo>
                  <a:lnTo>
                    <a:pt x="126" y="132"/>
                  </a:lnTo>
                  <a:lnTo>
                    <a:pt x="120" y="126"/>
                  </a:lnTo>
                  <a:lnTo>
                    <a:pt x="114" y="126"/>
                  </a:lnTo>
                  <a:lnTo>
                    <a:pt x="114" y="120"/>
                  </a:lnTo>
                  <a:lnTo>
                    <a:pt x="108" y="120"/>
                  </a:lnTo>
                  <a:lnTo>
                    <a:pt x="108" y="126"/>
                  </a:lnTo>
                  <a:lnTo>
                    <a:pt x="102" y="120"/>
                  </a:lnTo>
                  <a:lnTo>
                    <a:pt x="96" y="120"/>
                  </a:lnTo>
                  <a:lnTo>
                    <a:pt x="102" y="126"/>
                  </a:lnTo>
                  <a:lnTo>
                    <a:pt x="96" y="126"/>
                  </a:lnTo>
                  <a:lnTo>
                    <a:pt x="96" y="120"/>
                  </a:lnTo>
                  <a:lnTo>
                    <a:pt x="90" y="120"/>
                  </a:lnTo>
                  <a:lnTo>
                    <a:pt x="84" y="120"/>
                  </a:lnTo>
                  <a:lnTo>
                    <a:pt x="78" y="120"/>
                  </a:lnTo>
                  <a:lnTo>
                    <a:pt x="78" y="126"/>
                  </a:lnTo>
                  <a:lnTo>
                    <a:pt x="72" y="126"/>
                  </a:lnTo>
                  <a:lnTo>
                    <a:pt x="72" y="120"/>
                  </a:lnTo>
                  <a:lnTo>
                    <a:pt x="72" y="126"/>
                  </a:lnTo>
                  <a:lnTo>
                    <a:pt x="66" y="120"/>
                  </a:lnTo>
                  <a:lnTo>
                    <a:pt x="66" y="126"/>
                  </a:lnTo>
                  <a:lnTo>
                    <a:pt x="60" y="126"/>
                  </a:lnTo>
                  <a:lnTo>
                    <a:pt x="54" y="126"/>
                  </a:lnTo>
                  <a:lnTo>
                    <a:pt x="54" y="132"/>
                  </a:lnTo>
                  <a:lnTo>
                    <a:pt x="48" y="132"/>
                  </a:lnTo>
                  <a:lnTo>
                    <a:pt x="42" y="132"/>
                  </a:lnTo>
                  <a:lnTo>
                    <a:pt x="36" y="132"/>
                  </a:lnTo>
                  <a:lnTo>
                    <a:pt x="36" y="126"/>
                  </a:lnTo>
                  <a:lnTo>
                    <a:pt x="30" y="126"/>
                  </a:lnTo>
                  <a:lnTo>
                    <a:pt x="24" y="120"/>
                  </a:lnTo>
                  <a:lnTo>
                    <a:pt x="18" y="120"/>
                  </a:lnTo>
                  <a:lnTo>
                    <a:pt x="18" y="114"/>
                  </a:lnTo>
                  <a:lnTo>
                    <a:pt x="24" y="114"/>
                  </a:lnTo>
                  <a:lnTo>
                    <a:pt x="18" y="108"/>
                  </a:lnTo>
                  <a:lnTo>
                    <a:pt x="18" y="102"/>
                  </a:lnTo>
                  <a:lnTo>
                    <a:pt x="18" y="108"/>
                  </a:lnTo>
                  <a:lnTo>
                    <a:pt x="18" y="102"/>
                  </a:lnTo>
                  <a:lnTo>
                    <a:pt x="12" y="102"/>
                  </a:lnTo>
                  <a:lnTo>
                    <a:pt x="12" y="96"/>
                  </a:lnTo>
                  <a:lnTo>
                    <a:pt x="6" y="96"/>
                  </a:lnTo>
                  <a:lnTo>
                    <a:pt x="6" y="90"/>
                  </a:lnTo>
                  <a:lnTo>
                    <a:pt x="0" y="90"/>
                  </a:lnTo>
                  <a:lnTo>
                    <a:pt x="0" y="84"/>
                  </a:lnTo>
                  <a:lnTo>
                    <a:pt x="6" y="78"/>
                  </a:lnTo>
                  <a:lnTo>
                    <a:pt x="12" y="72"/>
                  </a:lnTo>
                  <a:lnTo>
                    <a:pt x="12" y="66"/>
                  </a:lnTo>
                  <a:lnTo>
                    <a:pt x="12" y="60"/>
                  </a:lnTo>
                  <a:lnTo>
                    <a:pt x="18" y="60"/>
                  </a:lnTo>
                  <a:lnTo>
                    <a:pt x="12" y="54"/>
                  </a:lnTo>
                  <a:lnTo>
                    <a:pt x="18" y="54"/>
                  </a:lnTo>
                  <a:lnTo>
                    <a:pt x="12" y="54"/>
                  </a:lnTo>
                  <a:lnTo>
                    <a:pt x="18" y="54"/>
                  </a:lnTo>
                  <a:lnTo>
                    <a:pt x="12" y="54"/>
                  </a:lnTo>
                  <a:lnTo>
                    <a:pt x="12" y="48"/>
                  </a:lnTo>
                  <a:lnTo>
                    <a:pt x="18" y="48"/>
                  </a:lnTo>
                  <a:lnTo>
                    <a:pt x="18" y="42"/>
                  </a:lnTo>
                  <a:lnTo>
                    <a:pt x="24" y="36"/>
                  </a:lnTo>
                  <a:lnTo>
                    <a:pt x="30" y="36"/>
                  </a:lnTo>
                  <a:lnTo>
                    <a:pt x="30" y="30"/>
                  </a:lnTo>
                  <a:lnTo>
                    <a:pt x="36" y="30"/>
                  </a:lnTo>
                  <a:lnTo>
                    <a:pt x="36" y="24"/>
                  </a:lnTo>
                  <a:lnTo>
                    <a:pt x="36" y="30"/>
                  </a:lnTo>
                  <a:lnTo>
                    <a:pt x="42" y="30"/>
                  </a:lnTo>
                  <a:lnTo>
                    <a:pt x="42" y="36"/>
                  </a:lnTo>
                  <a:lnTo>
                    <a:pt x="42" y="30"/>
                  </a:lnTo>
                  <a:lnTo>
                    <a:pt x="48" y="30"/>
                  </a:lnTo>
                  <a:lnTo>
                    <a:pt x="54" y="30"/>
                  </a:lnTo>
                  <a:lnTo>
                    <a:pt x="60" y="30"/>
                  </a:lnTo>
                  <a:lnTo>
                    <a:pt x="66" y="30"/>
                  </a:lnTo>
                  <a:lnTo>
                    <a:pt x="72" y="36"/>
                  </a:lnTo>
                  <a:lnTo>
                    <a:pt x="78" y="36"/>
                  </a:lnTo>
                  <a:lnTo>
                    <a:pt x="84" y="36"/>
                  </a:lnTo>
                  <a:lnTo>
                    <a:pt x="84" y="42"/>
                  </a:lnTo>
                  <a:lnTo>
                    <a:pt x="84" y="36"/>
                  </a:lnTo>
                  <a:lnTo>
                    <a:pt x="90" y="36"/>
                  </a:lnTo>
                  <a:lnTo>
                    <a:pt x="90" y="30"/>
                  </a:lnTo>
                  <a:lnTo>
                    <a:pt x="96" y="30"/>
                  </a:lnTo>
                  <a:lnTo>
                    <a:pt x="90" y="30"/>
                  </a:lnTo>
                  <a:lnTo>
                    <a:pt x="96" y="30"/>
                  </a:lnTo>
                  <a:lnTo>
                    <a:pt x="96" y="24"/>
                  </a:lnTo>
                  <a:lnTo>
                    <a:pt x="102" y="24"/>
                  </a:lnTo>
                  <a:lnTo>
                    <a:pt x="96" y="24"/>
                  </a:lnTo>
                  <a:lnTo>
                    <a:pt x="102" y="24"/>
                  </a:lnTo>
                  <a:lnTo>
                    <a:pt x="108" y="30"/>
                  </a:lnTo>
                  <a:lnTo>
                    <a:pt x="114" y="30"/>
                  </a:lnTo>
                  <a:lnTo>
                    <a:pt x="114" y="36"/>
                  </a:lnTo>
                  <a:lnTo>
                    <a:pt x="120" y="36"/>
                  </a:lnTo>
                  <a:lnTo>
                    <a:pt x="120" y="30"/>
                  </a:lnTo>
                  <a:lnTo>
                    <a:pt x="126" y="30"/>
                  </a:lnTo>
                  <a:lnTo>
                    <a:pt x="126" y="36"/>
                  </a:lnTo>
                  <a:lnTo>
                    <a:pt x="126" y="30"/>
                  </a:lnTo>
                  <a:lnTo>
                    <a:pt x="132" y="30"/>
                  </a:lnTo>
                  <a:lnTo>
                    <a:pt x="138" y="30"/>
                  </a:lnTo>
                  <a:lnTo>
                    <a:pt x="138" y="24"/>
                  </a:lnTo>
                  <a:lnTo>
                    <a:pt x="144" y="24"/>
                  </a:lnTo>
                  <a:lnTo>
                    <a:pt x="150" y="24"/>
                  </a:lnTo>
                  <a:lnTo>
                    <a:pt x="150" y="30"/>
                  </a:lnTo>
                  <a:lnTo>
                    <a:pt x="150" y="24"/>
                  </a:lnTo>
                  <a:lnTo>
                    <a:pt x="150" y="30"/>
                  </a:lnTo>
                  <a:lnTo>
                    <a:pt x="156" y="30"/>
                  </a:lnTo>
                  <a:lnTo>
                    <a:pt x="162" y="30"/>
                  </a:lnTo>
                  <a:lnTo>
                    <a:pt x="162" y="24"/>
                  </a:lnTo>
                  <a:lnTo>
                    <a:pt x="168" y="18"/>
                  </a:lnTo>
                  <a:lnTo>
                    <a:pt x="168" y="24"/>
                  </a:lnTo>
                  <a:lnTo>
                    <a:pt x="168" y="18"/>
                  </a:lnTo>
                  <a:lnTo>
                    <a:pt x="174" y="18"/>
                  </a:lnTo>
                  <a:lnTo>
                    <a:pt x="174" y="12"/>
                  </a:lnTo>
                  <a:lnTo>
                    <a:pt x="180" y="12"/>
                  </a:lnTo>
                  <a:lnTo>
                    <a:pt x="186" y="12"/>
                  </a:lnTo>
                  <a:lnTo>
                    <a:pt x="186" y="6"/>
                  </a:lnTo>
                  <a:lnTo>
                    <a:pt x="192" y="6"/>
                  </a:lnTo>
                  <a:lnTo>
                    <a:pt x="192" y="12"/>
                  </a:lnTo>
                  <a:lnTo>
                    <a:pt x="198" y="18"/>
                  </a:lnTo>
                  <a:lnTo>
                    <a:pt x="198" y="12"/>
                  </a:lnTo>
                  <a:lnTo>
                    <a:pt x="198" y="18"/>
                  </a:lnTo>
                  <a:lnTo>
                    <a:pt x="198" y="12"/>
                  </a:lnTo>
                  <a:lnTo>
                    <a:pt x="204" y="12"/>
                  </a:lnTo>
                  <a:lnTo>
                    <a:pt x="210" y="12"/>
                  </a:lnTo>
                  <a:lnTo>
                    <a:pt x="210" y="18"/>
                  </a:lnTo>
                  <a:lnTo>
                    <a:pt x="216" y="18"/>
                  </a:lnTo>
                  <a:lnTo>
                    <a:pt x="222" y="18"/>
                  </a:lnTo>
                  <a:lnTo>
                    <a:pt x="228" y="18"/>
                  </a:lnTo>
                  <a:lnTo>
                    <a:pt x="234" y="18"/>
                  </a:lnTo>
                  <a:lnTo>
                    <a:pt x="228" y="18"/>
                  </a:lnTo>
                  <a:lnTo>
                    <a:pt x="228" y="12"/>
                  </a:lnTo>
                  <a:lnTo>
                    <a:pt x="234" y="18"/>
                  </a:lnTo>
                  <a:lnTo>
                    <a:pt x="240" y="18"/>
                  </a:lnTo>
                  <a:lnTo>
                    <a:pt x="246" y="18"/>
                  </a:lnTo>
                  <a:lnTo>
                    <a:pt x="246" y="12"/>
                  </a:lnTo>
                  <a:lnTo>
                    <a:pt x="240" y="12"/>
                  </a:lnTo>
                  <a:lnTo>
                    <a:pt x="246" y="12"/>
                  </a:lnTo>
                  <a:lnTo>
                    <a:pt x="246" y="6"/>
                  </a:lnTo>
                  <a:lnTo>
                    <a:pt x="252" y="6"/>
                  </a:lnTo>
                  <a:lnTo>
                    <a:pt x="252" y="12"/>
                  </a:lnTo>
                  <a:lnTo>
                    <a:pt x="258" y="12"/>
                  </a:lnTo>
                  <a:lnTo>
                    <a:pt x="258" y="6"/>
                  </a:lnTo>
                  <a:lnTo>
                    <a:pt x="252" y="6"/>
                  </a:lnTo>
                  <a:lnTo>
                    <a:pt x="258" y="6"/>
                  </a:lnTo>
                  <a:lnTo>
                    <a:pt x="258" y="0"/>
                  </a:lnTo>
                  <a:lnTo>
                    <a:pt x="264" y="0"/>
                  </a:lnTo>
                  <a:lnTo>
                    <a:pt x="270" y="0"/>
                  </a:lnTo>
                  <a:lnTo>
                    <a:pt x="276" y="0"/>
                  </a:lnTo>
                  <a:lnTo>
                    <a:pt x="270" y="0"/>
                  </a:lnTo>
                  <a:lnTo>
                    <a:pt x="270" y="6"/>
                  </a:lnTo>
                  <a:lnTo>
                    <a:pt x="270" y="12"/>
                  </a:lnTo>
                  <a:lnTo>
                    <a:pt x="276" y="12"/>
                  </a:lnTo>
                  <a:lnTo>
                    <a:pt x="282" y="12"/>
                  </a:lnTo>
                  <a:lnTo>
                    <a:pt x="288" y="12"/>
                  </a:lnTo>
                  <a:lnTo>
                    <a:pt x="288" y="18"/>
                  </a:lnTo>
                  <a:lnTo>
                    <a:pt x="294" y="18"/>
                  </a:lnTo>
                  <a:lnTo>
                    <a:pt x="294" y="30"/>
                  </a:lnTo>
                  <a:lnTo>
                    <a:pt x="294" y="24"/>
                  </a:lnTo>
                  <a:lnTo>
                    <a:pt x="300" y="24"/>
                  </a:lnTo>
                  <a:lnTo>
                    <a:pt x="306" y="24"/>
                  </a:lnTo>
                  <a:lnTo>
                    <a:pt x="312" y="24"/>
                  </a:lnTo>
                  <a:lnTo>
                    <a:pt x="318" y="24"/>
                  </a:lnTo>
                  <a:lnTo>
                    <a:pt x="312" y="24"/>
                  </a:lnTo>
                  <a:lnTo>
                    <a:pt x="312" y="30"/>
                  </a:lnTo>
                  <a:lnTo>
                    <a:pt x="318" y="30"/>
                  </a:lnTo>
                  <a:lnTo>
                    <a:pt x="318" y="36"/>
                  </a:lnTo>
                  <a:lnTo>
                    <a:pt x="324" y="36"/>
                  </a:lnTo>
                  <a:lnTo>
                    <a:pt x="324" y="30"/>
                  </a:lnTo>
                  <a:lnTo>
                    <a:pt x="330" y="36"/>
                  </a:lnTo>
                  <a:lnTo>
                    <a:pt x="330" y="42"/>
                  </a:lnTo>
                  <a:lnTo>
                    <a:pt x="336" y="42"/>
                  </a:lnTo>
                  <a:lnTo>
                    <a:pt x="336" y="48"/>
                  </a:lnTo>
                  <a:lnTo>
                    <a:pt x="342" y="48"/>
                  </a:lnTo>
                  <a:lnTo>
                    <a:pt x="348" y="48"/>
                  </a:lnTo>
                  <a:lnTo>
                    <a:pt x="354" y="48"/>
                  </a:lnTo>
                  <a:lnTo>
                    <a:pt x="354" y="54"/>
                  </a:lnTo>
                  <a:lnTo>
                    <a:pt x="354" y="60"/>
                  </a:lnTo>
                  <a:lnTo>
                    <a:pt x="360" y="60"/>
                  </a:lnTo>
                  <a:lnTo>
                    <a:pt x="360" y="54"/>
                  </a:lnTo>
                  <a:lnTo>
                    <a:pt x="360" y="60"/>
                  </a:lnTo>
                  <a:lnTo>
                    <a:pt x="366" y="60"/>
                  </a:lnTo>
                  <a:lnTo>
                    <a:pt x="372" y="66"/>
                  </a:lnTo>
                  <a:lnTo>
                    <a:pt x="378" y="66"/>
                  </a:lnTo>
                  <a:lnTo>
                    <a:pt x="378" y="72"/>
                  </a:lnTo>
                  <a:lnTo>
                    <a:pt x="378" y="78"/>
                  </a:lnTo>
                  <a:lnTo>
                    <a:pt x="378" y="84"/>
                  </a:lnTo>
                  <a:lnTo>
                    <a:pt x="384" y="84"/>
                  </a:lnTo>
                  <a:lnTo>
                    <a:pt x="384" y="90"/>
                  </a:lnTo>
                  <a:lnTo>
                    <a:pt x="378" y="90"/>
                  </a:lnTo>
                  <a:lnTo>
                    <a:pt x="372" y="90"/>
                  </a:lnTo>
                  <a:lnTo>
                    <a:pt x="372" y="84"/>
                  </a:lnTo>
                  <a:lnTo>
                    <a:pt x="372" y="90"/>
                  </a:lnTo>
                  <a:lnTo>
                    <a:pt x="372" y="96"/>
                  </a:lnTo>
                  <a:lnTo>
                    <a:pt x="372" y="102"/>
                  </a:lnTo>
                  <a:lnTo>
                    <a:pt x="366" y="102"/>
                  </a:lnTo>
                  <a:lnTo>
                    <a:pt x="360" y="102"/>
                  </a:lnTo>
                  <a:lnTo>
                    <a:pt x="366" y="102"/>
                  </a:lnTo>
                  <a:lnTo>
                    <a:pt x="360" y="108"/>
                  </a:lnTo>
                  <a:lnTo>
                    <a:pt x="354" y="114"/>
                  </a:lnTo>
                  <a:lnTo>
                    <a:pt x="348" y="114"/>
                  </a:lnTo>
                  <a:lnTo>
                    <a:pt x="342" y="120"/>
                  </a:lnTo>
                  <a:lnTo>
                    <a:pt x="336" y="126"/>
                  </a:lnTo>
                  <a:lnTo>
                    <a:pt x="324" y="126"/>
                  </a:lnTo>
                  <a:lnTo>
                    <a:pt x="318" y="126"/>
                  </a:lnTo>
                  <a:lnTo>
                    <a:pt x="318" y="132"/>
                  </a:lnTo>
                  <a:lnTo>
                    <a:pt x="318" y="138"/>
                  </a:lnTo>
                  <a:lnTo>
                    <a:pt x="318" y="144"/>
                  </a:lnTo>
                  <a:lnTo>
                    <a:pt x="312" y="144"/>
                  </a:lnTo>
                  <a:lnTo>
                    <a:pt x="312" y="150"/>
                  </a:lnTo>
                  <a:lnTo>
                    <a:pt x="306" y="150"/>
                  </a:lnTo>
                  <a:lnTo>
                    <a:pt x="300" y="156"/>
                  </a:lnTo>
                  <a:lnTo>
                    <a:pt x="294" y="162"/>
                  </a:lnTo>
                  <a:lnTo>
                    <a:pt x="288" y="162"/>
                  </a:lnTo>
                  <a:lnTo>
                    <a:pt x="282" y="162"/>
                  </a:lnTo>
                  <a:lnTo>
                    <a:pt x="282" y="156"/>
                  </a:lnTo>
                  <a:lnTo>
                    <a:pt x="282" y="162"/>
                  </a:lnTo>
                  <a:lnTo>
                    <a:pt x="282" y="168"/>
                  </a:lnTo>
                  <a:lnTo>
                    <a:pt x="288" y="174"/>
                  </a:lnTo>
                  <a:lnTo>
                    <a:pt x="288" y="186"/>
                  </a:lnTo>
                  <a:lnTo>
                    <a:pt x="288" y="192"/>
                  </a:lnTo>
                  <a:lnTo>
                    <a:pt x="294" y="192"/>
                  </a:lnTo>
                  <a:lnTo>
                    <a:pt x="288" y="192"/>
                  </a:lnTo>
                  <a:lnTo>
                    <a:pt x="288" y="198"/>
                  </a:lnTo>
                  <a:lnTo>
                    <a:pt x="294" y="198"/>
                  </a:lnTo>
                  <a:lnTo>
                    <a:pt x="294" y="204"/>
                  </a:lnTo>
                  <a:lnTo>
                    <a:pt x="288" y="210"/>
                  </a:lnTo>
                  <a:lnTo>
                    <a:pt x="276" y="216"/>
                  </a:lnTo>
                  <a:lnTo>
                    <a:pt x="276" y="222"/>
                  </a:lnTo>
                  <a:lnTo>
                    <a:pt x="270" y="216"/>
                  </a:lnTo>
                  <a:lnTo>
                    <a:pt x="264" y="216"/>
                  </a:lnTo>
                  <a:lnTo>
                    <a:pt x="264" y="210"/>
                  </a:lnTo>
                  <a:lnTo>
                    <a:pt x="258" y="210"/>
                  </a:lnTo>
                  <a:lnTo>
                    <a:pt x="258" y="204"/>
                  </a:lnTo>
                  <a:lnTo>
                    <a:pt x="258" y="198"/>
                  </a:lnTo>
                  <a:lnTo>
                    <a:pt x="252" y="198"/>
                  </a:lnTo>
                  <a:lnTo>
                    <a:pt x="252" y="192"/>
                  </a:lnTo>
                  <a:lnTo>
                    <a:pt x="252" y="186"/>
                  </a:lnTo>
                  <a:lnTo>
                    <a:pt x="246" y="186"/>
                  </a:lnTo>
                  <a:lnTo>
                    <a:pt x="246" y="180"/>
                  </a:lnTo>
                  <a:lnTo>
                    <a:pt x="240" y="180"/>
                  </a:lnTo>
                  <a:lnTo>
                    <a:pt x="240" y="174"/>
                  </a:lnTo>
                  <a:lnTo>
                    <a:pt x="234" y="174"/>
                  </a:lnTo>
                  <a:lnTo>
                    <a:pt x="228" y="174"/>
                  </a:lnTo>
                  <a:lnTo>
                    <a:pt x="228" y="180"/>
                  </a:lnTo>
                  <a:close/>
                </a:path>
              </a:pathLst>
            </a:custGeom>
            <a:solidFill>
              <a:schemeClr val="accent1"/>
            </a:solidFill>
            <a:ln w="9525">
              <a:solidFill>
                <a:srgbClr val="B2B2B2"/>
              </a:solidFill>
              <a:round/>
              <a:headEnd/>
              <a:tailEnd/>
            </a:ln>
          </p:spPr>
          <p:txBody>
            <a:bodyPr/>
            <a:lstStyle/>
            <a:p>
              <a:endParaRPr lang="en-CA"/>
            </a:p>
          </p:txBody>
        </p:sp>
        <p:sp>
          <p:nvSpPr>
            <p:cNvPr id="436" name="Freeform 495"/>
            <p:cNvSpPr>
              <a:spLocks/>
            </p:cNvSpPr>
            <p:nvPr>
              <p:custDataLst>
                <p:tags r:id="rId59"/>
              </p:custDataLst>
            </p:nvPr>
          </p:nvSpPr>
          <p:spPr bwMode="gray">
            <a:xfrm>
              <a:off x="1270" y="3099"/>
              <a:ext cx="313" cy="180"/>
            </a:xfrm>
            <a:custGeom>
              <a:avLst/>
              <a:gdLst>
                <a:gd name="T0" fmla="*/ 29155692 w 504"/>
                <a:gd name="T1" fmla="*/ 170913227 h 288"/>
                <a:gd name="T2" fmla="*/ 34987225 w 504"/>
                <a:gd name="T3" fmla="*/ 141446250 h 288"/>
                <a:gd name="T4" fmla="*/ 52480837 w 504"/>
                <a:gd name="T5" fmla="*/ 111978281 h 288"/>
                <a:gd name="T6" fmla="*/ 64143903 w 504"/>
                <a:gd name="T7" fmla="*/ 88403906 h 288"/>
                <a:gd name="T8" fmla="*/ 64143903 w 504"/>
                <a:gd name="T9" fmla="*/ 58935938 h 288"/>
                <a:gd name="T10" fmla="*/ 75805983 w 504"/>
                <a:gd name="T11" fmla="*/ 29467969 h 288"/>
                <a:gd name="T12" fmla="*/ 69974450 w 504"/>
                <a:gd name="T13" fmla="*/ 17680781 h 288"/>
                <a:gd name="T14" fmla="*/ 81637515 w 504"/>
                <a:gd name="T15" fmla="*/ 5893594 h 288"/>
                <a:gd name="T16" fmla="*/ 104961675 w 504"/>
                <a:gd name="T17" fmla="*/ 5893594 h 288"/>
                <a:gd name="T18" fmla="*/ 110793207 w 504"/>
                <a:gd name="T19" fmla="*/ 11787188 h 288"/>
                <a:gd name="T20" fmla="*/ 110793207 w 504"/>
                <a:gd name="T21" fmla="*/ 17680781 h 288"/>
                <a:gd name="T22" fmla="*/ 128286820 w 504"/>
                <a:gd name="T23" fmla="*/ 29467969 h 288"/>
                <a:gd name="T24" fmla="*/ 151611965 w 504"/>
                <a:gd name="T25" fmla="*/ 64829531 h 288"/>
                <a:gd name="T26" fmla="*/ 169105578 w 504"/>
                <a:gd name="T27" fmla="*/ 76616719 h 288"/>
                <a:gd name="T28" fmla="*/ 186599190 w 504"/>
                <a:gd name="T29" fmla="*/ 88403906 h 288"/>
                <a:gd name="T30" fmla="*/ 204092802 w 504"/>
                <a:gd name="T31" fmla="*/ 111978281 h 288"/>
                <a:gd name="T32" fmla="*/ 198261270 w 504"/>
                <a:gd name="T33" fmla="*/ 123765469 h 288"/>
                <a:gd name="T34" fmla="*/ 209924335 w 504"/>
                <a:gd name="T35" fmla="*/ 141446250 h 288"/>
                <a:gd name="T36" fmla="*/ 227417948 w 504"/>
                <a:gd name="T37" fmla="*/ 153232445 h 288"/>
                <a:gd name="T38" fmla="*/ 227417948 w 504"/>
                <a:gd name="T39" fmla="*/ 135552656 h 288"/>
                <a:gd name="T40" fmla="*/ 244911560 w 504"/>
                <a:gd name="T41" fmla="*/ 135552656 h 288"/>
                <a:gd name="T42" fmla="*/ 256573640 w 504"/>
                <a:gd name="T43" fmla="*/ 141446250 h 288"/>
                <a:gd name="T44" fmla="*/ 244911560 w 504"/>
                <a:gd name="T45" fmla="*/ 159126039 h 288"/>
                <a:gd name="T46" fmla="*/ 250743093 w 504"/>
                <a:gd name="T47" fmla="*/ 165019633 h 288"/>
                <a:gd name="T48" fmla="*/ 262405173 w 504"/>
                <a:gd name="T49" fmla="*/ 188594008 h 288"/>
                <a:gd name="T50" fmla="*/ 268236705 w 504"/>
                <a:gd name="T51" fmla="*/ 194487602 h 288"/>
                <a:gd name="T52" fmla="*/ 297392397 w 504"/>
                <a:gd name="T53" fmla="*/ 200381195 h 288"/>
                <a:gd name="T54" fmla="*/ 314886010 w 504"/>
                <a:gd name="T55" fmla="*/ 188594008 h 288"/>
                <a:gd name="T56" fmla="*/ 349873235 w 504"/>
                <a:gd name="T57" fmla="*/ 194487602 h 288"/>
                <a:gd name="T58" fmla="*/ 355704768 w 504"/>
                <a:gd name="T59" fmla="*/ 165019633 h 288"/>
                <a:gd name="T60" fmla="*/ 361536300 w 504"/>
                <a:gd name="T61" fmla="*/ 147338852 h 288"/>
                <a:gd name="T62" fmla="*/ 379029913 w 504"/>
                <a:gd name="T63" fmla="*/ 147338852 h 288"/>
                <a:gd name="T64" fmla="*/ 408185605 w 504"/>
                <a:gd name="T65" fmla="*/ 141446250 h 288"/>
                <a:gd name="T66" fmla="*/ 408185605 w 504"/>
                <a:gd name="T67" fmla="*/ 176806820 h 288"/>
                <a:gd name="T68" fmla="*/ 425679217 w 504"/>
                <a:gd name="T69" fmla="*/ 188594008 h 288"/>
                <a:gd name="T70" fmla="*/ 454835895 w 504"/>
                <a:gd name="T71" fmla="*/ 212168383 h 288"/>
                <a:gd name="T72" fmla="*/ 489823120 w 504"/>
                <a:gd name="T73" fmla="*/ 229849164 h 288"/>
                <a:gd name="T74" fmla="*/ 431510750 w 504"/>
                <a:gd name="T75" fmla="*/ 271104320 h 288"/>
                <a:gd name="T76" fmla="*/ 408185605 w 504"/>
                <a:gd name="T77" fmla="*/ 276997914 h 288"/>
                <a:gd name="T78" fmla="*/ 390691992 w 504"/>
                <a:gd name="T79" fmla="*/ 276997914 h 288"/>
                <a:gd name="T80" fmla="*/ 361536300 w 504"/>
                <a:gd name="T81" fmla="*/ 271104320 h 288"/>
                <a:gd name="T82" fmla="*/ 349873235 w 504"/>
                <a:gd name="T83" fmla="*/ 247529945 h 288"/>
                <a:gd name="T84" fmla="*/ 338211155 w 504"/>
                <a:gd name="T85" fmla="*/ 241636352 h 288"/>
                <a:gd name="T86" fmla="*/ 314886010 w 504"/>
                <a:gd name="T87" fmla="*/ 247529945 h 288"/>
                <a:gd name="T88" fmla="*/ 291561851 w 504"/>
                <a:gd name="T89" fmla="*/ 247529945 h 288"/>
                <a:gd name="T90" fmla="*/ 274068238 w 504"/>
                <a:gd name="T91" fmla="*/ 241636352 h 288"/>
                <a:gd name="T92" fmla="*/ 262405173 w 504"/>
                <a:gd name="T93" fmla="*/ 247529945 h 288"/>
                <a:gd name="T94" fmla="*/ 244911560 w 504"/>
                <a:gd name="T95" fmla="*/ 253423539 h 288"/>
                <a:gd name="T96" fmla="*/ 221586415 w 504"/>
                <a:gd name="T97" fmla="*/ 282891508 h 288"/>
                <a:gd name="T98" fmla="*/ 192430723 w 504"/>
                <a:gd name="T99" fmla="*/ 253423539 h 288"/>
                <a:gd name="T100" fmla="*/ 169105578 w 504"/>
                <a:gd name="T101" fmla="*/ 253423539 h 288"/>
                <a:gd name="T102" fmla="*/ 180767657 w 504"/>
                <a:gd name="T103" fmla="*/ 271104320 h 288"/>
                <a:gd name="T104" fmla="*/ 169105578 w 504"/>
                <a:gd name="T105" fmla="*/ 271104320 h 288"/>
                <a:gd name="T106" fmla="*/ 151611965 w 504"/>
                <a:gd name="T107" fmla="*/ 247529945 h 288"/>
                <a:gd name="T108" fmla="*/ 145780432 w 504"/>
                <a:gd name="T109" fmla="*/ 235742758 h 288"/>
                <a:gd name="T110" fmla="*/ 128286820 w 504"/>
                <a:gd name="T111" fmla="*/ 223955570 h 288"/>
                <a:gd name="T112" fmla="*/ 104961675 w 504"/>
                <a:gd name="T113" fmla="*/ 218061977 h 288"/>
                <a:gd name="T114" fmla="*/ 93299595 w 504"/>
                <a:gd name="T115" fmla="*/ 218061977 h 288"/>
                <a:gd name="T116" fmla="*/ 87468062 w 504"/>
                <a:gd name="T117" fmla="*/ 218061977 h 288"/>
                <a:gd name="T118" fmla="*/ 69974450 w 504"/>
                <a:gd name="T119" fmla="*/ 194487602 h 288"/>
                <a:gd name="T120" fmla="*/ 46650290 w 504"/>
                <a:gd name="T121" fmla="*/ 212168383 h 288"/>
                <a:gd name="T122" fmla="*/ 23325145 w 504"/>
                <a:gd name="T123" fmla="*/ 212168383 h 288"/>
                <a:gd name="T124" fmla="*/ 5831533 w 504"/>
                <a:gd name="T125" fmla="*/ 200381195 h 2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04"/>
                <a:gd name="T190" fmla="*/ 0 h 288"/>
                <a:gd name="T191" fmla="*/ 504 w 504"/>
                <a:gd name="T192" fmla="*/ 288 h 28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04" h="288">
                  <a:moveTo>
                    <a:pt x="0" y="198"/>
                  </a:moveTo>
                  <a:lnTo>
                    <a:pt x="12" y="192"/>
                  </a:lnTo>
                  <a:lnTo>
                    <a:pt x="12" y="186"/>
                  </a:lnTo>
                  <a:lnTo>
                    <a:pt x="18" y="186"/>
                  </a:lnTo>
                  <a:lnTo>
                    <a:pt x="18" y="180"/>
                  </a:lnTo>
                  <a:lnTo>
                    <a:pt x="24" y="180"/>
                  </a:lnTo>
                  <a:lnTo>
                    <a:pt x="30" y="174"/>
                  </a:lnTo>
                  <a:lnTo>
                    <a:pt x="36" y="168"/>
                  </a:lnTo>
                  <a:lnTo>
                    <a:pt x="36" y="162"/>
                  </a:lnTo>
                  <a:lnTo>
                    <a:pt x="30" y="162"/>
                  </a:lnTo>
                  <a:lnTo>
                    <a:pt x="30" y="156"/>
                  </a:lnTo>
                  <a:lnTo>
                    <a:pt x="36" y="156"/>
                  </a:lnTo>
                  <a:lnTo>
                    <a:pt x="36" y="150"/>
                  </a:lnTo>
                  <a:lnTo>
                    <a:pt x="36" y="144"/>
                  </a:lnTo>
                  <a:lnTo>
                    <a:pt x="36" y="138"/>
                  </a:lnTo>
                  <a:lnTo>
                    <a:pt x="36" y="132"/>
                  </a:lnTo>
                  <a:lnTo>
                    <a:pt x="42" y="132"/>
                  </a:lnTo>
                  <a:lnTo>
                    <a:pt x="48" y="132"/>
                  </a:lnTo>
                  <a:lnTo>
                    <a:pt x="48" y="120"/>
                  </a:lnTo>
                  <a:lnTo>
                    <a:pt x="48" y="114"/>
                  </a:lnTo>
                  <a:lnTo>
                    <a:pt x="54" y="114"/>
                  </a:lnTo>
                  <a:lnTo>
                    <a:pt x="54" y="108"/>
                  </a:lnTo>
                  <a:lnTo>
                    <a:pt x="60" y="108"/>
                  </a:lnTo>
                  <a:lnTo>
                    <a:pt x="60" y="102"/>
                  </a:lnTo>
                  <a:lnTo>
                    <a:pt x="60" y="96"/>
                  </a:lnTo>
                  <a:lnTo>
                    <a:pt x="66" y="96"/>
                  </a:lnTo>
                  <a:lnTo>
                    <a:pt x="60" y="96"/>
                  </a:lnTo>
                  <a:lnTo>
                    <a:pt x="66" y="90"/>
                  </a:lnTo>
                  <a:lnTo>
                    <a:pt x="66" y="84"/>
                  </a:lnTo>
                  <a:lnTo>
                    <a:pt x="66" y="78"/>
                  </a:lnTo>
                  <a:lnTo>
                    <a:pt x="66" y="72"/>
                  </a:lnTo>
                  <a:lnTo>
                    <a:pt x="66" y="66"/>
                  </a:lnTo>
                  <a:lnTo>
                    <a:pt x="66" y="60"/>
                  </a:lnTo>
                  <a:lnTo>
                    <a:pt x="66" y="66"/>
                  </a:lnTo>
                  <a:lnTo>
                    <a:pt x="66" y="60"/>
                  </a:lnTo>
                  <a:lnTo>
                    <a:pt x="66" y="66"/>
                  </a:lnTo>
                  <a:lnTo>
                    <a:pt x="72" y="60"/>
                  </a:lnTo>
                  <a:lnTo>
                    <a:pt x="72" y="54"/>
                  </a:lnTo>
                  <a:lnTo>
                    <a:pt x="72" y="48"/>
                  </a:lnTo>
                  <a:lnTo>
                    <a:pt x="78" y="42"/>
                  </a:lnTo>
                  <a:lnTo>
                    <a:pt x="78" y="36"/>
                  </a:lnTo>
                  <a:lnTo>
                    <a:pt x="78" y="30"/>
                  </a:lnTo>
                  <a:lnTo>
                    <a:pt x="78" y="24"/>
                  </a:lnTo>
                  <a:lnTo>
                    <a:pt x="84" y="24"/>
                  </a:lnTo>
                  <a:lnTo>
                    <a:pt x="78" y="24"/>
                  </a:lnTo>
                  <a:lnTo>
                    <a:pt x="78" y="18"/>
                  </a:lnTo>
                  <a:lnTo>
                    <a:pt x="72" y="18"/>
                  </a:lnTo>
                  <a:lnTo>
                    <a:pt x="78" y="18"/>
                  </a:lnTo>
                  <a:lnTo>
                    <a:pt x="72" y="18"/>
                  </a:lnTo>
                  <a:lnTo>
                    <a:pt x="72" y="12"/>
                  </a:lnTo>
                  <a:lnTo>
                    <a:pt x="72" y="18"/>
                  </a:lnTo>
                  <a:lnTo>
                    <a:pt x="78" y="12"/>
                  </a:lnTo>
                  <a:lnTo>
                    <a:pt x="78" y="6"/>
                  </a:lnTo>
                  <a:lnTo>
                    <a:pt x="72" y="6"/>
                  </a:lnTo>
                  <a:lnTo>
                    <a:pt x="78" y="6"/>
                  </a:lnTo>
                  <a:lnTo>
                    <a:pt x="84" y="6"/>
                  </a:lnTo>
                  <a:lnTo>
                    <a:pt x="84" y="0"/>
                  </a:lnTo>
                  <a:lnTo>
                    <a:pt x="90" y="0"/>
                  </a:lnTo>
                  <a:lnTo>
                    <a:pt x="96" y="0"/>
                  </a:lnTo>
                  <a:lnTo>
                    <a:pt x="96" y="6"/>
                  </a:lnTo>
                  <a:lnTo>
                    <a:pt x="96" y="0"/>
                  </a:lnTo>
                  <a:lnTo>
                    <a:pt x="102" y="6"/>
                  </a:lnTo>
                  <a:lnTo>
                    <a:pt x="108" y="6"/>
                  </a:lnTo>
                  <a:lnTo>
                    <a:pt x="102" y="6"/>
                  </a:lnTo>
                  <a:lnTo>
                    <a:pt x="108" y="0"/>
                  </a:lnTo>
                  <a:lnTo>
                    <a:pt x="108" y="6"/>
                  </a:lnTo>
                  <a:lnTo>
                    <a:pt x="114" y="6"/>
                  </a:lnTo>
                  <a:lnTo>
                    <a:pt x="108" y="6"/>
                  </a:lnTo>
                  <a:lnTo>
                    <a:pt x="114" y="6"/>
                  </a:lnTo>
                  <a:lnTo>
                    <a:pt x="114" y="12"/>
                  </a:lnTo>
                  <a:lnTo>
                    <a:pt x="108" y="12"/>
                  </a:lnTo>
                  <a:lnTo>
                    <a:pt x="102" y="12"/>
                  </a:lnTo>
                  <a:lnTo>
                    <a:pt x="108" y="12"/>
                  </a:lnTo>
                  <a:lnTo>
                    <a:pt x="108" y="18"/>
                  </a:lnTo>
                  <a:lnTo>
                    <a:pt x="108" y="24"/>
                  </a:lnTo>
                  <a:lnTo>
                    <a:pt x="114" y="24"/>
                  </a:lnTo>
                  <a:lnTo>
                    <a:pt x="114" y="18"/>
                  </a:lnTo>
                  <a:lnTo>
                    <a:pt x="114" y="24"/>
                  </a:lnTo>
                  <a:lnTo>
                    <a:pt x="120" y="24"/>
                  </a:lnTo>
                  <a:lnTo>
                    <a:pt x="120" y="30"/>
                  </a:lnTo>
                  <a:lnTo>
                    <a:pt x="126" y="30"/>
                  </a:lnTo>
                  <a:lnTo>
                    <a:pt x="126" y="24"/>
                  </a:lnTo>
                  <a:lnTo>
                    <a:pt x="126" y="30"/>
                  </a:lnTo>
                  <a:lnTo>
                    <a:pt x="132" y="30"/>
                  </a:lnTo>
                  <a:lnTo>
                    <a:pt x="132" y="36"/>
                  </a:lnTo>
                  <a:lnTo>
                    <a:pt x="132" y="42"/>
                  </a:lnTo>
                  <a:lnTo>
                    <a:pt x="132" y="48"/>
                  </a:lnTo>
                  <a:lnTo>
                    <a:pt x="138" y="48"/>
                  </a:lnTo>
                  <a:lnTo>
                    <a:pt x="144" y="54"/>
                  </a:lnTo>
                  <a:lnTo>
                    <a:pt x="150" y="66"/>
                  </a:lnTo>
                  <a:lnTo>
                    <a:pt x="156" y="66"/>
                  </a:lnTo>
                  <a:lnTo>
                    <a:pt x="156" y="72"/>
                  </a:lnTo>
                  <a:lnTo>
                    <a:pt x="156" y="78"/>
                  </a:lnTo>
                  <a:lnTo>
                    <a:pt x="162" y="78"/>
                  </a:lnTo>
                  <a:lnTo>
                    <a:pt x="162" y="72"/>
                  </a:lnTo>
                  <a:lnTo>
                    <a:pt x="168" y="72"/>
                  </a:lnTo>
                  <a:lnTo>
                    <a:pt x="168" y="78"/>
                  </a:lnTo>
                  <a:lnTo>
                    <a:pt x="174" y="78"/>
                  </a:lnTo>
                  <a:lnTo>
                    <a:pt x="174" y="84"/>
                  </a:lnTo>
                  <a:lnTo>
                    <a:pt x="180" y="84"/>
                  </a:lnTo>
                  <a:lnTo>
                    <a:pt x="180" y="90"/>
                  </a:lnTo>
                  <a:lnTo>
                    <a:pt x="186" y="90"/>
                  </a:lnTo>
                  <a:lnTo>
                    <a:pt x="186" y="84"/>
                  </a:lnTo>
                  <a:lnTo>
                    <a:pt x="192" y="84"/>
                  </a:lnTo>
                  <a:lnTo>
                    <a:pt x="192" y="90"/>
                  </a:lnTo>
                  <a:lnTo>
                    <a:pt x="192" y="96"/>
                  </a:lnTo>
                  <a:lnTo>
                    <a:pt x="198" y="102"/>
                  </a:lnTo>
                  <a:lnTo>
                    <a:pt x="198" y="108"/>
                  </a:lnTo>
                  <a:lnTo>
                    <a:pt x="204" y="114"/>
                  </a:lnTo>
                  <a:lnTo>
                    <a:pt x="204" y="120"/>
                  </a:lnTo>
                  <a:lnTo>
                    <a:pt x="210" y="120"/>
                  </a:lnTo>
                  <a:lnTo>
                    <a:pt x="210" y="114"/>
                  </a:lnTo>
                  <a:lnTo>
                    <a:pt x="210" y="120"/>
                  </a:lnTo>
                  <a:lnTo>
                    <a:pt x="216" y="120"/>
                  </a:lnTo>
                  <a:lnTo>
                    <a:pt x="210" y="126"/>
                  </a:lnTo>
                  <a:lnTo>
                    <a:pt x="216" y="126"/>
                  </a:lnTo>
                  <a:lnTo>
                    <a:pt x="216" y="132"/>
                  </a:lnTo>
                  <a:lnTo>
                    <a:pt x="210" y="126"/>
                  </a:lnTo>
                  <a:lnTo>
                    <a:pt x="204" y="126"/>
                  </a:lnTo>
                  <a:lnTo>
                    <a:pt x="210" y="126"/>
                  </a:lnTo>
                  <a:lnTo>
                    <a:pt x="210" y="132"/>
                  </a:lnTo>
                  <a:lnTo>
                    <a:pt x="216" y="132"/>
                  </a:lnTo>
                  <a:lnTo>
                    <a:pt x="216" y="138"/>
                  </a:lnTo>
                  <a:lnTo>
                    <a:pt x="222" y="138"/>
                  </a:lnTo>
                  <a:lnTo>
                    <a:pt x="216" y="138"/>
                  </a:lnTo>
                  <a:lnTo>
                    <a:pt x="216" y="144"/>
                  </a:lnTo>
                  <a:lnTo>
                    <a:pt x="222" y="144"/>
                  </a:lnTo>
                  <a:lnTo>
                    <a:pt x="222" y="150"/>
                  </a:lnTo>
                  <a:lnTo>
                    <a:pt x="228" y="150"/>
                  </a:lnTo>
                  <a:lnTo>
                    <a:pt x="228" y="156"/>
                  </a:lnTo>
                  <a:lnTo>
                    <a:pt x="228" y="150"/>
                  </a:lnTo>
                  <a:lnTo>
                    <a:pt x="228" y="156"/>
                  </a:lnTo>
                  <a:lnTo>
                    <a:pt x="234" y="156"/>
                  </a:lnTo>
                  <a:lnTo>
                    <a:pt x="234" y="150"/>
                  </a:lnTo>
                  <a:lnTo>
                    <a:pt x="234" y="156"/>
                  </a:lnTo>
                  <a:lnTo>
                    <a:pt x="234" y="150"/>
                  </a:lnTo>
                  <a:lnTo>
                    <a:pt x="240" y="150"/>
                  </a:lnTo>
                  <a:lnTo>
                    <a:pt x="234" y="150"/>
                  </a:lnTo>
                  <a:lnTo>
                    <a:pt x="234" y="144"/>
                  </a:lnTo>
                  <a:lnTo>
                    <a:pt x="234" y="138"/>
                  </a:lnTo>
                  <a:lnTo>
                    <a:pt x="240" y="138"/>
                  </a:lnTo>
                  <a:lnTo>
                    <a:pt x="240" y="144"/>
                  </a:lnTo>
                  <a:lnTo>
                    <a:pt x="240" y="138"/>
                  </a:lnTo>
                  <a:lnTo>
                    <a:pt x="246" y="138"/>
                  </a:lnTo>
                  <a:lnTo>
                    <a:pt x="246" y="132"/>
                  </a:lnTo>
                  <a:lnTo>
                    <a:pt x="252" y="132"/>
                  </a:lnTo>
                  <a:lnTo>
                    <a:pt x="252" y="138"/>
                  </a:lnTo>
                  <a:lnTo>
                    <a:pt x="258" y="138"/>
                  </a:lnTo>
                  <a:lnTo>
                    <a:pt x="264" y="138"/>
                  </a:lnTo>
                  <a:lnTo>
                    <a:pt x="258" y="138"/>
                  </a:lnTo>
                  <a:lnTo>
                    <a:pt x="258" y="144"/>
                  </a:lnTo>
                  <a:lnTo>
                    <a:pt x="258" y="150"/>
                  </a:lnTo>
                  <a:lnTo>
                    <a:pt x="264" y="150"/>
                  </a:lnTo>
                  <a:lnTo>
                    <a:pt x="264" y="144"/>
                  </a:lnTo>
                  <a:lnTo>
                    <a:pt x="264" y="150"/>
                  </a:lnTo>
                  <a:lnTo>
                    <a:pt x="264" y="156"/>
                  </a:lnTo>
                  <a:lnTo>
                    <a:pt x="258" y="162"/>
                  </a:lnTo>
                  <a:lnTo>
                    <a:pt x="252" y="162"/>
                  </a:lnTo>
                  <a:lnTo>
                    <a:pt x="258" y="162"/>
                  </a:lnTo>
                  <a:lnTo>
                    <a:pt x="252" y="168"/>
                  </a:lnTo>
                  <a:lnTo>
                    <a:pt x="252" y="162"/>
                  </a:lnTo>
                  <a:lnTo>
                    <a:pt x="252" y="168"/>
                  </a:lnTo>
                  <a:lnTo>
                    <a:pt x="252" y="174"/>
                  </a:lnTo>
                  <a:lnTo>
                    <a:pt x="258" y="168"/>
                  </a:lnTo>
                  <a:lnTo>
                    <a:pt x="264" y="168"/>
                  </a:lnTo>
                  <a:lnTo>
                    <a:pt x="264" y="162"/>
                  </a:lnTo>
                  <a:lnTo>
                    <a:pt x="264" y="168"/>
                  </a:lnTo>
                  <a:lnTo>
                    <a:pt x="258" y="168"/>
                  </a:lnTo>
                  <a:lnTo>
                    <a:pt x="264" y="168"/>
                  </a:lnTo>
                  <a:lnTo>
                    <a:pt x="270" y="174"/>
                  </a:lnTo>
                  <a:lnTo>
                    <a:pt x="276" y="174"/>
                  </a:lnTo>
                  <a:lnTo>
                    <a:pt x="270" y="180"/>
                  </a:lnTo>
                  <a:lnTo>
                    <a:pt x="276" y="186"/>
                  </a:lnTo>
                  <a:lnTo>
                    <a:pt x="270" y="186"/>
                  </a:lnTo>
                  <a:lnTo>
                    <a:pt x="270" y="192"/>
                  </a:lnTo>
                  <a:lnTo>
                    <a:pt x="276" y="192"/>
                  </a:lnTo>
                  <a:lnTo>
                    <a:pt x="276" y="198"/>
                  </a:lnTo>
                  <a:lnTo>
                    <a:pt x="276" y="204"/>
                  </a:lnTo>
                  <a:lnTo>
                    <a:pt x="276" y="210"/>
                  </a:lnTo>
                  <a:lnTo>
                    <a:pt x="282" y="210"/>
                  </a:lnTo>
                  <a:lnTo>
                    <a:pt x="282" y="204"/>
                  </a:lnTo>
                  <a:lnTo>
                    <a:pt x="276" y="198"/>
                  </a:lnTo>
                  <a:lnTo>
                    <a:pt x="282" y="198"/>
                  </a:lnTo>
                  <a:lnTo>
                    <a:pt x="288" y="198"/>
                  </a:lnTo>
                  <a:lnTo>
                    <a:pt x="288" y="204"/>
                  </a:lnTo>
                  <a:lnTo>
                    <a:pt x="294" y="204"/>
                  </a:lnTo>
                  <a:lnTo>
                    <a:pt x="294" y="210"/>
                  </a:lnTo>
                  <a:lnTo>
                    <a:pt x="300" y="210"/>
                  </a:lnTo>
                  <a:lnTo>
                    <a:pt x="306" y="204"/>
                  </a:lnTo>
                  <a:lnTo>
                    <a:pt x="306" y="198"/>
                  </a:lnTo>
                  <a:lnTo>
                    <a:pt x="312" y="198"/>
                  </a:lnTo>
                  <a:lnTo>
                    <a:pt x="312" y="204"/>
                  </a:lnTo>
                  <a:lnTo>
                    <a:pt x="312" y="198"/>
                  </a:lnTo>
                  <a:lnTo>
                    <a:pt x="318" y="198"/>
                  </a:lnTo>
                  <a:lnTo>
                    <a:pt x="318" y="192"/>
                  </a:lnTo>
                  <a:lnTo>
                    <a:pt x="324" y="192"/>
                  </a:lnTo>
                  <a:lnTo>
                    <a:pt x="330" y="192"/>
                  </a:lnTo>
                  <a:lnTo>
                    <a:pt x="330" y="198"/>
                  </a:lnTo>
                  <a:lnTo>
                    <a:pt x="336" y="198"/>
                  </a:lnTo>
                  <a:lnTo>
                    <a:pt x="342" y="198"/>
                  </a:lnTo>
                  <a:lnTo>
                    <a:pt x="348" y="198"/>
                  </a:lnTo>
                  <a:lnTo>
                    <a:pt x="354" y="198"/>
                  </a:lnTo>
                  <a:lnTo>
                    <a:pt x="360" y="198"/>
                  </a:lnTo>
                  <a:lnTo>
                    <a:pt x="360" y="192"/>
                  </a:lnTo>
                  <a:lnTo>
                    <a:pt x="366" y="186"/>
                  </a:lnTo>
                  <a:lnTo>
                    <a:pt x="366" y="180"/>
                  </a:lnTo>
                  <a:lnTo>
                    <a:pt x="366" y="174"/>
                  </a:lnTo>
                  <a:lnTo>
                    <a:pt x="366" y="168"/>
                  </a:lnTo>
                  <a:lnTo>
                    <a:pt x="360" y="168"/>
                  </a:lnTo>
                  <a:lnTo>
                    <a:pt x="366" y="168"/>
                  </a:lnTo>
                  <a:lnTo>
                    <a:pt x="366" y="162"/>
                  </a:lnTo>
                  <a:lnTo>
                    <a:pt x="366" y="156"/>
                  </a:lnTo>
                  <a:lnTo>
                    <a:pt x="366" y="162"/>
                  </a:lnTo>
                  <a:lnTo>
                    <a:pt x="378" y="162"/>
                  </a:lnTo>
                  <a:lnTo>
                    <a:pt x="378" y="156"/>
                  </a:lnTo>
                  <a:lnTo>
                    <a:pt x="372" y="156"/>
                  </a:lnTo>
                  <a:lnTo>
                    <a:pt x="372" y="150"/>
                  </a:lnTo>
                  <a:lnTo>
                    <a:pt x="378" y="144"/>
                  </a:lnTo>
                  <a:lnTo>
                    <a:pt x="378" y="150"/>
                  </a:lnTo>
                  <a:lnTo>
                    <a:pt x="378" y="156"/>
                  </a:lnTo>
                  <a:lnTo>
                    <a:pt x="384" y="156"/>
                  </a:lnTo>
                  <a:lnTo>
                    <a:pt x="390" y="162"/>
                  </a:lnTo>
                  <a:lnTo>
                    <a:pt x="390" y="156"/>
                  </a:lnTo>
                  <a:lnTo>
                    <a:pt x="390" y="150"/>
                  </a:lnTo>
                  <a:lnTo>
                    <a:pt x="390" y="144"/>
                  </a:lnTo>
                  <a:lnTo>
                    <a:pt x="396" y="144"/>
                  </a:lnTo>
                  <a:lnTo>
                    <a:pt x="402" y="144"/>
                  </a:lnTo>
                  <a:lnTo>
                    <a:pt x="402" y="150"/>
                  </a:lnTo>
                  <a:lnTo>
                    <a:pt x="408" y="150"/>
                  </a:lnTo>
                  <a:lnTo>
                    <a:pt x="414" y="150"/>
                  </a:lnTo>
                  <a:lnTo>
                    <a:pt x="420" y="144"/>
                  </a:lnTo>
                  <a:lnTo>
                    <a:pt x="420" y="150"/>
                  </a:lnTo>
                  <a:lnTo>
                    <a:pt x="426" y="150"/>
                  </a:lnTo>
                  <a:lnTo>
                    <a:pt x="432" y="150"/>
                  </a:lnTo>
                  <a:lnTo>
                    <a:pt x="432" y="162"/>
                  </a:lnTo>
                  <a:lnTo>
                    <a:pt x="426" y="168"/>
                  </a:lnTo>
                  <a:lnTo>
                    <a:pt x="420" y="174"/>
                  </a:lnTo>
                  <a:lnTo>
                    <a:pt x="420" y="180"/>
                  </a:lnTo>
                  <a:lnTo>
                    <a:pt x="426" y="180"/>
                  </a:lnTo>
                  <a:lnTo>
                    <a:pt x="426" y="186"/>
                  </a:lnTo>
                  <a:lnTo>
                    <a:pt x="432" y="186"/>
                  </a:lnTo>
                  <a:lnTo>
                    <a:pt x="426" y="192"/>
                  </a:lnTo>
                  <a:lnTo>
                    <a:pt x="432" y="192"/>
                  </a:lnTo>
                  <a:lnTo>
                    <a:pt x="432" y="186"/>
                  </a:lnTo>
                  <a:lnTo>
                    <a:pt x="438" y="192"/>
                  </a:lnTo>
                  <a:lnTo>
                    <a:pt x="444" y="198"/>
                  </a:lnTo>
                  <a:lnTo>
                    <a:pt x="450" y="198"/>
                  </a:lnTo>
                  <a:lnTo>
                    <a:pt x="444" y="198"/>
                  </a:lnTo>
                  <a:lnTo>
                    <a:pt x="444" y="204"/>
                  </a:lnTo>
                  <a:lnTo>
                    <a:pt x="450" y="210"/>
                  </a:lnTo>
                  <a:lnTo>
                    <a:pt x="468" y="210"/>
                  </a:lnTo>
                  <a:lnTo>
                    <a:pt x="468" y="216"/>
                  </a:lnTo>
                  <a:lnTo>
                    <a:pt x="474" y="216"/>
                  </a:lnTo>
                  <a:lnTo>
                    <a:pt x="474" y="222"/>
                  </a:lnTo>
                  <a:lnTo>
                    <a:pt x="480" y="222"/>
                  </a:lnTo>
                  <a:lnTo>
                    <a:pt x="486" y="222"/>
                  </a:lnTo>
                  <a:lnTo>
                    <a:pt x="492" y="222"/>
                  </a:lnTo>
                  <a:lnTo>
                    <a:pt x="498" y="228"/>
                  </a:lnTo>
                  <a:lnTo>
                    <a:pt x="504" y="234"/>
                  </a:lnTo>
                  <a:lnTo>
                    <a:pt x="498" y="234"/>
                  </a:lnTo>
                  <a:lnTo>
                    <a:pt x="498" y="246"/>
                  </a:lnTo>
                  <a:lnTo>
                    <a:pt x="492" y="270"/>
                  </a:lnTo>
                  <a:lnTo>
                    <a:pt x="462" y="276"/>
                  </a:lnTo>
                  <a:lnTo>
                    <a:pt x="456" y="276"/>
                  </a:lnTo>
                  <a:lnTo>
                    <a:pt x="450" y="276"/>
                  </a:lnTo>
                  <a:lnTo>
                    <a:pt x="444" y="276"/>
                  </a:lnTo>
                  <a:lnTo>
                    <a:pt x="438" y="276"/>
                  </a:lnTo>
                  <a:lnTo>
                    <a:pt x="432" y="270"/>
                  </a:lnTo>
                  <a:lnTo>
                    <a:pt x="432" y="264"/>
                  </a:lnTo>
                  <a:lnTo>
                    <a:pt x="426" y="264"/>
                  </a:lnTo>
                  <a:lnTo>
                    <a:pt x="426" y="270"/>
                  </a:lnTo>
                  <a:lnTo>
                    <a:pt x="426" y="276"/>
                  </a:lnTo>
                  <a:lnTo>
                    <a:pt x="420" y="282"/>
                  </a:lnTo>
                  <a:lnTo>
                    <a:pt x="420" y="288"/>
                  </a:lnTo>
                  <a:lnTo>
                    <a:pt x="414" y="288"/>
                  </a:lnTo>
                  <a:lnTo>
                    <a:pt x="408" y="288"/>
                  </a:lnTo>
                  <a:lnTo>
                    <a:pt x="402" y="288"/>
                  </a:lnTo>
                  <a:lnTo>
                    <a:pt x="402" y="282"/>
                  </a:lnTo>
                  <a:lnTo>
                    <a:pt x="408" y="282"/>
                  </a:lnTo>
                  <a:lnTo>
                    <a:pt x="402" y="282"/>
                  </a:lnTo>
                  <a:lnTo>
                    <a:pt x="396" y="276"/>
                  </a:lnTo>
                  <a:lnTo>
                    <a:pt x="396" y="282"/>
                  </a:lnTo>
                  <a:lnTo>
                    <a:pt x="390" y="282"/>
                  </a:lnTo>
                  <a:lnTo>
                    <a:pt x="390" y="276"/>
                  </a:lnTo>
                  <a:lnTo>
                    <a:pt x="384" y="276"/>
                  </a:lnTo>
                  <a:lnTo>
                    <a:pt x="378" y="276"/>
                  </a:lnTo>
                  <a:lnTo>
                    <a:pt x="372" y="276"/>
                  </a:lnTo>
                  <a:lnTo>
                    <a:pt x="372" y="270"/>
                  </a:lnTo>
                  <a:lnTo>
                    <a:pt x="366" y="270"/>
                  </a:lnTo>
                  <a:lnTo>
                    <a:pt x="366" y="264"/>
                  </a:lnTo>
                  <a:lnTo>
                    <a:pt x="360" y="264"/>
                  </a:lnTo>
                  <a:lnTo>
                    <a:pt x="360" y="258"/>
                  </a:lnTo>
                  <a:lnTo>
                    <a:pt x="366" y="252"/>
                  </a:lnTo>
                  <a:lnTo>
                    <a:pt x="360" y="252"/>
                  </a:lnTo>
                  <a:lnTo>
                    <a:pt x="360" y="246"/>
                  </a:lnTo>
                  <a:lnTo>
                    <a:pt x="354" y="246"/>
                  </a:lnTo>
                  <a:lnTo>
                    <a:pt x="348" y="246"/>
                  </a:lnTo>
                  <a:lnTo>
                    <a:pt x="348" y="240"/>
                  </a:lnTo>
                  <a:lnTo>
                    <a:pt x="348" y="246"/>
                  </a:lnTo>
                  <a:lnTo>
                    <a:pt x="348" y="240"/>
                  </a:lnTo>
                  <a:lnTo>
                    <a:pt x="348" y="246"/>
                  </a:lnTo>
                  <a:lnTo>
                    <a:pt x="342" y="246"/>
                  </a:lnTo>
                  <a:lnTo>
                    <a:pt x="342" y="252"/>
                  </a:lnTo>
                  <a:lnTo>
                    <a:pt x="342" y="246"/>
                  </a:lnTo>
                  <a:lnTo>
                    <a:pt x="336" y="246"/>
                  </a:lnTo>
                  <a:lnTo>
                    <a:pt x="330" y="246"/>
                  </a:lnTo>
                  <a:lnTo>
                    <a:pt x="324" y="246"/>
                  </a:lnTo>
                  <a:lnTo>
                    <a:pt x="324" y="252"/>
                  </a:lnTo>
                  <a:lnTo>
                    <a:pt x="324" y="258"/>
                  </a:lnTo>
                  <a:lnTo>
                    <a:pt x="318" y="258"/>
                  </a:lnTo>
                  <a:lnTo>
                    <a:pt x="312" y="258"/>
                  </a:lnTo>
                  <a:lnTo>
                    <a:pt x="312" y="264"/>
                  </a:lnTo>
                  <a:lnTo>
                    <a:pt x="306" y="264"/>
                  </a:lnTo>
                  <a:lnTo>
                    <a:pt x="306" y="258"/>
                  </a:lnTo>
                  <a:lnTo>
                    <a:pt x="300" y="252"/>
                  </a:lnTo>
                  <a:lnTo>
                    <a:pt x="300" y="246"/>
                  </a:lnTo>
                  <a:lnTo>
                    <a:pt x="294" y="246"/>
                  </a:lnTo>
                  <a:lnTo>
                    <a:pt x="288" y="246"/>
                  </a:lnTo>
                  <a:lnTo>
                    <a:pt x="288" y="252"/>
                  </a:lnTo>
                  <a:lnTo>
                    <a:pt x="288" y="246"/>
                  </a:lnTo>
                  <a:lnTo>
                    <a:pt x="282" y="252"/>
                  </a:lnTo>
                  <a:lnTo>
                    <a:pt x="282" y="246"/>
                  </a:lnTo>
                  <a:lnTo>
                    <a:pt x="276" y="246"/>
                  </a:lnTo>
                  <a:lnTo>
                    <a:pt x="276" y="252"/>
                  </a:lnTo>
                  <a:lnTo>
                    <a:pt x="276" y="258"/>
                  </a:lnTo>
                  <a:lnTo>
                    <a:pt x="276" y="252"/>
                  </a:lnTo>
                  <a:lnTo>
                    <a:pt x="270" y="252"/>
                  </a:lnTo>
                  <a:lnTo>
                    <a:pt x="270" y="258"/>
                  </a:lnTo>
                  <a:lnTo>
                    <a:pt x="270" y="252"/>
                  </a:lnTo>
                  <a:lnTo>
                    <a:pt x="264" y="252"/>
                  </a:lnTo>
                  <a:lnTo>
                    <a:pt x="264" y="246"/>
                  </a:lnTo>
                  <a:lnTo>
                    <a:pt x="264" y="252"/>
                  </a:lnTo>
                  <a:lnTo>
                    <a:pt x="264" y="258"/>
                  </a:lnTo>
                  <a:lnTo>
                    <a:pt x="258" y="258"/>
                  </a:lnTo>
                  <a:lnTo>
                    <a:pt x="258" y="264"/>
                  </a:lnTo>
                  <a:lnTo>
                    <a:pt x="252" y="258"/>
                  </a:lnTo>
                  <a:lnTo>
                    <a:pt x="246" y="270"/>
                  </a:lnTo>
                  <a:lnTo>
                    <a:pt x="246" y="276"/>
                  </a:lnTo>
                  <a:lnTo>
                    <a:pt x="240" y="276"/>
                  </a:lnTo>
                  <a:lnTo>
                    <a:pt x="240" y="282"/>
                  </a:lnTo>
                  <a:lnTo>
                    <a:pt x="234" y="282"/>
                  </a:lnTo>
                  <a:lnTo>
                    <a:pt x="228" y="282"/>
                  </a:lnTo>
                  <a:lnTo>
                    <a:pt x="228" y="288"/>
                  </a:lnTo>
                  <a:lnTo>
                    <a:pt x="222" y="282"/>
                  </a:lnTo>
                  <a:lnTo>
                    <a:pt x="222" y="276"/>
                  </a:lnTo>
                  <a:lnTo>
                    <a:pt x="216" y="276"/>
                  </a:lnTo>
                  <a:lnTo>
                    <a:pt x="204" y="270"/>
                  </a:lnTo>
                  <a:lnTo>
                    <a:pt x="198" y="264"/>
                  </a:lnTo>
                  <a:lnTo>
                    <a:pt x="204" y="264"/>
                  </a:lnTo>
                  <a:lnTo>
                    <a:pt x="198" y="258"/>
                  </a:lnTo>
                  <a:lnTo>
                    <a:pt x="192" y="258"/>
                  </a:lnTo>
                  <a:lnTo>
                    <a:pt x="186" y="252"/>
                  </a:lnTo>
                  <a:lnTo>
                    <a:pt x="180" y="252"/>
                  </a:lnTo>
                  <a:lnTo>
                    <a:pt x="174" y="252"/>
                  </a:lnTo>
                  <a:lnTo>
                    <a:pt x="180" y="252"/>
                  </a:lnTo>
                  <a:lnTo>
                    <a:pt x="180" y="258"/>
                  </a:lnTo>
                  <a:lnTo>
                    <a:pt x="174" y="258"/>
                  </a:lnTo>
                  <a:lnTo>
                    <a:pt x="180" y="258"/>
                  </a:lnTo>
                  <a:lnTo>
                    <a:pt x="174" y="258"/>
                  </a:lnTo>
                  <a:lnTo>
                    <a:pt x="180" y="258"/>
                  </a:lnTo>
                  <a:lnTo>
                    <a:pt x="180" y="264"/>
                  </a:lnTo>
                  <a:lnTo>
                    <a:pt x="180" y="270"/>
                  </a:lnTo>
                  <a:lnTo>
                    <a:pt x="180" y="276"/>
                  </a:lnTo>
                  <a:lnTo>
                    <a:pt x="186" y="276"/>
                  </a:lnTo>
                  <a:lnTo>
                    <a:pt x="186" y="282"/>
                  </a:lnTo>
                  <a:lnTo>
                    <a:pt x="180" y="282"/>
                  </a:lnTo>
                  <a:lnTo>
                    <a:pt x="180" y="288"/>
                  </a:lnTo>
                  <a:lnTo>
                    <a:pt x="174" y="288"/>
                  </a:lnTo>
                  <a:lnTo>
                    <a:pt x="168" y="282"/>
                  </a:lnTo>
                  <a:lnTo>
                    <a:pt x="168" y="276"/>
                  </a:lnTo>
                  <a:lnTo>
                    <a:pt x="174" y="276"/>
                  </a:lnTo>
                  <a:lnTo>
                    <a:pt x="174" y="270"/>
                  </a:lnTo>
                  <a:lnTo>
                    <a:pt x="174" y="264"/>
                  </a:lnTo>
                  <a:lnTo>
                    <a:pt x="168" y="264"/>
                  </a:lnTo>
                  <a:lnTo>
                    <a:pt x="168" y="258"/>
                  </a:lnTo>
                  <a:lnTo>
                    <a:pt x="162" y="258"/>
                  </a:lnTo>
                  <a:lnTo>
                    <a:pt x="162" y="252"/>
                  </a:lnTo>
                  <a:lnTo>
                    <a:pt x="156" y="252"/>
                  </a:lnTo>
                  <a:lnTo>
                    <a:pt x="162" y="252"/>
                  </a:lnTo>
                  <a:lnTo>
                    <a:pt x="156" y="252"/>
                  </a:lnTo>
                  <a:lnTo>
                    <a:pt x="156" y="246"/>
                  </a:lnTo>
                  <a:lnTo>
                    <a:pt x="150" y="246"/>
                  </a:lnTo>
                  <a:lnTo>
                    <a:pt x="156" y="246"/>
                  </a:lnTo>
                  <a:lnTo>
                    <a:pt x="156" y="240"/>
                  </a:lnTo>
                  <a:lnTo>
                    <a:pt x="150" y="240"/>
                  </a:lnTo>
                  <a:lnTo>
                    <a:pt x="144" y="240"/>
                  </a:lnTo>
                  <a:lnTo>
                    <a:pt x="138" y="240"/>
                  </a:lnTo>
                  <a:lnTo>
                    <a:pt x="138" y="234"/>
                  </a:lnTo>
                  <a:lnTo>
                    <a:pt x="138" y="240"/>
                  </a:lnTo>
                  <a:lnTo>
                    <a:pt x="138" y="234"/>
                  </a:lnTo>
                  <a:lnTo>
                    <a:pt x="132" y="234"/>
                  </a:lnTo>
                  <a:lnTo>
                    <a:pt x="132" y="228"/>
                  </a:lnTo>
                  <a:lnTo>
                    <a:pt x="132" y="222"/>
                  </a:lnTo>
                  <a:lnTo>
                    <a:pt x="126" y="222"/>
                  </a:lnTo>
                  <a:lnTo>
                    <a:pt x="126" y="216"/>
                  </a:lnTo>
                  <a:lnTo>
                    <a:pt x="120" y="216"/>
                  </a:lnTo>
                  <a:lnTo>
                    <a:pt x="114" y="216"/>
                  </a:lnTo>
                  <a:lnTo>
                    <a:pt x="108" y="216"/>
                  </a:lnTo>
                  <a:lnTo>
                    <a:pt x="108" y="222"/>
                  </a:lnTo>
                  <a:lnTo>
                    <a:pt x="102" y="216"/>
                  </a:lnTo>
                  <a:lnTo>
                    <a:pt x="102" y="222"/>
                  </a:lnTo>
                  <a:lnTo>
                    <a:pt x="102" y="216"/>
                  </a:lnTo>
                  <a:lnTo>
                    <a:pt x="102" y="222"/>
                  </a:lnTo>
                  <a:lnTo>
                    <a:pt x="102" y="216"/>
                  </a:lnTo>
                  <a:lnTo>
                    <a:pt x="102" y="222"/>
                  </a:lnTo>
                  <a:lnTo>
                    <a:pt x="96" y="222"/>
                  </a:lnTo>
                  <a:lnTo>
                    <a:pt x="96" y="216"/>
                  </a:lnTo>
                  <a:lnTo>
                    <a:pt x="102" y="216"/>
                  </a:lnTo>
                  <a:lnTo>
                    <a:pt x="96" y="216"/>
                  </a:lnTo>
                  <a:lnTo>
                    <a:pt x="90" y="216"/>
                  </a:lnTo>
                  <a:lnTo>
                    <a:pt x="90" y="222"/>
                  </a:lnTo>
                  <a:lnTo>
                    <a:pt x="90" y="216"/>
                  </a:lnTo>
                  <a:lnTo>
                    <a:pt x="90" y="222"/>
                  </a:lnTo>
                  <a:lnTo>
                    <a:pt x="84" y="222"/>
                  </a:lnTo>
                  <a:lnTo>
                    <a:pt x="84" y="216"/>
                  </a:lnTo>
                  <a:lnTo>
                    <a:pt x="84" y="210"/>
                  </a:lnTo>
                  <a:lnTo>
                    <a:pt x="78" y="210"/>
                  </a:lnTo>
                  <a:lnTo>
                    <a:pt x="78" y="204"/>
                  </a:lnTo>
                  <a:lnTo>
                    <a:pt x="78" y="198"/>
                  </a:lnTo>
                  <a:lnTo>
                    <a:pt x="72" y="198"/>
                  </a:lnTo>
                  <a:lnTo>
                    <a:pt x="66" y="198"/>
                  </a:lnTo>
                  <a:lnTo>
                    <a:pt x="66" y="204"/>
                  </a:lnTo>
                  <a:lnTo>
                    <a:pt x="60" y="204"/>
                  </a:lnTo>
                  <a:lnTo>
                    <a:pt x="54" y="204"/>
                  </a:lnTo>
                  <a:lnTo>
                    <a:pt x="48" y="210"/>
                  </a:lnTo>
                  <a:lnTo>
                    <a:pt x="54" y="216"/>
                  </a:lnTo>
                  <a:lnTo>
                    <a:pt x="48" y="216"/>
                  </a:lnTo>
                  <a:lnTo>
                    <a:pt x="48" y="222"/>
                  </a:lnTo>
                  <a:lnTo>
                    <a:pt x="42" y="222"/>
                  </a:lnTo>
                  <a:lnTo>
                    <a:pt x="42" y="216"/>
                  </a:lnTo>
                  <a:lnTo>
                    <a:pt x="36" y="216"/>
                  </a:lnTo>
                  <a:lnTo>
                    <a:pt x="30" y="222"/>
                  </a:lnTo>
                  <a:lnTo>
                    <a:pt x="30" y="216"/>
                  </a:lnTo>
                  <a:lnTo>
                    <a:pt x="24" y="216"/>
                  </a:lnTo>
                  <a:lnTo>
                    <a:pt x="24" y="210"/>
                  </a:lnTo>
                  <a:lnTo>
                    <a:pt x="30" y="210"/>
                  </a:lnTo>
                  <a:lnTo>
                    <a:pt x="30" y="204"/>
                  </a:lnTo>
                  <a:lnTo>
                    <a:pt x="24" y="204"/>
                  </a:lnTo>
                  <a:lnTo>
                    <a:pt x="18" y="204"/>
                  </a:lnTo>
                  <a:lnTo>
                    <a:pt x="12" y="204"/>
                  </a:lnTo>
                  <a:lnTo>
                    <a:pt x="6" y="204"/>
                  </a:lnTo>
                  <a:lnTo>
                    <a:pt x="6" y="198"/>
                  </a:lnTo>
                  <a:lnTo>
                    <a:pt x="0" y="198"/>
                  </a:lnTo>
                  <a:close/>
                </a:path>
              </a:pathLst>
            </a:custGeom>
            <a:solidFill>
              <a:schemeClr val="accent1"/>
            </a:solidFill>
            <a:ln w="9525">
              <a:solidFill>
                <a:srgbClr val="B2B2B2"/>
              </a:solidFill>
              <a:round/>
              <a:headEnd/>
              <a:tailEnd/>
            </a:ln>
          </p:spPr>
          <p:txBody>
            <a:bodyPr/>
            <a:lstStyle/>
            <a:p>
              <a:endParaRPr lang="en-CA"/>
            </a:p>
          </p:txBody>
        </p:sp>
        <p:sp>
          <p:nvSpPr>
            <p:cNvPr id="437" name="Freeform 496"/>
            <p:cNvSpPr>
              <a:spLocks noEditPoints="1"/>
            </p:cNvSpPr>
            <p:nvPr>
              <p:custDataLst>
                <p:tags r:id="rId60"/>
              </p:custDataLst>
            </p:nvPr>
          </p:nvSpPr>
          <p:spPr bwMode="gray">
            <a:xfrm>
              <a:off x="1106" y="3353"/>
              <a:ext cx="123" cy="143"/>
            </a:xfrm>
            <a:custGeom>
              <a:avLst/>
              <a:gdLst>
                <a:gd name="T0" fmla="*/ 116275172 w 198"/>
                <a:gd name="T1" fmla="*/ 213737772 h 228"/>
                <a:gd name="T2" fmla="*/ 104647162 w 198"/>
                <a:gd name="T3" fmla="*/ 213737772 h 228"/>
                <a:gd name="T4" fmla="*/ 98833649 w 198"/>
                <a:gd name="T5" fmla="*/ 184051970 h 228"/>
                <a:gd name="T6" fmla="*/ 87206625 w 198"/>
                <a:gd name="T7" fmla="*/ 172177650 h 228"/>
                <a:gd name="T8" fmla="*/ 87206625 w 198"/>
                <a:gd name="T9" fmla="*/ 160303329 h 228"/>
                <a:gd name="T10" fmla="*/ 98833649 w 198"/>
                <a:gd name="T11" fmla="*/ 142491848 h 228"/>
                <a:gd name="T12" fmla="*/ 87206625 w 198"/>
                <a:gd name="T13" fmla="*/ 124680367 h 228"/>
                <a:gd name="T14" fmla="*/ 75578615 w 198"/>
                <a:gd name="T15" fmla="*/ 89057405 h 228"/>
                <a:gd name="T16" fmla="*/ 63951591 w 198"/>
                <a:gd name="T17" fmla="*/ 94994565 h 228"/>
                <a:gd name="T18" fmla="*/ 40696557 w 198"/>
                <a:gd name="T19" fmla="*/ 77183084 h 228"/>
                <a:gd name="T20" fmla="*/ 34882058 w 198"/>
                <a:gd name="T21" fmla="*/ 59371603 h 228"/>
                <a:gd name="T22" fmla="*/ 17441522 w 198"/>
                <a:gd name="T23" fmla="*/ 47497283 h 228"/>
                <a:gd name="T24" fmla="*/ 0 w 198"/>
                <a:gd name="T25" fmla="*/ 35622962 h 228"/>
                <a:gd name="T26" fmla="*/ 17441522 w 198"/>
                <a:gd name="T27" fmla="*/ 29685802 h 228"/>
                <a:gd name="T28" fmla="*/ 17441522 w 198"/>
                <a:gd name="T29" fmla="*/ 17811481 h 228"/>
                <a:gd name="T30" fmla="*/ 40696557 w 198"/>
                <a:gd name="T31" fmla="*/ 5937160 h 228"/>
                <a:gd name="T32" fmla="*/ 75578615 w 198"/>
                <a:gd name="T33" fmla="*/ 11874321 h 228"/>
                <a:gd name="T34" fmla="*/ 81392127 w 198"/>
                <a:gd name="T35" fmla="*/ 35622962 h 228"/>
                <a:gd name="T36" fmla="*/ 98833649 w 198"/>
                <a:gd name="T37" fmla="*/ 47497283 h 228"/>
                <a:gd name="T38" fmla="*/ 98833649 w 198"/>
                <a:gd name="T39" fmla="*/ 65308764 h 228"/>
                <a:gd name="T40" fmla="*/ 122088684 w 198"/>
                <a:gd name="T41" fmla="*/ 71245924 h 228"/>
                <a:gd name="T42" fmla="*/ 145343718 w 198"/>
                <a:gd name="T43" fmla="*/ 77183084 h 228"/>
                <a:gd name="T44" fmla="*/ 174412265 w 198"/>
                <a:gd name="T45" fmla="*/ 124680367 h 228"/>
                <a:gd name="T46" fmla="*/ 168598753 w 198"/>
                <a:gd name="T47" fmla="*/ 142491848 h 228"/>
                <a:gd name="T48" fmla="*/ 156971728 w 198"/>
                <a:gd name="T49" fmla="*/ 148429008 h 228"/>
                <a:gd name="T50" fmla="*/ 162785241 w 198"/>
                <a:gd name="T51" fmla="*/ 154366169 h 228"/>
                <a:gd name="T52" fmla="*/ 174412265 w 198"/>
                <a:gd name="T53" fmla="*/ 160303329 h 228"/>
                <a:gd name="T54" fmla="*/ 191853787 w 198"/>
                <a:gd name="T55" fmla="*/ 172177650 h 228"/>
                <a:gd name="T56" fmla="*/ 180226763 w 198"/>
                <a:gd name="T57" fmla="*/ 172177650 h 228"/>
                <a:gd name="T58" fmla="*/ 174412265 w 198"/>
                <a:gd name="T59" fmla="*/ 189989131 h 228"/>
                <a:gd name="T60" fmla="*/ 162785241 w 198"/>
                <a:gd name="T61" fmla="*/ 189989131 h 228"/>
                <a:gd name="T62" fmla="*/ 162785241 w 198"/>
                <a:gd name="T63" fmla="*/ 195926291 h 228"/>
                <a:gd name="T64" fmla="*/ 151157230 w 198"/>
                <a:gd name="T65" fmla="*/ 201863451 h 228"/>
                <a:gd name="T66" fmla="*/ 156971728 w 198"/>
                <a:gd name="T67" fmla="*/ 207800612 h 228"/>
                <a:gd name="T68" fmla="*/ 151157230 w 198"/>
                <a:gd name="T69" fmla="*/ 213737772 h 228"/>
                <a:gd name="T70" fmla="*/ 145343718 w 198"/>
                <a:gd name="T71" fmla="*/ 207800612 h 228"/>
                <a:gd name="T72" fmla="*/ 133716694 w 198"/>
                <a:gd name="T73" fmla="*/ 207800612 h 228"/>
                <a:gd name="T74" fmla="*/ 127902196 w 198"/>
                <a:gd name="T75" fmla="*/ 213737772 h 228"/>
                <a:gd name="T76" fmla="*/ 127902196 w 198"/>
                <a:gd name="T77" fmla="*/ 219674932 h 228"/>
                <a:gd name="T78" fmla="*/ 122088684 w 198"/>
                <a:gd name="T79" fmla="*/ 213737772 h 228"/>
                <a:gd name="T80" fmla="*/ 122088684 w 198"/>
                <a:gd name="T81" fmla="*/ 225612093 h 228"/>
                <a:gd name="T82" fmla="*/ 116275172 w 198"/>
                <a:gd name="T83" fmla="*/ 207800612 h 228"/>
                <a:gd name="T84" fmla="*/ 122088684 w 198"/>
                <a:gd name="T85" fmla="*/ 213737772 h 228"/>
                <a:gd name="T86" fmla="*/ 122088684 w 198"/>
                <a:gd name="T87" fmla="*/ 219674932 h 228"/>
                <a:gd name="T88" fmla="*/ 116275172 w 198"/>
                <a:gd name="T89" fmla="*/ 225612093 h 228"/>
                <a:gd name="T90" fmla="*/ 133716694 w 198"/>
                <a:gd name="T91" fmla="*/ 219674932 h 228"/>
                <a:gd name="T92" fmla="*/ 156971728 w 198"/>
                <a:gd name="T93" fmla="*/ 207800612 h 228"/>
                <a:gd name="T94" fmla="*/ 156971728 w 198"/>
                <a:gd name="T95" fmla="*/ 207800612 h 22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98"/>
                <a:gd name="T145" fmla="*/ 0 h 228"/>
                <a:gd name="T146" fmla="*/ 198 w 198"/>
                <a:gd name="T147" fmla="*/ 228 h 22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98" h="228">
                  <a:moveTo>
                    <a:pt x="120" y="228"/>
                  </a:moveTo>
                  <a:lnTo>
                    <a:pt x="120" y="222"/>
                  </a:lnTo>
                  <a:lnTo>
                    <a:pt x="114" y="222"/>
                  </a:lnTo>
                  <a:lnTo>
                    <a:pt x="120" y="216"/>
                  </a:lnTo>
                  <a:lnTo>
                    <a:pt x="114" y="216"/>
                  </a:lnTo>
                  <a:lnTo>
                    <a:pt x="120" y="216"/>
                  </a:lnTo>
                  <a:lnTo>
                    <a:pt x="114" y="216"/>
                  </a:lnTo>
                  <a:lnTo>
                    <a:pt x="108" y="216"/>
                  </a:lnTo>
                  <a:lnTo>
                    <a:pt x="102" y="216"/>
                  </a:lnTo>
                  <a:lnTo>
                    <a:pt x="90" y="216"/>
                  </a:lnTo>
                  <a:lnTo>
                    <a:pt x="96" y="192"/>
                  </a:lnTo>
                  <a:lnTo>
                    <a:pt x="102" y="186"/>
                  </a:lnTo>
                  <a:lnTo>
                    <a:pt x="102" y="180"/>
                  </a:lnTo>
                  <a:lnTo>
                    <a:pt x="96" y="180"/>
                  </a:lnTo>
                  <a:lnTo>
                    <a:pt x="90" y="180"/>
                  </a:lnTo>
                  <a:lnTo>
                    <a:pt x="90" y="174"/>
                  </a:lnTo>
                  <a:lnTo>
                    <a:pt x="72" y="168"/>
                  </a:lnTo>
                  <a:lnTo>
                    <a:pt x="78" y="162"/>
                  </a:lnTo>
                  <a:lnTo>
                    <a:pt x="84" y="162"/>
                  </a:lnTo>
                  <a:lnTo>
                    <a:pt x="90" y="162"/>
                  </a:lnTo>
                  <a:lnTo>
                    <a:pt x="90" y="156"/>
                  </a:lnTo>
                  <a:lnTo>
                    <a:pt x="96" y="150"/>
                  </a:lnTo>
                  <a:lnTo>
                    <a:pt x="102" y="150"/>
                  </a:lnTo>
                  <a:lnTo>
                    <a:pt x="102" y="144"/>
                  </a:lnTo>
                  <a:lnTo>
                    <a:pt x="102" y="138"/>
                  </a:lnTo>
                  <a:lnTo>
                    <a:pt x="102" y="132"/>
                  </a:lnTo>
                  <a:lnTo>
                    <a:pt x="96" y="132"/>
                  </a:lnTo>
                  <a:lnTo>
                    <a:pt x="90" y="126"/>
                  </a:lnTo>
                  <a:lnTo>
                    <a:pt x="84" y="126"/>
                  </a:lnTo>
                  <a:lnTo>
                    <a:pt x="84" y="120"/>
                  </a:lnTo>
                  <a:lnTo>
                    <a:pt x="72" y="96"/>
                  </a:lnTo>
                  <a:lnTo>
                    <a:pt x="78" y="90"/>
                  </a:lnTo>
                  <a:lnTo>
                    <a:pt x="90" y="90"/>
                  </a:lnTo>
                  <a:lnTo>
                    <a:pt x="84" y="84"/>
                  </a:lnTo>
                  <a:lnTo>
                    <a:pt x="78" y="84"/>
                  </a:lnTo>
                  <a:lnTo>
                    <a:pt x="66" y="96"/>
                  </a:lnTo>
                  <a:lnTo>
                    <a:pt x="60" y="96"/>
                  </a:lnTo>
                  <a:lnTo>
                    <a:pt x="48" y="90"/>
                  </a:lnTo>
                  <a:lnTo>
                    <a:pt x="48" y="84"/>
                  </a:lnTo>
                  <a:lnTo>
                    <a:pt x="42" y="78"/>
                  </a:lnTo>
                  <a:lnTo>
                    <a:pt x="42" y="72"/>
                  </a:lnTo>
                  <a:lnTo>
                    <a:pt x="36" y="72"/>
                  </a:lnTo>
                  <a:lnTo>
                    <a:pt x="36" y="66"/>
                  </a:lnTo>
                  <a:lnTo>
                    <a:pt x="36" y="60"/>
                  </a:lnTo>
                  <a:lnTo>
                    <a:pt x="36" y="54"/>
                  </a:lnTo>
                  <a:lnTo>
                    <a:pt x="30" y="54"/>
                  </a:lnTo>
                  <a:lnTo>
                    <a:pt x="30" y="60"/>
                  </a:lnTo>
                  <a:lnTo>
                    <a:pt x="18" y="48"/>
                  </a:lnTo>
                  <a:lnTo>
                    <a:pt x="12" y="48"/>
                  </a:lnTo>
                  <a:lnTo>
                    <a:pt x="12" y="42"/>
                  </a:lnTo>
                  <a:lnTo>
                    <a:pt x="0" y="42"/>
                  </a:lnTo>
                  <a:lnTo>
                    <a:pt x="0" y="36"/>
                  </a:lnTo>
                  <a:lnTo>
                    <a:pt x="6" y="30"/>
                  </a:lnTo>
                  <a:lnTo>
                    <a:pt x="6" y="24"/>
                  </a:lnTo>
                  <a:lnTo>
                    <a:pt x="12" y="24"/>
                  </a:lnTo>
                  <a:lnTo>
                    <a:pt x="18" y="30"/>
                  </a:lnTo>
                  <a:lnTo>
                    <a:pt x="18" y="24"/>
                  </a:lnTo>
                  <a:lnTo>
                    <a:pt x="12" y="24"/>
                  </a:lnTo>
                  <a:lnTo>
                    <a:pt x="12" y="18"/>
                  </a:lnTo>
                  <a:lnTo>
                    <a:pt x="18" y="18"/>
                  </a:lnTo>
                  <a:lnTo>
                    <a:pt x="24" y="18"/>
                  </a:lnTo>
                  <a:lnTo>
                    <a:pt x="30" y="18"/>
                  </a:lnTo>
                  <a:lnTo>
                    <a:pt x="36" y="12"/>
                  </a:lnTo>
                  <a:lnTo>
                    <a:pt x="42" y="6"/>
                  </a:lnTo>
                  <a:lnTo>
                    <a:pt x="48" y="0"/>
                  </a:lnTo>
                  <a:lnTo>
                    <a:pt x="66" y="0"/>
                  </a:lnTo>
                  <a:lnTo>
                    <a:pt x="60" y="0"/>
                  </a:lnTo>
                  <a:lnTo>
                    <a:pt x="78" y="12"/>
                  </a:lnTo>
                  <a:lnTo>
                    <a:pt x="72" y="18"/>
                  </a:lnTo>
                  <a:lnTo>
                    <a:pt x="72" y="30"/>
                  </a:lnTo>
                  <a:lnTo>
                    <a:pt x="78" y="30"/>
                  </a:lnTo>
                  <a:lnTo>
                    <a:pt x="84" y="36"/>
                  </a:lnTo>
                  <a:lnTo>
                    <a:pt x="90" y="36"/>
                  </a:lnTo>
                  <a:lnTo>
                    <a:pt x="102" y="42"/>
                  </a:lnTo>
                  <a:lnTo>
                    <a:pt x="96" y="42"/>
                  </a:lnTo>
                  <a:lnTo>
                    <a:pt x="102" y="48"/>
                  </a:lnTo>
                  <a:lnTo>
                    <a:pt x="96" y="48"/>
                  </a:lnTo>
                  <a:lnTo>
                    <a:pt x="102" y="54"/>
                  </a:lnTo>
                  <a:lnTo>
                    <a:pt x="96" y="60"/>
                  </a:lnTo>
                  <a:lnTo>
                    <a:pt x="102" y="66"/>
                  </a:lnTo>
                  <a:lnTo>
                    <a:pt x="102" y="72"/>
                  </a:lnTo>
                  <a:lnTo>
                    <a:pt x="114" y="78"/>
                  </a:lnTo>
                  <a:lnTo>
                    <a:pt x="114" y="66"/>
                  </a:lnTo>
                  <a:lnTo>
                    <a:pt x="126" y="72"/>
                  </a:lnTo>
                  <a:lnTo>
                    <a:pt x="138" y="72"/>
                  </a:lnTo>
                  <a:lnTo>
                    <a:pt x="144" y="72"/>
                  </a:lnTo>
                  <a:lnTo>
                    <a:pt x="144" y="78"/>
                  </a:lnTo>
                  <a:lnTo>
                    <a:pt x="150" y="78"/>
                  </a:lnTo>
                  <a:lnTo>
                    <a:pt x="156" y="90"/>
                  </a:lnTo>
                  <a:lnTo>
                    <a:pt x="162" y="96"/>
                  </a:lnTo>
                  <a:lnTo>
                    <a:pt x="174" y="120"/>
                  </a:lnTo>
                  <a:lnTo>
                    <a:pt x="180" y="126"/>
                  </a:lnTo>
                  <a:lnTo>
                    <a:pt x="186" y="138"/>
                  </a:lnTo>
                  <a:lnTo>
                    <a:pt x="186" y="144"/>
                  </a:lnTo>
                  <a:lnTo>
                    <a:pt x="180" y="144"/>
                  </a:lnTo>
                  <a:lnTo>
                    <a:pt x="174" y="144"/>
                  </a:lnTo>
                  <a:lnTo>
                    <a:pt x="168" y="138"/>
                  </a:lnTo>
                  <a:lnTo>
                    <a:pt x="168" y="144"/>
                  </a:lnTo>
                  <a:lnTo>
                    <a:pt x="162" y="144"/>
                  </a:lnTo>
                  <a:lnTo>
                    <a:pt x="162" y="150"/>
                  </a:lnTo>
                  <a:lnTo>
                    <a:pt x="168" y="150"/>
                  </a:lnTo>
                  <a:lnTo>
                    <a:pt x="162" y="150"/>
                  </a:lnTo>
                  <a:lnTo>
                    <a:pt x="168" y="150"/>
                  </a:lnTo>
                  <a:lnTo>
                    <a:pt x="168" y="156"/>
                  </a:lnTo>
                  <a:lnTo>
                    <a:pt x="162" y="156"/>
                  </a:lnTo>
                  <a:lnTo>
                    <a:pt x="168" y="156"/>
                  </a:lnTo>
                  <a:lnTo>
                    <a:pt x="174" y="156"/>
                  </a:lnTo>
                  <a:lnTo>
                    <a:pt x="180" y="162"/>
                  </a:lnTo>
                  <a:lnTo>
                    <a:pt x="186" y="162"/>
                  </a:lnTo>
                  <a:lnTo>
                    <a:pt x="186" y="168"/>
                  </a:lnTo>
                  <a:lnTo>
                    <a:pt x="192" y="168"/>
                  </a:lnTo>
                  <a:lnTo>
                    <a:pt x="198" y="174"/>
                  </a:lnTo>
                  <a:lnTo>
                    <a:pt x="192" y="174"/>
                  </a:lnTo>
                  <a:lnTo>
                    <a:pt x="192" y="168"/>
                  </a:lnTo>
                  <a:lnTo>
                    <a:pt x="192" y="174"/>
                  </a:lnTo>
                  <a:lnTo>
                    <a:pt x="186" y="174"/>
                  </a:lnTo>
                  <a:lnTo>
                    <a:pt x="186" y="180"/>
                  </a:lnTo>
                  <a:lnTo>
                    <a:pt x="186" y="186"/>
                  </a:lnTo>
                  <a:lnTo>
                    <a:pt x="180" y="186"/>
                  </a:lnTo>
                  <a:lnTo>
                    <a:pt x="180" y="192"/>
                  </a:lnTo>
                  <a:lnTo>
                    <a:pt x="180" y="198"/>
                  </a:lnTo>
                  <a:lnTo>
                    <a:pt x="174" y="198"/>
                  </a:lnTo>
                  <a:lnTo>
                    <a:pt x="174" y="192"/>
                  </a:lnTo>
                  <a:lnTo>
                    <a:pt x="168" y="192"/>
                  </a:lnTo>
                  <a:lnTo>
                    <a:pt x="174" y="192"/>
                  </a:lnTo>
                  <a:lnTo>
                    <a:pt x="174" y="198"/>
                  </a:lnTo>
                  <a:lnTo>
                    <a:pt x="174" y="204"/>
                  </a:lnTo>
                  <a:lnTo>
                    <a:pt x="168" y="198"/>
                  </a:lnTo>
                  <a:lnTo>
                    <a:pt x="168" y="192"/>
                  </a:lnTo>
                  <a:lnTo>
                    <a:pt x="162" y="198"/>
                  </a:lnTo>
                  <a:lnTo>
                    <a:pt x="156" y="198"/>
                  </a:lnTo>
                  <a:lnTo>
                    <a:pt x="156" y="204"/>
                  </a:lnTo>
                  <a:lnTo>
                    <a:pt x="156" y="210"/>
                  </a:lnTo>
                  <a:lnTo>
                    <a:pt x="162" y="210"/>
                  </a:lnTo>
                  <a:lnTo>
                    <a:pt x="156" y="210"/>
                  </a:lnTo>
                  <a:lnTo>
                    <a:pt x="162" y="210"/>
                  </a:lnTo>
                  <a:lnTo>
                    <a:pt x="162" y="216"/>
                  </a:lnTo>
                  <a:lnTo>
                    <a:pt x="162" y="210"/>
                  </a:lnTo>
                  <a:lnTo>
                    <a:pt x="156" y="210"/>
                  </a:lnTo>
                  <a:lnTo>
                    <a:pt x="156" y="216"/>
                  </a:lnTo>
                  <a:lnTo>
                    <a:pt x="156" y="210"/>
                  </a:lnTo>
                  <a:lnTo>
                    <a:pt x="150" y="210"/>
                  </a:lnTo>
                  <a:lnTo>
                    <a:pt x="156" y="210"/>
                  </a:lnTo>
                  <a:lnTo>
                    <a:pt x="150" y="210"/>
                  </a:lnTo>
                  <a:lnTo>
                    <a:pt x="144" y="210"/>
                  </a:lnTo>
                  <a:lnTo>
                    <a:pt x="144" y="216"/>
                  </a:lnTo>
                  <a:lnTo>
                    <a:pt x="144" y="210"/>
                  </a:lnTo>
                  <a:lnTo>
                    <a:pt x="138" y="210"/>
                  </a:lnTo>
                  <a:lnTo>
                    <a:pt x="132" y="210"/>
                  </a:lnTo>
                  <a:lnTo>
                    <a:pt x="132" y="216"/>
                  </a:lnTo>
                  <a:lnTo>
                    <a:pt x="138" y="216"/>
                  </a:lnTo>
                  <a:lnTo>
                    <a:pt x="132" y="216"/>
                  </a:lnTo>
                  <a:lnTo>
                    <a:pt x="138" y="222"/>
                  </a:lnTo>
                  <a:lnTo>
                    <a:pt x="132" y="222"/>
                  </a:lnTo>
                  <a:lnTo>
                    <a:pt x="132" y="228"/>
                  </a:lnTo>
                  <a:lnTo>
                    <a:pt x="132" y="222"/>
                  </a:lnTo>
                  <a:lnTo>
                    <a:pt x="132" y="216"/>
                  </a:lnTo>
                  <a:lnTo>
                    <a:pt x="126" y="216"/>
                  </a:lnTo>
                  <a:lnTo>
                    <a:pt x="126" y="210"/>
                  </a:lnTo>
                  <a:lnTo>
                    <a:pt x="126" y="216"/>
                  </a:lnTo>
                  <a:lnTo>
                    <a:pt x="126" y="222"/>
                  </a:lnTo>
                  <a:lnTo>
                    <a:pt x="126" y="228"/>
                  </a:lnTo>
                  <a:lnTo>
                    <a:pt x="132" y="228"/>
                  </a:lnTo>
                  <a:lnTo>
                    <a:pt x="126" y="228"/>
                  </a:lnTo>
                  <a:lnTo>
                    <a:pt x="126" y="222"/>
                  </a:lnTo>
                  <a:lnTo>
                    <a:pt x="126" y="216"/>
                  </a:lnTo>
                  <a:lnTo>
                    <a:pt x="120" y="216"/>
                  </a:lnTo>
                  <a:lnTo>
                    <a:pt x="120" y="210"/>
                  </a:lnTo>
                  <a:lnTo>
                    <a:pt x="120" y="216"/>
                  </a:lnTo>
                  <a:lnTo>
                    <a:pt x="126" y="216"/>
                  </a:lnTo>
                  <a:lnTo>
                    <a:pt x="126" y="222"/>
                  </a:lnTo>
                  <a:lnTo>
                    <a:pt x="126" y="216"/>
                  </a:lnTo>
                  <a:lnTo>
                    <a:pt x="126" y="222"/>
                  </a:lnTo>
                  <a:lnTo>
                    <a:pt x="126" y="216"/>
                  </a:lnTo>
                  <a:lnTo>
                    <a:pt x="120" y="222"/>
                  </a:lnTo>
                  <a:lnTo>
                    <a:pt x="126" y="222"/>
                  </a:lnTo>
                  <a:lnTo>
                    <a:pt x="120" y="222"/>
                  </a:lnTo>
                  <a:lnTo>
                    <a:pt x="120" y="228"/>
                  </a:lnTo>
                  <a:lnTo>
                    <a:pt x="120" y="222"/>
                  </a:lnTo>
                  <a:lnTo>
                    <a:pt x="120" y="228"/>
                  </a:lnTo>
                  <a:close/>
                  <a:moveTo>
                    <a:pt x="138" y="216"/>
                  </a:moveTo>
                  <a:lnTo>
                    <a:pt x="138" y="222"/>
                  </a:lnTo>
                  <a:lnTo>
                    <a:pt x="138" y="228"/>
                  </a:lnTo>
                  <a:lnTo>
                    <a:pt x="138" y="222"/>
                  </a:lnTo>
                  <a:lnTo>
                    <a:pt x="138" y="216"/>
                  </a:lnTo>
                  <a:close/>
                  <a:moveTo>
                    <a:pt x="162" y="210"/>
                  </a:moveTo>
                  <a:lnTo>
                    <a:pt x="162" y="204"/>
                  </a:lnTo>
                  <a:lnTo>
                    <a:pt x="162" y="210"/>
                  </a:lnTo>
                  <a:close/>
                  <a:moveTo>
                    <a:pt x="162" y="204"/>
                  </a:moveTo>
                  <a:lnTo>
                    <a:pt x="168" y="204"/>
                  </a:lnTo>
                  <a:lnTo>
                    <a:pt x="168" y="210"/>
                  </a:lnTo>
                  <a:lnTo>
                    <a:pt x="162" y="210"/>
                  </a:lnTo>
                  <a:lnTo>
                    <a:pt x="162" y="204"/>
                  </a:lnTo>
                  <a:close/>
                </a:path>
              </a:pathLst>
            </a:custGeom>
            <a:solidFill>
              <a:schemeClr val="accent1"/>
            </a:solidFill>
            <a:ln w="9525">
              <a:solidFill>
                <a:srgbClr val="B2B2B2"/>
              </a:solidFill>
              <a:round/>
              <a:headEnd/>
              <a:tailEnd/>
            </a:ln>
          </p:spPr>
          <p:txBody>
            <a:bodyPr/>
            <a:lstStyle/>
            <a:p>
              <a:endParaRPr lang="en-CA"/>
            </a:p>
          </p:txBody>
        </p:sp>
        <p:sp>
          <p:nvSpPr>
            <p:cNvPr id="438" name="Freeform 497"/>
            <p:cNvSpPr>
              <a:spLocks/>
            </p:cNvSpPr>
            <p:nvPr>
              <p:custDataLst>
                <p:tags r:id="rId61"/>
              </p:custDataLst>
            </p:nvPr>
          </p:nvSpPr>
          <p:spPr bwMode="gray">
            <a:xfrm>
              <a:off x="1830" y="2882"/>
              <a:ext cx="168" cy="262"/>
            </a:xfrm>
            <a:custGeom>
              <a:avLst/>
              <a:gdLst>
                <a:gd name="T0" fmla="*/ 228036402 w 270"/>
                <a:gd name="T1" fmla="*/ 364595894 h 420"/>
                <a:gd name="T2" fmla="*/ 210495444 w 270"/>
                <a:gd name="T3" fmla="*/ 382237056 h 420"/>
                <a:gd name="T4" fmla="*/ 192954487 w 270"/>
                <a:gd name="T5" fmla="*/ 393997830 h 420"/>
                <a:gd name="T6" fmla="*/ 175412541 w 270"/>
                <a:gd name="T7" fmla="*/ 399879208 h 420"/>
                <a:gd name="T8" fmla="*/ 152024927 w 270"/>
                <a:gd name="T9" fmla="*/ 399879208 h 420"/>
                <a:gd name="T10" fmla="*/ 128636324 w 270"/>
                <a:gd name="T11" fmla="*/ 399879208 h 420"/>
                <a:gd name="T12" fmla="*/ 140330626 w 270"/>
                <a:gd name="T13" fmla="*/ 382237056 h 420"/>
                <a:gd name="T14" fmla="*/ 146177282 w 270"/>
                <a:gd name="T15" fmla="*/ 364595894 h 420"/>
                <a:gd name="T16" fmla="*/ 140330626 w 270"/>
                <a:gd name="T17" fmla="*/ 370476281 h 420"/>
                <a:gd name="T18" fmla="*/ 116942023 w 270"/>
                <a:gd name="T19" fmla="*/ 364595894 h 420"/>
                <a:gd name="T20" fmla="*/ 99401066 w 270"/>
                <a:gd name="T21" fmla="*/ 364595894 h 420"/>
                <a:gd name="T22" fmla="*/ 87706764 w 270"/>
                <a:gd name="T23" fmla="*/ 370476281 h 420"/>
                <a:gd name="T24" fmla="*/ 93553421 w 270"/>
                <a:gd name="T25" fmla="*/ 358714516 h 420"/>
                <a:gd name="T26" fmla="*/ 76012463 w 270"/>
                <a:gd name="T27" fmla="*/ 341073354 h 420"/>
                <a:gd name="T28" fmla="*/ 81859120 w 270"/>
                <a:gd name="T29" fmla="*/ 352834129 h 420"/>
                <a:gd name="T30" fmla="*/ 70164819 w 270"/>
                <a:gd name="T31" fmla="*/ 352834129 h 420"/>
                <a:gd name="T32" fmla="*/ 52623861 w 270"/>
                <a:gd name="T33" fmla="*/ 358714516 h 420"/>
                <a:gd name="T34" fmla="*/ 35082903 w 270"/>
                <a:gd name="T35" fmla="*/ 352834129 h 420"/>
                <a:gd name="T36" fmla="*/ 35082903 w 270"/>
                <a:gd name="T37" fmla="*/ 346953742 h 420"/>
                <a:gd name="T38" fmla="*/ 35082903 w 270"/>
                <a:gd name="T39" fmla="*/ 323431202 h 420"/>
                <a:gd name="T40" fmla="*/ 29235259 w 270"/>
                <a:gd name="T41" fmla="*/ 311670428 h 420"/>
                <a:gd name="T42" fmla="*/ 29235259 w 270"/>
                <a:gd name="T43" fmla="*/ 282267501 h 420"/>
                <a:gd name="T44" fmla="*/ 11694301 w 270"/>
                <a:gd name="T45" fmla="*/ 270506727 h 420"/>
                <a:gd name="T46" fmla="*/ 17540958 w 270"/>
                <a:gd name="T47" fmla="*/ 246984187 h 420"/>
                <a:gd name="T48" fmla="*/ 17540958 w 270"/>
                <a:gd name="T49" fmla="*/ 223461648 h 420"/>
                <a:gd name="T50" fmla="*/ 5846657 w 270"/>
                <a:gd name="T51" fmla="*/ 217581261 h 420"/>
                <a:gd name="T52" fmla="*/ 23388602 w 270"/>
                <a:gd name="T53" fmla="*/ 205820486 h 420"/>
                <a:gd name="T54" fmla="*/ 29235259 w 270"/>
                <a:gd name="T55" fmla="*/ 188178334 h 420"/>
                <a:gd name="T56" fmla="*/ 35082903 w 270"/>
                <a:gd name="T57" fmla="*/ 170536182 h 420"/>
                <a:gd name="T58" fmla="*/ 46777204 w 270"/>
                <a:gd name="T59" fmla="*/ 158775408 h 420"/>
                <a:gd name="T60" fmla="*/ 40929560 w 270"/>
                <a:gd name="T61" fmla="*/ 123492094 h 420"/>
                <a:gd name="T62" fmla="*/ 23388602 w 270"/>
                <a:gd name="T63" fmla="*/ 99969554 h 420"/>
                <a:gd name="T64" fmla="*/ 17540958 w 270"/>
                <a:gd name="T65" fmla="*/ 111731319 h 420"/>
                <a:gd name="T66" fmla="*/ 5846657 w 270"/>
                <a:gd name="T67" fmla="*/ 99969554 h 420"/>
                <a:gd name="T68" fmla="*/ 5846657 w 270"/>
                <a:gd name="T69" fmla="*/ 64686240 h 420"/>
                <a:gd name="T70" fmla="*/ 17540958 w 270"/>
                <a:gd name="T71" fmla="*/ 5880387 h 420"/>
                <a:gd name="T72" fmla="*/ 35082903 w 270"/>
                <a:gd name="T73" fmla="*/ 5880387 h 420"/>
                <a:gd name="T74" fmla="*/ 46777204 w 270"/>
                <a:gd name="T75" fmla="*/ 41163701 h 420"/>
                <a:gd name="T76" fmla="*/ 81859120 w 270"/>
                <a:gd name="T77" fmla="*/ 47044088 h 420"/>
                <a:gd name="T78" fmla="*/ 192954487 w 270"/>
                <a:gd name="T79" fmla="*/ 23522539 h 420"/>
                <a:gd name="T80" fmla="*/ 210495444 w 270"/>
                <a:gd name="T81" fmla="*/ 0 h 420"/>
                <a:gd name="T82" fmla="*/ 233884047 w 270"/>
                <a:gd name="T83" fmla="*/ 52925466 h 420"/>
                <a:gd name="T84" fmla="*/ 257272649 w 270"/>
                <a:gd name="T85" fmla="*/ 111731319 h 420"/>
                <a:gd name="T86" fmla="*/ 257272649 w 270"/>
                <a:gd name="T87" fmla="*/ 158775408 h 420"/>
                <a:gd name="T88" fmla="*/ 245578348 w 270"/>
                <a:gd name="T89" fmla="*/ 176417560 h 420"/>
                <a:gd name="T90" fmla="*/ 251425004 w 270"/>
                <a:gd name="T91" fmla="*/ 176417560 h 420"/>
                <a:gd name="T92" fmla="*/ 257272649 w 270"/>
                <a:gd name="T93" fmla="*/ 199939109 h 420"/>
                <a:gd name="T94" fmla="*/ 222189746 w 270"/>
                <a:gd name="T95" fmla="*/ 223461648 h 420"/>
                <a:gd name="T96" fmla="*/ 210495444 w 270"/>
                <a:gd name="T97" fmla="*/ 235222423 h 420"/>
                <a:gd name="T98" fmla="*/ 222189746 w 270"/>
                <a:gd name="T99" fmla="*/ 246984187 h 420"/>
                <a:gd name="T100" fmla="*/ 216342101 w 270"/>
                <a:gd name="T101" fmla="*/ 264625349 h 420"/>
                <a:gd name="T102" fmla="*/ 222189746 w 270"/>
                <a:gd name="T103" fmla="*/ 282267501 h 420"/>
                <a:gd name="T104" fmla="*/ 228036402 w 270"/>
                <a:gd name="T105" fmla="*/ 299909653 h 420"/>
                <a:gd name="T106" fmla="*/ 245578348 w 270"/>
                <a:gd name="T107" fmla="*/ 329311590 h 4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70"/>
                <a:gd name="T163" fmla="*/ 0 h 420"/>
                <a:gd name="T164" fmla="*/ 270 w 270"/>
                <a:gd name="T165" fmla="*/ 420 h 42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70" h="420">
                  <a:moveTo>
                    <a:pt x="246" y="366"/>
                  </a:moveTo>
                  <a:lnTo>
                    <a:pt x="240" y="366"/>
                  </a:lnTo>
                  <a:lnTo>
                    <a:pt x="234" y="366"/>
                  </a:lnTo>
                  <a:lnTo>
                    <a:pt x="228" y="372"/>
                  </a:lnTo>
                  <a:lnTo>
                    <a:pt x="234" y="372"/>
                  </a:lnTo>
                  <a:lnTo>
                    <a:pt x="234" y="378"/>
                  </a:lnTo>
                  <a:lnTo>
                    <a:pt x="228" y="378"/>
                  </a:lnTo>
                  <a:lnTo>
                    <a:pt x="228" y="384"/>
                  </a:lnTo>
                  <a:lnTo>
                    <a:pt x="222" y="384"/>
                  </a:lnTo>
                  <a:lnTo>
                    <a:pt x="216" y="390"/>
                  </a:lnTo>
                  <a:lnTo>
                    <a:pt x="210" y="390"/>
                  </a:lnTo>
                  <a:lnTo>
                    <a:pt x="204" y="390"/>
                  </a:lnTo>
                  <a:lnTo>
                    <a:pt x="204" y="396"/>
                  </a:lnTo>
                  <a:lnTo>
                    <a:pt x="198" y="396"/>
                  </a:lnTo>
                  <a:lnTo>
                    <a:pt x="198" y="402"/>
                  </a:lnTo>
                  <a:lnTo>
                    <a:pt x="186" y="402"/>
                  </a:lnTo>
                  <a:lnTo>
                    <a:pt x="186" y="408"/>
                  </a:lnTo>
                  <a:lnTo>
                    <a:pt x="186" y="420"/>
                  </a:lnTo>
                  <a:lnTo>
                    <a:pt x="180" y="414"/>
                  </a:lnTo>
                  <a:lnTo>
                    <a:pt x="180" y="408"/>
                  </a:lnTo>
                  <a:lnTo>
                    <a:pt x="174" y="408"/>
                  </a:lnTo>
                  <a:lnTo>
                    <a:pt x="168" y="408"/>
                  </a:lnTo>
                  <a:lnTo>
                    <a:pt x="168" y="402"/>
                  </a:lnTo>
                  <a:lnTo>
                    <a:pt x="162" y="402"/>
                  </a:lnTo>
                  <a:lnTo>
                    <a:pt x="156" y="408"/>
                  </a:lnTo>
                  <a:lnTo>
                    <a:pt x="150" y="408"/>
                  </a:lnTo>
                  <a:lnTo>
                    <a:pt x="150" y="414"/>
                  </a:lnTo>
                  <a:lnTo>
                    <a:pt x="138" y="420"/>
                  </a:lnTo>
                  <a:lnTo>
                    <a:pt x="138" y="414"/>
                  </a:lnTo>
                  <a:lnTo>
                    <a:pt x="132" y="408"/>
                  </a:lnTo>
                  <a:lnTo>
                    <a:pt x="132" y="402"/>
                  </a:lnTo>
                  <a:lnTo>
                    <a:pt x="138" y="402"/>
                  </a:lnTo>
                  <a:lnTo>
                    <a:pt x="138" y="396"/>
                  </a:lnTo>
                  <a:lnTo>
                    <a:pt x="138" y="390"/>
                  </a:lnTo>
                  <a:lnTo>
                    <a:pt x="144" y="390"/>
                  </a:lnTo>
                  <a:lnTo>
                    <a:pt x="138" y="390"/>
                  </a:lnTo>
                  <a:lnTo>
                    <a:pt x="144" y="384"/>
                  </a:lnTo>
                  <a:lnTo>
                    <a:pt x="150" y="384"/>
                  </a:lnTo>
                  <a:lnTo>
                    <a:pt x="156" y="372"/>
                  </a:lnTo>
                  <a:lnTo>
                    <a:pt x="150" y="372"/>
                  </a:lnTo>
                  <a:lnTo>
                    <a:pt x="156" y="372"/>
                  </a:lnTo>
                  <a:lnTo>
                    <a:pt x="150" y="372"/>
                  </a:lnTo>
                  <a:lnTo>
                    <a:pt x="150" y="378"/>
                  </a:lnTo>
                  <a:lnTo>
                    <a:pt x="150" y="372"/>
                  </a:lnTo>
                  <a:lnTo>
                    <a:pt x="144" y="378"/>
                  </a:lnTo>
                  <a:lnTo>
                    <a:pt x="138" y="378"/>
                  </a:lnTo>
                  <a:lnTo>
                    <a:pt x="132" y="378"/>
                  </a:lnTo>
                  <a:lnTo>
                    <a:pt x="126" y="378"/>
                  </a:lnTo>
                  <a:lnTo>
                    <a:pt x="126" y="372"/>
                  </a:lnTo>
                  <a:lnTo>
                    <a:pt x="120" y="372"/>
                  </a:lnTo>
                  <a:lnTo>
                    <a:pt x="120" y="366"/>
                  </a:lnTo>
                  <a:lnTo>
                    <a:pt x="114" y="366"/>
                  </a:lnTo>
                  <a:lnTo>
                    <a:pt x="108" y="366"/>
                  </a:lnTo>
                  <a:lnTo>
                    <a:pt x="102" y="366"/>
                  </a:lnTo>
                  <a:lnTo>
                    <a:pt x="102" y="372"/>
                  </a:lnTo>
                  <a:lnTo>
                    <a:pt x="108" y="372"/>
                  </a:lnTo>
                  <a:lnTo>
                    <a:pt x="108" y="378"/>
                  </a:lnTo>
                  <a:lnTo>
                    <a:pt x="102" y="378"/>
                  </a:lnTo>
                  <a:lnTo>
                    <a:pt x="96" y="384"/>
                  </a:lnTo>
                  <a:lnTo>
                    <a:pt x="90" y="378"/>
                  </a:lnTo>
                  <a:lnTo>
                    <a:pt x="96" y="378"/>
                  </a:lnTo>
                  <a:lnTo>
                    <a:pt x="96" y="372"/>
                  </a:lnTo>
                  <a:lnTo>
                    <a:pt x="90" y="372"/>
                  </a:lnTo>
                  <a:lnTo>
                    <a:pt x="90" y="366"/>
                  </a:lnTo>
                  <a:lnTo>
                    <a:pt x="96" y="366"/>
                  </a:lnTo>
                  <a:lnTo>
                    <a:pt x="90" y="360"/>
                  </a:lnTo>
                  <a:lnTo>
                    <a:pt x="90" y="354"/>
                  </a:lnTo>
                  <a:lnTo>
                    <a:pt x="90" y="348"/>
                  </a:lnTo>
                  <a:lnTo>
                    <a:pt x="84" y="348"/>
                  </a:lnTo>
                  <a:lnTo>
                    <a:pt x="78" y="348"/>
                  </a:lnTo>
                  <a:lnTo>
                    <a:pt x="78" y="354"/>
                  </a:lnTo>
                  <a:lnTo>
                    <a:pt x="84" y="354"/>
                  </a:lnTo>
                  <a:lnTo>
                    <a:pt x="78" y="354"/>
                  </a:lnTo>
                  <a:lnTo>
                    <a:pt x="78" y="360"/>
                  </a:lnTo>
                  <a:lnTo>
                    <a:pt x="84" y="360"/>
                  </a:lnTo>
                  <a:lnTo>
                    <a:pt x="84" y="366"/>
                  </a:lnTo>
                  <a:lnTo>
                    <a:pt x="78" y="366"/>
                  </a:lnTo>
                  <a:lnTo>
                    <a:pt x="78" y="360"/>
                  </a:lnTo>
                  <a:lnTo>
                    <a:pt x="72" y="354"/>
                  </a:lnTo>
                  <a:lnTo>
                    <a:pt x="72" y="360"/>
                  </a:lnTo>
                  <a:lnTo>
                    <a:pt x="66" y="354"/>
                  </a:lnTo>
                  <a:lnTo>
                    <a:pt x="60" y="360"/>
                  </a:lnTo>
                  <a:lnTo>
                    <a:pt x="66" y="366"/>
                  </a:lnTo>
                  <a:lnTo>
                    <a:pt x="60" y="366"/>
                  </a:lnTo>
                  <a:lnTo>
                    <a:pt x="54" y="366"/>
                  </a:lnTo>
                  <a:lnTo>
                    <a:pt x="48" y="360"/>
                  </a:lnTo>
                  <a:lnTo>
                    <a:pt x="42" y="360"/>
                  </a:lnTo>
                  <a:lnTo>
                    <a:pt x="42" y="366"/>
                  </a:lnTo>
                  <a:lnTo>
                    <a:pt x="36" y="366"/>
                  </a:lnTo>
                  <a:lnTo>
                    <a:pt x="36" y="360"/>
                  </a:lnTo>
                  <a:lnTo>
                    <a:pt x="30" y="360"/>
                  </a:lnTo>
                  <a:lnTo>
                    <a:pt x="30" y="354"/>
                  </a:lnTo>
                  <a:lnTo>
                    <a:pt x="30" y="348"/>
                  </a:lnTo>
                  <a:lnTo>
                    <a:pt x="36" y="348"/>
                  </a:lnTo>
                  <a:lnTo>
                    <a:pt x="36" y="354"/>
                  </a:lnTo>
                  <a:lnTo>
                    <a:pt x="36" y="348"/>
                  </a:lnTo>
                  <a:lnTo>
                    <a:pt x="42" y="348"/>
                  </a:lnTo>
                  <a:lnTo>
                    <a:pt x="42" y="342"/>
                  </a:lnTo>
                  <a:lnTo>
                    <a:pt x="36" y="342"/>
                  </a:lnTo>
                  <a:lnTo>
                    <a:pt x="36" y="330"/>
                  </a:lnTo>
                  <a:lnTo>
                    <a:pt x="42" y="330"/>
                  </a:lnTo>
                  <a:lnTo>
                    <a:pt x="42" y="324"/>
                  </a:lnTo>
                  <a:lnTo>
                    <a:pt x="36" y="324"/>
                  </a:lnTo>
                  <a:lnTo>
                    <a:pt x="36" y="318"/>
                  </a:lnTo>
                  <a:lnTo>
                    <a:pt x="30" y="318"/>
                  </a:lnTo>
                  <a:lnTo>
                    <a:pt x="30" y="312"/>
                  </a:lnTo>
                  <a:lnTo>
                    <a:pt x="30" y="306"/>
                  </a:lnTo>
                  <a:lnTo>
                    <a:pt x="30" y="300"/>
                  </a:lnTo>
                  <a:lnTo>
                    <a:pt x="30" y="294"/>
                  </a:lnTo>
                  <a:lnTo>
                    <a:pt x="30" y="288"/>
                  </a:lnTo>
                  <a:lnTo>
                    <a:pt x="24" y="288"/>
                  </a:lnTo>
                  <a:lnTo>
                    <a:pt x="24" y="282"/>
                  </a:lnTo>
                  <a:lnTo>
                    <a:pt x="24" y="276"/>
                  </a:lnTo>
                  <a:lnTo>
                    <a:pt x="18" y="276"/>
                  </a:lnTo>
                  <a:lnTo>
                    <a:pt x="12" y="276"/>
                  </a:lnTo>
                  <a:lnTo>
                    <a:pt x="6" y="276"/>
                  </a:lnTo>
                  <a:lnTo>
                    <a:pt x="6" y="270"/>
                  </a:lnTo>
                  <a:lnTo>
                    <a:pt x="6" y="264"/>
                  </a:lnTo>
                  <a:lnTo>
                    <a:pt x="12" y="258"/>
                  </a:lnTo>
                  <a:lnTo>
                    <a:pt x="18" y="252"/>
                  </a:lnTo>
                  <a:lnTo>
                    <a:pt x="18" y="246"/>
                  </a:lnTo>
                  <a:lnTo>
                    <a:pt x="12" y="246"/>
                  </a:lnTo>
                  <a:lnTo>
                    <a:pt x="6" y="240"/>
                  </a:lnTo>
                  <a:lnTo>
                    <a:pt x="12" y="234"/>
                  </a:lnTo>
                  <a:lnTo>
                    <a:pt x="18" y="228"/>
                  </a:lnTo>
                  <a:lnTo>
                    <a:pt x="24" y="228"/>
                  </a:lnTo>
                  <a:lnTo>
                    <a:pt x="18" y="228"/>
                  </a:lnTo>
                  <a:lnTo>
                    <a:pt x="12" y="228"/>
                  </a:lnTo>
                  <a:lnTo>
                    <a:pt x="6" y="228"/>
                  </a:lnTo>
                  <a:lnTo>
                    <a:pt x="6" y="222"/>
                  </a:lnTo>
                  <a:lnTo>
                    <a:pt x="12" y="222"/>
                  </a:lnTo>
                  <a:lnTo>
                    <a:pt x="18" y="222"/>
                  </a:lnTo>
                  <a:lnTo>
                    <a:pt x="24" y="222"/>
                  </a:lnTo>
                  <a:lnTo>
                    <a:pt x="24" y="216"/>
                  </a:lnTo>
                  <a:lnTo>
                    <a:pt x="24" y="210"/>
                  </a:lnTo>
                  <a:lnTo>
                    <a:pt x="24" y="204"/>
                  </a:lnTo>
                  <a:lnTo>
                    <a:pt x="24" y="198"/>
                  </a:lnTo>
                  <a:lnTo>
                    <a:pt x="18" y="198"/>
                  </a:lnTo>
                  <a:lnTo>
                    <a:pt x="24" y="192"/>
                  </a:lnTo>
                  <a:lnTo>
                    <a:pt x="30" y="192"/>
                  </a:lnTo>
                  <a:lnTo>
                    <a:pt x="24" y="186"/>
                  </a:lnTo>
                  <a:lnTo>
                    <a:pt x="24" y="180"/>
                  </a:lnTo>
                  <a:lnTo>
                    <a:pt x="18" y="180"/>
                  </a:lnTo>
                  <a:lnTo>
                    <a:pt x="30" y="180"/>
                  </a:lnTo>
                  <a:lnTo>
                    <a:pt x="36" y="174"/>
                  </a:lnTo>
                  <a:lnTo>
                    <a:pt x="36" y="162"/>
                  </a:lnTo>
                  <a:lnTo>
                    <a:pt x="30" y="162"/>
                  </a:lnTo>
                  <a:lnTo>
                    <a:pt x="36" y="162"/>
                  </a:lnTo>
                  <a:lnTo>
                    <a:pt x="42" y="162"/>
                  </a:lnTo>
                  <a:lnTo>
                    <a:pt x="48" y="162"/>
                  </a:lnTo>
                  <a:lnTo>
                    <a:pt x="54" y="162"/>
                  </a:lnTo>
                  <a:lnTo>
                    <a:pt x="54" y="156"/>
                  </a:lnTo>
                  <a:lnTo>
                    <a:pt x="60" y="156"/>
                  </a:lnTo>
                  <a:lnTo>
                    <a:pt x="60" y="138"/>
                  </a:lnTo>
                  <a:lnTo>
                    <a:pt x="42" y="126"/>
                  </a:lnTo>
                  <a:lnTo>
                    <a:pt x="36" y="114"/>
                  </a:lnTo>
                  <a:lnTo>
                    <a:pt x="36" y="108"/>
                  </a:lnTo>
                  <a:lnTo>
                    <a:pt x="30" y="108"/>
                  </a:lnTo>
                  <a:lnTo>
                    <a:pt x="30" y="102"/>
                  </a:lnTo>
                  <a:lnTo>
                    <a:pt x="24" y="102"/>
                  </a:lnTo>
                  <a:lnTo>
                    <a:pt x="18" y="102"/>
                  </a:lnTo>
                  <a:lnTo>
                    <a:pt x="18" y="108"/>
                  </a:lnTo>
                  <a:lnTo>
                    <a:pt x="18" y="114"/>
                  </a:lnTo>
                  <a:lnTo>
                    <a:pt x="12" y="114"/>
                  </a:lnTo>
                  <a:lnTo>
                    <a:pt x="18" y="114"/>
                  </a:lnTo>
                  <a:lnTo>
                    <a:pt x="12" y="114"/>
                  </a:lnTo>
                  <a:lnTo>
                    <a:pt x="12" y="108"/>
                  </a:lnTo>
                  <a:lnTo>
                    <a:pt x="6" y="108"/>
                  </a:lnTo>
                  <a:lnTo>
                    <a:pt x="0" y="102"/>
                  </a:lnTo>
                  <a:lnTo>
                    <a:pt x="6" y="102"/>
                  </a:lnTo>
                  <a:lnTo>
                    <a:pt x="12" y="90"/>
                  </a:lnTo>
                  <a:lnTo>
                    <a:pt x="12" y="84"/>
                  </a:lnTo>
                  <a:lnTo>
                    <a:pt x="12" y="72"/>
                  </a:lnTo>
                  <a:lnTo>
                    <a:pt x="6" y="72"/>
                  </a:lnTo>
                  <a:lnTo>
                    <a:pt x="6" y="66"/>
                  </a:lnTo>
                  <a:lnTo>
                    <a:pt x="6" y="60"/>
                  </a:lnTo>
                  <a:lnTo>
                    <a:pt x="0" y="60"/>
                  </a:lnTo>
                  <a:lnTo>
                    <a:pt x="0" y="54"/>
                  </a:lnTo>
                  <a:lnTo>
                    <a:pt x="6" y="54"/>
                  </a:lnTo>
                  <a:lnTo>
                    <a:pt x="18" y="6"/>
                  </a:lnTo>
                  <a:lnTo>
                    <a:pt x="24" y="6"/>
                  </a:lnTo>
                  <a:lnTo>
                    <a:pt x="24" y="0"/>
                  </a:lnTo>
                  <a:lnTo>
                    <a:pt x="30" y="0"/>
                  </a:lnTo>
                  <a:lnTo>
                    <a:pt x="30" y="6"/>
                  </a:lnTo>
                  <a:lnTo>
                    <a:pt x="36" y="6"/>
                  </a:lnTo>
                  <a:lnTo>
                    <a:pt x="36" y="12"/>
                  </a:lnTo>
                  <a:lnTo>
                    <a:pt x="42" y="12"/>
                  </a:lnTo>
                  <a:lnTo>
                    <a:pt x="42" y="18"/>
                  </a:lnTo>
                  <a:lnTo>
                    <a:pt x="42" y="42"/>
                  </a:lnTo>
                  <a:lnTo>
                    <a:pt x="48" y="42"/>
                  </a:lnTo>
                  <a:lnTo>
                    <a:pt x="54" y="42"/>
                  </a:lnTo>
                  <a:lnTo>
                    <a:pt x="72" y="36"/>
                  </a:lnTo>
                  <a:lnTo>
                    <a:pt x="78" y="36"/>
                  </a:lnTo>
                  <a:lnTo>
                    <a:pt x="78" y="42"/>
                  </a:lnTo>
                  <a:lnTo>
                    <a:pt x="84" y="48"/>
                  </a:lnTo>
                  <a:lnTo>
                    <a:pt x="114" y="48"/>
                  </a:lnTo>
                  <a:lnTo>
                    <a:pt x="120" y="42"/>
                  </a:lnTo>
                  <a:lnTo>
                    <a:pt x="126" y="36"/>
                  </a:lnTo>
                  <a:lnTo>
                    <a:pt x="180" y="36"/>
                  </a:lnTo>
                  <a:lnTo>
                    <a:pt x="198" y="24"/>
                  </a:lnTo>
                  <a:lnTo>
                    <a:pt x="198" y="18"/>
                  </a:lnTo>
                  <a:lnTo>
                    <a:pt x="204" y="12"/>
                  </a:lnTo>
                  <a:lnTo>
                    <a:pt x="210" y="12"/>
                  </a:lnTo>
                  <a:lnTo>
                    <a:pt x="210" y="6"/>
                  </a:lnTo>
                  <a:lnTo>
                    <a:pt x="216" y="0"/>
                  </a:lnTo>
                  <a:lnTo>
                    <a:pt x="228" y="6"/>
                  </a:lnTo>
                  <a:lnTo>
                    <a:pt x="216" y="18"/>
                  </a:lnTo>
                  <a:lnTo>
                    <a:pt x="222" y="30"/>
                  </a:lnTo>
                  <a:lnTo>
                    <a:pt x="216" y="36"/>
                  </a:lnTo>
                  <a:lnTo>
                    <a:pt x="240" y="54"/>
                  </a:lnTo>
                  <a:lnTo>
                    <a:pt x="240" y="78"/>
                  </a:lnTo>
                  <a:lnTo>
                    <a:pt x="246" y="78"/>
                  </a:lnTo>
                  <a:lnTo>
                    <a:pt x="252" y="102"/>
                  </a:lnTo>
                  <a:lnTo>
                    <a:pt x="258" y="102"/>
                  </a:lnTo>
                  <a:lnTo>
                    <a:pt x="264" y="114"/>
                  </a:lnTo>
                  <a:lnTo>
                    <a:pt x="270" y="138"/>
                  </a:lnTo>
                  <a:lnTo>
                    <a:pt x="270" y="144"/>
                  </a:lnTo>
                  <a:lnTo>
                    <a:pt x="270" y="150"/>
                  </a:lnTo>
                  <a:lnTo>
                    <a:pt x="270" y="156"/>
                  </a:lnTo>
                  <a:lnTo>
                    <a:pt x="264" y="162"/>
                  </a:lnTo>
                  <a:lnTo>
                    <a:pt x="264" y="168"/>
                  </a:lnTo>
                  <a:lnTo>
                    <a:pt x="258" y="168"/>
                  </a:lnTo>
                  <a:lnTo>
                    <a:pt x="258" y="174"/>
                  </a:lnTo>
                  <a:lnTo>
                    <a:pt x="252" y="174"/>
                  </a:lnTo>
                  <a:lnTo>
                    <a:pt x="252" y="180"/>
                  </a:lnTo>
                  <a:lnTo>
                    <a:pt x="252" y="186"/>
                  </a:lnTo>
                  <a:lnTo>
                    <a:pt x="252" y="180"/>
                  </a:lnTo>
                  <a:lnTo>
                    <a:pt x="258" y="180"/>
                  </a:lnTo>
                  <a:lnTo>
                    <a:pt x="264" y="180"/>
                  </a:lnTo>
                  <a:lnTo>
                    <a:pt x="258" y="180"/>
                  </a:lnTo>
                  <a:lnTo>
                    <a:pt x="264" y="186"/>
                  </a:lnTo>
                  <a:lnTo>
                    <a:pt x="264" y="192"/>
                  </a:lnTo>
                  <a:lnTo>
                    <a:pt x="270" y="198"/>
                  </a:lnTo>
                  <a:lnTo>
                    <a:pt x="270" y="204"/>
                  </a:lnTo>
                  <a:lnTo>
                    <a:pt x="264" y="204"/>
                  </a:lnTo>
                  <a:lnTo>
                    <a:pt x="258" y="204"/>
                  </a:lnTo>
                  <a:lnTo>
                    <a:pt x="246" y="210"/>
                  </a:lnTo>
                  <a:lnTo>
                    <a:pt x="240" y="216"/>
                  </a:lnTo>
                  <a:lnTo>
                    <a:pt x="234" y="222"/>
                  </a:lnTo>
                  <a:lnTo>
                    <a:pt x="228" y="228"/>
                  </a:lnTo>
                  <a:lnTo>
                    <a:pt x="228" y="234"/>
                  </a:lnTo>
                  <a:lnTo>
                    <a:pt x="228" y="240"/>
                  </a:lnTo>
                  <a:lnTo>
                    <a:pt x="222" y="240"/>
                  </a:lnTo>
                  <a:lnTo>
                    <a:pt x="216" y="234"/>
                  </a:lnTo>
                  <a:lnTo>
                    <a:pt x="216" y="240"/>
                  </a:lnTo>
                  <a:lnTo>
                    <a:pt x="222" y="240"/>
                  </a:lnTo>
                  <a:lnTo>
                    <a:pt x="216" y="240"/>
                  </a:lnTo>
                  <a:lnTo>
                    <a:pt x="222" y="246"/>
                  </a:lnTo>
                  <a:lnTo>
                    <a:pt x="222" y="252"/>
                  </a:lnTo>
                  <a:lnTo>
                    <a:pt x="228" y="252"/>
                  </a:lnTo>
                  <a:lnTo>
                    <a:pt x="228" y="258"/>
                  </a:lnTo>
                  <a:lnTo>
                    <a:pt x="222" y="258"/>
                  </a:lnTo>
                  <a:lnTo>
                    <a:pt x="222" y="264"/>
                  </a:lnTo>
                  <a:lnTo>
                    <a:pt x="216" y="270"/>
                  </a:lnTo>
                  <a:lnTo>
                    <a:pt x="222" y="270"/>
                  </a:lnTo>
                  <a:lnTo>
                    <a:pt x="222" y="276"/>
                  </a:lnTo>
                  <a:lnTo>
                    <a:pt x="228" y="276"/>
                  </a:lnTo>
                  <a:lnTo>
                    <a:pt x="228" y="282"/>
                  </a:lnTo>
                  <a:lnTo>
                    <a:pt x="222" y="288"/>
                  </a:lnTo>
                  <a:lnTo>
                    <a:pt x="228" y="288"/>
                  </a:lnTo>
                  <a:lnTo>
                    <a:pt x="228" y="294"/>
                  </a:lnTo>
                  <a:lnTo>
                    <a:pt x="234" y="300"/>
                  </a:lnTo>
                  <a:lnTo>
                    <a:pt x="228" y="300"/>
                  </a:lnTo>
                  <a:lnTo>
                    <a:pt x="228" y="306"/>
                  </a:lnTo>
                  <a:lnTo>
                    <a:pt x="234" y="306"/>
                  </a:lnTo>
                  <a:lnTo>
                    <a:pt x="240" y="312"/>
                  </a:lnTo>
                  <a:lnTo>
                    <a:pt x="246" y="324"/>
                  </a:lnTo>
                  <a:lnTo>
                    <a:pt x="252" y="324"/>
                  </a:lnTo>
                  <a:lnTo>
                    <a:pt x="252" y="330"/>
                  </a:lnTo>
                  <a:lnTo>
                    <a:pt x="252" y="336"/>
                  </a:lnTo>
                  <a:lnTo>
                    <a:pt x="246" y="336"/>
                  </a:lnTo>
                  <a:lnTo>
                    <a:pt x="246" y="342"/>
                  </a:lnTo>
                  <a:lnTo>
                    <a:pt x="246" y="366"/>
                  </a:lnTo>
                  <a:close/>
                </a:path>
              </a:pathLst>
            </a:custGeom>
            <a:solidFill>
              <a:schemeClr val="accent1"/>
            </a:solidFill>
            <a:ln w="9525">
              <a:solidFill>
                <a:srgbClr val="B2B2B2"/>
              </a:solidFill>
              <a:round/>
              <a:headEnd/>
              <a:tailEnd/>
            </a:ln>
          </p:spPr>
          <p:txBody>
            <a:bodyPr/>
            <a:lstStyle/>
            <a:p>
              <a:endParaRPr lang="en-CA"/>
            </a:p>
          </p:txBody>
        </p:sp>
        <p:sp>
          <p:nvSpPr>
            <p:cNvPr id="439" name="Freeform 498"/>
            <p:cNvSpPr>
              <a:spLocks/>
            </p:cNvSpPr>
            <p:nvPr>
              <p:custDataLst>
                <p:tags r:id="rId62"/>
              </p:custDataLst>
            </p:nvPr>
          </p:nvSpPr>
          <p:spPr bwMode="gray">
            <a:xfrm>
              <a:off x="2043" y="3095"/>
              <a:ext cx="265" cy="176"/>
            </a:xfrm>
            <a:custGeom>
              <a:avLst/>
              <a:gdLst>
                <a:gd name="T0" fmla="*/ 269047112 w 426"/>
                <a:gd name="T1" fmla="*/ 264775094 h 282"/>
                <a:gd name="T2" fmla="*/ 251500712 w 426"/>
                <a:gd name="T3" fmla="*/ 253006608 h 282"/>
                <a:gd name="T4" fmla="*/ 228105182 w 426"/>
                <a:gd name="T5" fmla="*/ 258890851 h 282"/>
                <a:gd name="T6" fmla="*/ 210558781 w 426"/>
                <a:gd name="T7" fmla="*/ 270658347 h 282"/>
                <a:gd name="T8" fmla="*/ 181314122 w 426"/>
                <a:gd name="T9" fmla="*/ 270658347 h 282"/>
                <a:gd name="T10" fmla="*/ 163767721 w 426"/>
                <a:gd name="T11" fmla="*/ 270658347 h 282"/>
                <a:gd name="T12" fmla="*/ 152070450 w 426"/>
                <a:gd name="T13" fmla="*/ 258890851 h 282"/>
                <a:gd name="T14" fmla="*/ 146221321 w 426"/>
                <a:gd name="T15" fmla="*/ 241239112 h 282"/>
                <a:gd name="T16" fmla="*/ 122825791 w 426"/>
                <a:gd name="T17" fmla="*/ 241239112 h 282"/>
                <a:gd name="T18" fmla="*/ 105279391 w 426"/>
                <a:gd name="T19" fmla="*/ 258890851 h 282"/>
                <a:gd name="T20" fmla="*/ 76034731 w 426"/>
                <a:gd name="T21" fmla="*/ 223587373 h 282"/>
                <a:gd name="T22" fmla="*/ 40941930 w 426"/>
                <a:gd name="T23" fmla="*/ 158864660 h 282"/>
                <a:gd name="T24" fmla="*/ 5849129 w 426"/>
                <a:gd name="T25" fmla="*/ 88258695 h 282"/>
                <a:gd name="T26" fmla="*/ 11697271 w 426"/>
                <a:gd name="T27" fmla="*/ 70606956 h 282"/>
                <a:gd name="T28" fmla="*/ 17546401 w 426"/>
                <a:gd name="T29" fmla="*/ 58838470 h 282"/>
                <a:gd name="T30" fmla="*/ 35092801 w 426"/>
                <a:gd name="T31" fmla="*/ 70606956 h 282"/>
                <a:gd name="T32" fmla="*/ 40941930 w 426"/>
                <a:gd name="T33" fmla="*/ 58838470 h 282"/>
                <a:gd name="T34" fmla="*/ 64337460 w 426"/>
                <a:gd name="T35" fmla="*/ 58838470 h 282"/>
                <a:gd name="T36" fmla="*/ 93581132 w 426"/>
                <a:gd name="T37" fmla="*/ 47070974 h 282"/>
                <a:gd name="T38" fmla="*/ 99430261 w 426"/>
                <a:gd name="T39" fmla="*/ 35303478 h 282"/>
                <a:gd name="T40" fmla="*/ 116976662 w 426"/>
                <a:gd name="T41" fmla="*/ 23535982 h 282"/>
                <a:gd name="T42" fmla="*/ 128674920 w 426"/>
                <a:gd name="T43" fmla="*/ 17651739 h 282"/>
                <a:gd name="T44" fmla="*/ 146221321 w 426"/>
                <a:gd name="T45" fmla="*/ 17651739 h 282"/>
                <a:gd name="T46" fmla="*/ 163767721 w 426"/>
                <a:gd name="T47" fmla="*/ 29419235 h 282"/>
                <a:gd name="T48" fmla="*/ 169616851 w 426"/>
                <a:gd name="T49" fmla="*/ 41186730 h 282"/>
                <a:gd name="T50" fmla="*/ 181314122 w 426"/>
                <a:gd name="T51" fmla="*/ 41186730 h 282"/>
                <a:gd name="T52" fmla="*/ 175465980 w 426"/>
                <a:gd name="T53" fmla="*/ 58838470 h 282"/>
                <a:gd name="T54" fmla="*/ 181314122 w 426"/>
                <a:gd name="T55" fmla="*/ 58838470 h 282"/>
                <a:gd name="T56" fmla="*/ 187163251 w 426"/>
                <a:gd name="T57" fmla="*/ 58838470 h 282"/>
                <a:gd name="T58" fmla="*/ 193012381 w 426"/>
                <a:gd name="T59" fmla="*/ 58838470 h 282"/>
                <a:gd name="T60" fmla="*/ 210558781 w 426"/>
                <a:gd name="T61" fmla="*/ 70606956 h 282"/>
                <a:gd name="T62" fmla="*/ 233954311 w 426"/>
                <a:gd name="T63" fmla="*/ 35303478 h 282"/>
                <a:gd name="T64" fmla="*/ 251500712 w 426"/>
                <a:gd name="T65" fmla="*/ 41186730 h 282"/>
                <a:gd name="T66" fmla="*/ 269047112 w 426"/>
                <a:gd name="T67" fmla="*/ 23535982 h 282"/>
                <a:gd name="T68" fmla="*/ 286593513 w 426"/>
                <a:gd name="T69" fmla="*/ 17651739 h 282"/>
                <a:gd name="T70" fmla="*/ 304139913 w 426"/>
                <a:gd name="T71" fmla="*/ 17651739 h 282"/>
                <a:gd name="T72" fmla="*/ 327535443 w 426"/>
                <a:gd name="T73" fmla="*/ 0 h 282"/>
                <a:gd name="T74" fmla="*/ 350930973 w 426"/>
                <a:gd name="T75" fmla="*/ 17651739 h 282"/>
                <a:gd name="T76" fmla="*/ 374326503 w 426"/>
                <a:gd name="T77" fmla="*/ 47070974 h 282"/>
                <a:gd name="T78" fmla="*/ 386023774 w 426"/>
                <a:gd name="T79" fmla="*/ 64722713 h 282"/>
                <a:gd name="T80" fmla="*/ 403571162 w 426"/>
                <a:gd name="T81" fmla="*/ 76490209 h 282"/>
                <a:gd name="T82" fmla="*/ 397722032 w 426"/>
                <a:gd name="T83" fmla="*/ 88258695 h 282"/>
                <a:gd name="T84" fmla="*/ 397722032 w 426"/>
                <a:gd name="T85" fmla="*/ 94141948 h 282"/>
                <a:gd name="T86" fmla="*/ 409419304 w 426"/>
                <a:gd name="T87" fmla="*/ 105909443 h 282"/>
                <a:gd name="T88" fmla="*/ 409419304 w 426"/>
                <a:gd name="T89" fmla="*/ 123561182 h 282"/>
                <a:gd name="T90" fmla="*/ 415268433 w 426"/>
                <a:gd name="T91" fmla="*/ 135329669 h 282"/>
                <a:gd name="T92" fmla="*/ 391872903 w 426"/>
                <a:gd name="T93" fmla="*/ 147097165 h 282"/>
                <a:gd name="T94" fmla="*/ 397722032 w 426"/>
                <a:gd name="T95" fmla="*/ 158864660 h 282"/>
                <a:gd name="T96" fmla="*/ 391872903 w 426"/>
                <a:gd name="T97" fmla="*/ 176516399 h 282"/>
                <a:gd name="T98" fmla="*/ 386023774 w 426"/>
                <a:gd name="T99" fmla="*/ 182400643 h 282"/>
                <a:gd name="T100" fmla="*/ 374326503 w 426"/>
                <a:gd name="T101" fmla="*/ 182400643 h 282"/>
                <a:gd name="T102" fmla="*/ 356780102 w 426"/>
                <a:gd name="T103" fmla="*/ 182400643 h 282"/>
                <a:gd name="T104" fmla="*/ 350930973 w 426"/>
                <a:gd name="T105" fmla="*/ 194168138 h 282"/>
                <a:gd name="T106" fmla="*/ 345081843 w 426"/>
                <a:gd name="T107" fmla="*/ 200052382 h 282"/>
                <a:gd name="T108" fmla="*/ 333384572 w 426"/>
                <a:gd name="T109" fmla="*/ 211819877 h 282"/>
                <a:gd name="T110" fmla="*/ 321687301 w 426"/>
                <a:gd name="T111" fmla="*/ 217704121 h 282"/>
                <a:gd name="T112" fmla="*/ 304139913 w 426"/>
                <a:gd name="T113" fmla="*/ 229471616 h 282"/>
                <a:gd name="T114" fmla="*/ 280745371 w 426"/>
                <a:gd name="T115" fmla="*/ 235354869 h 282"/>
                <a:gd name="T116" fmla="*/ 274896241 w 426"/>
                <a:gd name="T117" fmla="*/ 247123355 h 282"/>
                <a:gd name="T118" fmla="*/ 274896241 w 426"/>
                <a:gd name="T119" fmla="*/ 253006608 h 282"/>
                <a:gd name="T120" fmla="*/ 298291771 w 426"/>
                <a:gd name="T121" fmla="*/ 258890851 h 282"/>
                <a:gd name="T122" fmla="*/ 298291771 w 426"/>
                <a:gd name="T123" fmla="*/ 276542590 h 28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26"/>
                <a:gd name="T187" fmla="*/ 0 h 282"/>
                <a:gd name="T188" fmla="*/ 426 w 426"/>
                <a:gd name="T189" fmla="*/ 282 h 28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26" h="282">
                  <a:moveTo>
                    <a:pt x="288" y="282"/>
                  </a:moveTo>
                  <a:lnTo>
                    <a:pt x="282" y="282"/>
                  </a:lnTo>
                  <a:lnTo>
                    <a:pt x="282" y="276"/>
                  </a:lnTo>
                  <a:lnTo>
                    <a:pt x="282" y="270"/>
                  </a:lnTo>
                  <a:lnTo>
                    <a:pt x="276" y="270"/>
                  </a:lnTo>
                  <a:lnTo>
                    <a:pt x="276" y="264"/>
                  </a:lnTo>
                  <a:lnTo>
                    <a:pt x="270" y="264"/>
                  </a:lnTo>
                  <a:lnTo>
                    <a:pt x="264" y="264"/>
                  </a:lnTo>
                  <a:lnTo>
                    <a:pt x="258" y="264"/>
                  </a:lnTo>
                  <a:lnTo>
                    <a:pt x="258" y="258"/>
                  </a:lnTo>
                  <a:lnTo>
                    <a:pt x="252" y="258"/>
                  </a:lnTo>
                  <a:lnTo>
                    <a:pt x="246" y="258"/>
                  </a:lnTo>
                  <a:lnTo>
                    <a:pt x="240" y="258"/>
                  </a:lnTo>
                  <a:lnTo>
                    <a:pt x="240" y="264"/>
                  </a:lnTo>
                  <a:lnTo>
                    <a:pt x="234" y="264"/>
                  </a:lnTo>
                  <a:lnTo>
                    <a:pt x="228" y="264"/>
                  </a:lnTo>
                  <a:lnTo>
                    <a:pt x="222" y="264"/>
                  </a:lnTo>
                  <a:lnTo>
                    <a:pt x="222" y="270"/>
                  </a:lnTo>
                  <a:lnTo>
                    <a:pt x="222" y="276"/>
                  </a:lnTo>
                  <a:lnTo>
                    <a:pt x="216" y="276"/>
                  </a:lnTo>
                  <a:lnTo>
                    <a:pt x="210" y="276"/>
                  </a:lnTo>
                  <a:lnTo>
                    <a:pt x="204" y="276"/>
                  </a:lnTo>
                  <a:lnTo>
                    <a:pt x="198" y="276"/>
                  </a:lnTo>
                  <a:lnTo>
                    <a:pt x="192" y="276"/>
                  </a:lnTo>
                  <a:lnTo>
                    <a:pt x="186" y="276"/>
                  </a:lnTo>
                  <a:lnTo>
                    <a:pt x="180" y="276"/>
                  </a:lnTo>
                  <a:lnTo>
                    <a:pt x="180" y="270"/>
                  </a:lnTo>
                  <a:lnTo>
                    <a:pt x="180" y="276"/>
                  </a:lnTo>
                  <a:lnTo>
                    <a:pt x="174" y="276"/>
                  </a:lnTo>
                  <a:lnTo>
                    <a:pt x="168" y="276"/>
                  </a:lnTo>
                  <a:lnTo>
                    <a:pt x="168" y="270"/>
                  </a:lnTo>
                  <a:lnTo>
                    <a:pt x="168" y="264"/>
                  </a:lnTo>
                  <a:lnTo>
                    <a:pt x="162" y="264"/>
                  </a:lnTo>
                  <a:lnTo>
                    <a:pt x="162" y="258"/>
                  </a:lnTo>
                  <a:lnTo>
                    <a:pt x="156" y="264"/>
                  </a:lnTo>
                  <a:lnTo>
                    <a:pt x="150" y="264"/>
                  </a:lnTo>
                  <a:lnTo>
                    <a:pt x="150" y="258"/>
                  </a:lnTo>
                  <a:lnTo>
                    <a:pt x="150" y="252"/>
                  </a:lnTo>
                  <a:lnTo>
                    <a:pt x="156" y="246"/>
                  </a:lnTo>
                  <a:lnTo>
                    <a:pt x="150" y="246"/>
                  </a:lnTo>
                  <a:lnTo>
                    <a:pt x="144" y="240"/>
                  </a:lnTo>
                  <a:lnTo>
                    <a:pt x="132" y="234"/>
                  </a:lnTo>
                  <a:lnTo>
                    <a:pt x="132" y="240"/>
                  </a:lnTo>
                  <a:lnTo>
                    <a:pt x="126" y="240"/>
                  </a:lnTo>
                  <a:lnTo>
                    <a:pt x="126" y="246"/>
                  </a:lnTo>
                  <a:lnTo>
                    <a:pt x="120" y="246"/>
                  </a:lnTo>
                  <a:lnTo>
                    <a:pt x="120" y="252"/>
                  </a:lnTo>
                  <a:lnTo>
                    <a:pt x="120" y="264"/>
                  </a:lnTo>
                  <a:lnTo>
                    <a:pt x="114" y="264"/>
                  </a:lnTo>
                  <a:lnTo>
                    <a:pt x="108" y="264"/>
                  </a:lnTo>
                  <a:lnTo>
                    <a:pt x="108" y="270"/>
                  </a:lnTo>
                  <a:lnTo>
                    <a:pt x="102" y="270"/>
                  </a:lnTo>
                  <a:lnTo>
                    <a:pt x="102" y="276"/>
                  </a:lnTo>
                  <a:lnTo>
                    <a:pt x="96" y="264"/>
                  </a:lnTo>
                  <a:lnTo>
                    <a:pt x="78" y="228"/>
                  </a:lnTo>
                  <a:lnTo>
                    <a:pt x="66" y="210"/>
                  </a:lnTo>
                  <a:lnTo>
                    <a:pt x="60" y="192"/>
                  </a:lnTo>
                  <a:lnTo>
                    <a:pt x="60" y="186"/>
                  </a:lnTo>
                  <a:lnTo>
                    <a:pt x="54" y="180"/>
                  </a:lnTo>
                  <a:lnTo>
                    <a:pt x="42" y="162"/>
                  </a:lnTo>
                  <a:lnTo>
                    <a:pt x="30" y="144"/>
                  </a:lnTo>
                  <a:lnTo>
                    <a:pt x="24" y="126"/>
                  </a:lnTo>
                  <a:lnTo>
                    <a:pt x="18" y="120"/>
                  </a:lnTo>
                  <a:lnTo>
                    <a:pt x="12" y="114"/>
                  </a:lnTo>
                  <a:lnTo>
                    <a:pt x="6" y="90"/>
                  </a:lnTo>
                  <a:lnTo>
                    <a:pt x="0" y="84"/>
                  </a:lnTo>
                  <a:lnTo>
                    <a:pt x="6" y="84"/>
                  </a:lnTo>
                  <a:lnTo>
                    <a:pt x="6" y="78"/>
                  </a:lnTo>
                  <a:lnTo>
                    <a:pt x="12" y="78"/>
                  </a:lnTo>
                  <a:lnTo>
                    <a:pt x="12" y="72"/>
                  </a:lnTo>
                  <a:lnTo>
                    <a:pt x="6" y="72"/>
                  </a:lnTo>
                  <a:lnTo>
                    <a:pt x="6" y="66"/>
                  </a:lnTo>
                  <a:lnTo>
                    <a:pt x="12" y="66"/>
                  </a:lnTo>
                  <a:lnTo>
                    <a:pt x="12" y="60"/>
                  </a:lnTo>
                  <a:lnTo>
                    <a:pt x="18" y="60"/>
                  </a:lnTo>
                  <a:lnTo>
                    <a:pt x="18" y="66"/>
                  </a:lnTo>
                  <a:lnTo>
                    <a:pt x="18" y="72"/>
                  </a:lnTo>
                  <a:lnTo>
                    <a:pt x="24" y="72"/>
                  </a:lnTo>
                  <a:lnTo>
                    <a:pt x="30" y="72"/>
                  </a:lnTo>
                  <a:lnTo>
                    <a:pt x="36" y="72"/>
                  </a:lnTo>
                  <a:lnTo>
                    <a:pt x="36" y="66"/>
                  </a:lnTo>
                  <a:lnTo>
                    <a:pt x="36" y="60"/>
                  </a:lnTo>
                  <a:lnTo>
                    <a:pt x="42" y="60"/>
                  </a:lnTo>
                  <a:lnTo>
                    <a:pt x="42" y="66"/>
                  </a:lnTo>
                  <a:lnTo>
                    <a:pt x="42" y="60"/>
                  </a:lnTo>
                  <a:lnTo>
                    <a:pt x="48" y="60"/>
                  </a:lnTo>
                  <a:lnTo>
                    <a:pt x="54" y="66"/>
                  </a:lnTo>
                  <a:lnTo>
                    <a:pt x="54" y="60"/>
                  </a:lnTo>
                  <a:lnTo>
                    <a:pt x="60" y="60"/>
                  </a:lnTo>
                  <a:lnTo>
                    <a:pt x="66" y="60"/>
                  </a:lnTo>
                  <a:lnTo>
                    <a:pt x="72" y="60"/>
                  </a:lnTo>
                  <a:lnTo>
                    <a:pt x="78" y="60"/>
                  </a:lnTo>
                  <a:lnTo>
                    <a:pt x="84" y="54"/>
                  </a:lnTo>
                  <a:lnTo>
                    <a:pt x="90" y="48"/>
                  </a:lnTo>
                  <a:lnTo>
                    <a:pt x="96" y="48"/>
                  </a:lnTo>
                  <a:lnTo>
                    <a:pt x="90" y="42"/>
                  </a:lnTo>
                  <a:lnTo>
                    <a:pt x="96" y="42"/>
                  </a:lnTo>
                  <a:lnTo>
                    <a:pt x="90" y="42"/>
                  </a:lnTo>
                  <a:lnTo>
                    <a:pt x="96" y="42"/>
                  </a:lnTo>
                  <a:lnTo>
                    <a:pt x="102" y="36"/>
                  </a:lnTo>
                  <a:lnTo>
                    <a:pt x="102" y="30"/>
                  </a:lnTo>
                  <a:lnTo>
                    <a:pt x="108" y="30"/>
                  </a:lnTo>
                  <a:lnTo>
                    <a:pt x="108" y="36"/>
                  </a:lnTo>
                  <a:lnTo>
                    <a:pt x="114" y="30"/>
                  </a:lnTo>
                  <a:lnTo>
                    <a:pt x="120" y="24"/>
                  </a:lnTo>
                  <a:lnTo>
                    <a:pt x="120" y="30"/>
                  </a:lnTo>
                  <a:lnTo>
                    <a:pt x="126" y="24"/>
                  </a:lnTo>
                  <a:lnTo>
                    <a:pt x="126" y="18"/>
                  </a:lnTo>
                  <a:lnTo>
                    <a:pt x="126" y="24"/>
                  </a:lnTo>
                  <a:lnTo>
                    <a:pt x="132" y="18"/>
                  </a:lnTo>
                  <a:lnTo>
                    <a:pt x="138" y="18"/>
                  </a:lnTo>
                  <a:lnTo>
                    <a:pt x="138" y="6"/>
                  </a:lnTo>
                  <a:lnTo>
                    <a:pt x="144" y="6"/>
                  </a:lnTo>
                  <a:lnTo>
                    <a:pt x="144" y="12"/>
                  </a:lnTo>
                  <a:lnTo>
                    <a:pt x="150" y="18"/>
                  </a:lnTo>
                  <a:lnTo>
                    <a:pt x="150" y="30"/>
                  </a:lnTo>
                  <a:lnTo>
                    <a:pt x="156" y="24"/>
                  </a:lnTo>
                  <a:lnTo>
                    <a:pt x="156" y="30"/>
                  </a:lnTo>
                  <a:lnTo>
                    <a:pt x="162" y="30"/>
                  </a:lnTo>
                  <a:lnTo>
                    <a:pt x="168" y="30"/>
                  </a:lnTo>
                  <a:lnTo>
                    <a:pt x="168" y="36"/>
                  </a:lnTo>
                  <a:lnTo>
                    <a:pt x="174" y="30"/>
                  </a:lnTo>
                  <a:lnTo>
                    <a:pt x="168" y="36"/>
                  </a:lnTo>
                  <a:lnTo>
                    <a:pt x="168" y="42"/>
                  </a:lnTo>
                  <a:lnTo>
                    <a:pt x="174" y="42"/>
                  </a:lnTo>
                  <a:lnTo>
                    <a:pt x="174" y="36"/>
                  </a:lnTo>
                  <a:lnTo>
                    <a:pt x="180" y="36"/>
                  </a:lnTo>
                  <a:lnTo>
                    <a:pt x="180" y="42"/>
                  </a:lnTo>
                  <a:lnTo>
                    <a:pt x="180" y="36"/>
                  </a:lnTo>
                  <a:lnTo>
                    <a:pt x="186" y="42"/>
                  </a:lnTo>
                  <a:lnTo>
                    <a:pt x="180" y="42"/>
                  </a:lnTo>
                  <a:lnTo>
                    <a:pt x="186" y="48"/>
                  </a:lnTo>
                  <a:lnTo>
                    <a:pt x="180" y="48"/>
                  </a:lnTo>
                  <a:lnTo>
                    <a:pt x="180" y="54"/>
                  </a:lnTo>
                  <a:lnTo>
                    <a:pt x="180" y="60"/>
                  </a:lnTo>
                  <a:lnTo>
                    <a:pt x="180" y="54"/>
                  </a:lnTo>
                  <a:lnTo>
                    <a:pt x="180" y="60"/>
                  </a:lnTo>
                  <a:lnTo>
                    <a:pt x="186" y="60"/>
                  </a:lnTo>
                  <a:lnTo>
                    <a:pt x="186" y="54"/>
                  </a:lnTo>
                  <a:lnTo>
                    <a:pt x="186" y="60"/>
                  </a:lnTo>
                  <a:lnTo>
                    <a:pt x="186" y="54"/>
                  </a:lnTo>
                  <a:lnTo>
                    <a:pt x="192" y="54"/>
                  </a:lnTo>
                  <a:lnTo>
                    <a:pt x="192" y="60"/>
                  </a:lnTo>
                  <a:lnTo>
                    <a:pt x="186" y="60"/>
                  </a:lnTo>
                  <a:lnTo>
                    <a:pt x="192" y="60"/>
                  </a:lnTo>
                  <a:lnTo>
                    <a:pt x="192" y="66"/>
                  </a:lnTo>
                  <a:lnTo>
                    <a:pt x="198" y="66"/>
                  </a:lnTo>
                  <a:lnTo>
                    <a:pt x="198" y="60"/>
                  </a:lnTo>
                  <a:lnTo>
                    <a:pt x="198" y="66"/>
                  </a:lnTo>
                  <a:lnTo>
                    <a:pt x="198" y="60"/>
                  </a:lnTo>
                  <a:lnTo>
                    <a:pt x="204" y="60"/>
                  </a:lnTo>
                  <a:lnTo>
                    <a:pt x="204" y="66"/>
                  </a:lnTo>
                  <a:lnTo>
                    <a:pt x="210" y="66"/>
                  </a:lnTo>
                  <a:lnTo>
                    <a:pt x="210" y="72"/>
                  </a:lnTo>
                  <a:lnTo>
                    <a:pt x="216" y="72"/>
                  </a:lnTo>
                  <a:lnTo>
                    <a:pt x="216" y="66"/>
                  </a:lnTo>
                  <a:lnTo>
                    <a:pt x="222" y="60"/>
                  </a:lnTo>
                  <a:lnTo>
                    <a:pt x="228" y="54"/>
                  </a:lnTo>
                  <a:lnTo>
                    <a:pt x="222" y="54"/>
                  </a:lnTo>
                  <a:lnTo>
                    <a:pt x="240" y="36"/>
                  </a:lnTo>
                  <a:lnTo>
                    <a:pt x="246" y="30"/>
                  </a:lnTo>
                  <a:lnTo>
                    <a:pt x="252" y="30"/>
                  </a:lnTo>
                  <a:lnTo>
                    <a:pt x="252" y="36"/>
                  </a:lnTo>
                  <a:lnTo>
                    <a:pt x="252" y="42"/>
                  </a:lnTo>
                  <a:lnTo>
                    <a:pt x="258" y="42"/>
                  </a:lnTo>
                  <a:lnTo>
                    <a:pt x="258" y="36"/>
                  </a:lnTo>
                  <a:lnTo>
                    <a:pt x="258" y="30"/>
                  </a:lnTo>
                  <a:lnTo>
                    <a:pt x="264" y="24"/>
                  </a:lnTo>
                  <a:lnTo>
                    <a:pt x="270" y="30"/>
                  </a:lnTo>
                  <a:lnTo>
                    <a:pt x="276" y="24"/>
                  </a:lnTo>
                  <a:lnTo>
                    <a:pt x="276" y="30"/>
                  </a:lnTo>
                  <a:lnTo>
                    <a:pt x="282" y="24"/>
                  </a:lnTo>
                  <a:lnTo>
                    <a:pt x="288" y="24"/>
                  </a:lnTo>
                  <a:lnTo>
                    <a:pt x="288" y="18"/>
                  </a:lnTo>
                  <a:lnTo>
                    <a:pt x="294" y="18"/>
                  </a:lnTo>
                  <a:lnTo>
                    <a:pt x="300" y="24"/>
                  </a:lnTo>
                  <a:lnTo>
                    <a:pt x="300" y="18"/>
                  </a:lnTo>
                  <a:lnTo>
                    <a:pt x="300" y="24"/>
                  </a:lnTo>
                  <a:lnTo>
                    <a:pt x="306" y="24"/>
                  </a:lnTo>
                  <a:lnTo>
                    <a:pt x="312" y="18"/>
                  </a:lnTo>
                  <a:lnTo>
                    <a:pt x="312" y="12"/>
                  </a:lnTo>
                  <a:lnTo>
                    <a:pt x="318" y="12"/>
                  </a:lnTo>
                  <a:lnTo>
                    <a:pt x="318" y="6"/>
                  </a:lnTo>
                  <a:lnTo>
                    <a:pt x="324" y="12"/>
                  </a:lnTo>
                  <a:lnTo>
                    <a:pt x="336" y="0"/>
                  </a:lnTo>
                  <a:lnTo>
                    <a:pt x="348" y="18"/>
                  </a:lnTo>
                  <a:lnTo>
                    <a:pt x="354" y="18"/>
                  </a:lnTo>
                  <a:lnTo>
                    <a:pt x="360" y="18"/>
                  </a:lnTo>
                  <a:lnTo>
                    <a:pt x="360" y="24"/>
                  </a:lnTo>
                  <a:lnTo>
                    <a:pt x="360" y="18"/>
                  </a:lnTo>
                  <a:lnTo>
                    <a:pt x="366" y="30"/>
                  </a:lnTo>
                  <a:lnTo>
                    <a:pt x="372" y="30"/>
                  </a:lnTo>
                  <a:lnTo>
                    <a:pt x="378" y="30"/>
                  </a:lnTo>
                  <a:lnTo>
                    <a:pt x="378" y="36"/>
                  </a:lnTo>
                  <a:lnTo>
                    <a:pt x="384" y="48"/>
                  </a:lnTo>
                  <a:lnTo>
                    <a:pt x="390" y="48"/>
                  </a:lnTo>
                  <a:lnTo>
                    <a:pt x="390" y="54"/>
                  </a:lnTo>
                  <a:lnTo>
                    <a:pt x="390" y="60"/>
                  </a:lnTo>
                  <a:lnTo>
                    <a:pt x="390" y="66"/>
                  </a:lnTo>
                  <a:lnTo>
                    <a:pt x="396" y="66"/>
                  </a:lnTo>
                  <a:lnTo>
                    <a:pt x="396" y="72"/>
                  </a:lnTo>
                  <a:lnTo>
                    <a:pt x="402" y="72"/>
                  </a:lnTo>
                  <a:lnTo>
                    <a:pt x="408" y="72"/>
                  </a:lnTo>
                  <a:lnTo>
                    <a:pt x="408" y="78"/>
                  </a:lnTo>
                  <a:lnTo>
                    <a:pt x="414" y="78"/>
                  </a:lnTo>
                  <a:lnTo>
                    <a:pt x="414" y="72"/>
                  </a:lnTo>
                  <a:lnTo>
                    <a:pt x="414" y="78"/>
                  </a:lnTo>
                  <a:lnTo>
                    <a:pt x="414" y="84"/>
                  </a:lnTo>
                  <a:lnTo>
                    <a:pt x="414" y="90"/>
                  </a:lnTo>
                  <a:lnTo>
                    <a:pt x="408" y="90"/>
                  </a:lnTo>
                  <a:lnTo>
                    <a:pt x="402" y="90"/>
                  </a:lnTo>
                  <a:lnTo>
                    <a:pt x="402" y="96"/>
                  </a:lnTo>
                  <a:lnTo>
                    <a:pt x="408" y="96"/>
                  </a:lnTo>
                  <a:lnTo>
                    <a:pt x="408" y="102"/>
                  </a:lnTo>
                  <a:lnTo>
                    <a:pt x="408" y="96"/>
                  </a:lnTo>
                  <a:lnTo>
                    <a:pt x="408" y="102"/>
                  </a:lnTo>
                  <a:lnTo>
                    <a:pt x="414" y="102"/>
                  </a:lnTo>
                  <a:lnTo>
                    <a:pt x="420" y="108"/>
                  </a:lnTo>
                  <a:lnTo>
                    <a:pt x="426" y="108"/>
                  </a:lnTo>
                  <a:lnTo>
                    <a:pt x="420" y="108"/>
                  </a:lnTo>
                  <a:lnTo>
                    <a:pt x="420" y="114"/>
                  </a:lnTo>
                  <a:lnTo>
                    <a:pt x="420" y="120"/>
                  </a:lnTo>
                  <a:lnTo>
                    <a:pt x="414" y="120"/>
                  </a:lnTo>
                  <a:lnTo>
                    <a:pt x="414" y="126"/>
                  </a:lnTo>
                  <a:lnTo>
                    <a:pt x="420" y="126"/>
                  </a:lnTo>
                  <a:lnTo>
                    <a:pt x="420" y="132"/>
                  </a:lnTo>
                  <a:lnTo>
                    <a:pt x="426" y="132"/>
                  </a:lnTo>
                  <a:lnTo>
                    <a:pt x="420" y="132"/>
                  </a:lnTo>
                  <a:lnTo>
                    <a:pt x="426" y="132"/>
                  </a:lnTo>
                  <a:lnTo>
                    <a:pt x="426" y="138"/>
                  </a:lnTo>
                  <a:lnTo>
                    <a:pt x="420" y="138"/>
                  </a:lnTo>
                  <a:lnTo>
                    <a:pt x="414" y="138"/>
                  </a:lnTo>
                  <a:lnTo>
                    <a:pt x="408" y="144"/>
                  </a:lnTo>
                  <a:lnTo>
                    <a:pt x="408" y="150"/>
                  </a:lnTo>
                  <a:lnTo>
                    <a:pt x="402" y="150"/>
                  </a:lnTo>
                  <a:lnTo>
                    <a:pt x="408" y="150"/>
                  </a:lnTo>
                  <a:lnTo>
                    <a:pt x="408" y="156"/>
                  </a:lnTo>
                  <a:lnTo>
                    <a:pt x="402" y="156"/>
                  </a:lnTo>
                  <a:lnTo>
                    <a:pt x="402" y="162"/>
                  </a:lnTo>
                  <a:lnTo>
                    <a:pt x="408" y="162"/>
                  </a:lnTo>
                  <a:lnTo>
                    <a:pt x="408" y="168"/>
                  </a:lnTo>
                  <a:lnTo>
                    <a:pt x="408" y="174"/>
                  </a:lnTo>
                  <a:lnTo>
                    <a:pt x="414" y="174"/>
                  </a:lnTo>
                  <a:lnTo>
                    <a:pt x="408" y="174"/>
                  </a:lnTo>
                  <a:lnTo>
                    <a:pt x="402" y="180"/>
                  </a:lnTo>
                  <a:lnTo>
                    <a:pt x="396" y="180"/>
                  </a:lnTo>
                  <a:lnTo>
                    <a:pt x="396" y="174"/>
                  </a:lnTo>
                  <a:lnTo>
                    <a:pt x="396" y="180"/>
                  </a:lnTo>
                  <a:lnTo>
                    <a:pt x="390" y="180"/>
                  </a:lnTo>
                  <a:lnTo>
                    <a:pt x="396" y="186"/>
                  </a:lnTo>
                  <a:lnTo>
                    <a:pt x="390" y="180"/>
                  </a:lnTo>
                  <a:lnTo>
                    <a:pt x="390" y="186"/>
                  </a:lnTo>
                  <a:lnTo>
                    <a:pt x="390" y="180"/>
                  </a:lnTo>
                  <a:lnTo>
                    <a:pt x="384" y="180"/>
                  </a:lnTo>
                  <a:lnTo>
                    <a:pt x="384" y="186"/>
                  </a:lnTo>
                  <a:lnTo>
                    <a:pt x="384" y="180"/>
                  </a:lnTo>
                  <a:lnTo>
                    <a:pt x="378" y="180"/>
                  </a:lnTo>
                  <a:lnTo>
                    <a:pt x="372" y="180"/>
                  </a:lnTo>
                  <a:lnTo>
                    <a:pt x="366" y="180"/>
                  </a:lnTo>
                  <a:lnTo>
                    <a:pt x="366" y="186"/>
                  </a:lnTo>
                  <a:lnTo>
                    <a:pt x="372" y="186"/>
                  </a:lnTo>
                  <a:lnTo>
                    <a:pt x="366" y="186"/>
                  </a:lnTo>
                  <a:lnTo>
                    <a:pt x="366" y="192"/>
                  </a:lnTo>
                  <a:lnTo>
                    <a:pt x="366" y="198"/>
                  </a:lnTo>
                  <a:lnTo>
                    <a:pt x="360" y="198"/>
                  </a:lnTo>
                  <a:lnTo>
                    <a:pt x="366" y="198"/>
                  </a:lnTo>
                  <a:lnTo>
                    <a:pt x="360" y="198"/>
                  </a:lnTo>
                  <a:lnTo>
                    <a:pt x="360" y="204"/>
                  </a:lnTo>
                  <a:lnTo>
                    <a:pt x="360" y="210"/>
                  </a:lnTo>
                  <a:lnTo>
                    <a:pt x="354" y="204"/>
                  </a:lnTo>
                  <a:lnTo>
                    <a:pt x="354" y="210"/>
                  </a:lnTo>
                  <a:lnTo>
                    <a:pt x="348" y="210"/>
                  </a:lnTo>
                  <a:lnTo>
                    <a:pt x="348" y="216"/>
                  </a:lnTo>
                  <a:lnTo>
                    <a:pt x="348" y="222"/>
                  </a:lnTo>
                  <a:lnTo>
                    <a:pt x="342" y="216"/>
                  </a:lnTo>
                  <a:lnTo>
                    <a:pt x="342" y="222"/>
                  </a:lnTo>
                  <a:lnTo>
                    <a:pt x="342" y="216"/>
                  </a:lnTo>
                  <a:lnTo>
                    <a:pt x="342" y="222"/>
                  </a:lnTo>
                  <a:lnTo>
                    <a:pt x="336" y="222"/>
                  </a:lnTo>
                  <a:lnTo>
                    <a:pt x="330" y="222"/>
                  </a:lnTo>
                  <a:lnTo>
                    <a:pt x="324" y="222"/>
                  </a:lnTo>
                  <a:lnTo>
                    <a:pt x="324" y="228"/>
                  </a:lnTo>
                  <a:lnTo>
                    <a:pt x="318" y="228"/>
                  </a:lnTo>
                  <a:lnTo>
                    <a:pt x="312" y="228"/>
                  </a:lnTo>
                  <a:lnTo>
                    <a:pt x="312" y="234"/>
                  </a:lnTo>
                  <a:lnTo>
                    <a:pt x="306" y="234"/>
                  </a:lnTo>
                  <a:lnTo>
                    <a:pt x="306" y="240"/>
                  </a:lnTo>
                  <a:lnTo>
                    <a:pt x="300" y="240"/>
                  </a:lnTo>
                  <a:lnTo>
                    <a:pt x="294" y="240"/>
                  </a:lnTo>
                  <a:lnTo>
                    <a:pt x="288" y="240"/>
                  </a:lnTo>
                  <a:lnTo>
                    <a:pt x="294" y="246"/>
                  </a:lnTo>
                  <a:lnTo>
                    <a:pt x="288" y="246"/>
                  </a:lnTo>
                  <a:lnTo>
                    <a:pt x="288" y="252"/>
                  </a:lnTo>
                  <a:lnTo>
                    <a:pt x="282" y="246"/>
                  </a:lnTo>
                  <a:lnTo>
                    <a:pt x="282" y="252"/>
                  </a:lnTo>
                  <a:lnTo>
                    <a:pt x="276" y="252"/>
                  </a:lnTo>
                  <a:lnTo>
                    <a:pt x="282" y="252"/>
                  </a:lnTo>
                  <a:lnTo>
                    <a:pt x="276" y="252"/>
                  </a:lnTo>
                  <a:lnTo>
                    <a:pt x="282" y="252"/>
                  </a:lnTo>
                  <a:lnTo>
                    <a:pt x="282" y="258"/>
                  </a:lnTo>
                  <a:lnTo>
                    <a:pt x="288" y="258"/>
                  </a:lnTo>
                  <a:lnTo>
                    <a:pt x="294" y="258"/>
                  </a:lnTo>
                  <a:lnTo>
                    <a:pt x="300" y="258"/>
                  </a:lnTo>
                  <a:lnTo>
                    <a:pt x="300" y="264"/>
                  </a:lnTo>
                  <a:lnTo>
                    <a:pt x="306" y="264"/>
                  </a:lnTo>
                  <a:lnTo>
                    <a:pt x="300" y="270"/>
                  </a:lnTo>
                  <a:lnTo>
                    <a:pt x="306" y="270"/>
                  </a:lnTo>
                  <a:lnTo>
                    <a:pt x="312" y="270"/>
                  </a:lnTo>
                  <a:lnTo>
                    <a:pt x="306" y="276"/>
                  </a:lnTo>
                  <a:lnTo>
                    <a:pt x="306" y="282"/>
                  </a:lnTo>
                  <a:lnTo>
                    <a:pt x="300" y="282"/>
                  </a:lnTo>
                  <a:lnTo>
                    <a:pt x="294" y="282"/>
                  </a:lnTo>
                  <a:lnTo>
                    <a:pt x="288" y="282"/>
                  </a:lnTo>
                  <a:close/>
                </a:path>
              </a:pathLst>
            </a:custGeom>
            <a:solidFill>
              <a:schemeClr val="accent1"/>
            </a:solidFill>
            <a:ln w="9525">
              <a:solidFill>
                <a:srgbClr val="B2B2B2"/>
              </a:solidFill>
              <a:round/>
              <a:headEnd/>
              <a:tailEnd/>
            </a:ln>
          </p:spPr>
          <p:txBody>
            <a:bodyPr/>
            <a:lstStyle/>
            <a:p>
              <a:endParaRPr lang="en-CA"/>
            </a:p>
          </p:txBody>
        </p:sp>
        <p:sp>
          <p:nvSpPr>
            <p:cNvPr id="440" name="Freeform 499"/>
            <p:cNvSpPr>
              <a:spLocks/>
            </p:cNvSpPr>
            <p:nvPr>
              <p:custDataLst>
                <p:tags r:id="rId63"/>
              </p:custDataLst>
            </p:nvPr>
          </p:nvSpPr>
          <p:spPr bwMode="gray">
            <a:xfrm>
              <a:off x="1964" y="2954"/>
              <a:ext cx="288" cy="193"/>
            </a:xfrm>
            <a:custGeom>
              <a:avLst/>
              <a:gdLst>
                <a:gd name="T0" fmla="*/ 428221239 w 462"/>
                <a:gd name="T1" fmla="*/ 232380568 h 312"/>
                <a:gd name="T2" fmla="*/ 416489408 w 462"/>
                <a:gd name="T3" fmla="*/ 243999744 h 312"/>
                <a:gd name="T4" fmla="*/ 393025745 w 462"/>
                <a:gd name="T5" fmla="*/ 249809331 h 312"/>
                <a:gd name="T6" fmla="*/ 375427504 w 462"/>
                <a:gd name="T7" fmla="*/ 255618919 h 312"/>
                <a:gd name="T8" fmla="*/ 363694683 w 462"/>
                <a:gd name="T9" fmla="*/ 249809331 h 312"/>
                <a:gd name="T10" fmla="*/ 334364610 w 462"/>
                <a:gd name="T11" fmla="*/ 284665876 h 312"/>
                <a:gd name="T12" fmla="*/ 322632779 w 462"/>
                <a:gd name="T13" fmla="*/ 278856289 h 312"/>
                <a:gd name="T14" fmla="*/ 310900948 w 462"/>
                <a:gd name="T15" fmla="*/ 284665876 h 312"/>
                <a:gd name="T16" fmla="*/ 305034538 w 462"/>
                <a:gd name="T17" fmla="*/ 273046701 h 312"/>
                <a:gd name="T18" fmla="*/ 299168127 w 462"/>
                <a:gd name="T19" fmla="*/ 273046701 h 312"/>
                <a:gd name="T20" fmla="*/ 299168127 w 462"/>
                <a:gd name="T21" fmla="*/ 261428507 h 312"/>
                <a:gd name="T22" fmla="*/ 293302706 w 462"/>
                <a:gd name="T23" fmla="*/ 255618919 h 312"/>
                <a:gd name="T24" fmla="*/ 287436296 w 462"/>
                <a:gd name="T25" fmla="*/ 255618919 h 312"/>
                <a:gd name="T26" fmla="*/ 269838055 w 462"/>
                <a:gd name="T27" fmla="*/ 249809331 h 312"/>
                <a:gd name="T28" fmla="*/ 258106223 w 462"/>
                <a:gd name="T29" fmla="*/ 238190156 h 312"/>
                <a:gd name="T30" fmla="*/ 240507982 w 462"/>
                <a:gd name="T31" fmla="*/ 249809331 h 312"/>
                <a:gd name="T32" fmla="*/ 222909740 w 462"/>
                <a:gd name="T33" fmla="*/ 249809331 h 312"/>
                <a:gd name="T34" fmla="*/ 211177909 w 462"/>
                <a:gd name="T35" fmla="*/ 261428507 h 312"/>
                <a:gd name="T36" fmla="*/ 193579668 w 462"/>
                <a:gd name="T37" fmla="*/ 278856289 h 312"/>
                <a:gd name="T38" fmla="*/ 170115016 w 462"/>
                <a:gd name="T39" fmla="*/ 278856289 h 312"/>
                <a:gd name="T40" fmla="*/ 158383184 w 462"/>
                <a:gd name="T41" fmla="*/ 284665876 h 312"/>
                <a:gd name="T42" fmla="*/ 140784943 w 462"/>
                <a:gd name="T43" fmla="*/ 284665876 h 312"/>
                <a:gd name="T44" fmla="*/ 129053112 w 462"/>
                <a:gd name="T45" fmla="*/ 290475464 h 312"/>
                <a:gd name="T46" fmla="*/ 123186701 w 462"/>
                <a:gd name="T47" fmla="*/ 302094640 h 312"/>
                <a:gd name="T48" fmla="*/ 64526556 w 462"/>
                <a:gd name="T49" fmla="*/ 249809331 h 312"/>
                <a:gd name="T50" fmla="*/ 76258387 w 462"/>
                <a:gd name="T51" fmla="*/ 238190156 h 312"/>
                <a:gd name="T52" fmla="*/ 82124797 w 462"/>
                <a:gd name="T53" fmla="*/ 220761392 h 312"/>
                <a:gd name="T54" fmla="*/ 52794725 w 462"/>
                <a:gd name="T55" fmla="*/ 226570980 h 312"/>
                <a:gd name="T56" fmla="*/ 29330073 w 462"/>
                <a:gd name="T57" fmla="*/ 220761392 h 312"/>
                <a:gd name="T58" fmla="*/ 29330073 w 462"/>
                <a:gd name="T59" fmla="*/ 203332629 h 312"/>
                <a:gd name="T60" fmla="*/ 17598242 w 462"/>
                <a:gd name="T61" fmla="*/ 180095259 h 312"/>
                <a:gd name="T62" fmla="*/ 11731831 w 462"/>
                <a:gd name="T63" fmla="*/ 156856908 h 312"/>
                <a:gd name="T64" fmla="*/ 5866410 w 462"/>
                <a:gd name="T65" fmla="*/ 139428144 h 312"/>
                <a:gd name="T66" fmla="*/ 0 w 462"/>
                <a:gd name="T67" fmla="*/ 121999381 h 312"/>
                <a:gd name="T68" fmla="*/ 11731831 w 462"/>
                <a:gd name="T69" fmla="*/ 121999381 h 312"/>
                <a:gd name="T70" fmla="*/ 29330073 w 462"/>
                <a:gd name="T71" fmla="*/ 92952424 h 312"/>
                <a:gd name="T72" fmla="*/ 46928314 w 462"/>
                <a:gd name="T73" fmla="*/ 75523660 h 312"/>
                <a:gd name="T74" fmla="*/ 35196483 w 462"/>
                <a:gd name="T75" fmla="*/ 63904484 h 312"/>
                <a:gd name="T76" fmla="*/ 41061904 w 462"/>
                <a:gd name="T77" fmla="*/ 52285309 h 312"/>
                <a:gd name="T78" fmla="*/ 52794725 w 462"/>
                <a:gd name="T79" fmla="*/ 29047939 h 312"/>
                <a:gd name="T80" fmla="*/ 152517764 w 462"/>
                <a:gd name="T81" fmla="*/ 5809588 h 312"/>
                <a:gd name="T82" fmla="*/ 246374392 w 462"/>
                <a:gd name="T83" fmla="*/ 63904484 h 312"/>
                <a:gd name="T84" fmla="*/ 316766369 w 462"/>
                <a:gd name="T85" fmla="*/ 69714072 h 312"/>
                <a:gd name="T86" fmla="*/ 346097431 w 462"/>
                <a:gd name="T87" fmla="*/ 63904484 h 312"/>
                <a:gd name="T88" fmla="*/ 363694683 w 462"/>
                <a:gd name="T89" fmla="*/ 52285309 h 312"/>
                <a:gd name="T90" fmla="*/ 357829262 w 462"/>
                <a:gd name="T91" fmla="*/ 81333248 h 312"/>
                <a:gd name="T92" fmla="*/ 363694683 w 462"/>
                <a:gd name="T93" fmla="*/ 92952424 h 312"/>
                <a:gd name="T94" fmla="*/ 369561094 w 462"/>
                <a:gd name="T95" fmla="*/ 104571599 h 312"/>
                <a:gd name="T96" fmla="*/ 369561094 w 462"/>
                <a:gd name="T97" fmla="*/ 121999381 h 312"/>
                <a:gd name="T98" fmla="*/ 387159335 w 462"/>
                <a:gd name="T99" fmla="*/ 121999381 h 312"/>
                <a:gd name="T100" fmla="*/ 393025745 w 462"/>
                <a:gd name="T101" fmla="*/ 104571599 h 312"/>
                <a:gd name="T102" fmla="*/ 422355818 w 462"/>
                <a:gd name="T103" fmla="*/ 98762011 h 312"/>
                <a:gd name="T104" fmla="*/ 422355818 w 462"/>
                <a:gd name="T105" fmla="*/ 116189793 h 312"/>
                <a:gd name="T106" fmla="*/ 434087649 w 462"/>
                <a:gd name="T107" fmla="*/ 127808969 h 312"/>
                <a:gd name="T108" fmla="*/ 434087649 w 462"/>
                <a:gd name="T109" fmla="*/ 151047320 h 312"/>
                <a:gd name="T110" fmla="*/ 439954060 w 462"/>
                <a:gd name="T111" fmla="*/ 168476084 h 312"/>
                <a:gd name="T112" fmla="*/ 445819481 w 462"/>
                <a:gd name="T113" fmla="*/ 191713453 h 312"/>
                <a:gd name="T114" fmla="*/ 439954060 w 462"/>
                <a:gd name="T115" fmla="*/ 209142216 h 31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62"/>
                <a:gd name="T175" fmla="*/ 0 h 312"/>
                <a:gd name="T176" fmla="*/ 462 w 462"/>
                <a:gd name="T177" fmla="*/ 312 h 31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62" h="312">
                  <a:moveTo>
                    <a:pt x="462" y="228"/>
                  </a:moveTo>
                  <a:lnTo>
                    <a:pt x="450" y="240"/>
                  </a:lnTo>
                  <a:lnTo>
                    <a:pt x="444" y="234"/>
                  </a:lnTo>
                  <a:lnTo>
                    <a:pt x="444" y="240"/>
                  </a:lnTo>
                  <a:lnTo>
                    <a:pt x="438" y="240"/>
                  </a:lnTo>
                  <a:lnTo>
                    <a:pt x="438" y="246"/>
                  </a:lnTo>
                  <a:lnTo>
                    <a:pt x="432" y="252"/>
                  </a:lnTo>
                  <a:lnTo>
                    <a:pt x="426" y="252"/>
                  </a:lnTo>
                  <a:lnTo>
                    <a:pt x="426" y="246"/>
                  </a:lnTo>
                  <a:lnTo>
                    <a:pt x="426" y="252"/>
                  </a:lnTo>
                  <a:lnTo>
                    <a:pt x="420" y="246"/>
                  </a:lnTo>
                  <a:lnTo>
                    <a:pt x="414" y="246"/>
                  </a:lnTo>
                  <a:lnTo>
                    <a:pt x="414" y="252"/>
                  </a:lnTo>
                  <a:lnTo>
                    <a:pt x="408" y="252"/>
                  </a:lnTo>
                  <a:lnTo>
                    <a:pt x="402" y="258"/>
                  </a:lnTo>
                  <a:lnTo>
                    <a:pt x="402" y="252"/>
                  </a:lnTo>
                  <a:lnTo>
                    <a:pt x="396" y="258"/>
                  </a:lnTo>
                  <a:lnTo>
                    <a:pt x="390" y="252"/>
                  </a:lnTo>
                  <a:lnTo>
                    <a:pt x="384" y="258"/>
                  </a:lnTo>
                  <a:lnTo>
                    <a:pt x="384" y="264"/>
                  </a:lnTo>
                  <a:lnTo>
                    <a:pt x="384" y="270"/>
                  </a:lnTo>
                  <a:lnTo>
                    <a:pt x="378" y="270"/>
                  </a:lnTo>
                  <a:lnTo>
                    <a:pt x="378" y="264"/>
                  </a:lnTo>
                  <a:lnTo>
                    <a:pt x="378" y="258"/>
                  </a:lnTo>
                  <a:lnTo>
                    <a:pt x="372" y="258"/>
                  </a:lnTo>
                  <a:lnTo>
                    <a:pt x="366" y="264"/>
                  </a:lnTo>
                  <a:lnTo>
                    <a:pt x="348" y="282"/>
                  </a:lnTo>
                  <a:lnTo>
                    <a:pt x="354" y="282"/>
                  </a:lnTo>
                  <a:lnTo>
                    <a:pt x="348" y="288"/>
                  </a:lnTo>
                  <a:lnTo>
                    <a:pt x="342" y="294"/>
                  </a:lnTo>
                  <a:lnTo>
                    <a:pt x="342" y="300"/>
                  </a:lnTo>
                  <a:lnTo>
                    <a:pt x="336" y="300"/>
                  </a:lnTo>
                  <a:lnTo>
                    <a:pt x="336" y="294"/>
                  </a:lnTo>
                  <a:lnTo>
                    <a:pt x="330" y="294"/>
                  </a:lnTo>
                  <a:lnTo>
                    <a:pt x="330" y="288"/>
                  </a:lnTo>
                  <a:lnTo>
                    <a:pt x="324" y="288"/>
                  </a:lnTo>
                  <a:lnTo>
                    <a:pt x="324" y="294"/>
                  </a:lnTo>
                  <a:lnTo>
                    <a:pt x="324" y="288"/>
                  </a:lnTo>
                  <a:lnTo>
                    <a:pt x="324" y="294"/>
                  </a:lnTo>
                  <a:lnTo>
                    <a:pt x="318" y="294"/>
                  </a:lnTo>
                  <a:lnTo>
                    <a:pt x="318" y="288"/>
                  </a:lnTo>
                  <a:lnTo>
                    <a:pt x="312" y="288"/>
                  </a:lnTo>
                  <a:lnTo>
                    <a:pt x="318" y="288"/>
                  </a:lnTo>
                  <a:lnTo>
                    <a:pt x="318" y="282"/>
                  </a:lnTo>
                  <a:lnTo>
                    <a:pt x="312" y="282"/>
                  </a:lnTo>
                  <a:lnTo>
                    <a:pt x="312" y="288"/>
                  </a:lnTo>
                  <a:lnTo>
                    <a:pt x="312" y="282"/>
                  </a:lnTo>
                  <a:lnTo>
                    <a:pt x="312" y="288"/>
                  </a:lnTo>
                  <a:lnTo>
                    <a:pt x="306" y="288"/>
                  </a:lnTo>
                  <a:lnTo>
                    <a:pt x="306" y="282"/>
                  </a:lnTo>
                  <a:lnTo>
                    <a:pt x="306" y="288"/>
                  </a:lnTo>
                  <a:lnTo>
                    <a:pt x="306" y="282"/>
                  </a:lnTo>
                  <a:lnTo>
                    <a:pt x="306" y="276"/>
                  </a:lnTo>
                  <a:lnTo>
                    <a:pt x="312" y="276"/>
                  </a:lnTo>
                  <a:lnTo>
                    <a:pt x="306" y="270"/>
                  </a:lnTo>
                  <a:lnTo>
                    <a:pt x="312" y="270"/>
                  </a:lnTo>
                  <a:lnTo>
                    <a:pt x="306" y="264"/>
                  </a:lnTo>
                  <a:lnTo>
                    <a:pt x="306" y="270"/>
                  </a:lnTo>
                  <a:lnTo>
                    <a:pt x="306" y="264"/>
                  </a:lnTo>
                  <a:lnTo>
                    <a:pt x="300" y="264"/>
                  </a:lnTo>
                  <a:lnTo>
                    <a:pt x="300" y="270"/>
                  </a:lnTo>
                  <a:lnTo>
                    <a:pt x="294" y="270"/>
                  </a:lnTo>
                  <a:lnTo>
                    <a:pt x="294" y="264"/>
                  </a:lnTo>
                  <a:lnTo>
                    <a:pt x="300" y="258"/>
                  </a:lnTo>
                  <a:lnTo>
                    <a:pt x="294" y="264"/>
                  </a:lnTo>
                  <a:lnTo>
                    <a:pt x="294" y="258"/>
                  </a:lnTo>
                  <a:lnTo>
                    <a:pt x="288" y="258"/>
                  </a:lnTo>
                  <a:lnTo>
                    <a:pt x="282" y="258"/>
                  </a:lnTo>
                  <a:lnTo>
                    <a:pt x="282" y="252"/>
                  </a:lnTo>
                  <a:lnTo>
                    <a:pt x="276" y="258"/>
                  </a:lnTo>
                  <a:lnTo>
                    <a:pt x="276" y="246"/>
                  </a:lnTo>
                  <a:lnTo>
                    <a:pt x="270" y="240"/>
                  </a:lnTo>
                  <a:lnTo>
                    <a:pt x="270" y="234"/>
                  </a:lnTo>
                  <a:lnTo>
                    <a:pt x="264" y="234"/>
                  </a:lnTo>
                  <a:lnTo>
                    <a:pt x="264" y="246"/>
                  </a:lnTo>
                  <a:lnTo>
                    <a:pt x="258" y="246"/>
                  </a:lnTo>
                  <a:lnTo>
                    <a:pt x="252" y="252"/>
                  </a:lnTo>
                  <a:lnTo>
                    <a:pt x="252" y="246"/>
                  </a:lnTo>
                  <a:lnTo>
                    <a:pt x="252" y="252"/>
                  </a:lnTo>
                  <a:lnTo>
                    <a:pt x="246" y="258"/>
                  </a:lnTo>
                  <a:lnTo>
                    <a:pt x="246" y="252"/>
                  </a:lnTo>
                  <a:lnTo>
                    <a:pt x="240" y="258"/>
                  </a:lnTo>
                  <a:lnTo>
                    <a:pt x="234" y="264"/>
                  </a:lnTo>
                  <a:lnTo>
                    <a:pt x="234" y="258"/>
                  </a:lnTo>
                  <a:lnTo>
                    <a:pt x="228" y="258"/>
                  </a:lnTo>
                  <a:lnTo>
                    <a:pt x="228" y="264"/>
                  </a:lnTo>
                  <a:lnTo>
                    <a:pt x="222" y="270"/>
                  </a:lnTo>
                  <a:lnTo>
                    <a:pt x="216" y="270"/>
                  </a:lnTo>
                  <a:lnTo>
                    <a:pt x="222" y="270"/>
                  </a:lnTo>
                  <a:lnTo>
                    <a:pt x="216" y="270"/>
                  </a:lnTo>
                  <a:lnTo>
                    <a:pt x="222" y="276"/>
                  </a:lnTo>
                  <a:lnTo>
                    <a:pt x="216" y="276"/>
                  </a:lnTo>
                  <a:lnTo>
                    <a:pt x="210" y="282"/>
                  </a:lnTo>
                  <a:lnTo>
                    <a:pt x="204" y="288"/>
                  </a:lnTo>
                  <a:lnTo>
                    <a:pt x="198" y="288"/>
                  </a:lnTo>
                  <a:lnTo>
                    <a:pt x="192" y="288"/>
                  </a:lnTo>
                  <a:lnTo>
                    <a:pt x="186" y="288"/>
                  </a:lnTo>
                  <a:lnTo>
                    <a:pt x="180" y="288"/>
                  </a:lnTo>
                  <a:lnTo>
                    <a:pt x="180" y="294"/>
                  </a:lnTo>
                  <a:lnTo>
                    <a:pt x="174" y="288"/>
                  </a:lnTo>
                  <a:lnTo>
                    <a:pt x="168" y="288"/>
                  </a:lnTo>
                  <a:lnTo>
                    <a:pt x="168" y="294"/>
                  </a:lnTo>
                  <a:lnTo>
                    <a:pt x="168" y="288"/>
                  </a:lnTo>
                  <a:lnTo>
                    <a:pt x="162" y="288"/>
                  </a:lnTo>
                  <a:lnTo>
                    <a:pt x="162" y="294"/>
                  </a:lnTo>
                  <a:lnTo>
                    <a:pt x="162" y="300"/>
                  </a:lnTo>
                  <a:lnTo>
                    <a:pt x="156" y="300"/>
                  </a:lnTo>
                  <a:lnTo>
                    <a:pt x="150" y="300"/>
                  </a:lnTo>
                  <a:lnTo>
                    <a:pt x="144" y="300"/>
                  </a:lnTo>
                  <a:lnTo>
                    <a:pt x="144" y="294"/>
                  </a:lnTo>
                  <a:lnTo>
                    <a:pt x="144" y="288"/>
                  </a:lnTo>
                  <a:lnTo>
                    <a:pt x="138" y="288"/>
                  </a:lnTo>
                  <a:lnTo>
                    <a:pt x="138" y="294"/>
                  </a:lnTo>
                  <a:lnTo>
                    <a:pt x="132" y="294"/>
                  </a:lnTo>
                  <a:lnTo>
                    <a:pt x="132" y="300"/>
                  </a:lnTo>
                  <a:lnTo>
                    <a:pt x="138" y="300"/>
                  </a:lnTo>
                  <a:lnTo>
                    <a:pt x="138" y="306"/>
                  </a:lnTo>
                  <a:lnTo>
                    <a:pt x="132" y="306"/>
                  </a:lnTo>
                  <a:lnTo>
                    <a:pt x="132" y="312"/>
                  </a:lnTo>
                  <a:lnTo>
                    <a:pt x="126" y="312"/>
                  </a:lnTo>
                  <a:lnTo>
                    <a:pt x="108" y="294"/>
                  </a:lnTo>
                  <a:lnTo>
                    <a:pt x="96" y="288"/>
                  </a:lnTo>
                  <a:lnTo>
                    <a:pt x="90" y="282"/>
                  </a:lnTo>
                  <a:lnTo>
                    <a:pt x="66" y="264"/>
                  </a:lnTo>
                  <a:lnTo>
                    <a:pt x="66" y="258"/>
                  </a:lnTo>
                  <a:lnTo>
                    <a:pt x="60" y="252"/>
                  </a:lnTo>
                  <a:lnTo>
                    <a:pt x="60" y="246"/>
                  </a:lnTo>
                  <a:lnTo>
                    <a:pt x="66" y="252"/>
                  </a:lnTo>
                  <a:lnTo>
                    <a:pt x="72" y="252"/>
                  </a:lnTo>
                  <a:lnTo>
                    <a:pt x="78" y="246"/>
                  </a:lnTo>
                  <a:lnTo>
                    <a:pt x="78" y="240"/>
                  </a:lnTo>
                  <a:lnTo>
                    <a:pt x="84" y="240"/>
                  </a:lnTo>
                  <a:lnTo>
                    <a:pt x="84" y="234"/>
                  </a:lnTo>
                  <a:lnTo>
                    <a:pt x="78" y="234"/>
                  </a:lnTo>
                  <a:lnTo>
                    <a:pt x="84" y="228"/>
                  </a:lnTo>
                  <a:lnTo>
                    <a:pt x="78" y="228"/>
                  </a:lnTo>
                  <a:lnTo>
                    <a:pt x="72" y="234"/>
                  </a:lnTo>
                  <a:lnTo>
                    <a:pt x="66" y="234"/>
                  </a:lnTo>
                  <a:lnTo>
                    <a:pt x="60" y="234"/>
                  </a:lnTo>
                  <a:lnTo>
                    <a:pt x="54" y="234"/>
                  </a:lnTo>
                  <a:lnTo>
                    <a:pt x="54" y="240"/>
                  </a:lnTo>
                  <a:lnTo>
                    <a:pt x="48" y="240"/>
                  </a:lnTo>
                  <a:lnTo>
                    <a:pt x="54" y="240"/>
                  </a:lnTo>
                  <a:lnTo>
                    <a:pt x="30" y="252"/>
                  </a:lnTo>
                  <a:lnTo>
                    <a:pt x="30" y="228"/>
                  </a:lnTo>
                  <a:lnTo>
                    <a:pt x="30" y="222"/>
                  </a:lnTo>
                  <a:lnTo>
                    <a:pt x="36" y="222"/>
                  </a:lnTo>
                  <a:lnTo>
                    <a:pt x="36" y="216"/>
                  </a:lnTo>
                  <a:lnTo>
                    <a:pt x="36" y="210"/>
                  </a:lnTo>
                  <a:lnTo>
                    <a:pt x="30" y="210"/>
                  </a:lnTo>
                  <a:lnTo>
                    <a:pt x="24" y="198"/>
                  </a:lnTo>
                  <a:lnTo>
                    <a:pt x="18" y="192"/>
                  </a:lnTo>
                  <a:lnTo>
                    <a:pt x="12" y="192"/>
                  </a:lnTo>
                  <a:lnTo>
                    <a:pt x="12" y="186"/>
                  </a:lnTo>
                  <a:lnTo>
                    <a:pt x="18" y="186"/>
                  </a:lnTo>
                  <a:lnTo>
                    <a:pt x="12" y="180"/>
                  </a:lnTo>
                  <a:lnTo>
                    <a:pt x="12" y="174"/>
                  </a:lnTo>
                  <a:lnTo>
                    <a:pt x="6" y="174"/>
                  </a:lnTo>
                  <a:lnTo>
                    <a:pt x="12" y="168"/>
                  </a:lnTo>
                  <a:lnTo>
                    <a:pt x="12" y="162"/>
                  </a:lnTo>
                  <a:lnTo>
                    <a:pt x="6" y="162"/>
                  </a:lnTo>
                  <a:lnTo>
                    <a:pt x="6" y="156"/>
                  </a:lnTo>
                  <a:lnTo>
                    <a:pt x="0" y="156"/>
                  </a:lnTo>
                  <a:lnTo>
                    <a:pt x="6" y="150"/>
                  </a:lnTo>
                  <a:lnTo>
                    <a:pt x="6" y="144"/>
                  </a:lnTo>
                  <a:lnTo>
                    <a:pt x="12" y="144"/>
                  </a:lnTo>
                  <a:lnTo>
                    <a:pt x="12" y="138"/>
                  </a:lnTo>
                  <a:lnTo>
                    <a:pt x="6" y="138"/>
                  </a:lnTo>
                  <a:lnTo>
                    <a:pt x="6" y="132"/>
                  </a:lnTo>
                  <a:lnTo>
                    <a:pt x="0" y="126"/>
                  </a:lnTo>
                  <a:lnTo>
                    <a:pt x="6" y="126"/>
                  </a:lnTo>
                  <a:lnTo>
                    <a:pt x="0" y="126"/>
                  </a:lnTo>
                  <a:lnTo>
                    <a:pt x="0" y="120"/>
                  </a:lnTo>
                  <a:lnTo>
                    <a:pt x="6" y="126"/>
                  </a:lnTo>
                  <a:lnTo>
                    <a:pt x="12" y="126"/>
                  </a:lnTo>
                  <a:lnTo>
                    <a:pt x="12" y="120"/>
                  </a:lnTo>
                  <a:lnTo>
                    <a:pt x="12" y="114"/>
                  </a:lnTo>
                  <a:lnTo>
                    <a:pt x="18" y="108"/>
                  </a:lnTo>
                  <a:lnTo>
                    <a:pt x="24" y="102"/>
                  </a:lnTo>
                  <a:lnTo>
                    <a:pt x="30" y="96"/>
                  </a:lnTo>
                  <a:lnTo>
                    <a:pt x="42" y="90"/>
                  </a:lnTo>
                  <a:lnTo>
                    <a:pt x="48" y="90"/>
                  </a:lnTo>
                  <a:lnTo>
                    <a:pt x="54" y="90"/>
                  </a:lnTo>
                  <a:lnTo>
                    <a:pt x="54" y="84"/>
                  </a:lnTo>
                  <a:lnTo>
                    <a:pt x="48" y="78"/>
                  </a:lnTo>
                  <a:lnTo>
                    <a:pt x="48" y="72"/>
                  </a:lnTo>
                  <a:lnTo>
                    <a:pt x="42" y="66"/>
                  </a:lnTo>
                  <a:lnTo>
                    <a:pt x="48" y="66"/>
                  </a:lnTo>
                  <a:lnTo>
                    <a:pt x="42" y="66"/>
                  </a:lnTo>
                  <a:lnTo>
                    <a:pt x="36" y="66"/>
                  </a:lnTo>
                  <a:lnTo>
                    <a:pt x="36" y="72"/>
                  </a:lnTo>
                  <a:lnTo>
                    <a:pt x="36" y="66"/>
                  </a:lnTo>
                  <a:lnTo>
                    <a:pt x="36" y="60"/>
                  </a:lnTo>
                  <a:lnTo>
                    <a:pt x="42" y="60"/>
                  </a:lnTo>
                  <a:lnTo>
                    <a:pt x="42" y="54"/>
                  </a:lnTo>
                  <a:lnTo>
                    <a:pt x="48" y="54"/>
                  </a:lnTo>
                  <a:lnTo>
                    <a:pt x="48" y="48"/>
                  </a:lnTo>
                  <a:lnTo>
                    <a:pt x="54" y="42"/>
                  </a:lnTo>
                  <a:lnTo>
                    <a:pt x="54" y="36"/>
                  </a:lnTo>
                  <a:lnTo>
                    <a:pt x="54" y="30"/>
                  </a:lnTo>
                  <a:lnTo>
                    <a:pt x="54" y="24"/>
                  </a:lnTo>
                  <a:lnTo>
                    <a:pt x="48" y="0"/>
                  </a:lnTo>
                  <a:lnTo>
                    <a:pt x="72" y="0"/>
                  </a:lnTo>
                  <a:lnTo>
                    <a:pt x="84" y="6"/>
                  </a:lnTo>
                  <a:lnTo>
                    <a:pt x="156" y="6"/>
                  </a:lnTo>
                  <a:lnTo>
                    <a:pt x="156" y="12"/>
                  </a:lnTo>
                  <a:lnTo>
                    <a:pt x="204" y="24"/>
                  </a:lnTo>
                  <a:lnTo>
                    <a:pt x="210" y="30"/>
                  </a:lnTo>
                  <a:lnTo>
                    <a:pt x="240" y="66"/>
                  </a:lnTo>
                  <a:lnTo>
                    <a:pt x="252" y="66"/>
                  </a:lnTo>
                  <a:lnTo>
                    <a:pt x="282" y="54"/>
                  </a:lnTo>
                  <a:lnTo>
                    <a:pt x="300" y="78"/>
                  </a:lnTo>
                  <a:lnTo>
                    <a:pt x="318" y="72"/>
                  </a:lnTo>
                  <a:lnTo>
                    <a:pt x="324" y="78"/>
                  </a:lnTo>
                  <a:lnTo>
                    <a:pt x="324" y="72"/>
                  </a:lnTo>
                  <a:lnTo>
                    <a:pt x="330" y="72"/>
                  </a:lnTo>
                  <a:lnTo>
                    <a:pt x="336" y="72"/>
                  </a:lnTo>
                  <a:lnTo>
                    <a:pt x="342" y="72"/>
                  </a:lnTo>
                  <a:lnTo>
                    <a:pt x="348" y="66"/>
                  </a:lnTo>
                  <a:lnTo>
                    <a:pt x="354" y="66"/>
                  </a:lnTo>
                  <a:lnTo>
                    <a:pt x="354" y="60"/>
                  </a:lnTo>
                  <a:lnTo>
                    <a:pt x="360" y="60"/>
                  </a:lnTo>
                  <a:lnTo>
                    <a:pt x="366" y="60"/>
                  </a:lnTo>
                  <a:lnTo>
                    <a:pt x="366" y="54"/>
                  </a:lnTo>
                  <a:lnTo>
                    <a:pt x="372" y="54"/>
                  </a:lnTo>
                  <a:lnTo>
                    <a:pt x="378" y="66"/>
                  </a:lnTo>
                  <a:lnTo>
                    <a:pt x="372" y="66"/>
                  </a:lnTo>
                  <a:lnTo>
                    <a:pt x="372" y="72"/>
                  </a:lnTo>
                  <a:lnTo>
                    <a:pt x="372" y="78"/>
                  </a:lnTo>
                  <a:lnTo>
                    <a:pt x="366" y="84"/>
                  </a:lnTo>
                  <a:lnTo>
                    <a:pt x="372" y="84"/>
                  </a:lnTo>
                  <a:lnTo>
                    <a:pt x="372" y="90"/>
                  </a:lnTo>
                  <a:lnTo>
                    <a:pt x="372" y="96"/>
                  </a:lnTo>
                  <a:lnTo>
                    <a:pt x="378" y="90"/>
                  </a:lnTo>
                  <a:lnTo>
                    <a:pt x="372" y="96"/>
                  </a:lnTo>
                  <a:lnTo>
                    <a:pt x="378" y="96"/>
                  </a:lnTo>
                  <a:lnTo>
                    <a:pt x="372" y="102"/>
                  </a:lnTo>
                  <a:lnTo>
                    <a:pt x="378" y="102"/>
                  </a:lnTo>
                  <a:lnTo>
                    <a:pt x="384" y="108"/>
                  </a:lnTo>
                  <a:lnTo>
                    <a:pt x="378" y="108"/>
                  </a:lnTo>
                  <a:lnTo>
                    <a:pt x="384" y="114"/>
                  </a:lnTo>
                  <a:lnTo>
                    <a:pt x="378" y="114"/>
                  </a:lnTo>
                  <a:lnTo>
                    <a:pt x="378" y="120"/>
                  </a:lnTo>
                  <a:lnTo>
                    <a:pt x="372" y="120"/>
                  </a:lnTo>
                  <a:lnTo>
                    <a:pt x="378" y="126"/>
                  </a:lnTo>
                  <a:lnTo>
                    <a:pt x="384" y="126"/>
                  </a:lnTo>
                  <a:lnTo>
                    <a:pt x="384" y="120"/>
                  </a:lnTo>
                  <a:lnTo>
                    <a:pt x="384" y="126"/>
                  </a:lnTo>
                  <a:lnTo>
                    <a:pt x="390" y="126"/>
                  </a:lnTo>
                  <a:lnTo>
                    <a:pt x="396" y="126"/>
                  </a:lnTo>
                  <a:lnTo>
                    <a:pt x="390" y="126"/>
                  </a:lnTo>
                  <a:lnTo>
                    <a:pt x="390" y="120"/>
                  </a:lnTo>
                  <a:lnTo>
                    <a:pt x="396" y="120"/>
                  </a:lnTo>
                  <a:lnTo>
                    <a:pt x="396" y="114"/>
                  </a:lnTo>
                  <a:lnTo>
                    <a:pt x="402" y="108"/>
                  </a:lnTo>
                  <a:lnTo>
                    <a:pt x="408" y="102"/>
                  </a:lnTo>
                  <a:lnTo>
                    <a:pt x="414" y="96"/>
                  </a:lnTo>
                  <a:lnTo>
                    <a:pt x="420" y="96"/>
                  </a:lnTo>
                  <a:lnTo>
                    <a:pt x="426" y="102"/>
                  </a:lnTo>
                  <a:lnTo>
                    <a:pt x="432" y="102"/>
                  </a:lnTo>
                  <a:lnTo>
                    <a:pt x="432" y="108"/>
                  </a:lnTo>
                  <a:lnTo>
                    <a:pt x="432" y="114"/>
                  </a:lnTo>
                  <a:lnTo>
                    <a:pt x="432" y="120"/>
                  </a:lnTo>
                  <a:lnTo>
                    <a:pt x="438" y="120"/>
                  </a:lnTo>
                  <a:lnTo>
                    <a:pt x="432" y="120"/>
                  </a:lnTo>
                  <a:lnTo>
                    <a:pt x="432" y="126"/>
                  </a:lnTo>
                  <a:lnTo>
                    <a:pt x="438" y="126"/>
                  </a:lnTo>
                  <a:lnTo>
                    <a:pt x="444" y="132"/>
                  </a:lnTo>
                  <a:lnTo>
                    <a:pt x="438" y="132"/>
                  </a:lnTo>
                  <a:lnTo>
                    <a:pt x="444" y="132"/>
                  </a:lnTo>
                  <a:lnTo>
                    <a:pt x="444" y="138"/>
                  </a:lnTo>
                  <a:lnTo>
                    <a:pt x="444" y="144"/>
                  </a:lnTo>
                  <a:lnTo>
                    <a:pt x="438" y="150"/>
                  </a:lnTo>
                  <a:lnTo>
                    <a:pt x="438" y="156"/>
                  </a:lnTo>
                  <a:lnTo>
                    <a:pt x="444" y="156"/>
                  </a:lnTo>
                  <a:lnTo>
                    <a:pt x="450" y="156"/>
                  </a:lnTo>
                  <a:lnTo>
                    <a:pt x="450" y="162"/>
                  </a:lnTo>
                  <a:lnTo>
                    <a:pt x="444" y="168"/>
                  </a:lnTo>
                  <a:lnTo>
                    <a:pt x="450" y="168"/>
                  </a:lnTo>
                  <a:lnTo>
                    <a:pt x="450" y="174"/>
                  </a:lnTo>
                  <a:lnTo>
                    <a:pt x="450" y="180"/>
                  </a:lnTo>
                  <a:lnTo>
                    <a:pt x="444" y="180"/>
                  </a:lnTo>
                  <a:lnTo>
                    <a:pt x="450" y="186"/>
                  </a:lnTo>
                  <a:lnTo>
                    <a:pt x="456" y="192"/>
                  </a:lnTo>
                  <a:lnTo>
                    <a:pt x="456" y="198"/>
                  </a:lnTo>
                  <a:lnTo>
                    <a:pt x="450" y="198"/>
                  </a:lnTo>
                  <a:lnTo>
                    <a:pt x="450" y="204"/>
                  </a:lnTo>
                  <a:lnTo>
                    <a:pt x="456" y="204"/>
                  </a:lnTo>
                  <a:lnTo>
                    <a:pt x="456" y="210"/>
                  </a:lnTo>
                  <a:lnTo>
                    <a:pt x="450" y="216"/>
                  </a:lnTo>
                  <a:lnTo>
                    <a:pt x="462" y="228"/>
                  </a:lnTo>
                  <a:close/>
                </a:path>
              </a:pathLst>
            </a:custGeom>
            <a:solidFill>
              <a:schemeClr val="accent1"/>
            </a:solidFill>
            <a:ln w="9525">
              <a:solidFill>
                <a:srgbClr val="B2B2B2"/>
              </a:solidFill>
              <a:round/>
              <a:headEnd/>
              <a:tailEnd/>
            </a:ln>
          </p:spPr>
          <p:txBody>
            <a:bodyPr/>
            <a:lstStyle/>
            <a:p>
              <a:endParaRPr lang="en-CA"/>
            </a:p>
          </p:txBody>
        </p:sp>
        <p:sp>
          <p:nvSpPr>
            <p:cNvPr id="441" name="Freeform 500"/>
            <p:cNvSpPr>
              <a:spLocks/>
            </p:cNvSpPr>
            <p:nvPr>
              <p:custDataLst>
                <p:tags r:id="rId64"/>
              </p:custDataLst>
            </p:nvPr>
          </p:nvSpPr>
          <p:spPr bwMode="gray">
            <a:xfrm>
              <a:off x="2230" y="2975"/>
              <a:ext cx="141" cy="229"/>
            </a:xfrm>
            <a:custGeom>
              <a:avLst/>
              <a:gdLst>
                <a:gd name="T0" fmla="*/ 179780202 w 228"/>
                <a:gd name="T1" fmla="*/ 130091616 h 366"/>
                <a:gd name="T2" fmla="*/ 185579373 w 228"/>
                <a:gd name="T3" fmla="*/ 141917495 h 366"/>
                <a:gd name="T4" fmla="*/ 191378545 w 228"/>
                <a:gd name="T5" fmla="*/ 165570245 h 366"/>
                <a:gd name="T6" fmla="*/ 185579373 w 228"/>
                <a:gd name="T7" fmla="*/ 189222995 h 366"/>
                <a:gd name="T8" fmla="*/ 185579373 w 228"/>
                <a:gd name="T9" fmla="*/ 201049867 h 366"/>
                <a:gd name="T10" fmla="*/ 202976887 w 228"/>
                <a:gd name="T11" fmla="*/ 189222995 h 366"/>
                <a:gd name="T12" fmla="*/ 214576212 w 228"/>
                <a:gd name="T13" fmla="*/ 195136928 h 366"/>
                <a:gd name="T14" fmla="*/ 202976887 w 228"/>
                <a:gd name="T15" fmla="*/ 218789678 h 366"/>
                <a:gd name="T16" fmla="*/ 214576212 w 228"/>
                <a:gd name="T17" fmla="*/ 236529489 h 366"/>
                <a:gd name="T18" fmla="*/ 202976887 w 228"/>
                <a:gd name="T19" fmla="*/ 254269300 h 366"/>
                <a:gd name="T20" fmla="*/ 197177716 w 228"/>
                <a:gd name="T21" fmla="*/ 266095178 h 366"/>
                <a:gd name="T22" fmla="*/ 197177716 w 228"/>
                <a:gd name="T23" fmla="*/ 272009111 h 366"/>
                <a:gd name="T24" fmla="*/ 202976887 w 228"/>
                <a:gd name="T25" fmla="*/ 283834989 h 366"/>
                <a:gd name="T26" fmla="*/ 202976887 w 228"/>
                <a:gd name="T27" fmla="*/ 295661861 h 366"/>
                <a:gd name="T28" fmla="*/ 214576212 w 228"/>
                <a:gd name="T29" fmla="*/ 313401672 h 366"/>
                <a:gd name="T30" fmla="*/ 202976887 w 228"/>
                <a:gd name="T31" fmla="*/ 331141483 h 366"/>
                <a:gd name="T32" fmla="*/ 191378545 w 228"/>
                <a:gd name="T33" fmla="*/ 348880301 h 366"/>
                <a:gd name="T34" fmla="*/ 179780202 w 228"/>
                <a:gd name="T35" fmla="*/ 354794233 h 366"/>
                <a:gd name="T36" fmla="*/ 173981031 w 228"/>
                <a:gd name="T37" fmla="*/ 342967361 h 366"/>
                <a:gd name="T38" fmla="*/ 156582535 w 228"/>
                <a:gd name="T39" fmla="*/ 331141483 h 366"/>
                <a:gd name="T40" fmla="*/ 144984192 w 228"/>
                <a:gd name="T41" fmla="*/ 337054422 h 366"/>
                <a:gd name="T42" fmla="*/ 121786525 w 228"/>
                <a:gd name="T43" fmla="*/ 331141483 h 366"/>
                <a:gd name="T44" fmla="*/ 115987354 w 228"/>
                <a:gd name="T45" fmla="*/ 319314611 h 366"/>
                <a:gd name="T46" fmla="*/ 115987354 w 228"/>
                <a:gd name="T47" fmla="*/ 301574800 h 366"/>
                <a:gd name="T48" fmla="*/ 104388029 w 228"/>
                <a:gd name="T49" fmla="*/ 289747928 h 366"/>
                <a:gd name="T50" fmla="*/ 98588858 w 228"/>
                <a:gd name="T51" fmla="*/ 277922050 h 366"/>
                <a:gd name="T52" fmla="*/ 110188182 w 228"/>
                <a:gd name="T53" fmla="*/ 260182239 h 366"/>
                <a:gd name="T54" fmla="*/ 92789687 w 228"/>
                <a:gd name="T55" fmla="*/ 260182239 h 366"/>
                <a:gd name="T56" fmla="*/ 86990515 w 228"/>
                <a:gd name="T57" fmla="*/ 236529489 h 366"/>
                <a:gd name="T58" fmla="*/ 63792848 w 228"/>
                <a:gd name="T59" fmla="*/ 218789678 h 366"/>
                <a:gd name="T60" fmla="*/ 46394352 w 228"/>
                <a:gd name="T61" fmla="*/ 206962806 h 366"/>
                <a:gd name="T62" fmla="*/ 23197667 w 228"/>
                <a:gd name="T63" fmla="*/ 165570245 h 366"/>
                <a:gd name="T64" fmla="*/ 17398496 w 228"/>
                <a:gd name="T65" fmla="*/ 141917495 h 366"/>
                <a:gd name="T66" fmla="*/ 23197667 w 228"/>
                <a:gd name="T67" fmla="*/ 124177684 h 366"/>
                <a:gd name="T68" fmla="*/ 17398496 w 228"/>
                <a:gd name="T69" fmla="*/ 106437873 h 366"/>
                <a:gd name="T70" fmla="*/ 11598343 w 228"/>
                <a:gd name="T71" fmla="*/ 88698062 h 366"/>
                <a:gd name="T72" fmla="*/ 5799171 w 228"/>
                <a:gd name="T73" fmla="*/ 76872183 h 366"/>
                <a:gd name="T74" fmla="*/ 11598343 w 228"/>
                <a:gd name="T75" fmla="*/ 59132372 h 366"/>
                <a:gd name="T76" fmla="*/ 40595181 w 228"/>
                <a:gd name="T77" fmla="*/ 47305500 h 366"/>
                <a:gd name="T78" fmla="*/ 52194506 w 228"/>
                <a:gd name="T79" fmla="*/ 47305500 h 366"/>
                <a:gd name="T80" fmla="*/ 63792848 w 228"/>
                <a:gd name="T81" fmla="*/ 35479622 h 366"/>
                <a:gd name="T82" fmla="*/ 81191344 w 228"/>
                <a:gd name="T83" fmla="*/ 23652750 h 366"/>
                <a:gd name="T84" fmla="*/ 92789687 w 228"/>
                <a:gd name="T85" fmla="*/ 17739811 h 366"/>
                <a:gd name="T86" fmla="*/ 104388029 w 228"/>
                <a:gd name="T87" fmla="*/ 11826872 h 366"/>
                <a:gd name="T88" fmla="*/ 121786525 w 228"/>
                <a:gd name="T89" fmla="*/ 17739811 h 366"/>
                <a:gd name="T90" fmla="*/ 144984192 w 228"/>
                <a:gd name="T91" fmla="*/ 11826872 h 366"/>
                <a:gd name="T92" fmla="*/ 185579373 w 228"/>
                <a:gd name="T93" fmla="*/ 0 h 366"/>
                <a:gd name="T94" fmla="*/ 185579373 w 228"/>
                <a:gd name="T95" fmla="*/ 17739811 h 366"/>
                <a:gd name="T96" fmla="*/ 197177716 w 228"/>
                <a:gd name="T97" fmla="*/ 35479622 h 366"/>
                <a:gd name="T98" fmla="*/ 214576212 w 228"/>
                <a:gd name="T99" fmla="*/ 53219433 h 366"/>
                <a:gd name="T100" fmla="*/ 220375383 w 228"/>
                <a:gd name="T101" fmla="*/ 76872183 h 366"/>
                <a:gd name="T102" fmla="*/ 202976887 w 228"/>
                <a:gd name="T103" fmla="*/ 88698062 h 366"/>
                <a:gd name="T104" fmla="*/ 197177716 w 228"/>
                <a:gd name="T105" fmla="*/ 100524933 h 3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8"/>
                <a:gd name="T160" fmla="*/ 0 h 366"/>
                <a:gd name="T161" fmla="*/ 228 w 228"/>
                <a:gd name="T162" fmla="*/ 366 h 3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8" h="366">
                  <a:moveTo>
                    <a:pt x="192" y="114"/>
                  </a:moveTo>
                  <a:lnTo>
                    <a:pt x="192" y="120"/>
                  </a:lnTo>
                  <a:lnTo>
                    <a:pt x="186" y="120"/>
                  </a:lnTo>
                  <a:lnTo>
                    <a:pt x="186" y="126"/>
                  </a:lnTo>
                  <a:lnTo>
                    <a:pt x="186" y="132"/>
                  </a:lnTo>
                  <a:lnTo>
                    <a:pt x="192" y="132"/>
                  </a:lnTo>
                  <a:lnTo>
                    <a:pt x="186" y="132"/>
                  </a:lnTo>
                  <a:lnTo>
                    <a:pt x="192" y="132"/>
                  </a:lnTo>
                  <a:lnTo>
                    <a:pt x="192" y="138"/>
                  </a:lnTo>
                  <a:lnTo>
                    <a:pt x="192" y="144"/>
                  </a:lnTo>
                  <a:lnTo>
                    <a:pt x="192" y="150"/>
                  </a:lnTo>
                  <a:lnTo>
                    <a:pt x="198" y="150"/>
                  </a:lnTo>
                  <a:lnTo>
                    <a:pt x="198" y="156"/>
                  </a:lnTo>
                  <a:lnTo>
                    <a:pt x="198" y="162"/>
                  </a:lnTo>
                  <a:lnTo>
                    <a:pt x="198" y="168"/>
                  </a:lnTo>
                  <a:lnTo>
                    <a:pt x="192" y="168"/>
                  </a:lnTo>
                  <a:lnTo>
                    <a:pt x="192" y="174"/>
                  </a:lnTo>
                  <a:lnTo>
                    <a:pt x="192" y="180"/>
                  </a:lnTo>
                  <a:lnTo>
                    <a:pt x="192" y="186"/>
                  </a:lnTo>
                  <a:lnTo>
                    <a:pt x="192" y="192"/>
                  </a:lnTo>
                  <a:lnTo>
                    <a:pt x="186" y="192"/>
                  </a:lnTo>
                  <a:lnTo>
                    <a:pt x="180" y="198"/>
                  </a:lnTo>
                  <a:lnTo>
                    <a:pt x="186" y="198"/>
                  </a:lnTo>
                  <a:lnTo>
                    <a:pt x="192" y="198"/>
                  </a:lnTo>
                  <a:lnTo>
                    <a:pt x="192" y="204"/>
                  </a:lnTo>
                  <a:lnTo>
                    <a:pt x="198" y="204"/>
                  </a:lnTo>
                  <a:lnTo>
                    <a:pt x="198" y="198"/>
                  </a:lnTo>
                  <a:lnTo>
                    <a:pt x="204" y="198"/>
                  </a:lnTo>
                  <a:lnTo>
                    <a:pt x="204" y="192"/>
                  </a:lnTo>
                  <a:lnTo>
                    <a:pt x="210" y="192"/>
                  </a:lnTo>
                  <a:lnTo>
                    <a:pt x="210" y="198"/>
                  </a:lnTo>
                  <a:lnTo>
                    <a:pt x="210" y="204"/>
                  </a:lnTo>
                  <a:lnTo>
                    <a:pt x="216" y="204"/>
                  </a:lnTo>
                  <a:lnTo>
                    <a:pt x="216" y="198"/>
                  </a:lnTo>
                  <a:lnTo>
                    <a:pt x="222" y="198"/>
                  </a:lnTo>
                  <a:lnTo>
                    <a:pt x="222" y="204"/>
                  </a:lnTo>
                  <a:lnTo>
                    <a:pt x="222" y="210"/>
                  </a:lnTo>
                  <a:lnTo>
                    <a:pt x="222" y="216"/>
                  </a:lnTo>
                  <a:lnTo>
                    <a:pt x="216" y="216"/>
                  </a:lnTo>
                  <a:lnTo>
                    <a:pt x="210" y="222"/>
                  </a:lnTo>
                  <a:lnTo>
                    <a:pt x="210" y="228"/>
                  </a:lnTo>
                  <a:lnTo>
                    <a:pt x="216" y="228"/>
                  </a:lnTo>
                  <a:lnTo>
                    <a:pt x="222" y="228"/>
                  </a:lnTo>
                  <a:lnTo>
                    <a:pt x="222" y="234"/>
                  </a:lnTo>
                  <a:lnTo>
                    <a:pt x="222" y="240"/>
                  </a:lnTo>
                  <a:lnTo>
                    <a:pt x="216" y="240"/>
                  </a:lnTo>
                  <a:lnTo>
                    <a:pt x="216" y="246"/>
                  </a:lnTo>
                  <a:lnTo>
                    <a:pt x="210" y="246"/>
                  </a:lnTo>
                  <a:lnTo>
                    <a:pt x="210" y="252"/>
                  </a:lnTo>
                  <a:lnTo>
                    <a:pt x="210" y="258"/>
                  </a:lnTo>
                  <a:lnTo>
                    <a:pt x="204" y="258"/>
                  </a:lnTo>
                  <a:lnTo>
                    <a:pt x="210" y="258"/>
                  </a:lnTo>
                  <a:lnTo>
                    <a:pt x="204" y="258"/>
                  </a:lnTo>
                  <a:lnTo>
                    <a:pt x="204" y="264"/>
                  </a:lnTo>
                  <a:lnTo>
                    <a:pt x="204" y="270"/>
                  </a:lnTo>
                  <a:lnTo>
                    <a:pt x="204" y="264"/>
                  </a:lnTo>
                  <a:lnTo>
                    <a:pt x="204" y="270"/>
                  </a:lnTo>
                  <a:lnTo>
                    <a:pt x="204" y="276"/>
                  </a:lnTo>
                  <a:lnTo>
                    <a:pt x="198" y="276"/>
                  </a:lnTo>
                  <a:lnTo>
                    <a:pt x="204" y="276"/>
                  </a:lnTo>
                  <a:lnTo>
                    <a:pt x="210" y="276"/>
                  </a:lnTo>
                  <a:lnTo>
                    <a:pt x="210" y="282"/>
                  </a:lnTo>
                  <a:lnTo>
                    <a:pt x="216" y="282"/>
                  </a:lnTo>
                  <a:lnTo>
                    <a:pt x="216" y="288"/>
                  </a:lnTo>
                  <a:lnTo>
                    <a:pt x="210" y="288"/>
                  </a:lnTo>
                  <a:lnTo>
                    <a:pt x="216" y="288"/>
                  </a:lnTo>
                  <a:lnTo>
                    <a:pt x="216" y="294"/>
                  </a:lnTo>
                  <a:lnTo>
                    <a:pt x="210" y="294"/>
                  </a:lnTo>
                  <a:lnTo>
                    <a:pt x="216" y="294"/>
                  </a:lnTo>
                  <a:lnTo>
                    <a:pt x="210" y="300"/>
                  </a:lnTo>
                  <a:lnTo>
                    <a:pt x="210" y="306"/>
                  </a:lnTo>
                  <a:lnTo>
                    <a:pt x="216" y="306"/>
                  </a:lnTo>
                  <a:lnTo>
                    <a:pt x="216" y="312"/>
                  </a:lnTo>
                  <a:lnTo>
                    <a:pt x="222" y="312"/>
                  </a:lnTo>
                  <a:lnTo>
                    <a:pt x="222" y="318"/>
                  </a:lnTo>
                  <a:lnTo>
                    <a:pt x="222" y="324"/>
                  </a:lnTo>
                  <a:lnTo>
                    <a:pt x="216" y="324"/>
                  </a:lnTo>
                  <a:lnTo>
                    <a:pt x="216" y="330"/>
                  </a:lnTo>
                  <a:lnTo>
                    <a:pt x="216" y="336"/>
                  </a:lnTo>
                  <a:lnTo>
                    <a:pt x="210" y="336"/>
                  </a:lnTo>
                  <a:lnTo>
                    <a:pt x="210" y="342"/>
                  </a:lnTo>
                  <a:lnTo>
                    <a:pt x="204" y="342"/>
                  </a:lnTo>
                  <a:lnTo>
                    <a:pt x="204" y="348"/>
                  </a:lnTo>
                  <a:lnTo>
                    <a:pt x="198" y="348"/>
                  </a:lnTo>
                  <a:lnTo>
                    <a:pt x="198" y="354"/>
                  </a:lnTo>
                  <a:lnTo>
                    <a:pt x="198" y="360"/>
                  </a:lnTo>
                  <a:lnTo>
                    <a:pt x="192" y="360"/>
                  </a:lnTo>
                  <a:lnTo>
                    <a:pt x="192" y="366"/>
                  </a:lnTo>
                  <a:lnTo>
                    <a:pt x="186" y="366"/>
                  </a:lnTo>
                  <a:lnTo>
                    <a:pt x="186" y="360"/>
                  </a:lnTo>
                  <a:lnTo>
                    <a:pt x="186" y="354"/>
                  </a:lnTo>
                  <a:lnTo>
                    <a:pt x="186" y="348"/>
                  </a:lnTo>
                  <a:lnTo>
                    <a:pt x="186" y="342"/>
                  </a:lnTo>
                  <a:lnTo>
                    <a:pt x="180" y="342"/>
                  </a:lnTo>
                  <a:lnTo>
                    <a:pt x="180" y="348"/>
                  </a:lnTo>
                  <a:lnTo>
                    <a:pt x="174" y="348"/>
                  </a:lnTo>
                  <a:lnTo>
                    <a:pt x="174" y="342"/>
                  </a:lnTo>
                  <a:lnTo>
                    <a:pt x="168" y="342"/>
                  </a:lnTo>
                  <a:lnTo>
                    <a:pt x="162" y="342"/>
                  </a:lnTo>
                  <a:lnTo>
                    <a:pt x="162" y="336"/>
                  </a:lnTo>
                  <a:lnTo>
                    <a:pt x="162" y="342"/>
                  </a:lnTo>
                  <a:lnTo>
                    <a:pt x="156" y="342"/>
                  </a:lnTo>
                  <a:lnTo>
                    <a:pt x="150" y="342"/>
                  </a:lnTo>
                  <a:lnTo>
                    <a:pt x="150" y="348"/>
                  </a:lnTo>
                  <a:lnTo>
                    <a:pt x="150" y="342"/>
                  </a:lnTo>
                  <a:lnTo>
                    <a:pt x="144" y="342"/>
                  </a:lnTo>
                  <a:lnTo>
                    <a:pt x="138" y="342"/>
                  </a:lnTo>
                  <a:lnTo>
                    <a:pt x="138" y="336"/>
                  </a:lnTo>
                  <a:lnTo>
                    <a:pt x="132" y="336"/>
                  </a:lnTo>
                  <a:lnTo>
                    <a:pt x="126" y="336"/>
                  </a:lnTo>
                  <a:lnTo>
                    <a:pt x="126" y="330"/>
                  </a:lnTo>
                  <a:lnTo>
                    <a:pt x="126" y="324"/>
                  </a:lnTo>
                  <a:lnTo>
                    <a:pt x="120" y="324"/>
                  </a:lnTo>
                  <a:lnTo>
                    <a:pt x="126" y="324"/>
                  </a:lnTo>
                  <a:lnTo>
                    <a:pt x="120" y="324"/>
                  </a:lnTo>
                  <a:lnTo>
                    <a:pt x="120" y="318"/>
                  </a:lnTo>
                  <a:lnTo>
                    <a:pt x="114" y="318"/>
                  </a:lnTo>
                  <a:lnTo>
                    <a:pt x="114" y="312"/>
                  </a:lnTo>
                  <a:lnTo>
                    <a:pt x="120" y="312"/>
                  </a:lnTo>
                  <a:lnTo>
                    <a:pt x="120" y="306"/>
                  </a:lnTo>
                  <a:lnTo>
                    <a:pt x="120" y="300"/>
                  </a:lnTo>
                  <a:lnTo>
                    <a:pt x="126" y="300"/>
                  </a:lnTo>
                  <a:lnTo>
                    <a:pt x="120" y="300"/>
                  </a:lnTo>
                  <a:lnTo>
                    <a:pt x="114" y="294"/>
                  </a:lnTo>
                  <a:lnTo>
                    <a:pt x="108" y="294"/>
                  </a:lnTo>
                  <a:lnTo>
                    <a:pt x="108" y="288"/>
                  </a:lnTo>
                  <a:lnTo>
                    <a:pt x="108" y="294"/>
                  </a:lnTo>
                  <a:lnTo>
                    <a:pt x="108" y="288"/>
                  </a:lnTo>
                  <a:lnTo>
                    <a:pt x="102" y="288"/>
                  </a:lnTo>
                  <a:lnTo>
                    <a:pt x="102" y="282"/>
                  </a:lnTo>
                  <a:lnTo>
                    <a:pt x="108" y="282"/>
                  </a:lnTo>
                  <a:lnTo>
                    <a:pt x="114" y="282"/>
                  </a:lnTo>
                  <a:lnTo>
                    <a:pt x="114" y="276"/>
                  </a:lnTo>
                  <a:lnTo>
                    <a:pt x="114" y="270"/>
                  </a:lnTo>
                  <a:lnTo>
                    <a:pt x="114" y="264"/>
                  </a:lnTo>
                  <a:lnTo>
                    <a:pt x="114" y="270"/>
                  </a:lnTo>
                  <a:lnTo>
                    <a:pt x="108" y="270"/>
                  </a:lnTo>
                  <a:lnTo>
                    <a:pt x="108" y="264"/>
                  </a:lnTo>
                  <a:lnTo>
                    <a:pt x="102" y="264"/>
                  </a:lnTo>
                  <a:lnTo>
                    <a:pt x="96" y="264"/>
                  </a:lnTo>
                  <a:lnTo>
                    <a:pt x="96" y="258"/>
                  </a:lnTo>
                  <a:lnTo>
                    <a:pt x="90" y="258"/>
                  </a:lnTo>
                  <a:lnTo>
                    <a:pt x="90" y="252"/>
                  </a:lnTo>
                  <a:lnTo>
                    <a:pt x="90" y="246"/>
                  </a:lnTo>
                  <a:lnTo>
                    <a:pt x="90" y="240"/>
                  </a:lnTo>
                  <a:lnTo>
                    <a:pt x="84" y="240"/>
                  </a:lnTo>
                  <a:lnTo>
                    <a:pt x="78" y="228"/>
                  </a:lnTo>
                  <a:lnTo>
                    <a:pt x="78" y="222"/>
                  </a:lnTo>
                  <a:lnTo>
                    <a:pt x="72" y="222"/>
                  </a:lnTo>
                  <a:lnTo>
                    <a:pt x="66" y="222"/>
                  </a:lnTo>
                  <a:lnTo>
                    <a:pt x="60" y="210"/>
                  </a:lnTo>
                  <a:lnTo>
                    <a:pt x="60" y="216"/>
                  </a:lnTo>
                  <a:lnTo>
                    <a:pt x="60" y="210"/>
                  </a:lnTo>
                  <a:lnTo>
                    <a:pt x="54" y="210"/>
                  </a:lnTo>
                  <a:lnTo>
                    <a:pt x="48" y="210"/>
                  </a:lnTo>
                  <a:lnTo>
                    <a:pt x="36" y="192"/>
                  </a:lnTo>
                  <a:lnTo>
                    <a:pt x="24" y="180"/>
                  </a:lnTo>
                  <a:lnTo>
                    <a:pt x="30" y="174"/>
                  </a:lnTo>
                  <a:lnTo>
                    <a:pt x="30" y="168"/>
                  </a:lnTo>
                  <a:lnTo>
                    <a:pt x="24" y="168"/>
                  </a:lnTo>
                  <a:lnTo>
                    <a:pt x="24" y="162"/>
                  </a:lnTo>
                  <a:lnTo>
                    <a:pt x="30" y="162"/>
                  </a:lnTo>
                  <a:lnTo>
                    <a:pt x="30" y="156"/>
                  </a:lnTo>
                  <a:lnTo>
                    <a:pt x="24" y="150"/>
                  </a:lnTo>
                  <a:lnTo>
                    <a:pt x="18" y="144"/>
                  </a:lnTo>
                  <a:lnTo>
                    <a:pt x="24" y="144"/>
                  </a:lnTo>
                  <a:lnTo>
                    <a:pt x="24" y="138"/>
                  </a:lnTo>
                  <a:lnTo>
                    <a:pt x="24" y="132"/>
                  </a:lnTo>
                  <a:lnTo>
                    <a:pt x="18" y="132"/>
                  </a:lnTo>
                  <a:lnTo>
                    <a:pt x="24" y="126"/>
                  </a:lnTo>
                  <a:lnTo>
                    <a:pt x="24" y="120"/>
                  </a:lnTo>
                  <a:lnTo>
                    <a:pt x="18" y="120"/>
                  </a:lnTo>
                  <a:lnTo>
                    <a:pt x="12" y="120"/>
                  </a:lnTo>
                  <a:lnTo>
                    <a:pt x="12" y="114"/>
                  </a:lnTo>
                  <a:lnTo>
                    <a:pt x="18" y="108"/>
                  </a:lnTo>
                  <a:lnTo>
                    <a:pt x="18" y="102"/>
                  </a:lnTo>
                  <a:lnTo>
                    <a:pt x="18" y="96"/>
                  </a:lnTo>
                  <a:lnTo>
                    <a:pt x="12" y="96"/>
                  </a:lnTo>
                  <a:lnTo>
                    <a:pt x="18" y="96"/>
                  </a:lnTo>
                  <a:lnTo>
                    <a:pt x="12" y="90"/>
                  </a:lnTo>
                  <a:lnTo>
                    <a:pt x="6" y="90"/>
                  </a:lnTo>
                  <a:lnTo>
                    <a:pt x="6" y="84"/>
                  </a:lnTo>
                  <a:lnTo>
                    <a:pt x="12" y="84"/>
                  </a:lnTo>
                  <a:lnTo>
                    <a:pt x="6" y="84"/>
                  </a:lnTo>
                  <a:lnTo>
                    <a:pt x="6" y="78"/>
                  </a:lnTo>
                  <a:lnTo>
                    <a:pt x="6" y="72"/>
                  </a:lnTo>
                  <a:lnTo>
                    <a:pt x="6" y="66"/>
                  </a:lnTo>
                  <a:lnTo>
                    <a:pt x="0" y="66"/>
                  </a:lnTo>
                  <a:lnTo>
                    <a:pt x="6" y="60"/>
                  </a:lnTo>
                  <a:lnTo>
                    <a:pt x="12" y="60"/>
                  </a:lnTo>
                  <a:lnTo>
                    <a:pt x="18" y="54"/>
                  </a:lnTo>
                  <a:lnTo>
                    <a:pt x="24" y="54"/>
                  </a:lnTo>
                  <a:lnTo>
                    <a:pt x="30" y="54"/>
                  </a:lnTo>
                  <a:lnTo>
                    <a:pt x="36" y="48"/>
                  </a:lnTo>
                  <a:lnTo>
                    <a:pt x="42" y="48"/>
                  </a:lnTo>
                  <a:lnTo>
                    <a:pt x="48" y="48"/>
                  </a:lnTo>
                  <a:lnTo>
                    <a:pt x="60" y="48"/>
                  </a:lnTo>
                  <a:lnTo>
                    <a:pt x="60" y="42"/>
                  </a:lnTo>
                  <a:lnTo>
                    <a:pt x="60" y="48"/>
                  </a:lnTo>
                  <a:lnTo>
                    <a:pt x="54" y="48"/>
                  </a:lnTo>
                  <a:lnTo>
                    <a:pt x="54" y="42"/>
                  </a:lnTo>
                  <a:lnTo>
                    <a:pt x="60" y="36"/>
                  </a:lnTo>
                  <a:lnTo>
                    <a:pt x="60" y="42"/>
                  </a:lnTo>
                  <a:lnTo>
                    <a:pt x="60" y="36"/>
                  </a:lnTo>
                  <a:lnTo>
                    <a:pt x="66" y="36"/>
                  </a:lnTo>
                  <a:lnTo>
                    <a:pt x="66" y="30"/>
                  </a:lnTo>
                  <a:lnTo>
                    <a:pt x="72" y="30"/>
                  </a:lnTo>
                  <a:lnTo>
                    <a:pt x="72" y="24"/>
                  </a:lnTo>
                  <a:lnTo>
                    <a:pt x="78" y="24"/>
                  </a:lnTo>
                  <a:lnTo>
                    <a:pt x="84" y="24"/>
                  </a:lnTo>
                  <a:lnTo>
                    <a:pt x="78" y="18"/>
                  </a:lnTo>
                  <a:lnTo>
                    <a:pt x="84" y="18"/>
                  </a:lnTo>
                  <a:lnTo>
                    <a:pt x="84" y="12"/>
                  </a:lnTo>
                  <a:lnTo>
                    <a:pt x="90" y="18"/>
                  </a:lnTo>
                  <a:lnTo>
                    <a:pt x="96" y="18"/>
                  </a:lnTo>
                  <a:lnTo>
                    <a:pt x="102" y="18"/>
                  </a:lnTo>
                  <a:lnTo>
                    <a:pt x="102" y="12"/>
                  </a:lnTo>
                  <a:lnTo>
                    <a:pt x="102" y="18"/>
                  </a:lnTo>
                  <a:lnTo>
                    <a:pt x="102" y="12"/>
                  </a:lnTo>
                  <a:lnTo>
                    <a:pt x="108" y="12"/>
                  </a:lnTo>
                  <a:lnTo>
                    <a:pt x="108" y="18"/>
                  </a:lnTo>
                  <a:lnTo>
                    <a:pt x="114" y="12"/>
                  </a:lnTo>
                  <a:lnTo>
                    <a:pt x="114" y="18"/>
                  </a:lnTo>
                  <a:lnTo>
                    <a:pt x="120" y="18"/>
                  </a:lnTo>
                  <a:lnTo>
                    <a:pt x="126" y="18"/>
                  </a:lnTo>
                  <a:lnTo>
                    <a:pt x="126" y="12"/>
                  </a:lnTo>
                  <a:lnTo>
                    <a:pt x="132" y="12"/>
                  </a:lnTo>
                  <a:lnTo>
                    <a:pt x="138" y="12"/>
                  </a:lnTo>
                  <a:lnTo>
                    <a:pt x="138" y="18"/>
                  </a:lnTo>
                  <a:lnTo>
                    <a:pt x="150" y="12"/>
                  </a:lnTo>
                  <a:lnTo>
                    <a:pt x="150" y="18"/>
                  </a:lnTo>
                  <a:lnTo>
                    <a:pt x="168" y="12"/>
                  </a:lnTo>
                  <a:lnTo>
                    <a:pt x="180" y="0"/>
                  </a:lnTo>
                  <a:lnTo>
                    <a:pt x="186" y="0"/>
                  </a:lnTo>
                  <a:lnTo>
                    <a:pt x="192" y="0"/>
                  </a:lnTo>
                  <a:lnTo>
                    <a:pt x="198" y="0"/>
                  </a:lnTo>
                  <a:lnTo>
                    <a:pt x="198" y="6"/>
                  </a:lnTo>
                  <a:lnTo>
                    <a:pt x="198" y="12"/>
                  </a:lnTo>
                  <a:lnTo>
                    <a:pt x="198" y="18"/>
                  </a:lnTo>
                  <a:lnTo>
                    <a:pt x="192" y="18"/>
                  </a:lnTo>
                  <a:lnTo>
                    <a:pt x="192" y="24"/>
                  </a:lnTo>
                  <a:lnTo>
                    <a:pt x="192" y="30"/>
                  </a:lnTo>
                  <a:lnTo>
                    <a:pt x="198" y="30"/>
                  </a:lnTo>
                  <a:lnTo>
                    <a:pt x="198" y="36"/>
                  </a:lnTo>
                  <a:lnTo>
                    <a:pt x="204" y="36"/>
                  </a:lnTo>
                  <a:lnTo>
                    <a:pt x="210" y="42"/>
                  </a:lnTo>
                  <a:lnTo>
                    <a:pt x="216" y="42"/>
                  </a:lnTo>
                  <a:lnTo>
                    <a:pt x="210" y="48"/>
                  </a:lnTo>
                  <a:lnTo>
                    <a:pt x="216" y="54"/>
                  </a:lnTo>
                  <a:lnTo>
                    <a:pt x="222" y="54"/>
                  </a:lnTo>
                  <a:lnTo>
                    <a:pt x="222" y="60"/>
                  </a:lnTo>
                  <a:lnTo>
                    <a:pt x="222" y="66"/>
                  </a:lnTo>
                  <a:lnTo>
                    <a:pt x="222" y="72"/>
                  </a:lnTo>
                  <a:lnTo>
                    <a:pt x="222" y="78"/>
                  </a:lnTo>
                  <a:lnTo>
                    <a:pt x="228" y="78"/>
                  </a:lnTo>
                  <a:lnTo>
                    <a:pt x="228" y="84"/>
                  </a:lnTo>
                  <a:lnTo>
                    <a:pt x="222" y="84"/>
                  </a:lnTo>
                  <a:lnTo>
                    <a:pt x="222" y="90"/>
                  </a:lnTo>
                  <a:lnTo>
                    <a:pt x="216" y="90"/>
                  </a:lnTo>
                  <a:lnTo>
                    <a:pt x="210" y="90"/>
                  </a:lnTo>
                  <a:lnTo>
                    <a:pt x="210" y="96"/>
                  </a:lnTo>
                  <a:lnTo>
                    <a:pt x="210" y="90"/>
                  </a:lnTo>
                  <a:lnTo>
                    <a:pt x="210" y="96"/>
                  </a:lnTo>
                  <a:lnTo>
                    <a:pt x="204" y="96"/>
                  </a:lnTo>
                  <a:lnTo>
                    <a:pt x="204" y="102"/>
                  </a:lnTo>
                  <a:lnTo>
                    <a:pt x="198" y="102"/>
                  </a:lnTo>
                  <a:lnTo>
                    <a:pt x="198" y="108"/>
                  </a:lnTo>
                  <a:lnTo>
                    <a:pt x="192" y="108"/>
                  </a:lnTo>
                  <a:lnTo>
                    <a:pt x="192" y="114"/>
                  </a:lnTo>
                  <a:close/>
                </a:path>
              </a:pathLst>
            </a:custGeom>
            <a:solidFill>
              <a:schemeClr val="accent1"/>
            </a:solidFill>
            <a:ln w="9525">
              <a:solidFill>
                <a:srgbClr val="B2B2B2"/>
              </a:solidFill>
              <a:round/>
              <a:headEnd/>
              <a:tailEnd/>
            </a:ln>
          </p:spPr>
          <p:txBody>
            <a:bodyPr/>
            <a:lstStyle/>
            <a:p>
              <a:endParaRPr lang="en-CA"/>
            </a:p>
          </p:txBody>
        </p:sp>
        <p:sp>
          <p:nvSpPr>
            <p:cNvPr id="442" name="Freeform 501"/>
            <p:cNvSpPr>
              <a:spLocks/>
            </p:cNvSpPr>
            <p:nvPr>
              <p:custDataLst>
                <p:tags r:id="rId65"/>
              </p:custDataLst>
            </p:nvPr>
          </p:nvSpPr>
          <p:spPr bwMode="gray">
            <a:xfrm>
              <a:off x="2331" y="3047"/>
              <a:ext cx="115" cy="198"/>
            </a:xfrm>
            <a:custGeom>
              <a:avLst/>
              <a:gdLst>
                <a:gd name="T0" fmla="*/ 104049543 w 186"/>
                <a:gd name="T1" fmla="*/ 245664756 h 318"/>
                <a:gd name="T2" fmla="*/ 92488265 w 186"/>
                <a:gd name="T3" fmla="*/ 257362984 h 318"/>
                <a:gd name="T4" fmla="*/ 98269395 w 186"/>
                <a:gd name="T5" fmla="*/ 274910820 h 318"/>
                <a:gd name="T6" fmla="*/ 75146838 w 186"/>
                <a:gd name="T7" fmla="*/ 292457667 h 318"/>
                <a:gd name="T8" fmla="*/ 57805411 w 186"/>
                <a:gd name="T9" fmla="*/ 292457667 h 318"/>
                <a:gd name="T10" fmla="*/ 52024281 w 186"/>
                <a:gd name="T11" fmla="*/ 286609047 h 318"/>
                <a:gd name="T12" fmla="*/ 34682854 w 186"/>
                <a:gd name="T13" fmla="*/ 292457667 h 318"/>
                <a:gd name="T14" fmla="*/ 28902705 w 186"/>
                <a:gd name="T15" fmla="*/ 310005502 h 318"/>
                <a:gd name="T16" fmla="*/ 17341427 w 186"/>
                <a:gd name="T17" fmla="*/ 304155894 h 318"/>
                <a:gd name="T18" fmla="*/ 0 w 186"/>
                <a:gd name="T19" fmla="*/ 298307275 h 318"/>
                <a:gd name="T20" fmla="*/ 5780148 w 186"/>
                <a:gd name="T21" fmla="*/ 280759439 h 318"/>
                <a:gd name="T22" fmla="*/ 0 w 186"/>
                <a:gd name="T23" fmla="*/ 274910820 h 318"/>
                <a:gd name="T24" fmla="*/ 5780148 w 186"/>
                <a:gd name="T25" fmla="*/ 263212592 h 318"/>
                <a:gd name="T26" fmla="*/ 17341427 w 186"/>
                <a:gd name="T27" fmla="*/ 251514364 h 318"/>
                <a:gd name="T28" fmla="*/ 28902705 w 186"/>
                <a:gd name="T29" fmla="*/ 239815148 h 318"/>
                <a:gd name="T30" fmla="*/ 40463984 w 186"/>
                <a:gd name="T31" fmla="*/ 228116921 h 318"/>
                <a:gd name="T32" fmla="*/ 52024281 w 186"/>
                <a:gd name="T33" fmla="*/ 216418693 h 318"/>
                <a:gd name="T34" fmla="*/ 57805411 w 186"/>
                <a:gd name="T35" fmla="*/ 198871846 h 318"/>
                <a:gd name="T36" fmla="*/ 46244132 w 186"/>
                <a:gd name="T37" fmla="*/ 187172630 h 318"/>
                <a:gd name="T38" fmla="*/ 52024281 w 186"/>
                <a:gd name="T39" fmla="*/ 175474402 h 318"/>
                <a:gd name="T40" fmla="*/ 52024281 w 186"/>
                <a:gd name="T41" fmla="*/ 163776175 h 318"/>
                <a:gd name="T42" fmla="*/ 34682854 w 186"/>
                <a:gd name="T43" fmla="*/ 157927555 h 318"/>
                <a:gd name="T44" fmla="*/ 40463984 w 186"/>
                <a:gd name="T45" fmla="*/ 152077947 h 318"/>
                <a:gd name="T46" fmla="*/ 40463984 w 186"/>
                <a:gd name="T47" fmla="*/ 140379720 h 318"/>
                <a:gd name="T48" fmla="*/ 52024281 w 186"/>
                <a:gd name="T49" fmla="*/ 128681492 h 318"/>
                <a:gd name="T50" fmla="*/ 57805411 w 186"/>
                <a:gd name="T51" fmla="*/ 111133656 h 318"/>
                <a:gd name="T52" fmla="*/ 52024281 w 186"/>
                <a:gd name="T53" fmla="*/ 99435429 h 318"/>
                <a:gd name="T54" fmla="*/ 57805411 w 186"/>
                <a:gd name="T55" fmla="*/ 81888582 h 318"/>
                <a:gd name="T56" fmla="*/ 46244132 w 186"/>
                <a:gd name="T57" fmla="*/ 81888582 h 318"/>
                <a:gd name="T58" fmla="*/ 34682854 w 186"/>
                <a:gd name="T59" fmla="*/ 81888582 h 318"/>
                <a:gd name="T60" fmla="*/ 23122557 w 186"/>
                <a:gd name="T61" fmla="*/ 81888582 h 318"/>
                <a:gd name="T62" fmla="*/ 28902705 w 186"/>
                <a:gd name="T63" fmla="*/ 70190354 h 318"/>
                <a:gd name="T64" fmla="*/ 34682854 w 186"/>
                <a:gd name="T65" fmla="*/ 52642518 h 318"/>
                <a:gd name="T66" fmla="*/ 28902705 w 186"/>
                <a:gd name="T67" fmla="*/ 35094683 h 318"/>
                <a:gd name="T68" fmla="*/ 23122557 w 186"/>
                <a:gd name="T69" fmla="*/ 17547836 h 318"/>
                <a:gd name="T70" fmla="*/ 23122557 w 186"/>
                <a:gd name="T71" fmla="*/ 5849608 h 318"/>
                <a:gd name="T72" fmla="*/ 40463984 w 186"/>
                <a:gd name="T73" fmla="*/ 0 h 318"/>
                <a:gd name="T74" fmla="*/ 52024281 w 186"/>
                <a:gd name="T75" fmla="*/ 17547836 h 318"/>
                <a:gd name="T76" fmla="*/ 63585559 w 186"/>
                <a:gd name="T77" fmla="*/ 29246063 h 318"/>
                <a:gd name="T78" fmla="*/ 75146838 w 186"/>
                <a:gd name="T79" fmla="*/ 23396455 h 318"/>
                <a:gd name="T80" fmla="*/ 86708116 w 186"/>
                <a:gd name="T81" fmla="*/ 23396455 h 318"/>
                <a:gd name="T82" fmla="*/ 98269395 w 186"/>
                <a:gd name="T83" fmla="*/ 23396455 h 318"/>
                <a:gd name="T84" fmla="*/ 109829692 w 186"/>
                <a:gd name="T85" fmla="*/ 29246063 h 318"/>
                <a:gd name="T86" fmla="*/ 115610822 w 186"/>
                <a:gd name="T87" fmla="*/ 35094683 h 318"/>
                <a:gd name="T88" fmla="*/ 132952249 w 186"/>
                <a:gd name="T89" fmla="*/ 40944291 h 318"/>
                <a:gd name="T90" fmla="*/ 144513527 w 186"/>
                <a:gd name="T91" fmla="*/ 64340746 h 318"/>
                <a:gd name="T92" fmla="*/ 156073824 w 186"/>
                <a:gd name="T93" fmla="*/ 87737201 h 318"/>
                <a:gd name="T94" fmla="*/ 161854954 w 186"/>
                <a:gd name="T95" fmla="*/ 111133656 h 318"/>
                <a:gd name="T96" fmla="*/ 161854954 w 186"/>
                <a:gd name="T97" fmla="*/ 128681492 h 318"/>
                <a:gd name="T98" fmla="*/ 167635103 w 186"/>
                <a:gd name="T99" fmla="*/ 146229328 h 318"/>
                <a:gd name="T100" fmla="*/ 179196381 w 186"/>
                <a:gd name="T101" fmla="*/ 157927555 h 318"/>
                <a:gd name="T102" fmla="*/ 167635103 w 186"/>
                <a:gd name="T103" fmla="*/ 169625783 h 318"/>
                <a:gd name="T104" fmla="*/ 156073824 w 186"/>
                <a:gd name="T105" fmla="*/ 181324010 h 318"/>
                <a:gd name="T106" fmla="*/ 150293676 w 186"/>
                <a:gd name="T107" fmla="*/ 204720466 h 318"/>
                <a:gd name="T108" fmla="*/ 132952249 w 186"/>
                <a:gd name="T109" fmla="*/ 216418693 h 318"/>
                <a:gd name="T110" fmla="*/ 121390970 w 186"/>
                <a:gd name="T111" fmla="*/ 228116921 h 318"/>
                <a:gd name="T112" fmla="*/ 115610822 w 186"/>
                <a:gd name="T113" fmla="*/ 245664756 h 31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86"/>
                <a:gd name="T172" fmla="*/ 0 h 318"/>
                <a:gd name="T173" fmla="*/ 186 w 186"/>
                <a:gd name="T174" fmla="*/ 318 h 31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86" h="318">
                  <a:moveTo>
                    <a:pt x="120" y="252"/>
                  </a:moveTo>
                  <a:lnTo>
                    <a:pt x="114" y="252"/>
                  </a:lnTo>
                  <a:lnTo>
                    <a:pt x="114" y="246"/>
                  </a:lnTo>
                  <a:lnTo>
                    <a:pt x="108" y="252"/>
                  </a:lnTo>
                  <a:lnTo>
                    <a:pt x="102" y="252"/>
                  </a:lnTo>
                  <a:lnTo>
                    <a:pt x="102" y="258"/>
                  </a:lnTo>
                  <a:lnTo>
                    <a:pt x="102" y="264"/>
                  </a:lnTo>
                  <a:lnTo>
                    <a:pt x="96" y="264"/>
                  </a:lnTo>
                  <a:lnTo>
                    <a:pt x="96" y="270"/>
                  </a:lnTo>
                  <a:lnTo>
                    <a:pt x="96" y="276"/>
                  </a:lnTo>
                  <a:lnTo>
                    <a:pt x="102" y="276"/>
                  </a:lnTo>
                  <a:lnTo>
                    <a:pt x="102" y="282"/>
                  </a:lnTo>
                  <a:lnTo>
                    <a:pt x="96" y="282"/>
                  </a:lnTo>
                  <a:lnTo>
                    <a:pt x="90" y="288"/>
                  </a:lnTo>
                  <a:lnTo>
                    <a:pt x="84" y="294"/>
                  </a:lnTo>
                  <a:lnTo>
                    <a:pt x="78" y="300"/>
                  </a:lnTo>
                  <a:lnTo>
                    <a:pt x="78" y="294"/>
                  </a:lnTo>
                  <a:lnTo>
                    <a:pt x="72" y="294"/>
                  </a:lnTo>
                  <a:lnTo>
                    <a:pt x="66" y="294"/>
                  </a:lnTo>
                  <a:lnTo>
                    <a:pt x="60" y="300"/>
                  </a:lnTo>
                  <a:lnTo>
                    <a:pt x="60" y="294"/>
                  </a:lnTo>
                  <a:lnTo>
                    <a:pt x="60" y="288"/>
                  </a:lnTo>
                  <a:lnTo>
                    <a:pt x="54" y="288"/>
                  </a:lnTo>
                  <a:lnTo>
                    <a:pt x="54" y="294"/>
                  </a:lnTo>
                  <a:lnTo>
                    <a:pt x="48" y="294"/>
                  </a:lnTo>
                  <a:lnTo>
                    <a:pt x="42" y="294"/>
                  </a:lnTo>
                  <a:lnTo>
                    <a:pt x="42" y="300"/>
                  </a:lnTo>
                  <a:lnTo>
                    <a:pt x="36" y="300"/>
                  </a:lnTo>
                  <a:lnTo>
                    <a:pt x="36" y="306"/>
                  </a:lnTo>
                  <a:lnTo>
                    <a:pt x="36" y="312"/>
                  </a:lnTo>
                  <a:lnTo>
                    <a:pt x="30" y="312"/>
                  </a:lnTo>
                  <a:lnTo>
                    <a:pt x="30" y="318"/>
                  </a:lnTo>
                  <a:lnTo>
                    <a:pt x="30" y="312"/>
                  </a:lnTo>
                  <a:lnTo>
                    <a:pt x="30" y="318"/>
                  </a:lnTo>
                  <a:lnTo>
                    <a:pt x="24" y="318"/>
                  </a:lnTo>
                  <a:lnTo>
                    <a:pt x="18" y="312"/>
                  </a:lnTo>
                  <a:lnTo>
                    <a:pt x="12" y="312"/>
                  </a:lnTo>
                  <a:lnTo>
                    <a:pt x="12" y="306"/>
                  </a:lnTo>
                  <a:lnTo>
                    <a:pt x="6" y="306"/>
                  </a:lnTo>
                  <a:lnTo>
                    <a:pt x="0" y="306"/>
                  </a:lnTo>
                  <a:lnTo>
                    <a:pt x="0" y="300"/>
                  </a:lnTo>
                  <a:lnTo>
                    <a:pt x="0" y="294"/>
                  </a:lnTo>
                  <a:lnTo>
                    <a:pt x="6" y="294"/>
                  </a:lnTo>
                  <a:lnTo>
                    <a:pt x="6" y="288"/>
                  </a:lnTo>
                  <a:lnTo>
                    <a:pt x="12" y="288"/>
                  </a:lnTo>
                  <a:lnTo>
                    <a:pt x="12" y="282"/>
                  </a:lnTo>
                  <a:lnTo>
                    <a:pt x="6" y="282"/>
                  </a:lnTo>
                  <a:lnTo>
                    <a:pt x="0" y="282"/>
                  </a:lnTo>
                  <a:lnTo>
                    <a:pt x="0" y="276"/>
                  </a:lnTo>
                  <a:lnTo>
                    <a:pt x="6" y="270"/>
                  </a:lnTo>
                  <a:lnTo>
                    <a:pt x="6" y="264"/>
                  </a:lnTo>
                  <a:lnTo>
                    <a:pt x="6" y="270"/>
                  </a:lnTo>
                  <a:lnTo>
                    <a:pt x="6" y="264"/>
                  </a:lnTo>
                  <a:lnTo>
                    <a:pt x="6" y="258"/>
                  </a:lnTo>
                  <a:lnTo>
                    <a:pt x="12" y="258"/>
                  </a:lnTo>
                  <a:lnTo>
                    <a:pt x="18" y="258"/>
                  </a:lnTo>
                  <a:lnTo>
                    <a:pt x="24" y="258"/>
                  </a:lnTo>
                  <a:lnTo>
                    <a:pt x="24" y="252"/>
                  </a:lnTo>
                  <a:lnTo>
                    <a:pt x="30" y="252"/>
                  </a:lnTo>
                  <a:lnTo>
                    <a:pt x="30" y="246"/>
                  </a:lnTo>
                  <a:lnTo>
                    <a:pt x="36" y="246"/>
                  </a:lnTo>
                  <a:lnTo>
                    <a:pt x="36" y="240"/>
                  </a:lnTo>
                  <a:lnTo>
                    <a:pt x="36" y="234"/>
                  </a:lnTo>
                  <a:lnTo>
                    <a:pt x="42" y="234"/>
                  </a:lnTo>
                  <a:lnTo>
                    <a:pt x="42" y="228"/>
                  </a:lnTo>
                  <a:lnTo>
                    <a:pt x="48" y="228"/>
                  </a:lnTo>
                  <a:lnTo>
                    <a:pt x="48" y="222"/>
                  </a:lnTo>
                  <a:lnTo>
                    <a:pt x="54" y="222"/>
                  </a:lnTo>
                  <a:lnTo>
                    <a:pt x="54" y="216"/>
                  </a:lnTo>
                  <a:lnTo>
                    <a:pt x="54" y="210"/>
                  </a:lnTo>
                  <a:lnTo>
                    <a:pt x="60" y="210"/>
                  </a:lnTo>
                  <a:lnTo>
                    <a:pt x="60" y="204"/>
                  </a:lnTo>
                  <a:lnTo>
                    <a:pt x="60" y="198"/>
                  </a:lnTo>
                  <a:lnTo>
                    <a:pt x="54" y="198"/>
                  </a:lnTo>
                  <a:lnTo>
                    <a:pt x="54" y="192"/>
                  </a:lnTo>
                  <a:lnTo>
                    <a:pt x="48" y="192"/>
                  </a:lnTo>
                  <a:lnTo>
                    <a:pt x="48" y="186"/>
                  </a:lnTo>
                  <a:lnTo>
                    <a:pt x="54" y="180"/>
                  </a:lnTo>
                  <a:lnTo>
                    <a:pt x="48" y="180"/>
                  </a:lnTo>
                  <a:lnTo>
                    <a:pt x="54" y="180"/>
                  </a:lnTo>
                  <a:lnTo>
                    <a:pt x="54" y="174"/>
                  </a:lnTo>
                  <a:lnTo>
                    <a:pt x="48" y="174"/>
                  </a:lnTo>
                  <a:lnTo>
                    <a:pt x="54" y="174"/>
                  </a:lnTo>
                  <a:lnTo>
                    <a:pt x="54" y="168"/>
                  </a:lnTo>
                  <a:lnTo>
                    <a:pt x="48" y="168"/>
                  </a:lnTo>
                  <a:lnTo>
                    <a:pt x="48" y="162"/>
                  </a:lnTo>
                  <a:lnTo>
                    <a:pt x="42" y="162"/>
                  </a:lnTo>
                  <a:lnTo>
                    <a:pt x="36" y="162"/>
                  </a:lnTo>
                  <a:lnTo>
                    <a:pt x="42" y="162"/>
                  </a:lnTo>
                  <a:lnTo>
                    <a:pt x="42" y="156"/>
                  </a:lnTo>
                  <a:lnTo>
                    <a:pt x="42" y="150"/>
                  </a:lnTo>
                  <a:lnTo>
                    <a:pt x="42" y="156"/>
                  </a:lnTo>
                  <a:lnTo>
                    <a:pt x="42" y="150"/>
                  </a:lnTo>
                  <a:lnTo>
                    <a:pt x="42" y="144"/>
                  </a:lnTo>
                  <a:lnTo>
                    <a:pt x="48" y="144"/>
                  </a:lnTo>
                  <a:lnTo>
                    <a:pt x="42" y="144"/>
                  </a:lnTo>
                  <a:lnTo>
                    <a:pt x="48" y="144"/>
                  </a:lnTo>
                  <a:lnTo>
                    <a:pt x="48" y="138"/>
                  </a:lnTo>
                  <a:lnTo>
                    <a:pt x="48" y="132"/>
                  </a:lnTo>
                  <a:lnTo>
                    <a:pt x="54" y="132"/>
                  </a:lnTo>
                  <a:lnTo>
                    <a:pt x="54" y="126"/>
                  </a:lnTo>
                  <a:lnTo>
                    <a:pt x="60" y="126"/>
                  </a:lnTo>
                  <a:lnTo>
                    <a:pt x="60" y="120"/>
                  </a:lnTo>
                  <a:lnTo>
                    <a:pt x="60" y="114"/>
                  </a:lnTo>
                  <a:lnTo>
                    <a:pt x="54" y="114"/>
                  </a:lnTo>
                  <a:lnTo>
                    <a:pt x="48" y="114"/>
                  </a:lnTo>
                  <a:lnTo>
                    <a:pt x="48" y="108"/>
                  </a:lnTo>
                  <a:lnTo>
                    <a:pt x="54" y="102"/>
                  </a:lnTo>
                  <a:lnTo>
                    <a:pt x="60" y="102"/>
                  </a:lnTo>
                  <a:lnTo>
                    <a:pt x="60" y="96"/>
                  </a:lnTo>
                  <a:lnTo>
                    <a:pt x="60" y="90"/>
                  </a:lnTo>
                  <a:lnTo>
                    <a:pt x="60" y="84"/>
                  </a:lnTo>
                  <a:lnTo>
                    <a:pt x="54" y="84"/>
                  </a:lnTo>
                  <a:lnTo>
                    <a:pt x="54" y="90"/>
                  </a:lnTo>
                  <a:lnTo>
                    <a:pt x="48" y="90"/>
                  </a:lnTo>
                  <a:lnTo>
                    <a:pt x="48" y="84"/>
                  </a:lnTo>
                  <a:lnTo>
                    <a:pt x="48" y="78"/>
                  </a:lnTo>
                  <a:lnTo>
                    <a:pt x="42" y="78"/>
                  </a:lnTo>
                  <a:lnTo>
                    <a:pt x="42" y="84"/>
                  </a:lnTo>
                  <a:lnTo>
                    <a:pt x="36" y="84"/>
                  </a:lnTo>
                  <a:lnTo>
                    <a:pt x="36" y="90"/>
                  </a:lnTo>
                  <a:lnTo>
                    <a:pt x="30" y="90"/>
                  </a:lnTo>
                  <a:lnTo>
                    <a:pt x="30" y="84"/>
                  </a:lnTo>
                  <a:lnTo>
                    <a:pt x="24" y="84"/>
                  </a:lnTo>
                  <a:lnTo>
                    <a:pt x="18" y="84"/>
                  </a:lnTo>
                  <a:lnTo>
                    <a:pt x="24" y="78"/>
                  </a:lnTo>
                  <a:lnTo>
                    <a:pt x="30" y="78"/>
                  </a:lnTo>
                  <a:lnTo>
                    <a:pt x="30" y="72"/>
                  </a:lnTo>
                  <a:lnTo>
                    <a:pt x="30" y="66"/>
                  </a:lnTo>
                  <a:lnTo>
                    <a:pt x="30" y="60"/>
                  </a:lnTo>
                  <a:lnTo>
                    <a:pt x="30" y="54"/>
                  </a:lnTo>
                  <a:lnTo>
                    <a:pt x="36" y="54"/>
                  </a:lnTo>
                  <a:lnTo>
                    <a:pt x="36" y="48"/>
                  </a:lnTo>
                  <a:lnTo>
                    <a:pt x="36" y="42"/>
                  </a:lnTo>
                  <a:lnTo>
                    <a:pt x="36" y="36"/>
                  </a:lnTo>
                  <a:lnTo>
                    <a:pt x="30" y="36"/>
                  </a:lnTo>
                  <a:lnTo>
                    <a:pt x="30" y="30"/>
                  </a:lnTo>
                  <a:lnTo>
                    <a:pt x="30" y="24"/>
                  </a:lnTo>
                  <a:lnTo>
                    <a:pt x="30" y="18"/>
                  </a:lnTo>
                  <a:lnTo>
                    <a:pt x="24" y="18"/>
                  </a:lnTo>
                  <a:lnTo>
                    <a:pt x="30" y="18"/>
                  </a:lnTo>
                  <a:lnTo>
                    <a:pt x="24" y="18"/>
                  </a:lnTo>
                  <a:lnTo>
                    <a:pt x="24" y="12"/>
                  </a:lnTo>
                  <a:lnTo>
                    <a:pt x="24" y="6"/>
                  </a:lnTo>
                  <a:lnTo>
                    <a:pt x="30" y="6"/>
                  </a:lnTo>
                  <a:lnTo>
                    <a:pt x="30" y="0"/>
                  </a:lnTo>
                  <a:lnTo>
                    <a:pt x="36" y="0"/>
                  </a:lnTo>
                  <a:lnTo>
                    <a:pt x="42" y="0"/>
                  </a:lnTo>
                  <a:lnTo>
                    <a:pt x="42" y="6"/>
                  </a:lnTo>
                  <a:lnTo>
                    <a:pt x="48" y="6"/>
                  </a:lnTo>
                  <a:lnTo>
                    <a:pt x="48" y="12"/>
                  </a:lnTo>
                  <a:lnTo>
                    <a:pt x="54" y="18"/>
                  </a:lnTo>
                  <a:lnTo>
                    <a:pt x="54" y="24"/>
                  </a:lnTo>
                  <a:lnTo>
                    <a:pt x="60" y="24"/>
                  </a:lnTo>
                  <a:lnTo>
                    <a:pt x="60" y="30"/>
                  </a:lnTo>
                  <a:lnTo>
                    <a:pt x="66" y="30"/>
                  </a:lnTo>
                  <a:lnTo>
                    <a:pt x="72" y="30"/>
                  </a:lnTo>
                  <a:lnTo>
                    <a:pt x="78" y="24"/>
                  </a:lnTo>
                  <a:lnTo>
                    <a:pt x="78" y="30"/>
                  </a:lnTo>
                  <a:lnTo>
                    <a:pt x="78" y="24"/>
                  </a:lnTo>
                  <a:lnTo>
                    <a:pt x="78" y="30"/>
                  </a:lnTo>
                  <a:lnTo>
                    <a:pt x="78" y="36"/>
                  </a:lnTo>
                  <a:lnTo>
                    <a:pt x="84" y="30"/>
                  </a:lnTo>
                  <a:lnTo>
                    <a:pt x="90" y="24"/>
                  </a:lnTo>
                  <a:lnTo>
                    <a:pt x="90" y="30"/>
                  </a:lnTo>
                  <a:lnTo>
                    <a:pt x="90" y="24"/>
                  </a:lnTo>
                  <a:lnTo>
                    <a:pt x="96" y="24"/>
                  </a:lnTo>
                  <a:lnTo>
                    <a:pt x="102" y="24"/>
                  </a:lnTo>
                  <a:lnTo>
                    <a:pt x="102" y="18"/>
                  </a:lnTo>
                  <a:lnTo>
                    <a:pt x="108" y="24"/>
                  </a:lnTo>
                  <a:lnTo>
                    <a:pt x="108" y="30"/>
                  </a:lnTo>
                  <a:lnTo>
                    <a:pt x="114" y="30"/>
                  </a:lnTo>
                  <a:lnTo>
                    <a:pt x="114" y="24"/>
                  </a:lnTo>
                  <a:lnTo>
                    <a:pt x="120" y="24"/>
                  </a:lnTo>
                  <a:lnTo>
                    <a:pt x="120" y="30"/>
                  </a:lnTo>
                  <a:lnTo>
                    <a:pt x="120" y="36"/>
                  </a:lnTo>
                  <a:lnTo>
                    <a:pt x="120" y="42"/>
                  </a:lnTo>
                  <a:lnTo>
                    <a:pt x="126" y="42"/>
                  </a:lnTo>
                  <a:lnTo>
                    <a:pt x="132" y="42"/>
                  </a:lnTo>
                  <a:lnTo>
                    <a:pt x="138" y="42"/>
                  </a:lnTo>
                  <a:lnTo>
                    <a:pt x="138" y="60"/>
                  </a:lnTo>
                  <a:lnTo>
                    <a:pt x="138" y="66"/>
                  </a:lnTo>
                  <a:lnTo>
                    <a:pt x="144" y="66"/>
                  </a:lnTo>
                  <a:lnTo>
                    <a:pt x="150" y="66"/>
                  </a:lnTo>
                  <a:lnTo>
                    <a:pt x="150" y="72"/>
                  </a:lnTo>
                  <a:lnTo>
                    <a:pt x="156" y="78"/>
                  </a:lnTo>
                  <a:lnTo>
                    <a:pt x="156" y="84"/>
                  </a:lnTo>
                  <a:lnTo>
                    <a:pt x="162" y="90"/>
                  </a:lnTo>
                  <a:lnTo>
                    <a:pt x="162" y="96"/>
                  </a:lnTo>
                  <a:lnTo>
                    <a:pt x="168" y="102"/>
                  </a:lnTo>
                  <a:lnTo>
                    <a:pt x="168" y="108"/>
                  </a:lnTo>
                  <a:lnTo>
                    <a:pt x="168" y="114"/>
                  </a:lnTo>
                  <a:lnTo>
                    <a:pt x="162" y="120"/>
                  </a:lnTo>
                  <a:lnTo>
                    <a:pt x="162" y="126"/>
                  </a:lnTo>
                  <a:lnTo>
                    <a:pt x="162" y="132"/>
                  </a:lnTo>
                  <a:lnTo>
                    <a:pt x="168" y="132"/>
                  </a:lnTo>
                  <a:lnTo>
                    <a:pt x="168" y="138"/>
                  </a:lnTo>
                  <a:lnTo>
                    <a:pt x="168" y="144"/>
                  </a:lnTo>
                  <a:lnTo>
                    <a:pt x="168" y="150"/>
                  </a:lnTo>
                  <a:lnTo>
                    <a:pt x="174" y="150"/>
                  </a:lnTo>
                  <a:lnTo>
                    <a:pt x="180" y="150"/>
                  </a:lnTo>
                  <a:lnTo>
                    <a:pt x="180" y="156"/>
                  </a:lnTo>
                  <a:lnTo>
                    <a:pt x="186" y="156"/>
                  </a:lnTo>
                  <a:lnTo>
                    <a:pt x="186" y="162"/>
                  </a:lnTo>
                  <a:lnTo>
                    <a:pt x="180" y="162"/>
                  </a:lnTo>
                  <a:lnTo>
                    <a:pt x="180" y="168"/>
                  </a:lnTo>
                  <a:lnTo>
                    <a:pt x="180" y="174"/>
                  </a:lnTo>
                  <a:lnTo>
                    <a:pt x="174" y="174"/>
                  </a:lnTo>
                  <a:lnTo>
                    <a:pt x="174" y="180"/>
                  </a:lnTo>
                  <a:lnTo>
                    <a:pt x="168" y="180"/>
                  </a:lnTo>
                  <a:lnTo>
                    <a:pt x="162" y="180"/>
                  </a:lnTo>
                  <a:lnTo>
                    <a:pt x="162" y="186"/>
                  </a:lnTo>
                  <a:lnTo>
                    <a:pt x="162" y="192"/>
                  </a:lnTo>
                  <a:lnTo>
                    <a:pt x="162" y="198"/>
                  </a:lnTo>
                  <a:lnTo>
                    <a:pt x="156" y="204"/>
                  </a:lnTo>
                  <a:lnTo>
                    <a:pt x="156" y="210"/>
                  </a:lnTo>
                  <a:lnTo>
                    <a:pt x="156" y="216"/>
                  </a:lnTo>
                  <a:lnTo>
                    <a:pt x="150" y="216"/>
                  </a:lnTo>
                  <a:lnTo>
                    <a:pt x="144" y="216"/>
                  </a:lnTo>
                  <a:lnTo>
                    <a:pt x="138" y="222"/>
                  </a:lnTo>
                  <a:lnTo>
                    <a:pt x="132" y="222"/>
                  </a:lnTo>
                  <a:lnTo>
                    <a:pt x="132" y="228"/>
                  </a:lnTo>
                  <a:lnTo>
                    <a:pt x="126" y="228"/>
                  </a:lnTo>
                  <a:lnTo>
                    <a:pt x="126" y="234"/>
                  </a:lnTo>
                  <a:lnTo>
                    <a:pt x="126" y="240"/>
                  </a:lnTo>
                  <a:lnTo>
                    <a:pt x="120" y="240"/>
                  </a:lnTo>
                  <a:lnTo>
                    <a:pt x="120" y="246"/>
                  </a:lnTo>
                  <a:lnTo>
                    <a:pt x="120" y="252"/>
                  </a:lnTo>
                  <a:close/>
                </a:path>
              </a:pathLst>
            </a:custGeom>
            <a:solidFill>
              <a:schemeClr val="accent1"/>
            </a:solidFill>
            <a:ln w="9525">
              <a:solidFill>
                <a:srgbClr val="B2B2B2"/>
              </a:solidFill>
              <a:round/>
              <a:headEnd/>
              <a:tailEnd/>
            </a:ln>
          </p:spPr>
          <p:txBody>
            <a:bodyPr/>
            <a:lstStyle/>
            <a:p>
              <a:endParaRPr lang="en-CA"/>
            </a:p>
          </p:txBody>
        </p:sp>
        <p:sp>
          <p:nvSpPr>
            <p:cNvPr id="443" name="Freeform 502"/>
            <p:cNvSpPr>
              <a:spLocks/>
            </p:cNvSpPr>
            <p:nvPr>
              <p:custDataLst>
                <p:tags r:id="rId66"/>
              </p:custDataLst>
            </p:nvPr>
          </p:nvSpPr>
          <p:spPr bwMode="gray">
            <a:xfrm>
              <a:off x="2215" y="3181"/>
              <a:ext cx="172" cy="165"/>
            </a:xfrm>
            <a:custGeom>
              <a:avLst/>
              <a:gdLst>
                <a:gd name="T0" fmla="*/ 263592181 w 276"/>
                <a:gd name="T1" fmla="*/ 211965572 h 264"/>
                <a:gd name="T2" fmla="*/ 240161325 w 276"/>
                <a:gd name="T3" fmla="*/ 217853201 h 264"/>
                <a:gd name="T4" fmla="*/ 228446887 w 276"/>
                <a:gd name="T5" fmla="*/ 223740831 h 264"/>
                <a:gd name="T6" fmla="*/ 216731459 w 276"/>
                <a:gd name="T7" fmla="*/ 229628460 h 264"/>
                <a:gd name="T8" fmla="*/ 193300603 w 276"/>
                <a:gd name="T9" fmla="*/ 223740831 h 264"/>
                <a:gd name="T10" fmla="*/ 193300603 w 276"/>
                <a:gd name="T11" fmla="*/ 241404711 h 264"/>
                <a:gd name="T12" fmla="*/ 169870737 w 276"/>
                <a:gd name="T13" fmla="*/ 247292340 h 264"/>
                <a:gd name="T14" fmla="*/ 152297595 w 276"/>
                <a:gd name="T15" fmla="*/ 253180962 h 264"/>
                <a:gd name="T16" fmla="*/ 140582167 w 276"/>
                <a:gd name="T17" fmla="*/ 235517082 h 264"/>
                <a:gd name="T18" fmla="*/ 134725442 w 276"/>
                <a:gd name="T19" fmla="*/ 223740831 h 264"/>
                <a:gd name="T20" fmla="*/ 128867728 w 276"/>
                <a:gd name="T21" fmla="*/ 206076950 h 264"/>
                <a:gd name="T22" fmla="*/ 123010014 w 276"/>
                <a:gd name="T23" fmla="*/ 206076950 h 264"/>
                <a:gd name="T24" fmla="*/ 99579159 w 276"/>
                <a:gd name="T25" fmla="*/ 223740831 h 264"/>
                <a:gd name="T26" fmla="*/ 87863731 w 276"/>
                <a:gd name="T27" fmla="*/ 217853201 h 264"/>
                <a:gd name="T28" fmla="*/ 64433864 w 276"/>
                <a:gd name="T29" fmla="*/ 217853201 h 264"/>
                <a:gd name="T30" fmla="*/ 52718436 w 276"/>
                <a:gd name="T31" fmla="*/ 200189321 h 264"/>
                <a:gd name="T32" fmla="*/ 41003008 w 276"/>
                <a:gd name="T33" fmla="*/ 176637811 h 264"/>
                <a:gd name="T34" fmla="*/ 17573142 w 276"/>
                <a:gd name="T35" fmla="*/ 170750182 h 264"/>
                <a:gd name="T36" fmla="*/ 11715428 w 276"/>
                <a:gd name="T37" fmla="*/ 147197680 h 264"/>
                <a:gd name="T38" fmla="*/ 29287580 w 276"/>
                <a:gd name="T39" fmla="*/ 135422421 h 264"/>
                <a:gd name="T40" fmla="*/ 23430856 w 276"/>
                <a:gd name="T41" fmla="*/ 123646170 h 264"/>
                <a:gd name="T42" fmla="*/ 5857714 w 276"/>
                <a:gd name="T43" fmla="*/ 111870911 h 264"/>
                <a:gd name="T44" fmla="*/ 5857714 w 276"/>
                <a:gd name="T45" fmla="*/ 105982290 h 264"/>
                <a:gd name="T46" fmla="*/ 17573142 w 276"/>
                <a:gd name="T47" fmla="*/ 100094660 h 264"/>
                <a:gd name="T48" fmla="*/ 35145294 w 276"/>
                <a:gd name="T49" fmla="*/ 88318410 h 264"/>
                <a:gd name="T50" fmla="*/ 58576150 w 276"/>
                <a:gd name="T51" fmla="*/ 82430780 h 264"/>
                <a:gd name="T52" fmla="*/ 70291578 w 276"/>
                <a:gd name="T53" fmla="*/ 82430780 h 264"/>
                <a:gd name="T54" fmla="*/ 82006017 w 276"/>
                <a:gd name="T55" fmla="*/ 70655521 h 264"/>
                <a:gd name="T56" fmla="*/ 87863731 w 276"/>
                <a:gd name="T57" fmla="*/ 58879270 h 264"/>
                <a:gd name="T58" fmla="*/ 87863731 w 276"/>
                <a:gd name="T59" fmla="*/ 41215390 h 264"/>
                <a:gd name="T60" fmla="*/ 105436872 w 276"/>
                <a:gd name="T61" fmla="*/ 41215390 h 264"/>
                <a:gd name="T62" fmla="*/ 111294586 w 276"/>
                <a:gd name="T63" fmla="*/ 41215390 h 264"/>
                <a:gd name="T64" fmla="*/ 128867728 w 276"/>
                <a:gd name="T65" fmla="*/ 35327761 h 264"/>
                <a:gd name="T66" fmla="*/ 123010014 w 276"/>
                <a:gd name="T67" fmla="*/ 23551510 h 264"/>
                <a:gd name="T68" fmla="*/ 128867728 w 276"/>
                <a:gd name="T69" fmla="*/ 11776251 h 264"/>
                <a:gd name="T70" fmla="*/ 146439881 w 276"/>
                <a:gd name="T71" fmla="*/ 5887629 h 264"/>
                <a:gd name="T72" fmla="*/ 169870737 w 276"/>
                <a:gd name="T73" fmla="*/ 11776251 h 264"/>
                <a:gd name="T74" fmla="*/ 181586164 w 276"/>
                <a:gd name="T75" fmla="*/ 5887629 h 264"/>
                <a:gd name="T76" fmla="*/ 199158317 w 276"/>
                <a:gd name="T77" fmla="*/ 17663880 h 264"/>
                <a:gd name="T78" fmla="*/ 205016031 w 276"/>
                <a:gd name="T79" fmla="*/ 29439139 h 264"/>
                <a:gd name="T80" fmla="*/ 187442889 w 276"/>
                <a:gd name="T81" fmla="*/ 41215390 h 264"/>
                <a:gd name="T82" fmla="*/ 181586164 w 276"/>
                <a:gd name="T83" fmla="*/ 58879270 h 264"/>
                <a:gd name="T84" fmla="*/ 187442889 w 276"/>
                <a:gd name="T85" fmla="*/ 70655521 h 264"/>
                <a:gd name="T86" fmla="*/ 187442889 w 276"/>
                <a:gd name="T87" fmla="*/ 88318410 h 264"/>
                <a:gd name="T88" fmla="*/ 210873745 w 276"/>
                <a:gd name="T89" fmla="*/ 100094660 h 264"/>
                <a:gd name="T90" fmla="*/ 216731459 w 276"/>
                <a:gd name="T91" fmla="*/ 88318410 h 264"/>
                <a:gd name="T92" fmla="*/ 228446887 w 276"/>
                <a:gd name="T93" fmla="*/ 94207031 h 264"/>
                <a:gd name="T94" fmla="*/ 234304601 w 276"/>
                <a:gd name="T95" fmla="*/ 117758541 h 264"/>
                <a:gd name="T96" fmla="*/ 251876753 w 276"/>
                <a:gd name="T97" fmla="*/ 135422421 h 264"/>
                <a:gd name="T98" fmla="*/ 263592181 w 276"/>
                <a:gd name="T99" fmla="*/ 153086302 h 264"/>
                <a:gd name="T100" fmla="*/ 263592181 w 276"/>
                <a:gd name="T101" fmla="*/ 158973931 h 264"/>
                <a:gd name="T102" fmla="*/ 251876753 w 276"/>
                <a:gd name="T103" fmla="*/ 164861560 h 264"/>
                <a:gd name="T104" fmla="*/ 251876753 w 276"/>
                <a:gd name="T105" fmla="*/ 182525441 h 2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76"/>
                <a:gd name="T160" fmla="*/ 0 h 264"/>
                <a:gd name="T161" fmla="*/ 276 w 276"/>
                <a:gd name="T162" fmla="*/ 264 h 2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76" h="264">
                  <a:moveTo>
                    <a:pt x="264" y="198"/>
                  </a:moveTo>
                  <a:lnTo>
                    <a:pt x="264" y="204"/>
                  </a:lnTo>
                  <a:lnTo>
                    <a:pt x="264" y="210"/>
                  </a:lnTo>
                  <a:lnTo>
                    <a:pt x="270" y="210"/>
                  </a:lnTo>
                  <a:lnTo>
                    <a:pt x="270" y="216"/>
                  </a:lnTo>
                  <a:lnTo>
                    <a:pt x="264" y="216"/>
                  </a:lnTo>
                  <a:lnTo>
                    <a:pt x="258" y="216"/>
                  </a:lnTo>
                  <a:lnTo>
                    <a:pt x="258" y="222"/>
                  </a:lnTo>
                  <a:lnTo>
                    <a:pt x="252" y="222"/>
                  </a:lnTo>
                  <a:lnTo>
                    <a:pt x="246" y="222"/>
                  </a:lnTo>
                  <a:lnTo>
                    <a:pt x="246" y="216"/>
                  </a:lnTo>
                  <a:lnTo>
                    <a:pt x="246" y="222"/>
                  </a:lnTo>
                  <a:lnTo>
                    <a:pt x="246" y="228"/>
                  </a:lnTo>
                  <a:lnTo>
                    <a:pt x="240" y="228"/>
                  </a:lnTo>
                  <a:lnTo>
                    <a:pt x="234" y="228"/>
                  </a:lnTo>
                  <a:lnTo>
                    <a:pt x="234" y="234"/>
                  </a:lnTo>
                  <a:lnTo>
                    <a:pt x="234" y="228"/>
                  </a:lnTo>
                  <a:lnTo>
                    <a:pt x="228" y="228"/>
                  </a:lnTo>
                  <a:lnTo>
                    <a:pt x="228" y="234"/>
                  </a:lnTo>
                  <a:lnTo>
                    <a:pt x="222" y="234"/>
                  </a:lnTo>
                  <a:lnTo>
                    <a:pt x="222" y="228"/>
                  </a:lnTo>
                  <a:lnTo>
                    <a:pt x="216" y="228"/>
                  </a:lnTo>
                  <a:lnTo>
                    <a:pt x="210" y="228"/>
                  </a:lnTo>
                  <a:lnTo>
                    <a:pt x="204" y="228"/>
                  </a:lnTo>
                  <a:lnTo>
                    <a:pt x="198" y="228"/>
                  </a:lnTo>
                  <a:lnTo>
                    <a:pt x="198" y="234"/>
                  </a:lnTo>
                  <a:lnTo>
                    <a:pt x="198" y="240"/>
                  </a:lnTo>
                  <a:lnTo>
                    <a:pt x="192" y="240"/>
                  </a:lnTo>
                  <a:lnTo>
                    <a:pt x="198" y="240"/>
                  </a:lnTo>
                  <a:lnTo>
                    <a:pt x="198" y="246"/>
                  </a:lnTo>
                  <a:lnTo>
                    <a:pt x="192" y="246"/>
                  </a:lnTo>
                  <a:lnTo>
                    <a:pt x="192" y="252"/>
                  </a:lnTo>
                  <a:lnTo>
                    <a:pt x="186" y="252"/>
                  </a:lnTo>
                  <a:lnTo>
                    <a:pt x="180" y="252"/>
                  </a:lnTo>
                  <a:lnTo>
                    <a:pt x="174" y="252"/>
                  </a:lnTo>
                  <a:lnTo>
                    <a:pt x="174" y="258"/>
                  </a:lnTo>
                  <a:lnTo>
                    <a:pt x="168" y="258"/>
                  </a:lnTo>
                  <a:lnTo>
                    <a:pt x="162" y="264"/>
                  </a:lnTo>
                  <a:lnTo>
                    <a:pt x="162" y="258"/>
                  </a:lnTo>
                  <a:lnTo>
                    <a:pt x="156" y="258"/>
                  </a:lnTo>
                  <a:lnTo>
                    <a:pt x="156" y="252"/>
                  </a:lnTo>
                  <a:lnTo>
                    <a:pt x="156" y="246"/>
                  </a:lnTo>
                  <a:lnTo>
                    <a:pt x="150" y="246"/>
                  </a:lnTo>
                  <a:lnTo>
                    <a:pt x="144" y="246"/>
                  </a:lnTo>
                  <a:lnTo>
                    <a:pt x="144" y="240"/>
                  </a:lnTo>
                  <a:lnTo>
                    <a:pt x="138" y="240"/>
                  </a:lnTo>
                  <a:lnTo>
                    <a:pt x="144" y="240"/>
                  </a:lnTo>
                  <a:lnTo>
                    <a:pt x="144" y="234"/>
                  </a:lnTo>
                  <a:lnTo>
                    <a:pt x="138" y="234"/>
                  </a:lnTo>
                  <a:lnTo>
                    <a:pt x="138" y="228"/>
                  </a:lnTo>
                  <a:lnTo>
                    <a:pt x="132" y="222"/>
                  </a:lnTo>
                  <a:lnTo>
                    <a:pt x="126" y="222"/>
                  </a:lnTo>
                  <a:lnTo>
                    <a:pt x="126" y="216"/>
                  </a:lnTo>
                  <a:lnTo>
                    <a:pt x="132" y="216"/>
                  </a:lnTo>
                  <a:lnTo>
                    <a:pt x="132" y="210"/>
                  </a:lnTo>
                  <a:lnTo>
                    <a:pt x="132" y="204"/>
                  </a:lnTo>
                  <a:lnTo>
                    <a:pt x="126" y="204"/>
                  </a:lnTo>
                  <a:lnTo>
                    <a:pt x="126" y="210"/>
                  </a:lnTo>
                  <a:lnTo>
                    <a:pt x="126" y="204"/>
                  </a:lnTo>
                  <a:lnTo>
                    <a:pt x="126" y="210"/>
                  </a:lnTo>
                  <a:lnTo>
                    <a:pt x="120" y="216"/>
                  </a:lnTo>
                  <a:lnTo>
                    <a:pt x="114" y="222"/>
                  </a:lnTo>
                  <a:lnTo>
                    <a:pt x="108" y="222"/>
                  </a:lnTo>
                  <a:lnTo>
                    <a:pt x="108" y="228"/>
                  </a:lnTo>
                  <a:lnTo>
                    <a:pt x="102" y="228"/>
                  </a:lnTo>
                  <a:lnTo>
                    <a:pt x="96" y="228"/>
                  </a:lnTo>
                  <a:lnTo>
                    <a:pt x="96" y="222"/>
                  </a:lnTo>
                  <a:lnTo>
                    <a:pt x="90" y="222"/>
                  </a:lnTo>
                  <a:lnTo>
                    <a:pt x="90" y="228"/>
                  </a:lnTo>
                  <a:lnTo>
                    <a:pt x="90" y="222"/>
                  </a:lnTo>
                  <a:lnTo>
                    <a:pt x="84" y="222"/>
                  </a:lnTo>
                  <a:lnTo>
                    <a:pt x="78" y="222"/>
                  </a:lnTo>
                  <a:lnTo>
                    <a:pt x="72" y="222"/>
                  </a:lnTo>
                  <a:lnTo>
                    <a:pt x="72" y="216"/>
                  </a:lnTo>
                  <a:lnTo>
                    <a:pt x="66" y="222"/>
                  </a:lnTo>
                  <a:lnTo>
                    <a:pt x="60" y="222"/>
                  </a:lnTo>
                  <a:lnTo>
                    <a:pt x="60" y="216"/>
                  </a:lnTo>
                  <a:lnTo>
                    <a:pt x="60" y="210"/>
                  </a:lnTo>
                  <a:lnTo>
                    <a:pt x="60" y="204"/>
                  </a:lnTo>
                  <a:lnTo>
                    <a:pt x="54" y="204"/>
                  </a:lnTo>
                  <a:lnTo>
                    <a:pt x="54" y="198"/>
                  </a:lnTo>
                  <a:lnTo>
                    <a:pt x="54" y="192"/>
                  </a:lnTo>
                  <a:lnTo>
                    <a:pt x="48" y="186"/>
                  </a:lnTo>
                  <a:lnTo>
                    <a:pt x="42" y="186"/>
                  </a:lnTo>
                  <a:lnTo>
                    <a:pt x="42" y="180"/>
                  </a:lnTo>
                  <a:lnTo>
                    <a:pt x="36" y="180"/>
                  </a:lnTo>
                  <a:lnTo>
                    <a:pt x="30" y="180"/>
                  </a:lnTo>
                  <a:lnTo>
                    <a:pt x="30" y="174"/>
                  </a:lnTo>
                  <a:lnTo>
                    <a:pt x="24" y="180"/>
                  </a:lnTo>
                  <a:lnTo>
                    <a:pt x="18" y="174"/>
                  </a:lnTo>
                  <a:lnTo>
                    <a:pt x="18" y="168"/>
                  </a:lnTo>
                  <a:lnTo>
                    <a:pt x="18" y="162"/>
                  </a:lnTo>
                  <a:lnTo>
                    <a:pt x="18" y="156"/>
                  </a:lnTo>
                  <a:lnTo>
                    <a:pt x="12" y="156"/>
                  </a:lnTo>
                  <a:lnTo>
                    <a:pt x="12" y="150"/>
                  </a:lnTo>
                  <a:lnTo>
                    <a:pt x="12" y="144"/>
                  </a:lnTo>
                  <a:lnTo>
                    <a:pt x="18" y="144"/>
                  </a:lnTo>
                  <a:lnTo>
                    <a:pt x="24" y="144"/>
                  </a:lnTo>
                  <a:lnTo>
                    <a:pt x="30" y="144"/>
                  </a:lnTo>
                  <a:lnTo>
                    <a:pt x="30" y="138"/>
                  </a:lnTo>
                  <a:lnTo>
                    <a:pt x="36" y="132"/>
                  </a:lnTo>
                  <a:lnTo>
                    <a:pt x="30" y="132"/>
                  </a:lnTo>
                  <a:lnTo>
                    <a:pt x="24" y="132"/>
                  </a:lnTo>
                  <a:lnTo>
                    <a:pt x="30" y="126"/>
                  </a:lnTo>
                  <a:lnTo>
                    <a:pt x="24" y="126"/>
                  </a:lnTo>
                  <a:lnTo>
                    <a:pt x="24" y="120"/>
                  </a:lnTo>
                  <a:lnTo>
                    <a:pt x="18" y="120"/>
                  </a:lnTo>
                  <a:lnTo>
                    <a:pt x="12" y="120"/>
                  </a:lnTo>
                  <a:lnTo>
                    <a:pt x="6" y="120"/>
                  </a:lnTo>
                  <a:lnTo>
                    <a:pt x="6" y="114"/>
                  </a:lnTo>
                  <a:lnTo>
                    <a:pt x="0" y="114"/>
                  </a:lnTo>
                  <a:lnTo>
                    <a:pt x="6" y="114"/>
                  </a:lnTo>
                  <a:lnTo>
                    <a:pt x="0" y="114"/>
                  </a:lnTo>
                  <a:lnTo>
                    <a:pt x="6" y="114"/>
                  </a:lnTo>
                  <a:lnTo>
                    <a:pt x="6" y="108"/>
                  </a:lnTo>
                  <a:lnTo>
                    <a:pt x="12" y="114"/>
                  </a:lnTo>
                  <a:lnTo>
                    <a:pt x="12" y="108"/>
                  </a:lnTo>
                  <a:lnTo>
                    <a:pt x="18" y="108"/>
                  </a:lnTo>
                  <a:lnTo>
                    <a:pt x="12" y="102"/>
                  </a:lnTo>
                  <a:lnTo>
                    <a:pt x="18" y="102"/>
                  </a:lnTo>
                  <a:lnTo>
                    <a:pt x="24" y="102"/>
                  </a:lnTo>
                  <a:lnTo>
                    <a:pt x="30" y="102"/>
                  </a:lnTo>
                  <a:lnTo>
                    <a:pt x="30" y="96"/>
                  </a:lnTo>
                  <a:lnTo>
                    <a:pt x="36" y="96"/>
                  </a:lnTo>
                  <a:lnTo>
                    <a:pt x="36" y="90"/>
                  </a:lnTo>
                  <a:lnTo>
                    <a:pt x="42" y="90"/>
                  </a:lnTo>
                  <a:lnTo>
                    <a:pt x="48" y="90"/>
                  </a:lnTo>
                  <a:lnTo>
                    <a:pt x="48" y="84"/>
                  </a:lnTo>
                  <a:lnTo>
                    <a:pt x="54" y="84"/>
                  </a:lnTo>
                  <a:lnTo>
                    <a:pt x="60" y="84"/>
                  </a:lnTo>
                  <a:lnTo>
                    <a:pt x="66" y="84"/>
                  </a:lnTo>
                  <a:lnTo>
                    <a:pt x="66" y="78"/>
                  </a:lnTo>
                  <a:lnTo>
                    <a:pt x="66" y="84"/>
                  </a:lnTo>
                  <a:lnTo>
                    <a:pt x="66" y="78"/>
                  </a:lnTo>
                  <a:lnTo>
                    <a:pt x="72" y="84"/>
                  </a:lnTo>
                  <a:lnTo>
                    <a:pt x="72" y="78"/>
                  </a:lnTo>
                  <a:lnTo>
                    <a:pt x="72" y="72"/>
                  </a:lnTo>
                  <a:lnTo>
                    <a:pt x="78" y="72"/>
                  </a:lnTo>
                  <a:lnTo>
                    <a:pt x="78" y="66"/>
                  </a:lnTo>
                  <a:lnTo>
                    <a:pt x="84" y="72"/>
                  </a:lnTo>
                  <a:lnTo>
                    <a:pt x="84" y="66"/>
                  </a:lnTo>
                  <a:lnTo>
                    <a:pt x="84" y="60"/>
                  </a:lnTo>
                  <a:lnTo>
                    <a:pt x="90" y="60"/>
                  </a:lnTo>
                  <a:lnTo>
                    <a:pt x="84" y="60"/>
                  </a:lnTo>
                  <a:lnTo>
                    <a:pt x="90" y="60"/>
                  </a:lnTo>
                  <a:lnTo>
                    <a:pt x="90" y="54"/>
                  </a:lnTo>
                  <a:lnTo>
                    <a:pt x="90" y="48"/>
                  </a:lnTo>
                  <a:lnTo>
                    <a:pt x="96" y="48"/>
                  </a:lnTo>
                  <a:lnTo>
                    <a:pt x="90" y="48"/>
                  </a:lnTo>
                  <a:lnTo>
                    <a:pt x="90" y="42"/>
                  </a:lnTo>
                  <a:lnTo>
                    <a:pt x="96" y="42"/>
                  </a:lnTo>
                  <a:lnTo>
                    <a:pt x="102" y="42"/>
                  </a:lnTo>
                  <a:lnTo>
                    <a:pt x="108" y="42"/>
                  </a:lnTo>
                  <a:lnTo>
                    <a:pt x="108" y="48"/>
                  </a:lnTo>
                  <a:lnTo>
                    <a:pt x="108" y="42"/>
                  </a:lnTo>
                  <a:lnTo>
                    <a:pt x="114" y="42"/>
                  </a:lnTo>
                  <a:lnTo>
                    <a:pt x="114" y="48"/>
                  </a:lnTo>
                  <a:lnTo>
                    <a:pt x="114" y="42"/>
                  </a:lnTo>
                  <a:lnTo>
                    <a:pt x="120" y="48"/>
                  </a:lnTo>
                  <a:lnTo>
                    <a:pt x="114" y="42"/>
                  </a:lnTo>
                  <a:lnTo>
                    <a:pt x="120" y="42"/>
                  </a:lnTo>
                  <a:lnTo>
                    <a:pt x="120" y="36"/>
                  </a:lnTo>
                  <a:lnTo>
                    <a:pt x="120" y="42"/>
                  </a:lnTo>
                  <a:lnTo>
                    <a:pt x="126" y="42"/>
                  </a:lnTo>
                  <a:lnTo>
                    <a:pt x="132" y="36"/>
                  </a:lnTo>
                  <a:lnTo>
                    <a:pt x="138" y="36"/>
                  </a:lnTo>
                  <a:lnTo>
                    <a:pt x="132" y="36"/>
                  </a:lnTo>
                  <a:lnTo>
                    <a:pt x="132" y="30"/>
                  </a:lnTo>
                  <a:lnTo>
                    <a:pt x="132" y="24"/>
                  </a:lnTo>
                  <a:lnTo>
                    <a:pt x="126" y="24"/>
                  </a:lnTo>
                  <a:lnTo>
                    <a:pt x="126" y="18"/>
                  </a:lnTo>
                  <a:lnTo>
                    <a:pt x="132" y="18"/>
                  </a:lnTo>
                  <a:lnTo>
                    <a:pt x="132" y="12"/>
                  </a:lnTo>
                  <a:lnTo>
                    <a:pt x="126" y="12"/>
                  </a:lnTo>
                  <a:lnTo>
                    <a:pt x="132" y="12"/>
                  </a:lnTo>
                  <a:lnTo>
                    <a:pt x="132" y="6"/>
                  </a:lnTo>
                  <a:lnTo>
                    <a:pt x="138" y="0"/>
                  </a:lnTo>
                  <a:lnTo>
                    <a:pt x="144" y="0"/>
                  </a:lnTo>
                  <a:lnTo>
                    <a:pt x="150" y="0"/>
                  </a:lnTo>
                  <a:lnTo>
                    <a:pt x="150" y="6"/>
                  </a:lnTo>
                  <a:lnTo>
                    <a:pt x="156" y="6"/>
                  </a:lnTo>
                  <a:lnTo>
                    <a:pt x="162" y="6"/>
                  </a:lnTo>
                  <a:lnTo>
                    <a:pt x="162" y="12"/>
                  </a:lnTo>
                  <a:lnTo>
                    <a:pt x="168" y="12"/>
                  </a:lnTo>
                  <a:lnTo>
                    <a:pt x="174" y="12"/>
                  </a:lnTo>
                  <a:lnTo>
                    <a:pt x="174" y="18"/>
                  </a:lnTo>
                  <a:lnTo>
                    <a:pt x="174" y="12"/>
                  </a:lnTo>
                  <a:lnTo>
                    <a:pt x="180" y="12"/>
                  </a:lnTo>
                  <a:lnTo>
                    <a:pt x="186" y="12"/>
                  </a:lnTo>
                  <a:lnTo>
                    <a:pt x="186" y="6"/>
                  </a:lnTo>
                  <a:lnTo>
                    <a:pt x="186" y="12"/>
                  </a:lnTo>
                  <a:lnTo>
                    <a:pt x="192" y="12"/>
                  </a:lnTo>
                  <a:lnTo>
                    <a:pt x="198" y="12"/>
                  </a:lnTo>
                  <a:lnTo>
                    <a:pt x="198" y="18"/>
                  </a:lnTo>
                  <a:lnTo>
                    <a:pt x="204" y="18"/>
                  </a:lnTo>
                  <a:lnTo>
                    <a:pt x="204" y="12"/>
                  </a:lnTo>
                  <a:lnTo>
                    <a:pt x="210" y="12"/>
                  </a:lnTo>
                  <a:lnTo>
                    <a:pt x="210" y="18"/>
                  </a:lnTo>
                  <a:lnTo>
                    <a:pt x="210" y="24"/>
                  </a:lnTo>
                  <a:lnTo>
                    <a:pt x="210" y="30"/>
                  </a:lnTo>
                  <a:lnTo>
                    <a:pt x="210" y="36"/>
                  </a:lnTo>
                  <a:lnTo>
                    <a:pt x="210" y="42"/>
                  </a:lnTo>
                  <a:lnTo>
                    <a:pt x="204" y="42"/>
                  </a:lnTo>
                  <a:lnTo>
                    <a:pt x="198" y="42"/>
                  </a:lnTo>
                  <a:lnTo>
                    <a:pt x="192" y="42"/>
                  </a:lnTo>
                  <a:lnTo>
                    <a:pt x="192" y="48"/>
                  </a:lnTo>
                  <a:lnTo>
                    <a:pt x="192" y="54"/>
                  </a:lnTo>
                  <a:lnTo>
                    <a:pt x="192" y="48"/>
                  </a:lnTo>
                  <a:lnTo>
                    <a:pt x="192" y="54"/>
                  </a:lnTo>
                  <a:lnTo>
                    <a:pt x="186" y="60"/>
                  </a:lnTo>
                  <a:lnTo>
                    <a:pt x="186" y="66"/>
                  </a:lnTo>
                  <a:lnTo>
                    <a:pt x="192" y="66"/>
                  </a:lnTo>
                  <a:lnTo>
                    <a:pt x="198" y="66"/>
                  </a:lnTo>
                  <a:lnTo>
                    <a:pt x="198" y="72"/>
                  </a:lnTo>
                  <a:lnTo>
                    <a:pt x="192" y="72"/>
                  </a:lnTo>
                  <a:lnTo>
                    <a:pt x="192" y="78"/>
                  </a:lnTo>
                  <a:lnTo>
                    <a:pt x="186" y="78"/>
                  </a:lnTo>
                  <a:lnTo>
                    <a:pt x="186" y="84"/>
                  </a:lnTo>
                  <a:lnTo>
                    <a:pt x="186" y="90"/>
                  </a:lnTo>
                  <a:lnTo>
                    <a:pt x="192" y="90"/>
                  </a:lnTo>
                  <a:lnTo>
                    <a:pt x="198" y="90"/>
                  </a:lnTo>
                  <a:lnTo>
                    <a:pt x="198" y="96"/>
                  </a:lnTo>
                  <a:lnTo>
                    <a:pt x="204" y="96"/>
                  </a:lnTo>
                  <a:lnTo>
                    <a:pt x="210" y="102"/>
                  </a:lnTo>
                  <a:lnTo>
                    <a:pt x="216" y="102"/>
                  </a:lnTo>
                  <a:lnTo>
                    <a:pt x="216" y="96"/>
                  </a:lnTo>
                  <a:lnTo>
                    <a:pt x="216" y="102"/>
                  </a:lnTo>
                  <a:lnTo>
                    <a:pt x="216" y="96"/>
                  </a:lnTo>
                  <a:lnTo>
                    <a:pt x="222" y="96"/>
                  </a:lnTo>
                  <a:lnTo>
                    <a:pt x="222" y="90"/>
                  </a:lnTo>
                  <a:lnTo>
                    <a:pt x="222" y="84"/>
                  </a:lnTo>
                  <a:lnTo>
                    <a:pt x="228" y="84"/>
                  </a:lnTo>
                  <a:lnTo>
                    <a:pt x="228" y="90"/>
                  </a:lnTo>
                  <a:lnTo>
                    <a:pt x="234" y="90"/>
                  </a:lnTo>
                  <a:lnTo>
                    <a:pt x="234" y="96"/>
                  </a:lnTo>
                  <a:lnTo>
                    <a:pt x="234" y="102"/>
                  </a:lnTo>
                  <a:lnTo>
                    <a:pt x="234" y="108"/>
                  </a:lnTo>
                  <a:lnTo>
                    <a:pt x="240" y="108"/>
                  </a:lnTo>
                  <a:lnTo>
                    <a:pt x="240" y="114"/>
                  </a:lnTo>
                  <a:lnTo>
                    <a:pt x="240" y="120"/>
                  </a:lnTo>
                  <a:lnTo>
                    <a:pt x="246" y="120"/>
                  </a:lnTo>
                  <a:lnTo>
                    <a:pt x="246" y="126"/>
                  </a:lnTo>
                  <a:lnTo>
                    <a:pt x="246" y="132"/>
                  </a:lnTo>
                  <a:lnTo>
                    <a:pt x="252" y="132"/>
                  </a:lnTo>
                  <a:lnTo>
                    <a:pt x="258" y="138"/>
                  </a:lnTo>
                  <a:lnTo>
                    <a:pt x="258" y="144"/>
                  </a:lnTo>
                  <a:lnTo>
                    <a:pt x="264" y="144"/>
                  </a:lnTo>
                  <a:lnTo>
                    <a:pt x="264" y="150"/>
                  </a:lnTo>
                  <a:lnTo>
                    <a:pt x="264" y="156"/>
                  </a:lnTo>
                  <a:lnTo>
                    <a:pt x="270" y="156"/>
                  </a:lnTo>
                  <a:lnTo>
                    <a:pt x="276" y="156"/>
                  </a:lnTo>
                  <a:lnTo>
                    <a:pt x="276" y="162"/>
                  </a:lnTo>
                  <a:lnTo>
                    <a:pt x="276" y="168"/>
                  </a:lnTo>
                  <a:lnTo>
                    <a:pt x="270" y="168"/>
                  </a:lnTo>
                  <a:lnTo>
                    <a:pt x="270" y="162"/>
                  </a:lnTo>
                  <a:lnTo>
                    <a:pt x="270" y="168"/>
                  </a:lnTo>
                  <a:lnTo>
                    <a:pt x="264" y="168"/>
                  </a:lnTo>
                  <a:lnTo>
                    <a:pt x="264" y="162"/>
                  </a:lnTo>
                  <a:lnTo>
                    <a:pt x="258" y="162"/>
                  </a:lnTo>
                  <a:lnTo>
                    <a:pt x="258" y="168"/>
                  </a:lnTo>
                  <a:lnTo>
                    <a:pt x="252" y="168"/>
                  </a:lnTo>
                  <a:lnTo>
                    <a:pt x="252" y="174"/>
                  </a:lnTo>
                  <a:lnTo>
                    <a:pt x="252" y="180"/>
                  </a:lnTo>
                  <a:lnTo>
                    <a:pt x="258" y="180"/>
                  </a:lnTo>
                  <a:lnTo>
                    <a:pt x="258" y="186"/>
                  </a:lnTo>
                  <a:lnTo>
                    <a:pt x="264" y="186"/>
                  </a:lnTo>
                  <a:lnTo>
                    <a:pt x="258" y="192"/>
                  </a:lnTo>
                  <a:lnTo>
                    <a:pt x="264" y="192"/>
                  </a:lnTo>
                  <a:lnTo>
                    <a:pt x="264" y="198"/>
                  </a:lnTo>
                  <a:close/>
                </a:path>
              </a:pathLst>
            </a:custGeom>
            <a:solidFill>
              <a:schemeClr val="accent1"/>
            </a:solidFill>
            <a:ln w="9525">
              <a:solidFill>
                <a:srgbClr val="B2B2B2"/>
              </a:solidFill>
              <a:round/>
              <a:headEnd/>
              <a:tailEnd/>
            </a:ln>
          </p:spPr>
          <p:txBody>
            <a:bodyPr/>
            <a:lstStyle/>
            <a:p>
              <a:endParaRPr lang="en-CA"/>
            </a:p>
          </p:txBody>
        </p:sp>
        <p:sp>
          <p:nvSpPr>
            <p:cNvPr id="444" name="Freeform 503"/>
            <p:cNvSpPr>
              <a:spLocks/>
            </p:cNvSpPr>
            <p:nvPr>
              <p:custDataLst>
                <p:tags r:id="rId67"/>
              </p:custDataLst>
            </p:nvPr>
          </p:nvSpPr>
          <p:spPr bwMode="gray">
            <a:xfrm>
              <a:off x="2356" y="3133"/>
              <a:ext cx="295" cy="180"/>
            </a:xfrm>
            <a:custGeom>
              <a:avLst/>
              <a:gdLst>
                <a:gd name="T0" fmla="*/ 29290311 w 474"/>
                <a:gd name="T1" fmla="*/ 253423539 h 288"/>
                <a:gd name="T2" fmla="*/ 35148175 w 474"/>
                <a:gd name="T3" fmla="*/ 235742758 h 288"/>
                <a:gd name="T4" fmla="*/ 46863904 w 474"/>
                <a:gd name="T5" fmla="*/ 235742758 h 288"/>
                <a:gd name="T6" fmla="*/ 29290311 w 474"/>
                <a:gd name="T7" fmla="*/ 218061977 h 288"/>
                <a:gd name="T8" fmla="*/ 11715729 w 474"/>
                <a:gd name="T9" fmla="*/ 194487602 h 288"/>
                <a:gd name="T10" fmla="*/ 5857865 w 474"/>
                <a:gd name="T11" fmla="*/ 165019633 h 288"/>
                <a:gd name="T12" fmla="*/ 11715729 w 474"/>
                <a:gd name="T13" fmla="*/ 147338852 h 288"/>
                <a:gd name="T14" fmla="*/ 35148175 w 474"/>
                <a:gd name="T15" fmla="*/ 153232445 h 288"/>
                <a:gd name="T16" fmla="*/ 58579633 w 474"/>
                <a:gd name="T17" fmla="*/ 135552656 h 288"/>
                <a:gd name="T18" fmla="*/ 58579633 w 474"/>
                <a:gd name="T19" fmla="*/ 111978281 h 288"/>
                <a:gd name="T20" fmla="*/ 87869944 w 474"/>
                <a:gd name="T21" fmla="*/ 117871875 h 288"/>
                <a:gd name="T22" fmla="*/ 105443537 w 474"/>
                <a:gd name="T23" fmla="*/ 135552656 h 288"/>
                <a:gd name="T24" fmla="*/ 134733848 w 474"/>
                <a:gd name="T25" fmla="*/ 135552656 h 288"/>
                <a:gd name="T26" fmla="*/ 164023170 w 474"/>
                <a:gd name="T27" fmla="*/ 141446250 h 288"/>
                <a:gd name="T28" fmla="*/ 199171345 w 474"/>
                <a:gd name="T29" fmla="*/ 123765469 h 288"/>
                <a:gd name="T30" fmla="*/ 222602803 w 474"/>
                <a:gd name="T31" fmla="*/ 100191094 h 288"/>
                <a:gd name="T32" fmla="*/ 234319520 w 474"/>
                <a:gd name="T33" fmla="*/ 70723125 h 288"/>
                <a:gd name="T34" fmla="*/ 257750978 w 474"/>
                <a:gd name="T35" fmla="*/ 53042344 h 288"/>
                <a:gd name="T36" fmla="*/ 257750978 w 474"/>
                <a:gd name="T37" fmla="*/ 29467969 h 288"/>
                <a:gd name="T38" fmla="*/ 275324572 w 474"/>
                <a:gd name="T39" fmla="*/ 23574375 h 288"/>
                <a:gd name="T40" fmla="*/ 292899153 w 474"/>
                <a:gd name="T41" fmla="*/ 23574375 h 288"/>
                <a:gd name="T42" fmla="*/ 316330611 w 474"/>
                <a:gd name="T43" fmla="*/ 11787188 h 288"/>
                <a:gd name="T44" fmla="*/ 328046340 w 474"/>
                <a:gd name="T45" fmla="*/ 5893594 h 288"/>
                <a:gd name="T46" fmla="*/ 351478787 w 474"/>
                <a:gd name="T47" fmla="*/ 11787188 h 288"/>
                <a:gd name="T48" fmla="*/ 369052380 w 474"/>
                <a:gd name="T49" fmla="*/ 5893594 h 288"/>
                <a:gd name="T50" fmla="*/ 398342691 w 474"/>
                <a:gd name="T51" fmla="*/ 23574375 h 288"/>
                <a:gd name="T52" fmla="*/ 421774149 w 474"/>
                <a:gd name="T53" fmla="*/ 35361563 h 288"/>
                <a:gd name="T54" fmla="*/ 456922324 w 474"/>
                <a:gd name="T55" fmla="*/ 41255156 h 288"/>
                <a:gd name="T56" fmla="*/ 451064459 w 474"/>
                <a:gd name="T57" fmla="*/ 53042344 h 288"/>
                <a:gd name="T58" fmla="*/ 451064459 w 474"/>
                <a:gd name="T59" fmla="*/ 76616719 h 288"/>
                <a:gd name="T60" fmla="*/ 439348730 w 474"/>
                <a:gd name="T61" fmla="*/ 106084688 h 288"/>
                <a:gd name="T62" fmla="*/ 451064459 w 474"/>
                <a:gd name="T63" fmla="*/ 123765469 h 288"/>
                <a:gd name="T64" fmla="*/ 433489878 w 474"/>
                <a:gd name="T65" fmla="*/ 141446250 h 288"/>
                <a:gd name="T66" fmla="*/ 415916284 w 474"/>
                <a:gd name="T67" fmla="*/ 165019633 h 288"/>
                <a:gd name="T68" fmla="*/ 404200555 w 474"/>
                <a:gd name="T69" fmla="*/ 188594008 h 288"/>
                <a:gd name="T70" fmla="*/ 410058420 w 474"/>
                <a:gd name="T71" fmla="*/ 218061977 h 288"/>
                <a:gd name="T72" fmla="*/ 421774149 w 474"/>
                <a:gd name="T73" fmla="*/ 241636352 h 288"/>
                <a:gd name="T74" fmla="*/ 410058420 w 474"/>
                <a:gd name="T75" fmla="*/ 265210727 h 288"/>
                <a:gd name="T76" fmla="*/ 392484826 w 474"/>
                <a:gd name="T77" fmla="*/ 276997914 h 288"/>
                <a:gd name="T78" fmla="*/ 369052380 w 474"/>
                <a:gd name="T79" fmla="*/ 276997914 h 288"/>
                <a:gd name="T80" fmla="*/ 339763058 w 474"/>
                <a:gd name="T81" fmla="*/ 271104320 h 288"/>
                <a:gd name="T82" fmla="*/ 322188476 w 474"/>
                <a:gd name="T83" fmla="*/ 265210727 h 288"/>
                <a:gd name="T84" fmla="*/ 304614882 w 474"/>
                <a:gd name="T85" fmla="*/ 271104320 h 288"/>
                <a:gd name="T86" fmla="*/ 275324572 w 474"/>
                <a:gd name="T87" fmla="*/ 265210727 h 288"/>
                <a:gd name="T88" fmla="*/ 251893114 w 474"/>
                <a:gd name="T89" fmla="*/ 253423539 h 288"/>
                <a:gd name="T90" fmla="*/ 240177385 w 474"/>
                <a:gd name="T91" fmla="*/ 223955570 h 288"/>
                <a:gd name="T92" fmla="*/ 205029210 w 474"/>
                <a:gd name="T93" fmla="*/ 223955570 h 288"/>
                <a:gd name="T94" fmla="*/ 187455616 w 474"/>
                <a:gd name="T95" fmla="*/ 212168383 h 288"/>
                <a:gd name="T96" fmla="*/ 164023170 w 474"/>
                <a:gd name="T97" fmla="*/ 212168383 h 288"/>
                <a:gd name="T98" fmla="*/ 152307441 w 474"/>
                <a:gd name="T99" fmla="*/ 218061977 h 288"/>
                <a:gd name="T100" fmla="*/ 123017131 w 474"/>
                <a:gd name="T101" fmla="*/ 229849164 h 288"/>
                <a:gd name="T102" fmla="*/ 93727808 w 474"/>
                <a:gd name="T103" fmla="*/ 235742758 h 288"/>
                <a:gd name="T104" fmla="*/ 82012079 w 474"/>
                <a:gd name="T105" fmla="*/ 247529945 h 288"/>
                <a:gd name="T106" fmla="*/ 70295362 w 474"/>
                <a:gd name="T107" fmla="*/ 253423539 h 288"/>
                <a:gd name="T108" fmla="*/ 46863904 w 474"/>
                <a:gd name="T109" fmla="*/ 265210727 h 2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74"/>
                <a:gd name="T166" fmla="*/ 0 h 288"/>
                <a:gd name="T167" fmla="*/ 474 w 474"/>
                <a:gd name="T168" fmla="*/ 288 h 2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74" h="288">
                  <a:moveTo>
                    <a:pt x="36" y="276"/>
                  </a:moveTo>
                  <a:lnTo>
                    <a:pt x="36" y="270"/>
                  </a:lnTo>
                  <a:lnTo>
                    <a:pt x="30" y="270"/>
                  </a:lnTo>
                  <a:lnTo>
                    <a:pt x="36" y="264"/>
                  </a:lnTo>
                  <a:lnTo>
                    <a:pt x="30" y="264"/>
                  </a:lnTo>
                  <a:lnTo>
                    <a:pt x="30" y="258"/>
                  </a:lnTo>
                  <a:lnTo>
                    <a:pt x="24" y="258"/>
                  </a:lnTo>
                  <a:lnTo>
                    <a:pt x="24" y="252"/>
                  </a:lnTo>
                  <a:lnTo>
                    <a:pt x="24" y="246"/>
                  </a:lnTo>
                  <a:lnTo>
                    <a:pt x="30" y="246"/>
                  </a:lnTo>
                  <a:lnTo>
                    <a:pt x="30" y="240"/>
                  </a:lnTo>
                  <a:lnTo>
                    <a:pt x="36" y="240"/>
                  </a:lnTo>
                  <a:lnTo>
                    <a:pt x="36" y="246"/>
                  </a:lnTo>
                  <a:lnTo>
                    <a:pt x="42" y="246"/>
                  </a:lnTo>
                  <a:lnTo>
                    <a:pt x="42" y="240"/>
                  </a:lnTo>
                  <a:lnTo>
                    <a:pt x="42" y="246"/>
                  </a:lnTo>
                  <a:lnTo>
                    <a:pt x="48" y="246"/>
                  </a:lnTo>
                  <a:lnTo>
                    <a:pt x="48" y="240"/>
                  </a:lnTo>
                  <a:lnTo>
                    <a:pt x="48" y="234"/>
                  </a:lnTo>
                  <a:lnTo>
                    <a:pt x="42" y="234"/>
                  </a:lnTo>
                  <a:lnTo>
                    <a:pt x="36" y="234"/>
                  </a:lnTo>
                  <a:lnTo>
                    <a:pt x="36" y="228"/>
                  </a:lnTo>
                  <a:lnTo>
                    <a:pt x="36" y="222"/>
                  </a:lnTo>
                  <a:lnTo>
                    <a:pt x="30" y="222"/>
                  </a:lnTo>
                  <a:lnTo>
                    <a:pt x="30" y="216"/>
                  </a:lnTo>
                  <a:lnTo>
                    <a:pt x="24" y="210"/>
                  </a:lnTo>
                  <a:lnTo>
                    <a:pt x="18" y="210"/>
                  </a:lnTo>
                  <a:lnTo>
                    <a:pt x="18" y="204"/>
                  </a:lnTo>
                  <a:lnTo>
                    <a:pt x="18" y="198"/>
                  </a:lnTo>
                  <a:lnTo>
                    <a:pt x="12" y="198"/>
                  </a:lnTo>
                  <a:lnTo>
                    <a:pt x="12" y="192"/>
                  </a:lnTo>
                  <a:lnTo>
                    <a:pt x="12" y="186"/>
                  </a:lnTo>
                  <a:lnTo>
                    <a:pt x="6" y="186"/>
                  </a:lnTo>
                  <a:lnTo>
                    <a:pt x="6" y="180"/>
                  </a:lnTo>
                  <a:lnTo>
                    <a:pt x="6" y="174"/>
                  </a:lnTo>
                  <a:lnTo>
                    <a:pt x="6" y="168"/>
                  </a:lnTo>
                  <a:lnTo>
                    <a:pt x="0" y="168"/>
                  </a:lnTo>
                  <a:lnTo>
                    <a:pt x="0" y="162"/>
                  </a:lnTo>
                  <a:lnTo>
                    <a:pt x="0" y="156"/>
                  </a:lnTo>
                  <a:lnTo>
                    <a:pt x="6" y="156"/>
                  </a:lnTo>
                  <a:lnTo>
                    <a:pt x="12" y="156"/>
                  </a:lnTo>
                  <a:lnTo>
                    <a:pt x="12" y="150"/>
                  </a:lnTo>
                  <a:lnTo>
                    <a:pt x="18" y="150"/>
                  </a:lnTo>
                  <a:lnTo>
                    <a:pt x="18" y="156"/>
                  </a:lnTo>
                  <a:lnTo>
                    <a:pt x="18" y="162"/>
                  </a:lnTo>
                  <a:lnTo>
                    <a:pt x="24" y="156"/>
                  </a:lnTo>
                  <a:lnTo>
                    <a:pt x="30" y="156"/>
                  </a:lnTo>
                  <a:lnTo>
                    <a:pt x="36" y="156"/>
                  </a:lnTo>
                  <a:lnTo>
                    <a:pt x="36" y="162"/>
                  </a:lnTo>
                  <a:lnTo>
                    <a:pt x="42" y="156"/>
                  </a:lnTo>
                  <a:lnTo>
                    <a:pt x="48" y="150"/>
                  </a:lnTo>
                  <a:lnTo>
                    <a:pt x="54" y="144"/>
                  </a:lnTo>
                  <a:lnTo>
                    <a:pt x="60" y="144"/>
                  </a:lnTo>
                  <a:lnTo>
                    <a:pt x="60" y="138"/>
                  </a:lnTo>
                  <a:lnTo>
                    <a:pt x="54" y="138"/>
                  </a:lnTo>
                  <a:lnTo>
                    <a:pt x="54" y="132"/>
                  </a:lnTo>
                  <a:lnTo>
                    <a:pt x="54" y="126"/>
                  </a:lnTo>
                  <a:lnTo>
                    <a:pt x="60" y="126"/>
                  </a:lnTo>
                  <a:lnTo>
                    <a:pt x="60" y="120"/>
                  </a:lnTo>
                  <a:lnTo>
                    <a:pt x="60" y="114"/>
                  </a:lnTo>
                  <a:lnTo>
                    <a:pt x="66" y="114"/>
                  </a:lnTo>
                  <a:lnTo>
                    <a:pt x="72" y="108"/>
                  </a:lnTo>
                  <a:lnTo>
                    <a:pt x="72" y="114"/>
                  </a:lnTo>
                  <a:lnTo>
                    <a:pt x="78" y="114"/>
                  </a:lnTo>
                  <a:lnTo>
                    <a:pt x="84" y="120"/>
                  </a:lnTo>
                  <a:lnTo>
                    <a:pt x="90" y="120"/>
                  </a:lnTo>
                  <a:lnTo>
                    <a:pt x="90" y="126"/>
                  </a:lnTo>
                  <a:lnTo>
                    <a:pt x="90" y="132"/>
                  </a:lnTo>
                  <a:lnTo>
                    <a:pt x="96" y="132"/>
                  </a:lnTo>
                  <a:lnTo>
                    <a:pt x="102" y="132"/>
                  </a:lnTo>
                  <a:lnTo>
                    <a:pt x="108" y="132"/>
                  </a:lnTo>
                  <a:lnTo>
                    <a:pt x="108" y="138"/>
                  </a:lnTo>
                  <a:lnTo>
                    <a:pt x="114" y="132"/>
                  </a:lnTo>
                  <a:lnTo>
                    <a:pt x="120" y="132"/>
                  </a:lnTo>
                  <a:lnTo>
                    <a:pt x="126" y="132"/>
                  </a:lnTo>
                  <a:lnTo>
                    <a:pt x="126" y="138"/>
                  </a:lnTo>
                  <a:lnTo>
                    <a:pt x="132" y="138"/>
                  </a:lnTo>
                  <a:lnTo>
                    <a:pt x="138" y="138"/>
                  </a:lnTo>
                  <a:lnTo>
                    <a:pt x="144" y="138"/>
                  </a:lnTo>
                  <a:lnTo>
                    <a:pt x="144" y="144"/>
                  </a:lnTo>
                  <a:lnTo>
                    <a:pt x="150" y="144"/>
                  </a:lnTo>
                  <a:lnTo>
                    <a:pt x="156" y="138"/>
                  </a:lnTo>
                  <a:lnTo>
                    <a:pt x="162" y="138"/>
                  </a:lnTo>
                  <a:lnTo>
                    <a:pt x="168" y="144"/>
                  </a:lnTo>
                  <a:lnTo>
                    <a:pt x="174" y="138"/>
                  </a:lnTo>
                  <a:lnTo>
                    <a:pt x="180" y="138"/>
                  </a:lnTo>
                  <a:lnTo>
                    <a:pt x="186" y="138"/>
                  </a:lnTo>
                  <a:lnTo>
                    <a:pt x="192" y="132"/>
                  </a:lnTo>
                  <a:lnTo>
                    <a:pt x="198" y="126"/>
                  </a:lnTo>
                  <a:lnTo>
                    <a:pt x="204" y="126"/>
                  </a:lnTo>
                  <a:lnTo>
                    <a:pt x="204" y="120"/>
                  </a:lnTo>
                  <a:lnTo>
                    <a:pt x="210" y="114"/>
                  </a:lnTo>
                  <a:lnTo>
                    <a:pt x="216" y="114"/>
                  </a:lnTo>
                  <a:lnTo>
                    <a:pt x="222" y="108"/>
                  </a:lnTo>
                  <a:lnTo>
                    <a:pt x="222" y="102"/>
                  </a:lnTo>
                  <a:lnTo>
                    <a:pt x="228" y="102"/>
                  </a:lnTo>
                  <a:lnTo>
                    <a:pt x="228" y="96"/>
                  </a:lnTo>
                  <a:lnTo>
                    <a:pt x="228" y="90"/>
                  </a:lnTo>
                  <a:lnTo>
                    <a:pt x="234" y="84"/>
                  </a:lnTo>
                  <a:lnTo>
                    <a:pt x="234" y="78"/>
                  </a:lnTo>
                  <a:lnTo>
                    <a:pt x="240" y="78"/>
                  </a:lnTo>
                  <a:lnTo>
                    <a:pt x="240" y="72"/>
                  </a:lnTo>
                  <a:lnTo>
                    <a:pt x="246" y="72"/>
                  </a:lnTo>
                  <a:lnTo>
                    <a:pt x="246" y="66"/>
                  </a:lnTo>
                  <a:lnTo>
                    <a:pt x="252" y="60"/>
                  </a:lnTo>
                  <a:lnTo>
                    <a:pt x="258" y="60"/>
                  </a:lnTo>
                  <a:lnTo>
                    <a:pt x="258" y="54"/>
                  </a:lnTo>
                  <a:lnTo>
                    <a:pt x="264" y="54"/>
                  </a:lnTo>
                  <a:lnTo>
                    <a:pt x="264" y="48"/>
                  </a:lnTo>
                  <a:lnTo>
                    <a:pt x="264" y="42"/>
                  </a:lnTo>
                  <a:lnTo>
                    <a:pt x="264" y="36"/>
                  </a:lnTo>
                  <a:lnTo>
                    <a:pt x="270" y="36"/>
                  </a:lnTo>
                  <a:lnTo>
                    <a:pt x="270" y="30"/>
                  </a:lnTo>
                  <a:lnTo>
                    <a:pt x="264" y="30"/>
                  </a:lnTo>
                  <a:lnTo>
                    <a:pt x="270" y="24"/>
                  </a:lnTo>
                  <a:lnTo>
                    <a:pt x="276" y="24"/>
                  </a:lnTo>
                  <a:lnTo>
                    <a:pt x="282" y="18"/>
                  </a:lnTo>
                  <a:lnTo>
                    <a:pt x="282" y="24"/>
                  </a:lnTo>
                  <a:lnTo>
                    <a:pt x="282" y="18"/>
                  </a:lnTo>
                  <a:lnTo>
                    <a:pt x="282" y="24"/>
                  </a:lnTo>
                  <a:lnTo>
                    <a:pt x="288" y="24"/>
                  </a:lnTo>
                  <a:lnTo>
                    <a:pt x="288" y="18"/>
                  </a:lnTo>
                  <a:lnTo>
                    <a:pt x="294" y="18"/>
                  </a:lnTo>
                  <a:lnTo>
                    <a:pt x="300" y="18"/>
                  </a:lnTo>
                  <a:lnTo>
                    <a:pt x="294" y="24"/>
                  </a:lnTo>
                  <a:lnTo>
                    <a:pt x="300" y="24"/>
                  </a:lnTo>
                  <a:lnTo>
                    <a:pt x="306" y="24"/>
                  </a:lnTo>
                  <a:lnTo>
                    <a:pt x="306" y="18"/>
                  </a:lnTo>
                  <a:lnTo>
                    <a:pt x="312" y="18"/>
                  </a:lnTo>
                  <a:lnTo>
                    <a:pt x="312" y="12"/>
                  </a:lnTo>
                  <a:lnTo>
                    <a:pt x="318" y="12"/>
                  </a:lnTo>
                  <a:lnTo>
                    <a:pt x="324" y="12"/>
                  </a:lnTo>
                  <a:lnTo>
                    <a:pt x="330" y="18"/>
                  </a:lnTo>
                  <a:lnTo>
                    <a:pt x="336" y="18"/>
                  </a:lnTo>
                  <a:lnTo>
                    <a:pt x="330" y="12"/>
                  </a:lnTo>
                  <a:lnTo>
                    <a:pt x="336" y="12"/>
                  </a:lnTo>
                  <a:lnTo>
                    <a:pt x="342" y="12"/>
                  </a:lnTo>
                  <a:lnTo>
                    <a:pt x="336" y="6"/>
                  </a:lnTo>
                  <a:lnTo>
                    <a:pt x="342" y="6"/>
                  </a:lnTo>
                  <a:lnTo>
                    <a:pt x="348" y="6"/>
                  </a:lnTo>
                  <a:lnTo>
                    <a:pt x="342" y="12"/>
                  </a:lnTo>
                  <a:lnTo>
                    <a:pt x="348" y="12"/>
                  </a:lnTo>
                  <a:lnTo>
                    <a:pt x="354" y="12"/>
                  </a:lnTo>
                  <a:lnTo>
                    <a:pt x="360" y="12"/>
                  </a:lnTo>
                  <a:lnTo>
                    <a:pt x="360" y="6"/>
                  </a:lnTo>
                  <a:lnTo>
                    <a:pt x="360" y="0"/>
                  </a:lnTo>
                  <a:lnTo>
                    <a:pt x="366" y="0"/>
                  </a:lnTo>
                  <a:lnTo>
                    <a:pt x="372" y="0"/>
                  </a:lnTo>
                  <a:lnTo>
                    <a:pt x="378" y="0"/>
                  </a:lnTo>
                  <a:lnTo>
                    <a:pt x="378" y="6"/>
                  </a:lnTo>
                  <a:lnTo>
                    <a:pt x="384" y="6"/>
                  </a:lnTo>
                  <a:lnTo>
                    <a:pt x="390" y="12"/>
                  </a:lnTo>
                  <a:lnTo>
                    <a:pt x="396" y="18"/>
                  </a:lnTo>
                  <a:lnTo>
                    <a:pt x="402" y="18"/>
                  </a:lnTo>
                  <a:lnTo>
                    <a:pt x="402" y="24"/>
                  </a:lnTo>
                  <a:lnTo>
                    <a:pt x="408" y="24"/>
                  </a:lnTo>
                  <a:lnTo>
                    <a:pt x="414" y="24"/>
                  </a:lnTo>
                  <a:lnTo>
                    <a:pt x="420" y="24"/>
                  </a:lnTo>
                  <a:lnTo>
                    <a:pt x="420" y="30"/>
                  </a:lnTo>
                  <a:lnTo>
                    <a:pt x="426" y="36"/>
                  </a:lnTo>
                  <a:lnTo>
                    <a:pt x="426" y="30"/>
                  </a:lnTo>
                  <a:lnTo>
                    <a:pt x="432" y="36"/>
                  </a:lnTo>
                  <a:lnTo>
                    <a:pt x="432" y="42"/>
                  </a:lnTo>
                  <a:lnTo>
                    <a:pt x="438" y="42"/>
                  </a:lnTo>
                  <a:lnTo>
                    <a:pt x="450" y="42"/>
                  </a:lnTo>
                  <a:lnTo>
                    <a:pt x="456" y="42"/>
                  </a:lnTo>
                  <a:lnTo>
                    <a:pt x="462" y="42"/>
                  </a:lnTo>
                  <a:lnTo>
                    <a:pt x="468" y="42"/>
                  </a:lnTo>
                  <a:lnTo>
                    <a:pt x="462" y="48"/>
                  </a:lnTo>
                  <a:lnTo>
                    <a:pt x="468" y="54"/>
                  </a:lnTo>
                  <a:lnTo>
                    <a:pt x="474" y="54"/>
                  </a:lnTo>
                  <a:lnTo>
                    <a:pt x="474" y="60"/>
                  </a:lnTo>
                  <a:lnTo>
                    <a:pt x="468" y="60"/>
                  </a:lnTo>
                  <a:lnTo>
                    <a:pt x="462" y="54"/>
                  </a:lnTo>
                  <a:lnTo>
                    <a:pt x="462" y="60"/>
                  </a:lnTo>
                  <a:lnTo>
                    <a:pt x="456" y="60"/>
                  </a:lnTo>
                  <a:lnTo>
                    <a:pt x="456" y="66"/>
                  </a:lnTo>
                  <a:lnTo>
                    <a:pt x="462" y="66"/>
                  </a:lnTo>
                  <a:lnTo>
                    <a:pt x="462" y="72"/>
                  </a:lnTo>
                  <a:lnTo>
                    <a:pt x="462" y="78"/>
                  </a:lnTo>
                  <a:lnTo>
                    <a:pt x="456" y="78"/>
                  </a:lnTo>
                  <a:lnTo>
                    <a:pt x="456" y="84"/>
                  </a:lnTo>
                  <a:lnTo>
                    <a:pt x="450" y="90"/>
                  </a:lnTo>
                  <a:lnTo>
                    <a:pt x="450" y="96"/>
                  </a:lnTo>
                  <a:lnTo>
                    <a:pt x="450" y="102"/>
                  </a:lnTo>
                  <a:lnTo>
                    <a:pt x="450" y="108"/>
                  </a:lnTo>
                  <a:lnTo>
                    <a:pt x="450" y="102"/>
                  </a:lnTo>
                  <a:lnTo>
                    <a:pt x="456" y="108"/>
                  </a:lnTo>
                  <a:lnTo>
                    <a:pt x="456" y="114"/>
                  </a:lnTo>
                  <a:lnTo>
                    <a:pt x="462" y="114"/>
                  </a:lnTo>
                  <a:lnTo>
                    <a:pt x="462" y="120"/>
                  </a:lnTo>
                  <a:lnTo>
                    <a:pt x="462" y="126"/>
                  </a:lnTo>
                  <a:lnTo>
                    <a:pt x="456" y="126"/>
                  </a:lnTo>
                  <a:lnTo>
                    <a:pt x="456" y="132"/>
                  </a:lnTo>
                  <a:lnTo>
                    <a:pt x="456" y="138"/>
                  </a:lnTo>
                  <a:lnTo>
                    <a:pt x="450" y="138"/>
                  </a:lnTo>
                  <a:lnTo>
                    <a:pt x="450" y="144"/>
                  </a:lnTo>
                  <a:lnTo>
                    <a:pt x="444" y="144"/>
                  </a:lnTo>
                  <a:lnTo>
                    <a:pt x="438" y="144"/>
                  </a:lnTo>
                  <a:lnTo>
                    <a:pt x="432" y="150"/>
                  </a:lnTo>
                  <a:lnTo>
                    <a:pt x="432" y="156"/>
                  </a:lnTo>
                  <a:lnTo>
                    <a:pt x="432" y="162"/>
                  </a:lnTo>
                  <a:lnTo>
                    <a:pt x="432" y="168"/>
                  </a:lnTo>
                  <a:lnTo>
                    <a:pt x="426" y="168"/>
                  </a:lnTo>
                  <a:lnTo>
                    <a:pt x="420" y="168"/>
                  </a:lnTo>
                  <a:lnTo>
                    <a:pt x="420" y="174"/>
                  </a:lnTo>
                  <a:lnTo>
                    <a:pt x="420" y="180"/>
                  </a:lnTo>
                  <a:lnTo>
                    <a:pt x="420" y="186"/>
                  </a:lnTo>
                  <a:lnTo>
                    <a:pt x="414" y="186"/>
                  </a:lnTo>
                  <a:lnTo>
                    <a:pt x="414" y="192"/>
                  </a:lnTo>
                  <a:lnTo>
                    <a:pt x="414" y="198"/>
                  </a:lnTo>
                  <a:lnTo>
                    <a:pt x="414" y="204"/>
                  </a:lnTo>
                  <a:lnTo>
                    <a:pt x="420" y="204"/>
                  </a:lnTo>
                  <a:lnTo>
                    <a:pt x="420" y="210"/>
                  </a:lnTo>
                  <a:lnTo>
                    <a:pt x="420" y="216"/>
                  </a:lnTo>
                  <a:lnTo>
                    <a:pt x="420" y="222"/>
                  </a:lnTo>
                  <a:lnTo>
                    <a:pt x="420" y="228"/>
                  </a:lnTo>
                  <a:lnTo>
                    <a:pt x="426" y="228"/>
                  </a:lnTo>
                  <a:lnTo>
                    <a:pt x="432" y="228"/>
                  </a:lnTo>
                  <a:lnTo>
                    <a:pt x="432" y="234"/>
                  </a:lnTo>
                  <a:lnTo>
                    <a:pt x="432" y="240"/>
                  </a:lnTo>
                  <a:lnTo>
                    <a:pt x="432" y="246"/>
                  </a:lnTo>
                  <a:lnTo>
                    <a:pt x="432" y="252"/>
                  </a:lnTo>
                  <a:lnTo>
                    <a:pt x="432" y="258"/>
                  </a:lnTo>
                  <a:lnTo>
                    <a:pt x="426" y="258"/>
                  </a:lnTo>
                  <a:lnTo>
                    <a:pt x="426" y="264"/>
                  </a:lnTo>
                  <a:lnTo>
                    <a:pt x="426" y="270"/>
                  </a:lnTo>
                  <a:lnTo>
                    <a:pt x="420" y="270"/>
                  </a:lnTo>
                  <a:lnTo>
                    <a:pt x="414" y="270"/>
                  </a:lnTo>
                  <a:lnTo>
                    <a:pt x="414" y="276"/>
                  </a:lnTo>
                  <a:lnTo>
                    <a:pt x="408" y="270"/>
                  </a:lnTo>
                  <a:lnTo>
                    <a:pt x="408" y="276"/>
                  </a:lnTo>
                  <a:lnTo>
                    <a:pt x="402" y="276"/>
                  </a:lnTo>
                  <a:lnTo>
                    <a:pt x="402" y="282"/>
                  </a:lnTo>
                  <a:lnTo>
                    <a:pt x="396" y="282"/>
                  </a:lnTo>
                  <a:lnTo>
                    <a:pt x="396" y="288"/>
                  </a:lnTo>
                  <a:lnTo>
                    <a:pt x="390" y="288"/>
                  </a:lnTo>
                  <a:lnTo>
                    <a:pt x="384" y="288"/>
                  </a:lnTo>
                  <a:lnTo>
                    <a:pt x="378" y="288"/>
                  </a:lnTo>
                  <a:lnTo>
                    <a:pt x="378" y="282"/>
                  </a:lnTo>
                  <a:lnTo>
                    <a:pt x="378" y="276"/>
                  </a:lnTo>
                  <a:lnTo>
                    <a:pt x="372" y="276"/>
                  </a:lnTo>
                  <a:lnTo>
                    <a:pt x="366" y="276"/>
                  </a:lnTo>
                  <a:lnTo>
                    <a:pt x="360" y="276"/>
                  </a:lnTo>
                  <a:lnTo>
                    <a:pt x="354" y="276"/>
                  </a:lnTo>
                  <a:lnTo>
                    <a:pt x="348" y="276"/>
                  </a:lnTo>
                  <a:lnTo>
                    <a:pt x="348" y="282"/>
                  </a:lnTo>
                  <a:lnTo>
                    <a:pt x="348" y="276"/>
                  </a:lnTo>
                  <a:lnTo>
                    <a:pt x="342" y="276"/>
                  </a:lnTo>
                  <a:lnTo>
                    <a:pt x="342" y="270"/>
                  </a:lnTo>
                  <a:lnTo>
                    <a:pt x="336" y="270"/>
                  </a:lnTo>
                  <a:lnTo>
                    <a:pt x="330" y="270"/>
                  </a:lnTo>
                  <a:lnTo>
                    <a:pt x="330" y="276"/>
                  </a:lnTo>
                  <a:lnTo>
                    <a:pt x="324" y="276"/>
                  </a:lnTo>
                  <a:lnTo>
                    <a:pt x="324" y="270"/>
                  </a:lnTo>
                  <a:lnTo>
                    <a:pt x="318" y="270"/>
                  </a:lnTo>
                  <a:lnTo>
                    <a:pt x="318" y="276"/>
                  </a:lnTo>
                  <a:lnTo>
                    <a:pt x="312" y="276"/>
                  </a:lnTo>
                  <a:lnTo>
                    <a:pt x="306" y="276"/>
                  </a:lnTo>
                  <a:lnTo>
                    <a:pt x="300" y="276"/>
                  </a:lnTo>
                  <a:lnTo>
                    <a:pt x="294" y="276"/>
                  </a:lnTo>
                  <a:lnTo>
                    <a:pt x="288" y="276"/>
                  </a:lnTo>
                  <a:lnTo>
                    <a:pt x="282" y="276"/>
                  </a:lnTo>
                  <a:lnTo>
                    <a:pt x="282" y="270"/>
                  </a:lnTo>
                  <a:lnTo>
                    <a:pt x="276" y="270"/>
                  </a:lnTo>
                  <a:lnTo>
                    <a:pt x="270" y="270"/>
                  </a:lnTo>
                  <a:lnTo>
                    <a:pt x="264" y="270"/>
                  </a:lnTo>
                  <a:lnTo>
                    <a:pt x="264" y="264"/>
                  </a:lnTo>
                  <a:lnTo>
                    <a:pt x="258" y="264"/>
                  </a:lnTo>
                  <a:lnTo>
                    <a:pt x="258" y="258"/>
                  </a:lnTo>
                  <a:lnTo>
                    <a:pt x="252" y="252"/>
                  </a:lnTo>
                  <a:lnTo>
                    <a:pt x="252" y="246"/>
                  </a:lnTo>
                  <a:lnTo>
                    <a:pt x="252" y="240"/>
                  </a:lnTo>
                  <a:lnTo>
                    <a:pt x="252" y="234"/>
                  </a:lnTo>
                  <a:lnTo>
                    <a:pt x="252" y="228"/>
                  </a:lnTo>
                  <a:lnTo>
                    <a:pt x="246" y="228"/>
                  </a:lnTo>
                  <a:lnTo>
                    <a:pt x="240" y="228"/>
                  </a:lnTo>
                  <a:lnTo>
                    <a:pt x="234" y="228"/>
                  </a:lnTo>
                  <a:lnTo>
                    <a:pt x="228" y="228"/>
                  </a:lnTo>
                  <a:lnTo>
                    <a:pt x="222" y="228"/>
                  </a:lnTo>
                  <a:lnTo>
                    <a:pt x="216" y="228"/>
                  </a:lnTo>
                  <a:lnTo>
                    <a:pt x="210" y="228"/>
                  </a:lnTo>
                  <a:lnTo>
                    <a:pt x="204" y="228"/>
                  </a:lnTo>
                  <a:lnTo>
                    <a:pt x="198" y="234"/>
                  </a:lnTo>
                  <a:lnTo>
                    <a:pt x="198" y="228"/>
                  </a:lnTo>
                  <a:lnTo>
                    <a:pt x="192" y="228"/>
                  </a:lnTo>
                  <a:lnTo>
                    <a:pt x="192" y="222"/>
                  </a:lnTo>
                  <a:lnTo>
                    <a:pt x="192" y="216"/>
                  </a:lnTo>
                  <a:lnTo>
                    <a:pt x="186" y="216"/>
                  </a:lnTo>
                  <a:lnTo>
                    <a:pt x="180" y="216"/>
                  </a:lnTo>
                  <a:lnTo>
                    <a:pt x="180" y="222"/>
                  </a:lnTo>
                  <a:lnTo>
                    <a:pt x="174" y="222"/>
                  </a:lnTo>
                  <a:lnTo>
                    <a:pt x="174" y="216"/>
                  </a:lnTo>
                  <a:lnTo>
                    <a:pt x="168" y="216"/>
                  </a:lnTo>
                  <a:lnTo>
                    <a:pt x="162" y="216"/>
                  </a:lnTo>
                  <a:lnTo>
                    <a:pt x="162" y="210"/>
                  </a:lnTo>
                  <a:lnTo>
                    <a:pt x="156" y="216"/>
                  </a:lnTo>
                  <a:lnTo>
                    <a:pt x="162" y="216"/>
                  </a:lnTo>
                  <a:lnTo>
                    <a:pt x="162" y="222"/>
                  </a:lnTo>
                  <a:lnTo>
                    <a:pt x="156" y="222"/>
                  </a:lnTo>
                  <a:lnTo>
                    <a:pt x="150" y="222"/>
                  </a:lnTo>
                  <a:lnTo>
                    <a:pt x="144" y="222"/>
                  </a:lnTo>
                  <a:lnTo>
                    <a:pt x="138" y="222"/>
                  </a:lnTo>
                  <a:lnTo>
                    <a:pt x="132" y="222"/>
                  </a:lnTo>
                  <a:lnTo>
                    <a:pt x="132" y="228"/>
                  </a:lnTo>
                  <a:lnTo>
                    <a:pt x="126" y="234"/>
                  </a:lnTo>
                  <a:lnTo>
                    <a:pt x="120" y="234"/>
                  </a:lnTo>
                  <a:lnTo>
                    <a:pt x="120" y="240"/>
                  </a:lnTo>
                  <a:lnTo>
                    <a:pt x="114" y="240"/>
                  </a:lnTo>
                  <a:lnTo>
                    <a:pt x="108" y="240"/>
                  </a:lnTo>
                  <a:lnTo>
                    <a:pt x="102" y="240"/>
                  </a:lnTo>
                  <a:lnTo>
                    <a:pt x="96" y="240"/>
                  </a:lnTo>
                  <a:lnTo>
                    <a:pt x="90" y="240"/>
                  </a:lnTo>
                  <a:lnTo>
                    <a:pt x="90" y="234"/>
                  </a:lnTo>
                  <a:lnTo>
                    <a:pt x="90" y="240"/>
                  </a:lnTo>
                  <a:lnTo>
                    <a:pt x="84" y="240"/>
                  </a:lnTo>
                  <a:lnTo>
                    <a:pt x="84" y="246"/>
                  </a:lnTo>
                  <a:lnTo>
                    <a:pt x="84" y="252"/>
                  </a:lnTo>
                  <a:lnTo>
                    <a:pt x="84" y="246"/>
                  </a:lnTo>
                  <a:lnTo>
                    <a:pt x="90" y="246"/>
                  </a:lnTo>
                  <a:lnTo>
                    <a:pt x="90" y="252"/>
                  </a:lnTo>
                  <a:lnTo>
                    <a:pt x="84" y="258"/>
                  </a:lnTo>
                  <a:lnTo>
                    <a:pt x="78" y="258"/>
                  </a:lnTo>
                  <a:lnTo>
                    <a:pt x="72" y="258"/>
                  </a:lnTo>
                  <a:lnTo>
                    <a:pt x="72" y="264"/>
                  </a:lnTo>
                  <a:lnTo>
                    <a:pt x="66" y="264"/>
                  </a:lnTo>
                  <a:lnTo>
                    <a:pt x="66" y="270"/>
                  </a:lnTo>
                  <a:lnTo>
                    <a:pt x="60" y="270"/>
                  </a:lnTo>
                  <a:lnTo>
                    <a:pt x="54" y="270"/>
                  </a:lnTo>
                  <a:lnTo>
                    <a:pt x="48" y="270"/>
                  </a:lnTo>
                  <a:lnTo>
                    <a:pt x="48" y="276"/>
                  </a:lnTo>
                  <a:lnTo>
                    <a:pt x="48" y="270"/>
                  </a:lnTo>
                  <a:lnTo>
                    <a:pt x="42" y="270"/>
                  </a:lnTo>
                  <a:lnTo>
                    <a:pt x="42" y="276"/>
                  </a:lnTo>
                  <a:lnTo>
                    <a:pt x="36" y="276"/>
                  </a:lnTo>
                  <a:close/>
                </a:path>
              </a:pathLst>
            </a:custGeom>
            <a:solidFill>
              <a:schemeClr val="accent1"/>
            </a:solidFill>
            <a:ln w="9525">
              <a:solidFill>
                <a:srgbClr val="B2B2B2"/>
              </a:solidFill>
              <a:round/>
              <a:headEnd/>
              <a:tailEnd/>
            </a:ln>
          </p:spPr>
          <p:txBody>
            <a:bodyPr/>
            <a:lstStyle/>
            <a:p>
              <a:endParaRPr lang="en-CA"/>
            </a:p>
          </p:txBody>
        </p:sp>
        <p:sp>
          <p:nvSpPr>
            <p:cNvPr id="445" name="Freeform 504"/>
            <p:cNvSpPr>
              <a:spLocks/>
            </p:cNvSpPr>
            <p:nvPr>
              <p:custDataLst>
                <p:tags r:id="rId68"/>
              </p:custDataLst>
            </p:nvPr>
          </p:nvSpPr>
          <p:spPr bwMode="gray">
            <a:xfrm>
              <a:off x="2636" y="2954"/>
              <a:ext cx="520" cy="351"/>
            </a:xfrm>
            <a:custGeom>
              <a:avLst/>
              <a:gdLst>
                <a:gd name="T0" fmla="*/ 375785615 w 834"/>
                <a:gd name="T1" fmla="*/ 539780334 h 564"/>
                <a:gd name="T2" fmla="*/ 346427905 w 834"/>
                <a:gd name="T3" fmla="*/ 528045271 h 564"/>
                <a:gd name="T4" fmla="*/ 305326121 w 834"/>
                <a:gd name="T5" fmla="*/ 516311195 h 564"/>
                <a:gd name="T6" fmla="*/ 264224338 w 834"/>
                <a:gd name="T7" fmla="*/ 528045271 h 564"/>
                <a:gd name="T8" fmla="*/ 223122554 w 834"/>
                <a:gd name="T9" fmla="*/ 539780334 h 564"/>
                <a:gd name="T10" fmla="*/ 182021760 w 834"/>
                <a:gd name="T11" fmla="*/ 516311195 h 564"/>
                <a:gd name="T12" fmla="*/ 158534603 w 834"/>
                <a:gd name="T13" fmla="*/ 486975511 h 564"/>
                <a:gd name="T14" fmla="*/ 152663061 w 834"/>
                <a:gd name="T15" fmla="*/ 445904763 h 564"/>
                <a:gd name="T16" fmla="*/ 123304361 w 834"/>
                <a:gd name="T17" fmla="*/ 445904763 h 564"/>
                <a:gd name="T18" fmla="*/ 88075109 w 834"/>
                <a:gd name="T19" fmla="*/ 422436612 h 564"/>
                <a:gd name="T20" fmla="*/ 41101784 w 834"/>
                <a:gd name="T21" fmla="*/ 410702536 h 564"/>
                <a:gd name="T22" fmla="*/ 5871542 w 834"/>
                <a:gd name="T23" fmla="*/ 393100928 h 564"/>
                <a:gd name="T24" fmla="*/ 11743084 w 834"/>
                <a:gd name="T25" fmla="*/ 357897712 h 564"/>
                <a:gd name="T26" fmla="*/ 23486168 w 834"/>
                <a:gd name="T27" fmla="*/ 334428573 h 564"/>
                <a:gd name="T28" fmla="*/ 52844868 w 834"/>
                <a:gd name="T29" fmla="*/ 310960421 h 564"/>
                <a:gd name="T30" fmla="*/ 82203567 w 834"/>
                <a:gd name="T31" fmla="*/ 316826965 h 564"/>
                <a:gd name="T32" fmla="*/ 105689735 w 834"/>
                <a:gd name="T33" fmla="*/ 352030180 h 564"/>
                <a:gd name="T34" fmla="*/ 135048435 w 834"/>
                <a:gd name="T35" fmla="*/ 375499320 h 564"/>
                <a:gd name="T36" fmla="*/ 164406144 w 834"/>
                <a:gd name="T37" fmla="*/ 387233396 h 564"/>
                <a:gd name="T38" fmla="*/ 193764844 w 834"/>
                <a:gd name="T39" fmla="*/ 410702536 h 564"/>
                <a:gd name="T40" fmla="*/ 205507928 w 834"/>
                <a:gd name="T41" fmla="*/ 440038219 h 564"/>
                <a:gd name="T42" fmla="*/ 234866628 w 834"/>
                <a:gd name="T43" fmla="*/ 469373903 h 564"/>
                <a:gd name="T44" fmla="*/ 270095879 w 834"/>
                <a:gd name="T45" fmla="*/ 457639827 h 564"/>
                <a:gd name="T46" fmla="*/ 328812289 w 834"/>
                <a:gd name="T47" fmla="*/ 393100928 h 564"/>
                <a:gd name="T48" fmla="*/ 469732266 w 834"/>
                <a:gd name="T49" fmla="*/ 222952382 h 564"/>
                <a:gd name="T50" fmla="*/ 452117640 w 834"/>
                <a:gd name="T51" fmla="*/ 170147558 h 564"/>
                <a:gd name="T52" fmla="*/ 446246098 w 834"/>
                <a:gd name="T53" fmla="*/ 134945331 h 564"/>
                <a:gd name="T54" fmla="*/ 457989182 w 834"/>
                <a:gd name="T55" fmla="*/ 105608659 h 564"/>
                <a:gd name="T56" fmla="*/ 457989182 w 834"/>
                <a:gd name="T57" fmla="*/ 88008039 h 564"/>
                <a:gd name="T58" fmla="*/ 446246098 w 834"/>
                <a:gd name="T59" fmla="*/ 52804823 h 564"/>
                <a:gd name="T60" fmla="*/ 475603808 w 834"/>
                <a:gd name="T61" fmla="*/ 41069760 h 564"/>
                <a:gd name="T62" fmla="*/ 510834049 w 834"/>
                <a:gd name="T63" fmla="*/ 17601608 h 564"/>
                <a:gd name="T64" fmla="*/ 551935833 w 834"/>
                <a:gd name="T65" fmla="*/ 29335684 h 564"/>
                <a:gd name="T66" fmla="*/ 581293543 w 834"/>
                <a:gd name="T67" fmla="*/ 11734076 h 564"/>
                <a:gd name="T68" fmla="*/ 616523784 w 834"/>
                <a:gd name="T69" fmla="*/ 29335684 h 564"/>
                <a:gd name="T70" fmla="*/ 640010942 w 834"/>
                <a:gd name="T71" fmla="*/ 46937292 h 564"/>
                <a:gd name="T72" fmla="*/ 675240194 w 834"/>
                <a:gd name="T73" fmla="*/ 46937292 h 564"/>
                <a:gd name="T74" fmla="*/ 698727351 w 834"/>
                <a:gd name="T75" fmla="*/ 46937292 h 564"/>
                <a:gd name="T76" fmla="*/ 769186845 w 834"/>
                <a:gd name="T77" fmla="*/ 0 h 564"/>
                <a:gd name="T78" fmla="*/ 763315303 w 834"/>
                <a:gd name="T79" fmla="*/ 23469140 h 564"/>
                <a:gd name="T80" fmla="*/ 763315303 w 834"/>
                <a:gd name="T81" fmla="*/ 58671367 h 564"/>
                <a:gd name="T82" fmla="*/ 769186845 w 834"/>
                <a:gd name="T83" fmla="*/ 88008039 h 564"/>
                <a:gd name="T84" fmla="*/ 769186845 w 834"/>
                <a:gd name="T85" fmla="*/ 117343723 h 564"/>
                <a:gd name="T86" fmla="*/ 775058387 w 834"/>
                <a:gd name="T87" fmla="*/ 146679406 h 564"/>
                <a:gd name="T88" fmla="*/ 804417086 w 834"/>
                <a:gd name="T89" fmla="*/ 170147558 h 564"/>
                <a:gd name="T90" fmla="*/ 816160170 w 834"/>
                <a:gd name="T91" fmla="*/ 199484230 h 564"/>
                <a:gd name="T92" fmla="*/ 792674002 w 834"/>
                <a:gd name="T93" fmla="*/ 217085838 h 564"/>
                <a:gd name="T94" fmla="*/ 757443761 w 834"/>
                <a:gd name="T95" fmla="*/ 234686458 h 564"/>
                <a:gd name="T96" fmla="*/ 728085061 w 834"/>
                <a:gd name="T97" fmla="*/ 258155597 h 564"/>
                <a:gd name="T98" fmla="*/ 692855809 w 834"/>
                <a:gd name="T99" fmla="*/ 275757205 h 564"/>
                <a:gd name="T100" fmla="*/ 686984267 w 834"/>
                <a:gd name="T101" fmla="*/ 310960421 h 564"/>
                <a:gd name="T102" fmla="*/ 698727351 w 834"/>
                <a:gd name="T103" fmla="*/ 322694497 h 564"/>
                <a:gd name="T104" fmla="*/ 686984267 w 834"/>
                <a:gd name="T105" fmla="*/ 357897712 h 564"/>
                <a:gd name="T106" fmla="*/ 651754026 w 834"/>
                <a:gd name="T107" fmla="*/ 369631788 h 564"/>
                <a:gd name="T108" fmla="*/ 622395326 w 834"/>
                <a:gd name="T109" fmla="*/ 387233396 h 564"/>
                <a:gd name="T110" fmla="*/ 598909158 w 834"/>
                <a:gd name="T111" fmla="*/ 387233396 h 564"/>
                <a:gd name="T112" fmla="*/ 575422001 w 834"/>
                <a:gd name="T113" fmla="*/ 416569080 h 564"/>
                <a:gd name="T114" fmla="*/ 540192749 w 834"/>
                <a:gd name="T115" fmla="*/ 434170688 h 564"/>
                <a:gd name="T116" fmla="*/ 499090965 w 834"/>
                <a:gd name="T117" fmla="*/ 440038219 h 564"/>
                <a:gd name="T118" fmla="*/ 463860724 w 834"/>
                <a:gd name="T119" fmla="*/ 445904763 h 564"/>
                <a:gd name="T120" fmla="*/ 440374556 w 834"/>
                <a:gd name="T121" fmla="*/ 451772295 h 564"/>
                <a:gd name="T122" fmla="*/ 428630482 w 834"/>
                <a:gd name="T123" fmla="*/ 486975511 h 564"/>
                <a:gd name="T124" fmla="*/ 422758940 w 834"/>
                <a:gd name="T125" fmla="*/ 522178727 h 56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34"/>
                <a:gd name="T190" fmla="*/ 0 h 564"/>
                <a:gd name="T191" fmla="*/ 834 w 834"/>
                <a:gd name="T192" fmla="*/ 564 h 56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34" h="564">
                  <a:moveTo>
                    <a:pt x="420" y="564"/>
                  </a:moveTo>
                  <a:lnTo>
                    <a:pt x="414" y="564"/>
                  </a:lnTo>
                  <a:lnTo>
                    <a:pt x="408" y="564"/>
                  </a:lnTo>
                  <a:lnTo>
                    <a:pt x="402" y="564"/>
                  </a:lnTo>
                  <a:lnTo>
                    <a:pt x="402" y="558"/>
                  </a:lnTo>
                  <a:lnTo>
                    <a:pt x="396" y="558"/>
                  </a:lnTo>
                  <a:lnTo>
                    <a:pt x="390" y="558"/>
                  </a:lnTo>
                  <a:lnTo>
                    <a:pt x="384" y="558"/>
                  </a:lnTo>
                  <a:lnTo>
                    <a:pt x="384" y="552"/>
                  </a:lnTo>
                  <a:lnTo>
                    <a:pt x="384" y="546"/>
                  </a:lnTo>
                  <a:lnTo>
                    <a:pt x="378" y="546"/>
                  </a:lnTo>
                  <a:lnTo>
                    <a:pt x="378" y="540"/>
                  </a:lnTo>
                  <a:lnTo>
                    <a:pt x="372" y="540"/>
                  </a:lnTo>
                  <a:lnTo>
                    <a:pt x="372" y="534"/>
                  </a:lnTo>
                  <a:lnTo>
                    <a:pt x="366" y="534"/>
                  </a:lnTo>
                  <a:lnTo>
                    <a:pt x="360" y="534"/>
                  </a:lnTo>
                  <a:lnTo>
                    <a:pt x="354" y="534"/>
                  </a:lnTo>
                  <a:lnTo>
                    <a:pt x="354" y="540"/>
                  </a:lnTo>
                  <a:lnTo>
                    <a:pt x="348" y="540"/>
                  </a:lnTo>
                  <a:lnTo>
                    <a:pt x="348" y="534"/>
                  </a:lnTo>
                  <a:lnTo>
                    <a:pt x="342" y="534"/>
                  </a:lnTo>
                  <a:lnTo>
                    <a:pt x="342" y="528"/>
                  </a:lnTo>
                  <a:lnTo>
                    <a:pt x="336" y="528"/>
                  </a:lnTo>
                  <a:lnTo>
                    <a:pt x="330" y="528"/>
                  </a:lnTo>
                  <a:lnTo>
                    <a:pt x="324" y="528"/>
                  </a:lnTo>
                  <a:lnTo>
                    <a:pt x="318" y="528"/>
                  </a:lnTo>
                  <a:lnTo>
                    <a:pt x="312" y="528"/>
                  </a:lnTo>
                  <a:lnTo>
                    <a:pt x="306" y="528"/>
                  </a:lnTo>
                  <a:lnTo>
                    <a:pt x="300" y="528"/>
                  </a:lnTo>
                  <a:lnTo>
                    <a:pt x="300" y="534"/>
                  </a:lnTo>
                  <a:lnTo>
                    <a:pt x="294" y="534"/>
                  </a:lnTo>
                  <a:lnTo>
                    <a:pt x="288" y="534"/>
                  </a:lnTo>
                  <a:lnTo>
                    <a:pt x="282" y="534"/>
                  </a:lnTo>
                  <a:lnTo>
                    <a:pt x="276" y="534"/>
                  </a:lnTo>
                  <a:lnTo>
                    <a:pt x="276" y="540"/>
                  </a:lnTo>
                  <a:lnTo>
                    <a:pt x="270" y="540"/>
                  </a:lnTo>
                  <a:lnTo>
                    <a:pt x="264" y="540"/>
                  </a:lnTo>
                  <a:lnTo>
                    <a:pt x="258" y="540"/>
                  </a:lnTo>
                  <a:lnTo>
                    <a:pt x="258" y="546"/>
                  </a:lnTo>
                  <a:lnTo>
                    <a:pt x="252" y="546"/>
                  </a:lnTo>
                  <a:lnTo>
                    <a:pt x="246" y="546"/>
                  </a:lnTo>
                  <a:lnTo>
                    <a:pt x="240" y="546"/>
                  </a:lnTo>
                  <a:lnTo>
                    <a:pt x="234" y="546"/>
                  </a:lnTo>
                  <a:lnTo>
                    <a:pt x="234" y="552"/>
                  </a:lnTo>
                  <a:lnTo>
                    <a:pt x="228" y="552"/>
                  </a:lnTo>
                  <a:lnTo>
                    <a:pt x="228" y="546"/>
                  </a:lnTo>
                  <a:lnTo>
                    <a:pt x="222" y="546"/>
                  </a:lnTo>
                  <a:lnTo>
                    <a:pt x="216" y="546"/>
                  </a:lnTo>
                  <a:lnTo>
                    <a:pt x="210" y="546"/>
                  </a:lnTo>
                  <a:lnTo>
                    <a:pt x="210" y="540"/>
                  </a:lnTo>
                  <a:lnTo>
                    <a:pt x="204" y="540"/>
                  </a:lnTo>
                  <a:lnTo>
                    <a:pt x="198" y="540"/>
                  </a:lnTo>
                  <a:lnTo>
                    <a:pt x="192" y="534"/>
                  </a:lnTo>
                  <a:lnTo>
                    <a:pt x="186" y="528"/>
                  </a:lnTo>
                  <a:lnTo>
                    <a:pt x="180" y="528"/>
                  </a:lnTo>
                  <a:lnTo>
                    <a:pt x="180" y="522"/>
                  </a:lnTo>
                  <a:lnTo>
                    <a:pt x="174" y="522"/>
                  </a:lnTo>
                  <a:lnTo>
                    <a:pt x="168" y="522"/>
                  </a:lnTo>
                  <a:lnTo>
                    <a:pt x="168" y="516"/>
                  </a:lnTo>
                  <a:lnTo>
                    <a:pt x="168" y="510"/>
                  </a:lnTo>
                  <a:lnTo>
                    <a:pt x="168" y="504"/>
                  </a:lnTo>
                  <a:lnTo>
                    <a:pt x="162" y="504"/>
                  </a:lnTo>
                  <a:lnTo>
                    <a:pt x="162" y="498"/>
                  </a:lnTo>
                  <a:lnTo>
                    <a:pt x="162" y="492"/>
                  </a:lnTo>
                  <a:lnTo>
                    <a:pt x="168" y="492"/>
                  </a:lnTo>
                  <a:lnTo>
                    <a:pt x="162" y="486"/>
                  </a:lnTo>
                  <a:lnTo>
                    <a:pt x="162" y="480"/>
                  </a:lnTo>
                  <a:lnTo>
                    <a:pt x="162" y="474"/>
                  </a:lnTo>
                  <a:lnTo>
                    <a:pt x="162" y="468"/>
                  </a:lnTo>
                  <a:lnTo>
                    <a:pt x="162" y="462"/>
                  </a:lnTo>
                  <a:lnTo>
                    <a:pt x="156" y="462"/>
                  </a:lnTo>
                  <a:lnTo>
                    <a:pt x="156" y="456"/>
                  </a:lnTo>
                  <a:lnTo>
                    <a:pt x="156" y="462"/>
                  </a:lnTo>
                  <a:lnTo>
                    <a:pt x="156" y="456"/>
                  </a:lnTo>
                  <a:lnTo>
                    <a:pt x="150" y="456"/>
                  </a:lnTo>
                  <a:lnTo>
                    <a:pt x="144" y="456"/>
                  </a:lnTo>
                  <a:lnTo>
                    <a:pt x="138" y="456"/>
                  </a:lnTo>
                  <a:lnTo>
                    <a:pt x="138" y="450"/>
                  </a:lnTo>
                  <a:lnTo>
                    <a:pt x="132" y="450"/>
                  </a:lnTo>
                  <a:lnTo>
                    <a:pt x="126" y="450"/>
                  </a:lnTo>
                  <a:lnTo>
                    <a:pt x="126" y="456"/>
                  </a:lnTo>
                  <a:lnTo>
                    <a:pt x="120" y="450"/>
                  </a:lnTo>
                  <a:lnTo>
                    <a:pt x="114" y="450"/>
                  </a:lnTo>
                  <a:lnTo>
                    <a:pt x="114" y="444"/>
                  </a:lnTo>
                  <a:lnTo>
                    <a:pt x="108" y="444"/>
                  </a:lnTo>
                  <a:lnTo>
                    <a:pt x="102" y="444"/>
                  </a:lnTo>
                  <a:lnTo>
                    <a:pt x="102" y="438"/>
                  </a:lnTo>
                  <a:lnTo>
                    <a:pt x="96" y="438"/>
                  </a:lnTo>
                  <a:lnTo>
                    <a:pt x="90" y="438"/>
                  </a:lnTo>
                  <a:lnTo>
                    <a:pt x="90" y="432"/>
                  </a:lnTo>
                  <a:lnTo>
                    <a:pt x="84" y="432"/>
                  </a:lnTo>
                  <a:lnTo>
                    <a:pt x="78" y="432"/>
                  </a:lnTo>
                  <a:lnTo>
                    <a:pt x="72" y="432"/>
                  </a:lnTo>
                  <a:lnTo>
                    <a:pt x="66" y="432"/>
                  </a:lnTo>
                  <a:lnTo>
                    <a:pt x="60" y="432"/>
                  </a:lnTo>
                  <a:lnTo>
                    <a:pt x="54" y="432"/>
                  </a:lnTo>
                  <a:lnTo>
                    <a:pt x="54" y="426"/>
                  </a:lnTo>
                  <a:lnTo>
                    <a:pt x="48" y="420"/>
                  </a:lnTo>
                  <a:lnTo>
                    <a:pt x="42" y="420"/>
                  </a:lnTo>
                  <a:lnTo>
                    <a:pt x="36" y="420"/>
                  </a:lnTo>
                  <a:lnTo>
                    <a:pt x="30" y="420"/>
                  </a:lnTo>
                  <a:lnTo>
                    <a:pt x="30" y="414"/>
                  </a:lnTo>
                  <a:lnTo>
                    <a:pt x="24" y="414"/>
                  </a:lnTo>
                  <a:lnTo>
                    <a:pt x="24" y="408"/>
                  </a:lnTo>
                  <a:lnTo>
                    <a:pt x="18" y="408"/>
                  </a:lnTo>
                  <a:lnTo>
                    <a:pt x="18" y="402"/>
                  </a:lnTo>
                  <a:lnTo>
                    <a:pt x="12" y="402"/>
                  </a:lnTo>
                  <a:lnTo>
                    <a:pt x="6" y="402"/>
                  </a:lnTo>
                  <a:lnTo>
                    <a:pt x="6" y="396"/>
                  </a:lnTo>
                  <a:lnTo>
                    <a:pt x="0" y="390"/>
                  </a:lnTo>
                  <a:lnTo>
                    <a:pt x="0" y="396"/>
                  </a:lnTo>
                  <a:lnTo>
                    <a:pt x="0" y="390"/>
                  </a:lnTo>
                  <a:lnTo>
                    <a:pt x="0" y="384"/>
                  </a:lnTo>
                  <a:lnTo>
                    <a:pt x="0" y="378"/>
                  </a:lnTo>
                  <a:lnTo>
                    <a:pt x="6" y="372"/>
                  </a:lnTo>
                  <a:lnTo>
                    <a:pt x="6" y="366"/>
                  </a:lnTo>
                  <a:lnTo>
                    <a:pt x="12" y="366"/>
                  </a:lnTo>
                  <a:lnTo>
                    <a:pt x="12" y="360"/>
                  </a:lnTo>
                  <a:lnTo>
                    <a:pt x="12" y="354"/>
                  </a:lnTo>
                  <a:lnTo>
                    <a:pt x="6" y="354"/>
                  </a:lnTo>
                  <a:lnTo>
                    <a:pt x="6" y="348"/>
                  </a:lnTo>
                  <a:lnTo>
                    <a:pt x="12" y="348"/>
                  </a:lnTo>
                  <a:lnTo>
                    <a:pt x="12" y="342"/>
                  </a:lnTo>
                  <a:lnTo>
                    <a:pt x="18" y="348"/>
                  </a:lnTo>
                  <a:lnTo>
                    <a:pt x="24" y="348"/>
                  </a:lnTo>
                  <a:lnTo>
                    <a:pt x="24" y="342"/>
                  </a:lnTo>
                  <a:lnTo>
                    <a:pt x="24" y="336"/>
                  </a:lnTo>
                  <a:lnTo>
                    <a:pt x="30" y="336"/>
                  </a:lnTo>
                  <a:lnTo>
                    <a:pt x="30" y="330"/>
                  </a:lnTo>
                  <a:lnTo>
                    <a:pt x="36" y="330"/>
                  </a:lnTo>
                  <a:lnTo>
                    <a:pt x="42" y="330"/>
                  </a:lnTo>
                  <a:lnTo>
                    <a:pt x="42" y="324"/>
                  </a:lnTo>
                  <a:lnTo>
                    <a:pt x="48" y="324"/>
                  </a:lnTo>
                  <a:lnTo>
                    <a:pt x="54" y="324"/>
                  </a:lnTo>
                  <a:lnTo>
                    <a:pt x="54" y="318"/>
                  </a:lnTo>
                  <a:lnTo>
                    <a:pt x="54" y="312"/>
                  </a:lnTo>
                  <a:lnTo>
                    <a:pt x="60" y="312"/>
                  </a:lnTo>
                  <a:lnTo>
                    <a:pt x="66" y="312"/>
                  </a:lnTo>
                  <a:lnTo>
                    <a:pt x="72" y="306"/>
                  </a:lnTo>
                  <a:lnTo>
                    <a:pt x="72" y="312"/>
                  </a:lnTo>
                  <a:lnTo>
                    <a:pt x="78" y="318"/>
                  </a:lnTo>
                  <a:lnTo>
                    <a:pt x="84" y="318"/>
                  </a:lnTo>
                  <a:lnTo>
                    <a:pt x="78" y="318"/>
                  </a:lnTo>
                  <a:lnTo>
                    <a:pt x="84" y="324"/>
                  </a:lnTo>
                  <a:lnTo>
                    <a:pt x="78" y="324"/>
                  </a:lnTo>
                  <a:lnTo>
                    <a:pt x="78" y="330"/>
                  </a:lnTo>
                  <a:lnTo>
                    <a:pt x="84" y="336"/>
                  </a:lnTo>
                  <a:lnTo>
                    <a:pt x="90" y="342"/>
                  </a:lnTo>
                  <a:lnTo>
                    <a:pt x="90" y="348"/>
                  </a:lnTo>
                  <a:lnTo>
                    <a:pt x="96" y="348"/>
                  </a:lnTo>
                  <a:lnTo>
                    <a:pt x="102" y="354"/>
                  </a:lnTo>
                  <a:lnTo>
                    <a:pt x="108" y="354"/>
                  </a:lnTo>
                  <a:lnTo>
                    <a:pt x="108" y="360"/>
                  </a:lnTo>
                  <a:lnTo>
                    <a:pt x="114" y="360"/>
                  </a:lnTo>
                  <a:lnTo>
                    <a:pt x="120" y="360"/>
                  </a:lnTo>
                  <a:lnTo>
                    <a:pt x="120" y="366"/>
                  </a:lnTo>
                  <a:lnTo>
                    <a:pt x="126" y="366"/>
                  </a:lnTo>
                  <a:lnTo>
                    <a:pt x="126" y="372"/>
                  </a:lnTo>
                  <a:lnTo>
                    <a:pt x="126" y="378"/>
                  </a:lnTo>
                  <a:lnTo>
                    <a:pt x="132" y="378"/>
                  </a:lnTo>
                  <a:lnTo>
                    <a:pt x="138" y="378"/>
                  </a:lnTo>
                  <a:lnTo>
                    <a:pt x="138" y="384"/>
                  </a:lnTo>
                  <a:lnTo>
                    <a:pt x="144" y="384"/>
                  </a:lnTo>
                  <a:lnTo>
                    <a:pt x="144" y="390"/>
                  </a:lnTo>
                  <a:lnTo>
                    <a:pt x="150" y="390"/>
                  </a:lnTo>
                  <a:lnTo>
                    <a:pt x="150" y="396"/>
                  </a:lnTo>
                  <a:lnTo>
                    <a:pt x="156" y="396"/>
                  </a:lnTo>
                  <a:lnTo>
                    <a:pt x="156" y="390"/>
                  </a:lnTo>
                  <a:lnTo>
                    <a:pt x="162" y="390"/>
                  </a:lnTo>
                  <a:lnTo>
                    <a:pt x="162" y="396"/>
                  </a:lnTo>
                  <a:lnTo>
                    <a:pt x="168" y="396"/>
                  </a:lnTo>
                  <a:lnTo>
                    <a:pt x="174" y="396"/>
                  </a:lnTo>
                  <a:lnTo>
                    <a:pt x="180" y="396"/>
                  </a:lnTo>
                  <a:lnTo>
                    <a:pt x="180" y="402"/>
                  </a:lnTo>
                  <a:lnTo>
                    <a:pt x="180" y="408"/>
                  </a:lnTo>
                  <a:lnTo>
                    <a:pt x="186" y="408"/>
                  </a:lnTo>
                  <a:lnTo>
                    <a:pt x="186" y="414"/>
                  </a:lnTo>
                  <a:lnTo>
                    <a:pt x="192" y="414"/>
                  </a:lnTo>
                  <a:lnTo>
                    <a:pt x="192" y="420"/>
                  </a:lnTo>
                  <a:lnTo>
                    <a:pt x="198" y="420"/>
                  </a:lnTo>
                  <a:lnTo>
                    <a:pt x="204" y="420"/>
                  </a:lnTo>
                  <a:lnTo>
                    <a:pt x="204" y="426"/>
                  </a:lnTo>
                  <a:lnTo>
                    <a:pt x="210" y="432"/>
                  </a:lnTo>
                  <a:lnTo>
                    <a:pt x="204" y="438"/>
                  </a:lnTo>
                  <a:lnTo>
                    <a:pt x="210" y="438"/>
                  </a:lnTo>
                  <a:lnTo>
                    <a:pt x="204" y="438"/>
                  </a:lnTo>
                  <a:lnTo>
                    <a:pt x="204" y="444"/>
                  </a:lnTo>
                  <a:lnTo>
                    <a:pt x="210" y="444"/>
                  </a:lnTo>
                  <a:lnTo>
                    <a:pt x="210" y="450"/>
                  </a:lnTo>
                  <a:lnTo>
                    <a:pt x="216" y="450"/>
                  </a:lnTo>
                  <a:lnTo>
                    <a:pt x="216" y="456"/>
                  </a:lnTo>
                  <a:lnTo>
                    <a:pt x="222" y="456"/>
                  </a:lnTo>
                  <a:lnTo>
                    <a:pt x="222" y="450"/>
                  </a:lnTo>
                  <a:lnTo>
                    <a:pt x="228" y="450"/>
                  </a:lnTo>
                  <a:lnTo>
                    <a:pt x="234" y="456"/>
                  </a:lnTo>
                  <a:lnTo>
                    <a:pt x="234" y="480"/>
                  </a:lnTo>
                  <a:lnTo>
                    <a:pt x="240" y="474"/>
                  </a:lnTo>
                  <a:lnTo>
                    <a:pt x="240" y="480"/>
                  </a:lnTo>
                  <a:lnTo>
                    <a:pt x="246" y="474"/>
                  </a:lnTo>
                  <a:lnTo>
                    <a:pt x="252" y="474"/>
                  </a:lnTo>
                  <a:lnTo>
                    <a:pt x="252" y="468"/>
                  </a:lnTo>
                  <a:lnTo>
                    <a:pt x="258" y="468"/>
                  </a:lnTo>
                  <a:lnTo>
                    <a:pt x="264" y="468"/>
                  </a:lnTo>
                  <a:lnTo>
                    <a:pt x="264" y="462"/>
                  </a:lnTo>
                  <a:lnTo>
                    <a:pt x="270" y="462"/>
                  </a:lnTo>
                  <a:lnTo>
                    <a:pt x="270" y="468"/>
                  </a:lnTo>
                  <a:lnTo>
                    <a:pt x="276" y="468"/>
                  </a:lnTo>
                  <a:lnTo>
                    <a:pt x="276" y="462"/>
                  </a:lnTo>
                  <a:lnTo>
                    <a:pt x="276" y="456"/>
                  </a:lnTo>
                  <a:lnTo>
                    <a:pt x="276" y="450"/>
                  </a:lnTo>
                  <a:lnTo>
                    <a:pt x="270" y="444"/>
                  </a:lnTo>
                  <a:lnTo>
                    <a:pt x="288" y="438"/>
                  </a:lnTo>
                  <a:lnTo>
                    <a:pt x="300" y="438"/>
                  </a:lnTo>
                  <a:lnTo>
                    <a:pt x="312" y="426"/>
                  </a:lnTo>
                  <a:lnTo>
                    <a:pt x="330" y="414"/>
                  </a:lnTo>
                  <a:lnTo>
                    <a:pt x="336" y="402"/>
                  </a:lnTo>
                  <a:lnTo>
                    <a:pt x="342" y="390"/>
                  </a:lnTo>
                  <a:lnTo>
                    <a:pt x="354" y="378"/>
                  </a:lnTo>
                  <a:lnTo>
                    <a:pt x="402" y="342"/>
                  </a:lnTo>
                  <a:lnTo>
                    <a:pt x="426" y="324"/>
                  </a:lnTo>
                  <a:lnTo>
                    <a:pt x="432" y="324"/>
                  </a:lnTo>
                  <a:lnTo>
                    <a:pt x="438" y="300"/>
                  </a:lnTo>
                  <a:lnTo>
                    <a:pt x="444" y="282"/>
                  </a:lnTo>
                  <a:lnTo>
                    <a:pt x="456" y="258"/>
                  </a:lnTo>
                  <a:lnTo>
                    <a:pt x="480" y="228"/>
                  </a:lnTo>
                  <a:lnTo>
                    <a:pt x="456" y="216"/>
                  </a:lnTo>
                  <a:lnTo>
                    <a:pt x="456" y="210"/>
                  </a:lnTo>
                  <a:lnTo>
                    <a:pt x="462" y="210"/>
                  </a:lnTo>
                  <a:lnTo>
                    <a:pt x="462" y="204"/>
                  </a:lnTo>
                  <a:lnTo>
                    <a:pt x="462" y="198"/>
                  </a:lnTo>
                  <a:lnTo>
                    <a:pt x="462" y="192"/>
                  </a:lnTo>
                  <a:lnTo>
                    <a:pt x="462" y="186"/>
                  </a:lnTo>
                  <a:lnTo>
                    <a:pt x="462" y="180"/>
                  </a:lnTo>
                  <a:lnTo>
                    <a:pt x="462" y="174"/>
                  </a:lnTo>
                  <a:lnTo>
                    <a:pt x="462" y="168"/>
                  </a:lnTo>
                  <a:lnTo>
                    <a:pt x="462" y="162"/>
                  </a:lnTo>
                  <a:lnTo>
                    <a:pt x="462" y="156"/>
                  </a:lnTo>
                  <a:lnTo>
                    <a:pt x="456" y="156"/>
                  </a:lnTo>
                  <a:lnTo>
                    <a:pt x="456" y="150"/>
                  </a:lnTo>
                  <a:lnTo>
                    <a:pt x="456" y="144"/>
                  </a:lnTo>
                  <a:lnTo>
                    <a:pt x="462" y="144"/>
                  </a:lnTo>
                  <a:lnTo>
                    <a:pt x="462" y="138"/>
                  </a:lnTo>
                  <a:lnTo>
                    <a:pt x="456" y="138"/>
                  </a:lnTo>
                  <a:lnTo>
                    <a:pt x="462" y="132"/>
                  </a:lnTo>
                  <a:lnTo>
                    <a:pt x="456" y="132"/>
                  </a:lnTo>
                  <a:lnTo>
                    <a:pt x="462" y="132"/>
                  </a:lnTo>
                  <a:lnTo>
                    <a:pt x="462" y="126"/>
                  </a:lnTo>
                  <a:lnTo>
                    <a:pt x="468" y="126"/>
                  </a:lnTo>
                  <a:lnTo>
                    <a:pt x="462" y="120"/>
                  </a:lnTo>
                  <a:lnTo>
                    <a:pt x="468" y="120"/>
                  </a:lnTo>
                  <a:lnTo>
                    <a:pt x="468" y="114"/>
                  </a:lnTo>
                  <a:lnTo>
                    <a:pt x="468" y="108"/>
                  </a:lnTo>
                  <a:lnTo>
                    <a:pt x="474" y="108"/>
                  </a:lnTo>
                  <a:lnTo>
                    <a:pt x="480" y="108"/>
                  </a:lnTo>
                  <a:lnTo>
                    <a:pt x="486" y="108"/>
                  </a:lnTo>
                  <a:lnTo>
                    <a:pt x="486" y="102"/>
                  </a:lnTo>
                  <a:lnTo>
                    <a:pt x="480" y="102"/>
                  </a:lnTo>
                  <a:lnTo>
                    <a:pt x="474" y="102"/>
                  </a:lnTo>
                  <a:lnTo>
                    <a:pt x="468" y="96"/>
                  </a:lnTo>
                  <a:lnTo>
                    <a:pt x="474" y="96"/>
                  </a:lnTo>
                  <a:lnTo>
                    <a:pt x="468" y="90"/>
                  </a:lnTo>
                  <a:lnTo>
                    <a:pt x="468" y="84"/>
                  </a:lnTo>
                  <a:lnTo>
                    <a:pt x="462" y="78"/>
                  </a:lnTo>
                  <a:lnTo>
                    <a:pt x="456" y="78"/>
                  </a:lnTo>
                  <a:lnTo>
                    <a:pt x="450" y="72"/>
                  </a:lnTo>
                  <a:lnTo>
                    <a:pt x="456" y="72"/>
                  </a:lnTo>
                  <a:lnTo>
                    <a:pt x="456" y="66"/>
                  </a:lnTo>
                  <a:lnTo>
                    <a:pt x="462" y="66"/>
                  </a:lnTo>
                  <a:lnTo>
                    <a:pt x="462" y="60"/>
                  </a:lnTo>
                  <a:lnTo>
                    <a:pt x="456" y="54"/>
                  </a:lnTo>
                  <a:lnTo>
                    <a:pt x="462" y="54"/>
                  </a:lnTo>
                  <a:lnTo>
                    <a:pt x="468" y="54"/>
                  </a:lnTo>
                  <a:lnTo>
                    <a:pt x="468" y="48"/>
                  </a:lnTo>
                  <a:lnTo>
                    <a:pt x="474" y="48"/>
                  </a:lnTo>
                  <a:lnTo>
                    <a:pt x="480" y="48"/>
                  </a:lnTo>
                  <a:lnTo>
                    <a:pt x="480" y="42"/>
                  </a:lnTo>
                  <a:lnTo>
                    <a:pt x="480" y="48"/>
                  </a:lnTo>
                  <a:lnTo>
                    <a:pt x="486" y="48"/>
                  </a:lnTo>
                  <a:lnTo>
                    <a:pt x="486" y="42"/>
                  </a:lnTo>
                  <a:lnTo>
                    <a:pt x="492" y="42"/>
                  </a:lnTo>
                  <a:lnTo>
                    <a:pt x="498" y="42"/>
                  </a:lnTo>
                  <a:lnTo>
                    <a:pt x="504" y="42"/>
                  </a:lnTo>
                  <a:lnTo>
                    <a:pt x="510" y="42"/>
                  </a:lnTo>
                  <a:lnTo>
                    <a:pt x="510" y="36"/>
                  </a:lnTo>
                  <a:lnTo>
                    <a:pt x="510" y="30"/>
                  </a:lnTo>
                  <a:lnTo>
                    <a:pt x="516" y="24"/>
                  </a:lnTo>
                  <a:lnTo>
                    <a:pt x="516" y="18"/>
                  </a:lnTo>
                  <a:lnTo>
                    <a:pt x="522" y="18"/>
                  </a:lnTo>
                  <a:lnTo>
                    <a:pt x="528" y="24"/>
                  </a:lnTo>
                  <a:lnTo>
                    <a:pt x="534" y="24"/>
                  </a:lnTo>
                  <a:lnTo>
                    <a:pt x="540" y="24"/>
                  </a:lnTo>
                  <a:lnTo>
                    <a:pt x="540" y="30"/>
                  </a:lnTo>
                  <a:lnTo>
                    <a:pt x="546" y="30"/>
                  </a:lnTo>
                  <a:lnTo>
                    <a:pt x="552" y="30"/>
                  </a:lnTo>
                  <a:lnTo>
                    <a:pt x="552" y="24"/>
                  </a:lnTo>
                  <a:lnTo>
                    <a:pt x="558" y="30"/>
                  </a:lnTo>
                  <a:lnTo>
                    <a:pt x="564" y="30"/>
                  </a:lnTo>
                  <a:lnTo>
                    <a:pt x="570" y="36"/>
                  </a:lnTo>
                  <a:lnTo>
                    <a:pt x="570" y="30"/>
                  </a:lnTo>
                  <a:lnTo>
                    <a:pt x="576" y="30"/>
                  </a:lnTo>
                  <a:lnTo>
                    <a:pt x="582" y="24"/>
                  </a:lnTo>
                  <a:lnTo>
                    <a:pt x="576" y="24"/>
                  </a:lnTo>
                  <a:lnTo>
                    <a:pt x="582" y="18"/>
                  </a:lnTo>
                  <a:lnTo>
                    <a:pt x="588" y="12"/>
                  </a:lnTo>
                  <a:lnTo>
                    <a:pt x="588" y="6"/>
                  </a:lnTo>
                  <a:lnTo>
                    <a:pt x="594" y="12"/>
                  </a:lnTo>
                  <a:lnTo>
                    <a:pt x="588" y="12"/>
                  </a:lnTo>
                  <a:lnTo>
                    <a:pt x="594" y="18"/>
                  </a:lnTo>
                  <a:lnTo>
                    <a:pt x="600" y="24"/>
                  </a:lnTo>
                  <a:lnTo>
                    <a:pt x="606" y="24"/>
                  </a:lnTo>
                  <a:lnTo>
                    <a:pt x="612" y="24"/>
                  </a:lnTo>
                  <a:lnTo>
                    <a:pt x="618" y="24"/>
                  </a:lnTo>
                  <a:lnTo>
                    <a:pt x="618" y="30"/>
                  </a:lnTo>
                  <a:lnTo>
                    <a:pt x="624" y="30"/>
                  </a:lnTo>
                  <a:lnTo>
                    <a:pt x="630" y="30"/>
                  </a:lnTo>
                  <a:lnTo>
                    <a:pt x="630" y="24"/>
                  </a:lnTo>
                  <a:lnTo>
                    <a:pt x="636" y="24"/>
                  </a:lnTo>
                  <a:lnTo>
                    <a:pt x="642" y="24"/>
                  </a:lnTo>
                  <a:lnTo>
                    <a:pt x="642" y="30"/>
                  </a:lnTo>
                  <a:lnTo>
                    <a:pt x="642" y="36"/>
                  </a:lnTo>
                  <a:lnTo>
                    <a:pt x="642" y="42"/>
                  </a:lnTo>
                  <a:lnTo>
                    <a:pt x="648" y="42"/>
                  </a:lnTo>
                  <a:lnTo>
                    <a:pt x="648" y="48"/>
                  </a:lnTo>
                  <a:lnTo>
                    <a:pt x="654" y="48"/>
                  </a:lnTo>
                  <a:lnTo>
                    <a:pt x="660" y="48"/>
                  </a:lnTo>
                  <a:lnTo>
                    <a:pt x="666" y="48"/>
                  </a:lnTo>
                  <a:lnTo>
                    <a:pt x="672" y="48"/>
                  </a:lnTo>
                  <a:lnTo>
                    <a:pt x="672" y="54"/>
                  </a:lnTo>
                  <a:lnTo>
                    <a:pt x="672" y="48"/>
                  </a:lnTo>
                  <a:lnTo>
                    <a:pt x="678" y="48"/>
                  </a:lnTo>
                  <a:lnTo>
                    <a:pt x="684" y="48"/>
                  </a:lnTo>
                  <a:lnTo>
                    <a:pt x="690" y="54"/>
                  </a:lnTo>
                  <a:lnTo>
                    <a:pt x="690" y="48"/>
                  </a:lnTo>
                  <a:lnTo>
                    <a:pt x="690" y="54"/>
                  </a:lnTo>
                  <a:lnTo>
                    <a:pt x="696" y="54"/>
                  </a:lnTo>
                  <a:lnTo>
                    <a:pt x="696" y="60"/>
                  </a:lnTo>
                  <a:lnTo>
                    <a:pt x="702" y="60"/>
                  </a:lnTo>
                  <a:lnTo>
                    <a:pt x="702" y="54"/>
                  </a:lnTo>
                  <a:lnTo>
                    <a:pt x="708" y="54"/>
                  </a:lnTo>
                  <a:lnTo>
                    <a:pt x="708" y="48"/>
                  </a:lnTo>
                  <a:lnTo>
                    <a:pt x="708" y="42"/>
                  </a:lnTo>
                  <a:lnTo>
                    <a:pt x="714" y="48"/>
                  </a:lnTo>
                  <a:lnTo>
                    <a:pt x="720" y="48"/>
                  </a:lnTo>
                  <a:lnTo>
                    <a:pt x="726" y="48"/>
                  </a:lnTo>
                  <a:lnTo>
                    <a:pt x="738" y="42"/>
                  </a:lnTo>
                  <a:lnTo>
                    <a:pt x="744" y="36"/>
                  </a:lnTo>
                  <a:lnTo>
                    <a:pt x="744" y="24"/>
                  </a:lnTo>
                  <a:lnTo>
                    <a:pt x="750" y="18"/>
                  </a:lnTo>
                  <a:lnTo>
                    <a:pt x="750" y="12"/>
                  </a:lnTo>
                  <a:lnTo>
                    <a:pt x="780" y="6"/>
                  </a:lnTo>
                  <a:lnTo>
                    <a:pt x="786" y="0"/>
                  </a:lnTo>
                  <a:lnTo>
                    <a:pt x="798" y="0"/>
                  </a:lnTo>
                  <a:lnTo>
                    <a:pt x="804" y="0"/>
                  </a:lnTo>
                  <a:lnTo>
                    <a:pt x="804" y="12"/>
                  </a:lnTo>
                  <a:lnTo>
                    <a:pt x="798" y="12"/>
                  </a:lnTo>
                  <a:lnTo>
                    <a:pt x="798" y="18"/>
                  </a:lnTo>
                  <a:lnTo>
                    <a:pt x="792" y="18"/>
                  </a:lnTo>
                  <a:lnTo>
                    <a:pt x="786" y="18"/>
                  </a:lnTo>
                  <a:lnTo>
                    <a:pt x="786" y="24"/>
                  </a:lnTo>
                  <a:lnTo>
                    <a:pt x="780" y="24"/>
                  </a:lnTo>
                  <a:lnTo>
                    <a:pt x="774" y="30"/>
                  </a:lnTo>
                  <a:lnTo>
                    <a:pt x="774" y="36"/>
                  </a:lnTo>
                  <a:lnTo>
                    <a:pt x="774" y="42"/>
                  </a:lnTo>
                  <a:lnTo>
                    <a:pt x="774" y="48"/>
                  </a:lnTo>
                  <a:lnTo>
                    <a:pt x="768" y="48"/>
                  </a:lnTo>
                  <a:lnTo>
                    <a:pt x="768" y="54"/>
                  </a:lnTo>
                  <a:lnTo>
                    <a:pt x="774" y="54"/>
                  </a:lnTo>
                  <a:lnTo>
                    <a:pt x="780" y="54"/>
                  </a:lnTo>
                  <a:lnTo>
                    <a:pt x="780" y="60"/>
                  </a:lnTo>
                  <a:lnTo>
                    <a:pt x="780" y="66"/>
                  </a:lnTo>
                  <a:lnTo>
                    <a:pt x="786" y="66"/>
                  </a:lnTo>
                  <a:lnTo>
                    <a:pt x="786" y="72"/>
                  </a:lnTo>
                  <a:lnTo>
                    <a:pt x="780" y="66"/>
                  </a:lnTo>
                  <a:lnTo>
                    <a:pt x="780" y="72"/>
                  </a:lnTo>
                  <a:lnTo>
                    <a:pt x="780" y="78"/>
                  </a:lnTo>
                  <a:lnTo>
                    <a:pt x="780" y="84"/>
                  </a:lnTo>
                  <a:lnTo>
                    <a:pt x="786" y="84"/>
                  </a:lnTo>
                  <a:lnTo>
                    <a:pt x="786" y="90"/>
                  </a:lnTo>
                  <a:lnTo>
                    <a:pt x="780" y="90"/>
                  </a:lnTo>
                  <a:lnTo>
                    <a:pt x="786" y="96"/>
                  </a:lnTo>
                  <a:lnTo>
                    <a:pt x="780" y="96"/>
                  </a:lnTo>
                  <a:lnTo>
                    <a:pt x="786" y="96"/>
                  </a:lnTo>
                  <a:lnTo>
                    <a:pt x="786" y="102"/>
                  </a:lnTo>
                  <a:lnTo>
                    <a:pt x="786" y="108"/>
                  </a:lnTo>
                  <a:lnTo>
                    <a:pt x="792" y="108"/>
                  </a:lnTo>
                  <a:lnTo>
                    <a:pt x="786" y="114"/>
                  </a:lnTo>
                  <a:lnTo>
                    <a:pt x="786" y="120"/>
                  </a:lnTo>
                  <a:lnTo>
                    <a:pt x="786" y="126"/>
                  </a:lnTo>
                  <a:lnTo>
                    <a:pt x="786" y="132"/>
                  </a:lnTo>
                  <a:lnTo>
                    <a:pt x="792" y="132"/>
                  </a:lnTo>
                  <a:lnTo>
                    <a:pt x="786" y="132"/>
                  </a:lnTo>
                  <a:lnTo>
                    <a:pt x="792" y="138"/>
                  </a:lnTo>
                  <a:lnTo>
                    <a:pt x="786" y="138"/>
                  </a:lnTo>
                  <a:lnTo>
                    <a:pt x="786" y="144"/>
                  </a:lnTo>
                  <a:lnTo>
                    <a:pt x="792" y="144"/>
                  </a:lnTo>
                  <a:lnTo>
                    <a:pt x="792" y="150"/>
                  </a:lnTo>
                  <a:lnTo>
                    <a:pt x="792" y="156"/>
                  </a:lnTo>
                  <a:lnTo>
                    <a:pt x="810" y="156"/>
                  </a:lnTo>
                  <a:lnTo>
                    <a:pt x="810" y="150"/>
                  </a:lnTo>
                  <a:lnTo>
                    <a:pt x="810" y="156"/>
                  </a:lnTo>
                  <a:lnTo>
                    <a:pt x="816" y="156"/>
                  </a:lnTo>
                  <a:lnTo>
                    <a:pt x="816" y="162"/>
                  </a:lnTo>
                  <a:lnTo>
                    <a:pt x="816" y="168"/>
                  </a:lnTo>
                  <a:lnTo>
                    <a:pt x="822" y="168"/>
                  </a:lnTo>
                  <a:lnTo>
                    <a:pt x="822" y="174"/>
                  </a:lnTo>
                  <a:lnTo>
                    <a:pt x="828" y="174"/>
                  </a:lnTo>
                  <a:lnTo>
                    <a:pt x="828" y="180"/>
                  </a:lnTo>
                  <a:lnTo>
                    <a:pt x="834" y="180"/>
                  </a:lnTo>
                  <a:lnTo>
                    <a:pt x="834" y="186"/>
                  </a:lnTo>
                  <a:lnTo>
                    <a:pt x="834" y="192"/>
                  </a:lnTo>
                  <a:lnTo>
                    <a:pt x="834" y="198"/>
                  </a:lnTo>
                  <a:lnTo>
                    <a:pt x="834" y="204"/>
                  </a:lnTo>
                  <a:lnTo>
                    <a:pt x="834" y="210"/>
                  </a:lnTo>
                  <a:lnTo>
                    <a:pt x="834" y="204"/>
                  </a:lnTo>
                  <a:lnTo>
                    <a:pt x="834" y="210"/>
                  </a:lnTo>
                  <a:lnTo>
                    <a:pt x="828" y="210"/>
                  </a:lnTo>
                  <a:lnTo>
                    <a:pt x="828" y="216"/>
                  </a:lnTo>
                  <a:lnTo>
                    <a:pt x="828" y="222"/>
                  </a:lnTo>
                  <a:lnTo>
                    <a:pt x="822" y="222"/>
                  </a:lnTo>
                  <a:lnTo>
                    <a:pt x="816" y="222"/>
                  </a:lnTo>
                  <a:lnTo>
                    <a:pt x="816" y="228"/>
                  </a:lnTo>
                  <a:lnTo>
                    <a:pt x="816" y="222"/>
                  </a:lnTo>
                  <a:lnTo>
                    <a:pt x="810" y="222"/>
                  </a:lnTo>
                  <a:lnTo>
                    <a:pt x="804" y="222"/>
                  </a:lnTo>
                  <a:lnTo>
                    <a:pt x="798" y="222"/>
                  </a:lnTo>
                  <a:lnTo>
                    <a:pt x="792" y="222"/>
                  </a:lnTo>
                  <a:lnTo>
                    <a:pt x="792" y="228"/>
                  </a:lnTo>
                  <a:lnTo>
                    <a:pt x="786" y="228"/>
                  </a:lnTo>
                  <a:lnTo>
                    <a:pt x="780" y="228"/>
                  </a:lnTo>
                  <a:lnTo>
                    <a:pt x="774" y="228"/>
                  </a:lnTo>
                  <a:lnTo>
                    <a:pt x="774" y="234"/>
                  </a:lnTo>
                  <a:lnTo>
                    <a:pt x="774" y="240"/>
                  </a:lnTo>
                  <a:lnTo>
                    <a:pt x="768" y="240"/>
                  </a:lnTo>
                  <a:lnTo>
                    <a:pt x="762" y="240"/>
                  </a:lnTo>
                  <a:lnTo>
                    <a:pt x="762" y="246"/>
                  </a:lnTo>
                  <a:lnTo>
                    <a:pt x="756" y="246"/>
                  </a:lnTo>
                  <a:lnTo>
                    <a:pt x="756" y="252"/>
                  </a:lnTo>
                  <a:lnTo>
                    <a:pt x="750" y="252"/>
                  </a:lnTo>
                  <a:lnTo>
                    <a:pt x="750" y="258"/>
                  </a:lnTo>
                  <a:lnTo>
                    <a:pt x="750" y="264"/>
                  </a:lnTo>
                  <a:lnTo>
                    <a:pt x="744" y="264"/>
                  </a:lnTo>
                  <a:lnTo>
                    <a:pt x="738" y="264"/>
                  </a:lnTo>
                  <a:lnTo>
                    <a:pt x="738" y="270"/>
                  </a:lnTo>
                  <a:lnTo>
                    <a:pt x="732" y="270"/>
                  </a:lnTo>
                  <a:lnTo>
                    <a:pt x="726" y="270"/>
                  </a:lnTo>
                  <a:lnTo>
                    <a:pt x="726" y="276"/>
                  </a:lnTo>
                  <a:lnTo>
                    <a:pt x="720" y="276"/>
                  </a:lnTo>
                  <a:lnTo>
                    <a:pt x="720" y="282"/>
                  </a:lnTo>
                  <a:lnTo>
                    <a:pt x="714" y="282"/>
                  </a:lnTo>
                  <a:lnTo>
                    <a:pt x="708" y="282"/>
                  </a:lnTo>
                  <a:lnTo>
                    <a:pt x="702" y="282"/>
                  </a:lnTo>
                  <a:lnTo>
                    <a:pt x="702" y="288"/>
                  </a:lnTo>
                  <a:lnTo>
                    <a:pt x="696" y="288"/>
                  </a:lnTo>
                  <a:lnTo>
                    <a:pt x="696" y="294"/>
                  </a:lnTo>
                  <a:lnTo>
                    <a:pt x="696" y="300"/>
                  </a:lnTo>
                  <a:lnTo>
                    <a:pt x="696" y="306"/>
                  </a:lnTo>
                  <a:lnTo>
                    <a:pt x="696" y="312"/>
                  </a:lnTo>
                  <a:lnTo>
                    <a:pt x="702" y="312"/>
                  </a:lnTo>
                  <a:lnTo>
                    <a:pt x="702" y="318"/>
                  </a:lnTo>
                  <a:lnTo>
                    <a:pt x="702" y="324"/>
                  </a:lnTo>
                  <a:lnTo>
                    <a:pt x="708" y="318"/>
                  </a:lnTo>
                  <a:lnTo>
                    <a:pt x="708" y="324"/>
                  </a:lnTo>
                  <a:lnTo>
                    <a:pt x="714" y="324"/>
                  </a:lnTo>
                  <a:lnTo>
                    <a:pt x="714" y="330"/>
                  </a:lnTo>
                  <a:lnTo>
                    <a:pt x="708" y="330"/>
                  </a:lnTo>
                  <a:lnTo>
                    <a:pt x="708" y="336"/>
                  </a:lnTo>
                  <a:lnTo>
                    <a:pt x="714" y="336"/>
                  </a:lnTo>
                  <a:lnTo>
                    <a:pt x="714" y="330"/>
                  </a:lnTo>
                  <a:lnTo>
                    <a:pt x="720" y="336"/>
                  </a:lnTo>
                  <a:lnTo>
                    <a:pt x="720" y="342"/>
                  </a:lnTo>
                  <a:lnTo>
                    <a:pt x="714" y="342"/>
                  </a:lnTo>
                  <a:lnTo>
                    <a:pt x="714" y="348"/>
                  </a:lnTo>
                  <a:lnTo>
                    <a:pt x="714" y="354"/>
                  </a:lnTo>
                  <a:lnTo>
                    <a:pt x="714" y="360"/>
                  </a:lnTo>
                  <a:lnTo>
                    <a:pt x="708" y="360"/>
                  </a:lnTo>
                  <a:lnTo>
                    <a:pt x="708" y="366"/>
                  </a:lnTo>
                  <a:lnTo>
                    <a:pt x="702" y="366"/>
                  </a:lnTo>
                  <a:lnTo>
                    <a:pt x="696" y="366"/>
                  </a:lnTo>
                  <a:lnTo>
                    <a:pt x="696" y="372"/>
                  </a:lnTo>
                  <a:lnTo>
                    <a:pt x="690" y="372"/>
                  </a:lnTo>
                  <a:lnTo>
                    <a:pt x="690" y="378"/>
                  </a:lnTo>
                  <a:lnTo>
                    <a:pt x="684" y="384"/>
                  </a:lnTo>
                  <a:lnTo>
                    <a:pt x="684" y="378"/>
                  </a:lnTo>
                  <a:lnTo>
                    <a:pt x="678" y="378"/>
                  </a:lnTo>
                  <a:lnTo>
                    <a:pt x="672" y="378"/>
                  </a:lnTo>
                  <a:lnTo>
                    <a:pt x="666" y="378"/>
                  </a:lnTo>
                  <a:lnTo>
                    <a:pt x="666" y="384"/>
                  </a:lnTo>
                  <a:lnTo>
                    <a:pt x="660" y="384"/>
                  </a:lnTo>
                  <a:lnTo>
                    <a:pt x="660" y="390"/>
                  </a:lnTo>
                  <a:lnTo>
                    <a:pt x="660" y="384"/>
                  </a:lnTo>
                  <a:lnTo>
                    <a:pt x="654" y="390"/>
                  </a:lnTo>
                  <a:lnTo>
                    <a:pt x="648" y="390"/>
                  </a:lnTo>
                  <a:lnTo>
                    <a:pt x="642" y="390"/>
                  </a:lnTo>
                  <a:lnTo>
                    <a:pt x="636" y="390"/>
                  </a:lnTo>
                  <a:lnTo>
                    <a:pt x="636" y="396"/>
                  </a:lnTo>
                  <a:lnTo>
                    <a:pt x="630" y="396"/>
                  </a:lnTo>
                  <a:lnTo>
                    <a:pt x="630" y="402"/>
                  </a:lnTo>
                  <a:lnTo>
                    <a:pt x="630" y="396"/>
                  </a:lnTo>
                  <a:lnTo>
                    <a:pt x="624" y="402"/>
                  </a:lnTo>
                  <a:lnTo>
                    <a:pt x="624" y="396"/>
                  </a:lnTo>
                  <a:lnTo>
                    <a:pt x="618" y="396"/>
                  </a:lnTo>
                  <a:lnTo>
                    <a:pt x="618" y="390"/>
                  </a:lnTo>
                  <a:lnTo>
                    <a:pt x="618" y="396"/>
                  </a:lnTo>
                  <a:lnTo>
                    <a:pt x="612" y="396"/>
                  </a:lnTo>
                  <a:lnTo>
                    <a:pt x="612" y="402"/>
                  </a:lnTo>
                  <a:lnTo>
                    <a:pt x="606" y="402"/>
                  </a:lnTo>
                  <a:lnTo>
                    <a:pt x="606" y="408"/>
                  </a:lnTo>
                  <a:lnTo>
                    <a:pt x="600" y="408"/>
                  </a:lnTo>
                  <a:lnTo>
                    <a:pt x="600" y="414"/>
                  </a:lnTo>
                  <a:lnTo>
                    <a:pt x="594" y="414"/>
                  </a:lnTo>
                  <a:lnTo>
                    <a:pt x="594" y="420"/>
                  </a:lnTo>
                  <a:lnTo>
                    <a:pt x="588" y="420"/>
                  </a:lnTo>
                  <a:lnTo>
                    <a:pt x="588" y="426"/>
                  </a:lnTo>
                  <a:lnTo>
                    <a:pt x="582" y="426"/>
                  </a:lnTo>
                  <a:lnTo>
                    <a:pt x="576" y="426"/>
                  </a:lnTo>
                  <a:lnTo>
                    <a:pt x="570" y="426"/>
                  </a:lnTo>
                  <a:lnTo>
                    <a:pt x="570" y="432"/>
                  </a:lnTo>
                  <a:lnTo>
                    <a:pt x="564" y="432"/>
                  </a:lnTo>
                  <a:lnTo>
                    <a:pt x="564" y="438"/>
                  </a:lnTo>
                  <a:lnTo>
                    <a:pt x="558" y="438"/>
                  </a:lnTo>
                  <a:lnTo>
                    <a:pt x="558" y="444"/>
                  </a:lnTo>
                  <a:lnTo>
                    <a:pt x="552" y="444"/>
                  </a:lnTo>
                  <a:lnTo>
                    <a:pt x="552" y="450"/>
                  </a:lnTo>
                  <a:lnTo>
                    <a:pt x="546" y="450"/>
                  </a:lnTo>
                  <a:lnTo>
                    <a:pt x="540" y="450"/>
                  </a:lnTo>
                  <a:lnTo>
                    <a:pt x="534" y="450"/>
                  </a:lnTo>
                  <a:lnTo>
                    <a:pt x="534" y="444"/>
                  </a:lnTo>
                  <a:lnTo>
                    <a:pt x="528" y="444"/>
                  </a:lnTo>
                  <a:lnTo>
                    <a:pt x="522" y="444"/>
                  </a:lnTo>
                  <a:lnTo>
                    <a:pt x="516" y="444"/>
                  </a:lnTo>
                  <a:lnTo>
                    <a:pt x="510" y="450"/>
                  </a:lnTo>
                  <a:lnTo>
                    <a:pt x="504" y="450"/>
                  </a:lnTo>
                  <a:lnTo>
                    <a:pt x="504" y="456"/>
                  </a:lnTo>
                  <a:lnTo>
                    <a:pt x="498" y="456"/>
                  </a:lnTo>
                  <a:lnTo>
                    <a:pt x="492" y="456"/>
                  </a:lnTo>
                  <a:lnTo>
                    <a:pt x="492" y="462"/>
                  </a:lnTo>
                  <a:lnTo>
                    <a:pt x="486" y="462"/>
                  </a:lnTo>
                  <a:lnTo>
                    <a:pt x="480" y="462"/>
                  </a:lnTo>
                  <a:lnTo>
                    <a:pt x="480" y="456"/>
                  </a:lnTo>
                  <a:lnTo>
                    <a:pt x="474" y="456"/>
                  </a:lnTo>
                  <a:lnTo>
                    <a:pt x="474" y="450"/>
                  </a:lnTo>
                  <a:lnTo>
                    <a:pt x="468" y="456"/>
                  </a:lnTo>
                  <a:lnTo>
                    <a:pt x="462" y="456"/>
                  </a:lnTo>
                  <a:lnTo>
                    <a:pt x="456" y="456"/>
                  </a:lnTo>
                  <a:lnTo>
                    <a:pt x="456" y="450"/>
                  </a:lnTo>
                  <a:lnTo>
                    <a:pt x="456" y="456"/>
                  </a:lnTo>
                  <a:lnTo>
                    <a:pt x="450" y="462"/>
                  </a:lnTo>
                  <a:lnTo>
                    <a:pt x="450" y="456"/>
                  </a:lnTo>
                  <a:lnTo>
                    <a:pt x="450" y="462"/>
                  </a:lnTo>
                  <a:lnTo>
                    <a:pt x="444" y="468"/>
                  </a:lnTo>
                  <a:lnTo>
                    <a:pt x="444" y="474"/>
                  </a:lnTo>
                  <a:lnTo>
                    <a:pt x="450" y="474"/>
                  </a:lnTo>
                  <a:lnTo>
                    <a:pt x="450" y="480"/>
                  </a:lnTo>
                  <a:lnTo>
                    <a:pt x="450" y="486"/>
                  </a:lnTo>
                  <a:lnTo>
                    <a:pt x="444" y="486"/>
                  </a:lnTo>
                  <a:lnTo>
                    <a:pt x="438" y="486"/>
                  </a:lnTo>
                  <a:lnTo>
                    <a:pt x="438" y="492"/>
                  </a:lnTo>
                  <a:lnTo>
                    <a:pt x="438" y="498"/>
                  </a:lnTo>
                  <a:lnTo>
                    <a:pt x="438" y="504"/>
                  </a:lnTo>
                  <a:lnTo>
                    <a:pt x="444" y="510"/>
                  </a:lnTo>
                  <a:lnTo>
                    <a:pt x="450" y="516"/>
                  </a:lnTo>
                  <a:lnTo>
                    <a:pt x="456" y="522"/>
                  </a:lnTo>
                  <a:lnTo>
                    <a:pt x="456" y="528"/>
                  </a:lnTo>
                  <a:lnTo>
                    <a:pt x="450" y="528"/>
                  </a:lnTo>
                  <a:lnTo>
                    <a:pt x="438" y="528"/>
                  </a:lnTo>
                  <a:lnTo>
                    <a:pt x="438" y="534"/>
                  </a:lnTo>
                  <a:lnTo>
                    <a:pt x="432" y="534"/>
                  </a:lnTo>
                  <a:lnTo>
                    <a:pt x="432" y="540"/>
                  </a:lnTo>
                  <a:lnTo>
                    <a:pt x="426" y="540"/>
                  </a:lnTo>
                  <a:lnTo>
                    <a:pt x="426" y="546"/>
                  </a:lnTo>
                  <a:lnTo>
                    <a:pt x="420" y="546"/>
                  </a:lnTo>
                  <a:lnTo>
                    <a:pt x="420" y="552"/>
                  </a:lnTo>
                  <a:lnTo>
                    <a:pt x="420" y="558"/>
                  </a:lnTo>
                  <a:lnTo>
                    <a:pt x="420" y="564"/>
                  </a:lnTo>
                  <a:close/>
                </a:path>
              </a:pathLst>
            </a:custGeom>
            <a:solidFill>
              <a:schemeClr val="accent1"/>
            </a:solidFill>
            <a:ln w="9525">
              <a:solidFill>
                <a:srgbClr val="B2B2B2"/>
              </a:solidFill>
              <a:round/>
              <a:headEnd/>
              <a:tailEnd/>
            </a:ln>
          </p:spPr>
          <p:txBody>
            <a:bodyPr/>
            <a:lstStyle/>
            <a:p>
              <a:endParaRPr lang="en-CA"/>
            </a:p>
          </p:txBody>
        </p:sp>
        <p:sp>
          <p:nvSpPr>
            <p:cNvPr id="446" name="Freeform 505"/>
            <p:cNvSpPr>
              <a:spLocks noEditPoints="1"/>
            </p:cNvSpPr>
            <p:nvPr>
              <p:custDataLst>
                <p:tags r:id="rId69"/>
              </p:custDataLst>
            </p:nvPr>
          </p:nvSpPr>
          <p:spPr bwMode="gray">
            <a:xfrm>
              <a:off x="3540" y="3369"/>
              <a:ext cx="246" cy="254"/>
            </a:xfrm>
            <a:custGeom>
              <a:avLst/>
              <a:gdLst>
                <a:gd name="T0" fmla="*/ 180919582 w 396"/>
                <a:gd name="T1" fmla="*/ 99735925 h 408"/>
                <a:gd name="T2" fmla="*/ 210099491 w 396"/>
                <a:gd name="T3" fmla="*/ 82135351 h 408"/>
                <a:gd name="T4" fmla="*/ 221771850 w 396"/>
                <a:gd name="T5" fmla="*/ 99735925 h 408"/>
                <a:gd name="T6" fmla="*/ 245116566 w 396"/>
                <a:gd name="T7" fmla="*/ 111469970 h 408"/>
                <a:gd name="T8" fmla="*/ 268461283 w 396"/>
                <a:gd name="T9" fmla="*/ 111469970 h 408"/>
                <a:gd name="T10" fmla="*/ 297641193 w 396"/>
                <a:gd name="T11" fmla="*/ 88001880 h 408"/>
                <a:gd name="T12" fmla="*/ 320985909 w 396"/>
                <a:gd name="T13" fmla="*/ 76268823 h 408"/>
                <a:gd name="T14" fmla="*/ 338494447 w 396"/>
                <a:gd name="T15" fmla="*/ 58668249 h 408"/>
                <a:gd name="T16" fmla="*/ 315149730 w 396"/>
                <a:gd name="T17" fmla="*/ 46934204 h 408"/>
                <a:gd name="T18" fmla="*/ 315149730 w 396"/>
                <a:gd name="T19" fmla="*/ 23467102 h 408"/>
                <a:gd name="T20" fmla="*/ 350165819 w 396"/>
                <a:gd name="T21" fmla="*/ 11734045 h 408"/>
                <a:gd name="T22" fmla="*/ 367674357 w 396"/>
                <a:gd name="T23" fmla="*/ 23467102 h 408"/>
                <a:gd name="T24" fmla="*/ 373510536 w 396"/>
                <a:gd name="T25" fmla="*/ 41067676 h 408"/>
                <a:gd name="T26" fmla="*/ 361838177 w 396"/>
                <a:gd name="T27" fmla="*/ 64534778 h 408"/>
                <a:gd name="T28" fmla="*/ 379346715 w 396"/>
                <a:gd name="T29" fmla="*/ 82135351 h 408"/>
                <a:gd name="T30" fmla="*/ 361838177 w 396"/>
                <a:gd name="T31" fmla="*/ 111469970 h 408"/>
                <a:gd name="T32" fmla="*/ 344330626 w 396"/>
                <a:gd name="T33" fmla="*/ 152537646 h 408"/>
                <a:gd name="T34" fmla="*/ 326822089 w 396"/>
                <a:gd name="T35" fmla="*/ 181871276 h 408"/>
                <a:gd name="T36" fmla="*/ 297641193 w 396"/>
                <a:gd name="T37" fmla="*/ 211205895 h 408"/>
                <a:gd name="T38" fmla="*/ 274296476 w 396"/>
                <a:gd name="T39" fmla="*/ 240539525 h 408"/>
                <a:gd name="T40" fmla="*/ 262625104 w 396"/>
                <a:gd name="T41" fmla="*/ 252273570 h 408"/>
                <a:gd name="T42" fmla="*/ 239280387 w 396"/>
                <a:gd name="T43" fmla="*/ 275740672 h 408"/>
                <a:gd name="T44" fmla="*/ 233444208 w 396"/>
                <a:gd name="T45" fmla="*/ 293341246 h 408"/>
                <a:gd name="T46" fmla="*/ 215935671 w 396"/>
                <a:gd name="T47" fmla="*/ 310941820 h 408"/>
                <a:gd name="T48" fmla="*/ 204263312 w 396"/>
                <a:gd name="T49" fmla="*/ 322674876 h 408"/>
                <a:gd name="T50" fmla="*/ 180919582 w 396"/>
                <a:gd name="T51" fmla="*/ 346141978 h 408"/>
                <a:gd name="T52" fmla="*/ 151738686 w 396"/>
                <a:gd name="T53" fmla="*/ 363742552 h 408"/>
                <a:gd name="T54" fmla="*/ 134230148 w 396"/>
                <a:gd name="T55" fmla="*/ 369610069 h 408"/>
                <a:gd name="T56" fmla="*/ 116721611 w 396"/>
                <a:gd name="T57" fmla="*/ 369610069 h 408"/>
                <a:gd name="T58" fmla="*/ 110886418 w 396"/>
                <a:gd name="T59" fmla="*/ 363742552 h 408"/>
                <a:gd name="T60" fmla="*/ 110886418 w 396"/>
                <a:gd name="T61" fmla="*/ 363742552 h 408"/>
                <a:gd name="T62" fmla="*/ 93377880 w 396"/>
                <a:gd name="T63" fmla="*/ 357876024 h 408"/>
                <a:gd name="T64" fmla="*/ 87541701 w 396"/>
                <a:gd name="T65" fmla="*/ 340275450 h 408"/>
                <a:gd name="T66" fmla="*/ 64196985 w 396"/>
                <a:gd name="T67" fmla="*/ 346141978 h 408"/>
                <a:gd name="T68" fmla="*/ 58360805 w 396"/>
                <a:gd name="T69" fmla="*/ 340275450 h 408"/>
                <a:gd name="T70" fmla="*/ 52524626 w 396"/>
                <a:gd name="T71" fmla="*/ 357876024 h 408"/>
                <a:gd name="T72" fmla="*/ 46688447 w 396"/>
                <a:gd name="T73" fmla="*/ 363742552 h 408"/>
                <a:gd name="T74" fmla="*/ 40852268 w 396"/>
                <a:gd name="T75" fmla="*/ 381343126 h 408"/>
                <a:gd name="T76" fmla="*/ 23344717 w 396"/>
                <a:gd name="T77" fmla="*/ 375476597 h 408"/>
                <a:gd name="T78" fmla="*/ 11672358 w 396"/>
                <a:gd name="T79" fmla="*/ 375476597 h 408"/>
                <a:gd name="T80" fmla="*/ 17508538 w 396"/>
                <a:gd name="T81" fmla="*/ 393077171 h 408"/>
                <a:gd name="T82" fmla="*/ 5836179 w 396"/>
                <a:gd name="T83" fmla="*/ 369610069 h 408"/>
                <a:gd name="T84" fmla="*/ 23344717 w 396"/>
                <a:gd name="T85" fmla="*/ 363742552 h 408"/>
                <a:gd name="T86" fmla="*/ 40852268 w 396"/>
                <a:gd name="T87" fmla="*/ 346141978 h 408"/>
                <a:gd name="T88" fmla="*/ 40852268 w 396"/>
                <a:gd name="T89" fmla="*/ 310941820 h 408"/>
                <a:gd name="T90" fmla="*/ 40852268 w 396"/>
                <a:gd name="T91" fmla="*/ 281607201 h 408"/>
                <a:gd name="T92" fmla="*/ 29180896 w 396"/>
                <a:gd name="T93" fmla="*/ 246406054 h 408"/>
                <a:gd name="T94" fmla="*/ 46688447 w 396"/>
                <a:gd name="T95" fmla="*/ 228805480 h 408"/>
                <a:gd name="T96" fmla="*/ 64196985 w 396"/>
                <a:gd name="T97" fmla="*/ 211205895 h 408"/>
                <a:gd name="T98" fmla="*/ 105050239 w 396"/>
                <a:gd name="T99" fmla="*/ 222938952 h 408"/>
                <a:gd name="T100" fmla="*/ 122557790 w 396"/>
                <a:gd name="T101" fmla="*/ 205338378 h 408"/>
                <a:gd name="T102" fmla="*/ 134230148 w 396"/>
                <a:gd name="T103" fmla="*/ 181871276 h 408"/>
                <a:gd name="T104" fmla="*/ 145902507 w 396"/>
                <a:gd name="T105" fmla="*/ 158404174 h 408"/>
                <a:gd name="T106" fmla="*/ 157574865 w 396"/>
                <a:gd name="T107" fmla="*/ 134937072 h 408"/>
                <a:gd name="T108" fmla="*/ 70033164 w 396"/>
                <a:gd name="T109" fmla="*/ 352009495 h 408"/>
                <a:gd name="T110" fmla="*/ 87541701 w 396"/>
                <a:gd name="T111" fmla="*/ 369610069 h 408"/>
                <a:gd name="T112" fmla="*/ 58360805 w 396"/>
                <a:gd name="T113" fmla="*/ 357876024 h 408"/>
                <a:gd name="T114" fmla="*/ 52524626 w 396"/>
                <a:gd name="T115" fmla="*/ 375476597 h 4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96"/>
                <a:gd name="T175" fmla="*/ 0 h 408"/>
                <a:gd name="T176" fmla="*/ 396 w 396"/>
                <a:gd name="T177" fmla="*/ 408 h 4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96" h="408">
                  <a:moveTo>
                    <a:pt x="168" y="126"/>
                  </a:moveTo>
                  <a:lnTo>
                    <a:pt x="174" y="126"/>
                  </a:lnTo>
                  <a:lnTo>
                    <a:pt x="180" y="126"/>
                  </a:lnTo>
                  <a:lnTo>
                    <a:pt x="180" y="120"/>
                  </a:lnTo>
                  <a:lnTo>
                    <a:pt x="186" y="120"/>
                  </a:lnTo>
                  <a:lnTo>
                    <a:pt x="186" y="114"/>
                  </a:lnTo>
                  <a:lnTo>
                    <a:pt x="186" y="108"/>
                  </a:lnTo>
                  <a:lnTo>
                    <a:pt x="186" y="102"/>
                  </a:lnTo>
                  <a:lnTo>
                    <a:pt x="192" y="102"/>
                  </a:lnTo>
                  <a:lnTo>
                    <a:pt x="192" y="96"/>
                  </a:lnTo>
                  <a:lnTo>
                    <a:pt x="198" y="96"/>
                  </a:lnTo>
                  <a:lnTo>
                    <a:pt x="198" y="90"/>
                  </a:lnTo>
                  <a:lnTo>
                    <a:pt x="204" y="90"/>
                  </a:lnTo>
                  <a:lnTo>
                    <a:pt x="210" y="90"/>
                  </a:lnTo>
                  <a:lnTo>
                    <a:pt x="216" y="90"/>
                  </a:lnTo>
                  <a:lnTo>
                    <a:pt x="216" y="84"/>
                  </a:lnTo>
                  <a:lnTo>
                    <a:pt x="216" y="90"/>
                  </a:lnTo>
                  <a:lnTo>
                    <a:pt x="222" y="90"/>
                  </a:lnTo>
                  <a:lnTo>
                    <a:pt x="228" y="90"/>
                  </a:lnTo>
                  <a:lnTo>
                    <a:pt x="228" y="96"/>
                  </a:lnTo>
                  <a:lnTo>
                    <a:pt x="234" y="96"/>
                  </a:lnTo>
                  <a:lnTo>
                    <a:pt x="228" y="102"/>
                  </a:lnTo>
                  <a:lnTo>
                    <a:pt x="234" y="102"/>
                  </a:lnTo>
                  <a:lnTo>
                    <a:pt x="228" y="102"/>
                  </a:lnTo>
                  <a:lnTo>
                    <a:pt x="228" y="108"/>
                  </a:lnTo>
                  <a:lnTo>
                    <a:pt x="234" y="108"/>
                  </a:lnTo>
                  <a:lnTo>
                    <a:pt x="234" y="102"/>
                  </a:lnTo>
                  <a:lnTo>
                    <a:pt x="240" y="102"/>
                  </a:lnTo>
                  <a:lnTo>
                    <a:pt x="246" y="102"/>
                  </a:lnTo>
                  <a:lnTo>
                    <a:pt x="246" y="108"/>
                  </a:lnTo>
                  <a:lnTo>
                    <a:pt x="252" y="108"/>
                  </a:lnTo>
                  <a:lnTo>
                    <a:pt x="252" y="114"/>
                  </a:lnTo>
                  <a:lnTo>
                    <a:pt x="258" y="114"/>
                  </a:lnTo>
                  <a:lnTo>
                    <a:pt x="258" y="108"/>
                  </a:lnTo>
                  <a:lnTo>
                    <a:pt x="264" y="108"/>
                  </a:lnTo>
                  <a:lnTo>
                    <a:pt x="264" y="114"/>
                  </a:lnTo>
                  <a:lnTo>
                    <a:pt x="270" y="114"/>
                  </a:lnTo>
                  <a:lnTo>
                    <a:pt x="276" y="114"/>
                  </a:lnTo>
                  <a:lnTo>
                    <a:pt x="276" y="120"/>
                  </a:lnTo>
                  <a:lnTo>
                    <a:pt x="276" y="114"/>
                  </a:lnTo>
                  <a:lnTo>
                    <a:pt x="282" y="114"/>
                  </a:lnTo>
                  <a:lnTo>
                    <a:pt x="288" y="114"/>
                  </a:lnTo>
                  <a:lnTo>
                    <a:pt x="294" y="108"/>
                  </a:lnTo>
                  <a:lnTo>
                    <a:pt x="294" y="102"/>
                  </a:lnTo>
                  <a:lnTo>
                    <a:pt x="300" y="102"/>
                  </a:lnTo>
                  <a:lnTo>
                    <a:pt x="300" y="96"/>
                  </a:lnTo>
                  <a:lnTo>
                    <a:pt x="300" y="90"/>
                  </a:lnTo>
                  <a:lnTo>
                    <a:pt x="306" y="90"/>
                  </a:lnTo>
                  <a:lnTo>
                    <a:pt x="306" y="84"/>
                  </a:lnTo>
                  <a:lnTo>
                    <a:pt x="306" y="78"/>
                  </a:lnTo>
                  <a:lnTo>
                    <a:pt x="312" y="84"/>
                  </a:lnTo>
                  <a:lnTo>
                    <a:pt x="318" y="84"/>
                  </a:lnTo>
                  <a:lnTo>
                    <a:pt x="324" y="90"/>
                  </a:lnTo>
                  <a:lnTo>
                    <a:pt x="324" y="84"/>
                  </a:lnTo>
                  <a:lnTo>
                    <a:pt x="330" y="84"/>
                  </a:lnTo>
                  <a:lnTo>
                    <a:pt x="330" y="78"/>
                  </a:lnTo>
                  <a:lnTo>
                    <a:pt x="336" y="78"/>
                  </a:lnTo>
                  <a:lnTo>
                    <a:pt x="342" y="78"/>
                  </a:lnTo>
                  <a:lnTo>
                    <a:pt x="348" y="72"/>
                  </a:lnTo>
                  <a:lnTo>
                    <a:pt x="342" y="72"/>
                  </a:lnTo>
                  <a:lnTo>
                    <a:pt x="348" y="72"/>
                  </a:lnTo>
                  <a:lnTo>
                    <a:pt x="354" y="66"/>
                  </a:lnTo>
                  <a:lnTo>
                    <a:pt x="354" y="60"/>
                  </a:lnTo>
                  <a:lnTo>
                    <a:pt x="348" y="60"/>
                  </a:lnTo>
                  <a:lnTo>
                    <a:pt x="354" y="54"/>
                  </a:lnTo>
                  <a:lnTo>
                    <a:pt x="348" y="54"/>
                  </a:lnTo>
                  <a:lnTo>
                    <a:pt x="342" y="48"/>
                  </a:lnTo>
                  <a:lnTo>
                    <a:pt x="342" y="54"/>
                  </a:lnTo>
                  <a:lnTo>
                    <a:pt x="336" y="54"/>
                  </a:lnTo>
                  <a:lnTo>
                    <a:pt x="336" y="48"/>
                  </a:lnTo>
                  <a:lnTo>
                    <a:pt x="330" y="48"/>
                  </a:lnTo>
                  <a:lnTo>
                    <a:pt x="324" y="48"/>
                  </a:lnTo>
                  <a:lnTo>
                    <a:pt x="324" y="42"/>
                  </a:lnTo>
                  <a:lnTo>
                    <a:pt x="330" y="42"/>
                  </a:lnTo>
                  <a:lnTo>
                    <a:pt x="330" y="36"/>
                  </a:lnTo>
                  <a:lnTo>
                    <a:pt x="324" y="36"/>
                  </a:lnTo>
                  <a:lnTo>
                    <a:pt x="324" y="30"/>
                  </a:lnTo>
                  <a:lnTo>
                    <a:pt x="318" y="30"/>
                  </a:lnTo>
                  <a:lnTo>
                    <a:pt x="318" y="24"/>
                  </a:lnTo>
                  <a:lnTo>
                    <a:pt x="324" y="24"/>
                  </a:lnTo>
                  <a:lnTo>
                    <a:pt x="324" y="18"/>
                  </a:lnTo>
                  <a:lnTo>
                    <a:pt x="330" y="18"/>
                  </a:lnTo>
                  <a:lnTo>
                    <a:pt x="336" y="18"/>
                  </a:lnTo>
                  <a:lnTo>
                    <a:pt x="342" y="18"/>
                  </a:lnTo>
                  <a:lnTo>
                    <a:pt x="348" y="18"/>
                  </a:lnTo>
                  <a:lnTo>
                    <a:pt x="348" y="12"/>
                  </a:lnTo>
                  <a:lnTo>
                    <a:pt x="354" y="12"/>
                  </a:lnTo>
                  <a:lnTo>
                    <a:pt x="360" y="12"/>
                  </a:lnTo>
                  <a:lnTo>
                    <a:pt x="360" y="6"/>
                  </a:lnTo>
                  <a:lnTo>
                    <a:pt x="366" y="0"/>
                  </a:lnTo>
                  <a:lnTo>
                    <a:pt x="366" y="6"/>
                  </a:lnTo>
                  <a:lnTo>
                    <a:pt x="372" y="6"/>
                  </a:lnTo>
                  <a:lnTo>
                    <a:pt x="372" y="12"/>
                  </a:lnTo>
                  <a:lnTo>
                    <a:pt x="372" y="18"/>
                  </a:lnTo>
                  <a:lnTo>
                    <a:pt x="378" y="18"/>
                  </a:lnTo>
                  <a:lnTo>
                    <a:pt x="378" y="24"/>
                  </a:lnTo>
                  <a:lnTo>
                    <a:pt x="378" y="18"/>
                  </a:lnTo>
                  <a:lnTo>
                    <a:pt x="384" y="18"/>
                  </a:lnTo>
                  <a:lnTo>
                    <a:pt x="384" y="24"/>
                  </a:lnTo>
                  <a:lnTo>
                    <a:pt x="378" y="24"/>
                  </a:lnTo>
                  <a:lnTo>
                    <a:pt x="378" y="30"/>
                  </a:lnTo>
                  <a:lnTo>
                    <a:pt x="378" y="36"/>
                  </a:lnTo>
                  <a:lnTo>
                    <a:pt x="384" y="36"/>
                  </a:lnTo>
                  <a:lnTo>
                    <a:pt x="384" y="42"/>
                  </a:lnTo>
                  <a:lnTo>
                    <a:pt x="390" y="42"/>
                  </a:lnTo>
                  <a:lnTo>
                    <a:pt x="384" y="48"/>
                  </a:lnTo>
                  <a:lnTo>
                    <a:pt x="378" y="54"/>
                  </a:lnTo>
                  <a:lnTo>
                    <a:pt x="372" y="54"/>
                  </a:lnTo>
                  <a:lnTo>
                    <a:pt x="372" y="60"/>
                  </a:lnTo>
                  <a:lnTo>
                    <a:pt x="378" y="60"/>
                  </a:lnTo>
                  <a:lnTo>
                    <a:pt x="378" y="66"/>
                  </a:lnTo>
                  <a:lnTo>
                    <a:pt x="372" y="66"/>
                  </a:lnTo>
                  <a:lnTo>
                    <a:pt x="378" y="66"/>
                  </a:lnTo>
                  <a:lnTo>
                    <a:pt x="378" y="72"/>
                  </a:lnTo>
                  <a:lnTo>
                    <a:pt x="384" y="72"/>
                  </a:lnTo>
                  <a:lnTo>
                    <a:pt x="390" y="72"/>
                  </a:lnTo>
                  <a:lnTo>
                    <a:pt x="396" y="72"/>
                  </a:lnTo>
                  <a:lnTo>
                    <a:pt x="396" y="78"/>
                  </a:lnTo>
                  <a:lnTo>
                    <a:pt x="390" y="78"/>
                  </a:lnTo>
                  <a:lnTo>
                    <a:pt x="390" y="84"/>
                  </a:lnTo>
                  <a:lnTo>
                    <a:pt x="384" y="84"/>
                  </a:lnTo>
                  <a:lnTo>
                    <a:pt x="384" y="90"/>
                  </a:lnTo>
                  <a:lnTo>
                    <a:pt x="384" y="96"/>
                  </a:lnTo>
                  <a:lnTo>
                    <a:pt x="378" y="96"/>
                  </a:lnTo>
                  <a:lnTo>
                    <a:pt x="378" y="102"/>
                  </a:lnTo>
                  <a:lnTo>
                    <a:pt x="372" y="102"/>
                  </a:lnTo>
                  <a:lnTo>
                    <a:pt x="372" y="108"/>
                  </a:lnTo>
                  <a:lnTo>
                    <a:pt x="372" y="114"/>
                  </a:lnTo>
                  <a:lnTo>
                    <a:pt x="366" y="120"/>
                  </a:lnTo>
                  <a:lnTo>
                    <a:pt x="366" y="126"/>
                  </a:lnTo>
                  <a:lnTo>
                    <a:pt x="366" y="132"/>
                  </a:lnTo>
                  <a:lnTo>
                    <a:pt x="360" y="138"/>
                  </a:lnTo>
                  <a:lnTo>
                    <a:pt x="360" y="144"/>
                  </a:lnTo>
                  <a:lnTo>
                    <a:pt x="354" y="144"/>
                  </a:lnTo>
                  <a:lnTo>
                    <a:pt x="354" y="150"/>
                  </a:lnTo>
                  <a:lnTo>
                    <a:pt x="354" y="156"/>
                  </a:lnTo>
                  <a:lnTo>
                    <a:pt x="348" y="156"/>
                  </a:lnTo>
                  <a:lnTo>
                    <a:pt x="348" y="162"/>
                  </a:lnTo>
                  <a:lnTo>
                    <a:pt x="348" y="168"/>
                  </a:lnTo>
                  <a:lnTo>
                    <a:pt x="342" y="168"/>
                  </a:lnTo>
                  <a:lnTo>
                    <a:pt x="342" y="174"/>
                  </a:lnTo>
                  <a:lnTo>
                    <a:pt x="336" y="174"/>
                  </a:lnTo>
                  <a:lnTo>
                    <a:pt x="336" y="180"/>
                  </a:lnTo>
                  <a:lnTo>
                    <a:pt x="336" y="186"/>
                  </a:lnTo>
                  <a:lnTo>
                    <a:pt x="330" y="186"/>
                  </a:lnTo>
                  <a:lnTo>
                    <a:pt x="324" y="192"/>
                  </a:lnTo>
                  <a:lnTo>
                    <a:pt x="318" y="198"/>
                  </a:lnTo>
                  <a:lnTo>
                    <a:pt x="318" y="204"/>
                  </a:lnTo>
                  <a:lnTo>
                    <a:pt x="312" y="204"/>
                  </a:lnTo>
                  <a:lnTo>
                    <a:pt x="312" y="210"/>
                  </a:lnTo>
                  <a:lnTo>
                    <a:pt x="306" y="210"/>
                  </a:lnTo>
                  <a:lnTo>
                    <a:pt x="306" y="216"/>
                  </a:lnTo>
                  <a:lnTo>
                    <a:pt x="300" y="216"/>
                  </a:lnTo>
                  <a:lnTo>
                    <a:pt x="294" y="222"/>
                  </a:lnTo>
                  <a:lnTo>
                    <a:pt x="294" y="228"/>
                  </a:lnTo>
                  <a:lnTo>
                    <a:pt x="288" y="228"/>
                  </a:lnTo>
                  <a:lnTo>
                    <a:pt x="288" y="234"/>
                  </a:lnTo>
                  <a:lnTo>
                    <a:pt x="282" y="234"/>
                  </a:lnTo>
                  <a:lnTo>
                    <a:pt x="282" y="240"/>
                  </a:lnTo>
                  <a:lnTo>
                    <a:pt x="282" y="246"/>
                  </a:lnTo>
                  <a:lnTo>
                    <a:pt x="276" y="246"/>
                  </a:lnTo>
                  <a:lnTo>
                    <a:pt x="282" y="246"/>
                  </a:lnTo>
                  <a:lnTo>
                    <a:pt x="276" y="246"/>
                  </a:lnTo>
                  <a:lnTo>
                    <a:pt x="276" y="252"/>
                  </a:lnTo>
                  <a:lnTo>
                    <a:pt x="270" y="252"/>
                  </a:lnTo>
                  <a:lnTo>
                    <a:pt x="276" y="252"/>
                  </a:lnTo>
                  <a:lnTo>
                    <a:pt x="270" y="252"/>
                  </a:lnTo>
                  <a:lnTo>
                    <a:pt x="270" y="258"/>
                  </a:lnTo>
                  <a:lnTo>
                    <a:pt x="270" y="264"/>
                  </a:lnTo>
                  <a:lnTo>
                    <a:pt x="264" y="264"/>
                  </a:lnTo>
                  <a:lnTo>
                    <a:pt x="264" y="270"/>
                  </a:lnTo>
                  <a:lnTo>
                    <a:pt x="258" y="270"/>
                  </a:lnTo>
                  <a:lnTo>
                    <a:pt x="252" y="270"/>
                  </a:lnTo>
                  <a:lnTo>
                    <a:pt x="252" y="276"/>
                  </a:lnTo>
                  <a:lnTo>
                    <a:pt x="252" y="282"/>
                  </a:lnTo>
                  <a:lnTo>
                    <a:pt x="246" y="282"/>
                  </a:lnTo>
                  <a:lnTo>
                    <a:pt x="246" y="288"/>
                  </a:lnTo>
                  <a:lnTo>
                    <a:pt x="240" y="288"/>
                  </a:lnTo>
                  <a:lnTo>
                    <a:pt x="246" y="288"/>
                  </a:lnTo>
                  <a:lnTo>
                    <a:pt x="240" y="288"/>
                  </a:lnTo>
                  <a:lnTo>
                    <a:pt x="240" y="294"/>
                  </a:lnTo>
                  <a:lnTo>
                    <a:pt x="240" y="300"/>
                  </a:lnTo>
                  <a:lnTo>
                    <a:pt x="234" y="300"/>
                  </a:lnTo>
                  <a:lnTo>
                    <a:pt x="240" y="300"/>
                  </a:lnTo>
                  <a:lnTo>
                    <a:pt x="234" y="300"/>
                  </a:lnTo>
                  <a:lnTo>
                    <a:pt x="234" y="306"/>
                  </a:lnTo>
                  <a:lnTo>
                    <a:pt x="240" y="306"/>
                  </a:lnTo>
                  <a:lnTo>
                    <a:pt x="234" y="306"/>
                  </a:lnTo>
                  <a:lnTo>
                    <a:pt x="234" y="312"/>
                  </a:lnTo>
                  <a:lnTo>
                    <a:pt x="228" y="312"/>
                  </a:lnTo>
                  <a:lnTo>
                    <a:pt x="228" y="318"/>
                  </a:lnTo>
                  <a:lnTo>
                    <a:pt x="222" y="318"/>
                  </a:lnTo>
                  <a:lnTo>
                    <a:pt x="228" y="312"/>
                  </a:lnTo>
                  <a:lnTo>
                    <a:pt x="222" y="318"/>
                  </a:lnTo>
                  <a:lnTo>
                    <a:pt x="222" y="312"/>
                  </a:lnTo>
                  <a:lnTo>
                    <a:pt x="222" y="318"/>
                  </a:lnTo>
                  <a:lnTo>
                    <a:pt x="222" y="324"/>
                  </a:lnTo>
                  <a:lnTo>
                    <a:pt x="222" y="330"/>
                  </a:lnTo>
                  <a:lnTo>
                    <a:pt x="216" y="330"/>
                  </a:lnTo>
                  <a:lnTo>
                    <a:pt x="210" y="330"/>
                  </a:lnTo>
                  <a:lnTo>
                    <a:pt x="210" y="336"/>
                  </a:lnTo>
                  <a:lnTo>
                    <a:pt x="204" y="336"/>
                  </a:lnTo>
                  <a:lnTo>
                    <a:pt x="204" y="342"/>
                  </a:lnTo>
                  <a:lnTo>
                    <a:pt x="198" y="342"/>
                  </a:lnTo>
                  <a:lnTo>
                    <a:pt x="198" y="348"/>
                  </a:lnTo>
                  <a:lnTo>
                    <a:pt x="192" y="348"/>
                  </a:lnTo>
                  <a:lnTo>
                    <a:pt x="186" y="348"/>
                  </a:lnTo>
                  <a:lnTo>
                    <a:pt x="186" y="354"/>
                  </a:lnTo>
                  <a:lnTo>
                    <a:pt x="180" y="354"/>
                  </a:lnTo>
                  <a:lnTo>
                    <a:pt x="174" y="354"/>
                  </a:lnTo>
                  <a:lnTo>
                    <a:pt x="174" y="360"/>
                  </a:lnTo>
                  <a:lnTo>
                    <a:pt x="168" y="360"/>
                  </a:lnTo>
                  <a:lnTo>
                    <a:pt x="168" y="366"/>
                  </a:lnTo>
                  <a:lnTo>
                    <a:pt x="162" y="366"/>
                  </a:lnTo>
                  <a:lnTo>
                    <a:pt x="156" y="366"/>
                  </a:lnTo>
                  <a:lnTo>
                    <a:pt x="156" y="372"/>
                  </a:lnTo>
                  <a:lnTo>
                    <a:pt x="150" y="372"/>
                  </a:lnTo>
                  <a:lnTo>
                    <a:pt x="150" y="366"/>
                  </a:lnTo>
                  <a:lnTo>
                    <a:pt x="150" y="372"/>
                  </a:lnTo>
                  <a:lnTo>
                    <a:pt x="144" y="372"/>
                  </a:lnTo>
                  <a:lnTo>
                    <a:pt x="150" y="372"/>
                  </a:lnTo>
                  <a:lnTo>
                    <a:pt x="144" y="372"/>
                  </a:lnTo>
                  <a:lnTo>
                    <a:pt x="138" y="372"/>
                  </a:lnTo>
                  <a:lnTo>
                    <a:pt x="138" y="378"/>
                  </a:lnTo>
                  <a:lnTo>
                    <a:pt x="138" y="372"/>
                  </a:lnTo>
                  <a:lnTo>
                    <a:pt x="138" y="378"/>
                  </a:lnTo>
                  <a:lnTo>
                    <a:pt x="138" y="372"/>
                  </a:lnTo>
                  <a:lnTo>
                    <a:pt x="132" y="372"/>
                  </a:lnTo>
                  <a:lnTo>
                    <a:pt x="132" y="378"/>
                  </a:lnTo>
                  <a:lnTo>
                    <a:pt x="126" y="378"/>
                  </a:lnTo>
                  <a:lnTo>
                    <a:pt x="126" y="384"/>
                  </a:lnTo>
                  <a:lnTo>
                    <a:pt x="120" y="378"/>
                  </a:lnTo>
                  <a:lnTo>
                    <a:pt x="126" y="378"/>
                  </a:lnTo>
                  <a:lnTo>
                    <a:pt x="120" y="378"/>
                  </a:lnTo>
                  <a:lnTo>
                    <a:pt x="126" y="378"/>
                  </a:lnTo>
                  <a:lnTo>
                    <a:pt x="120" y="378"/>
                  </a:lnTo>
                  <a:lnTo>
                    <a:pt x="126" y="378"/>
                  </a:lnTo>
                  <a:lnTo>
                    <a:pt x="126" y="372"/>
                  </a:lnTo>
                  <a:lnTo>
                    <a:pt x="120" y="372"/>
                  </a:lnTo>
                  <a:lnTo>
                    <a:pt x="114" y="372"/>
                  </a:lnTo>
                  <a:lnTo>
                    <a:pt x="120" y="372"/>
                  </a:lnTo>
                  <a:lnTo>
                    <a:pt x="114" y="372"/>
                  </a:lnTo>
                  <a:lnTo>
                    <a:pt x="114" y="378"/>
                  </a:lnTo>
                  <a:lnTo>
                    <a:pt x="114" y="372"/>
                  </a:lnTo>
                  <a:lnTo>
                    <a:pt x="108" y="372"/>
                  </a:lnTo>
                  <a:lnTo>
                    <a:pt x="114" y="372"/>
                  </a:lnTo>
                  <a:lnTo>
                    <a:pt x="108" y="372"/>
                  </a:lnTo>
                  <a:lnTo>
                    <a:pt x="114" y="372"/>
                  </a:lnTo>
                  <a:lnTo>
                    <a:pt x="108" y="366"/>
                  </a:lnTo>
                  <a:lnTo>
                    <a:pt x="114" y="366"/>
                  </a:lnTo>
                  <a:lnTo>
                    <a:pt x="108" y="366"/>
                  </a:lnTo>
                  <a:lnTo>
                    <a:pt x="108" y="372"/>
                  </a:lnTo>
                  <a:lnTo>
                    <a:pt x="102" y="372"/>
                  </a:lnTo>
                  <a:lnTo>
                    <a:pt x="96" y="372"/>
                  </a:lnTo>
                  <a:lnTo>
                    <a:pt x="102" y="366"/>
                  </a:lnTo>
                  <a:lnTo>
                    <a:pt x="96" y="366"/>
                  </a:lnTo>
                  <a:lnTo>
                    <a:pt x="90" y="366"/>
                  </a:lnTo>
                  <a:lnTo>
                    <a:pt x="90" y="372"/>
                  </a:lnTo>
                  <a:lnTo>
                    <a:pt x="90" y="366"/>
                  </a:lnTo>
                  <a:lnTo>
                    <a:pt x="90" y="360"/>
                  </a:lnTo>
                  <a:lnTo>
                    <a:pt x="90" y="354"/>
                  </a:lnTo>
                  <a:lnTo>
                    <a:pt x="90" y="348"/>
                  </a:lnTo>
                  <a:lnTo>
                    <a:pt x="96" y="348"/>
                  </a:lnTo>
                  <a:lnTo>
                    <a:pt x="90" y="348"/>
                  </a:lnTo>
                  <a:lnTo>
                    <a:pt x="90" y="342"/>
                  </a:lnTo>
                  <a:lnTo>
                    <a:pt x="84" y="348"/>
                  </a:lnTo>
                  <a:lnTo>
                    <a:pt x="78" y="348"/>
                  </a:lnTo>
                  <a:lnTo>
                    <a:pt x="78" y="354"/>
                  </a:lnTo>
                  <a:lnTo>
                    <a:pt x="72" y="354"/>
                  </a:lnTo>
                  <a:lnTo>
                    <a:pt x="72" y="360"/>
                  </a:lnTo>
                  <a:lnTo>
                    <a:pt x="72" y="354"/>
                  </a:lnTo>
                  <a:lnTo>
                    <a:pt x="66" y="354"/>
                  </a:lnTo>
                  <a:lnTo>
                    <a:pt x="72" y="354"/>
                  </a:lnTo>
                  <a:lnTo>
                    <a:pt x="72" y="348"/>
                  </a:lnTo>
                  <a:lnTo>
                    <a:pt x="78" y="348"/>
                  </a:lnTo>
                  <a:lnTo>
                    <a:pt x="78" y="342"/>
                  </a:lnTo>
                  <a:lnTo>
                    <a:pt x="72" y="342"/>
                  </a:lnTo>
                  <a:lnTo>
                    <a:pt x="66" y="342"/>
                  </a:lnTo>
                  <a:lnTo>
                    <a:pt x="66" y="348"/>
                  </a:lnTo>
                  <a:lnTo>
                    <a:pt x="60" y="348"/>
                  </a:lnTo>
                  <a:lnTo>
                    <a:pt x="66" y="348"/>
                  </a:lnTo>
                  <a:lnTo>
                    <a:pt x="60" y="354"/>
                  </a:lnTo>
                  <a:lnTo>
                    <a:pt x="60" y="348"/>
                  </a:lnTo>
                  <a:lnTo>
                    <a:pt x="60" y="354"/>
                  </a:lnTo>
                  <a:lnTo>
                    <a:pt x="60" y="348"/>
                  </a:lnTo>
                  <a:lnTo>
                    <a:pt x="60" y="354"/>
                  </a:lnTo>
                  <a:lnTo>
                    <a:pt x="54" y="360"/>
                  </a:lnTo>
                  <a:lnTo>
                    <a:pt x="54" y="366"/>
                  </a:lnTo>
                  <a:lnTo>
                    <a:pt x="48" y="366"/>
                  </a:lnTo>
                  <a:lnTo>
                    <a:pt x="48" y="372"/>
                  </a:lnTo>
                  <a:lnTo>
                    <a:pt x="48" y="366"/>
                  </a:lnTo>
                  <a:lnTo>
                    <a:pt x="54" y="366"/>
                  </a:lnTo>
                  <a:lnTo>
                    <a:pt x="48" y="366"/>
                  </a:lnTo>
                  <a:lnTo>
                    <a:pt x="48" y="372"/>
                  </a:lnTo>
                  <a:lnTo>
                    <a:pt x="48" y="378"/>
                  </a:lnTo>
                  <a:lnTo>
                    <a:pt x="48" y="372"/>
                  </a:lnTo>
                  <a:lnTo>
                    <a:pt x="42" y="372"/>
                  </a:lnTo>
                  <a:lnTo>
                    <a:pt x="42" y="378"/>
                  </a:lnTo>
                  <a:lnTo>
                    <a:pt x="42" y="384"/>
                  </a:lnTo>
                  <a:lnTo>
                    <a:pt x="36" y="384"/>
                  </a:lnTo>
                  <a:lnTo>
                    <a:pt x="42" y="384"/>
                  </a:lnTo>
                  <a:lnTo>
                    <a:pt x="36" y="384"/>
                  </a:lnTo>
                  <a:lnTo>
                    <a:pt x="42" y="384"/>
                  </a:lnTo>
                  <a:lnTo>
                    <a:pt x="42" y="390"/>
                  </a:lnTo>
                  <a:lnTo>
                    <a:pt x="36" y="390"/>
                  </a:lnTo>
                  <a:lnTo>
                    <a:pt x="36" y="384"/>
                  </a:lnTo>
                  <a:lnTo>
                    <a:pt x="30" y="384"/>
                  </a:lnTo>
                  <a:lnTo>
                    <a:pt x="24" y="384"/>
                  </a:lnTo>
                  <a:lnTo>
                    <a:pt x="18" y="384"/>
                  </a:lnTo>
                  <a:lnTo>
                    <a:pt x="24" y="384"/>
                  </a:lnTo>
                  <a:lnTo>
                    <a:pt x="30" y="384"/>
                  </a:lnTo>
                  <a:lnTo>
                    <a:pt x="24" y="384"/>
                  </a:lnTo>
                  <a:lnTo>
                    <a:pt x="18" y="384"/>
                  </a:lnTo>
                  <a:lnTo>
                    <a:pt x="24" y="384"/>
                  </a:lnTo>
                  <a:lnTo>
                    <a:pt x="24" y="378"/>
                  </a:lnTo>
                  <a:lnTo>
                    <a:pt x="18" y="378"/>
                  </a:lnTo>
                  <a:lnTo>
                    <a:pt x="12" y="378"/>
                  </a:lnTo>
                  <a:lnTo>
                    <a:pt x="12" y="384"/>
                  </a:lnTo>
                  <a:lnTo>
                    <a:pt x="18" y="384"/>
                  </a:lnTo>
                  <a:lnTo>
                    <a:pt x="12" y="384"/>
                  </a:lnTo>
                  <a:lnTo>
                    <a:pt x="12" y="390"/>
                  </a:lnTo>
                  <a:lnTo>
                    <a:pt x="18" y="390"/>
                  </a:lnTo>
                  <a:lnTo>
                    <a:pt x="18" y="384"/>
                  </a:lnTo>
                  <a:lnTo>
                    <a:pt x="18" y="390"/>
                  </a:lnTo>
                  <a:lnTo>
                    <a:pt x="24" y="390"/>
                  </a:lnTo>
                  <a:lnTo>
                    <a:pt x="24" y="396"/>
                  </a:lnTo>
                  <a:lnTo>
                    <a:pt x="18" y="396"/>
                  </a:lnTo>
                  <a:lnTo>
                    <a:pt x="18" y="402"/>
                  </a:lnTo>
                  <a:lnTo>
                    <a:pt x="12" y="402"/>
                  </a:lnTo>
                  <a:lnTo>
                    <a:pt x="12" y="408"/>
                  </a:lnTo>
                  <a:lnTo>
                    <a:pt x="12" y="402"/>
                  </a:lnTo>
                  <a:lnTo>
                    <a:pt x="12" y="396"/>
                  </a:lnTo>
                  <a:lnTo>
                    <a:pt x="12" y="390"/>
                  </a:lnTo>
                  <a:lnTo>
                    <a:pt x="12" y="384"/>
                  </a:lnTo>
                  <a:lnTo>
                    <a:pt x="12" y="378"/>
                  </a:lnTo>
                  <a:lnTo>
                    <a:pt x="6" y="378"/>
                  </a:lnTo>
                  <a:lnTo>
                    <a:pt x="0" y="378"/>
                  </a:lnTo>
                  <a:lnTo>
                    <a:pt x="6" y="378"/>
                  </a:lnTo>
                  <a:lnTo>
                    <a:pt x="6" y="372"/>
                  </a:lnTo>
                  <a:lnTo>
                    <a:pt x="12" y="372"/>
                  </a:lnTo>
                  <a:lnTo>
                    <a:pt x="18" y="372"/>
                  </a:lnTo>
                  <a:lnTo>
                    <a:pt x="18" y="366"/>
                  </a:lnTo>
                  <a:lnTo>
                    <a:pt x="24" y="366"/>
                  </a:lnTo>
                  <a:lnTo>
                    <a:pt x="24" y="372"/>
                  </a:lnTo>
                  <a:lnTo>
                    <a:pt x="24" y="366"/>
                  </a:lnTo>
                  <a:lnTo>
                    <a:pt x="30" y="366"/>
                  </a:lnTo>
                  <a:lnTo>
                    <a:pt x="30" y="372"/>
                  </a:lnTo>
                  <a:lnTo>
                    <a:pt x="30" y="366"/>
                  </a:lnTo>
                  <a:lnTo>
                    <a:pt x="36" y="366"/>
                  </a:lnTo>
                  <a:lnTo>
                    <a:pt x="36" y="360"/>
                  </a:lnTo>
                  <a:lnTo>
                    <a:pt x="36" y="354"/>
                  </a:lnTo>
                  <a:lnTo>
                    <a:pt x="42" y="354"/>
                  </a:lnTo>
                  <a:lnTo>
                    <a:pt x="42" y="348"/>
                  </a:lnTo>
                  <a:lnTo>
                    <a:pt x="42" y="342"/>
                  </a:lnTo>
                  <a:lnTo>
                    <a:pt x="42" y="336"/>
                  </a:lnTo>
                  <a:lnTo>
                    <a:pt x="42" y="330"/>
                  </a:lnTo>
                  <a:lnTo>
                    <a:pt x="36" y="330"/>
                  </a:lnTo>
                  <a:lnTo>
                    <a:pt x="36" y="324"/>
                  </a:lnTo>
                  <a:lnTo>
                    <a:pt x="42" y="324"/>
                  </a:lnTo>
                  <a:lnTo>
                    <a:pt x="42" y="318"/>
                  </a:lnTo>
                  <a:lnTo>
                    <a:pt x="42" y="312"/>
                  </a:lnTo>
                  <a:lnTo>
                    <a:pt x="36" y="312"/>
                  </a:lnTo>
                  <a:lnTo>
                    <a:pt x="42" y="312"/>
                  </a:lnTo>
                  <a:lnTo>
                    <a:pt x="36" y="306"/>
                  </a:lnTo>
                  <a:lnTo>
                    <a:pt x="42" y="306"/>
                  </a:lnTo>
                  <a:lnTo>
                    <a:pt x="42" y="300"/>
                  </a:lnTo>
                  <a:lnTo>
                    <a:pt x="42" y="294"/>
                  </a:lnTo>
                  <a:lnTo>
                    <a:pt x="42" y="288"/>
                  </a:lnTo>
                  <a:lnTo>
                    <a:pt x="42" y="282"/>
                  </a:lnTo>
                  <a:lnTo>
                    <a:pt x="42" y="276"/>
                  </a:lnTo>
                  <a:lnTo>
                    <a:pt x="36" y="276"/>
                  </a:lnTo>
                  <a:lnTo>
                    <a:pt x="36" y="270"/>
                  </a:lnTo>
                  <a:lnTo>
                    <a:pt x="36" y="264"/>
                  </a:lnTo>
                  <a:lnTo>
                    <a:pt x="36" y="258"/>
                  </a:lnTo>
                  <a:lnTo>
                    <a:pt x="36" y="252"/>
                  </a:lnTo>
                  <a:lnTo>
                    <a:pt x="30" y="252"/>
                  </a:lnTo>
                  <a:lnTo>
                    <a:pt x="30" y="246"/>
                  </a:lnTo>
                  <a:lnTo>
                    <a:pt x="30" y="240"/>
                  </a:lnTo>
                  <a:lnTo>
                    <a:pt x="36" y="240"/>
                  </a:lnTo>
                  <a:lnTo>
                    <a:pt x="36" y="234"/>
                  </a:lnTo>
                  <a:lnTo>
                    <a:pt x="36" y="240"/>
                  </a:lnTo>
                  <a:lnTo>
                    <a:pt x="42" y="240"/>
                  </a:lnTo>
                  <a:lnTo>
                    <a:pt x="42" y="234"/>
                  </a:lnTo>
                  <a:lnTo>
                    <a:pt x="48" y="234"/>
                  </a:lnTo>
                  <a:lnTo>
                    <a:pt x="54" y="234"/>
                  </a:lnTo>
                  <a:lnTo>
                    <a:pt x="54" y="228"/>
                  </a:lnTo>
                  <a:lnTo>
                    <a:pt x="60" y="228"/>
                  </a:lnTo>
                  <a:lnTo>
                    <a:pt x="60" y="222"/>
                  </a:lnTo>
                  <a:lnTo>
                    <a:pt x="60" y="216"/>
                  </a:lnTo>
                  <a:lnTo>
                    <a:pt x="66" y="216"/>
                  </a:lnTo>
                  <a:lnTo>
                    <a:pt x="66" y="222"/>
                  </a:lnTo>
                  <a:lnTo>
                    <a:pt x="66" y="216"/>
                  </a:lnTo>
                  <a:lnTo>
                    <a:pt x="66" y="210"/>
                  </a:lnTo>
                  <a:lnTo>
                    <a:pt x="72" y="210"/>
                  </a:lnTo>
                  <a:lnTo>
                    <a:pt x="72" y="216"/>
                  </a:lnTo>
                  <a:lnTo>
                    <a:pt x="78" y="216"/>
                  </a:lnTo>
                  <a:lnTo>
                    <a:pt x="84" y="222"/>
                  </a:lnTo>
                  <a:lnTo>
                    <a:pt x="96" y="222"/>
                  </a:lnTo>
                  <a:lnTo>
                    <a:pt x="102" y="222"/>
                  </a:lnTo>
                  <a:lnTo>
                    <a:pt x="108" y="228"/>
                  </a:lnTo>
                  <a:lnTo>
                    <a:pt x="114" y="228"/>
                  </a:lnTo>
                  <a:lnTo>
                    <a:pt x="114" y="234"/>
                  </a:lnTo>
                  <a:lnTo>
                    <a:pt x="120" y="234"/>
                  </a:lnTo>
                  <a:lnTo>
                    <a:pt x="120" y="228"/>
                  </a:lnTo>
                  <a:lnTo>
                    <a:pt x="126" y="228"/>
                  </a:lnTo>
                  <a:lnTo>
                    <a:pt x="126" y="222"/>
                  </a:lnTo>
                  <a:lnTo>
                    <a:pt x="126" y="216"/>
                  </a:lnTo>
                  <a:lnTo>
                    <a:pt x="126" y="210"/>
                  </a:lnTo>
                  <a:lnTo>
                    <a:pt x="126" y="204"/>
                  </a:lnTo>
                  <a:lnTo>
                    <a:pt x="132" y="204"/>
                  </a:lnTo>
                  <a:lnTo>
                    <a:pt x="132" y="198"/>
                  </a:lnTo>
                  <a:lnTo>
                    <a:pt x="138" y="198"/>
                  </a:lnTo>
                  <a:lnTo>
                    <a:pt x="138" y="192"/>
                  </a:lnTo>
                  <a:lnTo>
                    <a:pt x="144" y="192"/>
                  </a:lnTo>
                  <a:lnTo>
                    <a:pt x="144" y="186"/>
                  </a:lnTo>
                  <a:lnTo>
                    <a:pt x="138" y="186"/>
                  </a:lnTo>
                  <a:lnTo>
                    <a:pt x="144" y="186"/>
                  </a:lnTo>
                  <a:lnTo>
                    <a:pt x="144" y="180"/>
                  </a:lnTo>
                  <a:lnTo>
                    <a:pt x="144" y="174"/>
                  </a:lnTo>
                  <a:lnTo>
                    <a:pt x="150" y="174"/>
                  </a:lnTo>
                  <a:lnTo>
                    <a:pt x="150" y="168"/>
                  </a:lnTo>
                  <a:lnTo>
                    <a:pt x="156" y="168"/>
                  </a:lnTo>
                  <a:lnTo>
                    <a:pt x="156" y="162"/>
                  </a:lnTo>
                  <a:lnTo>
                    <a:pt x="150" y="162"/>
                  </a:lnTo>
                  <a:lnTo>
                    <a:pt x="150" y="156"/>
                  </a:lnTo>
                  <a:lnTo>
                    <a:pt x="156" y="156"/>
                  </a:lnTo>
                  <a:lnTo>
                    <a:pt x="162" y="156"/>
                  </a:lnTo>
                  <a:lnTo>
                    <a:pt x="162" y="150"/>
                  </a:lnTo>
                  <a:lnTo>
                    <a:pt x="162" y="144"/>
                  </a:lnTo>
                  <a:lnTo>
                    <a:pt x="168" y="144"/>
                  </a:lnTo>
                  <a:lnTo>
                    <a:pt x="162" y="144"/>
                  </a:lnTo>
                  <a:lnTo>
                    <a:pt x="162" y="138"/>
                  </a:lnTo>
                  <a:lnTo>
                    <a:pt x="162" y="132"/>
                  </a:lnTo>
                  <a:lnTo>
                    <a:pt x="162" y="126"/>
                  </a:lnTo>
                  <a:lnTo>
                    <a:pt x="168" y="126"/>
                  </a:lnTo>
                  <a:close/>
                  <a:moveTo>
                    <a:pt x="66" y="360"/>
                  </a:moveTo>
                  <a:lnTo>
                    <a:pt x="72" y="360"/>
                  </a:lnTo>
                  <a:lnTo>
                    <a:pt x="66" y="360"/>
                  </a:lnTo>
                  <a:lnTo>
                    <a:pt x="72" y="354"/>
                  </a:lnTo>
                  <a:lnTo>
                    <a:pt x="72" y="360"/>
                  </a:lnTo>
                  <a:lnTo>
                    <a:pt x="72" y="366"/>
                  </a:lnTo>
                  <a:lnTo>
                    <a:pt x="66" y="366"/>
                  </a:lnTo>
                  <a:lnTo>
                    <a:pt x="66" y="360"/>
                  </a:lnTo>
                  <a:close/>
                  <a:moveTo>
                    <a:pt x="96" y="372"/>
                  </a:moveTo>
                  <a:lnTo>
                    <a:pt x="96" y="366"/>
                  </a:lnTo>
                  <a:lnTo>
                    <a:pt x="96" y="372"/>
                  </a:lnTo>
                  <a:close/>
                  <a:moveTo>
                    <a:pt x="90" y="372"/>
                  </a:moveTo>
                  <a:lnTo>
                    <a:pt x="90" y="378"/>
                  </a:lnTo>
                  <a:lnTo>
                    <a:pt x="91" y="378"/>
                  </a:lnTo>
                  <a:lnTo>
                    <a:pt x="90" y="372"/>
                  </a:lnTo>
                  <a:close/>
                  <a:moveTo>
                    <a:pt x="60" y="360"/>
                  </a:moveTo>
                  <a:lnTo>
                    <a:pt x="66" y="360"/>
                  </a:lnTo>
                  <a:lnTo>
                    <a:pt x="66" y="366"/>
                  </a:lnTo>
                  <a:lnTo>
                    <a:pt x="60" y="366"/>
                  </a:lnTo>
                  <a:lnTo>
                    <a:pt x="60" y="360"/>
                  </a:lnTo>
                  <a:close/>
                  <a:moveTo>
                    <a:pt x="60" y="366"/>
                  </a:moveTo>
                  <a:lnTo>
                    <a:pt x="66" y="366"/>
                  </a:lnTo>
                  <a:lnTo>
                    <a:pt x="60" y="366"/>
                  </a:lnTo>
                  <a:close/>
                  <a:moveTo>
                    <a:pt x="60" y="366"/>
                  </a:moveTo>
                  <a:lnTo>
                    <a:pt x="60" y="372"/>
                  </a:lnTo>
                  <a:lnTo>
                    <a:pt x="61" y="372"/>
                  </a:lnTo>
                  <a:lnTo>
                    <a:pt x="60" y="366"/>
                  </a:lnTo>
                  <a:close/>
                  <a:moveTo>
                    <a:pt x="48" y="384"/>
                  </a:moveTo>
                  <a:lnTo>
                    <a:pt x="54" y="384"/>
                  </a:lnTo>
                  <a:lnTo>
                    <a:pt x="48" y="384"/>
                  </a:lnTo>
                  <a:close/>
                </a:path>
              </a:pathLst>
            </a:custGeom>
            <a:solidFill>
              <a:schemeClr val="accent1"/>
            </a:solidFill>
            <a:ln w="9525">
              <a:solidFill>
                <a:srgbClr val="B2B2B2"/>
              </a:solidFill>
              <a:round/>
              <a:headEnd/>
              <a:tailEnd/>
            </a:ln>
          </p:spPr>
          <p:txBody>
            <a:bodyPr/>
            <a:lstStyle/>
            <a:p>
              <a:endParaRPr lang="en-CA"/>
            </a:p>
          </p:txBody>
        </p:sp>
        <p:sp>
          <p:nvSpPr>
            <p:cNvPr id="447" name="Freeform 506"/>
            <p:cNvSpPr>
              <a:spLocks/>
            </p:cNvSpPr>
            <p:nvPr>
              <p:custDataLst>
                <p:tags r:id="rId70"/>
              </p:custDataLst>
            </p:nvPr>
          </p:nvSpPr>
          <p:spPr bwMode="gray">
            <a:xfrm>
              <a:off x="3544" y="3324"/>
              <a:ext cx="127" cy="79"/>
            </a:xfrm>
            <a:custGeom>
              <a:avLst/>
              <a:gdLst>
                <a:gd name="T0" fmla="*/ 11744946 w 204"/>
                <a:gd name="T1" fmla="*/ 35420214 h 126"/>
                <a:gd name="T2" fmla="*/ 23489891 w 204"/>
                <a:gd name="T3" fmla="*/ 29516845 h 126"/>
                <a:gd name="T4" fmla="*/ 29362364 w 204"/>
                <a:gd name="T5" fmla="*/ 17710107 h 126"/>
                <a:gd name="T6" fmla="*/ 46979782 w 204"/>
                <a:gd name="T7" fmla="*/ 17710107 h 126"/>
                <a:gd name="T8" fmla="*/ 52851267 w 204"/>
                <a:gd name="T9" fmla="*/ 17710107 h 126"/>
                <a:gd name="T10" fmla="*/ 52851267 w 204"/>
                <a:gd name="T11" fmla="*/ 11806738 h 126"/>
                <a:gd name="T12" fmla="*/ 64596212 w 204"/>
                <a:gd name="T13" fmla="*/ 17710107 h 126"/>
                <a:gd name="T14" fmla="*/ 64596212 w 204"/>
                <a:gd name="T15" fmla="*/ 11806738 h 126"/>
                <a:gd name="T16" fmla="*/ 70468685 w 204"/>
                <a:gd name="T17" fmla="*/ 0 h 126"/>
                <a:gd name="T18" fmla="*/ 82213631 w 204"/>
                <a:gd name="T19" fmla="*/ 5903369 h 126"/>
                <a:gd name="T20" fmla="*/ 82213631 w 204"/>
                <a:gd name="T21" fmla="*/ 11806738 h 126"/>
                <a:gd name="T22" fmla="*/ 88086103 w 204"/>
                <a:gd name="T23" fmla="*/ 17710107 h 126"/>
                <a:gd name="T24" fmla="*/ 93958576 w 204"/>
                <a:gd name="T25" fmla="*/ 17710107 h 126"/>
                <a:gd name="T26" fmla="*/ 99831049 w 204"/>
                <a:gd name="T27" fmla="*/ 17710107 h 126"/>
                <a:gd name="T28" fmla="*/ 105703522 w 204"/>
                <a:gd name="T29" fmla="*/ 17710107 h 126"/>
                <a:gd name="T30" fmla="*/ 111575994 w 204"/>
                <a:gd name="T31" fmla="*/ 17710107 h 126"/>
                <a:gd name="T32" fmla="*/ 117448467 w 204"/>
                <a:gd name="T33" fmla="*/ 29516845 h 126"/>
                <a:gd name="T34" fmla="*/ 123320940 w 204"/>
                <a:gd name="T35" fmla="*/ 41323584 h 126"/>
                <a:gd name="T36" fmla="*/ 135065886 w 204"/>
                <a:gd name="T37" fmla="*/ 53130322 h 126"/>
                <a:gd name="T38" fmla="*/ 140938358 w 204"/>
                <a:gd name="T39" fmla="*/ 53130322 h 126"/>
                <a:gd name="T40" fmla="*/ 152682316 w 204"/>
                <a:gd name="T41" fmla="*/ 59033691 h 126"/>
                <a:gd name="T42" fmla="*/ 170299734 w 204"/>
                <a:gd name="T43" fmla="*/ 59033691 h 126"/>
                <a:gd name="T44" fmla="*/ 176172207 w 204"/>
                <a:gd name="T45" fmla="*/ 59033691 h 126"/>
                <a:gd name="T46" fmla="*/ 187917152 w 204"/>
                <a:gd name="T47" fmla="*/ 64938055 h 126"/>
                <a:gd name="T48" fmla="*/ 193789625 w 204"/>
                <a:gd name="T49" fmla="*/ 64938055 h 126"/>
                <a:gd name="T50" fmla="*/ 199662098 w 204"/>
                <a:gd name="T51" fmla="*/ 64938055 h 126"/>
                <a:gd name="T52" fmla="*/ 193789625 w 204"/>
                <a:gd name="T53" fmla="*/ 76744793 h 126"/>
                <a:gd name="T54" fmla="*/ 176172207 w 204"/>
                <a:gd name="T55" fmla="*/ 76744793 h 126"/>
                <a:gd name="T56" fmla="*/ 164427261 w 204"/>
                <a:gd name="T57" fmla="*/ 82648162 h 126"/>
                <a:gd name="T58" fmla="*/ 152682316 w 204"/>
                <a:gd name="T59" fmla="*/ 88551531 h 126"/>
                <a:gd name="T60" fmla="*/ 152682316 w 204"/>
                <a:gd name="T61" fmla="*/ 94454900 h 126"/>
                <a:gd name="T62" fmla="*/ 146810831 w 204"/>
                <a:gd name="T63" fmla="*/ 94454900 h 126"/>
                <a:gd name="T64" fmla="*/ 140938358 w 204"/>
                <a:gd name="T65" fmla="*/ 94454900 h 126"/>
                <a:gd name="T66" fmla="*/ 123320940 w 204"/>
                <a:gd name="T67" fmla="*/ 94454900 h 126"/>
                <a:gd name="T68" fmla="*/ 105703522 w 204"/>
                <a:gd name="T69" fmla="*/ 100358270 h 126"/>
                <a:gd name="T70" fmla="*/ 99831049 w 204"/>
                <a:gd name="T71" fmla="*/ 112165008 h 126"/>
                <a:gd name="T72" fmla="*/ 93958576 w 204"/>
                <a:gd name="T73" fmla="*/ 123971746 h 126"/>
                <a:gd name="T74" fmla="*/ 82213631 w 204"/>
                <a:gd name="T75" fmla="*/ 123971746 h 126"/>
                <a:gd name="T76" fmla="*/ 64596212 w 204"/>
                <a:gd name="T77" fmla="*/ 123971746 h 126"/>
                <a:gd name="T78" fmla="*/ 46979782 w 204"/>
                <a:gd name="T79" fmla="*/ 123971746 h 126"/>
                <a:gd name="T80" fmla="*/ 29362364 w 204"/>
                <a:gd name="T81" fmla="*/ 123971746 h 126"/>
                <a:gd name="T82" fmla="*/ 17617418 w 204"/>
                <a:gd name="T83" fmla="*/ 112165008 h 126"/>
                <a:gd name="T84" fmla="*/ 11744946 w 204"/>
                <a:gd name="T85" fmla="*/ 100358270 h 126"/>
                <a:gd name="T86" fmla="*/ 11744946 w 204"/>
                <a:gd name="T87" fmla="*/ 94454900 h 126"/>
                <a:gd name="T88" fmla="*/ 11744946 w 204"/>
                <a:gd name="T89" fmla="*/ 82648162 h 126"/>
                <a:gd name="T90" fmla="*/ 5872473 w 204"/>
                <a:gd name="T91" fmla="*/ 70841424 h 126"/>
                <a:gd name="T92" fmla="*/ 0 w 204"/>
                <a:gd name="T93" fmla="*/ 59033691 h 126"/>
                <a:gd name="T94" fmla="*/ 5872473 w 204"/>
                <a:gd name="T95" fmla="*/ 41323584 h 12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4"/>
                <a:gd name="T145" fmla="*/ 0 h 126"/>
                <a:gd name="T146" fmla="*/ 204 w 204"/>
                <a:gd name="T147" fmla="*/ 126 h 12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4" h="126">
                  <a:moveTo>
                    <a:pt x="6" y="42"/>
                  </a:moveTo>
                  <a:lnTo>
                    <a:pt x="12" y="42"/>
                  </a:lnTo>
                  <a:lnTo>
                    <a:pt x="12" y="36"/>
                  </a:lnTo>
                  <a:lnTo>
                    <a:pt x="18" y="36"/>
                  </a:lnTo>
                  <a:lnTo>
                    <a:pt x="24" y="36"/>
                  </a:lnTo>
                  <a:lnTo>
                    <a:pt x="24" y="30"/>
                  </a:lnTo>
                  <a:lnTo>
                    <a:pt x="24" y="24"/>
                  </a:lnTo>
                  <a:lnTo>
                    <a:pt x="30" y="24"/>
                  </a:lnTo>
                  <a:lnTo>
                    <a:pt x="30" y="18"/>
                  </a:lnTo>
                  <a:lnTo>
                    <a:pt x="36" y="18"/>
                  </a:lnTo>
                  <a:lnTo>
                    <a:pt x="42" y="18"/>
                  </a:lnTo>
                  <a:lnTo>
                    <a:pt x="48" y="18"/>
                  </a:lnTo>
                  <a:lnTo>
                    <a:pt x="48" y="24"/>
                  </a:lnTo>
                  <a:lnTo>
                    <a:pt x="48" y="18"/>
                  </a:lnTo>
                  <a:lnTo>
                    <a:pt x="54" y="18"/>
                  </a:lnTo>
                  <a:lnTo>
                    <a:pt x="54" y="12"/>
                  </a:lnTo>
                  <a:lnTo>
                    <a:pt x="54" y="18"/>
                  </a:lnTo>
                  <a:lnTo>
                    <a:pt x="54" y="12"/>
                  </a:lnTo>
                  <a:lnTo>
                    <a:pt x="60" y="12"/>
                  </a:lnTo>
                  <a:lnTo>
                    <a:pt x="60" y="18"/>
                  </a:lnTo>
                  <a:lnTo>
                    <a:pt x="66" y="18"/>
                  </a:lnTo>
                  <a:lnTo>
                    <a:pt x="72" y="18"/>
                  </a:lnTo>
                  <a:lnTo>
                    <a:pt x="66" y="18"/>
                  </a:lnTo>
                  <a:lnTo>
                    <a:pt x="66" y="12"/>
                  </a:lnTo>
                  <a:lnTo>
                    <a:pt x="72" y="12"/>
                  </a:lnTo>
                  <a:lnTo>
                    <a:pt x="72" y="6"/>
                  </a:lnTo>
                  <a:lnTo>
                    <a:pt x="72" y="0"/>
                  </a:lnTo>
                  <a:lnTo>
                    <a:pt x="78" y="0"/>
                  </a:lnTo>
                  <a:lnTo>
                    <a:pt x="84" y="0"/>
                  </a:lnTo>
                  <a:lnTo>
                    <a:pt x="84" y="6"/>
                  </a:lnTo>
                  <a:lnTo>
                    <a:pt x="90" y="6"/>
                  </a:lnTo>
                  <a:lnTo>
                    <a:pt x="90" y="12"/>
                  </a:lnTo>
                  <a:lnTo>
                    <a:pt x="84" y="12"/>
                  </a:lnTo>
                  <a:lnTo>
                    <a:pt x="84" y="18"/>
                  </a:lnTo>
                  <a:lnTo>
                    <a:pt x="90" y="12"/>
                  </a:lnTo>
                  <a:lnTo>
                    <a:pt x="90" y="18"/>
                  </a:lnTo>
                  <a:lnTo>
                    <a:pt x="96" y="18"/>
                  </a:lnTo>
                  <a:lnTo>
                    <a:pt x="96" y="12"/>
                  </a:lnTo>
                  <a:lnTo>
                    <a:pt x="96" y="18"/>
                  </a:lnTo>
                  <a:lnTo>
                    <a:pt x="102" y="18"/>
                  </a:lnTo>
                  <a:lnTo>
                    <a:pt x="102" y="12"/>
                  </a:lnTo>
                  <a:lnTo>
                    <a:pt x="102" y="18"/>
                  </a:lnTo>
                  <a:lnTo>
                    <a:pt x="102" y="12"/>
                  </a:lnTo>
                  <a:lnTo>
                    <a:pt x="108" y="12"/>
                  </a:lnTo>
                  <a:lnTo>
                    <a:pt x="108" y="18"/>
                  </a:lnTo>
                  <a:lnTo>
                    <a:pt x="102" y="18"/>
                  </a:lnTo>
                  <a:lnTo>
                    <a:pt x="108" y="18"/>
                  </a:lnTo>
                  <a:lnTo>
                    <a:pt x="114" y="18"/>
                  </a:lnTo>
                  <a:lnTo>
                    <a:pt x="114" y="24"/>
                  </a:lnTo>
                  <a:lnTo>
                    <a:pt x="120" y="24"/>
                  </a:lnTo>
                  <a:lnTo>
                    <a:pt x="120" y="30"/>
                  </a:lnTo>
                  <a:lnTo>
                    <a:pt x="126" y="30"/>
                  </a:lnTo>
                  <a:lnTo>
                    <a:pt x="126" y="36"/>
                  </a:lnTo>
                  <a:lnTo>
                    <a:pt x="126" y="42"/>
                  </a:lnTo>
                  <a:lnTo>
                    <a:pt x="126" y="48"/>
                  </a:lnTo>
                  <a:lnTo>
                    <a:pt x="138" y="48"/>
                  </a:lnTo>
                  <a:lnTo>
                    <a:pt x="138" y="54"/>
                  </a:lnTo>
                  <a:lnTo>
                    <a:pt x="144" y="54"/>
                  </a:lnTo>
                  <a:lnTo>
                    <a:pt x="150" y="54"/>
                  </a:lnTo>
                  <a:lnTo>
                    <a:pt x="144" y="54"/>
                  </a:lnTo>
                  <a:lnTo>
                    <a:pt x="150" y="54"/>
                  </a:lnTo>
                  <a:lnTo>
                    <a:pt x="150" y="60"/>
                  </a:lnTo>
                  <a:lnTo>
                    <a:pt x="156" y="60"/>
                  </a:lnTo>
                  <a:lnTo>
                    <a:pt x="162" y="60"/>
                  </a:lnTo>
                  <a:lnTo>
                    <a:pt x="168" y="60"/>
                  </a:lnTo>
                  <a:lnTo>
                    <a:pt x="174" y="60"/>
                  </a:lnTo>
                  <a:lnTo>
                    <a:pt x="174" y="54"/>
                  </a:lnTo>
                  <a:lnTo>
                    <a:pt x="180" y="54"/>
                  </a:lnTo>
                  <a:lnTo>
                    <a:pt x="180" y="60"/>
                  </a:lnTo>
                  <a:lnTo>
                    <a:pt x="186" y="60"/>
                  </a:lnTo>
                  <a:lnTo>
                    <a:pt x="186" y="66"/>
                  </a:lnTo>
                  <a:lnTo>
                    <a:pt x="192" y="66"/>
                  </a:lnTo>
                  <a:lnTo>
                    <a:pt x="192" y="60"/>
                  </a:lnTo>
                  <a:lnTo>
                    <a:pt x="192" y="66"/>
                  </a:lnTo>
                  <a:lnTo>
                    <a:pt x="198" y="66"/>
                  </a:lnTo>
                  <a:lnTo>
                    <a:pt x="198" y="60"/>
                  </a:lnTo>
                  <a:lnTo>
                    <a:pt x="204" y="60"/>
                  </a:lnTo>
                  <a:lnTo>
                    <a:pt x="204" y="66"/>
                  </a:lnTo>
                  <a:lnTo>
                    <a:pt x="204" y="72"/>
                  </a:lnTo>
                  <a:lnTo>
                    <a:pt x="204" y="78"/>
                  </a:lnTo>
                  <a:lnTo>
                    <a:pt x="198" y="78"/>
                  </a:lnTo>
                  <a:lnTo>
                    <a:pt x="192" y="78"/>
                  </a:lnTo>
                  <a:lnTo>
                    <a:pt x="186" y="78"/>
                  </a:lnTo>
                  <a:lnTo>
                    <a:pt x="180" y="78"/>
                  </a:lnTo>
                  <a:lnTo>
                    <a:pt x="174" y="78"/>
                  </a:lnTo>
                  <a:lnTo>
                    <a:pt x="168" y="78"/>
                  </a:lnTo>
                  <a:lnTo>
                    <a:pt x="168" y="84"/>
                  </a:lnTo>
                  <a:lnTo>
                    <a:pt x="162" y="84"/>
                  </a:lnTo>
                  <a:lnTo>
                    <a:pt x="162" y="90"/>
                  </a:lnTo>
                  <a:lnTo>
                    <a:pt x="156" y="90"/>
                  </a:lnTo>
                  <a:lnTo>
                    <a:pt x="156" y="84"/>
                  </a:lnTo>
                  <a:lnTo>
                    <a:pt x="156" y="90"/>
                  </a:lnTo>
                  <a:lnTo>
                    <a:pt x="156" y="96"/>
                  </a:lnTo>
                  <a:lnTo>
                    <a:pt x="156" y="90"/>
                  </a:lnTo>
                  <a:lnTo>
                    <a:pt x="150" y="90"/>
                  </a:lnTo>
                  <a:lnTo>
                    <a:pt x="150" y="96"/>
                  </a:lnTo>
                  <a:lnTo>
                    <a:pt x="144" y="96"/>
                  </a:lnTo>
                  <a:lnTo>
                    <a:pt x="144" y="90"/>
                  </a:lnTo>
                  <a:lnTo>
                    <a:pt x="144" y="96"/>
                  </a:lnTo>
                  <a:lnTo>
                    <a:pt x="138" y="96"/>
                  </a:lnTo>
                  <a:lnTo>
                    <a:pt x="132" y="96"/>
                  </a:lnTo>
                  <a:lnTo>
                    <a:pt x="126" y="96"/>
                  </a:lnTo>
                  <a:lnTo>
                    <a:pt x="120" y="96"/>
                  </a:lnTo>
                  <a:lnTo>
                    <a:pt x="114" y="102"/>
                  </a:lnTo>
                  <a:lnTo>
                    <a:pt x="108" y="102"/>
                  </a:lnTo>
                  <a:lnTo>
                    <a:pt x="108" y="108"/>
                  </a:lnTo>
                  <a:lnTo>
                    <a:pt x="102" y="108"/>
                  </a:lnTo>
                  <a:lnTo>
                    <a:pt x="102" y="114"/>
                  </a:lnTo>
                  <a:lnTo>
                    <a:pt x="102" y="120"/>
                  </a:lnTo>
                  <a:lnTo>
                    <a:pt x="96" y="120"/>
                  </a:lnTo>
                  <a:lnTo>
                    <a:pt x="96" y="126"/>
                  </a:lnTo>
                  <a:lnTo>
                    <a:pt x="90" y="126"/>
                  </a:lnTo>
                  <a:lnTo>
                    <a:pt x="84" y="120"/>
                  </a:lnTo>
                  <a:lnTo>
                    <a:pt x="84" y="126"/>
                  </a:lnTo>
                  <a:lnTo>
                    <a:pt x="78" y="126"/>
                  </a:lnTo>
                  <a:lnTo>
                    <a:pt x="72" y="126"/>
                  </a:lnTo>
                  <a:lnTo>
                    <a:pt x="66" y="126"/>
                  </a:lnTo>
                  <a:lnTo>
                    <a:pt x="60" y="126"/>
                  </a:lnTo>
                  <a:lnTo>
                    <a:pt x="54" y="126"/>
                  </a:lnTo>
                  <a:lnTo>
                    <a:pt x="48" y="126"/>
                  </a:lnTo>
                  <a:lnTo>
                    <a:pt x="42" y="126"/>
                  </a:lnTo>
                  <a:lnTo>
                    <a:pt x="36" y="126"/>
                  </a:lnTo>
                  <a:lnTo>
                    <a:pt x="30" y="126"/>
                  </a:lnTo>
                  <a:lnTo>
                    <a:pt x="24" y="126"/>
                  </a:lnTo>
                  <a:lnTo>
                    <a:pt x="24" y="120"/>
                  </a:lnTo>
                  <a:lnTo>
                    <a:pt x="18" y="114"/>
                  </a:lnTo>
                  <a:lnTo>
                    <a:pt x="18" y="108"/>
                  </a:lnTo>
                  <a:lnTo>
                    <a:pt x="12" y="108"/>
                  </a:lnTo>
                  <a:lnTo>
                    <a:pt x="12" y="102"/>
                  </a:lnTo>
                  <a:lnTo>
                    <a:pt x="6" y="102"/>
                  </a:lnTo>
                  <a:lnTo>
                    <a:pt x="6" y="96"/>
                  </a:lnTo>
                  <a:lnTo>
                    <a:pt x="12" y="96"/>
                  </a:lnTo>
                  <a:lnTo>
                    <a:pt x="12" y="90"/>
                  </a:lnTo>
                  <a:lnTo>
                    <a:pt x="18" y="84"/>
                  </a:lnTo>
                  <a:lnTo>
                    <a:pt x="12" y="84"/>
                  </a:lnTo>
                  <a:lnTo>
                    <a:pt x="12" y="78"/>
                  </a:lnTo>
                  <a:lnTo>
                    <a:pt x="12" y="72"/>
                  </a:lnTo>
                  <a:lnTo>
                    <a:pt x="6" y="72"/>
                  </a:lnTo>
                  <a:lnTo>
                    <a:pt x="6" y="66"/>
                  </a:lnTo>
                  <a:lnTo>
                    <a:pt x="0" y="66"/>
                  </a:lnTo>
                  <a:lnTo>
                    <a:pt x="0" y="60"/>
                  </a:lnTo>
                  <a:lnTo>
                    <a:pt x="6" y="54"/>
                  </a:lnTo>
                  <a:lnTo>
                    <a:pt x="6" y="48"/>
                  </a:lnTo>
                  <a:lnTo>
                    <a:pt x="6" y="42"/>
                  </a:lnTo>
                  <a:close/>
                </a:path>
              </a:pathLst>
            </a:custGeom>
            <a:solidFill>
              <a:schemeClr val="accent1"/>
            </a:solidFill>
            <a:ln w="9525">
              <a:solidFill>
                <a:srgbClr val="B2B2B2"/>
              </a:solidFill>
              <a:round/>
              <a:headEnd/>
              <a:tailEnd/>
            </a:ln>
          </p:spPr>
          <p:txBody>
            <a:bodyPr/>
            <a:lstStyle/>
            <a:p>
              <a:endParaRPr lang="en-CA"/>
            </a:p>
          </p:txBody>
        </p:sp>
        <p:sp>
          <p:nvSpPr>
            <p:cNvPr id="448" name="Freeform 507"/>
            <p:cNvSpPr>
              <a:spLocks/>
            </p:cNvSpPr>
            <p:nvPr>
              <p:custDataLst>
                <p:tags r:id="rId71"/>
              </p:custDataLst>
            </p:nvPr>
          </p:nvSpPr>
          <p:spPr bwMode="gray">
            <a:xfrm>
              <a:off x="3238" y="2960"/>
              <a:ext cx="433" cy="393"/>
            </a:xfrm>
            <a:custGeom>
              <a:avLst/>
              <a:gdLst>
                <a:gd name="T0" fmla="*/ 486456389 w 696"/>
                <a:gd name="T1" fmla="*/ 612316363 h 630"/>
                <a:gd name="T2" fmla="*/ 457151537 w 696"/>
                <a:gd name="T3" fmla="*/ 600540725 h 630"/>
                <a:gd name="T4" fmla="*/ 427846686 w 696"/>
                <a:gd name="T5" fmla="*/ 576990438 h 630"/>
                <a:gd name="T6" fmla="*/ 392681259 w 696"/>
                <a:gd name="T7" fmla="*/ 565214800 h 630"/>
                <a:gd name="T8" fmla="*/ 351655257 w 696"/>
                <a:gd name="T9" fmla="*/ 553439161 h 630"/>
                <a:gd name="T10" fmla="*/ 351655257 w 696"/>
                <a:gd name="T11" fmla="*/ 524001551 h 630"/>
                <a:gd name="T12" fmla="*/ 334072543 w 696"/>
                <a:gd name="T13" fmla="*/ 476899987 h 630"/>
                <a:gd name="T14" fmla="*/ 316489830 w 696"/>
                <a:gd name="T15" fmla="*/ 441574062 h 630"/>
                <a:gd name="T16" fmla="*/ 298907116 w 696"/>
                <a:gd name="T17" fmla="*/ 400360813 h 630"/>
                <a:gd name="T18" fmla="*/ 293045553 w 696"/>
                <a:gd name="T19" fmla="*/ 365034888 h 630"/>
                <a:gd name="T20" fmla="*/ 281324403 w 696"/>
                <a:gd name="T21" fmla="*/ 335596287 h 630"/>
                <a:gd name="T22" fmla="*/ 263741689 w 696"/>
                <a:gd name="T23" fmla="*/ 312046001 h 630"/>
                <a:gd name="T24" fmla="*/ 222714700 w 696"/>
                <a:gd name="T25" fmla="*/ 312046001 h 630"/>
                <a:gd name="T26" fmla="*/ 193409848 w 696"/>
                <a:gd name="T27" fmla="*/ 288494724 h 630"/>
                <a:gd name="T28" fmla="*/ 152383846 w 696"/>
                <a:gd name="T29" fmla="*/ 282607400 h 630"/>
                <a:gd name="T30" fmla="*/ 105496281 w 696"/>
                <a:gd name="T31" fmla="*/ 288494724 h 630"/>
                <a:gd name="T32" fmla="*/ 87913567 w 696"/>
                <a:gd name="T33" fmla="*/ 241394151 h 630"/>
                <a:gd name="T34" fmla="*/ 105496281 w 696"/>
                <a:gd name="T35" fmla="*/ 211955550 h 630"/>
                <a:gd name="T36" fmla="*/ 87913567 w 696"/>
                <a:gd name="T37" fmla="*/ 182516949 h 630"/>
                <a:gd name="T38" fmla="*/ 99635705 w 696"/>
                <a:gd name="T39" fmla="*/ 141303700 h 630"/>
                <a:gd name="T40" fmla="*/ 76191429 w 696"/>
                <a:gd name="T41" fmla="*/ 123640737 h 630"/>
                <a:gd name="T42" fmla="*/ 58608716 w 696"/>
                <a:gd name="T43" fmla="*/ 82427488 h 630"/>
                <a:gd name="T44" fmla="*/ 23443289 w 696"/>
                <a:gd name="T45" fmla="*/ 94202137 h 630"/>
                <a:gd name="T46" fmla="*/ 35165427 w 696"/>
                <a:gd name="T47" fmla="*/ 64764526 h 630"/>
                <a:gd name="T48" fmla="*/ 0 w 696"/>
                <a:gd name="T49" fmla="*/ 23550287 h 630"/>
                <a:gd name="T50" fmla="*/ 46887565 w 696"/>
                <a:gd name="T51" fmla="*/ 5887324 h 630"/>
                <a:gd name="T52" fmla="*/ 93775130 w 696"/>
                <a:gd name="T53" fmla="*/ 29438601 h 630"/>
                <a:gd name="T54" fmla="*/ 134801132 w 696"/>
                <a:gd name="T55" fmla="*/ 41213249 h 630"/>
                <a:gd name="T56" fmla="*/ 187549273 w 696"/>
                <a:gd name="T57" fmla="*/ 58876212 h 630"/>
                <a:gd name="T58" fmla="*/ 222714700 w 696"/>
                <a:gd name="T59" fmla="*/ 100090451 h 630"/>
                <a:gd name="T60" fmla="*/ 281324403 w 696"/>
                <a:gd name="T61" fmla="*/ 105977775 h 630"/>
                <a:gd name="T62" fmla="*/ 304767692 w 696"/>
                <a:gd name="T63" fmla="*/ 117753413 h 630"/>
                <a:gd name="T64" fmla="*/ 351655257 w 696"/>
                <a:gd name="T65" fmla="*/ 117753413 h 630"/>
                <a:gd name="T66" fmla="*/ 398541834 w 696"/>
                <a:gd name="T67" fmla="*/ 123640737 h 630"/>
                <a:gd name="T68" fmla="*/ 433707261 w 696"/>
                <a:gd name="T69" fmla="*/ 105977775 h 630"/>
                <a:gd name="T70" fmla="*/ 480594826 w 696"/>
                <a:gd name="T71" fmla="*/ 111865099 h 630"/>
                <a:gd name="T72" fmla="*/ 527482391 w 696"/>
                <a:gd name="T73" fmla="*/ 117753413 h 630"/>
                <a:gd name="T74" fmla="*/ 574369956 w 696"/>
                <a:gd name="T75" fmla="*/ 111865099 h 630"/>
                <a:gd name="T76" fmla="*/ 580230532 w 696"/>
                <a:gd name="T77" fmla="*/ 141303700 h 630"/>
                <a:gd name="T78" fmla="*/ 562647818 w 696"/>
                <a:gd name="T79" fmla="*/ 164853986 h 630"/>
                <a:gd name="T80" fmla="*/ 533342967 w 696"/>
                <a:gd name="T81" fmla="*/ 188405263 h 630"/>
                <a:gd name="T82" fmla="*/ 509899678 w 696"/>
                <a:gd name="T83" fmla="*/ 217842874 h 630"/>
                <a:gd name="T84" fmla="*/ 480594826 w 696"/>
                <a:gd name="T85" fmla="*/ 253168799 h 630"/>
                <a:gd name="T86" fmla="*/ 527482391 w 696"/>
                <a:gd name="T87" fmla="*/ 276720076 h 630"/>
                <a:gd name="T88" fmla="*/ 539204529 w 696"/>
                <a:gd name="T89" fmla="*/ 300270362 h 630"/>
                <a:gd name="T90" fmla="*/ 580230532 w 696"/>
                <a:gd name="T91" fmla="*/ 300270362 h 630"/>
                <a:gd name="T92" fmla="*/ 609535383 w 696"/>
                <a:gd name="T93" fmla="*/ 288494724 h 630"/>
                <a:gd name="T94" fmla="*/ 644700810 w 696"/>
                <a:gd name="T95" fmla="*/ 282607400 h 630"/>
                <a:gd name="T96" fmla="*/ 679866237 w 696"/>
                <a:gd name="T97" fmla="*/ 288494724 h 630"/>
                <a:gd name="T98" fmla="*/ 668144099 w 696"/>
                <a:gd name="T99" fmla="*/ 323820649 h 630"/>
                <a:gd name="T100" fmla="*/ 662283524 w 696"/>
                <a:gd name="T101" fmla="*/ 353259250 h 630"/>
                <a:gd name="T102" fmla="*/ 632978672 w 696"/>
                <a:gd name="T103" fmla="*/ 353259250 h 630"/>
                <a:gd name="T104" fmla="*/ 603674808 w 696"/>
                <a:gd name="T105" fmla="*/ 365034888 h 630"/>
                <a:gd name="T106" fmla="*/ 574369956 w 696"/>
                <a:gd name="T107" fmla="*/ 388585175 h 630"/>
                <a:gd name="T108" fmla="*/ 562647818 w 696"/>
                <a:gd name="T109" fmla="*/ 406248137 h 630"/>
                <a:gd name="T110" fmla="*/ 527482391 w 696"/>
                <a:gd name="T111" fmla="*/ 429798424 h 630"/>
                <a:gd name="T112" fmla="*/ 492316964 w 696"/>
                <a:gd name="T113" fmla="*/ 465124349 h 630"/>
                <a:gd name="T114" fmla="*/ 492316964 w 696"/>
                <a:gd name="T115" fmla="*/ 494562950 h 630"/>
                <a:gd name="T116" fmla="*/ 504039103 w 696"/>
                <a:gd name="T117" fmla="*/ 506338588 h 630"/>
                <a:gd name="T118" fmla="*/ 527482391 w 696"/>
                <a:gd name="T119" fmla="*/ 547551837 h 630"/>
                <a:gd name="T120" fmla="*/ 521621816 w 696"/>
                <a:gd name="T121" fmla="*/ 588765086 h 6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96"/>
                <a:gd name="T184" fmla="*/ 0 h 630"/>
                <a:gd name="T185" fmla="*/ 696 w 696"/>
                <a:gd name="T186" fmla="*/ 630 h 6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96" h="630">
                  <a:moveTo>
                    <a:pt x="534" y="600"/>
                  </a:moveTo>
                  <a:lnTo>
                    <a:pt x="528" y="600"/>
                  </a:lnTo>
                  <a:lnTo>
                    <a:pt x="522" y="600"/>
                  </a:lnTo>
                  <a:lnTo>
                    <a:pt x="522" y="606"/>
                  </a:lnTo>
                  <a:lnTo>
                    <a:pt x="516" y="606"/>
                  </a:lnTo>
                  <a:lnTo>
                    <a:pt x="516" y="612"/>
                  </a:lnTo>
                  <a:lnTo>
                    <a:pt x="516" y="618"/>
                  </a:lnTo>
                  <a:lnTo>
                    <a:pt x="510" y="618"/>
                  </a:lnTo>
                  <a:lnTo>
                    <a:pt x="504" y="618"/>
                  </a:lnTo>
                  <a:lnTo>
                    <a:pt x="504" y="624"/>
                  </a:lnTo>
                  <a:lnTo>
                    <a:pt x="498" y="624"/>
                  </a:lnTo>
                  <a:lnTo>
                    <a:pt x="498" y="630"/>
                  </a:lnTo>
                  <a:lnTo>
                    <a:pt x="492" y="630"/>
                  </a:lnTo>
                  <a:lnTo>
                    <a:pt x="492" y="624"/>
                  </a:lnTo>
                  <a:lnTo>
                    <a:pt x="486" y="624"/>
                  </a:lnTo>
                  <a:lnTo>
                    <a:pt x="486" y="630"/>
                  </a:lnTo>
                  <a:lnTo>
                    <a:pt x="480" y="630"/>
                  </a:lnTo>
                  <a:lnTo>
                    <a:pt x="480" y="624"/>
                  </a:lnTo>
                  <a:lnTo>
                    <a:pt x="474" y="624"/>
                  </a:lnTo>
                  <a:lnTo>
                    <a:pt x="474" y="618"/>
                  </a:lnTo>
                  <a:lnTo>
                    <a:pt x="468" y="618"/>
                  </a:lnTo>
                  <a:lnTo>
                    <a:pt x="468" y="612"/>
                  </a:lnTo>
                  <a:lnTo>
                    <a:pt x="462" y="612"/>
                  </a:lnTo>
                  <a:lnTo>
                    <a:pt x="462" y="606"/>
                  </a:lnTo>
                  <a:lnTo>
                    <a:pt x="456" y="606"/>
                  </a:lnTo>
                  <a:lnTo>
                    <a:pt x="456" y="600"/>
                  </a:lnTo>
                  <a:lnTo>
                    <a:pt x="450" y="600"/>
                  </a:lnTo>
                  <a:lnTo>
                    <a:pt x="450" y="594"/>
                  </a:lnTo>
                  <a:lnTo>
                    <a:pt x="450" y="588"/>
                  </a:lnTo>
                  <a:lnTo>
                    <a:pt x="444" y="588"/>
                  </a:lnTo>
                  <a:lnTo>
                    <a:pt x="438" y="588"/>
                  </a:lnTo>
                  <a:lnTo>
                    <a:pt x="438" y="594"/>
                  </a:lnTo>
                  <a:lnTo>
                    <a:pt x="438" y="588"/>
                  </a:lnTo>
                  <a:lnTo>
                    <a:pt x="432" y="588"/>
                  </a:lnTo>
                  <a:lnTo>
                    <a:pt x="432" y="594"/>
                  </a:lnTo>
                  <a:lnTo>
                    <a:pt x="426" y="594"/>
                  </a:lnTo>
                  <a:lnTo>
                    <a:pt x="426" y="588"/>
                  </a:lnTo>
                  <a:lnTo>
                    <a:pt x="420" y="588"/>
                  </a:lnTo>
                  <a:lnTo>
                    <a:pt x="414" y="582"/>
                  </a:lnTo>
                  <a:lnTo>
                    <a:pt x="414" y="588"/>
                  </a:lnTo>
                  <a:lnTo>
                    <a:pt x="414" y="582"/>
                  </a:lnTo>
                  <a:lnTo>
                    <a:pt x="414" y="576"/>
                  </a:lnTo>
                  <a:lnTo>
                    <a:pt x="408" y="576"/>
                  </a:lnTo>
                  <a:lnTo>
                    <a:pt x="402" y="576"/>
                  </a:lnTo>
                  <a:lnTo>
                    <a:pt x="396" y="576"/>
                  </a:lnTo>
                  <a:lnTo>
                    <a:pt x="396" y="582"/>
                  </a:lnTo>
                  <a:lnTo>
                    <a:pt x="390" y="582"/>
                  </a:lnTo>
                  <a:lnTo>
                    <a:pt x="384" y="582"/>
                  </a:lnTo>
                  <a:lnTo>
                    <a:pt x="378" y="582"/>
                  </a:lnTo>
                  <a:lnTo>
                    <a:pt x="378" y="576"/>
                  </a:lnTo>
                  <a:lnTo>
                    <a:pt x="372" y="576"/>
                  </a:lnTo>
                  <a:lnTo>
                    <a:pt x="366" y="576"/>
                  </a:lnTo>
                  <a:lnTo>
                    <a:pt x="366" y="570"/>
                  </a:lnTo>
                  <a:lnTo>
                    <a:pt x="360" y="570"/>
                  </a:lnTo>
                  <a:lnTo>
                    <a:pt x="360" y="564"/>
                  </a:lnTo>
                  <a:lnTo>
                    <a:pt x="366" y="564"/>
                  </a:lnTo>
                  <a:lnTo>
                    <a:pt x="360" y="564"/>
                  </a:lnTo>
                  <a:lnTo>
                    <a:pt x="354" y="564"/>
                  </a:lnTo>
                  <a:lnTo>
                    <a:pt x="354" y="558"/>
                  </a:lnTo>
                  <a:lnTo>
                    <a:pt x="354" y="552"/>
                  </a:lnTo>
                  <a:lnTo>
                    <a:pt x="360" y="552"/>
                  </a:lnTo>
                  <a:lnTo>
                    <a:pt x="354" y="552"/>
                  </a:lnTo>
                  <a:lnTo>
                    <a:pt x="354" y="546"/>
                  </a:lnTo>
                  <a:lnTo>
                    <a:pt x="354" y="540"/>
                  </a:lnTo>
                  <a:lnTo>
                    <a:pt x="360" y="540"/>
                  </a:lnTo>
                  <a:lnTo>
                    <a:pt x="360" y="534"/>
                  </a:lnTo>
                  <a:lnTo>
                    <a:pt x="360" y="528"/>
                  </a:lnTo>
                  <a:lnTo>
                    <a:pt x="354" y="528"/>
                  </a:lnTo>
                  <a:lnTo>
                    <a:pt x="348" y="528"/>
                  </a:lnTo>
                  <a:lnTo>
                    <a:pt x="348" y="522"/>
                  </a:lnTo>
                  <a:lnTo>
                    <a:pt x="348" y="516"/>
                  </a:lnTo>
                  <a:lnTo>
                    <a:pt x="348" y="510"/>
                  </a:lnTo>
                  <a:lnTo>
                    <a:pt x="348" y="504"/>
                  </a:lnTo>
                  <a:lnTo>
                    <a:pt x="348" y="498"/>
                  </a:lnTo>
                  <a:lnTo>
                    <a:pt x="348" y="492"/>
                  </a:lnTo>
                  <a:lnTo>
                    <a:pt x="342" y="492"/>
                  </a:lnTo>
                  <a:lnTo>
                    <a:pt x="342" y="486"/>
                  </a:lnTo>
                  <a:lnTo>
                    <a:pt x="336" y="480"/>
                  </a:lnTo>
                  <a:lnTo>
                    <a:pt x="330" y="474"/>
                  </a:lnTo>
                  <a:lnTo>
                    <a:pt x="330" y="468"/>
                  </a:lnTo>
                  <a:lnTo>
                    <a:pt x="330" y="462"/>
                  </a:lnTo>
                  <a:lnTo>
                    <a:pt x="330" y="456"/>
                  </a:lnTo>
                  <a:lnTo>
                    <a:pt x="330" y="450"/>
                  </a:lnTo>
                  <a:lnTo>
                    <a:pt x="324" y="450"/>
                  </a:lnTo>
                  <a:lnTo>
                    <a:pt x="324" y="456"/>
                  </a:lnTo>
                  <a:lnTo>
                    <a:pt x="330" y="456"/>
                  </a:lnTo>
                  <a:lnTo>
                    <a:pt x="324" y="456"/>
                  </a:lnTo>
                  <a:lnTo>
                    <a:pt x="324" y="450"/>
                  </a:lnTo>
                  <a:lnTo>
                    <a:pt x="330" y="450"/>
                  </a:lnTo>
                  <a:lnTo>
                    <a:pt x="330" y="444"/>
                  </a:lnTo>
                  <a:lnTo>
                    <a:pt x="324" y="444"/>
                  </a:lnTo>
                  <a:lnTo>
                    <a:pt x="324" y="438"/>
                  </a:lnTo>
                  <a:lnTo>
                    <a:pt x="318" y="432"/>
                  </a:lnTo>
                  <a:lnTo>
                    <a:pt x="318" y="426"/>
                  </a:lnTo>
                  <a:lnTo>
                    <a:pt x="318" y="420"/>
                  </a:lnTo>
                  <a:lnTo>
                    <a:pt x="312" y="420"/>
                  </a:lnTo>
                  <a:lnTo>
                    <a:pt x="312" y="414"/>
                  </a:lnTo>
                  <a:lnTo>
                    <a:pt x="312" y="408"/>
                  </a:lnTo>
                  <a:lnTo>
                    <a:pt x="306" y="408"/>
                  </a:lnTo>
                  <a:lnTo>
                    <a:pt x="306" y="402"/>
                  </a:lnTo>
                  <a:lnTo>
                    <a:pt x="306" y="396"/>
                  </a:lnTo>
                  <a:lnTo>
                    <a:pt x="312" y="396"/>
                  </a:lnTo>
                  <a:lnTo>
                    <a:pt x="312" y="390"/>
                  </a:lnTo>
                  <a:lnTo>
                    <a:pt x="306" y="390"/>
                  </a:lnTo>
                  <a:lnTo>
                    <a:pt x="300" y="390"/>
                  </a:lnTo>
                  <a:lnTo>
                    <a:pt x="300" y="384"/>
                  </a:lnTo>
                  <a:lnTo>
                    <a:pt x="306" y="384"/>
                  </a:lnTo>
                  <a:lnTo>
                    <a:pt x="306" y="378"/>
                  </a:lnTo>
                  <a:lnTo>
                    <a:pt x="300" y="378"/>
                  </a:lnTo>
                  <a:lnTo>
                    <a:pt x="300" y="372"/>
                  </a:lnTo>
                  <a:lnTo>
                    <a:pt x="300" y="366"/>
                  </a:lnTo>
                  <a:lnTo>
                    <a:pt x="294" y="366"/>
                  </a:lnTo>
                  <a:lnTo>
                    <a:pt x="294" y="360"/>
                  </a:lnTo>
                  <a:lnTo>
                    <a:pt x="288" y="360"/>
                  </a:lnTo>
                  <a:lnTo>
                    <a:pt x="288" y="354"/>
                  </a:lnTo>
                  <a:lnTo>
                    <a:pt x="282" y="354"/>
                  </a:lnTo>
                  <a:lnTo>
                    <a:pt x="288" y="354"/>
                  </a:lnTo>
                  <a:lnTo>
                    <a:pt x="288" y="348"/>
                  </a:lnTo>
                  <a:lnTo>
                    <a:pt x="294" y="348"/>
                  </a:lnTo>
                  <a:lnTo>
                    <a:pt x="294" y="342"/>
                  </a:lnTo>
                  <a:lnTo>
                    <a:pt x="288" y="342"/>
                  </a:lnTo>
                  <a:lnTo>
                    <a:pt x="288" y="348"/>
                  </a:lnTo>
                  <a:lnTo>
                    <a:pt x="282" y="348"/>
                  </a:lnTo>
                  <a:lnTo>
                    <a:pt x="282" y="342"/>
                  </a:lnTo>
                  <a:lnTo>
                    <a:pt x="282" y="336"/>
                  </a:lnTo>
                  <a:lnTo>
                    <a:pt x="276" y="336"/>
                  </a:lnTo>
                  <a:lnTo>
                    <a:pt x="270" y="336"/>
                  </a:lnTo>
                  <a:lnTo>
                    <a:pt x="270" y="330"/>
                  </a:lnTo>
                  <a:lnTo>
                    <a:pt x="276" y="330"/>
                  </a:lnTo>
                  <a:lnTo>
                    <a:pt x="270" y="330"/>
                  </a:lnTo>
                  <a:lnTo>
                    <a:pt x="270" y="324"/>
                  </a:lnTo>
                  <a:lnTo>
                    <a:pt x="270" y="318"/>
                  </a:lnTo>
                  <a:lnTo>
                    <a:pt x="270" y="324"/>
                  </a:lnTo>
                  <a:lnTo>
                    <a:pt x="264" y="324"/>
                  </a:lnTo>
                  <a:lnTo>
                    <a:pt x="264" y="318"/>
                  </a:lnTo>
                  <a:lnTo>
                    <a:pt x="258" y="318"/>
                  </a:lnTo>
                  <a:lnTo>
                    <a:pt x="252" y="318"/>
                  </a:lnTo>
                  <a:lnTo>
                    <a:pt x="252" y="312"/>
                  </a:lnTo>
                  <a:lnTo>
                    <a:pt x="246" y="312"/>
                  </a:lnTo>
                  <a:lnTo>
                    <a:pt x="240" y="312"/>
                  </a:lnTo>
                  <a:lnTo>
                    <a:pt x="234" y="312"/>
                  </a:lnTo>
                  <a:lnTo>
                    <a:pt x="234" y="318"/>
                  </a:lnTo>
                  <a:lnTo>
                    <a:pt x="228" y="318"/>
                  </a:lnTo>
                  <a:lnTo>
                    <a:pt x="228" y="312"/>
                  </a:lnTo>
                  <a:lnTo>
                    <a:pt x="222" y="312"/>
                  </a:lnTo>
                  <a:lnTo>
                    <a:pt x="216" y="312"/>
                  </a:lnTo>
                  <a:lnTo>
                    <a:pt x="216" y="306"/>
                  </a:lnTo>
                  <a:lnTo>
                    <a:pt x="210" y="306"/>
                  </a:lnTo>
                  <a:lnTo>
                    <a:pt x="210" y="300"/>
                  </a:lnTo>
                  <a:lnTo>
                    <a:pt x="204" y="300"/>
                  </a:lnTo>
                  <a:lnTo>
                    <a:pt x="198" y="300"/>
                  </a:lnTo>
                  <a:lnTo>
                    <a:pt x="198" y="294"/>
                  </a:lnTo>
                  <a:lnTo>
                    <a:pt x="198" y="300"/>
                  </a:lnTo>
                  <a:lnTo>
                    <a:pt x="198" y="294"/>
                  </a:lnTo>
                  <a:lnTo>
                    <a:pt x="192" y="294"/>
                  </a:lnTo>
                  <a:lnTo>
                    <a:pt x="186" y="288"/>
                  </a:lnTo>
                  <a:lnTo>
                    <a:pt x="180" y="288"/>
                  </a:lnTo>
                  <a:lnTo>
                    <a:pt x="174" y="288"/>
                  </a:lnTo>
                  <a:lnTo>
                    <a:pt x="174" y="282"/>
                  </a:lnTo>
                  <a:lnTo>
                    <a:pt x="168" y="288"/>
                  </a:lnTo>
                  <a:lnTo>
                    <a:pt x="174" y="288"/>
                  </a:lnTo>
                  <a:lnTo>
                    <a:pt x="168" y="288"/>
                  </a:lnTo>
                  <a:lnTo>
                    <a:pt x="162" y="288"/>
                  </a:lnTo>
                  <a:lnTo>
                    <a:pt x="162" y="282"/>
                  </a:lnTo>
                  <a:lnTo>
                    <a:pt x="156" y="288"/>
                  </a:lnTo>
                  <a:lnTo>
                    <a:pt x="150" y="288"/>
                  </a:lnTo>
                  <a:lnTo>
                    <a:pt x="144" y="288"/>
                  </a:lnTo>
                  <a:lnTo>
                    <a:pt x="144" y="294"/>
                  </a:lnTo>
                  <a:lnTo>
                    <a:pt x="138" y="294"/>
                  </a:lnTo>
                  <a:lnTo>
                    <a:pt x="132" y="294"/>
                  </a:lnTo>
                  <a:lnTo>
                    <a:pt x="126" y="294"/>
                  </a:lnTo>
                  <a:lnTo>
                    <a:pt x="120" y="294"/>
                  </a:lnTo>
                  <a:lnTo>
                    <a:pt x="120" y="288"/>
                  </a:lnTo>
                  <a:lnTo>
                    <a:pt x="114" y="288"/>
                  </a:lnTo>
                  <a:lnTo>
                    <a:pt x="114" y="294"/>
                  </a:lnTo>
                  <a:lnTo>
                    <a:pt x="108" y="294"/>
                  </a:lnTo>
                  <a:lnTo>
                    <a:pt x="108" y="288"/>
                  </a:lnTo>
                  <a:lnTo>
                    <a:pt x="102" y="288"/>
                  </a:lnTo>
                  <a:lnTo>
                    <a:pt x="102" y="282"/>
                  </a:lnTo>
                  <a:lnTo>
                    <a:pt x="102" y="276"/>
                  </a:lnTo>
                  <a:lnTo>
                    <a:pt x="102" y="270"/>
                  </a:lnTo>
                  <a:lnTo>
                    <a:pt x="96" y="264"/>
                  </a:lnTo>
                  <a:lnTo>
                    <a:pt x="102" y="264"/>
                  </a:lnTo>
                  <a:lnTo>
                    <a:pt x="96" y="258"/>
                  </a:lnTo>
                  <a:lnTo>
                    <a:pt x="96" y="252"/>
                  </a:lnTo>
                  <a:lnTo>
                    <a:pt x="90" y="252"/>
                  </a:lnTo>
                  <a:lnTo>
                    <a:pt x="90" y="246"/>
                  </a:lnTo>
                  <a:lnTo>
                    <a:pt x="84" y="246"/>
                  </a:lnTo>
                  <a:lnTo>
                    <a:pt x="90" y="240"/>
                  </a:lnTo>
                  <a:lnTo>
                    <a:pt x="90" y="234"/>
                  </a:lnTo>
                  <a:lnTo>
                    <a:pt x="90" y="228"/>
                  </a:lnTo>
                  <a:lnTo>
                    <a:pt x="90" y="222"/>
                  </a:lnTo>
                  <a:lnTo>
                    <a:pt x="90" y="216"/>
                  </a:lnTo>
                  <a:lnTo>
                    <a:pt x="96" y="216"/>
                  </a:lnTo>
                  <a:lnTo>
                    <a:pt x="96" y="222"/>
                  </a:lnTo>
                  <a:lnTo>
                    <a:pt x="102" y="222"/>
                  </a:lnTo>
                  <a:lnTo>
                    <a:pt x="102" y="216"/>
                  </a:lnTo>
                  <a:lnTo>
                    <a:pt x="108" y="216"/>
                  </a:lnTo>
                  <a:lnTo>
                    <a:pt x="108" y="210"/>
                  </a:lnTo>
                  <a:lnTo>
                    <a:pt x="102" y="210"/>
                  </a:lnTo>
                  <a:lnTo>
                    <a:pt x="102" y="204"/>
                  </a:lnTo>
                  <a:lnTo>
                    <a:pt x="102" y="198"/>
                  </a:lnTo>
                  <a:lnTo>
                    <a:pt x="96" y="198"/>
                  </a:lnTo>
                  <a:lnTo>
                    <a:pt x="102" y="192"/>
                  </a:lnTo>
                  <a:lnTo>
                    <a:pt x="96" y="192"/>
                  </a:lnTo>
                  <a:lnTo>
                    <a:pt x="96" y="186"/>
                  </a:lnTo>
                  <a:lnTo>
                    <a:pt x="102" y="186"/>
                  </a:lnTo>
                  <a:lnTo>
                    <a:pt x="96" y="186"/>
                  </a:lnTo>
                  <a:lnTo>
                    <a:pt x="90" y="186"/>
                  </a:lnTo>
                  <a:lnTo>
                    <a:pt x="90" y="192"/>
                  </a:lnTo>
                  <a:lnTo>
                    <a:pt x="90" y="186"/>
                  </a:lnTo>
                  <a:lnTo>
                    <a:pt x="90" y="180"/>
                  </a:lnTo>
                  <a:lnTo>
                    <a:pt x="96" y="180"/>
                  </a:lnTo>
                  <a:lnTo>
                    <a:pt x="96" y="174"/>
                  </a:lnTo>
                  <a:lnTo>
                    <a:pt x="102" y="174"/>
                  </a:lnTo>
                  <a:lnTo>
                    <a:pt x="102" y="168"/>
                  </a:lnTo>
                  <a:lnTo>
                    <a:pt x="102" y="162"/>
                  </a:lnTo>
                  <a:lnTo>
                    <a:pt x="102" y="156"/>
                  </a:lnTo>
                  <a:lnTo>
                    <a:pt x="102" y="150"/>
                  </a:lnTo>
                  <a:lnTo>
                    <a:pt x="102" y="144"/>
                  </a:lnTo>
                  <a:lnTo>
                    <a:pt x="102" y="138"/>
                  </a:lnTo>
                  <a:lnTo>
                    <a:pt x="102" y="132"/>
                  </a:lnTo>
                  <a:lnTo>
                    <a:pt x="102" y="126"/>
                  </a:lnTo>
                  <a:lnTo>
                    <a:pt x="96" y="120"/>
                  </a:lnTo>
                  <a:lnTo>
                    <a:pt x="90" y="120"/>
                  </a:lnTo>
                  <a:lnTo>
                    <a:pt x="90" y="126"/>
                  </a:lnTo>
                  <a:lnTo>
                    <a:pt x="84" y="126"/>
                  </a:lnTo>
                  <a:lnTo>
                    <a:pt x="84" y="132"/>
                  </a:lnTo>
                  <a:lnTo>
                    <a:pt x="84" y="126"/>
                  </a:lnTo>
                  <a:lnTo>
                    <a:pt x="78" y="132"/>
                  </a:lnTo>
                  <a:lnTo>
                    <a:pt x="78" y="126"/>
                  </a:lnTo>
                  <a:lnTo>
                    <a:pt x="72" y="126"/>
                  </a:lnTo>
                  <a:lnTo>
                    <a:pt x="72" y="120"/>
                  </a:lnTo>
                  <a:lnTo>
                    <a:pt x="72" y="114"/>
                  </a:lnTo>
                  <a:lnTo>
                    <a:pt x="72" y="108"/>
                  </a:lnTo>
                  <a:lnTo>
                    <a:pt x="72" y="102"/>
                  </a:lnTo>
                  <a:lnTo>
                    <a:pt x="72" y="96"/>
                  </a:lnTo>
                  <a:lnTo>
                    <a:pt x="72" y="90"/>
                  </a:lnTo>
                  <a:lnTo>
                    <a:pt x="66" y="84"/>
                  </a:lnTo>
                  <a:lnTo>
                    <a:pt x="66" y="90"/>
                  </a:lnTo>
                  <a:lnTo>
                    <a:pt x="60" y="90"/>
                  </a:lnTo>
                  <a:lnTo>
                    <a:pt x="60" y="84"/>
                  </a:lnTo>
                  <a:lnTo>
                    <a:pt x="54" y="90"/>
                  </a:lnTo>
                  <a:lnTo>
                    <a:pt x="54" y="84"/>
                  </a:lnTo>
                  <a:lnTo>
                    <a:pt x="54" y="90"/>
                  </a:lnTo>
                  <a:lnTo>
                    <a:pt x="48" y="90"/>
                  </a:lnTo>
                  <a:lnTo>
                    <a:pt x="42" y="90"/>
                  </a:lnTo>
                  <a:lnTo>
                    <a:pt x="42" y="96"/>
                  </a:lnTo>
                  <a:lnTo>
                    <a:pt x="36" y="96"/>
                  </a:lnTo>
                  <a:lnTo>
                    <a:pt x="36" y="102"/>
                  </a:lnTo>
                  <a:lnTo>
                    <a:pt x="30" y="102"/>
                  </a:lnTo>
                  <a:lnTo>
                    <a:pt x="30" y="96"/>
                  </a:lnTo>
                  <a:lnTo>
                    <a:pt x="24" y="96"/>
                  </a:lnTo>
                  <a:lnTo>
                    <a:pt x="18" y="96"/>
                  </a:lnTo>
                  <a:lnTo>
                    <a:pt x="18" y="90"/>
                  </a:lnTo>
                  <a:lnTo>
                    <a:pt x="18" y="84"/>
                  </a:lnTo>
                  <a:lnTo>
                    <a:pt x="18" y="78"/>
                  </a:lnTo>
                  <a:lnTo>
                    <a:pt x="12" y="78"/>
                  </a:lnTo>
                  <a:lnTo>
                    <a:pt x="18" y="78"/>
                  </a:lnTo>
                  <a:lnTo>
                    <a:pt x="18" y="72"/>
                  </a:lnTo>
                  <a:lnTo>
                    <a:pt x="24" y="72"/>
                  </a:lnTo>
                  <a:lnTo>
                    <a:pt x="30" y="72"/>
                  </a:lnTo>
                  <a:lnTo>
                    <a:pt x="36" y="72"/>
                  </a:lnTo>
                  <a:lnTo>
                    <a:pt x="36" y="66"/>
                  </a:lnTo>
                  <a:lnTo>
                    <a:pt x="30" y="60"/>
                  </a:lnTo>
                  <a:lnTo>
                    <a:pt x="24" y="54"/>
                  </a:lnTo>
                  <a:lnTo>
                    <a:pt x="24" y="48"/>
                  </a:lnTo>
                  <a:lnTo>
                    <a:pt x="18" y="48"/>
                  </a:lnTo>
                  <a:lnTo>
                    <a:pt x="12" y="48"/>
                  </a:lnTo>
                  <a:lnTo>
                    <a:pt x="12" y="42"/>
                  </a:lnTo>
                  <a:lnTo>
                    <a:pt x="6" y="42"/>
                  </a:lnTo>
                  <a:lnTo>
                    <a:pt x="6" y="36"/>
                  </a:lnTo>
                  <a:lnTo>
                    <a:pt x="6" y="30"/>
                  </a:lnTo>
                  <a:lnTo>
                    <a:pt x="0" y="30"/>
                  </a:lnTo>
                  <a:lnTo>
                    <a:pt x="0" y="24"/>
                  </a:lnTo>
                  <a:lnTo>
                    <a:pt x="0" y="18"/>
                  </a:lnTo>
                  <a:lnTo>
                    <a:pt x="6" y="18"/>
                  </a:lnTo>
                  <a:lnTo>
                    <a:pt x="6" y="12"/>
                  </a:lnTo>
                  <a:lnTo>
                    <a:pt x="12" y="12"/>
                  </a:lnTo>
                  <a:lnTo>
                    <a:pt x="18" y="12"/>
                  </a:lnTo>
                  <a:lnTo>
                    <a:pt x="24" y="12"/>
                  </a:lnTo>
                  <a:lnTo>
                    <a:pt x="24" y="6"/>
                  </a:lnTo>
                  <a:lnTo>
                    <a:pt x="30" y="6"/>
                  </a:lnTo>
                  <a:lnTo>
                    <a:pt x="36" y="0"/>
                  </a:lnTo>
                  <a:lnTo>
                    <a:pt x="42" y="6"/>
                  </a:lnTo>
                  <a:lnTo>
                    <a:pt x="48" y="6"/>
                  </a:lnTo>
                  <a:lnTo>
                    <a:pt x="54" y="0"/>
                  </a:lnTo>
                  <a:lnTo>
                    <a:pt x="60" y="0"/>
                  </a:lnTo>
                  <a:lnTo>
                    <a:pt x="60" y="6"/>
                  </a:lnTo>
                  <a:lnTo>
                    <a:pt x="66" y="6"/>
                  </a:lnTo>
                  <a:lnTo>
                    <a:pt x="78" y="6"/>
                  </a:lnTo>
                  <a:lnTo>
                    <a:pt x="84" y="12"/>
                  </a:lnTo>
                  <a:lnTo>
                    <a:pt x="84" y="18"/>
                  </a:lnTo>
                  <a:lnTo>
                    <a:pt x="90" y="24"/>
                  </a:lnTo>
                  <a:lnTo>
                    <a:pt x="84" y="30"/>
                  </a:lnTo>
                  <a:lnTo>
                    <a:pt x="90" y="30"/>
                  </a:lnTo>
                  <a:lnTo>
                    <a:pt x="96" y="30"/>
                  </a:lnTo>
                  <a:lnTo>
                    <a:pt x="102" y="30"/>
                  </a:lnTo>
                  <a:lnTo>
                    <a:pt x="108" y="30"/>
                  </a:lnTo>
                  <a:lnTo>
                    <a:pt x="114" y="30"/>
                  </a:lnTo>
                  <a:lnTo>
                    <a:pt x="114" y="36"/>
                  </a:lnTo>
                  <a:lnTo>
                    <a:pt x="120" y="36"/>
                  </a:lnTo>
                  <a:lnTo>
                    <a:pt x="126" y="42"/>
                  </a:lnTo>
                  <a:lnTo>
                    <a:pt x="132" y="48"/>
                  </a:lnTo>
                  <a:lnTo>
                    <a:pt x="138" y="48"/>
                  </a:lnTo>
                  <a:lnTo>
                    <a:pt x="144" y="48"/>
                  </a:lnTo>
                  <a:lnTo>
                    <a:pt x="144" y="42"/>
                  </a:lnTo>
                  <a:lnTo>
                    <a:pt x="138" y="42"/>
                  </a:lnTo>
                  <a:lnTo>
                    <a:pt x="144" y="42"/>
                  </a:lnTo>
                  <a:lnTo>
                    <a:pt x="150" y="42"/>
                  </a:lnTo>
                  <a:lnTo>
                    <a:pt x="150" y="48"/>
                  </a:lnTo>
                  <a:lnTo>
                    <a:pt x="156" y="48"/>
                  </a:lnTo>
                  <a:lnTo>
                    <a:pt x="156" y="54"/>
                  </a:lnTo>
                  <a:lnTo>
                    <a:pt x="162" y="54"/>
                  </a:lnTo>
                  <a:lnTo>
                    <a:pt x="168" y="54"/>
                  </a:lnTo>
                  <a:lnTo>
                    <a:pt x="174" y="54"/>
                  </a:lnTo>
                  <a:lnTo>
                    <a:pt x="180" y="60"/>
                  </a:lnTo>
                  <a:lnTo>
                    <a:pt x="186" y="54"/>
                  </a:lnTo>
                  <a:lnTo>
                    <a:pt x="192" y="60"/>
                  </a:lnTo>
                  <a:lnTo>
                    <a:pt x="198" y="66"/>
                  </a:lnTo>
                  <a:lnTo>
                    <a:pt x="198" y="72"/>
                  </a:lnTo>
                  <a:lnTo>
                    <a:pt x="204" y="72"/>
                  </a:lnTo>
                  <a:lnTo>
                    <a:pt x="204" y="78"/>
                  </a:lnTo>
                  <a:lnTo>
                    <a:pt x="204" y="84"/>
                  </a:lnTo>
                  <a:lnTo>
                    <a:pt x="210" y="84"/>
                  </a:lnTo>
                  <a:lnTo>
                    <a:pt x="216" y="90"/>
                  </a:lnTo>
                  <a:lnTo>
                    <a:pt x="216" y="96"/>
                  </a:lnTo>
                  <a:lnTo>
                    <a:pt x="222" y="96"/>
                  </a:lnTo>
                  <a:lnTo>
                    <a:pt x="228" y="96"/>
                  </a:lnTo>
                  <a:lnTo>
                    <a:pt x="228" y="102"/>
                  </a:lnTo>
                  <a:lnTo>
                    <a:pt x="234" y="102"/>
                  </a:lnTo>
                  <a:lnTo>
                    <a:pt x="240" y="102"/>
                  </a:lnTo>
                  <a:lnTo>
                    <a:pt x="246" y="102"/>
                  </a:lnTo>
                  <a:lnTo>
                    <a:pt x="252" y="102"/>
                  </a:lnTo>
                  <a:lnTo>
                    <a:pt x="258" y="102"/>
                  </a:lnTo>
                  <a:lnTo>
                    <a:pt x="264" y="108"/>
                  </a:lnTo>
                  <a:lnTo>
                    <a:pt x="264" y="114"/>
                  </a:lnTo>
                  <a:lnTo>
                    <a:pt x="270" y="108"/>
                  </a:lnTo>
                  <a:lnTo>
                    <a:pt x="276" y="108"/>
                  </a:lnTo>
                  <a:lnTo>
                    <a:pt x="282" y="108"/>
                  </a:lnTo>
                  <a:lnTo>
                    <a:pt x="288" y="108"/>
                  </a:lnTo>
                  <a:lnTo>
                    <a:pt x="288" y="114"/>
                  </a:lnTo>
                  <a:lnTo>
                    <a:pt x="294" y="114"/>
                  </a:lnTo>
                  <a:lnTo>
                    <a:pt x="288" y="120"/>
                  </a:lnTo>
                  <a:lnTo>
                    <a:pt x="294" y="120"/>
                  </a:lnTo>
                  <a:lnTo>
                    <a:pt x="288" y="120"/>
                  </a:lnTo>
                  <a:lnTo>
                    <a:pt x="288" y="126"/>
                  </a:lnTo>
                  <a:lnTo>
                    <a:pt x="294" y="126"/>
                  </a:lnTo>
                  <a:lnTo>
                    <a:pt x="300" y="126"/>
                  </a:lnTo>
                  <a:lnTo>
                    <a:pt x="306" y="126"/>
                  </a:lnTo>
                  <a:lnTo>
                    <a:pt x="312" y="126"/>
                  </a:lnTo>
                  <a:lnTo>
                    <a:pt x="312" y="120"/>
                  </a:lnTo>
                  <a:lnTo>
                    <a:pt x="318" y="120"/>
                  </a:lnTo>
                  <a:lnTo>
                    <a:pt x="324" y="120"/>
                  </a:lnTo>
                  <a:lnTo>
                    <a:pt x="330" y="120"/>
                  </a:lnTo>
                  <a:lnTo>
                    <a:pt x="330" y="114"/>
                  </a:lnTo>
                  <a:lnTo>
                    <a:pt x="336" y="114"/>
                  </a:lnTo>
                  <a:lnTo>
                    <a:pt x="342" y="114"/>
                  </a:lnTo>
                  <a:lnTo>
                    <a:pt x="348" y="120"/>
                  </a:lnTo>
                  <a:lnTo>
                    <a:pt x="348" y="126"/>
                  </a:lnTo>
                  <a:lnTo>
                    <a:pt x="354" y="126"/>
                  </a:lnTo>
                  <a:lnTo>
                    <a:pt x="360" y="126"/>
                  </a:lnTo>
                  <a:lnTo>
                    <a:pt x="360" y="120"/>
                  </a:lnTo>
                  <a:lnTo>
                    <a:pt x="360" y="114"/>
                  </a:lnTo>
                  <a:lnTo>
                    <a:pt x="366" y="114"/>
                  </a:lnTo>
                  <a:lnTo>
                    <a:pt x="372" y="120"/>
                  </a:lnTo>
                  <a:lnTo>
                    <a:pt x="378" y="120"/>
                  </a:lnTo>
                  <a:lnTo>
                    <a:pt x="384" y="120"/>
                  </a:lnTo>
                  <a:lnTo>
                    <a:pt x="384" y="114"/>
                  </a:lnTo>
                  <a:lnTo>
                    <a:pt x="390" y="114"/>
                  </a:lnTo>
                  <a:lnTo>
                    <a:pt x="396" y="120"/>
                  </a:lnTo>
                  <a:lnTo>
                    <a:pt x="396" y="126"/>
                  </a:lnTo>
                  <a:lnTo>
                    <a:pt x="402" y="126"/>
                  </a:lnTo>
                  <a:lnTo>
                    <a:pt x="408" y="126"/>
                  </a:lnTo>
                  <a:lnTo>
                    <a:pt x="408" y="132"/>
                  </a:lnTo>
                  <a:lnTo>
                    <a:pt x="414" y="132"/>
                  </a:lnTo>
                  <a:lnTo>
                    <a:pt x="420" y="132"/>
                  </a:lnTo>
                  <a:lnTo>
                    <a:pt x="426" y="132"/>
                  </a:lnTo>
                  <a:lnTo>
                    <a:pt x="426" y="126"/>
                  </a:lnTo>
                  <a:lnTo>
                    <a:pt x="426" y="120"/>
                  </a:lnTo>
                  <a:lnTo>
                    <a:pt x="426" y="114"/>
                  </a:lnTo>
                  <a:lnTo>
                    <a:pt x="432" y="114"/>
                  </a:lnTo>
                  <a:lnTo>
                    <a:pt x="438" y="114"/>
                  </a:lnTo>
                  <a:lnTo>
                    <a:pt x="444" y="114"/>
                  </a:lnTo>
                  <a:lnTo>
                    <a:pt x="444" y="108"/>
                  </a:lnTo>
                  <a:lnTo>
                    <a:pt x="450" y="114"/>
                  </a:lnTo>
                  <a:lnTo>
                    <a:pt x="450" y="108"/>
                  </a:lnTo>
                  <a:lnTo>
                    <a:pt x="456" y="108"/>
                  </a:lnTo>
                  <a:lnTo>
                    <a:pt x="462" y="114"/>
                  </a:lnTo>
                  <a:lnTo>
                    <a:pt x="462" y="108"/>
                  </a:lnTo>
                  <a:lnTo>
                    <a:pt x="468" y="108"/>
                  </a:lnTo>
                  <a:lnTo>
                    <a:pt x="468" y="114"/>
                  </a:lnTo>
                  <a:lnTo>
                    <a:pt x="474" y="114"/>
                  </a:lnTo>
                  <a:lnTo>
                    <a:pt x="480" y="114"/>
                  </a:lnTo>
                  <a:lnTo>
                    <a:pt x="486" y="114"/>
                  </a:lnTo>
                  <a:lnTo>
                    <a:pt x="492" y="114"/>
                  </a:lnTo>
                  <a:lnTo>
                    <a:pt x="498" y="114"/>
                  </a:lnTo>
                  <a:lnTo>
                    <a:pt x="504" y="114"/>
                  </a:lnTo>
                  <a:lnTo>
                    <a:pt x="510" y="114"/>
                  </a:lnTo>
                  <a:lnTo>
                    <a:pt x="516" y="114"/>
                  </a:lnTo>
                  <a:lnTo>
                    <a:pt x="516" y="120"/>
                  </a:lnTo>
                  <a:lnTo>
                    <a:pt x="522" y="120"/>
                  </a:lnTo>
                  <a:lnTo>
                    <a:pt x="528" y="120"/>
                  </a:lnTo>
                  <a:lnTo>
                    <a:pt x="534" y="120"/>
                  </a:lnTo>
                  <a:lnTo>
                    <a:pt x="534" y="114"/>
                  </a:lnTo>
                  <a:lnTo>
                    <a:pt x="540" y="114"/>
                  </a:lnTo>
                  <a:lnTo>
                    <a:pt x="540" y="120"/>
                  </a:lnTo>
                  <a:lnTo>
                    <a:pt x="540" y="114"/>
                  </a:lnTo>
                  <a:lnTo>
                    <a:pt x="546" y="114"/>
                  </a:lnTo>
                  <a:lnTo>
                    <a:pt x="552" y="114"/>
                  </a:lnTo>
                  <a:lnTo>
                    <a:pt x="552" y="120"/>
                  </a:lnTo>
                  <a:lnTo>
                    <a:pt x="558" y="120"/>
                  </a:lnTo>
                  <a:lnTo>
                    <a:pt x="558" y="114"/>
                  </a:lnTo>
                  <a:lnTo>
                    <a:pt x="564" y="114"/>
                  </a:lnTo>
                  <a:lnTo>
                    <a:pt x="570" y="114"/>
                  </a:lnTo>
                  <a:lnTo>
                    <a:pt x="576" y="114"/>
                  </a:lnTo>
                  <a:lnTo>
                    <a:pt x="582" y="114"/>
                  </a:lnTo>
                  <a:lnTo>
                    <a:pt x="588" y="114"/>
                  </a:lnTo>
                  <a:lnTo>
                    <a:pt x="588" y="120"/>
                  </a:lnTo>
                  <a:lnTo>
                    <a:pt x="594" y="120"/>
                  </a:lnTo>
                  <a:lnTo>
                    <a:pt x="594" y="126"/>
                  </a:lnTo>
                  <a:lnTo>
                    <a:pt x="588" y="126"/>
                  </a:lnTo>
                  <a:lnTo>
                    <a:pt x="594" y="132"/>
                  </a:lnTo>
                  <a:lnTo>
                    <a:pt x="600" y="132"/>
                  </a:lnTo>
                  <a:lnTo>
                    <a:pt x="600" y="138"/>
                  </a:lnTo>
                  <a:lnTo>
                    <a:pt x="606" y="138"/>
                  </a:lnTo>
                  <a:lnTo>
                    <a:pt x="600" y="138"/>
                  </a:lnTo>
                  <a:lnTo>
                    <a:pt x="600" y="144"/>
                  </a:lnTo>
                  <a:lnTo>
                    <a:pt x="594" y="144"/>
                  </a:lnTo>
                  <a:lnTo>
                    <a:pt x="594" y="150"/>
                  </a:lnTo>
                  <a:lnTo>
                    <a:pt x="588" y="150"/>
                  </a:lnTo>
                  <a:lnTo>
                    <a:pt x="582" y="150"/>
                  </a:lnTo>
                  <a:lnTo>
                    <a:pt x="576" y="150"/>
                  </a:lnTo>
                  <a:lnTo>
                    <a:pt x="576" y="156"/>
                  </a:lnTo>
                  <a:lnTo>
                    <a:pt x="582" y="156"/>
                  </a:lnTo>
                  <a:lnTo>
                    <a:pt x="576" y="156"/>
                  </a:lnTo>
                  <a:lnTo>
                    <a:pt x="582" y="156"/>
                  </a:lnTo>
                  <a:lnTo>
                    <a:pt x="582" y="162"/>
                  </a:lnTo>
                  <a:lnTo>
                    <a:pt x="582" y="168"/>
                  </a:lnTo>
                  <a:lnTo>
                    <a:pt x="576" y="168"/>
                  </a:lnTo>
                  <a:lnTo>
                    <a:pt x="570" y="168"/>
                  </a:lnTo>
                  <a:lnTo>
                    <a:pt x="564" y="168"/>
                  </a:lnTo>
                  <a:lnTo>
                    <a:pt x="558" y="168"/>
                  </a:lnTo>
                  <a:lnTo>
                    <a:pt x="558" y="174"/>
                  </a:lnTo>
                  <a:lnTo>
                    <a:pt x="564" y="174"/>
                  </a:lnTo>
                  <a:lnTo>
                    <a:pt x="558" y="174"/>
                  </a:lnTo>
                  <a:lnTo>
                    <a:pt x="558" y="180"/>
                  </a:lnTo>
                  <a:lnTo>
                    <a:pt x="552" y="180"/>
                  </a:lnTo>
                  <a:lnTo>
                    <a:pt x="552" y="186"/>
                  </a:lnTo>
                  <a:lnTo>
                    <a:pt x="546" y="186"/>
                  </a:lnTo>
                  <a:lnTo>
                    <a:pt x="546" y="192"/>
                  </a:lnTo>
                  <a:lnTo>
                    <a:pt x="546" y="186"/>
                  </a:lnTo>
                  <a:lnTo>
                    <a:pt x="540" y="186"/>
                  </a:lnTo>
                  <a:lnTo>
                    <a:pt x="540" y="192"/>
                  </a:lnTo>
                  <a:lnTo>
                    <a:pt x="534" y="192"/>
                  </a:lnTo>
                  <a:lnTo>
                    <a:pt x="534" y="198"/>
                  </a:lnTo>
                  <a:lnTo>
                    <a:pt x="528" y="198"/>
                  </a:lnTo>
                  <a:lnTo>
                    <a:pt x="522" y="198"/>
                  </a:lnTo>
                  <a:lnTo>
                    <a:pt x="522" y="204"/>
                  </a:lnTo>
                  <a:lnTo>
                    <a:pt x="522" y="210"/>
                  </a:lnTo>
                  <a:lnTo>
                    <a:pt x="522" y="216"/>
                  </a:lnTo>
                  <a:lnTo>
                    <a:pt x="522" y="222"/>
                  </a:lnTo>
                  <a:lnTo>
                    <a:pt x="516" y="228"/>
                  </a:lnTo>
                  <a:lnTo>
                    <a:pt x="510" y="222"/>
                  </a:lnTo>
                  <a:lnTo>
                    <a:pt x="510" y="228"/>
                  </a:lnTo>
                  <a:lnTo>
                    <a:pt x="504" y="228"/>
                  </a:lnTo>
                  <a:lnTo>
                    <a:pt x="498" y="234"/>
                  </a:lnTo>
                  <a:lnTo>
                    <a:pt x="498" y="240"/>
                  </a:lnTo>
                  <a:lnTo>
                    <a:pt x="492" y="240"/>
                  </a:lnTo>
                  <a:lnTo>
                    <a:pt x="492" y="246"/>
                  </a:lnTo>
                  <a:lnTo>
                    <a:pt x="492" y="252"/>
                  </a:lnTo>
                  <a:lnTo>
                    <a:pt x="486" y="258"/>
                  </a:lnTo>
                  <a:lnTo>
                    <a:pt x="492" y="258"/>
                  </a:lnTo>
                  <a:lnTo>
                    <a:pt x="498" y="258"/>
                  </a:lnTo>
                  <a:lnTo>
                    <a:pt x="504" y="258"/>
                  </a:lnTo>
                  <a:lnTo>
                    <a:pt x="504" y="264"/>
                  </a:lnTo>
                  <a:lnTo>
                    <a:pt x="510" y="264"/>
                  </a:lnTo>
                  <a:lnTo>
                    <a:pt x="510" y="270"/>
                  </a:lnTo>
                  <a:lnTo>
                    <a:pt x="516" y="264"/>
                  </a:lnTo>
                  <a:lnTo>
                    <a:pt x="522" y="264"/>
                  </a:lnTo>
                  <a:lnTo>
                    <a:pt x="528" y="270"/>
                  </a:lnTo>
                  <a:lnTo>
                    <a:pt x="534" y="270"/>
                  </a:lnTo>
                  <a:lnTo>
                    <a:pt x="534" y="276"/>
                  </a:lnTo>
                  <a:lnTo>
                    <a:pt x="540" y="282"/>
                  </a:lnTo>
                  <a:lnTo>
                    <a:pt x="534" y="282"/>
                  </a:lnTo>
                  <a:lnTo>
                    <a:pt x="540" y="282"/>
                  </a:lnTo>
                  <a:lnTo>
                    <a:pt x="534" y="288"/>
                  </a:lnTo>
                  <a:lnTo>
                    <a:pt x="540" y="294"/>
                  </a:lnTo>
                  <a:lnTo>
                    <a:pt x="540" y="300"/>
                  </a:lnTo>
                  <a:lnTo>
                    <a:pt x="540" y="306"/>
                  </a:lnTo>
                  <a:lnTo>
                    <a:pt x="534" y="312"/>
                  </a:lnTo>
                  <a:lnTo>
                    <a:pt x="540" y="312"/>
                  </a:lnTo>
                  <a:lnTo>
                    <a:pt x="546" y="312"/>
                  </a:lnTo>
                  <a:lnTo>
                    <a:pt x="552" y="312"/>
                  </a:lnTo>
                  <a:lnTo>
                    <a:pt x="552" y="306"/>
                  </a:lnTo>
                  <a:lnTo>
                    <a:pt x="552" y="312"/>
                  </a:lnTo>
                  <a:lnTo>
                    <a:pt x="552" y="318"/>
                  </a:lnTo>
                  <a:lnTo>
                    <a:pt x="558" y="318"/>
                  </a:lnTo>
                  <a:lnTo>
                    <a:pt x="564" y="318"/>
                  </a:lnTo>
                  <a:lnTo>
                    <a:pt x="564" y="312"/>
                  </a:lnTo>
                  <a:lnTo>
                    <a:pt x="570" y="312"/>
                  </a:lnTo>
                  <a:lnTo>
                    <a:pt x="570" y="306"/>
                  </a:lnTo>
                  <a:lnTo>
                    <a:pt x="576" y="306"/>
                  </a:lnTo>
                  <a:lnTo>
                    <a:pt x="582" y="312"/>
                  </a:lnTo>
                  <a:lnTo>
                    <a:pt x="588" y="312"/>
                  </a:lnTo>
                  <a:lnTo>
                    <a:pt x="594" y="306"/>
                  </a:lnTo>
                  <a:lnTo>
                    <a:pt x="594" y="312"/>
                  </a:lnTo>
                  <a:lnTo>
                    <a:pt x="594" y="306"/>
                  </a:lnTo>
                  <a:lnTo>
                    <a:pt x="600" y="306"/>
                  </a:lnTo>
                  <a:lnTo>
                    <a:pt x="600" y="312"/>
                  </a:lnTo>
                  <a:lnTo>
                    <a:pt x="600" y="306"/>
                  </a:lnTo>
                  <a:lnTo>
                    <a:pt x="606" y="306"/>
                  </a:lnTo>
                  <a:lnTo>
                    <a:pt x="612" y="306"/>
                  </a:lnTo>
                  <a:lnTo>
                    <a:pt x="612" y="300"/>
                  </a:lnTo>
                  <a:lnTo>
                    <a:pt x="612" y="294"/>
                  </a:lnTo>
                  <a:lnTo>
                    <a:pt x="618" y="294"/>
                  </a:lnTo>
                  <a:lnTo>
                    <a:pt x="624" y="294"/>
                  </a:lnTo>
                  <a:lnTo>
                    <a:pt x="624" y="288"/>
                  </a:lnTo>
                  <a:lnTo>
                    <a:pt x="630" y="288"/>
                  </a:lnTo>
                  <a:lnTo>
                    <a:pt x="636" y="282"/>
                  </a:lnTo>
                  <a:lnTo>
                    <a:pt x="636" y="288"/>
                  </a:lnTo>
                  <a:lnTo>
                    <a:pt x="642" y="294"/>
                  </a:lnTo>
                  <a:lnTo>
                    <a:pt x="642" y="288"/>
                  </a:lnTo>
                  <a:lnTo>
                    <a:pt x="642" y="294"/>
                  </a:lnTo>
                  <a:lnTo>
                    <a:pt x="648" y="288"/>
                  </a:lnTo>
                  <a:lnTo>
                    <a:pt x="648" y="294"/>
                  </a:lnTo>
                  <a:lnTo>
                    <a:pt x="654" y="294"/>
                  </a:lnTo>
                  <a:lnTo>
                    <a:pt x="660" y="288"/>
                  </a:lnTo>
                  <a:lnTo>
                    <a:pt x="666" y="288"/>
                  </a:lnTo>
                  <a:lnTo>
                    <a:pt x="666" y="282"/>
                  </a:lnTo>
                  <a:lnTo>
                    <a:pt x="666" y="288"/>
                  </a:lnTo>
                  <a:lnTo>
                    <a:pt x="666" y="282"/>
                  </a:lnTo>
                  <a:lnTo>
                    <a:pt x="672" y="282"/>
                  </a:lnTo>
                  <a:lnTo>
                    <a:pt x="678" y="282"/>
                  </a:lnTo>
                  <a:lnTo>
                    <a:pt x="684" y="282"/>
                  </a:lnTo>
                  <a:lnTo>
                    <a:pt x="684" y="288"/>
                  </a:lnTo>
                  <a:lnTo>
                    <a:pt x="690" y="288"/>
                  </a:lnTo>
                  <a:lnTo>
                    <a:pt x="690" y="294"/>
                  </a:lnTo>
                  <a:lnTo>
                    <a:pt x="696" y="294"/>
                  </a:lnTo>
                  <a:lnTo>
                    <a:pt x="690" y="300"/>
                  </a:lnTo>
                  <a:lnTo>
                    <a:pt x="690" y="294"/>
                  </a:lnTo>
                  <a:lnTo>
                    <a:pt x="690" y="300"/>
                  </a:lnTo>
                  <a:lnTo>
                    <a:pt x="690" y="306"/>
                  </a:lnTo>
                  <a:lnTo>
                    <a:pt x="696" y="306"/>
                  </a:lnTo>
                  <a:lnTo>
                    <a:pt x="696" y="312"/>
                  </a:lnTo>
                  <a:lnTo>
                    <a:pt x="690" y="312"/>
                  </a:lnTo>
                  <a:lnTo>
                    <a:pt x="690" y="318"/>
                  </a:lnTo>
                  <a:lnTo>
                    <a:pt x="690" y="324"/>
                  </a:lnTo>
                  <a:lnTo>
                    <a:pt x="684" y="324"/>
                  </a:lnTo>
                  <a:lnTo>
                    <a:pt x="684" y="330"/>
                  </a:lnTo>
                  <a:lnTo>
                    <a:pt x="678" y="336"/>
                  </a:lnTo>
                  <a:lnTo>
                    <a:pt x="684" y="336"/>
                  </a:lnTo>
                  <a:lnTo>
                    <a:pt x="678" y="336"/>
                  </a:lnTo>
                  <a:lnTo>
                    <a:pt x="678" y="342"/>
                  </a:lnTo>
                  <a:lnTo>
                    <a:pt x="684" y="342"/>
                  </a:lnTo>
                  <a:lnTo>
                    <a:pt x="684" y="348"/>
                  </a:lnTo>
                  <a:lnTo>
                    <a:pt x="690" y="348"/>
                  </a:lnTo>
                  <a:lnTo>
                    <a:pt x="690" y="354"/>
                  </a:lnTo>
                  <a:lnTo>
                    <a:pt x="684" y="354"/>
                  </a:lnTo>
                  <a:lnTo>
                    <a:pt x="684" y="360"/>
                  </a:lnTo>
                  <a:lnTo>
                    <a:pt x="678" y="360"/>
                  </a:lnTo>
                  <a:lnTo>
                    <a:pt x="678" y="366"/>
                  </a:lnTo>
                  <a:lnTo>
                    <a:pt x="684" y="366"/>
                  </a:lnTo>
                  <a:lnTo>
                    <a:pt x="678" y="372"/>
                  </a:lnTo>
                  <a:lnTo>
                    <a:pt x="678" y="366"/>
                  </a:lnTo>
                  <a:lnTo>
                    <a:pt x="672" y="366"/>
                  </a:lnTo>
                  <a:lnTo>
                    <a:pt x="666" y="366"/>
                  </a:lnTo>
                  <a:lnTo>
                    <a:pt x="660" y="366"/>
                  </a:lnTo>
                  <a:lnTo>
                    <a:pt x="654" y="366"/>
                  </a:lnTo>
                  <a:lnTo>
                    <a:pt x="654" y="360"/>
                  </a:lnTo>
                  <a:lnTo>
                    <a:pt x="648" y="366"/>
                  </a:lnTo>
                  <a:lnTo>
                    <a:pt x="648" y="360"/>
                  </a:lnTo>
                  <a:lnTo>
                    <a:pt x="648" y="366"/>
                  </a:lnTo>
                  <a:lnTo>
                    <a:pt x="648" y="360"/>
                  </a:lnTo>
                  <a:lnTo>
                    <a:pt x="642" y="360"/>
                  </a:lnTo>
                  <a:lnTo>
                    <a:pt x="636" y="360"/>
                  </a:lnTo>
                  <a:lnTo>
                    <a:pt x="636" y="354"/>
                  </a:lnTo>
                  <a:lnTo>
                    <a:pt x="630" y="354"/>
                  </a:lnTo>
                  <a:lnTo>
                    <a:pt x="624" y="354"/>
                  </a:lnTo>
                  <a:lnTo>
                    <a:pt x="618" y="354"/>
                  </a:lnTo>
                  <a:lnTo>
                    <a:pt x="618" y="360"/>
                  </a:lnTo>
                  <a:lnTo>
                    <a:pt x="618" y="366"/>
                  </a:lnTo>
                  <a:lnTo>
                    <a:pt x="618" y="372"/>
                  </a:lnTo>
                  <a:lnTo>
                    <a:pt x="624" y="372"/>
                  </a:lnTo>
                  <a:lnTo>
                    <a:pt x="624" y="378"/>
                  </a:lnTo>
                  <a:lnTo>
                    <a:pt x="624" y="384"/>
                  </a:lnTo>
                  <a:lnTo>
                    <a:pt x="624" y="390"/>
                  </a:lnTo>
                  <a:lnTo>
                    <a:pt x="618" y="390"/>
                  </a:lnTo>
                  <a:lnTo>
                    <a:pt x="612" y="390"/>
                  </a:lnTo>
                  <a:lnTo>
                    <a:pt x="606" y="390"/>
                  </a:lnTo>
                  <a:lnTo>
                    <a:pt x="600" y="390"/>
                  </a:lnTo>
                  <a:lnTo>
                    <a:pt x="594" y="390"/>
                  </a:lnTo>
                  <a:lnTo>
                    <a:pt x="594" y="396"/>
                  </a:lnTo>
                  <a:lnTo>
                    <a:pt x="588" y="396"/>
                  </a:lnTo>
                  <a:lnTo>
                    <a:pt x="594" y="396"/>
                  </a:lnTo>
                  <a:lnTo>
                    <a:pt x="588" y="396"/>
                  </a:lnTo>
                  <a:lnTo>
                    <a:pt x="588" y="402"/>
                  </a:lnTo>
                  <a:lnTo>
                    <a:pt x="588" y="408"/>
                  </a:lnTo>
                  <a:lnTo>
                    <a:pt x="582" y="408"/>
                  </a:lnTo>
                  <a:lnTo>
                    <a:pt x="582" y="402"/>
                  </a:lnTo>
                  <a:lnTo>
                    <a:pt x="582" y="408"/>
                  </a:lnTo>
                  <a:lnTo>
                    <a:pt x="582" y="414"/>
                  </a:lnTo>
                  <a:lnTo>
                    <a:pt x="576" y="414"/>
                  </a:lnTo>
                  <a:lnTo>
                    <a:pt x="576" y="420"/>
                  </a:lnTo>
                  <a:lnTo>
                    <a:pt x="576" y="414"/>
                  </a:lnTo>
                  <a:lnTo>
                    <a:pt x="570" y="414"/>
                  </a:lnTo>
                  <a:lnTo>
                    <a:pt x="564" y="420"/>
                  </a:lnTo>
                  <a:lnTo>
                    <a:pt x="558" y="420"/>
                  </a:lnTo>
                  <a:lnTo>
                    <a:pt x="552" y="420"/>
                  </a:lnTo>
                  <a:lnTo>
                    <a:pt x="552" y="426"/>
                  </a:lnTo>
                  <a:lnTo>
                    <a:pt x="546" y="426"/>
                  </a:lnTo>
                  <a:lnTo>
                    <a:pt x="540" y="426"/>
                  </a:lnTo>
                  <a:lnTo>
                    <a:pt x="534" y="426"/>
                  </a:lnTo>
                  <a:lnTo>
                    <a:pt x="534" y="432"/>
                  </a:lnTo>
                  <a:lnTo>
                    <a:pt x="534" y="438"/>
                  </a:lnTo>
                  <a:lnTo>
                    <a:pt x="540" y="438"/>
                  </a:lnTo>
                  <a:lnTo>
                    <a:pt x="534" y="444"/>
                  </a:lnTo>
                  <a:lnTo>
                    <a:pt x="540" y="450"/>
                  </a:lnTo>
                  <a:lnTo>
                    <a:pt x="534" y="450"/>
                  </a:lnTo>
                  <a:lnTo>
                    <a:pt x="528" y="450"/>
                  </a:lnTo>
                  <a:lnTo>
                    <a:pt x="528" y="456"/>
                  </a:lnTo>
                  <a:lnTo>
                    <a:pt x="522" y="456"/>
                  </a:lnTo>
                  <a:lnTo>
                    <a:pt x="516" y="456"/>
                  </a:lnTo>
                  <a:lnTo>
                    <a:pt x="516" y="462"/>
                  </a:lnTo>
                  <a:lnTo>
                    <a:pt x="516" y="468"/>
                  </a:lnTo>
                  <a:lnTo>
                    <a:pt x="510" y="474"/>
                  </a:lnTo>
                  <a:lnTo>
                    <a:pt x="504" y="474"/>
                  </a:lnTo>
                  <a:lnTo>
                    <a:pt x="504" y="480"/>
                  </a:lnTo>
                  <a:lnTo>
                    <a:pt x="510" y="480"/>
                  </a:lnTo>
                  <a:lnTo>
                    <a:pt x="510" y="486"/>
                  </a:lnTo>
                  <a:lnTo>
                    <a:pt x="504" y="486"/>
                  </a:lnTo>
                  <a:lnTo>
                    <a:pt x="504" y="492"/>
                  </a:lnTo>
                  <a:lnTo>
                    <a:pt x="498" y="492"/>
                  </a:lnTo>
                  <a:lnTo>
                    <a:pt x="498" y="498"/>
                  </a:lnTo>
                  <a:lnTo>
                    <a:pt x="504" y="498"/>
                  </a:lnTo>
                  <a:lnTo>
                    <a:pt x="498" y="498"/>
                  </a:lnTo>
                  <a:lnTo>
                    <a:pt x="498" y="504"/>
                  </a:lnTo>
                  <a:lnTo>
                    <a:pt x="504" y="504"/>
                  </a:lnTo>
                  <a:lnTo>
                    <a:pt x="504" y="498"/>
                  </a:lnTo>
                  <a:lnTo>
                    <a:pt x="504" y="504"/>
                  </a:lnTo>
                  <a:lnTo>
                    <a:pt x="510" y="498"/>
                  </a:lnTo>
                  <a:lnTo>
                    <a:pt x="516" y="498"/>
                  </a:lnTo>
                  <a:lnTo>
                    <a:pt x="516" y="504"/>
                  </a:lnTo>
                  <a:lnTo>
                    <a:pt x="516" y="510"/>
                  </a:lnTo>
                  <a:lnTo>
                    <a:pt x="510" y="510"/>
                  </a:lnTo>
                  <a:lnTo>
                    <a:pt x="510" y="516"/>
                  </a:lnTo>
                  <a:lnTo>
                    <a:pt x="510" y="522"/>
                  </a:lnTo>
                  <a:lnTo>
                    <a:pt x="516" y="522"/>
                  </a:lnTo>
                  <a:lnTo>
                    <a:pt x="516" y="516"/>
                  </a:lnTo>
                  <a:lnTo>
                    <a:pt x="522" y="516"/>
                  </a:lnTo>
                  <a:lnTo>
                    <a:pt x="522" y="522"/>
                  </a:lnTo>
                  <a:lnTo>
                    <a:pt x="528" y="522"/>
                  </a:lnTo>
                  <a:lnTo>
                    <a:pt x="528" y="528"/>
                  </a:lnTo>
                  <a:lnTo>
                    <a:pt x="534" y="528"/>
                  </a:lnTo>
                  <a:lnTo>
                    <a:pt x="534" y="534"/>
                  </a:lnTo>
                  <a:lnTo>
                    <a:pt x="534" y="540"/>
                  </a:lnTo>
                  <a:lnTo>
                    <a:pt x="534" y="546"/>
                  </a:lnTo>
                  <a:lnTo>
                    <a:pt x="534" y="552"/>
                  </a:lnTo>
                  <a:lnTo>
                    <a:pt x="540" y="552"/>
                  </a:lnTo>
                  <a:lnTo>
                    <a:pt x="540" y="558"/>
                  </a:lnTo>
                  <a:lnTo>
                    <a:pt x="540" y="564"/>
                  </a:lnTo>
                  <a:lnTo>
                    <a:pt x="534" y="564"/>
                  </a:lnTo>
                  <a:lnTo>
                    <a:pt x="534" y="570"/>
                  </a:lnTo>
                  <a:lnTo>
                    <a:pt x="534" y="564"/>
                  </a:lnTo>
                  <a:lnTo>
                    <a:pt x="534" y="570"/>
                  </a:lnTo>
                  <a:lnTo>
                    <a:pt x="540" y="576"/>
                  </a:lnTo>
                  <a:lnTo>
                    <a:pt x="540" y="582"/>
                  </a:lnTo>
                  <a:lnTo>
                    <a:pt x="540" y="588"/>
                  </a:lnTo>
                  <a:lnTo>
                    <a:pt x="540" y="594"/>
                  </a:lnTo>
                  <a:lnTo>
                    <a:pt x="534" y="594"/>
                  </a:lnTo>
                  <a:lnTo>
                    <a:pt x="534" y="600"/>
                  </a:lnTo>
                  <a:close/>
                </a:path>
              </a:pathLst>
            </a:custGeom>
            <a:solidFill>
              <a:schemeClr val="accent1"/>
            </a:solidFill>
            <a:ln w="9525">
              <a:solidFill>
                <a:srgbClr val="B2B2B2"/>
              </a:solidFill>
              <a:round/>
              <a:headEnd/>
              <a:tailEnd/>
            </a:ln>
          </p:spPr>
          <p:txBody>
            <a:bodyPr/>
            <a:lstStyle/>
            <a:p>
              <a:endParaRPr lang="en-CA"/>
            </a:p>
          </p:txBody>
        </p:sp>
        <p:sp>
          <p:nvSpPr>
            <p:cNvPr id="449" name="Freeform 508"/>
            <p:cNvSpPr>
              <a:spLocks/>
            </p:cNvSpPr>
            <p:nvPr>
              <p:custDataLst>
                <p:tags r:id="rId72"/>
              </p:custDataLst>
            </p:nvPr>
          </p:nvSpPr>
          <p:spPr bwMode="gray">
            <a:xfrm>
              <a:off x="2898" y="2889"/>
              <a:ext cx="407" cy="449"/>
            </a:xfrm>
            <a:custGeom>
              <a:avLst/>
              <a:gdLst>
                <a:gd name="T0" fmla="*/ 17537917 w 654"/>
                <a:gd name="T1" fmla="*/ 617448769 h 720"/>
                <a:gd name="T2" fmla="*/ 23383561 w 654"/>
                <a:gd name="T3" fmla="*/ 576286310 h 720"/>
                <a:gd name="T4" fmla="*/ 35075835 w 654"/>
                <a:gd name="T5" fmla="*/ 541003353 h 720"/>
                <a:gd name="T6" fmla="*/ 70151670 w 654"/>
                <a:gd name="T7" fmla="*/ 546883846 h 720"/>
                <a:gd name="T8" fmla="*/ 116918791 w 654"/>
                <a:gd name="T9" fmla="*/ 541003353 h 720"/>
                <a:gd name="T10" fmla="*/ 151994625 w 654"/>
                <a:gd name="T11" fmla="*/ 517481382 h 720"/>
                <a:gd name="T12" fmla="*/ 187070460 w 654"/>
                <a:gd name="T13" fmla="*/ 493959411 h 720"/>
                <a:gd name="T14" fmla="*/ 210454021 w 654"/>
                <a:gd name="T15" fmla="*/ 488078918 h 720"/>
                <a:gd name="T16" fmla="*/ 245529856 w 654"/>
                <a:gd name="T17" fmla="*/ 470437440 h 720"/>
                <a:gd name="T18" fmla="*/ 280605690 w 654"/>
                <a:gd name="T19" fmla="*/ 452795962 h 720"/>
                <a:gd name="T20" fmla="*/ 280605690 w 654"/>
                <a:gd name="T21" fmla="*/ 423393498 h 720"/>
                <a:gd name="T22" fmla="*/ 268913416 w 654"/>
                <a:gd name="T23" fmla="*/ 393991034 h 720"/>
                <a:gd name="T24" fmla="*/ 298142620 w 654"/>
                <a:gd name="T25" fmla="*/ 364588571 h 720"/>
                <a:gd name="T26" fmla="*/ 333218455 w 654"/>
                <a:gd name="T27" fmla="*/ 341067590 h 720"/>
                <a:gd name="T28" fmla="*/ 368294289 w 654"/>
                <a:gd name="T29" fmla="*/ 317545619 h 720"/>
                <a:gd name="T30" fmla="*/ 403370124 w 654"/>
                <a:gd name="T31" fmla="*/ 305784633 h 720"/>
                <a:gd name="T32" fmla="*/ 391677850 w 654"/>
                <a:gd name="T33" fmla="*/ 270501677 h 720"/>
                <a:gd name="T34" fmla="*/ 362448646 w 654"/>
                <a:gd name="T35" fmla="*/ 241099213 h 720"/>
                <a:gd name="T36" fmla="*/ 362448646 w 654"/>
                <a:gd name="T37" fmla="*/ 205816256 h 720"/>
                <a:gd name="T38" fmla="*/ 350756372 w 654"/>
                <a:gd name="T39" fmla="*/ 176413793 h 720"/>
                <a:gd name="T40" fmla="*/ 339065086 w 654"/>
                <a:gd name="T41" fmla="*/ 147011329 h 720"/>
                <a:gd name="T42" fmla="*/ 379986564 w 654"/>
                <a:gd name="T43" fmla="*/ 135250343 h 720"/>
                <a:gd name="T44" fmla="*/ 432599328 w 654"/>
                <a:gd name="T45" fmla="*/ 117608865 h 720"/>
                <a:gd name="T46" fmla="*/ 420908042 w 654"/>
                <a:gd name="T47" fmla="*/ 76446406 h 720"/>
                <a:gd name="T48" fmla="*/ 432599328 w 654"/>
                <a:gd name="T49" fmla="*/ 17641478 h 720"/>
                <a:gd name="T50" fmla="*/ 467675163 w 654"/>
                <a:gd name="T51" fmla="*/ 0 h 720"/>
                <a:gd name="T52" fmla="*/ 508596641 w 654"/>
                <a:gd name="T53" fmla="*/ 58804928 h 720"/>
                <a:gd name="T54" fmla="*/ 526134558 w 654"/>
                <a:gd name="T55" fmla="*/ 88207391 h 720"/>
                <a:gd name="T56" fmla="*/ 537826832 w 654"/>
                <a:gd name="T57" fmla="*/ 147011329 h 720"/>
                <a:gd name="T58" fmla="*/ 561210393 w 654"/>
                <a:gd name="T59" fmla="*/ 182294285 h 720"/>
                <a:gd name="T60" fmla="*/ 561210393 w 654"/>
                <a:gd name="T61" fmla="*/ 205816256 h 720"/>
                <a:gd name="T62" fmla="*/ 590440584 w 654"/>
                <a:gd name="T63" fmla="*/ 194055271 h 720"/>
                <a:gd name="T64" fmla="*/ 602131871 w 654"/>
                <a:gd name="T65" fmla="*/ 235218720 h 720"/>
                <a:gd name="T66" fmla="*/ 631362062 w 654"/>
                <a:gd name="T67" fmla="*/ 241099213 h 720"/>
                <a:gd name="T68" fmla="*/ 619669788 w 654"/>
                <a:gd name="T69" fmla="*/ 288143155 h 720"/>
                <a:gd name="T70" fmla="*/ 631362062 w 654"/>
                <a:gd name="T71" fmla="*/ 305784633 h 720"/>
                <a:gd name="T72" fmla="*/ 619669788 w 654"/>
                <a:gd name="T73" fmla="*/ 329306604 h 720"/>
                <a:gd name="T74" fmla="*/ 625515431 w 654"/>
                <a:gd name="T75" fmla="*/ 370469063 h 720"/>
                <a:gd name="T76" fmla="*/ 619669788 w 654"/>
                <a:gd name="T77" fmla="*/ 405752020 h 720"/>
                <a:gd name="T78" fmla="*/ 572902667 w 654"/>
                <a:gd name="T79" fmla="*/ 417513005 h 720"/>
                <a:gd name="T80" fmla="*/ 543672475 w 654"/>
                <a:gd name="T81" fmla="*/ 452795962 h 720"/>
                <a:gd name="T82" fmla="*/ 572902667 w 654"/>
                <a:gd name="T83" fmla="*/ 470437440 h 720"/>
                <a:gd name="T84" fmla="*/ 567056036 w 654"/>
                <a:gd name="T85" fmla="*/ 511600889 h 720"/>
                <a:gd name="T86" fmla="*/ 543672475 w 654"/>
                <a:gd name="T87" fmla="*/ 535122860 h 720"/>
                <a:gd name="T88" fmla="*/ 537826832 w 654"/>
                <a:gd name="T89" fmla="*/ 564525324 h 720"/>
                <a:gd name="T90" fmla="*/ 514443272 w 654"/>
                <a:gd name="T91" fmla="*/ 599807291 h 720"/>
                <a:gd name="T92" fmla="*/ 514443272 w 654"/>
                <a:gd name="T93" fmla="*/ 623329262 h 720"/>
                <a:gd name="T94" fmla="*/ 502750997 w 654"/>
                <a:gd name="T95" fmla="*/ 646851233 h 720"/>
                <a:gd name="T96" fmla="*/ 473520806 w 654"/>
                <a:gd name="T97" fmla="*/ 664492711 h 720"/>
                <a:gd name="T98" fmla="*/ 432599328 w 654"/>
                <a:gd name="T99" fmla="*/ 676253696 h 720"/>
                <a:gd name="T100" fmla="*/ 374139933 w 654"/>
                <a:gd name="T101" fmla="*/ 646851233 h 720"/>
                <a:gd name="T102" fmla="*/ 333218455 w 654"/>
                <a:gd name="T103" fmla="*/ 652731725 h 720"/>
                <a:gd name="T104" fmla="*/ 292296977 w 654"/>
                <a:gd name="T105" fmla="*/ 629209754 h 720"/>
                <a:gd name="T106" fmla="*/ 251375499 w 654"/>
                <a:gd name="T107" fmla="*/ 652731725 h 720"/>
                <a:gd name="T108" fmla="*/ 216299664 w 654"/>
                <a:gd name="T109" fmla="*/ 682134189 h 720"/>
                <a:gd name="T110" fmla="*/ 175378186 w 654"/>
                <a:gd name="T111" fmla="*/ 688014682 h 720"/>
                <a:gd name="T112" fmla="*/ 134456708 w 654"/>
                <a:gd name="T113" fmla="*/ 705656160 h 720"/>
                <a:gd name="T114" fmla="*/ 87689587 w 654"/>
                <a:gd name="T115" fmla="*/ 705656160 h 720"/>
                <a:gd name="T116" fmla="*/ 40921478 w 654"/>
                <a:gd name="T117" fmla="*/ 693895175 h 720"/>
                <a:gd name="T118" fmla="*/ 5845643 w 654"/>
                <a:gd name="T119" fmla="*/ 670373204 h 72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54"/>
                <a:gd name="T181" fmla="*/ 0 h 720"/>
                <a:gd name="T182" fmla="*/ 654 w 654"/>
                <a:gd name="T183" fmla="*/ 720 h 72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54" h="720">
                  <a:moveTo>
                    <a:pt x="0" y="666"/>
                  </a:moveTo>
                  <a:lnTo>
                    <a:pt x="0" y="660"/>
                  </a:lnTo>
                  <a:lnTo>
                    <a:pt x="0" y="654"/>
                  </a:lnTo>
                  <a:lnTo>
                    <a:pt x="0" y="648"/>
                  </a:lnTo>
                  <a:lnTo>
                    <a:pt x="6" y="648"/>
                  </a:lnTo>
                  <a:lnTo>
                    <a:pt x="6" y="642"/>
                  </a:lnTo>
                  <a:lnTo>
                    <a:pt x="12" y="642"/>
                  </a:lnTo>
                  <a:lnTo>
                    <a:pt x="12" y="636"/>
                  </a:lnTo>
                  <a:lnTo>
                    <a:pt x="18" y="636"/>
                  </a:lnTo>
                  <a:lnTo>
                    <a:pt x="18" y="630"/>
                  </a:lnTo>
                  <a:lnTo>
                    <a:pt x="30" y="630"/>
                  </a:lnTo>
                  <a:lnTo>
                    <a:pt x="36" y="630"/>
                  </a:lnTo>
                  <a:lnTo>
                    <a:pt x="36" y="624"/>
                  </a:lnTo>
                  <a:lnTo>
                    <a:pt x="30" y="618"/>
                  </a:lnTo>
                  <a:lnTo>
                    <a:pt x="24" y="612"/>
                  </a:lnTo>
                  <a:lnTo>
                    <a:pt x="18" y="606"/>
                  </a:lnTo>
                  <a:lnTo>
                    <a:pt x="18" y="600"/>
                  </a:lnTo>
                  <a:lnTo>
                    <a:pt x="18" y="594"/>
                  </a:lnTo>
                  <a:lnTo>
                    <a:pt x="18" y="588"/>
                  </a:lnTo>
                  <a:lnTo>
                    <a:pt x="24" y="588"/>
                  </a:lnTo>
                  <a:lnTo>
                    <a:pt x="30" y="588"/>
                  </a:lnTo>
                  <a:lnTo>
                    <a:pt x="30" y="582"/>
                  </a:lnTo>
                  <a:lnTo>
                    <a:pt x="30" y="576"/>
                  </a:lnTo>
                  <a:lnTo>
                    <a:pt x="24" y="576"/>
                  </a:lnTo>
                  <a:lnTo>
                    <a:pt x="24" y="570"/>
                  </a:lnTo>
                  <a:lnTo>
                    <a:pt x="30" y="564"/>
                  </a:lnTo>
                  <a:lnTo>
                    <a:pt x="30" y="558"/>
                  </a:lnTo>
                  <a:lnTo>
                    <a:pt x="30" y="564"/>
                  </a:lnTo>
                  <a:lnTo>
                    <a:pt x="36" y="558"/>
                  </a:lnTo>
                  <a:lnTo>
                    <a:pt x="36" y="552"/>
                  </a:lnTo>
                  <a:lnTo>
                    <a:pt x="36" y="558"/>
                  </a:lnTo>
                  <a:lnTo>
                    <a:pt x="42" y="558"/>
                  </a:lnTo>
                  <a:lnTo>
                    <a:pt x="48" y="558"/>
                  </a:lnTo>
                  <a:lnTo>
                    <a:pt x="54" y="552"/>
                  </a:lnTo>
                  <a:lnTo>
                    <a:pt x="54" y="558"/>
                  </a:lnTo>
                  <a:lnTo>
                    <a:pt x="60" y="558"/>
                  </a:lnTo>
                  <a:lnTo>
                    <a:pt x="60" y="564"/>
                  </a:lnTo>
                  <a:lnTo>
                    <a:pt x="66" y="564"/>
                  </a:lnTo>
                  <a:lnTo>
                    <a:pt x="72" y="564"/>
                  </a:lnTo>
                  <a:lnTo>
                    <a:pt x="72" y="558"/>
                  </a:lnTo>
                  <a:lnTo>
                    <a:pt x="78" y="558"/>
                  </a:lnTo>
                  <a:lnTo>
                    <a:pt x="84" y="558"/>
                  </a:lnTo>
                  <a:lnTo>
                    <a:pt x="84" y="552"/>
                  </a:lnTo>
                  <a:lnTo>
                    <a:pt x="90" y="552"/>
                  </a:lnTo>
                  <a:lnTo>
                    <a:pt x="96" y="546"/>
                  </a:lnTo>
                  <a:lnTo>
                    <a:pt x="102" y="546"/>
                  </a:lnTo>
                  <a:lnTo>
                    <a:pt x="108" y="546"/>
                  </a:lnTo>
                  <a:lnTo>
                    <a:pt x="114" y="546"/>
                  </a:lnTo>
                  <a:lnTo>
                    <a:pt x="114" y="552"/>
                  </a:lnTo>
                  <a:lnTo>
                    <a:pt x="120" y="552"/>
                  </a:lnTo>
                  <a:lnTo>
                    <a:pt x="126" y="552"/>
                  </a:lnTo>
                  <a:lnTo>
                    <a:pt x="132" y="552"/>
                  </a:lnTo>
                  <a:lnTo>
                    <a:pt x="132" y="546"/>
                  </a:lnTo>
                  <a:lnTo>
                    <a:pt x="138" y="546"/>
                  </a:lnTo>
                  <a:lnTo>
                    <a:pt x="138" y="540"/>
                  </a:lnTo>
                  <a:lnTo>
                    <a:pt x="144" y="540"/>
                  </a:lnTo>
                  <a:lnTo>
                    <a:pt x="144" y="534"/>
                  </a:lnTo>
                  <a:lnTo>
                    <a:pt x="150" y="534"/>
                  </a:lnTo>
                  <a:lnTo>
                    <a:pt x="150" y="528"/>
                  </a:lnTo>
                  <a:lnTo>
                    <a:pt x="156" y="528"/>
                  </a:lnTo>
                  <a:lnTo>
                    <a:pt x="162" y="528"/>
                  </a:lnTo>
                  <a:lnTo>
                    <a:pt x="168" y="528"/>
                  </a:lnTo>
                  <a:lnTo>
                    <a:pt x="168" y="522"/>
                  </a:lnTo>
                  <a:lnTo>
                    <a:pt x="174" y="522"/>
                  </a:lnTo>
                  <a:lnTo>
                    <a:pt x="174" y="516"/>
                  </a:lnTo>
                  <a:lnTo>
                    <a:pt x="180" y="516"/>
                  </a:lnTo>
                  <a:lnTo>
                    <a:pt x="180" y="510"/>
                  </a:lnTo>
                  <a:lnTo>
                    <a:pt x="186" y="510"/>
                  </a:lnTo>
                  <a:lnTo>
                    <a:pt x="186" y="504"/>
                  </a:lnTo>
                  <a:lnTo>
                    <a:pt x="192" y="504"/>
                  </a:lnTo>
                  <a:lnTo>
                    <a:pt x="192" y="498"/>
                  </a:lnTo>
                  <a:lnTo>
                    <a:pt x="198" y="498"/>
                  </a:lnTo>
                  <a:lnTo>
                    <a:pt x="198" y="492"/>
                  </a:lnTo>
                  <a:lnTo>
                    <a:pt x="198" y="498"/>
                  </a:lnTo>
                  <a:lnTo>
                    <a:pt x="204" y="498"/>
                  </a:lnTo>
                  <a:lnTo>
                    <a:pt x="204" y="504"/>
                  </a:lnTo>
                  <a:lnTo>
                    <a:pt x="210" y="498"/>
                  </a:lnTo>
                  <a:lnTo>
                    <a:pt x="210" y="504"/>
                  </a:lnTo>
                  <a:lnTo>
                    <a:pt x="210" y="498"/>
                  </a:lnTo>
                  <a:lnTo>
                    <a:pt x="216" y="498"/>
                  </a:lnTo>
                  <a:lnTo>
                    <a:pt x="216" y="492"/>
                  </a:lnTo>
                  <a:lnTo>
                    <a:pt x="222" y="492"/>
                  </a:lnTo>
                  <a:lnTo>
                    <a:pt x="228" y="492"/>
                  </a:lnTo>
                  <a:lnTo>
                    <a:pt x="234" y="492"/>
                  </a:lnTo>
                  <a:lnTo>
                    <a:pt x="240" y="486"/>
                  </a:lnTo>
                  <a:lnTo>
                    <a:pt x="240" y="492"/>
                  </a:lnTo>
                  <a:lnTo>
                    <a:pt x="240" y="486"/>
                  </a:lnTo>
                  <a:lnTo>
                    <a:pt x="246" y="486"/>
                  </a:lnTo>
                  <a:lnTo>
                    <a:pt x="246" y="480"/>
                  </a:lnTo>
                  <a:lnTo>
                    <a:pt x="252" y="480"/>
                  </a:lnTo>
                  <a:lnTo>
                    <a:pt x="258" y="480"/>
                  </a:lnTo>
                  <a:lnTo>
                    <a:pt x="264" y="480"/>
                  </a:lnTo>
                  <a:lnTo>
                    <a:pt x="264" y="486"/>
                  </a:lnTo>
                  <a:lnTo>
                    <a:pt x="270" y="480"/>
                  </a:lnTo>
                  <a:lnTo>
                    <a:pt x="270" y="474"/>
                  </a:lnTo>
                  <a:lnTo>
                    <a:pt x="276" y="474"/>
                  </a:lnTo>
                  <a:lnTo>
                    <a:pt x="276" y="468"/>
                  </a:lnTo>
                  <a:lnTo>
                    <a:pt x="282" y="468"/>
                  </a:lnTo>
                  <a:lnTo>
                    <a:pt x="288" y="468"/>
                  </a:lnTo>
                  <a:lnTo>
                    <a:pt x="288" y="462"/>
                  </a:lnTo>
                  <a:lnTo>
                    <a:pt x="294" y="462"/>
                  </a:lnTo>
                  <a:lnTo>
                    <a:pt x="294" y="456"/>
                  </a:lnTo>
                  <a:lnTo>
                    <a:pt x="294" y="450"/>
                  </a:lnTo>
                  <a:lnTo>
                    <a:pt x="294" y="444"/>
                  </a:lnTo>
                  <a:lnTo>
                    <a:pt x="300" y="444"/>
                  </a:lnTo>
                  <a:lnTo>
                    <a:pt x="300" y="438"/>
                  </a:lnTo>
                  <a:lnTo>
                    <a:pt x="294" y="432"/>
                  </a:lnTo>
                  <a:lnTo>
                    <a:pt x="294" y="438"/>
                  </a:lnTo>
                  <a:lnTo>
                    <a:pt x="288" y="438"/>
                  </a:lnTo>
                  <a:lnTo>
                    <a:pt x="288" y="432"/>
                  </a:lnTo>
                  <a:lnTo>
                    <a:pt x="294" y="432"/>
                  </a:lnTo>
                  <a:lnTo>
                    <a:pt x="294" y="426"/>
                  </a:lnTo>
                  <a:lnTo>
                    <a:pt x="288" y="426"/>
                  </a:lnTo>
                  <a:lnTo>
                    <a:pt x="288" y="420"/>
                  </a:lnTo>
                  <a:lnTo>
                    <a:pt x="282" y="426"/>
                  </a:lnTo>
                  <a:lnTo>
                    <a:pt x="282" y="420"/>
                  </a:lnTo>
                  <a:lnTo>
                    <a:pt x="282" y="414"/>
                  </a:lnTo>
                  <a:lnTo>
                    <a:pt x="276" y="414"/>
                  </a:lnTo>
                  <a:lnTo>
                    <a:pt x="276" y="408"/>
                  </a:lnTo>
                  <a:lnTo>
                    <a:pt x="276" y="402"/>
                  </a:lnTo>
                  <a:lnTo>
                    <a:pt x="276" y="396"/>
                  </a:lnTo>
                  <a:lnTo>
                    <a:pt x="276" y="390"/>
                  </a:lnTo>
                  <a:lnTo>
                    <a:pt x="282" y="390"/>
                  </a:lnTo>
                  <a:lnTo>
                    <a:pt x="282" y="384"/>
                  </a:lnTo>
                  <a:lnTo>
                    <a:pt x="288" y="384"/>
                  </a:lnTo>
                  <a:lnTo>
                    <a:pt x="294" y="384"/>
                  </a:lnTo>
                  <a:lnTo>
                    <a:pt x="300" y="384"/>
                  </a:lnTo>
                  <a:lnTo>
                    <a:pt x="300" y="378"/>
                  </a:lnTo>
                  <a:lnTo>
                    <a:pt x="306" y="378"/>
                  </a:lnTo>
                  <a:lnTo>
                    <a:pt x="306" y="372"/>
                  </a:lnTo>
                  <a:lnTo>
                    <a:pt x="312" y="372"/>
                  </a:lnTo>
                  <a:lnTo>
                    <a:pt x="318" y="372"/>
                  </a:lnTo>
                  <a:lnTo>
                    <a:pt x="318" y="366"/>
                  </a:lnTo>
                  <a:lnTo>
                    <a:pt x="324" y="366"/>
                  </a:lnTo>
                  <a:lnTo>
                    <a:pt x="330" y="366"/>
                  </a:lnTo>
                  <a:lnTo>
                    <a:pt x="330" y="360"/>
                  </a:lnTo>
                  <a:lnTo>
                    <a:pt x="330" y="354"/>
                  </a:lnTo>
                  <a:lnTo>
                    <a:pt x="336" y="354"/>
                  </a:lnTo>
                  <a:lnTo>
                    <a:pt x="336" y="348"/>
                  </a:lnTo>
                  <a:lnTo>
                    <a:pt x="342" y="348"/>
                  </a:lnTo>
                  <a:lnTo>
                    <a:pt x="342" y="342"/>
                  </a:lnTo>
                  <a:lnTo>
                    <a:pt x="348" y="342"/>
                  </a:lnTo>
                  <a:lnTo>
                    <a:pt x="354" y="342"/>
                  </a:lnTo>
                  <a:lnTo>
                    <a:pt x="354" y="336"/>
                  </a:lnTo>
                  <a:lnTo>
                    <a:pt x="354" y="330"/>
                  </a:lnTo>
                  <a:lnTo>
                    <a:pt x="360" y="330"/>
                  </a:lnTo>
                  <a:lnTo>
                    <a:pt x="366" y="330"/>
                  </a:lnTo>
                  <a:lnTo>
                    <a:pt x="372" y="330"/>
                  </a:lnTo>
                  <a:lnTo>
                    <a:pt x="372" y="324"/>
                  </a:lnTo>
                  <a:lnTo>
                    <a:pt x="378" y="324"/>
                  </a:lnTo>
                  <a:lnTo>
                    <a:pt x="384" y="324"/>
                  </a:lnTo>
                  <a:lnTo>
                    <a:pt x="390" y="324"/>
                  </a:lnTo>
                  <a:lnTo>
                    <a:pt x="396" y="324"/>
                  </a:lnTo>
                  <a:lnTo>
                    <a:pt x="396" y="330"/>
                  </a:lnTo>
                  <a:lnTo>
                    <a:pt x="396" y="324"/>
                  </a:lnTo>
                  <a:lnTo>
                    <a:pt x="402" y="324"/>
                  </a:lnTo>
                  <a:lnTo>
                    <a:pt x="408" y="324"/>
                  </a:lnTo>
                  <a:lnTo>
                    <a:pt x="408" y="318"/>
                  </a:lnTo>
                  <a:lnTo>
                    <a:pt x="408" y="312"/>
                  </a:lnTo>
                  <a:lnTo>
                    <a:pt x="414" y="312"/>
                  </a:lnTo>
                  <a:lnTo>
                    <a:pt x="414" y="306"/>
                  </a:lnTo>
                  <a:lnTo>
                    <a:pt x="414" y="312"/>
                  </a:lnTo>
                  <a:lnTo>
                    <a:pt x="414" y="306"/>
                  </a:lnTo>
                  <a:lnTo>
                    <a:pt x="414" y="300"/>
                  </a:lnTo>
                  <a:lnTo>
                    <a:pt x="414" y="294"/>
                  </a:lnTo>
                  <a:lnTo>
                    <a:pt x="414" y="288"/>
                  </a:lnTo>
                  <a:lnTo>
                    <a:pt x="414" y="282"/>
                  </a:lnTo>
                  <a:lnTo>
                    <a:pt x="408" y="282"/>
                  </a:lnTo>
                  <a:lnTo>
                    <a:pt x="408" y="276"/>
                  </a:lnTo>
                  <a:lnTo>
                    <a:pt x="402" y="276"/>
                  </a:lnTo>
                  <a:lnTo>
                    <a:pt x="402" y="270"/>
                  </a:lnTo>
                  <a:lnTo>
                    <a:pt x="396" y="270"/>
                  </a:lnTo>
                  <a:lnTo>
                    <a:pt x="396" y="264"/>
                  </a:lnTo>
                  <a:lnTo>
                    <a:pt x="396" y="258"/>
                  </a:lnTo>
                  <a:lnTo>
                    <a:pt x="390" y="258"/>
                  </a:lnTo>
                  <a:lnTo>
                    <a:pt x="390" y="252"/>
                  </a:lnTo>
                  <a:lnTo>
                    <a:pt x="390" y="258"/>
                  </a:lnTo>
                  <a:lnTo>
                    <a:pt x="372" y="258"/>
                  </a:lnTo>
                  <a:lnTo>
                    <a:pt x="372" y="252"/>
                  </a:lnTo>
                  <a:lnTo>
                    <a:pt x="372" y="246"/>
                  </a:lnTo>
                  <a:lnTo>
                    <a:pt x="366" y="246"/>
                  </a:lnTo>
                  <a:lnTo>
                    <a:pt x="366" y="240"/>
                  </a:lnTo>
                  <a:lnTo>
                    <a:pt x="372" y="240"/>
                  </a:lnTo>
                  <a:lnTo>
                    <a:pt x="366" y="234"/>
                  </a:lnTo>
                  <a:lnTo>
                    <a:pt x="372" y="234"/>
                  </a:lnTo>
                  <a:lnTo>
                    <a:pt x="366" y="234"/>
                  </a:lnTo>
                  <a:lnTo>
                    <a:pt x="366" y="228"/>
                  </a:lnTo>
                  <a:lnTo>
                    <a:pt x="366" y="222"/>
                  </a:lnTo>
                  <a:lnTo>
                    <a:pt x="366" y="216"/>
                  </a:lnTo>
                  <a:lnTo>
                    <a:pt x="372" y="210"/>
                  </a:lnTo>
                  <a:lnTo>
                    <a:pt x="366" y="210"/>
                  </a:lnTo>
                  <a:lnTo>
                    <a:pt x="366" y="204"/>
                  </a:lnTo>
                  <a:lnTo>
                    <a:pt x="366" y="198"/>
                  </a:lnTo>
                  <a:lnTo>
                    <a:pt x="360" y="198"/>
                  </a:lnTo>
                  <a:lnTo>
                    <a:pt x="366" y="198"/>
                  </a:lnTo>
                  <a:lnTo>
                    <a:pt x="360" y="192"/>
                  </a:lnTo>
                  <a:lnTo>
                    <a:pt x="366" y="192"/>
                  </a:lnTo>
                  <a:lnTo>
                    <a:pt x="366" y="186"/>
                  </a:lnTo>
                  <a:lnTo>
                    <a:pt x="360" y="186"/>
                  </a:lnTo>
                  <a:lnTo>
                    <a:pt x="360" y="180"/>
                  </a:lnTo>
                  <a:lnTo>
                    <a:pt x="360" y="174"/>
                  </a:lnTo>
                  <a:lnTo>
                    <a:pt x="360" y="168"/>
                  </a:lnTo>
                  <a:lnTo>
                    <a:pt x="366" y="174"/>
                  </a:lnTo>
                  <a:lnTo>
                    <a:pt x="366" y="168"/>
                  </a:lnTo>
                  <a:lnTo>
                    <a:pt x="360" y="168"/>
                  </a:lnTo>
                  <a:lnTo>
                    <a:pt x="360" y="162"/>
                  </a:lnTo>
                  <a:lnTo>
                    <a:pt x="360" y="156"/>
                  </a:lnTo>
                  <a:lnTo>
                    <a:pt x="354" y="156"/>
                  </a:lnTo>
                  <a:lnTo>
                    <a:pt x="348" y="156"/>
                  </a:lnTo>
                  <a:lnTo>
                    <a:pt x="348" y="150"/>
                  </a:lnTo>
                  <a:lnTo>
                    <a:pt x="354" y="150"/>
                  </a:lnTo>
                  <a:lnTo>
                    <a:pt x="354" y="144"/>
                  </a:lnTo>
                  <a:lnTo>
                    <a:pt x="354" y="138"/>
                  </a:lnTo>
                  <a:lnTo>
                    <a:pt x="354" y="132"/>
                  </a:lnTo>
                  <a:lnTo>
                    <a:pt x="360" y="126"/>
                  </a:lnTo>
                  <a:lnTo>
                    <a:pt x="366" y="126"/>
                  </a:lnTo>
                  <a:lnTo>
                    <a:pt x="366" y="120"/>
                  </a:lnTo>
                  <a:lnTo>
                    <a:pt x="378" y="132"/>
                  </a:lnTo>
                  <a:lnTo>
                    <a:pt x="384" y="132"/>
                  </a:lnTo>
                  <a:lnTo>
                    <a:pt x="390" y="138"/>
                  </a:lnTo>
                  <a:lnTo>
                    <a:pt x="396" y="138"/>
                  </a:lnTo>
                  <a:lnTo>
                    <a:pt x="408" y="144"/>
                  </a:lnTo>
                  <a:lnTo>
                    <a:pt x="420" y="132"/>
                  </a:lnTo>
                  <a:lnTo>
                    <a:pt x="426" y="126"/>
                  </a:lnTo>
                  <a:lnTo>
                    <a:pt x="432" y="126"/>
                  </a:lnTo>
                  <a:lnTo>
                    <a:pt x="432" y="132"/>
                  </a:lnTo>
                  <a:lnTo>
                    <a:pt x="438" y="132"/>
                  </a:lnTo>
                  <a:lnTo>
                    <a:pt x="438" y="126"/>
                  </a:lnTo>
                  <a:lnTo>
                    <a:pt x="438" y="120"/>
                  </a:lnTo>
                  <a:lnTo>
                    <a:pt x="444" y="120"/>
                  </a:lnTo>
                  <a:lnTo>
                    <a:pt x="444" y="114"/>
                  </a:lnTo>
                  <a:lnTo>
                    <a:pt x="444" y="108"/>
                  </a:lnTo>
                  <a:lnTo>
                    <a:pt x="450" y="102"/>
                  </a:lnTo>
                  <a:lnTo>
                    <a:pt x="450" y="96"/>
                  </a:lnTo>
                  <a:lnTo>
                    <a:pt x="444" y="90"/>
                  </a:lnTo>
                  <a:lnTo>
                    <a:pt x="444" y="96"/>
                  </a:lnTo>
                  <a:lnTo>
                    <a:pt x="438" y="96"/>
                  </a:lnTo>
                  <a:lnTo>
                    <a:pt x="432" y="96"/>
                  </a:lnTo>
                  <a:lnTo>
                    <a:pt x="432" y="90"/>
                  </a:lnTo>
                  <a:lnTo>
                    <a:pt x="432" y="78"/>
                  </a:lnTo>
                  <a:lnTo>
                    <a:pt x="432" y="72"/>
                  </a:lnTo>
                  <a:lnTo>
                    <a:pt x="426" y="66"/>
                  </a:lnTo>
                  <a:lnTo>
                    <a:pt x="426" y="54"/>
                  </a:lnTo>
                  <a:lnTo>
                    <a:pt x="426" y="48"/>
                  </a:lnTo>
                  <a:lnTo>
                    <a:pt x="432" y="48"/>
                  </a:lnTo>
                  <a:lnTo>
                    <a:pt x="438" y="42"/>
                  </a:lnTo>
                  <a:lnTo>
                    <a:pt x="438" y="36"/>
                  </a:lnTo>
                  <a:lnTo>
                    <a:pt x="438" y="24"/>
                  </a:lnTo>
                  <a:lnTo>
                    <a:pt x="444" y="24"/>
                  </a:lnTo>
                  <a:lnTo>
                    <a:pt x="444" y="18"/>
                  </a:lnTo>
                  <a:lnTo>
                    <a:pt x="444" y="12"/>
                  </a:lnTo>
                  <a:lnTo>
                    <a:pt x="438" y="12"/>
                  </a:lnTo>
                  <a:lnTo>
                    <a:pt x="432" y="12"/>
                  </a:lnTo>
                  <a:lnTo>
                    <a:pt x="438" y="12"/>
                  </a:lnTo>
                  <a:lnTo>
                    <a:pt x="438" y="6"/>
                  </a:lnTo>
                  <a:lnTo>
                    <a:pt x="444" y="6"/>
                  </a:lnTo>
                  <a:lnTo>
                    <a:pt x="450" y="0"/>
                  </a:lnTo>
                  <a:lnTo>
                    <a:pt x="462" y="0"/>
                  </a:lnTo>
                  <a:lnTo>
                    <a:pt x="474" y="0"/>
                  </a:lnTo>
                  <a:lnTo>
                    <a:pt x="480" y="0"/>
                  </a:lnTo>
                  <a:lnTo>
                    <a:pt x="480" y="12"/>
                  </a:lnTo>
                  <a:lnTo>
                    <a:pt x="486" y="12"/>
                  </a:lnTo>
                  <a:lnTo>
                    <a:pt x="486" y="18"/>
                  </a:lnTo>
                  <a:lnTo>
                    <a:pt x="492" y="24"/>
                  </a:lnTo>
                  <a:lnTo>
                    <a:pt x="516" y="18"/>
                  </a:lnTo>
                  <a:lnTo>
                    <a:pt x="516" y="24"/>
                  </a:lnTo>
                  <a:lnTo>
                    <a:pt x="522" y="24"/>
                  </a:lnTo>
                  <a:lnTo>
                    <a:pt x="516" y="36"/>
                  </a:lnTo>
                  <a:lnTo>
                    <a:pt x="516" y="54"/>
                  </a:lnTo>
                  <a:lnTo>
                    <a:pt x="522" y="60"/>
                  </a:lnTo>
                  <a:lnTo>
                    <a:pt x="516" y="60"/>
                  </a:lnTo>
                  <a:lnTo>
                    <a:pt x="522" y="66"/>
                  </a:lnTo>
                  <a:lnTo>
                    <a:pt x="516" y="72"/>
                  </a:lnTo>
                  <a:lnTo>
                    <a:pt x="522" y="78"/>
                  </a:lnTo>
                  <a:lnTo>
                    <a:pt x="528" y="66"/>
                  </a:lnTo>
                  <a:lnTo>
                    <a:pt x="534" y="66"/>
                  </a:lnTo>
                  <a:lnTo>
                    <a:pt x="534" y="72"/>
                  </a:lnTo>
                  <a:lnTo>
                    <a:pt x="528" y="78"/>
                  </a:lnTo>
                  <a:lnTo>
                    <a:pt x="528" y="84"/>
                  </a:lnTo>
                  <a:lnTo>
                    <a:pt x="540" y="90"/>
                  </a:lnTo>
                  <a:lnTo>
                    <a:pt x="534" y="96"/>
                  </a:lnTo>
                  <a:lnTo>
                    <a:pt x="534" y="108"/>
                  </a:lnTo>
                  <a:lnTo>
                    <a:pt x="540" y="114"/>
                  </a:lnTo>
                  <a:lnTo>
                    <a:pt x="540" y="126"/>
                  </a:lnTo>
                  <a:lnTo>
                    <a:pt x="546" y="126"/>
                  </a:lnTo>
                  <a:lnTo>
                    <a:pt x="546" y="132"/>
                  </a:lnTo>
                  <a:lnTo>
                    <a:pt x="546" y="138"/>
                  </a:lnTo>
                  <a:lnTo>
                    <a:pt x="546" y="144"/>
                  </a:lnTo>
                  <a:lnTo>
                    <a:pt x="552" y="144"/>
                  </a:lnTo>
                  <a:lnTo>
                    <a:pt x="552" y="150"/>
                  </a:lnTo>
                  <a:lnTo>
                    <a:pt x="552" y="156"/>
                  </a:lnTo>
                  <a:lnTo>
                    <a:pt x="558" y="156"/>
                  </a:lnTo>
                  <a:lnTo>
                    <a:pt x="558" y="162"/>
                  </a:lnTo>
                  <a:lnTo>
                    <a:pt x="564" y="162"/>
                  </a:lnTo>
                  <a:lnTo>
                    <a:pt x="570" y="162"/>
                  </a:lnTo>
                  <a:lnTo>
                    <a:pt x="570" y="168"/>
                  </a:lnTo>
                  <a:lnTo>
                    <a:pt x="576" y="174"/>
                  </a:lnTo>
                  <a:lnTo>
                    <a:pt x="582" y="180"/>
                  </a:lnTo>
                  <a:lnTo>
                    <a:pt x="582" y="186"/>
                  </a:lnTo>
                  <a:lnTo>
                    <a:pt x="576" y="186"/>
                  </a:lnTo>
                  <a:lnTo>
                    <a:pt x="570" y="186"/>
                  </a:lnTo>
                  <a:lnTo>
                    <a:pt x="564" y="186"/>
                  </a:lnTo>
                  <a:lnTo>
                    <a:pt x="564" y="192"/>
                  </a:lnTo>
                  <a:lnTo>
                    <a:pt x="558" y="192"/>
                  </a:lnTo>
                  <a:lnTo>
                    <a:pt x="564" y="192"/>
                  </a:lnTo>
                  <a:lnTo>
                    <a:pt x="564" y="198"/>
                  </a:lnTo>
                  <a:lnTo>
                    <a:pt x="564" y="204"/>
                  </a:lnTo>
                  <a:lnTo>
                    <a:pt x="564" y="210"/>
                  </a:lnTo>
                  <a:lnTo>
                    <a:pt x="570" y="210"/>
                  </a:lnTo>
                  <a:lnTo>
                    <a:pt x="576" y="210"/>
                  </a:lnTo>
                  <a:lnTo>
                    <a:pt x="576" y="216"/>
                  </a:lnTo>
                  <a:lnTo>
                    <a:pt x="582" y="216"/>
                  </a:lnTo>
                  <a:lnTo>
                    <a:pt x="582" y="210"/>
                  </a:lnTo>
                  <a:lnTo>
                    <a:pt x="588" y="210"/>
                  </a:lnTo>
                  <a:lnTo>
                    <a:pt x="588" y="204"/>
                  </a:lnTo>
                  <a:lnTo>
                    <a:pt x="594" y="204"/>
                  </a:lnTo>
                  <a:lnTo>
                    <a:pt x="600" y="204"/>
                  </a:lnTo>
                  <a:lnTo>
                    <a:pt x="600" y="198"/>
                  </a:lnTo>
                  <a:lnTo>
                    <a:pt x="600" y="204"/>
                  </a:lnTo>
                  <a:lnTo>
                    <a:pt x="606" y="198"/>
                  </a:lnTo>
                  <a:lnTo>
                    <a:pt x="606" y="204"/>
                  </a:lnTo>
                  <a:lnTo>
                    <a:pt x="612" y="204"/>
                  </a:lnTo>
                  <a:lnTo>
                    <a:pt x="612" y="198"/>
                  </a:lnTo>
                  <a:lnTo>
                    <a:pt x="618" y="204"/>
                  </a:lnTo>
                  <a:lnTo>
                    <a:pt x="618" y="210"/>
                  </a:lnTo>
                  <a:lnTo>
                    <a:pt x="618" y="216"/>
                  </a:lnTo>
                  <a:lnTo>
                    <a:pt x="618" y="222"/>
                  </a:lnTo>
                  <a:lnTo>
                    <a:pt x="618" y="228"/>
                  </a:lnTo>
                  <a:lnTo>
                    <a:pt x="618" y="234"/>
                  </a:lnTo>
                  <a:lnTo>
                    <a:pt x="618" y="240"/>
                  </a:lnTo>
                  <a:lnTo>
                    <a:pt x="624" y="240"/>
                  </a:lnTo>
                  <a:lnTo>
                    <a:pt x="624" y="246"/>
                  </a:lnTo>
                  <a:lnTo>
                    <a:pt x="630" y="240"/>
                  </a:lnTo>
                  <a:lnTo>
                    <a:pt x="630" y="246"/>
                  </a:lnTo>
                  <a:lnTo>
                    <a:pt x="630" y="240"/>
                  </a:lnTo>
                  <a:lnTo>
                    <a:pt x="636" y="240"/>
                  </a:lnTo>
                  <a:lnTo>
                    <a:pt x="636" y="234"/>
                  </a:lnTo>
                  <a:lnTo>
                    <a:pt x="642" y="234"/>
                  </a:lnTo>
                  <a:lnTo>
                    <a:pt x="648" y="240"/>
                  </a:lnTo>
                  <a:lnTo>
                    <a:pt x="648" y="246"/>
                  </a:lnTo>
                  <a:lnTo>
                    <a:pt x="648" y="252"/>
                  </a:lnTo>
                  <a:lnTo>
                    <a:pt x="648" y="258"/>
                  </a:lnTo>
                  <a:lnTo>
                    <a:pt x="648" y="264"/>
                  </a:lnTo>
                  <a:lnTo>
                    <a:pt x="648" y="270"/>
                  </a:lnTo>
                  <a:lnTo>
                    <a:pt x="648" y="276"/>
                  </a:lnTo>
                  <a:lnTo>
                    <a:pt x="648" y="282"/>
                  </a:lnTo>
                  <a:lnTo>
                    <a:pt x="648" y="288"/>
                  </a:lnTo>
                  <a:lnTo>
                    <a:pt x="642" y="288"/>
                  </a:lnTo>
                  <a:lnTo>
                    <a:pt x="642" y="294"/>
                  </a:lnTo>
                  <a:lnTo>
                    <a:pt x="636" y="294"/>
                  </a:lnTo>
                  <a:lnTo>
                    <a:pt x="636" y="300"/>
                  </a:lnTo>
                  <a:lnTo>
                    <a:pt x="636" y="306"/>
                  </a:lnTo>
                  <a:lnTo>
                    <a:pt x="636" y="300"/>
                  </a:lnTo>
                  <a:lnTo>
                    <a:pt x="642" y="300"/>
                  </a:lnTo>
                  <a:lnTo>
                    <a:pt x="648" y="300"/>
                  </a:lnTo>
                  <a:lnTo>
                    <a:pt x="642" y="300"/>
                  </a:lnTo>
                  <a:lnTo>
                    <a:pt x="642" y="306"/>
                  </a:lnTo>
                  <a:lnTo>
                    <a:pt x="648" y="306"/>
                  </a:lnTo>
                  <a:lnTo>
                    <a:pt x="642" y="312"/>
                  </a:lnTo>
                  <a:lnTo>
                    <a:pt x="648" y="312"/>
                  </a:lnTo>
                  <a:lnTo>
                    <a:pt x="648" y="318"/>
                  </a:lnTo>
                  <a:lnTo>
                    <a:pt x="648" y="324"/>
                  </a:lnTo>
                  <a:lnTo>
                    <a:pt x="654" y="324"/>
                  </a:lnTo>
                  <a:lnTo>
                    <a:pt x="654" y="330"/>
                  </a:lnTo>
                  <a:lnTo>
                    <a:pt x="648" y="330"/>
                  </a:lnTo>
                  <a:lnTo>
                    <a:pt x="648" y="336"/>
                  </a:lnTo>
                  <a:lnTo>
                    <a:pt x="642" y="336"/>
                  </a:lnTo>
                  <a:lnTo>
                    <a:pt x="642" y="330"/>
                  </a:lnTo>
                  <a:lnTo>
                    <a:pt x="636" y="330"/>
                  </a:lnTo>
                  <a:lnTo>
                    <a:pt x="636" y="336"/>
                  </a:lnTo>
                  <a:lnTo>
                    <a:pt x="636" y="342"/>
                  </a:lnTo>
                  <a:lnTo>
                    <a:pt x="636" y="348"/>
                  </a:lnTo>
                  <a:lnTo>
                    <a:pt x="636" y="354"/>
                  </a:lnTo>
                  <a:lnTo>
                    <a:pt x="630" y="360"/>
                  </a:lnTo>
                  <a:lnTo>
                    <a:pt x="636" y="360"/>
                  </a:lnTo>
                  <a:lnTo>
                    <a:pt x="636" y="366"/>
                  </a:lnTo>
                  <a:lnTo>
                    <a:pt x="642" y="366"/>
                  </a:lnTo>
                  <a:lnTo>
                    <a:pt x="642" y="372"/>
                  </a:lnTo>
                  <a:lnTo>
                    <a:pt x="648" y="378"/>
                  </a:lnTo>
                  <a:lnTo>
                    <a:pt x="642" y="378"/>
                  </a:lnTo>
                  <a:lnTo>
                    <a:pt x="648" y="384"/>
                  </a:lnTo>
                  <a:lnTo>
                    <a:pt x="648" y="390"/>
                  </a:lnTo>
                  <a:lnTo>
                    <a:pt x="648" y="396"/>
                  </a:lnTo>
                  <a:lnTo>
                    <a:pt x="648" y="402"/>
                  </a:lnTo>
                  <a:lnTo>
                    <a:pt x="654" y="402"/>
                  </a:lnTo>
                  <a:lnTo>
                    <a:pt x="654" y="408"/>
                  </a:lnTo>
                  <a:lnTo>
                    <a:pt x="648" y="408"/>
                  </a:lnTo>
                  <a:lnTo>
                    <a:pt x="642" y="408"/>
                  </a:lnTo>
                  <a:lnTo>
                    <a:pt x="636" y="408"/>
                  </a:lnTo>
                  <a:lnTo>
                    <a:pt x="636" y="414"/>
                  </a:lnTo>
                  <a:lnTo>
                    <a:pt x="630" y="414"/>
                  </a:lnTo>
                  <a:lnTo>
                    <a:pt x="624" y="414"/>
                  </a:lnTo>
                  <a:lnTo>
                    <a:pt x="618" y="414"/>
                  </a:lnTo>
                  <a:lnTo>
                    <a:pt x="618" y="420"/>
                  </a:lnTo>
                  <a:lnTo>
                    <a:pt x="612" y="420"/>
                  </a:lnTo>
                  <a:lnTo>
                    <a:pt x="606" y="420"/>
                  </a:lnTo>
                  <a:lnTo>
                    <a:pt x="600" y="420"/>
                  </a:lnTo>
                  <a:lnTo>
                    <a:pt x="594" y="420"/>
                  </a:lnTo>
                  <a:lnTo>
                    <a:pt x="594" y="426"/>
                  </a:lnTo>
                  <a:lnTo>
                    <a:pt x="588" y="426"/>
                  </a:lnTo>
                  <a:lnTo>
                    <a:pt x="588" y="432"/>
                  </a:lnTo>
                  <a:lnTo>
                    <a:pt x="582" y="432"/>
                  </a:lnTo>
                  <a:lnTo>
                    <a:pt x="582" y="438"/>
                  </a:lnTo>
                  <a:lnTo>
                    <a:pt x="576" y="438"/>
                  </a:lnTo>
                  <a:lnTo>
                    <a:pt x="576" y="444"/>
                  </a:lnTo>
                  <a:lnTo>
                    <a:pt x="576" y="450"/>
                  </a:lnTo>
                  <a:lnTo>
                    <a:pt x="570" y="450"/>
                  </a:lnTo>
                  <a:lnTo>
                    <a:pt x="564" y="456"/>
                  </a:lnTo>
                  <a:lnTo>
                    <a:pt x="558" y="456"/>
                  </a:lnTo>
                  <a:lnTo>
                    <a:pt x="558" y="462"/>
                  </a:lnTo>
                  <a:lnTo>
                    <a:pt x="558" y="468"/>
                  </a:lnTo>
                  <a:lnTo>
                    <a:pt x="558" y="474"/>
                  </a:lnTo>
                  <a:lnTo>
                    <a:pt x="564" y="474"/>
                  </a:lnTo>
                  <a:lnTo>
                    <a:pt x="570" y="474"/>
                  </a:lnTo>
                  <a:lnTo>
                    <a:pt x="570" y="468"/>
                  </a:lnTo>
                  <a:lnTo>
                    <a:pt x="576" y="468"/>
                  </a:lnTo>
                  <a:lnTo>
                    <a:pt x="582" y="468"/>
                  </a:lnTo>
                  <a:lnTo>
                    <a:pt x="582" y="474"/>
                  </a:lnTo>
                  <a:lnTo>
                    <a:pt x="588" y="474"/>
                  </a:lnTo>
                  <a:lnTo>
                    <a:pt x="588" y="480"/>
                  </a:lnTo>
                  <a:lnTo>
                    <a:pt x="588" y="486"/>
                  </a:lnTo>
                  <a:lnTo>
                    <a:pt x="588" y="492"/>
                  </a:lnTo>
                  <a:lnTo>
                    <a:pt x="588" y="498"/>
                  </a:lnTo>
                  <a:lnTo>
                    <a:pt x="594" y="498"/>
                  </a:lnTo>
                  <a:lnTo>
                    <a:pt x="594" y="504"/>
                  </a:lnTo>
                  <a:lnTo>
                    <a:pt x="594" y="510"/>
                  </a:lnTo>
                  <a:lnTo>
                    <a:pt x="588" y="510"/>
                  </a:lnTo>
                  <a:lnTo>
                    <a:pt x="588" y="516"/>
                  </a:lnTo>
                  <a:lnTo>
                    <a:pt x="588" y="522"/>
                  </a:lnTo>
                  <a:lnTo>
                    <a:pt x="582" y="522"/>
                  </a:lnTo>
                  <a:lnTo>
                    <a:pt x="582" y="528"/>
                  </a:lnTo>
                  <a:lnTo>
                    <a:pt x="582" y="522"/>
                  </a:lnTo>
                  <a:lnTo>
                    <a:pt x="582" y="528"/>
                  </a:lnTo>
                  <a:lnTo>
                    <a:pt x="576" y="528"/>
                  </a:lnTo>
                  <a:lnTo>
                    <a:pt x="576" y="534"/>
                  </a:lnTo>
                  <a:lnTo>
                    <a:pt x="570" y="534"/>
                  </a:lnTo>
                  <a:lnTo>
                    <a:pt x="570" y="540"/>
                  </a:lnTo>
                  <a:lnTo>
                    <a:pt x="564" y="540"/>
                  </a:lnTo>
                  <a:lnTo>
                    <a:pt x="564" y="546"/>
                  </a:lnTo>
                  <a:lnTo>
                    <a:pt x="558" y="546"/>
                  </a:lnTo>
                  <a:lnTo>
                    <a:pt x="558" y="552"/>
                  </a:lnTo>
                  <a:lnTo>
                    <a:pt x="558" y="558"/>
                  </a:lnTo>
                  <a:lnTo>
                    <a:pt x="558" y="564"/>
                  </a:lnTo>
                  <a:lnTo>
                    <a:pt x="552" y="564"/>
                  </a:lnTo>
                  <a:lnTo>
                    <a:pt x="552" y="570"/>
                  </a:lnTo>
                  <a:lnTo>
                    <a:pt x="546" y="570"/>
                  </a:lnTo>
                  <a:lnTo>
                    <a:pt x="552" y="570"/>
                  </a:lnTo>
                  <a:lnTo>
                    <a:pt x="546" y="570"/>
                  </a:lnTo>
                  <a:lnTo>
                    <a:pt x="546" y="576"/>
                  </a:lnTo>
                  <a:lnTo>
                    <a:pt x="552" y="576"/>
                  </a:lnTo>
                  <a:lnTo>
                    <a:pt x="546" y="576"/>
                  </a:lnTo>
                  <a:lnTo>
                    <a:pt x="546" y="582"/>
                  </a:lnTo>
                  <a:lnTo>
                    <a:pt x="546" y="588"/>
                  </a:lnTo>
                  <a:lnTo>
                    <a:pt x="540" y="588"/>
                  </a:lnTo>
                  <a:lnTo>
                    <a:pt x="540" y="594"/>
                  </a:lnTo>
                  <a:lnTo>
                    <a:pt x="534" y="594"/>
                  </a:lnTo>
                  <a:lnTo>
                    <a:pt x="534" y="600"/>
                  </a:lnTo>
                  <a:lnTo>
                    <a:pt x="534" y="606"/>
                  </a:lnTo>
                  <a:lnTo>
                    <a:pt x="534" y="612"/>
                  </a:lnTo>
                  <a:lnTo>
                    <a:pt x="528" y="612"/>
                  </a:lnTo>
                  <a:lnTo>
                    <a:pt x="528" y="618"/>
                  </a:lnTo>
                  <a:lnTo>
                    <a:pt x="522" y="618"/>
                  </a:lnTo>
                  <a:lnTo>
                    <a:pt x="528" y="618"/>
                  </a:lnTo>
                  <a:lnTo>
                    <a:pt x="522" y="618"/>
                  </a:lnTo>
                  <a:lnTo>
                    <a:pt x="522" y="624"/>
                  </a:lnTo>
                  <a:lnTo>
                    <a:pt x="522" y="630"/>
                  </a:lnTo>
                  <a:lnTo>
                    <a:pt x="516" y="630"/>
                  </a:lnTo>
                  <a:lnTo>
                    <a:pt x="516" y="636"/>
                  </a:lnTo>
                  <a:lnTo>
                    <a:pt x="522" y="636"/>
                  </a:lnTo>
                  <a:lnTo>
                    <a:pt x="528" y="636"/>
                  </a:lnTo>
                  <a:lnTo>
                    <a:pt x="528" y="642"/>
                  </a:lnTo>
                  <a:lnTo>
                    <a:pt x="528" y="648"/>
                  </a:lnTo>
                  <a:lnTo>
                    <a:pt x="528" y="654"/>
                  </a:lnTo>
                  <a:lnTo>
                    <a:pt x="522" y="654"/>
                  </a:lnTo>
                  <a:lnTo>
                    <a:pt x="528" y="654"/>
                  </a:lnTo>
                  <a:lnTo>
                    <a:pt x="522" y="654"/>
                  </a:lnTo>
                  <a:lnTo>
                    <a:pt x="522" y="660"/>
                  </a:lnTo>
                  <a:lnTo>
                    <a:pt x="516" y="660"/>
                  </a:lnTo>
                  <a:lnTo>
                    <a:pt x="516" y="666"/>
                  </a:lnTo>
                  <a:lnTo>
                    <a:pt x="516" y="660"/>
                  </a:lnTo>
                  <a:lnTo>
                    <a:pt x="516" y="666"/>
                  </a:lnTo>
                  <a:lnTo>
                    <a:pt x="510" y="666"/>
                  </a:lnTo>
                  <a:lnTo>
                    <a:pt x="504" y="666"/>
                  </a:lnTo>
                  <a:lnTo>
                    <a:pt x="498" y="666"/>
                  </a:lnTo>
                  <a:lnTo>
                    <a:pt x="492" y="666"/>
                  </a:lnTo>
                  <a:lnTo>
                    <a:pt x="492" y="672"/>
                  </a:lnTo>
                  <a:lnTo>
                    <a:pt x="486" y="672"/>
                  </a:lnTo>
                  <a:lnTo>
                    <a:pt x="486" y="678"/>
                  </a:lnTo>
                  <a:lnTo>
                    <a:pt x="486" y="672"/>
                  </a:lnTo>
                  <a:lnTo>
                    <a:pt x="486" y="678"/>
                  </a:lnTo>
                  <a:lnTo>
                    <a:pt x="480" y="678"/>
                  </a:lnTo>
                  <a:lnTo>
                    <a:pt x="474" y="684"/>
                  </a:lnTo>
                  <a:lnTo>
                    <a:pt x="468" y="684"/>
                  </a:lnTo>
                  <a:lnTo>
                    <a:pt x="474" y="684"/>
                  </a:lnTo>
                  <a:lnTo>
                    <a:pt x="468" y="690"/>
                  </a:lnTo>
                  <a:lnTo>
                    <a:pt x="462" y="690"/>
                  </a:lnTo>
                  <a:lnTo>
                    <a:pt x="462" y="696"/>
                  </a:lnTo>
                  <a:lnTo>
                    <a:pt x="456" y="696"/>
                  </a:lnTo>
                  <a:lnTo>
                    <a:pt x="450" y="690"/>
                  </a:lnTo>
                  <a:lnTo>
                    <a:pt x="444" y="690"/>
                  </a:lnTo>
                  <a:lnTo>
                    <a:pt x="438" y="690"/>
                  </a:lnTo>
                  <a:lnTo>
                    <a:pt x="432" y="690"/>
                  </a:lnTo>
                  <a:lnTo>
                    <a:pt x="426" y="684"/>
                  </a:lnTo>
                  <a:lnTo>
                    <a:pt x="420" y="684"/>
                  </a:lnTo>
                  <a:lnTo>
                    <a:pt x="414" y="678"/>
                  </a:lnTo>
                  <a:lnTo>
                    <a:pt x="408" y="672"/>
                  </a:lnTo>
                  <a:lnTo>
                    <a:pt x="402" y="666"/>
                  </a:lnTo>
                  <a:lnTo>
                    <a:pt x="396" y="666"/>
                  </a:lnTo>
                  <a:lnTo>
                    <a:pt x="390" y="660"/>
                  </a:lnTo>
                  <a:lnTo>
                    <a:pt x="384" y="660"/>
                  </a:lnTo>
                  <a:lnTo>
                    <a:pt x="378" y="660"/>
                  </a:lnTo>
                  <a:lnTo>
                    <a:pt x="372" y="660"/>
                  </a:lnTo>
                  <a:lnTo>
                    <a:pt x="372" y="666"/>
                  </a:lnTo>
                  <a:lnTo>
                    <a:pt x="366" y="666"/>
                  </a:lnTo>
                  <a:lnTo>
                    <a:pt x="366" y="672"/>
                  </a:lnTo>
                  <a:lnTo>
                    <a:pt x="360" y="672"/>
                  </a:lnTo>
                  <a:lnTo>
                    <a:pt x="354" y="666"/>
                  </a:lnTo>
                  <a:lnTo>
                    <a:pt x="354" y="672"/>
                  </a:lnTo>
                  <a:lnTo>
                    <a:pt x="348" y="666"/>
                  </a:lnTo>
                  <a:lnTo>
                    <a:pt x="342" y="666"/>
                  </a:lnTo>
                  <a:lnTo>
                    <a:pt x="336" y="660"/>
                  </a:lnTo>
                  <a:lnTo>
                    <a:pt x="336" y="654"/>
                  </a:lnTo>
                  <a:lnTo>
                    <a:pt x="330" y="654"/>
                  </a:lnTo>
                  <a:lnTo>
                    <a:pt x="330" y="648"/>
                  </a:lnTo>
                  <a:lnTo>
                    <a:pt x="324" y="648"/>
                  </a:lnTo>
                  <a:lnTo>
                    <a:pt x="318" y="648"/>
                  </a:lnTo>
                  <a:lnTo>
                    <a:pt x="318" y="642"/>
                  </a:lnTo>
                  <a:lnTo>
                    <a:pt x="312" y="642"/>
                  </a:lnTo>
                  <a:lnTo>
                    <a:pt x="306" y="642"/>
                  </a:lnTo>
                  <a:lnTo>
                    <a:pt x="300" y="642"/>
                  </a:lnTo>
                  <a:lnTo>
                    <a:pt x="294" y="642"/>
                  </a:lnTo>
                  <a:lnTo>
                    <a:pt x="288" y="648"/>
                  </a:lnTo>
                  <a:lnTo>
                    <a:pt x="282" y="648"/>
                  </a:lnTo>
                  <a:lnTo>
                    <a:pt x="282" y="654"/>
                  </a:lnTo>
                  <a:lnTo>
                    <a:pt x="276" y="654"/>
                  </a:lnTo>
                  <a:lnTo>
                    <a:pt x="270" y="654"/>
                  </a:lnTo>
                  <a:lnTo>
                    <a:pt x="270" y="660"/>
                  </a:lnTo>
                  <a:lnTo>
                    <a:pt x="264" y="660"/>
                  </a:lnTo>
                  <a:lnTo>
                    <a:pt x="264" y="666"/>
                  </a:lnTo>
                  <a:lnTo>
                    <a:pt x="258" y="666"/>
                  </a:lnTo>
                  <a:lnTo>
                    <a:pt x="252" y="672"/>
                  </a:lnTo>
                  <a:lnTo>
                    <a:pt x="246" y="672"/>
                  </a:lnTo>
                  <a:lnTo>
                    <a:pt x="246" y="678"/>
                  </a:lnTo>
                  <a:lnTo>
                    <a:pt x="246" y="684"/>
                  </a:lnTo>
                  <a:lnTo>
                    <a:pt x="240" y="684"/>
                  </a:lnTo>
                  <a:lnTo>
                    <a:pt x="240" y="690"/>
                  </a:lnTo>
                  <a:lnTo>
                    <a:pt x="234" y="690"/>
                  </a:lnTo>
                  <a:lnTo>
                    <a:pt x="234" y="696"/>
                  </a:lnTo>
                  <a:lnTo>
                    <a:pt x="228" y="696"/>
                  </a:lnTo>
                  <a:lnTo>
                    <a:pt x="222" y="696"/>
                  </a:lnTo>
                  <a:lnTo>
                    <a:pt x="216" y="696"/>
                  </a:lnTo>
                  <a:lnTo>
                    <a:pt x="210" y="696"/>
                  </a:lnTo>
                  <a:lnTo>
                    <a:pt x="204" y="696"/>
                  </a:lnTo>
                  <a:lnTo>
                    <a:pt x="204" y="702"/>
                  </a:lnTo>
                  <a:lnTo>
                    <a:pt x="198" y="702"/>
                  </a:lnTo>
                  <a:lnTo>
                    <a:pt x="192" y="702"/>
                  </a:lnTo>
                  <a:lnTo>
                    <a:pt x="186" y="702"/>
                  </a:lnTo>
                  <a:lnTo>
                    <a:pt x="186" y="708"/>
                  </a:lnTo>
                  <a:lnTo>
                    <a:pt x="180" y="708"/>
                  </a:lnTo>
                  <a:lnTo>
                    <a:pt x="180" y="702"/>
                  </a:lnTo>
                  <a:lnTo>
                    <a:pt x="174" y="702"/>
                  </a:lnTo>
                  <a:lnTo>
                    <a:pt x="174" y="708"/>
                  </a:lnTo>
                  <a:lnTo>
                    <a:pt x="168" y="708"/>
                  </a:lnTo>
                  <a:lnTo>
                    <a:pt x="162" y="708"/>
                  </a:lnTo>
                  <a:lnTo>
                    <a:pt x="156" y="708"/>
                  </a:lnTo>
                  <a:lnTo>
                    <a:pt x="156" y="714"/>
                  </a:lnTo>
                  <a:lnTo>
                    <a:pt x="150" y="714"/>
                  </a:lnTo>
                  <a:lnTo>
                    <a:pt x="144" y="714"/>
                  </a:lnTo>
                  <a:lnTo>
                    <a:pt x="144" y="720"/>
                  </a:lnTo>
                  <a:lnTo>
                    <a:pt x="138" y="720"/>
                  </a:lnTo>
                  <a:lnTo>
                    <a:pt x="132" y="720"/>
                  </a:lnTo>
                  <a:lnTo>
                    <a:pt x="126" y="720"/>
                  </a:lnTo>
                  <a:lnTo>
                    <a:pt x="120" y="720"/>
                  </a:lnTo>
                  <a:lnTo>
                    <a:pt x="120" y="714"/>
                  </a:lnTo>
                  <a:lnTo>
                    <a:pt x="114" y="714"/>
                  </a:lnTo>
                  <a:lnTo>
                    <a:pt x="114" y="720"/>
                  </a:lnTo>
                  <a:lnTo>
                    <a:pt x="108" y="720"/>
                  </a:lnTo>
                  <a:lnTo>
                    <a:pt x="102" y="720"/>
                  </a:lnTo>
                  <a:lnTo>
                    <a:pt x="96" y="720"/>
                  </a:lnTo>
                  <a:lnTo>
                    <a:pt x="90" y="720"/>
                  </a:lnTo>
                  <a:lnTo>
                    <a:pt x="90" y="714"/>
                  </a:lnTo>
                  <a:lnTo>
                    <a:pt x="84" y="714"/>
                  </a:lnTo>
                  <a:lnTo>
                    <a:pt x="78" y="714"/>
                  </a:lnTo>
                  <a:lnTo>
                    <a:pt x="72" y="714"/>
                  </a:lnTo>
                  <a:lnTo>
                    <a:pt x="72" y="708"/>
                  </a:lnTo>
                  <a:lnTo>
                    <a:pt x="66" y="708"/>
                  </a:lnTo>
                  <a:lnTo>
                    <a:pt x="60" y="708"/>
                  </a:lnTo>
                  <a:lnTo>
                    <a:pt x="54" y="708"/>
                  </a:lnTo>
                  <a:lnTo>
                    <a:pt x="48" y="708"/>
                  </a:lnTo>
                  <a:lnTo>
                    <a:pt x="42" y="708"/>
                  </a:lnTo>
                  <a:lnTo>
                    <a:pt x="36" y="708"/>
                  </a:lnTo>
                  <a:lnTo>
                    <a:pt x="30" y="708"/>
                  </a:lnTo>
                  <a:lnTo>
                    <a:pt x="30" y="702"/>
                  </a:lnTo>
                  <a:lnTo>
                    <a:pt x="24" y="702"/>
                  </a:lnTo>
                  <a:lnTo>
                    <a:pt x="24" y="696"/>
                  </a:lnTo>
                  <a:lnTo>
                    <a:pt x="18" y="696"/>
                  </a:lnTo>
                  <a:lnTo>
                    <a:pt x="12" y="696"/>
                  </a:lnTo>
                  <a:lnTo>
                    <a:pt x="12" y="690"/>
                  </a:lnTo>
                  <a:lnTo>
                    <a:pt x="6" y="690"/>
                  </a:lnTo>
                  <a:lnTo>
                    <a:pt x="6" y="684"/>
                  </a:lnTo>
                  <a:lnTo>
                    <a:pt x="6" y="678"/>
                  </a:lnTo>
                  <a:lnTo>
                    <a:pt x="6" y="672"/>
                  </a:lnTo>
                  <a:lnTo>
                    <a:pt x="6" y="666"/>
                  </a:lnTo>
                  <a:lnTo>
                    <a:pt x="0" y="666"/>
                  </a:lnTo>
                  <a:close/>
                </a:path>
              </a:pathLst>
            </a:custGeom>
            <a:solidFill>
              <a:schemeClr val="accent1"/>
            </a:solidFill>
            <a:ln w="9525">
              <a:solidFill>
                <a:srgbClr val="B2B2B2"/>
              </a:solidFill>
              <a:round/>
              <a:headEnd/>
              <a:tailEnd/>
            </a:ln>
          </p:spPr>
          <p:txBody>
            <a:bodyPr/>
            <a:lstStyle/>
            <a:p>
              <a:endParaRPr lang="en-CA"/>
            </a:p>
          </p:txBody>
        </p:sp>
        <p:sp>
          <p:nvSpPr>
            <p:cNvPr id="450" name="Freeform 509"/>
            <p:cNvSpPr>
              <a:spLocks noEditPoints="1"/>
            </p:cNvSpPr>
            <p:nvPr>
              <p:custDataLst>
                <p:tags r:id="rId73"/>
              </p:custDataLst>
            </p:nvPr>
          </p:nvSpPr>
          <p:spPr bwMode="gray">
            <a:xfrm>
              <a:off x="2827" y="1430"/>
              <a:ext cx="1639" cy="1613"/>
            </a:xfrm>
            <a:custGeom>
              <a:avLst/>
              <a:gdLst>
                <a:gd name="T0" fmla="*/ 1639618456 w 2634"/>
                <a:gd name="T1" fmla="*/ 1971481339 h 2586"/>
                <a:gd name="T2" fmla="*/ 1510791214 w 2634"/>
                <a:gd name="T3" fmla="*/ 2030332445 h 2586"/>
                <a:gd name="T4" fmla="*/ 1434666025 w 2634"/>
                <a:gd name="T5" fmla="*/ 2147483647 h 2586"/>
                <a:gd name="T6" fmla="*/ 1282415648 w 2634"/>
                <a:gd name="T7" fmla="*/ 2147483647 h 2586"/>
                <a:gd name="T8" fmla="*/ 1165299974 w 2634"/>
                <a:gd name="T9" fmla="*/ 2147483647 h 2586"/>
                <a:gd name="T10" fmla="*/ 1182867325 w 2634"/>
                <a:gd name="T11" fmla="*/ 2147483647 h 2586"/>
                <a:gd name="T12" fmla="*/ 1059895867 w 2634"/>
                <a:gd name="T13" fmla="*/ 2147483647 h 2586"/>
                <a:gd name="T14" fmla="*/ 872510787 w 2634"/>
                <a:gd name="T15" fmla="*/ 2147483647 h 2586"/>
                <a:gd name="T16" fmla="*/ 667558357 w 2634"/>
                <a:gd name="T17" fmla="*/ 2147483647 h 2586"/>
                <a:gd name="T18" fmla="*/ 568011021 w 2634"/>
                <a:gd name="T19" fmla="*/ 2147483647 h 2586"/>
                <a:gd name="T20" fmla="*/ 363058591 w 2634"/>
                <a:gd name="T21" fmla="*/ 2147483647 h 2586"/>
                <a:gd name="T22" fmla="*/ 187385079 w 2634"/>
                <a:gd name="T23" fmla="*/ 2147483647 h 2586"/>
                <a:gd name="T24" fmla="*/ 193240863 w 2634"/>
                <a:gd name="T25" fmla="*/ 2000906892 h 2586"/>
                <a:gd name="T26" fmla="*/ 158106161 w 2634"/>
                <a:gd name="T27" fmla="*/ 1818470841 h 2586"/>
                <a:gd name="T28" fmla="*/ 46846270 w 2634"/>
                <a:gd name="T29" fmla="*/ 1630150076 h 2586"/>
                <a:gd name="T30" fmla="*/ 35134702 w 2634"/>
                <a:gd name="T31" fmla="*/ 1418289463 h 2586"/>
                <a:gd name="T32" fmla="*/ 251798700 w 2634"/>
                <a:gd name="T33" fmla="*/ 971028388 h 2586"/>
                <a:gd name="T34" fmla="*/ 339635456 w 2634"/>
                <a:gd name="T35" fmla="*/ 535536743 h 2586"/>
                <a:gd name="T36" fmla="*/ 368914375 w 2634"/>
                <a:gd name="T37" fmla="*/ 576731724 h 2586"/>
                <a:gd name="T38" fmla="*/ 568011021 w 2634"/>
                <a:gd name="T39" fmla="*/ 564962295 h 2586"/>
                <a:gd name="T40" fmla="*/ 673414141 w 2634"/>
                <a:gd name="T41" fmla="*/ 641467544 h 2586"/>
                <a:gd name="T42" fmla="*/ 796385599 w 2634"/>
                <a:gd name="T43" fmla="*/ 665007392 h 2586"/>
                <a:gd name="T44" fmla="*/ 813952950 w 2634"/>
                <a:gd name="T45" fmla="*/ 588502144 h 2586"/>
                <a:gd name="T46" fmla="*/ 849087653 w 2634"/>
                <a:gd name="T47" fmla="*/ 535536743 h 2586"/>
                <a:gd name="T48" fmla="*/ 890078139 w 2634"/>
                <a:gd name="T49" fmla="*/ 553191876 h 2586"/>
                <a:gd name="T50" fmla="*/ 936924408 w 2634"/>
                <a:gd name="T51" fmla="*/ 570847010 h 2586"/>
                <a:gd name="T52" fmla="*/ 1018905381 w 2634"/>
                <a:gd name="T53" fmla="*/ 594386858 h 2586"/>
                <a:gd name="T54" fmla="*/ 1083319002 w 2634"/>
                <a:gd name="T55" fmla="*/ 665007392 h 2586"/>
                <a:gd name="T56" fmla="*/ 1054040083 w 2634"/>
                <a:gd name="T57" fmla="*/ 735627927 h 2586"/>
                <a:gd name="T58" fmla="*/ 1036472732 w 2634"/>
                <a:gd name="T59" fmla="*/ 800362757 h 2586"/>
                <a:gd name="T60" fmla="*/ 1077463218 w 2634"/>
                <a:gd name="T61" fmla="*/ 882752720 h 2586"/>
                <a:gd name="T62" fmla="*/ 1182867325 w 2634"/>
                <a:gd name="T63" fmla="*/ 947488540 h 2586"/>
                <a:gd name="T64" fmla="*/ 1247280946 w 2634"/>
                <a:gd name="T65" fmla="*/ 865097587 h 2586"/>
                <a:gd name="T66" fmla="*/ 1446377593 w 2634"/>
                <a:gd name="T67" fmla="*/ 865097587 h 2586"/>
                <a:gd name="T68" fmla="*/ 1551781700 w 2634"/>
                <a:gd name="T69" fmla="*/ 876868006 h 2586"/>
                <a:gd name="T70" fmla="*/ 1516646997 w 2634"/>
                <a:gd name="T71" fmla="*/ 759167775 h 2586"/>
                <a:gd name="T72" fmla="*/ 1639618456 w 2634"/>
                <a:gd name="T73" fmla="*/ 694431955 h 2586"/>
                <a:gd name="T74" fmla="*/ 1885560384 w 2634"/>
                <a:gd name="T75" fmla="*/ 753282070 h 2586"/>
                <a:gd name="T76" fmla="*/ 1955829789 w 2634"/>
                <a:gd name="T77" fmla="*/ 847442453 h 2586"/>
                <a:gd name="T78" fmla="*/ 2078802235 w 2634"/>
                <a:gd name="T79" fmla="*/ 923947702 h 2586"/>
                <a:gd name="T80" fmla="*/ 2147483647 w 2634"/>
                <a:gd name="T81" fmla="*/ 935718121 h 2586"/>
                <a:gd name="T82" fmla="*/ 2147483647 w 2634"/>
                <a:gd name="T83" fmla="*/ 1071073485 h 2586"/>
                <a:gd name="T84" fmla="*/ 2147483647 w 2634"/>
                <a:gd name="T85" fmla="*/ 1135809305 h 2586"/>
                <a:gd name="T86" fmla="*/ 2147483647 w 2634"/>
                <a:gd name="T87" fmla="*/ 1235854402 h 2586"/>
                <a:gd name="T88" fmla="*/ 2147483647 w 2634"/>
                <a:gd name="T89" fmla="*/ 1435944596 h 2586"/>
                <a:gd name="T90" fmla="*/ 2147483647 w 2634"/>
                <a:gd name="T91" fmla="*/ 1553644827 h 2586"/>
                <a:gd name="T92" fmla="*/ 2108081154 w 2634"/>
                <a:gd name="T93" fmla="*/ 1671345058 h 2586"/>
                <a:gd name="T94" fmla="*/ 1967541357 w 2634"/>
                <a:gd name="T95" fmla="*/ 1736080878 h 2586"/>
                <a:gd name="T96" fmla="*/ 1821146763 w 2634"/>
                <a:gd name="T97" fmla="*/ 1783160574 h 2586"/>
                <a:gd name="T98" fmla="*/ 1756733142 w 2634"/>
                <a:gd name="T99" fmla="*/ 1965596625 h 2586"/>
                <a:gd name="T100" fmla="*/ 1528358565 w 2634"/>
                <a:gd name="T101" fmla="*/ 147125783 h 2586"/>
                <a:gd name="T102" fmla="*/ 1604483753 w 2634"/>
                <a:gd name="T103" fmla="*/ 135355364 h 2586"/>
                <a:gd name="T104" fmla="*/ 1768444710 w 2634"/>
                <a:gd name="T105" fmla="*/ 217745328 h 2586"/>
                <a:gd name="T106" fmla="*/ 1680608942 w 2634"/>
                <a:gd name="T107" fmla="*/ 347215978 h 2586"/>
                <a:gd name="T108" fmla="*/ 1551781700 w 2634"/>
                <a:gd name="T109" fmla="*/ 341331263 h 2586"/>
                <a:gd name="T110" fmla="*/ 1422954458 w 2634"/>
                <a:gd name="T111" fmla="*/ 294250577 h 2586"/>
                <a:gd name="T112" fmla="*/ 1850425682 w 2634"/>
                <a:gd name="T113" fmla="*/ 258941300 h 2586"/>
                <a:gd name="T114" fmla="*/ 2031955965 w 2634"/>
                <a:gd name="T115" fmla="*/ 300136281 h 2586"/>
                <a:gd name="T116" fmla="*/ 1832858331 w 2634"/>
                <a:gd name="T117" fmla="*/ 282481148 h 2586"/>
                <a:gd name="T118" fmla="*/ 1704032077 w 2634"/>
                <a:gd name="T119" fmla="*/ 570847010 h 2586"/>
                <a:gd name="T120" fmla="*/ 1557637483 w 2634"/>
                <a:gd name="T121" fmla="*/ 459031494 h 2586"/>
                <a:gd name="T122" fmla="*/ 1358540837 w 2634"/>
                <a:gd name="T123" fmla="*/ 176550346 h 2586"/>
                <a:gd name="T124" fmla="*/ 1364396620 w 2634"/>
                <a:gd name="T125" fmla="*/ 488457046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34"/>
                <a:gd name="T190" fmla="*/ 0 h 2586"/>
                <a:gd name="T191" fmla="*/ 2634 w 2634"/>
                <a:gd name="T192" fmla="*/ 2586 h 25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34" h="2586">
                  <a:moveTo>
                    <a:pt x="1806" y="2004"/>
                  </a:moveTo>
                  <a:lnTo>
                    <a:pt x="1794" y="2016"/>
                  </a:lnTo>
                  <a:lnTo>
                    <a:pt x="1800" y="2016"/>
                  </a:lnTo>
                  <a:lnTo>
                    <a:pt x="1800" y="2022"/>
                  </a:lnTo>
                  <a:lnTo>
                    <a:pt x="1794" y="2022"/>
                  </a:lnTo>
                  <a:lnTo>
                    <a:pt x="1794" y="2028"/>
                  </a:lnTo>
                  <a:lnTo>
                    <a:pt x="1788" y="2028"/>
                  </a:lnTo>
                  <a:lnTo>
                    <a:pt x="1788" y="2034"/>
                  </a:lnTo>
                  <a:lnTo>
                    <a:pt x="1782" y="2034"/>
                  </a:lnTo>
                  <a:lnTo>
                    <a:pt x="1782" y="2040"/>
                  </a:lnTo>
                  <a:lnTo>
                    <a:pt x="1776" y="2034"/>
                  </a:lnTo>
                  <a:lnTo>
                    <a:pt x="1776" y="2040"/>
                  </a:lnTo>
                  <a:lnTo>
                    <a:pt x="1776" y="2034"/>
                  </a:lnTo>
                  <a:lnTo>
                    <a:pt x="1770" y="2034"/>
                  </a:lnTo>
                  <a:lnTo>
                    <a:pt x="1764" y="2028"/>
                  </a:lnTo>
                  <a:lnTo>
                    <a:pt x="1770" y="2028"/>
                  </a:lnTo>
                  <a:lnTo>
                    <a:pt x="1770" y="2022"/>
                  </a:lnTo>
                  <a:lnTo>
                    <a:pt x="1770" y="2016"/>
                  </a:lnTo>
                  <a:lnTo>
                    <a:pt x="1764" y="2016"/>
                  </a:lnTo>
                  <a:lnTo>
                    <a:pt x="1770" y="2016"/>
                  </a:lnTo>
                  <a:lnTo>
                    <a:pt x="1764" y="2010"/>
                  </a:lnTo>
                  <a:lnTo>
                    <a:pt x="1764" y="2016"/>
                  </a:lnTo>
                  <a:lnTo>
                    <a:pt x="1758" y="2016"/>
                  </a:lnTo>
                  <a:lnTo>
                    <a:pt x="1758" y="2022"/>
                  </a:lnTo>
                  <a:lnTo>
                    <a:pt x="1752" y="2022"/>
                  </a:lnTo>
                  <a:lnTo>
                    <a:pt x="1752" y="2010"/>
                  </a:lnTo>
                  <a:lnTo>
                    <a:pt x="1752" y="2004"/>
                  </a:lnTo>
                  <a:lnTo>
                    <a:pt x="1746" y="2004"/>
                  </a:lnTo>
                  <a:lnTo>
                    <a:pt x="1746" y="2010"/>
                  </a:lnTo>
                  <a:lnTo>
                    <a:pt x="1740" y="2010"/>
                  </a:lnTo>
                  <a:lnTo>
                    <a:pt x="1740" y="2004"/>
                  </a:lnTo>
                  <a:lnTo>
                    <a:pt x="1734" y="2004"/>
                  </a:lnTo>
                  <a:lnTo>
                    <a:pt x="1734" y="1998"/>
                  </a:lnTo>
                  <a:lnTo>
                    <a:pt x="1728" y="2004"/>
                  </a:lnTo>
                  <a:lnTo>
                    <a:pt x="1734" y="2004"/>
                  </a:lnTo>
                  <a:lnTo>
                    <a:pt x="1728" y="2010"/>
                  </a:lnTo>
                  <a:lnTo>
                    <a:pt x="1728" y="2016"/>
                  </a:lnTo>
                  <a:lnTo>
                    <a:pt x="1722" y="2022"/>
                  </a:lnTo>
                  <a:lnTo>
                    <a:pt x="1716" y="2016"/>
                  </a:lnTo>
                  <a:lnTo>
                    <a:pt x="1710" y="2016"/>
                  </a:lnTo>
                  <a:lnTo>
                    <a:pt x="1704" y="2016"/>
                  </a:lnTo>
                  <a:lnTo>
                    <a:pt x="1704" y="2022"/>
                  </a:lnTo>
                  <a:lnTo>
                    <a:pt x="1698" y="2022"/>
                  </a:lnTo>
                  <a:lnTo>
                    <a:pt x="1698" y="2016"/>
                  </a:lnTo>
                  <a:lnTo>
                    <a:pt x="1692" y="2016"/>
                  </a:lnTo>
                  <a:lnTo>
                    <a:pt x="1692" y="2010"/>
                  </a:lnTo>
                  <a:lnTo>
                    <a:pt x="1686" y="2010"/>
                  </a:lnTo>
                  <a:lnTo>
                    <a:pt x="1686" y="2004"/>
                  </a:lnTo>
                  <a:lnTo>
                    <a:pt x="1680" y="2004"/>
                  </a:lnTo>
                  <a:lnTo>
                    <a:pt x="1680" y="2010"/>
                  </a:lnTo>
                  <a:lnTo>
                    <a:pt x="1674" y="2010"/>
                  </a:lnTo>
                  <a:lnTo>
                    <a:pt x="1674" y="2004"/>
                  </a:lnTo>
                  <a:lnTo>
                    <a:pt x="1668" y="2004"/>
                  </a:lnTo>
                  <a:lnTo>
                    <a:pt x="1662" y="1998"/>
                  </a:lnTo>
                  <a:lnTo>
                    <a:pt x="1656" y="1992"/>
                  </a:lnTo>
                  <a:lnTo>
                    <a:pt x="1656" y="1986"/>
                  </a:lnTo>
                  <a:lnTo>
                    <a:pt x="1656" y="1980"/>
                  </a:lnTo>
                  <a:lnTo>
                    <a:pt x="1650" y="1974"/>
                  </a:lnTo>
                  <a:lnTo>
                    <a:pt x="1650" y="1968"/>
                  </a:lnTo>
                  <a:lnTo>
                    <a:pt x="1644" y="1968"/>
                  </a:lnTo>
                  <a:lnTo>
                    <a:pt x="1644" y="1974"/>
                  </a:lnTo>
                  <a:lnTo>
                    <a:pt x="1638" y="1974"/>
                  </a:lnTo>
                  <a:lnTo>
                    <a:pt x="1638" y="1968"/>
                  </a:lnTo>
                  <a:lnTo>
                    <a:pt x="1638" y="1962"/>
                  </a:lnTo>
                  <a:lnTo>
                    <a:pt x="1632" y="1962"/>
                  </a:lnTo>
                  <a:lnTo>
                    <a:pt x="1626" y="1962"/>
                  </a:lnTo>
                  <a:lnTo>
                    <a:pt x="1620" y="1962"/>
                  </a:lnTo>
                  <a:lnTo>
                    <a:pt x="1620" y="1968"/>
                  </a:lnTo>
                  <a:lnTo>
                    <a:pt x="1614" y="1974"/>
                  </a:lnTo>
                  <a:lnTo>
                    <a:pt x="1608" y="1968"/>
                  </a:lnTo>
                  <a:lnTo>
                    <a:pt x="1608" y="1974"/>
                  </a:lnTo>
                  <a:lnTo>
                    <a:pt x="1602" y="1974"/>
                  </a:lnTo>
                  <a:lnTo>
                    <a:pt x="1602" y="1980"/>
                  </a:lnTo>
                  <a:lnTo>
                    <a:pt x="1602" y="1986"/>
                  </a:lnTo>
                  <a:lnTo>
                    <a:pt x="1602" y="1992"/>
                  </a:lnTo>
                  <a:lnTo>
                    <a:pt x="1602" y="1998"/>
                  </a:lnTo>
                  <a:lnTo>
                    <a:pt x="1602" y="2004"/>
                  </a:lnTo>
                  <a:lnTo>
                    <a:pt x="1596" y="2010"/>
                  </a:lnTo>
                  <a:lnTo>
                    <a:pt x="1590" y="2016"/>
                  </a:lnTo>
                  <a:lnTo>
                    <a:pt x="1590" y="2010"/>
                  </a:lnTo>
                  <a:lnTo>
                    <a:pt x="1590" y="2016"/>
                  </a:lnTo>
                  <a:lnTo>
                    <a:pt x="1584" y="2016"/>
                  </a:lnTo>
                  <a:lnTo>
                    <a:pt x="1584" y="2022"/>
                  </a:lnTo>
                  <a:lnTo>
                    <a:pt x="1590" y="2022"/>
                  </a:lnTo>
                  <a:lnTo>
                    <a:pt x="1584" y="2028"/>
                  </a:lnTo>
                  <a:lnTo>
                    <a:pt x="1584" y="2034"/>
                  </a:lnTo>
                  <a:lnTo>
                    <a:pt x="1578" y="2034"/>
                  </a:lnTo>
                  <a:lnTo>
                    <a:pt x="1578" y="2040"/>
                  </a:lnTo>
                  <a:lnTo>
                    <a:pt x="1578" y="2046"/>
                  </a:lnTo>
                  <a:lnTo>
                    <a:pt x="1578" y="2040"/>
                  </a:lnTo>
                  <a:lnTo>
                    <a:pt x="1572" y="2040"/>
                  </a:lnTo>
                  <a:lnTo>
                    <a:pt x="1572" y="2046"/>
                  </a:lnTo>
                  <a:lnTo>
                    <a:pt x="1572" y="2052"/>
                  </a:lnTo>
                  <a:lnTo>
                    <a:pt x="1566" y="2058"/>
                  </a:lnTo>
                  <a:lnTo>
                    <a:pt x="1566" y="2064"/>
                  </a:lnTo>
                  <a:lnTo>
                    <a:pt x="1560" y="2058"/>
                  </a:lnTo>
                  <a:lnTo>
                    <a:pt x="1560" y="2064"/>
                  </a:lnTo>
                  <a:lnTo>
                    <a:pt x="1554" y="2064"/>
                  </a:lnTo>
                  <a:lnTo>
                    <a:pt x="1548" y="2064"/>
                  </a:lnTo>
                  <a:lnTo>
                    <a:pt x="1548" y="2070"/>
                  </a:lnTo>
                  <a:lnTo>
                    <a:pt x="1542" y="2070"/>
                  </a:lnTo>
                  <a:lnTo>
                    <a:pt x="1542" y="2076"/>
                  </a:lnTo>
                  <a:lnTo>
                    <a:pt x="1536" y="2076"/>
                  </a:lnTo>
                  <a:lnTo>
                    <a:pt x="1530" y="2076"/>
                  </a:lnTo>
                  <a:lnTo>
                    <a:pt x="1524" y="2082"/>
                  </a:lnTo>
                  <a:lnTo>
                    <a:pt x="1530" y="2082"/>
                  </a:lnTo>
                  <a:lnTo>
                    <a:pt x="1524" y="2088"/>
                  </a:lnTo>
                  <a:lnTo>
                    <a:pt x="1518" y="2094"/>
                  </a:lnTo>
                  <a:lnTo>
                    <a:pt x="1512" y="2094"/>
                  </a:lnTo>
                  <a:lnTo>
                    <a:pt x="1512" y="2100"/>
                  </a:lnTo>
                  <a:lnTo>
                    <a:pt x="1512" y="2106"/>
                  </a:lnTo>
                  <a:lnTo>
                    <a:pt x="1506" y="2106"/>
                  </a:lnTo>
                  <a:lnTo>
                    <a:pt x="1506" y="2112"/>
                  </a:lnTo>
                  <a:lnTo>
                    <a:pt x="1506" y="2118"/>
                  </a:lnTo>
                  <a:lnTo>
                    <a:pt x="1506" y="2124"/>
                  </a:lnTo>
                  <a:lnTo>
                    <a:pt x="1512" y="2124"/>
                  </a:lnTo>
                  <a:lnTo>
                    <a:pt x="1512" y="2130"/>
                  </a:lnTo>
                  <a:lnTo>
                    <a:pt x="1518" y="2136"/>
                  </a:lnTo>
                  <a:lnTo>
                    <a:pt x="1512" y="2136"/>
                  </a:lnTo>
                  <a:lnTo>
                    <a:pt x="1512" y="2142"/>
                  </a:lnTo>
                  <a:lnTo>
                    <a:pt x="1512" y="2148"/>
                  </a:lnTo>
                  <a:lnTo>
                    <a:pt x="1512" y="2154"/>
                  </a:lnTo>
                  <a:lnTo>
                    <a:pt x="1506" y="2154"/>
                  </a:lnTo>
                  <a:lnTo>
                    <a:pt x="1512" y="2160"/>
                  </a:lnTo>
                  <a:lnTo>
                    <a:pt x="1512" y="2166"/>
                  </a:lnTo>
                  <a:lnTo>
                    <a:pt x="1506" y="2172"/>
                  </a:lnTo>
                  <a:lnTo>
                    <a:pt x="1506" y="2178"/>
                  </a:lnTo>
                  <a:lnTo>
                    <a:pt x="1506" y="2184"/>
                  </a:lnTo>
                  <a:lnTo>
                    <a:pt x="1506" y="2190"/>
                  </a:lnTo>
                  <a:lnTo>
                    <a:pt x="1506" y="2196"/>
                  </a:lnTo>
                  <a:lnTo>
                    <a:pt x="1506" y="2202"/>
                  </a:lnTo>
                  <a:lnTo>
                    <a:pt x="1506" y="2208"/>
                  </a:lnTo>
                  <a:lnTo>
                    <a:pt x="1506" y="2214"/>
                  </a:lnTo>
                  <a:lnTo>
                    <a:pt x="1506" y="2220"/>
                  </a:lnTo>
                  <a:lnTo>
                    <a:pt x="1506" y="2226"/>
                  </a:lnTo>
                  <a:lnTo>
                    <a:pt x="1506" y="2232"/>
                  </a:lnTo>
                  <a:lnTo>
                    <a:pt x="1500" y="2232"/>
                  </a:lnTo>
                  <a:lnTo>
                    <a:pt x="1494" y="2232"/>
                  </a:lnTo>
                  <a:lnTo>
                    <a:pt x="1494" y="2226"/>
                  </a:lnTo>
                  <a:lnTo>
                    <a:pt x="1500" y="2226"/>
                  </a:lnTo>
                  <a:lnTo>
                    <a:pt x="1500" y="2220"/>
                  </a:lnTo>
                  <a:lnTo>
                    <a:pt x="1500" y="2214"/>
                  </a:lnTo>
                  <a:lnTo>
                    <a:pt x="1494" y="2214"/>
                  </a:lnTo>
                  <a:lnTo>
                    <a:pt x="1494" y="2220"/>
                  </a:lnTo>
                  <a:lnTo>
                    <a:pt x="1488" y="2220"/>
                  </a:lnTo>
                  <a:lnTo>
                    <a:pt x="1482" y="2220"/>
                  </a:lnTo>
                  <a:lnTo>
                    <a:pt x="1476" y="2220"/>
                  </a:lnTo>
                  <a:lnTo>
                    <a:pt x="1476" y="2226"/>
                  </a:lnTo>
                  <a:lnTo>
                    <a:pt x="1470" y="2226"/>
                  </a:lnTo>
                  <a:lnTo>
                    <a:pt x="1470" y="2232"/>
                  </a:lnTo>
                  <a:lnTo>
                    <a:pt x="1470" y="2238"/>
                  </a:lnTo>
                  <a:lnTo>
                    <a:pt x="1464" y="2238"/>
                  </a:lnTo>
                  <a:lnTo>
                    <a:pt x="1464" y="2244"/>
                  </a:lnTo>
                  <a:lnTo>
                    <a:pt x="1458" y="2244"/>
                  </a:lnTo>
                  <a:lnTo>
                    <a:pt x="1458" y="2250"/>
                  </a:lnTo>
                  <a:lnTo>
                    <a:pt x="1452" y="2250"/>
                  </a:lnTo>
                  <a:lnTo>
                    <a:pt x="1446" y="2250"/>
                  </a:lnTo>
                  <a:lnTo>
                    <a:pt x="1446" y="2256"/>
                  </a:lnTo>
                  <a:lnTo>
                    <a:pt x="1440" y="2256"/>
                  </a:lnTo>
                  <a:lnTo>
                    <a:pt x="1434" y="2256"/>
                  </a:lnTo>
                  <a:lnTo>
                    <a:pt x="1428" y="2256"/>
                  </a:lnTo>
                  <a:lnTo>
                    <a:pt x="1422" y="2256"/>
                  </a:lnTo>
                  <a:lnTo>
                    <a:pt x="1422" y="2250"/>
                  </a:lnTo>
                  <a:lnTo>
                    <a:pt x="1416" y="2250"/>
                  </a:lnTo>
                  <a:lnTo>
                    <a:pt x="1410" y="2250"/>
                  </a:lnTo>
                  <a:lnTo>
                    <a:pt x="1404" y="2250"/>
                  </a:lnTo>
                  <a:lnTo>
                    <a:pt x="1404" y="2244"/>
                  </a:lnTo>
                  <a:lnTo>
                    <a:pt x="1404" y="2250"/>
                  </a:lnTo>
                  <a:lnTo>
                    <a:pt x="1404" y="2244"/>
                  </a:lnTo>
                  <a:lnTo>
                    <a:pt x="1398" y="2244"/>
                  </a:lnTo>
                  <a:lnTo>
                    <a:pt x="1392" y="2244"/>
                  </a:lnTo>
                  <a:lnTo>
                    <a:pt x="1386" y="2244"/>
                  </a:lnTo>
                  <a:lnTo>
                    <a:pt x="1386" y="2250"/>
                  </a:lnTo>
                  <a:lnTo>
                    <a:pt x="1380" y="2250"/>
                  </a:lnTo>
                  <a:lnTo>
                    <a:pt x="1380" y="2256"/>
                  </a:lnTo>
                  <a:lnTo>
                    <a:pt x="1374" y="2256"/>
                  </a:lnTo>
                  <a:lnTo>
                    <a:pt x="1374" y="2262"/>
                  </a:lnTo>
                  <a:lnTo>
                    <a:pt x="1374" y="2268"/>
                  </a:lnTo>
                  <a:lnTo>
                    <a:pt x="1368" y="2268"/>
                  </a:lnTo>
                  <a:lnTo>
                    <a:pt x="1374" y="2268"/>
                  </a:lnTo>
                  <a:lnTo>
                    <a:pt x="1374" y="2274"/>
                  </a:lnTo>
                  <a:lnTo>
                    <a:pt x="1368" y="2274"/>
                  </a:lnTo>
                  <a:lnTo>
                    <a:pt x="1374" y="2274"/>
                  </a:lnTo>
                  <a:lnTo>
                    <a:pt x="1368" y="2274"/>
                  </a:lnTo>
                  <a:lnTo>
                    <a:pt x="1368" y="2280"/>
                  </a:lnTo>
                  <a:lnTo>
                    <a:pt x="1362" y="2280"/>
                  </a:lnTo>
                  <a:lnTo>
                    <a:pt x="1362" y="2274"/>
                  </a:lnTo>
                  <a:lnTo>
                    <a:pt x="1356" y="2274"/>
                  </a:lnTo>
                  <a:lnTo>
                    <a:pt x="1350" y="2280"/>
                  </a:lnTo>
                  <a:lnTo>
                    <a:pt x="1350" y="2274"/>
                  </a:lnTo>
                  <a:lnTo>
                    <a:pt x="1344" y="2274"/>
                  </a:lnTo>
                  <a:lnTo>
                    <a:pt x="1344" y="2268"/>
                  </a:lnTo>
                  <a:lnTo>
                    <a:pt x="1344" y="2274"/>
                  </a:lnTo>
                  <a:lnTo>
                    <a:pt x="1344" y="2268"/>
                  </a:lnTo>
                  <a:lnTo>
                    <a:pt x="1338" y="2274"/>
                  </a:lnTo>
                  <a:lnTo>
                    <a:pt x="1332" y="2274"/>
                  </a:lnTo>
                  <a:lnTo>
                    <a:pt x="1332" y="2268"/>
                  </a:lnTo>
                  <a:lnTo>
                    <a:pt x="1326" y="2268"/>
                  </a:lnTo>
                  <a:lnTo>
                    <a:pt x="1320" y="2268"/>
                  </a:lnTo>
                  <a:lnTo>
                    <a:pt x="1314" y="2268"/>
                  </a:lnTo>
                  <a:lnTo>
                    <a:pt x="1308" y="2268"/>
                  </a:lnTo>
                  <a:lnTo>
                    <a:pt x="1302" y="2268"/>
                  </a:lnTo>
                  <a:lnTo>
                    <a:pt x="1296" y="2268"/>
                  </a:lnTo>
                  <a:lnTo>
                    <a:pt x="1296" y="2262"/>
                  </a:lnTo>
                  <a:lnTo>
                    <a:pt x="1290" y="2262"/>
                  </a:lnTo>
                  <a:lnTo>
                    <a:pt x="1284" y="2262"/>
                  </a:lnTo>
                  <a:lnTo>
                    <a:pt x="1284" y="2268"/>
                  </a:lnTo>
                  <a:lnTo>
                    <a:pt x="1278" y="2268"/>
                  </a:lnTo>
                  <a:lnTo>
                    <a:pt x="1272" y="2268"/>
                  </a:lnTo>
                  <a:lnTo>
                    <a:pt x="1272" y="2274"/>
                  </a:lnTo>
                  <a:lnTo>
                    <a:pt x="1266" y="2274"/>
                  </a:lnTo>
                  <a:lnTo>
                    <a:pt x="1266" y="2280"/>
                  </a:lnTo>
                  <a:lnTo>
                    <a:pt x="1260" y="2280"/>
                  </a:lnTo>
                  <a:lnTo>
                    <a:pt x="1260" y="2286"/>
                  </a:lnTo>
                  <a:lnTo>
                    <a:pt x="1254" y="2286"/>
                  </a:lnTo>
                  <a:lnTo>
                    <a:pt x="1260" y="2292"/>
                  </a:lnTo>
                  <a:lnTo>
                    <a:pt x="1260" y="2298"/>
                  </a:lnTo>
                  <a:lnTo>
                    <a:pt x="1254" y="2298"/>
                  </a:lnTo>
                  <a:lnTo>
                    <a:pt x="1248" y="2298"/>
                  </a:lnTo>
                  <a:lnTo>
                    <a:pt x="1248" y="2304"/>
                  </a:lnTo>
                  <a:lnTo>
                    <a:pt x="1242" y="2304"/>
                  </a:lnTo>
                  <a:lnTo>
                    <a:pt x="1242" y="2310"/>
                  </a:lnTo>
                  <a:lnTo>
                    <a:pt x="1248" y="2310"/>
                  </a:lnTo>
                  <a:lnTo>
                    <a:pt x="1248" y="2316"/>
                  </a:lnTo>
                  <a:lnTo>
                    <a:pt x="1242" y="2316"/>
                  </a:lnTo>
                  <a:lnTo>
                    <a:pt x="1248" y="2322"/>
                  </a:lnTo>
                  <a:lnTo>
                    <a:pt x="1242" y="2322"/>
                  </a:lnTo>
                  <a:lnTo>
                    <a:pt x="1242" y="2328"/>
                  </a:lnTo>
                  <a:lnTo>
                    <a:pt x="1236" y="2328"/>
                  </a:lnTo>
                  <a:lnTo>
                    <a:pt x="1242" y="2328"/>
                  </a:lnTo>
                  <a:lnTo>
                    <a:pt x="1242" y="2334"/>
                  </a:lnTo>
                  <a:lnTo>
                    <a:pt x="1236" y="2334"/>
                  </a:lnTo>
                  <a:lnTo>
                    <a:pt x="1230" y="2334"/>
                  </a:lnTo>
                  <a:lnTo>
                    <a:pt x="1230" y="2340"/>
                  </a:lnTo>
                  <a:lnTo>
                    <a:pt x="1230" y="2346"/>
                  </a:lnTo>
                  <a:lnTo>
                    <a:pt x="1230" y="2352"/>
                  </a:lnTo>
                  <a:lnTo>
                    <a:pt x="1230" y="2358"/>
                  </a:lnTo>
                  <a:lnTo>
                    <a:pt x="1224" y="2352"/>
                  </a:lnTo>
                  <a:lnTo>
                    <a:pt x="1224" y="2358"/>
                  </a:lnTo>
                  <a:lnTo>
                    <a:pt x="1218" y="2364"/>
                  </a:lnTo>
                  <a:lnTo>
                    <a:pt x="1224" y="2364"/>
                  </a:lnTo>
                  <a:lnTo>
                    <a:pt x="1224" y="2370"/>
                  </a:lnTo>
                  <a:lnTo>
                    <a:pt x="1218" y="2370"/>
                  </a:lnTo>
                  <a:lnTo>
                    <a:pt x="1218" y="2364"/>
                  </a:lnTo>
                  <a:lnTo>
                    <a:pt x="1212" y="2364"/>
                  </a:lnTo>
                  <a:lnTo>
                    <a:pt x="1206" y="2364"/>
                  </a:lnTo>
                  <a:lnTo>
                    <a:pt x="1206" y="2358"/>
                  </a:lnTo>
                  <a:lnTo>
                    <a:pt x="1200" y="2358"/>
                  </a:lnTo>
                  <a:lnTo>
                    <a:pt x="1194" y="2358"/>
                  </a:lnTo>
                  <a:lnTo>
                    <a:pt x="1194" y="2364"/>
                  </a:lnTo>
                  <a:lnTo>
                    <a:pt x="1200" y="2364"/>
                  </a:lnTo>
                  <a:lnTo>
                    <a:pt x="1200" y="2370"/>
                  </a:lnTo>
                  <a:lnTo>
                    <a:pt x="1200" y="2364"/>
                  </a:lnTo>
                  <a:lnTo>
                    <a:pt x="1200" y="2370"/>
                  </a:lnTo>
                  <a:lnTo>
                    <a:pt x="1206" y="2370"/>
                  </a:lnTo>
                  <a:lnTo>
                    <a:pt x="1200" y="2376"/>
                  </a:lnTo>
                  <a:lnTo>
                    <a:pt x="1206" y="2376"/>
                  </a:lnTo>
                  <a:lnTo>
                    <a:pt x="1206" y="2382"/>
                  </a:lnTo>
                  <a:lnTo>
                    <a:pt x="1212" y="2382"/>
                  </a:lnTo>
                  <a:lnTo>
                    <a:pt x="1212" y="2388"/>
                  </a:lnTo>
                  <a:lnTo>
                    <a:pt x="1218" y="2388"/>
                  </a:lnTo>
                  <a:lnTo>
                    <a:pt x="1218" y="2394"/>
                  </a:lnTo>
                  <a:lnTo>
                    <a:pt x="1224" y="2400"/>
                  </a:lnTo>
                  <a:lnTo>
                    <a:pt x="1224" y="2406"/>
                  </a:lnTo>
                  <a:lnTo>
                    <a:pt x="1218" y="2406"/>
                  </a:lnTo>
                  <a:lnTo>
                    <a:pt x="1218" y="2412"/>
                  </a:lnTo>
                  <a:lnTo>
                    <a:pt x="1212" y="2406"/>
                  </a:lnTo>
                  <a:lnTo>
                    <a:pt x="1212" y="2412"/>
                  </a:lnTo>
                  <a:lnTo>
                    <a:pt x="1206" y="2412"/>
                  </a:lnTo>
                  <a:lnTo>
                    <a:pt x="1212" y="2418"/>
                  </a:lnTo>
                  <a:lnTo>
                    <a:pt x="1206" y="2418"/>
                  </a:lnTo>
                  <a:lnTo>
                    <a:pt x="1206" y="2424"/>
                  </a:lnTo>
                  <a:lnTo>
                    <a:pt x="1200" y="2430"/>
                  </a:lnTo>
                  <a:lnTo>
                    <a:pt x="1206" y="2436"/>
                  </a:lnTo>
                  <a:lnTo>
                    <a:pt x="1200" y="2436"/>
                  </a:lnTo>
                  <a:lnTo>
                    <a:pt x="1194" y="2436"/>
                  </a:lnTo>
                  <a:lnTo>
                    <a:pt x="1188" y="2436"/>
                  </a:lnTo>
                  <a:lnTo>
                    <a:pt x="1188" y="2430"/>
                  </a:lnTo>
                  <a:lnTo>
                    <a:pt x="1188" y="2436"/>
                  </a:lnTo>
                  <a:lnTo>
                    <a:pt x="1182" y="2436"/>
                  </a:lnTo>
                  <a:lnTo>
                    <a:pt x="1182" y="2442"/>
                  </a:lnTo>
                  <a:lnTo>
                    <a:pt x="1182" y="2436"/>
                  </a:lnTo>
                  <a:lnTo>
                    <a:pt x="1182" y="2442"/>
                  </a:lnTo>
                  <a:lnTo>
                    <a:pt x="1182" y="2448"/>
                  </a:lnTo>
                  <a:lnTo>
                    <a:pt x="1188" y="2448"/>
                  </a:lnTo>
                  <a:lnTo>
                    <a:pt x="1188" y="2442"/>
                  </a:lnTo>
                  <a:lnTo>
                    <a:pt x="1188" y="2448"/>
                  </a:lnTo>
                  <a:lnTo>
                    <a:pt x="1194" y="2448"/>
                  </a:lnTo>
                  <a:lnTo>
                    <a:pt x="1188" y="2448"/>
                  </a:lnTo>
                  <a:lnTo>
                    <a:pt x="1194" y="2448"/>
                  </a:lnTo>
                  <a:lnTo>
                    <a:pt x="1194" y="2454"/>
                  </a:lnTo>
                  <a:lnTo>
                    <a:pt x="1200" y="2454"/>
                  </a:lnTo>
                  <a:lnTo>
                    <a:pt x="1194" y="2454"/>
                  </a:lnTo>
                  <a:lnTo>
                    <a:pt x="1200" y="2454"/>
                  </a:lnTo>
                  <a:lnTo>
                    <a:pt x="1200" y="2460"/>
                  </a:lnTo>
                  <a:lnTo>
                    <a:pt x="1200" y="2466"/>
                  </a:lnTo>
                  <a:lnTo>
                    <a:pt x="1206" y="2466"/>
                  </a:lnTo>
                  <a:lnTo>
                    <a:pt x="1206" y="2472"/>
                  </a:lnTo>
                  <a:lnTo>
                    <a:pt x="1212" y="2472"/>
                  </a:lnTo>
                  <a:lnTo>
                    <a:pt x="1212" y="2478"/>
                  </a:lnTo>
                  <a:lnTo>
                    <a:pt x="1212" y="2484"/>
                  </a:lnTo>
                  <a:lnTo>
                    <a:pt x="1206" y="2484"/>
                  </a:lnTo>
                  <a:lnTo>
                    <a:pt x="1206" y="2490"/>
                  </a:lnTo>
                  <a:lnTo>
                    <a:pt x="1206" y="2484"/>
                  </a:lnTo>
                  <a:lnTo>
                    <a:pt x="1206" y="2490"/>
                  </a:lnTo>
                  <a:lnTo>
                    <a:pt x="1206" y="2496"/>
                  </a:lnTo>
                  <a:lnTo>
                    <a:pt x="1206" y="2502"/>
                  </a:lnTo>
                  <a:lnTo>
                    <a:pt x="1212" y="2502"/>
                  </a:lnTo>
                  <a:lnTo>
                    <a:pt x="1206" y="2508"/>
                  </a:lnTo>
                  <a:lnTo>
                    <a:pt x="1206" y="2502"/>
                  </a:lnTo>
                  <a:lnTo>
                    <a:pt x="1206" y="2508"/>
                  </a:lnTo>
                  <a:lnTo>
                    <a:pt x="1206" y="2502"/>
                  </a:lnTo>
                  <a:lnTo>
                    <a:pt x="1200" y="2502"/>
                  </a:lnTo>
                  <a:lnTo>
                    <a:pt x="1200" y="2496"/>
                  </a:lnTo>
                  <a:lnTo>
                    <a:pt x="1194" y="2502"/>
                  </a:lnTo>
                  <a:lnTo>
                    <a:pt x="1194" y="2508"/>
                  </a:lnTo>
                  <a:lnTo>
                    <a:pt x="1194" y="2502"/>
                  </a:lnTo>
                  <a:lnTo>
                    <a:pt x="1188" y="2502"/>
                  </a:lnTo>
                  <a:lnTo>
                    <a:pt x="1182" y="2502"/>
                  </a:lnTo>
                  <a:lnTo>
                    <a:pt x="1182" y="2508"/>
                  </a:lnTo>
                  <a:lnTo>
                    <a:pt x="1182" y="2514"/>
                  </a:lnTo>
                  <a:lnTo>
                    <a:pt x="1182" y="2520"/>
                  </a:lnTo>
                  <a:lnTo>
                    <a:pt x="1182" y="2526"/>
                  </a:lnTo>
                  <a:lnTo>
                    <a:pt x="1176" y="2526"/>
                  </a:lnTo>
                  <a:lnTo>
                    <a:pt x="1176" y="2532"/>
                  </a:lnTo>
                  <a:lnTo>
                    <a:pt x="1176" y="2538"/>
                  </a:lnTo>
                  <a:lnTo>
                    <a:pt x="1170" y="2538"/>
                  </a:lnTo>
                  <a:lnTo>
                    <a:pt x="1170" y="2544"/>
                  </a:lnTo>
                  <a:lnTo>
                    <a:pt x="1170" y="2550"/>
                  </a:lnTo>
                  <a:lnTo>
                    <a:pt x="1170" y="2556"/>
                  </a:lnTo>
                  <a:lnTo>
                    <a:pt x="1170" y="2562"/>
                  </a:lnTo>
                  <a:lnTo>
                    <a:pt x="1170" y="2568"/>
                  </a:lnTo>
                  <a:lnTo>
                    <a:pt x="1164" y="2568"/>
                  </a:lnTo>
                  <a:lnTo>
                    <a:pt x="1158" y="2568"/>
                  </a:lnTo>
                  <a:lnTo>
                    <a:pt x="1152" y="2568"/>
                  </a:lnTo>
                  <a:lnTo>
                    <a:pt x="1146" y="2568"/>
                  </a:lnTo>
                  <a:lnTo>
                    <a:pt x="1140" y="2568"/>
                  </a:lnTo>
                  <a:lnTo>
                    <a:pt x="1134" y="2568"/>
                  </a:lnTo>
                  <a:lnTo>
                    <a:pt x="1128" y="2568"/>
                  </a:lnTo>
                  <a:lnTo>
                    <a:pt x="1128" y="2562"/>
                  </a:lnTo>
                  <a:lnTo>
                    <a:pt x="1122" y="2562"/>
                  </a:lnTo>
                  <a:lnTo>
                    <a:pt x="1122" y="2568"/>
                  </a:lnTo>
                  <a:lnTo>
                    <a:pt x="1116" y="2562"/>
                  </a:lnTo>
                  <a:lnTo>
                    <a:pt x="1110" y="2562"/>
                  </a:lnTo>
                  <a:lnTo>
                    <a:pt x="1110" y="2568"/>
                  </a:lnTo>
                  <a:lnTo>
                    <a:pt x="1104" y="2562"/>
                  </a:lnTo>
                  <a:lnTo>
                    <a:pt x="1104" y="2568"/>
                  </a:lnTo>
                  <a:lnTo>
                    <a:pt x="1098" y="2568"/>
                  </a:lnTo>
                  <a:lnTo>
                    <a:pt x="1092" y="2568"/>
                  </a:lnTo>
                  <a:lnTo>
                    <a:pt x="1086" y="2568"/>
                  </a:lnTo>
                  <a:lnTo>
                    <a:pt x="1086" y="2574"/>
                  </a:lnTo>
                  <a:lnTo>
                    <a:pt x="1086" y="2580"/>
                  </a:lnTo>
                  <a:lnTo>
                    <a:pt x="1086" y="2586"/>
                  </a:lnTo>
                  <a:lnTo>
                    <a:pt x="1080" y="2586"/>
                  </a:lnTo>
                  <a:lnTo>
                    <a:pt x="1074" y="2586"/>
                  </a:lnTo>
                  <a:lnTo>
                    <a:pt x="1068" y="2586"/>
                  </a:lnTo>
                  <a:lnTo>
                    <a:pt x="1068" y="2580"/>
                  </a:lnTo>
                  <a:lnTo>
                    <a:pt x="1062" y="2580"/>
                  </a:lnTo>
                  <a:lnTo>
                    <a:pt x="1056" y="2580"/>
                  </a:lnTo>
                  <a:lnTo>
                    <a:pt x="1056" y="2574"/>
                  </a:lnTo>
                  <a:lnTo>
                    <a:pt x="1050" y="2568"/>
                  </a:lnTo>
                  <a:lnTo>
                    <a:pt x="1044" y="2568"/>
                  </a:lnTo>
                  <a:lnTo>
                    <a:pt x="1044" y="2574"/>
                  </a:lnTo>
                  <a:lnTo>
                    <a:pt x="1038" y="2574"/>
                  </a:lnTo>
                  <a:lnTo>
                    <a:pt x="1032" y="2574"/>
                  </a:lnTo>
                  <a:lnTo>
                    <a:pt x="1026" y="2568"/>
                  </a:lnTo>
                  <a:lnTo>
                    <a:pt x="1020" y="2568"/>
                  </a:lnTo>
                  <a:lnTo>
                    <a:pt x="1020" y="2574"/>
                  </a:lnTo>
                  <a:lnTo>
                    <a:pt x="1020" y="2580"/>
                  </a:lnTo>
                  <a:lnTo>
                    <a:pt x="1014" y="2580"/>
                  </a:lnTo>
                  <a:lnTo>
                    <a:pt x="1008" y="2580"/>
                  </a:lnTo>
                  <a:lnTo>
                    <a:pt x="1008" y="2574"/>
                  </a:lnTo>
                  <a:lnTo>
                    <a:pt x="1002" y="2568"/>
                  </a:lnTo>
                  <a:lnTo>
                    <a:pt x="996" y="2568"/>
                  </a:lnTo>
                  <a:lnTo>
                    <a:pt x="990" y="2568"/>
                  </a:lnTo>
                  <a:lnTo>
                    <a:pt x="990" y="2574"/>
                  </a:lnTo>
                  <a:lnTo>
                    <a:pt x="984" y="2574"/>
                  </a:lnTo>
                  <a:lnTo>
                    <a:pt x="978" y="2574"/>
                  </a:lnTo>
                  <a:lnTo>
                    <a:pt x="972" y="2574"/>
                  </a:lnTo>
                  <a:lnTo>
                    <a:pt x="972" y="2580"/>
                  </a:lnTo>
                  <a:lnTo>
                    <a:pt x="966" y="2580"/>
                  </a:lnTo>
                  <a:lnTo>
                    <a:pt x="960" y="2580"/>
                  </a:lnTo>
                  <a:lnTo>
                    <a:pt x="954" y="2580"/>
                  </a:lnTo>
                  <a:lnTo>
                    <a:pt x="948" y="2580"/>
                  </a:lnTo>
                  <a:lnTo>
                    <a:pt x="948" y="2574"/>
                  </a:lnTo>
                  <a:lnTo>
                    <a:pt x="954" y="2574"/>
                  </a:lnTo>
                  <a:lnTo>
                    <a:pt x="948" y="2574"/>
                  </a:lnTo>
                  <a:lnTo>
                    <a:pt x="954" y="2568"/>
                  </a:lnTo>
                  <a:lnTo>
                    <a:pt x="948" y="2568"/>
                  </a:lnTo>
                  <a:lnTo>
                    <a:pt x="948" y="2562"/>
                  </a:lnTo>
                  <a:lnTo>
                    <a:pt x="942" y="2562"/>
                  </a:lnTo>
                  <a:lnTo>
                    <a:pt x="936" y="2562"/>
                  </a:lnTo>
                  <a:lnTo>
                    <a:pt x="930" y="2562"/>
                  </a:lnTo>
                  <a:lnTo>
                    <a:pt x="924" y="2568"/>
                  </a:lnTo>
                  <a:lnTo>
                    <a:pt x="924" y="2562"/>
                  </a:lnTo>
                  <a:lnTo>
                    <a:pt x="918" y="2556"/>
                  </a:lnTo>
                  <a:lnTo>
                    <a:pt x="912" y="2556"/>
                  </a:lnTo>
                  <a:lnTo>
                    <a:pt x="906" y="2556"/>
                  </a:lnTo>
                  <a:lnTo>
                    <a:pt x="900" y="2556"/>
                  </a:lnTo>
                  <a:lnTo>
                    <a:pt x="894" y="2556"/>
                  </a:lnTo>
                  <a:lnTo>
                    <a:pt x="888" y="2556"/>
                  </a:lnTo>
                  <a:lnTo>
                    <a:pt x="888" y="2550"/>
                  </a:lnTo>
                  <a:lnTo>
                    <a:pt x="882" y="2550"/>
                  </a:lnTo>
                  <a:lnTo>
                    <a:pt x="876" y="2550"/>
                  </a:lnTo>
                  <a:lnTo>
                    <a:pt x="876" y="2544"/>
                  </a:lnTo>
                  <a:lnTo>
                    <a:pt x="870" y="2538"/>
                  </a:lnTo>
                  <a:lnTo>
                    <a:pt x="864" y="2538"/>
                  </a:lnTo>
                  <a:lnTo>
                    <a:pt x="864" y="2532"/>
                  </a:lnTo>
                  <a:lnTo>
                    <a:pt x="864" y="2526"/>
                  </a:lnTo>
                  <a:lnTo>
                    <a:pt x="858" y="2526"/>
                  </a:lnTo>
                  <a:lnTo>
                    <a:pt x="858" y="2520"/>
                  </a:lnTo>
                  <a:lnTo>
                    <a:pt x="852" y="2514"/>
                  </a:lnTo>
                  <a:lnTo>
                    <a:pt x="846" y="2508"/>
                  </a:lnTo>
                  <a:lnTo>
                    <a:pt x="840" y="2514"/>
                  </a:lnTo>
                  <a:lnTo>
                    <a:pt x="834" y="2508"/>
                  </a:lnTo>
                  <a:lnTo>
                    <a:pt x="828" y="2508"/>
                  </a:lnTo>
                  <a:lnTo>
                    <a:pt x="822" y="2508"/>
                  </a:lnTo>
                  <a:lnTo>
                    <a:pt x="816" y="2508"/>
                  </a:lnTo>
                  <a:lnTo>
                    <a:pt x="816" y="2502"/>
                  </a:lnTo>
                  <a:lnTo>
                    <a:pt x="810" y="2502"/>
                  </a:lnTo>
                  <a:lnTo>
                    <a:pt x="810" y="2496"/>
                  </a:lnTo>
                  <a:lnTo>
                    <a:pt x="804" y="2496"/>
                  </a:lnTo>
                  <a:lnTo>
                    <a:pt x="798" y="2496"/>
                  </a:lnTo>
                  <a:lnTo>
                    <a:pt x="804" y="2496"/>
                  </a:lnTo>
                  <a:lnTo>
                    <a:pt x="804" y="2502"/>
                  </a:lnTo>
                  <a:lnTo>
                    <a:pt x="798" y="2502"/>
                  </a:lnTo>
                  <a:lnTo>
                    <a:pt x="792" y="2502"/>
                  </a:lnTo>
                  <a:lnTo>
                    <a:pt x="786" y="2496"/>
                  </a:lnTo>
                  <a:lnTo>
                    <a:pt x="780" y="2490"/>
                  </a:lnTo>
                  <a:lnTo>
                    <a:pt x="774" y="2490"/>
                  </a:lnTo>
                  <a:lnTo>
                    <a:pt x="774" y="2484"/>
                  </a:lnTo>
                  <a:lnTo>
                    <a:pt x="768" y="2484"/>
                  </a:lnTo>
                  <a:lnTo>
                    <a:pt x="762" y="2484"/>
                  </a:lnTo>
                  <a:lnTo>
                    <a:pt x="756" y="2484"/>
                  </a:lnTo>
                  <a:lnTo>
                    <a:pt x="750" y="2484"/>
                  </a:lnTo>
                  <a:lnTo>
                    <a:pt x="744" y="2484"/>
                  </a:lnTo>
                  <a:lnTo>
                    <a:pt x="750" y="2478"/>
                  </a:lnTo>
                  <a:lnTo>
                    <a:pt x="744" y="2472"/>
                  </a:lnTo>
                  <a:lnTo>
                    <a:pt x="744" y="2466"/>
                  </a:lnTo>
                  <a:lnTo>
                    <a:pt x="738" y="2460"/>
                  </a:lnTo>
                  <a:lnTo>
                    <a:pt x="726" y="2460"/>
                  </a:lnTo>
                  <a:lnTo>
                    <a:pt x="720" y="2460"/>
                  </a:lnTo>
                  <a:lnTo>
                    <a:pt x="720" y="2454"/>
                  </a:lnTo>
                  <a:lnTo>
                    <a:pt x="714" y="2454"/>
                  </a:lnTo>
                  <a:lnTo>
                    <a:pt x="708" y="2460"/>
                  </a:lnTo>
                  <a:lnTo>
                    <a:pt x="702" y="2460"/>
                  </a:lnTo>
                  <a:lnTo>
                    <a:pt x="696" y="2454"/>
                  </a:lnTo>
                  <a:lnTo>
                    <a:pt x="690" y="2460"/>
                  </a:lnTo>
                  <a:lnTo>
                    <a:pt x="684" y="2460"/>
                  </a:lnTo>
                  <a:lnTo>
                    <a:pt x="684" y="2466"/>
                  </a:lnTo>
                  <a:lnTo>
                    <a:pt x="678" y="2466"/>
                  </a:lnTo>
                  <a:lnTo>
                    <a:pt x="672" y="2466"/>
                  </a:lnTo>
                  <a:lnTo>
                    <a:pt x="666" y="2466"/>
                  </a:lnTo>
                  <a:lnTo>
                    <a:pt x="666" y="2472"/>
                  </a:lnTo>
                  <a:lnTo>
                    <a:pt x="660" y="2472"/>
                  </a:lnTo>
                  <a:lnTo>
                    <a:pt x="660" y="2466"/>
                  </a:lnTo>
                  <a:lnTo>
                    <a:pt x="654" y="2466"/>
                  </a:lnTo>
                  <a:lnTo>
                    <a:pt x="654" y="2454"/>
                  </a:lnTo>
                  <a:lnTo>
                    <a:pt x="648" y="2448"/>
                  </a:lnTo>
                  <a:lnTo>
                    <a:pt x="648" y="2436"/>
                  </a:lnTo>
                  <a:lnTo>
                    <a:pt x="654" y="2430"/>
                  </a:lnTo>
                  <a:lnTo>
                    <a:pt x="642" y="2424"/>
                  </a:lnTo>
                  <a:lnTo>
                    <a:pt x="642" y="2418"/>
                  </a:lnTo>
                  <a:lnTo>
                    <a:pt x="648" y="2412"/>
                  </a:lnTo>
                  <a:lnTo>
                    <a:pt x="648" y="2406"/>
                  </a:lnTo>
                  <a:lnTo>
                    <a:pt x="642" y="2406"/>
                  </a:lnTo>
                  <a:lnTo>
                    <a:pt x="636" y="2418"/>
                  </a:lnTo>
                  <a:lnTo>
                    <a:pt x="630" y="2412"/>
                  </a:lnTo>
                  <a:lnTo>
                    <a:pt x="636" y="2406"/>
                  </a:lnTo>
                  <a:lnTo>
                    <a:pt x="630" y="2400"/>
                  </a:lnTo>
                  <a:lnTo>
                    <a:pt x="636" y="2400"/>
                  </a:lnTo>
                  <a:lnTo>
                    <a:pt x="630" y="2394"/>
                  </a:lnTo>
                  <a:lnTo>
                    <a:pt x="630" y="2376"/>
                  </a:lnTo>
                  <a:lnTo>
                    <a:pt x="636" y="2364"/>
                  </a:lnTo>
                  <a:lnTo>
                    <a:pt x="630" y="2364"/>
                  </a:lnTo>
                  <a:lnTo>
                    <a:pt x="630" y="2358"/>
                  </a:lnTo>
                  <a:lnTo>
                    <a:pt x="630" y="2352"/>
                  </a:lnTo>
                  <a:lnTo>
                    <a:pt x="630" y="2340"/>
                  </a:lnTo>
                  <a:lnTo>
                    <a:pt x="624" y="2328"/>
                  </a:lnTo>
                  <a:lnTo>
                    <a:pt x="618" y="2322"/>
                  </a:lnTo>
                  <a:lnTo>
                    <a:pt x="618" y="2316"/>
                  </a:lnTo>
                  <a:lnTo>
                    <a:pt x="618" y="2310"/>
                  </a:lnTo>
                  <a:lnTo>
                    <a:pt x="618" y="2304"/>
                  </a:lnTo>
                  <a:lnTo>
                    <a:pt x="618" y="2298"/>
                  </a:lnTo>
                  <a:lnTo>
                    <a:pt x="612" y="2298"/>
                  </a:lnTo>
                  <a:lnTo>
                    <a:pt x="612" y="2292"/>
                  </a:lnTo>
                  <a:lnTo>
                    <a:pt x="618" y="2292"/>
                  </a:lnTo>
                  <a:lnTo>
                    <a:pt x="618" y="2286"/>
                  </a:lnTo>
                  <a:lnTo>
                    <a:pt x="612" y="2286"/>
                  </a:lnTo>
                  <a:lnTo>
                    <a:pt x="612" y="2274"/>
                  </a:lnTo>
                  <a:lnTo>
                    <a:pt x="618" y="2268"/>
                  </a:lnTo>
                  <a:lnTo>
                    <a:pt x="612" y="2262"/>
                  </a:lnTo>
                  <a:lnTo>
                    <a:pt x="612" y="2250"/>
                  </a:lnTo>
                  <a:lnTo>
                    <a:pt x="606" y="2250"/>
                  </a:lnTo>
                  <a:lnTo>
                    <a:pt x="600" y="2244"/>
                  </a:lnTo>
                  <a:lnTo>
                    <a:pt x="600" y="2238"/>
                  </a:lnTo>
                  <a:lnTo>
                    <a:pt x="594" y="2238"/>
                  </a:lnTo>
                  <a:lnTo>
                    <a:pt x="588" y="2238"/>
                  </a:lnTo>
                  <a:lnTo>
                    <a:pt x="588" y="2232"/>
                  </a:lnTo>
                  <a:lnTo>
                    <a:pt x="582" y="2238"/>
                  </a:lnTo>
                  <a:lnTo>
                    <a:pt x="576" y="2238"/>
                  </a:lnTo>
                  <a:lnTo>
                    <a:pt x="576" y="2250"/>
                  </a:lnTo>
                  <a:lnTo>
                    <a:pt x="570" y="2244"/>
                  </a:lnTo>
                  <a:lnTo>
                    <a:pt x="570" y="2238"/>
                  </a:lnTo>
                  <a:lnTo>
                    <a:pt x="558" y="2250"/>
                  </a:lnTo>
                  <a:lnTo>
                    <a:pt x="546" y="2244"/>
                  </a:lnTo>
                  <a:lnTo>
                    <a:pt x="540" y="2232"/>
                  </a:lnTo>
                  <a:lnTo>
                    <a:pt x="540" y="2220"/>
                  </a:lnTo>
                  <a:lnTo>
                    <a:pt x="546" y="2214"/>
                  </a:lnTo>
                  <a:lnTo>
                    <a:pt x="540" y="2214"/>
                  </a:lnTo>
                  <a:lnTo>
                    <a:pt x="534" y="2208"/>
                  </a:lnTo>
                  <a:lnTo>
                    <a:pt x="552" y="2196"/>
                  </a:lnTo>
                  <a:lnTo>
                    <a:pt x="546" y="2196"/>
                  </a:lnTo>
                  <a:lnTo>
                    <a:pt x="546" y="2190"/>
                  </a:lnTo>
                  <a:lnTo>
                    <a:pt x="540" y="2196"/>
                  </a:lnTo>
                  <a:lnTo>
                    <a:pt x="534" y="2196"/>
                  </a:lnTo>
                  <a:lnTo>
                    <a:pt x="534" y="2190"/>
                  </a:lnTo>
                  <a:lnTo>
                    <a:pt x="528" y="2178"/>
                  </a:lnTo>
                  <a:lnTo>
                    <a:pt x="522" y="2178"/>
                  </a:lnTo>
                  <a:lnTo>
                    <a:pt x="522" y="2172"/>
                  </a:lnTo>
                  <a:lnTo>
                    <a:pt x="516" y="2172"/>
                  </a:lnTo>
                  <a:lnTo>
                    <a:pt x="516" y="2166"/>
                  </a:lnTo>
                  <a:lnTo>
                    <a:pt x="510" y="2166"/>
                  </a:lnTo>
                  <a:lnTo>
                    <a:pt x="504" y="2166"/>
                  </a:lnTo>
                  <a:lnTo>
                    <a:pt x="498" y="2166"/>
                  </a:lnTo>
                  <a:lnTo>
                    <a:pt x="492" y="2160"/>
                  </a:lnTo>
                  <a:lnTo>
                    <a:pt x="486" y="2160"/>
                  </a:lnTo>
                  <a:lnTo>
                    <a:pt x="474" y="2154"/>
                  </a:lnTo>
                  <a:lnTo>
                    <a:pt x="462" y="2154"/>
                  </a:lnTo>
                  <a:lnTo>
                    <a:pt x="462" y="2160"/>
                  </a:lnTo>
                  <a:lnTo>
                    <a:pt x="456" y="2154"/>
                  </a:lnTo>
                  <a:lnTo>
                    <a:pt x="450" y="2166"/>
                  </a:lnTo>
                  <a:lnTo>
                    <a:pt x="444" y="2172"/>
                  </a:lnTo>
                  <a:lnTo>
                    <a:pt x="438" y="2184"/>
                  </a:lnTo>
                  <a:lnTo>
                    <a:pt x="432" y="2184"/>
                  </a:lnTo>
                  <a:lnTo>
                    <a:pt x="426" y="2184"/>
                  </a:lnTo>
                  <a:lnTo>
                    <a:pt x="420" y="2184"/>
                  </a:lnTo>
                  <a:lnTo>
                    <a:pt x="420" y="2196"/>
                  </a:lnTo>
                  <a:lnTo>
                    <a:pt x="420" y="2202"/>
                  </a:lnTo>
                  <a:lnTo>
                    <a:pt x="420" y="2208"/>
                  </a:lnTo>
                  <a:lnTo>
                    <a:pt x="414" y="2208"/>
                  </a:lnTo>
                  <a:lnTo>
                    <a:pt x="408" y="2214"/>
                  </a:lnTo>
                  <a:lnTo>
                    <a:pt x="402" y="2220"/>
                  </a:lnTo>
                  <a:lnTo>
                    <a:pt x="396" y="2220"/>
                  </a:lnTo>
                  <a:lnTo>
                    <a:pt x="390" y="2226"/>
                  </a:lnTo>
                  <a:lnTo>
                    <a:pt x="384" y="2232"/>
                  </a:lnTo>
                  <a:lnTo>
                    <a:pt x="378" y="2238"/>
                  </a:lnTo>
                  <a:lnTo>
                    <a:pt x="378" y="2244"/>
                  </a:lnTo>
                  <a:lnTo>
                    <a:pt x="372" y="2250"/>
                  </a:lnTo>
                  <a:lnTo>
                    <a:pt x="372" y="2256"/>
                  </a:lnTo>
                  <a:lnTo>
                    <a:pt x="372" y="2268"/>
                  </a:lnTo>
                  <a:lnTo>
                    <a:pt x="366" y="2274"/>
                  </a:lnTo>
                  <a:lnTo>
                    <a:pt x="354" y="2274"/>
                  </a:lnTo>
                  <a:lnTo>
                    <a:pt x="354" y="2280"/>
                  </a:lnTo>
                  <a:lnTo>
                    <a:pt x="348" y="2280"/>
                  </a:lnTo>
                  <a:lnTo>
                    <a:pt x="336" y="2286"/>
                  </a:lnTo>
                  <a:lnTo>
                    <a:pt x="330" y="2280"/>
                  </a:lnTo>
                  <a:lnTo>
                    <a:pt x="330" y="2286"/>
                  </a:lnTo>
                  <a:lnTo>
                    <a:pt x="324" y="2298"/>
                  </a:lnTo>
                  <a:lnTo>
                    <a:pt x="324" y="2292"/>
                  </a:lnTo>
                  <a:lnTo>
                    <a:pt x="324" y="2274"/>
                  </a:lnTo>
                  <a:lnTo>
                    <a:pt x="330" y="2268"/>
                  </a:lnTo>
                  <a:lnTo>
                    <a:pt x="336" y="2262"/>
                  </a:lnTo>
                  <a:lnTo>
                    <a:pt x="324" y="2256"/>
                  </a:lnTo>
                  <a:lnTo>
                    <a:pt x="318" y="2262"/>
                  </a:lnTo>
                  <a:lnTo>
                    <a:pt x="318" y="2250"/>
                  </a:lnTo>
                  <a:lnTo>
                    <a:pt x="318" y="2244"/>
                  </a:lnTo>
                  <a:lnTo>
                    <a:pt x="312" y="2244"/>
                  </a:lnTo>
                  <a:lnTo>
                    <a:pt x="312" y="2250"/>
                  </a:lnTo>
                  <a:lnTo>
                    <a:pt x="312" y="2256"/>
                  </a:lnTo>
                  <a:lnTo>
                    <a:pt x="300" y="2262"/>
                  </a:lnTo>
                  <a:lnTo>
                    <a:pt x="294" y="2262"/>
                  </a:lnTo>
                  <a:lnTo>
                    <a:pt x="288" y="2262"/>
                  </a:lnTo>
                  <a:lnTo>
                    <a:pt x="282" y="2262"/>
                  </a:lnTo>
                  <a:lnTo>
                    <a:pt x="282" y="2256"/>
                  </a:lnTo>
                  <a:lnTo>
                    <a:pt x="276" y="2256"/>
                  </a:lnTo>
                  <a:lnTo>
                    <a:pt x="270" y="2256"/>
                  </a:lnTo>
                  <a:lnTo>
                    <a:pt x="270" y="2262"/>
                  </a:lnTo>
                  <a:lnTo>
                    <a:pt x="264" y="2262"/>
                  </a:lnTo>
                  <a:lnTo>
                    <a:pt x="258" y="2262"/>
                  </a:lnTo>
                  <a:lnTo>
                    <a:pt x="258" y="2256"/>
                  </a:lnTo>
                  <a:lnTo>
                    <a:pt x="252" y="2256"/>
                  </a:lnTo>
                  <a:lnTo>
                    <a:pt x="246" y="2256"/>
                  </a:lnTo>
                  <a:lnTo>
                    <a:pt x="246" y="2262"/>
                  </a:lnTo>
                  <a:lnTo>
                    <a:pt x="240" y="2262"/>
                  </a:lnTo>
                  <a:lnTo>
                    <a:pt x="240" y="2268"/>
                  </a:lnTo>
                  <a:lnTo>
                    <a:pt x="234" y="2268"/>
                  </a:lnTo>
                  <a:lnTo>
                    <a:pt x="234" y="2274"/>
                  </a:lnTo>
                  <a:lnTo>
                    <a:pt x="234" y="2280"/>
                  </a:lnTo>
                  <a:lnTo>
                    <a:pt x="234" y="2274"/>
                  </a:lnTo>
                  <a:lnTo>
                    <a:pt x="234" y="2280"/>
                  </a:lnTo>
                  <a:lnTo>
                    <a:pt x="228" y="2280"/>
                  </a:lnTo>
                  <a:lnTo>
                    <a:pt x="222" y="2280"/>
                  </a:lnTo>
                  <a:lnTo>
                    <a:pt x="216" y="2280"/>
                  </a:lnTo>
                  <a:lnTo>
                    <a:pt x="210" y="2286"/>
                  </a:lnTo>
                  <a:lnTo>
                    <a:pt x="204" y="2280"/>
                  </a:lnTo>
                  <a:lnTo>
                    <a:pt x="198" y="2280"/>
                  </a:lnTo>
                  <a:lnTo>
                    <a:pt x="198" y="2274"/>
                  </a:lnTo>
                  <a:lnTo>
                    <a:pt x="192" y="2268"/>
                  </a:lnTo>
                  <a:lnTo>
                    <a:pt x="192" y="2262"/>
                  </a:lnTo>
                  <a:lnTo>
                    <a:pt x="180" y="2262"/>
                  </a:lnTo>
                  <a:lnTo>
                    <a:pt x="180" y="2256"/>
                  </a:lnTo>
                  <a:lnTo>
                    <a:pt x="186" y="2256"/>
                  </a:lnTo>
                  <a:lnTo>
                    <a:pt x="180" y="2244"/>
                  </a:lnTo>
                  <a:lnTo>
                    <a:pt x="192" y="2232"/>
                  </a:lnTo>
                  <a:lnTo>
                    <a:pt x="186" y="2226"/>
                  </a:lnTo>
                  <a:lnTo>
                    <a:pt x="192" y="2220"/>
                  </a:lnTo>
                  <a:lnTo>
                    <a:pt x="198" y="2214"/>
                  </a:lnTo>
                  <a:lnTo>
                    <a:pt x="198" y="2208"/>
                  </a:lnTo>
                  <a:lnTo>
                    <a:pt x="204" y="2196"/>
                  </a:lnTo>
                  <a:lnTo>
                    <a:pt x="198" y="2190"/>
                  </a:lnTo>
                  <a:lnTo>
                    <a:pt x="198" y="2178"/>
                  </a:lnTo>
                  <a:lnTo>
                    <a:pt x="204" y="2172"/>
                  </a:lnTo>
                  <a:lnTo>
                    <a:pt x="210" y="2172"/>
                  </a:lnTo>
                  <a:lnTo>
                    <a:pt x="210" y="2166"/>
                  </a:lnTo>
                  <a:lnTo>
                    <a:pt x="216" y="2166"/>
                  </a:lnTo>
                  <a:lnTo>
                    <a:pt x="210" y="2166"/>
                  </a:lnTo>
                  <a:lnTo>
                    <a:pt x="216" y="2166"/>
                  </a:lnTo>
                  <a:lnTo>
                    <a:pt x="216" y="2160"/>
                  </a:lnTo>
                  <a:lnTo>
                    <a:pt x="210" y="2160"/>
                  </a:lnTo>
                  <a:lnTo>
                    <a:pt x="210" y="2154"/>
                  </a:lnTo>
                  <a:lnTo>
                    <a:pt x="216" y="2154"/>
                  </a:lnTo>
                  <a:lnTo>
                    <a:pt x="216" y="2148"/>
                  </a:lnTo>
                  <a:lnTo>
                    <a:pt x="222" y="2148"/>
                  </a:lnTo>
                  <a:lnTo>
                    <a:pt x="222" y="2154"/>
                  </a:lnTo>
                  <a:lnTo>
                    <a:pt x="222" y="2148"/>
                  </a:lnTo>
                  <a:lnTo>
                    <a:pt x="222" y="2142"/>
                  </a:lnTo>
                  <a:lnTo>
                    <a:pt x="228" y="2142"/>
                  </a:lnTo>
                  <a:lnTo>
                    <a:pt x="222" y="2142"/>
                  </a:lnTo>
                  <a:lnTo>
                    <a:pt x="222" y="2136"/>
                  </a:lnTo>
                  <a:lnTo>
                    <a:pt x="228" y="2136"/>
                  </a:lnTo>
                  <a:lnTo>
                    <a:pt x="234" y="2124"/>
                  </a:lnTo>
                  <a:lnTo>
                    <a:pt x="234" y="2118"/>
                  </a:lnTo>
                  <a:lnTo>
                    <a:pt x="234" y="2112"/>
                  </a:lnTo>
                  <a:lnTo>
                    <a:pt x="234" y="2106"/>
                  </a:lnTo>
                  <a:lnTo>
                    <a:pt x="240" y="2106"/>
                  </a:lnTo>
                  <a:lnTo>
                    <a:pt x="240" y="2100"/>
                  </a:lnTo>
                  <a:lnTo>
                    <a:pt x="234" y="2088"/>
                  </a:lnTo>
                  <a:lnTo>
                    <a:pt x="222" y="2088"/>
                  </a:lnTo>
                  <a:lnTo>
                    <a:pt x="216" y="2082"/>
                  </a:lnTo>
                  <a:lnTo>
                    <a:pt x="204" y="2076"/>
                  </a:lnTo>
                  <a:lnTo>
                    <a:pt x="198" y="2064"/>
                  </a:lnTo>
                  <a:lnTo>
                    <a:pt x="198" y="2058"/>
                  </a:lnTo>
                  <a:lnTo>
                    <a:pt x="204" y="2058"/>
                  </a:lnTo>
                  <a:lnTo>
                    <a:pt x="204" y="2052"/>
                  </a:lnTo>
                  <a:lnTo>
                    <a:pt x="204" y="2046"/>
                  </a:lnTo>
                  <a:lnTo>
                    <a:pt x="204" y="2040"/>
                  </a:lnTo>
                  <a:lnTo>
                    <a:pt x="198" y="2040"/>
                  </a:lnTo>
                  <a:lnTo>
                    <a:pt x="204" y="2040"/>
                  </a:lnTo>
                  <a:lnTo>
                    <a:pt x="198" y="2040"/>
                  </a:lnTo>
                  <a:lnTo>
                    <a:pt x="198" y="2034"/>
                  </a:lnTo>
                  <a:lnTo>
                    <a:pt x="198" y="2028"/>
                  </a:lnTo>
                  <a:lnTo>
                    <a:pt x="192" y="2028"/>
                  </a:lnTo>
                  <a:lnTo>
                    <a:pt x="198" y="2028"/>
                  </a:lnTo>
                  <a:lnTo>
                    <a:pt x="192" y="2028"/>
                  </a:lnTo>
                  <a:lnTo>
                    <a:pt x="192" y="2022"/>
                  </a:lnTo>
                  <a:lnTo>
                    <a:pt x="198" y="2022"/>
                  </a:lnTo>
                  <a:lnTo>
                    <a:pt x="192" y="2022"/>
                  </a:lnTo>
                  <a:lnTo>
                    <a:pt x="192" y="2016"/>
                  </a:lnTo>
                  <a:lnTo>
                    <a:pt x="198" y="2016"/>
                  </a:lnTo>
                  <a:lnTo>
                    <a:pt x="198" y="2010"/>
                  </a:lnTo>
                  <a:lnTo>
                    <a:pt x="204" y="2010"/>
                  </a:lnTo>
                  <a:lnTo>
                    <a:pt x="204" y="2004"/>
                  </a:lnTo>
                  <a:lnTo>
                    <a:pt x="210" y="2004"/>
                  </a:lnTo>
                  <a:lnTo>
                    <a:pt x="210" y="1998"/>
                  </a:lnTo>
                  <a:lnTo>
                    <a:pt x="216" y="1998"/>
                  </a:lnTo>
                  <a:lnTo>
                    <a:pt x="210" y="1986"/>
                  </a:lnTo>
                  <a:lnTo>
                    <a:pt x="204" y="1968"/>
                  </a:lnTo>
                  <a:lnTo>
                    <a:pt x="186" y="1968"/>
                  </a:lnTo>
                  <a:lnTo>
                    <a:pt x="180" y="1962"/>
                  </a:lnTo>
                  <a:lnTo>
                    <a:pt x="180" y="1950"/>
                  </a:lnTo>
                  <a:lnTo>
                    <a:pt x="186" y="1950"/>
                  </a:lnTo>
                  <a:lnTo>
                    <a:pt x="186" y="1944"/>
                  </a:lnTo>
                  <a:lnTo>
                    <a:pt x="192" y="1944"/>
                  </a:lnTo>
                  <a:lnTo>
                    <a:pt x="192" y="1938"/>
                  </a:lnTo>
                  <a:lnTo>
                    <a:pt x="192" y="1932"/>
                  </a:lnTo>
                  <a:lnTo>
                    <a:pt x="198" y="1926"/>
                  </a:lnTo>
                  <a:lnTo>
                    <a:pt x="198" y="1920"/>
                  </a:lnTo>
                  <a:lnTo>
                    <a:pt x="198" y="1926"/>
                  </a:lnTo>
                  <a:lnTo>
                    <a:pt x="198" y="1920"/>
                  </a:lnTo>
                  <a:lnTo>
                    <a:pt x="192" y="1920"/>
                  </a:lnTo>
                  <a:lnTo>
                    <a:pt x="192" y="1914"/>
                  </a:lnTo>
                  <a:lnTo>
                    <a:pt x="192" y="1908"/>
                  </a:lnTo>
                  <a:lnTo>
                    <a:pt x="192" y="1902"/>
                  </a:lnTo>
                  <a:lnTo>
                    <a:pt x="192" y="1896"/>
                  </a:lnTo>
                  <a:lnTo>
                    <a:pt x="192" y="1890"/>
                  </a:lnTo>
                  <a:lnTo>
                    <a:pt x="186" y="1890"/>
                  </a:lnTo>
                  <a:lnTo>
                    <a:pt x="186" y="1884"/>
                  </a:lnTo>
                  <a:lnTo>
                    <a:pt x="192" y="1884"/>
                  </a:lnTo>
                  <a:lnTo>
                    <a:pt x="186" y="1884"/>
                  </a:lnTo>
                  <a:lnTo>
                    <a:pt x="186" y="1878"/>
                  </a:lnTo>
                  <a:lnTo>
                    <a:pt x="186" y="1872"/>
                  </a:lnTo>
                  <a:lnTo>
                    <a:pt x="180" y="1872"/>
                  </a:lnTo>
                  <a:lnTo>
                    <a:pt x="180" y="1866"/>
                  </a:lnTo>
                  <a:lnTo>
                    <a:pt x="180" y="1860"/>
                  </a:lnTo>
                  <a:lnTo>
                    <a:pt x="174" y="1860"/>
                  </a:lnTo>
                  <a:lnTo>
                    <a:pt x="174" y="1854"/>
                  </a:lnTo>
                  <a:lnTo>
                    <a:pt x="168" y="1848"/>
                  </a:lnTo>
                  <a:lnTo>
                    <a:pt x="162" y="1848"/>
                  </a:lnTo>
                  <a:lnTo>
                    <a:pt x="162" y="1854"/>
                  </a:lnTo>
                  <a:lnTo>
                    <a:pt x="162" y="1848"/>
                  </a:lnTo>
                  <a:lnTo>
                    <a:pt x="156" y="1848"/>
                  </a:lnTo>
                  <a:lnTo>
                    <a:pt x="150" y="1848"/>
                  </a:lnTo>
                  <a:lnTo>
                    <a:pt x="144" y="1848"/>
                  </a:lnTo>
                  <a:lnTo>
                    <a:pt x="138" y="1848"/>
                  </a:lnTo>
                  <a:lnTo>
                    <a:pt x="132" y="1848"/>
                  </a:lnTo>
                  <a:lnTo>
                    <a:pt x="126" y="1848"/>
                  </a:lnTo>
                  <a:lnTo>
                    <a:pt x="126" y="1854"/>
                  </a:lnTo>
                  <a:lnTo>
                    <a:pt x="126" y="1848"/>
                  </a:lnTo>
                  <a:lnTo>
                    <a:pt x="138" y="1824"/>
                  </a:lnTo>
                  <a:lnTo>
                    <a:pt x="150" y="1830"/>
                  </a:lnTo>
                  <a:lnTo>
                    <a:pt x="156" y="1830"/>
                  </a:lnTo>
                  <a:lnTo>
                    <a:pt x="150" y="1812"/>
                  </a:lnTo>
                  <a:lnTo>
                    <a:pt x="150" y="1806"/>
                  </a:lnTo>
                  <a:lnTo>
                    <a:pt x="144" y="1794"/>
                  </a:lnTo>
                  <a:lnTo>
                    <a:pt x="138" y="1776"/>
                  </a:lnTo>
                  <a:lnTo>
                    <a:pt x="132" y="1776"/>
                  </a:lnTo>
                  <a:lnTo>
                    <a:pt x="126" y="1776"/>
                  </a:lnTo>
                  <a:lnTo>
                    <a:pt x="120" y="1782"/>
                  </a:lnTo>
                  <a:lnTo>
                    <a:pt x="120" y="1788"/>
                  </a:lnTo>
                  <a:lnTo>
                    <a:pt x="114" y="1788"/>
                  </a:lnTo>
                  <a:lnTo>
                    <a:pt x="102" y="1776"/>
                  </a:lnTo>
                  <a:lnTo>
                    <a:pt x="90" y="1782"/>
                  </a:lnTo>
                  <a:lnTo>
                    <a:pt x="78" y="1770"/>
                  </a:lnTo>
                  <a:lnTo>
                    <a:pt x="66" y="1764"/>
                  </a:lnTo>
                  <a:lnTo>
                    <a:pt x="54" y="1764"/>
                  </a:lnTo>
                  <a:lnTo>
                    <a:pt x="54" y="1752"/>
                  </a:lnTo>
                  <a:lnTo>
                    <a:pt x="48" y="1752"/>
                  </a:lnTo>
                  <a:lnTo>
                    <a:pt x="42" y="1758"/>
                  </a:lnTo>
                  <a:lnTo>
                    <a:pt x="24" y="1758"/>
                  </a:lnTo>
                  <a:lnTo>
                    <a:pt x="18" y="1752"/>
                  </a:lnTo>
                  <a:lnTo>
                    <a:pt x="12" y="1752"/>
                  </a:lnTo>
                  <a:lnTo>
                    <a:pt x="6" y="1734"/>
                  </a:lnTo>
                  <a:lnTo>
                    <a:pt x="0" y="1734"/>
                  </a:lnTo>
                  <a:lnTo>
                    <a:pt x="6" y="1734"/>
                  </a:lnTo>
                  <a:lnTo>
                    <a:pt x="6" y="1728"/>
                  </a:lnTo>
                  <a:lnTo>
                    <a:pt x="12" y="1728"/>
                  </a:lnTo>
                  <a:lnTo>
                    <a:pt x="18" y="1728"/>
                  </a:lnTo>
                  <a:lnTo>
                    <a:pt x="18" y="1722"/>
                  </a:lnTo>
                  <a:lnTo>
                    <a:pt x="24" y="1722"/>
                  </a:lnTo>
                  <a:lnTo>
                    <a:pt x="12" y="1716"/>
                  </a:lnTo>
                  <a:lnTo>
                    <a:pt x="18" y="1710"/>
                  </a:lnTo>
                  <a:lnTo>
                    <a:pt x="24" y="1716"/>
                  </a:lnTo>
                  <a:lnTo>
                    <a:pt x="24" y="1704"/>
                  </a:lnTo>
                  <a:lnTo>
                    <a:pt x="24" y="1698"/>
                  </a:lnTo>
                  <a:lnTo>
                    <a:pt x="36" y="1686"/>
                  </a:lnTo>
                  <a:lnTo>
                    <a:pt x="42" y="1680"/>
                  </a:lnTo>
                  <a:lnTo>
                    <a:pt x="48" y="1674"/>
                  </a:lnTo>
                  <a:lnTo>
                    <a:pt x="42" y="1668"/>
                  </a:lnTo>
                  <a:lnTo>
                    <a:pt x="48" y="1662"/>
                  </a:lnTo>
                  <a:lnTo>
                    <a:pt x="48" y="1656"/>
                  </a:lnTo>
                  <a:lnTo>
                    <a:pt x="54" y="1656"/>
                  </a:lnTo>
                  <a:lnTo>
                    <a:pt x="54" y="1650"/>
                  </a:lnTo>
                  <a:lnTo>
                    <a:pt x="60" y="1650"/>
                  </a:lnTo>
                  <a:lnTo>
                    <a:pt x="66" y="1650"/>
                  </a:lnTo>
                  <a:lnTo>
                    <a:pt x="66" y="1644"/>
                  </a:lnTo>
                  <a:lnTo>
                    <a:pt x="60" y="1644"/>
                  </a:lnTo>
                  <a:lnTo>
                    <a:pt x="60" y="1638"/>
                  </a:lnTo>
                  <a:lnTo>
                    <a:pt x="66" y="1638"/>
                  </a:lnTo>
                  <a:lnTo>
                    <a:pt x="60" y="1638"/>
                  </a:lnTo>
                  <a:lnTo>
                    <a:pt x="60" y="1632"/>
                  </a:lnTo>
                  <a:lnTo>
                    <a:pt x="54" y="1632"/>
                  </a:lnTo>
                  <a:lnTo>
                    <a:pt x="54" y="1626"/>
                  </a:lnTo>
                  <a:lnTo>
                    <a:pt x="48" y="1626"/>
                  </a:lnTo>
                  <a:lnTo>
                    <a:pt x="48" y="1620"/>
                  </a:lnTo>
                  <a:lnTo>
                    <a:pt x="54" y="1620"/>
                  </a:lnTo>
                  <a:lnTo>
                    <a:pt x="48" y="1620"/>
                  </a:lnTo>
                  <a:lnTo>
                    <a:pt x="54" y="1620"/>
                  </a:lnTo>
                  <a:lnTo>
                    <a:pt x="48" y="1620"/>
                  </a:lnTo>
                  <a:lnTo>
                    <a:pt x="54" y="1620"/>
                  </a:lnTo>
                  <a:lnTo>
                    <a:pt x="48" y="1614"/>
                  </a:lnTo>
                  <a:lnTo>
                    <a:pt x="54" y="1614"/>
                  </a:lnTo>
                  <a:lnTo>
                    <a:pt x="54" y="1608"/>
                  </a:lnTo>
                  <a:lnTo>
                    <a:pt x="54" y="1602"/>
                  </a:lnTo>
                  <a:lnTo>
                    <a:pt x="54" y="1596"/>
                  </a:lnTo>
                  <a:lnTo>
                    <a:pt x="54" y="1590"/>
                  </a:lnTo>
                  <a:lnTo>
                    <a:pt x="54" y="1584"/>
                  </a:lnTo>
                  <a:lnTo>
                    <a:pt x="48" y="1584"/>
                  </a:lnTo>
                  <a:lnTo>
                    <a:pt x="48" y="1578"/>
                  </a:lnTo>
                  <a:lnTo>
                    <a:pt x="48" y="1572"/>
                  </a:lnTo>
                  <a:lnTo>
                    <a:pt x="42" y="1572"/>
                  </a:lnTo>
                  <a:lnTo>
                    <a:pt x="36" y="1572"/>
                  </a:lnTo>
                  <a:lnTo>
                    <a:pt x="36" y="1566"/>
                  </a:lnTo>
                  <a:lnTo>
                    <a:pt x="36" y="1560"/>
                  </a:lnTo>
                  <a:lnTo>
                    <a:pt x="36" y="1554"/>
                  </a:lnTo>
                  <a:lnTo>
                    <a:pt x="36" y="1548"/>
                  </a:lnTo>
                  <a:lnTo>
                    <a:pt x="36" y="1542"/>
                  </a:lnTo>
                  <a:lnTo>
                    <a:pt x="42" y="1542"/>
                  </a:lnTo>
                  <a:lnTo>
                    <a:pt x="42" y="1536"/>
                  </a:lnTo>
                  <a:lnTo>
                    <a:pt x="48" y="1536"/>
                  </a:lnTo>
                  <a:lnTo>
                    <a:pt x="36" y="1524"/>
                  </a:lnTo>
                  <a:lnTo>
                    <a:pt x="36" y="1512"/>
                  </a:lnTo>
                  <a:lnTo>
                    <a:pt x="30" y="1500"/>
                  </a:lnTo>
                  <a:lnTo>
                    <a:pt x="30" y="1488"/>
                  </a:lnTo>
                  <a:lnTo>
                    <a:pt x="6" y="1482"/>
                  </a:lnTo>
                  <a:lnTo>
                    <a:pt x="0" y="1476"/>
                  </a:lnTo>
                  <a:lnTo>
                    <a:pt x="24" y="1470"/>
                  </a:lnTo>
                  <a:lnTo>
                    <a:pt x="24" y="1464"/>
                  </a:lnTo>
                  <a:lnTo>
                    <a:pt x="30" y="1452"/>
                  </a:lnTo>
                  <a:lnTo>
                    <a:pt x="36" y="1446"/>
                  </a:lnTo>
                  <a:lnTo>
                    <a:pt x="42" y="1446"/>
                  </a:lnTo>
                  <a:lnTo>
                    <a:pt x="42" y="1440"/>
                  </a:lnTo>
                  <a:lnTo>
                    <a:pt x="48" y="1440"/>
                  </a:lnTo>
                  <a:lnTo>
                    <a:pt x="48" y="1434"/>
                  </a:lnTo>
                  <a:lnTo>
                    <a:pt x="48" y="1440"/>
                  </a:lnTo>
                  <a:lnTo>
                    <a:pt x="48" y="1434"/>
                  </a:lnTo>
                  <a:lnTo>
                    <a:pt x="48" y="1440"/>
                  </a:lnTo>
                  <a:lnTo>
                    <a:pt x="54" y="1434"/>
                  </a:lnTo>
                  <a:lnTo>
                    <a:pt x="60" y="1434"/>
                  </a:lnTo>
                  <a:lnTo>
                    <a:pt x="66" y="1434"/>
                  </a:lnTo>
                  <a:lnTo>
                    <a:pt x="66" y="1428"/>
                  </a:lnTo>
                  <a:lnTo>
                    <a:pt x="72" y="1248"/>
                  </a:lnTo>
                  <a:lnTo>
                    <a:pt x="36" y="1224"/>
                  </a:lnTo>
                  <a:lnTo>
                    <a:pt x="42" y="1224"/>
                  </a:lnTo>
                  <a:lnTo>
                    <a:pt x="36" y="1218"/>
                  </a:lnTo>
                  <a:lnTo>
                    <a:pt x="36" y="1212"/>
                  </a:lnTo>
                  <a:lnTo>
                    <a:pt x="36" y="1206"/>
                  </a:lnTo>
                  <a:lnTo>
                    <a:pt x="42" y="1206"/>
                  </a:lnTo>
                  <a:lnTo>
                    <a:pt x="42" y="1200"/>
                  </a:lnTo>
                  <a:lnTo>
                    <a:pt x="36" y="1200"/>
                  </a:lnTo>
                  <a:lnTo>
                    <a:pt x="36" y="1188"/>
                  </a:lnTo>
                  <a:lnTo>
                    <a:pt x="36" y="1176"/>
                  </a:lnTo>
                  <a:lnTo>
                    <a:pt x="42" y="1170"/>
                  </a:lnTo>
                  <a:lnTo>
                    <a:pt x="48" y="1158"/>
                  </a:lnTo>
                  <a:lnTo>
                    <a:pt x="78" y="1158"/>
                  </a:lnTo>
                  <a:lnTo>
                    <a:pt x="108" y="1140"/>
                  </a:lnTo>
                  <a:lnTo>
                    <a:pt x="120" y="1140"/>
                  </a:lnTo>
                  <a:lnTo>
                    <a:pt x="126" y="1122"/>
                  </a:lnTo>
                  <a:lnTo>
                    <a:pt x="138" y="1116"/>
                  </a:lnTo>
                  <a:lnTo>
                    <a:pt x="150" y="1122"/>
                  </a:lnTo>
                  <a:lnTo>
                    <a:pt x="162" y="1116"/>
                  </a:lnTo>
                  <a:lnTo>
                    <a:pt x="168" y="1128"/>
                  </a:lnTo>
                  <a:lnTo>
                    <a:pt x="180" y="1128"/>
                  </a:lnTo>
                  <a:lnTo>
                    <a:pt x="192" y="1098"/>
                  </a:lnTo>
                  <a:lnTo>
                    <a:pt x="180" y="1074"/>
                  </a:lnTo>
                  <a:lnTo>
                    <a:pt x="186" y="1068"/>
                  </a:lnTo>
                  <a:lnTo>
                    <a:pt x="192" y="1068"/>
                  </a:lnTo>
                  <a:lnTo>
                    <a:pt x="192" y="1050"/>
                  </a:lnTo>
                  <a:lnTo>
                    <a:pt x="204" y="1044"/>
                  </a:lnTo>
                  <a:lnTo>
                    <a:pt x="222" y="1044"/>
                  </a:lnTo>
                  <a:lnTo>
                    <a:pt x="228" y="1038"/>
                  </a:lnTo>
                  <a:lnTo>
                    <a:pt x="216" y="1032"/>
                  </a:lnTo>
                  <a:lnTo>
                    <a:pt x="216" y="1020"/>
                  </a:lnTo>
                  <a:lnTo>
                    <a:pt x="222" y="1008"/>
                  </a:lnTo>
                  <a:lnTo>
                    <a:pt x="240" y="990"/>
                  </a:lnTo>
                  <a:lnTo>
                    <a:pt x="246" y="984"/>
                  </a:lnTo>
                  <a:lnTo>
                    <a:pt x="246" y="990"/>
                  </a:lnTo>
                  <a:lnTo>
                    <a:pt x="246" y="984"/>
                  </a:lnTo>
                  <a:lnTo>
                    <a:pt x="252" y="990"/>
                  </a:lnTo>
                  <a:lnTo>
                    <a:pt x="258" y="990"/>
                  </a:lnTo>
                  <a:lnTo>
                    <a:pt x="258" y="984"/>
                  </a:lnTo>
                  <a:lnTo>
                    <a:pt x="282" y="984"/>
                  </a:lnTo>
                  <a:lnTo>
                    <a:pt x="288" y="966"/>
                  </a:lnTo>
                  <a:lnTo>
                    <a:pt x="294" y="960"/>
                  </a:lnTo>
                  <a:lnTo>
                    <a:pt x="300" y="960"/>
                  </a:lnTo>
                  <a:lnTo>
                    <a:pt x="300" y="954"/>
                  </a:lnTo>
                  <a:lnTo>
                    <a:pt x="312" y="972"/>
                  </a:lnTo>
                  <a:lnTo>
                    <a:pt x="318" y="948"/>
                  </a:lnTo>
                  <a:lnTo>
                    <a:pt x="330" y="930"/>
                  </a:lnTo>
                  <a:lnTo>
                    <a:pt x="324" y="918"/>
                  </a:lnTo>
                  <a:lnTo>
                    <a:pt x="306" y="912"/>
                  </a:lnTo>
                  <a:lnTo>
                    <a:pt x="306" y="810"/>
                  </a:lnTo>
                  <a:lnTo>
                    <a:pt x="300" y="810"/>
                  </a:lnTo>
                  <a:lnTo>
                    <a:pt x="282" y="804"/>
                  </a:lnTo>
                  <a:lnTo>
                    <a:pt x="282" y="792"/>
                  </a:lnTo>
                  <a:lnTo>
                    <a:pt x="282" y="780"/>
                  </a:lnTo>
                  <a:lnTo>
                    <a:pt x="276" y="774"/>
                  </a:lnTo>
                  <a:lnTo>
                    <a:pt x="264" y="768"/>
                  </a:lnTo>
                  <a:lnTo>
                    <a:pt x="258" y="768"/>
                  </a:lnTo>
                  <a:lnTo>
                    <a:pt x="270" y="750"/>
                  </a:lnTo>
                  <a:lnTo>
                    <a:pt x="270" y="744"/>
                  </a:lnTo>
                  <a:lnTo>
                    <a:pt x="246" y="726"/>
                  </a:lnTo>
                  <a:lnTo>
                    <a:pt x="240" y="708"/>
                  </a:lnTo>
                  <a:lnTo>
                    <a:pt x="258" y="684"/>
                  </a:lnTo>
                  <a:lnTo>
                    <a:pt x="252" y="684"/>
                  </a:lnTo>
                  <a:lnTo>
                    <a:pt x="258" y="654"/>
                  </a:lnTo>
                  <a:lnTo>
                    <a:pt x="234" y="642"/>
                  </a:lnTo>
                  <a:lnTo>
                    <a:pt x="246" y="624"/>
                  </a:lnTo>
                  <a:lnTo>
                    <a:pt x="228" y="606"/>
                  </a:lnTo>
                  <a:lnTo>
                    <a:pt x="234" y="600"/>
                  </a:lnTo>
                  <a:lnTo>
                    <a:pt x="240" y="600"/>
                  </a:lnTo>
                  <a:lnTo>
                    <a:pt x="252" y="576"/>
                  </a:lnTo>
                  <a:lnTo>
                    <a:pt x="264" y="576"/>
                  </a:lnTo>
                  <a:lnTo>
                    <a:pt x="270" y="570"/>
                  </a:lnTo>
                  <a:lnTo>
                    <a:pt x="258" y="558"/>
                  </a:lnTo>
                  <a:lnTo>
                    <a:pt x="258" y="540"/>
                  </a:lnTo>
                  <a:lnTo>
                    <a:pt x="276" y="528"/>
                  </a:lnTo>
                  <a:lnTo>
                    <a:pt x="282" y="540"/>
                  </a:lnTo>
                  <a:lnTo>
                    <a:pt x="288" y="540"/>
                  </a:lnTo>
                  <a:lnTo>
                    <a:pt x="288" y="546"/>
                  </a:lnTo>
                  <a:lnTo>
                    <a:pt x="294" y="546"/>
                  </a:lnTo>
                  <a:lnTo>
                    <a:pt x="300" y="552"/>
                  </a:lnTo>
                  <a:lnTo>
                    <a:pt x="306" y="552"/>
                  </a:lnTo>
                  <a:lnTo>
                    <a:pt x="312" y="552"/>
                  </a:lnTo>
                  <a:lnTo>
                    <a:pt x="318" y="552"/>
                  </a:lnTo>
                  <a:lnTo>
                    <a:pt x="324" y="552"/>
                  </a:lnTo>
                  <a:lnTo>
                    <a:pt x="330" y="552"/>
                  </a:lnTo>
                  <a:lnTo>
                    <a:pt x="336" y="552"/>
                  </a:lnTo>
                  <a:lnTo>
                    <a:pt x="342" y="552"/>
                  </a:lnTo>
                  <a:lnTo>
                    <a:pt x="348" y="546"/>
                  </a:lnTo>
                  <a:lnTo>
                    <a:pt x="348" y="540"/>
                  </a:lnTo>
                  <a:lnTo>
                    <a:pt x="348" y="534"/>
                  </a:lnTo>
                  <a:lnTo>
                    <a:pt x="348" y="528"/>
                  </a:lnTo>
                  <a:lnTo>
                    <a:pt x="348" y="522"/>
                  </a:lnTo>
                  <a:lnTo>
                    <a:pt x="342" y="522"/>
                  </a:lnTo>
                  <a:lnTo>
                    <a:pt x="342" y="510"/>
                  </a:lnTo>
                  <a:lnTo>
                    <a:pt x="342" y="504"/>
                  </a:lnTo>
                  <a:lnTo>
                    <a:pt x="348" y="516"/>
                  </a:lnTo>
                  <a:lnTo>
                    <a:pt x="354" y="522"/>
                  </a:lnTo>
                  <a:lnTo>
                    <a:pt x="354" y="528"/>
                  </a:lnTo>
                  <a:lnTo>
                    <a:pt x="360" y="528"/>
                  </a:lnTo>
                  <a:lnTo>
                    <a:pt x="360" y="534"/>
                  </a:lnTo>
                  <a:lnTo>
                    <a:pt x="360" y="540"/>
                  </a:lnTo>
                  <a:lnTo>
                    <a:pt x="366" y="546"/>
                  </a:lnTo>
                  <a:lnTo>
                    <a:pt x="366" y="552"/>
                  </a:lnTo>
                  <a:lnTo>
                    <a:pt x="372" y="558"/>
                  </a:lnTo>
                  <a:lnTo>
                    <a:pt x="372" y="564"/>
                  </a:lnTo>
                  <a:lnTo>
                    <a:pt x="372" y="570"/>
                  </a:lnTo>
                  <a:lnTo>
                    <a:pt x="372" y="576"/>
                  </a:lnTo>
                  <a:lnTo>
                    <a:pt x="366" y="576"/>
                  </a:lnTo>
                  <a:lnTo>
                    <a:pt x="366" y="582"/>
                  </a:lnTo>
                  <a:lnTo>
                    <a:pt x="360" y="588"/>
                  </a:lnTo>
                  <a:lnTo>
                    <a:pt x="360" y="594"/>
                  </a:lnTo>
                  <a:lnTo>
                    <a:pt x="360" y="600"/>
                  </a:lnTo>
                  <a:lnTo>
                    <a:pt x="366" y="600"/>
                  </a:lnTo>
                  <a:lnTo>
                    <a:pt x="366" y="606"/>
                  </a:lnTo>
                  <a:lnTo>
                    <a:pt x="372" y="612"/>
                  </a:lnTo>
                  <a:lnTo>
                    <a:pt x="378" y="612"/>
                  </a:lnTo>
                  <a:lnTo>
                    <a:pt x="378" y="618"/>
                  </a:lnTo>
                  <a:lnTo>
                    <a:pt x="378" y="624"/>
                  </a:lnTo>
                  <a:lnTo>
                    <a:pt x="372" y="630"/>
                  </a:lnTo>
                  <a:lnTo>
                    <a:pt x="378" y="630"/>
                  </a:lnTo>
                  <a:lnTo>
                    <a:pt x="384" y="624"/>
                  </a:lnTo>
                  <a:lnTo>
                    <a:pt x="384" y="618"/>
                  </a:lnTo>
                  <a:lnTo>
                    <a:pt x="384" y="612"/>
                  </a:lnTo>
                  <a:lnTo>
                    <a:pt x="390" y="612"/>
                  </a:lnTo>
                  <a:lnTo>
                    <a:pt x="390" y="618"/>
                  </a:lnTo>
                  <a:lnTo>
                    <a:pt x="396" y="618"/>
                  </a:lnTo>
                  <a:lnTo>
                    <a:pt x="396" y="612"/>
                  </a:lnTo>
                  <a:lnTo>
                    <a:pt x="402" y="612"/>
                  </a:lnTo>
                  <a:lnTo>
                    <a:pt x="402" y="606"/>
                  </a:lnTo>
                  <a:lnTo>
                    <a:pt x="396" y="606"/>
                  </a:lnTo>
                  <a:lnTo>
                    <a:pt x="396" y="612"/>
                  </a:lnTo>
                  <a:lnTo>
                    <a:pt x="390" y="612"/>
                  </a:lnTo>
                  <a:lnTo>
                    <a:pt x="390" y="606"/>
                  </a:lnTo>
                  <a:lnTo>
                    <a:pt x="384" y="606"/>
                  </a:lnTo>
                  <a:lnTo>
                    <a:pt x="384" y="600"/>
                  </a:lnTo>
                  <a:lnTo>
                    <a:pt x="378" y="600"/>
                  </a:lnTo>
                  <a:lnTo>
                    <a:pt x="378" y="594"/>
                  </a:lnTo>
                  <a:lnTo>
                    <a:pt x="378" y="588"/>
                  </a:lnTo>
                  <a:lnTo>
                    <a:pt x="372" y="588"/>
                  </a:lnTo>
                  <a:lnTo>
                    <a:pt x="372" y="582"/>
                  </a:lnTo>
                  <a:lnTo>
                    <a:pt x="378" y="582"/>
                  </a:lnTo>
                  <a:lnTo>
                    <a:pt x="384" y="582"/>
                  </a:lnTo>
                  <a:lnTo>
                    <a:pt x="390" y="582"/>
                  </a:lnTo>
                  <a:lnTo>
                    <a:pt x="396" y="576"/>
                  </a:lnTo>
                  <a:lnTo>
                    <a:pt x="402" y="576"/>
                  </a:lnTo>
                  <a:lnTo>
                    <a:pt x="402" y="570"/>
                  </a:lnTo>
                  <a:lnTo>
                    <a:pt x="408" y="570"/>
                  </a:lnTo>
                  <a:lnTo>
                    <a:pt x="414" y="570"/>
                  </a:lnTo>
                  <a:lnTo>
                    <a:pt x="420" y="576"/>
                  </a:lnTo>
                  <a:lnTo>
                    <a:pt x="426" y="570"/>
                  </a:lnTo>
                  <a:lnTo>
                    <a:pt x="432" y="570"/>
                  </a:lnTo>
                  <a:lnTo>
                    <a:pt x="438" y="570"/>
                  </a:lnTo>
                  <a:lnTo>
                    <a:pt x="438" y="564"/>
                  </a:lnTo>
                  <a:lnTo>
                    <a:pt x="444" y="564"/>
                  </a:lnTo>
                  <a:lnTo>
                    <a:pt x="450" y="564"/>
                  </a:lnTo>
                  <a:lnTo>
                    <a:pt x="444" y="558"/>
                  </a:lnTo>
                  <a:lnTo>
                    <a:pt x="450" y="558"/>
                  </a:lnTo>
                  <a:lnTo>
                    <a:pt x="456" y="558"/>
                  </a:lnTo>
                  <a:lnTo>
                    <a:pt x="456" y="552"/>
                  </a:lnTo>
                  <a:lnTo>
                    <a:pt x="462" y="558"/>
                  </a:lnTo>
                  <a:lnTo>
                    <a:pt x="462" y="552"/>
                  </a:lnTo>
                  <a:lnTo>
                    <a:pt x="468" y="552"/>
                  </a:lnTo>
                  <a:lnTo>
                    <a:pt x="474" y="552"/>
                  </a:lnTo>
                  <a:lnTo>
                    <a:pt x="474" y="558"/>
                  </a:lnTo>
                  <a:lnTo>
                    <a:pt x="474" y="552"/>
                  </a:lnTo>
                  <a:lnTo>
                    <a:pt x="480" y="552"/>
                  </a:lnTo>
                  <a:lnTo>
                    <a:pt x="480" y="558"/>
                  </a:lnTo>
                  <a:lnTo>
                    <a:pt x="486" y="552"/>
                  </a:lnTo>
                  <a:lnTo>
                    <a:pt x="486" y="558"/>
                  </a:lnTo>
                  <a:lnTo>
                    <a:pt x="492" y="558"/>
                  </a:lnTo>
                  <a:lnTo>
                    <a:pt x="498" y="558"/>
                  </a:lnTo>
                  <a:lnTo>
                    <a:pt x="504" y="564"/>
                  </a:lnTo>
                  <a:lnTo>
                    <a:pt x="510" y="558"/>
                  </a:lnTo>
                  <a:lnTo>
                    <a:pt x="516" y="558"/>
                  </a:lnTo>
                  <a:lnTo>
                    <a:pt x="522" y="564"/>
                  </a:lnTo>
                  <a:lnTo>
                    <a:pt x="528" y="564"/>
                  </a:lnTo>
                  <a:lnTo>
                    <a:pt x="534" y="564"/>
                  </a:lnTo>
                  <a:lnTo>
                    <a:pt x="534" y="570"/>
                  </a:lnTo>
                  <a:lnTo>
                    <a:pt x="540" y="570"/>
                  </a:lnTo>
                  <a:lnTo>
                    <a:pt x="546" y="570"/>
                  </a:lnTo>
                  <a:lnTo>
                    <a:pt x="552" y="576"/>
                  </a:lnTo>
                  <a:lnTo>
                    <a:pt x="558" y="576"/>
                  </a:lnTo>
                  <a:lnTo>
                    <a:pt x="564" y="576"/>
                  </a:lnTo>
                  <a:lnTo>
                    <a:pt x="558" y="576"/>
                  </a:lnTo>
                  <a:lnTo>
                    <a:pt x="564" y="576"/>
                  </a:lnTo>
                  <a:lnTo>
                    <a:pt x="570" y="576"/>
                  </a:lnTo>
                  <a:lnTo>
                    <a:pt x="576" y="576"/>
                  </a:lnTo>
                  <a:lnTo>
                    <a:pt x="582" y="576"/>
                  </a:lnTo>
                  <a:lnTo>
                    <a:pt x="588" y="576"/>
                  </a:lnTo>
                  <a:lnTo>
                    <a:pt x="594" y="576"/>
                  </a:lnTo>
                  <a:lnTo>
                    <a:pt x="600" y="576"/>
                  </a:lnTo>
                  <a:lnTo>
                    <a:pt x="606" y="576"/>
                  </a:lnTo>
                  <a:lnTo>
                    <a:pt x="612" y="576"/>
                  </a:lnTo>
                  <a:lnTo>
                    <a:pt x="618" y="582"/>
                  </a:lnTo>
                  <a:lnTo>
                    <a:pt x="618" y="588"/>
                  </a:lnTo>
                  <a:lnTo>
                    <a:pt x="624" y="588"/>
                  </a:lnTo>
                  <a:lnTo>
                    <a:pt x="624" y="594"/>
                  </a:lnTo>
                  <a:lnTo>
                    <a:pt x="618" y="600"/>
                  </a:lnTo>
                  <a:lnTo>
                    <a:pt x="618" y="594"/>
                  </a:lnTo>
                  <a:lnTo>
                    <a:pt x="618" y="600"/>
                  </a:lnTo>
                  <a:lnTo>
                    <a:pt x="612" y="600"/>
                  </a:lnTo>
                  <a:lnTo>
                    <a:pt x="612" y="594"/>
                  </a:lnTo>
                  <a:lnTo>
                    <a:pt x="606" y="594"/>
                  </a:lnTo>
                  <a:lnTo>
                    <a:pt x="600" y="594"/>
                  </a:lnTo>
                  <a:lnTo>
                    <a:pt x="600" y="600"/>
                  </a:lnTo>
                  <a:lnTo>
                    <a:pt x="600" y="606"/>
                  </a:lnTo>
                  <a:lnTo>
                    <a:pt x="600" y="612"/>
                  </a:lnTo>
                  <a:lnTo>
                    <a:pt x="600" y="606"/>
                  </a:lnTo>
                  <a:lnTo>
                    <a:pt x="600" y="612"/>
                  </a:lnTo>
                  <a:lnTo>
                    <a:pt x="600" y="618"/>
                  </a:lnTo>
                  <a:lnTo>
                    <a:pt x="600" y="624"/>
                  </a:lnTo>
                  <a:lnTo>
                    <a:pt x="600" y="630"/>
                  </a:lnTo>
                  <a:lnTo>
                    <a:pt x="600" y="636"/>
                  </a:lnTo>
                  <a:lnTo>
                    <a:pt x="606" y="636"/>
                  </a:lnTo>
                  <a:lnTo>
                    <a:pt x="612" y="642"/>
                  </a:lnTo>
                  <a:lnTo>
                    <a:pt x="618" y="642"/>
                  </a:lnTo>
                  <a:lnTo>
                    <a:pt x="618" y="648"/>
                  </a:lnTo>
                  <a:lnTo>
                    <a:pt x="624" y="648"/>
                  </a:lnTo>
                  <a:lnTo>
                    <a:pt x="630" y="648"/>
                  </a:lnTo>
                  <a:lnTo>
                    <a:pt x="630" y="654"/>
                  </a:lnTo>
                  <a:lnTo>
                    <a:pt x="636" y="654"/>
                  </a:lnTo>
                  <a:lnTo>
                    <a:pt x="642" y="648"/>
                  </a:lnTo>
                  <a:lnTo>
                    <a:pt x="636" y="648"/>
                  </a:lnTo>
                  <a:lnTo>
                    <a:pt x="642" y="648"/>
                  </a:lnTo>
                  <a:lnTo>
                    <a:pt x="648" y="648"/>
                  </a:lnTo>
                  <a:lnTo>
                    <a:pt x="654" y="648"/>
                  </a:lnTo>
                  <a:lnTo>
                    <a:pt x="648" y="648"/>
                  </a:lnTo>
                  <a:lnTo>
                    <a:pt x="654" y="642"/>
                  </a:lnTo>
                  <a:lnTo>
                    <a:pt x="654" y="636"/>
                  </a:lnTo>
                  <a:lnTo>
                    <a:pt x="660" y="636"/>
                  </a:lnTo>
                  <a:lnTo>
                    <a:pt x="660" y="642"/>
                  </a:lnTo>
                  <a:lnTo>
                    <a:pt x="666" y="642"/>
                  </a:lnTo>
                  <a:lnTo>
                    <a:pt x="672" y="642"/>
                  </a:lnTo>
                  <a:lnTo>
                    <a:pt x="678" y="642"/>
                  </a:lnTo>
                  <a:lnTo>
                    <a:pt x="684" y="642"/>
                  </a:lnTo>
                  <a:lnTo>
                    <a:pt x="684" y="648"/>
                  </a:lnTo>
                  <a:lnTo>
                    <a:pt x="690" y="648"/>
                  </a:lnTo>
                  <a:lnTo>
                    <a:pt x="690" y="654"/>
                  </a:lnTo>
                  <a:lnTo>
                    <a:pt x="690" y="660"/>
                  </a:lnTo>
                  <a:lnTo>
                    <a:pt x="696" y="660"/>
                  </a:lnTo>
                  <a:lnTo>
                    <a:pt x="690" y="660"/>
                  </a:lnTo>
                  <a:lnTo>
                    <a:pt x="684" y="660"/>
                  </a:lnTo>
                  <a:lnTo>
                    <a:pt x="684" y="666"/>
                  </a:lnTo>
                  <a:lnTo>
                    <a:pt x="690" y="666"/>
                  </a:lnTo>
                  <a:lnTo>
                    <a:pt x="696" y="672"/>
                  </a:lnTo>
                  <a:lnTo>
                    <a:pt x="696" y="666"/>
                  </a:lnTo>
                  <a:lnTo>
                    <a:pt x="702" y="666"/>
                  </a:lnTo>
                  <a:lnTo>
                    <a:pt x="708" y="672"/>
                  </a:lnTo>
                  <a:lnTo>
                    <a:pt x="714" y="678"/>
                  </a:lnTo>
                  <a:lnTo>
                    <a:pt x="720" y="678"/>
                  </a:lnTo>
                  <a:lnTo>
                    <a:pt x="726" y="678"/>
                  </a:lnTo>
                  <a:lnTo>
                    <a:pt x="732" y="672"/>
                  </a:lnTo>
                  <a:lnTo>
                    <a:pt x="738" y="672"/>
                  </a:lnTo>
                  <a:lnTo>
                    <a:pt x="744" y="672"/>
                  </a:lnTo>
                  <a:lnTo>
                    <a:pt x="750" y="672"/>
                  </a:lnTo>
                  <a:lnTo>
                    <a:pt x="756" y="672"/>
                  </a:lnTo>
                  <a:lnTo>
                    <a:pt x="756" y="678"/>
                  </a:lnTo>
                  <a:lnTo>
                    <a:pt x="762" y="678"/>
                  </a:lnTo>
                  <a:lnTo>
                    <a:pt x="756" y="672"/>
                  </a:lnTo>
                  <a:lnTo>
                    <a:pt x="762" y="672"/>
                  </a:lnTo>
                  <a:lnTo>
                    <a:pt x="762" y="678"/>
                  </a:lnTo>
                  <a:lnTo>
                    <a:pt x="768" y="678"/>
                  </a:lnTo>
                  <a:lnTo>
                    <a:pt x="768" y="672"/>
                  </a:lnTo>
                  <a:lnTo>
                    <a:pt x="774" y="672"/>
                  </a:lnTo>
                  <a:lnTo>
                    <a:pt x="774" y="666"/>
                  </a:lnTo>
                  <a:lnTo>
                    <a:pt x="768" y="666"/>
                  </a:lnTo>
                  <a:lnTo>
                    <a:pt x="768" y="660"/>
                  </a:lnTo>
                  <a:lnTo>
                    <a:pt x="768" y="654"/>
                  </a:lnTo>
                  <a:lnTo>
                    <a:pt x="774" y="660"/>
                  </a:lnTo>
                  <a:lnTo>
                    <a:pt x="774" y="654"/>
                  </a:lnTo>
                  <a:lnTo>
                    <a:pt x="780" y="654"/>
                  </a:lnTo>
                  <a:lnTo>
                    <a:pt x="786" y="654"/>
                  </a:lnTo>
                  <a:lnTo>
                    <a:pt x="792" y="648"/>
                  </a:lnTo>
                  <a:lnTo>
                    <a:pt x="798" y="648"/>
                  </a:lnTo>
                  <a:lnTo>
                    <a:pt x="798" y="654"/>
                  </a:lnTo>
                  <a:lnTo>
                    <a:pt x="804" y="654"/>
                  </a:lnTo>
                  <a:lnTo>
                    <a:pt x="804" y="660"/>
                  </a:lnTo>
                  <a:lnTo>
                    <a:pt x="798" y="654"/>
                  </a:lnTo>
                  <a:lnTo>
                    <a:pt x="792" y="654"/>
                  </a:lnTo>
                  <a:lnTo>
                    <a:pt x="786" y="654"/>
                  </a:lnTo>
                  <a:lnTo>
                    <a:pt x="786" y="660"/>
                  </a:lnTo>
                  <a:lnTo>
                    <a:pt x="792" y="660"/>
                  </a:lnTo>
                  <a:lnTo>
                    <a:pt x="798" y="666"/>
                  </a:lnTo>
                  <a:lnTo>
                    <a:pt x="798" y="672"/>
                  </a:lnTo>
                  <a:lnTo>
                    <a:pt x="804" y="672"/>
                  </a:lnTo>
                  <a:lnTo>
                    <a:pt x="810" y="672"/>
                  </a:lnTo>
                  <a:lnTo>
                    <a:pt x="810" y="678"/>
                  </a:lnTo>
                  <a:lnTo>
                    <a:pt x="816" y="678"/>
                  </a:lnTo>
                  <a:lnTo>
                    <a:pt x="816" y="684"/>
                  </a:lnTo>
                  <a:lnTo>
                    <a:pt x="822" y="684"/>
                  </a:lnTo>
                  <a:lnTo>
                    <a:pt x="822" y="678"/>
                  </a:lnTo>
                  <a:lnTo>
                    <a:pt x="828" y="672"/>
                  </a:lnTo>
                  <a:lnTo>
                    <a:pt x="828" y="666"/>
                  </a:lnTo>
                  <a:lnTo>
                    <a:pt x="828" y="660"/>
                  </a:lnTo>
                  <a:lnTo>
                    <a:pt x="828" y="654"/>
                  </a:lnTo>
                  <a:lnTo>
                    <a:pt x="834" y="654"/>
                  </a:lnTo>
                  <a:lnTo>
                    <a:pt x="834" y="648"/>
                  </a:lnTo>
                  <a:lnTo>
                    <a:pt x="834" y="654"/>
                  </a:lnTo>
                  <a:lnTo>
                    <a:pt x="834" y="648"/>
                  </a:lnTo>
                  <a:lnTo>
                    <a:pt x="840" y="654"/>
                  </a:lnTo>
                  <a:lnTo>
                    <a:pt x="840" y="648"/>
                  </a:lnTo>
                  <a:lnTo>
                    <a:pt x="840" y="642"/>
                  </a:lnTo>
                  <a:lnTo>
                    <a:pt x="834" y="642"/>
                  </a:lnTo>
                  <a:lnTo>
                    <a:pt x="828" y="642"/>
                  </a:lnTo>
                  <a:lnTo>
                    <a:pt x="834" y="642"/>
                  </a:lnTo>
                  <a:lnTo>
                    <a:pt x="834" y="636"/>
                  </a:lnTo>
                  <a:lnTo>
                    <a:pt x="840" y="636"/>
                  </a:lnTo>
                  <a:lnTo>
                    <a:pt x="846" y="636"/>
                  </a:lnTo>
                  <a:lnTo>
                    <a:pt x="846" y="630"/>
                  </a:lnTo>
                  <a:lnTo>
                    <a:pt x="840" y="630"/>
                  </a:lnTo>
                  <a:lnTo>
                    <a:pt x="840" y="636"/>
                  </a:lnTo>
                  <a:lnTo>
                    <a:pt x="840" y="630"/>
                  </a:lnTo>
                  <a:lnTo>
                    <a:pt x="840" y="636"/>
                  </a:lnTo>
                  <a:lnTo>
                    <a:pt x="834" y="636"/>
                  </a:lnTo>
                  <a:lnTo>
                    <a:pt x="834" y="630"/>
                  </a:lnTo>
                  <a:lnTo>
                    <a:pt x="834" y="624"/>
                  </a:lnTo>
                  <a:lnTo>
                    <a:pt x="828" y="618"/>
                  </a:lnTo>
                  <a:lnTo>
                    <a:pt x="828" y="624"/>
                  </a:lnTo>
                  <a:lnTo>
                    <a:pt x="828" y="618"/>
                  </a:lnTo>
                  <a:lnTo>
                    <a:pt x="834" y="618"/>
                  </a:lnTo>
                  <a:lnTo>
                    <a:pt x="828" y="618"/>
                  </a:lnTo>
                  <a:lnTo>
                    <a:pt x="828" y="612"/>
                  </a:lnTo>
                  <a:lnTo>
                    <a:pt x="828" y="606"/>
                  </a:lnTo>
                  <a:lnTo>
                    <a:pt x="834" y="606"/>
                  </a:lnTo>
                  <a:lnTo>
                    <a:pt x="828" y="606"/>
                  </a:lnTo>
                  <a:lnTo>
                    <a:pt x="822" y="606"/>
                  </a:lnTo>
                  <a:lnTo>
                    <a:pt x="822" y="600"/>
                  </a:lnTo>
                  <a:lnTo>
                    <a:pt x="822" y="606"/>
                  </a:lnTo>
                  <a:lnTo>
                    <a:pt x="828" y="606"/>
                  </a:lnTo>
                  <a:lnTo>
                    <a:pt x="828" y="600"/>
                  </a:lnTo>
                  <a:lnTo>
                    <a:pt x="822" y="600"/>
                  </a:lnTo>
                  <a:lnTo>
                    <a:pt x="822" y="594"/>
                  </a:lnTo>
                  <a:lnTo>
                    <a:pt x="828" y="594"/>
                  </a:lnTo>
                  <a:lnTo>
                    <a:pt x="828" y="600"/>
                  </a:lnTo>
                  <a:lnTo>
                    <a:pt x="834" y="600"/>
                  </a:lnTo>
                  <a:lnTo>
                    <a:pt x="828" y="600"/>
                  </a:lnTo>
                  <a:lnTo>
                    <a:pt x="834" y="606"/>
                  </a:lnTo>
                  <a:lnTo>
                    <a:pt x="834" y="600"/>
                  </a:lnTo>
                  <a:lnTo>
                    <a:pt x="828" y="600"/>
                  </a:lnTo>
                  <a:lnTo>
                    <a:pt x="828" y="594"/>
                  </a:lnTo>
                  <a:lnTo>
                    <a:pt x="834" y="594"/>
                  </a:lnTo>
                  <a:lnTo>
                    <a:pt x="828" y="594"/>
                  </a:lnTo>
                  <a:lnTo>
                    <a:pt x="828" y="588"/>
                  </a:lnTo>
                  <a:lnTo>
                    <a:pt x="822" y="588"/>
                  </a:lnTo>
                  <a:lnTo>
                    <a:pt x="828" y="588"/>
                  </a:lnTo>
                  <a:lnTo>
                    <a:pt x="828" y="582"/>
                  </a:lnTo>
                  <a:lnTo>
                    <a:pt x="822" y="582"/>
                  </a:lnTo>
                  <a:lnTo>
                    <a:pt x="822" y="576"/>
                  </a:lnTo>
                  <a:lnTo>
                    <a:pt x="828" y="576"/>
                  </a:lnTo>
                  <a:lnTo>
                    <a:pt x="828" y="582"/>
                  </a:lnTo>
                  <a:lnTo>
                    <a:pt x="828" y="576"/>
                  </a:lnTo>
                  <a:lnTo>
                    <a:pt x="828" y="570"/>
                  </a:lnTo>
                  <a:lnTo>
                    <a:pt x="828" y="576"/>
                  </a:lnTo>
                  <a:lnTo>
                    <a:pt x="834" y="576"/>
                  </a:lnTo>
                  <a:lnTo>
                    <a:pt x="834" y="570"/>
                  </a:lnTo>
                  <a:lnTo>
                    <a:pt x="828" y="570"/>
                  </a:lnTo>
                  <a:lnTo>
                    <a:pt x="834" y="570"/>
                  </a:lnTo>
                  <a:lnTo>
                    <a:pt x="834" y="564"/>
                  </a:lnTo>
                  <a:lnTo>
                    <a:pt x="828" y="564"/>
                  </a:lnTo>
                  <a:lnTo>
                    <a:pt x="834" y="564"/>
                  </a:lnTo>
                  <a:lnTo>
                    <a:pt x="834" y="570"/>
                  </a:lnTo>
                  <a:lnTo>
                    <a:pt x="834" y="564"/>
                  </a:lnTo>
                  <a:lnTo>
                    <a:pt x="834" y="558"/>
                  </a:lnTo>
                  <a:lnTo>
                    <a:pt x="834" y="564"/>
                  </a:lnTo>
                  <a:lnTo>
                    <a:pt x="840" y="564"/>
                  </a:lnTo>
                  <a:lnTo>
                    <a:pt x="840" y="558"/>
                  </a:lnTo>
                  <a:lnTo>
                    <a:pt x="840" y="564"/>
                  </a:lnTo>
                  <a:lnTo>
                    <a:pt x="840" y="570"/>
                  </a:lnTo>
                  <a:lnTo>
                    <a:pt x="840" y="564"/>
                  </a:lnTo>
                  <a:lnTo>
                    <a:pt x="840" y="570"/>
                  </a:lnTo>
                  <a:lnTo>
                    <a:pt x="846" y="570"/>
                  </a:lnTo>
                  <a:lnTo>
                    <a:pt x="846" y="576"/>
                  </a:lnTo>
                  <a:lnTo>
                    <a:pt x="846" y="570"/>
                  </a:lnTo>
                  <a:lnTo>
                    <a:pt x="846" y="564"/>
                  </a:lnTo>
                  <a:lnTo>
                    <a:pt x="852" y="570"/>
                  </a:lnTo>
                  <a:lnTo>
                    <a:pt x="852" y="564"/>
                  </a:lnTo>
                  <a:lnTo>
                    <a:pt x="852" y="570"/>
                  </a:lnTo>
                  <a:lnTo>
                    <a:pt x="858" y="570"/>
                  </a:lnTo>
                  <a:lnTo>
                    <a:pt x="858" y="564"/>
                  </a:lnTo>
                  <a:lnTo>
                    <a:pt x="858" y="558"/>
                  </a:lnTo>
                  <a:lnTo>
                    <a:pt x="864" y="558"/>
                  </a:lnTo>
                  <a:lnTo>
                    <a:pt x="864" y="552"/>
                  </a:lnTo>
                  <a:lnTo>
                    <a:pt x="864" y="558"/>
                  </a:lnTo>
                  <a:lnTo>
                    <a:pt x="864" y="552"/>
                  </a:lnTo>
                  <a:lnTo>
                    <a:pt x="870" y="552"/>
                  </a:lnTo>
                  <a:lnTo>
                    <a:pt x="864" y="552"/>
                  </a:lnTo>
                  <a:lnTo>
                    <a:pt x="864" y="546"/>
                  </a:lnTo>
                  <a:lnTo>
                    <a:pt x="870" y="546"/>
                  </a:lnTo>
                  <a:lnTo>
                    <a:pt x="870" y="540"/>
                  </a:lnTo>
                  <a:lnTo>
                    <a:pt x="876" y="540"/>
                  </a:lnTo>
                  <a:lnTo>
                    <a:pt x="876" y="546"/>
                  </a:lnTo>
                  <a:lnTo>
                    <a:pt x="876" y="540"/>
                  </a:lnTo>
                  <a:lnTo>
                    <a:pt x="876" y="546"/>
                  </a:lnTo>
                  <a:lnTo>
                    <a:pt x="882" y="546"/>
                  </a:lnTo>
                  <a:lnTo>
                    <a:pt x="888" y="546"/>
                  </a:lnTo>
                  <a:lnTo>
                    <a:pt x="882" y="546"/>
                  </a:lnTo>
                  <a:lnTo>
                    <a:pt x="882" y="552"/>
                  </a:lnTo>
                  <a:lnTo>
                    <a:pt x="888" y="552"/>
                  </a:lnTo>
                  <a:lnTo>
                    <a:pt x="888" y="546"/>
                  </a:lnTo>
                  <a:lnTo>
                    <a:pt x="888" y="552"/>
                  </a:lnTo>
                  <a:lnTo>
                    <a:pt x="888" y="558"/>
                  </a:lnTo>
                  <a:lnTo>
                    <a:pt x="888" y="564"/>
                  </a:lnTo>
                  <a:lnTo>
                    <a:pt x="888" y="558"/>
                  </a:lnTo>
                  <a:lnTo>
                    <a:pt x="894" y="558"/>
                  </a:lnTo>
                  <a:lnTo>
                    <a:pt x="888" y="558"/>
                  </a:lnTo>
                  <a:lnTo>
                    <a:pt x="888" y="552"/>
                  </a:lnTo>
                  <a:lnTo>
                    <a:pt x="894" y="552"/>
                  </a:lnTo>
                  <a:lnTo>
                    <a:pt x="900" y="552"/>
                  </a:lnTo>
                  <a:lnTo>
                    <a:pt x="894" y="552"/>
                  </a:lnTo>
                  <a:lnTo>
                    <a:pt x="894" y="558"/>
                  </a:lnTo>
                  <a:lnTo>
                    <a:pt x="894" y="552"/>
                  </a:lnTo>
                  <a:lnTo>
                    <a:pt x="900" y="552"/>
                  </a:lnTo>
                  <a:lnTo>
                    <a:pt x="900" y="558"/>
                  </a:lnTo>
                  <a:lnTo>
                    <a:pt x="900" y="564"/>
                  </a:lnTo>
                  <a:lnTo>
                    <a:pt x="900" y="558"/>
                  </a:lnTo>
                  <a:lnTo>
                    <a:pt x="900" y="552"/>
                  </a:lnTo>
                  <a:lnTo>
                    <a:pt x="906" y="552"/>
                  </a:lnTo>
                  <a:lnTo>
                    <a:pt x="900" y="552"/>
                  </a:lnTo>
                  <a:lnTo>
                    <a:pt x="900" y="558"/>
                  </a:lnTo>
                  <a:lnTo>
                    <a:pt x="906" y="558"/>
                  </a:lnTo>
                  <a:lnTo>
                    <a:pt x="900" y="558"/>
                  </a:lnTo>
                  <a:lnTo>
                    <a:pt x="906" y="558"/>
                  </a:lnTo>
                  <a:lnTo>
                    <a:pt x="900" y="564"/>
                  </a:lnTo>
                  <a:lnTo>
                    <a:pt x="900" y="570"/>
                  </a:lnTo>
                  <a:lnTo>
                    <a:pt x="906" y="570"/>
                  </a:lnTo>
                  <a:lnTo>
                    <a:pt x="900" y="570"/>
                  </a:lnTo>
                  <a:lnTo>
                    <a:pt x="906" y="564"/>
                  </a:lnTo>
                  <a:lnTo>
                    <a:pt x="906" y="558"/>
                  </a:lnTo>
                  <a:lnTo>
                    <a:pt x="912" y="564"/>
                  </a:lnTo>
                  <a:lnTo>
                    <a:pt x="906" y="558"/>
                  </a:lnTo>
                  <a:lnTo>
                    <a:pt x="906" y="564"/>
                  </a:lnTo>
                  <a:lnTo>
                    <a:pt x="912" y="564"/>
                  </a:lnTo>
                  <a:lnTo>
                    <a:pt x="912" y="570"/>
                  </a:lnTo>
                  <a:lnTo>
                    <a:pt x="912" y="576"/>
                  </a:lnTo>
                  <a:lnTo>
                    <a:pt x="906" y="576"/>
                  </a:lnTo>
                  <a:lnTo>
                    <a:pt x="912" y="576"/>
                  </a:lnTo>
                  <a:lnTo>
                    <a:pt x="912" y="570"/>
                  </a:lnTo>
                  <a:lnTo>
                    <a:pt x="912" y="564"/>
                  </a:lnTo>
                  <a:lnTo>
                    <a:pt x="912" y="570"/>
                  </a:lnTo>
                  <a:lnTo>
                    <a:pt x="912" y="576"/>
                  </a:lnTo>
                  <a:lnTo>
                    <a:pt x="912" y="582"/>
                  </a:lnTo>
                  <a:lnTo>
                    <a:pt x="912" y="576"/>
                  </a:lnTo>
                  <a:lnTo>
                    <a:pt x="912" y="582"/>
                  </a:lnTo>
                  <a:lnTo>
                    <a:pt x="918" y="582"/>
                  </a:lnTo>
                  <a:lnTo>
                    <a:pt x="918" y="576"/>
                  </a:lnTo>
                  <a:lnTo>
                    <a:pt x="918" y="570"/>
                  </a:lnTo>
                  <a:lnTo>
                    <a:pt x="918" y="576"/>
                  </a:lnTo>
                  <a:lnTo>
                    <a:pt x="918" y="582"/>
                  </a:lnTo>
                  <a:lnTo>
                    <a:pt x="924" y="582"/>
                  </a:lnTo>
                  <a:lnTo>
                    <a:pt x="924" y="576"/>
                  </a:lnTo>
                  <a:lnTo>
                    <a:pt x="924" y="570"/>
                  </a:lnTo>
                  <a:lnTo>
                    <a:pt x="924" y="576"/>
                  </a:lnTo>
                  <a:lnTo>
                    <a:pt x="924" y="582"/>
                  </a:lnTo>
                  <a:lnTo>
                    <a:pt x="930" y="582"/>
                  </a:lnTo>
                  <a:lnTo>
                    <a:pt x="930" y="588"/>
                  </a:lnTo>
                  <a:lnTo>
                    <a:pt x="936" y="594"/>
                  </a:lnTo>
                  <a:lnTo>
                    <a:pt x="936" y="600"/>
                  </a:lnTo>
                  <a:lnTo>
                    <a:pt x="936" y="594"/>
                  </a:lnTo>
                  <a:lnTo>
                    <a:pt x="936" y="600"/>
                  </a:lnTo>
                  <a:lnTo>
                    <a:pt x="936" y="594"/>
                  </a:lnTo>
                  <a:lnTo>
                    <a:pt x="936" y="600"/>
                  </a:lnTo>
                  <a:lnTo>
                    <a:pt x="942" y="600"/>
                  </a:lnTo>
                  <a:lnTo>
                    <a:pt x="942" y="594"/>
                  </a:lnTo>
                  <a:lnTo>
                    <a:pt x="936" y="594"/>
                  </a:lnTo>
                  <a:lnTo>
                    <a:pt x="942" y="594"/>
                  </a:lnTo>
                  <a:lnTo>
                    <a:pt x="942" y="600"/>
                  </a:lnTo>
                  <a:lnTo>
                    <a:pt x="942" y="594"/>
                  </a:lnTo>
                  <a:lnTo>
                    <a:pt x="936" y="594"/>
                  </a:lnTo>
                  <a:lnTo>
                    <a:pt x="936" y="588"/>
                  </a:lnTo>
                  <a:lnTo>
                    <a:pt x="942" y="588"/>
                  </a:lnTo>
                  <a:lnTo>
                    <a:pt x="942" y="594"/>
                  </a:lnTo>
                  <a:lnTo>
                    <a:pt x="948" y="594"/>
                  </a:lnTo>
                  <a:lnTo>
                    <a:pt x="948" y="588"/>
                  </a:lnTo>
                  <a:lnTo>
                    <a:pt x="942" y="588"/>
                  </a:lnTo>
                  <a:lnTo>
                    <a:pt x="942" y="582"/>
                  </a:lnTo>
                  <a:lnTo>
                    <a:pt x="948" y="582"/>
                  </a:lnTo>
                  <a:lnTo>
                    <a:pt x="948" y="588"/>
                  </a:lnTo>
                  <a:lnTo>
                    <a:pt x="942" y="588"/>
                  </a:lnTo>
                  <a:lnTo>
                    <a:pt x="948" y="588"/>
                  </a:lnTo>
                  <a:lnTo>
                    <a:pt x="954" y="588"/>
                  </a:lnTo>
                  <a:lnTo>
                    <a:pt x="948" y="588"/>
                  </a:lnTo>
                  <a:lnTo>
                    <a:pt x="954" y="588"/>
                  </a:lnTo>
                  <a:lnTo>
                    <a:pt x="948" y="588"/>
                  </a:lnTo>
                  <a:lnTo>
                    <a:pt x="954" y="588"/>
                  </a:lnTo>
                  <a:lnTo>
                    <a:pt x="954" y="582"/>
                  </a:lnTo>
                  <a:lnTo>
                    <a:pt x="954" y="588"/>
                  </a:lnTo>
                  <a:lnTo>
                    <a:pt x="954" y="582"/>
                  </a:lnTo>
                  <a:lnTo>
                    <a:pt x="960" y="582"/>
                  </a:lnTo>
                  <a:lnTo>
                    <a:pt x="960" y="576"/>
                  </a:lnTo>
                  <a:lnTo>
                    <a:pt x="960" y="582"/>
                  </a:lnTo>
                  <a:lnTo>
                    <a:pt x="960" y="576"/>
                  </a:lnTo>
                  <a:lnTo>
                    <a:pt x="960" y="582"/>
                  </a:lnTo>
                  <a:lnTo>
                    <a:pt x="966" y="582"/>
                  </a:lnTo>
                  <a:lnTo>
                    <a:pt x="966" y="588"/>
                  </a:lnTo>
                  <a:lnTo>
                    <a:pt x="966" y="582"/>
                  </a:lnTo>
                  <a:lnTo>
                    <a:pt x="966" y="588"/>
                  </a:lnTo>
                  <a:lnTo>
                    <a:pt x="966" y="594"/>
                  </a:lnTo>
                  <a:lnTo>
                    <a:pt x="966" y="600"/>
                  </a:lnTo>
                  <a:lnTo>
                    <a:pt x="960" y="600"/>
                  </a:lnTo>
                  <a:lnTo>
                    <a:pt x="966" y="606"/>
                  </a:lnTo>
                  <a:lnTo>
                    <a:pt x="960" y="606"/>
                  </a:lnTo>
                  <a:lnTo>
                    <a:pt x="966" y="606"/>
                  </a:lnTo>
                  <a:lnTo>
                    <a:pt x="966" y="600"/>
                  </a:lnTo>
                  <a:lnTo>
                    <a:pt x="966" y="606"/>
                  </a:lnTo>
                  <a:lnTo>
                    <a:pt x="966" y="612"/>
                  </a:lnTo>
                  <a:lnTo>
                    <a:pt x="972" y="612"/>
                  </a:lnTo>
                  <a:lnTo>
                    <a:pt x="972" y="606"/>
                  </a:lnTo>
                  <a:lnTo>
                    <a:pt x="978" y="606"/>
                  </a:lnTo>
                  <a:lnTo>
                    <a:pt x="984" y="606"/>
                  </a:lnTo>
                  <a:lnTo>
                    <a:pt x="978" y="606"/>
                  </a:lnTo>
                  <a:lnTo>
                    <a:pt x="978" y="600"/>
                  </a:lnTo>
                  <a:lnTo>
                    <a:pt x="984" y="594"/>
                  </a:lnTo>
                  <a:lnTo>
                    <a:pt x="984" y="600"/>
                  </a:lnTo>
                  <a:lnTo>
                    <a:pt x="990" y="606"/>
                  </a:lnTo>
                  <a:lnTo>
                    <a:pt x="990" y="600"/>
                  </a:lnTo>
                  <a:lnTo>
                    <a:pt x="996" y="600"/>
                  </a:lnTo>
                  <a:lnTo>
                    <a:pt x="990" y="600"/>
                  </a:lnTo>
                  <a:lnTo>
                    <a:pt x="990" y="594"/>
                  </a:lnTo>
                  <a:lnTo>
                    <a:pt x="996" y="588"/>
                  </a:lnTo>
                  <a:lnTo>
                    <a:pt x="990" y="582"/>
                  </a:lnTo>
                  <a:lnTo>
                    <a:pt x="996" y="582"/>
                  </a:lnTo>
                  <a:lnTo>
                    <a:pt x="1002" y="582"/>
                  </a:lnTo>
                  <a:lnTo>
                    <a:pt x="1008" y="582"/>
                  </a:lnTo>
                  <a:lnTo>
                    <a:pt x="1008" y="588"/>
                  </a:lnTo>
                  <a:lnTo>
                    <a:pt x="1014" y="588"/>
                  </a:lnTo>
                  <a:lnTo>
                    <a:pt x="1014" y="594"/>
                  </a:lnTo>
                  <a:lnTo>
                    <a:pt x="1014" y="600"/>
                  </a:lnTo>
                  <a:lnTo>
                    <a:pt x="1014" y="594"/>
                  </a:lnTo>
                  <a:lnTo>
                    <a:pt x="1014" y="588"/>
                  </a:lnTo>
                  <a:lnTo>
                    <a:pt x="1020" y="594"/>
                  </a:lnTo>
                  <a:lnTo>
                    <a:pt x="1026" y="594"/>
                  </a:lnTo>
                  <a:lnTo>
                    <a:pt x="1032" y="594"/>
                  </a:lnTo>
                  <a:lnTo>
                    <a:pt x="1032" y="600"/>
                  </a:lnTo>
                  <a:lnTo>
                    <a:pt x="1026" y="600"/>
                  </a:lnTo>
                  <a:lnTo>
                    <a:pt x="1032" y="600"/>
                  </a:lnTo>
                  <a:lnTo>
                    <a:pt x="1038" y="600"/>
                  </a:lnTo>
                  <a:lnTo>
                    <a:pt x="1044" y="600"/>
                  </a:lnTo>
                  <a:lnTo>
                    <a:pt x="1044" y="606"/>
                  </a:lnTo>
                  <a:lnTo>
                    <a:pt x="1038" y="606"/>
                  </a:lnTo>
                  <a:lnTo>
                    <a:pt x="1038" y="612"/>
                  </a:lnTo>
                  <a:lnTo>
                    <a:pt x="1038" y="606"/>
                  </a:lnTo>
                  <a:lnTo>
                    <a:pt x="1044" y="606"/>
                  </a:lnTo>
                  <a:lnTo>
                    <a:pt x="1044" y="600"/>
                  </a:lnTo>
                  <a:lnTo>
                    <a:pt x="1044" y="606"/>
                  </a:lnTo>
                  <a:lnTo>
                    <a:pt x="1038" y="612"/>
                  </a:lnTo>
                  <a:lnTo>
                    <a:pt x="1044" y="612"/>
                  </a:lnTo>
                  <a:lnTo>
                    <a:pt x="1050" y="612"/>
                  </a:lnTo>
                  <a:lnTo>
                    <a:pt x="1056" y="606"/>
                  </a:lnTo>
                  <a:lnTo>
                    <a:pt x="1056" y="612"/>
                  </a:lnTo>
                  <a:lnTo>
                    <a:pt x="1062" y="612"/>
                  </a:lnTo>
                  <a:lnTo>
                    <a:pt x="1056" y="612"/>
                  </a:lnTo>
                  <a:lnTo>
                    <a:pt x="1062" y="618"/>
                  </a:lnTo>
                  <a:lnTo>
                    <a:pt x="1062" y="612"/>
                  </a:lnTo>
                  <a:lnTo>
                    <a:pt x="1062" y="618"/>
                  </a:lnTo>
                  <a:lnTo>
                    <a:pt x="1056" y="624"/>
                  </a:lnTo>
                  <a:lnTo>
                    <a:pt x="1056" y="630"/>
                  </a:lnTo>
                  <a:lnTo>
                    <a:pt x="1062" y="630"/>
                  </a:lnTo>
                  <a:lnTo>
                    <a:pt x="1068" y="630"/>
                  </a:lnTo>
                  <a:lnTo>
                    <a:pt x="1068" y="624"/>
                  </a:lnTo>
                  <a:lnTo>
                    <a:pt x="1074" y="624"/>
                  </a:lnTo>
                  <a:lnTo>
                    <a:pt x="1074" y="630"/>
                  </a:lnTo>
                  <a:lnTo>
                    <a:pt x="1080" y="630"/>
                  </a:lnTo>
                  <a:lnTo>
                    <a:pt x="1080" y="636"/>
                  </a:lnTo>
                  <a:lnTo>
                    <a:pt x="1080" y="630"/>
                  </a:lnTo>
                  <a:lnTo>
                    <a:pt x="1080" y="636"/>
                  </a:lnTo>
                  <a:lnTo>
                    <a:pt x="1074" y="636"/>
                  </a:lnTo>
                  <a:lnTo>
                    <a:pt x="1074" y="642"/>
                  </a:lnTo>
                  <a:lnTo>
                    <a:pt x="1074" y="636"/>
                  </a:lnTo>
                  <a:lnTo>
                    <a:pt x="1080" y="636"/>
                  </a:lnTo>
                  <a:lnTo>
                    <a:pt x="1080" y="642"/>
                  </a:lnTo>
                  <a:lnTo>
                    <a:pt x="1074" y="642"/>
                  </a:lnTo>
                  <a:lnTo>
                    <a:pt x="1074" y="648"/>
                  </a:lnTo>
                  <a:lnTo>
                    <a:pt x="1080" y="648"/>
                  </a:lnTo>
                  <a:lnTo>
                    <a:pt x="1080" y="642"/>
                  </a:lnTo>
                  <a:lnTo>
                    <a:pt x="1080" y="648"/>
                  </a:lnTo>
                  <a:lnTo>
                    <a:pt x="1080" y="654"/>
                  </a:lnTo>
                  <a:lnTo>
                    <a:pt x="1086" y="648"/>
                  </a:lnTo>
                  <a:lnTo>
                    <a:pt x="1092" y="648"/>
                  </a:lnTo>
                  <a:lnTo>
                    <a:pt x="1092" y="654"/>
                  </a:lnTo>
                  <a:lnTo>
                    <a:pt x="1098" y="654"/>
                  </a:lnTo>
                  <a:lnTo>
                    <a:pt x="1098" y="660"/>
                  </a:lnTo>
                  <a:lnTo>
                    <a:pt x="1098" y="666"/>
                  </a:lnTo>
                  <a:lnTo>
                    <a:pt x="1098" y="660"/>
                  </a:lnTo>
                  <a:lnTo>
                    <a:pt x="1104" y="660"/>
                  </a:lnTo>
                  <a:lnTo>
                    <a:pt x="1104" y="666"/>
                  </a:lnTo>
                  <a:lnTo>
                    <a:pt x="1110" y="666"/>
                  </a:lnTo>
                  <a:lnTo>
                    <a:pt x="1110" y="672"/>
                  </a:lnTo>
                  <a:lnTo>
                    <a:pt x="1110" y="678"/>
                  </a:lnTo>
                  <a:lnTo>
                    <a:pt x="1110" y="672"/>
                  </a:lnTo>
                  <a:lnTo>
                    <a:pt x="1110" y="678"/>
                  </a:lnTo>
                  <a:lnTo>
                    <a:pt x="1104" y="678"/>
                  </a:lnTo>
                  <a:lnTo>
                    <a:pt x="1098" y="678"/>
                  </a:lnTo>
                  <a:lnTo>
                    <a:pt x="1092" y="678"/>
                  </a:lnTo>
                  <a:lnTo>
                    <a:pt x="1092" y="672"/>
                  </a:lnTo>
                  <a:lnTo>
                    <a:pt x="1092" y="678"/>
                  </a:lnTo>
                  <a:lnTo>
                    <a:pt x="1098" y="678"/>
                  </a:lnTo>
                  <a:lnTo>
                    <a:pt x="1098" y="684"/>
                  </a:lnTo>
                  <a:lnTo>
                    <a:pt x="1098" y="678"/>
                  </a:lnTo>
                  <a:lnTo>
                    <a:pt x="1098" y="684"/>
                  </a:lnTo>
                  <a:lnTo>
                    <a:pt x="1104" y="684"/>
                  </a:lnTo>
                  <a:lnTo>
                    <a:pt x="1104" y="690"/>
                  </a:lnTo>
                  <a:lnTo>
                    <a:pt x="1098" y="690"/>
                  </a:lnTo>
                  <a:lnTo>
                    <a:pt x="1098" y="696"/>
                  </a:lnTo>
                  <a:lnTo>
                    <a:pt x="1098" y="702"/>
                  </a:lnTo>
                  <a:lnTo>
                    <a:pt x="1104" y="702"/>
                  </a:lnTo>
                  <a:lnTo>
                    <a:pt x="1098" y="702"/>
                  </a:lnTo>
                  <a:lnTo>
                    <a:pt x="1098" y="708"/>
                  </a:lnTo>
                  <a:lnTo>
                    <a:pt x="1092" y="708"/>
                  </a:lnTo>
                  <a:lnTo>
                    <a:pt x="1098" y="708"/>
                  </a:lnTo>
                  <a:lnTo>
                    <a:pt x="1092" y="708"/>
                  </a:lnTo>
                  <a:lnTo>
                    <a:pt x="1098" y="714"/>
                  </a:lnTo>
                  <a:lnTo>
                    <a:pt x="1098" y="708"/>
                  </a:lnTo>
                  <a:lnTo>
                    <a:pt x="1098" y="714"/>
                  </a:lnTo>
                  <a:lnTo>
                    <a:pt x="1104" y="714"/>
                  </a:lnTo>
                  <a:lnTo>
                    <a:pt x="1110" y="714"/>
                  </a:lnTo>
                  <a:lnTo>
                    <a:pt x="1110" y="720"/>
                  </a:lnTo>
                  <a:lnTo>
                    <a:pt x="1104" y="720"/>
                  </a:lnTo>
                  <a:lnTo>
                    <a:pt x="1110" y="720"/>
                  </a:lnTo>
                  <a:lnTo>
                    <a:pt x="1110" y="726"/>
                  </a:lnTo>
                  <a:lnTo>
                    <a:pt x="1104" y="726"/>
                  </a:lnTo>
                  <a:lnTo>
                    <a:pt x="1098" y="726"/>
                  </a:lnTo>
                  <a:lnTo>
                    <a:pt x="1092" y="726"/>
                  </a:lnTo>
                  <a:lnTo>
                    <a:pt x="1098" y="726"/>
                  </a:lnTo>
                  <a:lnTo>
                    <a:pt x="1092" y="726"/>
                  </a:lnTo>
                  <a:lnTo>
                    <a:pt x="1092" y="732"/>
                  </a:lnTo>
                  <a:lnTo>
                    <a:pt x="1086" y="732"/>
                  </a:lnTo>
                  <a:lnTo>
                    <a:pt x="1092" y="732"/>
                  </a:lnTo>
                  <a:lnTo>
                    <a:pt x="1086" y="732"/>
                  </a:lnTo>
                  <a:lnTo>
                    <a:pt x="1080" y="732"/>
                  </a:lnTo>
                  <a:lnTo>
                    <a:pt x="1074" y="732"/>
                  </a:lnTo>
                  <a:lnTo>
                    <a:pt x="1074" y="738"/>
                  </a:lnTo>
                  <a:lnTo>
                    <a:pt x="1080" y="738"/>
                  </a:lnTo>
                  <a:lnTo>
                    <a:pt x="1074" y="738"/>
                  </a:lnTo>
                  <a:lnTo>
                    <a:pt x="1080" y="738"/>
                  </a:lnTo>
                  <a:lnTo>
                    <a:pt x="1074" y="738"/>
                  </a:lnTo>
                  <a:lnTo>
                    <a:pt x="1074" y="744"/>
                  </a:lnTo>
                  <a:lnTo>
                    <a:pt x="1080" y="744"/>
                  </a:lnTo>
                  <a:lnTo>
                    <a:pt x="1080" y="750"/>
                  </a:lnTo>
                  <a:lnTo>
                    <a:pt x="1086" y="750"/>
                  </a:lnTo>
                  <a:lnTo>
                    <a:pt x="1092" y="750"/>
                  </a:lnTo>
                  <a:lnTo>
                    <a:pt x="1098" y="750"/>
                  </a:lnTo>
                  <a:lnTo>
                    <a:pt x="1104" y="750"/>
                  </a:lnTo>
                  <a:lnTo>
                    <a:pt x="1104" y="756"/>
                  </a:lnTo>
                  <a:lnTo>
                    <a:pt x="1104" y="762"/>
                  </a:lnTo>
                  <a:lnTo>
                    <a:pt x="1110" y="762"/>
                  </a:lnTo>
                  <a:lnTo>
                    <a:pt x="1104" y="762"/>
                  </a:lnTo>
                  <a:lnTo>
                    <a:pt x="1110" y="762"/>
                  </a:lnTo>
                  <a:lnTo>
                    <a:pt x="1110" y="768"/>
                  </a:lnTo>
                  <a:lnTo>
                    <a:pt x="1104" y="768"/>
                  </a:lnTo>
                  <a:lnTo>
                    <a:pt x="1110" y="768"/>
                  </a:lnTo>
                  <a:lnTo>
                    <a:pt x="1110" y="774"/>
                  </a:lnTo>
                  <a:lnTo>
                    <a:pt x="1104" y="774"/>
                  </a:lnTo>
                  <a:lnTo>
                    <a:pt x="1104" y="780"/>
                  </a:lnTo>
                  <a:lnTo>
                    <a:pt x="1104" y="786"/>
                  </a:lnTo>
                  <a:lnTo>
                    <a:pt x="1104" y="780"/>
                  </a:lnTo>
                  <a:lnTo>
                    <a:pt x="1104" y="786"/>
                  </a:lnTo>
                  <a:lnTo>
                    <a:pt x="1110" y="786"/>
                  </a:lnTo>
                  <a:lnTo>
                    <a:pt x="1104" y="786"/>
                  </a:lnTo>
                  <a:lnTo>
                    <a:pt x="1104" y="792"/>
                  </a:lnTo>
                  <a:lnTo>
                    <a:pt x="1104" y="798"/>
                  </a:lnTo>
                  <a:lnTo>
                    <a:pt x="1110" y="798"/>
                  </a:lnTo>
                  <a:lnTo>
                    <a:pt x="1110" y="804"/>
                  </a:lnTo>
                  <a:lnTo>
                    <a:pt x="1104" y="804"/>
                  </a:lnTo>
                  <a:lnTo>
                    <a:pt x="1104" y="798"/>
                  </a:lnTo>
                  <a:lnTo>
                    <a:pt x="1104" y="804"/>
                  </a:lnTo>
                  <a:lnTo>
                    <a:pt x="1098" y="804"/>
                  </a:lnTo>
                  <a:lnTo>
                    <a:pt x="1104" y="804"/>
                  </a:lnTo>
                  <a:lnTo>
                    <a:pt x="1098" y="810"/>
                  </a:lnTo>
                  <a:lnTo>
                    <a:pt x="1098" y="804"/>
                  </a:lnTo>
                  <a:lnTo>
                    <a:pt x="1098" y="810"/>
                  </a:lnTo>
                  <a:lnTo>
                    <a:pt x="1092" y="810"/>
                  </a:lnTo>
                  <a:lnTo>
                    <a:pt x="1086" y="810"/>
                  </a:lnTo>
                  <a:lnTo>
                    <a:pt x="1080" y="810"/>
                  </a:lnTo>
                  <a:lnTo>
                    <a:pt x="1080" y="804"/>
                  </a:lnTo>
                  <a:lnTo>
                    <a:pt x="1080" y="810"/>
                  </a:lnTo>
                  <a:lnTo>
                    <a:pt x="1074" y="810"/>
                  </a:lnTo>
                  <a:lnTo>
                    <a:pt x="1068" y="810"/>
                  </a:lnTo>
                  <a:lnTo>
                    <a:pt x="1068" y="816"/>
                  </a:lnTo>
                  <a:lnTo>
                    <a:pt x="1068" y="822"/>
                  </a:lnTo>
                  <a:lnTo>
                    <a:pt x="1074" y="822"/>
                  </a:lnTo>
                  <a:lnTo>
                    <a:pt x="1074" y="828"/>
                  </a:lnTo>
                  <a:lnTo>
                    <a:pt x="1080" y="828"/>
                  </a:lnTo>
                  <a:lnTo>
                    <a:pt x="1074" y="828"/>
                  </a:lnTo>
                  <a:lnTo>
                    <a:pt x="1074" y="834"/>
                  </a:lnTo>
                  <a:lnTo>
                    <a:pt x="1068" y="828"/>
                  </a:lnTo>
                  <a:lnTo>
                    <a:pt x="1068" y="822"/>
                  </a:lnTo>
                  <a:lnTo>
                    <a:pt x="1068" y="816"/>
                  </a:lnTo>
                  <a:lnTo>
                    <a:pt x="1062" y="816"/>
                  </a:lnTo>
                  <a:lnTo>
                    <a:pt x="1062" y="822"/>
                  </a:lnTo>
                  <a:lnTo>
                    <a:pt x="1062" y="834"/>
                  </a:lnTo>
                  <a:lnTo>
                    <a:pt x="1068" y="834"/>
                  </a:lnTo>
                  <a:lnTo>
                    <a:pt x="1068" y="840"/>
                  </a:lnTo>
                  <a:lnTo>
                    <a:pt x="1074" y="846"/>
                  </a:lnTo>
                  <a:lnTo>
                    <a:pt x="1074" y="852"/>
                  </a:lnTo>
                  <a:lnTo>
                    <a:pt x="1074" y="858"/>
                  </a:lnTo>
                  <a:lnTo>
                    <a:pt x="1080" y="858"/>
                  </a:lnTo>
                  <a:lnTo>
                    <a:pt x="1086" y="864"/>
                  </a:lnTo>
                  <a:lnTo>
                    <a:pt x="1086" y="858"/>
                  </a:lnTo>
                  <a:lnTo>
                    <a:pt x="1092" y="852"/>
                  </a:lnTo>
                  <a:lnTo>
                    <a:pt x="1098" y="852"/>
                  </a:lnTo>
                  <a:lnTo>
                    <a:pt x="1098" y="846"/>
                  </a:lnTo>
                  <a:lnTo>
                    <a:pt x="1092" y="840"/>
                  </a:lnTo>
                  <a:lnTo>
                    <a:pt x="1092" y="834"/>
                  </a:lnTo>
                  <a:lnTo>
                    <a:pt x="1092" y="828"/>
                  </a:lnTo>
                  <a:lnTo>
                    <a:pt x="1092" y="822"/>
                  </a:lnTo>
                  <a:lnTo>
                    <a:pt x="1092" y="816"/>
                  </a:lnTo>
                  <a:lnTo>
                    <a:pt x="1086" y="816"/>
                  </a:lnTo>
                  <a:lnTo>
                    <a:pt x="1092" y="816"/>
                  </a:lnTo>
                  <a:lnTo>
                    <a:pt x="1092" y="822"/>
                  </a:lnTo>
                  <a:lnTo>
                    <a:pt x="1098" y="828"/>
                  </a:lnTo>
                  <a:lnTo>
                    <a:pt x="1098" y="834"/>
                  </a:lnTo>
                  <a:lnTo>
                    <a:pt x="1098" y="840"/>
                  </a:lnTo>
                  <a:lnTo>
                    <a:pt x="1098" y="846"/>
                  </a:lnTo>
                  <a:lnTo>
                    <a:pt x="1104" y="852"/>
                  </a:lnTo>
                  <a:lnTo>
                    <a:pt x="1104" y="858"/>
                  </a:lnTo>
                  <a:lnTo>
                    <a:pt x="1110" y="858"/>
                  </a:lnTo>
                  <a:lnTo>
                    <a:pt x="1110" y="864"/>
                  </a:lnTo>
                  <a:lnTo>
                    <a:pt x="1110" y="858"/>
                  </a:lnTo>
                  <a:lnTo>
                    <a:pt x="1104" y="858"/>
                  </a:lnTo>
                  <a:lnTo>
                    <a:pt x="1098" y="858"/>
                  </a:lnTo>
                  <a:lnTo>
                    <a:pt x="1092" y="864"/>
                  </a:lnTo>
                  <a:lnTo>
                    <a:pt x="1086" y="864"/>
                  </a:lnTo>
                  <a:lnTo>
                    <a:pt x="1080" y="864"/>
                  </a:lnTo>
                  <a:lnTo>
                    <a:pt x="1080" y="870"/>
                  </a:lnTo>
                  <a:lnTo>
                    <a:pt x="1080" y="876"/>
                  </a:lnTo>
                  <a:lnTo>
                    <a:pt x="1080" y="882"/>
                  </a:lnTo>
                  <a:lnTo>
                    <a:pt x="1086" y="882"/>
                  </a:lnTo>
                  <a:lnTo>
                    <a:pt x="1086" y="876"/>
                  </a:lnTo>
                  <a:lnTo>
                    <a:pt x="1086" y="882"/>
                  </a:lnTo>
                  <a:lnTo>
                    <a:pt x="1092" y="882"/>
                  </a:lnTo>
                  <a:lnTo>
                    <a:pt x="1092" y="876"/>
                  </a:lnTo>
                  <a:lnTo>
                    <a:pt x="1098" y="876"/>
                  </a:lnTo>
                  <a:lnTo>
                    <a:pt x="1098" y="882"/>
                  </a:lnTo>
                  <a:lnTo>
                    <a:pt x="1098" y="888"/>
                  </a:lnTo>
                  <a:lnTo>
                    <a:pt x="1098" y="894"/>
                  </a:lnTo>
                  <a:lnTo>
                    <a:pt x="1098" y="900"/>
                  </a:lnTo>
                  <a:lnTo>
                    <a:pt x="1098" y="894"/>
                  </a:lnTo>
                  <a:lnTo>
                    <a:pt x="1104" y="900"/>
                  </a:lnTo>
                  <a:lnTo>
                    <a:pt x="1104" y="906"/>
                  </a:lnTo>
                  <a:lnTo>
                    <a:pt x="1104" y="912"/>
                  </a:lnTo>
                  <a:lnTo>
                    <a:pt x="1104" y="918"/>
                  </a:lnTo>
                  <a:lnTo>
                    <a:pt x="1104" y="924"/>
                  </a:lnTo>
                  <a:lnTo>
                    <a:pt x="1110" y="924"/>
                  </a:lnTo>
                  <a:lnTo>
                    <a:pt x="1116" y="930"/>
                  </a:lnTo>
                  <a:lnTo>
                    <a:pt x="1122" y="936"/>
                  </a:lnTo>
                  <a:lnTo>
                    <a:pt x="1122" y="942"/>
                  </a:lnTo>
                  <a:lnTo>
                    <a:pt x="1122" y="948"/>
                  </a:lnTo>
                  <a:lnTo>
                    <a:pt x="1128" y="948"/>
                  </a:lnTo>
                  <a:lnTo>
                    <a:pt x="1134" y="948"/>
                  </a:lnTo>
                  <a:lnTo>
                    <a:pt x="1128" y="954"/>
                  </a:lnTo>
                  <a:lnTo>
                    <a:pt x="1134" y="954"/>
                  </a:lnTo>
                  <a:lnTo>
                    <a:pt x="1134" y="948"/>
                  </a:lnTo>
                  <a:lnTo>
                    <a:pt x="1134" y="954"/>
                  </a:lnTo>
                  <a:lnTo>
                    <a:pt x="1140" y="954"/>
                  </a:lnTo>
                  <a:lnTo>
                    <a:pt x="1140" y="960"/>
                  </a:lnTo>
                  <a:lnTo>
                    <a:pt x="1140" y="966"/>
                  </a:lnTo>
                  <a:lnTo>
                    <a:pt x="1146" y="966"/>
                  </a:lnTo>
                  <a:lnTo>
                    <a:pt x="1146" y="972"/>
                  </a:lnTo>
                  <a:lnTo>
                    <a:pt x="1140" y="972"/>
                  </a:lnTo>
                  <a:lnTo>
                    <a:pt x="1140" y="966"/>
                  </a:lnTo>
                  <a:lnTo>
                    <a:pt x="1140" y="972"/>
                  </a:lnTo>
                  <a:lnTo>
                    <a:pt x="1146" y="972"/>
                  </a:lnTo>
                  <a:lnTo>
                    <a:pt x="1146" y="978"/>
                  </a:lnTo>
                  <a:lnTo>
                    <a:pt x="1152" y="978"/>
                  </a:lnTo>
                  <a:lnTo>
                    <a:pt x="1158" y="978"/>
                  </a:lnTo>
                  <a:lnTo>
                    <a:pt x="1158" y="984"/>
                  </a:lnTo>
                  <a:lnTo>
                    <a:pt x="1164" y="984"/>
                  </a:lnTo>
                  <a:lnTo>
                    <a:pt x="1170" y="978"/>
                  </a:lnTo>
                  <a:lnTo>
                    <a:pt x="1170" y="972"/>
                  </a:lnTo>
                  <a:lnTo>
                    <a:pt x="1170" y="966"/>
                  </a:lnTo>
                  <a:lnTo>
                    <a:pt x="1170" y="972"/>
                  </a:lnTo>
                  <a:lnTo>
                    <a:pt x="1170" y="978"/>
                  </a:lnTo>
                  <a:lnTo>
                    <a:pt x="1170" y="984"/>
                  </a:lnTo>
                  <a:lnTo>
                    <a:pt x="1170" y="990"/>
                  </a:lnTo>
                  <a:lnTo>
                    <a:pt x="1176" y="996"/>
                  </a:lnTo>
                  <a:lnTo>
                    <a:pt x="1170" y="996"/>
                  </a:lnTo>
                  <a:lnTo>
                    <a:pt x="1176" y="996"/>
                  </a:lnTo>
                  <a:lnTo>
                    <a:pt x="1176" y="1002"/>
                  </a:lnTo>
                  <a:lnTo>
                    <a:pt x="1182" y="1002"/>
                  </a:lnTo>
                  <a:lnTo>
                    <a:pt x="1188" y="1002"/>
                  </a:lnTo>
                  <a:lnTo>
                    <a:pt x="1188" y="996"/>
                  </a:lnTo>
                  <a:lnTo>
                    <a:pt x="1194" y="996"/>
                  </a:lnTo>
                  <a:lnTo>
                    <a:pt x="1194" y="990"/>
                  </a:lnTo>
                  <a:lnTo>
                    <a:pt x="1200" y="990"/>
                  </a:lnTo>
                  <a:lnTo>
                    <a:pt x="1200" y="984"/>
                  </a:lnTo>
                  <a:lnTo>
                    <a:pt x="1206" y="978"/>
                  </a:lnTo>
                  <a:lnTo>
                    <a:pt x="1206" y="972"/>
                  </a:lnTo>
                  <a:lnTo>
                    <a:pt x="1212" y="966"/>
                  </a:lnTo>
                  <a:lnTo>
                    <a:pt x="1212" y="960"/>
                  </a:lnTo>
                  <a:lnTo>
                    <a:pt x="1212" y="954"/>
                  </a:lnTo>
                  <a:lnTo>
                    <a:pt x="1212" y="948"/>
                  </a:lnTo>
                  <a:lnTo>
                    <a:pt x="1212" y="942"/>
                  </a:lnTo>
                  <a:lnTo>
                    <a:pt x="1218" y="930"/>
                  </a:lnTo>
                  <a:lnTo>
                    <a:pt x="1218" y="924"/>
                  </a:lnTo>
                  <a:lnTo>
                    <a:pt x="1224" y="924"/>
                  </a:lnTo>
                  <a:lnTo>
                    <a:pt x="1224" y="918"/>
                  </a:lnTo>
                  <a:lnTo>
                    <a:pt x="1224" y="912"/>
                  </a:lnTo>
                  <a:lnTo>
                    <a:pt x="1224" y="906"/>
                  </a:lnTo>
                  <a:lnTo>
                    <a:pt x="1224" y="900"/>
                  </a:lnTo>
                  <a:lnTo>
                    <a:pt x="1224" y="894"/>
                  </a:lnTo>
                  <a:lnTo>
                    <a:pt x="1230" y="894"/>
                  </a:lnTo>
                  <a:lnTo>
                    <a:pt x="1230" y="888"/>
                  </a:lnTo>
                  <a:lnTo>
                    <a:pt x="1230" y="882"/>
                  </a:lnTo>
                  <a:lnTo>
                    <a:pt x="1230" y="876"/>
                  </a:lnTo>
                  <a:lnTo>
                    <a:pt x="1230" y="870"/>
                  </a:lnTo>
                  <a:lnTo>
                    <a:pt x="1236" y="870"/>
                  </a:lnTo>
                  <a:lnTo>
                    <a:pt x="1236" y="864"/>
                  </a:lnTo>
                  <a:lnTo>
                    <a:pt x="1236" y="858"/>
                  </a:lnTo>
                  <a:lnTo>
                    <a:pt x="1242" y="852"/>
                  </a:lnTo>
                  <a:lnTo>
                    <a:pt x="1242" y="846"/>
                  </a:lnTo>
                  <a:lnTo>
                    <a:pt x="1248" y="834"/>
                  </a:lnTo>
                  <a:lnTo>
                    <a:pt x="1254" y="828"/>
                  </a:lnTo>
                  <a:lnTo>
                    <a:pt x="1260" y="828"/>
                  </a:lnTo>
                  <a:lnTo>
                    <a:pt x="1266" y="822"/>
                  </a:lnTo>
                  <a:lnTo>
                    <a:pt x="1272" y="822"/>
                  </a:lnTo>
                  <a:lnTo>
                    <a:pt x="1278" y="822"/>
                  </a:lnTo>
                  <a:lnTo>
                    <a:pt x="1278" y="828"/>
                  </a:lnTo>
                  <a:lnTo>
                    <a:pt x="1278" y="834"/>
                  </a:lnTo>
                  <a:lnTo>
                    <a:pt x="1284" y="834"/>
                  </a:lnTo>
                  <a:lnTo>
                    <a:pt x="1284" y="840"/>
                  </a:lnTo>
                  <a:lnTo>
                    <a:pt x="1284" y="834"/>
                  </a:lnTo>
                  <a:lnTo>
                    <a:pt x="1278" y="834"/>
                  </a:lnTo>
                  <a:lnTo>
                    <a:pt x="1278" y="828"/>
                  </a:lnTo>
                  <a:lnTo>
                    <a:pt x="1272" y="828"/>
                  </a:lnTo>
                  <a:lnTo>
                    <a:pt x="1266" y="828"/>
                  </a:lnTo>
                  <a:lnTo>
                    <a:pt x="1260" y="828"/>
                  </a:lnTo>
                  <a:lnTo>
                    <a:pt x="1266" y="828"/>
                  </a:lnTo>
                  <a:lnTo>
                    <a:pt x="1266" y="834"/>
                  </a:lnTo>
                  <a:lnTo>
                    <a:pt x="1260" y="834"/>
                  </a:lnTo>
                  <a:lnTo>
                    <a:pt x="1260" y="840"/>
                  </a:lnTo>
                  <a:lnTo>
                    <a:pt x="1254" y="846"/>
                  </a:lnTo>
                  <a:lnTo>
                    <a:pt x="1260" y="852"/>
                  </a:lnTo>
                  <a:lnTo>
                    <a:pt x="1260" y="858"/>
                  </a:lnTo>
                  <a:lnTo>
                    <a:pt x="1266" y="858"/>
                  </a:lnTo>
                  <a:lnTo>
                    <a:pt x="1266" y="864"/>
                  </a:lnTo>
                  <a:lnTo>
                    <a:pt x="1272" y="864"/>
                  </a:lnTo>
                  <a:lnTo>
                    <a:pt x="1272" y="876"/>
                  </a:lnTo>
                  <a:lnTo>
                    <a:pt x="1278" y="882"/>
                  </a:lnTo>
                  <a:lnTo>
                    <a:pt x="1278" y="888"/>
                  </a:lnTo>
                  <a:lnTo>
                    <a:pt x="1284" y="888"/>
                  </a:lnTo>
                  <a:lnTo>
                    <a:pt x="1290" y="894"/>
                  </a:lnTo>
                  <a:lnTo>
                    <a:pt x="1296" y="900"/>
                  </a:lnTo>
                  <a:lnTo>
                    <a:pt x="1302" y="900"/>
                  </a:lnTo>
                  <a:lnTo>
                    <a:pt x="1302" y="906"/>
                  </a:lnTo>
                  <a:lnTo>
                    <a:pt x="1308" y="906"/>
                  </a:lnTo>
                  <a:lnTo>
                    <a:pt x="1314" y="906"/>
                  </a:lnTo>
                  <a:lnTo>
                    <a:pt x="1314" y="912"/>
                  </a:lnTo>
                  <a:lnTo>
                    <a:pt x="1320" y="912"/>
                  </a:lnTo>
                  <a:lnTo>
                    <a:pt x="1326" y="912"/>
                  </a:lnTo>
                  <a:lnTo>
                    <a:pt x="1332" y="912"/>
                  </a:lnTo>
                  <a:lnTo>
                    <a:pt x="1338" y="912"/>
                  </a:lnTo>
                  <a:lnTo>
                    <a:pt x="1338" y="906"/>
                  </a:lnTo>
                  <a:lnTo>
                    <a:pt x="1344" y="906"/>
                  </a:lnTo>
                  <a:lnTo>
                    <a:pt x="1350" y="906"/>
                  </a:lnTo>
                  <a:lnTo>
                    <a:pt x="1350" y="900"/>
                  </a:lnTo>
                  <a:lnTo>
                    <a:pt x="1350" y="894"/>
                  </a:lnTo>
                  <a:lnTo>
                    <a:pt x="1356" y="894"/>
                  </a:lnTo>
                  <a:lnTo>
                    <a:pt x="1356" y="888"/>
                  </a:lnTo>
                  <a:lnTo>
                    <a:pt x="1362" y="888"/>
                  </a:lnTo>
                  <a:lnTo>
                    <a:pt x="1368" y="888"/>
                  </a:lnTo>
                  <a:lnTo>
                    <a:pt x="1374" y="882"/>
                  </a:lnTo>
                  <a:lnTo>
                    <a:pt x="1380" y="882"/>
                  </a:lnTo>
                  <a:lnTo>
                    <a:pt x="1380" y="876"/>
                  </a:lnTo>
                  <a:lnTo>
                    <a:pt x="1386" y="876"/>
                  </a:lnTo>
                  <a:lnTo>
                    <a:pt x="1392" y="876"/>
                  </a:lnTo>
                  <a:lnTo>
                    <a:pt x="1398" y="876"/>
                  </a:lnTo>
                  <a:lnTo>
                    <a:pt x="1398" y="870"/>
                  </a:lnTo>
                  <a:lnTo>
                    <a:pt x="1404" y="876"/>
                  </a:lnTo>
                  <a:lnTo>
                    <a:pt x="1410" y="876"/>
                  </a:lnTo>
                  <a:lnTo>
                    <a:pt x="1416" y="876"/>
                  </a:lnTo>
                  <a:lnTo>
                    <a:pt x="1422" y="882"/>
                  </a:lnTo>
                  <a:lnTo>
                    <a:pt x="1428" y="882"/>
                  </a:lnTo>
                  <a:lnTo>
                    <a:pt x="1428" y="888"/>
                  </a:lnTo>
                  <a:lnTo>
                    <a:pt x="1434" y="888"/>
                  </a:lnTo>
                  <a:lnTo>
                    <a:pt x="1440" y="888"/>
                  </a:lnTo>
                  <a:lnTo>
                    <a:pt x="1446" y="888"/>
                  </a:lnTo>
                  <a:lnTo>
                    <a:pt x="1452" y="888"/>
                  </a:lnTo>
                  <a:lnTo>
                    <a:pt x="1452" y="882"/>
                  </a:lnTo>
                  <a:lnTo>
                    <a:pt x="1458" y="882"/>
                  </a:lnTo>
                  <a:lnTo>
                    <a:pt x="1458" y="888"/>
                  </a:lnTo>
                  <a:lnTo>
                    <a:pt x="1458" y="882"/>
                  </a:lnTo>
                  <a:lnTo>
                    <a:pt x="1464" y="882"/>
                  </a:lnTo>
                  <a:lnTo>
                    <a:pt x="1470" y="882"/>
                  </a:lnTo>
                  <a:lnTo>
                    <a:pt x="1470" y="876"/>
                  </a:lnTo>
                  <a:lnTo>
                    <a:pt x="1470" y="882"/>
                  </a:lnTo>
                  <a:lnTo>
                    <a:pt x="1476" y="876"/>
                  </a:lnTo>
                  <a:lnTo>
                    <a:pt x="1476" y="882"/>
                  </a:lnTo>
                  <a:lnTo>
                    <a:pt x="1482" y="882"/>
                  </a:lnTo>
                  <a:lnTo>
                    <a:pt x="1488" y="882"/>
                  </a:lnTo>
                  <a:lnTo>
                    <a:pt x="1494" y="882"/>
                  </a:lnTo>
                  <a:lnTo>
                    <a:pt x="1500" y="888"/>
                  </a:lnTo>
                  <a:lnTo>
                    <a:pt x="1500" y="894"/>
                  </a:lnTo>
                  <a:lnTo>
                    <a:pt x="1494" y="894"/>
                  </a:lnTo>
                  <a:lnTo>
                    <a:pt x="1494" y="900"/>
                  </a:lnTo>
                  <a:lnTo>
                    <a:pt x="1488" y="900"/>
                  </a:lnTo>
                  <a:lnTo>
                    <a:pt x="1488" y="906"/>
                  </a:lnTo>
                  <a:lnTo>
                    <a:pt x="1488" y="912"/>
                  </a:lnTo>
                  <a:lnTo>
                    <a:pt x="1494" y="912"/>
                  </a:lnTo>
                  <a:lnTo>
                    <a:pt x="1494" y="906"/>
                  </a:lnTo>
                  <a:lnTo>
                    <a:pt x="1500" y="900"/>
                  </a:lnTo>
                  <a:lnTo>
                    <a:pt x="1500" y="894"/>
                  </a:lnTo>
                  <a:lnTo>
                    <a:pt x="1500" y="888"/>
                  </a:lnTo>
                  <a:lnTo>
                    <a:pt x="1500" y="882"/>
                  </a:lnTo>
                  <a:lnTo>
                    <a:pt x="1506" y="882"/>
                  </a:lnTo>
                  <a:lnTo>
                    <a:pt x="1512" y="882"/>
                  </a:lnTo>
                  <a:lnTo>
                    <a:pt x="1512" y="876"/>
                  </a:lnTo>
                  <a:lnTo>
                    <a:pt x="1512" y="882"/>
                  </a:lnTo>
                  <a:lnTo>
                    <a:pt x="1518" y="882"/>
                  </a:lnTo>
                  <a:lnTo>
                    <a:pt x="1518" y="888"/>
                  </a:lnTo>
                  <a:lnTo>
                    <a:pt x="1524" y="888"/>
                  </a:lnTo>
                  <a:lnTo>
                    <a:pt x="1524" y="882"/>
                  </a:lnTo>
                  <a:lnTo>
                    <a:pt x="1524" y="888"/>
                  </a:lnTo>
                  <a:lnTo>
                    <a:pt x="1524" y="882"/>
                  </a:lnTo>
                  <a:lnTo>
                    <a:pt x="1530" y="882"/>
                  </a:lnTo>
                  <a:lnTo>
                    <a:pt x="1524" y="882"/>
                  </a:lnTo>
                  <a:lnTo>
                    <a:pt x="1524" y="876"/>
                  </a:lnTo>
                  <a:lnTo>
                    <a:pt x="1530" y="876"/>
                  </a:lnTo>
                  <a:lnTo>
                    <a:pt x="1530" y="870"/>
                  </a:lnTo>
                  <a:lnTo>
                    <a:pt x="1536" y="870"/>
                  </a:lnTo>
                  <a:lnTo>
                    <a:pt x="1536" y="876"/>
                  </a:lnTo>
                  <a:lnTo>
                    <a:pt x="1542" y="876"/>
                  </a:lnTo>
                  <a:lnTo>
                    <a:pt x="1542" y="882"/>
                  </a:lnTo>
                  <a:lnTo>
                    <a:pt x="1548" y="882"/>
                  </a:lnTo>
                  <a:lnTo>
                    <a:pt x="1548" y="888"/>
                  </a:lnTo>
                  <a:lnTo>
                    <a:pt x="1548" y="894"/>
                  </a:lnTo>
                  <a:lnTo>
                    <a:pt x="1548" y="900"/>
                  </a:lnTo>
                  <a:lnTo>
                    <a:pt x="1554" y="906"/>
                  </a:lnTo>
                  <a:lnTo>
                    <a:pt x="1560" y="906"/>
                  </a:lnTo>
                  <a:lnTo>
                    <a:pt x="1560" y="900"/>
                  </a:lnTo>
                  <a:lnTo>
                    <a:pt x="1566" y="900"/>
                  </a:lnTo>
                  <a:lnTo>
                    <a:pt x="1560" y="894"/>
                  </a:lnTo>
                  <a:lnTo>
                    <a:pt x="1566" y="894"/>
                  </a:lnTo>
                  <a:lnTo>
                    <a:pt x="1572" y="894"/>
                  </a:lnTo>
                  <a:lnTo>
                    <a:pt x="1578" y="894"/>
                  </a:lnTo>
                  <a:lnTo>
                    <a:pt x="1578" y="900"/>
                  </a:lnTo>
                  <a:lnTo>
                    <a:pt x="1584" y="900"/>
                  </a:lnTo>
                  <a:lnTo>
                    <a:pt x="1584" y="894"/>
                  </a:lnTo>
                  <a:lnTo>
                    <a:pt x="1590" y="894"/>
                  </a:lnTo>
                  <a:lnTo>
                    <a:pt x="1590" y="888"/>
                  </a:lnTo>
                  <a:lnTo>
                    <a:pt x="1584" y="888"/>
                  </a:lnTo>
                  <a:lnTo>
                    <a:pt x="1584" y="882"/>
                  </a:lnTo>
                  <a:lnTo>
                    <a:pt x="1584" y="888"/>
                  </a:lnTo>
                  <a:lnTo>
                    <a:pt x="1584" y="882"/>
                  </a:lnTo>
                  <a:lnTo>
                    <a:pt x="1584" y="876"/>
                  </a:lnTo>
                  <a:lnTo>
                    <a:pt x="1578" y="876"/>
                  </a:lnTo>
                  <a:lnTo>
                    <a:pt x="1584" y="876"/>
                  </a:lnTo>
                  <a:lnTo>
                    <a:pt x="1578" y="876"/>
                  </a:lnTo>
                  <a:lnTo>
                    <a:pt x="1578" y="870"/>
                  </a:lnTo>
                  <a:lnTo>
                    <a:pt x="1584" y="870"/>
                  </a:lnTo>
                  <a:lnTo>
                    <a:pt x="1578" y="870"/>
                  </a:lnTo>
                  <a:lnTo>
                    <a:pt x="1578" y="864"/>
                  </a:lnTo>
                  <a:lnTo>
                    <a:pt x="1578" y="858"/>
                  </a:lnTo>
                  <a:lnTo>
                    <a:pt x="1578" y="852"/>
                  </a:lnTo>
                  <a:lnTo>
                    <a:pt x="1578" y="846"/>
                  </a:lnTo>
                  <a:lnTo>
                    <a:pt x="1578" y="840"/>
                  </a:lnTo>
                  <a:lnTo>
                    <a:pt x="1578" y="834"/>
                  </a:lnTo>
                  <a:lnTo>
                    <a:pt x="1572" y="828"/>
                  </a:lnTo>
                  <a:lnTo>
                    <a:pt x="1566" y="828"/>
                  </a:lnTo>
                  <a:lnTo>
                    <a:pt x="1560" y="828"/>
                  </a:lnTo>
                  <a:lnTo>
                    <a:pt x="1566" y="828"/>
                  </a:lnTo>
                  <a:lnTo>
                    <a:pt x="1572" y="828"/>
                  </a:lnTo>
                  <a:lnTo>
                    <a:pt x="1578" y="822"/>
                  </a:lnTo>
                  <a:lnTo>
                    <a:pt x="1578" y="816"/>
                  </a:lnTo>
                  <a:lnTo>
                    <a:pt x="1578" y="810"/>
                  </a:lnTo>
                  <a:lnTo>
                    <a:pt x="1584" y="804"/>
                  </a:lnTo>
                  <a:lnTo>
                    <a:pt x="1584" y="798"/>
                  </a:lnTo>
                  <a:lnTo>
                    <a:pt x="1590" y="792"/>
                  </a:lnTo>
                  <a:lnTo>
                    <a:pt x="1590" y="798"/>
                  </a:lnTo>
                  <a:lnTo>
                    <a:pt x="1596" y="798"/>
                  </a:lnTo>
                  <a:lnTo>
                    <a:pt x="1602" y="792"/>
                  </a:lnTo>
                  <a:lnTo>
                    <a:pt x="1602" y="786"/>
                  </a:lnTo>
                  <a:lnTo>
                    <a:pt x="1596" y="786"/>
                  </a:lnTo>
                  <a:lnTo>
                    <a:pt x="1590" y="786"/>
                  </a:lnTo>
                  <a:lnTo>
                    <a:pt x="1590" y="780"/>
                  </a:lnTo>
                  <a:lnTo>
                    <a:pt x="1590" y="786"/>
                  </a:lnTo>
                  <a:lnTo>
                    <a:pt x="1578" y="786"/>
                  </a:lnTo>
                  <a:lnTo>
                    <a:pt x="1572" y="786"/>
                  </a:lnTo>
                  <a:lnTo>
                    <a:pt x="1566" y="786"/>
                  </a:lnTo>
                  <a:lnTo>
                    <a:pt x="1566" y="792"/>
                  </a:lnTo>
                  <a:lnTo>
                    <a:pt x="1566" y="798"/>
                  </a:lnTo>
                  <a:lnTo>
                    <a:pt x="1560" y="798"/>
                  </a:lnTo>
                  <a:lnTo>
                    <a:pt x="1554" y="798"/>
                  </a:lnTo>
                  <a:lnTo>
                    <a:pt x="1554" y="792"/>
                  </a:lnTo>
                  <a:lnTo>
                    <a:pt x="1548" y="792"/>
                  </a:lnTo>
                  <a:lnTo>
                    <a:pt x="1548" y="786"/>
                  </a:lnTo>
                  <a:lnTo>
                    <a:pt x="1548" y="780"/>
                  </a:lnTo>
                  <a:lnTo>
                    <a:pt x="1548" y="774"/>
                  </a:lnTo>
                  <a:lnTo>
                    <a:pt x="1554" y="774"/>
                  </a:lnTo>
                  <a:lnTo>
                    <a:pt x="1554" y="768"/>
                  </a:lnTo>
                  <a:lnTo>
                    <a:pt x="1560" y="762"/>
                  </a:lnTo>
                  <a:lnTo>
                    <a:pt x="1560" y="756"/>
                  </a:lnTo>
                  <a:lnTo>
                    <a:pt x="1566" y="756"/>
                  </a:lnTo>
                  <a:lnTo>
                    <a:pt x="1566" y="750"/>
                  </a:lnTo>
                  <a:lnTo>
                    <a:pt x="1572" y="744"/>
                  </a:lnTo>
                  <a:lnTo>
                    <a:pt x="1578" y="744"/>
                  </a:lnTo>
                  <a:lnTo>
                    <a:pt x="1584" y="744"/>
                  </a:lnTo>
                  <a:lnTo>
                    <a:pt x="1590" y="744"/>
                  </a:lnTo>
                  <a:lnTo>
                    <a:pt x="1590" y="750"/>
                  </a:lnTo>
                  <a:lnTo>
                    <a:pt x="1596" y="750"/>
                  </a:lnTo>
                  <a:lnTo>
                    <a:pt x="1602" y="750"/>
                  </a:lnTo>
                  <a:lnTo>
                    <a:pt x="1608" y="750"/>
                  </a:lnTo>
                  <a:lnTo>
                    <a:pt x="1614" y="750"/>
                  </a:lnTo>
                  <a:lnTo>
                    <a:pt x="1620" y="744"/>
                  </a:lnTo>
                  <a:lnTo>
                    <a:pt x="1626" y="744"/>
                  </a:lnTo>
                  <a:lnTo>
                    <a:pt x="1626" y="738"/>
                  </a:lnTo>
                  <a:lnTo>
                    <a:pt x="1632" y="738"/>
                  </a:lnTo>
                  <a:lnTo>
                    <a:pt x="1632" y="744"/>
                  </a:lnTo>
                  <a:lnTo>
                    <a:pt x="1632" y="738"/>
                  </a:lnTo>
                  <a:lnTo>
                    <a:pt x="1632" y="732"/>
                  </a:lnTo>
                  <a:lnTo>
                    <a:pt x="1638" y="732"/>
                  </a:lnTo>
                  <a:lnTo>
                    <a:pt x="1644" y="732"/>
                  </a:lnTo>
                  <a:lnTo>
                    <a:pt x="1650" y="732"/>
                  </a:lnTo>
                  <a:lnTo>
                    <a:pt x="1644" y="732"/>
                  </a:lnTo>
                  <a:lnTo>
                    <a:pt x="1644" y="726"/>
                  </a:lnTo>
                  <a:lnTo>
                    <a:pt x="1638" y="726"/>
                  </a:lnTo>
                  <a:lnTo>
                    <a:pt x="1644" y="720"/>
                  </a:lnTo>
                  <a:lnTo>
                    <a:pt x="1638" y="720"/>
                  </a:lnTo>
                  <a:lnTo>
                    <a:pt x="1644" y="720"/>
                  </a:lnTo>
                  <a:lnTo>
                    <a:pt x="1638" y="720"/>
                  </a:lnTo>
                  <a:lnTo>
                    <a:pt x="1638" y="714"/>
                  </a:lnTo>
                  <a:lnTo>
                    <a:pt x="1632" y="714"/>
                  </a:lnTo>
                  <a:lnTo>
                    <a:pt x="1632" y="708"/>
                  </a:lnTo>
                  <a:lnTo>
                    <a:pt x="1626" y="702"/>
                  </a:lnTo>
                  <a:lnTo>
                    <a:pt x="1626" y="696"/>
                  </a:lnTo>
                  <a:lnTo>
                    <a:pt x="1620" y="690"/>
                  </a:lnTo>
                  <a:lnTo>
                    <a:pt x="1620" y="684"/>
                  </a:lnTo>
                  <a:lnTo>
                    <a:pt x="1626" y="684"/>
                  </a:lnTo>
                  <a:lnTo>
                    <a:pt x="1632" y="684"/>
                  </a:lnTo>
                  <a:lnTo>
                    <a:pt x="1638" y="690"/>
                  </a:lnTo>
                  <a:lnTo>
                    <a:pt x="1644" y="690"/>
                  </a:lnTo>
                  <a:lnTo>
                    <a:pt x="1650" y="690"/>
                  </a:lnTo>
                  <a:lnTo>
                    <a:pt x="1656" y="690"/>
                  </a:lnTo>
                  <a:lnTo>
                    <a:pt x="1656" y="696"/>
                  </a:lnTo>
                  <a:lnTo>
                    <a:pt x="1662" y="702"/>
                  </a:lnTo>
                  <a:lnTo>
                    <a:pt x="1668" y="702"/>
                  </a:lnTo>
                  <a:lnTo>
                    <a:pt x="1668" y="708"/>
                  </a:lnTo>
                  <a:lnTo>
                    <a:pt x="1674" y="708"/>
                  </a:lnTo>
                  <a:lnTo>
                    <a:pt x="1680" y="708"/>
                  </a:lnTo>
                  <a:lnTo>
                    <a:pt x="1686" y="708"/>
                  </a:lnTo>
                  <a:lnTo>
                    <a:pt x="1692" y="708"/>
                  </a:lnTo>
                  <a:lnTo>
                    <a:pt x="1692" y="714"/>
                  </a:lnTo>
                  <a:lnTo>
                    <a:pt x="1698" y="708"/>
                  </a:lnTo>
                  <a:lnTo>
                    <a:pt x="1698" y="714"/>
                  </a:lnTo>
                  <a:lnTo>
                    <a:pt x="1710" y="714"/>
                  </a:lnTo>
                  <a:lnTo>
                    <a:pt x="1716" y="714"/>
                  </a:lnTo>
                  <a:lnTo>
                    <a:pt x="1722" y="714"/>
                  </a:lnTo>
                  <a:lnTo>
                    <a:pt x="1728" y="714"/>
                  </a:lnTo>
                  <a:lnTo>
                    <a:pt x="1734" y="714"/>
                  </a:lnTo>
                  <a:lnTo>
                    <a:pt x="1740" y="714"/>
                  </a:lnTo>
                  <a:lnTo>
                    <a:pt x="1752" y="714"/>
                  </a:lnTo>
                  <a:lnTo>
                    <a:pt x="1758" y="714"/>
                  </a:lnTo>
                  <a:lnTo>
                    <a:pt x="1758" y="720"/>
                  </a:lnTo>
                  <a:lnTo>
                    <a:pt x="1764" y="720"/>
                  </a:lnTo>
                  <a:lnTo>
                    <a:pt x="1770" y="720"/>
                  </a:lnTo>
                  <a:lnTo>
                    <a:pt x="1776" y="720"/>
                  </a:lnTo>
                  <a:lnTo>
                    <a:pt x="1782" y="720"/>
                  </a:lnTo>
                  <a:lnTo>
                    <a:pt x="1788" y="720"/>
                  </a:lnTo>
                  <a:lnTo>
                    <a:pt x="1794" y="720"/>
                  </a:lnTo>
                  <a:lnTo>
                    <a:pt x="1794" y="726"/>
                  </a:lnTo>
                  <a:lnTo>
                    <a:pt x="1800" y="726"/>
                  </a:lnTo>
                  <a:lnTo>
                    <a:pt x="1806" y="726"/>
                  </a:lnTo>
                  <a:lnTo>
                    <a:pt x="1812" y="732"/>
                  </a:lnTo>
                  <a:lnTo>
                    <a:pt x="1818" y="732"/>
                  </a:lnTo>
                  <a:lnTo>
                    <a:pt x="1824" y="732"/>
                  </a:lnTo>
                  <a:lnTo>
                    <a:pt x="1830" y="732"/>
                  </a:lnTo>
                  <a:lnTo>
                    <a:pt x="1836" y="732"/>
                  </a:lnTo>
                  <a:lnTo>
                    <a:pt x="1842" y="738"/>
                  </a:lnTo>
                  <a:lnTo>
                    <a:pt x="1848" y="738"/>
                  </a:lnTo>
                  <a:lnTo>
                    <a:pt x="1854" y="738"/>
                  </a:lnTo>
                  <a:lnTo>
                    <a:pt x="1854" y="744"/>
                  </a:lnTo>
                  <a:lnTo>
                    <a:pt x="1860" y="744"/>
                  </a:lnTo>
                  <a:lnTo>
                    <a:pt x="1866" y="744"/>
                  </a:lnTo>
                  <a:lnTo>
                    <a:pt x="1872" y="750"/>
                  </a:lnTo>
                  <a:lnTo>
                    <a:pt x="1878" y="750"/>
                  </a:lnTo>
                  <a:lnTo>
                    <a:pt x="1884" y="756"/>
                  </a:lnTo>
                  <a:lnTo>
                    <a:pt x="1890" y="756"/>
                  </a:lnTo>
                  <a:lnTo>
                    <a:pt x="1896" y="762"/>
                  </a:lnTo>
                  <a:lnTo>
                    <a:pt x="1902" y="762"/>
                  </a:lnTo>
                  <a:lnTo>
                    <a:pt x="1902" y="768"/>
                  </a:lnTo>
                  <a:lnTo>
                    <a:pt x="1908" y="774"/>
                  </a:lnTo>
                  <a:lnTo>
                    <a:pt x="1914" y="774"/>
                  </a:lnTo>
                  <a:lnTo>
                    <a:pt x="1920" y="774"/>
                  </a:lnTo>
                  <a:lnTo>
                    <a:pt x="1920" y="768"/>
                  </a:lnTo>
                  <a:lnTo>
                    <a:pt x="1926" y="774"/>
                  </a:lnTo>
                  <a:lnTo>
                    <a:pt x="1926" y="768"/>
                  </a:lnTo>
                  <a:lnTo>
                    <a:pt x="1926" y="774"/>
                  </a:lnTo>
                  <a:lnTo>
                    <a:pt x="1926" y="768"/>
                  </a:lnTo>
                  <a:lnTo>
                    <a:pt x="1932" y="768"/>
                  </a:lnTo>
                  <a:lnTo>
                    <a:pt x="1938" y="768"/>
                  </a:lnTo>
                  <a:lnTo>
                    <a:pt x="1944" y="768"/>
                  </a:lnTo>
                  <a:lnTo>
                    <a:pt x="1950" y="768"/>
                  </a:lnTo>
                  <a:lnTo>
                    <a:pt x="1956" y="774"/>
                  </a:lnTo>
                  <a:lnTo>
                    <a:pt x="1956" y="768"/>
                  </a:lnTo>
                  <a:lnTo>
                    <a:pt x="1962" y="768"/>
                  </a:lnTo>
                  <a:lnTo>
                    <a:pt x="1968" y="768"/>
                  </a:lnTo>
                  <a:lnTo>
                    <a:pt x="1974" y="768"/>
                  </a:lnTo>
                  <a:lnTo>
                    <a:pt x="1974" y="774"/>
                  </a:lnTo>
                  <a:lnTo>
                    <a:pt x="1980" y="774"/>
                  </a:lnTo>
                  <a:lnTo>
                    <a:pt x="1986" y="774"/>
                  </a:lnTo>
                  <a:lnTo>
                    <a:pt x="1992" y="780"/>
                  </a:lnTo>
                  <a:lnTo>
                    <a:pt x="1998" y="780"/>
                  </a:lnTo>
                  <a:lnTo>
                    <a:pt x="2004" y="780"/>
                  </a:lnTo>
                  <a:lnTo>
                    <a:pt x="2004" y="786"/>
                  </a:lnTo>
                  <a:lnTo>
                    <a:pt x="2010" y="786"/>
                  </a:lnTo>
                  <a:lnTo>
                    <a:pt x="2016" y="786"/>
                  </a:lnTo>
                  <a:lnTo>
                    <a:pt x="2016" y="792"/>
                  </a:lnTo>
                  <a:lnTo>
                    <a:pt x="2022" y="792"/>
                  </a:lnTo>
                  <a:lnTo>
                    <a:pt x="2028" y="798"/>
                  </a:lnTo>
                  <a:lnTo>
                    <a:pt x="2034" y="798"/>
                  </a:lnTo>
                  <a:lnTo>
                    <a:pt x="2034" y="804"/>
                  </a:lnTo>
                  <a:lnTo>
                    <a:pt x="2040" y="810"/>
                  </a:lnTo>
                  <a:lnTo>
                    <a:pt x="2040" y="816"/>
                  </a:lnTo>
                  <a:lnTo>
                    <a:pt x="2046" y="816"/>
                  </a:lnTo>
                  <a:lnTo>
                    <a:pt x="2046" y="822"/>
                  </a:lnTo>
                  <a:lnTo>
                    <a:pt x="2046" y="828"/>
                  </a:lnTo>
                  <a:lnTo>
                    <a:pt x="2052" y="828"/>
                  </a:lnTo>
                  <a:lnTo>
                    <a:pt x="2052" y="840"/>
                  </a:lnTo>
                  <a:lnTo>
                    <a:pt x="2046" y="846"/>
                  </a:lnTo>
                  <a:lnTo>
                    <a:pt x="2040" y="846"/>
                  </a:lnTo>
                  <a:lnTo>
                    <a:pt x="2040" y="852"/>
                  </a:lnTo>
                  <a:lnTo>
                    <a:pt x="2034" y="858"/>
                  </a:lnTo>
                  <a:lnTo>
                    <a:pt x="2028" y="858"/>
                  </a:lnTo>
                  <a:lnTo>
                    <a:pt x="2028" y="852"/>
                  </a:lnTo>
                  <a:lnTo>
                    <a:pt x="2028" y="846"/>
                  </a:lnTo>
                  <a:lnTo>
                    <a:pt x="2022" y="846"/>
                  </a:lnTo>
                  <a:lnTo>
                    <a:pt x="2022" y="840"/>
                  </a:lnTo>
                  <a:lnTo>
                    <a:pt x="2022" y="834"/>
                  </a:lnTo>
                  <a:lnTo>
                    <a:pt x="2016" y="834"/>
                  </a:lnTo>
                  <a:lnTo>
                    <a:pt x="2016" y="840"/>
                  </a:lnTo>
                  <a:lnTo>
                    <a:pt x="2016" y="846"/>
                  </a:lnTo>
                  <a:lnTo>
                    <a:pt x="2016" y="840"/>
                  </a:lnTo>
                  <a:lnTo>
                    <a:pt x="2010" y="840"/>
                  </a:lnTo>
                  <a:lnTo>
                    <a:pt x="2010" y="846"/>
                  </a:lnTo>
                  <a:lnTo>
                    <a:pt x="2010" y="852"/>
                  </a:lnTo>
                  <a:lnTo>
                    <a:pt x="2004" y="852"/>
                  </a:lnTo>
                  <a:lnTo>
                    <a:pt x="2004" y="858"/>
                  </a:lnTo>
                  <a:lnTo>
                    <a:pt x="1998" y="858"/>
                  </a:lnTo>
                  <a:lnTo>
                    <a:pt x="2004" y="864"/>
                  </a:lnTo>
                  <a:lnTo>
                    <a:pt x="2010" y="864"/>
                  </a:lnTo>
                  <a:lnTo>
                    <a:pt x="2016" y="864"/>
                  </a:lnTo>
                  <a:lnTo>
                    <a:pt x="2016" y="870"/>
                  </a:lnTo>
                  <a:lnTo>
                    <a:pt x="2022" y="870"/>
                  </a:lnTo>
                  <a:lnTo>
                    <a:pt x="2028" y="870"/>
                  </a:lnTo>
                  <a:lnTo>
                    <a:pt x="2034" y="870"/>
                  </a:lnTo>
                  <a:lnTo>
                    <a:pt x="2040" y="870"/>
                  </a:lnTo>
                  <a:lnTo>
                    <a:pt x="2040" y="864"/>
                  </a:lnTo>
                  <a:lnTo>
                    <a:pt x="2046" y="870"/>
                  </a:lnTo>
                  <a:lnTo>
                    <a:pt x="2052" y="870"/>
                  </a:lnTo>
                  <a:lnTo>
                    <a:pt x="2052" y="876"/>
                  </a:lnTo>
                  <a:lnTo>
                    <a:pt x="2058" y="876"/>
                  </a:lnTo>
                  <a:lnTo>
                    <a:pt x="2058" y="882"/>
                  </a:lnTo>
                  <a:lnTo>
                    <a:pt x="2064" y="882"/>
                  </a:lnTo>
                  <a:lnTo>
                    <a:pt x="2058" y="888"/>
                  </a:lnTo>
                  <a:lnTo>
                    <a:pt x="2064" y="888"/>
                  </a:lnTo>
                  <a:lnTo>
                    <a:pt x="2070" y="888"/>
                  </a:lnTo>
                  <a:lnTo>
                    <a:pt x="2064" y="888"/>
                  </a:lnTo>
                  <a:lnTo>
                    <a:pt x="2070" y="888"/>
                  </a:lnTo>
                  <a:lnTo>
                    <a:pt x="2070" y="882"/>
                  </a:lnTo>
                  <a:lnTo>
                    <a:pt x="2076" y="882"/>
                  </a:lnTo>
                  <a:lnTo>
                    <a:pt x="2076" y="888"/>
                  </a:lnTo>
                  <a:lnTo>
                    <a:pt x="2070" y="888"/>
                  </a:lnTo>
                  <a:lnTo>
                    <a:pt x="2076" y="888"/>
                  </a:lnTo>
                  <a:lnTo>
                    <a:pt x="2070" y="888"/>
                  </a:lnTo>
                  <a:lnTo>
                    <a:pt x="2070" y="894"/>
                  </a:lnTo>
                  <a:lnTo>
                    <a:pt x="2076" y="888"/>
                  </a:lnTo>
                  <a:lnTo>
                    <a:pt x="2076" y="894"/>
                  </a:lnTo>
                  <a:lnTo>
                    <a:pt x="2082" y="894"/>
                  </a:lnTo>
                  <a:lnTo>
                    <a:pt x="2082" y="888"/>
                  </a:lnTo>
                  <a:lnTo>
                    <a:pt x="2082" y="894"/>
                  </a:lnTo>
                  <a:lnTo>
                    <a:pt x="2082" y="900"/>
                  </a:lnTo>
                  <a:lnTo>
                    <a:pt x="2076" y="900"/>
                  </a:lnTo>
                  <a:lnTo>
                    <a:pt x="2082" y="900"/>
                  </a:lnTo>
                  <a:lnTo>
                    <a:pt x="2082" y="894"/>
                  </a:lnTo>
                  <a:lnTo>
                    <a:pt x="2082" y="900"/>
                  </a:lnTo>
                  <a:lnTo>
                    <a:pt x="2088" y="900"/>
                  </a:lnTo>
                  <a:lnTo>
                    <a:pt x="2088" y="906"/>
                  </a:lnTo>
                  <a:lnTo>
                    <a:pt x="2082" y="912"/>
                  </a:lnTo>
                  <a:lnTo>
                    <a:pt x="2088" y="912"/>
                  </a:lnTo>
                  <a:lnTo>
                    <a:pt x="2094" y="906"/>
                  </a:lnTo>
                  <a:lnTo>
                    <a:pt x="2100" y="906"/>
                  </a:lnTo>
                  <a:lnTo>
                    <a:pt x="2106" y="906"/>
                  </a:lnTo>
                  <a:lnTo>
                    <a:pt x="2112" y="912"/>
                  </a:lnTo>
                  <a:lnTo>
                    <a:pt x="2118" y="918"/>
                  </a:lnTo>
                  <a:lnTo>
                    <a:pt x="2124" y="924"/>
                  </a:lnTo>
                  <a:lnTo>
                    <a:pt x="2130" y="930"/>
                  </a:lnTo>
                  <a:lnTo>
                    <a:pt x="2124" y="930"/>
                  </a:lnTo>
                  <a:lnTo>
                    <a:pt x="2130" y="936"/>
                  </a:lnTo>
                  <a:lnTo>
                    <a:pt x="2130" y="942"/>
                  </a:lnTo>
                  <a:lnTo>
                    <a:pt x="2130" y="948"/>
                  </a:lnTo>
                  <a:lnTo>
                    <a:pt x="2136" y="948"/>
                  </a:lnTo>
                  <a:lnTo>
                    <a:pt x="2136" y="954"/>
                  </a:lnTo>
                  <a:lnTo>
                    <a:pt x="2142" y="960"/>
                  </a:lnTo>
                  <a:lnTo>
                    <a:pt x="2142" y="966"/>
                  </a:lnTo>
                  <a:lnTo>
                    <a:pt x="2136" y="966"/>
                  </a:lnTo>
                  <a:lnTo>
                    <a:pt x="2130" y="966"/>
                  </a:lnTo>
                  <a:lnTo>
                    <a:pt x="2124" y="966"/>
                  </a:lnTo>
                  <a:lnTo>
                    <a:pt x="2130" y="966"/>
                  </a:lnTo>
                  <a:lnTo>
                    <a:pt x="2130" y="972"/>
                  </a:lnTo>
                  <a:lnTo>
                    <a:pt x="2136" y="972"/>
                  </a:lnTo>
                  <a:lnTo>
                    <a:pt x="2142" y="972"/>
                  </a:lnTo>
                  <a:lnTo>
                    <a:pt x="2142" y="978"/>
                  </a:lnTo>
                  <a:lnTo>
                    <a:pt x="2148" y="978"/>
                  </a:lnTo>
                  <a:lnTo>
                    <a:pt x="2148" y="984"/>
                  </a:lnTo>
                  <a:lnTo>
                    <a:pt x="2154" y="984"/>
                  </a:lnTo>
                  <a:lnTo>
                    <a:pt x="2160" y="984"/>
                  </a:lnTo>
                  <a:lnTo>
                    <a:pt x="2160" y="990"/>
                  </a:lnTo>
                  <a:lnTo>
                    <a:pt x="2166" y="990"/>
                  </a:lnTo>
                  <a:lnTo>
                    <a:pt x="2172" y="990"/>
                  </a:lnTo>
                  <a:lnTo>
                    <a:pt x="2178" y="990"/>
                  </a:lnTo>
                  <a:lnTo>
                    <a:pt x="2178" y="984"/>
                  </a:lnTo>
                  <a:lnTo>
                    <a:pt x="2184" y="990"/>
                  </a:lnTo>
                  <a:lnTo>
                    <a:pt x="2190" y="984"/>
                  </a:lnTo>
                  <a:lnTo>
                    <a:pt x="2196" y="984"/>
                  </a:lnTo>
                  <a:lnTo>
                    <a:pt x="2202" y="984"/>
                  </a:lnTo>
                  <a:lnTo>
                    <a:pt x="2208" y="984"/>
                  </a:lnTo>
                  <a:lnTo>
                    <a:pt x="2208" y="978"/>
                  </a:lnTo>
                  <a:lnTo>
                    <a:pt x="2214" y="984"/>
                  </a:lnTo>
                  <a:lnTo>
                    <a:pt x="2220" y="984"/>
                  </a:lnTo>
                  <a:lnTo>
                    <a:pt x="2220" y="978"/>
                  </a:lnTo>
                  <a:lnTo>
                    <a:pt x="2226" y="978"/>
                  </a:lnTo>
                  <a:lnTo>
                    <a:pt x="2232" y="978"/>
                  </a:lnTo>
                  <a:lnTo>
                    <a:pt x="2232" y="972"/>
                  </a:lnTo>
                  <a:lnTo>
                    <a:pt x="2238" y="972"/>
                  </a:lnTo>
                  <a:lnTo>
                    <a:pt x="2244" y="972"/>
                  </a:lnTo>
                  <a:lnTo>
                    <a:pt x="2250" y="966"/>
                  </a:lnTo>
                  <a:lnTo>
                    <a:pt x="2256" y="966"/>
                  </a:lnTo>
                  <a:lnTo>
                    <a:pt x="2262" y="966"/>
                  </a:lnTo>
                  <a:lnTo>
                    <a:pt x="2268" y="966"/>
                  </a:lnTo>
                  <a:lnTo>
                    <a:pt x="2268" y="960"/>
                  </a:lnTo>
                  <a:lnTo>
                    <a:pt x="2274" y="960"/>
                  </a:lnTo>
                  <a:lnTo>
                    <a:pt x="2280" y="960"/>
                  </a:lnTo>
                  <a:lnTo>
                    <a:pt x="2286" y="960"/>
                  </a:lnTo>
                  <a:lnTo>
                    <a:pt x="2292" y="960"/>
                  </a:lnTo>
                  <a:lnTo>
                    <a:pt x="2298" y="960"/>
                  </a:lnTo>
                  <a:lnTo>
                    <a:pt x="2298" y="954"/>
                  </a:lnTo>
                  <a:lnTo>
                    <a:pt x="2292" y="960"/>
                  </a:lnTo>
                  <a:lnTo>
                    <a:pt x="2292" y="954"/>
                  </a:lnTo>
                  <a:lnTo>
                    <a:pt x="2298" y="954"/>
                  </a:lnTo>
                  <a:lnTo>
                    <a:pt x="2304" y="954"/>
                  </a:lnTo>
                  <a:lnTo>
                    <a:pt x="2310" y="954"/>
                  </a:lnTo>
                  <a:lnTo>
                    <a:pt x="2316" y="954"/>
                  </a:lnTo>
                  <a:lnTo>
                    <a:pt x="2322" y="954"/>
                  </a:lnTo>
                  <a:lnTo>
                    <a:pt x="2328" y="948"/>
                  </a:lnTo>
                  <a:lnTo>
                    <a:pt x="2334" y="954"/>
                  </a:lnTo>
                  <a:lnTo>
                    <a:pt x="2340" y="954"/>
                  </a:lnTo>
                  <a:lnTo>
                    <a:pt x="2346" y="954"/>
                  </a:lnTo>
                  <a:lnTo>
                    <a:pt x="2352" y="954"/>
                  </a:lnTo>
                  <a:lnTo>
                    <a:pt x="2352" y="948"/>
                  </a:lnTo>
                  <a:lnTo>
                    <a:pt x="2352" y="954"/>
                  </a:lnTo>
                  <a:lnTo>
                    <a:pt x="2358" y="954"/>
                  </a:lnTo>
                  <a:lnTo>
                    <a:pt x="2358" y="948"/>
                  </a:lnTo>
                  <a:lnTo>
                    <a:pt x="2364" y="948"/>
                  </a:lnTo>
                  <a:lnTo>
                    <a:pt x="2364" y="954"/>
                  </a:lnTo>
                  <a:lnTo>
                    <a:pt x="2370" y="954"/>
                  </a:lnTo>
                  <a:lnTo>
                    <a:pt x="2376" y="954"/>
                  </a:lnTo>
                  <a:lnTo>
                    <a:pt x="2382" y="954"/>
                  </a:lnTo>
                  <a:lnTo>
                    <a:pt x="2388" y="954"/>
                  </a:lnTo>
                  <a:lnTo>
                    <a:pt x="2394" y="954"/>
                  </a:lnTo>
                  <a:lnTo>
                    <a:pt x="2406" y="960"/>
                  </a:lnTo>
                  <a:lnTo>
                    <a:pt x="2412" y="960"/>
                  </a:lnTo>
                  <a:lnTo>
                    <a:pt x="2418" y="960"/>
                  </a:lnTo>
                  <a:lnTo>
                    <a:pt x="2418" y="966"/>
                  </a:lnTo>
                  <a:lnTo>
                    <a:pt x="2436" y="966"/>
                  </a:lnTo>
                  <a:lnTo>
                    <a:pt x="2436" y="972"/>
                  </a:lnTo>
                  <a:lnTo>
                    <a:pt x="2442" y="972"/>
                  </a:lnTo>
                  <a:lnTo>
                    <a:pt x="2448" y="972"/>
                  </a:lnTo>
                  <a:lnTo>
                    <a:pt x="2448" y="978"/>
                  </a:lnTo>
                  <a:lnTo>
                    <a:pt x="2454" y="978"/>
                  </a:lnTo>
                  <a:lnTo>
                    <a:pt x="2460" y="984"/>
                  </a:lnTo>
                  <a:lnTo>
                    <a:pt x="2466" y="984"/>
                  </a:lnTo>
                  <a:lnTo>
                    <a:pt x="2466" y="990"/>
                  </a:lnTo>
                  <a:lnTo>
                    <a:pt x="2472" y="996"/>
                  </a:lnTo>
                  <a:lnTo>
                    <a:pt x="2478" y="1002"/>
                  </a:lnTo>
                  <a:lnTo>
                    <a:pt x="2484" y="1002"/>
                  </a:lnTo>
                  <a:lnTo>
                    <a:pt x="2490" y="1008"/>
                  </a:lnTo>
                  <a:lnTo>
                    <a:pt x="2490" y="1014"/>
                  </a:lnTo>
                  <a:lnTo>
                    <a:pt x="2496" y="1020"/>
                  </a:lnTo>
                  <a:lnTo>
                    <a:pt x="2496" y="1026"/>
                  </a:lnTo>
                  <a:lnTo>
                    <a:pt x="2502" y="1032"/>
                  </a:lnTo>
                  <a:lnTo>
                    <a:pt x="2502" y="1038"/>
                  </a:lnTo>
                  <a:lnTo>
                    <a:pt x="2508" y="1050"/>
                  </a:lnTo>
                  <a:lnTo>
                    <a:pt x="2508" y="1056"/>
                  </a:lnTo>
                  <a:lnTo>
                    <a:pt x="2508" y="1062"/>
                  </a:lnTo>
                  <a:lnTo>
                    <a:pt x="2508" y="1068"/>
                  </a:lnTo>
                  <a:lnTo>
                    <a:pt x="2508" y="1074"/>
                  </a:lnTo>
                  <a:lnTo>
                    <a:pt x="2502" y="1080"/>
                  </a:lnTo>
                  <a:lnTo>
                    <a:pt x="2502" y="1086"/>
                  </a:lnTo>
                  <a:lnTo>
                    <a:pt x="2502" y="1092"/>
                  </a:lnTo>
                  <a:lnTo>
                    <a:pt x="2496" y="1098"/>
                  </a:lnTo>
                  <a:lnTo>
                    <a:pt x="2502" y="1104"/>
                  </a:lnTo>
                  <a:lnTo>
                    <a:pt x="2496" y="1104"/>
                  </a:lnTo>
                  <a:lnTo>
                    <a:pt x="2496" y="1110"/>
                  </a:lnTo>
                  <a:lnTo>
                    <a:pt x="2490" y="1110"/>
                  </a:lnTo>
                  <a:lnTo>
                    <a:pt x="2490" y="1116"/>
                  </a:lnTo>
                  <a:lnTo>
                    <a:pt x="2490" y="1122"/>
                  </a:lnTo>
                  <a:lnTo>
                    <a:pt x="2496" y="1122"/>
                  </a:lnTo>
                  <a:lnTo>
                    <a:pt x="2490" y="1122"/>
                  </a:lnTo>
                  <a:lnTo>
                    <a:pt x="2496" y="1122"/>
                  </a:lnTo>
                  <a:lnTo>
                    <a:pt x="2496" y="1128"/>
                  </a:lnTo>
                  <a:lnTo>
                    <a:pt x="2502" y="1134"/>
                  </a:lnTo>
                  <a:lnTo>
                    <a:pt x="2508" y="1134"/>
                  </a:lnTo>
                  <a:lnTo>
                    <a:pt x="2508" y="1140"/>
                  </a:lnTo>
                  <a:lnTo>
                    <a:pt x="2514" y="1140"/>
                  </a:lnTo>
                  <a:lnTo>
                    <a:pt x="2508" y="1140"/>
                  </a:lnTo>
                  <a:lnTo>
                    <a:pt x="2514" y="1140"/>
                  </a:lnTo>
                  <a:lnTo>
                    <a:pt x="2520" y="1140"/>
                  </a:lnTo>
                  <a:lnTo>
                    <a:pt x="2520" y="1146"/>
                  </a:lnTo>
                  <a:lnTo>
                    <a:pt x="2526" y="1146"/>
                  </a:lnTo>
                  <a:lnTo>
                    <a:pt x="2532" y="1146"/>
                  </a:lnTo>
                  <a:lnTo>
                    <a:pt x="2538" y="1146"/>
                  </a:lnTo>
                  <a:lnTo>
                    <a:pt x="2544" y="1146"/>
                  </a:lnTo>
                  <a:lnTo>
                    <a:pt x="2544" y="1152"/>
                  </a:lnTo>
                  <a:lnTo>
                    <a:pt x="2544" y="1146"/>
                  </a:lnTo>
                  <a:lnTo>
                    <a:pt x="2544" y="1152"/>
                  </a:lnTo>
                  <a:lnTo>
                    <a:pt x="2550" y="1152"/>
                  </a:lnTo>
                  <a:lnTo>
                    <a:pt x="2550" y="1158"/>
                  </a:lnTo>
                  <a:lnTo>
                    <a:pt x="2556" y="1158"/>
                  </a:lnTo>
                  <a:lnTo>
                    <a:pt x="2550" y="1164"/>
                  </a:lnTo>
                  <a:lnTo>
                    <a:pt x="2550" y="1170"/>
                  </a:lnTo>
                  <a:lnTo>
                    <a:pt x="2550" y="1176"/>
                  </a:lnTo>
                  <a:lnTo>
                    <a:pt x="2550" y="1182"/>
                  </a:lnTo>
                  <a:lnTo>
                    <a:pt x="2550" y="1188"/>
                  </a:lnTo>
                  <a:lnTo>
                    <a:pt x="2550" y="1194"/>
                  </a:lnTo>
                  <a:lnTo>
                    <a:pt x="2550" y="1200"/>
                  </a:lnTo>
                  <a:lnTo>
                    <a:pt x="2556" y="1200"/>
                  </a:lnTo>
                  <a:lnTo>
                    <a:pt x="2556" y="1194"/>
                  </a:lnTo>
                  <a:lnTo>
                    <a:pt x="2562" y="1194"/>
                  </a:lnTo>
                  <a:lnTo>
                    <a:pt x="2562" y="1200"/>
                  </a:lnTo>
                  <a:lnTo>
                    <a:pt x="2562" y="1194"/>
                  </a:lnTo>
                  <a:lnTo>
                    <a:pt x="2556" y="1194"/>
                  </a:lnTo>
                  <a:lnTo>
                    <a:pt x="2556" y="1188"/>
                  </a:lnTo>
                  <a:lnTo>
                    <a:pt x="2556" y="1182"/>
                  </a:lnTo>
                  <a:lnTo>
                    <a:pt x="2556" y="1176"/>
                  </a:lnTo>
                  <a:lnTo>
                    <a:pt x="2556" y="1170"/>
                  </a:lnTo>
                  <a:lnTo>
                    <a:pt x="2562" y="1170"/>
                  </a:lnTo>
                  <a:lnTo>
                    <a:pt x="2562" y="1164"/>
                  </a:lnTo>
                  <a:lnTo>
                    <a:pt x="2568" y="1164"/>
                  </a:lnTo>
                  <a:lnTo>
                    <a:pt x="2568" y="1158"/>
                  </a:lnTo>
                  <a:lnTo>
                    <a:pt x="2568" y="1152"/>
                  </a:lnTo>
                  <a:lnTo>
                    <a:pt x="2574" y="1152"/>
                  </a:lnTo>
                  <a:lnTo>
                    <a:pt x="2580" y="1152"/>
                  </a:lnTo>
                  <a:lnTo>
                    <a:pt x="2580" y="1158"/>
                  </a:lnTo>
                  <a:lnTo>
                    <a:pt x="2580" y="1152"/>
                  </a:lnTo>
                  <a:lnTo>
                    <a:pt x="2586" y="1152"/>
                  </a:lnTo>
                  <a:lnTo>
                    <a:pt x="2586" y="1146"/>
                  </a:lnTo>
                  <a:lnTo>
                    <a:pt x="2592" y="1146"/>
                  </a:lnTo>
                  <a:lnTo>
                    <a:pt x="2592" y="1152"/>
                  </a:lnTo>
                  <a:lnTo>
                    <a:pt x="2592" y="1158"/>
                  </a:lnTo>
                  <a:lnTo>
                    <a:pt x="2586" y="1164"/>
                  </a:lnTo>
                  <a:lnTo>
                    <a:pt x="2586" y="1158"/>
                  </a:lnTo>
                  <a:lnTo>
                    <a:pt x="2580" y="1158"/>
                  </a:lnTo>
                  <a:lnTo>
                    <a:pt x="2580" y="1164"/>
                  </a:lnTo>
                  <a:lnTo>
                    <a:pt x="2580" y="1170"/>
                  </a:lnTo>
                  <a:lnTo>
                    <a:pt x="2580" y="1176"/>
                  </a:lnTo>
                  <a:lnTo>
                    <a:pt x="2580" y="1170"/>
                  </a:lnTo>
                  <a:lnTo>
                    <a:pt x="2586" y="1170"/>
                  </a:lnTo>
                  <a:lnTo>
                    <a:pt x="2586" y="1164"/>
                  </a:lnTo>
                  <a:lnTo>
                    <a:pt x="2592" y="1164"/>
                  </a:lnTo>
                  <a:lnTo>
                    <a:pt x="2598" y="1164"/>
                  </a:lnTo>
                  <a:lnTo>
                    <a:pt x="2598" y="1158"/>
                  </a:lnTo>
                  <a:lnTo>
                    <a:pt x="2604" y="1158"/>
                  </a:lnTo>
                  <a:lnTo>
                    <a:pt x="2604" y="1152"/>
                  </a:lnTo>
                  <a:lnTo>
                    <a:pt x="2604" y="1158"/>
                  </a:lnTo>
                  <a:lnTo>
                    <a:pt x="2604" y="1152"/>
                  </a:lnTo>
                  <a:lnTo>
                    <a:pt x="2604" y="1146"/>
                  </a:lnTo>
                  <a:lnTo>
                    <a:pt x="2610" y="1152"/>
                  </a:lnTo>
                  <a:lnTo>
                    <a:pt x="2610" y="1146"/>
                  </a:lnTo>
                  <a:lnTo>
                    <a:pt x="2616" y="1146"/>
                  </a:lnTo>
                  <a:lnTo>
                    <a:pt x="2616" y="1152"/>
                  </a:lnTo>
                  <a:lnTo>
                    <a:pt x="2616" y="1158"/>
                  </a:lnTo>
                  <a:lnTo>
                    <a:pt x="2610" y="1164"/>
                  </a:lnTo>
                  <a:lnTo>
                    <a:pt x="2610" y="1170"/>
                  </a:lnTo>
                  <a:lnTo>
                    <a:pt x="2616" y="1170"/>
                  </a:lnTo>
                  <a:lnTo>
                    <a:pt x="2616" y="1176"/>
                  </a:lnTo>
                  <a:lnTo>
                    <a:pt x="2616" y="1182"/>
                  </a:lnTo>
                  <a:lnTo>
                    <a:pt x="2622" y="1188"/>
                  </a:lnTo>
                  <a:lnTo>
                    <a:pt x="2622" y="1194"/>
                  </a:lnTo>
                  <a:lnTo>
                    <a:pt x="2634" y="1212"/>
                  </a:lnTo>
                  <a:lnTo>
                    <a:pt x="2628" y="1212"/>
                  </a:lnTo>
                  <a:lnTo>
                    <a:pt x="2628" y="1218"/>
                  </a:lnTo>
                  <a:lnTo>
                    <a:pt x="2622" y="1218"/>
                  </a:lnTo>
                  <a:lnTo>
                    <a:pt x="2622" y="1224"/>
                  </a:lnTo>
                  <a:lnTo>
                    <a:pt x="2622" y="1230"/>
                  </a:lnTo>
                  <a:lnTo>
                    <a:pt x="2622" y="1236"/>
                  </a:lnTo>
                  <a:lnTo>
                    <a:pt x="2628" y="1242"/>
                  </a:lnTo>
                  <a:lnTo>
                    <a:pt x="2628" y="1248"/>
                  </a:lnTo>
                  <a:lnTo>
                    <a:pt x="2634" y="1254"/>
                  </a:lnTo>
                  <a:lnTo>
                    <a:pt x="2628" y="1260"/>
                  </a:lnTo>
                  <a:lnTo>
                    <a:pt x="2622" y="1260"/>
                  </a:lnTo>
                  <a:lnTo>
                    <a:pt x="2622" y="1266"/>
                  </a:lnTo>
                  <a:lnTo>
                    <a:pt x="2622" y="1272"/>
                  </a:lnTo>
                  <a:lnTo>
                    <a:pt x="2628" y="1278"/>
                  </a:lnTo>
                  <a:lnTo>
                    <a:pt x="2628" y="1290"/>
                  </a:lnTo>
                  <a:lnTo>
                    <a:pt x="2622" y="1296"/>
                  </a:lnTo>
                  <a:lnTo>
                    <a:pt x="2622" y="1308"/>
                  </a:lnTo>
                  <a:lnTo>
                    <a:pt x="2616" y="1314"/>
                  </a:lnTo>
                  <a:lnTo>
                    <a:pt x="2610" y="1320"/>
                  </a:lnTo>
                  <a:lnTo>
                    <a:pt x="2604" y="1314"/>
                  </a:lnTo>
                  <a:lnTo>
                    <a:pt x="2592" y="1314"/>
                  </a:lnTo>
                  <a:lnTo>
                    <a:pt x="2580" y="1314"/>
                  </a:lnTo>
                  <a:lnTo>
                    <a:pt x="2574" y="1314"/>
                  </a:lnTo>
                  <a:lnTo>
                    <a:pt x="2568" y="1314"/>
                  </a:lnTo>
                  <a:lnTo>
                    <a:pt x="2562" y="1314"/>
                  </a:lnTo>
                  <a:lnTo>
                    <a:pt x="2550" y="1326"/>
                  </a:lnTo>
                  <a:lnTo>
                    <a:pt x="2520" y="1332"/>
                  </a:lnTo>
                  <a:lnTo>
                    <a:pt x="2520" y="1326"/>
                  </a:lnTo>
                  <a:lnTo>
                    <a:pt x="2508" y="1326"/>
                  </a:lnTo>
                  <a:lnTo>
                    <a:pt x="2502" y="1326"/>
                  </a:lnTo>
                  <a:lnTo>
                    <a:pt x="2496" y="1326"/>
                  </a:lnTo>
                  <a:lnTo>
                    <a:pt x="2496" y="1338"/>
                  </a:lnTo>
                  <a:lnTo>
                    <a:pt x="2490" y="1338"/>
                  </a:lnTo>
                  <a:lnTo>
                    <a:pt x="2484" y="1332"/>
                  </a:lnTo>
                  <a:lnTo>
                    <a:pt x="2478" y="1332"/>
                  </a:lnTo>
                  <a:lnTo>
                    <a:pt x="2478" y="1338"/>
                  </a:lnTo>
                  <a:lnTo>
                    <a:pt x="2472" y="1332"/>
                  </a:lnTo>
                  <a:lnTo>
                    <a:pt x="2466" y="1338"/>
                  </a:lnTo>
                  <a:lnTo>
                    <a:pt x="2460" y="1344"/>
                  </a:lnTo>
                  <a:lnTo>
                    <a:pt x="2442" y="1344"/>
                  </a:lnTo>
                  <a:lnTo>
                    <a:pt x="2436" y="1350"/>
                  </a:lnTo>
                  <a:lnTo>
                    <a:pt x="2430" y="1350"/>
                  </a:lnTo>
                  <a:lnTo>
                    <a:pt x="2424" y="1356"/>
                  </a:lnTo>
                  <a:lnTo>
                    <a:pt x="2424" y="1368"/>
                  </a:lnTo>
                  <a:lnTo>
                    <a:pt x="2418" y="1368"/>
                  </a:lnTo>
                  <a:lnTo>
                    <a:pt x="2418" y="1374"/>
                  </a:lnTo>
                  <a:lnTo>
                    <a:pt x="2424" y="1380"/>
                  </a:lnTo>
                  <a:lnTo>
                    <a:pt x="2424" y="1386"/>
                  </a:lnTo>
                  <a:lnTo>
                    <a:pt x="2430" y="1392"/>
                  </a:lnTo>
                  <a:lnTo>
                    <a:pt x="2412" y="1392"/>
                  </a:lnTo>
                  <a:lnTo>
                    <a:pt x="2406" y="1392"/>
                  </a:lnTo>
                  <a:lnTo>
                    <a:pt x="2400" y="1404"/>
                  </a:lnTo>
                  <a:lnTo>
                    <a:pt x="2400" y="1416"/>
                  </a:lnTo>
                  <a:lnTo>
                    <a:pt x="2400" y="1422"/>
                  </a:lnTo>
                  <a:lnTo>
                    <a:pt x="2406" y="1428"/>
                  </a:lnTo>
                  <a:lnTo>
                    <a:pt x="2406" y="1434"/>
                  </a:lnTo>
                  <a:lnTo>
                    <a:pt x="2406" y="1440"/>
                  </a:lnTo>
                  <a:lnTo>
                    <a:pt x="2418" y="1452"/>
                  </a:lnTo>
                  <a:lnTo>
                    <a:pt x="2424" y="1458"/>
                  </a:lnTo>
                  <a:lnTo>
                    <a:pt x="2436" y="1464"/>
                  </a:lnTo>
                  <a:lnTo>
                    <a:pt x="2442" y="1470"/>
                  </a:lnTo>
                  <a:lnTo>
                    <a:pt x="2448" y="1476"/>
                  </a:lnTo>
                  <a:lnTo>
                    <a:pt x="2448" y="1494"/>
                  </a:lnTo>
                  <a:lnTo>
                    <a:pt x="2454" y="1506"/>
                  </a:lnTo>
                  <a:lnTo>
                    <a:pt x="2448" y="1506"/>
                  </a:lnTo>
                  <a:lnTo>
                    <a:pt x="2448" y="1512"/>
                  </a:lnTo>
                  <a:lnTo>
                    <a:pt x="2442" y="1518"/>
                  </a:lnTo>
                  <a:lnTo>
                    <a:pt x="2442" y="1524"/>
                  </a:lnTo>
                  <a:lnTo>
                    <a:pt x="2436" y="1530"/>
                  </a:lnTo>
                  <a:lnTo>
                    <a:pt x="2436" y="1542"/>
                  </a:lnTo>
                  <a:lnTo>
                    <a:pt x="2430" y="1542"/>
                  </a:lnTo>
                  <a:lnTo>
                    <a:pt x="2430" y="1548"/>
                  </a:lnTo>
                  <a:lnTo>
                    <a:pt x="2436" y="1554"/>
                  </a:lnTo>
                  <a:lnTo>
                    <a:pt x="2436" y="1560"/>
                  </a:lnTo>
                  <a:lnTo>
                    <a:pt x="2436" y="1566"/>
                  </a:lnTo>
                  <a:lnTo>
                    <a:pt x="2430" y="1566"/>
                  </a:lnTo>
                  <a:lnTo>
                    <a:pt x="2436" y="1572"/>
                  </a:lnTo>
                  <a:lnTo>
                    <a:pt x="2436" y="1578"/>
                  </a:lnTo>
                  <a:lnTo>
                    <a:pt x="2436" y="1584"/>
                  </a:lnTo>
                  <a:lnTo>
                    <a:pt x="2430" y="1584"/>
                  </a:lnTo>
                  <a:lnTo>
                    <a:pt x="2424" y="1578"/>
                  </a:lnTo>
                  <a:lnTo>
                    <a:pt x="2418" y="1578"/>
                  </a:lnTo>
                  <a:lnTo>
                    <a:pt x="2412" y="1578"/>
                  </a:lnTo>
                  <a:lnTo>
                    <a:pt x="2412" y="1584"/>
                  </a:lnTo>
                  <a:lnTo>
                    <a:pt x="2406" y="1578"/>
                  </a:lnTo>
                  <a:lnTo>
                    <a:pt x="2400" y="1584"/>
                  </a:lnTo>
                  <a:lnTo>
                    <a:pt x="2400" y="1590"/>
                  </a:lnTo>
                  <a:lnTo>
                    <a:pt x="2394" y="1590"/>
                  </a:lnTo>
                  <a:lnTo>
                    <a:pt x="2388" y="1590"/>
                  </a:lnTo>
                  <a:lnTo>
                    <a:pt x="2388" y="1596"/>
                  </a:lnTo>
                  <a:lnTo>
                    <a:pt x="2388" y="1602"/>
                  </a:lnTo>
                  <a:lnTo>
                    <a:pt x="2382" y="1602"/>
                  </a:lnTo>
                  <a:lnTo>
                    <a:pt x="2376" y="1602"/>
                  </a:lnTo>
                  <a:lnTo>
                    <a:pt x="2370" y="1602"/>
                  </a:lnTo>
                  <a:lnTo>
                    <a:pt x="2370" y="1596"/>
                  </a:lnTo>
                  <a:lnTo>
                    <a:pt x="2370" y="1590"/>
                  </a:lnTo>
                  <a:lnTo>
                    <a:pt x="2364" y="1590"/>
                  </a:lnTo>
                  <a:lnTo>
                    <a:pt x="2364" y="1584"/>
                  </a:lnTo>
                  <a:lnTo>
                    <a:pt x="2364" y="1578"/>
                  </a:lnTo>
                  <a:lnTo>
                    <a:pt x="2358" y="1578"/>
                  </a:lnTo>
                  <a:lnTo>
                    <a:pt x="2352" y="1572"/>
                  </a:lnTo>
                  <a:lnTo>
                    <a:pt x="2352" y="1578"/>
                  </a:lnTo>
                  <a:lnTo>
                    <a:pt x="2346" y="1578"/>
                  </a:lnTo>
                  <a:lnTo>
                    <a:pt x="2352" y="1584"/>
                  </a:lnTo>
                  <a:lnTo>
                    <a:pt x="2346" y="1584"/>
                  </a:lnTo>
                  <a:lnTo>
                    <a:pt x="2346" y="1590"/>
                  </a:lnTo>
                  <a:lnTo>
                    <a:pt x="2340" y="1584"/>
                  </a:lnTo>
                  <a:lnTo>
                    <a:pt x="2328" y="1584"/>
                  </a:lnTo>
                  <a:lnTo>
                    <a:pt x="2328" y="1590"/>
                  </a:lnTo>
                  <a:lnTo>
                    <a:pt x="2322" y="1584"/>
                  </a:lnTo>
                  <a:lnTo>
                    <a:pt x="2316" y="1584"/>
                  </a:lnTo>
                  <a:lnTo>
                    <a:pt x="2316" y="1578"/>
                  </a:lnTo>
                  <a:lnTo>
                    <a:pt x="2316" y="1572"/>
                  </a:lnTo>
                  <a:lnTo>
                    <a:pt x="2310" y="1572"/>
                  </a:lnTo>
                  <a:lnTo>
                    <a:pt x="2310" y="1578"/>
                  </a:lnTo>
                  <a:lnTo>
                    <a:pt x="2304" y="1578"/>
                  </a:lnTo>
                  <a:lnTo>
                    <a:pt x="2298" y="1578"/>
                  </a:lnTo>
                  <a:lnTo>
                    <a:pt x="2292" y="1572"/>
                  </a:lnTo>
                  <a:lnTo>
                    <a:pt x="2286" y="1572"/>
                  </a:lnTo>
                  <a:lnTo>
                    <a:pt x="2280" y="1572"/>
                  </a:lnTo>
                  <a:lnTo>
                    <a:pt x="2280" y="1578"/>
                  </a:lnTo>
                  <a:lnTo>
                    <a:pt x="2274" y="1578"/>
                  </a:lnTo>
                  <a:lnTo>
                    <a:pt x="2274" y="1572"/>
                  </a:lnTo>
                  <a:lnTo>
                    <a:pt x="2262" y="1572"/>
                  </a:lnTo>
                  <a:lnTo>
                    <a:pt x="2262" y="1566"/>
                  </a:lnTo>
                  <a:lnTo>
                    <a:pt x="2256" y="1566"/>
                  </a:lnTo>
                  <a:lnTo>
                    <a:pt x="2256" y="1572"/>
                  </a:lnTo>
                  <a:lnTo>
                    <a:pt x="2250" y="1572"/>
                  </a:lnTo>
                  <a:lnTo>
                    <a:pt x="2250" y="1578"/>
                  </a:lnTo>
                  <a:lnTo>
                    <a:pt x="2244" y="1584"/>
                  </a:lnTo>
                  <a:lnTo>
                    <a:pt x="2250" y="1590"/>
                  </a:lnTo>
                  <a:lnTo>
                    <a:pt x="2250" y="1596"/>
                  </a:lnTo>
                  <a:lnTo>
                    <a:pt x="2250" y="1602"/>
                  </a:lnTo>
                  <a:lnTo>
                    <a:pt x="2250" y="1608"/>
                  </a:lnTo>
                  <a:lnTo>
                    <a:pt x="2232" y="1620"/>
                  </a:lnTo>
                  <a:lnTo>
                    <a:pt x="2232" y="1614"/>
                  </a:lnTo>
                  <a:lnTo>
                    <a:pt x="2232" y="1608"/>
                  </a:lnTo>
                  <a:lnTo>
                    <a:pt x="2226" y="1608"/>
                  </a:lnTo>
                  <a:lnTo>
                    <a:pt x="2220" y="1608"/>
                  </a:lnTo>
                  <a:lnTo>
                    <a:pt x="2214" y="1608"/>
                  </a:lnTo>
                  <a:lnTo>
                    <a:pt x="2208" y="1614"/>
                  </a:lnTo>
                  <a:lnTo>
                    <a:pt x="2202" y="1626"/>
                  </a:lnTo>
                  <a:lnTo>
                    <a:pt x="2208" y="1626"/>
                  </a:lnTo>
                  <a:lnTo>
                    <a:pt x="2202" y="1632"/>
                  </a:lnTo>
                  <a:lnTo>
                    <a:pt x="2208" y="1632"/>
                  </a:lnTo>
                  <a:lnTo>
                    <a:pt x="2202" y="1650"/>
                  </a:lnTo>
                  <a:lnTo>
                    <a:pt x="2208" y="1656"/>
                  </a:lnTo>
                  <a:lnTo>
                    <a:pt x="2202" y="1668"/>
                  </a:lnTo>
                  <a:lnTo>
                    <a:pt x="2202" y="1662"/>
                  </a:lnTo>
                  <a:lnTo>
                    <a:pt x="2196" y="1668"/>
                  </a:lnTo>
                  <a:lnTo>
                    <a:pt x="2190" y="1668"/>
                  </a:lnTo>
                  <a:lnTo>
                    <a:pt x="2190" y="1674"/>
                  </a:lnTo>
                  <a:lnTo>
                    <a:pt x="2184" y="1674"/>
                  </a:lnTo>
                  <a:lnTo>
                    <a:pt x="2178" y="1674"/>
                  </a:lnTo>
                  <a:lnTo>
                    <a:pt x="2172" y="1680"/>
                  </a:lnTo>
                  <a:lnTo>
                    <a:pt x="2166" y="1680"/>
                  </a:lnTo>
                  <a:lnTo>
                    <a:pt x="2166" y="1686"/>
                  </a:lnTo>
                  <a:lnTo>
                    <a:pt x="2166" y="1692"/>
                  </a:lnTo>
                  <a:lnTo>
                    <a:pt x="2166" y="1704"/>
                  </a:lnTo>
                  <a:lnTo>
                    <a:pt x="2160" y="1704"/>
                  </a:lnTo>
                  <a:lnTo>
                    <a:pt x="2160" y="1710"/>
                  </a:lnTo>
                  <a:lnTo>
                    <a:pt x="2160" y="1716"/>
                  </a:lnTo>
                  <a:lnTo>
                    <a:pt x="2166" y="1722"/>
                  </a:lnTo>
                  <a:lnTo>
                    <a:pt x="2172" y="1728"/>
                  </a:lnTo>
                  <a:lnTo>
                    <a:pt x="2178" y="1734"/>
                  </a:lnTo>
                  <a:lnTo>
                    <a:pt x="2172" y="1740"/>
                  </a:lnTo>
                  <a:lnTo>
                    <a:pt x="2166" y="1746"/>
                  </a:lnTo>
                  <a:lnTo>
                    <a:pt x="2154" y="1752"/>
                  </a:lnTo>
                  <a:lnTo>
                    <a:pt x="2160" y="1758"/>
                  </a:lnTo>
                  <a:lnTo>
                    <a:pt x="2160" y="1764"/>
                  </a:lnTo>
                  <a:lnTo>
                    <a:pt x="2160" y="1770"/>
                  </a:lnTo>
                  <a:lnTo>
                    <a:pt x="2154" y="1770"/>
                  </a:lnTo>
                  <a:lnTo>
                    <a:pt x="2148" y="1770"/>
                  </a:lnTo>
                  <a:lnTo>
                    <a:pt x="2142" y="1770"/>
                  </a:lnTo>
                  <a:lnTo>
                    <a:pt x="2142" y="1764"/>
                  </a:lnTo>
                  <a:lnTo>
                    <a:pt x="2136" y="1758"/>
                  </a:lnTo>
                  <a:lnTo>
                    <a:pt x="2130" y="1758"/>
                  </a:lnTo>
                  <a:lnTo>
                    <a:pt x="2124" y="1758"/>
                  </a:lnTo>
                  <a:lnTo>
                    <a:pt x="2118" y="1764"/>
                  </a:lnTo>
                  <a:lnTo>
                    <a:pt x="2112" y="1764"/>
                  </a:lnTo>
                  <a:lnTo>
                    <a:pt x="2112" y="1770"/>
                  </a:lnTo>
                  <a:lnTo>
                    <a:pt x="2112" y="1776"/>
                  </a:lnTo>
                  <a:lnTo>
                    <a:pt x="2106" y="1770"/>
                  </a:lnTo>
                  <a:lnTo>
                    <a:pt x="2100" y="1770"/>
                  </a:lnTo>
                  <a:lnTo>
                    <a:pt x="2100" y="1776"/>
                  </a:lnTo>
                  <a:lnTo>
                    <a:pt x="2094" y="1776"/>
                  </a:lnTo>
                  <a:lnTo>
                    <a:pt x="2088" y="1776"/>
                  </a:lnTo>
                  <a:lnTo>
                    <a:pt x="2082" y="1770"/>
                  </a:lnTo>
                  <a:lnTo>
                    <a:pt x="2076" y="1776"/>
                  </a:lnTo>
                  <a:lnTo>
                    <a:pt x="2076" y="1782"/>
                  </a:lnTo>
                  <a:lnTo>
                    <a:pt x="2076" y="1788"/>
                  </a:lnTo>
                  <a:lnTo>
                    <a:pt x="2070" y="1794"/>
                  </a:lnTo>
                  <a:lnTo>
                    <a:pt x="2070" y="1788"/>
                  </a:lnTo>
                  <a:lnTo>
                    <a:pt x="2064" y="1788"/>
                  </a:lnTo>
                  <a:lnTo>
                    <a:pt x="2058" y="1788"/>
                  </a:lnTo>
                  <a:lnTo>
                    <a:pt x="2052" y="1782"/>
                  </a:lnTo>
                  <a:lnTo>
                    <a:pt x="2058" y="1782"/>
                  </a:lnTo>
                  <a:lnTo>
                    <a:pt x="2052" y="1776"/>
                  </a:lnTo>
                  <a:lnTo>
                    <a:pt x="2046" y="1776"/>
                  </a:lnTo>
                  <a:lnTo>
                    <a:pt x="2046" y="1770"/>
                  </a:lnTo>
                  <a:lnTo>
                    <a:pt x="2052" y="1764"/>
                  </a:lnTo>
                  <a:lnTo>
                    <a:pt x="2052" y="1758"/>
                  </a:lnTo>
                  <a:lnTo>
                    <a:pt x="2046" y="1758"/>
                  </a:lnTo>
                  <a:lnTo>
                    <a:pt x="2046" y="1752"/>
                  </a:lnTo>
                  <a:lnTo>
                    <a:pt x="2040" y="1752"/>
                  </a:lnTo>
                  <a:lnTo>
                    <a:pt x="2034" y="1752"/>
                  </a:lnTo>
                  <a:lnTo>
                    <a:pt x="2028" y="1758"/>
                  </a:lnTo>
                  <a:lnTo>
                    <a:pt x="2022" y="1764"/>
                  </a:lnTo>
                  <a:lnTo>
                    <a:pt x="2016" y="1764"/>
                  </a:lnTo>
                  <a:lnTo>
                    <a:pt x="2016" y="1770"/>
                  </a:lnTo>
                  <a:lnTo>
                    <a:pt x="2010" y="1770"/>
                  </a:lnTo>
                  <a:lnTo>
                    <a:pt x="2010" y="1764"/>
                  </a:lnTo>
                  <a:lnTo>
                    <a:pt x="2004" y="1764"/>
                  </a:lnTo>
                  <a:lnTo>
                    <a:pt x="1998" y="1764"/>
                  </a:lnTo>
                  <a:lnTo>
                    <a:pt x="1992" y="1764"/>
                  </a:lnTo>
                  <a:lnTo>
                    <a:pt x="1986" y="1764"/>
                  </a:lnTo>
                  <a:lnTo>
                    <a:pt x="1980" y="1764"/>
                  </a:lnTo>
                  <a:lnTo>
                    <a:pt x="1980" y="1758"/>
                  </a:lnTo>
                  <a:lnTo>
                    <a:pt x="1974" y="1752"/>
                  </a:lnTo>
                  <a:lnTo>
                    <a:pt x="1968" y="1758"/>
                  </a:lnTo>
                  <a:lnTo>
                    <a:pt x="1968" y="1764"/>
                  </a:lnTo>
                  <a:lnTo>
                    <a:pt x="1962" y="1764"/>
                  </a:lnTo>
                  <a:lnTo>
                    <a:pt x="1956" y="1764"/>
                  </a:lnTo>
                  <a:lnTo>
                    <a:pt x="1962" y="1770"/>
                  </a:lnTo>
                  <a:lnTo>
                    <a:pt x="1968" y="1776"/>
                  </a:lnTo>
                  <a:lnTo>
                    <a:pt x="1962" y="1782"/>
                  </a:lnTo>
                  <a:lnTo>
                    <a:pt x="1968" y="1782"/>
                  </a:lnTo>
                  <a:lnTo>
                    <a:pt x="1968" y="1788"/>
                  </a:lnTo>
                  <a:lnTo>
                    <a:pt x="1962" y="1800"/>
                  </a:lnTo>
                  <a:lnTo>
                    <a:pt x="1962" y="1806"/>
                  </a:lnTo>
                  <a:lnTo>
                    <a:pt x="1956" y="1806"/>
                  </a:lnTo>
                  <a:lnTo>
                    <a:pt x="1956" y="1812"/>
                  </a:lnTo>
                  <a:lnTo>
                    <a:pt x="1956" y="1818"/>
                  </a:lnTo>
                  <a:lnTo>
                    <a:pt x="1950" y="1812"/>
                  </a:lnTo>
                  <a:lnTo>
                    <a:pt x="1944" y="1812"/>
                  </a:lnTo>
                  <a:lnTo>
                    <a:pt x="1944" y="1806"/>
                  </a:lnTo>
                  <a:lnTo>
                    <a:pt x="1938" y="1806"/>
                  </a:lnTo>
                  <a:lnTo>
                    <a:pt x="1938" y="1800"/>
                  </a:lnTo>
                  <a:lnTo>
                    <a:pt x="1944" y="1794"/>
                  </a:lnTo>
                  <a:lnTo>
                    <a:pt x="1938" y="1788"/>
                  </a:lnTo>
                  <a:lnTo>
                    <a:pt x="1932" y="1794"/>
                  </a:lnTo>
                  <a:lnTo>
                    <a:pt x="1926" y="1794"/>
                  </a:lnTo>
                  <a:lnTo>
                    <a:pt x="1926" y="1800"/>
                  </a:lnTo>
                  <a:lnTo>
                    <a:pt x="1920" y="1806"/>
                  </a:lnTo>
                  <a:lnTo>
                    <a:pt x="1920" y="1800"/>
                  </a:lnTo>
                  <a:lnTo>
                    <a:pt x="1914" y="1800"/>
                  </a:lnTo>
                  <a:lnTo>
                    <a:pt x="1914" y="1794"/>
                  </a:lnTo>
                  <a:lnTo>
                    <a:pt x="1908" y="1794"/>
                  </a:lnTo>
                  <a:lnTo>
                    <a:pt x="1902" y="1794"/>
                  </a:lnTo>
                  <a:lnTo>
                    <a:pt x="1896" y="1794"/>
                  </a:lnTo>
                  <a:lnTo>
                    <a:pt x="1890" y="1788"/>
                  </a:lnTo>
                  <a:lnTo>
                    <a:pt x="1884" y="1788"/>
                  </a:lnTo>
                  <a:lnTo>
                    <a:pt x="1878" y="1788"/>
                  </a:lnTo>
                  <a:lnTo>
                    <a:pt x="1878" y="1794"/>
                  </a:lnTo>
                  <a:lnTo>
                    <a:pt x="1878" y="1800"/>
                  </a:lnTo>
                  <a:lnTo>
                    <a:pt x="1878" y="1806"/>
                  </a:lnTo>
                  <a:lnTo>
                    <a:pt x="1872" y="1806"/>
                  </a:lnTo>
                  <a:lnTo>
                    <a:pt x="1872" y="1812"/>
                  </a:lnTo>
                  <a:lnTo>
                    <a:pt x="1872" y="1818"/>
                  </a:lnTo>
                  <a:lnTo>
                    <a:pt x="1866" y="1818"/>
                  </a:lnTo>
                  <a:lnTo>
                    <a:pt x="1860" y="1818"/>
                  </a:lnTo>
                  <a:lnTo>
                    <a:pt x="1854" y="1818"/>
                  </a:lnTo>
                  <a:lnTo>
                    <a:pt x="1854" y="1824"/>
                  </a:lnTo>
                  <a:lnTo>
                    <a:pt x="1848" y="1824"/>
                  </a:lnTo>
                  <a:lnTo>
                    <a:pt x="1842" y="1824"/>
                  </a:lnTo>
                  <a:lnTo>
                    <a:pt x="1842" y="1830"/>
                  </a:lnTo>
                  <a:lnTo>
                    <a:pt x="1848" y="1830"/>
                  </a:lnTo>
                  <a:lnTo>
                    <a:pt x="1848" y="1836"/>
                  </a:lnTo>
                  <a:lnTo>
                    <a:pt x="1848" y="1842"/>
                  </a:lnTo>
                  <a:lnTo>
                    <a:pt x="1842" y="1842"/>
                  </a:lnTo>
                  <a:lnTo>
                    <a:pt x="1842" y="1848"/>
                  </a:lnTo>
                  <a:lnTo>
                    <a:pt x="1842" y="1854"/>
                  </a:lnTo>
                  <a:lnTo>
                    <a:pt x="1836" y="1854"/>
                  </a:lnTo>
                  <a:lnTo>
                    <a:pt x="1842" y="1860"/>
                  </a:lnTo>
                  <a:lnTo>
                    <a:pt x="1836" y="1860"/>
                  </a:lnTo>
                  <a:lnTo>
                    <a:pt x="1836" y="1866"/>
                  </a:lnTo>
                  <a:lnTo>
                    <a:pt x="1836" y="1872"/>
                  </a:lnTo>
                  <a:lnTo>
                    <a:pt x="1836" y="1878"/>
                  </a:lnTo>
                  <a:lnTo>
                    <a:pt x="1836" y="1884"/>
                  </a:lnTo>
                  <a:lnTo>
                    <a:pt x="1830" y="1884"/>
                  </a:lnTo>
                  <a:lnTo>
                    <a:pt x="1830" y="1890"/>
                  </a:lnTo>
                  <a:lnTo>
                    <a:pt x="1830" y="1896"/>
                  </a:lnTo>
                  <a:lnTo>
                    <a:pt x="1830" y="1902"/>
                  </a:lnTo>
                  <a:lnTo>
                    <a:pt x="1830" y="1908"/>
                  </a:lnTo>
                  <a:lnTo>
                    <a:pt x="1836" y="1914"/>
                  </a:lnTo>
                  <a:lnTo>
                    <a:pt x="1836" y="1920"/>
                  </a:lnTo>
                  <a:lnTo>
                    <a:pt x="1836" y="1926"/>
                  </a:lnTo>
                  <a:lnTo>
                    <a:pt x="1830" y="1932"/>
                  </a:lnTo>
                  <a:lnTo>
                    <a:pt x="1836" y="1938"/>
                  </a:lnTo>
                  <a:lnTo>
                    <a:pt x="1836" y="1944"/>
                  </a:lnTo>
                  <a:lnTo>
                    <a:pt x="1836" y="1950"/>
                  </a:lnTo>
                  <a:lnTo>
                    <a:pt x="1836" y="1956"/>
                  </a:lnTo>
                  <a:lnTo>
                    <a:pt x="1836" y="1962"/>
                  </a:lnTo>
                  <a:lnTo>
                    <a:pt x="1830" y="1956"/>
                  </a:lnTo>
                  <a:lnTo>
                    <a:pt x="1824" y="1962"/>
                  </a:lnTo>
                  <a:lnTo>
                    <a:pt x="1824" y="1968"/>
                  </a:lnTo>
                  <a:lnTo>
                    <a:pt x="1824" y="1974"/>
                  </a:lnTo>
                  <a:lnTo>
                    <a:pt x="1824" y="1980"/>
                  </a:lnTo>
                  <a:lnTo>
                    <a:pt x="1824" y="1986"/>
                  </a:lnTo>
                  <a:lnTo>
                    <a:pt x="1818" y="1986"/>
                  </a:lnTo>
                  <a:lnTo>
                    <a:pt x="1812" y="1986"/>
                  </a:lnTo>
                  <a:lnTo>
                    <a:pt x="1818" y="1986"/>
                  </a:lnTo>
                  <a:lnTo>
                    <a:pt x="1812" y="1992"/>
                  </a:lnTo>
                  <a:lnTo>
                    <a:pt x="1818" y="1992"/>
                  </a:lnTo>
                  <a:lnTo>
                    <a:pt x="1812" y="1992"/>
                  </a:lnTo>
                  <a:lnTo>
                    <a:pt x="1806" y="1992"/>
                  </a:lnTo>
                  <a:lnTo>
                    <a:pt x="1812" y="1998"/>
                  </a:lnTo>
                  <a:lnTo>
                    <a:pt x="1806" y="1998"/>
                  </a:lnTo>
                  <a:lnTo>
                    <a:pt x="1800" y="1998"/>
                  </a:lnTo>
                  <a:lnTo>
                    <a:pt x="1800" y="2004"/>
                  </a:lnTo>
                  <a:lnTo>
                    <a:pt x="1806" y="2004"/>
                  </a:lnTo>
                  <a:close/>
                  <a:moveTo>
                    <a:pt x="1452" y="228"/>
                  </a:moveTo>
                  <a:lnTo>
                    <a:pt x="1458" y="222"/>
                  </a:lnTo>
                  <a:lnTo>
                    <a:pt x="1458" y="216"/>
                  </a:lnTo>
                  <a:lnTo>
                    <a:pt x="1464" y="216"/>
                  </a:lnTo>
                  <a:lnTo>
                    <a:pt x="1464" y="210"/>
                  </a:lnTo>
                  <a:lnTo>
                    <a:pt x="1458" y="210"/>
                  </a:lnTo>
                  <a:lnTo>
                    <a:pt x="1458" y="204"/>
                  </a:lnTo>
                  <a:lnTo>
                    <a:pt x="1458" y="198"/>
                  </a:lnTo>
                  <a:lnTo>
                    <a:pt x="1464" y="198"/>
                  </a:lnTo>
                  <a:lnTo>
                    <a:pt x="1464" y="192"/>
                  </a:lnTo>
                  <a:lnTo>
                    <a:pt x="1470" y="198"/>
                  </a:lnTo>
                  <a:lnTo>
                    <a:pt x="1476" y="198"/>
                  </a:lnTo>
                  <a:lnTo>
                    <a:pt x="1476" y="192"/>
                  </a:lnTo>
                  <a:lnTo>
                    <a:pt x="1476" y="186"/>
                  </a:lnTo>
                  <a:lnTo>
                    <a:pt x="1476" y="180"/>
                  </a:lnTo>
                  <a:lnTo>
                    <a:pt x="1470" y="180"/>
                  </a:lnTo>
                  <a:lnTo>
                    <a:pt x="1470" y="174"/>
                  </a:lnTo>
                  <a:lnTo>
                    <a:pt x="1470" y="162"/>
                  </a:lnTo>
                  <a:lnTo>
                    <a:pt x="1476" y="162"/>
                  </a:lnTo>
                  <a:lnTo>
                    <a:pt x="1476" y="156"/>
                  </a:lnTo>
                  <a:lnTo>
                    <a:pt x="1482" y="150"/>
                  </a:lnTo>
                  <a:lnTo>
                    <a:pt x="1488" y="150"/>
                  </a:lnTo>
                  <a:lnTo>
                    <a:pt x="1494" y="150"/>
                  </a:lnTo>
                  <a:lnTo>
                    <a:pt x="1500" y="150"/>
                  </a:lnTo>
                  <a:lnTo>
                    <a:pt x="1506" y="144"/>
                  </a:lnTo>
                  <a:lnTo>
                    <a:pt x="1506" y="138"/>
                  </a:lnTo>
                  <a:lnTo>
                    <a:pt x="1506" y="132"/>
                  </a:lnTo>
                  <a:lnTo>
                    <a:pt x="1506" y="126"/>
                  </a:lnTo>
                  <a:lnTo>
                    <a:pt x="1512" y="126"/>
                  </a:lnTo>
                  <a:lnTo>
                    <a:pt x="1512" y="132"/>
                  </a:lnTo>
                  <a:lnTo>
                    <a:pt x="1518" y="138"/>
                  </a:lnTo>
                  <a:lnTo>
                    <a:pt x="1518" y="132"/>
                  </a:lnTo>
                  <a:lnTo>
                    <a:pt x="1518" y="126"/>
                  </a:lnTo>
                  <a:lnTo>
                    <a:pt x="1518" y="120"/>
                  </a:lnTo>
                  <a:lnTo>
                    <a:pt x="1524" y="120"/>
                  </a:lnTo>
                  <a:lnTo>
                    <a:pt x="1530" y="114"/>
                  </a:lnTo>
                  <a:lnTo>
                    <a:pt x="1536" y="114"/>
                  </a:lnTo>
                  <a:lnTo>
                    <a:pt x="1542" y="114"/>
                  </a:lnTo>
                  <a:lnTo>
                    <a:pt x="1548" y="114"/>
                  </a:lnTo>
                  <a:lnTo>
                    <a:pt x="1542" y="114"/>
                  </a:lnTo>
                  <a:lnTo>
                    <a:pt x="1542" y="120"/>
                  </a:lnTo>
                  <a:lnTo>
                    <a:pt x="1548" y="120"/>
                  </a:lnTo>
                  <a:lnTo>
                    <a:pt x="1548" y="126"/>
                  </a:lnTo>
                  <a:lnTo>
                    <a:pt x="1548" y="132"/>
                  </a:lnTo>
                  <a:lnTo>
                    <a:pt x="1554" y="132"/>
                  </a:lnTo>
                  <a:lnTo>
                    <a:pt x="1554" y="138"/>
                  </a:lnTo>
                  <a:lnTo>
                    <a:pt x="1560" y="138"/>
                  </a:lnTo>
                  <a:lnTo>
                    <a:pt x="1566" y="144"/>
                  </a:lnTo>
                  <a:lnTo>
                    <a:pt x="1566" y="150"/>
                  </a:lnTo>
                  <a:lnTo>
                    <a:pt x="1572" y="150"/>
                  </a:lnTo>
                  <a:lnTo>
                    <a:pt x="1572" y="156"/>
                  </a:lnTo>
                  <a:lnTo>
                    <a:pt x="1578" y="156"/>
                  </a:lnTo>
                  <a:lnTo>
                    <a:pt x="1584" y="156"/>
                  </a:lnTo>
                  <a:lnTo>
                    <a:pt x="1590" y="162"/>
                  </a:lnTo>
                  <a:lnTo>
                    <a:pt x="1584" y="162"/>
                  </a:lnTo>
                  <a:lnTo>
                    <a:pt x="1584" y="168"/>
                  </a:lnTo>
                  <a:lnTo>
                    <a:pt x="1578" y="168"/>
                  </a:lnTo>
                  <a:lnTo>
                    <a:pt x="1578" y="174"/>
                  </a:lnTo>
                  <a:lnTo>
                    <a:pt x="1584" y="174"/>
                  </a:lnTo>
                  <a:lnTo>
                    <a:pt x="1584" y="180"/>
                  </a:lnTo>
                  <a:lnTo>
                    <a:pt x="1590" y="180"/>
                  </a:lnTo>
                  <a:lnTo>
                    <a:pt x="1590" y="186"/>
                  </a:lnTo>
                  <a:lnTo>
                    <a:pt x="1596" y="186"/>
                  </a:lnTo>
                  <a:lnTo>
                    <a:pt x="1596" y="192"/>
                  </a:lnTo>
                  <a:lnTo>
                    <a:pt x="1596" y="186"/>
                  </a:lnTo>
                  <a:lnTo>
                    <a:pt x="1602" y="186"/>
                  </a:lnTo>
                  <a:lnTo>
                    <a:pt x="1608" y="186"/>
                  </a:lnTo>
                  <a:lnTo>
                    <a:pt x="1608" y="192"/>
                  </a:lnTo>
                  <a:lnTo>
                    <a:pt x="1614" y="192"/>
                  </a:lnTo>
                  <a:lnTo>
                    <a:pt x="1614" y="198"/>
                  </a:lnTo>
                  <a:lnTo>
                    <a:pt x="1614" y="204"/>
                  </a:lnTo>
                  <a:lnTo>
                    <a:pt x="1608" y="204"/>
                  </a:lnTo>
                  <a:lnTo>
                    <a:pt x="1614" y="210"/>
                  </a:lnTo>
                  <a:lnTo>
                    <a:pt x="1614" y="216"/>
                  </a:lnTo>
                  <a:lnTo>
                    <a:pt x="1614" y="210"/>
                  </a:lnTo>
                  <a:lnTo>
                    <a:pt x="1614" y="204"/>
                  </a:lnTo>
                  <a:lnTo>
                    <a:pt x="1620" y="204"/>
                  </a:lnTo>
                  <a:lnTo>
                    <a:pt x="1626" y="210"/>
                  </a:lnTo>
                  <a:lnTo>
                    <a:pt x="1626" y="216"/>
                  </a:lnTo>
                  <a:lnTo>
                    <a:pt x="1632" y="216"/>
                  </a:lnTo>
                  <a:lnTo>
                    <a:pt x="1632" y="222"/>
                  </a:lnTo>
                  <a:lnTo>
                    <a:pt x="1632" y="216"/>
                  </a:lnTo>
                  <a:lnTo>
                    <a:pt x="1632" y="222"/>
                  </a:lnTo>
                  <a:lnTo>
                    <a:pt x="1638" y="216"/>
                  </a:lnTo>
                  <a:lnTo>
                    <a:pt x="1632" y="216"/>
                  </a:lnTo>
                  <a:lnTo>
                    <a:pt x="1632" y="210"/>
                  </a:lnTo>
                  <a:lnTo>
                    <a:pt x="1632" y="204"/>
                  </a:lnTo>
                  <a:lnTo>
                    <a:pt x="1632" y="198"/>
                  </a:lnTo>
                  <a:lnTo>
                    <a:pt x="1632" y="192"/>
                  </a:lnTo>
                  <a:lnTo>
                    <a:pt x="1632" y="186"/>
                  </a:lnTo>
                  <a:lnTo>
                    <a:pt x="1632" y="180"/>
                  </a:lnTo>
                  <a:lnTo>
                    <a:pt x="1632" y="174"/>
                  </a:lnTo>
                  <a:lnTo>
                    <a:pt x="1632" y="168"/>
                  </a:lnTo>
                  <a:lnTo>
                    <a:pt x="1632" y="162"/>
                  </a:lnTo>
                  <a:lnTo>
                    <a:pt x="1632" y="156"/>
                  </a:lnTo>
                  <a:lnTo>
                    <a:pt x="1632" y="150"/>
                  </a:lnTo>
                  <a:lnTo>
                    <a:pt x="1632" y="144"/>
                  </a:lnTo>
                  <a:lnTo>
                    <a:pt x="1638" y="138"/>
                  </a:lnTo>
                  <a:lnTo>
                    <a:pt x="1644" y="138"/>
                  </a:lnTo>
                  <a:lnTo>
                    <a:pt x="1650" y="138"/>
                  </a:lnTo>
                  <a:lnTo>
                    <a:pt x="1650" y="144"/>
                  </a:lnTo>
                  <a:lnTo>
                    <a:pt x="1656" y="144"/>
                  </a:lnTo>
                  <a:lnTo>
                    <a:pt x="1662" y="144"/>
                  </a:lnTo>
                  <a:lnTo>
                    <a:pt x="1662" y="150"/>
                  </a:lnTo>
                  <a:lnTo>
                    <a:pt x="1668" y="150"/>
                  </a:lnTo>
                  <a:lnTo>
                    <a:pt x="1662" y="144"/>
                  </a:lnTo>
                  <a:lnTo>
                    <a:pt x="1662" y="138"/>
                  </a:lnTo>
                  <a:lnTo>
                    <a:pt x="1656" y="132"/>
                  </a:lnTo>
                  <a:lnTo>
                    <a:pt x="1656" y="126"/>
                  </a:lnTo>
                  <a:lnTo>
                    <a:pt x="1656" y="120"/>
                  </a:lnTo>
                  <a:lnTo>
                    <a:pt x="1650" y="120"/>
                  </a:lnTo>
                  <a:lnTo>
                    <a:pt x="1650" y="114"/>
                  </a:lnTo>
                  <a:lnTo>
                    <a:pt x="1656" y="120"/>
                  </a:lnTo>
                  <a:lnTo>
                    <a:pt x="1662" y="126"/>
                  </a:lnTo>
                  <a:lnTo>
                    <a:pt x="1668" y="132"/>
                  </a:lnTo>
                  <a:lnTo>
                    <a:pt x="1674" y="132"/>
                  </a:lnTo>
                  <a:lnTo>
                    <a:pt x="1674" y="138"/>
                  </a:lnTo>
                  <a:lnTo>
                    <a:pt x="1680" y="138"/>
                  </a:lnTo>
                  <a:lnTo>
                    <a:pt x="1680" y="144"/>
                  </a:lnTo>
                  <a:lnTo>
                    <a:pt x="1680" y="150"/>
                  </a:lnTo>
                  <a:lnTo>
                    <a:pt x="1686" y="150"/>
                  </a:lnTo>
                  <a:lnTo>
                    <a:pt x="1692" y="150"/>
                  </a:lnTo>
                  <a:lnTo>
                    <a:pt x="1692" y="156"/>
                  </a:lnTo>
                  <a:lnTo>
                    <a:pt x="1698" y="162"/>
                  </a:lnTo>
                  <a:lnTo>
                    <a:pt x="1698" y="168"/>
                  </a:lnTo>
                  <a:lnTo>
                    <a:pt x="1704" y="168"/>
                  </a:lnTo>
                  <a:lnTo>
                    <a:pt x="1704" y="174"/>
                  </a:lnTo>
                  <a:lnTo>
                    <a:pt x="1710" y="180"/>
                  </a:lnTo>
                  <a:lnTo>
                    <a:pt x="1716" y="180"/>
                  </a:lnTo>
                  <a:lnTo>
                    <a:pt x="1722" y="180"/>
                  </a:lnTo>
                  <a:lnTo>
                    <a:pt x="1728" y="186"/>
                  </a:lnTo>
                  <a:lnTo>
                    <a:pt x="1734" y="186"/>
                  </a:lnTo>
                  <a:lnTo>
                    <a:pt x="1740" y="186"/>
                  </a:lnTo>
                  <a:lnTo>
                    <a:pt x="1746" y="180"/>
                  </a:lnTo>
                  <a:lnTo>
                    <a:pt x="1752" y="180"/>
                  </a:lnTo>
                  <a:lnTo>
                    <a:pt x="1758" y="180"/>
                  </a:lnTo>
                  <a:lnTo>
                    <a:pt x="1764" y="180"/>
                  </a:lnTo>
                  <a:lnTo>
                    <a:pt x="1770" y="186"/>
                  </a:lnTo>
                  <a:lnTo>
                    <a:pt x="1776" y="186"/>
                  </a:lnTo>
                  <a:lnTo>
                    <a:pt x="1776" y="192"/>
                  </a:lnTo>
                  <a:lnTo>
                    <a:pt x="1782" y="192"/>
                  </a:lnTo>
                  <a:lnTo>
                    <a:pt x="1782" y="198"/>
                  </a:lnTo>
                  <a:lnTo>
                    <a:pt x="1788" y="204"/>
                  </a:lnTo>
                  <a:lnTo>
                    <a:pt x="1794" y="204"/>
                  </a:lnTo>
                  <a:lnTo>
                    <a:pt x="1800" y="204"/>
                  </a:lnTo>
                  <a:lnTo>
                    <a:pt x="1806" y="210"/>
                  </a:lnTo>
                  <a:lnTo>
                    <a:pt x="1806" y="216"/>
                  </a:lnTo>
                  <a:lnTo>
                    <a:pt x="1812" y="216"/>
                  </a:lnTo>
                  <a:lnTo>
                    <a:pt x="1812" y="222"/>
                  </a:lnTo>
                  <a:lnTo>
                    <a:pt x="1818" y="222"/>
                  </a:lnTo>
                  <a:lnTo>
                    <a:pt x="1824" y="228"/>
                  </a:lnTo>
                  <a:lnTo>
                    <a:pt x="1830" y="228"/>
                  </a:lnTo>
                  <a:lnTo>
                    <a:pt x="1830" y="234"/>
                  </a:lnTo>
                  <a:lnTo>
                    <a:pt x="1836" y="234"/>
                  </a:lnTo>
                  <a:lnTo>
                    <a:pt x="1836" y="240"/>
                  </a:lnTo>
                  <a:lnTo>
                    <a:pt x="1836" y="246"/>
                  </a:lnTo>
                  <a:lnTo>
                    <a:pt x="1830" y="240"/>
                  </a:lnTo>
                  <a:lnTo>
                    <a:pt x="1824" y="240"/>
                  </a:lnTo>
                  <a:lnTo>
                    <a:pt x="1824" y="246"/>
                  </a:lnTo>
                  <a:lnTo>
                    <a:pt x="1818" y="246"/>
                  </a:lnTo>
                  <a:lnTo>
                    <a:pt x="1818" y="252"/>
                  </a:lnTo>
                  <a:lnTo>
                    <a:pt x="1812" y="252"/>
                  </a:lnTo>
                  <a:lnTo>
                    <a:pt x="1812" y="258"/>
                  </a:lnTo>
                  <a:lnTo>
                    <a:pt x="1806" y="264"/>
                  </a:lnTo>
                  <a:lnTo>
                    <a:pt x="1806" y="270"/>
                  </a:lnTo>
                  <a:lnTo>
                    <a:pt x="1806" y="276"/>
                  </a:lnTo>
                  <a:lnTo>
                    <a:pt x="1812" y="276"/>
                  </a:lnTo>
                  <a:lnTo>
                    <a:pt x="1812" y="282"/>
                  </a:lnTo>
                  <a:lnTo>
                    <a:pt x="1818" y="282"/>
                  </a:lnTo>
                  <a:lnTo>
                    <a:pt x="1812" y="288"/>
                  </a:lnTo>
                  <a:lnTo>
                    <a:pt x="1806" y="288"/>
                  </a:lnTo>
                  <a:lnTo>
                    <a:pt x="1806" y="294"/>
                  </a:lnTo>
                  <a:lnTo>
                    <a:pt x="1806" y="300"/>
                  </a:lnTo>
                  <a:lnTo>
                    <a:pt x="1806" y="306"/>
                  </a:lnTo>
                  <a:lnTo>
                    <a:pt x="1800" y="306"/>
                  </a:lnTo>
                  <a:lnTo>
                    <a:pt x="1794" y="318"/>
                  </a:lnTo>
                  <a:lnTo>
                    <a:pt x="1794" y="324"/>
                  </a:lnTo>
                  <a:lnTo>
                    <a:pt x="1788" y="324"/>
                  </a:lnTo>
                  <a:lnTo>
                    <a:pt x="1782" y="324"/>
                  </a:lnTo>
                  <a:lnTo>
                    <a:pt x="1776" y="330"/>
                  </a:lnTo>
                  <a:lnTo>
                    <a:pt x="1770" y="330"/>
                  </a:lnTo>
                  <a:lnTo>
                    <a:pt x="1770" y="324"/>
                  </a:lnTo>
                  <a:lnTo>
                    <a:pt x="1764" y="324"/>
                  </a:lnTo>
                  <a:lnTo>
                    <a:pt x="1764" y="318"/>
                  </a:lnTo>
                  <a:lnTo>
                    <a:pt x="1758" y="324"/>
                  </a:lnTo>
                  <a:lnTo>
                    <a:pt x="1752" y="318"/>
                  </a:lnTo>
                  <a:lnTo>
                    <a:pt x="1752" y="324"/>
                  </a:lnTo>
                  <a:lnTo>
                    <a:pt x="1746" y="330"/>
                  </a:lnTo>
                  <a:lnTo>
                    <a:pt x="1752" y="330"/>
                  </a:lnTo>
                  <a:lnTo>
                    <a:pt x="1752" y="336"/>
                  </a:lnTo>
                  <a:lnTo>
                    <a:pt x="1758" y="336"/>
                  </a:lnTo>
                  <a:lnTo>
                    <a:pt x="1758" y="342"/>
                  </a:lnTo>
                  <a:lnTo>
                    <a:pt x="1758" y="348"/>
                  </a:lnTo>
                  <a:lnTo>
                    <a:pt x="1752" y="348"/>
                  </a:lnTo>
                  <a:lnTo>
                    <a:pt x="1746" y="354"/>
                  </a:lnTo>
                  <a:lnTo>
                    <a:pt x="1740" y="354"/>
                  </a:lnTo>
                  <a:lnTo>
                    <a:pt x="1734" y="354"/>
                  </a:lnTo>
                  <a:lnTo>
                    <a:pt x="1728" y="354"/>
                  </a:lnTo>
                  <a:lnTo>
                    <a:pt x="1722" y="354"/>
                  </a:lnTo>
                  <a:lnTo>
                    <a:pt x="1716" y="354"/>
                  </a:lnTo>
                  <a:lnTo>
                    <a:pt x="1710" y="354"/>
                  </a:lnTo>
                  <a:lnTo>
                    <a:pt x="1716" y="354"/>
                  </a:lnTo>
                  <a:lnTo>
                    <a:pt x="1710" y="354"/>
                  </a:lnTo>
                  <a:lnTo>
                    <a:pt x="1710" y="360"/>
                  </a:lnTo>
                  <a:lnTo>
                    <a:pt x="1710" y="366"/>
                  </a:lnTo>
                  <a:lnTo>
                    <a:pt x="1710" y="360"/>
                  </a:lnTo>
                  <a:lnTo>
                    <a:pt x="1716" y="360"/>
                  </a:lnTo>
                  <a:lnTo>
                    <a:pt x="1710" y="366"/>
                  </a:lnTo>
                  <a:lnTo>
                    <a:pt x="1704" y="366"/>
                  </a:lnTo>
                  <a:lnTo>
                    <a:pt x="1698" y="366"/>
                  </a:lnTo>
                  <a:lnTo>
                    <a:pt x="1692" y="360"/>
                  </a:lnTo>
                  <a:lnTo>
                    <a:pt x="1686" y="354"/>
                  </a:lnTo>
                  <a:lnTo>
                    <a:pt x="1680" y="348"/>
                  </a:lnTo>
                  <a:lnTo>
                    <a:pt x="1680" y="342"/>
                  </a:lnTo>
                  <a:lnTo>
                    <a:pt x="1686" y="342"/>
                  </a:lnTo>
                  <a:lnTo>
                    <a:pt x="1686" y="336"/>
                  </a:lnTo>
                  <a:lnTo>
                    <a:pt x="1692" y="342"/>
                  </a:lnTo>
                  <a:lnTo>
                    <a:pt x="1692" y="348"/>
                  </a:lnTo>
                  <a:lnTo>
                    <a:pt x="1698" y="348"/>
                  </a:lnTo>
                  <a:lnTo>
                    <a:pt x="1698" y="342"/>
                  </a:lnTo>
                  <a:lnTo>
                    <a:pt x="1692" y="342"/>
                  </a:lnTo>
                  <a:lnTo>
                    <a:pt x="1692" y="336"/>
                  </a:lnTo>
                  <a:lnTo>
                    <a:pt x="1692" y="330"/>
                  </a:lnTo>
                  <a:lnTo>
                    <a:pt x="1686" y="336"/>
                  </a:lnTo>
                  <a:lnTo>
                    <a:pt x="1680" y="330"/>
                  </a:lnTo>
                  <a:lnTo>
                    <a:pt x="1674" y="330"/>
                  </a:lnTo>
                  <a:lnTo>
                    <a:pt x="1674" y="336"/>
                  </a:lnTo>
                  <a:lnTo>
                    <a:pt x="1668" y="336"/>
                  </a:lnTo>
                  <a:lnTo>
                    <a:pt x="1662" y="342"/>
                  </a:lnTo>
                  <a:lnTo>
                    <a:pt x="1662" y="348"/>
                  </a:lnTo>
                  <a:lnTo>
                    <a:pt x="1656" y="348"/>
                  </a:lnTo>
                  <a:lnTo>
                    <a:pt x="1650" y="348"/>
                  </a:lnTo>
                  <a:lnTo>
                    <a:pt x="1644" y="348"/>
                  </a:lnTo>
                  <a:lnTo>
                    <a:pt x="1638" y="348"/>
                  </a:lnTo>
                  <a:lnTo>
                    <a:pt x="1632" y="354"/>
                  </a:lnTo>
                  <a:lnTo>
                    <a:pt x="1626" y="354"/>
                  </a:lnTo>
                  <a:lnTo>
                    <a:pt x="1620" y="354"/>
                  </a:lnTo>
                  <a:lnTo>
                    <a:pt x="1614" y="360"/>
                  </a:lnTo>
                  <a:lnTo>
                    <a:pt x="1608" y="360"/>
                  </a:lnTo>
                  <a:lnTo>
                    <a:pt x="1602" y="366"/>
                  </a:lnTo>
                  <a:lnTo>
                    <a:pt x="1596" y="366"/>
                  </a:lnTo>
                  <a:lnTo>
                    <a:pt x="1590" y="366"/>
                  </a:lnTo>
                  <a:lnTo>
                    <a:pt x="1584" y="366"/>
                  </a:lnTo>
                  <a:lnTo>
                    <a:pt x="1590" y="366"/>
                  </a:lnTo>
                  <a:lnTo>
                    <a:pt x="1596" y="366"/>
                  </a:lnTo>
                  <a:lnTo>
                    <a:pt x="1590" y="366"/>
                  </a:lnTo>
                  <a:lnTo>
                    <a:pt x="1590" y="360"/>
                  </a:lnTo>
                  <a:lnTo>
                    <a:pt x="1590" y="354"/>
                  </a:lnTo>
                  <a:lnTo>
                    <a:pt x="1590" y="348"/>
                  </a:lnTo>
                  <a:lnTo>
                    <a:pt x="1584" y="348"/>
                  </a:lnTo>
                  <a:lnTo>
                    <a:pt x="1584" y="342"/>
                  </a:lnTo>
                  <a:lnTo>
                    <a:pt x="1584" y="348"/>
                  </a:lnTo>
                  <a:lnTo>
                    <a:pt x="1578" y="342"/>
                  </a:lnTo>
                  <a:lnTo>
                    <a:pt x="1572" y="342"/>
                  </a:lnTo>
                  <a:lnTo>
                    <a:pt x="1572" y="336"/>
                  </a:lnTo>
                  <a:lnTo>
                    <a:pt x="1572" y="342"/>
                  </a:lnTo>
                  <a:lnTo>
                    <a:pt x="1566" y="348"/>
                  </a:lnTo>
                  <a:lnTo>
                    <a:pt x="1566" y="360"/>
                  </a:lnTo>
                  <a:lnTo>
                    <a:pt x="1572" y="360"/>
                  </a:lnTo>
                  <a:lnTo>
                    <a:pt x="1572" y="354"/>
                  </a:lnTo>
                  <a:lnTo>
                    <a:pt x="1578" y="360"/>
                  </a:lnTo>
                  <a:lnTo>
                    <a:pt x="1572" y="360"/>
                  </a:lnTo>
                  <a:lnTo>
                    <a:pt x="1572" y="366"/>
                  </a:lnTo>
                  <a:lnTo>
                    <a:pt x="1566" y="372"/>
                  </a:lnTo>
                  <a:lnTo>
                    <a:pt x="1566" y="378"/>
                  </a:lnTo>
                  <a:lnTo>
                    <a:pt x="1566" y="384"/>
                  </a:lnTo>
                  <a:lnTo>
                    <a:pt x="1560" y="384"/>
                  </a:lnTo>
                  <a:lnTo>
                    <a:pt x="1560" y="390"/>
                  </a:lnTo>
                  <a:lnTo>
                    <a:pt x="1554" y="396"/>
                  </a:lnTo>
                  <a:lnTo>
                    <a:pt x="1548" y="396"/>
                  </a:lnTo>
                  <a:lnTo>
                    <a:pt x="1542" y="396"/>
                  </a:lnTo>
                  <a:lnTo>
                    <a:pt x="1542" y="390"/>
                  </a:lnTo>
                  <a:lnTo>
                    <a:pt x="1536" y="390"/>
                  </a:lnTo>
                  <a:lnTo>
                    <a:pt x="1530" y="384"/>
                  </a:lnTo>
                  <a:lnTo>
                    <a:pt x="1524" y="384"/>
                  </a:lnTo>
                  <a:lnTo>
                    <a:pt x="1524" y="378"/>
                  </a:lnTo>
                  <a:lnTo>
                    <a:pt x="1518" y="378"/>
                  </a:lnTo>
                  <a:lnTo>
                    <a:pt x="1512" y="378"/>
                  </a:lnTo>
                  <a:lnTo>
                    <a:pt x="1506" y="378"/>
                  </a:lnTo>
                  <a:lnTo>
                    <a:pt x="1506" y="372"/>
                  </a:lnTo>
                  <a:lnTo>
                    <a:pt x="1500" y="372"/>
                  </a:lnTo>
                  <a:lnTo>
                    <a:pt x="1500" y="366"/>
                  </a:lnTo>
                  <a:lnTo>
                    <a:pt x="1494" y="360"/>
                  </a:lnTo>
                  <a:lnTo>
                    <a:pt x="1494" y="354"/>
                  </a:lnTo>
                  <a:lnTo>
                    <a:pt x="1494" y="348"/>
                  </a:lnTo>
                  <a:lnTo>
                    <a:pt x="1494" y="342"/>
                  </a:lnTo>
                  <a:lnTo>
                    <a:pt x="1488" y="342"/>
                  </a:lnTo>
                  <a:lnTo>
                    <a:pt x="1488" y="336"/>
                  </a:lnTo>
                  <a:lnTo>
                    <a:pt x="1482" y="336"/>
                  </a:lnTo>
                  <a:lnTo>
                    <a:pt x="1482" y="330"/>
                  </a:lnTo>
                  <a:lnTo>
                    <a:pt x="1488" y="330"/>
                  </a:lnTo>
                  <a:lnTo>
                    <a:pt x="1488" y="324"/>
                  </a:lnTo>
                  <a:lnTo>
                    <a:pt x="1482" y="330"/>
                  </a:lnTo>
                  <a:lnTo>
                    <a:pt x="1476" y="330"/>
                  </a:lnTo>
                  <a:lnTo>
                    <a:pt x="1470" y="324"/>
                  </a:lnTo>
                  <a:lnTo>
                    <a:pt x="1464" y="318"/>
                  </a:lnTo>
                  <a:lnTo>
                    <a:pt x="1464" y="312"/>
                  </a:lnTo>
                  <a:lnTo>
                    <a:pt x="1458" y="306"/>
                  </a:lnTo>
                  <a:lnTo>
                    <a:pt x="1458" y="300"/>
                  </a:lnTo>
                  <a:lnTo>
                    <a:pt x="1452" y="294"/>
                  </a:lnTo>
                  <a:lnTo>
                    <a:pt x="1452" y="288"/>
                  </a:lnTo>
                  <a:lnTo>
                    <a:pt x="1452" y="294"/>
                  </a:lnTo>
                  <a:lnTo>
                    <a:pt x="1458" y="294"/>
                  </a:lnTo>
                  <a:lnTo>
                    <a:pt x="1452" y="294"/>
                  </a:lnTo>
                  <a:lnTo>
                    <a:pt x="1452" y="288"/>
                  </a:lnTo>
                  <a:lnTo>
                    <a:pt x="1446" y="288"/>
                  </a:lnTo>
                  <a:lnTo>
                    <a:pt x="1452" y="288"/>
                  </a:lnTo>
                  <a:lnTo>
                    <a:pt x="1452" y="282"/>
                  </a:lnTo>
                  <a:lnTo>
                    <a:pt x="1446" y="276"/>
                  </a:lnTo>
                  <a:lnTo>
                    <a:pt x="1446" y="270"/>
                  </a:lnTo>
                  <a:lnTo>
                    <a:pt x="1452" y="270"/>
                  </a:lnTo>
                  <a:lnTo>
                    <a:pt x="1452" y="264"/>
                  </a:lnTo>
                  <a:lnTo>
                    <a:pt x="1458" y="264"/>
                  </a:lnTo>
                  <a:lnTo>
                    <a:pt x="1458" y="258"/>
                  </a:lnTo>
                  <a:lnTo>
                    <a:pt x="1464" y="252"/>
                  </a:lnTo>
                  <a:lnTo>
                    <a:pt x="1464" y="246"/>
                  </a:lnTo>
                  <a:lnTo>
                    <a:pt x="1464" y="240"/>
                  </a:lnTo>
                  <a:lnTo>
                    <a:pt x="1458" y="240"/>
                  </a:lnTo>
                  <a:lnTo>
                    <a:pt x="1464" y="240"/>
                  </a:lnTo>
                  <a:lnTo>
                    <a:pt x="1458" y="240"/>
                  </a:lnTo>
                  <a:lnTo>
                    <a:pt x="1458" y="234"/>
                  </a:lnTo>
                  <a:lnTo>
                    <a:pt x="1464" y="234"/>
                  </a:lnTo>
                  <a:lnTo>
                    <a:pt x="1464" y="228"/>
                  </a:lnTo>
                  <a:lnTo>
                    <a:pt x="1464" y="222"/>
                  </a:lnTo>
                  <a:lnTo>
                    <a:pt x="1458" y="222"/>
                  </a:lnTo>
                  <a:lnTo>
                    <a:pt x="1452" y="228"/>
                  </a:lnTo>
                  <a:lnTo>
                    <a:pt x="1458" y="234"/>
                  </a:lnTo>
                  <a:lnTo>
                    <a:pt x="1452" y="234"/>
                  </a:lnTo>
                  <a:lnTo>
                    <a:pt x="1452" y="228"/>
                  </a:lnTo>
                  <a:close/>
                  <a:moveTo>
                    <a:pt x="1872" y="264"/>
                  </a:moveTo>
                  <a:lnTo>
                    <a:pt x="1872" y="258"/>
                  </a:lnTo>
                  <a:lnTo>
                    <a:pt x="1878" y="258"/>
                  </a:lnTo>
                  <a:lnTo>
                    <a:pt x="1878" y="252"/>
                  </a:lnTo>
                  <a:lnTo>
                    <a:pt x="1878" y="246"/>
                  </a:lnTo>
                  <a:lnTo>
                    <a:pt x="1884" y="246"/>
                  </a:lnTo>
                  <a:lnTo>
                    <a:pt x="1884" y="240"/>
                  </a:lnTo>
                  <a:lnTo>
                    <a:pt x="1878" y="240"/>
                  </a:lnTo>
                  <a:lnTo>
                    <a:pt x="1878" y="234"/>
                  </a:lnTo>
                  <a:lnTo>
                    <a:pt x="1884" y="234"/>
                  </a:lnTo>
                  <a:lnTo>
                    <a:pt x="1884" y="228"/>
                  </a:lnTo>
                  <a:lnTo>
                    <a:pt x="1890" y="234"/>
                  </a:lnTo>
                  <a:lnTo>
                    <a:pt x="1896" y="234"/>
                  </a:lnTo>
                  <a:lnTo>
                    <a:pt x="1896" y="240"/>
                  </a:lnTo>
                  <a:lnTo>
                    <a:pt x="1896" y="246"/>
                  </a:lnTo>
                  <a:lnTo>
                    <a:pt x="1896" y="252"/>
                  </a:lnTo>
                  <a:lnTo>
                    <a:pt x="1890" y="252"/>
                  </a:lnTo>
                  <a:lnTo>
                    <a:pt x="1890" y="258"/>
                  </a:lnTo>
                  <a:lnTo>
                    <a:pt x="1896" y="258"/>
                  </a:lnTo>
                  <a:lnTo>
                    <a:pt x="1896" y="264"/>
                  </a:lnTo>
                  <a:lnTo>
                    <a:pt x="1896" y="270"/>
                  </a:lnTo>
                  <a:lnTo>
                    <a:pt x="1902" y="270"/>
                  </a:lnTo>
                  <a:lnTo>
                    <a:pt x="1902" y="276"/>
                  </a:lnTo>
                  <a:lnTo>
                    <a:pt x="1908" y="276"/>
                  </a:lnTo>
                  <a:lnTo>
                    <a:pt x="1914" y="276"/>
                  </a:lnTo>
                  <a:lnTo>
                    <a:pt x="1920" y="270"/>
                  </a:lnTo>
                  <a:lnTo>
                    <a:pt x="1914" y="270"/>
                  </a:lnTo>
                  <a:lnTo>
                    <a:pt x="1920" y="264"/>
                  </a:lnTo>
                  <a:lnTo>
                    <a:pt x="1926" y="258"/>
                  </a:lnTo>
                  <a:lnTo>
                    <a:pt x="1932" y="258"/>
                  </a:lnTo>
                  <a:lnTo>
                    <a:pt x="1938" y="252"/>
                  </a:lnTo>
                  <a:lnTo>
                    <a:pt x="1944" y="258"/>
                  </a:lnTo>
                  <a:lnTo>
                    <a:pt x="1950" y="258"/>
                  </a:lnTo>
                  <a:lnTo>
                    <a:pt x="1950" y="264"/>
                  </a:lnTo>
                  <a:lnTo>
                    <a:pt x="1956" y="264"/>
                  </a:lnTo>
                  <a:lnTo>
                    <a:pt x="1962" y="264"/>
                  </a:lnTo>
                  <a:lnTo>
                    <a:pt x="1968" y="264"/>
                  </a:lnTo>
                  <a:lnTo>
                    <a:pt x="1968" y="258"/>
                  </a:lnTo>
                  <a:lnTo>
                    <a:pt x="1974" y="258"/>
                  </a:lnTo>
                  <a:lnTo>
                    <a:pt x="1974" y="264"/>
                  </a:lnTo>
                  <a:lnTo>
                    <a:pt x="1980" y="264"/>
                  </a:lnTo>
                  <a:lnTo>
                    <a:pt x="1980" y="270"/>
                  </a:lnTo>
                  <a:lnTo>
                    <a:pt x="1980" y="276"/>
                  </a:lnTo>
                  <a:lnTo>
                    <a:pt x="1980" y="282"/>
                  </a:lnTo>
                  <a:lnTo>
                    <a:pt x="1980" y="288"/>
                  </a:lnTo>
                  <a:lnTo>
                    <a:pt x="1980" y="294"/>
                  </a:lnTo>
                  <a:lnTo>
                    <a:pt x="1980" y="300"/>
                  </a:lnTo>
                  <a:lnTo>
                    <a:pt x="1986" y="300"/>
                  </a:lnTo>
                  <a:lnTo>
                    <a:pt x="1992" y="300"/>
                  </a:lnTo>
                  <a:lnTo>
                    <a:pt x="1992" y="294"/>
                  </a:lnTo>
                  <a:lnTo>
                    <a:pt x="1998" y="294"/>
                  </a:lnTo>
                  <a:lnTo>
                    <a:pt x="2004" y="294"/>
                  </a:lnTo>
                  <a:lnTo>
                    <a:pt x="2010" y="288"/>
                  </a:lnTo>
                  <a:lnTo>
                    <a:pt x="2016" y="288"/>
                  </a:lnTo>
                  <a:lnTo>
                    <a:pt x="2022" y="288"/>
                  </a:lnTo>
                  <a:lnTo>
                    <a:pt x="2028" y="288"/>
                  </a:lnTo>
                  <a:lnTo>
                    <a:pt x="2028" y="294"/>
                  </a:lnTo>
                  <a:lnTo>
                    <a:pt x="2034" y="294"/>
                  </a:lnTo>
                  <a:lnTo>
                    <a:pt x="2040" y="294"/>
                  </a:lnTo>
                  <a:lnTo>
                    <a:pt x="2046" y="294"/>
                  </a:lnTo>
                  <a:lnTo>
                    <a:pt x="2052" y="294"/>
                  </a:lnTo>
                  <a:lnTo>
                    <a:pt x="2052" y="300"/>
                  </a:lnTo>
                  <a:lnTo>
                    <a:pt x="2058" y="300"/>
                  </a:lnTo>
                  <a:lnTo>
                    <a:pt x="2058" y="306"/>
                  </a:lnTo>
                  <a:lnTo>
                    <a:pt x="2058" y="312"/>
                  </a:lnTo>
                  <a:lnTo>
                    <a:pt x="2058" y="306"/>
                  </a:lnTo>
                  <a:lnTo>
                    <a:pt x="2064" y="312"/>
                  </a:lnTo>
                  <a:lnTo>
                    <a:pt x="2070" y="318"/>
                  </a:lnTo>
                  <a:lnTo>
                    <a:pt x="2076" y="312"/>
                  </a:lnTo>
                  <a:lnTo>
                    <a:pt x="2082" y="306"/>
                  </a:lnTo>
                  <a:lnTo>
                    <a:pt x="2088" y="306"/>
                  </a:lnTo>
                  <a:lnTo>
                    <a:pt x="2088" y="312"/>
                  </a:lnTo>
                  <a:lnTo>
                    <a:pt x="2088" y="318"/>
                  </a:lnTo>
                  <a:lnTo>
                    <a:pt x="2082" y="318"/>
                  </a:lnTo>
                  <a:lnTo>
                    <a:pt x="2082" y="324"/>
                  </a:lnTo>
                  <a:lnTo>
                    <a:pt x="2082" y="330"/>
                  </a:lnTo>
                  <a:lnTo>
                    <a:pt x="2076" y="336"/>
                  </a:lnTo>
                  <a:lnTo>
                    <a:pt x="2046" y="336"/>
                  </a:lnTo>
                  <a:lnTo>
                    <a:pt x="2046" y="366"/>
                  </a:lnTo>
                  <a:lnTo>
                    <a:pt x="2040" y="372"/>
                  </a:lnTo>
                  <a:lnTo>
                    <a:pt x="2034" y="372"/>
                  </a:lnTo>
                  <a:lnTo>
                    <a:pt x="2028" y="372"/>
                  </a:lnTo>
                  <a:lnTo>
                    <a:pt x="2028" y="378"/>
                  </a:lnTo>
                  <a:lnTo>
                    <a:pt x="2016" y="378"/>
                  </a:lnTo>
                  <a:lnTo>
                    <a:pt x="2010" y="378"/>
                  </a:lnTo>
                  <a:lnTo>
                    <a:pt x="2004" y="378"/>
                  </a:lnTo>
                  <a:lnTo>
                    <a:pt x="2004" y="384"/>
                  </a:lnTo>
                  <a:lnTo>
                    <a:pt x="1998" y="384"/>
                  </a:lnTo>
                  <a:lnTo>
                    <a:pt x="1998" y="378"/>
                  </a:lnTo>
                  <a:lnTo>
                    <a:pt x="1992" y="378"/>
                  </a:lnTo>
                  <a:lnTo>
                    <a:pt x="1986" y="378"/>
                  </a:lnTo>
                  <a:lnTo>
                    <a:pt x="1980" y="378"/>
                  </a:lnTo>
                  <a:lnTo>
                    <a:pt x="1974" y="378"/>
                  </a:lnTo>
                  <a:lnTo>
                    <a:pt x="1974" y="372"/>
                  </a:lnTo>
                  <a:lnTo>
                    <a:pt x="1968" y="372"/>
                  </a:lnTo>
                  <a:lnTo>
                    <a:pt x="1962" y="372"/>
                  </a:lnTo>
                  <a:lnTo>
                    <a:pt x="1956" y="366"/>
                  </a:lnTo>
                  <a:lnTo>
                    <a:pt x="1956" y="360"/>
                  </a:lnTo>
                  <a:lnTo>
                    <a:pt x="1950" y="360"/>
                  </a:lnTo>
                  <a:lnTo>
                    <a:pt x="1950" y="354"/>
                  </a:lnTo>
                  <a:lnTo>
                    <a:pt x="1944" y="348"/>
                  </a:lnTo>
                  <a:lnTo>
                    <a:pt x="1944" y="342"/>
                  </a:lnTo>
                  <a:lnTo>
                    <a:pt x="1938" y="342"/>
                  </a:lnTo>
                  <a:lnTo>
                    <a:pt x="1938" y="336"/>
                  </a:lnTo>
                  <a:lnTo>
                    <a:pt x="1932" y="336"/>
                  </a:lnTo>
                  <a:lnTo>
                    <a:pt x="1926" y="336"/>
                  </a:lnTo>
                  <a:lnTo>
                    <a:pt x="1920" y="336"/>
                  </a:lnTo>
                  <a:lnTo>
                    <a:pt x="1914" y="336"/>
                  </a:lnTo>
                  <a:lnTo>
                    <a:pt x="1914" y="330"/>
                  </a:lnTo>
                  <a:lnTo>
                    <a:pt x="1908" y="324"/>
                  </a:lnTo>
                  <a:lnTo>
                    <a:pt x="1902" y="318"/>
                  </a:lnTo>
                  <a:lnTo>
                    <a:pt x="1896" y="312"/>
                  </a:lnTo>
                  <a:lnTo>
                    <a:pt x="1890" y="312"/>
                  </a:lnTo>
                  <a:lnTo>
                    <a:pt x="1890" y="306"/>
                  </a:lnTo>
                  <a:lnTo>
                    <a:pt x="1884" y="306"/>
                  </a:lnTo>
                  <a:lnTo>
                    <a:pt x="1878" y="306"/>
                  </a:lnTo>
                  <a:lnTo>
                    <a:pt x="1878" y="300"/>
                  </a:lnTo>
                  <a:lnTo>
                    <a:pt x="1872" y="294"/>
                  </a:lnTo>
                  <a:lnTo>
                    <a:pt x="1872" y="288"/>
                  </a:lnTo>
                  <a:lnTo>
                    <a:pt x="1878" y="288"/>
                  </a:lnTo>
                  <a:lnTo>
                    <a:pt x="1878" y="282"/>
                  </a:lnTo>
                  <a:lnTo>
                    <a:pt x="1878" y="276"/>
                  </a:lnTo>
                  <a:lnTo>
                    <a:pt x="1872" y="264"/>
                  </a:lnTo>
                  <a:close/>
                  <a:moveTo>
                    <a:pt x="1578" y="600"/>
                  </a:moveTo>
                  <a:lnTo>
                    <a:pt x="1584" y="600"/>
                  </a:lnTo>
                  <a:lnTo>
                    <a:pt x="1584" y="594"/>
                  </a:lnTo>
                  <a:lnTo>
                    <a:pt x="1590" y="594"/>
                  </a:lnTo>
                  <a:lnTo>
                    <a:pt x="1596" y="594"/>
                  </a:lnTo>
                  <a:lnTo>
                    <a:pt x="1602" y="594"/>
                  </a:lnTo>
                  <a:lnTo>
                    <a:pt x="1602" y="600"/>
                  </a:lnTo>
                  <a:lnTo>
                    <a:pt x="1602" y="594"/>
                  </a:lnTo>
                  <a:lnTo>
                    <a:pt x="1608" y="594"/>
                  </a:lnTo>
                  <a:lnTo>
                    <a:pt x="1614" y="582"/>
                  </a:lnTo>
                  <a:lnTo>
                    <a:pt x="1620" y="582"/>
                  </a:lnTo>
                  <a:lnTo>
                    <a:pt x="1620" y="576"/>
                  </a:lnTo>
                  <a:lnTo>
                    <a:pt x="1626" y="564"/>
                  </a:lnTo>
                  <a:lnTo>
                    <a:pt x="1626" y="558"/>
                  </a:lnTo>
                  <a:lnTo>
                    <a:pt x="1626" y="552"/>
                  </a:lnTo>
                  <a:lnTo>
                    <a:pt x="1632" y="552"/>
                  </a:lnTo>
                  <a:lnTo>
                    <a:pt x="1626" y="552"/>
                  </a:lnTo>
                  <a:lnTo>
                    <a:pt x="1632" y="546"/>
                  </a:lnTo>
                  <a:lnTo>
                    <a:pt x="1632" y="540"/>
                  </a:lnTo>
                  <a:lnTo>
                    <a:pt x="1638" y="534"/>
                  </a:lnTo>
                  <a:lnTo>
                    <a:pt x="1638" y="528"/>
                  </a:lnTo>
                  <a:lnTo>
                    <a:pt x="1644" y="528"/>
                  </a:lnTo>
                  <a:lnTo>
                    <a:pt x="1650" y="528"/>
                  </a:lnTo>
                  <a:lnTo>
                    <a:pt x="1656" y="528"/>
                  </a:lnTo>
                  <a:lnTo>
                    <a:pt x="1662" y="522"/>
                  </a:lnTo>
                  <a:lnTo>
                    <a:pt x="1674" y="522"/>
                  </a:lnTo>
                  <a:lnTo>
                    <a:pt x="1680" y="522"/>
                  </a:lnTo>
                  <a:lnTo>
                    <a:pt x="1680" y="516"/>
                  </a:lnTo>
                  <a:lnTo>
                    <a:pt x="1686" y="516"/>
                  </a:lnTo>
                  <a:lnTo>
                    <a:pt x="1686" y="522"/>
                  </a:lnTo>
                  <a:lnTo>
                    <a:pt x="1692" y="522"/>
                  </a:lnTo>
                  <a:lnTo>
                    <a:pt x="1692" y="528"/>
                  </a:lnTo>
                  <a:lnTo>
                    <a:pt x="1698" y="528"/>
                  </a:lnTo>
                  <a:lnTo>
                    <a:pt x="1704" y="528"/>
                  </a:lnTo>
                  <a:lnTo>
                    <a:pt x="1704" y="534"/>
                  </a:lnTo>
                  <a:lnTo>
                    <a:pt x="1710" y="534"/>
                  </a:lnTo>
                  <a:lnTo>
                    <a:pt x="1710" y="540"/>
                  </a:lnTo>
                  <a:lnTo>
                    <a:pt x="1716" y="540"/>
                  </a:lnTo>
                  <a:lnTo>
                    <a:pt x="1716" y="546"/>
                  </a:lnTo>
                  <a:lnTo>
                    <a:pt x="1722" y="546"/>
                  </a:lnTo>
                  <a:lnTo>
                    <a:pt x="1722" y="552"/>
                  </a:lnTo>
                  <a:lnTo>
                    <a:pt x="1728" y="558"/>
                  </a:lnTo>
                  <a:lnTo>
                    <a:pt x="1734" y="564"/>
                  </a:lnTo>
                  <a:lnTo>
                    <a:pt x="1740" y="564"/>
                  </a:lnTo>
                  <a:lnTo>
                    <a:pt x="1740" y="570"/>
                  </a:lnTo>
                  <a:lnTo>
                    <a:pt x="1746" y="576"/>
                  </a:lnTo>
                  <a:lnTo>
                    <a:pt x="1746" y="582"/>
                  </a:lnTo>
                  <a:lnTo>
                    <a:pt x="1752" y="588"/>
                  </a:lnTo>
                  <a:lnTo>
                    <a:pt x="1752" y="594"/>
                  </a:lnTo>
                  <a:lnTo>
                    <a:pt x="1752" y="600"/>
                  </a:lnTo>
                  <a:lnTo>
                    <a:pt x="1746" y="600"/>
                  </a:lnTo>
                  <a:lnTo>
                    <a:pt x="1746" y="606"/>
                  </a:lnTo>
                  <a:lnTo>
                    <a:pt x="1746" y="612"/>
                  </a:lnTo>
                  <a:lnTo>
                    <a:pt x="1752" y="618"/>
                  </a:lnTo>
                  <a:lnTo>
                    <a:pt x="1752" y="624"/>
                  </a:lnTo>
                  <a:lnTo>
                    <a:pt x="1752" y="630"/>
                  </a:lnTo>
                  <a:lnTo>
                    <a:pt x="1752" y="636"/>
                  </a:lnTo>
                  <a:lnTo>
                    <a:pt x="1752" y="630"/>
                  </a:lnTo>
                  <a:lnTo>
                    <a:pt x="1746" y="630"/>
                  </a:lnTo>
                  <a:lnTo>
                    <a:pt x="1746" y="636"/>
                  </a:lnTo>
                  <a:lnTo>
                    <a:pt x="1740" y="636"/>
                  </a:lnTo>
                  <a:lnTo>
                    <a:pt x="1734" y="636"/>
                  </a:lnTo>
                  <a:lnTo>
                    <a:pt x="1728" y="636"/>
                  </a:lnTo>
                  <a:lnTo>
                    <a:pt x="1722" y="636"/>
                  </a:lnTo>
                  <a:lnTo>
                    <a:pt x="1722" y="630"/>
                  </a:lnTo>
                  <a:lnTo>
                    <a:pt x="1716" y="630"/>
                  </a:lnTo>
                  <a:lnTo>
                    <a:pt x="1710" y="630"/>
                  </a:lnTo>
                  <a:lnTo>
                    <a:pt x="1704" y="630"/>
                  </a:lnTo>
                  <a:lnTo>
                    <a:pt x="1698" y="630"/>
                  </a:lnTo>
                  <a:lnTo>
                    <a:pt x="1698" y="624"/>
                  </a:lnTo>
                  <a:lnTo>
                    <a:pt x="1692" y="624"/>
                  </a:lnTo>
                  <a:lnTo>
                    <a:pt x="1686" y="624"/>
                  </a:lnTo>
                  <a:lnTo>
                    <a:pt x="1680" y="624"/>
                  </a:lnTo>
                  <a:lnTo>
                    <a:pt x="1674" y="624"/>
                  </a:lnTo>
                  <a:lnTo>
                    <a:pt x="1668" y="618"/>
                  </a:lnTo>
                  <a:lnTo>
                    <a:pt x="1662" y="618"/>
                  </a:lnTo>
                  <a:lnTo>
                    <a:pt x="1656" y="618"/>
                  </a:lnTo>
                  <a:lnTo>
                    <a:pt x="1650" y="618"/>
                  </a:lnTo>
                  <a:lnTo>
                    <a:pt x="1650" y="612"/>
                  </a:lnTo>
                  <a:lnTo>
                    <a:pt x="1644" y="612"/>
                  </a:lnTo>
                  <a:lnTo>
                    <a:pt x="1644" y="606"/>
                  </a:lnTo>
                  <a:lnTo>
                    <a:pt x="1638" y="606"/>
                  </a:lnTo>
                  <a:lnTo>
                    <a:pt x="1632" y="606"/>
                  </a:lnTo>
                  <a:lnTo>
                    <a:pt x="1632" y="600"/>
                  </a:lnTo>
                  <a:lnTo>
                    <a:pt x="1626" y="600"/>
                  </a:lnTo>
                  <a:lnTo>
                    <a:pt x="1620" y="600"/>
                  </a:lnTo>
                  <a:lnTo>
                    <a:pt x="1614" y="600"/>
                  </a:lnTo>
                  <a:lnTo>
                    <a:pt x="1608" y="600"/>
                  </a:lnTo>
                  <a:lnTo>
                    <a:pt x="1602" y="600"/>
                  </a:lnTo>
                  <a:lnTo>
                    <a:pt x="1602" y="606"/>
                  </a:lnTo>
                  <a:lnTo>
                    <a:pt x="1596" y="606"/>
                  </a:lnTo>
                  <a:lnTo>
                    <a:pt x="1590" y="612"/>
                  </a:lnTo>
                  <a:lnTo>
                    <a:pt x="1584" y="612"/>
                  </a:lnTo>
                  <a:lnTo>
                    <a:pt x="1578" y="606"/>
                  </a:lnTo>
                  <a:lnTo>
                    <a:pt x="1578" y="600"/>
                  </a:lnTo>
                  <a:close/>
                  <a:moveTo>
                    <a:pt x="1596" y="474"/>
                  </a:moveTo>
                  <a:lnTo>
                    <a:pt x="1596" y="468"/>
                  </a:lnTo>
                  <a:lnTo>
                    <a:pt x="1602" y="468"/>
                  </a:lnTo>
                  <a:lnTo>
                    <a:pt x="1602" y="462"/>
                  </a:lnTo>
                  <a:lnTo>
                    <a:pt x="1608" y="462"/>
                  </a:lnTo>
                  <a:lnTo>
                    <a:pt x="1614" y="462"/>
                  </a:lnTo>
                  <a:lnTo>
                    <a:pt x="1620" y="462"/>
                  </a:lnTo>
                  <a:lnTo>
                    <a:pt x="1626" y="456"/>
                  </a:lnTo>
                  <a:lnTo>
                    <a:pt x="1626" y="462"/>
                  </a:lnTo>
                  <a:lnTo>
                    <a:pt x="1632" y="462"/>
                  </a:lnTo>
                  <a:lnTo>
                    <a:pt x="1638" y="462"/>
                  </a:lnTo>
                  <a:lnTo>
                    <a:pt x="1638" y="468"/>
                  </a:lnTo>
                  <a:lnTo>
                    <a:pt x="1638" y="474"/>
                  </a:lnTo>
                  <a:lnTo>
                    <a:pt x="1638" y="480"/>
                  </a:lnTo>
                  <a:lnTo>
                    <a:pt x="1638" y="486"/>
                  </a:lnTo>
                  <a:lnTo>
                    <a:pt x="1638" y="492"/>
                  </a:lnTo>
                  <a:lnTo>
                    <a:pt x="1638" y="498"/>
                  </a:lnTo>
                  <a:lnTo>
                    <a:pt x="1638" y="504"/>
                  </a:lnTo>
                  <a:lnTo>
                    <a:pt x="1632" y="504"/>
                  </a:lnTo>
                  <a:lnTo>
                    <a:pt x="1632" y="510"/>
                  </a:lnTo>
                  <a:lnTo>
                    <a:pt x="1626" y="510"/>
                  </a:lnTo>
                  <a:lnTo>
                    <a:pt x="1620" y="510"/>
                  </a:lnTo>
                  <a:lnTo>
                    <a:pt x="1620" y="516"/>
                  </a:lnTo>
                  <a:lnTo>
                    <a:pt x="1614" y="516"/>
                  </a:lnTo>
                  <a:lnTo>
                    <a:pt x="1614" y="522"/>
                  </a:lnTo>
                  <a:lnTo>
                    <a:pt x="1620" y="522"/>
                  </a:lnTo>
                  <a:lnTo>
                    <a:pt x="1614" y="522"/>
                  </a:lnTo>
                  <a:lnTo>
                    <a:pt x="1608" y="516"/>
                  </a:lnTo>
                  <a:lnTo>
                    <a:pt x="1602" y="504"/>
                  </a:lnTo>
                  <a:lnTo>
                    <a:pt x="1602" y="498"/>
                  </a:lnTo>
                  <a:lnTo>
                    <a:pt x="1596" y="498"/>
                  </a:lnTo>
                  <a:lnTo>
                    <a:pt x="1596" y="492"/>
                  </a:lnTo>
                  <a:lnTo>
                    <a:pt x="1596" y="486"/>
                  </a:lnTo>
                  <a:lnTo>
                    <a:pt x="1596" y="480"/>
                  </a:lnTo>
                  <a:lnTo>
                    <a:pt x="1596" y="474"/>
                  </a:lnTo>
                  <a:close/>
                  <a:moveTo>
                    <a:pt x="1380" y="252"/>
                  </a:moveTo>
                  <a:lnTo>
                    <a:pt x="1386" y="252"/>
                  </a:lnTo>
                  <a:lnTo>
                    <a:pt x="1386" y="246"/>
                  </a:lnTo>
                  <a:lnTo>
                    <a:pt x="1386" y="240"/>
                  </a:lnTo>
                  <a:lnTo>
                    <a:pt x="1386" y="234"/>
                  </a:lnTo>
                  <a:lnTo>
                    <a:pt x="1386" y="228"/>
                  </a:lnTo>
                  <a:lnTo>
                    <a:pt x="1386" y="222"/>
                  </a:lnTo>
                  <a:lnTo>
                    <a:pt x="1386" y="216"/>
                  </a:lnTo>
                  <a:lnTo>
                    <a:pt x="1386" y="210"/>
                  </a:lnTo>
                  <a:lnTo>
                    <a:pt x="1386" y="204"/>
                  </a:lnTo>
                  <a:lnTo>
                    <a:pt x="1386" y="198"/>
                  </a:lnTo>
                  <a:lnTo>
                    <a:pt x="1392" y="198"/>
                  </a:lnTo>
                  <a:lnTo>
                    <a:pt x="1392" y="192"/>
                  </a:lnTo>
                  <a:lnTo>
                    <a:pt x="1392" y="186"/>
                  </a:lnTo>
                  <a:lnTo>
                    <a:pt x="1392" y="180"/>
                  </a:lnTo>
                  <a:lnTo>
                    <a:pt x="1392" y="174"/>
                  </a:lnTo>
                  <a:lnTo>
                    <a:pt x="1392" y="180"/>
                  </a:lnTo>
                  <a:lnTo>
                    <a:pt x="1398" y="186"/>
                  </a:lnTo>
                  <a:lnTo>
                    <a:pt x="1392" y="186"/>
                  </a:lnTo>
                  <a:lnTo>
                    <a:pt x="1398" y="192"/>
                  </a:lnTo>
                  <a:lnTo>
                    <a:pt x="1398" y="198"/>
                  </a:lnTo>
                  <a:lnTo>
                    <a:pt x="1398" y="204"/>
                  </a:lnTo>
                  <a:lnTo>
                    <a:pt x="1404" y="210"/>
                  </a:lnTo>
                  <a:lnTo>
                    <a:pt x="1404" y="216"/>
                  </a:lnTo>
                  <a:lnTo>
                    <a:pt x="1410" y="216"/>
                  </a:lnTo>
                  <a:lnTo>
                    <a:pt x="1410" y="222"/>
                  </a:lnTo>
                  <a:lnTo>
                    <a:pt x="1416" y="222"/>
                  </a:lnTo>
                  <a:lnTo>
                    <a:pt x="1410" y="228"/>
                  </a:lnTo>
                  <a:lnTo>
                    <a:pt x="1410" y="234"/>
                  </a:lnTo>
                  <a:lnTo>
                    <a:pt x="1410" y="240"/>
                  </a:lnTo>
                  <a:lnTo>
                    <a:pt x="1404" y="240"/>
                  </a:lnTo>
                  <a:lnTo>
                    <a:pt x="1404" y="246"/>
                  </a:lnTo>
                  <a:lnTo>
                    <a:pt x="1404" y="252"/>
                  </a:lnTo>
                  <a:lnTo>
                    <a:pt x="1410" y="252"/>
                  </a:lnTo>
                  <a:lnTo>
                    <a:pt x="1404" y="258"/>
                  </a:lnTo>
                  <a:lnTo>
                    <a:pt x="1404" y="264"/>
                  </a:lnTo>
                  <a:lnTo>
                    <a:pt x="1398" y="264"/>
                  </a:lnTo>
                  <a:lnTo>
                    <a:pt x="1398" y="270"/>
                  </a:lnTo>
                  <a:lnTo>
                    <a:pt x="1392" y="270"/>
                  </a:lnTo>
                  <a:lnTo>
                    <a:pt x="1386" y="270"/>
                  </a:lnTo>
                  <a:lnTo>
                    <a:pt x="1386" y="264"/>
                  </a:lnTo>
                  <a:lnTo>
                    <a:pt x="1380" y="264"/>
                  </a:lnTo>
                  <a:lnTo>
                    <a:pt x="1380" y="258"/>
                  </a:lnTo>
                  <a:lnTo>
                    <a:pt x="1380" y="252"/>
                  </a:lnTo>
                  <a:close/>
                  <a:moveTo>
                    <a:pt x="1380" y="462"/>
                  </a:moveTo>
                  <a:lnTo>
                    <a:pt x="1380" y="468"/>
                  </a:lnTo>
                  <a:lnTo>
                    <a:pt x="1386" y="468"/>
                  </a:lnTo>
                  <a:lnTo>
                    <a:pt x="1392" y="468"/>
                  </a:lnTo>
                  <a:lnTo>
                    <a:pt x="1392" y="474"/>
                  </a:lnTo>
                  <a:lnTo>
                    <a:pt x="1398" y="480"/>
                  </a:lnTo>
                  <a:lnTo>
                    <a:pt x="1398" y="486"/>
                  </a:lnTo>
                  <a:lnTo>
                    <a:pt x="1404" y="486"/>
                  </a:lnTo>
                  <a:lnTo>
                    <a:pt x="1404" y="492"/>
                  </a:lnTo>
                  <a:lnTo>
                    <a:pt x="1410" y="492"/>
                  </a:lnTo>
                  <a:lnTo>
                    <a:pt x="1410" y="498"/>
                  </a:lnTo>
                  <a:lnTo>
                    <a:pt x="1410" y="504"/>
                  </a:lnTo>
                  <a:lnTo>
                    <a:pt x="1416" y="504"/>
                  </a:lnTo>
                  <a:lnTo>
                    <a:pt x="1416" y="510"/>
                  </a:lnTo>
                  <a:lnTo>
                    <a:pt x="1422" y="516"/>
                  </a:lnTo>
                  <a:lnTo>
                    <a:pt x="1416" y="522"/>
                  </a:lnTo>
                  <a:lnTo>
                    <a:pt x="1410" y="522"/>
                  </a:lnTo>
                  <a:lnTo>
                    <a:pt x="1410" y="516"/>
                  </a:lnTo>
                  <a:lnTo>
                    <a:pt x="1410" y="510"/>
                  </a:lnTo>
                  <a:lnTo>
                    <a:pt x="1404" y="510"/>
                  </a:lnTo>
                  <a:lnTo>
                    <a:pt x="1404" y="504"/>
                  </a:lnTo>
                  <a:lnTo>
                    <a:pt x="1398" y="504"/>
                  </a:lnTo>
                  <a:lnTo>
                    <a:pt x="1398" y="498"/>
                  </a:lnTo>
                  <a:lnTo>
                    <a:pt x="1392" y="498"/>
                  </a:lnTo>
                  <a:lnTo>
                    <a:pt x="1392" y="492"/>
                  </a:lnTo>
                  <a:lnTo>
                    <a:pt x="1392" y="486"/>
                  </a:lnTo>
                  <a:lnTo>
                    <a:pt x="1386" y="486"/>
                  </a:lnTo>
                  <a:lnTo>
                    <a:pt x="1386" y="480"/>
                  </a:lnTo>
                  <a:lnTo>
                    <a:pt x="1386" y="474"/>
                  </a:lnTo>
                  <a:lnTo>
                    <a:pt x="1386" y="480"/>
                  </a:lnTo>
                  <a:lnTo>
                    <a:pt x="1380" y="480"/>
                  </a:lnTo>
                  <a:lnTo>
                    <a:pt x="1380" y="474"/>
                  </a:lnTo>
                  <a:lnTo>
                    <a:pt x="1380" y="468"/>
                  </a:lnTo>
                  <a:lnTo>
                    <a:pt x="1380" y="462"/>
                  </a:lnTo>
                  <a:close/>
                  <a:moveTo>
                    <a:pt x="2010" y="30"/>
                  </a:moveTo>
                  <a:lnTo>
                    <a:pt x="2010" y="24"/>
                  </a:lnTo>
                  <a:lnTo>
                    <a:pt x="2004" y="24"/>
                  </a:lnTo>
                  <a:lnTo>
                    <a:pt x="1998" y="24"/>
                  </a:lnTo>
                  <a:lnTo>
                    <a:pt x="1992" y="24"/>
                  </a:lnTo>
                  <a:lnTo>
                    <a:pt x="1986" y="24"/>
                  </a:lnTo>
                  <a:lnTo>
                    <a:pt x="1980" y="24"/>
                  </a:lnTo>
                  <a:lnTo>
                    <a:pt x="1980" y="30"/>
                  </a:lnTo>
                  <a:lnTo>
                    <a:pt x="1974" y="24"/>
                  </a:lnTo>
                  <a:lnTo>
                    <a:pt x="1980" y="24"/>
                  </a:lnTo>
                  <a:lnTo>
                    <a:pt x="1980" y="18"/>
                  </a:lnTo>
                  <a:lnTo>
                    <a:pt x="1986" y="18"/>
                  </a:lnTo>
                  <a:lnTo>
                    <a:pt x="1992" y="12"/>
                  </a:lnTo>
                  <a:lnTo>
                    <a:pt x="1998" y="6"/>
                  </a:lnTo>
                  <a:lnTo>
                    <a:pt x="2004" y="6"/>
                  </a:lnTo>
                  <a:lnTo>
                    <a:pt x="2010" y="6"/>
                  </a:lnTo>
                  <a:lnTo>
                    <a:pt x="2016" y="6"/>
                  </a:lnTo>
                  <a:lnTo>
                    <a:pt x="2022" y="6"/>
                  </a:lnTo>
                  <a:lnTo>
                    <a:pt x="2022" y="0"/>
                  </a:lnTo>
                  <a:lnTo>
                    <a:pt x="2022" y="6"/>
                  </a:lnTo>
                  <a:lnTo>
                    <a:pt x="2016" y="6"/>
                  </a:lnTo>
                  <a:lnTo>
                    <a:pt x="2016" y="12"/>
                  </a:lnTo>
                  <a:lnTo>
                    <a:pt x="2010" y="12"/>
                  </a:lnTo>
                  <a:lnTo>
                    <a:pt x="2010" y="18"/>
                  </a:lnTo>
                  <a:lnTo>
                    <a:pt x="2010" y="24"/>
                  </a:lnTo>
                  <a:lnTo>
                    <a:pt x="2010" y="30"/>
                  </a:lnTo>
                  <a:close/>
                </a:path>
              </a:pathLst>
            </a:custGeom>
            <a:solidFill>
              <a:schemeClr val="accent1"/>
            </a:solidFill>
            <a:ln w="9525">
              <a:solidFill>
                <a:srgbClr val="B2B2B2"/>
              </a:solidFill>
              <a:round/>
              <a:headEnd/>
              <a:tailEnd/>
            </a:ln>
          </p:spPr>
          <p:txBody>
            <a:bodyPr/>
            <a:lstStyle/>
            <a:p>
              <a:endParaRPr lang="en-CA"/>
            </a:p>
          </p:txBody>
        </p:sp>
        <p:sp>
          <p:nvSpPr>
            <p:cNvPr id="451" name="Freeform 510"/>
            <p:cNvSpPr>
              <a:spLocks/>
            </p:cNvSpPr>
            <p:nvPr>
              <p:custDataLst>
                <p:tags r:id="rId74"/>
              </p:custDataLst>
            </p:nvPr>
          </p:nvSpPr>
          <p:spPr bwMode="gray">
            <a:xfrm>
              <a:off x="2551" y="2538"/>
              <a:ext cx="668" cy="714"/>
            </a:xfrm>
            <a:custGeom>
              <a:avLst/>
              <a:gdLst>
                <a:gd name="T0" fmla="*/ 99494697 w 1074"/>
                <a:gd name="T1" fmla="*/ 957580648 h 1146"/>
                <a:gd name="T2" fmla="*/ 35116298 w 1074"/>
                <a:gd name="T3" fmla="*/ 916457068 h 1146"/>
                <a:gd name="T4" fmla="*/ 11705433 w 1074"/>
                <a:gd name="T5" fmla="*/ 875334476 h 1146"/>
                <a:gd name="T6" fmla="*/ 40968521 w 1074"/>
                <a:gd name="T7" fmla="*/ 851835146 h 1146"/>
                <a:gd name="T8" fmla="*/ 52673954 w 1074"/>
                <a:gd name="T9" fmla="*/ 793088303 h 1146"/>
                <a:gd name="T10" fmla="*/ 76084819 w 1074"/>
                <a:gd name="T11" fmla="*/ 746090632 h 1146"/>
                <a:gd name="T12" fmla="*/ 93642474 w 1074"/>
                <a:gd name="T13" fmla="*/ 687342801 h 1146"/>
                <a:gd name="T14" fmla="*/ 81937042 w 1074"/>
                <a:gd name="T15" fmla="*/ 663844459 h 1146"/>
                <a:gd name="T16" fmla="*/ 169726306 w 1074"/>
                <a:gd name="T17" fmla="*/ 605096628 h 1146"/>
                <a:gd name="T18" fmla="*/ 210694827 w 1074"/>
                <a:gd name="T19" fmla="*/ 610971708 h 1146"/>
                <a:gd name="T20" fmla="*/ 234105692 w 1074"/>
                <a:gd name="T21" fmla="*/ 616846788 h 1146"/>
                <a:gd name="T22" fmla="*/ 269221991 w 1074"/>
                <a:gd name="T23" fmla="*/ 563974037 h 1146"/>
                <a:gd name="T24" fmla="*/ 310189524 w 1074"/>
                <a:gd name="T25" fmla="*/ 528725536 h 1146"/>
                <a:gd name="T26" fmla="*/ 339453600 w 1074"/>
                <a:gd name="T27" fmla="*/ 481727864 h 1146"/>
                <a:gd name="T28" fmla="*/ 374568910 w 1074"/>
                <a:gd name="T29" fmla="*/ 511101285 h 1146"/>
                <a:gd name="T30" fmla="*/ 403831999 w 1074"/>
                <a:gd name="T31" fmla="*/ 534600615 h 1146"/>
                <a:gd name="T32" fmla="*/ 427242864 w 1074"/>
                <a:gd name="T33" fmla="*/ 469977704 h 1146"/>
                <a:gd name="T34" fmla="*/ 415537431 w 1074"/>
                <a:gd name="T35" fmla="*/ 428855113 h 1146"/>
                <a:gd name="T36" fmla="*/ 438948297 w 1074"/>
                <a:gd name="T37" fmla="*/ 393606612 h 1146"/>
                <a:gd name="T38" fmla="*/ 397979776 w 1074"/>
                <a:gd name="T39" fmla="*/ 352484020 h 1146"/>
                <a:gd name="T40" fmla="*/ 415537431 w 1074"/>
                <a:gd name="T41" fmla="*/ 305485359 h 1146"/>
                <a:gd name="T42" fmla="*/ 456505952 w 1074"/>
                <a:gd name="T43" fmla="*/ 246738517 h 1146"/>
                <a:gd name="T44" fmla="*/ 491622250 w 1074"/>
                <a:gd name="T45" fmla="*/ 182116595 h 1146"/>
                <a:gd name="T46" fmla="*/ 462358175 w 1074"/>
                <a:gd name="T47" fmla="*/ 135118924 h 1146"/>
                <a:gd name="T48" fmla="*/ 485769040 w 1074"/>
                <a:gd name="T49" fmla="*/ 70497002 h 1146"/>
                <a:gd name="T50" fmla="*/ 491622250 w 1074"/>
                <a:gd name="T51" fmla="*/ 29373421 h 1146"/>
                <a:gd name="T52" fmla="*/ 526737561 w 1074"/>
                <a:gd name="T53" fmla="*/ 41123581 h 1146"/>
                <a:gd name="T54" fmla="*/ 561853859 w 1074"/>
                <a:gd name="T55" fmla="*/ 0 h 1146"/>
                <a:gd name="T56" fmla="*/ 585263737 w 1074"/>
                <a:gd name="T57" fmla="*/ 70497002 h 1146"/>
                <a:gd name="T58" fmla="*/ 614527813 w 1074"/>
                <a:gd name="T59" fmla="*/ 111619594 h 1146"/>
                <a:gd name="T60" fmla="*/ 614527813 w 1074"/>
                <a:gd name="T61" fmla="*/ 170367425 h 1146"/>
                <a:gd name="T62" fmla="*/ 626232258 w 1074"/>
                <a:gd name="T63" fmla="*/ 240863438 h 1146"/>
                <a:gd name="T64" fmla="*/ 626232258 w 1074"/>
                <a:gd name="T65" fmla="*/ 281987018 h 1146"/>
                <a:gd name="T66" fmla="*/ 649643124 w 1074"/>
                <a:gd name="T67" fmla="*/ 358358111 h 1146"/>
                <a:gd name="T68" fmla="*/ 626232258 w 1074"/>
                <a:gd name="T69" fmla="*/ 393606612 h 1146"/>
                <a:gd name="T70" fmla="*/ 626232258 w 1074"/>
                <a:gd name="T71" fmla="*/ 493477035 h 1146"/>
                <a:gd name="T72" fmla="*/ 678906212 w 1074"/>
                <a:gd name="T73" fmla="*/ 469977704 h 1146"/>
                <a:gd name="T74" fmla="*/ 743285598 w 1074"/>
                <a:gd name="T75" fmla="*/ 458228534 h 1146"/>
                <a:gd name="T76" fmla="*/ 790106342 w 1074"/>
                <a:gd name="T77" fmla="*/ 487601955 h 1146"/>
                <a:gd name="T78" fmla="*/ 842780295 w 1074"/>
                <a:gd name="T79" fmla="*/ 399481692 h 1146"/>
                <a:gd name="T80" fmla="*/ 936422770 w 1074"/>
                <a:gd name="T81" fmla="*/ 381857441 h 1146"/>
                <a:gd name="T82" fmla="*/ 959832648 w 1074"/>
                <a:gd name="T83" fmla="*/ 446479363 h 1146"/>
                <a:gd name="T84" fmla="*/ 1030065244 w 1074"/>
                <a:gd name="T85" fmla="*/ 475852784 h 1146"/>
                <a:gd name="T86" fmla="*/ 1047622899 w 1074"/>
                <a:gd name="T87" fmla="*/ 563974037 h 1146"/>
                <a:gd name="T88" fmla="*/ 977391291 w 1074"/>
                <a:gd name="T89" fmla="*/ 563974037 h 1146"/>
                <a:gd name="T90" fmla="*/ 977391291 w 1074"/>
                <a:gd name="T91" fmla="*/ 646220209 h 1146"/>
                <a:gd name="T92" fmla="*/ 930569560 w 1074"/>
                <a:gd name="T93" fmla="*/ 687342801 h 1146"/>
                <a:gd name="T94" fmla="*/ 860337951 w 1074"/>
                <a:gd name="T95" fmla="*/ 675593630 h 1146"/>
                <a:gd name="T96" fmla="*/ 807663997 w 1074"/>
                <a:gd name="T97" fmla="*/ 704967051 h 1146"/>
                <a:gd name="T98" fmla="*/ 754991031 w 1074"/>
                <a:gd name="T99" fmla="*/ 675593630 h 1146"/>
                <a:gd name="T100" fmla="*/ 696463867 w 1074"/>
                <a:gd name="T101" fmla="*/ 675593630 h 1146"/>
                <a:gd name="T102" fmla="*/ 637937691 w 1074"/>
                <a:gd name="T103" fmla="*/ 669718550 h 1146"/>
                <a:gd name="T104" fmla="*/ 591116947 w 1074"/>
                <a:gd name="T105" fmla="*/ 704967051 h 1146"/>
                <a:gd name="T106" fmla="*/ 602822380 w 1074"/>
                <a:gd name="T107" fmla="*/ 751964723 h 1146"/>
                <a:gd name="T108" fmla="*/ 585263737 w 1074"/>
                <a:gd name="T109" fmla="*/ 787213224 h 1146"/>
                <a:gd name="T110" fmla="*/ 579411515 w 1074"/>
                <a:gd name="T111" fmla="*/ 857710225 h 1146"/>
                <a:gd name="T112" fmla="*/ 415537431 w 1074"/>
                <a:gd name="T113" fmla="*/ 1080950402 h 1146"/>
                <a:gd name="T114" fmla="*/ 368716688 w 1074"/>
                <a:gd name="T115" fmla="*/ 1116197913 h 1146"/>
                <a:gd name="T116" fmla="*/ 333600390 w 1074"/>
                <a:gd name="T117" fmla="*/ 1069200242 h 1146"/>
                <a:gd name="T118" fmla="*/ 286779646 w 1074"/>
                <a:gd name="T119" fmla="*/ 1039826821 h 1146"/>
                <a:gd name="T120" fmla="*/ 239957915 w 1074"/>
                <a:gd name="T121" fmla="*/ 998703240 h 1146"/>
                <a:gd name="T122" fmla="*/ 193137172 w 1074"/>
                <a:gd name="T123" fmla="*/ 957580648 h 11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74"/>
                <a:gd name="T187" fmla="*/ 0 h 1146"/>
                <a:gd name="T188" fmla="*/ 1074 w 1074"/>
                <a:gd name="T189" fmla="*/ 1146 h 11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74" h="1146">
                  <a:moveTo>
                    <a:pt x="162" y="1008"/>
                  </a:moveTo>
                  <a:lnTo>
                    <a:pt x="156" y="1008"/>
                  </a:lnTo>
                  <a:lnTo>
                    <a:pt x="150" y="1002"/>
                  </a:lnTo>
                  <a:lnTo>
                    <a:pt x="156" y="996"/>
                  </a:lnTo>
                  <a:lnTo>
                    <a:pt x="150" y="996"/>
                  </a:lnTo>
                  <a:lnTo>
                    <a:pt x="144" y="996"/>
                  </a:lnTo>
                  <a:lnTo>
                    <a:pt x="138" y="996"/>
                  </a:lnTo>
                  <a:lnTo>
                    <a:pt x="126" y="996"/>
                  </a:lnTo>
                  <a:lnTo>
                    <a:pt x="120" y="996"/>
                  </a:lnTo>
                  <a:lnTo>
                    <a:pt x="120" y="990"/>
                  </a:lnTo>
                  <a:lnTo>
                    <a:pt x="114" y="984"/>
                  </a:lnTo>
                  <a:lnTo>
                    <a:pt x="114" y="990"/>
                  </a:lnTo>
                  <a:lnTo>
                    <a:pt x="108" y="984"/>
                  </a:lnTo>
                  <a:lnTo>
                    <a:pt x="108" y="978"/>
                  </a:lnTo>
                  <a:lnTo>
                    <a:pt x="102" y="978"/>
                  </a:lnTo>
                  <a:lnTo>
                    <a:pt x="96" y="978"/>
                  </a:lnTo>
                  <a:lnTo>
                    <a:pt x="90" y="978"/>
                  </a:lnTo>
                  <a:lnTo>
                    <a:pt x="90" y="972"/>
                  </a:lnTo>
                  <a:lnTo>
                    <a:pt x="84" y="972"/>
                  </a:lnTo>
                  <a:lnTo>
                    <a:pt x="78" y="966"/>
                  </a:lnTo>
                  <a:lnTo>
                    <a:pt x="72" y="960"/>
                  </a:lnTo>
                  <a:lnTo>
                    <a:pt x="66" y="960"/>
                  </a:lnTo>
                  <a:lnTo>
                    <a:pt x="66" y="954"/>
                  </a:lnTo>
                  <a:lnTo>
                    <a:pt x="60" y="954"/>
                  </a:lnTo>
                  <a:lnTo>
                    <a:pt x="54" y="954"/>
                  </a:lnTo>
                  <a:lnTo>
                    <a:pt x="48" y="954"/>
                  </a:lnTo>
                  <a:lnTo>
                    <a:pt x="42" y="948"/>
                  </a:lnTo>
                  <a:lnTo>
                    <a:pt x="36" y="948"/>
                  </a:lnTo>
                  <a:lnTo>
                    <a:pt x="36" y="942"/>
                  </a:lnTo>
                  <a:lnTo>
                    <a:pt x="36" y="936"/>
                  </a:lnTo>
                  <a:lnTo>
                    <a:pt x="30" y="936"/>
                  </a:lnTo>
                  <a:lnTo>
                    <a:pt x="30" y="930"/>
                  </a:lnTo>
                  <a:lnTo>
                    <a:pt x="24" y="930"/>
                  </a:lnTo>
                  <a:lnTo>
                    <a:pt x="18" y="924"/>
                  </a:lnTo>
                  <a:lnTo>
                    <a:pt x="18" y="918"/>
                  </a:lnTo>
                  <a:lnTo>
                    <a:pt x="12" y="918"/>
                  </a:lnTo>
                  <a:lnTo>
                    <a:pt x="12" y="912"/>
                  </a:lnTo>
                  <a:lnTo>
                    <a:pt x="12" y="906"/>
                  </a:lnTo>
                  <a:lnTo>
                    <a:pt x="6" y="906"/>
                  </a:lnTo>
                  <a:lnTo>
                    <a:pt x="0" y="906"/>
                  </a:lnTo>
                  <a:lnTo>
                    <a:pt x="0" y="900"/>
                  </a:lnTo>
                  <a:lnTo>
                    <a:pt x="0" y="894"/>
                  </a:lnTo>
                  <a:lnTo>
                    <a:pt x="6" y="888"/>
                  </a:lnTo>
                  <a:lnTo>
                    <a:pt x="12" y="888"/>
                  </a:lnTo>
                  <a:lnTo>
                    <a:pt x="12" y="894"/>
                  </a:lnTo>
                  <a:lnTo>
                    <a:pt x="12" y="900"/>
                  </a:lnTo>
                  <a:lnTo>
                    <a:pt x="12" y="894"/>
                  </a:lnTo>
                  <a:lnTo>
                    <a:pt x="18" y="894"/>
                  </a:lnTo>
                  <a:lnTo>
                    <a:pt x="12" y="894"/>
                  </a:lnTo>
                  <a:lnTo>
                    <a:pt x="18" y="894"/>
                  </a:lnTo>
                  <a:lnTo>
                    <a:pt x="18" y="888"/>
                  </a:lnTo>
                  <a:lnTo>
                    <a:pt x="18" y="882"/>
                  </a:lnTo>
                  <a:lnTo>
                    <a:pt x="24" y="882"/>
                  </a:lnTo>
                  <a:lnTo>
                    <a:pt x="24" y="888"/>
                  </a:lnTo>
                  <a:lnTo>
                    <a:pt x="30" y="888"/>
                  </a:lnTo>
                  <a:lnTo>
                    <a:pt x="30" y="882"/>
                  </a:lnTo>
                  <a:lnTo>
                    <a:pt x="36" y="882"/>
                  </a:lnTo>
                  <a:lnTo>
                    <a:pt x="42" y="882"/>
                  </a:lnTo>
                  <a:lnTo>
                    <a:pt x="42" y="876"/>
                  </a:lnTo>
                  <a:lnTo>
                    <a:pt x="42" y="870"/>
                  </a:lnTo>
                  <a:lnTo>
                    <a:pt x="42" y="864"/>
                  </a:lnTo>
                  <a:lnTo>
                    <a:pt x="48" y="864"/>
                  </a:lnTo>
                  <a:lnTo>
                    <a:pt x="48" y="858"/>
                  </a:lnTo>
                  <a:lnTo>
                    <a:pt x="48" y="852"/>
                  </a:lnTo>
                  <a:lnTo>
                    <a:pt x="48" y="846"/>
                  </a:lnTo>
                  <a:lnTo>
                    <a:pt x="42" y="840"/>
                  </a:lnTo>
                  <a:lnTo>
                    <a:pt x="48" y="840"/>
                  </a:lnTo>
                  <a:lnTo>
                    <a:pt x="48" y="834"/>
                  </a:lnTo>
                  <a:lnTo>
                    <a:pt x="48" y="828"/>
                  </a:lnTo>
                  <a:lnTo>
                    <a:pt x="48" y="822"/>
                  </a:lnTo>
                  <a:lnTo>
                    <a:pt x="54" y="822"/>
                  </a:lnTo>
                  <a:lnTo>
                    <a:pt x="60" y="822"/>
                  </a:lnTo>
                  <a:lnTo>
                    <a:pt x="60" y="816"/>
                  </a:lnTo>
                  <a:lnTo>
                    <a:pt x="60" y="810"/>
                  </a:lnTo>
                  <a:lnTo>
                    <a:pt x="54" y="810"/>
                  </a:lnTo>
                  <a:lnTo>
                    <a:pt x="54" y="804"/>
                  </a:lnTo>
                  <a:lnTo>
                    <a:pt x="54" y="798"/>
                  </a:lnTo>
                  <a:lnTo>
                    <a:pt x="60" y="798"/>
                  </a:lnTo>
                  <a:lnTo>
                    <a:pt x="54" y="792"/>
                  </a:lnTo>
                  <a:lnTo>
                    <a:pt x="54" y="786"/>
                  </a:lnTo>
                  <a:lnTo>
                    <a:pt x="54" y="780"/>
                  </a:lnTo>
                  <a:lnTo>
                    <a:pt x="60" y="780"/>
                  </a:lnTo>
                  <a:lnTo>
                    <a:pt x="60" y="774"/>
                  </a:lnTo>
                  <a:lnTo>
                    <a:pt x="66" y="780"/>
                  </a:lnTo>
                  <a:lnTo>
                    <a:pt x="66" y="774"/>
                  </a:lnTo>
                  <a:lnTo>
                    <a:pt x="66" y="768"/>
                  </a:lnTo>
                  <a:lnTo>
                    <a:pt x="66" y="762"/>
                  </a:lnTo>
                  <a:lnTo>
                    <a:pt x="72" y="756"/>
                  </a:lnTo>
                  <a:lnTo>
                    <a:pt x="78" y="756"/>
                  </a:lnTo>
                  <a:lnTo>
                    <a:pt x="78" y="762"/>
                  </a:lnTo>
                  <a:lnTo>
                    <a:pt x="84" y="756"/>
                  </a:lnTo>
                  <a:lnTo>
                    <a:pt x="84" y="750"/>
                  </a:lnTo>
                  <a:lnTo>
                    <a:pt x="90" y="750"/>
                  </a:lnTo>
                  <a:lnTo>
                    <a:pt x="90" y="744"/>
                  </a:lnTo>
                  <a:lnTo>
                    <a:pt x="90" y="738"/>
                  </a:lnTo>
                  <a:lnTo>
                    <a:pt x="90" y="732"/>
                  </a:lnTo>
                  <a:lnTo>
                    <a:pt x="102" y="732"/>
                  </a:lnTo>
                  <a:lnTo>
                    <a:pt x="102" y="720"/>
                  </a:lnTo>
                  <a:lnTo>
                    <a:pt x="96" y="720"/>
                  </a:lnTo>
                  <a:lnTo>
                    <a:pt x="96" y="714"/>
                  </a:lnTo>
                  <a:lnTo>
                    <a:pt x="96" y="708"/>
                  </a:lnTo>
                  <a:lnTo>
                    <a:pt x="102" y="702"/>
                  </a:lnTo>
                  <a:lnTo>
                    <a:pt x="96" y="702"/>
                  </a:lnTo>
                  <a:lnTo>
                    <a:pt x="102" y="702"/>
                  </a:lnTo>
                  <a:lnTo>
                    <a:pt x="96" y="702"/>
                  </a:lnTo>
                  <a:lnTo>
                    <a:pt x="96" y="696"/>
                  </a:lnTo>
                  <a:lnTo>
                    <a:pt x="96" y="702"/>
                  </a:lnTo>
                  <a:lnTo>
                    <a:pt x="90" y="702"/>
                  </a:lnTo>
                  <a:lnTo>
                    <a:pt x="84" y="696"/>
                  </a:lnTo>
                  <a:lnTo>
                    <a:pt x="84" y="690"/>
                  </a:lnTo>
                  <a:lnTo>
                    <a:pt x="90" y="690"/>
                  </a:lnTo>
                  <a:lnTo>
                    <a:pt x="96" y="690"/>
                  </a:lnTo>
                  <a:lnTo>
                    <a:pt x="90" y="690"/>
                  </a:lnTo>
                  <a:lnTo>
                    <a:pt x="96" y="690"/>
                  </a:lnTo>
                  <a:lnTo>
                    <a:pt x="90" y="690"/>
                  </a:lnTo>
                  <a:lnTo>
                    <a:pt x="90" y="684"/>
                  </a:lnTo>
                  <a:lnTo>
                    <a:pt x="90" y="690"/>
                  </a:lnTo>
                  <a:lnTo>
                    <a:pt x="84" y="690"/>
                  </a:lnTo>
                  <a:lnTo>
                    <a:pt x="84" y="684"/>
                  </a:lnTo>
                  <a:lnTo>
                    <a:pt x="84" y="678"/>
                  </a:lnTo>
                  <a:lnTo>
                    <a:pt x="108" y="612"/>
                  </a:lnTo>
                  <a:lnTo>
                    <a:pt x="108" y="618"/>
                  </a:lnTo>
                  <a:lnTo>
                    <a:pt x="114" y="618"/>
                  </a:lnTo>
                  <a:lnTo>
                    <a:pt x="120" y="618"/>
                  </a:lnTo>
                  <a:lnTo>
                    <a:pt x="126" y="618"/>
                  </a:lnTo>
                  <a:lnTo>
                    <a:pt x="132" y="618"/>
                  </a:lnTo>
                  <a:lnTo>
                    <a:pt x="138" y="618"/>
                  </a:lnTo>
                  <a:lnTo>
                    <a:pt x="144" y="618"/>
                  </a:lnTo>
                  <a:lnTo>
                    <a:pt x="150" y="618"/>
                  </a:lnTo>
                  <a:lnTo>
                    <a:pt x="150" y="624"/>
                  </a:lnTo>
                  <a:lnTo>
                    <a:pt x="156" y="624"/>
                  </a:lnTo>
                  <a:lnTo>
                    <a:pt x="156" y="618"/>
                  </a:lnTo>
                  <a:lnTo>
                    <a:pt x="162" y="618"/>
                  </a:lnTo>
                  <a:lnTo>
                    <a:pt x="168" y="618"/>
                  </a:lnTo>
                  <a:lnTo>
                    <a:pt x="174" y="618"/>
                  </a:lnTo>
                  <a:lnTo>
                    <a:pt x="180" y="618"/>
                  </a:lnTo>
                  <a:lnTo>
                    <a:pt x="180" y="612"/>
                  </a:lnTo>
                  <a:lnTo>
                    <a:pt x="180" y="606"/>
                  </a:lnTo>
                  <a:lnTo>
                    <a:pt x="186" y="606"/>
                  </a:lnTo>
                  <a:lnTo>
                    <a:pt x="186" y="600"/>
                  </a:lnTo>
                  <a:lnTo>
                    <a:pt x="186" y="594"/>
                  </a:lnTo>
                  <a:lnTo>
                    <a:pt x="192" y="594"/>
                  </a:lnTo>
                  <a:lnTo>
                    <a:pt x="198" y="594"/>
                  </a:lnTo>
                  <a:lnTo>
                    <a:pt x="204" y="594"/>
                  </a:lnTo>
                  <a:lnTo>
                    <a:pt x="204" y="600"/>
                  </a:lnTo>
                  <a:lnTo>
                    <a:pt x="204" y="606"/>
                  </a:lnTo>
                  <a:lnTo>
                    <a:pt x="210" y="606"/>
                  </a:lnTo>
                  <a:lnTo>
                    <a:pt x="210" y="612"/>
                  </a:lnTo>
                  <a:lnTo>
                    <a:pt x="216" y="618"/>
                  </a:lnTo>
                  <a:lnTo>
                    <a:pt x="216" y="624"/>
                  </a:lnTo>
                  <a:lnTo>
                    <a:pt x="222" y="630"/>
                  </a:lnTo>
                  <a:lnTo>
                    <a:pt x="216" y="630"/>
                  </a:lnTo>
                  <a:lnTo>
                    <a:pt x="222" y="630"/>
                  </a:lnTo>
                  <a:lnTo>
                    <a:pt x="222" y="636"/>
                  </a:lnTo>
                  <a:lnTo>
                    <a:pt x="222" y="642"/>
                  </a:lnTo>
                  <a:lnTo>
                    <a:pt x="228" y="642"/>
                  </a:lnTo>
                  <a:lnTo>
                    <a:pt x="234" y="648"/>
                  </a:lnTo>
                  <a:lnTo>
                    <a:pt x="240" y="648"/>
                  </a:lnTo>
                  <a:lnTo>
                    <a:pt x="246" y="648"/>
                  </a:lnTo>
                  <a:lnTo>
                    <a:pt x="246" y="642"/>
                  </a:lnTo>
                  <a:lnTo>
                    <a:pt x="246" y="636"/>
                  </a:lnTo>
                  <a:lnTo>
                    <a:pt x="240" y="636"/>
                  </a:lnTo>
                  <a:lnTo>
                    <a:pt x="246" y="636"/>
                  </a:lnTo>
                  <a:lnTo>
                    <a:pt x="240" y="636"/>
                  </a:lnTo>
                  <a:lnTo>
                    <a:pt x="240" y="630"/>
                  </a:lnTo>
                  <a:lnTo>
                    <a:pt x="240" y="624"/>
                  </a:lnTo>
                  <a:lnTo>
                    <a:pt x="240" y="618"/>
                  </a:lnTo>
                  <a:lnTo>
                    <a:pt x="240" y="612"/>
                  </a:lnTo>
                  <a:lnTo>
                    <a:pt x="246" y="612"/>
                  </a:lnTo>
                  <a:lnTo>
                    <a:pt x="252" y="612"/>
                  </a:lnTo>
                  <a:lnTo>
                    <a:pt x="246" y="606"/>
                  </a:lnTo>
                  <a:lnTo>
                    <a:pt x="252" y="600"/>
                  </a:lnTo>
                  <a:lnTo>
                    <a:pt x="258" y="600"/>
                  </a:lnTo>
                  <a:lnTo>
                    <a:pt x="252" y="594"/>
                  </a:lnTo>
                  <a:lnTo>
                    <a:pt x="252" y="588"/>
                  </a:lnTo>
                  <a:lnTo>
                    <a:pt x="258" y="582"/>
                  </a:lnTo>
                  <a:lnTo>
                    <a:pt x="264" y="582"/>
                  </a:lnTo>
                  <a:lnTo>
                    <a:pt x="270" y="582"/>
                  </a:lnTo>
                  <a:lnTo>
                    <a:pt x="270" y="576"/>
                  </a:lnTo>
                  <a:lnTo>
                    <a:pt x="276" y="576"/>
                  </a:lnTo>
                  <a:lnTo>
                    <a:pt x="276" y="570"/>
                  </a:lnTo>
                  <a:lnTo>
                    <a:pt x="276" y="564"/>
                  </a:lnTo>
                  <a:lnTo>
                    <a:pt x="282" y="564"/>
                  </a:lnTo>
                  <a:lnTo>
                    <a:pt x="282" y="558"/>
                  </a:lnTo>
                  <a:lnTo>
                    <a:pt x="288" y="558"/>
                  </a:lnTo>
                  <a:lnTo>
                    <a:pt x="294" y="558"/>
                  </a:lnTo>
                  <a:lnTo>
                    <a:pt x="300" y="558"/>
                  </a:lnTo>
                  <a:lnTo>
                    <a:pt x="300" y="552"/>
                  </a:lnTo>
                  <a:lnTo>
                    <a:pt x="300" y="558"/>
                  </a:lnTo>
                  <a:lnTo>
                    <a:pt x="300" y="552"/>
                  </a:lnTo>
                  <a:lnTo>
                    <a:pt x="306" y="552"/>
                  </a:lnTo>
                  <a:lnTo>
                    <a:pt x="306" y="546"/>
                  </a:lnTo>
                  <a:lnTo>
                    <a:pt x="306" y="540"/>
                  </a:lnTo>
                  <a:lnTo>
                    <a:pt x="312" y="540"/>
                  </a:lnTo>
                  <a:lnTo>
                    <a:pt x="318" y="540"/>
                  </a:lnTo>
                  <a:lnTo>
                    <a:pt x="318" y="534"/>
                  </a:lnTo>
                  <a:lnTo>
                    <a:pt x="318" y="528"/>
                  </a:lnTo>
                  <a:lnTo>
                    <a:pt x="318" y="522"/>
                  </a:lnTo>
                  <a:lnTo>
                    <a:pt x="312" y="516"/>
                  </a:lnTo>
                  <a:lnTo>
                    <a:pt x="312" y="510"/>
                  </a:lnTo>
                  <a:lnTo>
                    <a:pt x="312" y="504"/>
                  </a:lnTo>
                  <a:lnTo>
                    <a:pt x="312" y="498"/>
                  </a:lnTo>
                  <a:lnTo>
                    <a:pt x="318" y="492"/>
                  </a:lnTo>
                  <a:lnTo>
                    <a:pt x="324" y="492"/>
                  </a:lnTo>
                  <a:lnTo>
                    <a:pt x="330" y="492"/>
                  </a:lnTo>
                  <a:lnTo>
                    <a:pt x="330" y="486"/>
                  </a:lnTo>
                  <a:lnTo>
                    <a:pt x="336" y="486"/>
                  </a:lnTo>
                  <a:lnTo>
                    <a:pt x="342" y="486"/>
                  </a:lnTo>
                  <a:lnTo>
                    <a:pt x="348" y="486"/>
                  </a:lnTo>
                  <a:lnTo>
                    <a:pt x="348" y="492"/>
                  </a:lnTo>
                  <a:lnTo>
                    <a:pt x="348" y="486"/>
                  </a:lnTo>
                  <a:lnTo>
                    <a:pt x="354" y="486"/>
                  </a:lnTo>
                  <a:lnTo>
                    <a:pt x="354" y="492"/>
                  </a:lnTo>
                  <a:lnTo>
                    <a:pt x="348" y="492"/>
                  </a:lnTo>
                  <a:lnTo>
                    <a:pt x="348" y="498"/>
                  </a:lnTo>
                  <a:lnTo>
                    <a:pt x="354" y="498"/>
                  </a:lnTo>
                  <a:lnTo>
                    <a:pt x="354" y="504"/>
                  </a:lnTo>
                  <a:lnTo>
                    <a:pt x="354" y="510"/>
                  </a:lnTo>
                  <a:lnTo>
                    <a:pt x="360" y="510"/>
                  </a:lnTo>
                  <a:lnTo>
                    <a:pt x="366" y="510"/>
                  </a:lnTo>
                  <a:lnTo>
                    <a:pt x="366" y="516"/>
                  </a:lnTo>
                  <a:lnTo>
                    <a:pt x="372" y="516"/>
                  </a:lnTo>
                  <a:lnTo>
                    <a:pt x="372" y="522"/>
                  </a:lnTo>
                  <a:lnTo>
                    <a:pt x="378" y="522"/>
                  </a:lnTo>
                  <a:lnTo>
                    <a:pt x="384" y="522"/>
                  </a:lnTo>
                  <a:lnTo>
                    <a:pt x="384" y="528"/>
                  </a:lnTo>
                  <a:lnTo>
                    <a:pt x="384" y="534"/>
                  </a:lnTo>
                  <a:lnTo>
                    <a:pt x="378" y="534"/>
                  </a:lnTo>
                  <a:lnTo>
                    <a:pt x="390" y="528"/>
                  </a:lnTo>
                  <a:lnTo>
                    <a:pt x="390" y="534"/>
                  </a:lnTo>
                  <a:lnTo>
                    <a:pt x="396" y="534"/>
                  </a:lnTo>
                  <a:lnTo>
                    <a:pt x="396" y="540"/>
                  </a:lnTo>
                  <a:lnTo>
                    <a:pt x="396" y="534"/>
                  </a:lnTo>
                  <a:lnTo>
                    <a:pt x="402" y="534"/>
                  </a:lnTo>
                  <a:lnTo>
                    <a:pt x="402" y="540"/>
                  </a:lnTo>
                  <a:lnTo>
                    <a:pt x="396" y="540"/>
                  </a:lnTo>
                  <a:lnTo>
                    <a:pt x="402" y="540"/>
                  </a:lnTo>
                  <a:lnTo>
                    <a:pt x="402" y="546"/>
                  </a:lnTo>
                  <a:lnTo>
                    <a:pt x="408" y="546"/>
                  </a:lnTo>
                  <a:lnTo>
                    <a:pt x="414" y="546"/>
                  </a:lnTo>
                  <a:lnTo>
                    <a:pt x="420" y="540"/>
                  </a:lnTo>
                  <a:lnTo>
                    <a:pt x="426" y="534"/>
                  </a:lnTo>
                  <a:lnTo>
                    <a:pt x="426" y="528"/>
                  </a:lnTo>
                  <a:lnTo>
                    <a:pt x="420" y="522"/>
                  </a:lnTo>
                  <a:lnTo>
                    <a:pt x="426" y="516"/>
                  </a:lnTo>
                  <a:lnTo>
                    <a:pt x="426" y="510"/>
                  </a:lnTo>
                  <a:lnTo>
                    <a:pt x="432" y="510"/>
                  </a:lnTo>
                  <a:lnTo>
                    <a:pt x="438" y="504"/>
                  </a:lnTo>
                  <a:lnTo>
                    <a:pt x="444" y="504"/>
                  </a:lnTo>
                  <a:lnTo>
                    <a:pt x="450" y="498"/>
                  </a:lnTo>
                  <a:lnTo>
                    <a:pt x="444" y="498"/>
                  </a:lnTo>
                  <a:lnTo>
                    <a:pt x="444" y="492"/>
                  </a:lnTo>
                  <a:lnTo>
                    <a:pt x="444" y="486"/>
                  </a:lnTo>
                  <a:lnTo>
                    <a:pt x="438" y="486"/>
                  </a:lnTo>
                  <a:lnTo>
                    <a:pt x="438" y="480"/>
                  </a:lnTo>
                  <a:lnTo>
                    <a:pt x="444" y="480"/>
                  </a:lnTo>
                  <a:lnTo>
                    <a:pt x="444" y="474"/>
                  </a:lnTo>
                  <a:lnTo>
                    <a:pt x="438" y="474"/>
                  </a:lnTo>
                  <a:lnTo>
                    <a:pt x="444" y="474"/>
                  </a:lnTo>
                  <a:lnTo>
                    <a:pt x="444" y="468"/>
                  </a:lnTo>
                  <a:lnTo>
                    <a:pt x="438" y="468"/>
                  </a:lnTo>
                  <a:lnTo>
                    <a:pt x="432" y="468"/>
                  </a:lnTo>
                  <a:lnTo>
                    <a:pt x="426" y="462"/>
                  </a:lnTo>
                  <a:lnTo>
                    <a:pt x="426" y="456"/>
                  </a:lnTo>
                  <a:lnTo>
                    <a:pt x="420" y="450"/>
                  </a:lnTo>
                  <a:lnTo>
                    <a:pt x="420" y="444"/>
                  </a:lnTo>
                  <a:lnTo>
                    <a:pt x="426" y="444"/>
                  </a:lnTo>
                  <a:lnTo>
                    <a:pt x="432" y="444"/>
                  </a:lnTo>
                  <a:lnTo>
                    <a:pt x="432" y="438"/>
                  </a:lnTo>
                  <a:lnTo>
                    <a:pt x="426" y="438"/>
                  </a:lnTo>
                  <a:lnTo>
                    <a:pt x="432" y="438"/>
                  </a:lnTo>
                  <a:lnTo>
                    <a:pt x="432" y="432"/>
                  </a:lnTo>
                  <a:lnTo>
                    <a:pt x="438" y="432"/>
                  </a:lnTo>
                  <a:lnTo>
                    <a:pt x="444" y="432"/>
                  </a:lnTo>
                  <a:lnTo>
                    <a:pt x="438" y="432"/>
                  </a:lnTo>
                  <a:lnTo>
                    <a:pt x="444" y="432"/>
                  </a:lnTo>
                  <a:lnTo>
                    <a:pt x="444" y="438"/>
                  </a:lnTo>
                  <a:lnTo>
                    <a:pt x="450" y="438"/>
                  </a:lnTo>
                  <a:lnTo>
                    <a:pt x="450" y="432"/>
                  </a:lnTo>
                  <a:lnTo>
                    <a:pt x="450" y="426"/>
                  </a:lnTo>
                  <a:lnTo>
                    <a:pt x="456" y="420"/>
                  </a:lnTo>
                  <a:lnTo>
                    <a:pt x="450" y="420"/>
                  </a:lnTo>
                  <a:lnTo>
                    <a:pt x="450" y="414"/>
                  </a:lnTo>
                  <a:lnTo>
                    <a:pt x="450" y="408"/>
                  </a:lnTo>
                  <a:lnTo>
                    <a:pt x="450" y="402"/>
                  </a:lnTo>
                  <a:lnTo>
                    <a:pt x="450" y="396"/>
                  </a:lnTo>
                  <a:lnTo>
                    <a:pt x="444" y="396"/>
                  </a:lnTo>
                  <a:lnTo>
                    <a:pt x="444" y="402"/>
                  </a:lnTo>
                  <a:lnTo>
                    <a:pt x="444" y="396"/>
                  </a:lnTo>
                  <a:lnTo>
                    <a:pt x="438" y="396"/>
                  </a:lnTo>
                  <a:lnTo>
                    <a:pt x="432" y="396"/>
                  </a:lnTo>
                  <a:lnTo>
                    <a:pt x="426" y="396"/>
                  </a:lnTo>
                  <a:lnTo>
                    <a:pt x="420" y="396"/>
                  </a:lnTo>
                  <a:lnTo>
                    <a:pt x="420" y="390"/>
                  </a:lnTo>
                  <a:lnTo>
                    <a:pt x="414" y="384"/>
                  </a:lnTo>
                  <a:lnTo>
                    <a:pt x="414" y="378"/>
                  </a:lnTo>
                  <a:lnTo>
                    <a:pt x="414" y="372"/>
                  </a:lnTo>
                  <a:lnTo>
                    <a:pt x="408" y="372"/>
                  </a:lnTo>
                  <a:lnTo>
                    <a:pt x="408" y="366"/>
                  </a:lnTo>
                  <a:lnTo>
                    <a:pt x="408" y="360"/>
                  </a:lnTo>
                  <a:lnTo>
                    <a:pt x="414" y="360"/>
                  </a:lnTo>
                  <a:lnTo>
                    <a:pt x="414" y="354"/>
                  </a:lnTo>
                  <a:lnTo>
                    <a:pt x="408" y="354"/>
                  </a:lnTo>
                  <a:lnTo>
                    <a:pt x="408" y="348"/>
                  </a:lnTo>
                  <a:lnTo>
                    <a:pt x="408" y="342"/>
                  </a:lnTo>
                  <a:lnTo>
                    <a:pt x="414" y="342"/>
                  </a:lnTo>
                  <a:lnTo>
                    <a:pt x="414" y="336"/>
                  </a:lnTo>
                  <a:lnTo>
                    <a:pt x="414" y="330"/>
                  </a:lnTo>
                  <a:lnTo>
                    <a:pt x="414" y="324"/>
                  </a:lnTo>
                  <a:lnTo>
                    <a:pt x="408" y="324"/>
                  </a:lnTo>
                  <a:lnTo>
                    <a:pt x="414" y="324"/>
                  </a:lnTo>
                  <a:lnTo>
                    <a:pt x="414" y="318"/>
                  </a:lnTo>
                  <a:lnTo>
                    <a:pt x="420" y="318"/>
                  </a:lnTo>
                  <a:lnTo>
                    <a:pt x="420" y="312"/>
                  </a:lnTo>
                  <a:lnTo>
                    <a:pt x="426" y="312"/>
                  </a:lnTo>
                  <a:lnTo>
                    <a:pt x="432" y="312"/>
                  </a:lnTo>
                  <a:lnTo>
                    <a:pt x="432" y="306"/>
                  </a:lnTo>
                  <a:lnTo>
                    <a:pt x="426" y="306"/>
                  </a:lnTo>
                  <a:lnTo>
                    <a:pt x="426" y="300"/>
                  </a:lnTo>
                  <a:lnTo>
                    <a:pt x="426" y="294"/>
                  </a:lnTo>
                  <a:lnTo>
                    <a:pt x="432" y="294"/>
                  </a:lnTo>
                  <a:lnTo>
                    <a:pt x="432" y="300"/>
                  </a:lnTo>
                  <a:lnTo>
                    <a:pt x="438" y="300"/>
                  </a:lnTo>
                  <a:lnTo>
                    <a:pt x="444" y="294"/>
                  </a:lnTo>
                  <a:lnTo>
                    <a:pt x="456" y="294"/>
                  </a:lnTo>
                  <a:lnTo>
                    <a:pt x="456" y="288"/>
                  </a:lnTo>
                  <a:lnTo>
                    <a:pt x="468" y="288"/>
                  </a:lnTo>
                  <a:lnTo>
                    <a:pt x="468" y="276"/>
                  </a:lnTo>
                  <a:lnTo>
                    <a:pt x="462" y="258"/>
                  </a:lnTo>
                  <a:lnTo>
                    <a:pt x="468" y="252"/>
                  </a:lnTo>
                  <a:lnTo>
                    <a:pt x="468" y="246"/>
                  </a:lnTo>
                  <a:lnTo>
                    <a:pt x="480" y="240"/>
                  </a:lnTo>
                  <a:lnTo>
                    <a:pt x="480" y="234"/>
                  </a:lnTo>
                  <a:lnTo>
                    <a:pt x="486" y="234"/>
                  </a:lnTo>
                  <a:lnTo>
                    <a:pt x="486" y="228"/>
                  </a:lnTo>
                  <a:lnTo>
                    <a:pt x="492" y="228"/>
                  </a:lnTo>
                  <a:lnTo>
                    <a:pt x="492" y="222"/>
                  </a:lnTo>
                  <a:lnTo>
                    <a:pt x="486" y="222"/>
                  </a:lnTo>
                  <a:lnTo>
                    <a:pt x="486" y="210"/>
                  </a:lnTo>
                  <a:lnTo>
                    <a:pt x="492" y="198"/>
                  </a:lnTo>
                  <a:lnTo>
                    <a:pt x="492" y="192"/>
                  </a:lnTo>
                  <a:lnTo>
                    <a:pt x="498" y="192"/>
                  </a:lnTo>
                  <a:lnTo>
                    <a:pt x="492" y="186"/>
                  </a:lnTo>
                  <a:lnTo>
                    <a:pt x="498" y="186"/>
                  </a:lnTo>
                  <a:lnTo>
                    <a:pt x="504" y="186"/>
                  </a:lnTo>
                  <a:lnTo>
                    <a:pt x="510" y="186"/>
                  </a:lnTo>
                  <a:lnTo>
                    <a:pt x="510" y="180"/>
                  </a:lnTo>
                  <a:lnTo>
                    <a:pt x="504" y="180"/>
                  </a:lnTo>
                  <a:lnTo>
                    <a:pt x="504" y="174"/>
                  </a:lnTo>
                  <a:lnTo>
                    <a:pt x="504" y="168"/>
                  </a:lnTo>
                  <a:lnTo>
                    <a:pt x="498" y="168"/>
                  </a:lnTo>
                  <a:lnTo>
                    <a:pt x="492" y="168"/>
                  </a:lnTo>
                  <a:lnTo>
                    <a:pt x="492" y="162"/>
                  </a:lnTo>
                  <a:lnTo>
                    <a:pt x="492" y="150"/>
                  </a:lnTo>
                  <a:lnTo>
                    <a:pt x="486" y="150"/>
                  </a:lnTo>
                  <a:lnTo>
                    <a:pt x="480" y="144"/>
                  </a:lnTo>
                  <a:lnTo>
                    <a:pt x="474" y="144"/>
                  </a:lnTo>
                  <a:lnTo>
                    <a:pt x="474" y="138"/>
                  </a:lnTo>
                  <a:lnTo>
                    <a:pt x="474" y="144"/>
                  </a:lnTo>
                  <a:lnTo>
                    <a:pt x="474" y="138"/>
                  </a:lnTo>
                  <a:lnTo>
                    <a:pt x="474" y="132"/>
                  </a:lnTo>
                  <a:lnTo>
                    <a:pt x="480" y="126"/>
                  </a:lnTo>
                  <a:lnTo>
                    <a:pt x="486" y="126"/>
                  </a:lnTo>
                  <a:lnTo>
                    <a:pt x="492" y="126"/>
                  </a:lnTo>
                  <a:lnTo>
                    <a:pt x="492" y="120"/>
                  </a:lnTo>
                  <a:lnTo>
                    <a:pt x="486" y="114"/>
                  </a:lnTo>
                  <a:lnTo>
                    <a:pt x="486" y="108"/>
                  </a:lnTo>
                  <a:lnTo>
                    <a:pt x="492" y="102"/>
                  </a:lnTo>
                  <a:lnTo>
                    <a:pt x="498" y="102"/>
                  </a:lnTo>
                  <a:lnTo>
                    <a:pt x="504" y="102"/>
                  </a:lnTo>
                  <a:lnTo>
                    <a:pt x="504" y="96"/>
                  </a:lnTo>
                  <a:lnTo>
                    <a:pt x="498" y="96"/>
                  </a:lnTo>
                  <a:lnTo>
                    <a:pt x="498" y="90"/>
                  </a:lnTo>
                  <a:lnTo>
                    <a:pt x="492" y="78"/>
                  </a:lnTo>
                  <a:lnTo>
                    <a:pt x="498" y="72"/>
                  </a:lnTo>
                  <a:lnTo>
                    <a:pt x="504" y="66"/>
                  </a:lnTo>
                  <a:lnTo>
                    <a:pt x="504" y="60"/>
                  </a:lnTo>
                  <a:lnTo>
                    <a:pt x="504" y="54"/>
                  </a:lnTo>
                  <a:lnTo>
                    <a:pt x="504" y="48"/>
                  </a:lnTo>
                  <a:lnTo>
                    <a:pt x="510" y="48"/>
                  </a:lnTo>
                  <a:lnTo>
                    <a:pt x="504" y="48"/>
                  </a:lnTo>
                  <a:lnTo>
                    <a:pt x="498" y="48"/>
                  </a:lnTo>
                  <a:lnTo>
                    <a:pt x="492" y="48"/>
                  </a:lnTo>
                  <a:lnTo>
                    <a:pt x="492" y="42"/>
                  </a:lnTo>
                  <a:lnTo>
                    <a:pt x="498" y="42"/>
                  </a:lnTo>
                  <a:lnTo>
                    <a:pt x="492" y="42"/>
                  </a:lnTo>
                  <a:lnTo>
                    <a:pt x="492" y="36"/>
                  </a:lnTo>
                  <a:lnTo>
                    <a:pt x="492" y="30"/>
                  </a:lnTo>
                  <a:lnTo>
                    <a:pt x="498" y="30"/>
                  </a:lnTo>
                  <a:lnTo>
                    <a:pt x="504" y="30"/>
                  </a:lnTo>
                  <a:lnTo>
                    <a:pt x="504" y="24"/>
                  </a:lnTo>
                  <a:lnTo>
                    <a:pt x="504" y="30"/>
                  </a:lnTo>
                  <a:lnTo>
                    <a:pt x="510" y="30"/>
                  </a:lnTo>
                  <a:lnTo>
                    <a:pt x="516" y="36"/>
                  </a:lnTo>
                  <a:lnTo>
                    <a:pt x="516" y="30"/>
                  </a:lnTo>
                  <a:lnTo>
                    <a:pt x="516" y="36"/>
                  </a:lnTo>
                  <a:lnTo>
                    <a:pt x="522" y="36"/>
                  </a:lnTo>
                  <a:lnTo>
                    <a:pt x="522" y="42"/>
                  </a:lnTo>
                  <a:lnTo>
                    <a:pt x="522" y="36"/>
                  </a:lnTo>
                  <a:lnTo>
                    <a:pt x="528" y="36"/>
                  </a:lnTo>
                  <a:lnTo>
                    <a:pt x="534" y="36"/>
                  </a:lnTo>
                  <a:lnTo>
                    <a:pt x="540" y="36"/>
                  </a:lnTo>
                  <a:lnTo>
                    <a:pt x="540" y="42"/>
                  </a:lnTo>
                  <a:lnTo>
                    <a:pt x="534" y="42"/>
                  </a:lnTo>
                  <a:lnTo>
                    <a:pt x="540" y="42"/>
                  </a:lnTo>
                  <a:lnTo>
                    <a:pt x="546" y="42"/>
                  </a:lnTo>
                  <a:lnTo>
                    <a:pt x="546" y="36"/>
                  </a:lnTo>
                  <a:lnTo>
                    <a:pt x="552" y="36"/>
                  </a:lnTo>
                  <a:lnTo>
                    <a:pt x="546" y="36"/>
                  </a:lnTo>
                  <a:lnTo>
                    <a:pt x="552" y="36"/>
                  </a:lnTo>
                  <a:lnTo>
                    <a:pt x="552" y="30"/>
                  </a:lnTo>
                  <a:lnTo>
                    <a:pt x="558" y="30"/>
                  </a:lnTo>
                  <a:lnTo>
                    <a:pt x="564" y="30"/>
                  </a:lnTo>
                  <a:lnTo>
                    <a:pt x="570" y="30"/>
                  </a:lnTo>
                  <a:lnTo>
                    <a:pt x="576" y="30"/>
                  </a:lnTo>
                  <a:lnTo>
                    <a:pt x="576" y="24"/>
                  </a:lnTo>
                  <a:lnTo>
                    <a:pt x="576" y="12"/>
                  </a:lnTo>
                  <a:lnTo>
                    <a:pt x="564" y="6"/>
                  </a:lnTo>
                  <a:lnTo>
                    <a:pt x="570" y="0"/>
                  </a:lnTo>
                  <a:lnTo>
                    <a:pt x="576" y="0"/>
                  </a:lnTo>
                  <a:lnTo>
                    <a:pt x="582" y="0"/>
                  </a:lnTo>
                  <a:lnTo>
                    <a:pt x="588" y="18"/>
                  </a:lnTo>
                  <a:lnTo>
                    <a:pt x="594" y="30"/>
                  </a:lnTo>
                  <a:lnTo>
                    <a:pt x="594" y="36"/>
                  </a:lnTo>
                  <a:lnTo>
                    <a:pt x="600" y="54"/>
                  </a:lnTo>
                  <a:lnTo>
                    <a:pt x="594" y="54"/>
                  </a:lnTo>
                  <a:lnTo>
                    <a:pt x="582" y="48"/>
                  </a:lnTo>
                  <a:lnTo>
                    <a:pt x="570" y="72"/>
                  </a:lnTo>
                  <a:lnTo>
                    <a:pt x="570" y="78"/>
                  </a:lnTo>
                  <a:lnTo>
                    <a:pt x="570" y="72"/>
                  </a:lnTo>
                  <a:lnTo>
                    <a:pt x="576" y="72"/>
                  </a:lnTo>
                  <a:lnTo>
                    <a:pt x="582" y="72"/>
                  </a:lnTo>
                  <a:lnTo>
                    <a:pt x="588" y="72"/>
                  </a:lnTo>
                  <a:lnTo>
                    <a:pt x="594" y="72"/>
                  </a:lnTo>
                  <a:lnTo>
                    <a:pt x="600" y="72"/>
                  </a:lnTo>
                  <a:lnTo>
                    <a:pt x="606" y="72"/>
                  </a:lnTo>
                  <a:lnTo>
                    <a:pt x="606" y="78"/>
                  </a:lnTo>
                  <a:lnTo>
                    <a:pt x="606" y="72"/>
                  </a:lnTo>
                  <a:lnTo>
                    <a:pt x="612" y="72"/>
                  </a:lnTo>
                  <a:lnTo>
                    <a:pt x="618" y="78"/>
                  </a:lnTo>
                  <a:lnTo>
                    <a:pt x="618" y="84"/>
                  </a:lnTo>
                  <a:lnTo>
                    <a:pt x="624" y="84"/>
                  </a:lnTo>
                  <a:lnTo>
                    <a:pt x="624" y="90"/>
                  </a:lnTo>
                  <a:lnTo>
                    <a:pt x="624" y="96"/>
                  </a:lnTo>
                  <a:lnTo>
                    <a:pt x="630" y="96"/>
                  </a:lnTo>
                  <a:lnTo>
                    <a:pt x="630" y="102"/>
                  </a:lnTo>
                  <a:lnTo>
                    <a:pt x="630" y="108"/>
                  </a:lnTo>
                  <a:lnTo>
                    <a:pt x="636" y="108"/>
                  </a:lnTo>
                  <a:lnTo>
                    <a:pt x="630" y="108"/>
                  </a:lnTo>
                  <a:lnTo>
                    <a:pt x="630" y="114"/>
                  </a:lnTo>
                  <a:lnTo>
                    <a:pt x="636" y="114"/>
                  </a:lnTo>
                  <a:lnTo>
                    <a:pt x="636" y="120"/>
                  </a:lnTo>
                  <a:lnTo>
                    <a:pt x="636" y="126"/>
                  </a:lnTo>
                  <a:lnTo>
                    <a:pt x="636" y="132"/>
                  </a:lnTo>
                  <a:lnTo>
                    <a:pt x="636" y="138"/>
                  </a:lnTo>
                  <a:lnTo>
                    <a:pt x="636" y="144"/>
                  </a:lnTo>
                  <a:lnTo>
                    <a:pt x="642" y="144"/>
                  </a:lnTo>
                  <a:lnTo>
                    <a:pt x="642" y="150"/>
                  </a:lnTo>
                  <a:lnTo>
                    <a:pt x="642" y="144"/>
                  </a:lnTo>
                  <a:lnTo>
                    <a:pt x="642" y="150"/>
                  </a:lnTo>
                  <a:lnTo>
                    <a:pt x="636" y="156"/>
                  </a:lnTo>
                  <a:lnTo>
                    <a:pt x="636" y="162"/>
                  </a:lnTo>
                  <a:lnTo>
                    <a:pt x="636" y="168"/>
                  </a:lnTo>
                  <a:lnTo>
                    <a:pt x="630" y="168"/>
                  </a:lnTo>
                  <a:lnTo>
                    <a:pt x="630" y="174"/>
                  </a:lnTo>
                  <a:lnTo>
                    <a:pt x="624" y="174"/>
                  </a:lnTo>
                  <a:lnTo>
                    <a:pt x="624" y="186"/>
                  </a:lnTo>
                  <a:lnTo>
                    <a:pt x="630" y="192"/>
                  </a:lnTo>
                  <a:lnTo>
                    <a:pt x="648" y="192"/>
                  </a:lnTo>
                  <a:lnTo>
                    <a:pt x="654" y="210"/>
                  </a:lnTo>
                  <a:lnTo>
                    <a:pt x="660" y="222"/>
                  </a:lnTo>
                  <a:lnTo>
                    <a:pt x="654" y="222"/>
                  </a:lnTo>
                  <a:lnTo>
                    <a:pt x="654" y="228"/>
                  </a:lnTo>
                  <a:lnTo>
                    <a:pt x="648" y="228"/>
                  </a:lnTo>
                  <a:lnTo>
                    <a:pt x="648" y="234"/>
                  </a:lnTo>
                  <a:lnTo>
                    <a:pt x="642" y="234"/>
                  </a:lnTo>
                  <a:lnTo>
                    <a:pt x="642" y="240"/>
                  </a:lnTo>
                  <a:lnTo>
                    <a:pt x="636" y="240"/>
                  </a:lnTo>
                  <a:lnTo>
                    <a:pt x="636" y="246"/>
                  </a:lnTo>
                  <a:lnTo>
                    <a:pt x="642" y="246"/>
                  </a:lnTo>
                  <a:lnTo>
                    <a:pt x="636" y="246"/>
                  </a:lnTo>
                  <a:lnTo>
                    <a:pt x="636" y="252"/>
                  </a:lnTo>
                  <a:lnTo>
                    <a:pt x="642" y="252"/>
                  </a:lnTo>
                  <a:lnTo>
                    <a:pt x="636" y="252"/>
                  </a:lnTo>
                  <a:lnTo>
                    <a:pt x="642" y="252"/>
                  </a:lnTo>
                  <a:lnTo>
                    <a:pt x="642" y="258"/>
                  </a:lnTo>
                  <a:lnTo>
                    <a:pt x="642" y="264"/>
                  </a:lnTo>
                  <a:lnTo>
                    <a:pt x="648" y="264"/>
                  </a:lnTo>
                  <a:lnTo>
                    <a:pt x="642" y="264"/>
                  </a:lnTo>
                  <a:lnTo>
                    <a:pt x="648" y="264"/>
                  </a:lnTo>
                  <a:lnTo>
                    <a:pt x="648" y="270"/>
                  </a:lnTo>
                  <a:lnTo>
                    <a:pt x="648" y="276"/>
                  </a:lnTo>
                  <a:lnTo>
                    <a:pt x="648" y="282"/>
                  </a:lnTo>
                  <a:lnTo>
                    <a:pt x="642" y="282"/>
                  </a:lnTo>
                  <a:lnTo>
                    <a:pt x="642" y="288"/>
                  </a:lnTo>
                  <a:lnTo>
                    <a:pt x="648" y="300"/>
                  </a:lnTo>
                  <a:lnTo>
                    <a:pt x="660" y="306"/>
                  </a:lnTo>
                  <a:lnTo>
                    <a:pt x="666" y="312"/>
                  </a:lnTo>
                  <a:lnTo>
                    <a:pt x="678" y="312"/>
                  </a:lnTo>
                  <a:lnTo>
                    <a:pt x="684" y="324"/>
                  </a:lnTo>
                  <a:lnTo>
                    <a:pt x="684" y="330"/>
                  </a:lnTo>
                  <a:lnTo>
                    <a:pt x="678" y="330"/>
                  </a:lnTo>
                  <a:lnTo>
                    <a:pt x="678" y="336"/>
                  </a:lnTo>
                  <a:lnTo>
                    <a:pt x="678" y="342"/>
                  </a:lnTo>
                  <a:lnTo>
                    <a:pt x="678" y="348"/>
                  </a:lnTo>
                  <a:lnTo>
                    <a:pt x="672" y="360"/>
                  </a:lnTo>
                  <a:lnTo>
                    <a:pt x="666" y="360"/>
                  </a:lnTo>
                  <a:lnTo>
                    <a:pt x="666" y="366"/>
                  </a:lnTo>
                  <a:lnTo>
                    <a:pt x="672" y="366"/>
                  </a:lnTo>
                  <a:lnTo>
                    <a:pt x="666" y="366"/>
                  </a:lnTo>
                  <a:lnTo>
                    <a:pt x="666" y="372"/>
                  </a:lnTo>
                  <a:lnTo>
                    <a:pt x="666" y="378"/>
                  </a:lnTo>
                  <a:lnTo>
                    <a:pt x="666" y="372"/>
                  </a:lnTo>
                  <a:lnTo>
                    <a:pt x="660" y="372"/>
                  </a:lnTo>
                  <a:lnTo>
                    <a:pt x="660" y="378"/>
                  </a:lnTo>
                  <a:lnTo>
                    <a:pt x="654" y="378"/>
                  </a:lnTo>
                  <a:lnTo>
                    <a:pt x="654" y="384"/>
                  </a:lnTo>
                  <a:lnTo>
                    <a:pt x="660" y="384"/>
                  </a:lnTo>
                  <a:lnTo>
                    <a:pt x="660" y="390"/>
                  </a:lnTo>
                  <a:lnTo>
                    <a:pt x="654" y="390"/>
                  </a:lnTo>
                  <a:lnTo>
                    <a:pt x="660" y="390"/>
                  </a:lnTo>
                  <a:lnTo>
                    <a:pt x="654" y="390"/>
                  </a:lnTo>
                  <a:lnTo>
                    <a:pt x="654" y="396"/>
                  </a:lnTo>
                  <a:lnTo>
                    <a:pt x="648" y="396"/>
                  </a:lnTo>
                  <a:lnTo>
                    <a:pt x="642" y="402"/>
                  </a:lnTo>
                  <a:lnTo>
                    <a:pt x="642" y="414"/>
                  </a:lnTo>
                  <a:lnTo>
                    <a:pt x="648" y="420"/>
                  </a:lnTo>
                  <a:lnTo>
                    <a:pt x="642" y="432"/>
                  </a:lnTo>
                  <a:lnTo>
                    <a:pt x="642" y="438"/>
                  </a:lnTo>
                  <a:lnTo>
                    <a:pt x="636" y="444"/>
                  </a:lnTo>
                  <a:lnTo>
                    <a:pt x="630" y="450"/>
                  </a:lnTo>
                  <a:lnTo>
                    <a:pt x="636" y="456"/>
                  </a:lnTo>
                  <a:lnTo>
                    <a:pt x="624" y="468"/>
                  </a:lnTo>
                  <a:lnTo>
                    <a:pt x="630" y="480"/>
                  </a:lnTo>
                  <a:lnTo>
                    <a:pt x="624" y="480"/>
                  </a:lnTo>
                  <a:lnTo>
                    <a:pt x="624" y="486"/>
                  </a:lnTo>
                  <a:lnTo>
                    <a:pt x="636" y="486"/>
                  </a:lnTo>
                  <a:lnTo>
                    <a:pt x="636" y="492"/>
                  </a:lnTo>
                  <a:lnTo>
                    <a:pt x="642" y="498"/>
                  </a:lnTo>
                  <a:lnTo>
                    <a:pt x="642" y="504"/>
                  </a:lnTo>
                  <a:lnTo>
                    <a:pt x="648" y="504"/>
                  </a:lnTo>
                  <a:lnTo>
                    <a:pt x="654" y="510"/>
                  </a:lnTo>
                  <a:lnTo>
                    <a:pt x="660" y="504"/>
                  </a:lnTo>
                  <a:lnTo>
                    <a:pt x="666" y="504"/>
                  </a:lnTo>
                  <a:lnTo>
                    <a:pt x="672" y="504"/>
                  </a:lnTo>
                  <a:lnTo>
                    <a:pt x="678" y="504"/>
                  </a:lnTo>
                  <a:lnTo>
                    <a:pt x="678" y="498"/>
                  </a:lnTo>
                  <a:lnTo>
                    <a:pt x="678" y="504"/>
                  </a:lnTo>
                  <a:lnTo>
                    <a:pt x="678" y="498"/>
                  </a:lnTo>
                  <a:lnTo>
                    <a:pt x="678" y="492"/>
                  </a:lnTo>
                  <a:lnTo>
                    <a:pt x="684" y="492"/>
                  </a:lnTo>
                  <a:lnTo>
                    <a:pt x="684" y="486"/>
                  </a:lnTo>
                  <a:lnTo>
                    <a:pt x="690" y="486"/>
                  </a:lnTo>
                  <a:lnTo>
                    <a:pt x="690" y="480"/>
                  </a:lnTo>
                  <a:lnTo>
                    <a:pt x="696" y="480"/>
                  </a:lnTo>
                  <a:lnTo>
                    <a:pt x="702" y="480"/>
                  </a:lnTo>
                  <a:lnTo>
                    <a:pt x="702" y="486"/>
                  </a:lnTo>
                  <a:lnTo>
                    <a:pt x="708" y="486"/>
                  </a:lnTo>
                  <a:lnTo>
                    <a:pt x="714" y="486"/>
                  </a:lnTo>
                  <a:lnTo>
                    <a:pt x="714" y="480"/>
                  </a:lnTo>
                  <a:lnTo>
                    <a:pt x="720" y="480"/>
                  </a:lnTo>
                  <a:lnTo>
                    <a:pt x="726" y="480"/>
                  </a:lnTo>
                  <a:lnTo>
                    <a:pt x="726" y="486"/>
                  </a:lnTo>
                  <a:lnTo>
                    <a:pt x="732" y="486"/>
                  </a:lnTo>
                  <a:lnTo>
                    <a:pt x="738" y="486"/>
                  </a:lnTo>
                  <a:lnTo>
                    <a:pt x="744" y="486"/>
                  </a:lnTo>
                  <a:lnTo>
                    <a:pt x="756" y="480"/>
                  </a:lnTo>
                  <a:lnTo>
                    <a:pt x="756" y="474"/>
                  </a:lnTo>
                  <a:lnTo>
                    <a:pt x="756" y="468"/>
                  </a:lnTo>
                  <a:lnTo>
                    <a:pt x="762" y="468"/>
                  </a:lnTo>
                  <a:lnTo>
                    <a:pt x="762" y="474"/>
                  </a:lnTo>
                  <a:lnTo>
                    <a:pt x="762" y="486"/>
                  </a:lnTo>
                  <a:lnTo>
                    <a:pt x="768" y="480"/>
                  </a:lnTo>
                  <a:lnTo>
                    <a:pt x="780" y="486"/>
                  </a:lnTo>
                  <a:lnTo>
                    <a:pt x="774" y="492"/>
                  </a:lnTo>
                  <a:lnTo>
                    <a:pt x="768" y="498"/>
                  </a:lnTo>
                  <a:lnTo>
                    <a:pt x="768" y="516"/>
                  </a:lnTo>
                  <a:lnTo>
                    <a:pt x="768" y="522"/>
                  </a:lnTo>
                  <a:lnTo>
                    <a:pt x="774" y="510"/>
                  </a:lnTo>
                  <a:lnTo>
                    <a:pt x="774" y="504"/>
                  </a:lnTo>
                  <a:lnTo>
                    <a:pt x="780" y="510"/>
                  </a:lnTo>
                  <a:lnTo>
                    <a:pt x="792" y="504"/>
                  </a:lnTo>
                  <a:lnTo>
                    <a:pt x="798" y="504"/>
                  </a:lnTo>
                  <a:lnTo>
                    <a:pt x="798" y="498"/>
                  </a:lnTo>
                  <a:lnTo>
                    <a:pt x="810" y="498"/>
                  </a:lnTo>
                  <a:lnTo>
                    <a:pt x="816" y="492"/>
                  </a:lnTo>
                  <a:lnTo>
                    <a:pt x="816" y="480"/>
                  </a:lnTo>
                  <a:lnTo>
                    <a:pt x="816" y="474"/>
                  </a:lnTo>
                  <a:lnTo>
                    <a:pt x="822" y="468"/>
                  </a:lnTo>
                  <a:lnTo>
                    <a:pt x="822" y="462"/>
                  </a:lnTo>
                  <a:lnTo>
                    <a:pt x="828" y="456"/>
                  </a:lnTo>
                  <a:lnTo>
                    <a:pt x="834" y="450"/>
                  </a:lnTo>
                  <a:lnTo>
                    <a:pt x="840" y="444"/>
                  </a:lnTo>
                  <a:lnTo>
                    <a:pt x="846" y="444"/>
                  </a:lnTo>
                  <a:lnTo>
                    <a:pt x="852" y="438"/>
                  </a:lnTo>
                  <a:lnTo>
                    <a:pt x="858" y="432"/>
                  </a:lnTo>
                  <a:lnTo>
                    <a:pt x="864" y="432"/>
                  </a:lnTo>
                  <a:lnTo>
                    <a:pt x="864" y="426"/>
                  </a:lnTo>
                  <a:lnTo>
                    <a:pt x="864" y="420"/>
                  </a:lnTo>
                  <a:lnTo>
                    <a:pt x="864" y="408"/>
                  </a:lnTo>
                  <a:lnTo>
                    <a:pt x="870" y="408"/>
                  </a:lnTo>
                  <a:lnTo>
                    <a:pt x="876" y="408"/>
                  </a:lnTo>
                  <a:lnTo>
                    <a:pt x="882" y="408"/>
                  </a:lnTo>
                  <a:lnTo>
                    <a:pt x="888" y="396"/>
                  </a:lnTo>
                  <a:lnTo>
                    <a:pt x="894" y="390"/>
                  </a:lnTo>
                  <a:lnTo>
                    <a:pt x="900" y="378"/>
                  </a:lnTo>
                  <a:lnTo>
                    <a:pt x="906" y="384"/>
                  </a:lnTo>
                  <a:lnTo>
                    <a:pt x="906" y="378"/>
                  </a:lnTo>
                  <a:lnTo>
                    <a:pt x="918" y="378"/>
                  </a:lnTo>
                  <a:lnTo>
                    <a:pt x="930" y="384"/>
                  </a:lnTo>
                  <a:lnTo>
                    <a:pt x="936" y="384"/>
                  </a:lnTo>
                  <a:lnTo>
                    <a:pt x="942" y="390"/>
                  </a:lnTo>
                  <a:lnTo>
                    <a:pt x="948" y="390"/>
                  </a:lnTo>
                  <a:lnTo>
                    <a:pt x="954" y="390"/>
                  </a:lnTo>
                  <a:lnTo>
                    <a:pt x="960" y="390"/>
                  </a:lnTo>
                  <a:lnTo>
                    <a:pt x="960" y="396"/>
                  </a:lnTo>
                  <a:lnTo>
                    <a:pt x="966" y="396"/>
                  </a:lnTo>
                  <a:lnTo>
                    <a:pt x="966" y="402"/>
                  </a:lnTo>
                  <a:lnTo>
                    <a:pt x="972" y="402"/>
                  </a:lnTo>
                  <a:lnTo>
                    <a:pt x="978" y="414"/>
                  </a:lnTo>
                  <a:lnTo>
                    <a:pt x="978" y="420"/>
                  </a:lnTo>
                  <a:lnTo>
                    <a:pt x="984" y="420"/>
                  </a:lnTo>
                  <a:lnTo>
                    <a:pt x="990" y="414"/>
                  </a:lnTo>
                  <a:lnTo>
                    <a:pt x="990" y="420"/>
                  </a:lnTo>
                  <a:lnTo>
                    <a:pt x="996" y="420"/>
                  </a:lnTo>
                  <a:lnTo>
                    <a:pt x="978" y="432"/>
                  </a:lnTo>
                  <a:lnTo>
                    <a:pt x="984" y="438"/>
                  </a:lnTo>
                  <a:lnTo>
                    <a:pt x="990" y="438"/>
                  </a:lnTo>
                  <a:lnTo>
                    <a:pt x="984" y="444"/>
                  </a:lnTo>
                  <a:lnTo>
                    <a:pt x="984" y="456"/>
                  </a:lnTo>
                  <a:lnTo>
                    <a:pt x="990" y="468"/>
                  </a:lnTo>
                  <a:lnTo>
                    <a:pt x="1002" y="474"/>
                  </a:lnTo>
                  <a:lnTo>
                    <a:pt x="1014" y="462"/>
                  </a:lnTo>
                  <a:lnTo>
                    <a:pt x="1014" y="468"/>
                  </a:lnTo>
                  <a:lnTo>
                    <a:pt x="1020" y="474"/>
                  </a:lnTo>
                  <a:lnTo>
                    <a:pt x="1020" y="462"/>
                  </a:lnTo>
                  <a:lnTo>
                    <a:pt x="1026" y="462"/>
                  </a:lnTo>
                  <a:lnTo>
                    <a:pt x="1032" y="456"/>
                  </a:lnTo>
                  <a:lnTo>
                    <a:pt x="1032" y="462"/>
                  </a:lnTo>
                  <a:lnTo>
                    <a:pt x="1038" y="462"/>
                  </a:lnTo>
                  <a:lnTo>
                    <a:pt x="1044" y="462"/>
                  </a:lnTo>
                  <a:lnTo>
                    <a:pt x="1044" y="468"/>
                  </a:lnTo>
                  <a:lnTo>
                    <a:pt x="1050" y="474"/>
                  </a:lnTo>
                  <a:lnTo>
                    <a:pt x="1056" y="474"/>
                  </a:lnTo>
                  <a:lnTo>
                    <a:pt x="1056" y="486"/>
                  </a:lnTo>
                  <a:lnTo>
                    <a:pt x="1062" y="492"/>
                  </a:lnTo>
                  <a:lnTo>
                    <a:pt x="1056" y="498"/>
                  </a:lnTo>
                  <a:lnTo>
                    <a:pt x="1056" y="510"/>
                  </a:lnTo>
                  <a:lnTo>
                    <a:pt x="1062" y="510"/>
                  </a:lnTo>
                  <a:lnTo>
                    <a:pt x="1062" y="516"/>
                  </a:lnTo>
                  <a:lnTo>
                    <a:pt x="1056" y="516"/>
                  </a:lnTo>
                  <a:lnTo>
                    <a:pt x="1056" y="522"/>
                  </a:lnTo>
                  <a:lnTo>
                    <a:pt x="1062" y="522"/>
                  </a:lnTo>
                  <a:lnTo>
                    <a:pt x="1062" y="528"/>
                  </a:lnTo>
                  <a:lnTo>
                    <a:pt x="1062" y="534"/>
                  </a:lnTo>
                  <a:lnTo>
                    <a:pt x="1062" y="540"/>
                  </a:lnTo>
                  <a:lnTo>
                    <a:pt x="1062" y="546"/>
                  </a:lnTo>
                  <a:lnTo>
                    <a:pt x="1068" y="552"/>
                  </a:lnTo>
                  <a:lnTo>
                    <a:pt x="1074" y="564"/>
                  </a:lnTo>
                  <a:lnTo>
                    <a:pt x="1074" y="576"/>
                  </a:lnTo>
                  <a:lnTo>
                    <a:pt x="1074" y="582"/>
                  </a:lnTo>
                  <a:lnTo>
                    <a:pt x="1050" y="588"/>
                  </a:lnTo>
                  <a:lnTo>
                    <a:pt x="1044" y="582"/>
                  </a:lnTo>
                  <a:lnTo>
                    <a:pt x="1044" y="576"/>
                  </a:lnTo>
                  <a:lnTo>
                    <a:pt x="1038" y="576"/>
                  </a:lnTo>
                  <a:lnTo>
                    <a:pt x="1038" y="564"/>
                  </a:lnTo>
                  <a:lnTo>
                    <a:pt x="1032" y="564"/>
                  </a:lnTo>
                  <a:lnTo>
                    <a:pt x="1020" y="564"/>
                  </a:lnTo>
                  <a:lnTo>
                    <a:pt x="1008" y="564"/>
                  </a:lnTo>
                  <a:lnTo>
                    <a:pt x="1002" y="570"/>
                  </a:lnTo>
                  <a:lnTo>
                    <a:pt x="996" y="570"/>
                  </a:lnTo>
                  <a:lnTo>
                    <a:pt x="996" y="576"/>
                  </a:lnTo>
                  <a:lnTo>
                    <a:pt x="990" y="576"/>
                  </a:lnTo>
                  <a:lnTo>
                    <a:pt x="996" y="576"/>
                  </a:lnTo>
                  <a:lnTo>
                    <a:pt x="1002" y="576"/>
                  </a:lnTo>
                  <a:lnTo>
                    <a:pt x="1002" y="582"/>
                  </a:lnTo>
                  <a:lnTo>
                    <a:pt x="1002" y="588"/>
                  </a:lnTo>
                  <a:lnTo>
                    <a:pt x="996" y="588"/>
                  </a:lnTo>
                  <a:lnTo>
                    <a:pt x="996" y="600"/>
                  </a:lnTo>
                  <a:lnTo>
                    <a:pt x="996" y="606"/>
                  </a:lnTo>
                  <a:lnTo>
                    <a:pt x="990" y="612"/>
                  </a:lnTo>
                  <a:lnTo>
                    <a:pt x="984" y="612"/>
                  </a:lnTo>
                  <a:lnTo>
                    <a:pt x="984" y="618"/>
                  </a:lnTo>
                  <a:lnTo>
                    <a:pt x="984" y="630"/>
                  </a:lnTo>
                  <a:lnTo>
                    <a:pt x="990" y="636"/>
                  </a:lnTo>
                  <a:lnTo>
                    <a:pt x="990" y="642"/>
                  </a:lnTo>
                  <a:lnTo>
                    <a:pt x="990" y="654"/>
                  </a:lnTo>
                  <a:lnTo>
                    <a:pt x="990" y="660"/>
                  </a:lnTo>
                  <a:lnTo>
                    <a:pt x="996" y="660"/>
                  </a:lnTo>
                  <a:lnTo>
                    <a:pt x="1002" y="660"/>
                  </a:lnTo>
                  <a:lnTo>
                    <a:pt x="1002" y="654"/>
                  </a:lnTo>
                  <a:lnTo>
                    <a:pt x="1008" y="660"/>
                  </a:lnTo>
                  <a:lnTo>
                    <a:pt x="1008" y="666"/>
                  </a:lnTo>
                  <a:lnTo>
                    <a:pt x="1002" y="672"/>
                  </a:lnTo>
                  <a:lnTo>
                    <a:pt x="1002" y="678"/>
                  </a:lnTo>
                  <a:lnTo>
                    <a:pt x="1002" y="684"/>
                  </a:lnTo>
                  <a:lnTo>
                    <a:pt x="996" y="684"/>
                  </a:lnTo>
                  <a:lnTo>
                    <a:pt x="996" y="690"/>
                  </a:lnTo>
                  <a:lnTo>
                    <a:pt x="996" y="696"/>
                  </a:lnTo>
                  <a:lnTo>
                    <a:pt x="990" y="696"/>
                  </a:lnTo>
                  <a:lnTo>
                    <a:pt x="990" y="690"/>
                  </a:lnTo>
                  <a:lnTo>
                    <a:pt x="984" y="690"/>
                  </a:lnTo>
                  <a:lnTo>
                    <a:pt x="978" y="696"/>
                  </a:lnTo>
                  <a:lnTo>
                    <a:pt x="966" y="708"/>
                  </a:lnTo>
                  <a:lnTo>
                    <a:pt x="954" y="702"/>
                  </a:lnTo>
                  <a:lnTo>
                    <a:pt x="948" y="702"/>
                  </a:lnTo>
                  <a:lnTo>
                    <a:pt x="942" y="696"/>
                  </a:lnTo>
                  <a:lnTo>
                    <a:pt x="936" y="696"/>
                  </a:lnTo>
                  <a:lnTo>
                    <a:pt x="924" y="684"/>
                  </a:lnTo>
                  <a:lnTo>
                    <a:pt x="930" y="684"/>
                  </a:lnTo>
                  <a:lnTo>
                    <a:pt x="936" y="684"/>
                  </a:lnTo>
                  <a:lnTo>
                    <a:pt x="936" y="678"/>
                  </a:lnTo>
                  <a:lnTo>
                    <a:pt x="942" y="678"/>
                  </a:lnTo>
                  <a:lnTo>
                    <a:pt x="942" y="666"/>
                  </a:lnTo>
                  <a:lnTo>
                    <a:pt x="936" y="666"/>
                  </a:lnTo>
                  <a:lnTo>
                    <a:pt x="924" y="666"/>
                  </a:lnTo>
                  <a:lnTo>
                    <a:pt x="918" y="672"/>
                  </a:lnTo>
                  <a:lnTo>
                    <a:pt x="888" y="678"/>
                  </a:lnTo>
                  <a:lnTo>
                    <a:pt x="888" y="684"/>
                  </a:lnTo>
                  <a:lnTo>
                    <a:pt x="882" y="690"/>
                  </a:lnTo>
                  <a:lnTo>
                    <a:pt x="882" y="702"/>
                  </a:lnTo>
                  <a:lnTo>
                    <a:pt x="876" y="708"/>
                  </a:lnTo>
                  <a:lnTo>
                    <a:pt x="864" y="714"/>
                  </a:lnTo>
                  <a:lnTo>
                    <a:pt x="858" y="714"/>
                  </a:lnTo>
                  <a:lnTo>
                    <a:pt x="852" y="714"/>
                  </a:lnTo>
                  <a:lnTo>
                    <a:pt x="846" y="708"/>
                  </a:lnTo>
                  <a:lnTo>
                    <a:pt x="846" y="714"/>
                  </a:lnTo>
                  <a:lnTo>
                    <a:pt x="846" y="720"/>
                  </a:lnTo>
                  <a:lnTo>
                    <a:pt x="840" y="720"/>
                  </a:lnTo>
                  <a:lnTo>
                    <a:pt x="840" y="726"/>
                  </a:lnTo>
                  <a:lnTo>
                    <a:pt x="834" y="726"/>
                  </a:lnTo>
                  <a:lnTo>
                    <a:pt x="834" y="720"/>
                  </a:lnTo>
                  <a:lnTo>
                    <a:pt x="828" y="720"/>
                  </a:lnTo>
                  <a:lnTo>
                    <a:pt x="828" y="714"/>
                  </a:lnTo>
                  <a:lnTo>
                    <a:pt x="828" y="720"/>
                  </a:lnTo>
                  <a:lnTo>
                    <a:pt x="822" y="714"/>
                  </a:lnTo>
                  <a:lnTo>
                    <a:pt x="816" y="714"/>
                  </a:lnTo>
                  <a:lnTo>
                    <a:pt x="810" y="714"/>
                  </a:lnTo>
                  <a:lnTo>
                    <a:pt x="810" y="720"/>
                  </a:lnTo>
                  <a:lnTo>
                    <a:pt x="810" y="714"/>
                  </a:lnTo>
                  <a:lnTo>
                    <a:pt x="804" y="714"/>
                  </a:lnTo>
                  <a:lnTo>
                    <a:pt x="798" y="714"/>
                  </a:lnTo>
                  <a:lnTo>
                    <a:pt x="792" y="714"/>
                  </a:lnTo>
                  <a:lnTo>
                    <a:pt x="786" y="714"/>
                  </a:lnTo>
                  <a:lnTo>
                    <a:pt x="786" y="708"/>
                  </a:lnTo>
                  <a:lnTo>
                    <a:pt x="780" y="708"/>
                  </a:lnTo>
                  <a:lnTo>
                    <a:pt x="780" y="702"/>
                  </a:lnTo>
                  <a:lnTo>
                    <a:pt x="780" y="696"/>
                  </a:lnTo>
                  <a:lnTo>
                    <a:pt x="780" y="690"/>
                  </a:lnTo>
                  <a:lnTo>
                    <a:pt x="774" y="690"/>
                  </a:lnTo>
                  <a:lnTo>
                    <a:pt x="768" y="690"/>
                  </a:lnTo>
                  <a:lnTo>
                    <a:pt x="768" y="696"/>
                  </a:lnTo>
                  <a:lnTo>
                    <a:pt x="762" y="696"/>
                  </a:lnTo>
                  <a:lnTo>
                    <a:pt x="756" y="696"/>
                  </a:lnTo>
                  <a:lnTo>
                    <a:pt x="756" y="690"/>
                  </a:lnTo>
                  <a:lnTo>
                    <a:pt x="750" y="690"/>
                  </a:lnTo>
                  <a:lnTo>
                    <a:pt x="744" y="690"/>
                  </a:lnTo>
                  <a:lnTo>
                    <a:pt x="738" y="690"/>
                  </a:lnTo>
                  <a:lnTo>
                    <a:pt x="732" y="684"/>
                  </a:lnTo>
                  <a:lnTo>
                    <a:pt x="726" y="678"/>
                  </a:lnTo>
                  <a:lnTo>
                    <a:pt x="732" y="678"/>
                  </a:lnTo>
                  <a:lnTo>
                    <a:pt x="726" y="672"/>
                  </a:lnTo>
                  <a:lnTo>
                    <a:pt x="726" y="678"/>
                  </a:lnTo>
                  <a:lnTo>
                    <a:pt x="720" y="684"/>
                  </a:lnTo>
                  <a:lnTo>
                    <a:pt x="714" y="690"/>
                  </a:lnTo>
                  <a:lnTo>
                    <a:pt x="720" y="690"/>
                  </a:lnTo>
                  <a:lnTo>
                    <a:pt x="714" y="696"/>
                  </a:lnTo>
                  <a:lnTo>
                    <a:pt x="708" y="696"/>
                  </a:lnTo>
                  <a:lnTo>
                    <a:pt x="708" y="702"/>
                  </a:lnTo>
                  <a:lnTo>
                    <a:pt x="702" y="696"/>
                  </a:lnTo>
                  <a:lnTo>
                    <a:pt x="696" y="696"/>
                  </a:lnTo>
                  <a:lnTo>
                    <a:pt x="690" y="690"/>
                  </a:lnTo>
                  <a:lnTo>
                    <a:pt x="690" y="696"/>
                  </a:lnTo>
                  <a:lnTo>
                    <a:pt x="684" y="696"/>
                  </a:lnTo>
                  <a:lnTo>
                    <a:pt x="678" y="696"/>
                  </a:lnTo>
                  <a:lnTo>
                    <a:pt x="678" y="690"/>
                  </a:lnTo>
                  <a:lnTo>
                    <a:pt x="672" y="690"/>
                  </a:lnTo>
                  <a:lnTo>
                    <a:pt x="666" y="690"/>
                  </a:lnTo>
                  <a:lnTo>
                    <a:pt x="660" y="684"/>
                  </a:lnTo>
                  <a:lnTo>
                    <a:pt x="654" y="684"/>
                  </a:lnTo>
                  <a:lnTo>
                    <a:pt x="654" y="690"/>
                  </a:lnTo>
                  <a:lnTo>
                    <a:pt x="648" y="696"/>
                  </a:lnTo>
                  <a:lnTo>
                    <a:pt x="648" y="702"/>
                  </a:lnTo>
                  <a:lnTo>
                    <a:pt x="648" y="708"/>
                  </a:lnTo>
                  <a:lnTo>
                    <a:pt x="642" y="708"/>
                  </a:lnTo>
                  <a:lnTo>
                    <a:pt x="636" y="708"/>
                  </a:lnTo>
                  <a:lnTo>
                    <a:pt x="630" y="708"/>
                  </a:lnTo>
                  <a:lnTo>
                    <a:pt x="624" y="708"/>
                  </a:lnTo>
                  <a:lnTo>
                    <a:pt x="624" y="714"/>
                  </a:lnTo>
                  <a:lnTo>
                    <a:pt x="618" y="714"/>
                  </a:lnTo>
                  <a:lnTo>
                    <a:pt x="618" y="708"/>
                  </a:lnTo>
                  <a:lnTo>
                    <a:pt x="618" y="714"/>
                  </a:lnTo>
                  <a:lnTo>
                    <a:pt x="612" y="714"/>
                  </a:lnTo>
                  <a:lnTo>
                    <a:pt x="606" y="714"/>
                  </a:lnTo>
                  <a:lnTo>
                    <a:pt x="606" y="720"/>
                  </a:lnTo>
                  <a:lnTo>
                    <a:pt x="600" y="720"/>
                  </a:lnTo>
                  <a:lnTo>
                    <a:pt x="594" y="720"/>
                  </a:lnTo>
                  <a:lnTo>
                    <a:pt x="600" y="726"/>
                  </a:lnTo>
                  <a:lnTo>
                    <a:pt x="600" y="732"/>
                  </a:lnTo>
                  <a:lnTo>
                    <a:pt x="594" y="732"/>
                  </a:lnTo>
                  <a:lnTo>
                    <a:pt x="594" y="738"/>
                  </a:lnTo>
                  <a:lnTo>
                    <a:pt x="588" y="738"/>
                  </a:lnTo>
                  <a:lnTo>
                    <a:pt x="594" y="744"/>
                  </a:lnTo>
                  <a:lnTo>
                    <a:pt x="600" y="744"/>
                  </a:lnTo>
                  <a:lnTo>
                    <a:pt x="606" y="750"/>
                  </a:lnTo>
                  <a:lnTo>
                    <a:pt x="606" y="756"/>
                  </a:lnTo>
                  <a:lnTo>
                    <a:pt x="612" y="762"/>
                  </a:lnTo>
                  <a:lnTo>
                    <a:pt x="606" y="762"/>
                  </a:lnTo>
                  <a:lnTo>
                    <a:pt x="612" y="768"/>
                  </a:lnTo>
                  <a:lnTo>
                    <a:pt x="618" y="768"/>
                  </a:lnTo>
                  <a:lnTo>
                    <a:pt x="624" y="768"/>
                  </a:lnTo>
                  <a:lnTo>
                    <a:pt x="624" y="774"/>
                  </a:lnTo>
                  <a:lnTo>
                    <a:pt x="618" y="774"/>
                  </a:lnTo>
                  <a:lnTo>
                    <a:pt x="612" y="774"/>
                  </a:lnTo>
                  <a:lnTo>
                    <a:pt x="606" y="774"/>
                  </a:lnTo>
                  <a:lnTo>
                    <a:pt x="606" y="780"/>
                  </a:lnTo>
                  <a:lnTo>
                    <a:pt x="606" y="786"/>
                  </a:lnTo>
                  <a:lnTo>
                    <a:pt x="600" y="786"/>
                  </a:lnTo>
                  <a:lnTo>
                    <a:pt x="606" y="792"/>
                  </a:lnTo>
                  <a:lnTo>
                    <a:pt x="600" y="792"/>
                  </a:lnTo>
                  <a:lnTo>
                    <a:pt x="600" y="798"/>
                  </a:lnTo>
                  <a:lnTo>
                    <a:pt x="594" y="798"/>
                  </a:lnTo>
                  <a:lnTo>
                    <a:pt x="600" y="798"/>
                  </a:lnTo>
                  <a:lnTo>
                    <a:pt x="594" y="804"/>
                  </a:lnTo>
                  <a:lnTo>
                    <a:pt x="600" y="804"/>
                  </a:lnTo>
                  <a:lnTo>
                    <a:pt x="600" y="810"/>
                  </a:lnTo>
                  <a:lnTo>
                    <a:pt x="594" y="810"/>
                  </a:lnTo>
                  <a:lnTo>
                    <a:pt x="594" y="816"/>
                  </a:lnTo>
                  <a:lnTo>
                    <a:pt x="594" y="822"/>
                  </a:lnTo>
                  <a:lnTo>
                    <a:pt x="600" y="822"/>
                  </a:lnTo>
                  <a:lnTo>
                    <a:pt x="600" y="828"/>
                  </a:lnTo>
                  <a:lnTo>
                    <a:pt x="600" y="834"/>
                  </a:lnTo>
                  <a:lnTo>
                    <a:pt x="600" y="840"/>
                  </a:lnTo>
                  <a:lnTo>
                    <a:pt x="600" y="846"/>
                  </a:lnTo>
                  <a:lnTo>
                    <a:pt x="600" y="852"/>
                  </a:lnTo>
                  <a:lnTo>
                    <a:pt x="600" y="858"/>
                  </a:lnTo>
                  <a:lnTo>
                    <a:pt x="600" y="864"/>
                  </a:lnTo>
                  <a:lnTo>
                    <a:pt x="600" y="870"/>
                  </a:lnTo>
                  <a:lnTo>
                    <a:pt x="600" y="876"/>
                  </a:lnTo>
                  <a:lnTo>
                    <a:pt x="594" y="876"/>
                  </a:lnTo>
                  <a:lnTo>
                    <a:pt x="594" y="882"/>
                  </a:lnTo>
                  <a:lnTo>
                    <a:pt x="618" y="894"/>
                  </a:lnTo>
                  <a:lnTo>
                    <a:pt x="594" y="924"/>
                  </a:lnTo>
                  <a:lnTo>
                    <a:pt x="582" y="948"/>
                  </a:lnTo>
                  <a:lnTo>
                    <a:pt x="576" y="966"/>
                  </a:lnTo>
                  <a:lnTo>
                    <a:pt x="570" y="990"/>
                  </a:lnTo>
                  <a:lnTo>
                    <a:pt x="564" y="990"/>
                  </a:lnTo>
                  <a:lnTo>
                    <a:pt x="540" y="1008"/>
                  </a:lnTo>
                  <a:lnTo>
                    <a:pt x="492" y="1044"/>
                  </a:lnTo>
                  <a:lnTo>
                    <a:pt x="480" y="1056"/>
                  </a:lnTo>
                  <a:lnTo>
                    <a:pt x="474" y="1068"/>
                  </a:lnTo>
                  <a:lnTo>
                    <a:pt x="468" y="1080"/>
                  </a:lnTo>
                  <a:lnTo>
                    <a:pt x="450" y="1092"/>
                  </a:lnTo>
                  <a:lnTo>
                    <a:pt x="438" y="1104"/>
                  </a:lnTo>
                  <a:lnTo>
                    <a:pt x="426" y="1104"/>
                  </a:lnTo>
                  <a:lnTo>
                    <a:pt x="408" y="1110"/>
                  </a:lnTo>
                  <a:lnTo>
                    <a:pt x="414" y="1116"/>
                  </a:lnTo>
                  <a:lnTo>
                    <a:pt x="414" y="1122"/>
                  </a:lnTo>
                  <a:lnTo>
                    <a:pt x="414" y="1128"/>
                  </a:lnTo>
                  <a:lnTo>
                    <a:pt x="414" y="1134"/>
                  </a:lnTo>
                  <a:lnTo>
                    <a:pt x="408" y="1134"/>
                  </a:lnTo>
                  <a:lnTo>
                    <a:pt x="408" y="1128"/>
                  </a:lnTo>
                  <a:lnTo>
                    <a:pt x="402" y="1128"/>
                  </a:lnTo>
                  <a:lnTo>
                    <a:pt x="402" y="1134"/>
                  </a:lnTo>
                  <a:lnTo>
                    <a:pt x="396" y="1134"/>
                  </a:lnTo>
                  <a:lnTo>
                    <a:pt x="390" y="1134"/>
                  </a:lnTo>
                  <a:lnTo>
                    <a:pt x="390" y="1140"/>
                  </a:lnTo>
                  <a:lnTo>
                    <a:pt x="384" y="1140"/>
                  </a:lnTo>
                  <a:lnTo>
                    <a:pt x="378" y="1146"/>
                  </a:lnTo>
                  <a:lnTo>
                    <a:pt x="378" y="1140"/>
                  </a:lnTo>
                  <a:lnTo>
                    <a:pt x="372" y="1146"/>
                  </a:lnTo>
                  <a:lnTo>
                    <a:pt x="372" y="1122"/>
                  </a:lnTo>
                  <a:lnTo>
                    <a:pt x="366" y="1116"/>
                  </a:lnTo>
                  <a:lnTo>
                    <a:pt x="360" y="1116"/>
                  </a:lnTo>
                  <a:lnTo>
                    <a:pt x="360" y="1122"/>
                  </a:lnTo>
                  <a:lnTo>
                    <a:pt x="354" y="1122"/>
                  </a:lnTo>
                  <a:lnTo>
                    <a:pt x="354" y="1116"/>
                  </a:lnTo>
                  <a:lnTo>
                    <a:pt x="348" y="1116"/>
                  </a:lnTo>
                  <a:lnTo>
                    <a:pt x="348" y="1110"/>
                  </a:lnTo>
                  <a:lnTo>
                    <a:pt x="342" y="1110"/>
                  </a:lnTo>
                  <a:lnTo>
                    <a:pt x="342" y="1104"/>
                  </a:lnTo>
                  <a:lnTo>
                    <a:pt x="348" y="1104"/>
                  </a:lnTo>
                  <a:lnTo>
                    <a:pt x="342" y="1104"/>
                  </a:lnTo>
                  <a:lnTo>
                    <a:pt x="348" y="1098"/>
                  </a:lnTo>
                  <a:lnTo>
                    <a:pt x="342" y="1092"/>
                  </a:lnTo>
                  <a:lnTo>
                    <a:pt x="342" y="1086"/>
                  </a:lnTo>
                  <a:lnTo>
                    <a:pt x="336" y="1086"/>
                  </a:lnTo>
                  <a:lnTo>
                    <a:pt x="330" y="1086"/>
                  </a:lnTo>
                  <a:lnTo>
                    <a:pt x="330" y="1080"/>
                  </a:lnTo>
                  <a:lnTo>
                    <a:pt x="324" y="1080"/>
                  </a:lnTo>
                  <a:lnTo>
                    <a:pt x="324" y="1074"/>
                  </a:lnTo>
                  <a:lnTo>
                    <a:pt x="318" y="1074"/>
                  </a:lnTo>
                  <a:lnTo>
                    <a:pt x="318" y="1068"/>
                  </a:lnTo>
                  <a:lnTo>
                    <a:pt x="318" y="1062"/>
                  </a:lnTo>
                  <a:lnTo>
                    <a:pt x="312" y="1062"/>
                  </a:lnTo>
                  <a:lnTo>
                    <a:pt x="306" y="1062"/>
                  </a:lnTo>
                  <a:lnTo>
                    <a:pt x="300" y="1062"/>
                  </a:lnTo>
                  <a:lnTo>
                    <a:pt x="300" y="1056"/>
                  </a:lnTo>
                  <a:lnTo>
                    <a:pt x="294" y="1056"/>
                  </a:lnTo>
                  <a:lnTo>
                    <a:pt x="294" y="1062"/>
                  </a:lnTo>
                  <a:lnTo>
                    <a:pt x="288" y="1062"/>
                  </a:lnTo>
                  <a:lnTo>
                    <a:pt x="288" y="1056"/>
                  </a:lnTo>
                  <a:lnTo>
                    <a:pt x="282" y="1056"/>
                  </a:lnTo>
                  <a:lnTo>
                    <a:pt x="282" y="1050"/>
                  </a:lnTo>
                  <a:lnTo>
                    <a:pt x="276" y="1050"/>
                  </a:lnTo>
                  <a:lnTo>
                    <a:pt x="276" y="1044"/>
                  </a:lnTo>
                  <a:lnTo>
                    <a:pt x="270" y="1044"/>
                  </a:lnTo>
                  <a:lnTo>
                    <a:pt x="264" y="1044"/>
                  </a:lnTo>
                  <a:lnTo>
                    <a:pt x="264" y="1038"/>
                  </a:lnTo>
                  <a:lnTo>
                    <a:pt x="264" y="1032"/>
                  </a:lnTo>
                  <a:lnTo>
                    <a:pt x="258" y="1032"/>
                  </a:lnTo>
                  <a:lnTo>
                    <a:pt x="258" y="1026"/>
                  </a:lnTo>
                  <a:lnTo>
                    <a:pt x="252" y="1026"/>
                  </a:lnTo>
                  <a:lnTo>
                    <a:pt x="246" y="1026"/>
                  </a:lnTo>
                  <a:lnTo>
                    <a:pt x="246" y="1020"/>
                  </a:lnTo>
                  <a:lnTo>
                    <a:pt x="240" y="1020"/>
                  </a:lnTo>
                  <a:lnTo>
                    <a:pt x="234" y="1014"/>
                  </a:lnTo>
                  <a:lnTo>
                    <a:pt x="228" y="1014"/>
                  </a:lnTo>
                  <a:lnTo>
                    <a:pt x="228" y="1008"/>
                  </a:lnTo>
                  <a:lnTo>
                    <a:pt x="222" y="1002"/>
                  </a:lnTo>
                  <a:lnTo>
                    <a:pt x="216" y="996"/>
                  </a:lnTo>
                  <a:lnTo>
                    <a:pt x="216" y="990"/>
                  </a:lnTo>
                  <a:lnTo>
                    <a:pt x="222" y="990"/>
                  </a:lnTo>
                  <a:lnTo>
                    <a:pt x="216" y="984"/>
                  </a:lnTo>
                  <a:lnTo>
                    <a:pt x="222" y="984"/>
                  </a:lnTo>
                  <a:lnTo>
                    <a:pt x="216" y="984"/>
                  </a:lnTo>
                  <a:lnTo>
                    <a:pt x="210" y="978"/>
                  </a:lnTo>
                  <a:lnTo>
                    <a:pt x="210" y="972"/>
                  </a:lnTo>
                  <a:lnTo>
                    <a:pt x="204" y="978"/>
                  </a:lnTo>
                  <a:lnTo>
                    <a:pt x="198" y="978"/>
                  </a:lnTo>
                  <a:lnTo>
                    <a:pt x="192" y="978"/>
                  </a:lnTo>
                  <a:lnTo>
                    <a:pt x="192" y="984"/>
                  </a:lnTo>
                  <a:lnTo>
                    <a:pt x="192" y="990"/>
                  </a:lnTo>
                  <a:lnTo>
                    <a:pt x="186" y="990"/>
                  </a:lnTo>
                  <a:lnTo>
                    <a:pt x="180" y="990"/>
                  </a:lnTo>
                  <a:lnTo>
                    <a:pt x="180" y="996"/>
                  </a:lnTo>
                  <a:lnTo>
                    <a:pt x="174" y="996"/>
                  </a:lnTo>
                  <a:lnTo>
                    <a:pt x="168" y="996"/>
                  </a:lnTo>
                  <a:lnTo>
                    <a:pt x="168" y="1002"/>
                  </a:lnTo>
                  <a:lnTo>
                    <a:pt x="162" y="1002"/>
                  </a:lnTo>
                  <a:lnTo>
                    <a:pt x="162" y="1008"/>
                  </a:lnTo>
                  <a:close/>
                </a:path>
              </a:pathLst>
            </a:custGeom>
            <a:solidFill>
              <a:schemeClr val="accent1"/>
            </a:solidFill>
            <a:ln w="9525">
              <a:solidFill>
                <a:srgbClr val="B2B2B2"/>
              </a:solidFill>
              <a:round/>
              <a:headEnd/>
              <a:tailEnd/>
            </a:ln>
          </p:spPr>
          <p:txBody>
            <a:bodyPr/>
            <a:lstStyle/>
            <a:p>
              <a:endParaRPr lang="en-CA"/>
            </a:p>
          </p:txBody>
        </p:sp>
        <p:sp>
          <p:nvSpPr>
            <p:cNvPr id="452" name="Freeform 511"/>
            <p:cNvSpPr>
              <a:spLocks noEditPoints="1"/>
            </p:cNvSpPr>
            <p:nvPr>
              <p:custDataLst>
                <p:tags r:id="rId75"/>
              </p:custDataLst>
            </p:nvPr>
          </p:nvSpPr>
          <p:spPr bwMode="gray">
            <a:xfrm>
              <a:off x="2055" y="744"/>
              <a:ext cx="1019" cy="2479"/>
            </a:xfrm>
            <a:custGeom>
              <a:avLst/>
              <a:gdLst>
                <a:gd name="T0" fmla="*/ 187266597 w 1638"/>
                <a:gd name="T1" fmla="*/ 1978640845 h 3972"/>
                <a:gd name="T2" fmla="*/ 222379146 w 1638"/>
                <a:gd name="T3" fmla="*/ 1902086560 h 3972"/>
                <a:gd name="T4" fmla="*/ 111189079 w 1638"/>
                <a:gd name="T5" fmla="*/ 1695977725 h 3972"/>
                <a:gd name="T6" fmla="*/ 345272079 w 1638"/>
                <a:gd name="T7" fmla="*/ 1601757676 h 3972"/>
                <a:gd name="T8" fmla="*/ 380384627 w 1638"/>
                <a:gd name="T9" fmla="*/ 1501647388 h 3972"/>
                <a:gd name="T10" fmla="*/ 345272079 w 1638"/>
                <a:gd name="T11" fmla="*/ 1466314870 h 3972"/>
                <a:gd name="T12" fmla="*/ 409644755 w 1638"/>
                <a:gd name="T13" fmla="*/ 1401538091 h 3972"/>
                <a:gd name="T14" fmla="*/ 497426127 w 1638"/>
                <a:gd name="T15" fmla="*/ 1324982815 h 3972"/>
                <a:gd name="T16" fmla="*/ 708100432 w 1638"/>
                <a:gd name="T17" fmla="*/ 1242539281 h 3972"/>
                <a:gd name="T18" fmla="*/ 696396578 w 1638"/>
                <a:gd name="T19" fmla="*/ 1207206763 h 3972"/>
                <a:gd name="T20" fmla="*/ 813438078 w 1638"/>
                <a:gd name="T21" fmla="*/ 1160096738 h 3972"/>
                <a:gd name="T22" fmla="*/ 807585657 w 1638"/>
                <a:gd name="T23" fmla="*/ 1236651023 h 3972"/>
                <a:gd name="T24" fmla="*/ 930479577 w 1638"/>
                <a:gd name="T25" fmla="*/ 1183651750 h 3972"/>
                <a:gd name="T26" fmla="*/ 1018260949 w 1638"/>
                <a:gd name="T27" fmla="*/ 1059986450 h 3972"/>
                <a:gd name="T28" fmla="*/ 1205527546 w 1638"/>
                <a:gd name="T29" fmla="*/ 912766137 h 3972"/>
                <a:gd name="T30" fmla="*/ 1240640095 w 1638"/>
                <a:gd name="T31" fmla="*/ 1030542189 h 3972"/>
                <a:gd name="T32" fmla="*/ 1281604077 w 1638"/>
                <a:gd name="T33" fmla="*/ 1136540735 h 3972"/>
                <a:gd name="T34" fmla="*/ 1498130802 w 1638"/>
                <a:gd name="T35" fmla="*/ 1101208217 h 3972"/>
                <a:gd name="T36" fmla="*/ 1550799625 w 1638"/>
                <a:gd name="T37" fmla="*/ 1218984269 h 3972"/>
                <a:gd name="T38" fmla="*/ 1550799625 w 1638"/>
                <a:gd name="T39" fmla="*/ 1283761048 h 3972"/>
                <a:gd name="T40" fmla="*/ 1562503479 w 1638"/>
                <a:gd name="T41" fmla="*/ 1389759594 h 3972"/>
                <a:gd name="T42" fmla="*/ 1416201851 w 1638"/>
                <a:gd name="T43" fmla="*/ 1531091649 h 3972"/>
                <a:gd name="T44" fmla="*/ 1258195382 w 1638"/>
                <a:gd name="T45" fmla="*/ 1684200219 h 3972"/>
                <a:gd name="T46" fmla="*/ 1351829174 w 1638"/>
                <a:gd name="T47" fmla="*/ 1695977725 h 3972"/>
                <a:gd name="T48" fmla="*/ 1398645576 w 1638"/>
                <a:gd name="T49" fmla="*/ 1601757676 h 3972"/>
                <a:gd name="T50" fmla="*/ 1451314400 w 1638"/>
                <a:gd name="T51" fmla="*/ 2043418615 h 3972"/>
                <a:gd name="T52" fmla="*/ 1258195382 w 1638"/>
                <a:gd name="T53" fmla="*/ 2147483647 h 3972"/>
                <a:gd name="T54" fmla="*/ 1310864205 w 1638"/>
                <a:gd name="T55" fmla="*/ 2147483647 h 3972"/>
                <a:gd name="T56" fmla="*/ 1258195382 w 1638"/>
                <a:gd name="T57" fmla="*/ 2147483647 h 3972"/>
                <a:gd name="T58" fmla="*/ 1199675126 w 1638"/>
                <a:gd name="T59" fmla="*/ 2147483647 h 3972"/>
                <a:gd name="T60" fmla="*/ 1082633626 w 1638"/>
                <a:gd name="T61" fmla="*/ 2147483647 h 3972"/>
                <a:gd name="T62" fmla="*/ 936331998 w 1638"/>
                <a:gd name="T63" fmla="*/ 2147483647 h 3972"/>
                <a:gd name="T64" fmla="*/ 825141931 w 1638"/>
                <a:gd name="T65" fmla="*/ 2147483647 h 3972"/>
                <a:gd name="T66" fmla="*/ 737361547 w 1638"/>
                <a:gd name="T67" fmla="*/ 2147483647 h 3972"/>
                <a:gd name="T68" fmla="*/ 596911352 w 1638"/>
                <a:gd name="T69" fmla="*/ 2147483647 h 3972"/>
                <a:gd name="T70" fmla="*/ 474017432 w 1638"/>
                <a:gd name="T71" fmla="*/ 2147483647 h 3972"/>
                <a:gd name="T72" fmla="*/ 275047969 w 1638"/>
                <a:gd name="T73" fmla="*/ 2147483647 h 3972"/>
                <a:gd name="T74" fmla="*/ 234083000 w 1638"/>
                <a:gd name="T75" fmla="*/ 2147483647 h 3972"/>
                <a:gd name="T76" fmla="*/ 216526725 w 1638"/>
                <a:gd name="T77" fmla="*/ 2147483647 h 3972"/>
                <a:gd name="T78" fmla="*/ 64372677 w 1638"/>
                <a:gd name="T79" fmla="*/ 2147483647 h 3972"/>
                <a:gd name="T80" fmla="*/ 122893920 w 1638"/>
                <a:gd name="T81" fmla="*/ 2096417888 h 3972"/>
                <a:gd name="T82" fmla="*/ 87781372 w 1638"/>
                <a:gd name="T83" fmla="*/ 1902086560 h 3972"/>
                <a:gd name="T84" fmla="*/ 737361547 w 1638"/>
                <a:gd name="T85" fmla="*/ 394550914 h 3972"/>
                <a:gd name="T86" fmla="*/ 877810754 w 1638"/>
                <a:gd name="T87" fmla="*/ 347439898 h 3972"/>
                <a:gd name="T88" fmla="*/ 889515596 w 1638"/>
                <a:gd name="T89" fmla="*/ 376884159 h 3972"/>
                <a:gd name="T90" fmla="*/ 965592126 w 1638"/>
                <a:gd name="T91" fmla="*/ 459327693 h 3972"/>
                <a:gd name="T92" fmla="*/ 895367029 w 1638"/>
                <a:gd name="T93" fmla="*/ 647769772 h 3972"/>
                <a:gd name="T94" fmla="*/ 725656706 w 1638"/>
                <a:gd name="T95" fmla="*/ 518215223 h 3972"/>
                <a:gd name="T96" fmla="*/ 983148400 w 1638"/>
                <a:gd name="T97" fmla="*/ 730213306 h 3972"/>
                <a:gd name="T98" fmla="*/ 1100189900 w 1638"/>
                <a:gd name="T99" fmla="*/ 512326966 h 3972"/>
                <a:gd name="T100" fmla="*/ 1147006303 w 1638"/>
                <a:gd name="T101" fmla="*/ 565326239 h 3972"/>
                <a:gd name="T102" fmla="*/ 1100189900 w 1638"/>
                <a:gd name="T103" fmla="*/ 783212579 h 3972"/>
                <a:gd name="T104" fmla="*/ 649580176 w 1638"/>
                <a:gd name="T105" fmla="*/ 229663846 h 3972"/>
                <a:gd name="T106" fmla="*/ 784177950 w 1638"/>
                <a:gd name="T107" fmla="*/ 5889248 h 3972"/>
                <a:gd name="T108" fmla="*/ 860254480 w 1638"/>
                <a:gd name="T109" fmla="*/ 276773871 h 3972"/>
                <a:gd name="T110" fmla="*/ 602763773 w 1638"/>
                <a:gd name="T111" fmla="*/ 288552368 h 3972"/>
                <a:gd name="T112" fmla="*/ 614467627 w 1638"/>
                <a:gd name="T113" fmla="*/ 418105926 h 3972"/>
                <a:gd name="T114" fmla="*/ 1562503479 w 1638"/>
                <a:gd name="T115" fmla="*/ 1542869155 h 3972"/>
                <a:gd name="T116" fmla="*/ 813438078 w 1638"/>
                <a:gd name="T117" fmla="*/ 995209671 h 3972"/>
                <a:gd name="T118" fmla="*/ 1258195382 w 1638"/>
                <a:gd name="T119" fmla="*/ 771434082 h 3972"/>
                <a:gd name="T120" fmla="*/ 754917822 w 1638"/>
                <a:gd name="T121" fmla="*/ 1095318968 h 3972"/>
                <a:gd name="T122" fmla="*/ 1562503479 w 1638"/>
                <a:gd name="T123" fmla="*/ 1160096738 h 3972"/>
                <a:gd name="T124" fmla="*/ 790030370 w 1638"/>
                <a:gd name="T125" fmla="*/ 1095318968 h 397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38"/>
                <a:gd name="T190" fmla="*/ 0 h 3972"/>
                <a:gd name="T191" fmla="*/ 1638 w 1638"/>
                <a:gd name="T192" fmla="*/ 3972 h 397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38" h="3972">
                  <a:moveTo>
                    <a:pt x="0" y="1866"/>
                  </a:moveTo>
                  <a:lnTo>
                    <a:pt x="6" y="1860"/>
                  </a:lnTo>
                  <a:lnTo>
                    <a:pt x="12" y="1860"/>
                  </a:lnTo>
                  <a:lnTo>
                    <a:pt x="18" y="1860"/>
                  </a:lnTo>
                  <a:lnTo>
                    <a:pt x="24" y="1860"/>
                  </a:lnTo>
                  <a:lnTo>
                    <a:pt x="30" y="1860"/>
                  </a:lnTo>
                  <a:lnTo>
                    <a:pt x="36" y="1860"/>
                  </a:lnTo>
                  <a:lnTo>
                    <a:pt x="42" y="1860"/>
                  </a:lnTo>
                  <a:lnTo>
                    <a:pt x="60" y="1866"/>
                  </a:lnTo>
                  <a:lnTo>
                    <a:pt x="66" y="1872"/>
                  </a:lnTo>
                  <a:lnTo>
                    <a:pt x="72" y="1878"/>
                  </a:lnTo>
                  <a:lnTo>
                    <a:pt x="78" y="1884"/>
                  </a:lnTo>
                  <a:lnTo>
                    <a:pt x="78" y="1890"/>
                  </a:lnTo>
                  <a:lnTo>
                    <a:pt x="84" y="1890"/>
                  </a:lnTo>
                  <a:lnTo>
                    <a:pt x="84" y="1896"/>
                  </a:lnTo>
                  <a:lnTo>
                    <a:pt x="84" y="1890"/>
                  </a:lnTo>
                  <a:lnTo>
                    <a:pt x="90" y="1890"/>
                  </a:lnTo>
                  <a:lnTo>
                    <a:pt x="90" y="1896"/>
                  </a:lnTo>
                  <a:lnTo>
                    <a:pt x="96" y="1896"/>
                  </a:lnTo>
                  <a:lnTo>
                    <a:pt x="102" y="1896"/>
                  </a:lnTo>
                  <a:lnTo>
                    <a:pt x="102" y="1902"/>
                  </a:lnTo>
                  <a:lnTo>
                    <a:pt x="108" y="1902"/>
                  </a:lnTo>
                  <a:lnTo>
                    <a:pt x="108" y="1908"/>
                  </a:lnTo>
                  <a:lnTo>
                    <a:pt x="114" y="1908"/>
                  </a:lnTo>
                  <a:lnTo>
                    <a:pt x="108" y="1908"/>
                  </a:lnTo>
                  <a:lnTo>
                    <a:pt x="114" y="1914"/>
                  </a:lnTo>
                  <a:lnTo>
                    <a:pt x="120" y="1914"/>
                  </a:lnTo>
                  <a:lnTo>
                    <a:pt x="120" y="1920"/>
                  </a:lnTo>
                  <a:lnTo>
                    <a:pt x="126" y="1920"/>
                  </a:lnTo>
                  <a:lnTo>
                    <a:pt x="126" y="1926"/>
                  </a:lnTo>
                  <a:lnTo>
                    <a:pt x="132" y="1932"/>
                  </a:lnTo>
                  <a:lnTo>
                    <a:pt x="132" y="1938"/>
                  </a:lnTo>
                  <a:lnTo>
                    <a:pt x="138" y="1938"/>
                  </a:lnTo>
                  <a:lnTo>
                    <a:pt x="138" y="1944"/>
                  </a:lnTo>
                  <a:lnTo>
                    <a:pt x="144" y="1950"/>
                  </a:lnTo>
                  <a:lnTo>
                    <a:pt x="144" y="1956"/>
                  </a:lnTo>
                  <a:lnTo>
                    <a:pt x="150" y="1956"/>
                  </a:lnTo>
                  <a:lnTo>
                    <a:pt x="150" y="1962"/>
                  </a:lnTo>
                  <a:lnTo>
                    <a:pt x="156" y="1962"/>
                  </a:lnTo>
                  <a:lnTo>
                    <a:pt x="162" y="1962"/>
                  </a:lnTo>
                  <a:lnTo>
                    <a:pt x="168" y="1962"/>
                  </a:lnTo>
                  <a:lnTo>
                    <a:pt x="174" y="1962"/>
                  </a:lnTo>
                  <a:lnTo>
                    <a:pt x="180" y="1962"/>
                  </a:lnTo>
                  <a:lnTo>
                    <a:pt x="186" y="1962"/>
                  </a:lnTo>
                  <a:lnTo>
                    <a:pt x="198" y="1956"/>
                  </a:lnTo>
                  <a:lnTo>
                    <a:pt x="204" y="1956"/>
                  </a:lnTo>
                  <a:lnTo>
                    <a:pt x="204" y="1950"/>
                  </a:lnTo>
                  <a:lnTo>
                    <a:pt x="210" y="1950"/>
                  </a:lnTo>
                  <a:lnTo>
                    <a:pt x="216" y="1950"/>
                  </a:lnTo>
                  <a:lnTo>
                    <a:pt x="216" y="1956"/>
                  </a:lnTo>
                  <a:lnTo>
                    <a:pt x="222" y="1956"/>
                  </a:lnTo>
                  <a:lnTo>
                    <a:pt x="228" y="1956"/>
                  </a:lnTo>
                  <a:lnTo>
                    <a:pt x="228" y="1962"/>
                  </a:lnTo>
                  <a:lnTo>
                    <a:pt x="234" y="1962"/>
                  </a:lnTo>
                  <a:lnTo>
                    <a:pt x="234" y="1968"/>
                  </a:lnTo>
                  <a:lnTo>
                    <a:pt x="228" y="1974"/>
                  </a:lnTo>
                  <a:lnTo>
                    <a:pt x="228" y="1980"/>
                  </a:lnTo>
                  <a:lnTo>
                    <a:pt x="222" y="1980"/>
                  </a:lnTo>
                  <a:lnTo>
                    <a:pt x="222" y="1986"/>
                  </a:lnTo>
                  <a:lnTo>
                    <a:pt x="216" y="1986"/>
                  </a:lnTo>
                  <a:lnTo>
                    <a:pt x="216" y="1992"/>
                  </a:lnTo>
                  <a:lnTo>
                    <a:pt x="216" y="1998"/>
                  </a:lnTo>
                  <a:lnTo>
                    <a:pt x="222" y="2004"/>
                  </a:lnTo>
                  <a:lnTo>
                    <a:pt x="216" y="2004"/>
                  </a:lnTo>
                  <a:lnTo>
                    <a:pt x="216" y="2010"/>
                  </a:lnTo>
                  <a:lnTo>
                    <a:pt x="210" y="2010"/>
                  </a:lnTo>
                  <a:lnTo>
                    <a:pt x="204" y="2010"/>
                  </a:lnTo>
                  <a:lnTo>
                    <a:pt x="198" y="2016"/>
                  </a:lnTo>
                  <a:lnTo>
                    <a:pt x="192" y="2016"/>
                  </a:lnTo>
                  <a:lnTo>
                    <a:pt x="186" y="2022"/>
                  </a:lnTo>
                  <a:lnTo>
                    <a:pt x="186" y="2028"/>
                  </a:lnTo>
                  <a:lnTo>
                    <a:pt x="186" y="2034"/>
                  </a:lnTo>
                  <a:lnTo>
                    <a:pt x="186" y="2040"/>
                  </a:lnTo>
                  <a:lnTo>
                    <a:pt x="186" y="2046"/>
                  </a:lnTo>
                  <a:lnTo>
                    <a:pt x="186" y="2052"/>
                  </a:lnTo>
                  <a:lnTo>
                    <a:pt x="186" y="2058"/>
                  </a:lnTo>
                  <a:lnTo>
                    <a:pt x="180" y="2058"/>
                  </a:lnTo>
                  <a:lnTo>
                    <a:pt x="180" y="2064"/>
                  </a:lnTo>
                  <a:lnTo>
                    <a:pt x="186" y="2064"/>
                  </a:lnTo>
                  <a:lnTo>
                    <a:pt x="192" y="2064"/>
                  </a:lnTo>
                  <a:lnTo>
                    <a:pt x="198" y="2064"/>
                  </a:lnTo>
                  <a:lnTo>
                    <a:pt x="204" y="2064"/>
                  </a:lnTo>
                  <a:lnTo>
                    <a:pt x="204" y="2070"/>
                  </a:lnTo>
                  <a:lnTo>
                    <a:pt x="210" y="2070"/>
                  </a:lnTo>
                  <a:lnTo>
                    <a:pt x="210" y="2064"/>
                  </a:lnTo>
                  <a:lnTo>
                    <a:pt x="216" y="2064"/>
                  </a:lnTo>
                  <a:lnTo>
                    <a:pt x="222" y="2064"/>
                  </a:lnTo>
                  <a:lnTo>
                    <a:pt x="222" y="2070"/>
                  </a:lnTo>
                  <a:lnTo>
                    <a:pt x="228" y="2070"/>
                  </a:lnTo>
                  <a:lnTo>
                    <a:pt x="228" y="2076"/>
                  </a:lnTo>
                  <a:lnTo>
                    <a:pt x="228" y="2082"/>
                  </a:lnTo>
                  <a:lnTo>
                    <a:pt x="234" y="2082"/>
                  </a:lnTo>
                  <a:lnTo>
                    <a:pt x="234" y="2088"/>
                  </a:lnTo>
                  <a:lnTo>
                    <a:pt x="240" y="2100"/>
                  </a:lnTo>
                  <a:lnTo>
                    <a:pt x="240" y="2106"/>
                  </a:lnTo>
                  <a:lnTo>
                    <a:pt x="240" y="2112"/>
                  </a:lnTo>
                  <a:lnTo>
                    <a:pt x="246" y="2112"/>
                  </a:lnTo>
                  <a:lnTo>
                    <a:pt x="252" y="2118"/>
                  </a:lnTo>
                  <a:lnTo>
                    <a:pt x="246" y="2106"/>
                  </a:lnTo>
                  <a:lnTo>
                    <a:pt x="246" y="2100"/>
                  </a:lnTo>
                  <a:lnTo>
                    <a:pt x="246" y="2094"/>
                  </a:lnTo>
                  <a:lnTo>
                    <a:pt x="246" y="2088"/>
                  </a:lnTo>
                  <a:lnTo>
                    <a:pt x="240" y="2082"/>
                  </a:lnTo>
                  <a:lnTo>
                    <a:pt x="246" y="2082"/>
                  </a:lnTo>
                  <a:lnTo>
                    <a:pt x="240" y="2076"/>
                  </a:lnTo>
                  <a:lnTo>
                    <a:pt x="240" y="2070"/>
                  </a:lnTo>
                  <a:lnTo>
                    <a:pt x="240" y="2064"/>
                  </a:lnTo>
                  <a:lnTo>
                    <a:pt x="240" y="2058"/>
                  </a:lnTo>
                  <a:lnTo>
                    <a:pt x="234" y="2058"/>
                  </a:lnTo>
                  <a:lnTo>
                    <a:pt x="234" y="2052"/>
                  </a:lnTo>
                  <a:lnTo>
                    <a:pt x="228" y="2052"/>
                  </a:lnTo>
                  <a:lnTo>
                    <a:pt x="228" y="2046"/>
                  </a:lnTo>
                  <a:lnTo>
                    <a:pt x="234" y="2046"/>
                  </a:lnTo>
                  <a:lnTo>
                    <a:pt x="234" y="2040"/>
                  </a:lnTo>
                  <a:lnTo>
                    <a:pt x="228" y="2040"/>
                  </a:lnTo>
                  <a:lnTo>
                    <a:pt x="228" y="2034"/>
                  </a:lnTo>
                  <a:lnTo>
                    <a:pt x="228" y="2028"/>
                  </a:lnTo>
                  <a:lnTo>
                    <a:pt x="228" y="2022"/>
                  </a:lnTo>
                  <a:lnTo>
                    <a:pt x="234" y="2022"/>
                  </a:lnTo>
                  <a:lnTo>
                    <a:pt x="234" y="2016"/>
                  </a:lnTo>
                  <a:lnTo>
                    <a:pt x="234" y="2010"/>
                  </a:lnTo>
                  <a:lnTo>
                    <a:pt x="234" y="2004"/>
                  </a:lnTo>
                  <a:lnTo>
                    <a:pt x="240" y="2004"/>
                  </a:lnTo>
                  <a:lnTo>
                    <a:pt x="240" y="1998"/>
                  </a:lnTo>
                  <a:lnTo>
                    <a:pt x="240" y="1992"/>
                  </a:lnTo>
                  <a:lnTo>
                    <a:pt x="246" y="1992"/>
                  </a:lnTo>
                  <a:lnTo>
                    <a:pt x="246" y="1986"/>
                  </a:lnTo>
                  <a:lnTo>
                    <a:pt x="246" y="1980"/>
                  </a:lnTo>
                  <a:lnTo>
                    <a:pt x="252" y="1974"/>
                  </a:lnTo>
                  <a:lnTo>
                    <a:pt x="246" y="1974"/>
                  </a:lnTo>
                  <a:lnTo>
                    <a:pt x="246" y="1968"/>
                  </a:lnTo>
                  <a:lnTo>
                    <a:pt x="240" y="1962"/>
                  </a:lnTo>
                  <a:lnTo>
                    <a:pt x="240" y="1956"/>
                  </a:lnTo>
                  <a:lnTo>
                    <a:pt x="240" y="1950"/>
                  </a:lnTo>
                  <a:lnTo>
                    <a:pt x="240" y="1944"/>
                  </a:lnTo>
                  <a:lnTo>
                    <a:pt x="234" y="1944"/>
                  </a:lnTo>
                  <a:lnTo>
                    <a:pt x="234" y="1938"/>
                  </a:lnTo>
                  <a:lnTo>
                    <a:pt x="228" y="1938"/>
                  </a:lnTo>
                  <a:lnTo>
                    <a:pt x="222" y="1938"/>
                  </a:lnTo>
                  <a:lnTo>
                    <a:pt x="216" y="1938"/>
                  </a:lnTo>
                  <a:lnTo>
                    <a:pt x="216" y="1932"/>
                  </a:lnTo>
                  <a:lnTo>
                    <a:pt x="210" y="1932"/>
                  </a:lnTo>
                  <a:lnTo>
                    <a:pt x="204" y="1932"/>
                  </a:lnTo>
                  <a:lnTo>
                    <a:pt x="204" y="1938"/>
                  </a:lnTo>
                  <a:lnTo>
                    <a:pt x="204" y="1932"/>
                  </a:lnTo>
                  <a:lnTo>
                    <a:pt x="204" y="1926"/>
                  </a:lnTo>
                  <a:lnTo>
                    <a:pt x="198" y="1926"/>
                  </a:lnTo>
                  <a:lnTo>
                    <a:pt x="198" y="1920"/>
                  </a:lnTo>
                  <a:lnTo>
                    <a:pt x="198" y="1914"/>
                  </a:lnTo>
                  <a:lnTo>
                    <a:pt x="192" y="1908"/>
                  </a:lnTo>
                  <a:lnTo>
                    <a:pt x="186" y="1908"/>
                  </a:lnTo>
                  <a:lnTo>
                    <a:pt x="186" y="1902"/>
                  </a:lnTo>
                  <a:lnTo>
                    <a:pt x="192" y="1902"/>
                  </a:lnTo>
                  <a:lnTo>
                    <a:pt x="192" y="1896"/>
                  </a:lnTo>
                  <a:lnTo>
                    <a:pt x="192" y="1890"/>
                  </a:lnTo>
                  <a:lnTo>
                    <a:pt x="186" y="1884"/>
                  </a:lnTo>
                  <a:lnTo>
                    <a:pt x="186" y="1878"/>
                  </a:lnTo>
                  <a:lnTo>
                    <a:pt x="180" y="1878"/>
                  </a:lnTo>
                  <a:lnTo>
                    <a:pt x="174" y="1872"/>
                  </a:lnTo>
                  <a:lnTo>
                    <a:pt x="168" y="1872"/>
                  </a:lnTo>
                  <a:lnTo>
                    <a:pt x="168" y="1866"/>
                  </a:lnTo>
                  <a:lnTo>
                    <a:pt x="174" y="1866"/>
                  </a:lnTo>
                  <a:lnTo>
                    <a:pt x="168" y="1866"/>
                  </a:lnTo>
                  <a:lnTo>
                    <a:pt x="168" y="1872"/>
                  </a:lnTo>
                  <a:lnTo>
                    <a:pt x="162" y="1866"/>
                  </a:lnTo>
                  <a:lnTo>
                    <a:pt x="156" y="1866"/>
                  </a:lnTo>
                  <a:lnTo>
                    <a:pt x="150" y="1866"/>
                  </a:lnTo>
                  <a:lnTo>
                    <a:pt x="144" y="1866"/>
                  </a:lnTo>
                  <a:lnTo>
                    <a:pt x="138" y="1866"/>
                  </a:lnTo>
                  <a:lnTo>
                    <a:pt x="132" y="1860"/>
                  </a:lnTo>
                  <a:lnTo>
                    <a:pt x="126" y="1854"/>
                  </a:lnTo>
                  <a:lnTo>
                    <a:pt x="120" y="1848"/>
                  </a:lnTo>
                  <a:lnTo>
                    <a:pt x="120" y="1842"/>
                  </a:lnTo>
                  <a:lnTo>
                    <a:pt x="120" y="1836"/>
                  </a:lnTo>
                  <a:lnTo>
                    <a:pt x="120" y="1830"/>
                  </a:lnTo>
                  <a:lnTo>
                    <a:pt x="126" y="1830"/>
                  </a:lnTo>
                  <a:lnTo>
                    <a:pt x="126" y="1824"/>
                  </a:lnTo>
                  <a:lnTo>
                    <a:pt x="120" y="1824"/>
                  </a:lnTo>
                  <a:lnTo>
                    <a:pt x="114" y="1824"/>
                  </a:lnTo>
                  <a:lnTo>
                    <a:pt x="114" y="1818"/>
                  </a:lnTo>
                  <a:lnTo>
                    <a:pt x="114" y="1812"/>
                  </a:lnTo>
                  <a:lnTo>
                    <a:pt x="114" y="1806"/>
                  </a:lnTo>
                  <a:lnTo>
                    <a:pt x="120" y="1800"/>
                  </a:lnTo>
                  <a:lnTo>
                    <a:pt x="120" y="1794"/>
                  </a:lnTo>
                  <a:lnTo>
                    <a:pt x="120" y="1788"/>
                  </a:lnTo>
                  <a:lnTo>
                    <a:pt x="120" y="1782"/>
                  </a:lnTo>
                  <a:lnTo>
                    <a:pt x="120" y="1776"/>
                  </a:lnTo>
                  <a:lnTo>
                    <a:pt x="120" y="1770"/>
                  </a:lnTo>
                  <a:lnTo>
                    <a:pt x="120" y="1764"/>
                  </a:lnTo>
                  <a:lnTo>
                    <a:pt x="120" y="1758"/>
                  </a:lnTo>
                  <a:lnTo>
                    <a:pt x="114" y="1758"/>
                  </a:lnTo>
                  <a:lnTo>
                    <a:pt x="108" y="1752"/>
                  </a:lnTo>
                  <a:lnTo>
                    <a:pt x="114" y="1752"/>
                  </a:lnTo>
                  <a:lnTo>
                    <a:pt x="114" y="1746"/>
                  </a:lnTo>
                  <a:lnTo>
                    <a:pt x="108" y="1746"/>
                  </a:lnTo>
                  <a:lnTo>
                    <a:pt x="108" y="1740"/>
                  </a:lnTo>
                  <a:lnTo>
                    <a:pt x="102" y="1740"/>
                  </a:lnTo>
                  <a:lnTo>
                    <a:pt x="102" y="1734"/>
                  </a:lnTo>
                  <a:lnTo>
                    <a:pt x="96" y="1734"/>
                  </a:lnTo>
                  <a:lnTo>
                    <a:pt x="96" y="1740"/>
                  </a:lnTo>
                  <a:lnTo>
                    <a:pt x="96" y="1734"/>
                  </a:lnTo>
                  <a:lnTo>
                    <a:pt x="102" y="1734"/>
                  </a:lnTo>
                  <a:lnTo>
                    <a:pt x="108" y="1734"/>
                  </a:lnTo>
                  <a:lnTo>
                    <a:pt x="114" y="1734"/>
                  </a:lnTo>
                  <a:lnTo>
                    <a:pt x="120" y="1734"/>
                  </a:lnTo>
                  <a:lnTo>
                    <a:pt x="114" y="1734"/>
                  </a:lnTo>
                  <a:lnTo>
                    <a:pt x="114" y="1728"/>
                  </a:lnTo>
                  <a:lnTo>
                    <a:pt x="108" y="1728"/>
                  </a:lnTo>
                  <a:lnTo>
                    <a:pt x="108" y="1722"/>
                  </a:lnTo>
                  <a:lnTo>
                    <a:pt x="102" y="1722"/>
                  </a:lnTo>
                  <a:lnTo>
                    <a:pt x="96" y="1716"/>
                  </a:lnTo>
                  <a:lnTo>
                    <a:pt x="102" y="1716"/>
                  </a:lnTo>
                  <a:lnTo>
                    <a:pt x="102" y="1710"/>
                  </a:lnTo>
                  <a:lnTo>
                    <a:pt x="108" y="1710"/>
                  </a:lnTo>
                  <a:lnTo>
                    <a:pt x="108" y="1704"/>
                  </a:lnTo>
                  <a:lnTo>
                    <a:pt x="114" y="1704"/>
                  </a:lnTo>
                  <a:lnTo>
                    <a:pt x="114" y="1698"/>
                  </a:lnTo>
                  <a:lnTo>
                    <a:pt x="114" y="1692"/>
                  </a:lnTo>
                  <a:lnTo>
                    <a:pt x="114" y="1686"/>
                  </a:lnTo>
                  <a:lnTo>
                    <a:pt x="108" y="1686"/>
                  </a:lnTo>
                  <a:lnTo>
                    <a:pt x="108" y="1692"/>
                  </a:lnTo>
                  <a:lnTo>
                    <a:pt x="108" y="1686"/>
                  </a:lnTo>
                  <a:lnTo>
                    <a:pt x="102" y="1686"/>
                  </a:lnTo>
                  <a:lnTo>
                    <a:pt x="108" y="1686"/>
                  </a:lnTo>
                  <a:lnTo>
                    <a:pt x="108" y="1680"/>
                  </a:lnTo>
                  <a:lnTo>
                    <a:pt x="108" y="1674"/>
                  </a:lnTo>
                  <a:lnTo>
                    <a:pt x="114" y="1674"/>
                  </a:lnTo>
                  <a:lnTo>
                    <a:pt x="120" y="1674"/>
                  </a:lnTo>
                  <a:lnTo>
                    <a:pt x="120" y="1680"/>
                  </a:lnTo>
                  <a:lnTo>
                    <a:pt x="126" y="1680"/>
                  </a:lnTo>
                  <a:lnTo>
                    <a:pt x="126" y="1674"/>
                  </a:lnTo>
                  <a:lnTo>
                    <a:pt x="132" y="1674"/>
                  </a:lnTo>
                  <a:lnTo>
                    <a:pt x="138" y="1674"/>
                  </a:lnTo>
                  <a:lnTo>
                    <a:pt x="144" y="1674"/>
                  </a:lnTo>
                  <a:lnTo>
                    <a:pt x="144" y="1668"/>
                  </a:lnTo>
                  <a:lnTo>
                    <a:pt x="150" y="1668"/>
                  </a:lnTo>
                  <a:lnTo>
                    <a:pt x="156" y="1668"/>
                  </a:lnTo>
                  <a:lnTo>
                    <a:pt x="162" y="1668"/>
                  </a:lnTo>
                  <a:lnTo>
                    <a:pt x="168" y="1662"/>
                  </a:lnTo>
                  <a:lnTo>
                    <a:pt x="174" y="1662"/>
                  </a:lnTo>
                  <a:lnTo>
                    <a:pt x="180" y="1662"/>
                  </a:lnTo>
                  <a:lnTo>
                    <a:pt x="186" y="1662"/>
                  </a:lnTo>
                  <a:lnTo>
                    <a:pt x="192" y="1662"/>
                  </a:lnTo>
                  <a:lnTo>
                    <a:pt x="192" y="1668"/>
                  </a:lnTo>
                  <a:lnTo>
                    <a:pt x="192" y="1662"/>
                  </a:lnTo>
                  <a:lnTo>
                    <a:pt x="204" y="1662"/>
                  </a:lnTo>
                  <a:lnTo>
                    <a:pt x="216" y="1662"/>
                  </a:lnTo>
                  <a:lnTo>
                    <a:pt x="222" y="1662"/>
                  </a:lnTo>
                  <a:lnTo>
                    <a:pt x="228" y="1662"/>
                  </a:lnTo>
                  <a:lnTo>
                    <a:pt x="234" y="1662"/>
                  </a:lnTo>
                  <a:lnTo>
                    <a:pt x="240" y="1662"/>
                  </a:lnTo>
                  <a:lnTo>
                    <a:pt x="246" y="1662"/>
                  </a:lnTo>
                  <a:lnTo>
                    <a:pt x="252" y="1662"/>
                  </a:lnTo>
                  <a:lnTo>
                    <a:pt x="258" y="1656"/>
                  </a:lnTo>
                  <a:lnTo>
                    <a:pt x="264" y="1656"/>
                  </a:lnTo>
                  <a:lnTo>
                    <a:pt x="270" y="1656"/>
                  </a:lnTo>
                  <a:lnTo>
                    <a:pt x="276" y="1650"/>
                  </a:lnTo>
                  <a:lnTo>
                    <a:pt x="276" y="1656"/>
                  </a:lnTo>
                  <a:lnTo>
                    <a:pt x="276" y="1650"/>
                  </a:lnTo>
                  <a:lnTo>
                    <a:pt x="282" y="1650"/>
                  </a:lnTo>
                  <a:lnTo>
                    <a:pt x="288" y="1650"/>
                  </a:lnTo>
                  <a:lnTo>
                    <a:pt x="294" y="1650"/>
                  </a:lnTo>
                  <a:lnTo>
                    <a:pt x="300" y="1644"/>
                  </a:lnTo>
                  <a:lnTo>
                    <a:pt x="306" y="1644"/>
                  </a:lnTo>
                  <a:lnTo>
                    <a:pt x="312" y="1650"/>
                  </a:lnTo>
                  <a:lnTo>
                    <a:pt x="318" y="1650"/>
                  </a:lnTo>
                  <a:lnTo>
                    <a:pt x="318" y="1656"/>
                  </a:lnTo>
                  <a:lnTo>
                    <a:pt x="324" y="1650"/>
                  </a:lnTo>
                  <a:lnTo>
                    <a:pt x="330" y="1650"/>
                  </a:lnTo>
                  <a:lnTo>
                    <a:pt x="336" y="1650"/>
                  </a:lnTo>
                  <a:lnTo>
                    <a:pt x="330" y="1644"/>
                  </a:lnTo>
                  <a:lnTo>
                    <a:pt x="336" y="1644"/>
                  </a:lnTo>
                  <a:lnTo>
                    <a:pt x="336" y="1638"/>
                  </a:lnTo>
                  <a:lnTo>
                    <a:pt x="342" y="1632"/>
                  </a:lnTo>
                  <a:lnTo>
                    <a:pt x="348" y="1632"/>
                  </a:lnTo>
                  <a:lnTo>
                    <a:pt x="354" y="1632"/>
                  </a:lnTo>
                  <a:lnTo>
                    <a:pt x="360" y="1626"/>
                  </a:lnTo>
                  <a:lnTo>
                    <a:pt x="366" y="1626"/>
                  </a:lnTo>
                  <a:lnTo>
                    <a:pt x="372" y="1626"/>
                  </a:lnTo>
                  <a:lnTo>
                    <a:pt x="378" y="1626"/>
                  </a:lnTo>
                  <a:lnTo>
                    <a:pt x="384" y="1626"/>
                  </a:lnTo>
                  <a:lnTo>
                    <a:pt x="390" y="1626"/>
                  </a:lnTo>
                  <a:lnTo>
                    <a:pt x="390" y="1620"/>
                  </a:lnTo>
                  <a:lnTo>
                    <a:pt x="390" y="1626"/>
                  </a:lnTo>
                  <a:lnTo>
                    <a:pt x="396" y="1626"/>
                  </a:lnTo>
                  <a:lnTo>
                    <a:pt x="396" y="1620"/>
                  </a:lnTo>
                  <a:lnTo>
                    <a:pt x="396" y="1626"/>
                  </a:lnTo>
                  <a:lnTo>
                    <a:pt x="402" y="1626"/>
                  </a:lnTo>
                  <a:lnTo>
                    <a:pt x="408" y="1626"/>
                  </a:lnTo>
                  <a:lnTo>
                    <a:pt x="414" y="1626"/>
                  </a:lnTo>
                  <a:lnTo>
                    <a:pt x="408" y="1626"/>
                  </a:lnTo>
                  <a:lnTo>
                    <a:pt x="408" y="1620"/>
                  </a:lnTo>
                  <a:lnTo>
                    <a:pt x="408" y="1614"/>
                  </a:lnTo>
                  <a:lnTo>
                    <a:pt x="408" y="1608"/>
                  </a:lnTo>
                  <a:lnTo>
                    <a:pt x="402" y="1608"/>
                  </a:lnTo>
                  <a:lnTo>
                    <a:pt x="402" y="1602"/>
                  </a:lnTo>
                  <a:lnTo>
                    <a:pt x="396" y="1602"/>
                  </a:lnTo>
                  <a:lnTo>
                    <a:pt x="396" y="1596"/>
                  </a:lnTo>
                  <a:lnTo>
                    <a:pt x="402" y="1596"/>
                  </a:lnTo>
                  <a:lnTo>
                    <a:pt x="408" y="1596"/>
                  </a:lnTo>
                  <a:lnTo>
                    <a:pt x="414" y="1596"/>
                  </a:lnTo>
                  <a:lnTo>
                    <a:pt x="420" y="1596"/>
                  </a:lnTo>
                  <a:lnTo>
                    <a:pt x="414" y="1596"/>
                  </a:lnTo>
                  <a:lnTo>
                    <a:pt x="414" y="1590"/>
                  </a:lnTo>
                  <a:lnTo>
                    <a:pt x="420" y="1590"/>
                  </a:lnTo>
                  <a:lnTo>
                    <a:pt x="426" y="1590"/>
                  </a:lnTo>
                  <a:lnTo>
                    <a:pt x="420" y="1590"/>
                  </a:lnTo>
                  <a:lnTo>
                    <a:pt x="414" y="1590"/>
                  </a:lnTo>
                  <a:lnTo>
                    <a:pt x="408" y="1590"/>
                  </a:lnTo>
                  <a:lnTo>
                    <a:pt x="402" y="1590"/>
                  </a:lnTo>
                  <a:lnTo>
                    <a:pt x="402" y="1596"/>
                  </a:lnTo>
                  <a:lnTo>
                    <a:pt x="396" y="1596"/>
                  </a:lnTo>
                  <a:lnTo>
                    <a:pt x="396" y="1590"/>
                  </a:lnTo>
                  <a:lnTo>
                    <a:pt x="396" y="1584"/>
                  </a:lnTo>
                  <a:lnTo>
                    <a:pt x="390" y="1584"/>
                  </a:lnTo>
                  <a:lnTo>
                    <a:pt x="390" y="1578"/>
                  </a:lnTo>
                  <a:lnTo>
                    <a:pt x="390" y="1572"/>
                  </a:lnTo>
                  <a:lnTo>
                    <a:pt x="390" y="1566"/>
                  </a:lnTo>
                  <a:lnTo>
                    <a:pt x="384" y="1566"/>
                  </a:lnTo>
                  <a:lnTo>
                    <a:pt x="384" y="1560"/>
                  </a:lnTo>
                  <a:lnTo>
                    <a:pt x="378" y="1560"/>
                  </a:lnTo>
                  <a:lnTo>
                    <a:pt x="372" y="1560"/>
                  </a:lnTo>
                  <a:lnTo>
                    <a:pt x="372" y="1554"/>
                  </a:lnTo>
                  <a:lnTo>
                    <a:pt x="366" y="1560"/>
                  </a:lnTo>
                  <a:lnTo>
                    <a:pt x="360" y="1554"/>
                  </a:lnTo>
                  <a:lnTo>
                    <a:pt x="354" y="1554"/>
                  </a:lnTo>
                  <a:lnTo>
                    <a:pt x="354" y="1548"/>
                  </a:lnTo>
                  <a:lnTo>
                    <a:pt x="354" y="1542"/>
                  </a:lnTo>
                  <a:lnTo>
                    <a:pt x="354" y="1536"/>
                  </a:lnTo>
                  <a:lnTo>
                    <a:pt x="360" y="1536"/>
                  </a:lnTo>
                  <a:lnTo>
                    <a:pt x="366" y="1536"/>
                  </a:lnTo>
                  <a:lnTo>
                    <a:pt x="366" y="1542"/>
                  </a:lnTo>
                  <a:lnTo>
                    <a:pt x="372" y="1548"/>
                  </a:lnTo>
                  <a:lnTo>
                    <a:pt x="372" y="1542"/>
                  </a:lnTo>
                  <a:lnTo>
                    <a:pt x="372" y="1536"/>
                  </a:lnTo>
                  <a:lnTo>
                    <a:pt x="366" y="1536"/>
                  </a:lnTo>
                  <a:lnTo>
                    <a:pt x="360" y="1536"/>
                  </a:lnTo>
                  <a:lnTo>
                    <a:pt x="360" y="1530"/>
                  </a:lnTo>
                  <a:lnTo>
                    <a:pt x="366" y="1530"/>
                  </a:lnTo>
                  <a:lnTo>
                    <a:pt x="372" y="1530"/>
                  </a:lnTo>
                  <a:lnTo>
                    <a:pt x="372" y="1524"/>
                  </a:lnTo>
                  <a:lnTo>
                    <a:pt x="378" y="1524"/>
                  </a:lnTo>
                  <a:lnTo>
                    <a:pt x="384" y="1524"/>
                  </a:lnTo>
                  <a:lnTo>
                    <a:pt x="384" y="1530"/>
                  </a:lnTo>
                  <a:lnTo>
                    <a:pt x="390" y="1530"/>
                  </a:lnTo>
                  <a:lnTo>
                    <a:pt x="384" y="1530"/>
                  </a:lnTo>
                  <a:lnTo>
                    <a:pt x="384" y="1536"/>
                  </a:lnTo>
                  <a:lnTo>
                    <a:pt x="390" y="1536"/>
                  </a:lnTo>
                  <a:lnTo>
                    <a:pt x="390" y="1530"/>
                  </a:lnTo>
                  <a:lnTo>
                    <a:pt x="390" y="1536"/>
                  </a:lnTo>
                  <a:lnTo>
                    <a:pt x="396" y="1536"/>
                  </a:lnTo>
                  <a:lnTo>
                    <a:pt x="402" y="1536"/>
                  </a:lnTo>
                  <a:lnTo>
                    <a:pt x="402" y="1542"/>
                  </a:lnTo>
                  <a:lnTo>
                    <a:pt x="396" y="1542"/>
                  </a:lnTo>
                  <a:lnTo>
                    <a:pt x="396" y="1548"/>
                  </a:lnTo>
                  <a:lnTo>
                    <a:pt x="390" y="1548"/>
                  </a:lnTo>
                  <a:lnTo>
                    <a:pt x="390" y="1554"/>
                  </a:lnTo>
                  <a:lnTo>
                    <a:pt x="396" y="1548"/>
                  </a:lnTo>
                  <a:lnTo>
                    <a:pt x="396" y="1554"/>
                  </a:lnTo>
                  <a:lnTo>
                    <a:pt x="396" y="1548"/>
                  </a:lnTo>
                  <a:lnTo>
                    <a:pt x="402" y="1548"/>
                  </a:lnTo>
                  <a:lnTo>
                    <a:pt x="402" y="1542"/>
                  </a:lnTo>
                  <a:lnTo>
                    <a:pt x="402" y="1548"/>
                  </a:lnTo>
                  <a:lnTo>
                    <a:pt x="402" y="1554"/>
                  </a:lnTo>
                  <a:lnTo>
                    <a:pt x="402" y="1560"/>
                  </a:lnTo>
                  <a:lnTo>
                    <a:pt x="402" y="1554"/>
                  </a:lnTo>
                  <a:lnTo>
                    <a:pt x="408" y="1554"/>
                  </a:lnTo>
                  <a:lnTo>
                    <a:pt x="408" y="1548"/>
                  </a:lnTo>
                  <a:lnTo>
                    <a:pt x="402" y="1548"/>
                  </a:lnTo>
                  <a:lnTo>
                    <a:pt x="402" y="1542"/>
                  </a:lnTo>
                  <a:lnTo>
                    <a:pt x="402" y="1536"/>
                  </a:lnTo>
                  <a:lnTo>
                    <a:pt x="408" y="1536"/>
                  </a:lnTo>
                  <a:lnTo>
                    <a:pt x="408" y="1542"/>
                  </a:lnTo>
                  <a:lnTo>
                    <a:pt x="414" y="1542"/>
                  </a:lnTo>
                  <a:lnTo>
                    <a:pt x="420" y="1542"/>
                  </a:lnTo>
                  <a:lnTo>
                    <a:pt x="420" y="1536"/>
                  </a:lnTo>
                  <a:lnTo>
                    <a:pt x="414" y="1536"/>
                  </a:lnTo>
                  <a:lnTo>
                    <a:pt x="414" y="1530"/>
                  </a:lnTo>
                  <a:lnTo>
                    <a:pt x="414" y="1536"/>
                  </a:lnTo>
                  <a:lnTo>
                    <a:pt x="414" y="1542"/>
                  </a:lnTo>
                  <a:lnTo>
                    <a:pt x="408" y="1542"/>
                  </a:lnTo>
                  <a:lnTo>
                    <a:pt x="408" y="1536"/>
                  </a:lnTo>
                  <a:lnTo>
                    <a:pt x="402" y="1536"/>
                  </a:lnTo>
                  <a:lnTo>
                    <a:pt x="402" y="1530"/>
                  </a:lnTo>
                  <a:lnTo>
                    <a:pt x="408" y="1530"/>
                  </a:lnTo>
                  <a:lnTo>
                    <a:pt x="408" y="1524"/>
                  </a:lnTo>
                  <a:lnTo>
                    <a:pt x="408" y="1518"/>
                  </a:lnTo>
                  <a:lnTo>
                    <a:pt x="408" y="1524"/>
                  </a:lnTo>
                  <a:lnTo>
                    <a:pt x="402" y="1530"/>
                  </a:lnTo>
                  <a:lnTo>
                    <a:pt x="396" y="1530"/>
                  </a:lnTo>
                  <a:lnTo>
                    <a:pt x="390" y="1530"/>
                  </a:lnTo>
                  <a:lnTo>
                    <a:pt x="396" y="1530"/>
                  </a:lnTo>
                  <a:lnTo>
                    <a:pt x="396" y="1524"/>
                  </a:lnTo>
                  <a:lnTo>
                    <a:pt x="390" y="1524"/>
                  </a:lnTo>
                  <a:lnTo>
                    <a:pt x="390" y="1518"/>
                  </a:lnTo>
                  <a:lnTo>
                    <a:pt x="390" y="1524"/>
                  </a:lnTo>
                  <a:lnTo>
                    <a:pt x="390" y="1518"/>
                  </a:lnTo>
                  <a:lnTo>
                    <a:pt x="384" y="1518"/>
                  </a:lnTo>
                  <a:lnTo>
                    <a:pt x="384" y="1512"/>
                  </a:lnTo>
                  <a:lnTo>
                    <a:pt x="390" y="1512"/>
                  </a:lnTo>
                  <a:lnTo>
                    <a:pt x="390" y="1506"/>
                  </a:lnTo>
                  <a:lnTo>
                    <a:pt x="384" y="1506"/>
                  </a:lnTo>
                  <a:lnTo>
                    <a:pt x="384" y="1512"/>
                  </a:lnTo>
                  <a:lnTo>
                    <a:pt x="378" y="1506"/>
                  </a:lnTo>
                  <a:lnTo>
                    <a:pt x="372" y="1506"/>
                  </a:lnTo>
                  <a:lnTo>
                    <a:pt x="372" y="1500"/>
                  </a:lnTo>
                  <a:lnTo>
                    <a:pt x="378" y="1500"/>
                  </a:lnTo>
                  <a:lnTo>
                    <a:pt x="372" y="1500"/>
                  </a:lnTo>
                  <a:lnTo>
                    <a:pt x="366" y="1500"/>
                  </a:lnTo>
                  <a:lnTo>
                    <a:pt x="360" y="1500"/>
                  </a:lnTo>
                  <a:lnTo>
                    <a:pt x="360" y="1494"/>
                  </a:lnTo>
                  <a:lnTo>
                    <a:pt x="354" y="1494"/>
                  </a:lnTo>
                  <a:lnTo>
                    <a:pt x="354" y="1500"/>
                  </a:lnTo>
                  <a:lnTo>
                    <a:pt x="354" y="1494"/>
                  </a:lnTo>
                  <a:lnTo>
                    <a:pt x="354" y="1500"/>
                  </a:lnTo>
                  <a:lnTo>
                    <a:pt x="348" y="1500"/>
                  </a:lnTo>
                  <a:lnTo>
                    <a:pt x="348" y="1494"/>
                  </a:lnTo>
                  <a:lnTo>
                    <a:pt x="348" y="1488"/>
                  </a:lnTo>
                  <a:lnTo>
                    <a:pt x="354" y="1488"/>
                  </a:lnTo>
                  <a:lnTo>
                    <a:pt x="348" y="1482"/>
                  </a:lnTo>
                  <a:lnTo>
                    <a:pt x="354" y="1476"/>
                  </a:lnTo>
                  <a:lnTo>
                    <a:pt x="354" y="1482"/>
                  </a:lnTo>
                  <a:lnTo>
                    <a:pt x="360" y="1482"/>
                  </a:lnTo>
                  <a:lnTo>
                    <a:pt x="360" y="1476"/>
                  </a:lnTo>
                  <a:lnTo>
                    <a:pt x="360" y="1470"/>
                  </a:lnTo>
                  <a:lnTo>
                    <a:pt x="366" y="1470"/>
                  </a:lnTo>
                  <a:lnTo>
                    <a:pt x="360" y="1470"/>
                  </a:lnTo>
                  <a:lnTo>
                    <a:pt x="360" y="1464"/>
                  </a:lnTo>
                  <a:lnTo>
                    <a:pt x="354" y="1464"/>
                  </a:lnTo>
                  <a:lnTo>
                    <a:pt x="360" y="1458"/>
                  </a:lnTo>
                  <a:lnTo>
                    <a:pt x="360" y="1464"/>
                  </a:lnTo>
                  <a:lnTo>
                    <a:pt x="366" y="1464"/>
                  </a:lnTo>
                  <a:lnTo>
                    <a:pt x="366" y="1470"/>
                  </a:lnTo>
                  <a:lnTo>
                    <a:pt x="366" y="1464"/>
                  </a:lnTo>
                  <a:lnTo>
                    <a:pt x="372" y="1470"/>
                  </a:lnTo>
                  <a:lnTo>
                    <a:pt x="378" y="1470"/>
                  </a:lnTo>
                  <a:lnTo>
                    <a:pt x="372" y="1476"/>
                  </a:lnTo>
                  <a:lnTo>
                    <a:pt x="372" y="1470"/>
                  </a:lnTo>
                  <a:lnTo>
                    <a:pt x="366" y="1476"/>
                  </a:lnTo>
                  <a:lnTo>
                    <a:pt x="372" y="1476"/>
                  </a:lnTo>
                  <a:lnTo>
                    <a:pt x="372" y="1482"/>
                  </a:lnTo>
                  <a:lnTo>
                    <a:pt x="378" y="1482"/>
                  </a:lnTo>
                  <a:lnTo>
                    <a:pt x="378" y="1476"/>
                  </a:lnTo>
                  <a:lnTo>
                    <a:pt x="384" y="1482"/>
                  </a:lnTo>
                  <a:lnTo>
                    <a:pt x="378" y="1482"/>
                  </a:lnTo>
                  <a:lnTo>
                    <a:pt x="384" y="1482"/>
                  </a:lnTo>
                  <a:lnTo>
                    <a:pt x="384" y="1488"/>
                  </a:lnTo>
                  <a:lnTo>
                    <a:pt x="384" y="1494"/>
                  </a:lnTo>
                  <a:lnTo>
                    <a:pt x="390" y="1488"/>
                  </a:lnTo>
                  <a:lnTo>
                    <a:pt x="390" y="1494"/>
                  </a:lnTo>
                  <a:lnTo>
                    <a:pt x="390" y="1500"/>
                  </a:lnTo>
                  <a:lnTo>
                    <a:pt x="390" y="1494"/>
                  </a:lnTo>
                  <a:lnTo>
                    <a:pt x="396" y="1494"/>
                  </a:lnTo>
                  <a:lnTo>
                    <a:pt x="396" y="1500"/>
                  </a:lnTo>
                  <a:lnTo>
                    <a:pt x="402" y="1500"/>
                  </a:lnTo>
                  <a:lnTo>
                    <a:pt x="396" y="1494"/>
                  </a:lnTo>
                  <a:lnTo>
                    <a:pt x="396" y="1488"/>
                  </a:lnTo>
                  <a:lnTo>
                    <a:pt x="402" y="1488"/>
                  </a:lnTo>
                  <a:lnTo>
                    <a:pt x="396" y="1488"/>
                  </a:lnTo>
                  <a:lnTo>
                    <a:pt x="390" y="1488"/>
                  </a:lnTo>
                  <a:lnTo>
                    <a:pt x="390" y="1482"/>
                  </a:lnTo>
                  <a:lnTo>
                    <a:pt x="396" y="1482"/>
                  </a:lnTo>
                  <a:lnTo>
                    <a:pt x="390" y="1482"/>
                  </a:lnTo>
                  <a:lnTo>
                    <a:pt x="390" y="1476"/>
                  </a:lnTo>
                  <a:lnTo>
                    <a:pt x="396" y="1476"/>
                  </a:lnTo>
                  <a:lnTo>
                    <a:pt x="402" y="1476"/>
                  </a:lnTo>
                  <a:lnTo>
                    <a:pt x="402" y="1482"/>
                  </a:lnTo>
                  <a:lnTo>
                    <a:pt x="408" y="1482"/>
                  </a:lnTo>
                  <a:lnTo>
                    <a:pt x="402" y="1476"/>
                  </a:lnTo>
                  <a:lnTo>
                    <a:pt x="408" y="1476"/>
                  </a:lnTo>
                  <a:lnTo>
                    <a:pt x="408" y="1470"/>
                  </a:lnTo>
                  <a:lnTo>
                    <a:pt x="402" y="1470"/>
                  </a:lnTo>
                  <a:lnTo>
                    <a:pt x="402" y="1464"/>
                  </a:lnTo>
                  <a:lnTo>
                    <a:pt x="402" y="1458"/>
                  </a:lnTo>
                  <a:lnTo>
                    <a:pt x="408" y="1458"/>
                  </a:lnTo>
                  <a:lnTo>
                    <a:pt x="408" y="1452"/>
                  </a:lnTo>
                  <a:lnTo>
                    <a:pt x="414" y="1452"/>
                  </a:lnTo>
                  <a:lnTo>
                    <a:pt x="414" y="1446"/>
                  </a:lnTo>
                  <a:lnTo>
                    <a:pt x="420" y="1446"/>
                  </a:lnTo>
                  <a:lnTo>
                    <a:pt x="420" y="1440"/>
                  </a:lnTo>
                  <a:lnTo>
                    <a:pt x="414" y="1440"/>
                  </a:lnTo>
                  <a:lnTo>
                    <a:pt x="414" y="1434"/>
                  </a:lnTo>
                  <a:lnTo>
                    <a:pt x="420" y="1428"/>
                  </a:lnTo>
                  <a:lnTo>
                    <a:pt x="420" y="1434"/>
                  </a:lnTo>
                  <a:lnTo>
                    <a:pt x="420" y="1428"/>
                  </a:lnTo>
                  <a:lnTo>
                    <a:pt x="420" y="1434"/>
                  </a:lnTo>
                  <a:lnTo>
                    <a:pt x="426" y="1434"/>
                  </a:lnTo>
                  <a:lnTo>
                    <a:pt x="432" y="1434"/>
                  </a:lnTo>
                  <a:lnTo>
                    <a:pt x="438" y="1434"/>
                  </a:lnTo>
                  <a:lnTo>
                    <a:pt x="438" y="1428"/>
                  </a:lnTo>
                  <a:lnTo>
                    <a:pt x="432" y="1428"/>
                  </a:lnTo>
                  <a:lnTo>
                    <a:pt x="426" y="1428"/>
                  </a:lnTo>
                  <a:lnTo>
                    <a:pt x="420" y="1422"/>
                  </a:lnTo>
                  <a:lnTo>
                    <a:pt x="420" y="1428"/>
                  </a:lnTo>
                  <a:lnTo>
                    <a:pt x="420" y="1422"/>
                  </a:lnTo>
                  <a:lnTo>
                    <a:pt x="414" y="1422"/>
                  </a:lnTo>
                  <a:lnTo>
                    <a:pt x="408" y="1422"/>
                  </a:lnTo>
                  <a:lnTo>
                    <a:pt x="408" y="1416"/>
                  </a:lnTo>
                  <a:lnTo>
                    <a:pt x="402" y="1416"/>
                  </a:lnTo>
                  <a:lnTo>
                    <a:pt x="396" y="1416"/>
                  </a:lnTo>
                  <a:lnTo>
                    <a:pt x="396" y="1422"/>
                  </a:lnTo>
                  <a:lnTo>
                    <a:pt x="402" y="1422"/>
                  </a:lnTo>
                  <a:lnTo>
                    <a:pt x="396" y="1422"/>
                  </a:lnTo>
                  <a:lnTo>
                    <a:pt x="396" y="1416"/>
                  </a:lnTo>
                  <a:lnTo>
                    <a:pt x="396" y="1410"/>
                  </a:lnTo>
                  <a:lnTo>
                    <a:pt x="402" y="1410"/>
                  </a:lnTo>
                  <a:lnTo>
                    <a:pt x="408" y="1404"/>
                  </a:lnTo>
                  <a:lnTo>
                    <a:pt x="414" y="1404"/>
                  </a:lnTo>
                  <a:lnTo>
                    <a:pt x="420" y="1404"/>
                  </a:lnTo>
                  <a:lnTo>
                    <a:pt x="426" y="1410"/>
                  </a:lnTo>
                  <a:lnTo>
                    <a:pt x="432" y="1410"/>
                  </a:lnTo>
                  <a:lnTo>
                    <a:pt x="438" y="1410"/>
                  </a:lnTo>
                  <a:lnTo>
                    <a:pt x="444" y="1410"/>
                  </a:lnTo>
                  <a:lnTo>
                    <a:pt x="450" y="1410"/>
                  </a:lnTo>
                  <a:lnTo>
                    <a:pt x="456" y="1410"/>
                  </a:lnTo>
                  <a:lnTo>
                    <a:pt x="456" y="1404"/>
                  </a:lnTo>
                  <a:lnTo>
                    <a:pt x="456" y="1410"/>
                  </a:lnTo>
                  <a:lnTo>
                    <a:pt x="462" y="1410"/>
                  </a:lnTo>
                  <a:lnTo>
                    <a:pt x="462" y="1404"/>
                  </a:lnTo>
                  <a:lnTo>
                    <a:pt x="468" y="1404"/>
                  </a:lnTo>
                  <a:lnTo>
                    <a:pt x="462" y="1398"/>
                  </a:lnTo>
                  <a:lnTo>
                    <a:pt x="462" y="1392"/>
                  </a:lnTo>
                  <a:lnTo>
                    <a:pt x="468" y="1392"/>
                  </a:lnTo>
                  <a:lnTo>
                    <a:pt x="468" y="1386"/>
                  </a:lnTo>
                  <a:lnTo>
                    <a:pt x="474" y="1380"/>
                  </a:lnTo>
                  <a:lnTo>
                    <a:pt x="474" y="1386"/>
                  </a:lnTo>
                  <a:lnTo>
                    <a:pt x="480" y="1392"/>
                  </a:lnTo>
                  <a:lnTo>
                    <a:pt x="480" y="1386"/>
                  </a:lnTo>
                  <a:lnTo>
                    <a:pt x="474" y="1380"/>
                  </a:lnTo>
                  <a:lnTo>
                    <a:pt x="474" y="1374"/>
                  </a:lnTo>
                  <a:lnTo>
                    <a:pt x="480" y="1374"/>
                  </a:lnTo>
                  <a:lnTo>
                    <a:pt x="486" y="1368"/>
                  </a:lnTo>
                  <a:lnTo>
                    <a:pt x="486" y="1374"/>
                  </a:lnTo>
                  <a:lnTo>
                    <a:pt x="486" y="1368"/>
                  </a:lnTo>
                  <a:lnTo>
                    <a:pt x="492" y="1374"/>
                  </a:lnTo>
                  <a:lnTo>
                    <a:pt x="492" y="1368"/>
                  </a:lnTo>
                  <a:lnTo>
                    <a:pt x="486" y="1368"/>
                  </a:lnTo>
                  <a:lnTo>
                    <a:pt x="492" y="1368"/>
                  </a:lnTo>
                  <a:lnTo>
                    <a:pt x="486" y="1368"/>
                  </a:lnTo>
                  <a:lnTo>
                    <a:pt x="480" y="1362"/>
                  </a:lnTo>
                  <a:lnTo>
                    <a:pt x="486" y="1356"/>
                  </a:lnTo>
                  <a:lnTo>
                    <a:pt x="492" y="1356"/>
                  </a:lnTo>
                  <a:lnTo>
                    <a:pt x="498" y="1350"/>
                  </a:lnTo>
                  <a:lnTo>
                    <a:pt x="498" y="1356"/>
                  </a:lnTo>
                  <a:lnTo>
                    <a:pt x="504" y="1350"/>
                  </a:lnTo>
                  <a:lnTo>
                    <a:pt x="504" y="1344"/>
                  </a:lnTo>
                  <a:lnTo>
                    <a:pt x="510" y="1344"/>
                  </a:lnTo>
                  <a:lnTo>
                    <a:pt x="510" y="1338"/>
                  </a:lnTo>
                  <a:lnTo>
                    <a:pt x="516" y="1338"/>
                  </a:lnTo>
                  <a:lnTo>
                    <a:pt x="516" y="1344"/>
                  </a:lnTo>
                  <a:lnTo>
                    <a:pt x="510" y="1344"/>
                  </a:lnTo>
                  <a:lnTo>
                    <a:pt x="510" y="1350"/>
                  </a:lnTo>
                  <a:lnTo>
                    <a:pt x="516" y="1350"/>
                  </a:lnTo>
                  <a:lnTo>
                    <a:pt x="510" y="1356"/>
                  </a:lnTo>
                  <a:lnTo>
                    <a:pt x="516" y="1356"/>
                  </a:lnTo>
                  <a:lnTo>
                    <a:pt x="522" y="1350"/>
                  </a:lnTo>
                  <a:lnTo>
                    <a:pt x="522" y="1356"/>
                  </a:lnTo>
                  <a:lnTo>
                    <a:pt x="528" y="1350"/>
                  </a:lnTo>
                  <a:lnTo>
                    <a:pt x="528" y="1356"/>
                  </a:lnTo>
                  <a:lnTo>
                    <a:pt x="528" y="1350"/>
                  </a:lnTo>
                  <a:lnTo>
                    <a:pt x="528" y="1344"/>
                  </a:lnTo>
                  <a:lnTo>
                    <a:pt x="534" y="1344"/>
                  </a:lnTo>
                  <a:lnTo>
                    <a:pt x="540" y="1344"/>
                  </a:lnTo>
                  <a:lnTo>
                    <a:pt x="540" y="1338"/>
                  </a:lnTo>
                  <a:lnTo>
                    <a:pt x="546" y="1344"/>
                  </a:lnTo>
                  <a:lnTo>
                    <a:pt x="546" y="1338"/>
                  </a:lnTo>
                  <a:lnTo>
                    <a:pt x="540" y="1338"/>
                  </a:lnTo>
                  <a:lnTo>
                    <a:pt x="540" y="1332"/>
                  </a:lnTo>
                  <a:lnTo>
                    <a:pt x="546" y="1332"/>
                  </a:lnTo>
                  <a:lnTo>
                    <a:pt x="546" y="1326"/>
                  </a:lnTo>
                  <a:lnTo>
                    <a:pt x="552" y="1326"/>
                  </a:lnTo>
                  <a:lnTo>
                    <a:pt x="558" y="1326"/>
                  </a:lnTo>
                  <a:lnTo>
                    <a:pt x="564" y="1326"/>
                  </a:lnTo>
                  <a:lnTo>
                    <a:pt x="570" y="1320"/>
                  </a:lnTo>
                  <a:lnTo>
                    <a:pt x="570" y="1314"/>
                  </a:lnTo>
                  <a:lnTo>
                    <a:pt x="576" y="1314"/>
                  </a:lnTo>
                  <a:lnTo>
                    <a:pt x="582" y="1314"/>
                  </a:lnTo>
                  <a:lnTo>
                    <a:pt x="582" y="1320"/>
                  </a:lnTo>
                  <a:lnTo>
                    <a:pt x="588" y="1320"/>
                  </a:lnTo>
                  <a:lnTo>
                    <a:pt x="588" y="1314"/>
                  </a:lnTo>
                  <a:lnTo>
                    <a:pt x="594" y="1314"/>
                  </a:lnTo>
                  <a:lnTo>
                    <a:pt x="594" y="1308"/>
                  </a:lnTo>
                  <a:lnTo>
                    <a:pt x="600" y="1308"/>
                  </a:lnTo>
                  <a:lnTo>
                    <a:pt x="594" y="1314"/>
                  </a:lnTo>
                  <a:lnTo>
                    <a:pt x="594" y="1320"/>
                  </a:lnTo>
                  <a:lnTo>
                    <a:pt x="600" y="1320"/>
                  </a:lnTo>
                  <a:lnTo>
                    <a:pt x="606" y="1314"/>
                  </a:lnTo>
                  <a:lnTo>
                    <a:pt x="612" y="1314"/>
                  </a:lnTo>
                  <a:lnTo>
                    <a:pt x="618" y="1320"/>
                  </a:lnTo>
                  <a:lnTo>
                    <a:pt x="618" y="1314"/>
                  </a:lnTo>
                  <a:lnTo>
                    <a:pt x="618" y="1308"/>
                  </a:lnTo>
                  <a:lnTo>
                    <a:pt x="612" y="1308"/>
                  </a:lnTo>
                  <a:lnTo>
                    <a:pt x="618" y="1308"/>
                  </a:lnTo>
                  <a:lnTo>
                    <a:pt x="618" y="1302"/>
                  </a:lnTo>
                  <a:lnTo>
                    <a:pt x="618" y="1296"/>
                  </a:lnTo>
                  <a:lnTo>
                    <a:pt x="618" y="1302"/>
                  </a:lnTo>
                  <a:lnTo>
                    <a:pt x="624" y="1302"/>
                  </a:lnTo>
                  <a:lnTo>
                    <a:pt x="618" y="1302"/>
                  </a:lnTo>
                  <a:lnTo>
                    <a:pt x="624" y="1302"/>
                  </a:lnTo>
                  <a:lnTo>
                    <a:pt x="630" y="1302"/>
                  </a:lnTo>
                  <a:lnTo>
                    <a:pt x="636" y="1302"/>
                  </a:lnTo>
                  <a:lnTo>
                    <a:pt x="636" y="1296"/>
                  </a:lnTo>
                  <a:lnTo>
                    <a:pt x="642" y="1296"/>
                  </a:lnTo>
                  <a:lnTo>
                    <a:pt x="648" y="1296"/>
                  </a:lnTo>
                  <a:lnTo>
                    <a:pt x="654" y="1296"/>
                  </a:lnTo>
                  <a:lnTo>
                    <a:pt x="648" y="1296"/>
                  </a:lnTo>
                  <a:lnTo>
                    <a:pt x="654" y="1290"/>
                  </a:lnTo>
                  <a:lnTo>
                    <a:pt x="660" y="1290"/>
                  </a:lnTo>
                  <a:lnTo>
                    <a:pt x="666" y="1290"/>
                  </a:lnTo>
                  <a:lnTo>
                    <a:pt x="678" y="1284"/>
                  </a:lnTo>
                  <a:lnTo>
                    <a:pt x="684" y="1284"/>
                  </a:lnTo>
                  <a:lnTo>
                    <a:pt x="690" y="1284"/>
                  </a:lnTo>
                  <a:lnTo>
                    <a:pt x="696" y="1284"/>
                  </a:lnTo>
                  <a:lnTo>
                    <a:pt x="696" y="1278"/>
                  </a:lnTo>
                  <a:lnTo>
                    <a:pt x="702" y="1278"/>
                  </a:lnTo>
                  <a:lnTo>
                    <a:pt x="708" y="1278"/>
                  </a:lnTo>
                  <a:lnTo>
                    <a:pt x="708" y="1272"/>
                  </a:lnTo>
                  <a:lnTo>
                    <a:pt x="714" y="1272"/>
                  </a:lnTo>
                  <a:lnTo>
                    <a:pt x="720" y="1272"/>
                  </a:lnTo>
                  <a:lnTo>
                    <a:pt x="720" y="1266"/>
                  </a:lnTo>
                  <a:lnTo>
                    <a:pt x="726" y="1266"/>
                  </a:lnTo>
                  <a:lnTo>
                    <a:pt x="732" y="1266"/>
                  </a:lnTo>
                  <a:lnTo>
                    <a:pt x="732" y="1260"/>
                  </a:lnTo>
                  <a:lnTo>
                    <a:pt x="732" y="1254"/>
                  </a:lnTo>
                  <a:lnTo>
                    <a:pt x="726" y="1254"/>
                  </a:lnTo>
                  <a:lnTo>
                    <a:pt x="726" y="1260"/>
                  </a:lnTo>
                  <a:lnTo>
                    <a:pt x="726" y="1266"/>
                  </a:lnTo>
                  <a:lnTo>
                    <a:pt x="720" y="1266"/>
                  </a:lnTo>
                  <a:lnTo>
                    <a:pt x="714" y="1266"/>
                  </a:lnTo>
                  <a:lnTo>
                    <a:pt x="708" y="1272"/>
                  </a:lnTo>
                  <a:lnTo>
                    <a:pt x="702" y="1266"/>
                  </a:lnTo>
                  <a:lnTo>
                    <a:pt x="702" y="1260"/>
                  </a:lnTo>
                  <a:lnTo>
                    <a:pt x="702" y="1266"/>
                  </a:lnTo>
                  <a:lnTo>
                    <a:pt x="702" y="1272"/>
                  </a:lnTo>
                  <a:lnTo>
                    <a:pt x="696" y="1272"/>
                  </a:lnTo>
                  <a:lnTo>
                    <a:pt x="696" y="1266"/>
                  </a:lnTo>
                  <a:lnTo>
                    <a:pt x="690" y="1260"/>
                  </a:lnTo>
                  <a:lnTo>
                    <a:pt x="690" y="1254"/>
                  </a:lnTo>
                  <a:lnTo>
                    <a:pt x="696" y="1254"/>
                  </a:lnTo>
                  <a:lnTo>
                    <a:pt x="690" y="1254"/>
                  </a:lnTo>
                  <a:lnTo>
                    <a:pt x="684" y="1254"/>
                  </a:lnTo>
                  <a:lnTo>
                    <a:pt x="684" y="1260"/>
                  </a:lnTo>
                  <a:lnTo>
                    <a:pt x="678" y="1260"/>
                  </a:lnTo>
                  <a:lnTo>
                    <a:pt x="678" y="1266"/>
                  </a:lnTo>
                  <a:lnTo>
                    <a:pt x="684" y="1266"/>
                  </a:lnTo>
                  <a:lnTo>
                    <a:pt x="678" y="1272"/>
                  </a:lnTo>
                  <a:lnTo>
                    <a:pt x="678" y="1266"/>
                  </a:lnTo>
                  <a:lnTo>
                    <a:pt x="672" y="1266"/>
                  </a:lnTo>
                  <a:lnTo>
                    <a:pt x="672" y="1272"/>
                  </a:lnTo>
                  <a:lnTo>
                    <a:pt x="672" y="1266"/>
                  </a:lnTo>
                  <a:lnTo>
                    <a:pt x="672" y="1260"/>
                  </a:lnTo>
                  <a:lnTo>
                    <a:pt x="672" y="1254"/>
                  </a:lnTo>
                  <a:lnTo>
                    <a:pt x="666" y="1254"/>
                  </a:lnTo>
                  <a:lnTo>
                    <a:pt x="672" y="1254"/>
                  </a:lnTo>
                  <a:lnTo>
                    <a:pt x="678" y="1254"/>
                  </a:lnTo>
                  <a:lnTo>
                    <a:pt x="678" y="1248"/>
                  </a:lnTo>
                  <a:lnTo>
                    <a:pt x="678" y="1242"/>
                  </a:lnTo>
                  <a:lnTo>
                    <a:pt x="672" y="1242"/>
                  </a:lnTo>
                  <a:lnTo>
                    <a:pt x="672" y="1236"/>
                  </a:lnTo>
                  <a:lnTo>
                    <a:pt x="678" y="1236"/>
                  </a:lnTo>
                  <a:lnTo>
                    <a:pt x="678" y="1242"/>
                  </a:lnTo>
                  <a:lnTo>
                    <a:pt x="684" y="1242"/>
                  </a:lnTo>
                  <a:lnTo>
                    <a:pt x="684" y="1248"/>
                  </a:lnTo>
                  <a:lnTo>
                    <a:pt x="690" y="1242"/>
                  </a:lnTo>
                  <a:lnTo>
                    <a:pt x="690" y="1236"/>
                  </a:lnTo>
                  <a:lnTo>
                    <a:pt x="690" y="1230"/>
                  </a:lnTo>
                  <a:lnTo>
                    <a:pt x="684" y="1230"/>
                  </a:lnTo>
                  <a:lnTo>
                    <a:pt x="690" y="1224"/>
                  </a:lnTo>
                  <a:lnTo>
                    <a:pt x="690" y="1230"/>
                  </a:lnTo>
                  <a:lnTo>
                    <a:pt x="696" y="1230"/>
                  </a:lnTo>
                  <a:lnTo>
                    <a:pt x="696" y="1224"/>
                  </a:lnTo>
                  <a:lnTo>
                    <a:pt x="696" y="1230"/>
                  </a:lnTo>
                  <a:lnTo>
                    <a:pt x="702" y="1230"/>
                  </a:lnTo>
                  <a:lnTo>
                    <a:pt x="696" y="1230"/>
                  </a:lnTo>
                  <a:lnTo>
                    <a:pt x="696" y="1236"/>
                  </a:lnTo>
                  <a:lnTo>
                    <a:pt x="696" y="1242"/>
                  </a:lnTo>
                  <a:lnTo>
                    <a:pt x="696" y="1248"/>
                  </a:lnTo>
                  <a:lnTo>
                    <a:pt x="702" y="1248"/>
                  </a:lnTo>
                  <a:lnTo>
                    <a:pt x="702" y="1242"/>
                  </a:lnTo>
                  <a:lnTo>
                    <a:pt x="702" y="1236"/>
                  </a:lnTo>
                  <a:lnTo>
                    <a:pt x="702" y="1242"/>
                  </a:lnTo>
                  <a:lnTo>
                    <a:pt x="708" y="1242"/>
                  </a:lnTo>
                  <a:lnTo>
                    <a:pt x="708" y="1236"/>
                  </a:lnTo>
                  <a:lnTo>
                    <a:pt x="714" y="1236"/>
                  </a:lnTo>
                  <a:lnTo>
                    <a:pt x="720" y="1236"/>
                  </a:lnTo>
                  <a:lnTo>
                    <a:pt x="720" y="1242"/>
                  </a:lnTo>
                  <a:lnTo>
                    <a:pt x="726" y="1242"/>
                  </a:lnTo>
                  <a:lnTo>
                    <a:pt x="726" y="1236"/>
                  </a:lnTo>
                  <a:lnTo>
                    <a:pt x="720" y="1236"/>
                  </a:lnTo>
                  <a:lnTo>
                    <a:pt x="714" y="1230"/>
                  </a:lnTo>
                  <a:lnTo>
                    <a:pt x="708" y="1230"/>
                  </a:lnTo>
                  <a:lnTo>
                    <a:pt x="708" y="1224"/>
                  </a:lnTo>
                  <a:lnTo>
                    <a:pt x="714" y="1224"/>
                  </a:lnTo>
                  <a:lnTo>
                    <a:pt x="720" y="1230"/>
                  </a:lnTo>
                  <a:lnTo>
                    <a:pt x="720" y="1224"/>
                  </a:lnTo>
                  <a:lnTo>
                    <a:pt x="726" y="1224"/>
                  </a:lnTo>
                  <a:lnTo>
                    <a:pt x="732" y="1230"/>
                  </a:lnTo>
                  <a:lnTo>
                    <a:pt x="738" y="1224"/>
                  </a:lnTo>
                  <a:lnTo>
                    <a:pt x="744" y="1224"/>
                  </a:lnTo>
                  <a:lnTo>
                    <a:pt x="744" y="1230"/>
                  </a:lnTo>
                  <a:lnTo>
                    <a:pt x="744" y="1236"/>
                  </a:lnTo>
                  <a:lnTo>
                    <a:pt x="750" y="1230"/>
                  </a:lnTo>
                  <a:lnTo>
                    <a:pt x="750" y="1236"/>
                  </a:lnTo>
                  <a:lnTo>
                    <a:pt x="756" y="1236"/>
                  </a:lnTo>
                  <a:lnTo>
                    <a:pt x="756" y="1230"/>
                  </a:lnTo>
                  <a:lnTo>
                    <a:pt x="750" y="1230"/>
                  </a:lnTo>
                  <a:lnTo>
                    <a:pt x="756" y="1224"/>
                  </a:lnTo>
                  <a:lnTo>
                    <a:pt x="756" y="1230"/>
                  </a:lnTo>
                  <a:lnTo>
                    <a:pt x="762" y="1230"/>
                  </a:lnTo>
                  <a:lnTo>
                    <a:pt x="756" y="1224"/>
                  </a:lnTo>
                  <a:lnTo>
                    <a:pt x="762" y="1224"/>
                  </a:lnTo>
                  <a:lnTo>
                    <a:pt x="756" y="1224"/>
                  </a:lnTo>
                  <a:lnTo>
                    <a:pt x="750" y="1224"/>
                  </a:lnTo>
                  <a:lnTo>
                    <a:pt x="750" y="1218"/>
                  </a:lnTo>
                  <a:lnTo>
                    <a:pt x="756" y="1218"/>
                  </a:lnTo>
                  <a:lnTo>
                    <a:pt x="762" y="1218"/>
                  </a:lnTo>
                  <a:lnTo>
                    <a:pt x="762" y="1224"/>
                  </a:lnTo>
                  <a:lnTo>
                    <a:pt x="768" y="1224"/>
                  </a:lnTo>
                  <a:lnTo>
                    <a:pt x="768" y="1230"/>
                  </a:lnTo>
                  <a:lnTo>
                    <a:pt x="774" y="1230"/>
                  </a:lnTo>
                  <a:lnTo>
                    <a:pt x="780" y="1224"/>
                  </a:lnTo>
                  <a:lnTo>
                    <a:pt x="780" y="1230"/>
                  </a:lnTo>
                  <a:lnTo>
                    <a:pt x="786" y="1224"/>
                  </a:lnTo>
                  <a:lnTo>
                    <a:pt x="792" y="1218"/>
                  </a:lnTo>
                  <a:lnTo>
                    <a:pt x="798" y="1218"/>
                  </a:lnTo>
                  <a:lnTo>
                    <a:pt x="804" y="1218"/>
                  </a:lnTo>
                  <a:lnTo>
                    <a:pt x="804" y="1212"/>
                  </a:lnTo>
                  <a:lnTo>
                    <a:pt x="798" y="1212"/>
                  </a:lnTo>
                  <a:lnTo>
                    <a:pt x="792" y="1212"/>
                  </a:lnTo>
                  <a:lnTo>
                    <a:pt x="792" y="1206"/>
                  </a:lnTo>
                  <a:lnTo>
                    <a:pt x="786" y="1212"/>
                  </a:lnTo>
                  <a:lnTo>
                    <a:pt x="786" y="1206"/>
                  </a:lnTo>
                  <a:lnTo>
                    <a:pt x="792" y="1206"/>
                  </a:lnTo>
                  <a:lnTo>
                    <a:pt x="786" y="1206"/>
                  </a:lnTo>
                  <a:lnTo>
                    <a:pt x="780" y="1206"/>
                  </a:lnTo>
                  <a:lnTo>
                    <a:pt x="786" y="1206"/>
                  </a:lnTo>
                  <a:lnTo>
                    <a:pt x="786" y="1200"/>
                  </a:lnTo>
                  <a:lnTo>
                    <a:pt x="786" y="1194"/>
                  </a:lnTo>
                  <a:lnTo>
                    <a:pt x="792" y="1194"/>
                  </a:lnTo>
                  <a:lnTo>
                    <a:pt x="792" y="1200"/>
                  </a:lnTo>
                  <a:lnTo>
                    <a:pt x="792" y="1206"/>
                  </a:lnTo>
                  <a:lnTo>
                    <a:pt x="798" y="1206"/>
                  </a:lnTo>
                  <a:lnTo>
                    <a:pt x="798" y="1200"/>
                  </a:lnTo>
                  <a:lnTo>
                    <a:pt x="798" y="1194"/>
                  </a:lnTo>
                  <a:lnTo>
                    <a:pt x="804" y="1194"/>
                  </a:lnTo>
                  <a:lnTo>
                    <a:pt x="804" y="1188"/>
                  </a:lnTo>
                  <a:lnTo>
                    <a:pt x="810" y="1188"/>
                  </a:lnTo>
                  <a:lnTo>
                    <a:pt x="810" y="1194"/>
                  </a:lnTo>
                  <a:lnTo>
                    <a:pt x="810" y="1200"/>
                  </a:lnTo>
                  <a:lnTo>
                    <a:pt x="816" y="1194"/>
                  </a:lnTo>
                  <a:lnTo>
                    <a:pt x="822" y="1194"/>
                  </a:lnTo>
                  <a:lnTo>
                    <a:pt x="822" y="1200"/>
                  </a:lnTo>
                  <a:lnTo>
                    <a:pt x="822" y="1206"/>
                  </a:lnTo>
                  <a:lnTo>
                    <a:pt x="822" y="1200"/>
                  </a:lnTo>
                  <a:lnTo>
                    <a:pt x="828" y="1200"/>
                  </a:lnTo>
                  <a:lnTo>
                    <a:pt x="828" y="1194"/>
                  </a:lnTo>
                  <a:lnTo>
                    <a:pt x="834" y="1194"/>
                  </a:lnTo>
                  <a:lnTo>
                    <a:pt x="834" y="1188"/>
                  </a:lnTo>
                  <a:lnTo>
                    <a:pt x="834" y="1182"/>
                  </a:lnTo>
                  <a:lnTo>
                    <a:pt x="840" y="1182"/>
                  </a:lnTo>
                  <a:lnTo>
                    <a:pt x="840" y="1188"/>
                  </a:lnTo>
                  <a:lnTo>
                    <a:pt x="840" y="1182"/>
                  </a:lnTo>
                  <a:lnTo>
                    <a:pt x="846" y="1182"/>
                  </a:lnTo>
                  <a:lnTo>
                    <a:pt x="846" y="1188"/>
                  </a:lnTo>
                  <a:lnTo>
                    <a:pt x="852" y="1188"/>
                  </a:lnTo>
                  <a:lnTo>
                    <a:pt x="852" y="1182"/>
                  </a:lnTo>
                  <a:lnTo>
                    <a:pt x="858" y="1182"/>
                  </a:lnTo>
                  <a:lnTo>
                    <a:pt x="858" y="1188"/>
                  </a:lnTo>
                  <a:lnTo>
                    <a:pt x="864" y="1188"/>
                  </a:lnTo>
                  <a:lnTo>
                    <a:pt x="864" y="1194"/>
                  </a:lnTo>
                  <a:lnTo>
                    <a:pt x="864" y="1200"/>
                  </a:lnTo>
                  <a:lnTo>
                    <a:pt x="858" y="1200"/>
                  </a:lnTo>
                  <a:lnTo>
                    <a:pt x="858" y="1194"/>
                  </a:lnTo>
                  <a:lnTo>
                    <a:pt x="852" y="1200"/>
                  </a:lnTo>
                  <a:lnTo>
                    <a:pt x="852" y="1206"/>
                  </a:lnTo>
                  <a:lnTo>
                    <a:pt x="846" y="1206"/>
                  </a:lnTo>
                  <a:lnTo>
                    <a:pt x="846" y="1212"/>
                  </a:lnTo>
                  <a:lnTo>
                    <a:pt x="852" y="1212"/>
                  </a:lnTo>
                  <a:lnTo>
                    <a:pt x="852" y="1206"/>
                  </a:lnTo>
                  <a:lnTo>
                    <a:pt x="858" y="1206"/>
                  </a:lnTo>
                  <a:lnTo>
                    <a:pt x="858" y="1200"/>
                  </a:lnTo>
                  <a:lnTo>
                    <a:pt x="858" y="1206"/>
                  </a:lnTo>
                  <a:lnTo>
                    <a:pt x="864" y="1206"/>
                  </a:lnTo>
                  <a:lnTo>
                    <a:pt x="864" y="1212"/>
                  </a:lnTo>
                  <a:lnTo>
                    <a:pt x="864" y="1206"/>
                  </a:lnTo>
                  <a:lnTo>
                    <a:pt x="858" y="1206"/>
                  </a:lnTo>
                  <a:lnTo>
                    <a:pt x="852" y="1212"/>
                  </a:lnTo>
                  <a:lnTo>
                    <a:pt x="852" y="1218"/>
                  </a:lnTo>
                  <a:lnTo>
                    <a:pt x="846" y="1218"/>
                  </a:lnTo>
                  <a:lnTo>
                    <a:pt x="840" y="1218"/>
                  </a:lnTo>
                  <a:lnTo>
                    <a:pt x="840" y="1224"/>
                  </a:lnTo>
                  <a:lnTo>
                    <a:pt x="840" y="1218"/>
                  </a:lnTo>
                  <a:lnTo>
                    <a:pt x="840" y="1212"/>
                  </a:lnTo>
                  <a:lnTo>
                    <a:pt x="840" y="1206"/>
                  </a:lnTo>
                  <a:lnTo>
                    <a:pt x="834" y="1200"/>
                  </a:lnTo>
                  <a:lnTo>
                    <a:pt x="834" y="1206"/>
                  </a:lnTo>
                  <a:lnTo>
                    <a:pt x="834" y="1212"/>
                  </a:lnTo>
                  <a:lnTo>
                    <a:pt x="834" y="1206"/>
                  </a:lnTo>
                  <a:lnTo>
                    <a:pt x="828" y="1206"/>
                  </a:lnTo>
                  <a:lnTo>
                    <a:pt x="828" y="1212"/>
                  </a:lnTo>
                  <a:lnTo>
                    <a:pt x="834" y="1212"/>
                  </a:lnTo>
                  <a:lnTo>
                    <a:pt x="834" y="1218"/>
                  </a:lnTo>
                  <a:lnTo>
                    <a:pt x="834" y="1224"/>
                  </a:lnTo>
                  <a:lnTo>
                    <a:pt x="834" y="1230"/>
                  </a:lnTo>
                  <a:lnTo>
                    <a:pt x="828" y="1230"/>
                  </a:lnTo>
                  <a:lnTo>
                    <a:pt x="828" y="1236"/>
                  </a:lnTo>
                  <a:lnTo>
                    <a:pt x="822" y="1236"/>
                  </a:lnTo>
                  <a:lnTo>
                    <a:pt x="816" y="1236"/>
                  </a:lnTo>
                  <a:lnTo>
                    <a:pt x="816" y="1242"/>
                  </a:lnTo>
                  <a:lnTo>
                    <a:pt x="822" y="1242"/>
                  </a:lnTo>
                  <a:lnTo>
                    <a:pt x="816" y="1242"/>
                  </a:lnTo>
                  <a:lnTo>
                    <a:pt x="816" y="1248"/>
                  </a:lnTo>
                  <a:lnTo>
                    <a:pt x="816" y="1254"/>
                  </a:lnTo>
                  <a:lnTo>
                    <a:pt x="810" y="1254"/>
                  </a:lnTo>
                  <a:lnTo>
                    <a:pt x="810" y="1260"/>
                  </a:lnTo>
                  <a:lnTo>
                    <a:pt x="804" y="1266"/>
                  </a:lnTo>
                  <a:lnTo>
                    <a:pt x="798" y="1266"/>
                  </a:lnTo>
                  <a:lnTo>
                    <a:pt x="798" y="1272"/>
                  </a:lnTo>
                  <a:lnTo>
                    <a:pt x="798" y="1278"/>
                  </a:lnTo>
                  <a:lnTo>
                    <a:pt x="804" y="1278"/>
                  </a:lnTo>
                  <a:lnTo>
                    <a:pt x="804" y="1272"/>
                  </a:lnTo>
                  <a:lnTo>
                    <a:pt x="810" y="1272"/>
                  </a:lnTo>
                  <a:lnTo>
                    <a:pt x="810" y="1266"/>
                  </a:lnTo>
                  <a:lnTo>
                    <a:pt x="816" y="1266"/>
                  </a:lnTo>
                  <a:lnTo>
                    <a:pt x="816" y="1260"/>
                  </a:lnTo>
                  <a:lnTo>
                    <a:pt x="822" y="1254"/>
                  </a:lnTo>
                  <a:lnTo>
                    <a:pt x="822" y="1260"/>
                  </a:lnTo>
                  <a:lnTo>
                    <a:pt x="828" y="1260"/>
                  </a:lnTo>
                  <a:lnTo>
                    <a:pt x="834" y="1260"/>
                  </a:lnTo>
                  <a:lnTo>
                    <a:pt x="828" y="1260"/>
                  </a:lnTo>
                  <a:lnTo>
                    <a:pt x="828" y="1254"/>
                  </a:lnTo>
                  <a:lnTo>
                    <a:pt x="834" y="1254"/>
                  </a:lnTo>
                  <a:lnTo>
                    <a:pt x="828" y="1254"/>
                  </a:lnTo>
                  <a:lnTo>
                    <a:pt x="828" y="1248"/>
                  </a:lnTo>
                  <a:lnTo>
                    <a:pt x="834" y="1248"/>
                  </a:lnTo>
                  <a:lnTo>
                    <a:pt x="840" y="1248"/>
                  </a:lnTo>
                  <a:lnTo>
                    <a:pt x="840" y="1254"/>
                  </a:lnTo>
                  <a:lnTo>
                    <a:pt x="846" y="1254"/>
                  </a:lnTo>
                  <a:lnTo>
                    <a:pt x="846" y="1248"/>
                  </a:lnTo>
                  <a:lnTo>
                    <a:pt x="852" y="1248"/>
                  </a:lnTo>
                  <a:lnTo>
                    <a:pt x="852" y="1242"/>
                  </a:lnTo>
                  <a:lnTo>
                    <a:pt x="858" y="1242"/>
                  </a:lnTo>
                  <a:lnTo>
                    <a:pt x="858" y="1236"/>
                  </a:lnTo>
                  <a:lnTo>
                    <a:pt x="864" y="1236"/>
                  </a:lnTo>
                  <a:lnTo>
                    <a:pt x="870" y="1236"/>
                  </a:lnTo>
                  <a:lnTo>
                    <a:pt x="870" y="1230"/>
                  </a:lnTo>
                  <a:lnTo>
                    <a:pt x="876" y="1230"/>
                  </a:lnTo>
                  <a:lnTo>
                    <a:pt x="876" y="1236"/>
                  </a:lnTo>
                  <a:lnTo>
                    <a:pt x="870" y="1242"/>
                  </a:lnTo>
                  <a:lnTo>
                    <a:pt x="876" y="1242"/>
                  </a:lnTo>
                  <a:lnTo>
                    <a:pt x="876" y="1248"/>
                  </a:lnTo>
                  <a:lnTo>
                    <a:pt x="870" y="1248"/>
                  </a:lnTo>
                  <a:lnTo>
                    <a:pt x="870" y="1254"/>
                  </a:lnTo>
                  <a:lnTo>
                    <a:pt x="870" y="1260"/>
                  </a:lnTo>
                  <a:lnTo>
                    <a:pt x="870" y="1266"/>
                  </a:lnTo>
                  <a:lnTo>
                    <a:pt x="870" y="1260"/>
                  </a:lnTo>
                  <a:lnTo>
                    <a:pt x="876" y="1260"/>
                  </a:lnTo>
                  <a:lnTo>
                    <a:pt x="876" y="1254"/>
                  </a:lnTo>
                  <a:lnTo>
                    <a:pt x="882" y="1254"/>
                  </a:lnTo>
                  <a:lnTo>
                    <a:pt x="882" y="1248"/>
                  </a:lnTo>
                  <a:lnTo>
                    <a:pt x="888" y="1248"/>
                  </a:lnTo>
                  <a:lnTo>
                    <a:pt x="888" y="1254"/>
                  </a:lnTo>
                  <a:lnTo>
                    <a:pt x="894" y="1254"/>
                  </a:lnTo>
                  <a:lnTo>
                    <a:pt x="900" y="1254"/>
                  </a:lnTo>
                  <a:lnTo>
                    <a:pt x="900" y="1248"/>
                  </a:lnTo>
                  <a:lnTo>
                    <a:pt x="894" y="1248"/>
                  </a:lnTo>
                  <a:lnTo>
                    <a:pt x="894" y="1242"/>
                  </a:lnTo>
                  <a:lnTo>
                    <a:pt x="888" y="1242"/>
                  </a:lnTo>
                  <a:lnTo>
                    <a:pt x="888" y="1236"/>
                  </a:lnTo>
                  <a:lnTo>
                    <a:pt x="894" y="1236"/>
                  </a:lnTo>
                  <a:lnTo>
                    <a:pt x="900" y="1230"/>
                  </a:lnTo>
                  <a:lnTo>
                    <a:pt x="900" y="1236"/>
                  </a:lnTo>
                  <a:lnTo>
                    <a:pt x="900" y="1242"/>
                  </a:lnTo>
                  <a:lnTo>
                    <a:pt x="906" y="1242"/>
                  </a:lnTo>
                  <a:lnTo>
                    <a:pt x="906" y="1236"/>
                  </a:lnTo>
                  <a:lnTo>
                    <a:pt x="906" y="1242"/>
                  </a:lnTo>
                  <a:lnTo>
                    <a:pt x="912" y="1236"/>
                  </a:lnTo>
                  <a:lnTo>
                    <a:pt x="918" y="1236"/>
                  </a:lnTo>
                  <a:lnTo>
                    <a:pt x="918" y="1230"/>
                  </a:lnTo>
                  <a:lnTo>
                    <a:pt x="912" y="1230"/>
                  </a:lnTo>
                  <a:lnTo>
                    <a:pt x="906" y="1230"/>
                  </a:lnTo>
                  <a:lnTo>
                    <a:pt x="906" y="1224"/>
                  </a:lnTo>
                  <a:lnTo>
                    <a:pt x="912" y="1224"/>
                  </a:lnTo>
                  <a:lnTo>
                    <a:pt x="912" y="1218"/>
                  </a:lnTo>
                  <a:lnTo>
                    <a:pt x="918" y="1218"/>
                  </a:lnTo>
                  <a:lnTo>
                    <a:pt x="924" y="1218"/>
                  </a:lnTo>
                  <a:lnTo>
                    <a:pt x="930" y="1212"/>
                  </a:lnTo>
                  <a:lnTo>
                    <a:pt x="936" y="1206"/>
                  </a:lnTo>
                  <a:lnTo>
                    <a:pt x="942" y="1206"/>
                  </a:lnTo>
                  <a:lnTo>
                    <a:pt x="942" y="1200"/>
                  </a:lnTo>
                  <a:lnTo>
                    <a:pt x="948" y="1200"/>
                  </a:lnTo>
                  <a:lnTo>
                    <a:pt x="942" y="1206"/>
                  </a:lnTo>
                  <a:lnTo>
                    <a:pt x="942" y="1212"/>
                  </a:lnTo>
                  <a:lnTo>
                    <a:pt x="948" y="1212"/>
                  </a:lnTo>
                  <a:lnTo>
                    <a:pt x="954" y="1212"/>
                  </a:lnTo>
                  <a:lnTo>
                    <a:pt x="948" y="1206"/>
                  </a:lnTo>
                  <a:lnTo>
                    <a:pt x="954" y="1206"/>
                  </a:lnTo>
                  <a:lnTo>
                    <a:pt x="954" y="1212"/>
                  </a:lnTo>
                  <a:lnTo>
                    <a:pt x="960" y="1212"/>
                  </a:lnTo>
                  <a:lnTo>
                    <a:pt x="966" y="1212"/>
                  </a:lnTo>
                  <a:lnTo>
                    <a:pt x="966" y="1218"/>
                  </a:lnTo>
                  <a:lnTo>
                    <a:pt x="960" y="1218"/>
                  </a:lnTo>
                  <a:lnTo>
                    <a:pt x="960" y="1224"/>
                  </a:lnTo>
                  <a:lnTo>
                    <a:pt x="966" y="1224"/>
                  </a:lnTo>
                  <a:lnTo>
                    <a:pt x="972" y="1224"/>
                  </a:lnTo>
                  <a:lnTo>
                    <a:pt x="978" y="1224"/>
                  </a:lnTo>
                  <a:lnTo>
                    <a:pt x="978" y="1218"/>
                  </a:lnTo>
                  <a:lnTo>
                    <a:pt x="978" y="1224"/>
                  </a:lnTo>
                  <a:lnTo>
                    <a:pt x="978" y="1230"/>
                  </a:lnTo>
                  <a:lnTo>
                    <a:pt x="972" y="1230"/>
                  </a:lnTo>
                  <a:lnTo>
                    <a:pt x="978" y="1230"/>
                  </a:lnTo>
                  <a:lnTo>
                    <a:pt x="978" y="1236"/>
                  </a:lnTo>
                  <a:lnTo>
                    <a:pt x="978" y="1230"/>
                  </a:lnTo>
                  <a:lnTo>
                    <a:pt x="984" y="1230"/>
                  </a:lnTo>
                  <a:lnTo>
                    <a:pt x="990" y="1224"/>
                  </a:lnTo>
                  <a:lnTo>
                    <a:pt x="990" y="1218"/>
                  </a:lnTo>
                  <a:lnTo>
                    <a:pt x="984" y="1218"/>
                  </a:lnTo>
                  <a:lnTo>
                    <a:pt x="978" y="1212"/>
                  </a:lnTo>
                  <a:lnTo>
                    <a:pt x="978" y="1206"/>
                  </a:lnTo>
                  <a:lnTo>
                    <a:pt x="978" y="1200"/>
                  </a:lnTo>
                  <a:lnTo>
                    <a:pt x="972" y="1200"/>
                  </a:lnTo>
                  <a:lnTo>
                    <a:pt x="972" y="1194"/>
                  </a:lnTo>
                  <a:lnTo>
                    <a:pt x="966" y="1188"/>
                  </a:lnTo>
                  <a:lnTo>
                    <a:pt x="960" y="1182"/>
                  </a:lnTo>
                  <a:lnTo>
                    <a:pt x="960" y="1188"/>
                  </a:lnTo>
                  <a:lnTo>
                    <a:pt x="954" y="1182"/>
                  </a:lnTo>
                  <a:lnTo>
                    <a:pt x="954" y="1170"/>
                  </a:lnTo>
                  <a:lnTo>
                    <a:pt x="948" y="1170"/>
                  </a:lnTo>
                  <a:lnTo>
                    <a:pt x="948" y="1164"/>
                  </a:lnTo>
                  <a:lnTo>
                    <a:pt x="948" y="1158"/>
                  </a:lnTo>
                  <a:lnTo>
                    <a:pt x="948" y="1152"/>
                  </a:lnTo>
                  <a:lnTo>
                    <a:pt x="954" y="1152"/>
                  </a:lnTo>
                  <a:lnTo>
                    <a:pt x="954" y="1158"/>
                  </a:lnTo>
                  <a:lnTo>
                    <a:pt x="960" y="1158"/>
                  </a:lnTo>
                  <a:lnTo>
                    <a:pt x="966" y="1158"/>
                  </a:lnTo>
                  <a:lnTo>
                    <a:pt x="966" y="1164"/>
                  </a:lnTo>
                  <a:lnTo>
                    <a:pt x="972" y="1164"/>
                  </a:lnTo>
                  <a:lnTo>
                    <a:pt x="978" y="1164"/>
                  </a:lnTo>
                  <a:lnTo>
                    <a:pt x="984" y="1164"/>
                  </a:lnTo>
                  <a:lnTo>
                    <a:pt x="990" y="1164"/>
                  </a:lnTo>
                  <a:lnTo>
                    <a:pt x="996" y="1158"/>
                  </a:lnTo>
                  <a:lnTo>
                    <a:pt x="1002" y="1158"/>
                  </a:lnTo>
                  <a:lnTo>
                    <a:pt x="1008" y="1158"/>
                  </a:lnTo>
                  <a:lnTo>
                    <a:pt x="1014" y="1164"/>
                  </a:lnTo>
                  <a:lnTo>
                    <a:pt x="1020" y="1164"/>
                  </a:lnTo>
                  <a:lnTo>
                    <a:pt x="1026" y="1158"/>
                  </a:lnTo>
                  <a:lnTo>
                    <a:pt x="1032" y="1158"/>
                  </a:lnTo>
                  <a:lnTo>
                    <a:pt x="1032" y="1152"/>
                  </a:lnTo>
                  <a:lnTo>
                    <a:pt x="1038" y="1152"/>
                  </a:lnTo>
                  <a:lnTo>
                    <a:pt x="1044" y="1152"/>
                  </a:lnTo>
                  <a:lnTo>
                    <a:pt x="1044" y="1146"/>
                  </a:lnTo>
                  <a:lnTo>
                    <a:pt x="1050" y="1146"/>
                  </a:lnTo>
                  <a:lnTo>
                    <a:pt x="1050" y="1140"/>
                  </a:lnTo>
                  <a:lnTo>
                    <a:pt x="1050" y="1134"/>
                  </a:lnTo>
                  <a:lnTo>
                    <a:pt x="1050" y="1128"/>
                  </a:lnTo>
                  <a:lnTo>
                    <a:pt x="1050" y="1116"/>
                  </a:lnTo>
                  <a:lnTo>
                    <a:pt x="1056" y="1116"/>
                  </a:lnTo>
                  <a:lnTo>
                    <a:pt x="1056" y="1122"/>
                  </a:lnTo>
                  <a:lnTo>
                    <a:pt x="1056" y="1116"/>
                  </a:lnTo>
                  <a:lnTo>
                    <a:pt x="1056" y="1110"/>
                  </a:lnTo>
                  <a:lnTo>
                    <a:pt x="1056" y="1104"/>
                  </a:lnTo>
                  <a:lnTo>
                    <a:pt x="1050" y="1104"/>
                  </a:lnTo>
                  <a:lnTo>
                    <a:pt x="1044" y="1098"/>
                  </a:lnTo>
                  <a:lnTo>
                    <a:pt x="1044" y="1092"/>
                  </a:lnTo>
                  <a:lnTo>
                    <a:pt x="1044" y="1086"/>
                  </a:lnTo>
                  <a:lnTo>
                    <a:pt x="1044" y="1080"/>
                  </a:lnTo>
                  <a:lnTo>
                    <a:pt x="1044" y="1074"/>
                  </a:lnTo>
                  <a:lnTo>
                    <a:pt x="1044" y="1068"/>
                  </a:lnTo>
                  <a:lnTo>
                    <a:pt x="1050" y="1062"/>
                  </a:lnTo>
                  <a:lnTo>
                    <a:pt x="1056" y="1062"/>
                  </a:lnTo>
                  <a:lnTo>
                    <a:pt x="1062" y="1062"/>
                  </a:lnTo>
                  <a:lnTo>
                    <a:pt x="1056" y="1056"/>
                  </a:lnTo>
                  <a:lnTo>
                    <a:pt x="1062" y="1050"/>
                  </a:lnTo>
                  <a:lnTo>
                    <a:pt x="1062" y="1044"/>
                  </a:lnTo>
                  <a:lnTo>
                    <a:pt x="1056" y="1044"/>
                  </a:lnTo>
                  <a:lnTo>
                    <a:pt x="1062" y="1032"/>
                  </a:lnTo>
                  <a:lnTo>
                    <a:pt x="1068" y="1026"/>
                  </a:lnTo>
                  <a:lnTo>
                    <a:pt x="1068" y="1020"/>
                  </a:lnTo>
                  <a:lnTo>
                    <a:pt x="1074" y="1014"/>
                  </a:lnTo>
                  <a:lnTo>
                    <a:pt x="1080" y="1008"/>
                  </a:lnTo>
                  <a:lnTo>
                    <a:pt x="1080" y="1002"/>
                  </a:lnTo>
                  <a:lnTo>
                    <a:pt x="1086" y="996"/>
                  </a:lnTo>
                  <a:lnTo>
                    <a:pt x="1086" y="990"/>
                  </a:lnTo>
                  <a:lnTo>
                    <a:pt x="1092" y="984"/>
                  </a:lnTo>
                  <a:lnTo>
                    <a:pt x="1098" y="984"/>
                  </a:lnTo>
                  <a:lnTo>
                    <a:pt x="1098" y="978"/>
                  </a:lnTo>
                  <a:lnTo>
                    <a:pt x="1104" y="978"/>
                  </a:lnTo>
                  <a:lnTo>
                    <a:pt x="1104" y="984"/>
                  </a:lnTo>
                  <a:lnTo>
                    <a:pt x="1110" y="984"/>
                  </a:lnTo>
                  <a:lnTo>
                    <a:pt x="1104" y="978"/>
                  </a:lnTo>
                  <a:lnTo>
                    <a:pt x="1104" y="972"/>
                  </a:lnTo>
                  <a:lnTo>
                    <a:pt x="1110" y="972"/>
                  </a:lnTo>
                  <a:lnTo>
                    <a:pt x="1116" y="972"/>
                  </a:lnTo>
                  <a:lnTo>
                    <a:pt x="1110" y="972"/>
                  </a:lnTo>
                  <a:lnTo>
                    <a:pt x="1110" y="966"/>
                  </a:lnTo>
                  <a:lnTo>
                    <a:pt x="1116" y="966"/>
                  </a:lnTo>
                  <a:lnTo>
                    <a:pt x="1110" y="960"/>
                  </a:lnTo>
                  <a:lnTo>
                    <a:pt x="1116" y="960"/>
                  </a:lnTo>
                  <a:lnTo>
                    <a:pt x="1116" y="954"/>
                  </a:lnTo>
                  <a:lnTo>
                    <a:pt x="1122" y="954"/>
                  </a:lnTo>
                  <a:lnTo>
                    <a:pt x="1122" y="948"/>
                  </a:lnTo>
                  <a:lnTo>
                    <a:pt x="1122" y="942"/>
                  </a:lnTo>
                  <a:lnTo>
                    <a:pt x="1128" y="948"/>
                  </a:lnTo>
                  <a:lnTo>
                    <a:pt x="1128" y="942"/>
                  </a:lnTo>
                  <a:lnTo>
                    <a:pt x="1134" y="936"/>
                  </a:lnTo>
                  <a:lnTo>
                    <a:pt x="1140" y="936"/>
                  </a:lnTo>
                  <a:lnTo>
                    <a:pt x="1140" y="930"/>
                  </a:lnTo>
                  <a:lnTo>
                    <a:pt x="1146" y="924"/>
                  </a:lnTo>
                  <a:lnTo>
                    <a:pt x="1146" y="918"/>
                  </a:lnTo>
                  <a:lnTo>
                    <a:pt x="1152" y="918"/>
                  </a:lnTo>
                  <a:lnTo>
                    <a:pt x="1158" y="924"/>
                  </a:lnTo>
                  <a:lnTo>
                    <a:pt x="1152" y="924"/>
                  </a:lnTo>
                  <a:lnTo>
                    <a:pt x="1158" y="924"/>
                  </a:lnTo>
                  <a:lnTo>
                    <a:pt x="1164" y="924"/>
                  </a:lnTo>
                  <a:lnTo>
                    <a:pt x="1170" y="918"/>
                  </a:lnTo>
                  <a:lnTo>
                    <a:pt x="1176" y="912"/>
                  </a:lnTo>
                  <a:lnTo>
                    <a:pt x="1176" y="906"/>
                  </a:lnTo>
                  <a:lnTo>
                    <a:pt x="1182" y="906"/>
                  </a:lnTo>
                  <a:lnTo>
                    <a:pt x="1182" y="900"/>
                  </a:lnTo>
                  <a:lnTo>
                    <a:pt x="1188" y="900"/>
                  </a:lnTo>
                  <a:lnTo>
                    <a:pt x="1194" y="900"/>
                  </a:lnTo>
                  <a:lnTo>
                    <a:pt x="1200" y="906"/>
                  </a:lnTo>
                  <a:lnTo>
                    <a:pt x="1194" y="906"/>
                  </a:lnTo>
                  <a:lnTo>
                    <a:pt x="1194" y="912"/>
                  </a:lnTo>
                  <a:lnTo>
                    <a:pt x="1200" y="912"/>
                  </a:lnTo>
                  <a:lnTo>
                    <a:pt x="1206" y="912"/>
                  </a:lnTo>
                  <a:lnTo>
                    <a:pt x="1212" y="906"/>
                  </a:lnTo>
                  <a:lnTo>
                    <a:pt x="1218" y="906"/>
                  </a:lnTo>
                  <a:lnTo>
                    <a:pt x="1218" y="912"/>
                  </a:lnTo>
                  <a:lnTo>
                    <a:pt x="1218" y="918"/>
                  </a:lnTo>
                  <a:lnTo>
                    <a:pt x="1218" y="924"/>
                  </a:lnTo>
                  <a:lnTo>
                    <a:pt x="1224" y="924"/>
                  </a:lnTo>
                  <a:lnTo>
                    <a:pt x="1224" y="930"/>
                  </a:lnTo>
                  <a:lnTo>
                    <a:pt x="1230" y="930"/>
                  </a:lnTo>
                  <a:lnTo>
                    <a:pt x="1236" y="930"/>
                  </a:lnTo>
                  <a:lnTo>
                    <a:pt x="1236" y="936"/>
                  </a:lnTo>
                  <a:lnTo>
                    <a:pt x="1242" y="936"/>
                  </a:lnTo>
                  <a:lnTo>
                    <a:pt x="1248" y="936"/>
                  </a:lnTo>
                  <a:lnTo>
                    <a:pt x="1254" y="936"/>
                  </a:lnTo>
                  <a:lnTo>
                    <a:pt x="1260" y="936"/>
                  </a:lnTo>
                  <a:lnTo>
                    <a:pt x="1266" y="936"/>
                  </a:lnTo>
                  <a:lnTo>
                    <a:pt x="1272" y="936"/>
                  </a:lnTo>
                  <a:lnTo>
                    <a:pt x="1266" y="936"/>
                  </a:lnTo>
                  <a:lnTo>
                    <a:pt x="1266" y="942"/>
                  </a:lnTo>
                  <a:lnTo>
                    <a:pt x="1272" y="942"/>
                  </a:lnTo>
                  <a:lnTo>
                    <a:pt x="1272" y="948"/>
                  </a:lnTo>
                  <a:lnTo>
                    <a:pt x="1266" y="948"/>
                  </a:lnTo>
                  <a:lnTo>
                    <a:pt x="1272" y="948"/>
                  </a:lnTo>
                  <a:lnTo>
                    <a:pt x="1272" y="954"/>
                  </a:lnTo>
                  <a:lnTo>
                    <a:pt x="1272" y="960"/>
                  </a:lnTo>
                  <a:lnTo>
                    <a:pt x="1272" y="966"/>
                  </a:lnTo>
                  <a:lnTo>
                    <a:pt x="1278" y="966"/>
                  </a:lnTo>
                  <a:lnTo>
                    <a:pt x="1278" y="972"/>
                  </a:lnTo>
                  <a:lnTo>
                    <a:pt x="1284" y="972"/>
                  </a:lnTo>
                  <a:lnTo>
                    <a:pt x="1278" y="972"/>
                  </a:lnTo>
                  <a:lnTo>
                    <a:pt x="1284" y="972"/>
                  </a:lnTo>
                  <a:lnTo>
                    <a:pt x="1284" y="978"/>
                  </a:lnTo>
                  <a:lnTo>
                    <a:pt x="1278" y="978"/>
                  </a:lnTo>
                  <a:lnTo>
                    <a:pt x="1272" y="978"/>
                  </a:lnTo>
                  <a:lnTo>
                    <a:pt x="1266" y="972"/>
                  </a:lnTo>
                  <a:lnTo>
                    <a:pt x="1266" y="978"/>
                  </a:lnTo>
                  <a:lnTo>
                    <a:pt x="1260" y="978"/>
                  </a:lnTo>
                  <a:lnTo>
                    <a:pt x="1260" y="984"/>
                  </a:lnTo>
                  <a:lnTo>
                    <a:pt x="1254" y="990"/>
                  </a:lnTo>
                  <a:lnTo>
                    <a:pt x="1254" y="996"/>
                  </a:lnTo>
                  <a:lnTo>
                    <a:pt x="1254" y="1002"/>
                  </a:lnTo>
                  <a:lnTo>
                    <a:pt x="1248" y="1008"/>
                  </a:lnTo>
                  <a:lnTo>
                    <a:pt x="1242" y="1014"/>
                  </a:lnTo>
                  <a:lnTo>
                    <a:pt x="1236" y="1014"/>
                  </a:lnTo>
                  <a:lnTo>
                    <a:pt x="1230" y="1014"/>
                  </a:lnTo>
                  <a:lnTo>
                    <a:pt x="1230" y="1020"/>
                  </a:lnTo>
                  <a:lnTo>
                    <a:pt x="1224" y="1020"/>
                  </a:lnTo>
                  <a:lnTo>
                    <a:pt x="1218" y="1020"/>
                  </a:lnTo>
                  <a:lnTo>
                    <a:pt x="1212" y="1020"/>
                  </a:lnTo>
                  <a:lnTo>
                    <a:pt x="1206" y="1026"/>
                  </a:lnTo>
                  <a:lnTo>
                    <a:pt x="1206" y="1032"/>
                  </a:lnTo>
                  <a:lnTo>
                    <a:pt x="1212" y="1032"/>
                  </a:lnTo>
                  <a:lnTo>
                    <a:pt x="1224" y="1038"/>
                  </a:lnTo>
                  <a:lnTo>
                    <a:pt x="1230" y="1044"/>
                  </a:lnTo>
                  <a:lnTo>
                    <a:pt x="1230" y="1038"/>
                  </a:lnTo>
                  <a:lnTo>
                    <a:pt x="1236" y="1038"/>
                  </a:lnTo>
                  <a:lnTo>
                    <a:pt x="1236" y="1032"/>
                  </a:lnTo>
                  <a:lnTo>
                    <a:pt x="1236" y="1038"/>
                  </a:lnTo>
                  <a:lnTo>
                    <a:pt x="1242" y="1038"/>
                  </a:lnTo>
                  <a:lnTo>
                    <a:pt x="1248" y="1038"/>
                  </a:lnTo>
                  <a:lnTo>
                    <a:pt x="1254" y="1032"/>
                  </a:lnTo>
                  <a:lnTo>
                    <a:pt x="1260" y="1032"/>
                  </a:lnTo>
                  <a:lnTo>
                    <a:pt x="1266" y="1032"/>
                  </a:lnTo>
                  <a:lnTo>
                    <a:pt x="1266" y="1026"/>
                  </a:lnTo>
                  <a:lnTo>
                    <a:pt x="1272" y="1026"/>
                  </a:lnTo>
                  <a:lnTo>
                    <a:pt x="1266" y="1032"/>
                  </a:lnTo>
                  <a:lnTo>
                    <a:pt x="1266" y="1038"/>
                  </a:lnTo>
                  <a:lnTo>
                    <a:pt x="1266" y="1044"/>
                  </a:lnTo>
                  <a:lnTo>
                    <a:pt x="1260" y="1044"/>
                  </a:lnTo>
                  <a:lnTo>
                    <a:pt x="1266" y="1050"/>
                  </a:lnTo>
                  <a:lnTo>
                    <a:pt x="1260" y="1050"/>
                  </a:lnTo>
                  <a:lnTo>
                    <a:pt x="1254" y="1050"/>
                  </a:lnTo>
                  <a:lnTo>
                    <a:pt x="1248" y="1050"/>
                  </a:lnTo>
                  <a:lnTo>
                    <a:pt x="1248" y="1056"/>
                  </a:lnTo>
                  <a:lnTo>
                    <a:pt x="1254" y="1050"/>
                  </a:lnTo>
                  <a:lnTo>
                    <a:pt x="1254" y="1056"/>
                  </a:lnTo>
                  <a:lnTo>
                    <a:pt x="1260" y="1056"/>
                  </a:lnTo>
                  <a:lnTo>
                    <a:pt x="1266" y="1056"/>
                  </a:lnTo>
                  <a:lnTo>
                    <a:pt x="1272" y="1050"/>
                  </a:lnTo>
                  <a:lnTo>
                    <a:pt x="1278" y="1050"/>
                  </a:lnTo>
                  <a:lnTo>
                    <a:pt x="1278" y="1044"/>
                  </a:lnTo>
                  <a:lnTo>
                    <a:pt x="1284" y="1038"/>
                  </a:lnTo>
                  <a:lnTo>
                    <a:pt x="1284" y="1044"/>
                  </a:lnTo>
                  <a:lnTo>
                    <a:pt x="1290" y="1044"/>
                  </a:lnTo>
                  <a:lnTo>
                    <a:pt x="1296" y="1044"/>
                  </a:lnTo>
                  <a:lnTo>
                    <a:pt x="1296" y="1050"/>
                  </a:lnTo>
                  <a:lnTo>
                    <a:pt x="1302" y="1050"/>
                  </a:lnTo>
                  <a:lnTo>
                    <a:pt x="1302" y="1044"/>
                  </a:lnTo>
                  <a:lnTo>
                    <a:pt x="1302" y="1050"/>
                  </a:lnTo>
                  <a:lnTo>
                    <a:pt x="1302" y="1056"/>
                  </a:lnTo>
                  <a:lnTo>
                    <a:pt x="1308" y="1056"/>
                  </a:lnTo>
                  <a:lnTo>
                    <a:pt x="1308" y="1050"/>
                  </a:lnTo>
                  <a:lnTo>
                    <a:pt x="1302" y="1050"/>
                  </a:lnTo>
                  <a:lnTo>
                    <a:pt x="1302" y="1044"/>
                  </a:lnTo>
                  <a:lnTo>
                    <a:pt x="1308" y="1044"/>
                  </a:lnTo>
                  <a:lnTo>
                    <a:pt x="1308" y="1050"/>
                  </a:lnTo>
                  <a:lnTo>
                    <a:pt x="1308" y="1044"/>
                  </a:lnTo>
                  <a:lnTo>
                    <a:pt x="1314" y="1044"/>
                  </a:lnTo>
                  <a:lnTo>
                    <a:pt x="1314" y="1050"/>
                  </a:lnTo>
                  <a:lnTo>
                    <a:pt x="1320" y="1050"/>
                  </a:lnTo>
                  <a:lnTo>
                    <a:pt x="1320" y="1056"/>
                  </a:lnTo>
                  <a:lnTo>
                    <a:pt x="1326" y="1056"/>
                  </a:lnTo>
                  <a:lnTo>
                    <a:pt x="1326" y="1050"/>
                  </a:lnTo>
                  <a:lnTo>
                    <a:pt x="1332" y="1050"/>
                  </a:lnTo>
                  <a:lnTo>
                    <a:pt x="1332" y="1056"/>
                  </a:lnTo>
                  <a:lnTo>
                    <a:pt x="1332" y="1062"/>
                  </a:lnTo>
                  <a:lnTo>
                    <a:pt x="1332" y="1068"/>
                  </a:lnTo>
                  <a:lnTo>
                    <a:pt x="1338" y="1068"/>
                  </a:lnTo>
                  <a:lnTo>
                    <a:pt x="1344" y="1068"/>
                  </a:lnTo>
                  <a:lnTo>
                    <a:pt x="1344" y="1074"/>
                  </a:lnTo>
                  <a:lnTo>
                    <a:pt x="1338" y="1074"/>
                  </a:lnTo>
                  <a:lnTo>
                    <a:pt x="1332" y="1074"/>
                  </a:lnTo>
                  <a:lnTo>
                    <a:pt x="1332" y="1080"/>
                  </a:lnTo>
                  <a:lnTo>
                    <a:pt x="1338" y="1080"/>
                  </a:lnTo>
                  <a:lnTo>
                    <a:pt x="1332" y="1086"/>
                  </a:lnTo>
                  <a:lnTo>
                    <a:pt x="1326" y="1086"/>
                  </a:lnTo>
                  <a:lnTo>
                    <a:pt x="1332" y="1086"/>
                  </a:lnTo>
                  <a:lnTo>
                    <a:pt x="1332" y="1092"/>
                  </a:lnTo>
                  <a:lnTo>
                    <a:pt x="1326" y="1092"/>
                  </a:lnTo>
                  <a:lnTo>
                    <a:pt x="1320" y="1092"/>
                  </a:lnTo>
                  <a:lnTo>
                    <a:pt x="1320" y="1098"/>
                  </a:lnTo>
                  <a:lnTo>
                    <a:pt x="1320" y="1104"/>
                  </a:lnTo>
                  <a:lnTo>
                    <a:pt x="1314" y="1110"/>
                  </a:lnTo>
                  <a:lnTo>
                    <a:pt x="1308" y="1110"/>
                  </a:lnTo>
                  <a:lnTo>
                    <a:pt x="1308" y="1116"/>
                  </a:lnTo>
                  <a:lnTo>
                    <a:pt x="1314" y="1116"/>
                  </a:lnTo>
                  <a:lnTo>
                    <a:pt x="1314" y="1122"/>
                  </a:lnTo>
                  <a:lnTo>
                    <a:pt x="1308" y="1128"/>
                  </a:lnTo>
                  <a:lnTo>
                    <a:pt x="1308" y="1134"/>
                  </a:lnTo>
                  <a:lnTo>
                    <a:pt x="1308" y="1140"/>
                  </a:lnTo>
                  <a:lnTo>
                    <a:pt x="1302" y="1140"/>
                  </a:lnTo>
                  <a:lnTo>
                    <a:pt x="1302" y="1146"/>
                  </a:lnTo>
                  <a:lnTo>
                    <a:pt x="1302" y="1140"/>
                  </a:lnTo>
                  <a:lnTo>
                    <a:pt x="1296" y="1140"/>
                  </a:lnTo>
                  <a:lnTo>
                    <a:pt x="1296" y="1134"/>
                  </a:lnTo>
                  <a:lnTo>
                    <a:pt x="1296" y="1140"/>
                  </a:lnTo>
                  <a:lnTo>
                    <a:pt x="1290" y="1140"/>
                  </a:lnTo>
                  <a:lnTo>
                    <a:pt x="1296" y="1140"/>
                  </a:lnTo>
                  <a:lnTo>
                    <a:pt x="1296" y="1146"/>
                  </a:lnTo>
                  <a:lnTo>
                    <a:pt x="1296" y="1152"/>
                  </a:lnTo>
                  <a:lnTo>
                    <a:pt x="1302" y="1152"/>
                  </a:lnTo>
                  <a:lnTo>
                    <a:pt x="1302" y="1158"/>
                  </a:lnTo>
                  <a:lnTo>
                    <a:pt x="1308" y="1152"/>
                  </a:lnTo>
                  <a:lnTo>
                    <a:pt x="1308" y="1158"/>
                  </a:lnTo>
                  <a:lnTo>
                    <a:pt x="1308" y="1152"/>
                  </a:lnTo>
                  <a:lnTo>
                    <a:pt x="1314" y="1158"/>
                  </a:lnTo>
                  <a:lnTo>
                    <a:pt x="1314" y="1164"/>
                  </a:lnTo>
                  <a:lnTo>
                    <a:pt x="1314" y="1158"/>
                  </a:lnTo>
                  <a:lnTo>
                    <a:pt x="1314" y="1152"/>
                  </a:lnTo>
                  <a:lnTo>
                    <a:pt x="1320" y="1152"/>
                  </a:lnTo>
                  <a:lnTo>
                    <a:pt x="1326" y="1152"/>
                  </a:lnTo>
                  <a:lnTo>
                    <a:pt x="1332" y="1152"/>
                  </a:lnTo>
                  <a:lnTo>
                    <a:pt x="1332" y="1146"/>
                  </a:lnTo>
                  <a:lnTo>
                    <a:pt x="1338" y="1146"/>
                  </a:lnTo>
                  <a:lnTo>
                    <a:pt x="1344" y="1152"/>
                  </a:lnTo>
                  <a:lnTo>
                    <a:pt x="1350" y="1152"/>
                  </a:lnTo>
                  <a:lnTo>
                    <a:pt x="1356" y="1146"/>
                  </a:lnTo>
                  <a:lnTo>
                    <a:pt x="1362" y="1146"/>
                  </a:lnTo>
                  <a:lnTo>
                    <a:pt x="1362" y="1140"/>
                  </a:lnTo>
                  <a:lnTo>
                    <a:pt x="1368" y="1134"/>
                  </a:lnTo>
                  <a:lnTo>
                    <a:pt x="1362" y="1134"/>
                  </a:lnTo>
                  <a:lnTo>
                    <a:pt x="1368" y="1128"/>
                  </a:lnTo>
                  <a:lnTo>
                    <a:pt x="1362" y="1122"/>
                  </a:lnTo>
                  <a:lnTo>
                    <a:pt x="1362" y="1116"/>
                  </a:lnTo>
                  <a:lnTo>
                    <a:pt x="1362" y="1110"/>
                  </a:lnTo>
                  <a:lnTo>
                    <a:pt x="1362" y="1104"/>
                  </a:lnTo>
                  <a:lnTo>
                    <a:pt x="1368" y="1104"/>
                  </a:lnTo>
                  <a:lnTo>
                    <a:pt x="1374" y="1104"/>
                  </a:lnTo>
                  <a:lnTo>
                    <a:pt x="1380" y="1104"/>
                  </a:lnTo>
                  <a:lnTo>
                    <a:pt x="1386" y="1110"/>
                  </a:lnTo>
                  <a:lnTo>
                    <a:pt x="1392" y="1110"/>
                  </a:lnTo>
                  <a:lnTo>
                    <a:pt x="1398" y="1110"/>
                  </a:lnTo>
                  <a:lnTo>
                    <a:pt x="1404" y="1110"/>
                  </a:lnTo>
                  <a:lnTo>
                    <a:pt x="1410" y="1110"/>
                  </a:lnTo>
                  <a:lnTo>
                    <a:pt x="1410" y="1104"/>
                  </a:lnTo>
                  <a:lnTo>
                    <a:pt x="1416" y="1104"/>
                  </a:lnTo>
                  <a:lnTo>
                    <a:pt x="1422" y="1104"/>
                  </a:lnTo>
                  <a:lnTo>
                    <a:pt x="1428" y="1098"/>
                  </a:lnTo>
                  <a:lnTo>
                    <a:pt x="1434" y="1098"/>
                  </a:lnTo>
                  <a:lnTo>
                    <a:pt x="1428" y="1098"/>
                  </a:lnTo>
                  <a:lnTo>
                    <a:pt x="1434" y="1098"/>
                  </a:lnTo>
                  <a:lnTo>
                    <a:pt x="1440" y="1098"/>
                  </a:lnTo>
                  <a:lnTo>
                    <a:pt x="1440" y="1104"/>
                  </a:lnTo>
                  <a:lnTo>
                    <a:pt x="1446" y="1104"/>
                  </a:lnTo>
                  <a:lnTo>
                    <a:pt x="1446" y="1110"/>
                  </a:lnTo>
                  <a:lnTo>
                    <a:pt x="1452" y="1110"/>
                  </a:lnTo>
                  <a:lnTo>
                    <a:pt x="1458" y="1110"/>
                  </a:lnTo>
                  <a:lnTo>
                    <a:pt x="1458" y="1116"/>
                  </a:lnTo>
                  <a:lnTo>
                    <a:pt x="1464" y="1116"/>
                  </a:lnTo>
                  <a:lnTo>
                    <a:pt x="1464" y="1110"/>
                  </a:lnTo>
                  <a:lnTo>
                    <a:pt x="1470" y="1104"/>
                  </a:lnTo>
                  <a:lnTo>
                    <a:pt x="1476" y="1104"/>
                  </a:lnTo>
                  <a:lnTo>
                    <a:pt x="1476" y="1098"/>
                  </a:lnTo>
                  <a:lnTo>
                    <a:pt x="1482" y="1098"/>
                  </a:lnTo>
                  <a:lnTo>
                    <a:pt x="1488" y="1098"/>
                  </a:lnTo>
                  <a:lnTo>
                    <a:pt x="1488" y="1104"/>
                  </a:lnTo>
                  <a:lnTo>
                    <a:pt x="1494" y="1104"/>
                  </a:lnTo>
                  <a:lnTo>
                    <a:pt x="1500" y="1104"/>
                  </a:lnTo>
                  <a:lnTo>
                    <a:pt x="1506" y="1104"/>
                  </a:lnTo>
                  <a:lnTo>
                    <a:pt x="1500" y="1104"/>
                  </a:lnTo>
                  <a:lnTo>
                    <a:pt x="1506" y="1098"/>
                  </a:lnTo>
                  <a:lnTo>
                    <a:pt x="1512" y="1098"/>
                  </a:lnTo>
                  <a:lnTo>
                    <a:pt x="1518" y="1098"/>
                  </a:lnTo>
                  <a:lnTo>
                    <a:pt x="1518" y="1104"/>
                  </a:lnTo>
                  <a:lnTo>
                    <a:pt x="1512" y="1104"/>
                  </a:lnTo>
                  <a:lnTo>
                    <a:pt x="1512" y="1110"/>
                  </a:lnTo>
                  <a:lnTo>
                    <a:pt x="1512" y="1116"/>
                  </a:lnTo>
                  <a:lnTo>
                    <a:pt x="1512" y="1110"/>
                  </a:lnTo>
                  <a:lnTo>
                    <a:pt x="1518" y="1110"/>
                  </a:lnTo>
                  <a:lnTo>
                    <a:pt x="1524" y="1116"/>
                  </a:lnTo>
                  <a:lnTo>
                    <a:pt x="1530" y="1116"/>
                  </a:lnTo>
                  <a:lnTo>
                    <a:pt x="1530" y="1110"/>
                  </a:lnTo>
                  <a:lnTo>
                    <a:pt x="1536" y="1110"/>
                  </a:lnTo>
                  <a:lnTo>
                    <a:pt x="1536" y="1116"/>
                  </a:lnTo>
                  <a:lnTo>
                    <a:pt x="1542" y="1116"/>
                  </a:lnTo>
                  <a:lnTo>
                    <a:pt x="1542" y="1122"/>
                  </a:lnTo>
                  <a:lnTo>
                    <a:pt x="1536" y="1122"/>
                  </a:lnTo>
                  <a:lnTo>
                    <a:pt x="1536" y="1116"/>
                  </a:lnTo>
                  <a:lnTo>
                    <a:pt x="1530" y="1116"/>
                  </a:lnTo>
                  <a:lnTo>
                    <a:pt x="1530" y="1122"/>
                  </a:lnTo>
                  <a:lnTo>
                    <a:pt x="1530" y="1128"/>
                  </a:lnTo>
                  <a:lnTo>
                    <a:pt x="1536" y="1128"/>
                  </a:lnTo>
                  <a:lnTo>
                    <a:pt x="1530" y="1128"/>
                  </a:lnTo>
                  <a:lnTo>
                    <a:pt x="1536" y="1128"/>
                  </a:lnTo>
                  <a:lnTo>
                    <a:pt x="1548" y="1134"/>
                  </a:lnTo>
                  <a:lnTo>
                    <a:pt x="1548" y="1140"/>
                  </a:lnTo>
                  <a:lnTo>
                    <a:pt x="1548" y="1146"/>
                  </a:lnTo>
                  <a:lnTo>
                    <a:pt x="1554" y="1146"/>
                  </a:lnTo>
                  <a:lnTo>
                    <a:pt x="1554" y="1152"/>
                  </a:lnTo>
                  <a:lnTo>
                    <a:pt x="1560" y="1152"/>
                  </a:lnTo>
                  <a:lnTo>
                    <a:pt x="1560" y="1158"/>
                  </a:lnTo>
                  <a:lnTo>
                    <a:pt x="1560" y="1164"/>
                  </a:lnTo>
                  <a:lnTo>
                    <a:pt x="1554" y="1164"/>
                  </a:lnTo>
                  <a:lnTo>
                    <a:pt x="1548" y="1176"/>
                  </a:lnTo>
                  <a:lnTo>
                    <a:pt x="1548" y="1182"/>
                  </a:lnTo>
                  <a:lnTo>
                    <a:pt x="1542" y="1188"/>
                  </a:lnTo>
                  <a:lnTo>
                    <a:pt x="1548" y="1194"/>
                  </a:lnTo>
                  <a:lnTo>
                    <a:pt x="1548" y="1200"/>
                  </a:lnTo>
                  <a:lnTo>
                    <a:pt x="1542" y="1206"/>
                  </a:lnTo>
                  <a:lnTo>
                    <a:pt x="1548" y="1206"/>
                  </a:lnTo>
                  <a:lnTo>
                    <a:pt x="1548" y="1200"/>
                  </a:lnTo>
                  <a:lnTo>
                    <a:pt x="1548" y="1194"/>
                  </a:lnTo>
                  <a:lnTo>
                    <a:pt x="1548" y="1188"/>
                  </a:lnTo>
                  <a:lnTo>
                    <a:pt x="1548" y="1182"/>
                  </a:lnTo>
                  <a:lnTo>
                    <a:pt x="1548" y="1176"/>
                  </a:lnTo>
                  <a:lnTo>
                    <a:pt x="1554" y="1176"/>
                  </a:lnTo>
                  <a:lnTo>
                    <a:pt x="1554" y="1170"/>
                  </a:lnTo>
                  <a:lnTo>
                    <a:pt x="1560" y="1164"/>
                  </a:lnTo>
                  <a:lnTo>
                    <a:pt x="1566" y="1164"/>
                  </a:lnTo>
                  <a:lnTo>
                    <a:pt x="1566" y="1170"/>
                  </a:lnTo>
                  <a:lnTo>
                    <a:pt x="1572" y="1170"/>
                  </a:lnTo>
                  <a:lnTo>
                    <a:pt x="1578" y="1176"/>
                  </a:lnTo>
                  <a:lnTo>
                    <a:pt x="1578" y="1182"/>
                  </a:lnTo>
                  <a:lnTo>
                    <a:pt x="1584" y="1182"/>
                  </a:lnTo>
                  <a:lnTo>
                    <a:pt x="1584" y="1188"/>
                  </a:lnTo>
                  <a:lnTo>
                    <a:pt x="1584" y="1194"/>
                  </a:lnTo>
                  <a:lnTo>
                    <a:pt x="1578" y="1200"/>
                  </a:lnTo>
                  <a:lnTo>
                    <a:pt x="1578" y="1206"/>
                  </a:lnTo>
                  <a:lnTo>
                    <a:pt x="1584" y="1206"/>
                  </a:lnTo>
                  <a:lnTo>
                    <a:pt x="1584" y="1212"/>
                  </a:lnTo>
                  <a:lnTo>
                    <a:pt x="1578" y="1212"/>
                  </a:lnTo>
                  <a:lnTo>
                    <a:pt x="1578" y="1206"/>
                  </a:lnTo>
                  <a:lnTo>
                    <a:pt x="1572" y="1206"/>
                  </a:lnTo>
                  <a:lnTo>
                    <a:pt x="1572" y="1200"/>
                  </a:lnTo>
                  <a:lnTo>
                    <a:pt x="1572" y="1206"/>
                  </a:lnTo>
                  <a:lnTo>
                    <a:pt x="1572" y="1212"/>
                  </a:lnTo>
                  <a:lnTo>
                    <a:pt x="1578" y="1212"/>
                  </a:lnTo>
                  <a:lnTo>
                    <a:pt x="1578" y="1218"/>
                  </a:lnTo>
                  <a:lnTo>
                    <a:pt x="1578" y="1212"/>
                  </a:lnTo>
                  <a:lnTo>
                    <a:pt x="1578" y="1218"/>
                  </a:lnTo>
                  <a:lnTo>
                    <a:pt x="1584" y="1212"/>
                  </a:lnTo>
                  <a:lnTo>
                    <a:pt x="1578" y="1212"/>
                  </a:lnTo>
                  <a:lnTo>
                    <a:pt x="1584" y="1212"/>
                  </a:lnTo>
                  <a:lnTo>
                    <a:pt x="1584" y="1218"/>
                  </a:lnTo>
                  <a:lnTo>
                    <a:pt x="1584" y="1224"/>
                  </a:lnTo>
                  <a:lnTo>
                    <a:pt x="1590" y="1230"/>
                  </a:lnTo>
                  <a:lnTo>
                    <a:pt x="1584" y="1230"/>
                  </a:lnTo>
                  <a:lnTo>
                    <a:pt x="1584" y="1236"/>
                  </a:lnTo>
                  <a:lnTo>
                    <a:pt x="1578" y="1236"/>
                  </a:lnTo>
                  <a:lnTo>
                    <a:pt x="1584" y="1236"/>
                  </a:lnTo>
                  <a:lnTo>
                    <a:pt x="1578" y="1242"/>
                  </a:lnTo>
                  <a:lnTo>
                    <a:pt x="1584" y="1242"/>
                  </a:lnTo>
                  <a:lnTo>
                    <a:pt x="1584" y="1236"/>
                  </a:lnTo>
                  <a:lnTo>
                    <a:pt x="1584" y="1242"/>
                  </a:lnTo>
                  <a:lnTo>
                    <a:pt x="1590" y="1236"/>
                  </a:lnTo>
                  <a:lnTo>
                    <a:pt x="1590" y="1242"/>
                  </a:lnTo>
                  <a:lnTo>
                    <a:pt x="1590" y="1236"/>
                  </a:lnTo>
                  <a:lnTo>
                    <a:pt x="1596" y="1230"/>
                  </a:lnTo>
                  <a:lnTo>
                    <a:pt x="1596" y="1236"/>
                  </a:lnTo>
                  <a:lnTo>
                    <a:pt x="1596" y="1230"/>
                  </a:lnTo>
                  <a:lnTo>
                    <a:pt x="1596" y="1224"/>
                  </a:lnTo>
                  <a:lnTo>
                    <a:pt x="1596" y="1218"/>
                  </a:lnTo>
                  <a:lnTo>
                    <a:pt x="1602" y="1218"/>
                  </a:lnTo>
                  <a:lnTo>
                    <a:pt x="1602" y="1224"/>
                  </a:lnTo>
                  <a:lnTo>
                    <a:pt x="1602" y="1218"/>
                  </a:lnTo>
                  <a:lnTo>
                    <a:pt x="1608" y="1224"/>
                  </a:lnTo>
                  <a:lnTo>
                    <a:pt x="1608" y="1218"/>
                  </a:lnTo>
                  <a:lnTo>
                    <a:pt x="1602" y="1218"/>
                  </a:lnTo>
                  <a:lnTo>
                    <a:pt x="1602" y="1212"/>
                  </a:lnTo>
                  <a:lnTo>
                    <a:pt x="1596" y="1212"/>
                  </a:lnTo>
                  <a:lnTo>
                    <a:pt x="1596" y="1206"/>
                  </a:lnTo>
                  <a:lnTo>
                    <a:pt x="1590" y="1206"/>
                  </a:lnTo>
                  <a:lnTo>
                    <a:pt x="1590" y="1200"/>
                  </a:lnTo>
                  <a:lnTo>
                    <a:pt x="1596" y="1200"/>
                  </a:lnTo>
                  <a:lnTo>
                    <a:pt x="1596" y="1206"/>
                  </a:lnTo>
                  <a:lnTo>
                    <a:pt x="1602" y="1200"/>
                  </a:lnTo>
                  <a:lnTo>
                    <a:pt x="1602" y="1206"/>
                  </a:lnTo>
                  <a:lnTo>
                    <a:pt x="1602" y="1200"/>
                  </a:lnTo>
                  <a:lnTo>
                    <a:pt x="1608" y="1200"/>
                  </a:lnTo>
                  <a:lnTo>
                    <a:pt x="1608" y="1206"/>
                  </a:lnTo>
                  <a:lnTo>
                    <a:pt x="1608" y="1212"/>
                  </a:lnTo>
                  <a:lnTo>
                    <a:pt x="1614" y="1212"/>
                  </a:lnTo>
                  <a:lnTo>
                    <a:pt x="1614" y="1218"/>
                  </a:lnTo>
                  <a:lnTo>
                    <a:pt x="1614" y="1230"/>
                  </a:lnTo>
                  <a:lnTo>
                    <a:pt x="1614" y="1236"/>
                  </a:lnTo>
                  <a:lnTo>
                    <a:pt x="1620" y="1242"/>
                  </a:lnTo>
                  <a:lnTo>
                    <a:pt x="1620" y="1248"/>
                  </a:lnTo>
                  <a:lnTo>
                    <a:pt x="1620" y="1254"/>
                  </a:lnTo>
                  <a:lnTo>
                    <a:pt x="1620" y="1260"/>
                  </a:lnTo>
                  <a:lnTo>
                    <a:pt x="1620" y="1266"/>
                  </a:lnTo>
                  <a:lnTo>
                    <a:pt x="1620" y="1272"/>
                  </a:lnTo>
                  <a:lnTo>
                    <a:pt x="1620" y="1266"/>
                  </a:lnTo>
                  <a:lnTo>
                    <a:pt x="1620" y="1260"/>
                  </a:lnTo>
                  <a:lnTo>
                    <a:pt x="1626" y="1260"/>
                  </a:lnTo>
                  <a:lnTo>
                    <a:pt x="1626" y="1266"/>
                  </a:lnTo>
                  <a:lnTo>
                    <a:pt x="1626" y="1260"/>
                  </a:lnTo>
                  <a:lnTo>
                    <a:pt x="1632" y="1260"/>
                  </a:lnTo>
                  <a:lnTo>
                    <a:pt x="1632" y="1266"/>
                  </a:lnTo>
                  <a:lnTo>
                    <a:pt x="1632" y="1260"/>
                  </a:lnTo>
                  <a:lnTo>
                    <a:pt x="1632" y="1266"/>
                  </a:lnTo>
                  <a:lnTo>
                    <a:pt x="1638" y="1272"/>
                  </a:lnTo>
                  <a:lnTo>
                    <a:pt x="1632" y="1278"/>
                  </a:lnTo>
                  <a:lnTo>
                    <a:pt x="1632" y="1284"/>
                  </a:lnTo>
                  <a:lnTo>
                    <a:pt x="1638" y="1284"/>
                  </a:lnTo>
                  <a:lnTo>
                    <a:pt x="1632" y="1284"/>
                  </a:lnTo>
                  <a:lnTo>
                    <a:pt x="1632" y="1290"/>
                  </a:lnTo>
                  <a:lnTo>
                    <a:pt x="1632" y="1296"/>
                  </a:lnTo>
                  <a:lnTo>
                    <a:pt x="1632" y="1302"/>
                  </a:lnTo>
                  <a:lnTo>
                    <a:pt x="1626" y="1302"/>
                  </a:lnTo>
                  <a:lnTo>
                    <a:pt x="1626" y="1314"/>
                  </a:lnTo>
                  <a:lnTo>
                    <a:pt x="1626" y="1320"/>
                  </a:lnTo>
                  <a:lnTo>
                    <a:pt x="1626" y="1326"/>
                  </a:lnTo>
                  <a:lnTo>
                    <a:pt x="1620" y="1326"/>
                  </a:lnTo>
                  <a:lnTo>
                    <a:pt x="1620" y="1332"/>
                  </a:lnTo>
                  <a:lnTo>
                    <a:pt x="1614" y="1332"/>
                  </a:lnTo>
                  <a:lnTo>
                    <a:pt x="1608" y="1332"/>
                  </a:lnTo>
                  <a:lnTo>
                    <a:pt x="1614" y="1332"/>
                  </a:lnTo>
                  <a:lnTo>
                    <a:pt x="1614" y="1326"/>
                  </a:lnTo>
                  <a:lnTo>
                    <a:pt x="1620" y="1320"/>
                  </a:lnTo>
                  <a:lnTo>
                    <a:pt x="1620" y="1314"/>
                  </a:lnTo>
                  <a:lnTo>
                    <a:pt x="1614" y="1308"/>
                  </a:lnTo>
                  <a:lnTo>
                    <a:pt x="1608" y="1308"/>
                  </a:lnTo>
                  <a:lnTo>
                    <a:pt x="1602" y="1308"/>
                  </a:lnTo>
                  <a:lnTo>
                    <a:pt x="1596" y="1308"/>
                  </a:lnTo>
                  <a:lnTo>
                    <a:pt x="1590" y="1308"/>
                  </a:lnTo>
                  <a:lnTo>
                    <a:pt x="1596" y="1308"/>
                  </a:lnTo>
                  <a:lnTo>
                    <a:pt x="1602" y="1308"/>
                  </a:lnTo>
                  <a:lnTo>
                    <a:pt x="1602" y="1302"/>
                  </a:lnTo>
                  <a:lnTo>
                    <a:pt x="1596" y="1302"/>
                  </a:lnTo>
                  <a:lnTo>
                    <a:pt x="1596" y="1296"/>
                  </a:lnTo>
                  <a:lnTo>
                    <a:pt x="1590" y="1296"/>
                  </a:lnTo>
                  <a:lnTo>
                    <a:pt x="1584" y="1290"/>
                  </a:lnTo>
                  <a:lnTo>
                    <a:pt x="1584" y="1284"/>
                  </a:lnTo>
                  <a:lnTo>
                    <a:pt x="1578" y="1284"/>
                  </a:lnTo>
                  <a:lnTo>
                    <a:pt x="1578" y="1278"/>
                  </a:lnTo>
                  <a:lnTo>
                    <a:pt x="1572" y="1278"/>
                  </a:lnTo>
                  <a:lnTo>
                    <a:pt x="1566" y="1278"/>
                  </a:lnTo>
                  <a:lnTo>
                    <a:pt x="1560" y="1278"/>
                  </a:lnTo>
                  <a:lnTo>
                    <a:pt x="1560" y="1272"/>
                  </a:lnTo>
                  <a:lnTo>
                    <a:pt x="1560" y="1278"/>
                  </a:lnTo>
                  <a:lnTo>
                    <a:pt x="1566" y="1278"/>
                  </a:lnTo>
                  <a:lnTo>
                    <a:pt x="1566" y="1284"/>
                  </a:lnTo>
                  <a:lnTo>
                    <a:pt x="1572" y="1284"/>
                  </a:lnTo>
                  <a:lnTo>
                    <a:pt x="1572" y="1290"/>
                  </a:lnTo>
                  <a:lnTo>
                    <a:pt x="1578" y="1290"/>
                  </a:lnTo>
                  <a:lnTo>
                    <a:pt x="1578" y="1296"/>
                  </a:lnTo>
                  <a:lnTo>
                    <a:pt x="1584" y="1296"/>
                  </a:lnTo>
                  <a:lnTo>
                    <a:pt x="1584" y="1302"/>
                  </a:lnTo>
                  <a:lnTo>
                    <a:pt x="1590" y="1302"/>
                  </a:lnTo>
                  <a:lnTo>
                    <a:pt x="1584" y="1308"/>
                  </a:lnTo>
                  <a:lnTo>
                    <a:pt x="1584" y="1302"/>
                  </a:lnTo>
                  <a:lnTo>
                    <a:pt x="1578" y="1302"/>
                  </a:lnTo>
                  <a:lnTo>
                    <a:pt x="1572" y="1302"/>
                  </a:lnTo>
                  <a:lnTo>
                    <a:pt x="1578" y="1308"/>
                  </a:lnTo>
                  <a:lnTo>
                    <a:pt x="1584" y="1308"/>
                  </a:lnTo>
                  <a:lnTo>
                    <a:pt x="1584" y="1314"/>
                  </a:lnTo>
                  <a:lnTo>
                    <a:pt x="1590" y="1314"/>
                  </a:lnTo>
                  <a:lnTo>
                    <a:pt x="1590" y="1320"/>
                  </a:lnTo>
                  <a:lnTo>
                    <a:pt x="1584" y="1320"/>
                  </a:lnTo>
                  <a:lnTo>
                    <a:pt x="1590" y="1320"/>
                  </a:lnTo>
                  <a:lnTo>
                    <a:pt x="1584" y="1320"/>
                  </a:lnTo>
                  <a:lnTo>
                    <a:pt x="1584" y="1326"/>
                  </a:lnTo>
                  <a:lnTo>
                    <a:pt x="1584" y="1332"/>
                  </a:lnTo>
                  <a:lnTo>
                    <a:pt x="1590" y="1332"/>
                  </a:lnTo>
                  <a:lnTo>
                    <a:pt x="1596" y="1332"/>
                  </a:lnTo>
                  <a:lnTo>
                    <a:pt x="1590" y="1332"/>
                  </a:lnTo>
                  <a:lnTo>
                    <a:pt x="1596" y="1326"/>
                  </a:lnTo>
                  <a:lnTo>
                    <a:pt x="1590" y="1326"/>
                  </a:lnTo>
                  <a:lnTo>
                    <a:pt x="1590" y="1320"/>
                  </a:lnTo>
                  <a:lnTo>
                    <a:pt x="1596" y="1320"/>
                  </a:lnTo>
                  <a:lnTo>
                    <a:pt x="1602" y="1314"/>
                  </a:lnTo>
                  <a:lnTo>
                    <a:pt x="1608" y="1314"/>
                  </a:lnTo>
                  <a:lnTo>
                    <a:pt x="1608" y="1320"/>
                  </a:lnTo>
                  <a:lnTo>
                    <a:pt x="1608" y="1326"/>
                  </a:lnTo>
                  <a:lnTo>
                    <a:pt x="1608" y="1332"/>
                  </a:lnTo>
                  <a:lnTo>
                    <a:pt x="1608" y="1338"/>
                  </a:lnTo>
                  <a:lnTo>
                    <a:pt x="1614" y="1338"/>
                  </a:lnTo>
                  <a:lnTo>
                    <a:pt x="1620" y="1338"/>
                  </a:lnTo>
                  <a:lnTo>
                    <a:pt x="1626" y="1338"/>
                  </a:lnTo>
                  <a:lnTo>
                    <a:pt x="1626" y="1350"/>
                  </a:lnTo>
                  <a:lnTo>
                    <a:pt x="1626" y="1356"/>
                  </a:lnTo>
                  <a:lnTo>
                    <a:pt x="1620" y="1356"/>
                  </a:lnTo>
                  <a:lnTo>
                    <a:pt x="1620" y="1362"/>
                  </a:lnTo>
                  <a:lnTo>
                    <a:pt x="1626" y="1362"/>
                  </a:lnTo>
                  <a:lnTo>
                    <a:pt x="1626" y="1368"/>
                  </a:lnTo>
                  <a:lnTo>
                    <a:pt x="1626" y="1374"/>
                  </a:lnTo>
                  <a:lnTo>
                    <a:pt x="1620" y="1380"/>
                  </a:lnTo>
                  <a:lnTo>
                    <a:pt x="1620" y="1386"/>
                  </a:lnTo>
                  <a:lnTo>
                    <a:pt x="1614" y="1392"/>
                  </a:lnTo>
                  <a:lnTo>
                    <a:pt x="1614" y="1398"/>
                  </a:lnTo>
                  <a:lnTo>
                    <a:pt x="1608" y="1398"/>
                  </a:lnTo>
                  <a:lnTo>
                    <a:pt x="1608" y="1404"/>
                  </a:lnTo>
                  <a:lnTo>
                    <a:pt x="1602" y="1410"/>
                  </a:lnTo>
                  <a:lnTo>
                    <a:pt x="1602" y="1416"/>
                  </a:lnTo>
                  <a:lnTo>
                    <a:pt x="1596" y="1416"/>
                  </a:lnTo>
                  <a:lnTo>
                    <a:pt x="1596" y="1422"/>
                  </a:lnTo>
                  <a:lnTo>
                    <a:pt x="1596" y="1428"/>
                  </a:lnTo>
                  <a:lnTo>
                    <a:pt x="1590" y="1428"/>
                  </a:lnTo>
                  <a:lnTo>
                    <a:pt x="1590" y="1434"/>
                  </a:lnTo>
                  <a:lnTo>
                    <a:pt x="1584" y="1434"/>
                  </a:lnTo>
                  <a:lnTo>
                    <a:pt x="1584" y="1440"/>
                  </a:lnTo>
                  <a:lnTo>
                    <a:pt x="1578" y="1446"/>
                  </a:lnTo>
                  <a:lnTo>
                    <a:pt x="1572" y="1446"/>
                  </a:lnTo>
                  <a:lnTo>
                    <a:pt x="1572" y="1452"/>
                  </a:lnTo>
                  <a:lnTo>
                    <a:pt x="1572" y="1446"/>
                  </a:lnTo>
                  <a:lnTo>
                    <a:pt x="1566" y="1446"/>
                  </a:lnTo>
                  <a:lnTo>
                    <a:pt x="1560" y="1452"/>
                  </a:lnTo>
                  <a:lnTo>
                    <a:pt x="1554" y="1452"/>
                  </a:lnTo>
                  <a:lnTo>
                    <a:pt x="1554" y="1458"/>
                  </a:lnTo>
                  <a:lnTo>
                    <a:pt x="1548" y="1464"/>
                  </a:lnTo>
                  <a:lnTo>
                    <a:pt x="1548" y="1470"/>
                  </a:lnTo>
                  <a:lnTo>
                    <a:pt x="1548" y="1476"/>
                  </a:lnTo>
                  <a:lnTo>
                    <a:pt x="1542" y="1476"/>
                  </a:lnTo>
                  <a:lnTo>
                    <a:pt x="1542" y="1470"/>
                  </a:lnTo>
                  <a:lnTo>
                    <a:pt x="1542" y="1476"/>
                  </a:lnTo>
                  <a:lnTo>
                    <a:pt x="1548" y="1476"/>
                  </a:lnTo>
                  <a:lnTo>
                    <a:pt x="1542" y="1488"/>
                  </a:lnTo>
                  <a:lnTo>
                    <a:pt x="1536" y="1488"/>
                  </a:lnTo>
                  <a:lnTo>
                    <a:pt x="1536" y="1494"/>
                  </a:lnTo>
                  <a:lnTo>
                    <a:pt x="1536" y="1488"/>
                  </a:lnTo>
                  <a:lnTo>
                    <a:pt x="1530" y="1488"/>
                  </a:lnTo>
                  <a:lnTo>
                    <a:pt x="1524" y="1488"/>
                  </a:lnTo>
                  <a:lnTo>
                    <a:pt x="1518" y="1488"/>
                  </a:lnTo>
                  <a:lnTo>
                    <a:pt x="1512" y="1494"/>
                  </a:lnTo>
                  <a:lnTo>
                    <a:pt x="1512" y="1500"/>
                  </a:lnTo>
                  <a:lnTo>
                    <a:pt x="1506" y="1500"/>
                  </a:lnTo>
                  <a:lnTo>
                    <a:pt x="1506" y="1506"/>
                  </a:lnTo>
                  <a:lnTo>
                    <a:pt x="1500" y="1512"/>
                  </a:lnTo>
                  <a:lnTo>
                    <a:pt x="1494" y="1512"/>
                  </a:lnTo>
                  <a:lnTo>
                    <a:pt x="1488" y="1518"/>
                  </a:lnTo>
                  <a:lnTo>
                    <a:pt x="1482" y="1518"/>
                  </a:lnTo>
                  <a:lnTo>
                    <a:pt x="1482" y="1524"/>
                  </a:lnTo>
                  <a:lnTo>
                    <a:pt x="1482" y="1518"/>
                  </a:lnTo>
                  <a:lnTo>
                    <a:pt x="1476" y="1518"/>
                  </a:lnTo>
                  <a:lnTo>
                    <a:pt x="1470" y="1518"/>
                  </a:lnTo>
                  <a:lnTo>
                    <a:pt x="1464" y="1518"/>
                  </a:lnTo>
                  <a:lnTo>
                    <a:pt x="1476" y="1518"/>
                  </a:lnTo>
                  <a:lnTo>
                    <a:pt x="1476" y="1524"/>
                  </a:lnTo>
                  <a:lnTo>
                    <a:pt x="1476" y="1530"/>
                  </a:lnTo>
                  <a:lnTo>
                    <a:pt x="1470" y="1536"/>
                  </a:lnTo>
                  <a:lnTo>
                    <a:pt x="1464" y="1536"/>
                  </a:lnTo>
                  <a:lnTo>
                    <a:pt x="1464" y="1542"/>
                  </a:lnTo>
                  <a:lnTo>
                    <a:pt x="1458" y="1542"/>
                  </a:lnTo>
                  <a:lnTo>
                    <a:pt x="1458" y="1548"/>
                  </a:lnTo>
                  <a:lnTo>
                    <a:pt x="1458" y="1542"/>
                  </a:lnTo>
                  <a:lnTo>
                    <a:pt x="1464" y="1542"/>
                  </a:lnTo>
                  <a:lnTo>
                    <a:pt x="1464" y="1536"/>
                  </a:lnTo>
                  <a:lnTo>
                    <a:pt x="1458" y="1536"/>
                  </a:lnTo>
                  <a:lnTo>
                    <a:pt x="1458" y="1542"/>
                  </a:lnTo>
                  <a:lnTo>
                    <a:pt x="1452" y="1542"/>
                  </a:lnTo>
                  <a:lnTo>
                    <a:pt x="1452" y="1548"/>
                  </a:lnTo>
                  <a:lnTo>
                    <a:pt x="1446" y="1548"/>
                  </a:lnTo>
                  <a:lnTo>
                    <a:pt x="1446" y="1554"/>
                  </a:lnTo>
                  <a:lnTo>
                    <a:pt x="1446" y="1548"/>
                  </a:lnTo>
                  <a:lnTo>
                    <a:pt x="1440" y="1548"/>
                  </a:lnTo>
                  <a:lnTo>
                    <a:pt x="1434" y="1548"/>
                  </a:lnTo>
                  <a:lnTo>
                    <a:pt x="1428" y="1554"/>
                  </a:lnTo>
                  <a:lnTo>
                    <a:pt x="1434" y="1554"/>
                  </a:lnTo>
                  <a:lnTo>
                    <a:pt x="1440" y="1554"/>
                  </a:lnTo>
                  <a:lnTo>
                    <a:pt x="1446" y="1554"/>
                  </a:lnTo>
                  <a:lnTo>
                    <a:pt x="1452" y="1548"/>
                  </a:lnTo>
                  <a:lnTo>
                    <a:pt x="1452" y="1554"/>
                  </a:lnTo>
                  <a:lnTo>
                    <a:pt x="1452" y="1560"/>
                  </a:lnTo>
                  <a:lnTo>
                    <a:pt x="1452" y="1566"/>
                  </a:lnTo>
                  <a:lnTo>
                    <a:pt x="1452" y="1572"/>
                  </a:lnTo>
                  <a:lnTo>
                    <a:pt x="1446" y="1572"/>
                  </a:lnTo>
                  <a:lnTo>
                    <a:pt x="1446" y="1578"/>
                  </a:lnTo>
                  <a:lnTo>
                    <a:pt x="1440" y="1578"/>
                  </a:lnTo>
                  <a:lnTo>
                    <a:pt x="1440" y="1584"/>
                  </a:lnTo>
                  <a:lnTo>
                    <a:pt x="1434" y="1590"/>
                  </a:lnTo>
                  <a:lnTo>
                    <a:pt x="1428" y="1590"/>
                  </a:lnTo>
                  <a:lnTo>
                    <a:pt x="1422" y="1590"/>
                  </a:lnTo>
                  <a:lnTo>
                    <a:pt x="1416" y="1596"/>
                  </a:lnTo>
                  <a:lnTo>
                    <a:pt x="1410" y="1596"/>
                  </a:lnTo>
                  <a:lnTo>
                    <a:pt x="1410" y="1602"/>
                  </a:lnTo>
                  <a:lnTo>
                    <a:pt x="1410" y="1608"/>
                  </a:lnTo>
                  <a:lnTo>
                    <a:pt x="1404" y="1608"/>
                  </a:lnTo>
                  <a:lnTo>
                    <a:pt x="1404" y="1614"/>
                  </a:lnTo>
                  <a:lnTo>
                    <a:pt x="1398" y="1614"/>
                  </a:lnTo>
                  <a:lnTo>
                    <a:pt x="1398" y="1620"/>
                  </a:lnTo>
                  <a:lnTo>
                    <a:pt x="1392" y="1626"/>
                  </a:lnTo>
                  <a:lnTo>
                    <a:pt x="1392" y="1632"/>
                  </a:lnTo>
                  <a:lnTo>
                    <a:pt x="1392" y="1638"/>
                  </a:lnTo>
                  <a:lnTo>
                    <a:pt x="1386" y="1638"/>
                  </a:lnTo>
                  <a:lnTo>
                    <a:pt x="1386" y="1632"/>
                  </a:lnTo>
                  <a:lnTo>
                    <a:pt x="1380" y="1632"/>
                  </a:lnTo>
                  <a:lnTo>
                    <a:pt x="1386" y="1638"/>
                  </a:lnTo>
                  <a:lnTo>
                    <a:pt x="1380" y="1638"/>
                  </a:lnTo>
                  <a:lnTo>
                    <a:pt x="1386" y="1644"/>
                  </a:lnTo>
                  <a:lnTo>
                    <a:pt x="1380" y="1644"/>
                  </a:lnTo>
                  <a:lnTo>
                    <a:pt x="1380" y="1650"/>
                  </a:lnTo>
                  <a:lnTo>
                    <a:pt x="1374" y="1650"/>
                  </a:lnTo>
                  <a:lnTo>
                    <a:pt x="1374" y="1656"/>
                  </a:lnTo>
                  <a:lnTo>
                    <a:pt x="1368" y="1656"/>
                  </a:lnTo>
                  <a:lnTo>
                    <a:pt x="1362" y="1662"/>
                  </a:lnTo>
                  <a:lnTo>
                    <a:pt x="1356" y="1668"/>
                  </a:lnTo>
                  <a:lnTo>
                    <a:pt x="1350" y="1662"/>
                  </a:lnTo>
                  <a:lnTo>
                    <a:pt x="1344" y="1662"/>
                  </a:lnTo>
                  <a:lnTo>
                    <a:pt x="1344" y="1668"/>
                  </a:lnTo>
                  <a:lnTo>
                    <a:pt x="1338" y="1668"/>
                  </a:lnTo>
                  <a:lnTo>
                    <a:pt x="1338" y="1662"/>
                  </a:lnTo>
                  <a:lnTo>
                    <a:pt x="1332" y="1662"/>
                  </a:lnTo>
                  <a:lnTo>
                    <a:pt x="1326" y="1668"/>
                  </a:lnTo>
                  <a:lnTo>
                    <a:pt x="1320" y="1662"/>
                  </a:lnTo>
                  <a:lnTo>
                    <a:pt x="1314" y="1662"/>
                  </a:lnTo>
                  <a:lnTo>
                    <a:pt x="1308" y="1662"/>
                  </a:lnTo>
                  <a:lnTo>
                    <a:pt x="1302" y="1662"/>
                  </a:lnTo>
                  <a:lnTo>
                    <a:pt x="1296" y="1662"/>
                  </a:lnTo>
                  <a:lnTo>
                    <a:pt x="1290" y="1662"/>
                  </a:lnTo>
                  <a:lnTo>
                    <a:pt x="1284" y="1662"/>
                  </a:lnTo>
                  <a:lnTo>
                    <a:pt x="1284" y="1656"/>
                  </a:lnTo>
                  <a:lnTo>
                    <a:pt x="1278" y="1662"/>
                  </a:lnTo>
                  <a:lnTo>
                    <a:pt x="1284" y="1662"/>
                  </a:lnTo>
                  <a:lnTo>
                    <a:pt x="1284" y="1668"/>
                  </a:lnTo>
                  <a:lnTo>
                    <a:pt x="1290" y="1668"/>
                  </a:lnTo>
                  <a:lnTo>
                    <a:pt x="1296" y="1668"/>
                  </a:lnTo>
                  <a:lnTo>
                    <a:pt x="1302" y="1668"/>
                  </a:lnTo>
                  <a:lnTo>
                    <a:pt x="1308" y="1668"/>
                  </a:lnTo>
                  <a:lnTo>
                    <a:pt x="1314" y="1668"/>
                  </a:lnTo>
                  <a:lnTo>
                    <a:pt x="1314" y="1674"/>
                  </a:lnTo>
                  <a:lnTo>
                    <a:pt x="1320" y="1674"/>
                  </a:lnTo>
                  <a:lnTo>
                    <a:pt x="1320" y="1680"/>
                  </a:lnTo>
                  <a:lnTo>
                    <a:pt x="1320" y="1686"/>
                  </a:lnTo>
                  <a:lnTo>
                    <a:pt x="1314" y="1692"/>
                  </a:lnTo>
                  <a:lnTo>
                    <a:pt x="1314" y="1698"/>
                  </a:lnTo>
                  <a:lnTo>
                    <a:pt x="1314" y="1704"/>
                  </a:lnTo>
                  <a:lnTo>
                    <a:pt x="1314" y="1710"/>
                  </a:lnTo>
                  <a:lnTo>
                    <a:pt x="1308" y="1710"/>
                  </a:lnTo>
                  <a:lnTo>
                    <a:pt x="1308" y="1716"/>
                  </a:lnTo>
                  <a:lnTo>
                    <a:pt x="1302" y="1716"/>
                  </a:lnTo>
                  <a:lnTo>
                    <a:pt x="1296" y="1716"/>
                  </a:lnTo>
                  <a:lnTo>
                    <a:pt x="1290" y="1716"/>
                  </a:lnTo>
                  <a:lnTo>
                    <a:pt x="1284" y="1716"/>
                  </a:lnTo>
                  <a:lnTo>
                    <a:pt x="1284" y="1722"/>
                  </a:lnTo>
                  <a:lnTo>
                    <a:pt x="1278" y="1722"/>
                  </a:lnTo>
                  <a:lnTo>
                    <a:pt x="1278" y="1728"/>
                  </a:lnTo>
                  <a:lnTo>
                    <a:pt x="1278" y="1734"/>
                  </a:lnTo>
                  <a:lnTo>
                    <a:pt x="1272" y="1740"/>
                  </a:lnTo>
                  <a:lnTo>
                    <a:pt x="1272" y="1746"/>
                  </a:lnTo>
                  <a:lnTo>
                    <a:pt x="1266" y="1746"/>
                  </a:lnTo>
                  <a:lnTo>
                    <a:pt x="1266" y="1752"/>
                  </a:lnTo>
                  <a:lnTo>
                    <a:pt x="1266" y="1758"/>
                  </a:lnTo>
                  <a:lnTo>
                    <a:pt x="1266" y="1764"/>
                  </a:lnTo>
                  <a:lnTo>
                    <a:pt x="1266" y="1770"/>
                  </a:lnTo>
                  <a:lnTo>
                    <a:pt x="1260" y="1770"/>
                  </a:lnTo>
                  <a:lnTo>
                    <a:pt x="1260" y="1776"/>
                  </a:lnTo>
                  <a:lnTo>
                    <a:pt x="1260" y="1782"/>
                  </a:lnTo>
                  <a:lnTo>
                    <a:pt x="1254" y="1788"/>
                  </a:lnTo>
                  <a:lnTo>
                    <a:pt x="1248" y="1794"/>
                  </a:lnTo>
                  <a:lnTo>
                    <a:pt x="1242" y="1794"/>
                  </a:lnTo>
                  <a:lnTo>
                    <a:pt x="1236" y="1800"/>
                  </a:lnTo>
                  <a:lnTo>
                    <a:pt x="1242" y="1806"/>
                  </a:lnTo>
                  <a:lnTo>
                    <a:pt x="1248" y="1806"/>
                  </a:lnTo>
                  <a:lnTo>
                    <a:pt x="1254" y="1806"/>
                  </a:lnTo>
                  <a:lnTo>
                    <a:pt x="1254" y="1800"/>
                  </a:lnTo>
                  <a:lnTo>
                    <a:pt x="1260" y="1800"/>
                  </a:lnTo>
                  <a:lnTo>
                    <a:pt x="1260" y="1794"/>
                  </a:lnTo>
                  <a:lnTo>
                    <a:pt x="1266" y="1788"/>
                  </a:lnTo>
                  <a:lnTo>
                    <a:pt x="1272" y="1788"/>
                  </a:lnTo>
                  <a:lnTo>
                    <a:pt x="1272" y="1782"/>
                  </a:lnTo>
                  <a:lnTo>
                    <a:pt x="1272" y="1776"/>
                  </a:lnTo>
                  <a:lnTo>
                    <a:pt x="1278" y="1776"/>
                  </a:lnTo>
                  <a:lnTo>
                    <a:pt x="1284" y="1770"/>
                  </a:lnTo>
                  <a:lnTo>
                    <a:pt x="1284" y="1764"/>
                  </a:lnTo>
                  <a:lnTo>
                    <a:pt x="1284" y="1758"/>
                  </a:lnTo>
                  <a:lnTo>
                    <a:pt x="1284" y="1752"/>
                  </a:lnTo>
                  <a:lnTo>
                    <a:pt x="1284" y="1746"/>
                  </a:lnTo>
                  <a:lnTo>
                    <a:pt x="1290" y="1740"/>
                  </a:lnTo>
                  <a:lnTo>
                    <a:pt x="1290" y="1734"/>
                  </a:lnTo>
                  <a:lnTo>
                    <a:pt x="1296" y="1740"/>
                  </a:lnTo>
                  <a:lnTo>
                    <a:pt x="1302" y="1740"/>
                  </a:lnTo>
                  <a:lnTo>
                    <a:pt x="1302" y="1746"/>
                  </a:lnTo>
                  <a:lnTo>
                    <a:pt x="1308" y="1746"/>
                  </a:lnTo>
                  <a:lnTo>
                    <a:pt x="1314" y="1746"/>
                  </a:lnTo>
                  <a:lnTo>
                    <a:pt x="1320" y="1740"/>
                  </a:lnTo>
                  <a:lnTo>
                    <a:pt x="1326" y="1740"/>
                  </a:lnTo>
                  <a:lnTo>
                    <a:pt x="1332" y="1740"/>
                  </a:lnTo>
                  <a:lnTo>
                    <a:pt x="1344" y="1740"/>
                  </a:lnTo>
                  <a:lnTo>
                    <a:pt x="1350" y="1740"/>
                  </a:lnTo>
                  <a:lnTo>
                    <a:pt x="1356" y="1740"/>
                  </a:lnTo>
                  <a:lnTo>
                    <a:pt x="1362" y="1734"/>
                  </a:lnTo>
                  <a:lnTo>
                    <a:pt x="1362" y="1728"/>
                  </a:lnTo>
                  <a:lnTo>
                    <a:pt x="1368" y="1728"/>
                  </a:lnTo>
                  <a:lnTo>
                    <a:pt x="1368" y="1734"/>
                  </a:lnTo>
                  <a:lnTo>
                    <a:pt x="1374" y="1734"/>
                  </a:lnTo>
                  <a:lnTo>
                    <a:pt x="1374" y="1740"/>
                  </a:lnTo>
                  <a:lnTo>
                    <a:pt x="1374" y="1746"/>
                  </a:lnTo>
                  <a:lnTo>
                    <a:pt x="1380" y="1746"/>
                  </a:lnTo>
                  <a:lnTo>
                    <a:pt x="1380" y="1752"/>
                  </a:lnTo>
                  <a:lnTo>
                    <a:pt x="1386" y="1752"/>
                  </a:lnTo>
                  <a:lnTo>
                    <a:pt x="1386" y="1746"/>
                  </a:lnTo>
                  <a:lnTo>
                    <a:pt x="1380" y="1746"/>
                  </a:lnTo>
                  <a:lnTo>
                    <a:pt x="1380" y="1740"/>
                  </a:lnTo>
                  <a:lnTo>
                    <a:pt x="1380" y="1734"/>
                  </a:lnTo>
                  <a:lnTo>
                    <a:pt x="1386" y="1728"/>
                  </a:lnTo>
                  <a:lnTo>
                    <a:pt x="1380" y="1728"/>
                  </a:lnTo>
                  <a:lnTo>
                    <a:pt x="1386" y="1728"/>
                  </a:lnTo>
                  <a:lnTo>
                    <a:pt x="1386" y="1722"/>
                  </a:lnTo>
                  <a:lnTo>
                    <a:pt x="1392" y="1722"/>
                  </a:lnTo>
                  <a:lnTo>
                    <a:pt x="1386" y="1722"/>
                  </a:lnTo>
                  <a:lnTo>
                    <a:pt x="1386" y="1728"/>
                  </a:lnTo>
                  <a:lnTo>
                    <a:pt x="1380" y="1722"/>
                  </a:lnTo>
                  <a:lnTo>
                    <a:pt x="1374" y="1722"/>
                  </a:lnTo>
                  <a:lnTo>
                    <a:pt x="1374" y="1728"/>
                  </a:lnTo>
                  <a:lnTo>
                    <a:pt x="1374" y="1722"/>
                  </a:lnTo>
                  <a:lnTo>
                    <a:pt x="1374" y="1716"/>
                  </a:lnTo>
                  <a:lnTo>
                    <a:pt x="1380" y="1716"/>
                  </a:lnTo>
                  <a:lnTo>
                    <a:pt x="1386" y="1716"/>
                  </a:lnTo>
                  <a:lnTo>
                    <a:pt x="1392" y="1716"/>
                  </a:lnTo>
                  <a:lnTo>
                    <a:pt x="1398" y="1716"/>
                  </a:lnTo>
                  <a:lnTo>
                    <a:pt x="1398" y="1710"/>
                  </a:lnTo>
                  <a:lnTo>
                    <a:pt x="1404" y="1710"/>
                  </a:lnTo>
                  <a:lnTo>
                    <a:pt x="1410" y="1710"/>
                  </a:lnTo>
                  <a:lnTo>
                    <a:pt x="1416" y="1704"/>
                  </a:lnTo>
                  <a:lnTo>
                    <a:pt x="1422" y="1704"/>
                  </a:lnTo>
                  <a:lnTo>
                    <a:pt x="1422" y="1698"/>
                  </a:lnTo>
                  <a:lnTo>
                    <a:pt x="1422" y="1692"/>
                  </a:lnTo>
                  <a:lnTo>
                    <a:pt x="1422" y="1698"/>
                  </a:lnTo>
                  <a:lnTo>
                    <a:pt x="1428" y="1698"/>
                  </a:lnTo>
                  <a:lnTo>
                    <a:pt x="1428" y="1704"/>
                  </a:lnTo>
                  <a:lnTo>
                    <a:pt x="1434" y="1698"/>
                  </a:lnTo>
                  <a:lnTo>
                    <a:pt x="1428" y="1698"/>
                  </a:lnTo>
                  <a:lnTo>
                    <a:pt x="1434" y="1692"/>
                  </a:lnTo>
                  <a:lnTo>
                    <a:pt x="1440" y="1692"/>
                  </a:lnTo>
                  <a:lnTo>
                    <a:pt x="1440" y="1698"/>
                  </a:lnTo>
                  <a:lnTo>
                    <a:pt x="1446" y="1698"/>
                  </a:lnTo>
                  <a:lnTo>
                    <a:pt x="1446" y="1692"/>
                  </a:lnTo>
                  <a:lnTo>
                    <a:pt x="1452" y="1692"/>
                  </a:lnTo>
                  <a:lnTo>
                    <a:pt x="1452" y="1686"/>
                  </a:lnTo>
                  <a:lnTo>
                    <a:pt x="1458" y="1686"/>
                  </a:lnTo>
                  <a:lnTo>
                    <a:pt x="1464" y="1686"/>
                  </a:lnTo>
                  <a:lnTo>
                    <a:pt x="1464" y="1680"/>
                  </a:lnTo>
                  <a:lnTo>
                    <a:pt x="1458" y="1680"/>
                  </a:lnTo>
                  <a:lnTo>
                    <a:pt x="1464" y="1680"/>
                  </a:lnTo>
                  <a:lnTo>
                    <a:pt x="1458" y="1680"/>
                  </a:lnTo>
                  <a:lnTo>
                    <a:pt x="1458" y="1674"/>
                  </a:lnTo>
                  <a:lnTo>
                    <a:pt x="1464" y="1674"/>
                  </a:lnTo>
                  <a:lnTo>
                    <a:pt x="1470" y="1674"/>
                  </a:lnTo>
                  <a:lnTo>
                    <a:pt x="1470" y="1668"/>
                  </a:lnTo>
                  <a:lnTo>
                    <a:pt x="1476" y="1668"/>
                  </a:lnTo>
                  <a:lnTo>
                    <a:pt x="1470" y="1668"/>
                  </a:lnTo>
                  <a:lnTo>
                    <a:pt x="1476" y="1662"/>
                  </a:lnTo>
                  <a:lnTo>
                    <a:pt x="1482" y="1662"/>
                  </a:lnTo>
                  <a:lnTo>
                    <a:pt x="1488" y="1662"/>
                  </a:lnTo>
                  <a:lnTo>
                    <a:pt x="1494" y="1656"/>
                  </a:lnTo>
                  <a:lnTo>
                    <a:pt x="1494" y="1650"/>
                  </a:lnTo>
                  <a:lnTo>
                    <a:pt x="1494" y="1644"/>
                  </a:lnTo>
                  <a:lnTo>
                    <a:pt x="1494" y="1638"/>
                  </a:lnTo>
                  <a:lnTo>
                    <a:pt x="1494" y="1644"/>
                  </a:lnTo>
                  <a:lnTo>
                    <a:pt x="1488" y="1638"/>
                  </a:lnTo>
                  <a:lnTo>
                    <a:pt x="1482" y="1638"/>
                  </a:lnTo>
                  <a:lnTo>
                    <a:pt x="1482" y="1644"/>
                  </a:lnTo>
                  <a:lnTo>
                    <a:pt x="1476" y="1644"/>
                  </a:lnTo>
                  <a:lnTo>
                    <a:pt x="1476" y="1650"/>
                  </a:lnTo>
                  <a:lnTo>
                    <a:pt x="1470" y="1650"/>
                  </a:lnTo>
                  <a:lnTo>
                    <a:pt x="1470" y="1656"/>
                  </a:lnTo>
                  <a:lnTo>
                    <a:pt x="1464" y="1656"/>
                  </a:lnTo>
                  <a:lnTo>
                    <a:pt x="1464" y="1650"/>
                  </a:lnTo>
                  <a:lnTo>
                    <a:pt x="1458" y="1650"/>
                  </a:lnTo>
                  <a:lnTo>
                    <a:pt x="1452" y="1650"/>
                  </a:lnTo>
                  <a:lnTo>
                    <a:pt x="1452" y="1656"/>
                  </a:lnTo>
                  <a:lnTo>
                    <a:pt x="1452" y="1650"/>
                  </a:lnTo>
                  <a:lnTo>
                    <a:pt x="1446" y="1656"/>
                  </a:lnTo>
                  <a:lnTo>
                    <a:pt x="1446" y="1662"/>
                  </a:lnTo>
                  <a:lnTo>
                    <a:pt x="1440" y="1656"/>
                  </a:lnTo>
                  <a:lnTo>
                    <a:pt x="1440" y="1650"/>
                  </a:lnTo>
                  <a:lnTo>
                    <a:pt x="1434" y="1650"/>
                  </a:lnTo>
                  <a:lnTo>
                    <a:pt x="1434" y="1644"/>
                  </a:lnTo>
                  <a:lnTo>
                    <a:pt x="1434" y="1638"/>
                  </a:lnTo>
                  <a:lnTo>
                    <a:pt x="1434" y="1632"/>
                  </a:lnTo>
                  <a:lnTo>
                    <a:pt x="1440" y="1632"/>
                  </a:lnTo>
                  <a:lnTo>
                    <a:pt x="1446" y="1626"/>
                  </a:lnTo>
                  <a:lnTo>
                    <a:pt x="1446" y="1620"/>
                  </a:lnTo>
                  <a:lnTo>
                    <a:pt x="1452" y="1620"/>
                  </a:lnTo>
                  <a:lnTo>
                    <a:pt x="1452" y="1614"/>
                  </a:lnTo>
                  <a:lnTo>
                    <a:pt x="1452" y="1608"/>
                  </a:lnTo>
                  <a:lnTo>
                    <a:pt x="1452" y="1602"/>
                  </a:lnTo>
                  <a:lnTo>
                    <a:pt x="1458" y="1602"/>
                  </a:lnTo>
                  <a:lnTo>
                    <a:pt x="1470" y="1602"/>
                  </a:lnTo>
                  <a:lnTo>
                    <a:pt x="1476" y="1602"/>
                  </a:lnTo>
                  <a:lnTo>
                    <a:pt x="1482" y="1602"/>
                  </a:lnTo>
                  <a:lnTo>
                    <a:pt x="1482" y="1608"/>
                  </a:lnTo>
                  <a:lnTo>
                    <a:pt x="1488" y="1608"/>
                  </a:lnTo>
                  <a:lnTo>
                    <a:pt x="1494" y="1614"/>
                  </a:lnTo>
                  <a:lnTo>
                    <a:pt x="1500" y="1620"/>
                  </a:lnTo>
                  <a:lnTo>
                    <a:pt x="1506" y="1620"/>
                  </a:lnTo>
                  <a:lnTo>
                    <a:pt x="1506" y="1614"/>
                  </a:lnTo>
                  <a:lnTo>
                    <a:pt x="1506" y="1608"/>
                  </a:lnTo>
                  <a:lnTo>
                    <a:pt x="1506" y="1602"/>
                  </a:lnTo>
                  <a:lnTo>
                    <a:pt x="1512" y="1596"/>
                  </a:lnTo>
                  <a:lnTo>
                    <a:pt x="1518" y="1596"/>
                  </a:lnTo>
                  <a:lnTo>
                    <a:pt x="1524" y="1596"/>
                  </a:lnTo>
                  <a:lnTo>
                    <a:pt x="1530" y="1602"/>
                  </a:lnTo>
                  <a:lnTo>
                    <a:pt x="1524" y="1602"/>
                  </a:lnTo>
                  <a:lnTo>
                    <a:pt x="1518" y="1602"/>
                  </a:lnTo>
                  <a:lnTo>
                    <a:pt x="1518" y="1608"/>
                  </a:lnTo>
                  <a:lnTo>
                    <a:pt x="1512" y="1608"/>
                  </a:lnTo>
                  <a:lnTo>
                    <a:pt x="1512" y="1614"/>
                  </a:lnTo>
                  <a:lnTo>
                    <a:pt x="1512" y="1620"/>
                  </a:lnTo>
                  <a:lnTo>
                    <a:pt x="1518" y="1626"/>
                  </a:lnTo>
                  <a:lnTo>
                    <a:pt x="1500" y="1638"/>
                  </a:lnTo>
                  <a:lnTo>
                    <a:pt x="1500" y="1656"/>
                  </a:lnTo>
                  <a:lnTo>
                    <a:pt x="1512" y="1668"/>
                  </a:lnTo>
                  <a:lnTo>
                    <a:pt x="1506" y="1674"/>
                  </a:lnTo>
                  <a:lnTo>
                    <a:pt x="1494" y="1674"/>
                  </a:lnTo>
                  <a:lnTo>
                    <a:pt x="1482" y="1698"/>
                  </a:lnTo>
                  <a:lnTo>
                    <a:pt x="1476" y="1698"/>
                  </a:lnTo>
                  <a:lnTo>
                    <a:pt x="1470" y="1704"/>
                  </a:lnTo>
                  <a:lnTo>
                    <a:pt x="1488" y="1722"/>
                  </a:lnTo>
                  <a:lnTo>
                    <a:pt x="1476" y="1740"/>
                  </a:lnTo>
                  <a:lnTo>
                    <a:pt x="1500" y="1752"/>
                  </a:lnTo>
                  <a:lnTo>
                    <a:pt x="1494" y="1782"/>
                  </a:lnTo>
                  <a:lnTo>
                    <a:pt x="1500" y="1782"/>
                  </a:lnTo>
                  <a:lnTo>
                    <a:pt x="1482" y="1806"/>
                  </a:lnTo>
                  <a:lnTo>
                    <a:pt x="1488" y="1824"/>
                  </a:lnTo>
                  <a:lnTo>
                    <a:pt x="1512" y="1842"/>
                  </a:lnTo>
                  <a:lnTo>
                    <a:pt x="1512" y="1848"/>
                  </a:lnTo>
                  <a:lnTo>
                    <a:pt x="1500" y="1866"/>
                  </a:lnTo>
                  <a:lnTo>
                    <a:pt x="1506" y="1866"/>
                  </a:lnTo>
                  <a:lnTo>
                    <a:pt x="1518" y="1872"/>
                  </a:lnTo>
                  <a:lnTo>
                    <a:pt x="1524" y="1878"/>
                  </a:lnTo>
                  <a:lnTo>
                    <a:pt x="1524" y="1890"/>
                  </a:lnTo>
                  <a:lnTo>
                    <a:pt x="1524" y="1902"/>
                  </a:lnTo>
                  <a:lnTo>
                    <a:pt x="1542" y="1908"/>
                  </a:lnTo>
                  <a:lnTo>
                    <a:pt x="1548" y="1908"/>
                  </a:lnTo>
                  <a:lnTo>
                    <a:pt x="1548" y="2010"/>
                  </a:lnTo>
                  <a:lnTo>
                    <a:pt x="1566" y="2016"/>
                  </a:lnTo>
                  <a:lnTo>
                    <a:pt x="1572" y="2028"/>
                  </a:lnTo>
                  <a:lnTo>
                    <a:pt x="1560" y="2046"/>
                  </a:lnTo>
                  <a:lnTo>
                    <a:pt x="1554" y="2070"/>
                  </a:lnTo>
                  <a:lnTo>
                    <a:pt x="1542" y="2052"/>
                  </a:lnTo>
                  <a:lnTo>
                    <a:pt x="1542" y="2058"/>
                  </a:lnTo>
                  <a:lnTo>
                    <a:pt x="1536" y="2058"/>
                  </a:lnTo>
                  <a:lnTo>
                    <a:pt x="1530" y="2064"/>
                  </a:lnTo>
                  <a:lnTo>
                    <a:pt x="1524" y="2082"/>
                  </a:lnTo>
                  <a:lnTo>
                    <a:pt x="1500" y="2082"/>
                  </a:lnTo>
                  <a:lnTo>
                    <a:pt x="1500" y="2088"/>
                  </a:lnTo>
                  <a:lnTo>
                    <a:pt x="1494" y="2088"/>
                  </a:lnTo>
                  <a:lnTo>
                    <a:pt x="1488" y="2082"/>
                  </a:lnTo>
                  <a:lnTo>
                    <a:pt x="1488" y="2088"/>
                  </a:lnTo>
                  <a:lnTo>
                    <a:pt x="1488" y="2082"/>
                  </a:lnTo>
                  <a:lnTo>
                    <a:pt x="1482" y="2088"/>
                  </a:lnTo>
                  <a:lnTo>
                    <a:pt x="1464" y="2106"/>
                  </a:lnTo>
                  <a:lnTo>
                    <a:pt x="1458" y="2118"/>
                  </a:lnTo>
                  <a:lnTo>
                    <a:pt x="1458" y="2130"/>
                  </a:lnTo>
                  <a:lnTo>
                    <a:pt x="1470" y="2136"/>
                  </a:lnTo>
                  <a:lnTo>
                    <a:pt x="1464" y="2142"/>
                  </a:lnTo>
                  <a:lnTo>
                    <a:pt x="1446" y="2142"/>
                  </a:lnTo>
                  <a:lnTo>
                    <a:pt x="1434" y="2148"/>
                  </a:lnTo>
                  <a:lnTo>
                    <a:pt x="1434" y="2166"/>
                  </a:lnTo>
                  <a:lnTo>
                    <a:pt x="1428" y="2166"/>
                  </a:lnTo>
                  <a:lnTo>
                    <a:pt x="1422" y="2172"/>
                  </a:lnTo>
                  <a:lnTo>
                    <a:pt x="1434" y="2196"/>
                  </a:lnTo>
                  <a:lnTo>
                    <a:pt x="1422" y="2226"/>
                  </a:lnTo>
                  <a:lnTo>
                    <a:pt x="1410" y="2226"/>
                  </a:lnTo>
                  <a:lnTo>
                    <a:pt x="1404" y="2214"/>
                  </a:lnTo>
                  <a:lnTo>
                    <a:pt x="1392" y="2220"/>
                  </a:lnTo>
                  <a:lnTo>
                    <a:pt x="1380" y="2214"/>
                  </a:lnTo>
                  <a:lnTo>
                    <a:pt x="1368" y="2220"/>
                  </a:lnTo>
                  <a:lnTo>
                    <a:pt x="1362" y="2238"/>
                  </a:lnTo>
                  <a:lnTo>
                    <a:pt x="1350" y="2238"/>
                  </a:lnTo>
                  <a:lnTo>
                    <a:pt x="1320" y="2256"/>
                  </a:lnTo>
                  <a:lnTo>
                    <a:pt x="1290" y="2256"/>
                  </a:lnTo>
                  <a:lnTo>
                    <a:pt x="1284" y="2268"/>
                  </a:lnTo>
                  <a:lnTo>
                    <a:pt x="1278" y="2274"/>
                  </a:lnTo>
                  <a:lnTo>
                    <a:pt x="1278" y="2286"/>
                  </a:lnTo>
                  <a:lnTo>
                    <a:pt x="1278" y="2298"/>
                  </a:lnTo>
                  <a:lnTo>
                    <a:pt x="1284" y="2298"/>
                  </a:lnTo>
                  <a:lnTo>
                    <a:pt x="1284" y="2304"/>
                  </a:lnTo>
                  <a:lnTo>
                    <a:pt x="1278" y="2304"/>
                  </a:lnTo>
                  <a:lnTo>
                    <a:pt x="1278" y="2310"/>
                  </a:lnTo>
                  <a:lnTo>
                    <a:pt x="1278" y="2316"/>
                  </a:lnTo>
                  <a:lnTo>
                    <a:pt x="1284" y="2322"/>
                  </a:lnTo>
                  <a:lnTo>
                    <a:pt x="1278" y="2322"/>
                  </a:lnTo>
                  <a:lnTo>
                    <a:pt x="1314" y="2346"/>
                  </a:lnTo>
                  <a:lnTo>
                    <a:pt x="1308" y="2526"/>
                  </a:lnTo>
                  <a:lnTo>
                    <a:pt x="1308" y="2532"/>
                  </a:lnTo>
                  <a:lnTo>
                    <a:pt x="1302" y="2532"/>
                  </a:lnTo>
                  <a:lnTo>
                    <a:pt x="1296" y="2532"/>
                  </a:lnTo>
                  <a:lnTo>
                    <a:pt x="1290" y="2538"/>
                  </a:lnTo>
                  <a:lnTo>
                    <a:pt x="1290" y="2532"/>
                  </a:lnTo>
                  <a:lnTo>
                    <a:pt x="1290" y="2538"/>
                  </a:lnTo>
                  <a:lnTo>
                    <a:pt x="1290" y="2532"/>
                  </a:lnTo>
                  <a:lnTo>
                    <a:pt x="1290" y="2538"/>
                  </a:lnTo>
                  <a:lnTo>
                    <a:pt x="1284" y="2538"/>
                  </a:lnTo>
                  <a:lnTo>
                    <a:pt x="1284" y="2544"/>
                  </a:lnTo>
                  <a:lnTo>
                    <a:pt x="1278" y="2544"/>
                  </a:lnTo>
                  <a:lnTo>
                    <a:pt x="1272" y="2550"/>
                  </a:lnTo>
                  <a:lnTo>
                    <a:pt x="1266" y="2562"/>
                  </a:lnTo>
                  <a:lnTo>
                    <a:pt x="1266" y="2568"/>
                  </a:lnTo>
                  <a:lnTo>
                    <a:pt x="1242" y="2574"/>
                  </a:lnTo>
                  <a:lnTo>
                    <a:pt x="1248" y="2580"/>
                  </a:lnTo>
                  <a:lnTo>
                    <a:pt x="1272" y="2586"/>
                  </a:lnTo>
                  <a:lnTo>
                    <a:pt x="1272" y="2598"/>
                  </a:lnTo>
                  <a:lnTo>
                    <a:pt x="1278" y="2610"/>
                  </a:lnTo>
                  <a:lnTo>
                    <a:pt x="1278" y="2622"/>
                  </a:lnTo>
                  <a:lnTo>
                    <a:pt x="1290" y="2634"/>
                  </a:lnTo>
                  <a:lnTo>
                    <a:pt x="1284" y="2634"/>
                  </a:lnTo>
                  <a:lnTo>
                    <a:pt x="1284" y="2640"/>
                  </a:lnTo>
                  <a:lnTo>
                    <a:pt x="1278" y="2640"/>
                  </a:lnTo>
                  <a:lnTo>
                    <a:pt x="1278" y="2646"/>
                  </a:lnTo>
                  <a:lnTo>
                    <a:pt x="1278" y="2652"/>
                  </a:lnTo>
                  <a:lnTo>
                    <a:pt x="1278" y="2658"/>
                  </a:lnTo>
                  <a:lnTo>
                    <a:pt x="1278" y="2664"/>
                  </a:lnTo>
                  <a:lnTo>
                    <a:pt x="1278" y="2670"/>
                  </a:lnTo>
                  <a:lnTo>
                    <a:pt x="1284" y="2670"/>
                  </a:lnTo>
                  <a:lnTo>
                    <a:pt x="1290" y="2670"/>
                  </a:lnTo>
                  <a:lnTo>
                    <a:pt x="1290" y="2676"/>
                  </a:lnTo>
                  <a:lnTo>
                    <a:pt x="1290" y="2682"/>
                  </a:lnTo>
                  <a:lnTo>
                    <a:pt x="1296" y="2682"/>
                  </a:lnTo>
                  <a:lnTo>
                    <a:pt x="1296" y="2688"/>
                  </a:lnTo>
                  <a:lnTo>
                    <a:pt x="1296" y="2694"/>
                  </a:lnTo>
                  <a:lnTo>
                    <a:pt x="1296" y="2700"/>
                  </a:lnTo>
                  <a:lnTo>
                    <a:pt x="1296" y="2706"/>
                  </a:lnTo>
                  <a:lnTo>
                    <a:pt x="1296" y="2712"/>
                  </a:lnTo>
                  <a:lnTo>
                    <a:pt x="1290" y="2712"/>
                  </a:lnTo>
                  <a:lnTo>
                    <a:pt x="1296" y="2718"/>
                  </a:lnTo>
                  <a:lnTo>
                    <a:pt x="1290" y="2718"/>
                  </a:lnTo>
                  <a:lnTo>
                    <a:pt x="1296" y="2718"/>
                  </a:lnTo>
                  <a:lnTo>
                    <a:pt x="1290" y="2718"/>
                  </a:lnTo>
                  <a:lnTo>
                    <a:pt x="1296" y="2718"/>
                  </a:lnTo>
                  <a:lnTo>
                    <a:pt x="1290" y="2718"/>
                  </a:lnTo>
                  <a:lnTo>
                    <a:pt x="1290" y="2724"/>
                  </a:lnTo>
                  <a:lnTo>
                    <a:pt x="1296" y="2724"/>
                  </a:lnTo>
                  <a:lnTo>
                    <a:pt x="1296" y="2730"/>
                  </a:lnTo>
                  <a:lnTo>
                    <a:pt x="1302" y="2730"/>
                  </a:lnTo>
                  <a:lnTo>
                    <a:pt x="1302" y="2736"/>
                  </a:lnTo>
                  <a:lnTo>
                    <a:pt x="1308" y="2736"/>
                  </a:lnTo>
                  <a:lnTo>
                    <a:pt x="1302" y="2736"/>
                  </a:lnTo>
                  <a:lnTo>
                    <a:pt x="1302" y="2742"/>
                  </a:lnTo>
                  <a:lnTo>
                    <a:pt x="1308" y="2742"/>
                  </a:lnTo>
                  <a:lnTo>
                    <a:pt x="1308" y="2748"/>
                  </a:lnTo>
                  <a:lnTo>
                    <a:pt x="1302" y="2748"/>
                  </a:lnTo>
                  <a:lnTo>
                    <a:pt x="1296" y="2748"/>
                  </a:lnTo>
                  <a:lnTo>
                    <a:pt x="1296" y="2754"/>
                  </a:lnTo>
                  <a:lnTo>
                    <a:pt x="1290" y="2754"/>
                  </a:lnTo>
                  <a:lnTo>
                    <a:pt x="1290" y="2760"/>
                  </a:lnTo>
                  <a:lnTo>
                    <a:pt x="1284" y="2766"/>
                  </a:lnTo>
                  <a:lnTo>
                    <a:pt x="1290" y="2772"/>
                  </a:lnTo>
                  <a:lnTo>
                    <a:pt x="1284" y="2778"/>
                  </a:lnTo>
                  <a:lnTo>
                    <a:pt x="1278" y="2784"/>
                  </a:lnTo>
                  <a:lnTo>
                    <a:pt x="1266" y="2796"/>
                  </a:lnTo>
                  <a:lnTo>
                    <a:pt x="1266" y="2802"/>
                  </a:lnTo>
                  <a:lnTo>
                    <a:pt x="1266" y="2814"/>
                  </a:lnTo>
                  <a:lnTo>
                    <a:pt x="1260" y="2808"/>
                  </a:lnTo>
                  <a:lnTo>
                    <a:pt x="1254" y="2814"/>
                  </a:lnTo>
                  <a:lnTo>
                    <a:pt x="1266" y="2820"/>
                  </a:lnTo>
                  <a:lnTo>
                    <a:pt x="1260" y="2820"/>
                  </a:lnTo>
                  <a:lnTo>
                    <a:pt x="1260" y="2826"/>
                  </a:lnTo>
                  <a:lnTo>
                    <a:pt x="1254" y="2826"/>
                  </a:lnTo>
                  <a:lnTo>
                    <a:pt x="1248" y="2826"/>
                  </a:lnTo>
                  <a:lnTo>
                    <a:pt x="1248" y="2832"/>
                  </a:lnTo>
                  <a:lnTo>
                    <a:pt x="1242" y="2832"/>
                  </a:lnTo>
                  <a:lnTo>
                    <a:pt x="1248" y="2832"/>
                  </a:lnTo>
                  <a:lnTo>
                    <a:pt x="1254" y="2850"/>
                  </a:lnTo>
                  <a:lnTo>
                    <a:pt x="1260" y="2850"/>
                  </a:lnTo>
                  <a:lnTo>
                    <a:pt x="1266" y="2856"/>
                  </a:lnTo>
                  <a:lnTo>
                    <a:pt x="1284" y="2856"/>
                  </a:lnTo>
                  <a:lnTo>
                    <a:pt x="1290" y="2850"/>
                  </a:lnTo>
                  <a:lnTo>
                    <a:pt x="1296" y="2850"/>
                  </a:lnTo>
                  <a:lnTo>
                    <a:pt x="1296" y="2862"/>
                  </a:lnTo>
                  <a:lnTo>
                    <a:pt x="1308" y="2862"/>
                  </a:lnTo>
                  <a:lnTo>
                    <a:pt x="1320" y="2868"/>
                  </a:lnTo>
                  <a:lnTo>
                    <a:pt x="1332" y="2880"/>
                  </a:lnTo>
                  <a:lnTo>
                    <a:pt x="1344" y="2874"/>
                  </a:lnTo>
                  <a:lnTo>
                    <a:pt x="1356" y="2886"/>
                  </a:lnTo>
                  <a:lnTo>
                    <a:pt x="1362" y="2886"/>
                  </a:lnTo>
                  <a:lnTo>
                    <a:pt x="1362" y="2880"/>
                  </a:lnTo>
                  <a:lnTo>
                    <a:pt x="1374" y="2886"/>
                  </a:lnTo>
                  <a:lnTo>
                    <a:pt x="1374" y="2898"/>
                  </a:lnTo>
                  <a:lnTo>
                    <a:pt x="1374" y="2904"/>
                  </a:lnTo>
                  <a:lnTo>
                    <a:pt x="1368" y="2904"/>
                  </a:lnTo>
                  <a:lnTo>
                    <a:pt x="1362" y="2904"/>
                  </a:lnTo>
                  <a:lnTo>
                    <a:pt x="1356" y="2904"/>
                  </a:lnTo>
                  <a:lnTo>
                    <a:pt x="1350" y="2904"/>
                  </a:lnTo>
                  <a:lnTo>
                    <a:pt x="1350" y="2910"/>
                  </a:lnTo>
                  <a:lnTo>
                    <a:pt x="1344" y="2910"/>
                  </a:lnTo>
                  <a:lnTo>
                    <a:pt x="1350" y="2910"/>
                  </a:lnTo>
                  <a:lnTo>
                    <a:pt x="1344" y="2910"/>
                  </a:lnTo>
                  <a:lnTo>
                    <a:pt x="1344" y="2916"/>
                  </a:lnTo>
                  <a:lnTo>
                    <a:pt x="1338" y="2916"/>
                  </a:lnTo>
                  <a:lnTo>
                    <a:pt x="1332" y="2916"/>
                  </a:lnTo>
                  <a:lnTo>
                    <a:pt x="1338" y="2916"/>
                  </a:lnTo>
                  <a:lnTo>
                    <a:pt x="1338" y="2910"/>
                  </a:lnTo>
                  <a:lnTo>
                    <a:pt x="1332" y="2910"/>
                  </a:lnTo>
                  <a:lnTo>
                    <a:pt x="1326" y="2910"/>
                  </a:lnTo>
                  <a:lnTo>
                    <a:pt x="1320" y="2910"/>
                  </a:lnTo>
                  <a:lnTo>
                    <a:pt x="1320" y="2916"/>
                  </a:lnTo>
                  <a:lnTo>
                    <a:pt x="1320" y="2910"/>
                  </a:lnTo>
                  <a:lnTo>
                    <a:pt x="1314" y="2910"/>
                  </a:lnTo>
                  <a:lnTo>
                    <a:pt x="1314" y="2904"/>
                  </a:lnTo>
                  <a:lnTo>
                    <a:pt x="1314" y="2910"/>
                  </a:lnTo>
                  <a:lnTo>
                    <a:pt x="1308" y="2904"/>
                  </a:lnTo>
                  <a:lnTo>
                    <a:pt x="1302" y="2904"/>
                  </a:lnTo>
                  <a:lnTo>
                    <a:pt x="1302" y="2898"/>
                  </a:lnTo>
                  <a:lnTo>
                    <a:pt x="1302" y="2904"/>
                  </a:lnTo>
                  <a:lnTo>
                    <a:pt x="1296" y="2904"/>
                  </a:lnTo>
                  <a:lnTo>
                    <a:pt x="1290" y="2904"/>
                  </a:lnTo>
                  <a:lnTo>
                    <a:pt x="1290" y="2910"/>
                  </a:lnTo>
                  <a:lnTo>
                    <a:pt x="1290" y="2916"/>
                  </a:lnTo>
                  <a:lnTo>
                    <a:pt x="1296" y="2916"/>
                  </a:lnTo>
                  <a:lnTo>
                    <a:pt x="1290" y="2916"/>
                  </a:lnTo>
                  <a:lnTo>
                    <a:pt x="1290" y="2922"/>
                  </a:lnTo>
                  <a:lnTo>
                    <a:pt x="1296" y="2922"/>
                  </a:lnTo>
                  <a:lnTo>
                    <a:pt x="1302" y="2922"/>
                  </a:lnTo>
                  <a:lnTo>
                    <a:pt x="1308" y="2922"/>
                  </a:lnTo>
                  <a:lnTo>
                    <a:pt x="1302" y="2922"/>
                  </a:lnTo>
                  <a:lnTo>
                    <a:pt x="1302" y="2928"/>
                  </a:lnTo>
                  <a:lnTo>
                    <a:pt x="1302" y="2934"/>
                  </a:lnTo>
                  <a:lnTo>
                    <a:pt x="1302" y="2940"/>
                  </a:lnTo>
                  <a:lnTo>
                    <a:pt x="1296" y="2946"/>
                  </a:lnTo>
                  <a:lnTo>
                    <a:pt x="1290" y="2952"/>
                  </a:lnTo>
                  <a:lnTo>
                    <a:pt x="1296" y="2964"/>
                  </a:lnTo>
                  <a:lnTo>
                    <a:pt x="1296" y="2970"/>
                  </a:lnTo>
                  <a:lnTo>
                    <a:pt x="1302" y="2970"/>
                  </a:lnTo>
                  <a:lnTo>
                    <a:pt x="1302" y="2976"/>
                  </a:lnTo>
                  <a:lnTo>
                    <a:pt x="1296" y="2976"/>
                  </a:lnTo>
                  <a:lnTo>
                    <a:pt x="1290" y="2976"/>
                  </a:lnTo>
                  <a:lnTo>
                    <a:pt x="1284" y="2982"/>
                  </a:lnTo>
                  <a:lnTo>
                    <a:pt x="1284" y="2988"/>
                  </a:lnTo>
                  <a:lnTo>
                    <a:pt x="1290" y="2994"/>
                  </a:lnTo>
                  <a:lnTo>
                    <a:pt x="1290" y="3000"/>
                  </a:lnTo>
                  <a:lnTo>
                    <a:pt x="1284" y="3000"/>
                  </a:lnTo>
                  <a:lnTo>
                    <a:pt x="1278" y="3000"/>
                  </a:lnTo>
                  <a:lnTo>
                    <a:pt x="1272" y="3006"/>
                  </a:lnTo>
                  <a:lnTo>
                    <a:pt x="1272" y="3012"/>
                  </a:lnTo>
                  <a:lnTo>
                    <a:pt x="1272" y="3018"/>
                  </a:lnTo>
                  <a:lnTo>
                    <a:pt x="1272" y="3012"/>
                  </a:lnTo>
                  <a:lnTo>
                    <a:pt x="1272" y="3018"/>
                  </a:lnTo>
                  <a:lnTo>
                    <a:pt x="1278" y="3018"/>
                  </a:lnTo>
                  <a:lnTo>
                    <a:pt x="1284" y="3024"/>
                  </a:lnTo>
                  <a:lnTo>
                    <a:pt x="1290" y="3024"/>
                  </a:lnTo>
                  <a:lnTo>
                    <a:pt x="1290" y="3036"/>
                  </a:lnTo>
                  <a:lnTo>
                    <a:pt x="1290" y="3042"/>
                  </a:lnTo>
                  <a:lnTo>
                    <a:pt x="1296" y="3042"/>
                  </a:lnTo>
                  <a:lnTo>
                    <a:pt x="1302" y="3042"/>
                  </a:lnTo>
                  <a:lnTo>
                    <a:pt x="1302" y="3048"/>
                  </a:lnTo>
                  <a:lnTo>
                    <a:pt x="1302" y="3054"/>
                  </a:lnTo>
                  <a:lnTo>
                    <a:pt x="1308" y="3054"/>
                  </a:lnTo>
                  <a:lnTo>
                    <a:pt x="1308" y="3060"/>
                  </a:lnTo>
                  <a:lnTo>
                    <a:pt x="1302" y="3060"/>
                  </a:lnTo>
                  <a:lnTo>
                    <a:pt x="1296" y="3060"/>
                  </a:lnTo>
                  <a:lnTo>
                    <a:pt x="1290" y="3060"/>
                  </a:lnTo>
                  <a:lnTo>
                    <a:pt x="1296" y="3066"/>
                  </a:lnTo>
                  <a:lnTo>
                    <a:pt x="1290" y="3066"/>
                  </a:lnTo>
                  <a:lnTo>
                    <a:pt x="1290" y="3072"/>
                  </a:lnTo>
                  <a:lnTo>
                    <a:pt x="1284" y="3084"/>
                  </a:lnTo>
                  <a:lnTo>
                    <a:pt x="1284" y="3096"/>
                  </a:lnTo>
                  <a:lnTo>
                    <a:pt x="1290" y="3096"/>
                  </a:lnTo>
                  <a:lnTo>
                    <a:pt x="1290" y="3102"/>
                  </a:lnTo>
                  <a:lnTo>
                    <a:pt x="1284" y="3102"/>
                  </a:lnTo>
                  <a:lnTo>
                    <a:pt x="1284" y="3108"/>
                  </a:lnTo>
                  <a:lnTo>
                    <a:pt x="1278" y="3108"/>
                  </a:lnTo>
                  <a:lnTo>
                    <a:pt x="1278" y="3114"/>
                  </a:lnTo>
                  <a:lnTo>
                    <a:pt x="1266" y="3120"/>
                  </a:lnTo>
                  <a:lnTo>
                    <a:pt x="1266" y="3126"/>
                  </a:lnTo>
                  <a:lnTo>
                    <a:pt x="1260" y="3132"/>
                  </a:lnTo>
                  <a:lnTo>
                    <a:pt x="1266" y="3150"/>
                  </a:lnTo>
                  <a:lnTo>
                    <a:pt x="1266" y="3162"/>
                  </a:lnTo>
                  <a:lnTo>
                    <a:pt x="1254" y="3162"/>
                  </a:lnTo>
                  <a:lnTo>
                    <a:pt x="1254" y="3168"/>
                  </a:lnTo>
                  <a:lnTo>
                    <a:pt x="1242" y="3168"/>
                  </a:lnTo>
                  <a:lnTo>
                    <a:pt x="1236" y="3174"/>
                  </a:lnTo>
                  <a:lnTo>
                    <a:pt x="1230" y="3174"/>
                  </a:lnTo>
                  <a:lnTo>
                    <a:pt x="1230" y="3168"/>
                  </a:lnTo>
                  <a:lnTo>
                    <a:pt x="1224" y="3168"/>
                  </a:lnTo>
                  <a:lnTo>
                    <a:pt x="1224" y="3174"/>
                  </a:lnTo>
                  <a:lnTo>
                    <a:pt x="1224" y="3180"/>
                  </a:lnTo>
                  <a:lnTo>
                    <a:pt x="1230" y="3180"/>
                  </a:lnTo>
                  <a:lnTo>
                    <a:pt x="1230" y="3186"/>
                  </a:lnTo>
                  <a:lnTo>
                    <a:pt x="1224" y="3186"/>
                  </a:lnTo>
                  <a:lnTo>
                    <a:pt x="1218" y="3186"/>
                  </a:lnTo>
                  <a:lnTo>
                    <a:pt x="1218" y="3192"/>
                  </a:lnTo>
                  <a:lnTo>
                    <a:pt x="1212" y="3192"/>
                  </a:lnTo>
                  <a:lnTo>
                    <a:pt x="1212" y="3198"/>
                  </a:lnTo>
                  <a:lnTo>
                    <a:pt x="1206" y="3198"/>
                  </a:lnTo>
                  <a:lnTo>
                    <a:pt x="1212" y="3198"/>
                  </a:lnTo>
                  <a:lnTo>
                    <a:pt x="1212" y="3204"/>
                  </a:lnTo>
                  <a:lnTo>
                    <a:pt x="1212" y="3210"/>
                  </a:lnTo>
                  <a:lnTo>
                    <a:pt x="1212" y="3216"/>
                  </a:lnTo>
                  <a:lnTo>
                    <a:pt x="1206" y="3216"/>
                  </a:lnTo>
                  <a:lnTo>
                    <a:pt x="1206" y="3222"/>
                  </a:lnTo>
                  <a:lnTo>
                    <a:pt x="1206" y="3228"/>
                  </a:lnTo>
                  <a:lnTo>
                    <a:pt x="1212" y="3228"/>
                  </a:lnTo>
                  <a:lnTo>
                    <a:pt x="1212" y="3234"/>
                  </a:lnTo>
                  <a:lnTo>
                    <a:pt x="1206" y="3234"/>
                  </a:lnTo>
                  <a:lnTo>
                    <a:pt x="1206" y="3240"/>
                  </a:lnTo>
                  <a:lnTo>
                    <a:pt x="1206" y="3246"/>
                  </a:lnTo>
                  <a:lnTo>
                    <a:pt x="1212" y="3246"/>
                  </a:lnTo>
                  <a:lnTo>
                    <a:pt x="1212" y="3252"/>
                  </a:lnTo>
                  <a:lnTo>
                    <a:pt x="1212" y="3258"/>
                  </a:lnTo>
                  <a:lnTo>
                    <a:pt x="1218" y="3264"/>
                  </a:lnTo>
                  <a:lnTo>
                    <a:pt x="1218" y="3270"/>
                  </a:lnTo>
                  <a:lnTo>
                    <a:pt x="1224" y="3270"/>
                  </a:lnTo>
                  <a:lnTo>
                    <a:pt x="1230" y="3270"/>
                  </a:lnTo>
                  <a:lnTo>
                    <a:pt x="1236" y="3270"/>
                  </a:lnTo>
                  <a:lnTo>
                    <a:pt x="1242" y="3270"/>
                  </a:lnTo>
                  <a:lnTo>
                    <a:pt x="1242" y="3276"/>
                  </a:lnTo>
                  <a:lnTo>
                    <a:pt x="1242" y="3270"/>
                  </a:lnTo>
                  <a:lnTo>
                    <a:pt x="1248" y="3270"/>
                  </a:lnTo>
                  <a:lnTo>
                    <a:pt x="1248" y="3276"/>
                  </a:lnTo>
                  <a:lnTo>
                    <a:pt x="1248" y="3282"/>
                  </a:lnTo>
                  <a:lnTo>
                    <a:pt x="1248" y="3288"/>
                  </a:lnTo>
                  <a:lnTo>
                    <a:pt x="1248" y="3294"/>
                  </a:lnTo>
                  <a:lnTo>
                    <a:pt x="1254" y="3294"/>
                  </a:lnTo>
                  <a:lnTo>
                    <a:pt x="1248" y="3300"/>
                  </a:lnTo>
                  <a:lnTo>
                    <a:pt x="1248" y="3306"/>
                  </a:lnTo>
                  <a:lnTo>
                    <a:pt x="1248" y="3312"/>
                  </a:lnTo>
                  <a:lnTo>
                    <a:pt x="1242" y="3312"/>
                  </a:lnTo>
                  <a:lnTo>
                    <a:pt x="1242" y="3306"/>
                  </a:lnTo>
                  <a:lnTo>
                    <a:pt x="1236" y="3306"/>
                  </a:lnTo>
                  <a:lnTo>
                    <a:pt x="1242" y="3306"/>
                  </a:lnTo>
                  <a:lnTo>
                    <a:pt x="1236" y="3306"/>
                  </a:lnTo>
                  <a:lnTo>
                    <a:pt x="1230" y="3306"/>
                  </a:lnTo>
                  <a:lnTo>
                    <a:pt x="1230" y="3312"/>
                  </a:lnTo>
                  <a:lnTo>
                    <a:pt x="1224" y="3312"/>
                  </a:lnTo>
                  <a:lnTo>
                    <a:pt x="1230" y="3312"/>
                  </a:lnTo>
                  <a:lnTo>
                    <a:pt x="1230" y="3318"/>
                  </a:lnTo>
                  <a:lnTo>
                    <a:pt x="1224" y="3318"/>
                  </a:lnTo>
                  <a:lnTo>
                    <a:pt x="1218" y="3318"/>
                  </a:lnTo>
                  <a:lnTo>
                    <a:pt x="1218" y="3324"/>
                  </a:lnTo>
                  <a:lnTo>
                    <a:pt x="1224" y="3330"/>
                  </a:lnTo>
                  <a:lnTo>
                    <a:pt x="1224" y="3336"/>
                  </a:lnTo>
                  <a:lnTo>
                    <a:pt x="1230" y="3342"/>
                  </a:lnTo>
                  <a:lnTo>
                    <a:pt x="1236" y="3342"/>
                  </a:lnTo>
                  <a:lnTo>
                    <a:pt x="1242" y="3342"/>
                  </a:lnTo>
                  <a:lnTo>
                    <a:pt x="1242" y="3348"/>
                  </a:lnTo>
                  <a:lnTo>
                    <a:pt x="1236" y="3348"/>
                  </a:lnTo>
                  <a:lnTo>
                    <a:pt x="1242" y="3348"/>
                  </a:lnTo>
                  <a:lnTo>
                    <a:pt x="1242" y="3354"/>
                  </a:lnTo>
                  <a:lnTo>
                    <a:pt x="1236" y="3354"/>
                  </a:lnTo>
                  <a:lnTo>
                    <a:pt x="1236" y="3360"/>
                  </a:lnTo>
                  <a:lnTo>
                    <a:pt x="1242" y="3360"/>
                  </a:lnTo>
                  <a:lnTo>
                    <a:pt x="1242" y="3366"/>
                  </a:lnTo>
                  <a:lnTo>
                    <a:pt x="1242" y="3372"/>
                  </a:lnTo>
                  <a:lnTo>
                    <a:pt x="1248" y="3372"/>
                  </a:lnTo>
                  <a:lnTo>
                    <a:pt x="1242" y="3378"/>
                  </a:lnTo>
                  <a:lnTo>
                    <a:pt x="1236" y="3378"/>
                  </a:lnTo>
                  <a:lnTo>
                    <a:pt x="1230" y="3384"/>
                  </a:lnTo>
                  <a:lnTo>
                    <a:pt x="1224" y="3384"/>
                  </a:lnTo>
                  <a:lnTo>
                    <a:pt x="1224" y="3390"/>
                  </a:lnTo>
                  <a:lnTo>
                    <a:pt x="1218" y="3396"/>
                  </a:lnTo>
                  <a:lnTo>
                    <a:pt x="1224" y="3402"/>
                  </a:lnTo>
                  <a:lnTo>
                    <a:pt x="1224" y="3408"/>
                  </a:lnTo>
                  <a:lnTo>
                    <a:pt x="1218" y="3414"/>
                  </a:lnTo>
                  <a:lnTo>
                    <a:pt x="1212" y="3420"/>
                  </a:lnTo>
                  <a:lnTo>
                    <a:pt x="1206" y="3420"/>
                  </a:lnTo>
                  <a:lnTo>
                    <a:pt x="1200" y="3420"/>
                  </a:lnTo>
                  <a:lnTo>
                    <a:pt x="1200" y="3414"/>
                  </a:lnTo>
                  <a:lnTo>
                    <a:pt x="1194" y="3414"/>
                  </a:lnTo>
                  <a:lnTo>
                    <a:pt x="1200" y="3414"/>
                  </a:lnTo>
                  <a:lnTo>
                    <a:pt x="1200" y="3408"/>
                  </a:lnTo>
                  <a:lnTo>
                    <a:pt x="1194" y="3408"/>
                  </a:lnTo>
                  <a:lnTo>
                    <a:pt x="1194" y="3414"/>
                  </a:lnTo>
                  <a:lnTo>
                    <a:pt x="1194" y="3408"/>
                  </a:lnTo>
                  <a:lnTo>
                    <a:pt x="1188" y="3408"/>
                  </a:lnTo>
                  <a:lnTo>
                    <a:pt x="1188" y="3402"/>
                  </a:lnTo>
                  <a:lnTo>
                    <a:pt x="1176" y="3408"/>
                  </a:lnTo>
                  <a:lnTo>
                    <a:pt x="1182" y="3408"/>
                  </a:lnTo>
                  <a:lnTo>
                    <a:pt x="1182" y="3402"/>
                  </a:lnTo>
                  <a:lnTo>
                    <a:pt x="1182" y="3396"/>
                  </a:lnTo>
                  <a:lnTo>
                    <a:pt x="1176" y="3396"/>
                  </a:lnTo>
                  <a:lnTo>
                    <a:pt x="1170" y="3396"/>
                  </a:lnTo>
                  <a:lnTo>
                    <a:pt x="1170" y="3390"/>
                  </a:lnTo>
                  <a:lnTo>
                    <a:pt x="1164" y="3390"/>
                  </a:lnTo>
                  <a:lnTo>
                    <a:pt x="1164" y="3384"/>
                  </a:lnTo>
                  <a:lnTo>
                    <a:pt x="1158" y="3384"/>
                  </a:lnTo>
                  <a:lnTo>
                    <a:pt x="1152" y="3384"/>
                  </a:lnTo>
                  <a:lnTo>
                    <a:pt x="1152" y="3378"/>
                  </a:lnTo>
                  <a:lnTo>
                    <a:pt x="1152" y="3372"/>
                  </a:lnTo>
                  <a:lnTo>
                    <a:pt x="1146" y="3372"/>
                  </a:lnTo>
                  <a:lnTo>
                    <a:pt x="1146" y="3366"/>
                  </a:lnTo>
                  <a:lnTo>
                    <a:pt x="1152" y="3366"/>
                  </a:lnTo>
                  <a:lnTo>
                    <a:pt x="1152" y="3360"/>
                  </a:lnTo>
                  <a:lnTo>
                    <a:pt x="1146" y="3360"/>
                  </a:lnTo>
                  <a:lnTo>
                    <a:pt x="1146" y="3366"/>
                  </a:lnTo>
                  <a:lnTo>
                    <a:pt x="1146" y="3360"/>
                  </a:lnTo>
                  <a:lnTo>
                    <a:pt x="1140" y="3360"/>
                  </a:lnTo>
                  <a:lnTo>
                    <a:pt x="1134" y="3360"/>
                  </a:lnTo>
                  <a:lnTo>
                    <a:pt x="1128" y="3360"/>
                  </a:lnTo>
                  <a:lnTo>
                    <a:pt x="1128" y="3366"/>
                  </a:lnTo>
                  <a:lnTo>
                    <a:pt x="1122" y="3366"/>
                  </a:lnTo>
                  <a:lnTo>
                    <a:pt x="1116" y="3366"/>
                  </a:lnTo>
                  <a:lnTo>
                    <a:pt x="1110" y="3372"/>
                  </a:lnTo>
                  <a:lnTo>
                    <a:pt x="1110" y="3378"/>
                  </a:lnTo>
                  <a:lnTo>
                    <a:pt x="1110" y="3384"/>
                  </a:lnTo>
                  <a:lnTo>
                    <a:pt x="1110" y="3390"/>
                  </a:lnTo>
                  <a:lnTo>
                    <a:pt x="1116" y="3396"/>
                  </a:lnTo>
                  <a:lnTo>
                    <a:pt x="1116" y="3402"/>
                  </a:lnTo>
                  <a:lnTo>
                    <a:pt x="1116" y="3408"/>
                  </a:lnTo>
                  <a:lnTo>
                    <a:pt x="1116" y="3414"/>
                  </a:lnTo>
                  <a:lnTo>
                    <a:pt x="1110" y="3414"/>
                  </a:lnTo>
                  <a:lnTo>
                    <a:pt x="1104" y="3414"/>
                  </a:lnTo>
                  <a:lnTo>
                    <a:pt x="1104" y="3420"/>
                  </a:lnTo>
                  <a:lnTo>
                    <a:pt x="1104" y="3426"/>
                  </a:lnTo>
                  <a:lnTo>
                    <a:pt x="1098" y="3426"/>
                  </a:lnTo>
                  <a:lnTo>
                    <a:pt x="1098" y="3432"/>
                  </a:lnTo>
                  <a:lnTo>
                    <a:pt x="1098" y="3426"/>
                  </a:lnTo>
                  <a:lnTo>
                    <a:pt x="1098" y="3432"/>
                  </a:lnTo>
                  <a:lnTo>
                    <a:pt x="1092" y="3432"/>
                  </a:lnTo>
                  <a:lnTo>
                    <a:pt x="1086" y="3432"/>
                  </a:lnTo>
                  <a:lnTo>
                    <a:pt x="1080" y="3432"/>
                  </a:lnTo>
                  <a:lnTo>
                    <a:pt x="1080" y="3438"/>
                  </a:lnTo>
                  <a:lnTo>
                    <a:pt x="1074" y="3438"/>
                  </a:lnTo>
                  <a:lnTo>
                    <a:pt x="1074" y="3444"/>
                  </a:lnTo>
                  <a:lnTo>
                    <a:pt x="1074" y="3450"/>
                  </a:lnTo>
                  <a:lnTo>
                    <a:pt x="1068" y="3450"/>
                  </a:lnTo>
                  <a:lnTo>
                    <a:pt x="1068" y="3456"/>
                  </a:lnTo>
                  <a:lnTo>
                    <a:pt x="1062" y="3456"/>
                  </a:lnTo>
                  <a:lnTo>
                    <a:pt x="1056" y="3456"/>
                  </a:lnTo>
                  <a:lnTo>
                    <a:pt x="1050" y="3462"/>
                  </a:lnTo>
                  <a:lnTo>
                    <a:pt x="1050" y="3468"/>
                  </a:lnTo>
                  <a:lnTo>
                    <a:pt x="1056" y="3474"/>
                  </a:lnTo>
                  <a:lnTo>
                    <a:pt x="1050" y="3474"/>
                  </a:lnTo>
                  <a:lnTo>
                    <a:pt x="1044" y="3480"/>
                  </a:lnTo>
                  <a:lnTo>
                    <a:pt x="1050" y="3486"/>
                  </a:lnTo>
                  <a:lnTo>
                    <a:pt x="1044" y="3486"/>
                  </a:lnTo>
                  <a:lnTo>
                    <a:pt x="1038" y="3486"/>
                  </a:lnTo>
                  <a:lnTo>
                    <a:pt x="1038" y="3492"/>
                  </a:lnTo>
                  <a:lnTo>
                    <a:pt x="1038" y="3498"/>
                  </a:lnTo>
                  <a:lnTo>
                    <a:pt x="1038" y="3504"/>
                  </a:lnTo>
                  <a:lnTo>
                    <a:pt x="1038" y="3510"/>
                  </a:lnTo>
                  <a:lnTo>
                    <a:pt x="1044" y="3510"/>
                  </a:lnTo>
                  <a:lnTo>
                    <a:pt x="1038" y="3510"/>
                  </a:lnTo>
                  <a:lnTo>
                    <a:pt x="1044" y="3510"/>
                  </a:lnTo>
                  <a:lnTo>
                    <a:pt x="1044" y="3516"/>
                  </a:lnTo>
                  <a:lnTo>
                    <a:pt x="1044" y="3522"/>
                  </a:lnTo>
                  <a:lnTo>
                    <a:pt x="1038" y="3522"/>
                  </a:lnTo>
                  <a:lnTo>
                    <a:pt x="1032" y="3522"/>
                  </a:lnTo>
                  <a:lnTo>
                    <a:pt x="1026" y="3516"/>
                  </a:lnTo>
                  <a:lnTo>
                    <a:pt x="1020" y="3516"/>
                  </a:lnTo>
                  <a:lnTo>
                    <a:pt x="1020" y="3510"/>
                  </a:lnTo>
                  <a:lnTo>
                    <a:pt x="1020" y="3504"/>
                  </a:lnTo>
                  <a:lnTo>
                    <a:pt x="1014" y="3504"/>
                  </a:lnTo>
                  <a:lnTo>
                    <a:pt x="1020" y="3504"/>
                  </a:lnTo>
                  <a:lnTo>
                    <a:pt x="1014" y="3498"/>
                  </a:lnTo>
                  <a:lnTo>
                    <a:pt x="1014" y="3492"/>
                  </a:lnTo>
                  <a:lnTo>
                    <a:pt x="1008" y="3486"/>
                  </a:lnTo>
                  <a:lnTo>
                    <a:pt x="1008" y="3480"/>
                  </a:lnTo>
                  <a:lnTo>
                    <a:pt x="1002" y="3480"/>
                  </a:lnTo>
                  <a:lnTo>
                    <a:pt x="1002" y="3474"/>
                  </a:lnTo>
                  <a:lnTo>
                    <a:pt x="1002" y="3468"/>
                  </a:lnTo>
                  <a:lnTo>
                    <a:pt x="996" y="3468"/>
                  </a:lnTo>
                  <a:lnTo>
                    <a:pt x="990" y="3468"/>
                  </a:lnTo>
                  <a:lnTo>
                    <a:pt x="984" y="3468"/>
                  </a:lnTo>
                  <a:lnTo>
                    <a:pt x="984" y="3474"/>
                  </a:lnTo>
                  <a:lnTo>
                    <a:pt x="984" y="3480"/>
                  </a:lnTo>
                  <a:lnTo>
                    <a:pt x="978" y="3480"/>
                  </a:lnTo>
                  <a:lnTo>
                    <a:pt x="978" y="3486"/>
                  </a:lnTo>
                  <a:lnTo>
                    <a:pt x="978" y="3492"/>
                  </a:lnTo>
                  <a:lnTo>
                    <a:pt x="972" y="3492"/>
                  </a:lnTo>
                  <a:lnTo>
                    <a:pt x="966" y="3492"/>
                  </a:lnTo>
                  <a:lnTo>
                    <a:pt x="960" y="3492"/>
                  </a:lnTo>
                  <a:lnTo>
                    <a:pt x="954" y="3492"/>
                  </a:lnTo>
                  <a:lnTo>
                    <a:pt x="954" y="3498"/>
                  </a:lnTo>
                  <a:lnTo>
                    <a:pt x="948" y="3498"/>
                  </a:lnTo>
                  <a:lnTo>
                    <a:pt x="948" y="3492"/>
                  </a:lnTo>
                  <a:lnTo>
                    <a:pt x="942" y="3492"/>
                  </a:lnTo>
                  <a:lnTo>
                    <a:pt x="936" y="3492"/>
                  </a:lnTo>
                  <a:lnTo>
                    <a:pt x="930" y="3492"/>
                  </a:lnTo>
                  <a:lnTo>
                    <a:pt x="924" y="3492"/>
                  </a:lnTo>
                  <a:lnTo>
                    <a:pt x="918" y="3492"/>
                  </a:lnTo>
                  <a:lnTo>
                    <a:pt x="912" y="3492"/>
                  </a:lnTo>
                  <a:lnTo>
                    <a:pt x="906" y="3492"/>
                  </a:lnTo>
                  <a:lnTo>
                    <a:pt x="906" y="3486"/>
                  </a:lnTo>
                  <a:lnTo>
                    <a:pt x="882" y="3552"/>
                  </a:lnTo>
                  <a:lnTo>
                    <a:pt x="882" y="3558"/>
                  </a:lnTo>
                  <a:lnTo>
                    <a:pt x="882" y="3564"/>
                  </a:lnTo>
                  <a:lnTo>
                    <a:pt x="888" y="3564"/>
                  </a:lnTo>
                  <a:lnTo>
                    <a:pt x="888" y="3558"/>
                  </a:lnTo>
                  <a:lnTo>
                    <a:pt x="888" y="3564"/>
                  </a:lnTo>
                  <a:lnTo>
                    <a:pt x="894" y="3564"/>
                  </a:lnTo>
                  <a:lnTo>
                    <a:pt x="888" y="3564"/>
                  </a:lnTo>
                  <a:lnTo>
                    <a:pt x="894" y="3564"/>
                  </a:lnTo>
                  <a:lnTo>
                    <a:pt x="888" y="3564"/>
                  </a:lnTo>
                  <a:lnTo>
                    <a:pt x="882" y="3564"/>
                  </a:lnTo>
                  <a:lnTo>
                    <a:pt x="882" y="3570"/>
                  </a:lnTo>
                  <a:lnTo>
                    <a:pt x="888" y="3576"/>
                  </a:lnTo>
                  <a:lnTo>
                    <a:pt x="894" y="3576"/>
                  </a:lnTo>
                  <a:lnTo>
                    <a:pt x="894" y="3570"/>
                  </a:lnTo>
                  <a:lnTo>
                    <a:pt x="894" y="3576"/>
                  </a:lnTo>
                  <a:lnTo>
                    <a:pt x="900" y="3576"/>
                  </a:lnTo>
                  <a:lnTo>
                    <a:pt x="894" y="3576"/>
                  </a:lnTo>
                  <a:lnTo>
                    <a:pt x="900" y="3576"/>
                  </a:lnTo>
                  <a:lnTo>
                    <a:pt x="894" y="3582"/>
                  </a:lnTo>
                  <a:lnTo>
                    <a:pt x="894" y="3588"/>
                  </a:lnTo>
                  <a:lnTo>
                    <a:pt x="894" y="3594"/>
                  </a:lnTo>
                  <a:lnTo>
                    <a:pt x="900" y="3594"/>
                  </a:lnTo>
                  <a:lnTo>
                    <a:pt x="900" y="3606"/>
                  </a:lnTo>
                  <a:lnTo>
                    <a:pt x="888" y="3606"/>
                  </a:lnTo>
                  <a:lnTo>
                    <a:pt x="888" y="3612"/>
                  </a:lnTo>
                  <a:lnTo>
                    <a:pt x="888" y="3618"/>
                  </a:lnTo>
                  <a:lnTo>
                    <a:pt x="888" y="3624"/>
                  </a:lnTo>
                  <a:lnTo>
                    <a:pt x="882" y="3624"/>
                  </a:lnTo>
                  <a:lnTo>
                    <a:pt x="882" y="3630"/>
                  </a:lnTo>
                  <a:lnTo>
                    <a:pt x="876" y="3636"/>
                  </a:lnTo>
                  <a:lnTo>
                    <a:pt x="876" y="3630"/>
                  </a:lnTo>
                  <a:lnTo>
                    <a:pt x="870" y="3630"/>
                  </a:lnTo>
                  <a:lnTo>
                    <a:pt x="864" y="3636"/>
                  </a:lnTo>
                  <a:lnTo>
                    <a:pt x="864" y="3642"/>
                  </a:lnTo>
                  <a:lnTo>
                    <a:pt x="864" y="3648"/>
                  </a:lnTo>
                  <a:lnTo>
                    <a:pt x="864" y="3654"/>
                  </a:lnTo>
                  <a:lnTo>
                    <a:pt x="858" y="3648"/>
                  </a:lnTo>
                  <a:lnTo>
                    <a:pt x="858" y="3654"/>
                  </a:lnTo>
                  <a:lnTo>
                    <a:pt x="852" y="3654"/>
                  </a:lnTo>
                  <a:lnTo>
                    <a:pt x="852" y="3660"/>
                  </a:lnTo>
                  <a:lnTo>
                    <a:pt x="852" y="3666"/>
                  </a:lnTo>
                  <a:lnTo>
                    <a:pt x="858" y="3672"/>
                  </a:lnTo>
                  <a:lnTo>
                    <a:pt x="852" y="3672"/>
                  </a:lnTo>
                  <a:lnTo>
                    <a:pt x="852" y="3678"/>
                  </a:lnTo>
                  <a:lnTo>
                    <a:pt x="852" y="3684"/>
                  </a:lnTo>
                  <a:lnTo>
                    <a:pt x="858" y="3684"/>
                  </a:lnTo>
                  <a:lnTo>
                    <a:pt x="858" y="3690"/>
                  </a:lnTo>
                  <a:lnTo>
                    <a:pt x="858" y="3696"/>
                  </a:lnTo>
                  <a:lnTo>
                    <a:pt x="852" y="3696"/>
                  </a:lnTo>
                  <a:lnTo>
                    <a:pt x="846" y="3696"/>
                  </a:lnTo>
                  <a:lnTo>
                    <a:pt x="846" y="3702"/>
                  </a:lnTo>
                  <a:lnTo>
                    <a:pt x="846" y="3708"/>
                  </a:lnTo>
                  <a:lnTo>
                    <a:pt x="846" y="3714"/>
                  </a:lnTo>
                  <a:lnTo>
                    <a:pt x="840" y="3714"/>
                  </a:lnTo>
                  <a:lnTo>
                    <a:pt x="846" y="3720"/>
                  </a:lnTo>
                  <a:lnTo>
                    <a:pt x="846" y="3726"/>
                  </a:lnTo>
                  <a:lnTo>
                    <a:pt x="846" y="3732"/>
                  </a:lnTo>
                  <a:lnTo>
                    <a:pt x="846" y="3738"/>
                  </a:lnTo>
                  <a:lnTo>
                    <a:pt x="840" y="3738"/>
                  </a:lnTo>
                  <a:lnTo>
                    <a:pt x="840" y="3744"/>
                  </a:lnTo>
                  <a:lnTo>
                    <a:pt x="840" y="3750"/>
                  </a:lnTo>
                  <a:lnTo>
                    <a:pt x="840" y="3756"/>
                  </a:lnTo>
                  <a:lnTo>
                    <a:pt x="834" y="3756"/>
                  </a:lnTo>
                  <a:lnTo>
                    <a:pt x="828" y="3756"/>
                  </a:lnTo>
                  <a:lnTo>
                    <a:pt x="828" y="3762"/>
                  </a:lnTo>
                  <a:lnTo>
                    <a:pt x="822" y="3762"/>
                  </a:lnTo>
                  <a:lnTo>
                    <a:pt x="822" y="3756"/>
                  </a:lnTo>
                  <a:lnTo>
                    <a:pt x="816" y="3756"/>
                  </a:lnTo>
                  <a:lnTo>
                    <a:pt x="816" y="3762"/>
                  </a:lnTo>
                  <a:lnTo>
                    <a:pt x="816" y="3768"/>
                  </a:lnTo>
                  <a:lnTo>
                    <a:pt x="810" y="3768"/>
                  </a:lnTo>
                  <a:lnTo>
                    <a:pt x="816" y="3768"/>
                  </a:lnTo>
                  <a:lnTo>
                    <a:pt x="810" y="3768"/>
                  </a:lnTo>
                  <a:lnTo>
                    <a:pt x="810" y="3774"/>
                  </a:lnTo>
                  <a:lnTo>
                    <a:pt x="810" y="3768"/>
                  </a:lnTo>
                  <a:lnTo>
                    <a:pt x="810" y="3762"/>
                  </a:lnTo>
                  <a:lnTo>
                    <a:pt x="804" y="3762"/>
                  </a:lnTo>
                  <a:lnTo>
                    <a:pt x="798" y="3768"/>
                  </a:lnTo>
                  <a:lnTo>
                    <a:pt x="798" y="3774"/>
                  </a:lnTo>
                  <a:lnTo>
                    <a:pt x="798" y="3780"/>
                  </a:lnTo>
                  <a:lnTo>
                    <a:pt x="804" y="3780"/>
                  </a:lnTo>
                  <a:lnTo>
                    <a:pt x="810" y="3780"/>
                  </a:lnTo>
                  <a:lnTo>
                    <a:pt x="810" y="3786"/>
                  </a:lnTo>
                  <a:lnTo>
                    <a:pt x="810" y="3792"/>
                  </a:lnTo>
                  <a:lnTo>
                    <a:pt x="816" y="3792"/>
                  </a:lnTo>
                  <a:lnTo>
                    <a:pt x="816" y="3798"/>
                  </a:lnTo>
                  <a:lnTo>
                    <a:pt x="822" y="3804"/>
                  </a:lnTo>
                  <a:lnTo>
                    <a:pt x="828" y="3804"/>
                  </a:lnTo>
                  <a:lnTo>
                    <a:pt x="828" y="3810"/>
                  </a:lnTo>
                  <a:lnTo>
                    <a:pt x="834" y="3810"/>
                  </a:lnTo>
                  <a:lnTo>
                    <a:pt x="834" y="3816"/>
                  </a:lnTo>
                  <a:lnTo>
                    <a:pt x="834" y="3822"/>
                  </a:lnTo>
                  <a:lnTo>
                    <a:pt x="840" y="3822"/>
                  </a:lnTo>
                  <a:lnTo>
                    <a:pt x="846" y="3828"/>
                  </a:lnTo>
                  <a:lnTo>
                    <a:pt x="846" y="3834"/>
                  </a:lnTo>
                  <a:lnTo>
                    <a:pt x="846" y="3840"/>
                  </a:lnTo>
                  <a:lnTo>
                    <a:pt x="840" y="3840"/>
                  </a:lnTo>
                  <a:lnTo>
                    <a:pt x="834" y="3840"/>
                  </a:lnTo>
                  <a:lnTo>
                    <a:pt x="828" y="3840"/>
                  </a:lnTo>
                  <a:lnTo>
                    <a:pt x="834" y="3834"/>
                  </a:lnTo>
                  <a:lnTo>
                    <a:pt x="828" y="3834"/>
                  </a:lnTo>
                  <a:lnTo>
                    <a:pt x="822" y="3834"/>
                  </a:lnTo>
                  <a:lnTo>
                    <a:pt x="828" y="3840"/>
                  </a:lnTo>
                  <a:lnTo>
                    <a:pt x="822" y="3840"/>
                  </a:lnTo>
                  <a:lnTo>
                    <a:pt x="816" y="3840"/>
                  </a:lnTo>
                  <a:lnTo>
                    <a:pt x="822" y="3846"/>
                  </a:lnTo>
                  <a:lnTo>
                    <a:pt x="816" y="3846"/>
                  </a:lnTo>
                  <a:lnTo>
                    <a:pt x="810" y="3840"/>
                  </a:lnTo>
                  <a:lnTo>
                    <a:pt x="804" y="3840"/>
                  </a:lnTo>
                  <a:lnTo>
                    <a:pt x="798" y="3840"/>
                  </a:lnTo>
                  <a:lnTo>
                    <a:pt x="798" y="3846"/>
                  </a:lnTo>
                  <a:lnTo>
                    <a:pt x="792" y="3846"/>
                  </a:lnTo>
                  <a:lnTo>
                    <a:pt x="792" y="3852"/>
                  </a:lnTo>
                  <a:lnTo>
                    <a:pt x="786" y="3852"/>
                  </a:lnTo>
                  <a:lnTo>
                    <a:pt x="780" y="3852"/>
                  </a:lnTo>
                  <a:lnTo>
                    <a:pt x="786" y="3846"/>
                  </a:lnTo>
                  <a:lnTo>
                    <a:pt x="780" y="3846"/>
                  </a:lnTo>
                  <a:lnTo>
                    <a:pt x="774" y="3846"/>
                  </a:lnTo>
                  <a:lnTo>
                    <a:pt x="774" y="3852"/>
                  </a:lnTo>
                  <a:lnTo>
                    <a:pt x="768" y="3852"/>
                  </a:lnTo>
                  <a:lnTo>
                    <a:pt x="768" y="3846"/>
                  </a:lnTo>
                  <a:lnTo>
                    <a:pt x="768" y="3852"/>
                  </a:lnTo>
                  <a:lnTo>
                    <a:pt x="768" y="3846"/>
                  </a:lnTo>
                  <a:lnTo>
                    <a:pt x="762" y="3852"/>
                  </a:lnTo>
                  <a:lnTo>
                    <a:pt x="756" y="3852"/>
                  </a:lnTo>
                  <a:lnTo>
                    <a:pt x="750" y="3858"/>
                  </a:lnTo>
                  <a:lnTo>
                    <a:pt x="756" y="3858"/>
                  </a:lnTo>
                  <a:lnTo>
                    <a:pt x="756" y="3864"/>
                  </a:lnTo>
                  <a:lnTo>
                    <a:pt x="750" y="3864"/>
                  </a:lnTo>
                  <a:lnTo>
                    <a:pt x="750" y="3870"/>
                  </a:lnTo>
                  <a:lnTo>
                    <a:pt x="750" y="3876"/>
                  </a:lnTo>
                  <a:lnTo>
                    <a:pt x="750" y="3882"/>
                  </a:lnTo>
                  <a:lnTo>
                    <a:pt x="744" y="3882"/>
                  </a:lnTo>
                  <a:lnTo>
                    <a:pt x="744" y="3888"/>
                  </a:lnTo>
                  <a:lnTo>
                    <a:pt x="738" y="3888"/>
                  </a:lnTo>
                  <a:lnTo>
                    <a:pt x="732" y="3894"/>
                  </a:lnTo>
                  <a:lnTo>
                    <a:pt x="732" y="3900"/>
                  </a:lnTo>
                  <a:lnTo>
                    <a:pt x="726" y="3900"/>
                  </a:lnTo>
                  <a:lnTo>
                    <a:pt x="726" y="3906"/>
                  </a:lnTo>
                  <a:lnTo>
                    <a:pt x="720" y="3906"/>
                  </a:lnTo>
                  <a:lnTo>
                    <a:pt x="720" y="3912"/>
                  </a:lnTo>
                  <a:lnTo>
                    <a:pt x="714" y="3918"/>
                  </a:lnTo>
                  <a:lnTo>
                    <a:pt x="714" y="3924"/>
                  </a:lnTo>
                  <a:lnTo>
                    <a:pt x="714" y="3930"/>
                  </a:lnTo>
                  <a:lnTo>
                    <a:pt x="708" y="3930"/>
                  </a:lnTo>
                  <a:lnTo>
                    <a:pt x="708" y="3936"/>
                  </a:lnTo>
                  <a:lnTo>
                    <a:pt x="702" y="3942"/>
                  </a:lnTo>
                  <a:lnTo>
                    <a:pt x="696" y="3942"/>
                  </a:lnTo>
                  <a:lnTo>
                    <a:pt x="690" y="3948"/>
                  </a:lnTo>
                  <a:lnTo>
                    <a:pt x="690" y="3954"/>
                  </a:lnTo>
                  <a:lnTo>
                    <a:pt x="684" y="3954"/>
                  </a:lnTo>
                  <a:lnTo>
                    <a:pt x="678" y="3960"/>
                  </a:lnTo>
                  <a:lnTo>
                    <a:pt x="672" y="3966"/>
                  </a:lnTo>
                  <a:lnTo>
                    <a:pt x="666" y="3966"/>
                  </a:lnTo>
                  <a:lnTo>
                    <a:pt x="660" y="3966"/>
                  </a:lnTo>
                  <a:lnTo>
                    <a:pt x="654" y="3972"/>
                  </a:lnTo>
                  <a:lnTo>
                    <a:pt x="648" y="3966"/>
                  </a:lnTo>
                  <a:lnTo>
                    <a:pt x="642" y="3966"/>
                  </a:lnTo>
                  <a:lnTo>
                    <a:pt x="636" y="3972"/>
                  </a:lnTo>
                  <a:lnTo>
                    <a:pt x="630" y="3972"/>
                  </a:lnTo>
                  <a:lnTo>
                    <a:pt x="630" y="3966"/>
                  </a:lnTo>
                  <a:lnTo>
                    <a:pt x="624" y="3966"/>
                  </a:lnTo>
                  <a:lnTo>
                    <a:pt x="618" y="3966"/>
                  </a:lnTo>
                  <a:lnTo>
                    <a:pt x="612" y="3966"/>
                  </a:lnTo>
                  <a:lnTo>
                    <a:pt x="612" y="3960"/>
                  </a:lnTo>
                  <a:lnTo>
                    <a:pt x="606" y="3960"/>
                  </a:lnTo>
                  <a:lnTo>
                    <a:pt x="600" y="3960"/>
                  </a:lnTo>
                  <a:lnTo>
                    <a:pt x="594" y="3966"/>
                  </a:lnTo>
                  <a:lnTo>
                    <a:pt x="594" y="3960"/>
                  </a:lnTo>
                  <a:lnTo>
                    <a:pt x="588" y="3960"/>
                  </a:lnTo>
                  <a:lnTo>
                    <a:pt x="582" y="3960"/>
                  </a:lnTo>
                  <a:lnTo>
                    <a:pt x="576" y="3960"/>
                  </a:lnTo>
                  <a:lnTo>
                    <a:pt x="576" y="3954"/>
                  </a:lnTo>
                  <a:lnTo>
                    <a:pt x="576" y="3948"/>
                  </a:lnTo>
                  <a:lnTo>
                    <a:pt x="570" y="3948"/>
                  </a:lnTo>
                  <a:lnTo>
                    <a:pt x="564" y="3942"/>
                  </a:lnTo>
                  <a:lnTo>
                    <a:pt x="564" y="3936"/>
                  </a:lnTo>
                  <a:lnTo>
                    <a:pt x="564" y="3930"/>
                  </a:lnTo>
                  <a:lnTo>
                    <a:pt x="570" y="3930"/>
                  </a:lnTo>
                  <a:lnTo>
                    <a:pt x="570" y="3924"/>
                  </a:lnTo>
                  <a:lnTo>
                    <a:pt x="570" y="3918"/>
                  </a:lnTo>
                  <a:lnTo>
                    <a:pt x="576" y="3918"/>
                  </a:lnTo>
                  <a:lnTo>
                    <a:pt x="576" y="3912"/>
                  </a:lnTo>
                  <a:lnTo>
                    <a:pt x="582" y="3912"/>
                  </a:lnTo>
                  <a:lnTo>
                    <a:pt x="588" y="3906"/>
                  </a:lnTo>
                  <a:lnTo>
                    <a:pt x="594" y="3906"/>
                  </a:lnTo>
                  <a:lnTo>
                    <a:pt x="600" y="3906"/>
                  </a:lnTo>
                  <a:lnTo>
                    <a:pt x="600" y="3900"/>
                  </a:lnTo>
                  <a:lnTo>
                    <a:pt x="600" y="3894"/>
                  </a:lnTo>
                  <a:lnTo>
                    <a:pt x="606" y="3888"/>
                  </a:lnTo>
                  <a:lnTo>
                    <a:pt x="606" y="3882"/>
                  </a:lnTo>
                  <a:lnTo>
                    <a:pt x="606" y="3876"/>
                  </a:lnTo>
                  <a:lnTo>
                    <a:pt x="606" y="3870"/>
                  </a:lnTo>
                  <a:lnTo>
                    <a:pt x="612" y="3870"/>
                  </a:lnTo>
                  <a:lnTo>
                    <a:pt x="618" y="3870"/>
                  </a:lnTo>
                  <a:lnTo>
                    <a:pt x="618" y="3864"/>
                  </a:lnTo>
                  <a:lnTo>
                    <a:pt x="624" y="3864"/>
                  </a:lnTo>
                  <a:lnTo>
                    <a:pt x="624" y="3858"/>
                  </a:lnTo>
                  <a:lnTo>
                    <a:pt x="624" y="3852"/>
                  </a:lnTo>
                  <a:lnTo>
                    <a:pt x="630" y="3852"/>
                  </a:lnTo>
                  <a:lnTo>
                    <a:pt x="630" y="3846"/>
                  </a:lnTo>
                  <a:lnTo>
                    <a:pt x="624" y="3846"/>
                  </a:lnTo>
                  <a:lnTo>
                    <a:pt x="624" y="3840"/>
                  </a:lnTo>
                  <a:lnTo>
                    <a:pt x="618" y="3840"/>
                  </a:lnTo>
                  <a:lnTo>
                    <a:pt x="612" y="3840"/>
                  </a:lnTo>
                  <a:lnTo>
                    <a:pt x="612" y="3834"/>
                  </a:lnTo>
                  <a:lnTo>
                    <a:pt x="612" y="3828"/>
                  </a:lnTo>
                  <a:lnTo>
                    <a:pt x="612" y="3822"/>
                  </a:lnTo>
                  <a:lnTo>
                    <a:pt x="606" y="3822"/>
                  </a:lnTo>
                  <a:lnTo>
                    <a:pt x="606" y="3816"/>
                  </a:lnTo>
                  <a:lnTo>
                    <a:pt x="606" y="3810"/>
                  </a:lnTo>
                  <a:lnTo>
                    <a:pt x="612" y="3804"/>
                  </a:lnTo>
                  <a:lnTo>
                    <a:pt x="612" y="3798"/>
                  </a:lnTo>
                  <a:lnTo>
                    <a:pt x="612" y="3792"/>
                  </a:lnTo>
                  <a:lnTo>
                    <a:pt x="606" y="3786"/>
                  </a:lnTo>
                  <a:lnTo>
                    <a:pt x="606" y="3780"/>
                  </a:lnTo>
                  <a:lnTo>
                    <a:pt x="600" y="3774"/>
                  </a:lnTo>
                  <a:lnTo>
                    <a:pt x="600" y="3768"/>
                  </a:lnTo>
                  <a:lnTo>
                    <a:pt x="594" y="3762"/>
                  </a:lnTo>
                  <a:lnTo>
                    <a:pt x="594" y="3756"/>
                  </a:lnTo>
                  <a:lnTo>
                    <a:pt x="588" y="3756"/>
                  </a:lnTo>
                  <a:lnTo>
                    <a:pt x="582" y="3756"/>
                  </a:lnTo>
                  <a:lnTo>
                    <a:pt x="582" y="3750"/>
                  </a:lnTo>
                  <a:lnTo>
                    <a:pt x="582" y="3732"/>
                  </a:lnTo>
                  <a:lnTo>
                    <a:pt x="576" y="3732"/>
                  </a:lnTo>
                  <a:lnTo>
                    <a:pt x="570" y="3732"/>
                  </a:lnTo>
                  <a:lnTo>
                    <a:pt x="564" y="3732"/>
                  </a:lnTo>
                  <a:lnTo>
                    <a:pt x="564" y="3726"/>
                  </a:lnTo>
                  <a:lnTo>
                    <a:pt x="564" y="3720"/>
                  </a:lnTo>
                  <a:lnTo>
                    <a:pt x="564" y="3714"/>
                  </a:lnTo>
                  <a:lnTo>
                    <a:pt x="558" y="3714"/>
                  </a:lnTo>
                  <a:lnTo>
                    <a:pt x="558" y="3720"/>
                  </a:lnTo>
                  <a:lnTo>
                    <a:pt x="552" y="3720"/>
                  </a:lnTo>
                  <a:lnTo>
                    <a:pt x="552" y="3714"/>
                  </a:lnTo>
                  <a:lnTo>
                    <a:pt x="546" y="3708"/>
                  </a:lnTo>
                  <a:lnTo>
                    <a:pt x="546" y="3714"/>
                  </a:lnTo>
                  <a:lnTo>
                    <a:pt x="540" y="3714"/>
                  </a:lnTo>
                  <a:lnTo>
                    <a:pt x="534" y="3714"/>
                  </a:lnTo>
                  <a:lnTo>
                    <a:pt x="534" y="3720"/>
                  </a:lnTo>
                  <a:lnTo>
                    <a:pt x="534" y="3714"/>
                  </a:lnTo>
                  <a:lnTo>
                    <a:pt x="528" y="3720"/>
                  </a:lnTo>
                  <a:lnTo>
                    <a:pt x="522" y="3726"/>
                  </a:lnTo>
                  <a:lnTo>
                    <a:pt x="522" y="3720"/>
                  </a:lnTo>
                  <a:lnTo>
                    <a:pt x="522" y="3714"/>
                  </a:lnTo>
                  <a:lnTo>
                    <a:pt x="522" y="3720"/>
                  </a:lnTo>
                  <a:lnTo>
                    <a:pt x="522" y="3714"/>
                  </a:lnTo>
                  <a:lnTo>
                    <a:pt x="516" y="3720"/>
                  </a:lnTo>
                  <a:lnTo>
                    <a:pt x="510" y="3720"/>
                  </a:lnTo>
                  <a:lnTo>
                    <a:pt x="504" y="3720"/>
                  </a:lnTo>
                  <a:lnTo>
                    <a:pt x="504" y="3714"/>
                  </a:lnTo>
                  <a:lnTo>
                    <a:pt x="498" y="3714"/>
                  </a:lnTo>
                  <a:lnTo>
                    <a:pt x="498" y="3708"/>
                  </a:lnTo>
                  <a:lnTo>
                    <a:pt x="492" y="3702"/>
                  </a:lnTo>
                  <a:lnTo>
                    <a:pt x="492" y="3696"/>
                  </a:lnTo>
                  <a:lnTo>
                    <a:pt x="486" y="3696"/>
                  </a:lnTo>
                  <a:lnTo>
                    <a:pt x="486" y="3690"/>
                  </a:lnTo>
                  <a:lnTo>
                    <a:pt x="480" y="3690"/>
                  </a:lnTo>
                  <a:lnTo>
                    <a:pt x="474" y="3690"/>
                  </a:lnTo>
                  <a:lnTo>
                    <a:pt x="474" y="3684"/>
                  </a:lnTo>
                  <a:lnTo>
                    <a:pt x="480" y="3684"/>
                  </a:lnTo>
                  <a:lnTo>
                    <a:pt x="480" y="3678"/>
                  </a:lnTo>
                  <a:lnTo>
                    <a:pt x="486" y="3678"/>
                  </a:lnTo>
                  <a:lnTo>
                    <a:pt x="486" y="3672"/>
                  </a:lnTo>
                  <a:lnTo>
                    <a:pt x="492" y="3672"/>
                  </a:lnTo>
                  <a:lnTo>
                    <a:pt x="492" y="3666"/>
                  </a:lnTo>
                  <a:lnTo>
                    <a:pt x="492" y="3672"/>
                  </a:lnTo>
                  <a:lnTo>
                    <a:pt x="492" y="3666"/>
                  </a:lnTo>
                  <a:lnTo>
                    <a:pt x="498" y="3666"/>
                  </a:lnTo>
                  <a:lnTo>
                    <a:pt x="504" y="3666"/>
                  </a:lnTo>
                  <a:lnTo>
                    <a:pt x="504" y="3660"/>
                  </a:lnTo>
                  <a:lnTo>
                    <a:pt x="510" y="3660"/>
                  </a:lnTo>
                  <a:lnTo>
                    <a:pt x="510" y="3654"/>
                  </a:lnTo>
                  <a:lnTo>
                    <a:pt x="504" y="3654"/>
                  </a:lnTo>
                  <a:lnTo>
                    <a:pt x="504" y="3648"/>
                  </a:lnTo>
                  <a:lnTo>
                    <a:pt x="504" y="3642"/>
                  </a:lnTo>
                  <a:lnTo>
                    <a:pt x="504" y="3636"/>
                  </a:lnTo>
                  <a:lnTo>
                    <a:pt x="504" y="3630"/>
                  </a:lnTo>
                  <a:lnTo>
                    <a:pt x="498" y="3630"/>
                  </a:lnTo>
                  <a:lnTo>
                    <a:pt x="492" y="3624"/>
                  </a:lnTo>
                  <a:lnTo>
                    <a:pt x="498" y="3618"/>
                  </a:lnTo>
                  <a:lnTo>
                    <a:pt x="492" y="3618"/>
                  </a:lnTo>
                  <a:lnTo>
                    <a:pt x="486" y="3612"/>
                  </a:lnTo>
                  <a:lnTo>
                    <a:pt x="480" y="3612"/>
                  </a:lnTo>
                  <a:lnTo>
                    <a:pt x="480" y="3606"/>
                  </a:lnTo>
                  <a:lnTo>
                    <a:pt x="474" y="3606"/>
                  </a:lnTo>
                  <a:lnTo>
                    <a:pt x="474" y="3600"/>
                  </a:lnTo>
                  <a:lnTo>
                    <a:pt x="474" y="3594"/>
                  </a:lnTo>
                  <a:lnTo>
                    <a:pt x="480" y="3594"/>
                  </a:lnTo>
                  <a:lnTo>
                    <a:pt x="480" y="3588"/>
                  </a:lnTo>
                  <a:lnTo>
                    <a:pt x="480" y="3582"/>
                  </a:lnTo>
                  <a:lnTo>
                    <a:pt x="480" y="3576"/>
                  </a:lnTo>
                  <a:lnTo>
                    <a:pt x="480" y="3570"/>
                  </a:lnTo>
                  <a:lnTo>
                    <a:pt x="468" y="3564"/>
                  </a:lnTo>
                  <a:lnTo>
                    <a:pt x="480" y="3564"/>
                  </a:lnTo>
                  <a:lnTo>
                    <a:pt x="486" y="3540"/>
                  </a:lnTo>
                  <a:lnTo>
                    <a:pt x="498" y="3522"/>
                  </a:lnTo>
                  <a:lnTo>
                    <a:pt x="498" y="3528"/>
                  </a:lnTo>
                  <a:lnTo>
                    <a:pt x="510" y="3522"/>
                  </a:lnTo>
                  <a:lnTo>
                    <a:pt x="504" y="3498"/>
                  </a:lnTo>
                  <a:lnTo>
                    <a:pt x="486" y="3498"/>
                  </a:lnTo>
                  <a:lnTo>
                    <a:pt x="444" y="3480"/>
                  </a:lnTo>
                  <a:lnTo>
                    <a:pt x="438" y="3450"/>
                  </a:lnTo>
                  <a:lnTo>
                    <a:pt x="462" y="3414"/>
                  </a:lnTo>
                  <a:lnTo>
                    <a:pt x="480" y="3402"/>
                  </a:lnTo>
                  <a:lnTo>
                    <a:pt x="468" y="3384"/>
                  </a:lnTo>
                  <a:lnTo>
                    <a:pt x="438" y="3384"/>
                  </a:lnTo>
                  <a:lnTo>
                    <a:pt x="420" y="3354"/>
                  </a:lnTo>
                  <a:lnTo>
                    <a:pt x="402" y="3348"/>
                  </a:lnTo>
                  <a:lnTo>
                    <a:pt x="402" y="3336"/>
                  </a:lnTo>
                  <a:lnTo>
                    <a:pt x="372" y="3330"/>
                  </a:lnTo>
                  <a:lnTo>
                    <a:pt x="336" y="3330"/>
                  </a:lnTo>
                  <a:lnTo>
                    <a:pt x="282" y="3312"/>
                  </a:lnTo>
                  <a:lnTo>
                    <a:pt x="282" y="3306"/>
                  </a:lnTo>
                  <a:lnTo>
                    <a:pt x="288" y="3306"/>
                  </a:lnTo>
                  <a:lnTo>
                    <a:pt x="288" y="3294"/>
                  </a:lnTo>
                  <a:lnTo>
                    <a:pt x="264" y="3252"/>
                  </a:lnTo>
                  <a:lnTo>
                    <a:pt x="270" y="3216"/>
                  </a:lnTo>
                  <a:lnTo>
                    <a:pt x="336" y="3180"/>
                  </a:lnTo>
                  <a:lnTo>
                    <a:pt x="336" y="3168"/>
                  </a:lnTo>
                  <a:lnTo>
                    <a:pt x="348" y="3162"/>
                  </a:lnTo>
                  <a:lnTo>
                    <a:pt x="348" y="3156"/>
                  </a:lnTo>
                  <a:lnTo>
                    <a:pt x="348" y="3150"/>
                  </a:lnTo>
                  <a:lnTo>
                    <a:pt x="342" y="3156"/>
                  </a:lnTo>
                  <a:lnTo>
                    <a:pt x="330" y="3150"/>
                  </a:lnTo>
                  <a:lnTo>
                    <a:pt x="330" y="3144"/>
                  </a:lnTo>
                  <a:lnTo>
                    <a:pt x="318" y="3144"/>
                  </a:lnTo>
                  <a:lnTo>
                    <a:pt x="312" y="3138"/>
                  </a:lnTo>
                  <a:lnTo>
                    <a:pt x="306" y="3132"/>
                  </a:lnTo>
                  <a:lnTo>
                    <a:pt x="300" y="3132"/>
                  </a:lnTo>
                  <a:lnTo>
                    <a:pt x="294" y="3132"/>
                  </a:lnTo>
                  <a:lnTo>
                    <a:pt x="288" y="3114"/>
                  </a:lnTo>
                  <a:lnTo>
                    <a:pt x="282" y="3090"/>
                  </a:lnTo>
                  <a:lnTo>
                    <a:pt x="294" y="3072"/>
                  </a:lnTo>
                  <a:lnTo>
                    <a:pt x="306" y="3066"/>
                  </a:lnTo>
                  <a:lnTo>
                    <a:pt x="306" y="3060"/>
                  </a:lnTo>
                  <a:lnTo>
                    <a:pt x="300" y="3060"/>
                  </a:lnTo>
                  <a:lnTo>
                    <a:pt x="300" y="3054"/>
                  </a:lnTo>
                  <a:lnTo>
                    <a:pt x="312" y="3048"/>
                  </a:lnTo>
                  <a:lnTo>
                    <a:pt x="312" y="3042"/>
                  </a:lnTo>
                  <a:lnTo>
                    <a:pt x="318" y="3030"/>
                  </a:lnTo>
                  <a:lnTo>
                    <a:pt x="324" y="3024"/>
                  </a:lnTo>
                  <a:lnTo>
                    <a:pt x="330" y="3024"/>
                  </a:lnTo>
                  <a:lnTo>
                    <a:pt x="336" y="3012"/>
                  </a:lnTo>
                  <a:lnTo>
                    <a:pt x="330" y="3006"/>
                  </a:lnTo>
                  <a:lnTo>
                    <a:pt x="336" y="2994"/>
                  </a:lnTo>
                  <a:lnTo>
                    <a:pt x="342" y="2982"/>
                  </a:lnTo>
                  <a:lnTo>
                    <a:pt x="336" y="2976"/>
                  </a:lnTo>
                  <a:lnTo>
                    <a:pt x="330" y="2982"/>
                  </a:lnTo>
                  <a:lnTo>
                    <a:pt x="330" y="2976"/>
                  </a:lnTo>
                  <a:lnTo>
                    <a:pt x="330" y="2964"/>
                  </a:lnTo>
                  <a:lnTo>
                    <a:pt x="318" y="2958"/>
                  </a:lnTo>
                  <a:lnTo>
                    <a:pt x="312" y="2952"/>
                  </a:lnTo>
                  <a:lnTo>
                    <a:pt x="324" y="2946"/>
                  </a:lnTo>
                  <a:lnTo>
                    <a:pt x="330" y="2922"/>
                  </a:lnTo>
                  <a:lnTo>
                    <a:pt x="342" y="2916"/>
                  </a:lnTo>
                  <a:lnTo>
                    <a:pt x="354" y="2904"/>
                  </a:lnTo>
                  <a:lnTo>
                    <a:pt x="354" y="2898"/>
                  </a:lnTo>
                  <a:lnTo>
                    <a:pt x="360" y="2886"/>
                  </a:lnTo>
                  <a:lnTo>
                    <a:pt x="354" y="2862"/>
                  </a:lnTo>
                  <a:lnTo>
                    <a:pt x="348" y="2856"/>
                  </a:lnTo>
                  <a:lnTo>
                    <a:pt x="354" y="2850"/>
                  </a:lnTo>
                  <a:lnTo>
                    <a:pt x="348" y="2838"/>
                  </a:lnTo>
                  <a:lnTo>
                    <a:pt x="354" y="2826"/>
                  </a:lnTo>
                  <a:lnTo>
                    <a:pt x="348" y="2820"/>
                  </a:lnTo>
                  <a:lnTo>
                    <a:pt x="342" y="2820"/>
                  </a:lnTo>
                  <a:lnTo>
                    <a:pt x="318" y="2826"/>
                  </a:lnTo>
                  <a:lnTo>
                    <a:pt x="318" y="2820"/>
                  </a:lnTo>
                  <a:lnTo>
                    <a:pt x="312" y="2820"/>
                  </a:lnTo>
                  <a:lnTo>
                    <a:pt x="318" y="2814"/>
                  </a:lnTo>
                  <a:lnTo>
                    <a:pt x="312" y="2808"/>
                  </a:lnTo>
                  <a:lnTo>
                    <a:pt x="306" y="2802"/>
                  </a:lnTo>
                  <a:lnTo>
                    <a:pt x="300" y="2802"/>
                  </a:lnTo>
                  <a:lnTo>
                    <a:pt x="300" y="2808"/>
                  </a:lnTo>
                  <a:lnTo>
                    <a:pt x="294" y="2808"/>
                  </a:lnTo>
                  <a:lnTo>
                    <a:pt x="288" y="2808"/>
                  </a:lnTo>
                  <a:lnTo>
                    <a:pt x="282" y="2808"/>
                  </a:lnTo>
                  <a:lnTo>
                    <a:pt x="276" y="2808"/>
                  </a:lnTo>
                  <a:lnTo>
                    <a:pt x="282" y="2802"/>
                  </a:lnTo>
                  <a:lnTo>
                    <a:pt x="282" y="2796"/>
                  </a:lnTo>
                  <a:lnTo>
                    <a:pt x="282" y="2784"/>
                  </a:lnTo>
                  <a:lnTo>
                    <a:pt x="288" y="2778"/>
                  </a:lnTo>
                  <a:lnTo>
                    <a:pt x="294" y="2772"/>
                  </a:lnTo>
                  <a:lnTo>
                    <a:pt x="294" y="2766"/>
                  </a:lnTo>
                  <a:lnTo>
                    <a:pt x="288" y="2760"/>
                  </a:lnTo>
                  <a:lnTo>
                    <a:pt x="294" y="2754"/>
                  </a:lnTo>
                  <a:lnTo>
                    <a:pt x="288" y="2742"/>
                  </a:lnTo>
                  <a:lnTo>
                    <a:pt x="276" y="2736"/>
                  </a:lnTo>
                  <a:lnTo>
                    <a:pt x="282" y="2736"/>
                  </a:lnTo>
                  <a:lnTo>
                    <a:pt x="276" y="2724"/>
                  </a:lnTo>
                  <a:lnTo>
                    <a:pt x="270" y="2718"/>
                  </a:lnTo>
                  <a:lnTo>
                    <a:pt x="252" y="2718"/>
                  </a:lnTo>
                  <a:lnTo>
                    <a:pt x="246" y="2712"/>
                  </a:lnTo>
                  <a:lnTo>
                    <a:pt x="240" y="2700"/>
                  </a:lnTo>
                  <a:lnTo>
                    <a:pt x="234" y="2688"/>
                  </a:lnTo>
                  <a:lnTo>
                    <a:pt x="240" y="2682"/>
                  </a:lnTo>
                  <a:lnTo>
                    <a:pt x="240" y="2676"/>
                  </a:lnTo>
                  <a:lnTo>
                    <a:pt x="240" y="2658"/>
                  </a:lnTo>
                  <a:lnTo>
                    <a:pt x="234" y="2646"/>
                  </a:lnTo>
                  <a:lnTo>
                    <a:pt x="228" y="2646"/>
                  </a:lnTo>
                  <a:lnTo>
                    <a:pt x="228" y="2622"/>
                  </a:lnTo>
                  <a:lnTo>
                    <a:pt x="240" y="2616"/>
                  </a:lnTo>
                  <a:lnTo>
                    <a:pt x="234" y="2598"/>
                  </a:lnTo>
                  <a:lnTo>
                    <a:pt x="216" y="2580"/>
                  </a:lnTo>
                  <a:lnTo>
                    <a:pt x="210" y="2574"/>
                  </a:lnTo>
                  <a:lnTo>
                    <a:pt x="180" y="2550"/>
                  </a:lnTo>
                  <a:lnTo>
                    <a:pt x="180" y="2544"/>
                  </a:lnTo>
                  <a:lnTo>
                    <a:pt x="186" y="2544"/>
                  </a:lnTo>
                  <a:lnTo>
                    <a:pt x="186" y="2538"/>
                  </a:lnTo>
                  <a:lnTo>
                    <a:pt x="186" y="2544"/>
                  </a:lnTo>
                  <a:lnTo>
                    <a:pt x="186" y="2538"/>
                  </a:lnTo>
                  <a:lnTo>
                    <a:pt x="192" y="2538"/>
                  </a:lnTo>
                  <a:lnTo>
                    <a:pt x="192" y="2532"/>
                  </a:lnTo>
                  <a:lnTo>
                    <a:pt x="186" y="2532"/>
                  </a:lnTo>
                  <a:lnTo>
                    <a:pt x="192" y="2532"/>
                  </a:lnTo>
                  <a:lnTo>
                    <a:pt x="186" y="2532"/>
                  </a:lnTo>
                  <a:lnTo>
                    <a:pt x="186" y="2526"/>
                  </a:lnTo>
                  <a:lnTo>
                    <a:pt x="186" y="2520"/>
                  </a:lnTo>
                  <a:lnTo>
                    <a:pt x="192" y="2520"/>
                  </a:lnTo>
                  <a:lnTo>
                    <a:pt x="192" y="2514"/>
                  </a:lnTo>
                  <a:lnTo>
                    <a:pt x="192" y="2508"/>
                  </a:lnTo>
                  <a:lnTo>
                    <a:pt x="192" y="2514"/>
                  </a:lnTo>
                  <a:lnTo>
                    <a:pt x="192" y="2508"/>
                  </a:lnTo>
                  <a:lnTo>
                    <a:pt x="186" y="2508"/>
                  </a:lnTo>
                  <a:lnTo>
                    <a:pt x="180" y="2508"/>
                  </a:lnTo>
                  <a:lnTo>
                    <a:pt x="180" y="2502"/>
                  </a:lnTo>
                  <a:lnTo>
                    <a:pt x="180" y="2496"/>
                  </a:lnTo>
                  <a:lnTo>
                    <a:pt x="174" y="2496"/>
                  </a:lnTo>
                  <a:lnTo>
                    <a:pt x="180" y="2496"/>
                  </a:lnTo>
                  <a:lnTo>
                    <a:pt x="180" y="2490"/>
                  </a:lnTo>
                  <a:lnTo>
                    <a:pt x="180" y="2484"/>
                  </a:lnTo>
                  <a:lnTo>
                    <a:pt x="174" y="2484"/>
                  </a:lnTo>
                  <a:lnTo>
                    <a:pt x="174" y="2478"/>
                  </a:lnTo>
                  <a:lnTo>
                    <a:pt x="168" y="2478"/>
                  </a:lnTo>
                  <a:lnTo>
                    <a:pt x="168" y="2472"/>
                  </a:lnTo>
                  <a:lnTo>
                    <a:pt x="174" y="2472"/>
                  </a:lnTo>
                  <a:lnTo>
                    <a:pt x="168" y="2472"/>
                  </a:lnTo>
                  <a:lnTo>
                    <a:pt x="174" y="2472"/>
                  </a:lnTo>
                  <a:lnTo>
                    <a:pt x="174" y="2466"/>
                  </a:lnTo>
                  <a:lnTo>
                    <a:pt x="180" y="2466"/>
                  </a:lnTo>
                  <a:lnTo>
                    <a:pt x="186" y="2466"/>
                  </a:lnTo>
                  <a:lnTo>
                    <a:pt x="192" y="2466"/>
                  </a:lnTo>
                  <a:lnTo>
                    <a:pt x="198" y="2466"/>
                  </a:lnTo>
                  <a:lnTo>
                    <a:pt x="204" y="2466"/>
                  </a:lnTo>
                  <a:lnTo>
                    <a:pt x="204" y="2460"/>
                  </a:lnTo>
                  <a:lnTo>
                    <a:pt x="198" y="2460"/>
                  </a:lnTo>
                  <a:lnTo>
                    <a:pt x="198" y="2454"/>
                  </a:lnTo>
                  <a:lnTo>
                    <a:pt x="198" y="2448"/>
                  </a:lnTo>
                  <a:lnTo>
                    <a:pt x="198" y="2442"/>
                  </a:lnTo>
                  <a:lnTo>
                    <a:pt x="198" y="2436"/>
                  </a:lnTo>
                  <a:lnTo>
                    <a:pt x="204" y="2436"/>
                  </a:lnTo>
                  <a:lnTo>
                    <a:pt x="204" y="2442"/>
                  </a:lnTo>
                  <a:lnTo>
                    <a:pt x="204" y="2436"/>
                  </a:lnTo>
                  <a:lnTo>
                    <a:pt x="210" y="2436"/>
                  </a:lnTo>
                  <a:lnTo>
                    <a:pt x="210" y="2430"/>
                  </a:lnTo>
                  <a:lnTo>
                    <a:pt x="210" y="2424"/>
                  </a:lnTo>
                  <a:lnTo>
                    <a:pt x="210" y="2418"/>
                  </a:lnTo>
                  <a:lnTo>
                    <a:pt x="216" y="2400"/>
                  </a:lnTo>
                  <a:lnTo>
                    <a:pt x="210" y="2394"/>
                  </a:lnTo>
                  <a:lnTo>
                    <a:pt x="210" y="2388"/>
                  </a:lnTo>
                  <a:lnTo>
                    <a:pt x="204" y="2388"/>
                  </a:lnTo>
                  <a:lnTo>
                    <a:pt x="210" y="2388"/>
                  </a:lnTo>
                  <a:lnTo>
                    <a:pt x="204" y="2388"/>
                  </a:lnTo>
                  <a:lnTo>
                    <a:pt x="210" y="2388"/>
                  </a:lnTo>
                  <a:lnTo>
                    <a:pt x="210" y="2382"/>
                  </a:lnTo>
                  <a:lnTo>
                    <a:pt x="210" y="2376"/>
                  </a:lnTo>
                  <a:lnTo>
                    <a:pt x="210" y="2382"/>
                  </a:lnTo>
                  <a:lnTo>
                    <a:pt x="216" y="2382"/>
                  </a:lnTo>
                  <a:lnTo>
                    <a:pt x="222" y="2382"/>
                  </a:lnTo>
                  <a:lnTo>
                    <a:pt x="222" y="2370"/>
                  </a:lnTo>
                  <a:lnTo>
                    <a:pt x="222" y="2364"/>
                  </a:lnTo>
                  <a:lnTo>
                    <a:pt x="216" y="2364"/>
                  </a:lnTo>
                  <a:lnTo>
                    <a:pt x="216" y="2358"/>
                  </a:lnTo>
                  <a:lnTo>
                    <a:pt x="210" y="2358"/>
                  </a:lnTo>
                  <a:lnTo>
                    <a:pt x="210" y="2352"/>
                  </a:lnTo>
                  <a:lnTo>
                    <a:pt x="210" y="2346"/>
                  </a:lnTo>
                  <a:lnTo>
                    <a:pt x="210" y="2352"/>
                  </a:lnTo>
                  <a:lnTo>
                    <a:pt x="204" y="2352"/>
                  </a:lnTo>
                  <a:lnTo>
                    <a:pt x="204" y="2346"/>
                  </a:lnTo>
                  <a:lnTo>
                    <a:pt x="204" y="2340"/>
                  </a:lnTo>
                  <a:lnTo>
                    <a:pt x="198" y="2340"/>
                  </a:lnTo>
                  <a:lnTo>
                    <a:pt x="198" y="2334"/>
                  </a:lnTo>
                  <a:lnTo>
                    <a:pt x="198" y="2328"/>
                  </a:lnTo>
                  <a:lnTo>
                    <a:pt x="198" y="2322"/>
                  </a:lnTo>
                  <a:lnTo>
                    <a:pt x="204" y="2322"/>
                  </a:lnTo>
                  <a:lnTo>
                    <a:pt x="198" y="2316"/>
                  </a:lnTo>
                  <a:lnTo>
                    <a:pt x="192" y="2310"/>
                  </a:lnTo>
                  <a:lnTo>
                    <a:pt x="186" y="2310"/>
                  </a:lnTo>
                  <a:lnTo>
                    <a:pt x="180" y="2310"/>
                  </a:lnTo>
                  <a:lnTo>
                    <a:pt x="174" y="2310"/>
                  </a:lnTo>
                  <a:lnTo>
                    <a:pt x="174" y="2298"/>
                  </a:lnTo>
                  <a:lnTo>
                    <a:pt x="174" y="2292"/>
                  </a:lnTo>
                  <a:lnTo>
                    <a:pt x="174" y="2298"/>
                  </a:lnTo>
                  <a:lnTo>
                    <a:pt x="180" y="2292"/>
                  </a:lnTo>
                  <a:lnTo>
                    <a:pt x="180" y="2298"/>
                  </a:lnTo>
                  <a:lnTo>
                    <a:pt x="180" y="2292"/>
                  </a:lnTo>
                  <a:lnTo>
                    <a:pt x="174" y="2280"/>
                  </a:lnTo>
                  <a:lnTo>
                    <a:pt x="168" y="2280"/>
                  </a:lnTo>
                  <a:lnTo>
                    <a:pt x="168" y="2286"/>
                  </a:lnTo>
                  <a:lnTo>
                    <a:pt x="168" y="2292"/>
                  </a:lnTo>
                  <a:lnTo>
                    <a:pt x="162" y="2292"/>
                  </a:lnTo>
                  <a:lnTo>
                    <a:pt x="162" y="2298"/>
                  </a:lnTo>
                  <a:lnTo>
                    <a:pt x="162" y="2304"/>
                  </a:lnTo>
                  <a:lnTo>
                    <a:pt x="150" y="2304"/>
                  </a:lnTo>
                  <a:lnTo>
                    <a:pt x="144" y="2304"/>
                  </a:lnTo>
                  <a:lnTo>
                    <a:pt x="144" y="2298"/>
                  </a:lnTo>
                  <a:lnTo>
                    <a:pt x="138" y="2298"/>
                  </a:lnTo>
                  <a:lnTo>
                    <a:pt x="132" y="2298"/>
                  </a:lnTo>
                  <a:lnTo>
                    <a:pt x="126" y="2304"/>
                  </a:lnTo>
                  <a:lnTo>
                    <a:pt x="126" y="2298"/>
                  </a:lnTo>
                  <a:lnTo>
                    <a:pt x="120" y="2298"/>
                  </a:lnTo>
                  <a:lnTo>
                    <a:pt x="120" y="2292"/>
                  </a:lnTo>
                  <a:lnTo>
                    <a:pt x="114" y="2292"/>
                  </a:lnTo>
                  <a:lnTo>
                    <a:pt x="114" y="2286"/>
                  </a:lnTo>
                  <a:lnTo>
                    <a:pt x="114" y="2292"/>
                  </a:lnTo>
                  <a:lnTo>
                    <a:pt x="114" y="2286"/>
                  </a:lnTo>
                  <a:lnTo>
                    <a:pt x="114" y="2292"/>
                  </a:lnTo>
                  <a:lnTo>
                    <a:pt x="108" y="2292"/>
                  </a:lnTo>
                  <a:lnTo>
                    <a:pt x="108" y="2286"/>
                  </a:lnTo>
                  <a:lnTo>
                    <a:pt x="108" y="2292"/>
                  </a:lnTo>
                  <a:lnTo>
                    <a:pt x="108" y="2286"/>
                  </a:lnTo>
                  <a:lnTo>
                    <a:pt x="102" y="2286"/>
                  </a:lnTo>
                  <a:lnTo>
                    <a:pt x="96" y="2286"/>
                  </a:lnTo>
                  <a:lnTo>
                    <a:pt x="90" y="2280"/>
                  </a:lnTo>
                  <a:lnTo>
                    <a:pt x="90" y="2286"/>
                  </a:lnTo>
                  <a:lnTo>
                    <a:pt x="84" y="2286"/>
                  </a:lnTo>
                  <a:lnTo>
                    <a:pt x="90" y="2280"/>
                  </a:lnTo>
                  <a:lnTo>
                    <a:pt x="84" y="2280"/>
                  </a:lnTo>
                  <a:lnTo>
                    <a:pt x="84" y="2286"/>
                  </a:lnTo>
                  <a:lnTo>
                    <a:pt x="84" y="2280"/>
                  </a:lnTo>
                  <a:lnTo>
                    <a:pt x="84" y="2286"/>
                  </a:lnTo>
                  <a:lnTo>
                    <a:pt x="78" y="2286"/>
                  </a:lnTo>
                  <a:lnTo>
                    <a:pt x="78" y="2280"/>
                  </a:lnTo>
                  <a:lnTo>
                    <a:pt x="78" y="2286"/>
                  </a:lnTo>
                  <a:lnTo>
                    <a:pt x="78" y="2280"/>
                  </a:lnTo>
                  <a:lnTo>
                    <a:pt x="72" y="2280"/>
                  </a:lnTo>
                  <a:lnTo>
                    <a:pt x="72" y="2286"/>
                  </a:lnTo>
                  <a:lnTo>
                    <a:pt x="72" y="2280"/>
                  </a:lnTo>
                  <a:lnTo>
                    <a:pt x="72" y="2274"/>
                  </a:lnTo>
                  <a:lnTo>
                    <a:pt x="66" y="2274"/>
                  </a:lnTo>
                  <a:lnTo>
                    <a:pt x="66" y="2268"/>
                  </a:lnTo>
                  <a:lnTo>
                    <a:pt x="66" y="2262"/>
                  </a:lnTo>
                  <a:lnTo>
                    <a:pt x="60" y="2262"/>
                  </a:lnTo>
                  <a:lnTo>
                    <a:pt x="60" y="2256"/>
                  </a:lnTo>
                  <a:lnTo>
                    <a:pt x="60" y="2250"/>
                  </a:lnTo>
                  <a:lnTo>
                    <a:pt x="60" y="2244"/>
                  </a:lnTo>
                  <a:lnTo>
                    <a:pt x="60" y="2250"/>
                  </a:lnTo>
                  <a:lnTo>
                    <a:pt x="60" y="2244"/>
                  </a:lnTo>
                  <a:lnTo>
                    <a:pt x="54" y="2244"/>
                  </a:lnTo>
                  <a:lnTo>
                    <a:pt x="48" y="2244"/>
                  </a:lnTo>
                  <a:lnTo>
                    <a:pt x="48" y="2238"/>
                  </a:lnTo>
                  <a:lnTo>
                    <a:pt x="48" y="2244"/>
                  </a:lnTo>
                  <a:lnTo>
                    <a:pt x="48" y="2238"/>
                  </a:lnTo>
                  <a:lnTo>
                    <a:pt x="42" y="2238"/>
                  </a:lnTo>
                  <a:lnTo>
                    <a:pt x="36" y="2238"/>
                  </a:lnTo>
                  <a:lnTo>
                    <a:pt x="42" y="2238"/>
                  </a:lnTo>
                  <a:lnTo>
                    <a:pt x="42" y="2232"/>
                  </a:lnTo>
                  <a:lnTo>
                    <a:pt x="42" y="2226"/>
                  </a:lnTo>
                  <a:lnTo>
                    <a:pt x="36" y="2226"/>
                  </a:lnTo>
                  <a:lnTo>
                    <a:pt x="36" y="2220"/>
                  </a:lnTo>
                  <a:lnTo>
                    <a:pt x="30" y="2220"/>
                  </a:lnTo>
                  <a:lnTo>
                    <a:pt x="30" y="2214"/>
                  </a:lnTo>
                  <a:lnTo>
                    <a:pt x="36" y="2214"/>
                  </a:lnTo>
                  <a:lnTo>
                    <a:pt x="42" y="2208"/>
                  </a:lnTo>
                  <a:lnTo>
                    <a:pt x="42" y="2202"/>
                  </a:lnTo>
                  <a:lnTo>
                    <a:pt x="48" y="2202"/>
                  </a:lnTo>
                  <a:lnTo>
                    <a:pt x="42" y="2202"/>
                  </a:lnTo>
                  <a:lnTo>
                    <a:pt x="48" y="2196"/>
                  </a:lnTo>
                  <a:lnTo>
                    <a:pt x="42" y="2196"/>
                  </a:lnTo>
                  <a:lnTo>
                    <a:pt x="42" y="2202"/>
                  </a:lnTo>
                  <a:lnTo>
                    <a:pt x="42" y="2196"/>
                  </a:lnTo>
                  <a:lnTo>
                    <a:pt x="48" y="2196"/>
                  </a:lnTo>
                  <a:lnTo>
                    <a:pt x="48" y="2190"/>
                  </a:lnTo>
                  <a:lnTo>
                    <a:pt x="54" y="2190"/>
                  </a:lnTo>
                  <a:lnTo>
                    <a:pt x="54" y="2184"/>
                  </a:lnTo>
                  <a:lnTo>
                    <a:pt x="54" y="2178"/>
                  </a:lnTo>
                  <a:lnTo>
                    <a:pt x="60" y="2178"/>
                  </a:lnTo>
                  <a:lnTo>
                    <a:pt x="54" y="2178"/>
                  </a:lnTo>
                  <a:lnTo>
                    <a:pt x="54" y="2184"/>
                  </a:lnTo>
                  <a:lnTo>
                    <a:pt x="60" y="2184"/>
                  </a:lnTo>
                  <a:lnTo>
                    <a:pt x="60" y="2178"/>
                  </a:lnTo>
                  <a:lnTo>
                    <a:pt x="66" y="2178"/>
                  </a:lnTo>
                  <a:lnTo>
                    <a:pt x="66" y="2172"/>
                  </a:lnTo>
                  <a:lnTo>
                    <a:pt x="66" y="2166"/>
                  </a:lnTo>
                  <a:lnTo>
                    <a:pt x="72" y="2166"/>
                  </a:lnTo>
                  <a:lnTo>
                    <a:pt x="72" y="2160"/>
                  </a:lnTo>
                  <a:lnTo>
                    <a:pt x="78" y="2160"/>
                  </a:lnTo>
                  <a:lnTo>
                    <a:pt x="78" y="2154"/>
                  </a:lnTo>
                  <a:lnTo>
                    <a:pt x="84" y="2154"/>
                  </a:lnTo>
                  <a:lnTo>
                    <a:pt x="90" y="2154"/>
                  </a:lnTo>
                  <a:lnTo>
                    <a:pt x="90" y="2148"/>
                  </a:lnTo>
                  <a:lnTo>
                    <a:pt x="84" y="2148"/>
                  </a:lnTo>
                  <a:lnTo>
                    <a:pt x="90" y="2148"/>
                  </a:lnTo>
                  <a:lnTo>
                    <a:pt x="90" y="2142"/>
                  </a:lnTo>
                  <a:lnTo>
                    <a:pt x="96" y="2142"/>
                  </a:lnTo>
                  <a:lnTo>
                    <a:pt x="96" y="2136"/>
                  </a:lnTo>
                  <a:lnTo>
                    <a:pt x="102" y="2136"/>
                  </a:lnTo>
                  <a:lnTo>
                    <a:pt x="108" y="2136"/>
                  </a:lnTo>
                  <a:lnTo>
                    <a:pt x="114" y="2142"/>
                  </a:lnTo>
                  <a:lnTo>
                    <a:pt x="114" y="2148"/>
                  </a:lnTo>
                  <a:lnTo>
                    <a:pt x="120" y="2148"/>
                  </a:lnTo>
                  <a:lnTo>
                    <a:pt x="120" y="2142"/>
                  </a:lnTo>
                  <a:lnTo>
                    <a:pt x="126" y="2142"/>
                  </a:lnTo>
                  <a:lnTo>
                    <a:pt x="120" y="2142"/>
                  </a:lnTo>
                  <a:lnTo>
                    <a:pt x="120" y="2148"/>
                  </a:lnTo>
                  <a:lnTo>
                    <a:pt x="126" y="2142"/>
                  </a:lnTo>
                  <a:lnTo>
                    <a:pt x="126" y="2148"/>
                  </a:lnTo>
                  <a:lnTo>
                    <a:pt x="126" y="2142"/>
                  </a:lnTo>
                  <a:lnTo>
                    <a:pt x="126" y="2136"/>
                  </a:lnTo>
                  <a:lnTo>
                    <a:pt x="126" y="2142"/>
                  </a:lnTo>
                  <a:lnTo>
                    <a:pt x="126" y="2136"/>
                  </a:lnTo>
                  <a:lnTo>
                    <a:pt x="126" y="2130"/>
                  </a:lnTo>
                  <a:lnTo>
                    <a:pt x="132" y="2130"/>
                  </a:lnTo>
                  <a:lnTo>
                    <a:pt x="132" y="2124"/>
                  </a:lnTo>
                  <a:lnTo>
                    <a:pt x="126" y="2124"/>
                  </a:lnTo>
                  <a:lnTo>
                    <a:pt x="132" y="2124"/>
                  </a:lnTo>
                  <a:lnTo>
                    <a:pt x="126" y="2124"/>
                  </a:lnTo>
                  <a:lnTo>
                    <a:pt x="126" y="2118"/>
                  </a:lnTo>
                  <a:lnTo>
                    <a:pt x="120" y="2112"/>
                  </a:lnTo>
                  <a:lnTo>
                    <a:pt x="120" y="2106"/>
                  </a:lnTo>
                  <a:lnTo>
                    <a:pt x="126" y="2106"/>
                  </a:lnTo>
                  <a:lnTo>
                    <a:pt x="126" y="2100"/>
                  </a:lnTo>
                  <a:lnTo>
                    <a:pt x="126" y="2094"/>
                  </a:lnTo>
                  <a:lnTo>
                    <a:pt x="126" y="2088"/>
                  </a:lnTo>
                  <a:lnTo>
                    <a:pt x="120" y="2088"/>
                  </a:lnTo>
                  <a:lnTo>
                    <a:pt x="126" y="2088"/>
                  </a:lnTo>
                  <a:lnTo>
                    <a:pt x="120" y="2088"/>
                  </a:lnTo>
                  <a:lnTo>
                    <a:pt x="120" y="2070"/>
                  </a:lnTo>
                  <a:lnTo>
                    <a:pt x="120" y="2064"/>
                  </a:lnTo>
                  <a:lnTo>
                    <a:pt x="108" y="2058"/>
                  </a:lnTo>
                  <a:lnTo>
                    <a:pt x="102" y="2058"/>
                  </a:lnTo>
                  <a:lnTo>
                    <a:pt x="102" y="2052"/>
                  </a:lnTo>
                  <a:lnTo>
                    <a:pt x="96" y="2052"/>
                  </a:lnTo>
                  <a:lnTo>
                    <a:pt x="84" y="2046"/>
                  </a:lnTo>
                  <a:lnTo>
                    <a:pt x="66" y="2034"/>
                  </a:lnTo>
                  <a:lnTo>
                    <a:pt x="60" y="2028"/>
                  </a:lnTo>
                  <a:lnTo>
                    <a:pt x="54" y="2022"/>
                  </a:lnTo>
                  <a:lnTo>
                    <a:pt x="54" y="2016"/>
                  </a:lnTo>
                  <a:lnTo>
                    <a:pt x="54" y="2010"/>
                  </a:lnTo>
                  <a:lnTo>
                    <a:pt x="54" y="2016"/>
                  </a:lnTo>
                  <a:lnTo>
                    <a:pt x="54" y="2010"/>
                  </a:lnTo>
                  <a:lnTo>
                    <a:pt x="54" y="2004"/>
                  </a:lnTo>
                  <a:lnTo>
                    <a:pt x="60" y="2004"/>
                  </a:lnTo>
                  <a:lnTo>
                    <a:pt x="66" y="1992"/>
                  </a:lnTo>
                  <a:lnTo>
                    <a:pt x="66" y="1980"/>
                  </a:lnTo>
                  <a:lnTo>
                    <a:pt x="72" y="1974"/>
                  </a:lnTo>
                  <a:lnTo>
                    <a:pt x="72" y="1980"/>
                  </a:lnTo>
                  <a:lnTo>
                    <a:pt x="72" y="1974"/>
                  </a:lnTo>
                  <a:lnTo>
                    <a:pt x="72" y="1980"/>
                  </a:lnTo>
                  <a:lnTo>
                    <a:pt x="78" y="1974"/>
                  </a:lnTo>
                  <a:lnTo>
                    <a:pt x="78" y="1980"/>
                  </a:lnTo>
                  <a:lnTo>
                    <a:pt x="78" y="1974"/>
                  </a:lnTo>
                  <a:lnTo>
                    <a:pt x="84" y="1974"/>
                  </a:lnTo>
                  <a:lnTo>
                    <a:pt x="84" y="1968"/>
                  </a:lnTo>
                  <a:lnTo>
                    <a:pt x="90" y="1968"/>
                  </a:lnTo>
                  <a:lnTo>
                    <a:pt x="90" y="1962"/>
                  </a:lnTo>
                  <a:lnTo>
                    <a:pt x="84" y="1962"/>
                  </a:lnTo>
                  <a:lnTo>
                    <a:pt x="90" y="1962"/>
                  </a:lnTo>
                  <a:lnTo>
                    <a:pt x="90" y="1956"/>
                  </a:lnTo>
                  <a:lnTo>
                    <a:pt x="84" y="1956"/>
                  </a:lnTo>
                  <a:lnTo>
                    <a:pt x="90" y="1956"/>
                  </a:lnTo>
                  <a:lnTo>
                    <a:pt x="84" y="1956"/>
                  </a:lnTo>
                  <a:lnTo>
                    <a:pt x="90" y="1956"/>
                  </a:lnTo>
                  <a:lnTo>
                    <a:pt x="84" y="1956"/>
                  </a:lnTo>
                  <a:lnTo>
                    <a:pt x="90" y="1956"/>
                  </a:lnTo>
                  <a:lnTo>
                    <a:pt x="90" y="1950"/>
                  </a:lnTo>
                  <a:lnTo>
                    <a:pt x="84" y="1950"/>
                  </a:lnTo>
                  <a:lnTo>
                    <a:pt x="90" y="1950"/>
                  </a:lnTo>
                  <a:lnTo>
                    <a:pt x="84" y="1950"/>
                  </a:lnTo>
                  <a:lnTo>
                    <a:pt x="90" y="1950"/>
                  </a:lnTo>
                  <a:lnTo>
                    <a:pt x="84" y="1950"/>
                  </a:lnTo>
                  <a:lnTo>
                    <a:pt x="84" y="1944"/>
                  </a:lnTo>
                  <a:lnTo>
                    <a:pt x="84" y="1938"/>
                  </a:lnTo>
                  <a:lnTo>
                    <a:pt x="84" y="1944"/>
                  </a:lnTo>
                  <a:lnTo>
                    <a:pt x="90" y="1944"/>
                  </a:lnTo>
                  <a:lnTo>
                    <a:pt x="90" y="1938"/>
                  </a:lnTo>
                  <a:lnTo>
                    <a:pt x="96" y="1938"/>
                  </a:lnTo>
                  <a:lnTo>
                    <a:pt x="90" y="1938"/>
                  </a:lnTo>
                  <a:lnTo>
                    <a:pt x="96" y="1938"/>
                  </a:lnTo>
                  <a:lnTo>
                    <a:pt x="96" y="1932"/>
                  </a:lnTo>
                  <a:lnTo>
                    <a:pt x="90" y="1932"/>
                  </a:lnTo>
                  <a:lnTo>
                    <a:pt x="96" y="1932"/>
                  </a:lnTo>
                  <a:lnTo>
                    <a:pt x="96" y="1926"/>
                  </a:lnTo>
                  <a:lnTo>
                    <a:pt x="90" y="1926"/>
                  </a:lnTo>
                  <a:lnTo>
                    <a:pt x="84" y="1926"/>
                  </a:lnTo>
                  <a:lnTo>
                    <a:pt x="84" y="1920"/>
                  </a:lnTo>
                  <a:lnTo>
                    <a:pt x="78" y="1920"/>
                  </a:lnTo>
                  <a:lnTo>
                    <a:pt x="78" y="1914"/>
                  </a:lnTo>
                  <a:lnTo>
                    <a:pt x="72" y="1914"/>
                  </a:lnTo>
                  <a:lnTo>
                    <a:pt x="72" y="1908"/>
                  </a:lnTo>
                  <a:lnTo>
                    <a:pt x="66" y="1908"/>
                  </a:lnTo>
                  <a:lnTo>
                    <a:pt x="66" y="1914"/>
                  </a:lnTo>
                  <a:lnTo>
                    <a:pt x="60" y="1908"/>
                  </a:lnTo>
                  <a:lnTo>
                    <a:pt x="60" y="1914"/>
                  </a:lnTo>
                  <a:lnTo>
                    <a:pt x="60" y="1908"/>
                  </a:lnTo>
                  <a:lnTo>
                    <a:pt x="60" y="1914"/>
                  </a:lnTo>
                  <a:lnTo>
                    <a:pt x="54" y="1914"/>
                  </a:lnTo>
                  <a:lnTo>
                    <a:pt x="54" y="1908"/>
                  </a:lnTo>
                  <a:lnTo>
                    <a:pt x="54" y="1914"/>
                  </a:lnTo>
                  <a:lnTo>
                    <a:pt x="54" y="1908"/>
                  </a:lnTo>
                  <a:lnTo>
                    <a:pt x="48" y="1908"/>
                  </a:lnTo>
                  <a:lnTo>
                    <a:pt x="42" y="1908"/>
                  </a:lnTo>
                  <a:lnTo>
                    <a:pt x="36" y="1908"/>
                  </a:lnTo>
                  <a:lnTo>
                    <a:pt x="36" y="1902"/>
                  </a:lnTo>
                  <a:lnTo>
                    <a:pt x="36" y="1896"/>
                  </a:lnTo>
                  <a:lnTo>
                    <a:pt x="30" y="1896"/>
                  </a:lnTo>
                  <a:lnTo>
                    <a:pt x="30" y="1902"/>
                  </a:lnTo>
                  <a:lnTo>
                    <a:pt x="30" y="1896"/>
                  </a:lnTo>
                  <a:lnTo>
                    <a:pt x="24" y="1896"/>
                  </a:lnTo>
                  <a:lnTo>
                    <a:pt x="24" y="1890"/>
                  </a:lnTo>
                  <a:lnTo>
                    <a:pt x="18" y="1890"/>
                  </a:lnTo>
                  <a:lnTo>
                    <a:pt x="12" y="1890"/>
                  </a:lnTo>
                  <a:lnTo>
                    <a:pt x="12" y="1884"/>
                  </a:lnTo>
                  <a:lnTo>
                    <a:pt x="18" y="1884"/>
                  </a:lnTo>
                  <a:lnTo>
                    <a:pt x="18" y="1878"/>
                  </a:lnTo>
                  <a:lnTo>
                    <a:pt x="18" y="1872"/>
                  </a:lnTo>
                  <a:lnTo>
                    <a:pt x="12" y="1872"/>
                  </a:lnTo>
                  <a:lnTo>
                    <a:pt x="6" y="1872"/>
                  </a:lnTo>
                  <a:lnTo>
                    <a:pt x="6" y="1866"/>
                  </a:lnTo>
                  <a:lnTo>
                    <a:pt x="0" y="1866"/>
                  </a:lnTo>
                  <a:close/>
                  <a:moveTo>
                    <a:pt x="672" y="468"/>
                  </a:moveTo>
                  <a:lnTo>
                    <a:pt x="678" y="468"/>
                  </a:lnTo>
                  <a:lnTo>
                    <a:pt x="684" y="468"/>
                  </a:lnTo>
                  <a:lnTo>
                    <a:pt x="684" y="474"/>
                  </a:lnTo>
                  <a:lnTo>
                    <a:pt x="690" y="474"/>
                  </a:lnTo>
                  <a:lnTo>
                    <a:pt x="696" y="474"/>
                  </a:lnTo>
                  <a:lnTo>
                    <a:pt x="696" y="468"/>
                  </a:lnTo>
                  <a:lnTo>
                    <a:pt x="702" y="462"/>
                  </a:lnTo>
                  <a:lnTo>
                    <a:pt x="708" y="456"/>
                  </a:lnTo>
                  <a:lnTo>
                    <a:pt x="708" y="450"/>
                  </a:lnTo>
                  <a:lnTo>
                    <a:pt x="714" y="444"/>
                  </a:lnTo>
                  <a:lnTo>
                    <a:pt x="714" y="438"/>
                  </a:lnTo>
                  <a:lnTo>
                    <a:pt x="720" y="432"/>
                  </a:lnTo>
                  <a:lnTo>
                    <a:pt x="726" y="426"/>
                  </a:lnTo>
                  <a:lnTo>
                    <a:pt x="726" y="420"/>
                  </a:lnTo>
                  <a:lnTo>
                    <a:pt x="732" y="414"/>
                  </a:lnTo>
                  <a:lnTo>
                    <a:pt x="738" y="414"/>
                  </a:lnTo>
                  <a:lnTo>
                    <a:pt x="744" y="414"/>
                  </a:lnTo>
                  <a:lnTo>
                    <a:pt x="750" y="414"/>
                  </a:lnTo>
                  <a:lnTo>
                    <a:pt x="756" y="414"/>
                  </a:lnTo>
                  <a:lnTo>
                    <a:pt x="756" y="420"/>
                  </a:lnTo>
                  <a:lnTo>
                    <a:pt x="756" y="414"/>
                  </a:lnTo>
                  <a:lnTo>
                    <a:pt x="750" y="414"/>
                  </a:lnTo>
                  <a:lnTo>
                    <a:pt x="756" y="414"/>
                  </a:lnTo>
                  <a:lnTo>
                    <a:pt x="750" y="414"/>
                  </a:lnTo>
                  <a:lnTo>
                    <a:pt x="756" y="408"/>
                  </a:lnTo>
                  <a:lnTo>
                    <a:pt x="756" y="402"/>
                  </a:lnTo>
                  <a:lnTo>
                    <a:pt x="750" y="402"/>
                  </a:lnTo>
                  <a:lnTo>
                    <a:pt x="750" y="396"/>
                  </a:lnTo>
                  <a:lnTo>
                    <a:pt x="744" y="396"/>
                  </a:lnTo>
                  <a:lnTo>
                    <a:pt x="744" y="390"/>
                  </a:lnTo>
                  <a:lnTo>
                    <a:pt x="738" y="390"/>
                  </a:lnTo>
                  <a:lnTo>
                    <a:pt x="738" y="384"/>
                  </a:lnTo>
                  <a:lnTo>
                    <a:pt x="738" y="378"/>
                  </a:lnTo>
                  <a:lnTo>
                    <a:pt x="744" y="378"/>
                  </a:lnTo>
                  <a:lnTo>
                    <a:pt x="744" y="372"/>
                  </a:lnTo>
                  <a:lnTo>
                    <a:pt x="738" y="366"/>
                  </a:lnTo>
                  <a:lnTo>
                    <a:pt x="744" y="366"/>
                  </a:lnTo>
                  <a:lnTo>
                    <a:pt x="750" y="366"/>
                  </a:lnTo>
                  <a:lnTo>
                    <a:pt x="750" y="360"/>
                  </a:lnTo>
                  <a:lnTo>
                    <a:pt x="750" y="366"/>
                  </a:lnTo>
                  <a:lnTo>
                    <a:pt x="756" y="366"/>
                  </a:lnTo>
                  <a:lnTo>
                    <a:pt x="762" y="366"/>
                  </a:lnTo>
                  <a:lnTo>
                    <a:pt x="756" y="360"/>
                  </a:lnTo>
                  <a:lnTo>
                    <a:pt x="756" y="354"/>
                  </a:lnTo>
                  <a:lnTo>
                    <a:pt x="756" y="348"/>
                  </a:lnTo>
                  <a:lnTo>
                    <a:pt x="762" y="348"/>
                  </a:lnTo>
                  <a:lnTo>
                    <a:pt x="762" y="342"/>
                  </a:lnTo>
                  <a:lnTo>
                    <a:pt x="768" y="342"/>
                  </a:lnTo>
                  <a:lnTo>
                    <a:pt x="768" y="336"/>
                  </a:lnTo>
                  <a:lnTo>
                    <a:pt x="768" y="330"/>
                  </a:lnTo>
                  <a:lnTo>
                    <a:pt x="774" y="330"/>
                  </a:lnTo>
                  <a:lnTo>
                    <a:pt x="774" y="336"/>
                  </a:lnTo>
                  <a:lnTo>
                    <a:pt x="774" y="342"/>
                  </a:lnTo>
                  <a:lnTo>
                    <a:pt x="780" y="342"/>
                  </a:lnTo>
                  <a:lnTo>
                    <a:pt x="780" y="348"/>
                  </a:lnTo>
                  <a:lnTo>
                    <a:pt x="780" y="354"/>
                  </a:lnTo>
                  <a:lnTo>
                    <a:pt x="786" y="354"/>
                  </a:lnTo>
                  <a:lnTo>
                    <a:pt x="786" y="348"/>
                  </a:lnTo>
                  <a:lnTo>
                    <a:pt x="786" y="342"/>
                  </a:lnTo>
                  <a:lnTo>
                    <a:pt x="786" y="336"/>
                  </a:lnTo>
                  <a:lnTo>
                    <a:pt x="792" y="330"/>
                  </a:lnTo>
                  <a:lnTo>
                    <a:pt x="798" y="330"/>
                  </a:lnTo>
                  <a:lnTo>
                    <a:pt x="798" y="336"/>
                  </a:lnTo>
                  <a:lnTo>
                    <a:pt x="804" y="330"/>
                  </a:lnTo>
                  <a:lnTo>
                    <a:pt x="804" y="336"/>
                  </a:lnTo>
                  <a:lnTo>
                    <a:pt x="810" y="336"/>
                  </a:lnTo>
                  <a:lnTo>
                    <a:pt x="816" y="330"/>
                  </a:lnTo>
                  <a:lnTo>
                    <a:pt x="822" y="336"/>
                  </a:lnTo>
                  <a:lnTo>
                    <a:pt x="828" y="330"/>
                  </a:lnTo>
                  <a:lnTo>
                    <a:pt x="828" y="336"/>
                  </a:lnTo>
                  <a:lnTo>
                    <a:pt x="834" y="336"/>
                  </a:lnTo>
                  <a:lnTo>
                    <a:pt x="840" y="336"/>
                  </a:lnTo>
                  <a:lnTo>
                    <a:pt x="840" y="330"/>
                  </a:lnTo>
                  <a:lnTo>
                    <a:pt x="840" y="324"/>
                  </a:lnTo>
                  <a:lnTo>
                    <a:pt x="846" y="324"/>
                  </a:lnTo>
                  <a:lnTo>
                    <a:pt x="846" y="330"/>
                  </a:lnTo>
                  <a:lnTo>
                    <a:pt x="852" y="330"/>
                  </a:lnTo>
                  <a:lnTo>
                    <a:pt x="852" y="324"/>
                  </a:lnTo>
                  <a:lnTo>
                    <a:pt x="858" y="324"/>
                  </a:lnTo>
                  <a:lnTo>
                    <a:pt x="864" y="324"/>
                  </a:lnTo>
                  <a:lnTo>
                    <a:pt x="864" y="318"/>
                  </a:lnTo>
                  <a:lnTo>
                    <a:pt x="870" y="318"/>
                  </a:lnTo>
                  <a:lnTo>
                    <a:pt x="876" y="318"/>
                  </a:lnTo>
                  <a:lnTo>
                    <a:pt x="882" y="318"/>
                  </a:lnTo>
                  <a:lnTo>
                    <a:pt x="888" y="318"/>
                  </a:lnTo>
                  <a:lnTo>
                    <a:pt x="894" y="318"/>
                  </a:lnTo>
                  <a:lnTo>
                    <a:pt x="894" y="324"/>
                  </a:lnTo>
                  <a:lnTo>
                    <a:pt x="900" y="324"/>
                  </a:lnTo>
                  <a:lnTo>
                    <a:pt x="900" y="330"/>
                  </a:lnTo>
                  <a:lnTo>
                    <a:pt x="906" y="330"/>
                  </a:lnTo>
                  <a:lnTo>
                    <a:pt x="906" y="336"/>
                  </a:lnTo>
                  <a:lnTo>
                    <a:pt x="912" y="342"/>
                  </a:lnTo>
                  <a:lnTo>
                    <a:pt x="912" y="348"/>
                  </a:lnTo>
                  <a:lnTo>
                    <a:pt x="906" y="348"/>
                  </a:lnTo>
                  <a:lnTo>
                    <a:pt x="900" y="354"/>
                  </a:lnTo>
                  <a:lnTo>
                    <a:pt x="906" y="360"/>
                  </a:lnTo>
                  <a:lnTo>
                    <a:pt x="912" y="360"/>
                  </a:lnTo>
                  <a:lnTo>
                    <a:pt x="906" y="360"/>
                  </a:lnTo>
                  <a:lnTo>
                    <a:pt x="900" y="360"/>
                  </a:lnTo>
                  <a:lnTo>
                    <a:pt x="906" y="360"/>
                  </a:lnTo>
                  <a:lnTo>
                    <a:pt x="906" y="366"/>
                  </a:lnTo>
                  <a:lnTo>
                    <a:pt x="906" y="372"/>
                  </a:lnTo>
                  <a:lnTo>
                    <a:pt x="906" y="378"/>
                  </a:lnTo>
                  <a:lnTo>
                    <a:pt x="906" y="384"/>
                  </a:lnTo>
                  <a:lnTo>
                    <a:pt x="900" y="390"/>
                  </a:lnTo>
                  <a:lnTo>
                    <a:pt x="894" y="390"/>
                  </a:lnTo>
                  <a:lnTo>
                    <a:pt x="894" y="396"/>
                  </a:lnTo>
                  <a:lnTo>
                    <a:pt x="888" y="396"/>
                  </a:lnTo>
                  <a:lnTo>
                    <a:pt x="882" y="396"/>
                  </a:lnTo>
                  <a:lnTo>
                    <a:pt x="876" y="396"/>
                  </a:lnTo>
                  <a:lnTo>
                    <a:pt x="882" y="396"/>
                  </a:lnTo>
                  <a:lnTo>
                    <a:pt x="888" y="402"/>
                  </a:lnTo>
                  <a:lnTo>
                    <a:pt x="882" y="402"/>
                  </a:lnTo>
                  <a:lnTo>
                    <a:pt x="882" y="408"/>
                  </a:lnTo>
                  <a:lnTo>
                    <a:pt x="876" y="408"/>
                  </a:lnTo>
                  <a:lnTo>
                    <a:pt x="870" y="408"/>
                  </a:lnTo>
                  <a:lnTo>
                    <a:pt x="870" y="414"/>
                  </a:lnTo>
                  <a:lnTo>
                    <a:pt x="864" y="414"/>
                  </a:lnTo>
                  <a:lnTo>
                    <a:pt x="858" y="420"/>
                  </a:lnTo>
                  <a:lnTo>
                    <a:pt x="852" y="420"/>
                  </a:lnTo>
                  <a:lnTo>
                    <a:pt x="846" y="426"/>
                  </a:lnTo>
                  <a:lnTo>
                    <a:pt x="840" y="426"/>
                  </a:lnTo>
                  <a:lnTo>
                    <a:pt x="840" y="432"/>
                  </a:lnTo>
                  <a:lnTo>
                    <a:pt x="834" y="432"/>
                  </a:lnTo>
                  <a:lnTo>
                    <a:pt x="840" y="432"/>
                  </a:lnTo>
                  <a:lnTo>
                    <a:pt x="846" y="432"/>
                  </a:lnTo>
                  <a:lnTo>
                    <a:pt x="852" y="432"/>
                  </a:lnTo>
                  <a:lnTo>
                    <a:pt x="858" y="426"/>
                  </a:lnTo>
                  <a:lnTo>
                    <a:pt x="858" y="432"/>
                  </a:lnTo>
                  <a:lnTo>
                    <a:pt x="864" y="426"/>
                  </a:lnTo>
                  <a:lnTo>
                    <a:pt x="864" y="420"/>
                  </a:lnTo>
                  <a:lnTo>
                    <a:pt x="870" y="420"/>
                  </a:lnTo>
                  <a:lnTo>
                    <a:pt x="870" y="414"/>
                  </a:lnTo>
                  <a:lnTo>
                    <a:pt x="876" y="414"/>
                  </a:lnTo>
                  <a:lnTo>
                    <a:pt x="882" y="414"/>
                  </a:lnTo>
                  <a:lnTo>
                    <a:pt x="888" y="408"/>
                  </a:lnTo>
                  <a:lnTo>
                    <a:pt x="894" y="408"/>
                  </a:lnTo>
                  <a:lnTo>
                    <a:pt x="894" y="414"/>
                  </a:lnTo>
                  <a:lnTo>
                    <a:pt x="894" y="420"/>
                  </a:lnTo>
                  <a:lnTo>
                    <a:pt x="888" y="420"/>
                  </a:lnTo>
                  <a:lnTo>
                    <a:pt x="888" y="426"/>
                  </a:lnTo>
                  <a:lnTo>
                    <a:pt x="882" y="426"/>
                  </a:lnTo>
                  <a:lnTo>
                    <a:pt x="876" y="426"/>
                  </a:lnTo>
                  <a:lnTo>
                    <a:pt x="876" y="432"/>
                  </a:lnTo>
                  <a:lnTo>
                    <a:pt x="876" y="438"/>
                  </a:lnTo>
                  <a:lnTo>
                    <a:pt x="870" y="438"/>
                  </a:lnTo>
                  <a:lnTo>
                    <a:pt x="870" y="444"/>
                  </a:lnTo>
                  <a:lnTo>
                    <a:pt x="876" y="438"/>
                  </a:lnTo>
                  <a:lnTo>
                    <a:pt x="882" y="432"/>
                  </a:lnTo>
                  <a:lnTo>
                    <a:pt x="888" y="426"/>
                  </a:lnTo>
                  <a:lnTo>
                    <a:pt x="894" y="426"/>
                  </a:lnTo>
                  <a:lnTo>
                    <a:pt x="894" y="420"/>
                  </a:lnTo>
                  <a:lnTo>
                    <a:pt x="900" y="426"/>
                  </a:lnTo>
                  <a:lnTo>
                    <a:pt x="900" y="420"/>
                  </a:lnTo>
                  <a:lnTo>
                    <a:pt x="900" y="414"/>
                  </a:lnTo>
                  <a:lnTo>
                    <a:pt x="906" y="414"/>
                  </a:lnTo>
                  <a:lnTo>
                    <a:pt x="906" y="408"/>
                  </a:lnTo>
                  <a:lnTo>
                    <a:pt x="912" y="408"/>
                  </a:lnTo>
                  <a:lnTo>
                    <a:pt x="918" y="408"/>
                  </a:lnTo>
                  <a:lnTo>
                    <a:pt x="918" y="402"/>
                  </a:lnTo>
                  <a:lnTo>
                    <a:pt x="918" y="396"/>
                  </a:lnTo>
                  <a:lnTo>
                    <a:pt x="912" y="396"/>
                  </a:lnTo>
                  <a:lnTo>
                    <a:pt x="912" y="390"/>
                  </a:lnTo>
                  <a:lnTo>
                    <a:pt x="912" y="384"/>
                  </a:lnTo>
                  <a:lnTo>
                    <a:pt x="918" y="384"/>
                  </a:lnTo>
                  <a:lnTo>
                    <a:pt x="924" y="384"/>
                  </a:lnTo>
                  <a:lnTo>
                    <a:pt x="924" y="378"/>
                  </a:lnTo>
                  <a:lnTo>
                    <a:pt x="924" y="372"/>
                  </a:lnTo>
                  <a:lnTo>
                    <a:pt x="924" y="366"/>
                  </a:lnTo>
                  <a:lnTo>
                    <a:pt x="930" y="372"/>
                  </a:lnTo>
                  <a:lnTo>
                    <a:pt x="924" y="372"/>
                  </a:lnTo>
                  <a:lnTo>
                    <a:pt x="930" y="372"/>
                  </a:lnTo>
                  <a:lnTo>
                    <a:pt x="930" y="366"/>
                  </a:lnTo>
                  <a:lnTo>
                    <a:pt x="936" y="366"/>
                  </a:lnTo>
                  <a:lnTo>
                    <a:pt x="936" y="360"/>
                  </a:lnTo>
                  <a:lnTo>
                    <a:pt x="930" y="360"/>
                  </a:lnTo>
                  <a:lnTo>
                    <a:pt x="930" y="354"/>
                  </a:lnTo>
                  <a:lnTo>
                    <a:pt x="930" y="348"/>
                  </a:lnTo>
                  <a:lnTo>
                    <a:pt x="930" y="342"/>
                  </a:lnTo>
                  <a:lnTo>
                    <a:pt x="936" y="342"/>
                  </a:lnTo>
                  <a:lnTo>
                    <a:pt x="942" y="342"/>
                  </a:lnTo>
                  <a:lnTo>
                    <a:pt x="936" y="348"/>
                  </a:lnTo>
                  <a:lnTo>
                    <a:pt x="942" y="348"/>
                  </a:lnTo>
                  <a:lnTo>
                    <a:pt x="948" y="342"/>
                  </a:lnTo>
                  <a:lnTo>
                    <a:pt x="948" y="348"/>
                  </a:lnTo>
                  <a:lnTo>
                    <a:pt x="954" y="348"/>
                  </a:lnTo>
                  <a:lnTo>
                    <a:pt x="954" y="342"/>
                  </a:lnTo>
                  <a:lnTo>
                    <a:pt x="966" y="342"/>
                  </a:lnTo>
                  <a:lnTo>
                    <a:pt x="966" y="348"/>
                  </a:lnTo>
                  <a:lnTo>
                    <a:pt x="960" y="348"/>
                  </a:lnTo>
                  <a:lnTo>
                    <a:pt x="960" y="354"/>
                  </a:lnTo>
                  <a:lnTo>
                    <a:pt x="966" y="348"/>
                  </a:lnTo>
                  <a:lnTo>
                    <a:pt x="972" y="348"/>
                  </a:lnTo>
                  <a:lnTo>
                    <a:pt x="972" y="354"/>
                  </a:lnTo>
                  <a:lnTo>
                    <a:pt x="966" y="354"/>
                  </a:lnTo>
                  <a:lnTo>
                    <a:pt x="966" y="360"/>
                  </a:lnTo>
                  <a:lnTo>
                    <a:pt x="972" y="360"/>
                  </a:lnTo>
                  <a:lnTo>
                    <a:pt x="978" y="360"/>
                  </a:lnTo>
                  <a:lnTo>
                    <a:pt x="972" y="360"/>
                  </a:lnTo>
                  <a:lnTo>
                    <a:pt x="972" y="366"/>
                  </a:lnTo>
                  <a:lnTo>
                    <a:pt x="978" y="366"/>
                  </a:lnTo>
                  <a:lnTo>
                    <a:pt x="984" y="366"/>
                  </a:lnTo>
                  <a:lnTo>
                    <a:pt x="978" y="372"/>
                  </a:lnTo>
                  <a:lnTo>
                    <a:pt x="978" y="378"/>
                  </a:lnTo>
                  <a:lnTo>
                    <a:pt x="984" y="378"/>
                  </a:lnTo>
                  <a:lnTo>
                    <a:pt x="984" y="372"/>
                  </a:lnTo>
                  <a:lnTo>
                    <a:pt x="990" y="378"/>
                  </a:lnTo>
                  <a:lnTo>
                    <a:pt x="984" y="378"/>
                  </a:lnTo>
                  <a:lnTo>
                    <a:pt x="990" y="378"/>
                  </a:lnTo>
                  <a:lnTo>
                    <a:pt x="990" y="384"/>
                  </a:lnTo>
                  <a:lnTo>
                    <a:pt x="996" y="384"/>
                  </a:lnTo>
                  <a:lnTo>
                    <a:pt x="996" y="390"/>
                  </a:lnTo>
                  <a:lnTo>
                    <a:pt x="996" y="396"/>
                  </a:lnTo>
                  <a:lnTo>
                    <a:pt x="996" y="402"/>
                  </a:lnTo>
                  <a:lnTo>
                    <a:pt x="1002" y="396"/>
                  </a:lnTo>
                  <a:lnTo>
                    <a:pt x="1002" y="402"/>
                  </a:lnTo>
                  <a:lnTo>
                    <a:pt x="1002" y="408"/>
                  </a:lnTo>
                  <a:lnTo>
                    <a:pt x="1002" y="414"/>
                  </a:lnTo>
                  <a:lnTo>
                    <a:pt x="1002" y="420"/>
                  </a:lnTo>
                  <a:lnTo>
                    <a:pt x="996" y="426"/>
                  </a:lnTo>
                  <a:lnTo>
                    <a:pt x="990" y="420"/>
                  </a:lnTo>
                  <a:lnTo>
                    <a:pt x="990" y="426"/>
                  </a:lnTo>
                  <a:lnTo>
                    <a:pt x="996" y="426"/>
                  </a:lnTo>
                  <a:lnTo>
                    <a:pt x="996" y="432"/>
                  </a:lnTo>
                  <a:lnTo>
                    <a:pt x="996" y="438"/>
                  </a:lnTo>
                  <a:lnTo>
                    <a:pt x="996" y="444"/>
                  </a:lnTo>
                  <a:lnTo>
                    <a:pt x="996" y="450"/>
                  </a:lnTo>
                  <a:lnTo>
                    <a:pt x="996" y="456"/>
                  </a:lnTo>
                  <a:lnTo>
                    <a:pt x="990" y="450"/>
                  </a:lnTo>
                  <a:lnTo>
                    <a:pt x="990" y="456"/>
                  </a:lnTo>
                  <a:lnTo>
                    <a:pt x="996" y="456"/>
                  </a:lnTo>
                  <a:lnTo>
                    <a:pt x="996" y="462"/>
                  </a:lnTo>
                  <a:lnTo>
                    <a:pt x="990" y="468"/>
                  </a:lnTo>
                  <a:lnTo>
                    <a:pt x="990" y="474"/>
                  </a:lnTo>
                  <a:lnTo>
                    <a:pt x="996" y="486"/>
                  </a:lnTo>
                  <a:lnTo>
                    <a:pt x="990" y="492"/>
                  </a:lnTo>
                  <a:lnTo>
                    <a:pt x="990" y="498"/>
                  </a:lnTo>
                  <a:lnTo>
                    <a:pt x="990" y="504"/>
                  </a:lnTo>
                  <a:lnTo>
                    <a:pt x="990" y="510"/>
                  </a:lnTo>
                  <a:lnTo>
                    <a:pt x="990" y="516"/>
                  </a:lnTo>
                  <a:lnTo>
                    <a:pt x="990" y="522"/>
                  </a:lnTo>
                  <a:lnTo>
                    <a:pt x="990" y="528"/>
                  </a:lnTo>
                  <a:lnTo>
                    <a:pt x="990" y="534"/>
                  </a:lnTo>
                  <a:lnTo>
                    <a:pt x="990" y="540"/>
                  </a:lnTo>
                  <a:lnTo>
                    <a:pt x="990" y="546"/>
                  </a:lnTo>
                  <a:lnTo>
                    <a:pt x="984" y="546"/>
                  </a:lnTo>
                  <a:lnTo>
                    <a:pt x="984" y="540"/>
                  </a:lnTo>
                  <a:lnTo>
                    <a:pt x="984" y="546"/>
                  </a:lnTo>
                  <a:lnTo>
                    <a:pt x="984" y="552"/>
                  </a:lnTo>
                  <a:lnTo>
                    <a:pt x="978" y="552"/>
                  </a:lnTo>
                  <a:lnTo>
                    <a:pt x="984" y="552"/>
                  </a:lnTo>
                  <a:lnTo>
                    <a:pt x="978" y="552"/>
                  </a:lnTo>
                  <a:lnTo>
                    <a:pt x="978" y="546"/>
                  </a:lnTo>
                  <a:lnTo>
                    <a:pt x="972" y="546"/>
                  </a:lnTo>
                  <a:lnTo>
                    <a:pt x="972" y="540"/>
                  </a:lnTo>
                  <a:lnTo>
                    <a:pt x="966" y="540"/>
                  </a:lnTo>
                  <a:lnTo>
                    <a:pt x="966" y="534"/>
                  </a:lnTo>
                  <a:lnTo>
                    <a:pt x="960" y="540"/>
                  </a:lnTo>
                  <a:lnTo>
                    <a:pt x="960" y="546"/>
                  </a:lnTo>
                  <a:lnTo>
                    <a:pt x="966" y="546"/>
                  </a:lnTo>
                  <a:lnTo>
                    <a:pt x="966" y="552"/>
                  </a:lnTo>
                  <a:lnTo>
                    <a:pt x="972" y="558"/>
                  </a:lnTo>
                  <a:lnTo>
                    <a:pt x="972" y="564"/>
                  </a:lnTo>
                  <a:lnTo>
                    <a:pt x="978" y="564"/>
                  </a:lnTo>
                  <a:lnTo>
                    <a:pt x="978" y="570"/>
                  </a:lnTo>
                  <a:lnTo>
                    <a:pt x="984" y="570"/>
                  </a:lnTo>
                  <a:lnTo>
                    <a:pt x="990" y="576"/>
                  </a:lnTo>
                  <a:lnTo>
                    <a:pt x="984" y="576"/>
                  </a:lnTo>
                  <a:lnTo>
                    <a:pt x="984" y="582"/>
                  </a:lnTo>
                  <a:lnTo>
                    <a:pt x="978" y="582"/>
                  </a:lnTo>
                  <a:lnTo>
                    <a:pt x="984" y="582"/>
                  </a:lnTo>
                  <a:lnTo>
                    <a:pt x="990" y="588"/>
                  </a:lnTo>
                  <a:lnTo>
                    <a:pt x="996" y="588"/>
                  </a:lnTo>
                  <a:lnTo>
                    <a:pt x="996" y="594"/>
                  </a:lnTo>
                  <a:lnTo>
                    <a:pt x="996" y="600"/>
                  </a:lnTo>
                  <a:lnTo>
                    <a:pt x="996" y="606"/>
                  </a:lnTo>
                  <a:lnTo>
                    <a:pt x="996" y="612"/>
                  </a:lnTo>
                  <a:lnTo>
                    <a:pt x="996" y="618"/>
                  </a:lnTo>
                  <a:lnTo>
                    <a:pt x="996" y="630"/>
                  </a:lnTo>
                  <a:lnTo>
                    <a:pt x="996" y="636"/>
                  </a:lnTo>
                  <a:lnTo>
                    <a:pt x="990" y="636"/>
                  </a:lnTo>
                  <a:lnTo>
                    <a:pt x="984" y="636"/>
                  </a:lnTo>
                  <a:lnTo>
                    <a:pt x="984" y="642"/>
                  </a:lnTo>
                  <a:lnTo>
                    <a:pt x="978" y="648"/>
                  </a:lnTo>
                  <a:lnTo>
                    <a:pt x="978" y="654"/>
                  </a:lnTo>
                  <a:lnTo>
                    <a:pt x="972" y="654"/>
                  </a:lnTo>
                  <a:lnTo>
                    <a:pt x="966" y="654"/>
                  </a:lnTo>
                  <a:lnTo>
                    <a:pt x="960" y="660"/>
                  </a:lnTo>
                  <a:lnTo>
                    <a:pt x="954" y="660"/>
                  </a:lnTo>
                  <a:lnTo>
                    <a:pt x="954" y="654"/>
                  </a:lnTo>
                  <a:lnTo>
                    <a:pt x="948" y="654"/>
                  </a:lnTo>
                  <a:lnTo>
                    <a:pt x="942" y="660"/>
                  </a:lnTo>
                  <a:lnTo>
                    <a:pt x="936" y="654"/>
                  </a:lnTo>
                  <a:lnTo>
                    <a:pt x="930" y="660"/>
                  </a:lnTo>
                  <a:lnTo>
                    <a:pt x="930" y="666"/>
                  </a:lnTo>
                  <a:lnTo>
                    <a:pt x="924" y="666"/>
                  </a:lnTo>
                  <a:lnTo>
                    <a:pt x="924" y="660"/>
                  </a:lnTo>
                  <a:lnTo>
                    <a:pt x="918" y="660"/>
                  </a:lnTo>
                  <a:lnTo>
                    <a:pt x="918" y="654"/>
                  </a:lnTo>
                  <a:lnTo>
                    <a:pt x="918" y="660"/>
                  </a:lnTo>
                  <a:lnTo>
                    <a:pt x="918" y="654"/>
                  </a:lnTo>
                  <a:lnTo>
                    <a:pt x="918" y="660"/>
                  </a:lnTo>
                  <a:lnTo>
                    <a:pt x="912" y="654"/>
                  </a:lnTo>
                  <a:lnTo>
                    <a:pt x="906" y="654"/>
                  </a:lnTo>
                  <a:lnTo>
                    <a:pt x="900" y="648"/>
                  </a:lnTo>
                  <a:lnTo>
                    <a:pt x="900" y="654"/>
                  </a:lnTo>
                  <a:lnTo>
                    <a:pt x="894" y="654"/>
                  </a:lnTo>
                  <a:lnTo>
                    <a:pt x="888" y="654"/>
                  </a:lnTo>
                  <a:lnTo>
                    <a:pt x="882" y="648"/>
                  </a:lnTo>
                  <a:lnTo>
                    <a:pt x="876" y="648"/>
                  </a:lnTo>
                  <a:lnTo>
                    <a:pt x="876" y="642"/>
                  </a:lnTo>
                  <a:lnTo>
                    <a:pt x="876" y="636"/>
                  </a:lnTo>
                  <a:lnTo>
                    <a:pt x="876" y="642"/>
                  </a:lnTo>
                  <a:lnTo>
                    <a:pt x="876" y="636"/>
                  </a:lnTo>
                  <a:lnTo>
                    <a:pt x="870" y="636"/>
                  </a:lnTo>
                  <a:lnTo>
                    <a:pt x="864" y="636"/>
                  </a:lnTo>
                  <a:lnTo>
                    <a:pt x="864" y="630"/>
                  </a:lnTo>
                  <a:lnTo>
                    <a:pt x="858" y="624"/>
                  </a:lnTo>
                  <a:lnTo>
                    <a:pt x="858" y="618"/>
                  </a:lnTo>
                  <a:lnTo>
                    <a:pt x="858" y="612"/>
                  </a:lnTo>
                  <a:lnTo>
                    <a:pt x="852" y="612"/>
                  </a:lnTo>
                  <a:lnTo>
                    <a:pt x="846" y="612"/>
                  </a:lnTo>
                  <a:lnTo>
                    <a:pt x="840" y="612"/>
                  </a:lnTo>
                  <a:lnTo>
                    <a:pt x="846" y="612"/>
                  </a:lnTo>
                  <a:lnTo>
                    <a:pt x="840" y="606"/>
                  </a:lnTo>
                  <a:lnTo>
                    <a:pt x="840" y="612"/>
                  </a:lnTo>
                  <a:lnTo>
                    <a:pt x="834" y="612"/>
                  </a:lnTo>
                  <a:lnTo>
                    <a:pt x="828" y="606"/>
                  </a:lnTo>
                  <a:lnTo>
                    <a:pt x="828" y="612"/>
                  </a:lnTo>
                  <a:lnTo>
                    <a:pt x="822" y="612"/>
                  </a:lnTo>
                  <a:lnTo>
                    <a:pt x="822" y="618"/>
                  </a:lnTo>
                  <a:lnTo>
                    <a:pt x="822" y="612"/>
                  </a:lnTo>
                  <a:lnTo>
                    <a:pt x="816" y="618"/>
                  </a:lnTo>
                  <a:lnTo>
                    <a:pt x="816" y="612"/>
                  </a:lnTo>
                  <a:lnTo>
                    <a:pt x="810" y="612"/>
                  </a:lnTo>
                  <a:lnTo>
                    <a:pt x="804" y="612"/>
                  </a:lnTo>
                  <a:lnTo>
                    <a:pt x="804" y="606"/>
                  </a:lnTo>
                  <a:lnTo>
                    <a:pt x="804" y="600"/>
                  </a:lnTo>
                  <a:lnTo>
                    <a:pt x="804" y="594"/>
                  </a:lnTo>
                  <a:lnTo>
                    <a:pt x="804" y="600"/>
                  </a:lnTo>
                  <a:lnTo>
                    <a:pt x="798" y="600"/>
                  </a:lnTo>
                  <a:lnTo>
                    <a:pt x="798" y="594"/>
                  </a:lnTo>
                  <a:lnTo>
                    <a:pt x="798" y="588"/>
                  </a:lnTo>
                  <a:lnTo>
                    <a:pt x="792" y="588"/>
                  </a:lnTo>
                  <a:lnTo>
                    <a:pt x="786" y="588"/>
                  </a:lnTo>
                  <a:lnTo>
                    <a:pt x="786" y="594"/>
                  </a:lnTo>
                  <a:lnTo>
                    <a:pt x="780" y="594"/>
                  </a:lnTo>
                  <a:lnTo>
                    <a:pt x="780" y="600"/>
                  </a:lnTo>
                  <a:lnTo>
                    <a:pt x="774" y="606"/>
                  </a:lnTo>
                  <a:lnTo>
                    <a:pt x="768" y="600"/>
                  </a:lnTo>
                  <a:lnTo>
                    <a:pt x="774" y="600"/>
                  </a:lnTo>
                  <a:lnTo>
                    <a:pt x="768" y="600"/>
                  </a:lnTo>
                  <a:lnTo>
                    <a:pt x="762" y="600"/>
                  </a:lnTo>
                  <a:lnTo>
                    <a:pt x="762" y="594"/>
                  </a:lnTo>
                  <a:lnTo>
                    <a:pt x="756" y="588"/>
                  </a:lnTo>
                  <a:lnTo>
                    <a:pt x="756" y="582"/>
                  </a:lnTo>
                  <a:lnTo>
                    <a:pt x="756" y="576"/>
                  </a:lnTo>
                  <a:lnTo>
                    <a:pt x="756" y="570"/>
                  </a:lnTo>
                  <a:lnTo>
                    <a:pt x="756" y="564"/>
                  </a:lnTo>
                  <a:lnTo>
                    <a:pt x="750" y="564"/>
                  </a:lnTo>
                  <a:lnTo>
                    <a:pt x="750" y="558"/>
                  </a:lnTo>
                  <a:lnTo>
                    <a:pt x="744" y="558"/>
                  </a:lnTo>
                  <a:lnTo>
                    <a:pt x="744" y="552"/>
                  </a:lnTo>
                  <a:lnTo>
                    <a:pt x="738" y="552"/>
                  </a:lnTo>
                  <a:lnTo>
                    <a:pt x="744" y="552"/>
                  </a:lnTo>
                  <a:lnTo>
                    <a:pt x="744" y="546"/>
                  </a:lnTo>
                  <a:lnTo>
                    <a:pt x="738" y="546"/>
                  </a:lnTo>
                  <a:lnTo>
                    <a:pt x="744" y="546"/>
                  </a:lnTo>
                  <a:lnTo>
                    <a:pt x="744" y="540"/>
                  </a:lnTo>
                  <a:lnTo>
                    <a:pt x="744" y="534"/>
                  </a:lnTo>
                  <a:lnTo>
                    <a:pt x="744" y="528"/>
                  </a:lnTo>
                  <a:lnTo>
                    <a:pt x="744" y="522"/>
                  </a:lnTo>
                  <a:lnTo>
                    <a:pt x="744" y="516"/>
                  </a:lnTo>
                  <a:lnTo>
                    <a:pt x="738" y="510"/>
                  </a:lnTo>
                  <a:lnTo>
                    <a:pt x="744" y="504"/>
                  </a:lnTo>
                  <a:lnTo>
                    <a:pt x="744" y="492"/>
                  </a:lnTo>
                  <a:lnTo>
                    <a:pt x="738" y="492"/>
                  </a:lnTo>
                  <a:lnTo>
                    <a:pt x="732" y="492"/>
                  </a:lnTo>
                  <a:lnTo>
                    <a:pt x="726" y="492"/>
                  </a:lnTo>
                  <a:lnTo>
                    <a:pt x="726" y="486"/>
                  </a:lnTo>
                  <a:lnTo>
                    <a:pt x="726" y="492"/>
                  </a:lnTo>
                  <a:lnTo>
                    <a:pt x="726" y="498"/>
                  </a:lnTo>
                  <a:lnTo>
                    <a:pt x="726" y="504"/>
                  </a:lnTo>
                  <a:lnTo>
                    <a:pt x="720" y="498"/>
                  </a:lnTo>
                  <a:lnTo>
                    <a:pt x="720" y="504"/>
                  </a:lnTo>
                  <a:lnTo>
                    <a:pt x="714" y="504"/>
                  </a:lnTo>
                  <a:lnTo>
                    <a:pt x="714" y="498"/>
                  </a:lnTo>
                  <a:lnTo>
                    <a:pt x="720" y="498"/>
                  </a:lnTo>
                  <a:lnTo>
                    <a:pt x="714" y="498"/>
                  </a:lnTo>
                  <a:lnTo>
                    <a:pt x="714" y="492"/>
                  </a:lnTo>
                  <a:lnTo>
                    <a:pt x="720" y="492"/>
                  </a:lnTo>
                  <a:lnTo>
                    <a:pt x="720" y="486"/>
                  </a:lnTo>
                  <a:lnTo>
                    <a:pt x="720" y="480"/>
                  </a:lnTo>
                  <a:lnTo>
                    <a:pt x="720" y="486"/>
                  </a:lnTo>
                  <a:lnTo>
                    <a:pt x="726" y="486"/>
                  </a:lnTo>
                  <a:lnTo>
                    <a:pt x="726" y="480"/>
                  </a:lnTo>
                  <a:lnTo>
                    <a:pt x="720" y="480"/>
                  </a:lnTo>
                  <a:lnTo>
                    <a:pt x="714" y="480"/>
                  </a:lnTo>
                  <a:lnTo>
                    <a:pt x="714" y="474"/>
                  </a:lnTo>
                  <a:lnTo>
                    <a:pt x="720" y="474"/>
                  </a:lnTo>
                  <a:lnTo>
                    <a:pt x="714" y="474"/>
                  </a:lnTo>
                  <a:lnTo>
                    <a:pt x="708" y="474"/>
                  </a:lnTo>
                  <a:lnTo>
                    <a:pt x="708" y="468"/>
                  </a:lnTo>
                  <a:lnTo>
                    <a:pt x="708" y="474"/>
                  </a:lnTo>
                  <a:lnTo>
                    <a:pt x="702" y="474"/>
                  </a:lnTo>
                  <a:lnTo>
                    <a:pt x="702" y="480"/>
                  </a:lnTo>
                  <a:lnTo>
                    <a:pt x="696" y="486"/>
                  </a:lnTo>
                  <a:lnTo>
                    <a:pt x="702" y="486"/>
                  </a:lnTo>
                  <a:lnTo>
                    <a:pt x="702" y="492"/>
                  </a:lnTo>
                  <a:lnTo>
                    <a:pt x="696" y="492"/>
                  </a:lnTo>
                  <a:lnTo>
                    <a:pt x="696" y="498"/>
                  </a:lnTo>
                  <a:lnTo>
                    <a:pt x="702" y="498"/>
                  </a:lnTo>
                  <a:lnTo>
                    <a:pt x="696" y="498"/>
                  </a:lnTo>
                  <a:lnTo>
                    <a:pt x="690" y="498"/>
                  </a:lnTo>
                  <a:lnTo>
                    <a:pt x="684" y="492"/>
                  </a:lnTo>
                  <a:lnTo>
                    <a:pt x="690" y="492"/>
                  </a:lnTo>
                  <a:lnTo>
                    <a:pt x="690" y="486"/>
                  </a:lnTo>
                  <a:lnTo>
                    <a:pt x="696" y="486"/>
                  </a:lnTo>
                  <a:lnTo>
                    <a:pt x="696" y="480"/>
                  </a:lnTo>
                  <a:lnTo>
                    <a:pt x="690" y="474"/>
                  </a:lnTo>
                  <a:lnTo>
                    <a:pt x="684" y="480"/>
                  </a:lnTo>
                  <a:lnTo>
                    <a:pt x="684" y="474"/>
                  </a:lnTo>
                  <a:lnTo>
                    <a:pt x="678" y="474"/>
                  </a:lnTo>
                  <a:lnTo>
                    <a:pt x="678" y="468"/>
                  </a:lnTo>
                  <a:lnTo>
                    <a:pt x="672" y="468"/>
                  </a:lnTo>
                  <a:close/>
                  <a:moveTo>
                    <a:pt x="972" y="834"/>
                  </a:moveTo>
                  <a:lnTo>
                    <a:pt x="978" y="822"/>
                  </a:lnTo>
                  <a:lnTo>
                    <a:pt x="978" y="816"/>
                  </a:lnTo>
                  <a:lnTo>
                    <a:pt x="984" y="810"/>
                  </a:lnTo>
                  <a:lnTo>
                    <a:pt x="984" y="804"/>
                  </a:lnTo>
                  <a:lnTo>
                    <a:pt x="984" y="798"/>
                  </a:lnTo>
                  <a:lnTo>
                    <a:pt x="990" y="798"/>
                  </a:lnTo>
                  <a:lnTo>
                    <a:pt x="990" y="786"/>
                  </a:lnTo>
                  <a:lnTo>
                    <a:pt x="996" y="780"/>
                  </a:lnTo>
                  <a:lnTo>
                    <a:pt x="1002" y="774"/>
                  </a:lnTo>
                  <a:lnTo>
                    <a:pt x="1002" y="768"/>
                  </a:lnTo>
                  <a:lnTo>
                    <a:pt x="1008" y="762"/>
                  </a:lnTo>
                  <a:lnTo>
                    <a:pt x="1008" y="756"/>
                  </a:lnTo>
                  <a:lnTo>
                    <a:pt x="1002" y="750"/>
                  </a:lnTo>
                  <a:lnTo>
                    <a:pt x="1008" y="744"/>
                  </a:lnTo>
                  <a:lnTo>
                    <a:pt x="1008" y="738"/>
                  </a:lnTo>
                  <a:lnTo>
                    <a:pt x="1014" y="738"/>
                  </a:lnTo>
                  <a:lnTo>
                    <a:pt x="1008" y="732"/>
                  </a:lnTo>
                  <a:lnTo>
                    <a:pt x="1014" y="726"/>
                  </a:lnTo>
                  <a:lnTo>
                    <a:pt x="1014" y="720"/>
                  </a:lnTo>
                  <a:lnTo>
                    <a:pt x="1014" y="714"/>
                  </a:lnTo>
                  <a:lnTo>
                    <a:pt x="1020" y="714"/>
                  </a:lnTo>
                  <a:lnTo>
                    <a:pt x="1020" y="708"/>
                  </a:lnTo>
                  <a:lnTo>
                    <a:pt x="1026" y="708"/>
                  </a:lnTo>
                  <a:lnTo>
                    <a:pt x="1026" y="702"/>
                  </a:lnTo>
                  <a:lnTo>
                    <a:pt x="1020" y="708"/>
                  </a:lnTo>
                  <a:lnTo>
                    <a:pt x="1014" y="702"/>
                  </a:lnTo>
                  <a:lnTo>
                    <a:pt x="1014" y="696"/>
                  </a:lnTo>
                  <a:lnTo>
                    <a:pt x="1020" y="690"/>
                  </a:lnTo>
                  <a:lnTo>
                    <a:pt x="1020" y="678"/>
                  </a:lnTo>
                  <a:lnTo>
                    <a:pt x="1032" y="666"/>
                  </a:lnTo>
                  <a:lnTo>
                    <a:pt x="1032" y="660"/>
                  </a:lnTo>
                  <a:lnTo>
                    <a:pt x="1038" y="648"/>
                  </a:lnTo>
                  <a:lnTo>
                    <a:pt x="1044" y="636"/>
                  </a:lnTo>
                  <a:lnTo>
                    <a:pt x="1044" y="630"/>
                  </a:lnTo>
                  <a:lnTo>
                    <a:pt x="1044" y="624"/>
                  </a:lnTo>
                  <a:lnTo>
                    <a:pt x="1044" y="618"/>
                  </a:lnTo>
                  <a:lnTo>
                    <a:pt x="1044" y="612"/>
                  </a:lnTo>
                  <a:lnTo>
                    <a:pt x="1050" y="612"/>
                  </a:lnTo>
                  <a:lnTo>
                    <a:pt x="1050" y="600"/>
                  </a:lnTo>
                  <a:lnTo>
                    <a:pt x="1050" y="594"/>
                  </a:lnTo>
                  <a:lnTo>
                    <a:pt x="1050" y="588"/>
                  </a:lnTo>
                  <a:lnTo>
                    <a:pt x="1056" y="588"/>
                  </a:lnTo>
                  <a:lnTo>
                    <a:pt x="1062" y="588"/>
                  </a:lnTo>
                  <a:lnTo>
                    <a:pt x="1068" y="588"/>
                  </a:lnTo>
                  <a:lnTo>
                    <a:pt x="1062" y="582"/>
                  </a:lnTo>
                  <a:lnTo>
                    <a:pt x="1056" y="582"/>
                  </a:lnTo>
                  <a:lnTo>
                    <a:pt x="1056" y="570"/>
                  </a:lnTo>
                  <a:lnTo>
                    <a:pt x="1062" y="570"/>
                  </a:lnTo>
                  <a:lnTo>
                    <a:pt x="1062" y="564"/>
                  </a:lnTo>
                  <a:lnTo>
                    <a:pt x="1062" y="558"/>
                  </a:lnTo>
                  <a:lnTo>
                    <a:pt x="1068" y="558"/>
                  </a:lnTo>
                  <a:lnTo>
                    <a:pt x="1068" y="564"/>
                  </a:lnTo>
                  <a:lnTo>
                    <a:pt x="1074" y="564"/>
                  </a:lnTo>
                  <a:lnTo>
                    <a:pt x="1074" y="558"/>
                  </a:lnTo>
                  <a:lnTo>
                    <a:pt x="1068" y="558"/>
                  </a:lnTo>
                  <a:lnTo>
                    <a:pt x="1074" y="558"/>
                  </a:lnTo>
                  <a:lnTo>
                    <a:pt x="1074" y="552"/>
                  </a:lnTo>
                  <a:lnTo>
                    <a:pt x="1074" y="546"/>
                  </a:lnTo>
                  <a:lnTo>
                    <a:pt x="1074" y="540"/>
                  </a:lnTo>
                  <a:lnTo>
                    <a:pt x="1074" y="534"/>
                  </a:lnTo>
                  <a:lnTo>
                    <a:pt x="1080" y="534"/>
                  </a:lnTo>
                  <a:lnTo>
                    <a:pt x="1080" y="528"/>
                  </a:lnTo>
                  <a:lnTo>
                    <a:pt x="1086" y="528"/>
                  </a:lnTo>
                  <a:lnTo>
                    <a:pt x="1086" y="534"/>
                  </a:lnTo>
                  <a:lnTo>
                    <a:pt x="1086" y="540"/>
                  </a:lnTo>
                  <a:lnTo>
                    <a:pt x="1086" y="546"/>
                  </a:lnTo>
                  <a:lnTo>
                    <a:pt x="1092" y="552"/>
                  </a:lnTo>
                  <a:lnTo>
                    <a:pt x="1092" y="558"/>
                  </a:lnTo>
                  <a:lnTo>
                    <a:pt x="1098" y="564"/>
                  </a:lnTo>
                  <a:lnTo>
                    <a:pt x="1104" y="564"/>
                  </a:lnTo>
                  <a:lnTo>
                    <a:pt x="1104" y="558"/>
                  </a:lnTo>
                  <a:lnTo>
                    <a:pt x="1104" y="552"/>
                  </a:lnTo>
                  <a:lnTo>
                    <a:pt x="1104" y="546"/>
                  </a:lnTo>
                  <a:lnTo>
                    <a:pt x="1098" y="540"/>
                  </a:lnTo>
                  <a:lnTo>
                    <a:pt x="1098" y="528"/>
                  </a:lnTo>
                  <a:lnTo>
                    <a:pt x="1104" y="522"/>
                  </a:lnTo>
                  <a:lnTo>
                    <a:pt x="1104" y="516"/>
                  </a:lnTo>
                  <a:lnTo>
                    <a:pt x="1104" y="510"/>
                  </a:lnTo>
                  <a:lnTo>
                    <a:pt x="1110" y="510"/>
                  </a:lnTo>
                  <a:lnTo>
                    <a:pt x="1116" y="516"/>
                  </a:lnTo>
                  <a:lnTo>
                    <a:pt x="1122" y="516"/>
                  </a:lnTo>
                  <a:lnTo>
                    <a:pt x="1122" y="522"/>
                  </a:lnTo>
                  <a:lnTo>
                    <a:pt x="1128" y="522"/>
                  </a:lnTo>
                  <a:lnTo>
                    <a:pt x="1134" y="522"/>
                  </a:lnTo>
                  <a:lnTo>
                    <a:pt x="1134" y="528"/>
                  </a:lnTo>
                  <a:lnTo>
                    <a:pt x="1134" y="534"/>
                  </a:lnTo>
                  <a:lnTo>
                    <a:pt x="1140" y="534"/>
                  </a:lnTo>
                  <a:lnTo>
                    <a:pt x="1140" y="540"/>
                  </a:lnTo>
                  <a:lnTo>
                    <a:pt x="1146" y="540"/>
                  </a:lnTo>
                  <a:lnTo>
                    <a:pt x="1146" y="546"/>
                  </a:lnTo>
                  <a:lnTo>
                    <a:pt x="1140" y="546"/>
                  </a:lnTo>
                  <a:lnTo>
                    <a:pt x="1140" y="552"/>
                  </a:lnTo>
                  <a:lnTo>
                    <a:pt x="1134" y="552"/>
                  </a:lnTo>
                  <a:lnTo>
                    <a:pt x="1134" y="558"/>
                  </a:lnTo>
                  <a:lnTo>
                    <a:pt x="1128" y="564"/>
                  </a:lnTo>
                  <a:lnTo>
                    <a:pt x="1134" y="564"/>
                  </a:lnTo>
                  <a:lnTo>
                    <a:pt x="1128" y="564"/>
                  </a:lnTo>
                  <a:lnTo>
                    <a:pt x="1128" y="570"/>
                  </a:lnTo>
                  <a:lnTo>
                    <a:pt x="1128" y="576"/>
                  </a:lnTo>
                  <a:lnTo>
                    <a:pt x="1128" y="582"/>
                  </a:lnTo>
                  <a:lnTo>
                    <a:pt x="1128" y="588"/>
                  </a:lnTo>
                  <a:lnTo>
                    <a:pt x="1128" y="594"/>
                  </a:lnTo>
                  <a:lnTo>
                    <a:pt x="1122" y="600"/>
                  </a:lnTo>
                  <a:lnTo>
                    <a:pt x="1122" y="606"/>
                  </a:lnTo>
                  <a:lnTo>
                    <a:pt x="1122" y="612"/>
                  </a:lnTo>
                  <a:lnTo>
                    <a:pt x="1122" y="618"/>
                  </a:lnTo>
                  <a:lnTo>
                    <a:pt x="1122" y="624"/>
                  </a:lnTo>
                  <a:lnTo>
                    <a:pt x="1122" y="630"/>
                  </a:lnTo>
                  <a:lnTo>
                    <a:pt x="1116" y="636"/>
                  </a:lnTo>
                  <a:lnTo>
                    <a:pt x="1116" y="642"/>
                  </a:lnTo>
                  <a:lnTo>
                    <a:pt x="1116" y="648"/>
                  </a:lnTo>
                  <a:lnTo>
                    <a:pt x="1110" y="654"/>
                  </a:lnTo>
                  <a:lnTo>
                    <a:pt x="1110" y="660"/>
                  </a:lnTo>
                  <a:lnTo>
                    <a:pt x="1116" y="660"/>
                  </a:lnTo>
                  <a:lnTo>
                    <a:pt x="1116" y="654"/>
                  </a:lnTo>
                  <a:lnTo>
                    <a:pt x="1122" y="654"/>
                  </a:lnTo>
                  <a:lnTo>
                    <a:pt x="1122" y="648"/>
                  </a:lnTo>
                  <a:lnTo>
                    <a:pt x="1122" y="654"/>
                  </a:lnTo>
                  <a:lnTo>
                    <a:pt x="1122" y="648"/>
                  </a:lnTo>
                  <a:lnTo>
                    <a:pt x="1122" y="642"/>
                  </a:lnTo>
                  <a:lnTo>
                    <a:pt x="1128" y="642"/>
                  </a:lnTo>
                  <a:lnTo>
                    <a:pt x="1128" y="636"/>
                  </a:lnTo>
                  <a:lnTo>
                    <a:pt x="1128" y="630"/>
                  </a:lnTo>
                  <a:lnTo>
                    <a:pt x="1134" y="618"/>
                  </a:lnTo>
                  <a:lnTo>
                    <a:pt x="1134" y="612"/>
                  </a:lnTo>
                  <a:lnTo>
                    <a:pt x="1134" y="606"/>
                  </a:lnTo>
                  <a:lnTo>
                    <a:pt x="1134" y="600"/>
                  </a:lnTo>
                  <a:lnTo>
                    <a:pt x="1134" y="606"/>
                  </a:lnTo>
                  <a:lnTo>
                    <a:pt x="1140" y="606"/>
                  </a:lnTo>
                  <a:lnTo>
                    <a:pt x="1140" y="600"/>
                  </a:lnTo>
                  <a:lnTo>
                    <a:pt x="1146" y="600"/>
                  </a:lnTo>
                  <a:lnTo>
                    <a:pt x="1152" y="600"/>
                  </a:lnTo>
                  <a:lnTo>
                    <a:pt x="1152" y="594"/>
                  </a:lnTo>
                  <a:lnTo>
                    <a:pt x="1152" y="588"/>
                  </a:lnTo>
                  <a:lnTo>
                    <a:pt x="1152" y="594"/>
                  </a:lnTo>
                  <a:lnTo>
                    <a:pt x="1158" y="594"/>
                  </a:lnTo>
                  <a:lnTo>
                    <a:pt x="1158" y="588"/>
                  </a:lnTo>
                  <a:lnTo>
                    <a:pt x="1158" y="582"/>
                  </a:lnTo>
                  <a:lnTo>
                    <a:pt x="1158" y="576"/>
                  </a:lnTo>
                  <a:lnTo>
                    <a:pt x="1164" y="570"/>
                  </a:lnTo>
                  <a:lnTo>
                    <a:pt x="1164" y="576"/>
                  </a:lnTo>
                  <a:lnTo>
                    <a:pt x="1164" y="570"/>
                  </a:lnTo>
                  <a:lnTo>
                    <a:pt x="1164" y="576"/>
                  </a:lnTo>
                  <a:lnTo>
                    <a:pt x="1164" y="582"/>
                  </a:lnTo>
                  <a:lnTo>
                    <a:pt x="1164" y="588"/>
                  </a:lnTo>
                  <a:lnTo>
                    <a:pt x="1170" y="582"/>
                  </a:lnTo>
                  <a:lnTo>
                    <a:pt x="1170" y="576"/>
                  </a:lnTo>
                  <a:lnTo>
                    <a:pt x="1170" y="582"/>
                  </a:lnTo>
                  <a:lnTo>
                    <a:pt x="1176" y="576"/>
                  </a:lnTo>
                  <a:lnTo>
                    <a:pt x="1170" y="576"/>
                  </a:lnTo>
                  <a:lnTo>
                    <a:pt x="1176" y="570"/>
                  </a:lnTo>
                  <a:lnTo>
                    <a:pt x="1176" y="576"/>
                  </a:lnTo>
                  <a:lnTo>
                    <a:pt x="1176" y="582"/>
                  </a:lnTo>
                  <a:lnTo>
                    <a:pt x="1182" y="582"/>
                  </a:lnTo>
                  <a:lnTo>
                    <a:pt x="1182" y="588"/>
                  </a:lnTo>
                  <a:lnTo>
                    <a:pt x="1182" y="594"/>
                  </a:lnTo>
                  <a:lnTo>
                    <a:pt x="1182" y="600"/>
                  </a:lnTo>
                  <a:lnTo>
                    <a:pt x="1182" y="606"/>
                  </a:lnTo>
                  <a:lnTo>
                    <a:pt x="1188" y="606"/>
                  </a:lnTo>
                  <a:lnTo>
                    <a:pt x="1188" y="612"/>
                  </a:lnTo>
                  <a:lnTo>
                    <a:pt x="1182" y="612"/>
                  </a:lnTo>
                  <a:lnTo>
                    <a:pt x="1182" y="618"/>
                  </a:lnTo>
                  <a:lnTo>
                    <a:pt x="1188" y="612"/>
                  </a:lnTo>
                  <a:lnTo>
                    <a:pt x="1194" y="612"/>
                  </a:lnTo>
                  <a:lnTo>
                    <a:pt x="1200" y="618"/>
                  </a:lnTo>
                  <a:lnTo>
                    <a:pt x="1200" y="624"/>
                  </a:lnTo>
                  <a:lnTo>
                    <a:pt x="1206" y="630"/>
                  </a:lnTo>
                  <a:lnTo>
                    <a:pt x="1206" y="636"/>
                  </a:lnTo>
                  <a:lnTo>
                    <a:pt x="1206" y="642"/>
                  </a:lnTo>
                  <a:lnTo>
                    <a:pt x="1212" y="642"/>
                  </a:lnTo>
                  <a:lnTo>
                    <a:pt x="1218" y="648"/>
                  </a:lnTo>
                  <a:lnTo>
                    <a:pt x="1224" y="648"/>
                  </a:lnTo>
                  <a:lnTo>
                    <a:pt x="1224" y="654"/>
                  </a:lnTo>
                  <a:lnTo>
                    <a:pt x="1230" y="654"/>
                  </a:lnTo>
                  <a:lnTo>
                    <a:pt x="1236" y="654"/>
                  </a:lnTo>
                  <a:lnTo>
                    <a:pt x="1236" y="660"/>
                  </a:lnTo>
                  <a:lnTo>
                    <a:pt x="1236" y="666"/>
                  </a:lnTo>
                  <a:lnTo>
                    <a:pt x="1242" y="672"/>
                  </a:lnTo>
                  <a:lnTo>
                    <a:pt x="1242" y="678"/>
                  </a:lnTo>
                  <a:lnTo>
                    <a:pt x="1236" y="678"/>
                  </a:lnTo>
                  <a:lnTo>
                    <a:pt x="1242" y="684"/>
                  </a:lnTo>
                  <a:lnTo>
                    <a:pt x="1242" y="690"/>
                  </a:lnTo>
                  <a:lnTo>
                    <a:pt x="1242" y="696"/>
                  </a:lnTo>
                  <a:lnTo>
                    <a:pt x="1242" y="702"/>
                  </a:lnTo>
                  <a:lnTo>
                    <a:pt x="1242" y="708"/>
                  </a:lnTo>
                  <a:lnTo>
                    <a:pt x="1242" y="714"/>
                  </a:lnTo>
                  <a:lnTo>
                    <a:pt x="1242" y="720"/>
                  </a:lnTo>
                  <a:lnTo>
                    <a:pt x="1242" y="726"/>
                  </a:lnTo>
                  <a:lnTo>
                    <a:pt x="1242" y="732"/>
                  </a:lnTo>
                  <a:lnTo>
                    <a:pt x="1236" y="738"/>
                  </a:lnTo>
                  <a:lnTo>
                    <a:pt x="1236" y="744"/>
                  </a:lnTo>
                  <a:lnTo>
                    <a:pt x="1236" y="750"/>
                  </a:lnTo>
                  <a:lnTo>
                    <a:pt x="1230" y="750"/>
                  </a:lnTo>
                  <a:lnTo>
                    <a:pt x="1230" y="756"/>
                  </a:lnTo>
                  <a:lnTo>
                    <a:pt x="1224" y="762"/>
                  </a:lnTo>
                  <a:lnTo>
                    <a:pt x="1224" y="768"/>
                  </a:lnTo>
                  <a:lnTo>
                    <a:pt x="1218" y="768"/>
                  </a:lnTo>
                  <a:lnTo>
                    <a:pt x="1218" y="774"/>
                  </a:lnTo>
                  <a:lnTo>
                    <a:pt x="1218" y="768"/>
                  </a:lnTo>
                  <a:lnTo>
                    <a:pt x="1212" y="768"/>
                  </a:lnTo>
                  <a:lnTo>
                    <a:pt x="1206" y="768"/>
                  </a:lnTo>
                  <a:lnTo>
                    <a:pt x="1200" y="774"/>
                  </a:lnTo>
                  <a:lnTo>
                    <a:pt x="1200" y="768"/>
                  </a:lnTo>
                  <a:lnTo>
                    <a:pt x="1194" y="768"/>
                  </a:lnTo>
                  <a:lnTo>
                    <a:pt x="1188" y="774"/>
                  </a:lnTo>
                  <a:lnTo>
                    <a:pt x="1176" y="780"/>
                  </a:lnTo>
                  <a:lnTo>
                    <a:pt x="1176" y="786"/>
                  </a:lnTo>
                  <a:lnTo>
                    <a:pt x="1170" y="786"/>
                  </a:lnTo>
                  <a:lnTo>
                    <a:pt x="1164" y="786"/>
                  </a:lnTo>
                  <a:lnTo>
                    <a:pt x="1158" y="786"/>
                  </a:lnTo>
                  <a:lnTo>
                    <a:pt x="1152" y="792"/>
                  </a:lnTo>
                  <a:lnTo>
                    <a:pt x="1146" y="792"/>
                  </a:lnTo>
                  <a:lnTo>
                    <a:pt x="1140" y="792"/>
                  </a:lnTo>
                  <a:lnTo>
                    <a:pt x="1134" y="798"/>
                  </a:lnTo>
                  <a:lnTo>
                    <a:pt x="1134" y="804"/>
                  </a:lnTo>
                  <a:lnTo>
                    <a:pt x="1128" y="804"/>
                  </a:lnTo>
                  <a:lnTo>
                    <a:pt x="1128" y="810"/>
                  </a:lnTo>
                  <a:lnTo>
                    <a:pt x="1122" y="810"/>
                  </a:lnTo>
                  <a:lnTo>
                    <a:pt x="1128" y="804"/>
                  </a:lnTo>
                  <a:lnTo>
                    <a:pt x="1122" y="798"/>
                  </a:lnTo>
                  <a:lnTo>
                    <a:pt x="1128" y="798"/>
                  </a:lnTo>
                  <a:lnTo>
                    <a:pt x="1122" y="798"/>
                  </a:lnTo>
                  <a:lnTo>
                    <a:pt x="1122" y="792"/>
                  </a:lnTo>
                  <a:lnTo>
                    <a:pt x="1128" y="792"/>
                  </a:lnTo>
                  <a:lnTo>
                    <a:pt x="1122" y="792"/>
                  </a:lnTo>
                  <a:lnTo>
                    <a:pt x="1116" y="792"/>
                  </a:lnTo>
                  <a:lnTo>
                    <a:pt x="1110" y="798"/>
                  </a:lnTo>
                  <a:lnTo>
                    <a:pt x="1104" y="798"/>
                  </a:lnTo>
                  <a:lnTo>
                    <a:pt x="1104" y="792"/>
                  </a:lnTo>
                  <a:lnTo>
                    <a:pt x="1104" y="798"/>
                  </a:lnTo>
                  <a:lnTo>
                    <a:pt x="1098" y="798"/>
                  </a:lnTo>
                  <a:lnTo>
                    <a:pt x="1092" y="798"/>
                  </a:lnTo>
                  <a:lnTo>
                    <a:pt x="1086" y="798"/>
                  </a:lnTo>
                  <a:lnTo>
                    <a:pt x="1080" y="798"/>
                  </a:lnTo>
                  <a:lnTo>
                    <a:pt x="1074" y="798"/>
                  </a:lnTo>
                  <a:lnTo>
                    <a:pt x="1068" y="798"/>
                  </a:lnTo>
                  <a:lnTo>
                    <a:pt x="1062" y="798"/>
                  </a:lnTo>
                  <a:lnTo>
                    <a:pt x="1056" y="804"/>
                  </a:lnTo>
                  <a:lnTo>
                    <a:pt x="1050" y="810"/>
                  </a:lnTo>
                  <a:lnTo>
                    <a:pt x="1044" y="816"/>
                  </a:lnTo>
                  <a:lnTo>
                    <a:pt x="1038" y="822"/>
                  </a:lnTo>
                  <a:lnTo>
                    <a:pt x="1032" y="822"/>
                  </a:lnTo>
                  <a:lnTo>
                    <a:pt x="1032" y="828"/>
                  </a:lnTo>
                  <a:lnTo>
                    <a:pt x="1026" y="828"/>
                  </a:lnTo>
                  <a:lnTo>
                    <a:pt x="1020" y="834"/>
                  </a:lnTo>
                  <a:lnTo>
                    <a:pt x="1014" y="840"/>
                  </a:lnTo>
                  <a:lnTo>
                    <a:pt x="1014" y="846"/>
                  </a:lnTo>
                  <a:lnTo>
                    <a:pt x="1008" y="846"/>
                  </a:lnTo>
                  <a:lnTo>
                    <a:pt x="1008" y="852"/>
                  </a:lnTo>
                  <a:lnTo>
                    <a:pt x="1002" y="852"/>
                  </a:lnTo>
                  <a:lnTo>
                    <a:pt x="996" y="852"/>
                  </a:lnTo>
                  <a:lnTo>
                    <a:pt x="996" y="846"/>
                  </a:lnTo>
                  <a:lnTo>
                    <a:pt x="990" y="852"/>
                  </a:lnTo>
                  <a:lnTo>
                    <a:pt x="984" y="852"/>
                  </a:lnTo>
                  <a:lnTo>
                    <a:pt x="984" y="858"/>
                  </a:lnTo>
                  <a:lnTo>
                    <a:pt x="984" y="852"/>
                  </a:lnTo>
                  <a:lnTo>
                    <a:pt x="978" y="852"/>
                  </a:lnTo>
                  <a:lnTo>
                    <a:pt x="978" y="846"/>
                  </a:lnTo>
                  <a:lnTo>
                    <a:pt x="978" y="840"/>
                  </a:lnTo>
                  <a:lnTo>
                    <a:pt x="978" y="834"/>
                  </a:lnTo>
                  <a:lnTo>
                    <a:pt x="972" y="834"/>
                  </a:lnTo>
                  <a:close/>
                  <a:moveTo>
                    <a:pt x="606" y="288"/>
                  </a:moveTo>
                  <a:lnTo>
                    <a:pt x="612" y="282"/>
                  </a:lnTo>
                  <a:lnTo>
                    <a:pt x="612" y="276"/>
                  </a:lnTo>
                  <a:lnTo>
                    <a:pt x="618" y="276"/>
                  </a:lnTo>
                  <a:lnTo>
                    <a:pt x="618" y="270"/>
                  </a:lnTo>
                  <a:lnTo>
                    <a:pt x="624" y="270"/>
                  </a:lnTo>
                  <a:lnTo>
                    <a:pt x="630" y="276"/>
                  </a:lnTo>
                  <a:lnTo>
                    <a:pt x="630" y="270"/>
                  </a:lnTo>
                  <a:lnTo>
                    <a:pt x="630" y="264"/>
                  </a:lnTo>
                  <a:lnTo>
                    <a:pt x="636" y="264"/>
                  </a:lnTo>
                  <a:lnTo>
                    <a:pt x="642" y="264"/>
                  </a:lnTo>
                  <a:lnTo>
                    <a:pt x="642" y="270"/>
                  </a:lnTo>
                  <a:lnTo>
                    <a:pt x="648" y="270"/>
                  </a:lnTo>
                  <a:lnTo>
                    <a:pt x="660" y="270"/>
                  </a:lnTo>
                  <a:lnTo>
                    <a:pt x="666" y="270"/>
                  </a:lnTo>
                  <a:lnTo>
                    <a:pt x="666" y="264"/>
                  </a:lnTo>
                  <a:lnTo>
                    <a:pt x="660" y="264"/>
                  </a:lnTo>
                  <a:lnTo>
                    <a:pt x="660" y="258"/>
                  </a:lnTo>
                  <a:lnTo>
                    <a:pt x="648" y="258"/>
                  </a:lnTo>
                  <a:lnTo>
                    <a:pt x="642" y="258"/>
                  </a:lnTo>
                  <a:lnTo>
                    <a:pt x="636" y="252"/>
                  </a:lnTo>
                  <a:lnTo>
                    <a:pt x="630" y="252"/>
                  </a:lnTo>
                  <a:lnTo>
                    <a:pt x="630" y="246"/>
                  </a:lnTo>
                  <a:lnTo>
                    <a:pt x="636" y="246"/>
                  </a:lnTo>
                  <a:lnTo>
                    <a:pt x="642" y="240"/>
                  </a:lnTo>
                  <a:lnTo>
                    <a:pt x="648" y="240"/>
                  </a:lnTo>
                  <a:lnTo>
                    <a:pt x="648" y="234"/>
                  </a:lnTo>
                  <a:lnTo>
                    <a:pt x="654" y="234"/>
                  </a:lnTo>
                  <a:lnTo>
                    <a:pt x="666" y="234"/>
                  </a:lnTo>
                  <a:lnTo>
                    <a:pt x="672" y="234"/>
                  </a:lnTo>
                  <a:lnTo>
                    <a:pt x="672" y="228"/>
                  </a:lnTo>
                  <a:lnTo>
                    <a:pt x="672" y="210"/>
                  </a:lnTo>
                  <a:lnTo>
                    <a:pt x="672" y="198"/>
                  </a:lnTo>
                  <a:lnTo>
                    <a:pt x="672" y="192"/>
                  </a:lnTo>
                  <a:lnTo>
                    <a:pt x="678" y="180"/>
                  </a:lnTo>
                  <a:lnTo>
                    <a:pt x="684" y="180"/>
                  </a:lnTo>
                  <a:lnTo>
                    <a:pt x="684" y="174"/>
                  </a:lnTo>
                  <a:lnTo>
                    <a:pt x="690" y="168"/>
                  </a:lnTo>
                  <a:lnTo>
                    <a:pt x="690" y="162"/>
                  </a:lnTo>
                  <a:lnTo>
                    <a:pt x="690" y="156"/>
                  </a:lnTo>
                  <a:lnTo>
                    <a:pt x="696" y="156"/>
                  </a:lnTo>
                  <a:lnTo>
                    <a:pt x="696" y="150"/>
                  </a:lnTo>
                  <a:lnTo>
                    <a:pt x="690" y="150"/>
                  </a:lnTo>
                  <a:lnTo>
                    <a:pt x="690" y="156"/>
                  </a:lnTo>
                  <a:lnTo>
                    <a:pt x="690" y="162"/>
                  </a:lnTo>
                  <a:lnTo>
                    <a:pt x="684" y="162"/>
                  </a:lnTo>
                  <a:lnTo>
                    <a:pt x="672" y="162"/>
                  </a:lnTo>
                  <a:lnTo>
                    <a:pt x="672" y="156"/>
                  </a:lnTo>
                  <a:lnTo>
                    <a:pt x="672" y="162"/>
                  </a:lnTo>
                  <a:lnTo>
                    <a:pt x="666" y="168"/>
                  </a:lnTo>
                  <a:lnTo>
                    <a:pt x="660" y="168"/>
                  </a:lnTo>
                  <a:lnTo>
                    <a:pt x="660" y="162"/>
                  </a:lnTo>
                  <a:lnTo>
                    <a:pt x="660" y="156"/>
                  </a:lnTo>
                  <a:lnTo>
                    <a:pt x="666" y="156"/>
                  </a:lnTo>
                  <a:lnTo>
                    <a:pt x="666" y="150"/>
                  </a:lnTo>
                  <a:lnTo>
                    <a:pt x="672" y="144"/>
                  </a:lnTo>
                  <a:lnTo>
                    <a:pt x="672" y="138"/>
                  </a:lnTo>
                  <a:lnTo>
                    <a:pt x="672" y="132"/>
                  </a:lnTo>
                  <a:lnTo>
                    <a:pt x="678" y="126"/>
                  </a:lnTo>
                  <a:lnTo>
                    <a:pt x="684" y="120"/>
                  </a:lnTo>
                  <a:lnTo>
                    <a:pt x="690" y="120"/>
                  </a:lnTo>
                  <a:lnTo>
                    <a:pt x="684" y="114"/>
                  </a:lnTo>
                  <a:lnTo>
                    <a:pt x="684" y="108"/>
                  </a:lnTo>
                  <a:lnTo>
                    <a:pt x="684" y="102"/>
                  </a:lnTo>
                  <a:lnTo>
                    <a:pt x="690" y="96"/>
                  </a:lnTo>
                  <a:lnTo>
                    <a:pt x="696" y="96"/>
                  </a:lnTo>
                  <a:lnTo>
                    <a:pt x="702" y="90"/>
                  </a:lnTo>
                  <a:lnTo>
                    <a:pt x="702" y="84"/>
                  </a:lnTo>
                  <a:lnTo>
                    <a:pt x="708" y="84"/>
                  </a:lnTo>
                  <a:lnTo>
                    <a:pt x="714" y="90"/>
                  </a:lnTo>
                  <a:lnTo>
                    <a:pt x="714" y="78"/>
                  </a:lnTo>
                  <a:lnTo>
                    <a:pt x="720" y="78"/>
                  </a:lnTo>
                  <a:lnTo>
                    <a:pt x="726" y="72"/>
                  </a:lnTo>
                  <a:lnTo>
                    <a:pt x="732" y="72"/>
                  </a:lnTo>
                  <a:lnTo>
                    <a:pt x="732" y="66"/>
                  </a:lnTo>
                  <a:lnTo>
                    <a:pt x="738" y="66"/>
                  </a:lnTo>
                  <a:lnTo>
                    <a:pt x="738" y="60"/>
                  </a:lnTo>
                  <a:lnTo>
                    <a:pt x="744" y="60"/>
                  </a:lnTo>
                  <a:lnTo>
                    <a:pt x="750" y="60"/>
                  </a:lnTo>
                  <a:lnTo>
                    <a:pt x="750" y="54"/>
                  </a:lnTo>
                  <a:lnTo>
                    <a:pt x="762" y="54"/>
                  </a:lnTo>
                  <a:lnTo>
                    <a:pt x="762" y="48"/>
                  </a:lnTo>
                  <a:lnTo>
                    <a:pt x="768" y="48"/>
                  </a:lnTo>
                  <a:lnTo>
                    <a:pt x="768" y="42"/>
                  </a:lnTo>
                  <a:lnTo>
                    <a:pt x="774" y="36"/>
                  </a:lnTo>
                  <a:lnTo>
                    <a:pt x="780" y="36"/>
                  </a:lnTo>
                  <a:lnTo>
                    <a:pt x="780" y="30"/>
                  </a:lnTo>
                  <a:lnTo>
                    <a:pt x="786" y="24"/>
                  </a:lnTo>
                  <a:lnTo>
                    <a:pt x="792" y="24"/>
                  </a:lnTo>
                  <a:lnTo>
                    <a:pt x="798" y="24"/>
                  </a:lnTo>
                  <a:lnTo>
                    <a:pt x="798" y="18"/>
                  </a:lnTo>
                  <a:lnTo>
                    <a:pt x="780" y="18"/>
                  </a:lnTo>
                  <a:lnTo>
                    <a:pt x="774" y="18"/>
                  </a:lnTo>
                  <a:lnTo>
                    <a:pt x="774" y="12"/>
                  </a:lnTo>
                  <a:lnTo>
                    <a:pt x="774" y="6"/>
                  </a:lnTo>
                  <a:lnTo>
                    <a:pt x="792" y="0"/>
                  </a:lnTo>
                  <a:lnTo>
                    <a:pt x="798" y="0"/>
                  </a:lnTo>
                  <a:lnTo>
                    <a:pt x="804" y="6"/>
                  </a:lnTo>
                  <a:lnTo>
                    <a:pt x="810" y="6"/>
                  </a:lnTo>
                  <a:lnTo>
                    <a:pt x="810" y="12"/>
                  </a:lnTo>
                  <a:lnTo>
                    <a:pt x="816" y="12"/>
                  </a:lnTo>
                  <a:lnTo>
                    <a:pt x="816" y="18"/>
                  </a:lnTo>
                  <a:lnTo>
                    <a:pt x="816" y="24"/>
                  </a:lnTo>
                  <a:lnTo>
                    <a:pt x="810" y="30"/>
                  </a:lnTo>
                  <a:lnTo>
                    <a:pt x="810" y="36"/>
                  </a:lnTo>
                  <a:lnTo>
                    <a:pt x="816" y="30"/>
                  </a:lnTo>
                  <a:lnTo>
                    <a:pt x="822" y="30"/>
                  </a:lnTo>
                  <a:lnTo>
                    <a:pt x="822" y="36"/>
                  </a:lnTo>
                  <a:lnTo>
                    <a:pt x="822" y="42"/>
                  </a:lnTo>
                  <a:lnTo>
                    <a:pt x="828" y="42"/>
                  </a:lnTo>
                  <a:lnTo>
                    <a:pt x="828" y="48"/>
                  </a:lnTo>
                  <a:lnTo>
                    <a:pt x="828" y="54"/>
                  </a:lnTo>
                  <a:lnTo>
                    <a:pt x="834" y="54"/>
                  </a:lnTo>
                  <a:lnTo>
                    <a:pt x="834" y="60"/>
                  </a:lnTo>
                  <a:lnTo>
                    <a:pt x="840" y="60"/>
                  </a:lnTo>
                  <a:lnTo>
                    <a:pt x="840" y="66"/>
                  </a:lnTo>
                  <a:lnTo>
                    <a:pt x="840" y="78"/>
                  </a:lnTo>
                  <a:lnTo>
                    <a:pt x="846" y="84"/>
                  </a:lnTo>
                  <a:lnTo>
                    <a:pt x="852" y="84"/>
                  </a:lnTo>
                  <a:lnTo>
                    <a:pt x="852" y="90"/>
                  </a:lnTo>
                  <a:lnTo>
                    <a:pt x="846" y="90"/>
                  </a:lnTo>
                  <a:lnTo>
                    <a:pt x="846" y="96"/>
                  </a:lnTo>
                  <a:lnTo>
                    <a:pt x="852" y="108"/>
                  </a:lnTo>
                  <a:lnTo>
                    <a:pt x="858" y="108"/>
                  </a:lnTo>
                  <a:lnTo>
                    <a:pt x="858" y="114"/>
                  </a:lnTo>
                  <a:lnTo>
                    <a:pt x="864" y="114"/>
                  </a:lnTo>
                  <a:lnTo>
                    <a:pt x="870" y="120"/>
                  </a:lnTo>
                  <a:lnTo>
                    <a:pt x="870" y="126"/>
                  </a:lnTo>
                  <a:lnTo>
                    <a:pt x="876" y="132"/>
                  </a:lnTo>
                  <a:lnTo>
                    <a:pt x="882" y="132"/>
                  </a:lnTo>
                  <a:lnTo>
                    <a:pt x="882" y="138"/>
                  </a:lnTo>
                  <a:lnTo>
                    <a:pt x="888" y="138"/>
                  </a:lnTo>
                  <a:lnTo>
                    <a:pt x="894" y="144"/>
                  </a:lnTo>
                  <a:lnTo>
                    <a:pt x="900" y="144"/>
                  </a:lnTo>
                  <a:lnTo>
                    <a:pt x="900" y="150"/>
                  </a:lnTo>
                  <a:lnTo>
                    <a:pt x="906" y="156"/>
                  </a:lnTo>
                  <a:lnTo>
                    <a:pt x="906" y="162"/>
                  </a:lnTo>
                  <a:lnTo>
                    <a:pt x="900" y="162"/>
                  </a:lnTo>
                  <a:lnTo>
                    <a:pt x="900" y="168"/>
                  </a:lnTo>
                  <a:lnTo>
                    <a:pt x="906" y="168"/>
                  </a:lnTo>
                  <a:lnTo>
                    <a:pt x="906" y="174"/>
                  </a:lnTo>
                  <a:lnTo>
                    <a:pt x="906" y="180"/>
                  </a:lnTo>
                  <a:lnTo>
                    <a:pt x="900" y="180"/>
                  </a:lnTo>
                  <a:lnTo>
                    <a:pt x="900" y="186"/>
                  </a:lnTo>
                  <a:lnTo>
                    <a:pt x="894" y="186"/>
                  </a:lnTo>
                  <a:lnTo>
                    <a:pt x="888" y="186"/>
                  </a:lnTo>
                  <a:lnTo>
                    <a:pt x="888" y="192"/>
                  </a:lnTo>
                  <a:lnTo>
                    <a:pt x="882" y="192"/>
                  </a:lnTo>
                  <a:lnTo>
                    <a:pt x="876" y="192"/>
                  </a:lnTo>
                  <a:lnTo>
                    <a:pt x="870" y="192"/>
                  </a:lnTo>
                  <a:lnTo>
                    <a:pt x="870" y="198"/>
                  </a:lnTo>
                  <a:lnTo>
                    <a:pt x="870" y="204"/>
                  </a:lnTo>
                  <a:lnTo>
                    <a:pt x="870" y="210"/>
                  </a:lnTo>
                  <a:lnTo>
                    <a:pt x="870" y="216"/>
                  </a:lnTo>
                  <a:lnTo>
                    <a:pt x="864" y="222"/>
                  </a:lnTo>
                  <a:lnTo>
                    <a:pt x="864" y="228"/>
                  </a:lnTo>
                  <a:lnTo>
                    <a:pt x="870" y="228"/>
                  </a:lnTo>
                  <a:lnTo>
                    <a:pt x="870" y="234"/>
                  </a:lnTo>
                  <a:lnTo>
                    <a:pt x="870" y="240"/>
                  </a:lnTo>
                  <a:lnTo>
                    <a:pt x="870" y="252"/>
                  </a:lnTo>
                  <a:lnTo>
                    <a:pt x="870" y="258"/>
                  </a:lnTo>
                  <a:lnTo>
                    <a:pt x="870" y="264"/>
                  </a:lnTo>
                  <a:lnTo>
                    <a:pt x="870" y="270"/>
                  </a:lnTo>
                  <a:lnTo>
                    <a:pt x="876" y="270"/>
                  </a:lnTo>
                  <a:lnTo>
                    <a:pt x="882" y="270"/>
                  </a:lnTo>
                  <a:lnTo>
                    <a:pt x="882" y="276"/>
                  </a:lnTo>
                  <a:lnTo>
                    <a:pt x="882" y="282"/>
                  </a:lnTo>
                  <a:lnTo>
                    <a:pt x="882" y="288"/>
                  </a:lnTo>
                  <a:lnTo>
                    <a:pt x="876" y="288"/>
                  </a:lnTo>
                  <a:lnTo>
                    <a:pt x="876" y="294"/>
                  </a:lnTo>
                  <a:lnTo>
                    <a:pt x="876" y="300"/>
                  </a:lnTo>
                  <a:lnTo>
                    <a:pt x="870" y="300"/>
                  </a:lnTo>
                  <a:lnTo>
                    <a:pt x="864" y="300"/>
                  </a:lnTo>
                  <a:lnTo>
                    <a:pt x="858" y="300"/>
                  </a:lnTo>
                  <a:lnTo>
                    <a:pt x="852" y="300"/>
                  </a:lnTo>
                  <a:lnTo>
                    <a:pt x="846" y="300"/>
                  </a:lnTo>
                  <a:lnTo>
                    <a:pt x="840" y="300"/>
                  </a:lnTo>
                  <a:lnTo>
                    <a:pt x="834" y="306"/>
                  </a:lnTo>
                  <a:lnTo>
                    <a:pt x="828" y="306"/>
                  </a:lnTo>
                  <a:lnTo>
                    <a:pt x="822" y="306"/>
                  </a:lnTo>
                  <a:lnTo>
                    <a:pt x="816" y="306"/>
                  </a:lnTo>
                  <a:lnTo>
                    <a:pt x="810" y="306"/>
                  </a:lnTo>
                  <a:lnTo>
                    <a:pt x="798" y="306"/>
                  </a:lnTo>
                  <a:lnTo>
                    <a:pt x="792" y="306"/>
                  </a:lnTo>
                  <a:lnTo>
                    <a:pt x="792" y="312"/>
                  </a:lnTo>
                  <a:lnTo>
                    <a:pt x="786" y="312"/>
                  </a:lnTo>
                  <a:lnTo>
                    <a:pt x="780" y="318"/>
                  </a:lnTo>
                  <a:lnTo>
                    <a:pt x="774" y="318"/>
                  </a:lnTo>
                  <a:lnTo>
                    <a:pt x="768" y="324"/>
                  </a:lnTo>
                  <a:lnTo>
                    <a:pt x="762" y="318"/>
                  </a:lnTo>
                  <a:lnTo>
                    <a:pt x="756" y="324"/>
                  </a:lnTo>
                  <a:lnTo>
                    <a:pt x="750" y="324"/>
                  </a:lnTo>
                  <a:lnTo>
                    <a:pt x="744" y="324"/>
                  </a:lnTo>
                  <a:lnTo>
                    <a:pt x="744" y="330"/>
                  </a:lnTo>
                  <a:lnTo>
                    <a:pt x="744" y="336"/>
                  </a:lnTo>
                  <a:lnTo>
                    <a:pt x="738" y="342"/>
                  </a:lnTo>
                  <a:lnTo>
                    <a:pt x="732" y="342"/>
                  </a:lnTo>
                  <a:lnTo>
                    <a:pt x="726" y="348"/>
                  </a:lnTo>
                  <a:lnTo>
                    <a:pt x="720" y="354"/>
                  </a:lnTo>
                  <a:lnTo>
                    <a:pt x="714" y="354"/>
                  </a:lnTo>
                  <a:lnTo>
                    <a:pt x="708" y="360"/>
                  </a:lnTo>
                  <a:lnTo>
                    <a:pt x="708" y="354"/>
                  </a:lnTo>
                  <a:lnTo>
                    <a:pt x="702" y="354"/>
                  </a:lnTo>
                  <a:lnTo>
                    <a:pt x="696" y="354"/>
                  </a:lnTo>
                  <a:lnTo>
                    <a:pt x="696" y="348"/>
                  </a:lnTo>
                  <a:lnTo>
                    <a:pt x="690" y="348"/>
                  </a:lnTo>
                  <a:lnTo>
                    <a:pt x="684" y="342"/>
                  </a:lnTo>
                  <a:lnTo>
                    <a:pt x="678" y="336"/>
                  </a:lnTo>
                  <a:lnTo>
                    <a:pt x="666" y="324"/>
                  </a:lnTo>
                  <a:lnTo>
                    <a:pt x="660" y="324"/>
                  </a:lnTo>
                  <a:lnTo>
                    <a:pt x="654" y="324"/>
                  </a:lnTo>
                  <a:lnTo>
                    <a:pt x="648" y="324"/>
                  </a:lnTo>
                  <a:lnTo>
                    <a:pt x="642" y="324"/>
                  </a:lnTo>
                  <a:lnTo>
                    <a:pt x="642" y="318"/>
                  </a:lnTo>
                  <a:lnTo>
                    <a:pt x="648" y="318"/>
                  </a:lnTo>
                  <a:lnTo>
                    <a:pt x="642" y="312"/>
                  </a:lnTo>
                  <a:lnTo>
                    <a:pt x="648" y="312"/>
                  </a:lnTo>
                  <a:lnTo>
                    <a:pt x="654" y="318"/>
                  </a:lnTo>
                  <a:lnTo>
                    <a:pt x="660" y="318"/>
                  </a:lnTo>
                  <a:lnTo>
                    <a:pt x="666" y="318"/>
                  </a:lnTo>
                  <a:lnTo>
                    <a:pt x="672" y="324"/>
                  </a:lnTo>
                  <a:lnTo>
                    <a:pt x="678" y="324"/>
                  </a:lnTo>
                  <a:lnTo>
                    <a:pt x="678" y="318"/>
                  </a:lnTo>
                  <a:lnTo>
                    <a:pt x="672" y="312"/>
                  </a:lnTo>
                  <a:lnTo>
                    <a:pt x="666" y="312"/>
                  </a:lnTo>
                  <a:lnTo>
                    <a:pt x="660" y="312"/>
                  </a:lnTo>
                  <a:lnTo>
                    <a:pt x="660" y="306"/>
                  </a:lnTo>
                  <a:lnTo>
                    <a:pt x="654" y="306"/>
                  </a:lnTo>
                  <a:lnTo>
                    <a:pt x="648" y="300"/>
                  </a:lnTo>
                  <a:lnTo>
                    <a:pt x="648" y="294"/>
                  </a:lnTo>
                  <a:lnTo>
                    <a:pt x="642" y="294"/>
                  </a:lnTo>
                  <a:lnTo>
                    <a:pt x="636" y="294"/>
                  </a:lnTo>
                  <a:lnTo>
                    <a:pt x="636" y="288"/>
                  </a:lnTo>
                  <a:lnTo>
                    <a:pt x="630" y="288"/>
                  </a:lnTo>
                  <a:lnTo>
                    <a:pt x="624" y="294"/>
                  </a:lnTo>
                  <a:lnTo>
                    <a:pt x="618" y="294"/>
                  </a:lnTo>
                  <a:lnTo>
                    <a:pt x="618" y="288"/>
                  </a:lnTo>
                  <a:lnTo>
                    <a:pt x="618" y="282"/>
                  </a:lnTo>
                  <a:lnTo>
                    <a:pt x="618" y="288"/>
                  </a:lnTo>
                  <a:lnTo>
                    <a:pt x="612" y="294"/>
                  </a:lnTo>
                  <a:lnTo>
                    <a:pt x="606" y="294"/>
                  </a:lnTo>
                  <a:lnTo>
                    <a:pt x="606" y="288"/>
                  </a:lnTo>
                  <a:close/>
                  <a:moveTo>
                    <a:pt x="588" y="342"/>
                  </a:moveTo>
                  <a:lnTo>
                    <a:pt x="600" y="342"/>
                  </a:lnTo>
                  <a:lnTo>
                    <a:pt x="606" y="342"/>
                  </a:lnTo>
                  <a:lnTo>
                    <a:pt x="612" y="342"/>
                  </a:lnTo>
                  <a:lnTo>
                    <a:pt x="618" y="342"/>
                  </a:lnTo>
                  <a:lnTo>
                    <a:pt x="630" y="336"/>
                  </a:lnTo>
                  <a:lnTo>
                    <a:pt x="630" y="342"/>
                  </a:lnTo>
                  <a:lnTo>
                    <a:pt x="636" y="348"/>
                  </a:lnTo>
                  <a:lnTo>
                    <a:pt x="642" y="348"/>
                  </a:lnTo>
                  <a:lnTo>
                    <a:pt x="648" y="348"/>
                  </a:lnTo>
                  <a:lnTo>
                    <a:pt x="654" y="348"/>
                  </a:lnTo>
                  <a:lnTo>
                    <a:pt x="654" y="354"/>
                  </a:lnTo>
                  <a:lnTo>
                    <a:pt x="660" y="354"/>
                  </a:lnTo>
                  <a:lnTo>
                    <a:pt x="666" y="354"/>
                  </a:lnTo>
                  <a:lnTo>
                    <a:pt x="678" y="354"/>
                  </a:lnTo>
                  <a:lnTo>
                    <a:pt x="684" y="354"/>
                  </a:lnTo>
                  <a:lnTo>
                    <a:pt x="684" y="360"/>
                  </a:lnTo>
                  <a:lnTo>
                    <a:pt x="690" y="360"/>
                  </a:lnTo>
                  <a:lnTo>
                    <a:pt x="696" y="360"/>
                  </a:lnTo>
                  <a:lnTo>
                    <a:pt x="702" y="366"/>
                  </a:lnTo>
                  <a:lnTo>
                    <a:pt x="708" y="372"/>
                  </a:lnTo>
                  <a:lnTo>
                    <a:pt x="708" y="378"/>
                  </a:lnTo>
                  <a:lnTo>
                    <a:pt x="714" y="378"/>
                  </a:lnTo>
                  <a:lnTo>
                    <a:pt x="720" y="378"/>
                  </a:lnTo>
                  <a:lnTo>
                    <a:pt x="720" y="384"/>
                  </a:lnTo>
                  <a:lnTo>
                    <a:pt x="714" y="390"/>
                  </a:lnTo>
                  <a:lnTo>
                    <a:pt x="714" y="396"/>
                  </a:lnTo>
                  <a:lnTo>
                    <a:pt x="708" y="396"/>
                  </a:lnTo>
                  <a:lnTo>
                    <a:pt x="714" y="396"/>
                  </a:lnTo>
                  <a:lnTo>
                    <a:pt x="714" y="402"/>
                  </a:lnTo>
                  <a:lnTo>
                    <a:pt x="708" y="402"/>
                  </a:lnTo>
                  <a:lnTo>
                    <a:pt x="708" y="408"/>
                  </a:lnTo>
                  <a:lnTo>
                    <a:pt x="702" y="408"/>
                  </a:lnTo>
                  <a:lnTo>
                    <a:pt x="702" y="414"/>
                  </a:lnTo>
                  <a:lnTo>
                    <a:pt x="696" y="414"/>
                  </a:lnTo>
                  <a:lnTo>
                    <a:pt x="696" y="420"/>
                  </a:lnTo>
                  <a:lnTo>
                    <a:pt x="690" y="420"/>
                  </a:lnTo>
                  <a:lnTo>
                    <a:pt x="690" y="426"/>
                  </a:lnTo>
                  <a:lnTo>
                    <a:pt x="684" y="432"/>
                  </a:lnTo>
                  <a:lnTo>
                    <a:pt x="678" y="432"/>
                  </a:lnTo>
                  <a:lnTo>
                    <a:pt x="678" y="438"/>
                  </a:lnTo>
                  <a:lnTo>
                    <a:pt x="672" y="438"/>
                  </a:lnTo>
                  <a:lnTo>
                    <a:pt x="666" y="438"/>
                  </a:lnTo>
                  <a:lnTo>
                    <a:pt x="660" y="438"/>
                  </a:lnTo>
                  <a:lnTo>
                    <a:pt x="660" y="444"/>
                  </a:lnTo>
                  <a:lnTo>
                    <a:pt x="654" y="444"/>
                  </a:lnTo>
                  <a:lnTo>
                    <a:pt x="648" y="444"/>
                  </a:lnTo>
                  <a:lnTo>
                    <a:pt x="642" y="438"/>
                  </a:lnTo>
                  <a:lnTo>
                    <a:pt x="636" y="438"/>
                  </a:lnTo>
                  <a:lnTo>
                    <a:pt x="630" y="444"/>
                  </a:lnTo>
                  <a:lnTo>
                    <a:pt x="624" y="444"/>
                  </a:lnTo>
                  <a:lnTo>
                    <a:pt x="618" y="444"/>
                  </a:lnTo>
                  <a:lnTo>
                    <a:pt x="618" y="450"/>
                  </a:lnTo>
                  <a:lnTo>
                    <a:pt x="624" y="450"/>
                  </a:lnTo>
                  <a:lnTo>
                    <a:pt x="618" y="450"/>
                  </a:lnTo>
                  <a:lnTo>
                    <a:pt x="612" y="444"/>
                  </a:lnTo>
                  <a:lnTo>
                    <a:pt x="600" y="438"/>
                  </a:lnTo>
                  <a:lnTo>
                    <a:pt x="600" y="432"/>
                  </a:lnTo>
                  <a:lnTo>
                    <a:pt x="600" y="426"/>
                  </a:lnTo>
                  <a:lnTo>
                    <a:pt x="606" y="426"/>
                  </a:lnTo>
                  <a:lnTo>
                    <a:pt x="612" y="426"/>
                  </a:lnTo>
                  <a:lnTo>
                    <a:pt x="618" y="426"/>
                  </a:lnTo>
                  <a:lnTo>
                    <a:pt x="630" y="426"/>
                  </a:lnTo>
                  <a:lnTo>
                    <a:pt x="624" y="426"/>
                  </a:lnTo>
                  <a:lnTo>
                    <a:pt x="624" y="432"/>
                  </a:lnTo>
                  <a:lnTo>
                    <a:pt x="630" y="432"/>
                  </a:lnTo>
                  <a:lnTo>
                    <a:pt x="630" y="438"/>
                  </a:lnTo>
                  <a:lnTo>
                    <a:pt x="636" y="432"/>
                  </a:lnTo>
                  <a:lnTo>
                    <a:pt x="636" y="426"/>
                  </a:lnTo>
                  <a:lnTo>
                    <a:pt x="642" y="426"/>
                  </a:lnTo>
                  <a:lnTo>
                    <a:pt x="648" y="426"/>
                  </a:lnTo>
                  <a:lnTo>
                    <a:pt x="648" y="420"/>
                  </a:lnTo>
                  <a:lnTo>
                    <a:pt x="648" y="414"/>
                  </a:lnTo>
                  <a:lnTo>
                    <a:pt x="642" y="408"/>
                  </a:lnTo>
                  <a:lnTo>
                    <a:pt x="636" y="408"/>
                  </a:lnTo>
                  <a:lnTo>
                    <a:pt x="630" y="408"/>
                  </a:lnTo>
                  <a:lnTo>
                    <a:pt x="624" y="408"/>
                  </a:lnTo>
                  <a:lnTo>
                    <a:pt x="624" y="402"/>
                  </a:lnTo>
                  <a:lnTo>
                    <a:pt x="618" y="402"/>
                  </a:lnTo>
                  <a:lnTo>
                    <a:pt x="612" y="402"/>
                  </a:lnTo>
                  <a:lnTo>
                    <a:pt x="606" y="402"/>
                  </a:lnTo>
                  <a:lnTo>
                    <a:pt x="600" y="402"/>
                  </a:lnTo>
                  <a:lnTo>
                    <a:pt x="594" y="396"/>
                  </a:lnTo>
                  <a:lnTo>
                    <a:pt x="594" y="390"/>
                  </a:lnTo>
                  <a:lnTo>
                    <a:pt x="600" y="390"/>
                  </a:lnTo>
                  <a:lnTo>
                    <a:pt x="600" y="384"/>
                  </a:lnTo>
                  <a:lnTo>
                    <a:pt x="600" y="390"/>
                  </a:lnTo>
                  <a:lnTo>
                    <a:pt x="606" y="384"/>
                  </a:lnTo>
                  <a:lnTo>
                    <a:pt x="606" y="378"/>
                  </a:lnTo>
                  <a:lnTo>
                    <a:pt x="600" y="378"/>
                  </a:lnTo>
                  <a:lnTo>
                    <a:pt x="600" y="372"/>
                  </a:lnTo>
                  <a:lnTo>
                    <a:pt x="594" y="372"/>
                  </a:lnTo>
                  <a:lnTo>
                    <a:pt x="594" y="366"/>
                  </a:lnTo>
                  <a:lnTo>
                    <a:pt x="600" y="366"/>
                  </a:lnTo>
                  <a:lnTo>
                    <a:pt x="600" y="360"/>
                  </a:lnTo>
                  <a:lnTo>
                    <a:pt x="594" y="354"/>
                  </a:lnTo>
                  <a:lnTo>
                    <a:pt x="594" y="348"/>
                  </a:lnTo>
                  <a:lnTo>
                    <a:pt x="588" y="342"/>
                  </a:lnTo>
                  <a:close/>
                  <a:moveTo>
                    <a:pt x="1524" y="1548"/>
                  </a:moveTo>
                  <a:lnTo>
                    <a:pt x="1524" y="1542"/>
                  </a:lnTo>
                  <a:lnTo>
                    <a:pt x="1530" y="1542"/>
                  </a:lnTo>
                  <a:lnTo>
                    <a:pt x="1536" y="1542"/>
                  </a:lnTo>
                  <a:lnTo>
                    <a:pt x="1542" y="1542"/>
                  </a:lnTo>
                  <a:lnTo>
                    <a:pt x="1542" y="1548"/>
                  </a:lnTo>
                  <a:lnTo>
                    <a:pt x="1542" y="1542"/>
                  </a:lnTo>
                  <a:lnTo>
                    <a:pt x="1548" y="1542"/>
                  </a:lnTo>
                  <a:lnTo>
                    <a:pt x="1548" y="1536"/>
                  </a:lnTo>
                  <a:lnTo>
                    <a:pt x="1548" y="1530"/>
                  </a:lnTo>
                  <a:lnTo>
                    <a:pt x="1548" y="1524"/>
                  </a:lnTo>
                  <a:lnTo>
                    <a:pt x="1548" y="1518"/>
                  </a:lnTo>
                  <a:lnTo>
                    <a:pt x="1548" y="1512"/>
                  </a:lnTo>
                  <a:lnTo>
                    <a:pt x="1554" y="1512"/>
                  </a:lnTo>
                  <a:lnTo>
                    <a:pt x="1560" y="1512"/>
                  </a:lnTo>
                  <a:lnTo>
                    <a:pt x="1566" y="1512"/>
                  </a:lnTo>
                  <a:lnTo>
                    <a:pt x="1572" y="1512"/>
                  </a:lnTo>
                  <a:lnTo>
                    <a:pt x="1578" y="1518"/>
                  </a:lnTo>
                  <a:lnTo>
                    <a:pt x="1584" y="1518"/>
                  </a:lnTo>
                  <a:lnTo>
                    <a:pt x="1590" y="1518"/>
                  </a:lnTo>
                  <a:lnTo>
                    <a:pt x="1596" y="1518"/>
                  </a:lnTo>
                  <a:lnTo>
                    <a:pt x="1602" y="1518"/>
                  </a:lnTo>
                  <a:lnTo>
                    <a:pt x="1608" y="1518"/>
                  </a:lnTo>
                  <a:lnTo>
                    <a:pt x="1608" y="1524"/>
                  </a:lnTo>
                  <a:lnTo>
                    <a:pt x="1614" y="1524"/>
                  </a:lnTo>
                  <a:lnTo>
                    <a:pt x="1614" y="1530"/>
                  </a:lnTo>
                  <a:lnTo>
                    <a:pt x="1614" y="1536"/>
                  </a:lnTo>
                  <a:lnTo>
                    <a:pt x="1614" y="1542"/>
                  </a:lnTo>
                  <a:lnTo>
                    <a:pt x="1614" y="1548"/>
                  </a:lnTo>
                  <a:lnTo>
                    <a:pt x="1608" y="1548"/>
                  </a:lnTo>
                  <a:lnTo>
                    <a:pt x="1608" y="1554"/>
                  </a:lnTo>
                  <a:lnTo>
                    <a:pt x="1602" y="1560"/>
                  </a:lnTo>
                  <a:lnTo>
                    <a:pt x="1602" y="1566"/>
                  </a:lnTo>
                  <a:lnTo>
                    <a:pt x="1602" y="1572"/>
                  </a:lnTo>
                  <a:lnTo>
                    <a:pt x="1596" y="1572"/>
                  </a:lnTo>
                  <a:lnTo>
                    <a:pt x="1590" y="1572"/>
                  </a:lnTo>
                  <a:lnTo>
                    <a:pt x="1590" y="1578"/>
                  </a:lnTo>
                  <a:lnTo>
                    <a:pt x="1590" y="1584"/>
                  </a:lnTo>
                  <a:lnTo>
                    <a:pt x="1584" y="1590"/>
                  </a:lnTo>
                  <a:lnTo>
                    <a:pt x="1578" y="1590"/>
                  </a:lnTo>
                  <a:lnTo>
                    <a:pt x="1572" y="1584"/>
                  </a:lnTo>
                  <a:lnTo>
                    <a:pt x="1566" y="1584"/>
                  </a:lnTo>
                  <a:lnTo>
                    <a:pt x="1560" y="1584"/>
                  </a:lnTo>
                  <a:lnTo>
                    <a:pt x="1560" y="1578"/>
                  </a:lnTo>
                  <a:lnTo>
                    <a:pt x="1554" y="1578"/>
                  </a:lnTo>
                  <a:lnTo>
                    <a:pt x="1554" y="1572"/>
                  </a:lnTo>
                  <a:lnTo>
                    <a:pt x="1548" y="1572"/>
                  </a:lnTo>
                  <a:lnTo>
                    <a:pt x="1548" y="1566"/>
                  </a:lnTo>
                  <a:lnTo>
                    <a:pt x="1542" y="1566"/>
                  </a:lnTo>
                  <a:lnTo>
                    <a:pt x="1536" y="1566"/>
                  </a:lnTo>
                  <a:lnTo>
                    <a:pt x="1536" y="1560"/>
                  </a:lnTo>
                  <a:lnTo>
                    <a:pt x="1536" y="1566"/>
                  </a:lnTo>
                  <a:lnTo>
                    <a:pt x="1536" y="1560"/>
                  </a:lnTo>
                  <a:lnTo>
                    <a:pt x="1530" y="1560"/>
                  </a:lnTo>
                  <a:lnTo>
                    <a:pt x="1524" y="1554"/>
                  </a:lnTo>
                  <a:lnTo>
                    <a:pt x="1524" y="1548"/>
                  </a:lnTo>
                  <a:close/>
                  <a:moveTo>
                    <a:pt x="546" y="48"/>
                  </a:moveTo>
                  <a:lnTo>
                    <a:pt x="546" y="42"/>
                  </a:lnTo>
                  <a:lnTo>
                    <a:pt x="546" y="36"/>
                  </a:lnTo>
                  <a:lnTo>
                    <a:pt x="546" y="30"/>
                  </a:lnTo>
                  <a:lnTo>
                    <a:pt x="552" y="30"/>
                  </a:lnTo>
                  <a:lnTo>
                    <a:pt x="564" y="24"/>
                  </a:lnTo>
                  <a:lnTo>
                    <a:pt x="570" y="24"/>
                  </a:lnTo>
                  <a:lnTo>
                    <a:pt x="582" y="24"/>
                  </a:lnTo>
                  <a:lnTo>
                    <a:pt x="588" y="18"/>
                  </a:lnTo>
                  <a:lnTo>
                    <a:pt x="594" y="24"/>
                  </a:lnTo>
                  <a:lnTo>
                    <a:pt x="600" y="24"/>
                  </a:lnTo>
                  <a:lnTo>
                    <a:pt x="606" y="24"/>
                  </a:lnTo>
                  <a:lnTo>
                    <a:pt x="612" y="30"/>
                  </a:lnTo>
                  <a:lnTo>
                    <a:pt x="618" y="30"/>
                  </a:lnTo>
                  <a:lnTo>
                    <a:pt x="618" y="42"/>
                  </a:lnTo>
                  <a:lnTo>
                    <a:pt x="618" y="48"/>
                  </a:lnTo>
                  <a:lnTo>
                    <a:pt x="618" y="54"/>
                  </a:lnTo>
                  <a:lnTo>
                    <a:pt x="612" y="54"/>
                  </a:lnTo>
                  <a:lnTo>
                    <a:pt x="612" y="60"/>
                  </a:lnTo>
                  <a:lnTo>
                    <a:pt x="606" y="66"/>
                  </a:lnTo>
                  <a:lnTo>
                    <a:pt x="600" y="72"/>
                  </a:lnTo>
                  <a:lnTo>
                    <a:pt x="594" y="72"/>
                  </a:lnTo>
                  <a:lnTo>
                    <a:pt x="588" y="72"/>
                  </a:lnTo>
                  <a:lnTo>
                    <a:pt x="582" y="72"/>
                  </a:lnTo>
                  <a:lnTo>
                    <a:pt x="576" y="72"/>
                  </a:lnTo>
                  <a:lnTo>
                    <a:pt x="570" y="72"/>
                  </a:lnTo>
                  <a:lnTo>
                    <a:pt x="570" y="66"/>
                  </a:lnTo>
                  <a:lnTo>
                    <a:pt x="564" y="66"/>
                  </a:lnTo>
                  <a:lnTo>
                    <a:pt x="558" y="66"/>
                  </a:lnTo>
                  <a:lnTo>
                    <a:pt x="552" y="60"/>
                  </a:lnTo>
                  <a:lnTo>
                    <a:pt x="546" y="60"/>
                  </a:lnTo>
                  <a:lnTo>
                    <a:pt x="546" y="54"/>
                  </a:lnTo>
                  <a:lnTo>
                    <a:pt x="546" y="48"/>
                  </a:lnTo>
                  <a:close/>
                  <a:moveTo>
                    <a:pt x="780" y="1056"/>
                  </a:moveTo>
                  <a:lnTo>
                    <a:pt x="786" y="1056"/>
                  </a:lnTo>
                  <a:lnTo>
                    <a:pt x="786" y="1050"/>
                  </a:lnTo>
                  <a:lnTo>
                    <a:pt x="792" y="1044"/>
                  </a:lnTo>
                  <a:lnTo>
                    <a:pt x="798" y="1044"/>
                  </a:lnTo>
                  <a:lnTo>
                    <a:pt x="798" y="1038"/>
                  </a:lnTo>
                  <a:lnTo>
                    <a:pt x="804" y="1038"/>
                  </a:lnTo>
                  <a:lnTo>
                    <a:pt x="810" y="1038"/>
                  </a:lnTo>
                  <a:lnTo>
                    <a:pt x="810" y="1032"/>
                  </a:lnTo>
                  <a:lnTo>
                    <a:pt x="816" y="1032"/>
                  </a:lnTo>
                  <a:lnTo>
                    <a:pt x="822" y="1026"/>
                  </a:lnTo>
                  <a:lnTo>
                    <a:pt x="828" y="1020"/>
                  </a:lnTo>
                  <a:lnTo>
                    <a:pt x="828" y="1014"/>
                  </a:lnTo>
                  <a:lnTo>
                    <a:pt x="834" y="1014"/>
                  </a:lnTo>
                  <a:lnTo>
                    <a:pt x="840" y="1014"/>
                  </a:lnTo>
                  <a:lnTo>
                    <a:pt x="840" y="1020"/>
                  </a:lnTo>
                  <a:lnTo>
                    <a:pt x="840" y="1026"/>
                  </a:lnTo>
                  <a:lnTo>
                    <a:pt x="840" y="1032"/>
                  </a:lnTo>
                  <a:lnTo>
                    <a:pt x="834" y="1038"/>
                  </a:lnTo>
                  <a:lnTo>
                    <a:pt x="828" y="1044"/>
                  </a:lnTo>
                  <a:lnTo>
                    <a:pt x="828" y="1050"/>
                  </a:lnTo>
                  <a:lnTo>
                    <a:pt x="828" y="1056"/>
                  </a:lnTo>
                  <a:lnTo>
                    <a:pt x="822" y="1056"/>
                  </a:lnTo>
                  <a:lnTo>
                    <a:pt x="822" y="1050"/>
                  </a:lnTo>
                  <a:lnTo>
                    <a:pt x="822" y="1056"/>
                  </a:lnTo>
                  <a:lnTo>
                    <a:pt x="816" y="1056"/>
                  </a:lnTo>
                  <a:lnTo>
                    <a:pt x="822" y="1056"/>
                  </a:lnTo>
                  <a:lnTo>
                    <a:pt x="816" y="1062"/>
                  </a:lnTo>
                  <a:lnTo>
                    <a:pt x="816" y="1056"/>
                  </a:lnTo>
                  <a:lnTo>
                    <a:pt x="810" y="1062"/>
                  </a:lnTo>
                  <a:lnTo>
                    <a:pt x="804" y="1068"/>
                  </a:lnTo>
                  <a:lnTo>
                    <a:pt x="798" y="1068"/>
                  </a:lnTo>
                  <a:lnTo>
                    <a:pt x="804" y="1068"/>
                  </a:lnTo>
                  <a:lnTo>
                    <a:pt x="804" y="1062"/>
                  </a:lnTo>
                  <a:lnTo>
                    <a:pt x="804" y="1056"/>
                  </a:lnTo>
                  <a:lnTo>
                    <a:pt x="810" y="1056"/>
                  </a:lnTo>
                  <a:lnTo>
                    <a:pt x="816" y="1050"/>
                  </a:lnTo>
                  <a:lnTo>
                    <a:pt x="810" y="1050"/>
                  </a:lnTo>
                  <a:lnTo>
                    <a:pt x="804" y="1050"/>
                  </a:lnTo>
                  <a:lnTo>
                    <a:pt x="804" y="1056"/>
                  </a:lnTo>
                  <a:lnTo>
                    <a:pt x="798" y="1056"/>
                  </a:lnTo>
                  <a:lnTo>
                    <a:pt x="792" y="1056"/>
                  </a:lnTo>
                  <a:lnTo>
                    <a:pt x="786" y="1050"/>
                  </a:lnTo>
                  <a:lnTo>
                    <a:pt x="786" y="1056"/>
                  </a:lnTo>
                  <a:lnTo>
                    <a:pt x="780" y="1056"/>
                  </a:lnTo>
                  <a:close/>
                  <a:moveTo>
                    <a:pt x="1290" y="810"/>
                  </a:moveTo>
                  <a:lnTo>
                    <a:pt x="1296" y="810"/>
                  </a:lnTo>
                  <a:lnTo>
                    <a:pt x="1296" y="804"/>
                  </a:lnTo>
                  <a:lnTo>
                    <a:pt x="1302" y="804"/>
                  </a:lnTo>
                  <a:lnTo>
                    <a:pt x="1308" y="804"/>
                  </a:lnTo>
                  <a:lnTo>
                    <a:pt x="1314" y="798"/>
                  </a:lnTo>
                  <a:lnTo>
                    <a:pt x="1314" y="804"/>
                  </a:lnTo>
                  <a:lnTo>
                    <a:pt x="1320" y="804"/>
                  </a:lnTo>
                  <a:lnTo>
                    <a:pt x="1314" y="804"/>
                  </a:lnTo>
                  <a:lnTo>
                    <a:pt x="1320" y="804"/>
                  </a:lnTo>
                  <a:lnTo>
                    <a:pt x="1326" y="804"/>
                  </a:lnTo>
                  <a:lnTo>
                    <a:pt x="1332" y="804"/>
                  </a:lnTo>
                  <a:lnTo>
                    <a:pt x="1338" y="804"/>
                  </a:lnTo>
                  <a:lnTo>
                    <a:pt x="1338" y="798"/>
                  </a:lnTo>
                  <a:lnTo>
                    <a:pt x="1344" y="798"/>
                  </a:lnTo>
                  <a:lnTo>
                    <a:pt x="1350" y="798"/>
                  </a:lnTo>
                  <a:lnTo>
                    <a:pt x="1350" y="804"/>
                  </a:lnTo>
                  <a:lnTo>
                    <a:pt x="1350" y="810"/>
                  </a:lnTo>
                  <a:lnTo>
                    <a:pt x="1350" y="816"/>
                  </a:lnTo>
                  <a:lnTo>
                    <a:pt x="1350" y="822"/>
                  </a:lnTo>
                  <a:lnTo>
                    <a:pt x="1344" y="834"/>
                  </a:lnTo>
                  <a:lnTo>
                    <a:pt x="1344" y="822"/>
                  </a:lnTo>
                  <a:lnTo>
                    <a:pt x="1338" y="822"/>
                  </a:lnTo>
                  <a:lnTo>
                    <a:pt x="1338" y="828"/>
                  </a:lnTo>
                  <a:lnTo>
                    <a:pt x="1338" y="822"/>
                  </a:lnTo>
                  <a:lnTo>
                    <a:pt x="1332" y="822"/>
                  </a:lnTo>
                  <a:lnTo>
                    <a:pt x="1326" y="822"/>
                  </a:lnTo>
                  <a:lnTo>
                    <a:pt x="1314" y="816"/>
                  </a:lnTo>
                  <a:lnTo>
                    <a:pt x="1308" y="816"/>
                  </a:lnTo>
                  <a:lnTo>
                    <a:pt x="1302" y="816"/>
                  </a:lnTo>
                  <a:lnTo>
                    <a:pt x="1296" y="810"/>
                  </a:lnTo>
                  <a:lnTo>
                    <a:pt x="1290" y="810"/>
                  </a:lnTo>
                  <a:close/>
                  <a:moveTo>
                    <a:pt x="1278" y="792"/>
                  </a:moveTo>
                  <a:lnTo>
                    <a:pt x="1278" y="786"/>
                  </a:lnTo>
                  <a:lnTo>
                    <a:pt x="1278" y="780"/>
                  </a:lnTo>
                  <a:lnTo>
                    <a:pt x="1284" y="780"/>
                  </a:lnTo>
                  <a:lnTo>
                    <a:pt x="1290" y="780"/>
                  </a:lnTo>
                  <a:lnTo>
                    <a:pt x="1290" y="786"/>
                  </a:lnTo>
                  <a:lnTo>
                    <a:pt x="1290" y="780"/>
                  </a:lnTo>
                  <a:lnTo>
                    <a:pt x="1296" y="780"/>
                  </a:lnTo>
                  <a:lnTo>
                    <a:pt x="1296" y="774"/>
                  </a:lnTo>
                  <a:lnTo>
                    <a:pt x="1296" y="768"/>
                  </a:lnTo>
                  <a:lnTo>
                    <a:pt x="1296" y="762"/>
                  </a:lnTo>
                  <a:lnTo>
                    <a:pt x="1302" y="768"/>
                  </a:lnTo>
                  <a:lnTo>
                    <a:pt x="1302" y="762"/>
                  </a:lnTo>
                  <a:lnTo>
                    <a:pt x="1302" y="768"/>
                  </a:lnTo>
                  <a:lnTo>
                    <a:pt x="1308" y="768"/>
                  </a:lnTo>
                  <a:lnTo>
                    <a:pt x="1308" y="774"/>
                  </a:lnTo>
                  <a:lnTo>
                    <a:pt x="1308" y="780"/>
                  </a:lnTo>
                  <a:lnTo>
                    <a:pt x="1308" y="786"/>
                  </a:lnTo>
                  <a:lnTo>
                    <a:pt x="1308" y="780"/>
                  </a:lnTo>
                  <a:lnTo>
                    <a:pt x="1302" y="780"/>
                  </a:lnTo>
                  <a:lnTo>
                    <a:pt x="1296" y="780"/>
                  </a:lnTo>
                  <a:lnTo>
                    <a:pt x="1296" y="786"/>
                  </a:lnTo>
                  <a:lnTo>
                    <a:pt x="1302" y="786"/>
                  </a:lnTo>
                  <a:lnTo>
                    <a:pt x="1296" y="786"/>
                  </a:lnTo>
                  <a:lnTo>
                    <a:pt x="1296" y="792"/>
                  </a:lnTo>
                  <a:lnTo>
                    <a:pt x="1296" y="786"/>
                  </a:lnTo>
                  <a:lnTo>
                    <a:pt x="1296" y="792"/>
                  </a:lnTo>
                  <a:lnTo>
                    <a:pt x="1290" y="792"/>
                  </a:lnTo>
                  <a:lnTo>
                    <a:pt x="1290" y="798"/>
                  </a:lnTo>
                  <a:lnTo>
                    <a:pt x="1284" y="798"/>
                  </a:lnTo>
                  <a:lnTo>
                    <a:pt x="1278" y="792"/>
                  </a:lnTo>
                  <a:close/>
                  <a:moveTo>
                    <a:pt x="1326" y="1008"/>
                  </a:moveTo>
                  <a:lnTo>
                    <a:pt x="1332" y="1008"/>
                  </a:lnTo>
                  <a:lnTo>
                    <a:pt x="1332" y="1002"/>
                  </a:lnTo>
                  <a:lnTo>
                    <a:pt x="1338" y="1002"/>
                  </a:lnTo>
                  <a:lnTo>
                    <a:pt x="1338" y="996"/>
                  </a:lnTo>
                  <a:lnTo>
                    <a:pt x="1332" y="996"/>
                  </a:lnTo>
                  <a:lnTo>
                    <a:pt x="1332" y="990"/>
                  </a:lnTo>
                  <a:lnTo>
                    <a:pt x="1332" y="984"/>
                  </a:lnTo>
                  <a:lnTo>
                    <a:pt x="1338" y="984"/>
                  </a:lnTo>
                  <a:lnTo>
                    <a:pt x="1344" y="984"/>
                  </a:lnTo>
                  <a:lnTo>
                    <a:pt x="1344" y="990"/>
                  </a:lnTo>
                  <a:lnTo>
                    <a:pt x="1350" y="990"/>
                  </a:lnTo>
                  <a:lnTo>
                    <a:pt x="1350" y="984"/>
                  </a:lnTo>
                  <a:lnTo>
                    <a:pt x="1350" y="990"/>
                  </a:lnTo>
                  <a:lnTo>
                    <a:pt x="1350" y="996"/>
                  </a:lnTo>
                  <a:lnTo>
                    <a:pt x="1350" y="1002"/>
                  </a:lnTo>
                  <a:lnTo>
                    <a:pt x="1344" y="1002"/>
                  </a:lnTo>
                  <a:lnTo>
                    <a:pt x="1338" y="1002"/>
                  </a:lnTo>
                  <a:lnTo>
                    <a:pt x="1338" y="1008"/>
                  </a:lnTo>
                  <a:lnTo>
                    <a:pt x="1332" y="1008"/>
                  </a:lnTo>
                  <a:lnTo>
                    <a:pt x="1326" y="1008"/>
                  </a:lnTo>
                  <a:close/>
                  <a:moveTo>
                    <a:pt x="810" y="1134"/>
                  </a:moveTo>
                  <a:lnTo>
                    <a:pt x="810" y="1128"/>
                  </a:lnTo>
                  <a:lnTo>
                    <a:pt x="810" y="1122"/>
                  </a:lnTo>
                  <a:lnTo>
                    <a:pt x="816" y="1122"/>
                  </a:lnTo>
                  <a:lnTo>
                    <a:pt x="822" y="1122"/>
                  </a:lnTo>
                  <a:lnTo>
                    <a:pt x="822" y="1116"/>
                  </a:lnTo>
                  <a:lnTo>
                    <a:pt x="828" y="1116"/>
                  </a:lnTo>
                  <a:lnTo>
                    <a:pt x="834" y="1116"/>
                  </a:lnTo>
                  <a:lnTo>
                    <a:pt x="834" y="1122"/>
                  </a:lnTo>
                  <a:lnTo>
                    <a:pt x="828" y="1122"/>
                  </a:lnTo>
                  <a:lnTo>
                    <a:pt x="828" y="1128"/>
                  </a:lnTo>
                  <a:lnTo>
                    <a:pt x="822" y="1134"/>
                  </a:lnTo>
                  <a:lnTo>
                    <a:pt x="822" y="1128"/>
                  </a:lnTo>
                  <a:lnTo>
                    <a:pt x="822" y="1134"/>
                  </a:lnTo>
                  <a:lnTo>
                    <a:pt x="822" y="1128"/>
                  </a:lnTo>
                  <a:lnTo>
                    <a:pt x="822" y="1134"/>
                  </a:lnTo>
                  <a:lnTo>
                    <a:pt x="816" y="1134"/>
                  </a:lnTo>
                  <a:lnTo>
                    <a:pt x="816" y="1128"/>
                  </a:lnTo>
                  <a:lnTo>
                    <a:pt x="810" y="1134"/>
                  </a:lnTo>
                  <a:close/>
                  <a:moveTo>
                    <a:pt x="762" y="1122"/>
                  </a:moveTo>
                  <a:lnTo>
                    <a:pt x="768" y="1122"/>
                  </a:lnTo>
                  <a:lnTo>
                    <a:pt x="768" y="1116"/>
                  </a:lnTo>
                  <a:lnTo>
                    <a:pt x="774" y="1116"/>
                  </a:lnTo>
                  <a:lnTo>
                    <a:pt x="774" y="1122"/>
                  </a:lnTo>
                  <a:lnTo>
                    <a:pt x="774" y="1116"/>
                  </a:lnTo>
                  <a:lnTo>
                    <a:pt x="774" y="1110"/>
                  </a:lnTo>
                  <a:lnTo>
                    <a:pt x="780" y="1116"/>
                  </a:lnTo>
                  <a:lnTo>
                    <a:pt x="780" y="1122"/>
                  </a:lnTo>
                  <a:lnTo>
                    <a:pt x="786" y="1122"/>
                  </a:lnTo>
                  <a:lnTo>
                    <a:pt x="786" y="1128"/>
                  </a:lnTo>
                  <a:lnTo>
                    <a:pt x="780" y="1128"/>
                  </a:lnTo>
                  <a:lnTo>
                    <a:pt x="774" y="1128"/>
                  </a:lnTo>
                  <a:lnTo>
                    <a:pt x="768" y="1128"/>
                  </a:lnTo>
                  <a:lnTo>
                    <a:pt x="762" y="1128"/>
                  </a:lnTo>
                  <a:lnTo>
                    <a:pt x="762" y="1122"/>
                  </a:lnTo>
                  <a:close/>
                  <a:moveTo>
                    <a:pt x="1296" y="972"/>
                  </a:moveTo>
                  <a:lnTo>
                    <a:pt x="1296" y="966"/>
                  </a:lnTo>
                  <a:lnTo>
                    <a:pt x="1302" y="966"/>
                  </a:lnTo>
                  <a:lnTo>
                    <a:pt x="1302" y="960"/>
                  </a:lnTo>
                  <a:lnTo>
                    <a:pt x="1308" y="954"/>
                  </a:lnTo>
                  <a:lnTo>
                    <a:pt x="1314" y="960"/>
                  </a:lnTo>
                  <a:lnTo>
                    <a:pt x="1314" y="954"/>
                  </a:lnTo>
                  <a:lnTo>
                    <a:pt x="1314" y="960"/>
                  </a:lnTo>
                  <a:lnTo>
                    <a:pt x="1314" y="966"/>
                  </a:lnTo>
                  <a:lnTo>
                    <a:pt x="1308" y="966"/>
                  </a:lnTo>
                  <a:lnTo>
                    <a:pt x="1308" y="972"/>
                  </a:lnTo>
                  <a:lnTo>
                    <a:pt x="1302" y="972"/>
                  </a:lnTo>
                  <a:lnTo>
                    <a:pt x="1296" y="972"/>
                  </a:lnTo>
                  <a:close/>
                  <a:moveTo>
                    <a:pt x="744" y="1212"/>
                  </a:moveTo>
                  <a:lnTo>
                    <a:pt x="744" y="1206"/>
                  </a:lnTo>
                  <a:lnTo>
                    <a:pt x="750" y="1206"/>
                  </a:lnTo>
                  <a:lnTo>
                    <a:pt x="756" y="1206"/>
                  </a:lnTo>
                  <a:lnTo>
                    <a:pt x="762" y="1206"/>
                  </a:lnTo>
                  <a:lnTo>
                    <a:pt x="762" y="1200"/>
                  </a:lnTo>
                  <a:lnTo>
                    <a:pt x="756" y="1200"/>
                  </a:lnTo>
                  <a:lnTo>
                    <a:pt x="762" y="1200"/>
                  </a:lnTo>
                  <a:lnTo>
                    <a:pt x="768" y="1200"/>
                  </a:lnTo>
                  <a:lnTo>
                    <a:pt x="768" y="1194"/>
                  </a:lnTo>
                  <a:lnTo>
                    <a:pt x="768" y="1200"/>
                  </a:lnTo>
                  <a:lnTo>
                    <a:pt x="762" y="1200"/>
                  </a:lnTo>
                  <a:lnTo>
                    <a:pt x="762" y="1206"/>
                  </a:lnTo>
                  <a:lnTo>
                    <a:pt x="768" y="1206"/>
                  </a:lnTo>
                  <a:lnTo>
                    <a:pt x="762" y="1206"/>
                  </a:lnTo>
                  <a:lnTo>
                    <a:pt x="762" y="1212"/>
                  </a:lnTo>
                  <a:lnTo>
                    <a:pt x="756" y="1212"/>
                  </a:lnTo>
                  <a:lnTo>
                    <a:pt x="750" y="1212"/>
                  </a:lnTo>
                  <a:lnTo>
                    <a:pt x="744" y="1212"/>
                  </a:lnTo>
                  <a:close/>
                  <a:moveTo>
                    <a:pt x="810" y="1074"/>
                  </a:moveTo>
                  <a:lnTo>
                    <a:pt x="810" y="1068"/>
                  </a:lnTo>
                  <a:lnTo>
                    <a:pt x="810" y="1074"/>
                  </a:lnTo>
                  <a:lnTo>
                    <a:pt x="816" y="1074"/>
                  </a:lnTo>
                  <a:lnTo>
                    <a:pt x="816" y="1068"/>
                  </a:lnTo>
                  <a:lnTo>
                    <a:pt x="822" y="1068"/>
                  </a:lnTo>
                  <a:lnTo>
                    <a:pt x="828" y="1068"/>
                  </a:lnTo>
                  <a:lnTo>
                    <a:pt x="834" y="1068"/>
                  </a:lnTo>
                  <a:lnTo>
                    <a:pt x="834" y="1074"/>
                  </a:lnTo>
                  <a:lnTo>
                    <a:pt x="828" y="1074"/>
                  </a:lnTo>
                  <a:lnTo>
                    <a:pt x="822" y="1080"/>
                  </a:lnTo>
                  <a:lnTo>
                    <a:pt x="816" y="1080"/>
                  </a:lnTo>
                  <a:lnTo>
                    <a:pt x="816" y="1074"/>
                  </a:lnTo>
                  <a:lnTo>
                    <a:pt x="810" y="1074"/>
                  </a:lnTo>
                  <a:close/>
                  <a:moveTo>
                    <a:pt x="1602" y="1176"/>
                  </a:moveTo>
                  <a:lnTo>
                    <a:pt x="1602" y="1170"/>
                  </a:lnTo>
                  <a:lnTo>
                    <a:pt x="1602" y="1164"/>
                  </a:lnTo>
                  <a:lnTo>
                    <a:pt x="1608" y="1164"/>
                  </a:lnTo>
                  <a:lnTo>
                    <a:pt x="1608" y="1170"/>
                  </a:lnTo>
                  <a:lnTo>
                    <a:pt x="1608" y="1176"/>
                  </a:lnTo>
                  <a:lnTo>
                    <a:pt x="1614" y="1176"/>
                  </a:lnTo>
                  <a:lnTo>
                    <a:pt x="1614" y="1170"/>
                  </a:lnTo>
                  <a:lnTo>
                    <a:pt x="1614" y="1176"/>
                  </a:lnTo>
                  <a:lnTo>
                    <a:pt x="1614" y="1182"/>
                  </a:lnTo>
                  <a:lnTo>
                    <a:pt x="1602" y="1182"/>
                  </a:lnTo>
                  <a:lnTo>
                    <a:pt x="1602" y="1176"/>
                  </a:lnTo>
                  <a:close/>
                  <a:moveTo>
                    <a:pt x="792" y="1122"/>
                  </a:moveTo>
                  <a:lnTo>
                    <a:pt x="792" y="1116"/>
                  </a:lnTo>
                  <a:lnTo>
                    <a:pt x="798" y="1116"/>
                  </a:lnTo>
                  <a:lnTo>
                    <a:pt x="792" y="1116"/>
                  </a:lnTo>
                  <a:lnTo>
                    <a:pt x="798" y="1122"/>
                  </a:lnTo>
                  <a:lnTo>
                    <a:pt x="798" y="1116"/>
                  </a:lnTo>
                  <a:lnTo>
                    <a:pt x="804" y="1116"/>
                  </a:lnTo>
                  <a:lnTo>
                    <a:pt x="810" y="1116"/>
                  </a:lnTo>
                  <a:lnTo>
                    <a:pt x="810" y="1122"/>
                  </a:lnTo>
                  <a:lnTo>
                    <a:pt x="804" y="1122"/>
                  </a:lnTo>
                  <a:lnTo>
                    <a:pt x="804" y="1128"/>
                  </a:lnTo>
                  <a:lnTo>
                    <a:pt x="792" y="1128"/>
                  </a:lnTo>
                  <a:lnTo>
                    <a:pt x="792" y="1122"/>
                  </a:lnTo>
                  <a:close/>
                  <a:moveTo>
                    <a:pt x="870" y="1104"/>
                  </a:moveTo>
                  <a:lnTo>
                    <a:pt x="876" y="1098"/>
                  </a:lnTo>
                  <a:lnTo>
                    <a:pt x="882" y="1098"/>
                  </a:lnTo>
                  <a:lnTo>
                    <a:pt x="888" y="1098"/>
                  </a:lnTo>
                  <a:lnTo>
                    <a:pt x="894" y="1098"/>
                  </a:lnTo>
                  <a:lnTo>
                    <a:pt x="888" y="1104"/>
                  </a:lnTo>
                  <a:lnTo>
                    <a:pt x="882" y="1104"/>
                  </a:lnTo>
                  <a:lnTo>
                    <a:pt x="882" y="1110"/>
                  </a:lnTo>
                  <a:lnTo>
                    <a:pt x="882" y="1104"/>
                  </a:lnTo>
                  <a:lnTo>
                    <a:pt x="870" y="1104"/>
                  </a:lnTo>
                  <a:close/>
                  <a:moveTo>
                    <a:pt x="876" y="1116"/>
                  </a:moveTo>
                  <a:lnTo>
                    <a:pt x="882" y="1116"/>
                  </a:lnTo>
                  <a:lnTo>
                    <a:pt x="882" y="1110"/>
                  </a:lnTo>
                  <a:lnTo>
                    <a:pt x="876" y="1110"/>
                  </a:lnTo>
                  <a:lnTo>
                    <a:pt x="882" y="1110"/>
                  </a:lnTo>
                  <a:lnTo>
                    <a:pt x="882" y="1116"/>
                  </a:lnTo>
                  <a:lnTo>
                    <a:pt x="882" y="1122"/>
                  </a:lnTo>
                  <a:lnTo>
                    <a:pt x="882" y="1128"/>
                  </a:lnTo>
                  <a:lnTo>
                    <a:pt x="882" y="1134"/>
                  </a:lnTo>
                  <a:lnTo>
                    <a:pt x="888" y="1134"/>
                  </a:lnTo>
                  <a:lnTo>
                    <a:pt x="888" y="1140"/>
                  </a:lnTo>
                  <a:lnTo>
                    <a:pt x="882" y="1134"/>
                  </a:lnTo>
                  <a:lnTo>
                    <a:pt x="876" y="1134"/>
                  </a:lnTo>
                  <a:lnTo>
                    <a:pt x="882" y="1134"/>
                  </a:lnTo>
                  <a:lnTo>
                    <a:pt x="882" y="1128"/>
                  </a:lnTo>
                  <a:lnTo>
                    <a:pt x="882" y="1122"/>
                  </a:lnTo>
                  <a:lnTo>
                    <a:pt x="876" y="1122"/>
                  </a:lnTo>
                  <a:lnTo>
                    <a:pt x="876" y="1116"/>
                  </a:lnTo>
                  <a:close/>
                  <a:moveTo>
                    <a:pt x="1260" y="1002"/>
                  </a:moveTo>
                  <a:lnTo>
                    <a:pt x="1266" y="996"/>
                  </a:lnTo>
                  <a:lnTo>
                    <a:pt x="1266" y="990"/>
                  </a:lnTo>
                  <a:lnTo>
                    <a:pt x="1272" y="990"/>
                  </a:lnTo>
                  <a:lnTo>
                    <a:pt x="1272" y="996"/>
                  </a:lnTo>
                  <a:lnTo>
                    <a:pt x="1266" y="1002"/>
                  </a:lnTo>
                  <a:lnTo>
                    <a:pt x="1260" y="1002"/>
                  </a:lnTo>
                  <a:close/>
                  <a:moveTo>
                    <a:pt x="768" y="1218"/>
                  </a:moveTo>
                  <a:lnTo>
                    <a:pt x="768" y="1212"/>
                  </a:lnTo>
                  <a:lnTo>
                    <a:pt x="774" y="1212"/>
                  </a:lnTo>
                  <a:lnTo>
                    <a:pt x="774" y="1206"/>
                  </a:lnTo>
                  <a:lnTo>
                    <a:pt x="780" y="1212"/>
                  </a:lnTo>
                  <a:lnTo>
                    <a:pt x="774" y="1212"/>
                  </a:lnTo>
                  <a:lnTo>
                    <a:pt x="780" y="1212"/>
                  </a:lnTo>
                  <a:lnTo>
                    <a:pt x="774" y="1212"/>
                  </a:lnTo>
                  <a:lnTo>
                    <a:pt x="774" y="1218"/>
                  </a:lnTo>
                  <a:lnTo>
                    <a:pt x="780" y="1218"/>
                  </a:lnTo>
                  <a:lnTo>
                    <a:pt x="774" y="1218"/>
                  </a:lnTo>
                  <a:lnTo>
                    <a:pt x="768" y="1218"/>
                  </a:lnTo>
                  <a:close/>
                  <a:moveTo>
                    <a:pt x="798" y="1110"/>
                  </a:moveTo>
                  <a:lnTo>
                    <a:pt x="798" y="1104"/>
                  </a:lnTo>
                  <a:lnTo>
                    <a:pt x="804" y="1104"/>
                  </a:lnTo>
                  <a:lnTo>
                    <a:pt x="810" y="1104"/>
                  </a:lnTo>
                  <a:lnTo>
                    <a:pt x="810" y="1110"/>
                  </a:lnTo>
                  <a:lnTo>
                    <a:pt x="804" y="1110"/>
                  </a:lnTo>
                  <a:lnTo>
                    <a:pt x="810" y="1110"/>
                  </a:lnTo>
                  <a:lnTo>
                    <a:pt x="810" y="1116"/>
                  </a:lnTo>
                  <a:lnTo>
                    <a:pt x="804" y="1116"/>
                  </a:lnTo>
                  <a:lnTo>
                    <a:pt x="804" y="1110"/>
                  </a:lnTo>
                  <a:lnTo>
                    <a:pt x="804" y="1116"/>
                  </a:lnTo>
                  <a:lnTo>
                    <a:pt x="804" y="1110"/>
                  </a:lnTo>
                  <a:lnTo>
                    <a:pt x="798" y="1110"/>
                  </a:lnTo>
                  <a:close/>
                  <a:moveTo>
                    <a:pt x="810" y="1116"/>
                  </a:moveTo>
                  <a:lnTo>
                    <a:pt x="810" y="1110"/>
                  </a:lnTo>
                  <a:lnTo>
                    <a:pt x="816" y="1110"/>
                  </a:lnTo>
                  <a:lnTo>
                    <a:pt x="816" y="1116"/>
                  </a:lnTo>
                  <a:lnTo>
                    <a:pt x="810" y="1116"/>
                  </a:lnTo>
                  <a:close/>
                  <a:moveTo>
                    <a:pt x="660" y="1278"/>
                  </a:moveTo>
                  <a:lnTo>
                    <a:pt x="666" y="1278"/>
                  </a:lnTo>
                  <a:lnTo>
                    <a:pt x="666" y="1272"/>
                  </a:lnTo>
                  <a:lnTo>
                    <a:pt x="672" y="1272"/>
                  </a:lnTo>
                  <a:lnTo>
                    <a:pt x="672" y="1278"/>
                  </a:lnTo>
                  <a:lnTo>
                    <a:pt x="678" y="1278"/>
                  </a:lnTo>
                  <a:lnTo>
                    <a:pt x="672" y="1278"/>
                  </a:lnTo>
                  <a:lnTo>
                    <a:pt x="666" y="1278"/>
                  </a:lnTo>
                  <a:lnTo>
                    <a:pt x="666" y="1284"/>
                  </a:lnTo>
                  <a:lnTo>
                    <a:pt x="660" y="1284"/>
                  </a:lnTo>
                  <a:lnTo>
                    <a:pt x="660" y="1278"/>
                  </a:lnTo>
                  <a:close/>
                  <a:moveTo>
                    <a:pt x="1506" y="1098"/>
                  </a:moveTo>
                  <a:lnTo>
                    <a:pt x="1506" y="1092"/>
                  </a:lnTo>
                  <a:lnTo>
                    <a:pt x="1512" y="1092"/>
                  </a:lnTo>
                  <a:lnTo>
                    <a:pt x="1512" y="1098"/>
                  </a:lnTo>
                  <a:lnTo>
                    <a:pt x="1518" y="1098"/>
                  </a:lnTo>
                  <a:lnTo>
                    <a:pt x="1518" y="1104"/>
                  </a:lnTo>
                  <a:lnTo>
                    <a:pt x="1524" y="1104"/>
                  </a:lnTo>
                  <a:lnTo>
                    <a:pt x="1518" y="1104"/>
                  </a:lnTo>
                  <a:lnTo>
                    <a:pt x="1518" y="1098"/>
                  </a:lnTo>
                  <a:lnTo>
                    <a:pt x="1512" y="1098"/>
                  </a:lnTo>
                  <a:lnTo>
                    <a:pt x="1506" y="1098"/>
                  </a:lnTo>
                  <a:close/>
                  <a:moveTo>
                    <a:pt x="1284" y="984"/>
                  </a:moveTo>
                  <a:lnTo>
                    <a:pt x="1290" y="984"/>
                  </a:lnTo>
                  <a:lnTo>
                    <a:pt x="1296" y="984"/>
                  </a:lnTo>
                  <a:lnTo>
                    <a:pt x="1290" y="990"/>
                  </a:lnTo>
                  <a:lnTo>
                    <a:pt x="1284" y="984"/>
                  </a:lnTo>
                  <a:close/>
                  <a:moveTo>
                    <a:pt x="1272" y="990"/>
                  </a:moveTo>
                  <a:lnTo>
                    <a:pt x="1272" y="984"/>
                  </a:lnTo>
                  <a:lnTo>
                    <a:pt x="1278" y="984"/>
                  </a:lnTo>
                  <a:lnTo>
                    <a:pt x="1272" y="990"/>
                  </a:lnTo>
                  <a:lnTo>
                    <a:pt x="1278" y="990"/>
                  </a:lnTo>
                  <a:lnTo>
                    <a:pt x="1272" y="990"/>
                  </a:lnTo>
                  <a:close/>
                  <a:moveTo>
                    <a:pt x="1536" y="1128"/>
                  </a:moveTo>
                  <a:lnTo>
                    <a:pt x="1536" y="1122"/>
                  </a:lnTo>
                  <a:lnTo>
                    <a:pt x="1542" y="1128"/>
                  </a:lnTo>
                  <a:lnTo>
                    <a:pt x="1542" y="1122"/>
                  </a:lnTo>
                  <a:lnTo>
                    <a:pt x="1542" y="1128"/>
                  </a:lnTo>
                  <a:lnTo>
                    <a:pt x="1536" y="1128"/>
                  </a:lnTo>
                  <a:close/>
                  <a:moveTo>
                    <a:pt x="1260" y="1020"/>
                  </a:moveTo>
                  <a:lnTo>
                    <a:pt x="1260" y="1014"/>
                  </a:lnTo>
                  <a:lnTo>
                    <a:pt x="1266" y="1014"/>
                  </a:lnTo>
                  <a:lnTo>
                    <a:pt x="1266" y="1020"/>
                  </a:lnTo>
                  <a:lnTo>
                    <a:pt x="1260" y="1020"/>
                  </a:lnTo>
                  <a:close/>
                  <a:moveTo>
                    <a:pt x="1266" y="1014"/>
                  </a:moveTo>
                  <a:lnTo>
                    <a:pt x="1272" y="1008"/>
                  </a:lnTo>
                  <a:lnTo>
                    <a:pt x="1266" y="1014"/>
                  </a:lnTo>
                  <a:close/>
                  <a:moveTo>
                    <a:pt x="984" y="852"/>
                  </a:moveTo>
                  <a:lnTo>
                    <a:pt x="990" y="852"/>
                  </a:lnTo>
                  <a:lnTo>
                    <a:pt x="984" y="852"/>
                  </a:lnTo>
                  <a:close/>
                  <a:moveTo>
                    <a:pt x="1014" y="840"/>
                  </a:moveTo>
                  <a:lnTo>
                    <a:pt x="1020" y="840"/>
                  </a:lnTo>
                  <a:lnTo>
                    <a:pt x="1014" y="840"/>
                  </a:lnTo>
                  <a:close/>
                </a:path>
              </a:pathLst>
            </a:custGeom>
            <a:solidFill>
              <a:schemeClr val="accent1"/>
            </a:solidFill>
            <a:ln w="9525">
              <a:solidFill>
                <a:srgbClr val="B2B2B2"/>
              </a:solidFill>
              <a:round/>
              <a:headEnd/>
              <a:tailEnd/>
            </a:ln>
          </p:spPr>
          <p:txBody>
            <a:bodyPr/>
            <a:lstStyle/>
            <a:p>
              <a:endParaRPr lang="en-CA"/>
            </a:p>
          </p:txBody>
        </p:sp>
        <p:sp>
          <p:nvSpPr>
            <p:cNvPr id="453" name="Freeform 512"/>
            <p:cNvSpPr>
              <a:spLocks noEditPoints="1"/>
            </p:cNvSpPr>
            <p:nvPr>
              <p:custDataLst>
                <p:tags r:id="rId76"/>
              </p:custDataLst>
            </p:nvPr>
          </p:nvSpPr>
          <p:spPr bwMode="gray">
            <a:xfrm>
              <a:off x="4257" y="2496"/>
              <a:ext cx="542" cy="768"/>
            </a:xfrm>
            <a:custGeom>
              <a:avLst/>
              <a:gdLst>
                <a:gd name="T0" fmla="*/ 311058472 w 870"/>
                <a:gd name="T1" fmla="*/ 271020230 h 1230"/>
                <a:gd name="T2" fmla="*/ 305189781 w 870"/>
                <a:gd name="T3" fmla="*/ 194427707 h 1230"/>
                <a:gd name="T4" fmla="*/ 328665537 w 870"/>
                <a:gd name="T5" fmla="*/ 106051567 h 1230"/>
                <a:gd name="T6" fmla="*/ 346272602 w 870"/>
                <a:gd name="T7" fmla="*/ 41242661 h 1230"/>
                <a:gd name="T8" fmla="*/ 399093796 w 870"/>
                <a:gd name="T9" fmla="*/ 5891809 h 1230"/>
                <a:gd name="T10" fmla="*/ 446046298 w 870"/>
                <a:gd name="T11" fmla="*/ 23567235 h 1230"/>
                <a:gd name="T12" fmla="*/ 522344238 w 870"/>
                <a:gd name="T13" fmla="*/ 35350853 h 1230"/>
                <a:gd name="T14" fmla="*/ 575165432 w 870"/>
                <a:gd name="T15" fmla="*/ 64808905 h 1230"/>
                <a:gd name="T16" fmla="*/ 627986626 w 870"/>
                <a:gd name="T17" fmla="*/ 129618802 h 1230"/>
                <a:gd name="T18" fmla="*/ 604510869 w 870"/>
                <a:gd name="T19" fmla="*/ 200319516 h 1230"/>
                <a:gd name="T20" fmla="*/ 651462382 w 870"/>
                <a:gd name="T21" fmla="*/ 253344804 h 1230"/>
                <a:gd name="T22" fmla="*/ 716021949 w 870"/>
                <a:gd name="T23" fmla="*/ 265128421 h 1230"/>
                <a:gd name="T24" fmla="*/ 780581516 w 870"/>
                <a:gd name="T25" fmla="*/ 253344804 h 1230"/>
                <a:gd name="T26" fmla="*/ 833402710 w 870"/>
                <a:gd name="T27" fmla="*/ 271020230 h 1230"/>
                <a:gd name="T28" fmla="*/ 833402710 w 870"/>
                <a:gd name="T29" fmla="*/ 318154700 h 1230"/>
                <a:gd name="T30" fmla="*/ 774712824 w 870"/>
                <a:gd name="T31" fmla="*/ 347612753 h 1230"/>
                <a:gd name="T32" fmla="*/ 757105759 w 870"/>
                <a:gd name="T33" fmla="*/ 377071797 h 1230"/>
                <a:gd name="T34" fmla="*/ 739497706 w 870"/>
                <a:gd name="T35" fmla="*/ 400639032 h 1230"/>
                <a:gd name="T36" fmla="*/ 680807820 w 870"/>
                <a:gd name="T37" fmla="*/ 447772511 h 1230"/>
                <a:gd name="T38" fmla="*/ 633855318 w 870"/>
                <a:gd name="T39" fmla="*/ 441880702 h 1230"/>
                <a:gd name="T40" fmla="*/ 539951302 w 870"/>
                <a:gd name="T41" fmla="*/ 441880702 h 1230"/>
                <a:gd name="T42" fmla="*/ 492998800 w 870"/>
                <a:gd name="T43" fmla="*/ 477231555 h 1230"/>
                <a:gd name="T44" fmla="*/ 475391735 w 870"/>
                <a:gd name="T45" fmla="*/ 441880702 h 1230"/>
                <a:gd name="T46" fmla="*/ 434308914 w 870"/>
                <a:gd name="T47" fmla="*/ 477231555 h 1230"/>
                <a:gd name="T48" fmla="*/ 393225104 w 870"/>
                <a:gd name="T49" fmla="*/ 483123364 h 1230"/>
                <a:gd name="T50" fmla="*/ 363879666 w 870"/>
                <a:gd name="T51" fmla="*/ 489015173 h 1230"/>
                <a:gd name="T52" fmla="*/ 352142283 w 870"/>
                <a:gd name="T53" fmla="*/ 542040460 h 1230"/>
                <a:gd name="T54" fmla="*/ 328665537 w 870"/>
                <a:gd name="T55" fmla="*/ 583283122 h 1230"/>
                <a:gd name="T56" fmla="*/ 299321089 w 870"/>
                <a:gd name="T57" fmla="*/ 671659262 h 1230"/>
                <a:gd name="T58" fmla="*/ 346272602 w 870"/>
                <a:gd name="T59" fmla="*/ 683442880 h 1230"/>
                <a:gd name="T60" fmla="*/ 346272602 w 870"/>
                <a:gd name="T61" fmla="*/ 760035403 h 1230"/>
                <a:gd name="T62" fmla="*/ 305189781 w 870"/>
                <a:gd name="T63" fmla="*/ 807168882 h 1230"/>
                <a:gd name="T64" fmla="*/ 293451408 w 870"/>
                <a:gd name="T65" fmla="*/ 901436831 h 1230"/>
                <a:gd name="T66" fmla="*/ 234761522 w 870"/>
                <a:gd name="T67" fmla="*/ 936787684 h 1230"/>
                <a:gd name="T68" fmla="*/ 199547392 w 870"/>
                <a:gd name="T69" fmla="*/ 1013380207 h 1230"/>
                <a:gd name="T70" fmla="*/ 187809020 w 870"/>
                <a:gd name="T71" fmla="*/ 1036947442 h 1230"/>
                <a:gd name="T72" fmla="*/ 146726198 w 870"/>
                <a:gd name="T73" fmla="*/ 1060514677 h 1230"/>
                <a:gd name="T74" fmla="*/ 140856517 w 870"/>
                <a:gd name="T75" fmla="*/ 1078189112 h 1230"/>
                <a:gd name="T76" fmla="*/ 129119134 w 870"/>
                <a:gd name="T77" fmla="*/ 1119431774 h 1230"/>
                <a:gd name="T78" fmla="*/ 70428259 w 870"/>
                <a:gd name="T79" fmla="*/ 1190132488 h 1230"/>
                <a:gd name="T80" fmla="*/ 46952502 w 870"/>
                <a:gd name="T81" fmla="*/ 1148890818 h 1230"/>
                <a:gd name="T82" fmla="*/ 41082821 w 870"/>
                <a:gd name="T83" fmla="*/ 1101756347 h 1230"/>
                <a:gd name="T84" fmla="*/ 17607065 w 870"/>
                <a:gd name="T85" fmla="*/ 989812972 h 1230"/>
                <a:gd name="T86" fmla="*/ 0 w 870"/>
                <a:gd name="T87" fmla="*/ 877869596 h 1230"/>
                <a:gd name="T88" fmla="*/ 17607065 w 870"/>
                <a:gd name="T89" fmla="*/ 783601647 h 1230"/>
                <a:gd name="T90" fmla="*/ 64559567 w 870"/>
                <a:gd name="T91" fmla="*/ 712900933 h 1230"/>
                <a:gd name="T92" fmla="*/ 99773696 w 870"/>
                <a:gd name="T93" fmla="*/ 653983836 h 1230"/>
                <a:gd name="T94" fmla="*/ 176070647 w 870"/>
                <a:gd name="T95" fmla="*/ 595066740 h 1230"/>
                <a:gd name="T96" fmla="*/ 217154457 w 870"/>
                <a:gd name="T97" fmla="*/ 530256843 h 1230"/>
                <a:gd name="T98" fmla="*/ 281714024 w 870"/>
                <a:gd name="T99" fmla="*/ 471339746 h 1230"/>
                <a:gd name="T100" fmla="*/ 340403910 w 870"/>
                <a:gd name="T101" fmla="*/ 406530841 h 1230"/>
                <a:gd name="T102" fmla="*/ 375618039 w 870"/>
                <a:gd name="T103" fmla="*/ 371179988 h 1230"/>
                <a:gd name="T104" fmla="*/ 387356412 w 870"/>
                <a:gd name="T105" fmla="*/ 300479274 h 1230"/>
                <a:gd name="T106" fmla="*/ 434308914 w 870"/>
                <a:gd name="T107" fmla="*/ 253344804 h 1230"/>
                <a:gd name="T108" fmla="*/ 358010975 w 870"/>
                <a:gd name="T109" fmla="*/ 241561186 h 1230"/>
                <a:gd name="T110" fmla="*/ 340403910 w 870"/>
                <a:gd name="T111" fmla="*/ 300479274 h 1230"/>
                <a:gd name="T112" fmla="*/ 328665537 w 870"/>
                <a:gd name="T113" fmla="*/ 324046509 h 1230"/>
                <a:gd name="T114" fmla="*/ 399093796 w 870"/>
                <a:gd name="T115" fmla="*/ 553824078 h 1230"/>
                <a:gd name="T116" fmla="*/ 375618039 w 870"/>
                <a:gd name="T117" fmla="*/ 595066740 h 1230"/>
                <a:gd name="T118" fmla="*/ 774712824 w 870"/>
                <a:gd name="T119" fmla="*/ 412422650 h 1230"/>
                <a:gd name="T120" fmla="*/ 463653363 w 870"/>
                <a:gd name="T121" fmla="*/ 871978779 h 1230"/>
                <a:gd name="T122" fmla="*/ 487130108 w 870"/>
                <a:gd name="T123" fmla="*/ 913220449 h 1230"/>
                <a:gd name="T124" fmla="*/ 557558367 w 870"/>
                <a:gd name="T125" fmla="*/ 925004066 h 123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70"/>
                <a:gd name="T190" fmla="*/ 0 h 1230"/>
                <a:gd name="T191" fmla="*/ 870 w 870"/>
                <a:gd name="T192" fmla="*/ 1230 h 123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70" h="1230">
                  <a:moveTo>
                    <a:pt x="318" y="330"/>
                  </a:moveTo>
                  <a:lnTo>
                    <a:pt x="324" y="324"/>
                  </a:lnTo>
                  <a:lnTo>
                    <a:pt x="318" y="324"/>
                  </a:lnTo>
                  <a:lnTo>
                    <a:pt x="324" y="318"/>
                  </a:lnTo>
                  <a:lnTo>
                    <a:pt x="318" y="318"/>
                  </a:lnTo>
                  <a:lnTo>
                    <a:pt x="318" y="312"/>
                  </a:lnTo>
                  <a:lnTo>
                    <a:pt x="318" y="306"/>
                  </a:lnTo>
                  <a:lnTo>
                    <a:pt x="312" y="306"/>
                  </a:lnTo>
                  <a:lnTo>
                    <a:pt x="318" y="300"/>
                  </a:lnTo>
                  <a:lnTo>
                    <a:pt x="318" y="306"/>
                  </a:lnTo>
                  <a:lnTo>
                    <a:pt x="324" y="300"/>
                  </a:lnTo>
                  <a:lnTo>
                    <a:pt x="324" y="294"/>
                  </a:lnTo>
                  <a:lnTo>
                    <a:pt x="324" y="288"/>
                  </a:lnTo>
                  <a:lnTo>
                    <a:pt x="318" y="288"/>
                  </a:lnTo>
                  <a:lnTo>
                    <a:pt x="312" y="288"/>
                  </a:lnTo>
                  <a:lnTo>
                    <a:pt x="312" y="282"/>
                  </a:lnTo>
                  <a:lnTo>
                    <a:pt x="306" y="282"/>
                  </a:lnTo>
                  <a:lnTo>
                    <a:pt x="312" y="276"/>
                  </a:lnTo>
                  <a:lnTo>
                    <a:pt x="318" y="282"/>
                  </a:lnTo>
                  <a:lnTo>
                    <a:pt x="318" y="276"/>
                  </a:lnTo>
                  <a:lnTo>
                    <a:pt x="324" y="276"/>
                  </a:lnTo>
                  <a:lnTo>
                    <a:pt x="324" y="270"/>
                  </a:lnTo>
                  <a:lnTo>
                    <a:pt x="330" y="276"/>
                  </a:lnTo>
                  <a:lnTo>
                    <a:pt x="330" y="270"/>
                  </a:lnTo>
                  <a:lnTo>
                    <a:pt x="336" y="270"/>
                  </a:lnTo>
                  <a:lnTo>
                    <a:pt x="336" y="264"/>
                  </a:lnTo>
                  <a:lnTo>
                    <a:pt x="336" y="258"/>
                  </a:lnTo>
                  <a:lnTo>
                    <a:pt x="336" y="252"/>
                  </a:lnTo>
                  <a:lnTo>
                    <a:pt x="330" y="246"/>
                  </a:lnTo>
                  <a:lnTo>
                    <a:pt x="330" y="240"/>
                  </a:lnTo>
                  <a:lnTo>
                    <a:pt x="336" y="234"/>
                  </a:lnTo>
                  <a:lnTo>
                    <a:pt x="336" y="228"/>
                  </a:lnTo>
                  <a:lnTo>
                    <a:pt x="330" y="228"/>
                  </a:lnTo>
                  <a:lnTo>
                    <a:pt x="324" y="222"/>
                  </a:lnTo>
                  <a:lnTo>
                    <a:pt x="330" y="216"/>
                  </a:lnTo>
                  <a:lnTo>
                    <a:pt x="324" y="216"/>
                  </a:lnTo>
                  <a:lnTo>
                    <a:pt x="318" y="210"/>
                  </a:lnTo>
                  <a:lnTo>
                    <a:pt x="312" y="210"/>
                  </a:lnTo>
                  <a:lnTo>
                    <a:pt x="312" y="204"/>
                  </a:lnTo>
                  <a:lnTo>
                    <a:pt x="312" y="198"/>
                  </a:lnTo>
                  <a:lnTo>
                    <a:pt x="312" y="192"/>
                  </a:lnTo>
                  <a:lnTo>
                    <a:pt x="318" y="186"/>
                  </a:lnTo>
                  <a:lnTo>
                    <a:pt x="324" y="186"/>
                  </a:lnTo>
                  <a:lnTo>
                    <a:pt x="324" y="180"/>
                  </a:lnTo>
                  <a:lnTo>
                    <a:pt x="336" y="180"/>
                  </a:lnTo>
                  <a:lnTo>
                    <a:pt x="336" y="174"/>
                  </a:lnTo>
                  <a:lnTo>
                    <a:pt x="336" y="168"/>
                  </a:lnTo>
                  <a:lnTo>
                    <a:pt x="336" y="162"/>
                  </a:lnTo>
                  <a:lnTo>
                    <a:pt x="330" y="162"/>
                  </a:lnTo>
                  <a:lnTo>
                    <a:pt x="330" y="156"/>
                  </a:lnTo>
                  <a:lnTo>
                    <a:pt x="336" y="156"/>
                  </a:lnTo>
                  <a:lnTo>
                    <a:pt x="342" y="150"/>
                  </a:lnTo>
                  <a:lnTo>
                    <a:pt x="342" y="144"/>
                  </a:lnTo>
                  <a:lnTo>
                    <a:pt x="342" y="138"/>
                  </a:lnTo>
                  <a:lnTo>
                    <a:pt x="342" y="132"/>
                  </a:lnTo>
                  <a:lnTo>
                    <a:pt x="336" y="132"/>
                  </a:lnTo>
                  <a:lnTo>
                    <a:pt x="336" y="126"/>
                  </a:lnTo>
                  <a:lnTo>
                    <a:pt x="330" y="120"/>
                  </a:lnTo>
                  <a:lnTo>
                    <a:pt x="330" y="114"/>
                  </a:lnTo>
                  <a:lnTo>
                    <a:pt x="336" y="108"/>
                  </a:lnTo>
                  <a:lnTo>
                    <a:pt x="342" y="108"/>
                  </a:lnTo>
                  <a:lnTo>
                    <a:pt x="342" y="102"/>
                  </a:lnTo>
                  <a:lnTo>
                    <a:pt x="342" y="96"/>
                  </a:lnTo>
                  <a:lnTo>
                    <a:pt x="336" y="96"/>
                  </a:lnTo>
                  <a:lnTo>
                    <a:pt x="336" y="90"/>
                  </a:lnTo>
                  <a:lnTo>
                    <a:pt x="336" y="78"/>
                  </a:lnTo>
                  <a:lnTo>
                    <a:pt x="342" y="78"/>
                  </a:lnTo>
                  <a:lnTo>
                    <a:pt x="348" y="72"/>
                  </a:lnTo>
                  <a:lnTo>
                    <a:pt x="348" y="78"/>
                  </a:lnTo>
                  <a:lnTo>
                    <a:pt x="354" y="78"/>
                  </a:lnTo>
                  <a:lnTo>
                    <a:pt x="354" y="72"/>
                  </a:lnTo>
                  <a:lnTo>
                    <a:pt x="354" y="66"/>
                  </a:lnTo>
                  <a:lnTo>
                    <a:pt x="354" y="60"/>
                  </a:lnTo>
                  <a:lnTo>
                    <a:pt x="360" y="60"/>
                  </a:lnTo>
                  <a:lnTo>
                    <a:pt x="366" y="60"/>
                  </a:lnTo>
                  <a:lnTo>
                    <a:pt x="366" y="54"/>
                  </a:lnTo>
                  <a:lnTo>
                    <a:pt x="360" y="54"/>
                  </a:lnTo>
                  <a:lnTo>
                    <a:pt x="360" y="48"/>
                  </a:lnTo>
                  <a:lnTo>
                    <a:pt x="360" y="42"/>
                  </a:lnTo>
                  <a:lnTo>
                    <a:pt x="354" y="42"/>
                  </a:lnTo>
                  <a:lnTo>
                    <a:pt x="354" y="36"/>
                  </a:lnTo>
                  <a:lnTo>
                    <a:pt x="354" y="30"/>
                  </a:lnTo>
                  <a:lnTo>
                    <a:pt x="348" y="30"/>
                  </a:lnTo>
                  <a:lnTo>
                    <a:pt x="354" y="24"/>
                  </a:lnTo>
                  <a:lnTo>
                    <a:pt x="354" y="18"/>
                  </a:lnTo>
                  <a:lnTo>
                    <a:pt x="348" y="18"/>
                  </a:lnTo>
                  <a:lnTo>
                    <a:pt x="348" y="12"/>
                  </a:lnTo>
                  <a:lnTo>
                    <a:pt x="354" y="12"/>
                  </a:lnTo>
                  <a:lnTo>
                    <a:pt x="360" y="18"/>
                  </a:lnTo>
                  <a:lnTo>
                    <a:pt x="360" y="12"/>
                  </a:lnTo>
                  <a:lnTo>
                    <a:pt x="366" y="12"/>
                  </a:lnTo>
                  <a:lnTo>
                    <a:pt x="366" y="6"/>
                  </a:lnTo>
                  <a:lnTo>
                    <a:pt x="372" y="0"/>
                  </a:lnTo>
                  <a:lnTo>
                    <a:pt x="378" y="6"/>
                  </a:lnTo>
                  <a:lnTo>
                    <a:pt x="384" y="6"/>
                  </a:lnTo>
                  <a:lnTo>
                    <a:pt x="390" y="6"/>
                  </a:lnTo>
                  <a:lnTo>
                    <a:pt x="396" y="6"/>
                  </a:lnTo>
                  <a:lnTo>
                    <a:pt x="396" y="0"/>
                  </a:lnTo>
                  <a:lnTo>
                    <a:pt x="402" y="0"/>
                  </a:lnTo>
                  <a:lnTo>
                    <a:pt x="408" y="6"/>
                  </a:lnTo>
                  <a:lnTo>
                    <a:pt x="414" y="6"/>
                  </a:lnTo>
                  <a:lnTo>
                    <a:pt x="414" y="12"/>
                  </a:lnTo>
                  <a:lnTo>
                    <a:pt x="420" y="18"/>
                  </a:lnTo>
                  <a:lnTo>
                    <a:pt x="420" y="12"/>
                  </a:lnTo>
                  <a:lnTo>
                    <a:pt x="420" y="18"/>
                  </a:lnTo>
                  <a:lnTo>
                    <a:pt x="426" y="18"/>
                  </a:lnTo>
                  <a:lnTo>
                    <a:pt x="426" y="24"/>
                  </a:lnTo>
                  <a:lnTo>
                    <a:pt x="432" y="30"/>
                  </a:lnTo>
                  <a:lnTo>
                    <a:pt x="432" y="24"/>
                  </a:lnTo>
                  <a:lnTo>
                    <a:pt x="438" y="24"/>
                  </a:lnTo>
                  <a:lnTo>
                    <a:pt x="438" y="18"/>
                  </a:lnTo>
                  <a:lnTo>
                    <a:pt x="432" y="18"/>
                  </a:lnTo>
                  <a:lnTo>
                    <a:pt x="438" y="12"/>
                  </a:lnTo>
                  <a:lnTo>
                    <a:pt x="444" y="12"/>
                  </a:lnTo>
                  <a:lnTo>
                    <a:pt x="450" y="12"/>
                  </a:lnTo>
                  <a:lnTo>
                    <a:pt x="450" y="18"/>
                  </a:lnTo>
                  <a:lnTo>
                    <a:pt x="456" y="18"/>
                  </a:lnTo>
                  <a:lnTo>
                    <a:pt x="456" y="24"/>
                  </a:lnTo>
                  <a:lnTo>
                    <a:pt x="456" y="18"/>
                  </a:lnTo>
                  <a:lnTo>
                    <a:pt x="456" y="24"/>
                  </a:lnTo>
                  <a:lnTo>
                    <a:pt x="462" y="18"/>
                  </a:lnTo>
                  <a:lnTo>
                    <a:pt x="468" y="24"/>
                  </a:lnTo>
                  <a:lnTo>
                    <a:pt x="468" y="30"/>
                  </a:lnTo>
                  <a:lnTo>
                    <a:pt x="474" y="36"/>
                  </a:lnTo>
                  <a:lnTo>
                    <a:pt x="474" y="42"/>
                  </a:lnTo>
                  <a:lnTo>
                    <a:pt x="480" y="42"/>
                  </a:lnTo>
                  <a:lnTo>
                    <a:pt x="480" y="36"/>
                  </a:lnTo>
                  <a:lnTo>
                    <a:pt x="486" y="36"/>
                  </a:lnTo>
                  <a:lnTo>
                    <a:pt x="492" y="36"/>
                  </a:lnTo>
                  <a:lnTo>
                    <a:pt x="498" y="36"/>
                  </a:lnTo>
                  <a:lnTo>
                    <a:pt x="504" y="42"/>
                  </a:lnTo>
                  <a:lnTo>
                    <a:pt x="510" y="42"/>
                  </a:lnTo>
                  <a:lnTo>
                    <a:pt x="516" y="42"/>
                  </a:lnTo>
                  <a:lnTo>
                    <a:pt x="522" y="42"/>
                  </a:lnTo>
                  <a:lnTo>
                    <a:pt x="528" y="36"/>
                  </a:lnTo>
                  <a:lnTo>
                    <a:pt x="528" y="30"/>
                  </a:lnTo>
                  <a:lnTo>
                    <a:pt x="534" y="30"/>
                  </a:lnTo>
                  <a:lnTo>
                    <a:pt x="534" y="36"/>
                  </a:lnTo>
                  <a:lnTo>
                    <a:pt x="534" y="30"/>
                  </a:lnTo>
                  <a:lnTo>
                    <a:pt x="534" y="36"/>
                  </a:lnTo>
                  <a:lnTo>
                    <a:pt x="540" y="36"/>
                  </a:lnTo>
                  <a:lnTo>
                    <a:pt x="540" y="42"/>
                  </a:lnTo>
                  <a:lnTo>
                    <a:pt x="540" y="48"/>
                  </a:lnTo>
                  <a:lnTo>
                    <a:pt x="546" y="48"/>
                  </a:lnTo>
                  <a:lnTo>
                    <a:pt x="552" y="54"/>
                  </a:lnTo>
                  <a:lnTo>
                    <a:pt x="552" y="60"/>
                  </a:lnTo>
                  <a:lnTo>
                    <a:pt x="558" y="60"/>
                  </a:lnTo>
                  <a:lnTo>
                    <a:pt x="552" y="66"/>
                  </a:lnTo>
                  <a:lnTo>
                    <a:pt x="558" y="66"/>
                  </a:lnTo>
                  <a:lnTo>
                    <a:pt x="564" y="60"/>
                  </a:lnTo>
                  <a:lnTo>
                    <a:pt x="564" y="66"/>
                  </a:lnTo>
                  <a:lnTo>
                    <a:pt x="570" y="66"/>
                  </a:lnTo>
                  <a:lnTo>
                    <a:pt x="570" y="72"/>
                  </a:lnTo>
                  <a:lnTo>
                    <a:pt x="576" y="66"/>
                  </a:lnTo>
                  <a:lnTo>
                    <a:pt x="576" y="72"/>
                  </a:lnTo>
                  <a:lnTo>
                    <a:pt x="576" y="66"/>
                  </a:lnTo>
                  <a:lnTo>
                    <a:pt x="582" y="66"/>
                  </a:lnTo>
                  <a:lnTo>
                    <a:pt x="582" y="60"/>
                  </a:lnTo>
                  <a:lnTo>
                    <a:pt x="582" y="66"/>
                  </a:lnTo>
                  <a:lnTo>
                    <a:pt x="588" y="66"/>
                  </a:lnTo>
                  <a:lnTo>
                    <a:pt x="594" y="66"/>
                  </a:lnTo>
                  <a:lnTo>
                    <a:pt x="594" y="72"/>
                  </a:lnTo>
                  <a:lnTo>
                    <a:pt x="600" y="72"/>
                  </a:lnTo>
                  <a:lnTo>
                    <a:pt x="600" y="78"/>
                  </a:lnTo>
                  <a:lnTo>
                    <a:pt x="606" y="78"/>
                  </a:lnTo>
                  <a:lnTo>
                    <a:pt x="606" y="84"/>
                  </a:lnTo>
                  <a:lnTo>
                    <a:pt x="606" y="90"/>
                  </a:lnTo>
                  <a:lnTo>
                    <a:pt x="612" y="90"/>
                  </a:lnTo>
                  <a:lnTo>
                    <a:pt x="612" y="96"/>
                  </a:lnTo>
                  <a:lnTo>
                    <a:pt x="612" y="102"/>
                  </a:lnTo>
                  <a:lnTo>
                    <a:pt x="612" y="96"/>
                  </a:lnTo>
                  <a:lnTo>
                    <a:pt x="618" y="102"/>
                  </a:lnTo>
                  <a:lnTo>
                    <a:pt x="624" y="102"/>
                  </a:lnTo>
                  <a:lnTo>
                    <a:pt x="630" y="102"/>
                  </a:lnTo>
                  <a:lnTo>
                    <a:pt x="636" y="108"/>
                  </a:lnTo>
                  <a:lnTo>
                    <a:pt x="630" y="108"/>
                  </a:lnTo>
                  <a:lnTo>
                    <a:pt x="636" y="114"/>
                  </a:lnTo>
                  <a:lnTo>
                    <a:pt x="642" y="120"/>
                  </a:lnTo>
                  <a:lnTo>
                    <a:pt x="642" y="126"/>
                  </a:lnTo>
                  <a:lnTo>
                    <a:pt x="642" y="132"/>
                  </a:lnTo>
                  <a:lnTo>
                    <a:pt x="642" y="138"/>
                  </a:lnTo>
                  <a:lnTo>
                    <a:pt x="642" y="144"/>
                  </a:lnTo>
                  <a:lnTo>
                    <a:pt x="636" y="144"/>
                  </a:lnTo>
                  <a:lnTo>
                    <a:pt x="624" y="144"/>
                  </a:lnTo>
                  <a:lnTo>
                    <a:pt x="624" y="150"/>
                  </a:lnTo>
                  <a:lnTo>
                    <a:pt x="624" y="156"/>
                  </a:lnTo>
                  <a:lnTo>
                    <a:pt x="618" y="162"/>
                  </a:lnTo>
                  <a:lnTo>
                    <a:pt x="612" y="162"/>
                  </a:lnTo>
                  <a:lnTo>
                    <a:pt x="612" y="168"/>
                  </a:lnTo>
                  <a:lnTo>
                    <a:pt x="606" y="168"/>
                  </a:lnTo>
                  <a:lnTo>
                    <a:pt x="606" y="174"/>
                  </a:lnTo>
                  <a:lnTo>
                    <a:pt x="606" y="180"/>
                  </a:lnTo>
                  <a:lnTo>
                    <a:pt x="600" y="180"/>
                  </a:lnTo>
                  <a:lnTo>
                    <a:pt x="600" y="186"/>
                  </a:lnTo>
                  <a:lnTo>
                    <a:pt x="594" y="186"/>
                  </a:lnTo>
                  <a:lnTo>
                    <a:pt x="594" y="192"/>
                  </a:lnTo>
                  <a:lnTo>
                    <a:pt x="600" y="198"/>
                  </a:lnTo>
                  <a:lnTo>
                    <a:pt x="606" y="198"/>
                  </a:lnTo>
                  <a:lnTo>
                    <a:pt x="612" y="204"/>
                  </a:lnTo>
                  <a:lnTo>
                    <a:pt x="618" y="204"/>
                  </a:lnTo>
                  <a:lnTo>
                    <a:pt x="618" y="198"/>
                  </a:lnTo>
                  <a:lnTo>
                    <a:pt x="624" y="204"/>
                  </a:lnTo>
                  <a:lnTo>
                    <a:pt x="630" y="210"/>
                  </a:lnTo>
                  <a:lnTo>
                    <a:pt x="636" y="210"/>
                  </a:lnTo>
                  <a:lnTo>
                    <a:pt x="636" y="216"/>
                  </a:lnTo>
                  <a:lnTo>
                    <a:pt x="642" y="216"/>
                  </a:lnTo>
                  <a:lnTo>
                    <a:pt x="642" y="222"/>
                  </a:lnTo>
                  <a:lnTo>
                    <a:pt x="648" y="222"/>
                  </a:lnTo>
                  <a:lnTo>
                    <a:pt x="648" y="228"/>
                  </a:lnTo>
                  <a:lnTo>
                    <a:pt x="654" y="228"/>
                  </a:lnTo>
                  <a:lnTo>
                    <a:pt x="654" y="234"/>
                  </a:lnTo>
                  <a:lnTo>
                    <a:pt x="660" y="228"/>
                  </a:lnTo>
                  <a:lnTo>
                    <a:pt x="660" y="234"/>
                  </a:lnTo>
                  <a:lnTo>
                    <a:pt x="660" y="228"/>
                  </a:lnTo>
                  <a:lnTo>
                    <a:pt x="666" y="228"/>
                  </a:lnTo>
                  <a:lnTo>
                    <a:pt x="666" y="234"/>
                  </a:lnTo>
                  <a:lnTo>
                    <a:pt x="666" y="240"/>
                  </a:lnTo>
                  <a:lnTo>
                    <a:pt x="666" y="246"/>
                  </a:lnTo>
                  <a:lnTo>
                    <a:pt x="666" y="252"/>
                  </a:lnTo>
                  <a:lnTo>
                    <a:pt x="666" y="258"/>
                  </a:lnTo>
                  <a:lnTo>
                    <a:pt x="672" y="258"/>
                  </a:lnTo>
                  <a:lnTo>
                    <a:pt x="672" y="264"/>
                  </a:lnTo>
                  <a:lnTo>
                    <a:pt x="672" y="270"/>
                  </a:lnTo>
                  <a:lnTo>
                    <a:pt x="678" y="270"/>
                  </a:lnTo>
                  <a:lnTo>
                    <a:pt x="684" y="270"/>
                  </a:lnTo>
                  <a:lnTo>
                    <a:pt x="690" y="270"/>
                  </a:lnTo>
                  <a:lnTo>
                    <a:pt x="696" y="270"/>
                  </a:lnTo>
                  <a:lnTo>
                    <a:pt x="696" y="276"/>
                  </a:lnTo>
                  <a:lnTo>
                    <a:pt x="702" y="276"/>
                  </a:lnTo>
                  <a:lnTo>
                    <a:pt x="702" y="270"/>
                  </a:lnTo>
                  <a:lnTo>
                    <a:pt x="708" y="270"/>
                  </a:lnTo>
                  <a:lnTo>
                    <a:pt x="714" y="270"/>
                  </a:lnTo>
                  <a:lnTo>
                    <a:pt x="714" y="264"/>
                  </a:lnTo>
                  <a:lnTo>
                    <a:pt x="720" y="264"/>
                  </a:lnTo>
                  <a:lnTo>
                    <a:pt x="720" y="258"/>
                  </a:lnTo>
                  <a:lnTo>
                    <a:pt x="720" y="264"/>
                  </a:lnTo>
                  <a:lnTo>
                    <a:pt x="720" y="270"/>
                  </a:lnTo>
                  <a:lnTo>
                    <a:pt x="726" y="264"/>
                  </a:lnTo>
                  <a:lnTo>
                    <a:pt x="726" y="270"/>
                  </a:lnTo>
                  <a:lnTo>
                    <a:pt x="732" y="270"/>
                  </a:lnTo>
                  <a:lnTo>
                    <a:pt x="738" y="270"/>
                  </a:lnTo>
                  <a:lnTo>
                    <a:pt x="738" y="264"/>
                  </a:lnTo>
                  <a:lnTo>
                    <a:pt x="744" y="264"/>
                  </a:lnTo>
                  <a:lnTo>
                    <a:pt x="750" y="264"/>
                  </a:lnTo>
                  <a:lnTo>
                    <a:pt x="744" y="258"/>
                  </a:lnTo>
                  <a:lnTo>
                    <a:pt x="750" y="258"/>
                  </a:lnTo>
                  <a:lnTo>
                    <a:pt x="756" y="258"/>
                  </a:lnTo>
                  <a:lnTo>
                    <a:pt x="756" y="252"/>
                  </a:lnTo>
                  <a:lnTo>
                    <a:pt x="762" y="252"/>
                  </a:lnTo>
                  <a:lnTo>
                    <a:pt x="768" y="258"/>
                  </a:lnTo>
                  <a:lnTo>
                    <a:pt x="762" y="258"/>
                  </a:lnTo>
                  <a:lnTo>
                    <a:pt x="768" y="264"/>
                  </a:lnTo>
                  <a:lnTo>
                    <a:pt x="768" y="258"/>
                  </a:lnTo>
                  <a:lnTo>
                    <a:pt x="774" y="258"/>
                  </a:lnTo>
                  <a:lnTo>
                    <a:pt x="780" y="252"/>
                  </a:lnTo>
                  <a:lnTo>
                    <a:pt x="780" y="258"/>
                  </a:lnTo>
                  <a:lnTo>
                    <a:pt x="786" y="258"/>
                  </a:lnTo>
                  <a:lnTo>
                    <a:pt x="786" y="264"/>
                  </a:lnTo>
                  <a:lnTo>
                    <a:pt x="792" y="264"/>
                  </a:lnTo>
                  <a:lnTo>
                    <a:pt x="798" y="258"/>
                  </a:lnTo>
                  <a:lnTo>
                    <a:pt x="804" y="264"/>
                  </a:lnTo>
                  <a:lnTo>
                    <a:pt x="804" y="258"/>
                  </a:lnTo>
                  <a:lnTo>
                    <a:pt x="810" y="258"/>
                  </a:lnTo>
                  <a:lnTo>
                    <a:pt x="804" y="252"/>
                  </a:lnTo>
                  <a:lnTo>
                    <a:pt x="810" y="252"/>
                  </a:lnTo>
                  <a:lnTo>
                    <a:pt x="810" y="258"/>
                  </a:lnTo>
                  <a:lnTo>
                    <a:pt x="810" y="252"/>
                  </a:lnTo>
                  <a:lnTo>
                    <a:pt x="816" y="252"/>
                  </a:lnTo>
                  <a:lnTo>
                    <a:pt x="822" y="246"/>
                  </a:lnTo>
                  <a:lnTo>
                    <a:pt x="828" y="246"/>
                  </a:lnTo>
                  <a:lnTo>
                    <a:pt x="834" y="246"/>
                  </a:lnTo>
                  <a:lnTo>
                    <a:pt x="840" y="252"/>
                  </a:lnTo>
                  <a:lnTo>
                    <a:pt x="840" y="258"/>
                  </a:lnTo>
                  <a:lnTo>
                    <a:pt x="846" y="252"/>
                  </a:lnTo>
                  <a:lnTo>
                    <a:pt x="852" y="252"/>
                  </a:lnTo>
                  <a:lnTo>
                    <a:pt x="852" y="258"/>
                  </a:lnTo>
                  <a:lnTo>
                    <a:pt x="852" y="264"/>
                  </a:lnTo>
                  <a:lnTo>
                    <a:pt x="846" y="264"/>
                  </a:lnTo>
                  <a:lnTo>
                    <a:pt x="846" y="270"/>
                  </a:lnTo>
                  <a:lnTo>
                    <a:pt x="852" y="276"/>
                  </a:lnTo>
                  <a:lnTo>
                    <a:pt x="852" y="282"/>
                  </a:lnTo>
                  <a:lnTo>
                    <a:pt x="852" y="288"/>
                  </a:lnTo>
                  <a:lnTo>
                    <a:pt x="858" y="294"/>
                  </a:lnTo>
                  <a:lnTo>
                    <a:pt x="858" y="288"/>
                  </a:lnTo>
                  <a:lnTo>
                    <a:pt x="864" y="288"/>
                  </a:lnTo>
                  <a:lnTo>
                    <a:pt x="864" y="294"/>
                  </a:lnTo>
                  <a:lnTo>
                    <a:pt x="870" y="294"/>
                  </a:lnTo>
                  <a:lnTo>
                    <a:pt x="870" y="300"/>
                  </a:lnTo>
                  <a:lnTo>
                    <a:pt x="870" y="306"/>
                  </a:lnTo>
                  <a:lnTo>
                    <a:pt x="870" y="312"/>
                  </a:lnTo>
                  <a:lnTo>
                    <a:pt x="870" y="318"/>
                  </a:lnTo>
                  <a:lnTo>
                    <a:pt x="864" y="318"/>
                  </a:lnTo>
                  <a:lnTo>
                    <a:pt x="858" y="318"/>
                  </a:lnTo>
                  <a:lnTo>
                    <a:pt x="852" y="318"/>
                  </a:lnTo>
                  <a:lnTo>
                    <a:pt x="858" y="318"/>
                  </a:lnTo>
                  <a:lnTo>
                    <a:pt x="852" y="318"/>
                  </a:lnTo>
                  <a:lnTo>
                    <a:pt x="846" y="318"/>
                  </a:lnTo>
                  <a:lnTo>
                    <a:pt x="852" y="324"/>
                  </a:lnTo>
                  <a:lnTo>
                    <a:pt x="852" y="318"/>
                  </a:lnTo>
                  <a:lnTo>
                    <a:pt x="852" y="324"/>
                  </a:lnTo>
                  <a:lnTo>
                    <a:pt x="846" y="324"/>
                  </a:lnTo>
                  <a:lnTo>
                    <a:pt x="846" y="330"/>
                  </a:lnTo>
                  <a:lnTo>
                    <a:pt x="840" y="330"/>
                  </a:lnTo>
                  <a:lnTo>
                    <a:pt x="840" y="336"/>
                  </a:lnTo>
                  <a:lnTo>
                    <a:pt x="840" y="330"/>
                  </a:lnTo>
                  <a:lnTo>
                    <a:pt x="834" y="330"/>
                  </a:lnTo>
                  <a:lnTo>
                    <a:pt x="834" y="324"/>
                  </a:lnTo>
                  <a:lnTo>
                    <a:pt x="828" y="324"/>
                  </a:lnTo>
                  <a:lnTo>
                    <a:pt x="822" y="330"/>
                  </a:lnTo>
                  <a:lnTo>
                    <a:pt x="822" y="336"/>
                  </a:lnTo>
                  <a:lnTo>
                    <a:pt x="822" y="342"/>
                  </a:lnTo>
                  <a:lnTo>
                    <a:pt x="816" y="342"/>
                  </a:lnTo>
                  <a:lnTo>
                    <a:pt x="816" y="348"/>
                  </a:lnTo>
                  <a:lnTo>
                    <a:pt x="816" y="354"/>
                  </a:lnTo>
                  <a:lnTo>
                    <a:pt x="810" y="354"/>
                  </a:lnTo>
                  <a:lnTo>
                    <a:pt x="810" y="360"/>
                  </a:lnTo>
                  <a:lnTo>
                    <a:pt x="804" y="360"/>
                  </a:lnTo>
                  <a:lnTo>
                    <a:pt x="804" y="354"/>
                  </a:lnTo>
                  <a:lnTo>
                    <a:pt x="798" y="354"/>
                  </a:lnTo>
                  <a:lnTo>
                    <a:pt x="792" y="354"/>
                  </a:lnTo>
                  <a:lnTo>
                    <a:pt x="792" y="360"/>
                  </a:lnTo>
                  <a:lnTo>
                    <a:pt x="798" y="360"/>
                  </a:lnTo>
                  <a:lnTo>
                    <a:pt x="798" y="366"/>
                  </a:lnTo>
                  <a:lnTo>
                    <a:pt x="798" y="372"/>
                  </a:lnTo>
                  <a:lnTo>
                    <a:pt x="792" y="372"/>
                  </a:lnTo>
                  <a:lnTo>
                    <a:pt x="792" y="366"/>
                  </a:lnTo>
                  <a:lnTo>
                    <a:pt x="786" y="366"/>
                  </a:lnTo>
                  <a:lnTo>
                    <a:pt x="792" y="366"/>
                  </a:lnTo>
                  <a:lnTo>
                    <a:pt x="792" y="372"/>
                  </a:lnTo>
                  <a:lnTo>
                    <a:pt x="786" y="372"/>
                  </a:lnTo>
                  <a:lnTo>
                    <a:pt x="786" y="378"/>
                  </a:lnTo>
                  <a:lnTo>
                    <a:pt x="780" y="378"/>
                  </a:lnTo>
                  <a:lnTo>
                    <a:pt x="774" y="378"/>
                  </a:lnTo>
                  <a:lnTo>
                    <a:pt x="774" y="372"/>
                  </a:lnTo>
                  <a:lnTo>
                    <a:pt x="774" y="378"/>
                  </a:lnTo>
                  <a:lnTo>
                    <a:pt x="768" y="378"/>
                  </a:lnTo>
                  <a:lnTo>
                    <a:pt x="774" y="378"/>
                  </a:lnTo>
                  <a:lnTo>
                    <a:pt x="774" y="384"/>
                  </a:lnTo>
                  <a:lnTo>
                    <a:pt x="768" y="384"/>
                  </a:lnTo>
                  <a:lnTo>
                    <a:pt x="774" y="384"/>
                  </a:lnTo>
                  <a:lnTo>
                    <a:pt x="774" y="390"/>
                  </a:lnTo>
                  <a:lnTo>
                    <a:pt x="780" y="390"/>
                  </a:lnTo>
                  <a:lnTo>
                    <a:pt x="774" y="390"/>
                  </a:lnTo>
                  <a:lnTo>
                    <a:pt x="780" y="390"/>
                  </a:lnTo>
                  <a:lnTo>
                    <a:pt x="774" y="390"/>
                  </a:lnTo>
                  <a:lnTo>
                    <a:pt x="774" y="396"/>
                  </a:lnTo>
                  <a:lnTo>
                    <a:pt x="768" y="396"/>
                  </a:lnTo>
                  <a:lnTo>
                    <a:pt x="768" y="390"/>
                  </a:lnTo>
                  <a:lnTo>
                    <a:pt x="762" y="390"/>
                  </a:lnTo>
                  <a:lnTo>
                    <a:pt x="756" y="384"/>
                  </a:lnTo>
                  <a:lnTo>
                    <a:pt x="756" y="390"/>
                  </a:lnTo>
                  <a:lnTo>
                    <a:pt x="762" y="390"/>
                  </a:lnTo>
                  <a:lnTo>
                    <a:pt x="762" y="396"/>
                  </a:lnTo>
                  <a:lnTo>
                    <a:pt x="762" y="390"/>
                  </a:lnTo>
                  <a:lnTo>
                    <a:pt x="762" y="396"/>
                  </a:lnTo>
                  <a:lnTo>
                    <a:pt x="768" y="396"/>
                  </a:lnTo>
                  <a:lnTo>
                    <a:pt x="768" y="402"/>
                  </a:lnTo>
                  <a:lnTo>
                    <a:pt x="762" y="402"/>
                  </a:lnTo>
                  <a:lnTo>
                    <a:pt x="762" y="408"/>
                  </a:lnTo>
                  <a:lnTo>
                    <a:pt x="756" y="408"/>
                  </a:lnTo>
                  <a:lnTo>
                    <a:pt x="750" y="414"/>
                  </a:lnTo>
                  <a:lnTo>
                    <a:pt x="744" y="408"/>
                  </a:lnTo>
                  <a:lnTo>
                    <a:pt x="744" y="414"/>
                  </a:lnTo>
                  <a:lnTo>
                    <a:pt x="738" y="414"/>
                  </a:lnTo>
                  <a:lnTo>
                    <a:pt x="738" y="420"/>
                  </a:lnTo>
                  <a:lnTo>
                    <a:pt x="732" y="420"/>
                  </a:lnTo>
                  <a:lnTo>
                    <a:pt x="732" y="426"/>
                  </a:lnTo>
                  <a:lnTo>
                    <a:pt x="726" y="426"/>
                  </a:lnTo>
                  <a:lnTo>
                    <a:pt x="726" y="432"/>
                  </a:lnTo>
                  <a:lnTo>
                    <a:pt x="720" y="432"/>
                  </a:lnTo>
                  <a:lnTo>
                    <a:pt x="720" y="438"/>
                  </a:lnTo>
                  <a:lnTo>
                    <a:pt x="714" y="438"/>
                  </a:lnTo>
                  <a:lnTo>
                    <a:pt x="708" y="438"/>
                  </a:lnTo>
                  <a:lnTo>
                    <a:pt x="708" y="444"/>
                  </a:lnTo>
                  <a:lnTo>
                    <a:pt x="702" y="444"/>
                  </a:lnTo>
                  <a:lnTo>
                    <a:pt x="702" y="450"/>
                  </a:lnTo>
                  <a:lnTo>
                    <a:pt x="696" y="450"/>
                  </a:lnTo>
                  <a:lnTo>
                    <a:pt x="696" y="456"/>
                  </a:lnTo>
                  <a:lnTo>
                    <a:pt x="690" y="456"/>
                  </a:lnTo>
                  <a:lnTo>
                    <a:pt x="696" y="456"/>
                  </a:lnTo>
                  <a:lnTo>
                    <a:pt x="696" y="462"/>
                  </a:lnTo>
                  <a:lnTo>
                    <a:pt x="690" y="462"/>
                  </a:lnTo>
                  <a:lnTo>
                    <a:pt x="690" y="468"/>
                  </a:lnTo>
                  <a:lnTo>
                    <a:pt x="684" y="468"/>
                  </a:lnTo>
                  <a:lnTo>
                    <a:pt x="684" y="474"/>
                  </a:lnTo>
                  <a:lnTo>
                    <a:pt x="684" y="480"/>
                  </a:lnTo>
                  <a:lnTo>
                    <a:pt x="684" y="486"/>
                  </a:lnTo>
                  <a:lnTo>
                    <a:pt x="684" y="492"/>
                  </a:lnTo>
                  <a:lnTo>
                    <a:pt x="678" y="492"/>
                  </a:lnTo>
                  <a:lnTo>
                    <a:pt x="672" y="492"/>
                  </a:lnTo>
                  <a:lnTo>
                    <a:pt x="672" y="486"/>
                  </a:lnTo>
                  <a:lnTo>
                    <a:pt x="666" y="486"/>
                  </a:lnTo>
                  <a:lnTo>
                    <a:pt x="666" y="480"/>
                  </a:lnTo>
                  <a:lnTo>
                    <a:pt x="660" y="480"/>
                  </a:lnTo>
                  <a:lnTo>
                    <a:pt x="660" y="474"/>
                  </a:lnTo>
                  <a:lnTo>
                    <a:pt x="660" y="468"/>
                  </a:lnTo>
                  <a:lnTo>
                    <a:pt x="654" y="462"/>
                  </a:lnTo>
                  <a:lnTo>
                    <a:pt x="654" y="456"/>
                  </a:lnTo>
                  <a:lnTo>
                    <a:pt x="654" y="450"/>
                  </a:lnTo>
                  <a:lnTo>
                    <a:pt x="648" y="450"/>
                  </a:lnTo>
                  <a:lnTo>
                    <a:pt x="642" y="444"/>
                  </a:lnTo>
                  <a:lnTo>
                    <a:pt x="636" y="444"/>
                  </a:lnTo>
                  <a:lnTo>
                    <a:pt x="636" y="438"/>
                  </a:lnTo>
                  <a:lnTo>
                    <a:pt x="630" y="438"/>
                  </a:lnTo>
                  <a:lnTo>
                    <a:pt x="624" y="438"/>
                  </a:lnTo>
                  <a:lnTo>
                    <a:pt x="618" y="438"/>
                  </a:lnTo>
                  <a:lnTo>
                    <a:pt x="612" y="438"/>
                  </a:lnTo>
                  <a:lnTo>
                    <a:pt x="606" y="438"/>
                  </a:lnTo>
                  <a:lnTo>
                    <a:pt x="600" y="438"/>
                  </a:lnTo>
                  <a:lnTo>
                    <a:pt x="600" y="432"/>
                  </a:lnTo>
                  <a:lnTo>
                    <a:pt x="594" y="432"/>
                  </a:lnTo>
                  <a:lnTo>
                    <a:pt x="588" y="432"/>
                  </a:lnTo>
                  <a:lnTo>
                    <a:pt x="582" y="432"/>
                  </a:lnTo>
                  <a:lnTo>
                    <a:pt x="576" y="438"/>
                  </a:lnTo>
                  <a:lnTo>
                    <a:pt x="570" y="438"/>
                  </a:lnTo>
                  <a:lnTo>
                    <a:pt x="564" y="444"/>
                  </a:lnTo>
                  <a:lnTo>
                    <a:pt x="564" y="438"/>
                  </a:lnTo>
                  <a:lnTo>
                    <a:pt x="564" y="444"/>
                  </a:lnTo>
                  <a:lnTo>
                    <a:pt x="558" y="444"/>
                  </a:lnTo>
                  <a:lnTo>
                    <a:pt x="552" y="450"/>
                  </a:lnTo>
                  <a:lnTo>
                    <a:pt x="546" y="450"/>
                  </a:lnTo>
                  <a:lnTo>
                    <a:pt x="546" y="456"/>
                  </a:lnTo>
                  <a:lnTo>
                    <a:pt x="540" y="456"/>
                  </a:lnTo>
                  <a:lnTo>
                    <a:pt x="540" y="450"/>
                  </a:lnTo>
                  <a:lnTo>
                    <a:pt x="540" y="456"/>
                  </a:lnTo>
                  <a:lnTo>
                    <a:pt x="534" y="456"/>
                  </a:lnTo>
                  <a:lnTo>
                    <a:pt x="528" y="456"/>
                  </a:lnTo>
                  <a:lnTo>
                    <a:pt x="528" y="450"/>
                  </a:lnTo>
                  <a:lnTo>
                    <a:pt x="528" y="456"/>
                  </a:lnTo>
                  <a:lnTo>
                    <a:pt x="528" y="462"/>
                  </a:lnTo>
                  <a:lnTo>
                    <a:pt x="522" y="462"/>
                  </a:lnTo>
                  <a:lnTo>
                    <a:pt x="522" y="468"/>
                  </a:lnTo>
                  <a:lnTo>
                    <a:pt x="516" y="468"/>
                  </a:lnTo>
                  <a:lnTo>
                    <a:pt x="522" y="468"/>
                  </a:lnTo>
                  <a:lnTo>
                    <a:pt x="516" y="468"/>
                  </a:lnTo>
                  <a:lnTo>
                    <a:pt x="516" y="474"/>
                  </a:lnTo>
                  <a:lnTo>
                    <a:pt x="516" y="480"/>
                  </a:lnTo>
                  <a:lnTo>
                    <a:pt x="510" y="480"/>
                  </a:lnTo>
                  <a:lnTo>
                    <a:pt x="510" y="486"/>
                  </a:lnTo>
                  <a:lnTo>
                    <a:pt x="504" y="486"/>
                  </a:lnTo>
                  <a:lnTo>
                    <a:pt x="504" y="492"/>
                  </a:lnTo>
                  <a:lnTo>
                    <a:pt x="498" y="492"/>
                  </a:lnTo>
                  <a:lnTo>
                    <a:pt x="498" y="498"/>
                  </a:lnTo>
                  <a:lnTo>
                    <a:pt x="498" y="504"/>
                  </a:lnTo>
                  <a:lnTo>
                    <a:pt x="492" y="504"/>
                  </a:lnTo>
                  <a:lnTo>
                    <a:pt x="486" y="504"/>
                  </a:lnTo>
                  <a:lnTo>
                    <a:pt x="486" y="498"/>
                  </a:lnTo>
                  <a:lnTo>
                    <a:pt x="486" y="492"/>
                  </a:lnTo>
                  <a:lnTo>
                    <a:pt x="486" y="486"/>
                  </a:lnTo>
                  <a:lnTo>
                    <a:pt x="486" y="480"/>
                  </a:lnTo>
                  <a:lnTo>
                    <a:pt x="492" y="480"/>
                  </a:lnTo>
                  <a:lnTo>
                    <a:pt x="492" y="474"/>
                  </a:lnTo>
                  <a:lnTo>
                    <a:pt x="492" y="468"/>
                  </a:lnTo>
                  <a:lnTo>
                    <a:pt x="492" y="462"/>
                  </a:lnTo>
                  <a:lnTo>
                    <a:pt x="492" y="456"/>
                  </a:lnTo>
                  <a:lnTo>
                    <a:pt x="498" y="456"/>
                  </a:lnTo>
                  <a:lnTo>
                    <a:pt x="498" y="450"/>
                  </a:lnTo>
                  <a:lnTo>
                    <a:pt x="498" y="444"/>
                  </a:lnTo>
                  <a:lnTo>
                    <a:pt x="492" y="444"/>
                  </a:lnTo>
                  <a:lnTo>
                    <a:pt x="486" y="450"/>
                  </a:lnTo>
                  <a:lnTo>
                    <a:pt x="492" y="450"/>
                  </a:lnTo>
                  <a:lnTo>
                    <a:pt x="492" y="444"/>
                  </a:lnTo>
                  <a:lnTo>
                    <a:pt x="492" y="450"/>
                  </a:lnTo>
                  <a:lnTo>
                    <a:pt x="486" y="450"/>
                  </a:lnTo>
                  <a:lnTo>
                    <a:pt x="480" y="450"/>
                  </a:lnTo>
                  <a:lnTo>
                    <a:pt x="480" y="456"/>
                  </a:lnTo>
                  <a:lnTo>
                    <a:pt x="474" y="456"/>
                  </a:lnTo>
                  <a:lnTo>
                    <a:pt x="474" y="462"/>
                  </a:lnTo>
                  <a:lnTo>
                    <a:pt x="468" y="462"/>
                  </a:lnTo>
                  <a:lnTo>
                    <a:pt x="468" y="468"/>
                  </a:lnTo>
                  <a:lnTo>
                    <a:pt x="462" y="468"/>
                  </a:lnTo>
                  <a:lnTo>
                    <a:pt x="456" y="468"/>
                  </a:lnTo>
                  <a:lnTo>
                    <a:pt x="450" y="474"/>
                  </a:lnTo>
                  <a:lnTo>
                    <a:pt x="450" y="480"/>
                  </a:lnTo>
                  <a:lnTo>
                    <a:pt x="444" y="480"/>
                  </a:lnTo>
                  <a:lnTo>
                    <a:pt x="444" y="474"/>
                  </a:lnTo>
                  <a:lnTo>
                    <a:pt x="444" y="480"/>
                  </a:lnTo>
                  <a:lnTo>
                    <a:pt x="438" y="480"/>
                  </a:lnTo>
                  <a:lnTo>
                    <a:pt x="444" y="480"/>
                  </a:lnTo>
                  <a:lnTo>
                    <a:pt x="444" y="486"/>
                  </a:lnTo>
                  <a:lnTo>
                    <a:pt x="444" y="492"/>
                  </a:lnTo>
                  <a:lnTo>
                    <a:pt x="444" y="498"/>
                  </a:lnTo>
                  <a:lnTo>
                    <a:pt x="438" y="498"/>
                  </a:lnTo>
                  <a:lnTo>
                    <a:pt x="438" y="504"/>
                  </a:lnTo>
                  <a:lnTo>
                    <a:pt x="432" y="504"/>
                  </a:lnTo>
                  <a:lnTo>
                    <a:pt x="432" y="510"/>
                  </a:lnTo>
                  <a:lnTo>
                    <a:pt x="426" y="510"/>
                  </a:lnTo>
                  <a:lnTo>
                    <a:pt x="426" y="504"/>
                  </a:lnTo>
                  <a:lnTo>
                    <a:pt x="426" y="498"/>
                  </a:lnTo>
                  <a:lnTo>
                    <a:pt x="426" y="492"/>
                  </a:lnTo>
                  <a:lnTo>
                    <a:pt x="420" y="492"/>
                  </a:lnTo>
                  <a:lnTo>
                    <a:pt x="420" y="486"/>
                  </a:lnTo>
                  <a:lnTo>
                    <a:pt x="414" y="486"/>
                  </a:lnTo>
                  <a:lnTo>
                    <a:pt x="414" y="480"/>
                  </a:lnTo>
                  <a:lnTo>
                    <a:pt x="408" y="480"/>
                  </a:lnTo>
                  <a:lnTo>
                    <a:pt x="402" y="480"/>
                  </a:lnTo>
                  <a:lnTo>
                    <a:pt x="402" y="486"/>
                  </a:lnTo>
                  <a:lnTo>
                    <a:pt x="408" y="486"/>
                  </a:lnTo>
                  <a:lnTo>
                    <a:pt x="402" y="486"/>
                  </a:lnTo>
                  <a:lnTo>
                    <a:pt x="402" y="492"/>
                  </a:lnTo>
                  <a:lnTo>
                    <a:pt x="396" y="492"/>
                  </a:lnTo>
                  <a:lnTo>
                    <a:pt x="396" y="498"/>
                  </a:lnTo>
                  <a:lnTo>
                    <a:pt x="402" y="498"/>
                  </a:lnTo>
                  <a:lnTo>
                    <a:pt x="402" y="504"/>
                  </a:lnTo>
                  <a:lnTo>
                    <a:pt x="396" y="504"/>
                  </a:lnTo>
                  <a:lnTo>
                    <a:pt x="396" y="498"/>
                  </a:lnTo>
                  <a:lnTo>
                    <a:pt x="390" y="498"/>
                  </a:lnTo>
                  <a:lnTo>
                    <a:pt x="396" y="498"/>
                  </a:lnTo>
                  <a:lnTo>
                    <a:pt x="396" y="492"/>
                  </a:lnTo>
                  <a:lnTo>
                    <a:pt x="402" y="492"/>
                  </a:lnTo>
                  <a:lnTo>
                    <a:pt x="402" y="486"/>
                  </a:lnTo>
                  <a:lnTo>
                    <a:pt x="402" y="492"/>
                  </a:lnTo>
                  <a:lnTo>
                    <a:pt x="396" y="492"/>
                  </a:lnTo>
                  <a:lnTo>
                    <a:pt x="396" y="486"/>
                  </a:lnTo>
                  <a:lnTo>
                    <a:pt x="390" y="486"/>
                  </a:lnTo>
                  <a:lnTo>
                    <a:pt x="384" y="486"/>
                  </a:lnTo>
                  <a:lnTo>
                    <a:pt x="384" y="492"/>
                  </a:lnTo>
                  <a:lnTo>
                    <a:pt x="378" y="492"/>
                  </a:lnTo>
                  <a:lnTo>
                    <a:pt x="378" y="498"/>
                  </a:lnTo>
                  <a:lnTo>
                    <a:pt x="372" y="498"/>
                  </a:lnTo>
                  <a:lnTo>
                    <a:pt x="366" y="498"/>
                  </a:lnTo>
                  <a:lnTo>
                    <a:pt x="366" y="504"/>
                  </a:lnTo>
                  <a:lnTo>
                    <a:pt x="360" y="504"/>
                  </a:lnTo>
                  <a:lnTo>
                    <a:pt x="360" y="510"/>
                  </a:lnTo>
                  <a:lnTo>
                    <a:pt x="360" y="516"/>
                  </a:lnTo>
                  <a:lnTo>
                    <a:pt x="360" y="522"/>
                  </a:lnTo>
                  <a:lnTo>
                    <a:pt x="360" y="528"/>
                  </a:lnTo>
                  <a:lnTo>
                    <a:pt x="354" y="528"/>
                  </a:lnTo>
                  <a:lnTo>
                    <a:pt x="354" y="534"/>
                  </a:lnTo>
                  <a:lnTo>
                    <a:pt x="354" y="528"/>
                  </a:lnTo>
                  <a:lnTo>
                    <a:pt x="360" y="528"/>
                  </a:lnTo>
                  <a:lnTo>
                    <a:pt x="354" y="528"/>
                  </a:lnTo>
                  <a:lnTo>
                    <a:pt x="354" y="534"/>
                  </a:lnTo>
                  <a:lnTo>
                    <a:pt x="360" y="540"/>
                  </a:lnTo>
                  <a:lnTo>
                    <a:pt x="360" y="546"/>
                  </a:lnTo>
                  <a:lnTo>
                    <a:pt x="360" y="552"/>
                  </a:lnTo>
                  <a:lnTo>
                    <a:pt x="360" y="558"/>
                  </a:lnTo>
                  <a:lnTo>
                    <a:pt x="354" y="558"/>
                  </a:lnTo>
                  <a:lnTo>
                    <a:pt x="360" y="558"/>
                  </a:lnTo>
                  <a:lnTo>
                    <a:pt x="360" y="552"/>
                  </a:lnTo>
                  <a:lnTo>
                    <a:pt x="354" y="552"/>
                  </a:lnTo>
                  <a:lnTo>
                    <a:pt x="348" y="552"/>
                  </a:lnTo>
                  <a:lnTo>
                    <a:pt x="348" y="558"/>
                  </a:lnTo>
                  <a:lnTo>
                    <a:pt x="348" y="564"/>
                  </a:lnTo>
                  <a:lnTo>
                    <a:pt x="354" y="564"/>
                  </a:lnTo>
                  <a:lnTo>
                    <a:pt x="354" y="570"/>
                  </a:lnTo>
                  <a:lnTo>
                    <a:pt x="354" y="576"/>
                  </a:lnTo>
                  <a:lnTo>
                    <a:pt x="354" y="570"/>
                  </a:lnTo>
                  <a:lnTo>
                    <a:pt x="348" y="570"/>
                  </a:lnTo>
                  <a:lnTo>
                    <a:pt x="348" y="564"/>
                  </a:lnTo>
                  <a:lnTo>
                    <a:pt x="348" y="570"/>
                  </a:lnTo>
                  <a:lnTo>
                    <a:pt x="348" y="564"/>
                  </a:lnTo>
                  <a:lnTo>
                    <a:pt x="342" y="564"/>
                  </a:lnTo>
                  <a:lnTo>
                    <a:pt x="342" y="570"/>
                  </a:lnTo>
                  <a:lnTo>
                    <a:pt x="342" y="576"/>
                  </a:lnTo>
                  <a:lnTo>
                    <a:pt x="348" y="576"/>
                  </a:lnTo>
                  <a:lnTo>
                    <a:pt x="348" y="582"/>
                  </a:lnTo>
                  <a:lnTo>
                    <a:pt x="342" y="582"/>
                  </a:lnTo>
                  <a:lnTo>
                    <a:pt x="336" y="588"/>
                  </a:lnTo>
                  <a:lnTo>
                    <a:pt x="336" y="594"/>
                  </a:lnTo>
                  <a:lnTo>
                    <a:pt x="330" y="594"/>
                  </a:lnTo>
                  <a:lnTo>
                    <a:pt x="330" y="600"/>
                  </a:lnTo>
                  <a:lnTo>
                    <a:pt x="324" y="600"/>
                  </a:lnTo>
                  <a:lnTo>
                    <a:pt x="318" y="606"/>
                  </a:lnTo>
                  <a:lnTo>
                    <a:pt x="318" y="612"/>
                  </a:lnTo>
                  <a:lnTo>
                    <a:pt x="312" y="612"/>
                  </a:lnTo>
                  <a:lnTo>
                    <a:pt x="312" y="618"/>
                  </a:lnTo>
                  <a:lnTo>
                    <a:pt x="312" y="624"/>
                  </a:lnTo>
                  <a:lnTo>
                    <a:pt x="306" y="624"/>
                  </a:lnTo>
                  <a:lnTo>
                    <a:pt x="306" y="630"/>
                  </a:lnTo>
                  <a:lnTo>
                    <a:pt x="306" y="636"/>
                  </a:lnTo>
                  <a:lnTo>
                    <a:pt x="300" y="642"/>
                  </a:lnTo>
                  <a:lnTo>
                    <a:pt x="300" y="648"/>
                  </a:lnTo>
                  <a:lnTo>
                    <a:pt x="300" y="654"/>
                  </a:lnTo>
                  <a:lnTo>
                    <a:pt x="300" y="660"/>
                  </a:lnTo>
                  <a:lnTo>
                    <a:pt x="300" y="666"/>
                  </a:lnTo>
                  <a:lnTo>
                    <a:pt x="300" y="672"/>
                  </a:lnTo>
                  <a:lnTo>
                    <a:pt x="300" y="678"/>
                  </a:lnTo>
                  <a:lnTo>
                    <a:pt x="306" y="678"/>
                  </a:lnTo>
                  <a:lnTo>
                    <a:pt x="306" y="684"/>
                  </a:lnTo>
                  <a:lnTo>
                    <a:pt x="312" y="684"/>
                  </a:lnTo>
                  <a:lnTo>
                    <a:pt x="318" y="684"/>
                  </a:lnTo>
                  <a:lnTo>
                    <a:pt x="324" y="684"/>
                  </a:lnTo>
                  <a:lnTo>
                    <a:pt x="318" y="684"/>
                  </a:lnTo>
                  <a:lnTo>
                    <a:pt x="318" y="678"/>
                  </a:lnTo>
                  <a:lnTo>
                    <a:pt x="324" y="678"/>
                  </a:lnTo>
                  <a:lnTo>
                    <a:pt x="318" y="678"/>
                  </a:lnTo>
                  <a:lnTo>
                    <a:pt x="324" y="678"/>
                  </a:lnTo>
                  <a:lnTo>
                    <a:pt x="324" y="672"/>
                  </a:lnTo>
                  <a:lnTo>
                    <a:pt x="330" y="672"/>
                  </a:lnTo>
                  <a:lnTo>
                    <a:pt x="336" y="672"/>
                  </a:lnTo>
                  <a:lnTo>
                    <a:pt x="336" y="678"/>
                  </a:lnTo>
                  <a:lnTo>
                    <a:pt x="342" y="678"/>
                  </a:lnTo>
                  <a:lnTo>
                    <a:pt x="342" y="684"/>
                  </a:lnTo>
                  <a:lnTo>
                    <a:pt x="348" y="684"/>
                  </a:lnTo>
                  <a:lnTo>
                    <a:pt x="354" y="684"/>
                  </a:lnTo>
                  <a:lnTo>
                    <a:pt x="354" y="690"/>
                  </a:lnTo>
                  <a:lnTo>
                    <a:pt x="360" y="690"/>
                  </a:lnTo>
                  <a:lnTo>
                    <a:pt x="354" y="690"/>
                  </a:lnTo>
                  <a:lnTo>
                    <a:pt x="354" y="696"/>
                  </a:lnTo>
                  <a:lnTo>
                    <a:pt x="354" y="702"/>
                  </a:lnTo>
                  <a:lnTo>
                    <a:pt x="348" y="702"/>
                  </a:lnTo>
                  <a:lnTo>
                    <a:pt x="348" y="708"/>
                  </a:lnTo>
                  <a:lnTo>
                    <a:pt x="348" y="714"/>
                  </a:lnTo>
                  <a:lnTo>
                    <a:pt x="342" y="714"/>
                  </a:lnTo>
                  <a:lnTo>
                    <a:pt x="336" y="714"/>
                  </a:lnTo>
                  <a:lnTo>
                    <a:pt x="336" y="720"/>
                  </a:lnTo>
                  <a:lnTo>
                    <a:pt x="336" y="726"/>
                  </a:lnTo>
                  <a:lnTo>
                    <a:pt x="330" y="726"/>
                  </a:lnTo>
                  <a:lnTo>
                    <a:pt x="330" y="732"/>
                  </a:lnTo>
                  <a:lnTo>
                    <a:pt x="336" y="738"/>
                  </a:lnTo>
                  <a:lnTo>
                    <a:pt x="336" y="744"/>
                  </a:lnTo>
                  <a:lnTo>
                    <a:pt x="336" y="750"/>
                  </a:lnTo>
                  <a:lnTo>
                    <a:pt x="336" y="756"/>
                  </a:lnTo>
                  <a:lnTo>
                    <a:pt x="336" y="762"/>
                  </a:lnTo>
                  <a:lnTo>
                    <a:pt x="336" y="768"/>
                  </a:lnTo>
                  <a:lnTo>
                    <a:pt x="336" y="774"/>
                  </a:lnTo>
                  <a:lnTo>
                    <a:pt x="342" y="774"/>
                  </a:lnTo>
                  <a:lnTo>
                    <a:pt x="348" y="774"/>
                  </a:lnTo>
                  <a:lnTo>
                    <a:pt x="354" y="774"/>
                  </a:lnTo>
                  <a:lnTo>
                    <a:pt x="354" y="780"/>
                  </a:lnTo>
                  <a:lnTo>
                    <a:pt x="354" y="786"/>
                  </a:lnTo>
                  <a:lnTo>
                    <a:pt x="354" y="792"/>
                  </a:lnTo>
                  <a:lnTo>
                    <a:pt x="354" y="798"/>
                  </a:lnTo>
                  <a:lnTo>
                    <a:pt x="360" y="804"/>
                  </a:lnTo>
                  <a:lnTo>
                    <a:pt x="360" y="810"/>
                  </a:lnTo>
                  <a:lnTo>
                    <a:pt x="360" y="816"/>
                  </a:lnTo>
                  <a:lnTo>
                    <a:pt x="360" y="822"/>
                  </a:lnTo>
                  <a:lnTo>
                    <a:pt x="354" y="822"/>
                  </a:lnTo>
                  <a:lnTo>
                    <a:pt x="348" y="822"/>
                  </a:lnTo>
                  <a:lnTo>
                    <a:pt x="348" y="828"/>
                  </a:lnTo>
                  <a:lnTo>
                    <a:pt x="348" y="834"/>
                  </a:lnTo>
                  <a:lnTo>
                    <a:pt x="342" y="834"/>
                  </a:lnTo>
                  <a:lnTo>
                    <a:pt x="336" y="834"/>
                  </a:lnTo>
                  <a:lnTo>
                    <a:pt x="336" y="828"/>
                  </a:lnTo>
                  <a:lnTo>
                    <a:pt x="330" y="822"/>
                  </a:lnTo>
                  <a:lnTo>
                    <a:pt x="330" y="816"/>
                  </a:lnTo>
                  <a:lnTo>
                    <a:pt x="324" y="816"/>
                  </a:lnTo>
                  <a:lnTo>
                    <a:pt x="318" y="816"/>
                  </a:lnTo>
                  <a:lnTo>
                    <a:pt x="312" y="822"/>
                  </a:lnTo>
                  <a:lnTo>
                    <a:pt x="306" y="822"/>
                  </a:lnTo>
                  <a:lnTo>
                    <a:pt x="306" y="828"/>
                  </a:lnTo>
                  <a:lnTo>
                    <a:pt x="300" y="828"/>
                  </a:lnTo>
                  <a:lnTo>
                    <a:pt x="300" y="834"/>
                  </a:lnTo>
                  <a:lnTo>
                    <a:pt x="300" y="840"/>
                  </a:lnTo>
                  <a:lnTo>
                    <a:pt x="294" y="840"/>
                  </a:lnTo>
                  <a:lnTo>
                    <a:pt x="294" y="846"/>
                  </a:lnTo>
                  <a:lnTo>
                    <a:pt x="294" y="852"/>
                  </a:lnTo>
                  <a:lnTo>
                    <a:pt x="288" y="858"/>
                  </a:lnTo>
                  <a:lnTo>
                    <a:pt x="288" y="864"/>
                  </a:lnTo>
                  <a:lnTo>
                    <a:pt x="288" y="870"/>
                  </a:lnTo>
                  <a:lnTo>
                    <a:pt x="288" y="876"/>
                  </a:lnTo>
                  <a:lnTo>
                    <a:pt x="288" y="882"/>
                  </a:lnTo>
                  <a:lnTo>
                    <a:pt x="288" y="888"/>
                  </a:lnTo>
                  <a:lnTo>
                    <a:pt x="288" y="894"/>
                  </a:lnTo>
                  <a:lnTo>
                    <a:pt x="288" y="900"/>
                  </a:lnTo>
                  <a:lnTo>
                    <a:pt x="288" y="906"/>
                  </a:lnTo>
                  <a:lnTo>
                    <a:pt x="294" y="912"/>
                  </a:lnTo>
                  <a:lnTo>
                    <a:pt x="294" y="918"/>
                  </a:lnTo>
                  <a:lnTo>
                    <a:pt x="300" y="918"/>
                  </a:lnTo>
                  <a:lnTo>
                    <a:pt x="300" y="924"/>
                  </a:lnTo>
                  <a:lnTo>
                    <a:pt x="306" y="924"/>
                  </a:lnTo>
                  <a:lnTo>
                    <a:pt x="306" y="930"/>
                  </a:lnTo>
                  <a:lnTo>
                    <a:pt x="300" y="930"/>
                  </a:lnTo>
                  <a:lnTo>
                    <a:pt x="306" y="936"/>
                  </a:lnTo>
                  <a:lnTo>
                    <a:pt x="300" y="936"/>
                  </a:lnTo>
                  <a:lnTo>
                    <a:pt x="294" y="942"/>
                  </a:lnTo>
                  <a:lnTo>
                    <a:pt x="294" y="948"/>
                  </a:lnTo>
                  <a:lnTo>
                    <a:pt x="288" y="948"/>
                  </a:lnTo>
                  <a:lnTo>
                    <a:pt x="288" y="954"/>
                  </a:lnTo>
                  <a:lnTo>
                    <a:pt x="282" y="954"/>
                  </a:lnTo>
                  <a:lnTo>
                    <a:pt x="276" y="954"/>
                  </a:lnTo>
                  <a:lnTo>
                    <a:pt x="270" y="954"/>
                  </a:lnTo>
                  <a:lnTo>
                    <a:pt x="264" y="954"/>
                  </a:lnTo>
                  <a:lnTo>
                    <a:pt x="258" y="954"/>
                  </a:lnTo>
                  <a:lnTo>
                    <a:pt x="258" y="948"/>
                  </a:lnTo>
                  <a:lnTo>
                    <a:pt x="252" y="948"/>
                  </a:lnTo>
                  <a:lnTo>
                    <a:pt x="246" y="948"/>
                  </a:lnTo>
                  <a:lnTo>
                    <a:pt x="246" y="954"/>
                  </a:lnTo>
                  <a:lnTo>
                    <a:pt x="240" y="954"/>
                  </a:lnTo>
                  <a:lnTo>
                    <a:pt x="234" y="954"/>
                  </a:lnTo>
                  <a:lnTo>
                    <a:pt x="234" y="960"/>
                  </a:lnTo>
                  <a:lnTo>
                    <a:pt x="228" y="960"/>
                  </a:lnTo>
                  <a:lnTo>
                    <a:pt x="228" y="966"/>
                  </a:lnTo>
                  <a:lnTo>
                    <a:pt x="222" y="966"/>
                  </a:lnTo>
                  <a:lnTo>
                    <a:pt x="222" y="972"/>
                  </a:lnTo>
                  <a:lnTo>
                    <a:pt x="216" y="972"/>
                  </a:lnTo>
                  <a:lnTo>
                    <a:pt x="216" y="978"/>
                  </a:lnTo>
                  <a:lnTo>
                    <a:pt x="210" y="978"/>
                  </a:lnTo>
                  <a:lnTo>
                    <a:pt x="210" y="984"/>
                  </a:lnTo>
                  <a:lnTo>
                    <a:pt x="204" y="984"/>
                  </a:lnTo>
                  <a:lnTo>
                    <a:pt x="204" y="990"/>
                  </a:lnTo>
                  <a:lnTo>
                    <a:pt x="204" y="996"/>
                  </a:lnTo>
                  <a:lnTo>
                    <a:pt x="198" y="1002"/>
                  </a:lnTo>
                  <a:lnTo>
                    <a:pt x="198" y="1008"/>
                  </a:lnTo>
                  <a:lnTo>
                    <a:pt x="198" y="1014"/>
                  </a:lnTo>
                  <a:lnTo>
                    <a:pt x="198" y="1020"/>
                  </a:lnTo>
                  <a:lnTo>
                    <a:pt x="204" y="1020"/>
                  </a:lnTo>
                  <a:lnTo>
                    <a:pt x="204" y="1026"/>
                  </a:lnTo>
                  <a:lnTo>
                    <a:pt x="204" y="1032"/>
                  </a:lnTo>
                  <a:lnTo>
                    <a:pt x="204" y="1038"/>
                  </a:lnTo>
                  <a:lnTo>
                    <a:pt x="204" y="1032"/>
                  </a:lnTo>
                  <a:lnTo>
                    <a:pt x="198" y="1032"/>
                  </a:lnTo>
                  <a:lnTo>
                    <a:pt x="198" y="1038"/>
                  </a:lnTo>
                  <a:lnTo>
                    <a:pt x="198" y="1044"/>
                  </a:lnTo>
                  <a:lnTo>
                    <a:pt x="204" y="1044"/>
                  </a:lnTo>
                  <a:lnTo>
                    <a:pt x="204" y="1050"/>
                  </a:lnTo>
                  <a:lnTo>
                    <a:pt x="204" y="1044"/>
                  </a:lnTo>
                  <a:lnTo>
                    <a:pt x="204" y="1050"/>
                  </a:lnTo>
                  <a:lnTo>
                    <a:pt x="204" y="1056"/>
                  </a:lnTo>
                  <a:lnTo>
                    <a:pt x="204" y="1050"/>
                  </a:lnTo>
                  <a:lnTo>
                    <a:pt x="204" y="1056"/>
                  </a:lnTo>
                  <a:lnTo>
                    <a:pt x="204" y="1050"/>
                  </a:lnTo>
                  <a:lnTo>
                    <a:pt x="204" y="1056"/>
                  </a:lnTo>
                  <a:lnTo>
                    <a:pt x="210" y="1056"/>
                  </a:lnTo>
                  <a:lnTo>
                    <a:pt x="210" y="1062"/>
                  </a:lnTo>
                  <a:lnTo>
                    <a:pt x="204" y="1062"/>
                  </a:lnTo>
                  <a:lnTo>
                    <a:pt x="198" y="1062"/>
                  </a:lnTo>
                  <a:lnTo>
                    <a:pt x="198" y="1056"/>
                  </a:lnTo>
                  <a:lnTo>
                    <a:pt x="192" y="1056"/>
                  </a:lnTo>
                  <a:lnTo>
                    <a:pt x="198" y="1056"/>
                  </a:lnTo>
                  <a:lnTo>
                    <a:pt x="198" y="1050"/>
                  </a:lnTo>
                  <a:lnTo>
                    <a:pt x="192" y="1056"/>
                  </a:lnTo>
                  <a:lnTo>
                    <a:pt x="192" y="1050"/>
                  </a:lnTo>
                  <a:lnTo>
                    <a:pt x="186" y="1050"/>
                  </a:lnTo>
                  <a:lnTo>
                    <a:pt x="186" y="1056"/>
                  </a:lnTo>
                  <a:lnTo>
                    <a:pt x="180" y="1056"/>
                  </a:lnTo>
                  <a:lnTo>
                    <a:pt x="180" y="1062"/>
                  </a:lnTo>
                  <a:lnTo>
                    <a:pt x="174" y="1062"/>
                  </a:lnTo>
                  <a:lnTo>
                    <a:pt x="174" y="1056"/>
                  </a:lnTo>
                  <a:lnTo>
                    <a:pt x="174" y="1062"/>
                  </a:lnTo>
                  <a:lnTo>
                    <a:pt x="168" y="1062"/>
                  </a:lnTo>
                  <a:lnTo>
                    <a:pt x="162" y="1062"/>
                  </a:lnTo>
                  <a:lnTo>
                    <a:pt x="162" y="1068"/>
                  </a:lnTo>
                  <a:lnTo>
                    <a:pt x="156" y="1068"/>
                  </a:lnTo>
                  <a:lnTo>
                    <a:pt x="156" y="1074"/>
                  </a:lnTo>
                  <a:lnTo>
                    <a:pt x="150" y="1074"/>
                  </a:lnTo>
                  <a:lnTo>
                    <a:pt x="150" y="1080"/>
                  </a:lnTo>
                  <a:lnTo>
                    <a:pt x="150" y="1074"/>
                  </a:lnTo>
                  <a:lnTo>
                    <a:pt x="150" y="1080"/>
                  </a:lnTo>
                  <a:lnTo>
                    <a:pt x="144" y="1080"/>
                  </a:lnTo>
                  <a:lnTo>
                    <a:pt x="144" y="1074"/>
                  </a:lnTo>
                  <a:lnTo>
                    <a:pt x="144" y="1068"/>
                  </a:lnTo>
                  <a:lnTo>
                    <a:pt x="138" y="1068"/>
                  </a:lnTo>
                  <a:lnTo>
                    <a:pt x="132" y="1068"/>
                  </a:lnTo>
                  <a:lnTo>
                    <a:pt x="132" y="1074"/>
                  </a:lnTo>
                  <a:lnTo>
                    <a:pt x="138" y="1074"/>
                  </a:lnTo>
                  <a:lnTo>
                    <a:pt x="132" y="1074"/>
                  </a:lnTo>
                  <a:lnTo>
                    <a:pt x="132" y="1080"/>
                  </a:lnTo>
                  <a:lnTo>
                    <a:pt x="138" y="1080"/>
                  </a:lnTo>
                  <a:lnTo>
                    <a:pt x="138" y="1074"/>
                  </a:lnTo>
                  <a:lnTo>
                    <a:pt x="138" y="1080"/>
                  </a:lnTo>
                  <a:lnTo>
                    <a:pt x="144" y="1080"/>
                  </a:lnTo>
                  <a:lnTo>
                    <a:pt x="144" y="1086"/>
                  </a:lnTo>
                  <a:lnTo>
                    <a:pt x="138" y="1086"/>
                  </a:lnTo>
                  <a:lnTo>
                    <a:pt x="138" y="1092"/>
                  </a:lnTo>
                  <a:lnTo>
                    <a:pt x="144" y="1092"/>
                  </a:lnTo>
                  <a:lnTo>
                    <a:pt x="144" y="1098"/>
                  </a:lnTo>
                  <a:lnTo>
                    <a:pt x="138" y="1098"/>
                  </a:lnTo>
                  <a:lnTo>
                    <a:pt x="144" y="1098"/>
                  </a:lnTo>
                  <a:lnTo>
                    <a:pt x="138" y="1098"/>
                  </a:lnTo>
                  <a:lnTo>
                    <a:pt x="132" y="1098"/>
                  </a:lnTo>
                  <a:lnTo>
                    <a:pt x="138" y="1098"/>
                  </a:lnTo>
                  <a:lnTo>
                    <a:pt x="132" y="1098"/>
                  </a:lnTo>
                  <a:lnTo>
                    <a:pt x="132" y="1104"/>
                  </a:lnTo>
                  <a:lnTo>
                    <a:pt x="138" y="1104"/>
                  </a:lnTo>
                  <a:lnTo>
                    <a:pt x="138" y="1110"/>
                  </a:lnTo>
                  <a:lnTo>
                    <a:pt x="138" y="1116"/>
                  </a:lnTo>
                  <a:lnTo>
                    <a:pt x="132" y="1116"/>
                  </a:lnTo>
                  <a:lnTo>
                    <a:pt x="138" y="1116"/>
                  </a:lnTo>
                  <a:lnTo>
                    <a:pt x="138" y="1122"/>
                  </a:lnTo>
                  <a:lnTo>
                    <a:pt x="138" y="1128"/>
                  </a:lnTo>
                  <a:lnTo>
                    <a:pt x="132" y="1128"/>
                  </a:lnTo>
                  <a:lnTo>
                    <a:pt x="138" y="1128"/>
                  </a:lnTo>
                  <a:lnTo>
                    <a:pt x="132" y="1128"/>
                  </a:lnTo>
                  <a:lnTo>
                    <a:pt x="132" y="1134"/>
                  </a:lnTo>
                  <a:lnTo>
                    <a:pt x="132" y="1140"/>
                  </a:lnTo>
                  <a:lnTo>
                    <a:pt x="132" y="1134"/>
                  </a:lnTo>
                  <a:lnTo>
                    <a:pt x="126" y="1140"/>
                  </a:lnTo>
                  <a:lnTo>
                    <a:pt x="132" y="1140"/>
                  </a:lnTo>
                  <a:lnTo>
                    <a:pt x="126" y="1140"/>
                  </a:lnTo>
                  <a:lnTo>
                    <a:pt x="126" y="1146"/>
                  </a:lnTo>
                  <a:lnTo>
                    <a:pt x="126" y="1152"/>
                  </a:lnTo>
                  <a:lnTo>
                    <a:pt x="120" y="1152"/>
                  </a:lnTo>
                  <a:lnTo>
                    <a:pt x="120" y="1158"/>
                  </a:lnTo>
                  <a:lnTo>
                    <a:pt x="114" y="1164"/>
                  </a:lnTo>
                  <a:lnTo>
                    <a:pt x="114" y="1170"/>
                  </a:lnTo>
                  <a:lnTo>
                    <a:pt x="108" y="1170"/>
                  </a:lnTo>
                  <a:lnTo>
                    <a:pt x="108" y="1176"/>
                  </a:lnTo>
                  <a:lnTo>
                    <a:pt x="102" y="1176"/>
                  </a:lnTo>
                  <a:lnTo>
                    <a:pt x="102" y="1182"/>
                  </a:lnTo>
                  <a:lnTo>
                    <a:pt x="96" y="1182"/>
                  </a:lnTo>
                  <a:lnTo>
                    <a:pt x="90" y="1188"/>
                  </a:lnTo>
                  <a:lnTo>
                    <a:pt x="90" y="1194"/>
                  </a:lnTo>
                  <a:lnTo>
                    <a:pt x="84" y="1194"/>
                  </a:lnTo>
                  <a:lnTo>
                    <a:pt x="84" y="1200"/>
                  </a:lnTo>
                  <a:lnTo>
                    <a:pt x="78" y="1200"/>
                  </a:lnTo>
                  <a:lnTo>
                    <a:pt x="78" y="1206"/>
                  </a:lnTo>
                  <a:lnTo>
                    <a:pt x="72" y="1206"/>
                  </a:lnTo>
                  <a:lnTo>
                    <a:pt x="72" y="1212"/>
                  </a:lnTo>
                  <a:lnTo>
                    <a:pt x="66" y="1212"/>
                  </a:lnTo>
                  <a:lnTo>
                    <a:pt x="66" y="1218"/>
                  </a:lnTo>
                  <a:lnTo>
                    <a:pt x="60" y="1218"/>
                  </a:lnTo>
                  <a:lnTo>
                    <a:pt x="60" y="1224"/>
                  </a:lnTo>
                  <a:lnTo>
                    <a:pt x="54" y="1224"/>
                  </a:lnTo>
                  <a:lnTo>
                    <a:pt x="54" y="1230"/>
                  </a:lnTo>
                  <a:lnTo>
                    <a:pt x="54" y="1224"/>
                  </a:lnTo>
                  <a:lnTo>
                    <a:pt x="60" y="1224"/>
                  </a:lnTo>
                  <a:lnTo>
                    <a:pt x="60" y="1218"/>
                  </a:lnTo>
                  <a:lnTo>
                    <a:pt x="60" y="1212"/>
                  </a:lnTo>
                  <a:lnTo>
                    <a:pt x="54" y="1212"/>
                  </a:lnTo>
                  <a:lnTo>
                    <a:pt x="54" y="1206"/>
                  </a:lnTo>
                  <a:lnTo>
                    <a:pt x="54" y="1200"/>
                  </a:lnTo>
                  <a:lnTo>
                    <a:pt x="48" y="1200"/>
                  </a:lnTo>
                  <a:lnTo>
                    <a:pt x="48" y="1194"/>
                  </a:lnTo>
                  <a:lnTo>
                    <a:pt x="48" y="1188"/>
                  </a:lnTo>
                  <a:lnTo>
                    <a:pt x="42" y="1182"/>
                  </a:lnTo>
                  <a:lnTo>
                    <a:pt x="42" y="1176"/>
                  </a:lnTo>
                  <a:lnTo>
                    <a:pt x="48" y="1176"/>
                  </a:lnTo>
                  <a:lnTo>
                    <a:pt x="48" y="1170"/>
                  </a:lnTo>
                  <a:lnTo>
                    <a:pt x="42" y="1170"/>
                  </a:lnTo>
                  <a:lnTo>
                    <a:pt x="48" y="1170"/>
                  </a:lnTo>
                  <a:lnTo>
                    <a:pt x="48" y="1164"/>
                  </a:lnTo>
                  <a:lnTo>
                    <a:pt x="48" y="1158"/>
                  </a:lnTo>
                  <a:lnTo>
                    <a:pt x="48" y="1152"/>
                  </a:lnTo>
                  <a:lnTo>
                    <a:pt x="48" y="1158"/>
                  </a:lnTo>
                  <a:lnTo>
                    <a:pt x="54" y="1158"/>
                  </a:lnTo>
                  <a:lnTo>
                    <a:pt x="54" y="1152"/>
                  </a:lnTo>
                  <a:lnTo>
                    <a:pt x="54" y="1158"/>
                  </a:lnTo>
                  <a:lnTo>
                    <a:pt x="54" y="1152"/>
                  </a:lnTo>
                  <a:lnTo>
                    <a:pt x="54" y="1158"/>
                  </a:lnTo>
                  <a:lnTo>
                    <a:pt x="48" y="1152"/>
                  </a:lnTo>
                  <a:lnTo>
                    <a:pt x="48" y="1158"/>
                  </a:lnTo>
                  <a:lnTo>
                    <a:pt x="48" y="1152"/>
                  </a:lnTo>
                  <a:lnTo>
                    <a:pt x="42" y="1152"/>
                  </a:lnTo>
                  <a:lnTo>
                    <a:pt x="42" y="1146"/>
                  </a:lnTo>
                  <a:lnTo>
                    <a:pt x="42" y="1140"/>
                  </a:lnTo>
                  <a:lnTo>
                    <a:pt x="42" y="1134"/>
                  </a:lnTo>
                  <a:lnTo>
                    <a:pt x="42" y="1128"/>
                  </a:lnTo>
                  <a:lnTo>
                    <a:pt x="42" y="1122"/>
                  </a:lnTo>
                  <a:lnTo>
                    <a:pt x="42" y="1116"/>
                  </a:lnTo>
                  <a:lnTo>
                    <a:pt x="36" y="1116"/>
                  </a:lnTo>
                  <a:lnTo>
                    <a:pt x="36" y="1110"/>
                  </a:lnTo>
                  <a:lnTo>
                    <a:pt x="36" y="1104"/>
                  </a:lnTo>
                  <a:lnTo>
                    <a:pt x="36" y="1098"/>
                  </a:lnTo>
                  <a:lnTo>
                    <a:pt x="30" y="1098"/>
                  </a:lnTo>
                  <a:lnTo>
                    <a:pt x="30" y="1092"/>
                  </a:lnTo>
                  <a:lnTo>
                    <a:pt x="30" y="1086"/>
                  </a:lnTo>
                  <a:lnTo>
                    <a:pt x="30" y="1080"/>
                  </a:lnTo>
                  <a:lnTo>
                    <a:pt x="30" y="1074"/>
                  </a:lnTo>
                  <a:lnTo>
                    <a:pt x="30" y="1068"/>
                  </a:lnTo>
                  <a:lnTo>
                    <a:pt x="24" y="1062"/>
                  </a:lnTo>
                  <a:lnTo>
                    <a:pt x="24" y="1050"/>
                  </a:lnTo>
                  <a:lnTo>
                    <a:pt x="24" y="1044"/>
                  </a:lnTo>
                  <a:lnTo>
                    <a:pt x="24" y="1038"/>
                  </a:lnTo>
                  <a:lnTo>
                    <a:pt x="24" y="1032"/>
                  </a:lnTo>
                  <a:lnTo>
                    <a:pt x="24" y="1026"/>
                  </a:lnTo>
                  <a:lnTo>
                    <a:pt x="24" y="1020"/>
                  </a:lnTo>
                  <a:lnTo>
                    <a:pt x="18" y="1014"/>
                  </a:lnTo>
                  <a:lnTo>
                    <a:pt x="18" y="1008"/>
                  </a:lnTo>
                  <a:lnTo>
                    <a:pt x="18" y="1002"/>
                  </a:lnTo>
                  <a:lnTo>
                    <a:pt x="18" y="996"/>
                  </a:lnTo>
                  <a:lnTo>
                    <a:pt x="18" y="990"/>
                  </a:lnTo>
                  <a:lnTo>
                    <a:pt x="18" y="984"/>
                  </a:lnTo>
                  <a:lnTo>
                    <a:pt x="12" y="978"/>
                  </a:lnTo>
                  <a:lnTo>
                    <a:pt x="12" y="972"/>
                  </a:lnTo>
                  <a:lnTo>
                    <a:pt x="12" y="966"/>
                  </a:lnTo>
                  <a:lnTo>
                    <a:pt x="12" y="960"/>
                  </a:lnTo>
                  <a:lnTo>
                    <a:pt x="12" y="954"/>
                  </a:lnTo>
                  <a:lnTo>
                    <a:pt x="6" y="954"/>
                  </a:lnTo>
                  <a:lnTo>
                    <a:pt x="6" y="948"/>
                  </a:lnTo>
                  <a:lnTo>
                    <a:pt x="6" y="942"/>
                  </a:lnTo>
                  <a:lnTo>
                    <a:pt x="6" y="936"/>
                  </a:lnTo>
                  <a:lnTo>
                    <a:pt x="6" y="930"/>
                  </a:lnTo>
                  <a:lnTo>
                    <a:pt x="6" y="924"/>
                  </a:lnTo>
                  <a:lnTo>
                    <a:pt x="6" y="918"/>
                  </a:lnTo>
                  <a:lnTo>
                    <a:pt x="6" y="912"/>
                  </a:lnTo>
                  <a:lnTo>
                    <a:pt x="6" y="906"/>
                  </a:lnTo>
                  <a:lnTo>
                    <a:pt x="0" y="900"/>
                  </a:lnTo>
                  <a:lnTo>
                    <a:pt x="0" y="894"/>
                  </a:lnTo>
                  <a:lnTo>
                    <a:pt x="0" y="888"/>
                  </a:lnTo>
                  <a:lnTo>
                    <a:pt x="0" y="882"/>
                  </a:lnTo>
                  <a:lnTo>
                    <a:pt x="0" y="876"/>
                  </a:lnTo>
                  <a:lnTo>
                    <a:pt x="6" y="876"/>
                  </a:lnTo>
                  <a:lnTo>
                    <a:pt x="6" y="870"/>
                  </a:lnTo>
                  <a:lnTo>
                    <a:pt x="6" y="864"/>
                  </a:lnTo>
                  <a:lnTo>
                    <a:pt x="6" y="858"/>
                  </a:lnTo>
                  <a:lnTo>
                    <a:pt x="6" y="852"/>
                  </a:lnTo>
                  <a:lnTo>
                    <a:pt x="6" y="846"/>
                  </a:lnTo>
                  <a:lnTo>
                    <a:pt x="6" y="840"/>
                  </a:lnTo>
                  <a:lnTo>
                    <a:pt x="6" y="846"/>
                  </a:lnTo>
                  <a:lnTo>
                    <a:pt x="6" y="840"/>
                  </a:lnTo>
                  <a:lnTo>
                    <a:pt x="6" y="834"/>
                  </a:lnTo>
                  <a:lnTo>
                    <a:pt x="12" y="828"/>
                  </a:lnTo>
                  <a:lnTo>
                    <a:pt x="12" y="822"/>
                  </a:lnTo>
                  <a:lnTo>
                    <a:pt x="12" y="816"/>
                  </a:lnTo>
                  <a:lnTo>
                    <a:pt x="12" y="810"/>
                  </a:lnTo>
                  <a:lnTo>
                    <a:pt x="12" y="804"/>
                  </a:lnTo>
                  <a:lnTo>
                    <a:pt x="18" y="804"/>
                  </a:lnTo>
                  <a:lnTo>
                    <a:pt x="18" y="798"/>
                  </a:lnTo>
                  <a:lnTo>
                    <a:pt x="18" y="792"/>
                  </a:lnTo>
                  <a:lnTo>
                    <a:pt x="18" y="786"/>
                  </a:lnTo>
                  <a:lnTo>
                    <a:pt x="24" y="780"/>
                  </a:lnTo>
                  <a:lnTo>
                    <a:pt x="24" y="774"/>
                  </a:lnTo>
                  <a:lnTo>
                    <a:pt x="24" y="768"/>
                  </a:lnTo>
                  <a:lnTo>
                    <a:pt x="30" y="768"/>
                  </a:lnTo>
                  <a:lnTo>
                    <a:pt x="30" y="762"/>
                  </a:lnTo>
                  <a:lnTo>
                    <a:pt x="30" y="768"/>
                  </a:lnTo>
                  <a:lnTo>
                    <a:pt x="30" y="762"/>
                  </a:lnTo>
                  <a:lnTo>
                    <a:pt x="36" y="762"/>
                  </a:lnTo>
                  <a:lnTo>
                    <a:pt x="42" y="762"/>
                  </a:lnTo>
                  <a:lnTo>
                    <a:pt x="42" y="756"/>
                  </a:lnTo>
                  <a:lnTo>
                    <a:pt x="48" y="756"/>
                  </a:lnTo>
                  <a:lnTo>
                    <a:pt x="48" y="750"/>
                  </a:lnTo>
                  <a:lnTo>
                    <a:pt x="48" y="744"/>
                  </a:lnTo>
                  <a:lnTo>
                    <a:pt x="54" y="744"/>
                  </a:lnTo>
                  <a:lnTo>
                    <a:pt x="54" y="738"/>
                  </a:lnTo>
                  <a:lnTo>
                    <a:pt x="60" y="738"/>
                  </a:lnTo>
                  <a:lnTo>
                    <a:pt x="60" y="732"/>
                  </a:lnTo>
                  <a:lnTo>
                    <a:pt x="66" y="726"/>
                  </a:lnTo>
                  <a:lnTo>
                    <a:pt x="66" y="720"/>
                  </a:lnTo>
                  <a:lnTo>
                    <a:pt x="66" y="714"/>
                  </a:lnTo>
                  <a:lnTo>
                    <a:pt x="66" y="708"/>
                  </a:lnTo>
                  <a:lnTo>
                    <a:pt x="66" y="702"/>
                  </a:lnTo>
                  <a:lnTo>
                    <a:pt x="66" y="696"/>
                  </a:lnTo>
                  <a:lnTo>
                    <a:pt x="66" y="690"/>
                  </a:lnTo>
                  <a:lnTo>
                    <a:pt x="60" y="690"/>
                  </a:lnTo>
                  <a:lnTo>
                    <a:pt x="60" y="684"/>
                  </a:lnTo>
                  <a:lnTo>
                    <a:pt x="66" y="684"/>
                  </a:lnTo>
                  <a:lnTo>
                    <a:pt x="66" y="678"/>
                  </a:lnTo>
                  <a:lnTo>
                    <a:pt x="72" y="678"/>
                  </a:lnTo>
                  <a:lnTo>
                    <a:pt x="72" y="684"/>
                  </a:lnTo>
                  <a:lnTo>
                    <a:pt x="78" y="684"/>
                  </a:lnTo>
                  <a:lnTo>
                    <a:pt x="84" y="684"/>
                  </a:lnTo>
                  <a:lnTo>
                    <a:pt x="90" y="684"/>
                  </a:lnTo>
                  <a:lnTo>
                    <a:pt x="96" y="678"/>
                  </a:lnTo>
                  <a:lnTo>
                    <a:pt x="96" y="672"/>
                  </a:lnTo>
                  <a:lnTo>
                    <a:pt x="102" y="666"/>
                  </a:lnTo>
                  <a:lnTo>
                    <a:pt x="96" y="666"/>
                  </a:lnTo>
                  <a:lnTo>
                    <a:pt x="102" y="666"/>
                  </a:lnTo>
                  <a:lnTo>
                    <a:pt x="108" y="666"/>
                  </a:lnTo>
                  <a:lnTo>
                    <a:pt x="114" y="666"/>
                  </a:lnTo>
                  <a:lnTo>
                    <a:pt x="120" y="666"/>
                  </a:lnTo>
                  <a:lnTo>
                    <a:pt x="126" y="666"/>
                  </a:lnTo>
                  <a:lnTo>
                    <a:pt x="126" y="660"/>
                  </a:lnTo>
                  <a:lnTo>
                    <a:pt x="132" y="660"/>
                  </a:lnTo>
                  <a:lnTo>
                    <a:pt x="132" y="654"/>
                  </a:lnTo>
                  <a:lnTo>
                    <a:pt x="138" y="654"/>
                  </a:lnTo>
                  <a:lnTo>
                    <a:pt x="138" y="648"/>
                  </a:lnTo>
                  <a:lnTo>
                    <a:pt x="144" y="648"/>
                  </a:lnTo>
                  <a:lnTo>
                    <a:pt x="144" y="642"/>
                  </a:lnTo>
                  <a:lnTo>
                    <a:pt x="150" y="642"/>
                  </a:lnTo>
                  <a:lnTo>
                    <a:pt x="150" y="636"/>
                  </a:lnTo>
                  <a:lnTo>
                    <a:pt x="156" y="636"/>
                  </a:lnTo>
                  <a:lnTo>
                    <a:pt x="162" y="630"/>
                  </a:lnTo>
                  <a:lnTo>
                    <a:pt x="168" y="624"/>
                  </a:lnTo>
                  <a:lnTo>
                    <a:pt x="168" y="618"/>
                  </a:lnTo>
                  <a:lnTo>
                    <a:pt x="174" y="612"/>
                  </a:lnTo>
                  <a:lnTo>
                    <a:pt x="180" y="612"/>
                  </a:lnTo>
                  <a:lnTo>
                    <a:pt x="180" y="606"/>
                  </a:lnTo>
                  <a:lnTo>
                    <a:pt x="186" y="600"/>
                  </a:lnTo>
                  <a:lnTo>
                    <a:pt x="186" y="594"/>
                  </a:lnTo>
                  <a:lnTo>
                    <a:pt x="192" y="594"/>
                  </a:lnTo>
                  <a:lnTo>
                    <a:pt x="186" y="594"/>
                  </a:lnTo>
                  <a:lnTo>
                    <a:pt x="192" y="594"/>
                  </a:lnTo>
                  <a:lnTo>
                    <a:pt x="192" y="588"/>
                  </a:lnTo>
                  <a:lnTo>
                    <a:pt x="192" y="582"/>
                  </a:lnTo>
                  <a:lnTo>
                    <a:pt x="192" y="576"/>
                  </a:lnTo>
                  <a:lnTo>
                    <a:pt x="198" y="576"/>
                  </a:lnTo>
                  <a:lnTo>
                    <a:pt x="198" y="570"/>
                  </a:lnTo>
                  <a:lnTo>
                    <a:pt x="198" y="564"/>
                  </a:lnTo>
                  <a:lnTo>
                    <a:pt x="204" y="564"/>
                  </a:lnTo>
                  <a:lnTo>
                    <a:pt x="204" y="570"/>
                  </a:lnTo>
                  <a:lnTo>
                    <a:pt x="204" y="564"/>
                  </a:lnTo>
                  <a:lnTo>
                    <a:pt x="210" y="558"/>
                  </a:lnTo>
                  <a:lnTo>
                    <a:pt x="210" y="552"/>
                  </a:lnTo>
                  <a:lnTo>
                    <a:pt x="216" y="552"/>
                  </a:lnTo>
                  <a:lnTo>
                    <a:pt x="216" y="546"/>
                  </a:lnTo>
                  <a:lnTo>
                    <a:pt x="222" y="546"/>
                  </a:lnTo>
                  <a:lnTo>
                    <a:pt x="222" y="540"/>
                  </a:lnTo>
                  <a:lnTo>
                    <a:pt x="228" y="540"/>
                  </a:lnTo>
                  <a:lnTo>
                    <a:pt x="228" y="534"/>
                  </a:lnTo>
                  <a:lnTo>
                    <a:pt x="228" y="528"/>
                  </a:lnTo>
                  <a:lnTo>
                    <a:pt x="234" y="528"/>
                  </a:lnTo>
                  <a:lnTo>
                    <a:pt x="228" y="528"/>
                  </a:lnTo>
                  <a:lnTo>
                    <a:pt x="234" y="528"/>
                  </a:lnTo>
                  <a:lnTo>
                    <a:pt x="240" y="528"/>
                  </a:lnTo>
                  <a:lnTo>
                    <a:pt x="240" y="522"/>
                  </a:lnTo>
                  <a:lnTo>
                    <a:pt x="246" y="522"/>
                  </a:lnTo>
                  <a:lnTo>
                    <a:pt x="252" y="516"/>
                  </a:lnTo>
                  <a:lnTo>
                    <a:pt x="252" y="510"/>
                  </a:lnTo>
                  <a:lnTo>
                    <a:pt x="258" y="510"/>
                  </a:lnTo>
                  <a:lnTo>
                    <a:pt x="258" y="504"/>
                  </a:lnTo>
                  <a:lnTo>
                    <a:pt x="264" y="504"/>
                  </a:lnTo>
                  <a:lnTo>
                    <a:pt x="264" y="498"/>
                  </a:lnTo>
                  <a:lnTo>
                    <a:pt x="270" y="492"/>
                  </a:lnTo>
                  <a:lnTo>
                    <a:pt x="270" y="486"/>
                  </a:lnTo>
                  <a:lnTo>
                    <a:pt x="276" y="486"/>
                  </a:lnTo>
                  <a:lnTo>
                    <a:pt x="282" y="480"/>
                  </a:lnTo>
                  <a:lnTo>
                    <a:pt x="288" y="480"/>
                  </a:lnTo>
                  <a:lnTo>
                    <a:pt x="288" y="474"/>
                  </a:lnTo>
                  <a:lnTo>
                    <a:pt x="294" y="474"/>
                  </a:lnTo>
                  <a:lnTo>
                    <a:pt x="294" y="468"/>
                  </a:lnTo>
                  <a:lnTo>
                    <a:pt x="294" y="462"/>
                  </a:lnTo>
                  <a:lnTo>
                    <a:pt x="294" y="456"/>
                  </a:lnTo>
                  <a:lnTo>
                    <a:pt x="294" y="450"/>
                  </a:lnTo>
                  <a:lnTo>
                    <a:pt x="300" y="450"/>
                  </a:lnTo>
                  <a:lnTo>
                    <a:pt x="300" y="444"/>
                  </a:lnTo>
                  <a:lnTo>
                    <a:pt x="306" y="444"/>
                  </a:lnTo>
                  <a:lnTo>
                    <a:pt x="306" y="438"/>
                  </a:lnTo>
                  <a:lnTo>
                    <a:pt x="312" y="438"/>
                  </a:lnTo>
                  <a:lnTo>
                    <a:pt x="318" y="438"/>
                  </a:lnTo>
                  <a:lnTo>
                    <a:pt x="324" y="432"/>
                  </a:lnTo>
                  <a:lnTo>
                    <a:pt x="330" y="432"/>
                  </a:lnTo>
                  <a:lnTo>
                    <a:pt x="336" y="426"/>
                  </a:lnTo>
                  <a:lnTo>
                    <a:pt x="336" y="420"/>
                  </a:lnTo>
                  <a:lnTo>
                    <a:pt x="342" y="420"/>
                  </a:lnTo>
                  <a:lnTo>
                    <a:pt x="342" y="414"/>
                  </a:lnTo>
                  <a:lnTo>
                    <a:pt x="348" y="420"/>
                  </a:lnTo>
                  <a:lnTo>
                    <a:pt x="348" y="414"/>
                  </a:lnTo>
                  <a:lnTo>
                    <a:pt x="354" y="414"/>
                  </a:lnTo>
                  <a:lnTo>
                    <a:pt x="360" y="414"/>
                  </a:lnTo>
                  <a:lnTo>
                    <a:pt x="360" y="420"/>
                  </a:lnTo>
                  <a:lnTo>
                    <a:pt x="360" y="414"/>
                  </a:lnTo>
                  <a:lnTo>
                    <a:pt x="366" y="414"/>
                  </a:lnTo>
                  <a:lnTo>
                    <a:pt x="366" y="408"/>
                  </a:lnTo>
                  <a:lnTo>
                    <a:pt x="372" y="408"/>
                  </a:lnTo>
                  <a:lnTo>
                    <a:pt x="378" y="408"/>
                  </a:lnTo>
                  <a:lnTo>
                    <a:pt x="378" y="414"/>
                  </a:lnTo>
                  <a:lnTo>
                    <a:pt x="378" y="408"/>
                  </a:lnTo>
                  <a:lnTo>
                    <a:pt x="378" y="402"/>
                  </a:lnTo>
                  <a:lnTo>
                    <a:pt x="372" y="402"/>
                  </a:lnTo>
                  <a:lnTo>
                    <a:pt x="372" y="396"/>
                  </a:lnTo>
                  <a:lnTo>
                    <a:pt x="366" y="396"/>
                  </a:lnTo>
                  <a:lnTo>
                    <a:pt x="366" y="390"/>
                  </a:lnTo>
                  <a:lnTo>
                    <a:pt x="372" y="390"/>
                  </a:lnTo>
                  <a:lnTo>
                    <a:pt x="372" y="384"/>
                  </a:lnTo>
                  <a:lnTo>
                    <a:pt x="378" y="384"/>
                  </a:lnTo>
                  <a:lnTo>
                    <a:pt x="378" y="378"/>
                  </a:lnTo>
                  <a:lnTo>
                    <a:pt x="384" y="378"/>
                  </a:lnTo>
                  <a:lnTo>
                    <a:pt x="384" y="372"/>
                  </a:lnTo>
                  <a:lnTo>
                    <a:pt x="390" y="372"/>
                  </a:lnTo>
                  <a:lnTo>
                    <a:pt x="390" y="366"/>
                  </a:lnTo>
                  <a:lnTo>
                    <a:pt x="390" y="360"/>
                  </a:lnTo>
                  <a:lnTo>
                    <a:pt x="390" y="354"/>
                  </a:lnTo>
                  <a:lnTo>
                    <a:pt x="384" y="354"/>
                  </a:lnTo>
                  <a:lnTo>
                    <a:pt x="378" y="354"/>
                  </a:lnTo>
                  <a:lnTo>
                    <a:pt x="378" y="348"/>
                  </a:lnTo>
                  <a:lnTo>
                    <a:pt x="384" y="348"/>
                  </a:lnTo>
                  <a:lnTo>
                    <a:pt x="384" y="342"/>
                  </a:lnTo>
                  <a:lnTo>
                    <a:pt x="384" y="336"/>
                  </a:lnTo>
                  <a:lnTo>
                    <a:pt x="384" y="330"/>
                  </a:lnTo>
                  <a:lnTo>
                    <a:pt x="390" y="330"/>
                  </a:lnTo>
                  <a:lnTo>
                    <a:pt x="390" y="324"/>
                  </a:lnTo>
                  <a:lnTo>
                    <a:pt x="390" y="318"/>
                  </a:lnTo>
                  <a:lnTo>
                    <a:pt x="396" y="318"/>
                  </a:lnTo>
                  <a:lnTo>
                    <a:pt x="390" y="318"/>
                  </a:lnTo>
                  <a:lnTo>
                    <a:pt x="390" y="312"/>
                  </a:lnTo>
                  <a:lnTo>
                    <a:pt x="396" y="312"/>
                  </a:lnTo>
                  <a:lnTo>
                    <a:pt x="396" y="306"/>
                  </a:lnTo>
                  <a:lnTo>
                    <a:pt x="396" y="300"/>
                  </a:lnTo>
                  <a:lnTo>
                    <a:pt x="390" y="300"/>
                  </a:lnTo>
                  <a:lnTo>
                    <a:pt x="396" y="300"/>
                  </a:lnTo>
                  <a:lnTo>
                    <a:pt x="396" y="294"/>
                  </a:lnTo>
                  <a:lnTo>
                    <a:pt x="396" y="288"/>
                  </a:lnTo>
                  <a:lnTo>
                    <a:pt x="396" y="282"/>
                  </a:lnTo>
                  <a:lnTo>
                    <a:pt x="396" y="276"/>
                  </a:lnTo>
                  <a:lnTo>
                    <a:pt x="396" y="270"/>
                  </a:lnTo>
                  <a:lnTo>
                    <a:pt x="402" y="270"/>
                  </a:lnTo>
                  <a:lnTo>
                    <a:pt x="402" y="264"/>
                  </a:lnTo>
                  <a:lnTo>
                    <a:pt x="408" y="264"/>
                  </a:lnTo>
                  <a:lnTo>
                    <a:pt x="408" y="258"/>
                  </a:lnTo>
                  <a:lnTo>
                    <a:pt x="414" y="258"/>
                  </a:lnTo>
                  <a:lnTo>
                    <a:pt x="420" y="258"/>
                  </a:lnTo>
                  <a:lnTo>
                    <a:pt x="420" y="252"/>
                  </a:lnTo>
                  <a:lnTo>
                    <a:pt x="426" y="252"/>
                  </a:lnTo>
                  <a:lnTo>
                    <a:pt x="426" y="258"/>
                  </a:lnTo>
                  <a:lnTo>
                    <a:pt x="432" y="258"/>
                  </a:lnTo>
                  <a:lnTo>
                    <a:pt x="438" y="258"/>
                  </a:lnTo>
                  <a:lnTo>
                    <a:pt x="444" y="258"/>
                  </a:lnTo>
                  <a:lnTo>
                    <a:pt x="438" y="258"/>
                  </a:lnTo>
                  <a:lnTo>
                    <a:pt x="444" y="252"/>
                  </a:lnTo>
                  <a:lnTo>
                    <a:pt x="438" y="252"/>
                  </a:lnTo>
                  <a:lnTo>
                    <a:pt x="438" y="246"/>
                  </a:lnTo>
                  <a:lnTo>
                    <a:pt x="432" y="246"/>
                  </a:lnTo>
                  <a:lnTo>
                    <a:pt x="426" y="246"/>
                  </a:lnTo>
                  <a:lnTo>
                    <a:pt x="420" y="246"/>
                  </a:lnTo>
                  <a:lnTo>
                    <a:pt x="420" y="240"/>
                  </a:lnTo>
                  <a:lnTo>
                    <a:pt x="420" y="234"/>
                  </a:lnTo>
                  <a:lnTo>
                    <a:pt x="414" y="234"/>
                  </a:lnTo>
                  <a:lnTo>
                    <a:pt x="408" y="234"/>
                  </a:lnTo>
                  <a:lnTo>
                    <a:pt x="402" y="234"/>
                  </a:lnTo>
                  <a:lnTo>
                    <a:pt x="396" y="234"/>
                  </a:lnTo>
                  <a:lnTo>
                    <a:pt x="390" y="234"/>
                  </a:lnTo>
                  <a:lnTo>
                    <a:pt x="390" y="240"/>
                  </a:lnTo>
                  <a:lnTo>
                    <a:pt x="384" y="240"/>
                  </a:lnTo>
                  <a:lnTo>
                    <a:pt x="378" y="240"/>
                  </a:lnTo>
                  <a:lnTo>
                    <a:pt x="372" y="240"/>
                  </a:lnTo>
                  <a:lnTo>
                    <a:pt x="372" y="246"/>
                  </a:lnTo>
                  <a:lnTo>
                    <a:pt x="366" y="246"/>
                  </a:lnTo>
                  <a:lnTo>
                    <a:pt x="360" y="246"/>
                  </a:lnTo>
                  <a:lnTo>
                    <a:pt x="354" y="246"/>
                  </a:lnTo>
                  <a:lnTo>
                    <a:pt x="354" y="252"/>
                  </a:lnTo>
                  <a:lnTo>
                    <a:pt x="354" y="258"/>
                  </a:lnTo>
                  <a:lnTo>
                    <a:pt x="348" y="258"/>
                  </a:lnTo>
                  <a:lnTo>
                    <a:pt x="354" y="258"/>
                  </a:lnTo>
                  <a:lnTo>
                    <a:pt x="354" y="264"/>
                  </a:lnTo>
                  <a:lnTo>
                    <a:pt x="360" y="264"/>
                  </a:lnTo>
                  <a:lnTo>
                    <a:pt x="360" y="270"/>
                  </a:lnTo>
                  <a:lnTo>
                    <a:pt x="354" y="270"/>
                  </a:lnTo>
                  <a:lnTo>
                    <a:pt x="348" y="276"/>
                  </a:lnTo>
                  <a:lnTo>
                    <a:pt x="348" y="282"/>
                  </a:lnTo>
                  <a:lnTo>
                    <a:pt x="348" y="288"/>
                  </a:lnTo>
                  <a:lnTo>
                    <a:pt x="348" y="294"/>
                  </a:lnTo>
                  <a:lnTo>
                    <a:pt x="354" y="294"/>
                  </a:lnTo>
                  <a:lnTo>
                    <a:pt x="348" y="294"/>
                  </a:lnTo>
                  <a:lnTo>
                    <a:pt x="348" y="300"/>
                  </a:lnTo>
                  <a:lnTo>
                    <a:pt x="348" y="306"/>
                  </a:lnTo>
                  <a:lnTo>
                    <a:pt x="342" y="306"/>
                  </a:lnTo>
                  <a:lnTo>
                    <a:pt x="348" y="306"/>
                  </a:lnTo>
                  <a:lnTo>
                    <a:pt x="348" y="312"/>
                  </a:lnTo>
                  <a:lnTo>
                    <a:pt x="342" y="312"/>
                  </a:lnTo>
                  <a:lnTo>
                    <a:pt x="342" y="318"/>
                  </a:lnTo>
                  <a:lnTo>
                    <a:pt x="342" y="324"/>
                  </a:lnTo>
                  <a:lnTo>
                    <a:pt x="348" y="324"/>
                  </a:lnTo>
                  <a:lnTo>
                    <a:pt x="354" y="324"/>
                  </a:lnTo>
                  <a:lnTo>
                    <a:pt x="360" y="330"/>
                  </a:lnTo>
                  <a:lnTo>
                    <a:pt x="360" y="336"/>
                  </a:lnTo>
                  <a:lnTo>
                    <a:pt x="354" y="336"/>
                  </a:lnTo>
                  <a:lnTo>
                    <a:pt x="348" y="336"/>
                  </a:lnTo>
                  <a:lnTo>
                    <a:pt x="348" y="342"/>
                  </a:lnTo>
                  <a:lnTo>
                    <a:pt x="348" y="348"/>
                  </a:lnTo>
                  <a:lnTo>
                    <a:pt x="342" y="348"/>
                  </a:lnTo>
                  <a:lnTo>
                    <a:pt x="342" y="342"/>
                  </a:lnTo>
                  <a:lnTo>
                    <a:pt x="336" y="342"/>
                  </a:lnTo>
                  <a:lnTo>
                    <a:pt x="342" y="336"/>
                  </a:lnTo>
                  <a:lnTo>
                    <a:pt x="336" y="336"/>
                  </a:lnTo>
                  <a:lnTo>
                    <a:pt x="342" y="336"/>
                  </a:lnTo>
                  <a:lnTo>
                    <a:pt x="342" y="330"/>
                  </a:lnTo>
                  <a:lnTo>
                    <a:pt x="336" y="330"/>
                  </a:lnTo>
                  <a:lnTo>
                    <a:pt x="330" y="330"/>
                  </a:lnTo>
                  <a:lnTo>
                    <a:pt x="324" y="330"/>
                  </a:lnTo>
                  <a:lnTo>
                    <a:pt x="324" y="336"/>
                  </a:lnTo>
                  <a:lnTo>
                    <a:pt x="330" y="336"/>
                  </a:lnTo>
                  <a:lnTo>
                    <a:pt x="336" y="336"/>
                  </a:lnTo>
                  <a:lnTo>
                    <a:pt x="330" y="342"/>
                  </a:lnTo>
                  <a:lnTo>
                    <a:pt x="330" y="336"/>
                  </a:lnTo>
                  <a:lnTo>
                    <a:pt x="324" y="336"/>
                  </a:lnTo>
                  <a:lnTo>
                    <a:pt x="324" y="330"/>
                  </a:lnTo>
                  <a:lnTo>
                    <a:pt x="318" y="330"/>
                  </a:lnTo>
                  <a:close/>
                  <a:moveTo>
                    <a:pt x="384" y="576"/>
                  </a:moveTo>
                  <a:lnTo>
                    <a:pt x="378" y="576"/>
                  </a:lnTo>
                  <a:lnTo>
                    <a:pt x="378" y="582"/>
                  </a:lnTo>
                  <a:lnTo>
                    <a:pt x="378" y="576"/>
                  </a:lnTo>
                  <a:lnTo>
                    <a:pt x="384" y="576"/>
                  </a:lnTo>
                  <a:lnTo>
                    <a:pt x="390" y="576"/>
                  </a:lnTo>
                  <a:lnTo>
                    <a:pt x="396" y="576"/>
                  </a:lnTo>
                  <a:lnTo>
                    <a:pt x="396" y="570"/>
                  </a:lnTo>
                  <a:lnTo>
                    <a:pt x="402" y="570"/>
                  </a:lnTo>
                  <a:lnTo>
                    <a:pt x="408" y="564"/>
                  </a:lnTo>
                  <a:lnTo>
                    <a:pt x="414" y="564"/>
                  </a:lnTo>
                  <a:lnTo>
                    <a:pt x="414" y="558"/>
                  </a:lnTo>
                  <a:lnTo>
                    <a:pt x="420" y="558"/>
                  </a:lnTo>
                  <a:lnTo>
                    <a:pt x="414" y="558"/>
                  </a:lnTo>
                  <a:lnTo>
                    <a:pt x="420" y="564"/>
                  </a:lnTo>
                  <a:lnTo>
                    <a:pt x="420" y="570"/>
                  </a:lnTo>
                  <a:lnTo>
                    <a:pt x="420" y="576"/>
                  </a:lnTo>
                  <a:lnTo>
                    <a:pt x="426" y="576"/>
                  </a:lnTo>
                  <a:lnTo>
                    <a:pt x="420" y="576"/>
                  </a:lnTo>
                  <a:lnTo>
                    <a:pt x="420" y="582"/>
                  </a:lnTo>
                  <a:lnTo>
                    <a:pt x="420" y="588"/>
                  </a:lnTo>
                  <a:lnTo>
                    <a:pt x="414" y="588"/>
                  </a:lnTo>
                  <a:lnTo>
                    <a:pt x="408" y="588"/>
                  </a:lnTo>
                  <a:lnTo>
                    <a:pt x="408" y="594"/>
                  </a:lnTo>
                  <a:lnTo>
                    <a:pt x="402" y="594"/>
                  </a:lnTo>
                  <a:lnTo>
                    <a:pt x="396" y="594"/>
                  </a:lnTo>
                  <a:lnTo>
                    <a:pt x="396" y="600"/>
                  </a:lnTo>
                  <a:lnTo>
                    <a:pt x="390" y="600"/>
                  </a:lnTo>
                  <a:lnTo>
                    <a:pt x="390" y="606"/>
                  </a:lnTo>
                  <a:lnTo>
                    <a:pt x="384" y="606"/>
                  </a:lnTo>
                  <a:lnTo>
                    <a:pt x="378" y="606"/>
                  </a:lnTo>
                  <a:lnTo>
                    <a:pt x="378" y="612"/>
                  </a:lnTo>
                  <a:lnTo>
                    <a:pt x="372" y="612"/>
                  </a:lnTo>
                  <a:lnTo>
                    <a:pt x="372" y="618"/>
                  </a:lnTo>
                  <a:lnTo>
                    <a:pt x="366" y="618"/>
                  </a:lnTo>
                  <a:lnTo>
                    <a:pt x="366" y="624"/>
                  </a:lnTo>
                  <a:lnTo>
                    <a:pt x="366" y="618"/>
                  </a:lnTo>
                  <a:lnTo>
                    <a:pt x="360" y="618"/>
                  </a:lnTo>
                  <a:lnTo>
                    <a:pt x="366" y="618"/>
                  </a:lnTo>
                  <a:lnTo>
                    <a:pt x="372" y="618"/>
                  </a:lnTo>
                  <a:lnTo>
                    <a:pt x="372" y="612"/>
                  </a:lnTo>
                  <a:lnTo>
                    <a:pt x="372" y="606"/>
                  </a:lnTo>
                  <a:lnTo>
                    <a:pt x="378" y="600"/>
                  </a:lnTo>
                  <a:lnTo>
                    <a:pt x="378" y="594"/>
                  </a:lnTo>
                  <a:lnTo>
                    <a:pt x="378" y="588"/>
                  </a:lnTo>
                  <a:lnTo>
                    <a:pt x="384" y="582"/>
                  </a:lnTo>
                  <a:lnTo>
                    <a:pt x="384" y="576"/>
                  </a:lnTo>
                  <a:close/>
                  <a:moveTo>
                    <a:pt x="780" y="420"/>
                  </a:moveTo>
                  <a:lnTo>
                    <a:pt x="786" y="420"/>
                  </a:lnTo>
                  <a:lnTo>
                    <a:pt x="792" y="420"/>
                  </a:lnTo>
                  <a:lnTo>
                    <a:pt x="798" y="420"/>
                  </a:lnTo>
                  <a:lnTo>
                    <a:pt x="798" y="426"/>
                  </a:lnTo>
                  <a:lnTo>
                    <a:pt x="798" y="432"/>
                  </a:lnTo>
                  <a:lnTo>
                    <a:pt x="798" y="438"/>
                  </a:lnTo>
                  <a:lnTo>
                    <a:pt x="786" y="450"/>
                  </a:lnTo>
                  <a:lnTo>
                    <a:pt x="786" y="456"/>
                  </a:lnTo>
                  <a:lnTo>
                    <a:pt x="780" y="456"/>
                  </a:lnTo>
                  <a:lnTo>
                    <a:pt x="774" y="462"/>
                  </a:lnTo>
                  <a:lnTo>
                    <a:pt x="768" y="468"/>
                  </a:lnTo>
                  <a:lnTo>
                    <a:pt x="762" y="468"/>
                  </a:lnTo>
                  <a:lnTo>
                    <a:pt x="756" y="468"/>
                  </a:lnTo>
                  <a:lnTo>
                    <a:pt x="750" y="468"/>
                  </a:lnTo>
                  <a:lnTo>
                    <a:pt x="750" y="462"/>
                  </a:lnTo>
                  <a:lnTo>
                    <a:pt x="762" y="444"/>
                  </a:lnTo>
                  <a:lnTo>
                    <a:pt x="768" y="432"/>
                  </a:lnTo>
                  <a:lnTo>
                    <a:pt x="774" y="426"/>
                  </a:lnTo>
                  <a:lnTo>
                    <a:pt x="780" y="420"/>
                  </a:lnTo>
                  <a:close/>
                  <a:moveTo>
                    <a:pt x="468" y="894"/>
                  </a:moveTo>
                  <a:lnTo>
                    <a:pt x="468" y="888"/>
                  </a:lnTo>
                  <a:lnTo>
                    <a:pt x="474" y="888"/>
                  </a:lnTo>
                  <a:lnTo>
                    <a:pt x="474" y="882"/>
                  </a:lnTo>
                  <a:lnTo>
                    <a:pt x="480" y="888"/>
                  </a:lnTo>
                  <a:lnTo>
                    <a:pt x="486" y="888"/>
                  </a:lnTo>
                  <a:lnTo>
                    <a:pt x="492" y="888"/>
                  </a:lnTo>
                  <a:lnTo>
                    <a:pt x="492" y="894"/>
                  </a:lnTo>
                  <a:lnTo>
                    <a:pt x="492" y="900"/>
                  </a:lnTo>
                  <a:lnTo>
                    <a:pt x="492" y="906"/>
                  </a:lnTo>
                  <a:lnTo>
                    <a:pt x="498" y="906"/>
                  </a:lnTo>
                  <a:lnTo>
                    <a:pt x="498" y="912"/>
                  </a:lnTo>
                  <a:lnTo>
                    <a:pt x="498" y="918"/>
                  </a:lnTo>
                  <a:lnTo>
                    <a:pt x="504" y="918"/>
                  </a:lnTo>
                  <a:lnTo>
                    <a:pt x="504" y="924"/>
                  </a:lnTo>
                  <a:lnTo>
                    <a:pt x="510" y="924"/>
                  </a:lnTo>
                  <a:lnTo>
                    <a:pt x="510" y="930"/>
                  </a:lnTo>
                  <a:lnTo>
                    <a:pt x="510" y="936"/>
                  </a:lnTo>
                  <a:lnTo>
                    <a:pt x="510" y="942"/>
                  </a:lnTo>
                  <a:lnTo>
                    <a:pt x="510" y="936"/>
                  </a:lnTo>
                  <a:lnTo>
                    <a:pt x="504" y="936"/>
                  </a:lnTo>
                  <a:lnTo>
                    <a:pt x="504" y="930"/>
                  </a:lnTo>
                  <a:lnTo>
                    <a:pt x="498" y="930"/>
                  </a:lnTo>
                  <a:lnTo>
                    <a:pt x="498" y="924"/>
                  </a:lnTo>
                  <a:lnTo>
                    <a:pt x="492" y="924"/>
                  </a:lnTo>
                  <a:lnTo>
                    <a:pt x="492" y="918"/>
                  </a:lnTo>
                  <a:lnTo>
                    <a:pt x="486" y="918"/>
                  </a:lnTo>
                  <a:lnTo>
                    <a:pt x="486" y="912"/>
                  </a:lnTo>
                  <a:lnTo>
                    <a:pt x="486" y="906"/>
                  </a:lnTo>
                  <a:lnTo>
                    <a:pt x="480" y="906"/>
                  </a:lnTo>
                  <a:lnTo>
                    <a:pt x="480" y="900"/>
                  </a:lnTo>
                  <a:lnTo>
                    <a:pt x="480" y="894"/>
                  </a:lnTo>
                  <a:lnTo>
                    <a:pt x="474" y="894"/>
                  </a:lnTo>
                  <a:lnTo>
                    <a:pt x="468" y="894"/>
                  </a:lnTo>
                  <a:close/>
                  <a:moveTo>
                    <a:pt x="546" y="924"/>
                  </a:moveTo>
                  <a:lnTo>
                    <a:pt x="552" y="930"/>
                  </a:lnTo>
                  <a:lnTo>
                    <a:pt x="552" y="936"/>
                  </a:lnTo>
                  <a:lnTo>
                    <a:pt x="558" y="936"/>
                  </a:lnTo>
                  <a:lnTo>
                    <a:pt x="558" y="930"/>
                  </a:lnTo>
                  <a:lnTo>
                    <a:pt x="558" y="936"/>
                  </a:lnTo>
                  <a:lnTo>
                    <a:pt x="558" y="942"/>
                  </a:lnTo>
                  <a:lnTo>
                    <a:pt x="564" y="942"/>
                  </a:lnTo>
                  <a:lnTo>
                    <a:pt x="570" y="942"/>
                  </a:lnTo>
                  <a:lnTo>
                    <a:pt x="570" y="948"/>
                  </a:lnTo>
                  <a:lnTo>
                    <a:pt x="576" y="954"/>
                  </a:lnTo>
                  <a:lnTo>
                    <a:pt x="570" y="954"/>
                  </a:lnTo>
                  <a:lnTo>
                    <a:pt x="570" y="948"/>
                  </a:lnTo>
                  <a:lnTo>
                    <a:pt x="564" y="948"/>
                  </a:lnTo>
                  <a:lnTo>
                    <a:pt x="564" y="942"/>
                  </a:lnTo>
                  <a:lnTo>
                    <a:pt x="558" y="942"/>
                  </a:lnTo>
                  <a:lnTo>
                    <a:pt x="558" y="936"/>
                  </a:lnTo>
                  <a:lnTo>
                    <a:pt x="552" y="936"/>
                  </a:lnTo>
                  <a:lnTo>
                    <a:pt x="552" y="930"/>
                  </a:lnTo>
                  <a:lnTo>
                    <a:pt x="546" y="930"/>
                  </a:lnTo>
                  <a:lnTo>
                    <a:pt x="546" y="924"/>
                  </a:lnTo>
                  <a:close/>
                  <a:moveTo>
                    <a:pt x="324" y="342"/>
                  </a:moveTo>
                  <a:lnTo>
                    <a:pt x="330" y="342"/>
                  </a:lnTo>
                  <a:lnTo>
                    <a:pt x="324" y="342"/>
                  </a:lnTo>
                  <a:close/>
                </a:path>
              </a:pathLst>
            </a:custGeom>
            <a:solidFill>
              <a:schemeClr val="accent1"/>
            </a:solidFill>
            <a:ln w="9525">
              <a:solidFill>
                <a:srgbClr val="B2B2B2"/>
              </a:solidFill>
              <a:round/>
              <a:headEnd/>
              <a:tailEnd/>
            </a:ln>
          </p:spPr>
          <p:txBody>
            <a:bodyPr/>
            <a:lstStyle/>
            <a:p>
              <a:endParaRPr lang="en-CA"/>
            </a:p>
          </p:txBody>
        </p:sp>
        <p:sp>
          <p:nvSpPr>
            <p:cNvPr id="454" name="Freeform 513"/>
            <p:cNvSpPr>
              <a:spLocks noEditPoints="1"/>
            </p:cNvSpPr>
            <p:nvPr>
              <p:custDataLst>
                <p:tags r:id="rId77"/>
              </p:custDataLst>
            </p:nvPr>
          </p:nvSpPr>
          <p:spPr bwMode="gray">
            <a:xfrm>
              <a:off x="3948" y="2399"/>
              <a:ext cx="537" cy="468"/>
            </a:xfrm>
            <a:custGeom>
              <a:avLst/>
              <a:gdLst>
                <a:gd name="T0" fmla="*/ 93514184 w 864"/>
                <a:gd name="T1" fmla="*/ 635754202 h 750"/>
                <a:gd name="T2" fmla="*/ 46757585 w 864"/>
                <a:gd name="T3" fmla="*/ 606321495 h 750"/>
                <a:gd name="T4" fmla="*/ 70135885 w 864"/>
                <a:gd name="T5" fmla="*/ 571001652 h 750"/>
                <a:gd name="T6" fmla="*/ 93514184 w 864"/>
                <a:gd name="T7" fmla="*/ 518022383 h 750"/>
                <a:gd name="T8" fmla="*/ 58446735 w 864"/>
                <a:gd name="T9" fmla="*/ 453268842 h 750"/>
                <a:gd name="T10" fmla="*/ 0 w 864"/>
                <a:gd name="T11" fmla="*/ 441495561 h 750"/>
                <a:gd name="T12" fmla="*/ 23378299 w 864"/>
                <a:gd name="T13" fmla="*/ 400289573 h 750"/>
                <a:gd name="T14" fmla="*/ 29223368 w 864"/>
                <a:gd name="T15" fmla="*/ 323763742 h 750"/>
                <a:gd name="T16" fmla="*/ 40912517 w 864"/>
                <a:gd name="T17" fmla="*/ 264897337 h 750"/>
                <a:gd name="T18" fmla="*/ 93514184 w 864"/>
                <a:gd name="T19" fmla="*/ 235464629 h 750"/>
                <a:gd name="T20" fmla="*/ 140271770 w 864"/>
                <a:gd name="T21" fmla="*/ 253124056 h 750"/>
                <a:gd name="T22" fmla="*/ 163651056 w 864"/>
                <a:gd name="T23" fmla="*/ 200144786 h 750"/>
                <a:gd name="T24" fmla="*/ 233786941 w 864"/>
                <a:gd name="T25" fmla="*/ 194258641 h 750"/>
                <a:gd name="T26" fmla="*/ 268854390 w 864"/>
                <a:gd name="T27" fmla="*/ 223691348 h 750"/>
                <a:gd name="T28" fmla="*/ 333146193 w 864"/>
                <a:gd name="T29" fmla="*/ 206031922 h 750"/>
                <a:gd name="T30" fmla="*/ 350679424 w 864"/>
                <a:gd name="T31" fmla="*/ 147165517 h 750"/>
                <a:gd name="T32" fmla="*/ 397437010 w 864"/>
                <a:gd name="T33" fmla="*/ 76525831 h 750"/>
                <a:gd name="T34" fmla="*/ 432505445 w 864"/>
                <a:gd name="T35" fmla="*/ 29432707 h 750"/>
                <a:gd name="T36" fmla="*/ 496796262 w 864"/>
                <a:gd name="T37" fmla="*/ 23546562 h 750"/>
                <a:gd name="T38" fmla="*/ 543553848 w 864"/>
                <a:gd name="T39" fmla="*/ 23546562 h 750"/>
                <a:gd name="T40" fmla="*/ 590311433 w 864"/>
                <a:gd name="T41" fmla="*/ 23546562 h 750"/>
                <a:gd name="T42" fmla="*/ 631223950 w 864"/>
                <a:gd name="T43" fmla="*/ 5886145 h 750"/>
                <a:gd name="T44" fmla="*/ 648758168 w 864"/>
                <a:gd name="T45" fmla="*/ 70639686 h 750"/>
                <a:gd name="T46" fmla="*/ 718894053 w 864"/>
                <a:gd name="T47" fmla="*/ 129505100 h 750"/>
                <a:gd name="T48" fmla="*/ 777340788 w 864"/>
                <a:gd name="T49" fmla="*/ 164824943 h 750"/>
                <a:gd name="T50" fmla="*/ 829942455 w 864"/>
                <a:gd name="T51" fmla="*/ 188371505 h 750"/>
                <a:gd name="T52" fmla="*/ 812408237 w 864"/>
                <a:gd name="T53" fmla="*/ 229577494 h 750"/>
                <a:gd name="T54" fmla="*/ 812408237 w 864"/>
                <a:gd name="T55" fmla="*/ 306104315 h 750"/>
                <a:gd name="T56" fmla="*/ 800719088 w 864"/>
                <a:gd name="T57" fmla="*/ 364969730 h 750"/>
                <a:gd name="T58" fmla="*/ 800719088 w 864"/>
                <a:gd name="T59" fmla="*/ 423836135 h 750"/>
                <a:gd name="T60" fmla="*/ 794874019 w 864"/>
                <a:gd name="T61" fmla="*/ 459155978 h 750"/>
                <a:gd name="T62" fmla="*/ 771495720 w 864"/>
                <a:gd name="T63" fmla="*/ 500361966 h 750"/>
                <a:gd name="T64" fmla="*/ 742272352 w 864"/>
                <a:gd name="T65" fmla="*/ 541567954 h 750"/>
                <a:gd name="T66" fmla="*/ 701359835 w 864"/>
                <a:gd name="T67" fmla="*/ 565114516 h 750"/>
                <a:gd name="T68" fmla="*/ 701359835 w 864"/>
                <a:gd name="T69" fmla="*/ 547455090 h 750"/>
                <a:gd name="T70" fmla="*/ 689670685 w 864"/>
                <a:gd name="T71" fmla="*/ 541567954 h 750"/>
                <a:gd name="T72" fmla="*/ 677981536 w 864"/>
                <a:gd name="T73" fmla="*/ 512135247 h 750"/>
                <a:gd name="T74" fmla="*/ 695514767 w 864"/>
                <a:gd name="T75" fmla="*/ 476815404 h 750"/>
                <a:gd name="T76" fmla="*/ 677981536 w 864"/>
                <a:gd name="T77" fmla="*/ 470929259 h 750"/>
                <a:gd name="T78" fmla="*/ 654602250 w 864"/>
                <a:gd name="T79" fmla="*/ 453268842 h 750"/>
                <a:gd name="T80" fmla="*/ 584466365 w 864"/>
                <a:gd name="T81" fmla="*/ 465042123 h 750"/>
                <a:gd name="T82" fmla="*/ 537708779 w 864"/>
                <a:gd name="T83" fmla="*/ 500361966 h 750"/>
                <a:gd name="T84" fmla="*/ 508485412 w 864"/>
                <a:gd name="T85" fmla="*/ 547455090 h 750"/>
                <a:gd name="T86" fmla="*/ 467572895 w 864"/>
                <a:gd name="T87" fmla="*/ 594548214 h 750"/>
                <a:gd name="T88" fmla="*/ 438349527 w 864"/>
                <a:gd name="T89" fmla="*/ 635754202 h 750"/>
                <a:gd name="T90" fmla="*/ 432505445 w 864"/>
                <a:gd name="T91" fmla="*/ 665186909 h 750"/>
                <a:gd name="T92" fmla="*/ 438349527 w 864"/>
                <a:gd name="T93" fmla="*/ 676960190 h 750"/>
                <a:gd name="T94" fmla="*/ 467572895 w 864"/>
                <a:gd name="T95" fmla="*/ 688733471 h 750"/>
                <a:gd name="T96" fmla="*/ 444194595 w 864"/>
                <a:gd name="T97" fmla="*/ 706393888 h 750"/>
                <a:gd name="T98" fmla="*/ 409126159 w 864"/>
                <a:gd name="T99" fmla="*/ 700506752 h 750"/>
                <a:gd name="T100" fmla="*/ 368213642 w 864"/>
                <a:gd name="T101" fmla="*/ 718167169 h 750"/>
                <a:gd name="T102" fmla="*/ 315611975 w 864"/>
                <a:gd name="T103" fmla="*/ 735826595 h 750"/>
                <a:gd name="T104" fmla="*/ 321456057 w 864"/>
                <a:gd name="T105" fmla="*/ 706393888 h 750"/>
                <a:gd name="T106" fmla="*/ 315611975 w 864"/>
                <a:gd name="T107" fmla="*/ 682847326 h 750"/>
                <a:gd name="T108" fmla="*/ 268854390 w 864"/>
                <a:gd name="T109" fmla="*/ 676960190 h 750"/>
                <a:gd name="T110" fmla="*/ 227941872 w 864"/>
                <a:gd name="T111" fmla="*/ 653413628 h 750"/>
                <a:gd name="T112" fmla="*/ 192873437 w 864"/>
                <a:gd name="T113" fmla="*/ 676960190 h 750"/>
                <a:gd name="T114" fmla="*/ 187029355 w 864"/>
                <a:gd name="T115" fmla="*/ 694620607 h 750"/>
                <a:gd name="T116" fmla="*/ 140271770 w 864"/>
                <a:gd name="T117" fmla="*/ 688733471 h 750"/>
                <a:gd name="T118" fmla="*/ 268854390 w 864"/>
                <a:gd name="T119" fmla="*/ 712280033 h 750"/>
                <a:gd name="T120" fmla="*/ 198718505 w 864"/>
                <a:gd name="T121" fmla="*/ 706393888 h 75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64"/>
                <a:gd name="T184" fmla="*/ 0 h 750"/>
                <a:gd name="T185" fmla="*/ 864 w 864"/>
                <a:gd name="T186" fmla="*/ 750 h 75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64" h="750">
                  <a:moveTo>
                    <a:pt x="108" y="702"/>
                  </a:moveTo>
                  <a:lnTo>
                    <a:pt x="108" y="696"/>
                  </a:lnTo>
                  <a:lnTo>
                    <a:pt x="114" y="696"/>
                  </a:lnTo>
                  <a:lnTo>
                    <a:pt x="114" y="690"/>
                  </a:lnTo>
                  <a:lnTo>
                    <a:pt x="114" y="684"/>
                  </a:lnTo>
                  <a:lnTo>
                    <a:pt x="114" y="678"/>
                  </a:lnTo>
                  <a:lnTo>
                    <a:pt x="114" y="672"/>
                  </a:lnTo>
                  <a:lnTo>
                    <a:pt x="120" y="666"/>
                  </a:lnTo>
                  <a:lnTo>
                    <a:pt x="114" y="660"/>
                  </a:lnTo>
                  <a:lnTo>
                    <a:pt x="114" y="654"/>
                  </a:lnTo>
                  <a:lnTo>
                    <a:pt x="108" y="654"/>
                  </a:lnTo>
                  <a:lnTo>
                    <a:pt x="108" y="648"/>
                  </a:lnTo>
                  <a:lnTo>
                    <a:pt x="102" y="654"/>
                  </a:lnTo>
                  <a:lnTo>
                    <a:pt x="96" y="654"/>
                  </a:lnTo>
                  <a:lnTo>
                    <a:pt x="96" y="648"/>
                  </a:lnTo>
                  <a:lnTo>
                    <a:pt x="96" y="642"/>
                  </a:lnTo>
                  <a:lnTo>
                    <a:pt x="90" y="642"/>
                  </a:lnTo>
                  <a:lnTo>
                    <a:pt x="96" y="636"/>
                  </a:lnTo>
                  <a:lnTo>
                    <a:pt x="90" y="636"/>
                  </a:lnTo>
                  <a:lnTo>
                    <a:pt x="84" y="636"/>
                  </a:lnTo>
                  <a:lnTo>
                    <a:pt x="84" y="630"/>
                  </a:lnTo>
                  <a:lnTo>
                    <a:pt x="84" y="624"/>
                  </a:lnTo>
                  <a:lnTo>
                    <a:pt x="78" y="624"/>
                  </a:lnTo>
                  <a:lnTo>
                    <a:pt x="72" y="624"/>
                  </a:lnTo>
                  <a:lnTo>
                    <a:pt x="66" y="624"/>
                  </a:lnTo>
                  <a:lnTo>
                    <a:pt x="60" y="624"/>
                  </a:lnTo>
                  <a:lnTo>
                    <a:pt x="54" y="630"/>
                  </a:lnTo>
                  <a:lnTo>
                    <a:pt x="54" y="624"/>
                  </a:lnTo>
                  <a:lnTo>
                    <a:pt x="48" y="624"/>
                  </a:lnTo>
                  <a:lnTo>
                    <a:pt x="48" y="618"/>
                  </a:lnTo>
                  <a:lnTo>
                    <a:pt x="42" y="618"/>
                  </a:lnTo>
                  <a:lnTo>
                    <a:pt x="42" y="612"/>
                  </a:lnTo>
                  <a:lnTo>
                    <a:pt x="48" y="612"/>
                  </a:lnTo>
                  <a:lnTo>
                    <a:pt x="48" y="606"/>
                  </a:lnTo>
                  <a:lnTo>
                    <a:pt x="42" y="606"/>
                  </a:lnTo>
                  <a:lnTo>
                    <a:pt x="42" y="600"/>
                  </a:lnTo>
                  <a:lnTo>
                    <a:pt x="42" y="594"/>
                  </a:lnTo>
                  <a:lnTo>
                    <a:pt x="48" y="594"/>
                  </a:lnTo>
                  <a:lnTo>
                    <a:pt x="48" y="588"/>
                  </a:lnTo>
                  <a:lnTo>
                    <a:pt x="54" y="588"/>
                  </a:lnTo>
                  <a:lnTo>
                    <a:pt x="60" y="588"/>
                  </a:lnTo>
                  <a:lnTo>
                    <a:pt x="60" y="582"/>
                  </a:lnTo>
                  <a:lnTo>
                    <a:pt x="66" y="576"/>
                  </a:lnTo>
                  <a:lnTo>
                    <a:pt x="72" y="576"/>
                  </a:lnTo>
                  <a:lnTo>
                    <a:pt x="72" y="582"/>
                  </a:lnTo>
                  <a:lnTo>
                    <a:pt x="78" y="582"/>
                  </a:lnTo>
                  <a:lnTo>
                    <a:pt x="84" y="582"/>
                  </a:lnTo>
                  <a:lnTo>
                    <a:pt x="84" y="576"/>
                  </a:lnTo>
                  <a:lnTo>
                    <a:pt x="84" y="570"/>
                  </a:lnTo>
                  <a:lnTo>
                    <a:pt x="84" y="564"/>
                  </a:lnTo>
                  <a:lnTo>
                    <a:pt x="84" y="558"/>
                  </a:lnTo>
                  <a:lnTo>
                    <a:pt x="90" y="558"/>
                  </a:lnTo>
                  <a:lnTo>
                    <a:pt x="96" y="558"/>
                  </a:lnTo>
                  <a:lnTo>
                    <a:pt x="96" y="552"/>
                  </a:lnTo>
                  <a:lnTo>
                    <a:pt x="96" y="546"/>
                  </a:lnTo>
                  <a:lnTo>
                    <a:pt x="90" y="546"/>
                  </a:lnTo>
                  <a:lnTo>
                    <a:pt x="90" y="540"/>
                  </a:lnTo>
                  <a:lnTo>
                    <a:pt x="96" y="540"/>
                  </a:lnTo>
                  <a:lnTo>
                    <a:pt x="96" y="534"/>
                  </a:lnTo>
                  <a:lnTo>
                    <a:pt x="96" y="528"/>
                  </a:lnTo>
                  <a:lnTo>
                    <a:pt x="96" y="522"/>
                  </a:lnTo>
                  <a:lnTo>
                    <a:pt x="96" y="516"/>
                  </a:lnTo>
                  <a:lnTo>
                    <a:pt x="96" y="510"/>
                  </a:lnTo>
                  <a:lnTo>
                    <a:pt x="96" y="504"/>
                  </a:lnTo>
                  <a:lnTo>
                    <a:pt x="90" y="504"/>
                  </a:lnTo>
                  <a:lnTo>
                    <a:pt x="90" y="498"/>
                  </a:lnTo>
                  <a:lnTo>
                    <a:pt x="90" y="492"/>
                  </a:lnTo>
                  <a:lnTo>
                    <a:pt x="84" y="486"/>
                  </a:lnTo>
                  <a:lnTo>
                    <a:pt x="78" y="480"/>
                  </a:lnTo>
                  <a:lnTo>
                    <a:pt x="78" y="474"/>
                  </a:lnTo>
                  <a:lnTo>
                    <a:pt x="78" y="468"/>
                  </a:lnTo>
                  <a:lnTo>
                    <a:pt x="72" y="468"/>
                  </a:lnTo>
                  <a:lnTo>
                    <a:pt x="72" y="462"/>
                  </a:lnTo>
                  <a:lnTo>
                    <a:pt x="66" y="462"/>
                  </a:lnTo>
                  <a:lnTo>
                    <a:pt x="60" y="462"/>
                  </a:lnTo>
                  <a:lnTo>
                    <a:pt x="60" y="456"/>
                  </a:lnTo>
                  <a:lnTo>
                    <a:pt x="54" y="456"/>
                  </a:lnTo>
                  <a:lnTo>
                    <a:pt x="48" y="456"/>
                  </a:lnTo>
                  <a:lnTo>
                    <a:pt x="42" y="450"/>
                  </a:lnTo>
                  <a:lnTo>
                    <a:pt x="42" y="456"/>
                  </a:lnTo>
                  <a:lnTo>
                    <a:pt x="36" y="462"/>
                  </a:lnTo>
                  <a:lnTo>
                    <a:pt x="36" y="456"/>
                  </a:lnTo>
                  <a:lnTo>
                    <a:pt x="30" y="456"/>
                  </a:lnTo>
                  <a:lnTo>
                    <a:pt x="24" y="462"/>
                  </a:lnTo>
                  <a:lnTo>
                    <a:pt x="24" y="456"/>
                  </a:lnTo>
                  <a:lnTo>
                    <a:pt x="18" y="456"/>
                  </a:lnTo>
                  <a:lnTo>
                    <a:pt x="12" y="450"/>
                  </a:lnTo>
                  <a:lnTo>
                    <a:pt x="6" y="456"/>
                  </a:lnTo>
                  <a:lnTo>
                    <a:pt x="6" y="450"/>
                  </a:lnTo>
                  <a:lnTo>
                    <a:pt x="0" y="450"/>
                  </a:lnTo>
                  <a:lnTo>
                    <a:pt x="0" y="444"/>
                  </a:lnTo>
                  <a:lnTo>
                    <a:pt x="6" y="444"/>
                  </a:lnTo>
                  <a:lnTo>
                    <a:pt x="12" y="444"/>
                  </a:lnTo>
                  <a:lnTo>
                    <a:pt x="6" y="438"/>
                  </a:lnTo>
                  <a:lnTo>
                    <a:pt x="12" y="438"/>
                  </a:lnTo>
                  <a:lnTo>
                    <a:pt x="18" y="438"/>
                  </a:lnTo>
                  <a:lnTo>
                    <a:pt x="12" y="438"/>
                  </a:lnTo>
                  <a:lnTo>
                    <a:pt x="18" y="432"/>
                  </a:lnTo>
                  <a:lnTo>
                    <a:pt x="12" y="432"/>
                  </a:lnTo>
                  <a:lnTo>
                    <a:pt x="18" y="432"/>
                  </a:lnTo>
                  <a:lnTo>
                    <a:pt x="24" y="432"/>
                  </a:lnTo>
                  <a:lnTo>
                    <a:pt x="24" y="426"/>
                  </a:lnTo>
                  <a:lnTo>
                    <a:pt x="24" y="420"/>
                  </a:lnTo>
                  <a:lnTo>
                    <a:pt x="24" y="414"/>
                  </a:lnTo>
                  <a:lnTo>
                    <a:pt x="24" y="408"/>
                  </a:lnTo>
                  <a:lnTo>
                    <a:pt x="30" y="402"/>
                  </a:lnTo>
                  <a:lnTo>
                    <a:pt x="36" y="408"/>
                  </a:lnTo>
                  <a:lnTo>
                    <a:pt x="36" y="402"/>
                  </a:lnTo>
                  <a:lnTo>
                    <a:pt x="36" y="396"/>
                  </a:lnTo>
                  <a:lnTo>
                    <a:pt x="36" y="390"/>
                  </a:lnTo>
                  <a:lnTo>
                    <a:pt x="36" y="384"/>
                  </a:lnTo>
                  <a:lnTo>
                    <a:pt x="30" y="378"/>
                  </a:lnTo>
                  <a:lnTo>
                    <a:pt x="36" y="372"/>
                  </a:lnTo>
                  <a:lnTo>
                    <a:pt x="36" y="366"/>
                  </a:lnTo>
                  <a:lnTo>
                    <a:pt x="36" y="360"/>
                  </a:lnTo>
                  <a:lnTo>
                    <a:pt x="30" y="354"/>
                  </a:lnTo>
                  <a:lnTo>
                    <a:pt x="30" y="348"/>
                  </a:lnTo>
                  <a:lnTo>
                    <a:pt x="30" y="342"/>
                  </a:lnTo>
                  <a:lnTo>
                    <a:pt x="30" y="336"/>
                  </a:lnTo>
                  <a:lnTo>
                    <a:pt x="30" y="330"/>
                  </a:lnTo>
                  <a:lnTo>
                    <a:pt x="36" y="330"/>
                  </a:lnTo>
                  <a:lnTo>
                    <a:pt x="36" y="324"/>
                  </a:lnTo>
                  <a:lnTo>
                    <a:pt x="36" y="318"/>
                  </a:lnTo>
                  <a:lnTo>
                    <a:pt x="36" y="312"/>
                  </a:lnTo>
                  <a:lnTo>
                    <a:pt x="36" y="306"/>
                  </a:lnTo>
                  <a:lnTo>
                    <a:pt x="42" y="306"/>
                  </a:lnTo>
                  <a:lnTo>
                    <a:pt x="36" y="300"/>
                  </a:lnTo>
                  <a:lnTo>
                    <a:pt x="42" y="300"/>
                  </a:lnTo>
                  <a:lnTo>
                    <a:pt x="42" y="294"/>
                  </a:lnTo>
                  <a:lnTo>
                    <a:pt x="42" y="288"/>
                  </a:lnTo>
                  <a:lnTo>
                    <a:pt x="48" y="288"/>
                  </a:lnTo>
                  <a:lnTo>
                    <a:pt x="48" y="282"/>
                  </a:lnTo>
                  <a:lnTo>
                    <a:pt x="48" y="276"/>
                  </a:lnTo>
                  <a:lnTo>
                    <a:pt x="42" y="276"/>
                  </a:lnTo>
                  <a:lnTo>
                    <a:pt x="42" y="270"/>
                  </a:lnTo>
                  <a:lnTo>
                    <a:pt x="48" y="270"/>
                  </a:lnTo>
                  <a:lnTo>
                    <a:pt x="54" y="270"/>
                  </a:lnTo>
                  <a:lnTo>
                    <a:pt x="54" y="264"/>
                  </a:lnTo>
                  <a:lnTo>
                    <a:pt x="60" y="264"/>
                  </a:lnTo>
                  <a:lnTo>
                    <a:pt x="66" y="264"/>
                  </a:lnTo>
                  <a:lnTo>
                    <a:pt x="72" y="264"/>
                  </a:lnTo>
                  <a:lnTo>
                    <a:pt x="72" y="258"/>
                  </a:lnTo>
                  <a:lnTo>
                    <a:pt x="72" y="252"/>
                  </a:lnTo>
                  <a:lnTo>
                    <a:pt x="78" y="252"/>
                  </a:lnTo>
                  <a:lnTo>
                    <a:pt x="78" y="246"/>
                  </a:lnTo>
                  <a:lnTo>
                    <a:pt x="78" y="240"/>
                  </a:lnTo>
                  <a:lnTo>
                    <a:pt x="78" y="234"/>
                  </a:lnTo>
                  <a:lnTo>
                    <a:pt x="84" y="234"/>
                  </a:lnTo>
                  <a:lnTo>
                    <a:pt x="90" y="234"/>
                  </a:lnTo>
                  <a:lnTo>
                    <a:pt x="96" y="240"/>
                  </a:lnTo>
                  <a:lnTo>
                    <a:pt x="102" y="240"/>
                  </a:lnTo>
                  <a:lnTo>
                    <a:pt x="108" y="240"/>
                  </a:lnTo>
                  <a:lnTo>
                    <a:pt x="114" y="240"/>
                  </a:lnTo>
                  <a:lnTo>
                    <a:pt x="114" y="246"/>
                  </a:lnTo>
                  <a:lnTo>
                    <a:pt x="120" y="246"/>
                  </a:lnTo>
                  <a:lnTo>
                    <a:pt x="120" y="252"/>
                  </a:lnTo>
                  <a:lnTo>
                    <a:pt x="126" y="246"/>
                  </a:lnTo>
                  <a:lnTo>
                    <a:pt x="126" y="240"/>
                  </a:lnTo>
                  <a:lnTo>
                    <a:pt x="132" y="240"/>
                  </a:lnTo>
                  <a:lnTo>
                    <a:pt x="138" y="234"/>
                  </a:lnTo>
                  <a:lnTo>
                    <a:pt x="144" y="240"/>
                  </a:lnTo>
                  <a:lnTo>
                    <a:pt x="138" y="246"/>
                  </a:lnTo>
                  <a:lnTo>
                    <a:pt x="138" y="252"/>
                  </a:lnTo>
                  <a:lnTo>
                    <a:pt x="144" y="252"/>
                  </a:lnTo>
                  <a:lnTo>
                    <a:pt x="144" y="258"/>
                  </a:lnTo>
                  <a:lnTo>
                    <a:pt x="150" y="258"/>
                  </a:lnTo>
                  <a:lnTo>
                    <a:pt x="156" y="264"/>
                  </a:lnTo>
                  <a:lnTo>
                    <a:pt x="156" y="258"/>
                  </a:lnTo>
                  <a:lnTo>
                    <a:pt x="156" y="252"/>
                  </a:lnTo>
                  <a:lnTo>
                    <a:pt x="162" y="252"/>
                  </a:lnTo>
                  <a:lnTo>
                    <a:pt x="162" y="246"/>
                  </a:lnTo>
                  <a:lnTo>
                    <a:pt x="168" y="234"/>
                  </a:lnTo>
                  <a:lnTo>
                    <a:pt x="168" y="228"/>
                  </a:lnTo>
                  <a:lnTo>
                    <a:pt x="162" y="228"/>
                  </a:lnTo>
                  <a:lnTo>
                    <a:pt x="168" y="222"/>
                  </a:lnTo>
                  <a:lnTo>
                    <a:pt x="162" y="216"/>
                  </a:lnTo>
                  <a:lnTo>
                    <a:pt x="156" y="210"/>
                  </a:lnTo>
                  <a:lnTo>
                    <a:pt x="162" y="210"/>
                  </a:lnTo>
                  <a:lnTo>
                    <a:pt x="168" y="210"/>
                  </a:lnTo>
                  <a:lnTo>
                    <a:pt x="168" y="204"/>
                  </a:lnTo>
                  <a:lnTo>
                    <a:pt x="174" y="198"/>
                  </a:lnTo>
                  <a:lnTo>
                    <a:pt x="180" y="204"/>
                  </a:lnTo>
                  <a:lnTo>
                    <a:pt x="180" y="210"/>
                  </a:lnTo>
                  <a:lnTo>
                    <a:pt x="186" y="210"/>
                  </a:lnTo>
                  <a:lnTo>
                    <a:pt x="192" y="210"/>
                  </a:lnTo>
                  <a:lnTo>
                    <a:pt x="198" y="210"/>
                  </a:lnTo>
                  <a:lnTo>
                    <a:pt x="204" y="210"/>
                  </a:lnTo>
                  <a:lnTo>
                    <a:pt x="210" y="210"/>
                  </a:lnTo>
                  <a:lnTo>
                    <a:pt x="210" y="216"/>
                  </a:lnTo>
                  <a:lnTo>
                    <a:pt x="216" y="216"/>
                  </a:lnTo>
                  <a:lnTo>
                    <a:pt x="216" y="210"/>
                  </a:lnTo>
                  <a:lnTo>
                    <a:pt x="222" y="210"/>
                  </a:lnTo>
                  <a:lnTo>
                    <a:pt x="228" y="204"/>
                  </a:lnTo>
                  <a:lnTo>
                    <a:pt x="234" y="198"/>
                  </a:lnTo>
                  <a:lnTo>
                    <a:pt x="240" y="198"/>
                  </a:lnTo>
                  <a:lnTo>
                    <a:pt x="246" y="198"/>
                  </a:lnTo>
                  <a:lnTo>
                    <a:pt x="246" y="204"/>
                  </a:lnTo>
                  <a:lnTo>
                    <a:pt x="252" y="204"/>
                  </a:lnTo>
                  <a:lnTo>
                    <a:pt x="252" y="210"/>
                  </a:lnTo>
                  <a:lnTo>
                    <a:pt x="246" y="216"/>
                  </a:lnTo>
                  <a:lnTo>
                    <a:pt x="246" y="222"/>
                  </a:lnTo>
                  <a:lnTo>
                    <a:pt x="252" y="222"/>
                  </a:lnTo>
                  <a:lnTo>
                    <a:pt x="258" y="228"/>
                  </a:lnTo>
                  <a:lnTo>
                    <a:pt x="252" y="228"/>
                  </a:lnTo>
                  <a:lnTo>
                    <a:pt x="258" y="234"/>
                  </a:lnTo>
                  <a:lnTo>
                    <a:pt x="264" y="234"/>
                  </a:lnTo>
                  <a:lnTo>
                    <a:pt x="270" y="234"/>
                  </a:lnTo>
                  <a:lnTo>
                    <a:pt x="270" y="240"/>
                  </a:lnTo>
                  <a:lnTo>
                    <a:pt x="276" y="234"/>
                  </a:lnTo>
                  <a:lnTo>
                    <a:pt x="276" y="228"/>
                  </a:lnTo>
                  <a:lnTo>
                    <a:pt x="276" y="222"/>
                  </a:lnTo>
                  <a:lnTo>
                    <a:pt x="282" y="216"/>
                  </a:lnTo>
                  <a:lnTo>
                    <a:pt x="288" y="222"/>
                  </a:lnTo>
                  <a:lnTo>
                    <a:pt x="294" y="222"/>
                  </a:lnTo>
                  <a:lnTo>
                    <a:pt x="300" y="222"/>
                  </a:lnTo>
                  <a:lnTo>
                    <a:pt x="300" y="216"/>
                  </a:lnTo>
                  <a:lnTo>
                    <a:pt x="306" y="216"/>
                  </a:lnTo>
                  <a:lnTo>
                    <a:pt x="312" y="222"/>
                  </a:lnTo>
                  <a:lnTo>
                    <a:pt x="312" y="216"/>
                  </a:lnTo>
                  <a:lnTo>
                    <a:pt x="312" y="210"/>
                  </a:lnTo>
                  <a:lnTo>
                    <a:pt x="318" y="210"/>
                  </a:lnTo>
                  <a:lnTo>
                    <a:pt x="324" y="204"/>
                  </a:lnTo>
                  <a:lnTo>
                    <a:pt x="330" y="204"/>
                  </a:lnTo>
                  <a:lnTo>
                    <a:pt x="336" y="204"/>
                  </a:lnTo>
                  <a:lnTo>
                    <a:pt x="342" y="210"/>
                  </a:lnTo>
                  <a:lnTo>
                    <a:pt x="342" y="216"/>
                  </a:lnTo>
                  <a:lnTo>
                    <a:pt x="348" y="216"/>
                  </a:lnTo>
                  <a:lnTo>
                    <a:pt x="354" y="216"/>
                  </a:lnTo>
                  <a:lnTo>
                    <a:pt x="360" y="216"/>
                  </a:lnTo>
                  <a:lnTo>
                    <a:pt x="360" y="210"/>
                  </a:lnTo>
                  <a:lnTo>
                    <a:pt x="360" y="204"/>
                  </a:lnTo>
                  <a:lnTo>
                    <a:pt x="354" y="198"/>
                  </a:lnTo>
                  <a:lnTo>
                    <a:pt x="366" y="192"/>
                  </a:lnTo>
                  <a:lnTo>
                    <a:pt x="372" y="186"/>
                  </a:lnTo>
                  <a:lnTo>
                    <a:pt x="378" y="180"/>
                  </a:lnTo>
                  <a:lnTo>
                    <a:pt x="372" y="174"/>
                  </a:lnTo>
                  <a:lnTo>
                    <a:pt x="366" y="168"/>
                  </a:lnTo>
                  <a:lnTo>
                    <a:pt x="360" y="162"/>
                  </a:lnTo>
                  <a:lnTo>
                    <a:pt x="360" y="156"/>
                  </a:lnTo>
                  <a:lnTo>
                    <a:pt x="360" y="150"/>
                  </a:lnTo>
                  <a:lnTo>
                    <a:pt x="366" y="150"/>
                  </a:lnTo>
                  <a:lnTo>
                    <a:pt x="366" y="138"/>
                  </a:lnTo>
                  <a:lnTo>
                    <a:pt x="366" y="132"/>
                  </a:lnTo>
                  <a:lnTo>
                    <a:pt x="366" y="126"/>
                  </a:lnTo>
                  <a:lnTo>
                    <a:pt x="372" y="126"/>
                  </a:lnTo>
                  <a:lnTo>
                    <a:pt x="378" y="120"/>
                  </a:lnTo>
                  <a:lnTo>
                    <a:pt x="384" y="120"/>
                  </a:lnTo>
                  <a:lnTo>
                    <a:pt x="390" y="120"/>
                  </a:lnTo>
                  <a:lnTo>
                    <a:pt x="390" y="114"/>
                  </a:lnTo>
                  <a:lnTo>
                    <a:pt x="396" y="114"/>
                  </a:lnTo>
                  <a:lnTo>
                    <a:pt x="402" y="108"/>
                  </a:lnTo>
                  <a:lnTo>
                    <a:pt x="402" y="114"/>
                  </a:lnTo>
                  <a:lnTo>
                    <a:pt x="408" y="102"/>
                  </a:lnTo>
                  <a:lnTo>
                    <a:pt x="402" y="96"/>
                  </a:lnTo>
                  <a:lnTo>
                    <a:pt x="408" y="78"/>
                  </a:lnTo>
                  <a:lnTo>
                    <a:pt x="402" y="78"/>
                  </a:lnTo>
                  <a:lnTo>
                    <a:pt x="408" y="72"/>
                  </a:lnTo>
                  <a:lnTo>
                    <a:pt x="402" y="72"/>
                  </a:lnTo>
                  <a:lnTo>
                    <a:pt x="408" y="60"/>
                  </a:lnTo>
                  <a:lnTo>
                    <a:pt x="414" y="54"/>
                  </a:lnTo>
                  <a:lnTo>
                    <a:pt x="420" y="54"/>
                  </a:lnTo>
                  <a:lnTo>
                    <a:pt x="426" y="54"/>
                  </a:lnTo>
                  <a:lnTo>
                    <a:pt x="432" y="54"/>
                  </a:lnTo>
                  <a:lnTo>
                    <a:pt x="432" y="60"/>
                  </a:lnTo>
                  <a:lnTo>
                    <a:pt x="432" y="66"/>
                  </a:lnTo>
                  <a:lnTo>
                    <a:pt x="450" y="54"/>
                  </a:lnTo>
                  <a:lnTo>
                    <a:pt x="450" y="48"/>
                  </a:lnTo>
                  <a:lnTo>
                    <a:pt x="450" y="42"/>
                  </a:lnTo>
                  <a:lnTo>
                    <a:pt x="450" y="36"/>
                  </a:lnTo>
                  <a:lnTo>
                    <a:pt x="444" y="30"/>
                  </a:lnTo>
                  <a:lnTo>
                    <a:pt x="450" y="24"/>
                  </a:lnTo>
                  <a:lnTo>
                    <a:pt x="450" y="18"/>
                  </a:lnTo>
                  <a:lnTo>
                    <a:pt x="456" y="18"/>
                  </a:lnTo>
                  <a:lnTo>
                    <a:pt x="456" y="12"/>
                  </a:lnTo>
                  <a:lnTo>
                    <a:pt x="462" y="12"/>
                  </a:lnTo>
                  <a:lnTo>
                    <a:pt x="462" y="18"/>
                  </a:lnTo>
                  <a:lnTo>
                    <a:pt x="474" y="18"/>
                  </a:lnTo>
                  <a:lnTo>
                    <a:pt x="474" y="24"/>
                  </a:lnTo>
                  <a:lnTo>
                    <a:pt x="480" y="24"/>
                  </a:lnTo>
                  <a:lnTo>
                    <a:pt x="480" y="18"/>
                  </a:lnTo>
                  <a:lnTo>
                    <a:pt x="486" y="18"/>
                  </a:lnTo>
                  <a:lnTo>
                    <a:pt x="492" y="18"/>
                  </a:lnTo>
                  <a:lnTo>
                    <a:pt x="498" y="24"/>
                  </a:lnTo>
                  <a:lnTo>
                    <a:pt x="504" y="24"/>
                  </a:lnTo>
                  <a:lnTo>
                    <a:pt x="510" y="24"/>
                  </a:lnTo>
                  <a:lnTo>
                    <a:pt x="510" y="18"/>
                  </a:lnTo>
                  <a:lnTo>
                    <a:pt x="516" y="18"/>
                  </a:lnTo>
                  <a:lnTo>
                    <a:pt x="516" y="24"/>
                  </a:lnTo>
                  <a:lnTo>
                    <a:pt x="516" y="30"/>
                  </a:lnTo>
                  <a:lnTo>
                    <a:pt x="522" y="30"/>
                  </a:lnTo>
                  <a:lnTo>
                    <a:pt x="528" y="36"/>
                  </a:lnTo>
                  <a:lnTo>
                    <a:pt x="528" y="30"/>
                  </a:lnTo>
                  <a:lnTo>
                    <a:pt x="540" y="30"/>
                  </a:lnTo>
                  <a:lnTo>
                    <a:pt x="546" y="36"/>
                  </a:lnTo>
                  <a:lnTo>
                    <a:pt x="546" y="30"/>
                  </a:lnTo>
                  <a:lnTo>
                    <a:pt x="552" y="30"/>
                  </a:lnTo>
                  <a:lnTo>
                    <a:pt x="546" y="24"/>
                  </a:lnTo>
                  <a:lnTo>
                    <a:pt x="552" y="24"/>
                  </a:lnTo>
                  <a:lnTo>
                    <a:pt x="552" y="18"/>
                  </a:lnTo>
                  <a:lnTo>
                    <a:pt x="558" y="24"/>
                  </a:lnTo>
                  <a:lnTo>
                    <a:pt x="564" y="24"/>
                  </a:lnTo>
                  <a:lnTo>
                    <a:pt x="564" y="30"/>
                  </a:lnTo>
                  <a:lnTo>
                    <a:pt x="564" y="36"/>
                  </a:lnTo>
                  <a:lnTo>
                    <a:pt x="570" y="36"/>
                  </a:lnTo>
                  <a:lnTo>
                    <a:pt x="570" y="42"/>
                  </a:lnTo>
                  <a:lnTo>
                    <a:pt x="570" y="48"/>
                  </a:lnTo>
                  <a:lnTo>
                    <a:pt x="576" y="48"/>
                  </a:lnTo>
                  <a:lnTo>
                    <a:pt x="582" y="48"/>
                  </a:lnTo>
                  <a:lnTo>
                    <a:pt x="588" y="48"/>
                  </a:lnTo>
                  <a:lnTo>
                    <a:pt x="588" y="42"/>
                  </a:lnTo>
                  <a:lnTo>
                    <a:pt x="588" y="36"/>
                  </a:lnTo>
                  <a:lnTo>
                    <a:pt x="594" y="36"/>
                  </a:lnTo>
                  <a:lnTo>
                    <a:pt x="600" y="36"/>
                  </a:lnTo>
                  <a:lnTo>
                    <a:pt x="600" y="30"/>
                  </a:lnTo>
                  <a:lnTo>
                    <a:pt x="606" y="24"/>
                  </a:lnTo>
                  <a:lnTo>
                    <a:pt x="612" y="30"/>
                  </a:lnTo>
                  <a:lnTo>
                    <a:pt x="612" y="24"/>
                  </a:lnTo>
                  <a:lnTo>
                    <a:pt x="618" y="24"/>
                  </a:lnTo>
                  <a:lnTo>
                    <a:pt x="624" y="24"/>
                  </a:lnTo>
                  <a:lnTo>
                    <a:pt x="630" y="30"/>
                  </a:lnTo>
                  <a:lnTo>
                    <a:pt x="636" y="30"/>
                  </a:lnTo>
                  <a:lnTo>
                    <a:pt x="636" y="24"/>
                  </a:lnTo>
                  <a:lnTo>
                    <a:pt x="636" y="18"/>
                  </a:lnTo>
                  <a:lnTo>
                    <a:pt x="630" y="12"/>
                  </a:lnTo>
                  <a:lnTo>
                    <a:pt x="636" y="12"/>
                  </a:lnTo>
                  <a:lnTo>
                    <a:pt x="636" y="6"/>
                  </a:lnTo>
                  <a:lnTo>
                    <a:pt x="636" y="0"/>
                  </a:lnTo>
                  <a:lnTo>
                    <a:pt x="642" y="0"/>
                  </a:lnTo>
                  <a:lnTo>
                    <a:pt x="648" y="0"/>
                  </a:lnTo>
                  <a:lnTo>
                    <a:pt x="648" y="6"/>
                  </a:lnTo>
                  <a:lnTo>
                    <a:pt x="654" y="6"/>
                  </a:lnTo>
                  <a:lnTo>
                    <a:pt x="660" y="12"/>
                  </a:lnTo>
                  <a:lnTo>
                    <a:pt x="666" y="12"/>
                  </a:lnTo>
                  <a:lnTo>
                    <a:pt x="672" y="18"/>
                  </a:lnTo>
                  <a:lnTo>
                    <a:pt x="666" y="24"/>
                  </a:lnTo>
                  <a:lnTo>
                    <a:pt x="666" y="30"/>
                  </a:lnTo>
                  <a:lnTo>
                    <a:pt x="660" y="36"/>
                  </a:lnTo>
                  <a:lnTo>
                    <a:pt x="660" y="42"/>
                  </a:lnTo>
                  <a:lnTo>
                    <a:pt x="660" y="48"/>
                  </a:lnTo>
                  <a:lnTo>
                    <a:pt x="654" y="48"/>
                  </a:lnTo>
                  <a:lnTo>
                    <a:pt x="654" y="54"/>
                  </a:lnTo>
                  <a:lnTo>
                    <a:pt x="654" y="60"/>
                  </a:lnTo>
                  <a:lnTo>
                    <a:pt x="654" y="66"/>
                  </a:lnTo>
                  <a:lnTo>
                    <a:pt x="660" y="66"/>
                  </a:lnTo>
                  <a:lnTo>
                    <a:pt x="666" y="72"/>
                  </a:lnTo>
                  <a:lnTo>
                    <a:pt x="672" y="72"/>
                  </a:lnTo>
                  <a:lnTo>
                    <a:pt x="678" y="78"/>
                  </a:lnTo>
                  <a:lnTo>
                    <a:pt x="684" y="78"/>
                  </a:lnTo>
                  <a:lnTo>
                    <a:pt x="690" y="84"/>
                  </a:lnTo>
                  <a:lnTo>
                    <a:pt x="696" y="90"/>
                  </a:lnTo>
                  <a:lnTo>
                    <a:pt x="702" y="90"/>
                  </a:lnTo>
                  <a:lnTo>
                    <a:pt x="708" y="90"/>
                  </a:lnTo>
                  <a:lnTo>
                    <a:pt x="708" y="96"/>
                  </a:lnTo>
                  <a:lnTo>
                    <a:pt x="714" y="96"/>
                  </a:lnTo>
                  <a:lnTo>
                    <a:pt x="714" y="102"/>
                  </a:lnTo>
                  <a:lnTo>
                    <a:pt x="714" y="108"/>
                  </a:lnTo>
                  <a:lnTo>
                    <a:pt x="726" y="120"/>
                  </a:lnTo>
                  <a:lnTo>
                    <a:pt x="726" y="126"/>
                  </a:lnTo>
                  <a:lnTo>
                    <a:pt x="732" y="132"/>
                  </a:lnTo>
                  <a:lnTo>
                    <a:pt x="738" y="132"/>
                  </a:lnTo>
                  <a:lnTo>
                    <a:pt x="744" y="132"/>
                  </a:lnTo>
                  <a:lnTo>
                    <a:pt x="750" y="132"/>
                  </a:lnTo>
                  <a:lnTo>
                    <a:pt x="756" y="132"/>
                  </a:lnTo>
                  <a:lnTo>
                    <a:pt x="762" y="132"/>
                  </a:lnTo>
                  <a:lnTo>
                    <a:pt x="768" y="132"/>
                  </a:lnTo>
                  <a:lnTo>
                    <a:pt x="768" y="138"/>
                  </a:lnTo>
                  <a:lnTo>
                    <a:pt x="774" y="138"/>
                  </a:lnTo>
                  <a:lnTo>
                    <a:pt x="774" y="144"/>
                  </a:lnTo>
                  <a:lnTo>
                    <a:pt x="780" y="144"/>
                  </a:lnTo>
                  <a:lnTo>
                    <a:pt x="786" y="150"/>
                  </a:lnTo>
                  <a:lnTo>
                    <a:pt x="786" y="156"/>
                  </a:lnTo>
                  <a:lnTo>
                    <a:pt x="786" y="162"/>
                  </a:lnTo>
                  <a:lnTo>
                    <a:pt x="786" y="168"/>
                  </a:lnTo>
                  <a:lnTo>
                    <a:pt x="792" y="168"/>
                  </a:lnTo>
                  <a:lnTo>
                    <a:pt x="798" y="168"/>
                  </a:lnTo>
                  <a:lnTo>
                    <a:pt x="804" y="168"/>
                  </a:lnTo>
                  <a:lnTo>
                    <a:pt x="804" y="174"/>
                  </a:lnTo>
                  <a:lnTo>
                    <a:pt x="810" y="174"/>
                  </a:lnTo>
                  <a:lnTo>
                    <a:pt x="816" y="174"/>
                  </a:lnTo>
                  <a:lnTo>
                    <a:pt x="822" y="174"/>
                  </a:lnTo>
                  <a:lnTo>
                    <a:pt x="822" y="180"/>
                  </a:lnTo>
                  <a:lnTo>
                    <a:pt x="828" y="180"/>
                  </a:lnTo>
                  <a:lnTo>
                    <a:pt x="828" y="186"/>
                  </a:lnTo>
                  <a:lnTo>
                    <a:pt x="834" y="186"/>
                  </a:lnTo>
                  <a:lnTo>
                    <a:pt x="840" y="186"/>
                  </a:lnTo>
                  <a:lnTo>
                    <a:pt x="846" y="180"/>
                  </a:lnTo>
                  <a:lnTo>
                    <a:pt x="852" y="180"/>
                  </a:lnTo>
                  <a:lnTo>
                    <a:pt x="846" y="186"/>
                  </a:lnTo>
                  <a:lnTo>
                    <a:pt x="852" y="186"/>
                  </a:lnTo>
                  <a:lnTo>
                    <a:pt x="852" y="192"/>
                  </a:lnTo>
                  <a:lnTo>
                    <a:pt x="852" y="198"/>
                  </a:lnTo>
                  <a:lnTo>
                    <a:pt x="858" y="198"/>
                  </a:lnTo>
                  <a:lnTo>
                    <a:pt x="858" y="204"/>
                  </a:lnTo>
                  <a:lnTo>
                    <a:pt x="858" y="210"/>
                  </a:lnTo>
                  <a:lnTo>
                    <a:pt x="864" y="210"/>
                  </a:lnTo>
                  <a:lnTo>
                    <a:pt x="864" y="216"/>
                  </a:lnTo>
                  <a:lnTo>
                    <a:pt x="858" y="216"/>
                  </a:lnTo>
                  <a:lnTo>
                    <a:pt x="852" y="216"/>
                  </a:lnTo>
                  <a:lnTo>
                    <a:pt x="852" y="222"/>
                  </a:lnTo>
                  <a:lnTo>
                    <a:pt x="852" y="228"/>
                  </a:lnTo>
                  <a:lnTo>
                    <a:pt x="852" y="234"/>
                  </a:lnTo>
                  <a:lnTo>
                    <a:pt x="846" y="234"/>
                  </a:lnTo>
                  <a:lnTo>
                    <a:pt x="846" y="228"/>
                  </a:lnTo>
                  <a:lnTo>
                    <a:pt x="840" y="234"/>
                  </a:lnTo>
                  <a:lnTo>
                    <a:pt x="834" y="234"/>
                  </a:lnTo>
                  <a:lnTo>
                    <a:pt x="834" y="246"/>
                  </a:lnTo>
                  <a:lnTo>
                    <a:pt x="834" y="252"/>
                  </a:lnTo>
                  <a:lnTo>
                    <a:pt x="840" y="252"/>
                  </a:lnTo>
                  <a:lnTo>
                    <a:pt x="840" y="258"/>
                  </a:lnTo>
                  <a:lnTo>
                    <a:pt x="840" y="264"/>
                  </a:lnTo>
                  <a:lnTo>
                    <a:pt x="834" y="264"/>
                  </a:lnTo>
                  <a:lnTo>
                    <a:pt x="828" y="270"/>
                  </a:lnTo>
                  <a:lnTo>
                    <a:pt x="828" y="276"/>
                  </a:lnTo>
                  <a:lnTo>
                    <a:pt x="834" y="282"/>
                  </a:lnTo>
                  <a:lnTo>
                    <a:pt x="834" y="288"/>
                  </a:lnTo>
                  <a:lnTo>
                    <a:pt x="840" y="288"/>
                  </a:lnTo>
                  <a:lnTo>
                    <a:pt x="840" y="294"/>
                  </a:lnTo>
                  <a:lnTo>
                    <a:pt x="840" y="300"/>
                  </a:lnTo>
                  <a:lnTo>
                    <a:pt x="840" y="306"/>
                  </a:lnTo>
                  <a:lnTo>
                    <a:pt x="834" y="312"/>
                  </a:lnTo>
                  <a:lnTo>
                    <a:pt x="828" y="312"/>
                  </a:lnTo>
                  <a:lnTo>
                    <a:pt x="828" y="318"/>
                  </a:lnTo>
                  <a:lnTo>
                    <a:pt x="834" y="318"/>
                  </a:lnTo>
                  <a:lnTo>
                    <a:pt x="834" y="324"/>
                  </a:lnTo>
                  <a:lnTo>
                    <a:pt x="834" y="330"/>
                  </a:lnTo>
                  <a:lnTo>
                    <a:pt x="834" y="336"/>
                  </a:lnTo>
                  <a:lnTo>
                    <a:pt x="822" y="336"/>
                  </a:lnTo>
                  <a:lnTo>
                    <a:pt x="822" y="342"/>
                  </a:lnTo>
                  <a:lnTo>
                    <a:pt x="816" y="342"/>
                  </a:lnTo>
                  <a:lnTo>
                    <a:pt x="810" y="348"/>
                  </a:lnTo>
                  <a:lnTo>
                    <a:pt x="810" y="354"/>
                  </a:lnTo>
                  <a:lnTo>
                    <a:pt x="810" y="360"/>
                  </a:lnTo>
                  <a:lnTo>
                    <a:pt x="810" y="366"/>
                  </a:lnTo>
                  <a:lnTo>
                    <a:pt x="816" y="366"/>
                  </a:lnTo>
                  <a:lnTo>
                    <a:pt x="822" y="372"/>
                  </a:lnTo>
                  <a:lnTo>
                    <a:pt x="828" y="372"/>
                  </a:lnTo>
                  <a:lnTo>
                    <a:pt x="822" y="378"/>
                  </a:lnTo>
                  <a:lnTo>
                    <a:pt x="828" y="384"/>
                  </a:lnTo>
                  <a:lnTo>
                    <a:pt x="834" y="384"/>
                  </a:lnTo>
                  <a:lnTo>
                    <a:pt x="834" y="390"/>
                  </a:lnTo>
                  <a:lnTo>
                    <a:pt x="828" y="396"/>
                  </a:lnTo>
                  <a:lnTo>
                    <a:pt x="828" y="402"/>
                  </a:lnTo>
                  <a:lnTo>
                    <a:pt x="834" y="408"/>
                  </a:lnTo>
                  <a:lnTo>
                    <a:pt x="834" y="414"/>
                  </a:lnTo>
                  <a:lnTo>
                    <a:pt x="834" y="420"/>
                  </a:lnTo>
                  <a:lnTo>
                    <a:pt x="834" y="426"/>
                  </a:lnTo>
                  <a:lnTo>
                    <a:pt x="828" y="426"/>
                  </a:lnTo>
                  <a:lnTo>
                    <a:pt x="828" y="432"/>
                  </a:lnTo>
                  <a:lnTo>
                    <a:pt x="822" y="426"/>
                  </a:lnTo>
                  <a:lnTo>
                    <a:pt x="822" y="432"/>
                  </a:lnTo>
                  <a:lnTo>
                    <a:pt x="816" y="432"/>
                  </a:lnTo>
                  <a:lnTo>
                    <a:pt x="816" y="438"/>
                  </a:lnTo>
                  <a:lnTo>
                    <a:pt x="810" y="432"/>
                  </a:lnTo>
                  <a:lnTo>
                    <a:pt x="804" y="438"/>
                  </a:lnTo>
                  <a:lnTo>
                    <a:pt x="810" y="438"/>
                  </a:lnTo>
                  <a:lnTo>
                    <a:pt x="810" y="444"/>
                  </a:lnTo>
                  <a:lnTo>
                    <a:pt x="816" y="444"/>
                  </a:lnTo>
                  <a:lnTo>
                    <a:pt x="822" y="444"/>
                  </a:lnTo>
                  <a:lnTo>
                    <a:pt x="822" y="450"/>
                  </a:lnTo>
                  <a:lnTo>
                    <a:pt x="822" y="456"/>
                  </a:lnTo>
                  <a:lnTo>
                    <a:pt x="816" y="462"/>
                  </a:lnTo>
                  <a:lnTo>
                    <a:pt x="816" y="456"/>
                  </a:lnTo>
                  <a:lnTo>
                    <a:pt x="810" y="462"/>
                  </a:lnTo>
                  <a:lnTo>
                    <a:pt x="816" y="462"/>
                  </a:lnTo>
                  <a:lnTo>
                    <a:pt x="816" y="468"/>
                  </a:lnTo>
                  <a:lnTo>
                    <a:pt x="816" y="474"/>
                  </a:lnTo>
                  <a:lnTo>
                    <a:pt x="822" y="474"/>
                  </a:lnTo>
                  <a:lnTo>
                    <a:pt x="816" y="480"/>
                  </a:lnTo>
                  <a:lnTo>
                    <a:pt x="822" y="480"/>
                  </a:lnTo>
                  <a:lnTo>
                    <a:pt x="816" y="486"/>
                  </a:lnTo>
                  <a:lnTo>
                    <a:pt x="816" y="492"/>
                  </a:lnTo>
                  <a:lnTo>
                    <a:pt x="810" y="492"/>
                  </a:lnTo>
                  <a:lnTo>
                    <a:pt x="810" y="498"/>
                  </a:lnTo>
                  <a:lnTo>
                    <a:pt x="804" y="498"/>
                  </a:lnTo>
                  <a:lnTo>
                    <a:pt x="804" y="504"/>
                  </a:lnTo>
                  <a:lnTo>
                    <a:pt x="804" y="510"/>
                  </a:lnTo>
                  <a:lnTo>
                    <a:pt x="798" y="510"/>
                  </a:lnTo>
                  <a:lnTo>
                    <a:pt x="798" y="516"/>
                  </a:lnTo>
                  <a:lnTo>
                    <a:pt x="792" y="516"/>
                  </a:lnTo>
                  <a:lnTo>
                    <a:pt x="792" y="510"/>
                  </a:lnTo>
                  <a:lnTo>
                    <a:pt x="792" y="516"/>
                  </a:lnTo>
                  <a:lnTo>
                    <a:pt x="792" y="522"/>
                  </a:lnTo>
                  <a:lnTo>
                    <a:pt x="786" y="516"/>
                  </a:lnTo>
                  <a:lnTo>
                    <a:pt x="786" y="522"/>
                  </a:lnTo>
                  <a:lnTo>
                    <a:pt x="780" y="522"/>
                  </a:lnTo>
                  <a:lnTo>
                    <a:pt x="780" y="528"/>
                  </a:lnTo>
                  <a:lnTo>
                    <a:pt x="774" y="528"/>
                  </a:lnTo>
                  <a:lnTo>
                    <a:pt x="780" y="528"/>
                  </a:lnTo>
                  <a:lnTo>
                    <a:pt x="780" y="534"/>
                  </a:lnTo>
                  <a:lnTo>
                    <a:pt x="774" y="534"/>
                  </a:lnTo>
                  <a:lnTo>
                    <a:pt x="768" y="534"/>
                  </a:lnTo>
                  <a:lnTo>
                    <a:pt x="768" y="540"/>
                  </a:lnTo>
                  <a:lnTo>
                    <a:pt x="768" y="546"/>
                  </a:lnTo>
                  <a:lnTo>
                    <a:pt x="762" y="546"/>
                  </a:lnTo>
                  <a:lnTo>
                    <a:pt x="762" y="552"/>
                  </a:lnTo>
                  <a:lnTo>
                    <a:pt x="756" y="552"/>
                  </a:lnTo>
                  <a:lnTo>
                    <a:pt x="756" y="558"/>
                  </a:lnTo>
                  <a:lnTo>
                    <a:pt x="750" y="558"/>
                  </a:lnTo>
                  <a:lnTo>
                    <a:pt x="744" y="558"/>
                  </a:lnTo>
                  <a:lnTo>
                    <a:pt x="744" y="564"/>
                  </a:lnTo>
                  <a:lnTo>
                    <a:pt x="744" y="570"/>
                  </a:lnTo>
                  <a:lnTo>
                    <a:pt x="744" y="576"/>
                  </a:lnTo>
                  <a:lnTo>
                    <a:pt x="738" y="576"/>
                  </a:lnTo>
                  <a:lnTo>
                    <a:pt x="732" y="576"/>
                  </a:lnTo>
                  <a:lnTo>
                    <a:pt x="726" y="576"/>
                  </a:lnTo>
                  <a:lnTo>
                    <a:pt x="726" y="582"/>
                  </a:lnTo>
                  <a:lnTo>
                    <a:pt x="720" y="582"/>
                  </a:lnTo>
                  <a:lnTo>
                    <a:pt x="720" y="576"/>
                  </a:lnTo>
                  <a:lnTo>
                    <a:pt x="726" y="576"/>
                  </a:lnTo>
                  <a:lnTo>
                    <a:pt x="720" y="576"/>
                  </a:lnTo>
                  <a:lnTo>
                    <a:pt x="720" y="582"/>
                  </a:lnTo>
                  <a:lnTo>
                    <a:pt x="720" y="588"/>
                  </a:lnTo>
                  <a:lnTo>
                    <a:pt x="714" y="588"/>
                  </a:lnTo>
                  <a:lnTo>
                    <a:pt x="714" y="594"/>
                  </a:lnTo>
                  <a:lnTo>
                    <a:pt x="708" y="594"/>
                  </a:lnTo>
                  <a:lnTo>
                    <a:pt x="708" y="588"/>
                  </a:lnTo>
                  <a:lnTo>
                    <a:pt x="714" y="588"/>
                  </a:lnTo>
                  <a:lnTo>
                    <a:pt x="714" y="582"/>
                  </a:lnTo>
                  <a:lnTo>
                    <a:pt x="714" y="576"/>
                  </a:lnTo>
                  <a:lnTo>
                    <a:pt x="714" y="570"/>
                  </a:lnTo>
                  <a:lnTo>
                    <a:pt x="714" y="564"/>
                  </a:lnTo>
                  <a:lnTo>
                    <a:pt x="714" y="570"/>
                  </a:lnTo>
                  <a:lnTo>
                    <a:pt x="714" y="564"/>
                  </a:lnTo>
                  <a:lnTo>
                    <a:pt x="714" y="558"/>
                  </a:lnTo>
                  <a:lnTo>
                    <a:pt x="720" y="558"/>
                  </a:lnTo>
                  <a:lnTo>
                    <a:pt x="720" y="564"/>
                  </a:lnTo>
                  <a:lnTo>
                    <a:pt x="720" y="558"/>
                  </a:lnTo>
                  <a:lnTo>
                    <a:pt x="720" y="564"/>
                  </a:lnTo>
                  <a:lnTo>
                    <a:pt x="720" y="558"/>
                  </a:lnTo>
                  <a:lnTo>
                    <a:pt x="720" y="552"/>
                  </a:lnTo>
                  <a:lnTo>
                    <a:pt x="726" y="552"/>
                  </a:lnTo>
                  <a:lnTo>
                    <a:pt x="720" y="552"/>
                  </a:lnTo>
                  <a:lnTo>
                    <a:pt x="726" y="552"/>
                  </a:lnTo>
                  <a:lnTo>
                    <a:pt x="726" y="546"/>
                  </a:lnTo>
                  <a:lnTo>
                    <a:pt x="720" y="546"/>
                  </a:lnTo>
                  <a:lnTo>
                    <a:pt x="720" y="552"/>
                  </a:lnTo>
                  <a:lnTo>
                    <a:pt x="714" y="552"/>
                  </a:lnTo>
                  <a:lnTo>
                    <a:pt x="714" y="546"/>
                  </a:lnTo>
                  <a:lnTo>
                    <a:pt x="708" y="546"/>
                  </a:lnTo>
                  <a:lnTo>
                    <a:pt x="708" y="552"/>
                  </a:lnTo>
                  <a:lnTo>
                    <a:pt x="702" y="552"/>
                  </a:lnTo>
                  <a:lnTo>
                    <a:pt x="702" y="558"/>
                  </a:lnTo>
                  <a:lnTo>
                    <a:pt x="696" y="558"/>
                  </a:lnTo>
                  <a:lnTo>
                    <a:pt x="702" y="558"/>
                  </a:lnTo>
                  <a:lnTo>
                    <a:pt x="696" y="558"/>
                  </a:lnTo>
                  <a:lnTo>
                    <a:pt x="702" y="558"/>
                  </a:lnTo>
                  <a:lnTo>
                    <a:pt x="696" y="558"/>
                  </a:lnTo>
                  <a:lnTo>
                    <a:pt x="696" y="552"/>
                  </a:lnTo>
                  <a:lnTo>
                    <a:pt x="702" y="552"/>
                  </a:lnTo>
                  <a:lnTo>
                    <a:pt x="702" y="546"/>
                  </a:lnTo>
                  <a:lnTo>
                    <a:pt x="702" y="540"/>
                  </a:lnTo>
                  <a:lnTo>
                    <a:pt x="702" y="534"/>
                  </a:lnTo>
                  <a:lnTo>
                    <a:pt x="702" y="528"/>
                  </a:lnTo>
                  <a:lnTo>
                    <a:pt x="696" y="528"/>
                  </a:lnTo>
                  <a:lnTo>
                    <a:pt x="696" y="522"/>
                  </a:lnTo>
                  <a:lnTo>
                    <a:pt x="702" y="522"/>
                  </a:lnTo>
                  <a:lnTo>
                    <a:pt x="702" y="528"/>
                  </a:lnTo>
                  <a:lnTo>
                    <a:pt x="702" y="522"/>
                  </a:lnTo>
                  <a:lnTo>
                    <a:pt x="702" y="516"/>
                  </a:lnTo>
                  <a:lnTo>
                    <a:pt x="708" y="516"/>
                  </a:lnTo>
                  <a:lnTo>
                    <a:pt x="708" y="510"/>
                  </a:lnTo>
                  <a:lnTo>
                    <a:pt x="708" y="504"/>
                  </a:lnTo>
                  <a:lnTo>
                    <a:pt x="714" y="504"/>
                  </a:lnTo>
                  <a:lnTo>
                    <a:pt x="714" y="498"/>
                  </a:lnTo>
                  <a:lnTo>
                    <a:pt x="714" y="492"/>
                  </a:lnTo>
                  <a:lnTo>
                    <a:pt x="720" y="492"/>
                  </a:lnTo>
                  <a:lnTo>
                    <a:pt x="714" y="492"/>
                  </a:lnTo>
                  <a:lnTo>
                    <a:pt x="720" y="492"/>
                  </a:lnTo>
                  <a:lnTo>
                    <a:pt x="720" y="486"/>
                  </a:lnTo>
                  <a:lnTo>
                    <a:pt x="714" y="486"/>
                  </a:lnTo>
                  <a:lnTo>
                    <a:pt x="720" y="486"/>
                  </a:lnTo>
                  <a:lnTo>
                    <a:pt x="720" y="480"/>
                  </a:lnTo>
                  <a:lnTo>
                    <a:pt x="726" y="480"/>
                  </a:lnTo>
                  <a:lnTo>
                    <a:pt x="720" y="474"/>
                  </a:lnTo>
                  <a:lnTo>
                    <a:pt x="720" y="468"/>
                  </a:lnTo>
                  <a:lnTo>
                    <a:pt x="720" y="462"/>
                  </a:lnTo>
                  <a:lnTo>
                    <a:pt x="714" y="462"/>
                  </a:lnTo>
                  <a:lnTo>
                    <a:pt x="714" y="468"/>
                  </a:lnTo>
                  <a:lnTo>
                    <a:pt x="708" y="468"/>
                  </a:lnTo>
                  <a:lnTo>
                    <a:pt x="708" y="474"/>
                  </a:lnTo>
                  <a:lnTo>
                    <a:pt x="702" y="474"/>
                  </a:lnTo>
                  <a:lnTo>
                    <a:pt x="702" y="480"/>
                  </a:lnTo>
                  <a:lnTo>
                    <a:pt x="702" y="486"/>
                  </a:lnTo>
                  <a:lnTo>
                    <a:pt x="696" y="486"/>
                  </a:lnTo>
                  <a:lnTo>
                    <a:pt x="696" y="480"/>
                  </a:lnTo>
                  <a:lnTo>
                    <a:pt x="696" y="486"/>
                  </a:lnTo>
                  <a:lnTo>
                    <a:pt x="690" y="486"/>
                  </a:lnTo>
                  <a:lnTo>
                    <a:pt x="690" y="480"/>
                  </a:lnTo>
                  <a:lnTo>
                    <a:pt x="690" y="486"/>
                  </a:lnTo>
                  <a:lnTo>
                    <a:pt x="684" y="486"/>
                  </a:lnTo>
                  <a:lnTo>
                    <a:pt x="684" y="480"/>
                  </a:lnTo>
                  <a:lnTo>
                    <a:pt x="684" y="474"/>
                  </a:lnTo>
                  <a:lnTo>
                    <a:pt x="678" y="474"/>
                  </a:lnTo>
                  <a:lnTo>
                    <a:pt x="678" y="480"/>
                  </a:lnTo>
                  <a:lnTo>
                    <a:pt x="678" y="474"/>
                  </a:lnTo>
                  <a:lnTo>
                    <a:pt x="672" y="474"/>
                  </a:lnTo>
                  <a:lnTo>
                    <a:pt x="678" y="474"/>
                  </a:lnTo>
                  <a:lnTo>
                    <a:pt x="678" y="468"/>
                  </a:lnTo>
                  <a:lnTo>
                    <a:pt x="672" y="468"/>
                  </a:lnTo>
                  <a:lnTo>
                    <a:pt x="672" y="462"/>
                  </a:lnTo>
                  <a:lnTo>
                    <a:pt x="666" y="462"/>
                  </a:lnTo>
                  <a:lnTo>
                    <a:pt x="660" y="462"/>
                  </a:lnTo>
                  <a:lnTo>
                    <a:pt x="660" y="468"/>
                  </a:lnTo>
                  <a:lnTo>
                    <a:pt x="654" y="468"/>
                  </a:lnTo>
                  <a:lnTo>
                    <a:pt x="654" y="474"/>
                  </a:lnTo>
                  <a:lnTo>
                    <a:pt x="648" y="474"/>
                  </a:lnTo>
                  <a:lnTo>
                    <a:pt x="642" y="474"/>
                  </a:lnTo>
                  <a:lnTo>
                    <a:pt x="636" y="474"/>
                  </a:lnTo>
                  <a:lnTo>
                    <a:pt x="630" y="474"/>
                  </a:lnTo>
                  <a:lnTo>
                    <a:pt x="624" y="474"/>
                  </a:lnTo>
                  <a:lnTo>
                    <a:pt x="618" y="480"/>
                  </a:lnTo>
                  <a:lnTo>
                    <a:pt x="612" y="480"/>
                  </a:lnTo>
                  <a:lnTo>
                    <a:pt x="606" y="480"/>
                  </a:lnTo>
                  <a:lnTo>
                    <a:pt x="606" y="474"/>
                  </a:lnTo>
                  <a:lnTo>
                    <a:pt x="600" y="474"/>
                  </a:lnTo>
                  <a:lnTo>
                    <a:pt x="594" y="474"/>
                  </a:lnTo>
                  <a:lnTo>
                    <a:pt x="588" y="474"/>
                  </a:lnTo>
                  <a:lnTo>
                    <a:pt x="588" y="480"/>
                  </a:lnTo>
                  <a:lnTo>
                    <a:pt x="582" y="480"/>
                  </a:lnTo>
                  <a:lnTo>
                    <a:pt x="582" y="486"/>
                  </a:lnTo>
                  <a:lnTo>
                    <a:pt x="576" y="486"/>
                  </a:lnTo>
                  <a:lnTo>
                    <a:pt x="570" y="486"/>
                  </a:lnTo>
                  <a:lnTo>
                    <a:pt x="570" y="492"/>
                  </a:lnTo>
                  <a:lnTo>
                    <a:pt x="564" y="492"/>
                  </a:lnTo>
                  <a:lnTo>
                    <a:pt x="570" y="492"/>
                  </a:lnTo>
                  <a:lnTo>
                    <a:pt x="564" y="492"/>
                  </a:lnTo>
                  <a:lnTo>
                    <a:pt x="564" y="498"/>
                  </a:lnTo>
                  <a:lnTo>
                    <a:pt x="558" y="504"/>
                  </a:lnTo>
                  <a:lnTo>
                    <a:pt x="552" y="504"/>
                  </a:lnTo>
                  <a:lnTo>
                    <a:pt x="552" y="510"/>
                  </a:lnTo>
                  <a:lnTo>
                    <a:pt x="552" y="516"/>
                  </a:lnTo>
                  <a:lnTo>
                    <a:pt x="552" y="522"/>
                  </a:lnTo>
                  <a:lnTo>
                    <a:pt x="552" y="528"/>
                  </a:lnTo>
                  <a:lnTo>
                    <a:pt x="552" y="534"/>
                  </a:lnTo>
                  <a:lnTo>
                    <a:pt x="546" y="534"/>
                  </a:lnTo>
                  <a:lnTo>
                    <a:pt x="540" y="534"/>
                  </a:lnTo>
                  <a:lnTo>
                    <a:pt x="540" y="540"/>
                  </a:lnTo>
                  <a:lnTo>
                    <a:pt x="534" y="540"/>
                  </a:lnTo>
                  <a:lnTo>
                    <a:pt x="534" y="546"/>
                  </a:lnTo>
                  <a:lnTo>
                    <a:pt x="528" y="546"/>
                  </a:lnTo>
                  <a:lnTo>
                    <a:pt x="528" y="552"/>
                  </a:lnTo>
                  <a:lnTo>
                    <a:pt x="522" y="552"/>
                  </a:lnTo>
                  <a:lnTo>
                    <a:pt x="522" y="558"/>
                  </a:lnTo>
                  <a:lnTo>
                    <a:pt x="522" y="552"/>
                  </a:lnTo>
                  <a:lnTo>
                    <a:pt x="522" y="558"/>
                  </a:lnTo>
                  <a:lnTo>
                    <a:pt x="516" y="558"/>
                  </a:lnTo>
                  <a:lnTo>
                    <a:pt x="522" y="558"/>
                  </a:lnTo>
                  <a:lnTo>
                    <a:pt x="516" y="564"/>
                  </a:lnTo>
                  <a:lnTo>
                    <a:pt x="516" y="570"/>
                  </a:lnTo>
                  <a:lnTo>
                    <a:pt x="516" y="576"/>
                  </a:lnTo>
                  <a:lnTo>
                    <a:pt x="510" y="576"/>
                  </a:lnTo>
                  <a:lnTo>
                    <a:pt x="510" y="582"/>
                  </a:lnTo>
                  <a:lnTo>
                    <a:pt x="504" y="582"/>
                  </a:lnTo>
                  <a:lnTo>
                    <a:pt x="504" y="588"/>
                  </a:lnTo>
                  <a:lnTo>
                    <a:pt x="498" y="588"/>
                  </a:lnTo>
                  <a:lnTo>
                    <a:pt x="498" y="594"/>
                  </a:lnTo>
                  <a:lnTo>
                    <a:pt x="492" y="594"/>
                  </a:lnTo>
                  <a:lnTo>
                    <a:pt x="486" y="600"/>
                  </a:lnTo>
                  <a:lnTo>
                    <a:pt x="486" y="606"/>
                  </a:lnTo>
                  <a:lnTo>
                    <a:pt x="480" y="606"/>
                  </a:lnTo>
                  <a:lnTo>
                    <a:pt x="474" y="612"/>
                  </a:lnTo>
                  <a:lnTo>
                    <a:pt x="468" y="612"/>
                  </a:lnTo>
                  <a:lnTo>
                    <a:pt x="468" y="618"/>
                  </a:lnTo>
                  <a:lnTo>
                    <a:pt x="468" y="624"/>
                  </a:lnTo>
                  <a:lnTo>
                    <a:pt x="462" y="624"/>
                  </a:lnTo>
                  <a:lnTo>
                    <a:pt x="462" y="630"/>
                  </a:lnTo>
                  <a:lnTo>
                    <a:pt x="456" y="630"/>
                  </a:lnTo>
                  <a:lnTo>
                    <a:pt x="456" y="636"/>
                  </a:lnTo>
                  <a:lnTo>
                    <a:pt x="456" y="642"/>
                  </a:lnTo>
                  <a:lnTo>
                    <a:pt x="450" y="642"/>
                  </a:lnTo>
                  <a:lnTo>
                    <a:pt x="456" y="642"/>
                  </a:lnTo>
                  <a:lnTo>
                    <a:pt x="456" y="636"/>
                  </a:lnTo>
                  <a:lnTo>
                    <a:pt x="450" y="636"/>
                  </a:lnTo>
                  <a:lnTo>
                    <a:pt x="450" y="642"/>
                  </a:lnTo>
                  <a:lnTo>
                    <a:pt x="450" y="648"/>
                  </a:lnTo>
                  <a:lnTo>
                    <a:pt x="450" y="642"/>
                  </a:lnTo>
                  <a:lnTo>
                    <a:pt x="450" y="648"/>
                  </a:lnTo>
                  <a:lnTo>
                    <a:pt x="450" y="654"/>
                  </a:lnTo>
                  <a:lnTo>
                    <a:pt x="450" y="660"/>
                  </a:lnTo>
                  <a:lnTo>
                    <a:pt x="444" y="660"/>
                  </a:lnTo>
                  <a:lnTo>
                    <a:pt x="450" y="660"/>
                  </a:lnTo>
                  <a:lnTo>
                    <a:pt x="450" y="654"/>
                  </a:lnTo>
                  <a:lnTo>
                    <a:pt x="444" y="654"/>
                  </a:lnTo>
                  <a:lnTo>
                    <a:pt x="438" y="654"/>
                  </a:lnTo>
                  <a:lnTo>
                    <a:pt x="438" y="660"/>
                  </a:lnTo>
                  <a:lnTo>
                    <a:pt x="438" y="666"/>
                  </a:lnTo>
                  <a:lnTo>
                    <a:pt x="444" y="672"/>
                  </a:lnTo>
                  <a:lnTo>
                    <a:pt x="444" y="678"/>
                  </a:lnTo>
                  <a:lnTo>
                    <a:pt x="444" y="684"/>
                  </a:lnTo>
                  <a:lnTo>
                    <a:pt x="444" y="678"/>
                  </a:lnTo>
                  <a:lnTo>
                    <a:pt x="444" y="672"/>
                  </a:lnTo>
                  <a:lnTo>
                    <a:pt x="438" y="672"/>
                  </a:lnTo>
                  <a:lnTo>
                    <a:pt x="438" y="678"/>
                  </a:lnTo>
                  <a:lnTo>
                    <a:pt x="438" y="684"/>
                  </a:lnTo>
                  <a:lnTo>
                    <a:pt x="432" y="684"/>
                  </a:lnTo>
                  <a:lnTo>
                    <a:pt x="432" y="690"/>
                  </a:lnTo>
                  <a:lnTo>
                    <a:pt x="432" y="696"/>
                  </a:lnTo>
                  <a:lnTo>
                    <a:pt x="438" y="696"/>
                  </a:lnTo>
                  <a:lnTo>
                    <a:pt x="444" y="696"/>
                  </a:lnTo>
                  <a:lnTo>
                    <a:pt x="444" y="690"/>
                  </a:lnTo>
                  <a:lnTo>
                    <a:pt x="444" y="684"/>
                  </a:lnTo>
                  <a:lnTo>
                    <a:pt x="450" y="684"/>
                  </a:lnTo>
                  <a:lnTo>
                    <a:pt x="450" y="690"/>
                  </a:lnTo>
                  <a:lnTo>
                    <a:pt x="444" y="690"/>
                  </a:lnTo>
                  <a:lnTo>
                    <a:pt x="450" y="690"/>
                  </a:lnTo>
                  <a:lnTo>
                    <a:pt x="450" y="696"/>
                  </a:lnTo>
                  <a:lnTo>
                    <a:pt x="456" y="696"/>
                  </a:lnTo>
                  <a:lnTo>
                    <a:pt x="450" y="696"/>
                  </a:lnTo>
                  <a:lnTo>
                    <a:pt x="450" y="690"/>
                  </a:lnTo>
                  <a:lnTo>
                    <a:pt x="450" y="684"/>
                  </a:lnTo>
                  <a:lnTo>
                    <a:pt x="450" y="690"/>
                  </a:lnTo>
                  <a:lnTo>
                    <a:pt x="456" y="690"/>
                  </a:lnTo>
                  <a:lnTo>
                    <a:pt x="456" y="684"/>
                  </a:lnTo>
                  <a:lnTo>
                    <a:pt x="462" y="684"/>
                  </a:lnTo>
                  <a:lnTo>
                    <a:pt x="462" y="690"/>
                  </a:lnTo>
                  <a:lnTo>
                    <a:pt x="468" y="690"/>
                  </a:lnTo>
                  <a:lnTo>
                    <a:pt x="474" y="690"/>
                  </a:lnTo>
                  <a:lnTo>
                    <a:pt x="474" y="696"/>
                  </a:lnTo>
                  <a:lnTo>
                    <a:pt x="480" y="696"/>
                  </a:lnTo>
                  <a:lnTo>
                    <a:pt x="480" y="702"/>
                  </a:lnTo>
                  <a:lnTo>
                    <a:pt x="486" y="702"/>
                  </a:lnTo>
                  <a:lnTo>
                    <a:pt x="486" y="708"/>
                  </a:lnTo>
                  <a:lnTo>
                    <a:pt x="480" y="708"/>
                  </a:lnTo>
                  <a:lnTo>
                    <a:pt x="486" y="714"/>
                  </a:lnTo>
                  <a:lnTo>
                    <a:pt x="480" y="714"/>
                  </a:lnTo>
                  <a:lnTo>
                    <a:pt x="480" y="720"/>
                  </a:lnTo>
                  <a:lnTo>
                    <a:pt x="486" y="720"/>
                  </a:lnTo>
                  <a:lnTo>
                    <a:pt x="480" y="720"/>
                  </a:lnTo>
                  <a:lnTo>
                    <a:pt x="474" y="720"/>
                  </a:lnTo>
                  <a:lnTo>
                    <a:pt x="468" y="720"/>
                  </a:lnTo>
                  <a:lnTo>
                    <a:pt x="462" y="720"/>
                  </a:lnTo>
                  <a:lnTo>
                    <a:pt x="468" y="720"/>
                  </a:lnTo>
                  <a:lnTo>
                    <a:pt x="468" y="726"/>
                  </a:lnTo>
                  <a:lnTo>
                    <a:pt x="462" y="720"/>
                  </a:lnTo>
                  <a:lnTo>
                    <a:pt x="456" y="720"/>
                  </a:lnTo>
                  <a:lnTo>
                    <a:pt x="456" y="714"/>
                  </a:lnTo>
                  <a:lnTo>
                    <a:pt x="450" y="714"/>
                  </a:lnTo>
                  <a:lnTo>
                    <a:pt x="444" y="720"/>
                  </a:lnTo>
                  <a:lnTo>
                    <a:pt x="444" y="714"/>
                  </a:lnTo>
                  <a:lnTo>
                    <a:pt x="444" y="720"/>
                  </a:lnTo>
                  <a:lnTo>
                    <a:pt x="444" y="726"/>
                  </a:lnTo>
                  <a:lnTo>
                    <a:pt x="438" y="726"/>
                  </a:lnTo>
                  <a:lnTo>
                    <a:pt x="432" y="726"/>
                  </a:lnTo>
                  <a:lnTo>
                    <a:pt x="432" y="732"/>
                  </a:lnTo>
                  <a:lnTo>
                    <a:pt x="426" y="726"/>
                  </a:lnTo>
                  <a:lnTo>
                    <a:pt x="426" y="720"/>
                  </a:lnTo>
                  <a:lnTo>
                    <a:pt x="420" y="720"/>
                  </a:lnTo>
                  <a:lnTo>
                    <a:pt x="414" y="720"/>
                  </a:lnTo>
                  <a:lnTo>
                    <a:pt x="414" y="714"/>
                  </a:lnTo>
                  <a:lnTo>
                    <a:pt x="420" y="714"/>
                  </a:lnTo>
                  <a:lnTo>
                    <a:pt x="414" y="714"/>
                  </a:lnTo>
                  <a:lnTo>
                    <a:pt x="414" y="720"/>
                  </a:lnTo>
                  <a:lnTo>
                    <a:pt x="408" y="720"/>
                  </a:lnTo>
                  <a:lnTo>
                    <a:pt x="408" y="714"/>
                  </a:lnTo>
                  <a:lnTo>
                    <a:pt x="402" y="714"/>
                  </a:lnTo>
                  <a:lnTo>
                    <a:pt x="402" y="720"/>
                  </a:lnTo>
                  <a:lnTo>
                    <a:pt x="396" y="720"/>
                  </a:lnTo>
                  <a:lnTo>
                    <a:pt x="402" y="726"/>
                  </a:lnTo>
                  <a:lnTo>
                    <a:pt x="396" y="726"/>
                  </a:lnTo>
                  <a:lnTo>
                    <a:pt x="402" y="726"/>
                  </a:lnTo>
                  <a:lnTo>
                    <a:pt x="396" y="726"/>
                  </a:lnTo>
                  <a:lnTo>
                    <a:pt x="390" y="726"/>
                  </a:lnTo>
                  <a:lnTo>
                    <a:pt x="384" y="726"/>
                  </a:lnTo>
                  <a:lnTo>
                    <a:pt x="384" y="732"/>
                  </a:lnTo>
                  <a:lnTo>
                    <a:pt x="378" y="732"/>
                  </a:lnTo>
                  <a:lnTo>
                    <a:pt x="378" y="738"/>
                  </a:lnTo>
                  <a:lnTo>
                    <a:pt x="378" y="744"/>
                  </a:lnTo>
                  <a:lnTo>
                    <a:pt x="372" y="744"/>
                  </a:lnTo>
                  <a:lnTo>
                    <a:pt x="366" y="744"/>
                  </a:lnTo>
                  <a:lnTo>
                    <a:pt x="366" y="738"/>
                  </a:lnTo>
                  <a:lnTo>
                    <a:pt x="360" y="738"/>
                  </a:lnTo>
                  <a:lnTo>
                    <a:pt x="360" y="732"/>
                  </a:lnTo>
                  <a:lnTo>
                    <a:pt x="354" y="732"/>
                  </a:lnTo>
                  <a:lnTo>
                    <a:pt x="348" y="732"/>
                  </a:lnTo>
                  <a:lnTo>
                    <a:pt x="348" y="738"/>
                  </a:lnTo>
                  <a:lnTo>
                    <a:pt x="342" y="738"/>
                  </a:lnTo>
                  <a:lnTo>
                    <a:pt x="342" y="744"/>
                  </a:lnTo>
                  <a:lnTo>
                    <a:pt x="336" y="744"/>
                  </a:lnTo>
                  <a:lnTo>
                    <a:pt x="330" y="744"/>
                  </a:lnTo>
                  <a:lnTo>
                    <a:pt x="324" y="750"/>
                  </a:lnTo>
                  <a:lnTo>
                    <a:pt x="318" y="750"/>
                  </a:lnTo>
                  <a:lnTo>
                    <a:pt x="318" y="744"/>
                  </a:lnTo>
                  <a:lnTo>
                    <a:pt x="312" y="744"/>
                  </a:lnTo>
                  <a:lnTo>
                    <a:pt x="312" y="750"/>
                  </a:lnTo>
                  <a:lnTo>
                    <a:pt x="306" y="750"/>
                  </a:lnTo>
                  <a:lnTo>
                    <a:pt x="306" y="744"/>
                  </a:lnTo>
                  <a:lnTo>
                    <a:pt x="306" y="738"/>
                  </a:lnTo>
                  <a:lnTo>
                    <a:pt x="300" y="738"/>
                  </a:lnTo>
                  <a:lnTo>
                    <a:pt x="300" y="732"/>
                  </a:lnTo>
                  <a:lnTo>
                    <a:pt x="300" y="726"/>
                  </a:lnTo>
                  <a:lnTo>
                    <a:pt x="306" y="726"/>
                  </a:lnTo>
                  <a:lnTo>
                    <a:pt x="312" y="720"/>
                  </a:lnTo>
                  <a:lnTo>
                    <a:pt x="318" y="720"/>
                  </a:lnTo>
                  <a:lnTo>
                    <a:pt x="324" y="720"/>
                  </a:lnTo>
                  <a:lnTo>
                    <a:pt x="330" y="720"/>
                  </a:lnTo>
                  <a:lnTo>
                    <a:pt x="336" y="720"/>
                  </a:lnTo>
                  <a:lnTo>
                    <a:pt x="342" y="720"/>
                  </a:lnTo>
                  <a:lnTo>
                    <a:pt x="348" y="720"/>
                  </a:lnTo>
                  <a:lnTo>
                    <a:pt x="348" y="714"/>
                  </a:lnTo>
                  <a:lnTo>
                    <a:pt x="354" y="714"/>
                  </a:lnTo>
                  <a:lnTo>
                    <a:pt x="348" y="714"/>
                  </a:lnTo>
                  <a:lnTo>
                    <a:pt x="348" y="708"/>
                  </a:lnTo>
                  <a:lnTo>
                    <a:pt x="342" y="708"/>
                  </a:lnTo>
                  <a:lnTo>
                    <a:pt x="336" y="708"/>
                  </a:lnTo>
                  <a:lnTo>
                    <a:pt x="330" y="708"/>
                  </a:lnTo>
                  <a:lnTo>
                    <a:pt x="324" y="708"/>
                  </a:lnTo>
                  <a:lnTo>
                    <a:pt x="324" y="702"/>
                  </a:lnTo>
                  <a:lnTo>
                    <a:pt x="330" y="702"/>
                  </a:lnTo>
                  <a:lnTo>
                    <a:pt x="324" y="702"/>
                  </a:lnTo>
                  <a:lnTo>
                    <a:pt x="324" y="696"/>
                  </a:lnTo>
                  <a:lnTo>
                    <a:pt x="324" y="690"/>
                  </a:lnTo>
                  <a:lnTo>
                    <a:pt x="318" y="690"/>
                  </a:lnTo>
                  <a:lnTo>
                    <a:pt x="312" y="690"/>
                  </a:lnTo>
                  <a:lnTo>
                    <a:pt x="312" y="684"/>
                  </a:lnTo>
                  <a:lnTo>
                    <a:pt x="312" y="678"/>
                  </a:lnTo>
                  <a:lnTo>
                    <a:pt x="306" y="678"/>
                  </a:lnTo>
                  <a:lnTo>
                    <a:pt x="306" y="684"/>
                  </a:lnTo>
                  <a:lnTo>
                    <a:pt x="300" y="684"/>
                  </a:lnTo>
                  <a:lnTo>
                    <a:pt x="294" y="684"/>
                  </a:lnTo>
                  <a:lnTo>
                    <a:pt x="288" y="684"/>
                  </a:lnTo>
                  <a:lnTo>
                    <a:pt x="288" y="690"/>
                  </a:lnTo>
                  <a:lnTo>
                    <a:pt x="288" y="696"/>
                  </a:lnTo>
                  <a:lnTo>
                    <a:pt x="282" y="696"/>
                  </a:lnTo>
                  <a:lnTo>
                    <a:pt x="282" y="690"/>
                  </a:lnTo>
                  <a:lnTo>
                    <a:pt x="276" y="690"/>
                  </a:lnTo>
                  <a:lnTo>
                    <a:pt x="270" y="690"/>
                  </a:lnTo>
                  <a:lnTo>
                    <a:pt x="276" y="690"/>
                  </a:lnTo>
                  <a:lnTo>
                    <a:pt x="282" y="684"/>
                  </a:lnTo>
                  <a:lnTo>
                    <a:pt x="276" y="684"/>
                  </a:lnTo>
                  <a:lnTo>
                    <a:pt x="270" y="684"/>
                  </a:lnTo>
                  <a:lnTo>
                    <a:pt x="264" y="684"/>
                  </a:lnTo>
                  <a:lnTo>
                    <a:pt x="270" y="678"/>
                  </a:lnTo>
                  <a:lnTo>
                    <a:pt x="264" y="678"/>
                  </a:lnTo>
                  <a:lnTo>
                    <a:pt x="258" y="678"/>
                  </a:lnTo>
                  <a:lnTo>
                    <a:pt x="252" y="678"/>
                  </a:lnTo>
                  <a:lnTo>
                    <a:pt x="252" y="672"/>
                  </a:lnTo>
                  <a:lnTo>
                    <a:pt x="246" y="672"/>
                  </a:lnTo>
                  <a:lnTo>
                    <a:pt x="240" y="672"/>
                  </a:lnTo>
                  <a:lnTo>
                    <a:pt x="240" y="666"/>
                  </a:lnTo>
                  <a:lnTo>
                    <a:pt x="234" y="666"/>
                  </a:lnTo>
                  <a:lnTo>
                    <a:pt x="228" y="666"/>
                  </a:lnTo>
                  <a:lnTo>
                    <a:pt x="222" y="666"/>
                  </a:lnTo>
                  <a:lnTo>
                    <a:pt x="216" y="666"/>
                  </a:lnTo>
                  <a:lnTo>
                    <a:pt x="216" y="672"/>
                  </a:lnTo>
                  <a:lnTo>
                    <a:pt x="210" y="672"/>
                  </a:lnTo>
                  <a:lnTo>
                    <a:pt x="210" y="678"/>
                  </a:lnTo>
                  <a:lnTo>
                    <a:pt x="204" y="678"/>
                  </a:lnTo>
                  <a:lnTo>
                    <a:pt x="204" y="684"/>
                  </a:lnTo>
                  <a:lnTo>
                    <a:pt x="204" y="690"/>
                  </a:lnTo>
                  <a:lnTo>
                    <a:pt x="210" y="690"/>
                  </a:lnTo>
                  <a:lnTo>
                    <a:pt x="210" y="696"/>
                  </a:lnTo>
                  <a:lnTo>
                    <a:pt x="210" y="690"/>
                  </a:lnTo>
                  <a:lnTo>
                    <a:pt x="204" y="690"/>
                  </a:lnTo>
                  <a:lnTo>
                    <a:pt x="198" y="696"/>
                  </a:lnTo>
                  <a:lnTo>
                    <a:pt x="198" y="690"/>
                  </a:lnTo>
                  <a:lnTo>
                    <a:pt x="192" y="690"/>
                  </a:lnTo>
                  <a:lnTo>
                    <a:pt x="198" y="690"/>
                  </a:lnTo>
                  <a:lnTo>
                    <a:pt x="198" y="684"/>
                  </a:lnTo>
                  <a:lnTo>
                    <a:pt x="192" y="684"/>
                  </a:lnTo>
                  <a:lnTo>
                    <a:pt x="192" y="690"/>
                  </a:lnTo>
                  <a:lnTo>
                    <a:pt x="186" y="690"/>
                  </a:lnTo>
                  <a:lnTo>
                    <a:pt x="192" y="696"/>
                  </a:lnTo>
                  <a:lnTo>
                    <a:pt x="186" y="696"/>
                  </a:lnTo>
                  <a:lnTo>
                    <a:pt x="186" y="702"/>
                  </a:lnTo>
                  <a:lnTo>
                    <a:pt x="192" y="702"/>
                  </a:lnTo>
                  <a:lnTo>
                    <a:pt x="198" y="702"/>
                  </a:lnTo>
                  <a:lnTo>
                    <a:pt x="198" y="708"/>
                  </a:lnTo>
                  <a:lnTo>
                    <a:pt x="198" y="714"/>
                  </a:lnTo>
                  <a:lnTo>
                    <a:pt x="192" y="714"/>
                  </a:lnTo>
                  <a:lnTo>
                    <a:pt x="192" y="708"/>
                  </a:lnTo>
                  <a:lnTo>
                    <a:pt x="192" y="714"/>
                  </a:lnTo>
                  <a:lnTo>
                    <a:pt x="186" y="714"/>
                  </a:lnTo>
                  <a:lnTo>
                    <a:pt x="186" y="708"/>
                  </a:lnTo>
                  <a:lnTo>
                    <a:pt x="186" y="714"/>
                  </a:lnTo>
                  <a:lnTo>
                    <a:pt x="180" y="714"/>
                  </a:lnTo>
                  <a:lnTo>
                    <a:pt x="174" y="714"/>
                  </a:lnTo>
                  <a:lnTo>
                    <a:pt x="174" y="708"/>
                  </a:lnTo>
                  <a:lnTo>
                    <a:pt x="174" y="702"/>
                  </a:lnTo>
                  <a:lnTo>
                    <a:pt x="168" y="702"/>
                  </a:lnTo>
                  <a:lnTo>
                    <a:pt x="168" y="696"/>
                  </a:lnTo>
                  <a:lnTo>
                    <a:pt x="162" y="696"/>
                  </a:lnTo>
                  <a:lnTo>
                    <a:pt x="156" y="696"/>
                  </a:lnTo>
                  <a:lnTo>
                    <a:pt x="156" y="702"/>
                  </a:lnTo>
                  <a:lnTo>
                    <a:pt x="150" y="702"/>
                  </a:lnTo>
                  <a:lnTo>
                    <a:pt x="144" y="702"/>
                  </a:lnTo>
                  <a:lnTo>
                    <a:pt x="144" y="708"/>
                  </a:lnTo>
                  <a:lnTo>
                    <a:pt x="150" y="708"/>
                  </a:lnTo>
                  <a:lnTo>
                    <a:pt x="144" y="708"/>
                  </a:lnTo>
                  <a:lnTo>
                    <a:pt x="144" y="714"/>
                  </a:lnTo>
                  <a:lnTo>
                    <a:pt x="144" y="708"/>
                  </a:lnTo>
                  <a:lnTo>
                    <a:pt x="138" y="708"/>
                  </a:lnTo>
                  <a:lnTo>
                    <a:pt x="132" y="708"/>
                  </a:lnTo>
                  <a:lnTo>
                    <a:pt x="132" y="714"/>
                  </a:lnTo>
                  <a:lnTo>
                    <a:pt x="126" y="708"/>
                  </a:lnTo>
                  <a:lnTo>
                    <a:pt x="120" y="702"/>
                  </a:lnTo>
                  <a:lnTo>
                    <a:pt x="120" y="708"/>
                  </a:lnTo>
                  <a:lnTo>
                    <a:pt x="114" y="708"/>
                  </a:lnTo>
                  <a:lnTo>
                    <a:pt x="114" y="702"/>
                  </a:lnTo>
                  <a:lnTo>
                    <a:pt x="108" y="702"/>
                  </a:lnTo>
                  <a:close/>
                  <a:moveTo>
                    <a:pt x="276" y="726"/>
                  </a:moveTo>
                  <a:lnTo>
                    <a:pt x="276" y="720"/>
                  </a:lnTo>
                  <a:lnTo>
                    <a:pt x="282" y="720"/>
                  </a:lnTo>
                  <a:lnTo>
                    <a:pt x="282" y="726"/>
                  </a:lnTo>
                  <a:lnTo>
                    <a:pt x="276" y="726"/>
                  </a:lnTo>
                  <a:lnTo>
                    <a:pt x="276" y="732"/>
                  </a:lnTo>
                  <a:lnTo>
                    <a:pt x="270" y="732"/>
                  </a:lnTo>
                  <a:lnTo>
                    <a:pt x="270" y="726"/>
                  </a:lnTo>
                  <a:lnTo>
                    <a:pt x="276" y="726"/>
                  </a:lnTo>
                  <a:close/>
                  <a:moveTo>
                    <a:pt x="198" y="726"/>
                  </a:moveTo>
                  <a:lnTo>
                    <a:pt x="198" y="720"/>
                  </a:lnTo>
                  <a:lnTo>
                    <a:pt x="204" y="720"/>
                  </a:lnTo>
                  <a:lnTo>
                    <a:pt x="204" y="714"/>
                  </a:lnTo>
                  <a:lnTo>
                    <a:pt x="204" y="720"/>
                  </a:lnTo>
                  <a:lnTo>
                    <a:pt x="204" y="714"/>
                  </a:lnTo>
                  <a:lnTo>
                    <a:pt x="204" y="720"/>
                  </a:lnTo>
                  <a:lnTo>
                    <a:pt x="198" y="720"/>
                  </a:lnTo>
                  <a:lnTo>
                    <a:pt x="198" y="726"/>
                  </a:lnTo>
                  <a:close/>
                </a:path>
              </a:pathLst>
            </a:custGeom>
            <a:solidFill>
              <a:schemeClr val="accent1"/>
            </a:solidFill>
            <a:ln w="9525">
              <a:solidFill>
                <a:srgbClr val="B2B2B2"/>
              </a:solidFill>
              <a:round/>
              <a:headEnd/>
              <a:tailEnd/>
            </a:ln>
          </p:spPr>
          <p:txBody>
            <a:bodyPr/>
            <a:lstStyle/>
            <a:p>
              <a:endParaRPr lang="en-CA"/>
            </a:p>
          </p:txBody>
        </p:sp>
        <p:sp>
          <p:nvSpPr>
            <p:cNvPr id="455" name="Freeform 514"/>
            <p:cNvSpPr>
              <a:spLocks noEditPoints="1"/>
            </p:cNvSpPr>
            <p:nvPr>
              <p:custDataLst>
                <p:tags r:id="rId78"/>
              </p:custDataLst>
            </p:nvPr>
          </p:nvSpPr>
          <p:spPr bwMode="gray">
            <a:xfrm>
              <a:off x="3540" y="2654"/>
              <a:ext cx="482" cy="793"/>
            </a:xfrm>
            <a:custGeom>
              <a:avLst/>
              <a:gdLst>
                <a:gd name="T0" fmla="*/ 369202869 w 774"/>
                <a:gd name="T1" fmla="*/ 1140249682 h 1272"/>
                <a:gd name="T2" fmla="*/ 322319588 w 774"/>
                <a:gd name="T3" fmla="*/ 1169637591 h 1272"/>
                <a:gd name="T4" fmla="*/ 293017538 w 774"/>
                <a:gd name="T5" fmla="*/ 1210780070 h 1272"/>
                <a:gd name="T6" fmla="*/ 228554016 w 774"/>
                <a:gd name="T7" fmla="*/ 1222535630 h 1272"/>
                <a:gd name="T8" fmla="*/ 164089505 w 774"/>
                <a:gd name="T9" fmla="*/ 1234290199 h 1272"/>
                <a:gd name="T10" fmla="*/ 187531145 w 774"/>
                <a:gd name="T11" fmla="*/ 1152004252 h 1272"/>
                <a:gd name="T12" fmla="*/ 181670735 w 774"/>
                <a:gd name="T13" fmla="*/ 1110861773 h 1272"/>
                <a:gd name="T14" fmla="*/ 111346803 w 774"/>
                <a:gd name="T15" fmla="*/ 1069718305 h 1272"/>
                <a:gd name="T16" fmla="*/ 70323932 w 774"/>
                <a:gd name="T17" fmla="*/ 1069718305 h 1272"/>
                <a:gd name="T18" fmla="*/ 46883281 w 774"/>
                <a:gd name="T19" fmla="*/ 1016820266 h 1272"/>
                <a:gd name="T20" fmla="*/ 11720820 w 774"/>
                <a:gd name="T21" fmla="*/ 963922228 h 1272"/>
                <a:gd name="T22" fmla="*/ 64463522 w 774"/>
                <a:gd name="T23" fmla="*/ 893390851 h 1272"/>
                <a:gd name="T24" fmla="*/ 134788443 w 774"/>
                <a:gd name="T25" fmla="*/ 852248372 h 1272"/>
                <a:gd name="T26" fmla="*/ 187531145 w 774"/>
                <a:gd name="T27" fmla="*/ 834615033 h 1272"/>
                <a:gd name="T28" fmla="*/ 199251965 w 774"/>
                <a:gd name="T29" fmla="*/ 764084645 h 1272"/>
                <a:gd name="T30" fmla="*/ 123067623 w 774"/>
                <a:gd name="T31" fmla="*/ 781716994 h 1272"/>
                <a:gd name="T32" fmla="*/ 52743691 w 774"/>
                <a:gd name="T33" fmla="*/ 775840204 h 1272"/>
                <a:gd name="T34" fmla="*/ 23441640 w 774"/>
                <a:gd name="T35" fmla="*/ 705308827 h 1272"/>
                <a:gd name="T36" fmla="*/ 82044752 w 774"/>
                <a:gd name="T37" fmla="*/ 646533009 h 1272"/>
                <a:gd name="T38" fmla="*/ 93765573 w 774"/>
                <a:gd name="T39" fmla="*/ 593634970 h 1272"/>
                <a:gd name="T40" fmla="*/ 29302050 w 774"/>
                <a:gd name="T41" fmla="*/ 564247061 h 1272"/>
                <a:gd name="T42" fmla="*/ 58603112 w 774"/>
                <a:gd name="T43" fmla="*/ 511349023 h 1272"/>
                <a:gd name="T44" fmla="*/ 41022871 w 774"/>
                <a:gd name="T45" fmla="*/ 458450985 h 1272"/>
                <a:gd name="T46" fmla="*/ 52743691 w 774"/>
                <a:gd name="T47" fmla="*/ 399675167 h 1272"/>
                <a:gd name="T48" fmla="*/ 93765573 w 774"/>
                <a:gd name="T49" fmla="*/ 358531698 h 1272"/>
                <a:gd name="T50" fmla="*/ 134788443 w 774"/>
                <a:gd name="T51" fmla="*/ 293879090 h 1272"/>
                <a:gd name="T52" fmla="*/ 216833196 w 774"/>
                <a:gd name="T53" fmla="*/ 305633660 h 1272"/>
                <a:gd name="T54" fmla="*/ 293017538 w 774"/>
                <a:gd name="T55" fmla="*/ 288001310 h 1272"/>
                <a:gd name="T56" fmla="*/ 351621639 w 774"/>
                <a:gd name="T57" fmla="*/ 252735622 h 1272"/>
                <a:gd name="T58" fmla="*/ 357482049 w 774"/>
                <a:gd name="T59" fmla="*/ 135183986 h 1272"/>
                <a:gd name="T60" fmla="*/ 427805981 w 774"/>
                <a:gd name="T61" fmla="*/ 70531378 h 1272"/>
                <a:gd name="T62" fmla="*/ 480549672 w 774"/>
                <a:gd name="T63" fmla="*/ 11755559 h 1272"/>
                <a:gd name="T64" fmla="*/ 562594424 w 774"/>
                <a:gd name="T65" fmla="*/ 58775818 h 1272"/>
                <a:gd name="T66" fmla="*/ 609476716 w 774"/>
                <a:gd name="T67" fmla="*/ 70531378 h 1272"/>
                <a:gd name="T68" fmla="*/ 685662047 w 774"/>
                <a:gd name="T69" fmla="*/ 47020259 h 1272"/>
                <a:gd name="T70" fmla="*/ 732544340 w 774"/>
                <a:gd name="T71" fmla="*/ 141061765 h 1272"/>
                <a:gd name="T72" fmla="*/ 685662047 w 774"/>
                <a:gd name="T73" fmla="*/ 205715363 h 1272"/>
                <a:gd name="T74" fmla="*/ 750125570 w 774"/>
                <a:gd name="T75" fmla="*/ 264491181 h 1272"/>
                <a:gd name="T76" fmla="*/ 691522458 w 774"/>
                <a:gd name="T77" fmla="*/ 293879090 h 1272"/>
                <a:gd name="T78" fmla="*/ 603616306 w 774"/>
                <a:gd name="T79" fmla="*/ 288001310 h 1272"/>
                <a:gd name="T80" fmla="*/ 509850734 w 774"/>
                <a:gd name="T81" fmla="*/ 346777128 h 1272"/>
                <a:gd name="T82" fmla="*/ 445387211 w 774"/>
                <a:gd name="T83" fmla="*/ 429063076 h 1272"/>
                <a:gd name="T84" fmla="*/ 369202869 w 774"/>
                <a:gd name="T85" fmla="*/ 493715684 h 1272"/>
                <a:gd name="T86" fmla="*/ 322319588 w 774"/>
                <a:gd name="T87" fmla="*/ 558369282 h 1272"/>
                <a:gd name="T88" fmla="*/ 257856066 w 774"/>
                <a:gd name="T89" fmla="*/ 623022879 h 1272"/>
                <a:gd name="T90" fmla="*/ 257856066 w 774"/>
                <a:gd name="T91" fmla="*/ 681798697 h 1272"/>
                <a:gd name="T92" fmla="*/ 281296718 w 774"/>
                <a:gd name="T93" fmla="*/ 740574516 h 1272"/>
                <a:gd name="T94" fmla="*/ 322319588 w 774"/>
                <a:gd name="T95" fmla="*/ 717064386 h 1272"/>
                <a:gd name="T96" fmla="*/ 322319588 w 774"/>
                <a:gd name="T97" fmla="*/ 764084645 h 1272"/>
                <a:gd name="T98" fmla="*/ 363342459 w 774"/>
                <a:gd name="T99" fmla="*/ 764084645 h 1272"/>
                <a:gd name="T100" fmla="*/ 416085161 w 774"/>
                <a:gd name="T101" fmla="*/ 705308827 h 1272"/>
                <a:gd name="T102" fmla="*/ 492269504 w 774"/>
                <a:gd name="T103" fmla="*/ 775840204 h 1272"/>
                <a:gd name="T104" fmla="*/ 486409093 w 774"/>
                <a:gd name="T105" fmla="*/ 799350334 h 1272"/>
                <a:gd name="T106" fmla="*/ 498129914 w 774"/>
                <a:gd name="T107" fmla="*/ 864002942 h 1272"/>
                <a:gd name="T108" fmla="*/ 462968442 w 774"/>
                <a:gd name="T109" fmla="*/ 940412099 h 1272"/>
                <a:gd name="T110" fmla="*/ 462968442 w 774"/>
                <a:gd name="T111" fmla="*/ 1010942487 h 1272"/>
                <a:gd name="T112" fmla="*/ 445387211 w 774"/>
                <a:gd name="T113" fmla="*/ 1087351644 h 1272"/>
                <a:gd name="T114" fmla="*/ 410224751 w 774"/>
                <a:gd name="T115" fmla="*/ 1157882032 h 1272"/>
                <a:gd name="T116" fmla="*/ 339900819 w 774"/>
                <a:gd name="T117" fmla="*/ 640655229 h 1272"/>
                <a:gd name="T118" fmla="*/ 293017538 w 774"/>
                <a:gd name="T119" fmla="*/ 646533009 h 1272"/>
                <a:gd name="T120" fmla="*/ 328179999 w 774"/>
                <a:gd name="T121" fmla="*/ 699431047 h 12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74"/>
                <a:gd name="T184" fmla="*/ 0 h 1272"/>
                <a:gd name="T185" fmla="*/ 774 w 774"/>
                <a:gd name="T186" fmla="*/ 1272 h 12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74" h="1272">
                  <a:moveTo>
                    <a:pt x="396" y="1224"/>
                  </a:moveTo>
                  <a:lnTo>
                    <a:pt x="396" y="1218"/>
                  </a:lnTo>
                  <a:lnTo>
                    <a:pt x="390" y="1218"/>
                  </a:lnTo>
                  <a:lnTo>
                    <a:pt x="384" y="1218"/>
                  </a:lnTo>
                  <a:lnTo>
                    <a:pt x="378" y="1218"/>
                  </a:lnTo>
                  <a:lnTo>
                    <a:pt x="378" y="1212"/>
                  </a:lnTo>
                  <a:lnTo>
                    <a:pt x="372" y="1212"/>
                  </a:lnTo>
                  <a:lnTo>
                    <a:pt x="378" y="1212"/>
                  </a:lnTo>
                  <a:lnTo>
                    <a:pt x="378" y="1206"/>
                  </a:lnTo>
                  <a:lnTo>
                    <a:pt x="372" y="1206"/>
                  </a:lnTo>
                  <a:lnTo>
                    <a:pt x="372" y="1200"/>
                  </a:lnTo>
                  <a:lnTo>
                    <a:pt x="378" y="1200"/>
                  </a:lnTo>
                  <a:lnTo>
                    <a:pt x="384" y="1194"/>
                  </a:lnTo>
                  <a:lnTo>
                    <a:pt x="390" y="1188"/>
                  </a:lnTo>
                  <a:lnTo>
                    <a:pt x="384" y="1188"/>
                  </a:lnTo>
                  <a:lnTo>
                    <a:pt x="384" y="1182"/>
                  </a:lnTo>
                  <a:lnTo>
                    <a:pt x="378" y="1182"/>
                  </a:lnTo>
                  <a:lnTo>
                    <a:pt x="378" y="1176"/>
                  </a:lnTo>
                  <a:lnTo>
                    <a:pt x="378" y="1170"/>
                  </a:lnTo>
                  <a:lnTo>
                    <a:pt x="384" y="1170"/>
                  </a:lnTo>
                  <a:lnTo>
                    <a:pt x="384" y="1164"/>
                  </a:lnTo>
                  <a:lnTo>
                    <a:pt x="378" y="1164"/>
                  </a:lnTo>
                  <a:lnTo>
                    <a:pt x="378" y="1170"/>
                  </a:lnTo>
                  <a:lnTo>
                    <a:pt x="378" y="1164"/>
                  </a:lnTo>
                  <a:lnTo>
                    <a:pt x="372" y="1164"/>
                  </a:lnTo>
                  <a:lnTo>
                    <a:pt x="372" y="1158"/>
                  </a:lnTo>
                  <a:lnTo>
                    <a:pt x="372" y="1152"/>
                  </a:lnTo>
                  <a:lnTo>
                    <a:pt x="366" y="1152"/>
                  </a:lnTo>
                  <a:lnTo>
                    <a:pt x="366" y="1146"/>
                  </a:lnTo>
                  <a:lnTo>
                    <a:pt x="360" y="1152"/>
                  </a:lnTo>
                  <a:lnTo>
                    <a:pt x="360" y="1158"/>
                  </a:lnTo>
                  <a:lnTo>
                    <a:pt x="354" y="1158"/>
                  </a:lnTo>
                  <a:lnTo>
                    <a:pt x="348" y="1158"/>
                  </a:lnTo>
                  <a:lnTo>
                    <a:pt x="348" y="1164"/>
                  </a:lnTo>
                  <a:lnTo>
                    <a:pt x="342" y="1164"/>
                  </a:lnTo>
                  <a:lnTo>
                    <a:pt x="336" y="1164"/>
                  </a:lnTo>
                  <a:lnTo>
                    <a:pt x="330" y="1164"/>
                  </a:lnTo>
                  <a:lnTo>
                    <a:pt x="324" y="1164"/>
                  </a:lnTo>
                  <a:lnTo>
                    <a:pt x="324" y="1170"/>
                  </a:lnTo>
                  <a:lnTo>
                    <a:pt x="318" y="1170"/>
                  </a:lnTo>
                  <a:lnTo>
                    <a:pt x="318" y="1176"/>
                  </a:lnTo>
                  <a:lnTo>
                    <a:pt x="324" y="1176"/>
                  </a:lnTo>
                  <a:lnTo>
                    <a:pt x="324" y="1182"/>
                  </a:lnTo>
                  <a:lnTo>
                    <a:pt x="330" y="1182"/>
                  </a:lnTo>
                  <a:lnTo>
                    <a:pt x="330" y="1188"/>
                  </a:lnTo>
                  <a:lnTo>
                    <a:pt x="324" y="1188"/>
                  </a:lnTo>
                  <a:lnTo>
                    <a:pt x="324" y="1194"/>
                  </a:lnTo>
                  <a:lnTo>
                    <a:pt x="330" y="1194"/>
                  </a:lnTo>
                  <a:lnTo>
                    <a:pt x="336" y="1194"/>
                  </a:lnTo>
                  <a:lnTo>
                    <a:pt x="336" y="1200"/>
                  </a:lnTo>
                  <a:lnTo>
                    <a:pt x="342" y="1200"/>
                  </a:lnTo>
                  <a:lnTo>
                    <a:pt x="342" y="1194"/>
                  </a:lnTo>
                  <a:lnTo>
                    <a:pt x="348" y="1200"/>
                  </a:lnTo>
                  <a:lnTo>
                    <a:pt x="354" y="1200"/>
                  </a:lnTo>
                  <a:lnTo>
                    <a:pt x="348" y="1206"/>
                  </a:lnTo>
                  <a:lnTo>
                    <a:pt x="354" y="1206"/>
                  </a:lnTo>
                  <a:lnTo>
                    <a:pt x="354" y="1212"/>
                  </a:lnTo>
                  <a:lnTo>
                    <a:pt x="348" y="1218"/>
                  </a:lnTo>
                  <a:lnTo>
                    <a:pt x="342" y="1218"/>
                  </a:lnTo>
                  <a:lnTo>
                    <a:pt x="348" y="1218"/>
                  </a:lnTo>
                  <a:lnTo>
                    <a:pt x="342" y="1224"/>
                  </a:lnTo>
                  <a:lnTo>
                    <a:pt x="336" y="1224"/>
                  </a:lnTo>
                  <a:lnTo>
                    <a:pt x="330" y="1224"/>
                  </a:lnTo>
                  <a:lnTo>
                    <a:pt x="330" y="1230"/>
                  </a:lnTo>
                  <a:lnTo>
                    <a:pt x="324" y="1230"/>
                  </a:lnTo>
                  <a:lnTo>
                    <a:pt x="324" y="1236"/>
                  </a:lnTo>
                  <a:lnTo>
                    <a:pt x="318" y="1230"/>
                  </a:lnTo>
                  <a:lnTo>
                    <a:pt x="312" y="1230"/>
                  </a:lnTo>
                  <a:lnTo>
                    <a:pt x="306" y="1224"/>
                  </a:lnTo>
                  <a:lnTo>
                    <a:pt x="306" y="1230"/>
                  </a:lnTo>
                  <a:lnTo>
                    <a:pt x="306" y="1236"/>
                  </a:lnTo>
                  <a:lnTo>
                    <a:pt x="300" y="1236"/>
                  </a:lnTo>
                  <a:lnTo>
                    <a:pt x="300" y="1242"/>
                  </a:lnTo>
                  <a:lnTo>
                    <a:pt x="300" y="1248"/>
                  </a:lnTo>
                  <a:lnTo>
                    <a:pt x="294" y="1248"/>
                  </a:lnTo>
                  <a:lnTo>
                    <a:pt x="294" y="1254"/>
                  </a:lnTo>
                  <a:lnTo>
                    <a:pt x="288" y="1260"/>
                  </a:lnTo>
                  <a:lnTo>
                    <a:pt x="282" y="1260"/>
                  </a:lnTo>
                  <a:lnTo>
                    <a:pt x="276" y="1260"/>
                  </a:lnTo>
                  <a:lnTo>
                    <a:pt x="276" y="1266"/>
                  </a:lnTo>
                  <a:lnTo>
                    <a:pt x="276" y="1260"/>
                  </a:lnTo>
                  <a:lnTo>
                    <a:pt x="270" y="1260"/>
                  </a:lnTo>
                  <a:lnTo>
                    <a:pt x="264" y="1260"/>
                  </a:lnTo>
                  <a:lnTo>
                    <a:pt x="264" y="1254"/>
                  </a:lnTo>
                  <a:lnTo>
                    <a:pt x="258" y="1254"/>
                  </a:lnTo>
                  <a:lnTo>
                    <a:pt x="258" y="1260"/>
                  </a:lnTo>
                  <a:lnTo>
                    <a:pt x="252" y="1260"/>
                  </a:lnTo>
                  <a:lnTo>
                    <a:pt x="252" y="1254"/>
                  </a:lnTo>
                  <a:lnTo>
                    <a:pt x="246" y="1254"/>
                  </a:lnTo>
                  <a:lnTo>
                    <a:pt x="246" y="1248"/>
                  </a:lnTo>
                  <a:lnTo>
                    <a:pt x="240" y="1248"/>
                  </a:lnTo>
                  <a:lnTo>
                    <a:pt x="234" y="1248"/>
                  </a:lnTo>
                  <a:lnTo>
                    <a:pt x="234" y="1254"/>
                  </a:lnTo>
                  <a:lnTo>
                    <a:pt x="228" y="1254"/>
                  </a:lnTo>
                  <a:lnTo>
                    <a:pt x="228" y="1248"/>
                  </a:lnTo>
                  <a:lnTo>
                    <a:pt x="234" y="1248"/>
                  </a:lnTo>
                  <a:lnTo>
                    <a:pt x="228" y="1248"/>
                  </a:lnTo>
                  <a:lnTo>
                    <a:pt x="234" y="1242"/>
                  </a:lnTo>
                  <a:lnTo>
                    <a:pt x="228" y="1242"/>
                  </a:lnTo>
                  <a:lnTo>
                    <a:pt x="228" y="1236"/>
                  </a:lnTo>
                  <a:lnTo>
                    <a:pt x="222" y="1236"/>
                  </a:lnTo>
                  <a:lnTo>
                    <a:pt x="216" y="1236"/>
                  </a:lnTo>
                  <a:lnTo>
                    <a:pt x="216" y="1230"/>
                  </a:lnTo>
                  <a:lnTo>
                    <a:pt x="216" y="1236"/>
                  </a:lnTo>
                  <a:lnTo>
                    <a:pt x="210" y="1236"/>
                  </a:lnTo>
                  <a:lnTo>
                    <a:pt x="204" y="1236"/>
                  </a:lnTo>
                  <a:lnTo>
                    <a:pt x="198" y="1236"/>
                  </a:lnTo>
                  <a:lnTo>
                    <a:pt x="198" y="1242"/>
                  </a:lnTo>
                  <a:lnTo>
                    <a:pt x="192" y="1242"/>
                  </a:lnTo>
                  <a:lnTo>
                    <a:pt x="192" y="1248"/>
                  </a:lnTo>
                  <a:lnTo>
                    <a:pt x="186" y="1248"/>
                  </a:lnTo>
                  <a:lnTo>
                    <a:pt x="186" y="1254"/>
                  </a:lnTo>
                  <a:lnTo>
                    <a:pt x="186" y="1260"/>
                  </a:lnTo>
                  <a:lnTo>
                    <a:pt x="186" y="1266"/>
                  </a:lnTo>
                  <a:lnTo>
                    <a:pt x="180" y="1266"/>
                  </a:lnTo>
                  <a:lnTo>
                    <a:pt x="180" y="1272"/>
                  </a:lnTo>
                  <a:lnTo>
                    <a:pt x="174" y="1272"/>
                  </a:lnTo>
                  <a:lnTo>
                    <a:pt x="168" y="1272"/>
                  </a:lnTo>
                  <a:lnTo>
                    <a:pt x="168" y="1266"/>
                  </a:lnTo>
                  <a:lnTo>
                    <a:pt x="168" y="1260"/>
                  </a:lnTo>
                  <a:lnTo>
                    <a:pt x="168" y="1254"/>
                  </a:lnTo>
                  <a:lnTo>
                    <a:pt x="168" y="1248"/>
                  </a:lnTo>
                  <a:lnTo>
                    <a:pt x="174" y="1248"/>
                  </a:lnTo>
                  <a:lnTo>
                    <a:pt x="174" y="1242"/>
                  </a:lnTo>
                  <a:lnTo>
                    <a:pt x="180" y="1242"/>
                  </a:lnTo>
                  <a:lnTo>
                    <a:pt x="180" y="1236"/>
                  </a:lnTo>
                  <a:lnTo>
                    <a:pt x="174" y="1236"/>
                  </a:lnTo>
                  <a:lnTo>
                    <a:pt x="174" y="1230"/>
                  </a:lnTo>
                  <a:lnTo>
                    <a:pt x="174" y="1224"/>
                  </a:lnTo>
                  <a:lnTo>
                    <a:pt x="180" y="1224"/>
                  </a:lnTo>
                  <a:lnTo>
                    <a:pt x="180" y="1218"/>
                  </a:lnTo>
                  <a:lnTo>
                    <a:pt x="186" y="1218"/>
                  </a:lnTo>
                  <a:lnTo>
                    <a:pt x="192" y="1218"/>
                  </a:lnTo>
                  <a:lnTo>
                    <a:pt x="192" y="1212"/>
                  </a:lnTo>
                  <a:lnTo>
                    <a:pt x="198" y="1212"/>
                  </a:lnTo>
                  <a:lnTo>
                    <a:pt x="198" y="1206"/>
                  </a:lnTo>
                  <a:lnTo>
                    <a:pt x="198" y="1200"/>
                  </a:lnTo>
                  <a:lnTo>
                    <a:pt x="204" y="1200"/>
                  </a:lnTo>
                  <a:lnTo>
                    <a:pt x="204" y="1194"/>
                  </a:lnTo>
                  <a:lnTo>
                    <a:pt x="198" y="1194"/>
                  </a:lnTo>
                  <a:lnTo>
                    <a:pt x="198" y="1188"/>
                  </a:lnTo>
                  <a:lnTo>
                    <a:pt x="192" y="1188"/>
                  </a:lnTo>
                  <a:lnTo>
                    <a:pt x="192" y="1182"/>
                  </a:lnTo>
                  <a:lnTo>
                    <a:pt x="192" y="1176"/>
                  </a:lnTo>
                  <a:lnTo>
                    <a:pt x="198" y="1176"/>
                  </a:lnTo>
                  <a:lnTo>
                    <a:pt x="198" y="1170"/>
                  </a:lnTo>
                  <a:lnTo>
                    <a:pt x="198" y="1164"/>
                  </a:lnTo>
                  <a:lnTo>
                    <a:pt x="198" y="1158"/>
                  </a:lnTo>
                  <a:lnTo>
                    <a:pt x="204" y="1158"/>
                  </a:lnTo>
                  <a:lnTo>
                    <a:pt x="210" y="1158"/>
                  </a:lnTo>
                  <a:lnTo>
                    <a:pt x="210" y="1152"/>
                  </a:lnTo>
                  <a:lnTo>
                    <a:pt x="216" y="1152"/>
                  </a:lnTo>
                  <a:lnTo>
                    <a:pt x="216" y="1146"/>
                  </a:lnTo>
                  <a:lnTo>
                    <a:pt x="216" y="1152"/>
                  </a:lnTo>
                  <a:lnTo>
                    <a:pt x="210" y="1152"/>
                  </a:lnTo>
                  <a:lnTo>
                    <a:pt x="210" y="1146"/>
                  </a:lnTo>
                  <a:lnTo>
                    <a:pt x="210" y="1152"/>
                  </a:lnTo>
                  <a:lnTo>
                    <a:pt x="210" y="1146"/>
                  </a:lnTo>
                  <a:lnTo>
                    <a:pt x="210" y="1140"/>
                  </a:lnTo>
                  <a:lnTo>
                    <a:pt x="210" y="1134"/>
                  </a:lnTo>
                  <a:lnTo>
                    <a:pt x="204" y="1134"/>
                  </a:lnTo>
                  <a:lnTo>
                    <a:pt x="204" y="1140"/>
                  </a:lnTo>
                  <a:lnTo>
                    <a:pt x="198" y="1140"/>
                  </a:lnTo>
                  <a:lnTo>
                    <a:pt x="198" y="1134"/>
                  </a:lnTo>
                  <a:lnTo>
                    <a:pt x="198" y="1140"/>
                  </a:lnTo>
                  <a:lnTo>
                    <a:pt x="192" y="1140"/>
                  </a:lnTo>
                  <a:lnTo>
                    <a:pt x="192" y="1134"/>
                  </a:lnTo>
                  <a:lnTo>
                    <a:pt x="186" y="1134"/>
                  </a:lnTo>
                  <a:lnTo>
                    <a:pt x="186" y="1128"/>
                  </a:lnTo>
                  <a:lnTo>
                    <a:pt x="180" y="1128"/>
                  </a:lnTo>
                  <a:lnTo>
                    <a:pt x="180" y="1134"/>
                  </a:lnTo>
                  <a:lnTo>
                    <a:pt x="174" y="1134"/>
                  </a:lnTo>
                  <a:lnTo>
                    <a:pt x="168" y="1134"/>
                  </a:lnTo>
                  <a:lnTo>
                    <a:pt x="162" y="1134"/>
                  </a:lnTo>
                  <a:lnTo>
                    <a:pt x="156" y="1134"/>
                  </a:lnTo>
                  <a:lnTo>
                    <a:pt x="156" y="1128"/>
                  </a:lnTo>
                  <a:lnTo>
                    <a:pt x="150" y="1128"/>
                  </a:lnTo>
                  <a:lnTo>
                    <a:pt x="156" y="1128"/>
                  </a:lnTo>
                  <a:lnTo>
                    <a:pt x="150" y="1128"/>
                  </a:lnTo>
                  <a:lnTo>
                    <a:pt x="144" y="1128"/>
                  </a:lnTo>
                  <a:lnTo>
                    <a:pt x="144" y="1122"/>
                  </a:lnTo>
                  <a:lnTo>
                    <a:pt x="132" y="1122"/>
                  </a:lnTo>
                  <a:lnTo>
                    <a:pt x="132" y="1116"/>
                  </a:lnTo>
                  <a:lnTo>
                    <a:pt x="132" y="1110"/>
                  </a:lnTo>
                  <a:lnTo>
                    <a:pt x="132" y="1104"/>
                  </a:lnTo>
                  <a:lnTo>
                    <a:pt x="126" y="1104"/>
                  </a:lnTo>
                  <a:lnTo>
                    <a:pt x="126" y="1098"/>
                  </a:lnTo>
                  <a:lnTo>
                    <a:pt x="120" y="1098"/>
                  </a:lnTo>
                  <a:lnTo>
                    <a:pt x="120" y="1092"/>
                  </a:lnTo>
                  <a:lnTo>
                    <a:pt x="114" y="1092"/>
                  </a:lnTo>
                  <a:lnTo>
                    <a:pt x="108" y="1092"/>
                  </a:lnTo>
                  <a:lnTo>
                    <a:pt x="114" y="1092"/>
                  </a:lnTo>
                  <a:lnTo>
                    <a:pt x="114" y="1086"/>
                  </a:lnTo>
                  <a:lnTo>
                    <a:pt x="108" y="1086"/>
                  </a:lnTo>
                  <a:lnTo>
                    <a:pt x="108" y="1092"/>
                  </a:lnTo>
                  <a:lnTo>
                    <a:pt x="108" y="1086"/>
                  </a:lnTo>
                  <a:lnTo>
                    <a:pt x="108" y="1092"/>
                  </a:lnTo>
                  <a:lnTo>
                    <a:pt x="102" y="1092"/>
                  </a:lnTo>
                  <a:lnTo>
                    <a:pt x="102" y="1086"/>
                  </a:lnTo>
                  <a:lnTo>
                    <a:pt x="102" y="1092"/>
                  </a:lnTo>
                  <a:lnTo>
                    <a:pt x="96" y="1092"/>
                  </a:lnTo>
                  <a:lnTo>
                    <a:pt x="96" y="1086"/>
                  </a:lnTo>
                  <a:lnTo>
                    <a:pt x="90" y="1092"/>
                  </a:lnTo>
                  <a:lnTo>
                    <a:pt x="90" y="1086"/>
                  </a:lnTo>
                  <a:lnTo>
                    <a:pt x="96" y="1086"/>
                  </a:lnTo>
                  <a:lnTo>
                    <a:pt x="96" y="1080"/>
                  </a:lnTo>
                  <a:lnTo>
                    <a:pt x="90" y="1080"/>
                  </a:lnTo>
                  <a:lnTo>
                    <a:pt x="90" y="1074"/>
                  </a:lnTo>
                  <a:lnTo>
                    <a:pt x="84" y="1074"/>
                  </a:lnTo>
                  <a:lnTo>
                    <a:pt x="78" y="1074"/>
                  </a:lnTo>
                  <a:lnTo>
                    <a:pt x="78" y="1080"/>
                  </a:lnTo>
                  <a:lnTo>
                    <a:pt x="78" y="1086"/>
                  </a:lnTo>
                  <a:lnTo>
                    <a:pt x="72" y="1086"/>
                  </a:lnTo>
                  <a:lnTo>
                    <a:pt x="72" y="1092"/>
                  </a:lnTo>
                  <a:lnTo>
                    <a:pt x="78" y="1092"/>
                  </a:lnTo>
                  <a:lnTo>
                    <a:pt x="72" y="1092"/>
                  </a:lnTo>
                  <a:lnTo>
                    <a:pt x="66" y="1092"/>
                  </a:lnTo>
                  <a:lnTo>
                    <a:pt x="66" y="1086"/>
                  </a:lnTo>
                  <a:lnTo>
                    <a:pt x="60" y="1086"/>
                  </a:lnTo>
                  <a:lnTo>
                    <a:pt x="60" y="1092"/>
                  </a:lnTo>
                  <a:lnTo>
                    <a:pt x="60" y="1086"/>
                  </a:lnTo>
                  <a:lnTo>
                    <a:pt x="60" y="1092"/>
                  </a:lnTo>
                  <a:lnTo>
                    <a:pt x="54" y="1092"/>
                  </a:lnTo>
                  <a:lnTo>
                    <a:pt x="54" y="1098"/>
                  </a:lnTo>
                  <a:lnTo>
                    <a:pt x="54" y="1092"/>
                  </a:lnTo>
                  <a:lnTo>
                    <a:pt x="48" y="1092"/>
                  </a:lnTo>
                  <a:lnTo>
                    <a:pt x="48" y="1086"/>
                  </a:lnTo>
                  <a:lnTo>
                    <a:pt x="54" y="1086"/>
                  </a:lnTo>
                  <a:lnTo>
                    <a:pt x="54" y="1080"/>
                  </a:lnTo>
                  <a:lnTo>
                    <a:pt x="54" y="1074"/>
                  </a:lnTo>
                  <a:lnTo>
                    <a:pt x="54" y="1068"/>
                  </a:lnTo>
                  <a:lnTo>
                    <a:pt x="48" y="1062"/>
                  </a:lnTo>
                  <a:lnTo>
                    <a:pt x="48" y="1056"/>
                  </a:lnTo>
                  <a:lnTo>
                    <a:pt x="48" y="1062"/>
                  </a:lnTo>
                  <a:lnTo>
                    <a:pt x="48" y="1056"/>
                  </a:lnTo>
                  <a:lnTo>
                    <a:pt x="54" y="1056"/>
                  </a:lnTo>
                  <a:lnTo>
                    <a:pt x="54" y="1050"/>
                  </a:lnTo>
                  <a:lnTo>
                    <a:pt x="54" y="1044"/>
                  </a:lnTo>
                  <a:lnTo>
                    <a:pt x="48" y="1044"/>
                  </a:lnTo>
                  <a:lnTo>
                    <a:pt x="48" y="1038"/>
                  </a:lnTo>
                  <a:lnTo>
                    <a:pt x="48" y="1032"/>
                  </a:lnTo>
                  <a:lnTo>
                    <a:pt x="48" y="1026"/>
                  </a:lnTo>
                  <a:lnTo>
                    <a:pt x="48" y="1020"/>
                  </a:lnTo>
                  <a:lnTo>
                    <a:pt x="42" y="1020"/>
                  </a:lnTo>
                  <a:lnTo>
                    <a:pt x="42" y="1014"/>
                  </a:lnTo>
                  <a:lnTo>
                    <a:pt x="36" y="1014"/>
                  </a:lnTo>
                  <a:lnTo>
                    <a:pt x="36" y="1008"/>
                  </a:lnTo>
                  <a:lnTo>
                    <a:pt x="30" y="1008"/>
                  </a:lnTo>
                  <a:lnTo>
                    <a:pt x="30" y="1014"/>
                  </a:lnTo>
                  <a:lnTo>
                    <a:pt x="24" y="1014"/>
                  </a:lnTo>
                  <a:lnTo>
                    <a:pt x="24" y="1008"/>
                  </a:lnTo>
                  <a:lnTo>
                    <a:pt x="24" y="1002"/>
                  </a:lnTo>
                  <a:lnTo>
                    <a:pt x="30" y="1002"/>
                  </a:lnTo>
                  <a:lnTo>
                    <a:pt x="30" y="996"/>
                  </a:lnTo>
                  <a:lnTo>
                    <a:pt x="30" y="990"/>
                  </a:lnTo>
                  <a:lnTo>
                    <a:pt x="24" y="990"/>
                  </a:lnTo>
                  <a:lnTo>
                    <a:pt x="18" y="996"/>
                  </a:lnTo>
                  <a:lnTo>
                    <a:pt x="18" y="990"/>
                  </a:lnTo>
                  <a:lnTo>
                    <a:pt x="18" y="996"/>
                  </a:lnTo>
                  <a:lnTo>
                    <a:pt x="12" y="996"/>
                  </a:lnTo>
                  <a:lnTo>
                    <a:pt x="12" y="990"/>
                  </a:lnTo>
                  <a:lnTo>
                    <a:pt x="18" y="990"/>
                  </a:lnTo>
                  <a:lnTo>
                    <a:pt x="12" y="990"/>
                  </a:lnTo>
                  <a:lnTo>
                    <a:pt x="12" y="984"/>
                  </a:lnTo>
                  <a:lnTo>
                    <a:pt x="18" y="984"/>
                  </a:lnTo>
                  <a:lnTo>
                    <a:pt x="18" y="978"/>
                  </a:lnTo>
                  <a:lnTo>
                    <a:pt x="24" y="978"/>
                  </a:lnTo>
                  <a:lnTo>
                    <a:pt x="24" y="972"/>
                  </a:lnTo>
                  <a:lnTo>
                    <a:pt x="18" y="972"/>
                  </a:lnTo>
                  <a:lnTo>
                    <a:pt x="18" y="966"/>
                  </a:lnTo>
                  <a:lnTo>
                    <a:pt x="24" y="966"/>
                  </a:lnTo>
                  <a:lnTo>
                    <a:pt x="30" y="960"/>
                  </a:lnTo>
                  <a:lnTo>
                    <a:pt x="30" y="954"/>
                  </a:lnTo>
                  <a:lnTo>
                    <a:pt x="30" y="948"/>
                  </a:lnTo>
                  <a:lnTo>
                    <a:pt x="36" y="948"/>
                  </a:lnTo>
                  <a:lnTo>
                    <a:pt x="42" y="948"/>
                  </a:lnTo>
                  <a:lnTo>
                    <a:pt x="42" y="942"/>
                  </a:lnTo>
                  <a:lnTo>
                    <a:pt x="48" y="942"/>
                  </a:lnTo>
                  <a:lnTo>
                    <a:pt x="54" y="942"/>
                  </a:lnTo>
                  <a:lnTo>
                    <a:pt x="48" y="936"/>
                  </a:lnTo>
                  <a:lnTo>
                    <a:pt x="54" y="930"/>
                  </a:lnTo>
                  <a:lnTo>
                    <a:pt x="48" y="930"/>
                  </a:lnTo>
                  <a:lnTo>
                    <a:pt x="48" y="924"/>
                  </a:lnTo>
                  <a:lnTo>
                    <a:pt x="48" y="918"/>
                  </a:lnTo>
                  <a:lnTo>
                    <a:pt x="54" y="918"/>
                  </a:lnTo>
                  <a:lnTo>
                    <a:pt x="60" y="918"/>
                  </a:lnTo>
                  <a:lnTo>
                    <a:pt x="66" y="918"/>
                  </a:lnTo>
                  <a:lnTo>
                    <a:pt x="66" y="912"/>
                  </a:lnTo>
                  <a:lnTo>
                    <a:pt x="72" y="912"/>
                  </a:lnTo>
                  <a:lnTo>
                    <a:pt x="78" y="912"/>
                  </a:lnTo>
                  <a:lnTo>
                    <a:pt x="84" y="906"/>
                  </a:lnTo>
                  <a:lnTo>
                    <a:pt x="90" y="906"/>
                  </a:lnTo>
                  <a:lnTo>
                    <a:pt x="90" y="912"/>
                  </a:lnTo>
                  <a:lnTo>
                    <a:pt x="90" y="906"/>
                  </a:lnTo>
                  <a:lnTo>
                    <a:pt x="96" y="906"/>
                  </a:lnTo>
                  <a:lnTo>
                    <a:pt x="96" y="900"/>
                  </a:lnTo>
                  <a:lnTo>
                    <a:pt x="96" y="894"/>
                  </a:lnTo>
                  <a:lnTo>
                    <a:pt x="96" y="900"/>
                  </a:lnTo>
                  <a:lnTo>
                    <a:pt x="102" y="900"/>
                  </a:lnTo>
                  <a:lnTo>
                    <a:pt x="102" y="894"/>
                  </a:lnTo>
                  <a:lnTo>
                    <a:pt x="102" y="888"/>
                  </a:lnTo>
                  <a:lnTo>
                    <a:pt x="108" y="888"/>
                  </a:lnTo>
                  <a:lnTo>
                    <a:pt x="102" y="888"/>
                  </a:lnTo>
                  <a:lnTo>
                    <a:pt x="108" y="888"/>
                  </a:lnTo>
                  <a:lnTo>
                    <a:pt x="108" y="882"/>
                  </a:lnTo>
                  <a:lnTo>
                    <a:pt x="114" y="882"/>
                  </a:lnTo>
                  <a:lnTo>
                    <a:pt x="120" y="882"/>
                  </a:lnTo>
                  <a:lnTo>
                    <a:pt x="126" y="882"/>
                  </a:lnTo>
                  <a:lnTo>
                    <a:pt x="132" y="882"/>
                  </a:lnTo>
                  <a:lnTo>
                    <a:pt x="138" y="882"/>
                  </a:lnTo>
                  <a:lnTo>
                    <a:pt x="138" y="876"/>
                  </a:lnTo>
                  <a:lnTo>
                    <a:pt x="138" y="870"/>
                  </a:lnTo>
                  <a:lnTo>
                    <a:pt x="138" y="864"/>
                  </a:lnTo>
                  <a:lnTo>
                    <a:pt x="132" y="864"/>
                  </a:lnTo>
                  <a:lnTo>
                    <a:pt x="132" y="858"/>
                  </a:lnTo>
                  <a:lnTo>
                    <a:pt x="132" y="852"/>
                  </a:lnTo>
                  <a:lnTo>
                    <a:pt x="132" y="846"/>
                  </a:lnTo>
                  <a:lnTo>
                    <a:pt x="138" y="846"/>
                  </a:lnTo>
                  <a:lnTo>
                    <a:pt x="144" y="846"/>
                  </a:lnTo>
                  <a:lnTo>
                    <a:pt x="150" y="846"/>
                  </a:lnTo>
                  <a:lnTo>
                    <a:pt x="150" y="852"/>
                  </a:lnTo>
                  <a:lnTo>
                    <a:pt x="156" y="852"/>
                  </a:lnTo>
                  <a:lnTo>
                    <a:pt x="162" y="852"/>
                  </a:lnTo>
                  <a:lnTo>
                    <a:pt x="162" y="858"/>
                  </a:lnTo>
                  <a:lnTo>
                    <a:pt x="162" y="852"/>
                  </a:lnTo>
                  <a:lnTo>
                    <a:pt x="162" y="858"/>
                  </a:lnTo>
                  <a:lnTo>
                    <a:pt x="168" y="852"/>
                  </a:lnTo>
                  <a:lnTo>
                    <a:pt x="168" y="858"/>
                  </a:lnTo>
                  <a:lnTo>
                    <a:pt x="174" y="858"/>
                  </a:lnTo>
                  <a:lnTo>
                    <a:pt x="180" y="858"/>
                  </a:lnTo>
                  <a:lnTo>
                    <a:pt x="186" y="858"/>
                  </a:lnTo>
                  <a:lnTo>
                    <a:pt x="192" y="858"/>
                  </a:lnTo>
                  <a:lnTo>
                    <a:pt x="192" y="864"/>
                  </a:lnTo>
                  <a:lnTo>
                    <a:pt x="198" y="858"/>
                  </a:lnTo>
                  <a:lnTo>
                    <a:pt x="192" y="858"/>
                  </a:lnTo>
                  <a:lnTo>
                    <a:pt x="192" y="852"/>
                  </a:lnTo>
                  <a:lnTo>
                    <a:pt x="198" y="852"/>
                  </a:lnTo>
                  <a:lnTo>
                    <a:pt x="198" y="846"/>
                  </a:lnTo>
                  <a:lnTo>
                    <a:pt x="204" y="846"/>
                  </a:lnTo>
                  <a:lnTo>
                    <a:pt x="204" y="840"/>
                  </a:lnTo>
                  <a:lnTo>
                    <a:pt x="198" y="840"/>
                  </a:lnTo>
                  <a:lnTo>
                    <a:pt x="198" y="834"/>
                  </a:lnTo>
                  <a:lnTo>
                    <a:pt x="192" y="834"/>
                  </a:lnTo>
                  <a:lnTo>
                    <a:pt x="192" y="828"/>
                  </a:lnTo>
                  <a:lnTo>
                    <a:pt x="198" y="828"/>
                  </a:lnTo>
                  <a:lnTo>
                    <a:pt x="192" y="828"/>
                  </a:lnTo>
                  <a:lnTo>
                    <a:pt x="198" y="822"/>
                  </a:lnTo>
                  <a:lnTo>
                    <a:pt x="198" y="816"/>
                  </a:lnTo>
                  <a:lnTo>
                    <a:pt x="204" y="816"/>
                  </a:lnTo>
                  <a:lnTo>
                    <a:pt x="204" y="810"/>
                  </a:lnTo>
                  <a:lnTo>
                    <a:pt x="204" y="804"/>
                  </a:lnTo>
                  <a:lnTo>
                    <a:pt x="210" y="804"/>
                  </a:lnTo>
                  <a:lnTo>
                    <a:pt x="210" y="798"/>
                  </a:lnTo>
                  <a:lnTo>
                    <a:pt x="204" y="798"/>
                  </a:lnTo>
                  <a:lnTo>
                    <a:pt x="204" y="792"/>
                  </a:lnTo>
                  <a:lnTo>
                    <a:pt x="204" y="786"/>
                  </a:lnTo>
                  <a:lnTo>
                    <a:pt x="204" y="792"/>
                  </a:lnTo>
                  <a:lnTo>
                    <a:pt x="210" y="786"/>
                  </a:lnTo>
                  <a:lnTo>
                    <a:pt x="204" y="786"/>
                  </a:lnTo>
                  <a:lnTo>
                    <a:pt x="204" y="780"/>
                  </a:lnTo>
                  <a:lnTo>
                    <a:pt x="198" y="780"/>
                  </a:lnTo>
                  <a:lnTo>
                    <a:pt x="198" y="774"/>
                  </a:lnTo>
                  <a:lnTo>
                    <a:pt x="192" y="774"/>
                  </a:lnTo>
                  <a:lnTo>
                    <a:pt x="186" y="774"/>
                  </a:lnTo>
                  <a:lnTo>
                    <a:pt x="180" y="774"/>
                  </a:lnTo>
                  <a:lnTo>
                    <a:pt x="180" y="780"/>
                  </a:lnTo>
                  <a:lnTo>
                    <a:pt x="180" y="774"/>
                  </a:lnTo>
                  <a:lnTo>
                    <a:pt x="180" y="780"/>
                  </a:lnTo>
                  <a:lnTo>
                    <a:pt x="174" y="780"/>
                  </a:lnTo>
                  <a:lnTo>
                    <a:pt x="168" y="786"/>
                  </a:lnTo>
                  <a:lnTo>
                    <a:pt x="162" y="786"/>
                  </a:lnTo>
                  <a:lnTo>
                    <a:pt x="162" y="780"/>
                  </a:lnTo>
                  <a:lnTo>
                    <a:pt x="156" y="786"/>
                  </a:lnTo>
                  <a:lnTo>
                    <a:pt x="156" y="780"/>
                  </a:lnTo>
                  <a:lnTo>
                    <a:pt x="156" y="786"/>
                  </a:lnTo>
                  <a:lnTo>
                    <a:pt x="150" y="780"/>
                  </a:lnTo>
                  <a:lnTo>
                    <a:pt x="150" y="774"/>
                  </a:lnTo>
                  <a:lnTo>
                    <a:pt x="144" y="780"/>
                  </a:lnTo>
                  <a:lnTo>
                    <a:pt x="138" y="780"/>
                  </a:lnTo>
                  <a:lnTo>
                    <a:pt x="138" y="786"/>
                  </a:lnTo>
                  <a:lnTo>
                    <a:pt x="132" y="786"/>
                  </a:lnTo>
                  <a:lnTo>
                    <a:pt x="126" y="786"/>
                  </a:lnTo>
                  <a:lnTo>
                    <a:pt x="126" y="792"/>
                  </a:lnTo>
                  <a:lnTo>
                    <a:pt x="126" y="798"/>
                  </a:lnTo>
                  <a:lnTo>
                    <a:pt x="120" y="798"/>
                  </a:lnTo>
                  <a:lnTo>
                    <a:pt x="114" y="798"/>
                  </a:lnTo>
                  <a:lnTo>
                    <a:pt x="114" y="804"/>
                  </a:lnTo>
                  <a:lnTo>
                    <a:pt x="114" y="798"/>
                  </a:lnTo>
                  <a:lnTo>
                    <a:pt x="108" y="798"/>
                  </a:lnTo>
                  <a:lnTo>
                    <a:pt x="108" y="804"/>
                  </a:lnTo>
                  <a:lnTo>
                    <a:pt x="108" y="798"/>
                  </a:lnTo>
                  <a:lnTo>
                    <a:pt x="102" y="804"/>
                  </a:lnTo>
                  <a:lnTo>
                    <a:pt x="96" y="804"/>
                  </a:lnTo>
                  <a:lnTo>
                    <a:pt x="90" y="798"/>
                  </a:lnTo>
                  <a:lnTo>
                    <a:pt x="84" y="798"/>
                  </a:lnTo>
                  <a:lnTo>
                    <a:pt x="84" y="804"/>
                  </a:lnTo>
                  <a:lnTo>
                    <a:pt x="78" y="804"/>
                  </a:lnTo>
                  <a:lnTo>
                    <a:pt x="78" y="810"/>
                  </a:lnTo>
                  <a:lnTo>
                    <a:pt x="72" y="810"/>
                  </a:lnTo>
                  <a:lnTo>
                    <a:pt x="66" y="810"/>
                  </a:lnTo>
                  <a:lnTo>
                    <a:pt x="66" y="804"/>
                  </a:lnTo>
                  <a:lnTo>
                    <a:pt x="66" y="798"/>
                  </a:lnTo>
                  <a:lnTo>
                    <a:pt x="66" y="804"/>
                  </a:lnTo>
                  <a:lnTo>
                    <a:pt x="60" y="804"/>
                  </a:lnTo>
                  <a:lnTo>
                    <a:pt x="54" y="804"/>
                  </a:lnTo>
                  <a:lnTo>
                    <a:pt x="48" y="804"/>
                  </a:lnTo>
                  <a:lnTo>
                    <a:pt x="54" y="798"/>
                  </a:lnTo>
                  <a:lnTo>
                    <a:pt x="54" y="792"/>
                  </a:lnTo>
                  <a:lnTo>
                    <a:pt x="54" y="786"/>
                  </a:lnTo>
                  <a:lnTo>
                    <a:pt x="48" y="780"/>
                  </a:lnTo>
                  <a:lnTo>
                    <a:pt x="54" y="774"/>
                  </a:lnTo>
                  <a:lnTo>
                    <a:pt x="48" y="774"/>
                  </a:lnTo>
                  <a:lnTo>
                    <a:pt x="54" y="774"/>
                  </a:lnTo>
                  <a:lnTo>
                    <a:pt x="48" y="768"/>
                  </a:lnTo>
                  <a:lnTo>
                    <a:pt x="48" y="762"/>
                  </a:lnTo>
                  <a:lnTo>
                    <a:pt x="42" y="762"/>
                  </a:lnTo>
                  <a:lnTo>
                    <a:pt x="36" y="756"/>
                  </a:lnTo>
                  <a:lnTo>
                    <a:pt x="30" y="756"/>
                  </a:lnTo>
                  <a:lnTo>
                    <a:pt x="24" y="762"/>
                  </a:lnTo>
                  <a:lnTo>
                    <a:pt x="24" y="756"/>
                  </a:lnTo>
                  <a:lnTo>
                    <a:pt x="18" y="756"/>
                  </a:lnTo>
                  <a:lnTo>
                    <a:pt x="18" y="750"/>
                  </a:lnTo>
                  <a:lnTo>
                    <a:pt x="12" y="750"/>
                  </a:lnTo>
                  <a:lnTo>
                    <a:pt x="6" y="750"/>
                  </a:lnTo>
                  <a:lnTo>
                    <a:pt x="0" y="750"/>
                  </a:lnTo>
                  <a:lnTo>
                    <a:pt x="6" y="744"/>
                  </a:lnTo>
                  <a:lnTo>
                    <a:pt x="6" y="738"/>
                  </a:lnTo>
                  <a:lnTo>
                    <a:pt x="6" y="732"/>
                  </a:lnTo>
                  <a:lnTo>
                    <a:pt x="12" y="732"/>
                  </a:lnTo>
                  <a:lnTo>
                    <a:pt x="12" y="726"/>
                  </a:lnTo>
                  <a:lnTo>
                    <a:pt x="18" y="720"/>
                  </a:lnTo>
                  <a:lnTo>
                    <a:pt x="24" y="720"/>
                  </a:lnTo>
                  <a:lnTo>
                    <a:pt x="24" y="714"/>
                  </a:lnTo>
                  <a:lnTo>
                    <a:pt x="30" y="720"/>
                  </a:lnTo>
                  <a:lnTo>
                    <a:pt x="36" y="714"/>
                  </a:lnTo>
                  <a:lnTo>
                    <a:pt x="36" y="708"/>
                  </a:lnTo>
                  <a:lnTo>
                    <a:pt x="36" y="702"/>
                  </a:lnTo>
                  <a:lnTo>
                    <a:pt x="36" y="696"/>
                  </a:lnTo>
                  <a:lnTo>
                    <a:pt x="36" y="690"/>
                  </a:lnTo>
                  <a:lnTo>
                    <a:pt x="42" y="690"/>
                  </a:lnTo>
                  <a:lnTo>
                    <a:pt x="48" y="690"/>
                  </a:lnTo>
                  <a:lnTo>
                    <a:pt x="48" y="684"/>
                  </a:lnTo>
                  <a:lnTo>
                    <a:pt x="54" y="684"/>
                  </a:lnTo>
                  <a:lnTo>
                    <a:pt x="54" y="678"/>
                  </a:lnTo>
                  <a:lnTo>
                    <a:pt x="60" y="678"/>
                  </a:lnTo>
                  <a:lnTo>
                    <a:pt x="60" y="684"/>
                  </a:lnTo>
                  <a:lnTo>
                    <a:pt x="60" y="678"/>
                  </a:lnTo>
                  <a:lnTo>
                    <a:pt x="66" y="678"/>
                  </a:lnTo>
                  <a:lnTo>
                    <a:pt x="66" y="672"/>
                  </a:lnTo>
                  <a:lnTo>
                    <a:pt x="72" y="672"/>
                  </a:lnTo>
                  <a:lnTo>
                    <a:pt x="72" y="666"/>
                  </a:lnTo>
                  <a:lnTo>
                    <a:pt x="78" y="666"/>
                  </a:lnTo>
                  <a:lnTo>
                    <a:pt x="72" y="666"/>
                  </a:lnTo>
                  <a:lnTo>
                    <a:pt x="72" y="660"/>
                  </a:lnTo>
                  <a:lnTo>
                    <a:pt x="78" y="660"/>
                  </a:lnTo>
                  <a:lnTo>
                    <a:pt x="84" y="660"/>
                  </a:lnTo>
                  <a:lnTo>
                    <a:pt x="90" y="660"/>
                  </a:lnTo>
                  <a:lnTo>
                    <a:pt x="96" y="660"/>
                  </a:lnTo>
                  <a:lnTo>
                    <a:pt x="96" y="654"/>
                  </a:lnTo>
                  <a:lnTo>
                    <a:pt x="96" y="648"/>
                  </a:lnTo>
                  <a:lnTo>
                    <a:pt x="90" y="648"/>
                  </a:lnTo>
                  <a:lnTo>
                    <a:pt x="96" y="648"/>
                  </a:lnTo>
                  <a:lnTo>
                    <a:pt x="90" y="648"/>
                  </a:lnTo>
                  <a:lnTo>
                    <a:pt x="90" y="642"/>
                  </a:lnTo>
                  <a:lnTo>
                    <a:pt x="96" y="642"/>
                  </a:lnTo>
                  <a:lnTo>
                    <a:pt x="102" y="642"/>
                  </a:lnTo>
                  <a:lnTo>
                    <a:pt x="108" y="642"/>
                  </a:lnTo>
                  <a:lnTo>
                    <a:pt x="108" y="636"/>
                  </a:lnTo>
                  <a:lnTo>
                    <a:pt x="114" y="636"/>
                  </a:lnTo>
                  <a:lnTo>
                    <a:pt x="114" y="630"/>
                  </a:lnTo>
                  <a:lnTo>
                    <a:pt x="120" y="630"/>
                  </a:lnTo>
                  <a:lnTo>
                    <a:pt x="114" y="630"/>
                  </a:lnTo>
                  <a:lnTo>
                    <a:pt x="114" y="624"/>
                  </a:lnTo>
                  <a:lnTo>
                    <a:pt x="108" y="624"/>
                  </a:lnTo>
                  <a:lnTo>
                    <a:pt x="102" y="618"/>
                  </a:lnTo>
                  <a:lnTo>
                    <a:pt x="108" y="618"/>
                  </a:lnTo>
                  <a:lnTo>
                    <a:pt x="108" y="612"/>
                  </a:lnTo>
                  <a:lnTo>
                    <a:pt x="102" y="612"/>
                  </a:lnTo>
                  <a:lnTo>
                    <a:pt x="102" y="606"/>
                  </a:lnTo>
                  <a:lnTo>
                    <a:pt x="96" y="606"/>
                  </a:lnTo>
                  <a:lnTo>
                    <a:pt x="90" y="606"/>
                  </a:lnTo>
                  <a:lnTo>
                    <a:pt x="84" y="606"/>
                  </a:lnTo>
                  <a:lnTo>
                    <a:pt x="78" y="606"/>
                  </a:lnTo>
                  <a:lnTo>
                    <a:pt x="72" y="606"/>
                  </a:lnTo>
                  <a:lnTo>
                    <a:pt x="72" y="612"/>
                  </a:lnTo>
                  <a:lnTo>
                    <a:pt x="66" y="612"/>
                  </a:lnTo>
                  <a:lnTo>
                    <a:pt x="66" y="606"/>
                  </a:lnTo>
                  <a:lnTo>
                    <a:pt x="60" y="606"/>
                  </a:lnTo>
                  <a:lnTo>
                    <a:pt x="54" y="606"/>
                  </a:lnTo>
                  <a:lnTo>
                    <a:pt x="54" y="612"/>
                  </a:lnTo>
                  <a:lnTo>
                    <a:pt x="54" y="606"/>
                  </a:lnTo>
                  <a:lnTo>
                    <a:pt x="48" y="606"/>
                  </a:lnTo>
                  <a:lnTo>
                    <a:pt x="48" y="612"/>
                  </a:lnTo>
                  <a:lnTo>
                    <a:pt x="42" y="612"/>
                  </a:lnTo>
                  <a:lnTo>
                    <a:pt x="36" y="612"/>
                  </a:lnTo>
                  <a:lnTo>
                    <a:pt x="30" y="612"/>
                  </a:lnTo>
                  <a:lnTo>
                    <a:pt x="30" y="606"/>
                  </a:lnTo>
                  <a:lnTo>
                    <a:pt x="24" y="606"/>
                  </a:lnTo>
                  <a:lnTo>
                    <a:pt x="24" y="600"/>
                  </a:lnTo>
                  <a:lnTo>
                    <a:pt x="24" y="594"/>
                  </a:lnTo>
                  <a:lnTo>
                    <a:pt x="24" y="588"/>
                  </a:lnTo>
                  <a:lnTo>
                    <a:pt x="24" y="582"/>
                  </a:lnTo>
                  <a:lnTo>
                    <a:pt x="24" y="576"/>
                  </a:lnTo>
                  <a:lnTo>
                    <a:pt x="30" y="576"/>
                  </a:lnTo>
                  <a:lnTo>
                    <a:pt x="30" y="570"/>
                  </a:lnTo>
                  <a:lnTo>
                    <a:pt x="30" y="564"/>
                  </a:lnTo>
                  <a:lnTo>
                    <a:pt x="36" y="564"/>
                  </a:lnTo>
                  <a:lnTo>
                    <a:pt x="36" y="558"/>
                  </a:lnTo>
                  <a:lnTo>
                    <a:pt x="36" y="552"/>
                  </a:lnTo>
                  <a:lnTo>
                    <a:pt x="36" y="546"/>
                  </a:lnTo>
                  <a:lnTo>
                    <a:pt x="36" y="540"/>
                  </a:lnTo>
                  <a:lnTo>
                    <a:pt x="42" y="540"/>
                  </a:lnTo>
                  <a:lnTo>
                    <a:pt x="48" y="540"/>
                  </a:lnTo>
                  <a:lnTo>
                    <a:pt x="48" y="546"/>
                  </a:lnTo>
                  <a:lnTo>
                    <a:pt x="48" y="540"/>
                  </a:lnTo>
                  <a:lnTo>
                    <a:pt x="54" y="534"/>
                  </a:lnTo>
                  <a:lnTo>
                    <a:pt x="54" y="540"/>
                  </a:lnTo>
                  <a:lnTo>
                    <a:pt x="60" y="540"/>
                  </a:lnTo>
                  <a:lnTo>
                    <a:pt x="60" y="546"/>
                  </a:lnTo>
                  <a:lnTo>
                    <a:pt x="60" y="540"/>
                  </a:lnTo>
                  <a:lnTo>
                    <a:pt x="60" y="546"/>
                  </a:lnTo>
                  <a:lnTo>
                    <a:pt x="66" y="540"/>
                  </a:lnTo>
                  <a:lnTo>
                    <a:pt x="60" y="540"/>
                  </a:lnTo>
                  <a:lnTo>
                    <a:pt x="60" y="534"/>
                  </a:lnTo>
                  <a:lnTo>
                    <a:pt x="60" y="528"/>
                  </a:lnTo>
                  <a:lnTo>
                    <a:pt x="60" y="522"/>
                  </a:lnTo>
                  <a:lnTo>
                    <a:pt x="60" y="528"/>
                  </a:lnTo>
                  <a:lnTo>
                    <a:pt x="60" y="522"/>
                  </a:lnTo>
                  <a:lnTo>
                    <a:pt x="66" y="522"/>
                  </a:lnTo>
                  <a:lnTo>
                    <a:pt x="66" y="516"/>
                  </a:lnTo>
                  <a:lnTo>
                    <a:pt x="66" y="510"/>
                  </a:lnTo>
                  <a:lnTo>
                    <a:pt x="60" y="510"/>
                  </a:lnTo>
                  <a:lnTo>
                    <a:pt x="60" y="504"/>
                  </a:lnTo>
                  <a:lnTo>
                    <a:pt x="54" y="504"/>
                  </a:lnTo>
                  <a:lnTo>
                    <a:pt x="54" y="498"/>
                  </a:lnTo>
                  <a:lnTo>
                    <a:pt x="54" y="492"/>
                  </a:lnTo>
                  <a:lnTo>
                    <a:pt x="48" y="492"/>
                  </a:lnTo>
                  <a:lnTo>
                    <a:pt x="54" y="492"/>
                  </a:lnTo>
                  <a:lnTo>
                    <a:pt x="48" y="492"/>
                  </a:lnTo>
                  <a:lnTo>
                    <a:pt x="48" y="486"/>
                  </a:lnTo>
                  <a:lnTo>
                    <a:pt x="42" y="486"/>
                  </a:lnTo>
                  <a:lnTo>
                    <a:pt x="48" y="486"/>
                  </a:lnTo>
                  <a:lnTo>
                    <a:pt x="42" y="486"/>
                  </a:lnTo>
                  <a:lnTo>
                    <a:pt x="42" y="480"/>
                  </a:lnTo>
                  <a:lnTo>
                    <a:pt x="42" y="486"/>
                  </a:lnTo>
                  <a:lnTo>
                    <a:pt x="36" y="486"/>
                  </a:lnTo>
                  <a:lnTo>
                    <a:pt x="36" y="480"/>
                  </a:lnTo>
                  <a:lnTo>
                    <a:pt x="36" y="474"/>
                  </a:lnTo>
                  <a:lnTo>
                    <a:pt x="36" y="480"/>
                  </a:lnTo>
                  <a:lnTo>
                    <a:pt x="36" y="474"/>
                  </a:lnTo>
                  <a:lnTo>
                    <a:pt x="42" y="474"/>
                  </a:lnTo>
                  <a:lnTo>
                    <a:pt x="42" y="468"/>
                  </a:lnTo>
                  <a:lnTo>
                    <a:pt x="42" y="474"/>
                  </a:lnTo>
                  <a:lnTo>
                    <a:pt x="48" y="474"/>
                  </a:lnTo>
                  <a:lnTo>
                    <a:pt x="54" y="474"/>
                  </a:lnTo>
                  <a:lnTo>
                    <a:pt x="60" y="474"/>
                  </a:lnTo>
                  <a:lnTo>
                    <a:pt x="54" y="468"/>
                  </a:lnTo>
                  <a:lnTo>
                    <a:pt x="60" y="462"/>
                  </a:lnTo>
                  <a:lnTo>
                    <a:pt x="60" y="456"/>
                  </a:lnTo>
                  <a:lnTo>
                    <a:pt x="66" y="456"/>
                  </a:lnTo>
                  <a:lnTo>
                    <a:pt x="60" y="450"/>
                  </a:lnTo>
                  <a:lnTo>
                    <a:pt x="66" y="450"/>
                  </a:lnTo>
                  <a:lnTo>
                    <a:pt x="66" y="444"/>
                  </a:lnTo>
                  <a:lnTo>
                    <a:pt x="72" y="450"/>
                  </a:lnTo>
                  <a:lnTo>
                    <a:pt x="72" y="444"/>
                  </a:lnTo>
                  <a:lnTo>
                    <a:pt x="78" y="444"/>
                  </a:lnTo>
                  <a:lnTo>
                    <a:pt x="78" y="438"/>
                  </a:lnTo>
                  <a:lnTo>
                    <a:pt x="72" y="432"/>
                  </a:lnTo>
                  <a:lnTo>
                    <a:pt x="72" y="426"/>
                  </a:lnTo>
                  <a:lnTo>
                    <a:pt x="66" y="426"/>
                  </a:lnTo>
                  <a:lnTo>
                    <a:pt x="66" y="420"/>
                  </a:lnTo>
                  <a:lnTo>
                    <a:pt x="60" y="420"/>
                  </a:lnTo>
                  <a:lnTo>
                    <a:pt x="60" y="414"/>
                  </a:lnTo>
                  <a:lnTo>
                    <a:pt x="54" y="414"/>
                  </a:lnTo>
                  <a:lnTo>
                    <a:pt x="60" y="408"/>
                  </a:lnTo>
                  <a:lnTo>
                    <a:pt x="54" y="408"/>
                  </a:lnTo>
                  <a:lnTo>
                    <a:pt x="54" y="402"/>
                  </a:lnTo>
                  <a:lnTo>
                    <a:pt x="54" y="408"/>
                  </a:lnTo>
                  <a:lnTo>
                    <a:pt x="54" y="402"/>
                  </a:lnTo>
                  <a:lnTo>
                    <a:pt x="48" y="402"/>
                  </a:lnTo>
                  <a:lnTo>
                    <a:pt x="48" y="396"/>
                  </a:lnTo>
                  <a:lnTo>
                    <a:pt x="54" y="396"/>
                  </a:lnTo>
                  <a:lnTo>
                    <a:pt x="60" y="396"/>
                  </a:lnTo>
                  <a:lnTo>
                    <a:pt x="60" y="402"/>
                  </a:lnTo>
                  <a:lnTo>
                    <a:pt x="66" y="402"/>
                  </a:lnTo>
                  <a:lnTo>
                    <a:pt x="72" y="402"/>
                  </a:lnTo>
                  <a:lnTo>
                    <a:pt x="72" y="408"/>
                  </a:lnTo>
                  <a:lnTo>
                    <a:pt x="78" y="408"/>
                  </a:lnTo>
                  <a:lnTo>
                    <a:pt x="78" y="402"/>
                  </a:lnTo>
                  <a:lnTo>
                    <a:pt x="72" y="402"/>
                  </a:lnTo>
                  <a:lnTo>
                    <a:pt x="78" y="396"/>
                  </a:lnTo>
                  <a:lnTo>
                    <a:pt x="78" y="390"/>
                  </a:lnTo>
                  <a:lnTo>
                    <a:pt x="84" y="396"/>
                  </a:lnTo>
                  <a:lnTo>
                    <a:pt x="84" y="390"/>
                  </a:lnTo>
                  <a:lnTo>
                    <a:pt x="84" y="384"/>
                  </a:lnTo>
                  <a:lnTo>
                    <a:pt x="84" y="378"/>
                  </a:lnTo>
                  <a:lnTo>
                    <a:pt x="84" y="372"/>
                  </a:lnTo>
                  <a:lnTo>
                    <a:pt x="90" y="372"/>
                  </a:lnTo>
                  <a:lnTo>
                    <a:pt x="96" y="372"/>
                  </a:lnTo>
                  <a:lnTo>
                    <a:pt x="96" y="366"/>
                  </a:lnTo>
                  <a:lnTo>
                    <a:pt x="90" y="366"/>
                  </a:lnTo>
                  <a:lnTo>
                    <a:pt x="96" y="366"/>
                  </a:lnTo>
                  <a:lnTo>
                    <a:pt x="96" y="360"/>
                  </a:lnTo>
                  <a:lnTo>
                    <a:pt x="102" y="360"/>
                  </a:lnTo>
                  <a:lnTo>
                    <a:pt x="96" y="354"/>
                  </a:lnTo>
                  <a:lnTo>
                    <a:pt x="102" y="354"/>
                  </a:lnTo>
                  <a:lnTo>
                    <a:pt x="102" y="348"/>
                  </a:lnTo>
                  <a:lnTo>
                    <a:pt x="96" y="348"/>
                  </a:lnTo>
                  <a:lnTo>
                    <a:pt x="96" y="342"/>
                  </a:lnTo>
                  <a:lnTo>
                    <a:pt x="102" y="342"/>
                  </a:lnTo>
                  <a:lnTo>
                    <a:pt x="102" y="336"/>
                  </a:lnTo>
                  <a:lnTo>
                    <a:pt x="108" y="336"/>
                  </a:lnTo>
                  <a:lnTo>
                    <a:pt x="114" y="336"/>
                  </a:lnTo>
                  <a:lnTo>
                    <a:pt x="114" y="330"/>
                  </a:lnTo>
                  <a:lnTo>
                    <a:pt x="108" y="324"/>
                  </a:lnTo>
                  <a:lnTo>
                    <a:pt x="114" y="324"/>
                  </a:lnTo>
                  <a:lnTo>
                    <a:pt x="114" y="318"/>
                  </a:lnTo>
                  <a:lnTo>
                    <a:pt x="120" y="318"/>
                  </a:lnTo>
                  <a:lnTo>
                    <a:pt x="120" y="312"/>
                  </a:lnTo>
                  <a:lnTo>
                    <a:pt x="126" y="312"/>
                  </a:lnTo>
                  <a:lnTo>
                    <a:pt x="126" y="306"/>
                  </a:lnTo>
                  <a:lnTo>
                    <a:pt x="132" y="306"/>
                  </a:lnTo>
                  <a:lnTo>
                    <a:pt x="138" y="306"/>
                  </a:lnTo>
                  <a:lnTo>
                    <a:pt x="138" y="300"/>
                  </a:lnTo>
                  <a:lnTo>
                    <a:pt x="144" y="300"/>
                  </a:lnTo>
                  <a:lnTo>
                    <a:pt x="150" y="300"/>
                  </a:lnTo>
                  <a:lnTo>
                    <a:pt x="150" y="306"/>
                  </a:lnTo>
                  <a:lnTo>
                    <a:pt x="156" y="306"/>
                  </a:lnTo>
                  <a:lnTo>
                    <a:pt x="162" y="306"/>
                  </a:lnTo>
                  <a:lnTo>
                    <a:pt x="168" y="306"/>
                  </a:lnTo>
                  <a:lnTo>
                    <a:pt x="174" y="306"/>
                  </a:lnTo>
                  <a:lnTo>
                    <a:pt x="180" y="306"/>
                  </a:lnTo>
                  <a:lnTo>
                    <a:pt x="186" y="306"/>
                  </a:lnTo>
                  <a:lnTo>
                    <a:pt x="186" y="312"/>
                  </a:lnTo>
                  <a:lnTo>
                    <a:pt x="192" y="312"/>
                  </a:lnTo>
                  <a:lnTo>
                    <a:pt x="198" y="306"/>
                  </a:lnTo>
                  <a:lnTo>
                    <a:pt x="198" y="312"/>
                  </a:lnTo>
                  <a:lnTo>
                    <a:pt x="198" y="306"/>
                  </a:lnTo>
                  <a:lnTo>
                    <a:pt x="198" y="312"/>
                  </a:lnTo>
                  <a:lnTo>
                    <a:pt x="204" y="312"/>
                  </a:lnTo>
                  <a:lnTo>
                    <a:pt x="204" y="318"/>
                  </a:lnTo>
                  <a:lnTo>
                    <a:pt x="210" y="312"/>
                  </a:lnTo>
                  <a:lnTo>
                    <a:pt x="216" y="312"/>
                  </a:lnTo>
                  <a:lnTo>
                    <a:pt x="216" y="318"/>
                  </a:lnTo>
                  <a:lnTo>
                    <a:pt x="222" y="318"/>
                  </a:lnTo>
                  <a:lnTo>
                    <a:pt x="222" y="312"/>
                  </a:lnTo>
                  <a:lnTo>
                    <a:pt x="228" y="312"/>
                  </a:lnTo>
                  <a:lnTo>
                    <a:pt x="222" y="312"/>
                  </a:lnTo>
                  <a:lnTo>
                    <a:pt x="228" y="312"/>
                  </a:lnTo>
                  <a:lnTo>
                    <a:pt x="228" y="306"/>
                  </a:lnTo>
                  <a:lnTo>
                    <a:pt x="222" y="306"/>
                  </a:lnTo>
                  <a:lnTo>
                    <a:pt x="228" y="306"/>
                  </a:lnTo>
                  <a:lnTo>
                    <a:pt x="228" y="300"/>
                  </a:lnTo>
                  <a:lnTo>
                    <a:pt x="228" y="294"/>
                  </a:lnTo>
                  <a:lnTo>
                    <a:pt x="234" y="294"/>
                  </a:lnTo>
                  <a:lnTo>
                    <a:pt x="234" y="288"/>
                  </a:lnTo>
                  <a:lnTo>
                    <a:pt x="240" y="288"/>
                  </a:lnTo>
                  <a:lnTo>
                    <a:pt x="240" y="282"/>
                  </a:lnTo>
                  <a:lnTo>
                    <a:pt x="246" y="282"/>
                  </a:lnTo>
                  <a:lnTo>
                    <a:pt x="252" y="282"/>
                  </a:lnTo>
                  <a:lnTo>
                    <a:pt x="258" y="282"/>
                  </a:lnTo>
                  <a:lnTo>
                    <a:pt x="258" y="288"/>
                  </a:lnTo>
                  <a:lnTo>
                    <a:pt x="258" y="282"/>
                  </a:lnTo>
                  <a:lnTo>
                    <a:pt x="258" y="288"/>
                  </a:lnTo>
                  <a:lnTo>
                    <a:pt x="264" y="288"/>
                  </a:lnTo>
                  <a:lnTo>
                    <a:pt x="270" y="288"/>
                  </a:lnTo>
                  <a:lnTo>
                    <a:pt x="276" y="288"/>
                  </a:lnTo>
                  <a:lnTo>
                    <a:pt x="276" y="294"/>
                  </a:lnTo>
                  <a:lnTo>
                    <a:pt x="282" y="294"/>
                  </a:lnTo>
                  <a:lnTo>
                    <a:pt x="288" y="294"/>
                  </a:lnTo>
                  <a:lnTo>
                    <a:pt x="294" y="294"/>
                  </a:lnTo>
                  <a:lnTo>
                    <a:pt x="300" y="294"/>
                  </a:lnTo>
                  <a:lnTo>
                    <a:pt x="300" y="288"/>
                  </a:lnTo>
                  <a:lnTo>
                    <a:pt x="306" y="288"/>
                  </a:lnTo>
                  <a:lnTo>
                    <a:pt x="312" y="288"/>
                  </a:lnTo>
                  <a:lnTo>
                    <a:pt x="312" y="282"/>
                  </a:lnTo>
                  <a:lnTo>
                    <a:pt x="318" y="282"/>
                  </a:lnTo>
                  <a:lnTo>
                    <a:pt x="318" y="276"/>
                  </a:lnTo>
                  <a:lnTo>
                    <a:pt x="324" y="276"/>
                  </a:lnTo>
                  <a:lnTo>
                    <a:pt x="324" y="270"/>
                  </a:lnTo>
                  <a:lnTo>
                    <a:pt x="324" y="264"/>
                  </a:lnTo>
                  <a:lnTo>
                    <a:pt x="330" y="264"/>
                  </a:lnTo>
                  <a:lnTo>
                    <a:pt x="330" y="258"/>
                  </a:lnTo>
                  <a:lnTo>
                    <a:pt x="336" y="258"/>
                  </a:lnTo>
                  <a:lnTo>
                    <a:pt x="342" y="258"/>
                  </a:lnTo>
                  <a:lnTo>
                    <a:pt x="348" y="258"/>
                  </a:lnTo>
                  <a:lnTo>
                    <a:pt x="348" y="252"/>
                  </a:lnTo>
                  <a:lnTo>
                    <a:pt x="354" y="252"/>
                  </a:lnTo>
                  <a:lnTo>
                    <a:pt x="354" y="258"/>
                  </a:lnTo>
                  <a:lnTo>
                    <a:pt x="354" y="264"/>
                  </a:lnTo>
                  <a:lnTo>
                    <a:pt x="348" y="264"/>
                  </a:lnTo>
                  <a:lnTo>
                    <a:pt x="348" y="270"/>
                  </a:lnTo>
                  <a:lnTo>
                    <a:pt x="354" y="270"/>
                  </a:lnTo>
                  <a:lnTo>
                    <a:pt x="360" y="270"/>
                  </a:lnTo>
                  <a:lnTo>
                    <a:pt x="360" y="264"/>
                  </a:lnTo>
                  <a:lnTo>
                    <a:pt x="360" y="258"/>
                  </a:lnTo>
                  <a:lnTo>
                    <a:pt x="360" y="252"/>
                  </a:lnTo>
                  <a:lnTo>
                    <a:pt x="360" y="246"/>
                  </a:lnTo>
                  <a:lnTo>
                    <a:pt x="360" y="240"/>
                  </a:lnTo>
                  <a:lnTo>
                    <a:pt x="360" y="234"/>
                  </a:lnTo>
                  <a:lnTo>
                    <a:pt x="360" y="228"/>
                  </a:lnTo>
                  <a:lnTo>
                    <a:pt x="360" y="222"/>
                  </a:lnTo>
                  <a:lnTo>
                    <a:pt x="360" y="216"/>
                  </a:lnTo>
                  <a:lnTo>
                    <a:pt x="360" y="210"/>
                  </a:lnTo>
                  <a:lnTo>
                    <a:pt x="366" y="204"/>
                  </a:lnTo>
                  <a:lnTo>
                    <a:pt x="366" y="198"/>
                  </a:lnTo>
                  <a:lnTo>
                    <a:pt x="360" y="192"/>
                  </a:lnTo>
                  <a:lnTo>
                    <a:pt x="366" y="192"/>
                  </a:lnTo>
                  <a:lnTo>
                    <a:pt x="366" y="186"/>
                  </a:lnTo>
                  <a:lnTo>
                    <a:pt x="366" y="180"/>
                  </a:lnTo>
                  <a:lnTo>
                    <a:pt x="366" y="174"/>
                  </a:lnTo>
                  <a:lnTo>
                    <a:pt x="372" y="174"/>
                  </a:lnTo>
                  <a:lnTo>
                    <a:pt x="366" y="168"/>
                  </a:lnTo>
                  <a:lnTo>
                    <a:pt x="366" y="162"/>
                  </a:lnTo>
                  <a:lnTo>
                    <a:pt x="360" y="162"/>
                  </a:lnTo>
                  <a:lnTo>
                    <a:pt x="360" y="156"/>
                  </a:lnTo>
                  <a:lnTo>
                    <a:pt x="360" y="150"/>
                  </a:lnTo>
                  <a:lnTo>
                    <a:pt x="360" y="144"/>
                  </a:lnTo>
                  <a:lnTo>
                    <a:pt x="366" y="144"/>
                  </a:lnTo>
                  <a:lnTo>
                    <a:pt x="366" y="138"/>
                  </a:lnTo>
                  <a:lnTo>
                    <a:pt x="366" y="132"/>
                  </a:lnTo>
                  <a:lnTo>
                    <a:pt x="372" y="132"/>
                  </a:lnTo>
                  <a:lnTo>
                    <a:pt x="378" y="126"/>
                  </a:lnTo>
                  <a:lnTo>
                    <a:pt x="384" y="120"/>
                  </a:lnTo>
                  <a:lnTo>
                    <a:pt x="378" y="120"/>
                  </a:lnTo>
                  <a:lnTo>
                    <a:pt x="384" y="114"/>
                  </a:lnTo>
                  <a:lnTo>
                    <a:pt x="390" y="114"/>
                  </a:lnTo>
                  <a:lnTo>
                    <a:pt x="396" y="114"/>
                  </a:lnTo>
                  <a:lnTo>
                    <a:pt x="396" y="108"/>
                  </a:lnTo>
                  <a:lnTo>
                    <a:pt x="402" y="108"/>
                  </a:lnTo>
                  <a:lnTo>
                    <a:pt x="402" y="102"/>
                  </a:lnTo>
                  <a:lnTo>
                    <a:pt x="408" y="102"/>
                  </a:lnTo>
                  <a:lnTo>
                    <a:pt x="414" y="102"/>
                  </a:lnTo>
                  <a:lnTo>
                    <a:pt x="414" y="96"/>
                  </a:lnTo>
                  <a:lnTo>
                    <a:pt x="420" y="102"/>
                  </a:lnTo>
                  <a:lnTo>
                    <a:pt x="420" y="96"/>
                  </a:lnTo>
                  <a:lnTo>
                    <a:pt x="426" y="90"/>
                  </a:lnTo>
                  <a:lnTo>
                    <a:pt x="426" y="84"/>
                  </a:lnTo>
                  <a:lnTo>
                    <a:pt x="426" y="78"/>
                  </a:lnTo>
                  <a:lnTo>
                    <a:pt x="432" y="78"/>
                  </a:lnTo>
                  <a:lnTo>
                    <a:pt x="432" y="84"/>
                  </a:lnTo>
                  <a:lnTo>
                    <a:pt x="432" y="78"/>
                  </a:lnTo>
                  <a:lnTo>
                    <a:pt x="432" y="72"/>
                  </a:lnTo>
                  <a:lnTo>
                    <a:pt x="438" y="72"/>
                  </a:lnTo>
                  <a:lnTo>
                    <a:pt x="438" y="66"/>
                  </a:lnTo>
                  <a:lnTo>
                    <a:pt x="444" y="60"/>
                  </a:lnTo>
                  <a:lnTo>
                    <a:pt x="438" y="60"/>
                  </a:lnTo>
                  <a:lnTo>
                    <a:pt x="438" y="54"/>
                  </a:lnTo>
                  <a:lnTo>
                    <a:pt x="444" y="54"/>
                  </a:lnTo>
                  <a:lnTo>
                    <a:pt x="444" y="48"/>
                  </a:lnTo>
                  <a:lnTo>
                    <a:pt x="444" y="54"/>
                  </a:lnTo>
                  <a:lnTo>
                    <a:pt x="450" y="48"/>
                  </a:lnTo>
                  <a:lnTo>
                    <a:pt x="456" y="42"/>
                  </a:lnTo>
                  <a:lnTo>
                    <a:pt x="456" y="36"/>
                  </a:lnTo>
                  <a:lnTo>
                    <a:pt x="456" y="30"/>
                  </a:lnTo>
                  <a:lnTo>
                    <a:pt x="456" y="24"/>
                  </a:lnTo>
                  <a:lnTo>
                    <a:pt x="456" y="18"/>
                  </a:lnTo>
                  <a:lnTo>
                    <a:pt x="456" y="12"/>
                  </a:lnTo>
                  <a:lnTo>
                    <a:pt x="462" y="12"/>
                  </a:lnTo>
                  <a:lnTo>
                    <a:pt x="462" y="6"/>
                  </a:lnTo>
                  <a:lnTo>
                    <a:pt x="468" y="12"/>
                  </a:lnTo>
                  <a:lnTo>
                    <a:pt x="474" y="6"/>
                  </a:lnTo>
                  <a:lnTo>
                    <a:pt x="474" y="0"/>
                  </a:lnTo>
                  <a:lnTo>
                    <a:pt x="480" y="0"/>
                  </a:lnTo>
                  <a:lnTo>
                    <a:pt x="486" y="0"/>
                  </a:lnTo>
                  <a:lnTo>
                    <a:pt x="492" y="0"/>
                  </a:lnTo>
                  <a:lnTo>
                    <a:pt x="492" y="6"/>
                  </a:lnTo>
                  <a:lnTo>
                    <a:pt x="492" y="12"/>
                  </a:lnTo>
                  <a:lnTo>
                    <a:pt x="498" y="12"/>
                  </a:lnTo>
                  <a:lnTo>
                    <a:pt x="498" y="6"/>
                  </a:lnTo>
                  <a:lnTo>
                    <a:pt x="504" y="6"/>
                  </a:lnTo>
                  <a:lnTo>
                    <a:pt x="504" y="12"/>
                  </a:lnTo>
                  <a:lnTo>
                    <a:pt x="510" y="18"/>
                  </a:lnTo>
                  <a:lnTo>
                    <a:pt x="510" y="24"/>
                  </a:lnTo>
                  <a:lnTo>
                    <a:pt x="510" y="30"/>
                  </a:lnTo>
                  <a:lnTo>
                    <a:pt x="516" y="36"/>
                  </a:lnTo>
                  <a:lnTo>
                    <a:pt x="522" y="42"/>
                  </a:lnTo>
                  <a:lnTo>
                    <a:pt x="528" y="42"/>
                  </a:lnTo>
                  <a:lnTo>
                    <a:pt x="528" y="48"/>
                  </a:lnTo>
                  <a:lnTo>
                    <a:pt x="534" y="48"/>
                  </a:lnTo>
                  <a:lnTo>
                    <a:pt x="534" y="42"/>
                  </a:lnTo>
                  <a:lnTo>
                    <a:pt x="540" y="42"/>
                  </a:lnTo>
                  <a:lnTo>
                    <a:pt x="540" y="48"/>
                  </a:lnTo>
                  <a:lnTo>
                    <a:pt x="546" y="48"/>
                  </a:lnTo>
                  <a:lnTo>
                    <a:pt x="546" y="54"/>
                  </a:lnTo>
                  <a:lnTo>
                    <a:pt x="552" y="54"/>
                  </a:lnTo>
                  <a:lnTo>
                    <a:pt x="552" y="60"/>
                  </a:lnTo>
                  <a:lnTo>
                    <a:pt x="558" y="60"/>
                  </a:lnTo>
                  <a:lnTo>
                    <a:pt x="558" y="54"/>
                  </a:lnTo>
                  <a:lnTo>
                    <a:pt x="564" y="54"/>
                  </a:lnTo>
                  <a:lnTo>
                    <a:pt x="570" y="54"/>
                  </a:lnTo>
                  <a:lnTo>
                    <a:pt x="576" y="60"/>
                  </a:lnTo>
                  <a:lnTo>
                    <a:pt x="582" y="54"/>
                  </a:lnTo>
                  <a:lnTo>
                    <a:pt x="582" y="48"/>
                  </a:lnTo>
                  <a:lnTo>
                    <a:pt x="588" y="42"/>
                  </a:lnTo>
                  <a:lnTo>
                    <a:pt x="582" y="42"/>
                  </a:lnTo>
                  <a:lnTo>
                    <a:pt x="588" y="36"/>
                  </a:lnTo>
                  <a:lnTo>
                    <a:pt x="588" y="42"/>
                  </a:lnTo>
                  <a:lnTo>
                    <a:pt x="594" y="42"/>
                  </a:lnTo>
                  <a:lnTo>
                    <a:pt x="594" y="48"/>
                  </a:lnTo>
                  <a:lnTo>
                    <a:pt x="600" y="48"/>
                  </a:lnTo>
                  <a:lnTo>
                    <a:pt x="600" y="42"/>
                  </a:lnTo>
                  <a:lnTo>
                    <a:pt x="606" y="42"/>
                  </a:lnTo>
                  <a:lnTo>
                    <a:pt x="606" y="48"/>
                  </a:lnTo>
                  <a:lnTo>
                    <a:pt x="606" y="60"/>
                  </a:lnTo>
                  <a:lnTo>
                    <a:pt x="612" y="60"/>
                  </a:lnTo>
                  <a:lnTo>
                    <a:pt x="612" y="54"/>
                  </a:lnTo>
                  <a:lnTo>
                    <a:pt x="618" y="54"/>
                  </a:lnTo>
                  <a:lnTo>
                    <a:pt x="618" y="48"/>
                  </a:lnTo>
                  <a:lnTo>
                    <a:pt x="624" y="54"/>
                  </a:lnTo>
                  <a:lnTo>
                    <a:pt x="618" y="54"/>
                  </a:lnTo>
                  <a:lnTo>
                    <a:pt x="624" y="54"/>
                  </a:lnTo>
                  <a:lnTo>
                    <a:pt x="624" y="60"/>
                  </a:lnTo>
                  <a:lnTo>
                    <a:pt x="624" y="66"/>
                  </a:lnTo>
                  <a:lnTo>
                    <a:pt x="618" y="66"/>
                  </a:lnTo>
                  <a:lnTo>
                    <a:pt x="624" y="72"/>
                  </a:lnTo>
                  <a:lnTo>
                    <a:pt x="630" y="72"/>
                  </a:lnTo>
                  <a:lnTo>
                    <a:pt x="630" y="78"/>
                  </a:lnTo>
                  <a:lnTo>
                    <a:pt x="630" y="72"/>
                  </a:lnTo>
                  <a:lnTo>
                    <a:pt x="636" y="78"/>
                  </a:lnTo>
                  <a:lnTo>
                    <a:pt x="636" y="72"/>
                  </a:lnTo>
                  <a:lnTo>
                    <a:pt x="642" y="72"/>
                  </a:lnTo>
                  <a:lnTo>
                    <a:pt x="642" y="66"/>
                  </a:lnTo>
                  <a:lnTo>
                    <a:pt x="648" y="66"/>
                  </a:lnTo>
                  <a:lnTo>
                    <a:pt x="648" y="60"/>
                  </a:lnTo>
                  <a:lnTo>
                    <a:pt x="654" y="60"/>
                  </a:lnTo>
                  <a:lnTo>
                    <a:pt x="654" y="54"/>
                  </a:lnTo>
                  <a:lnTo>
                    <a:pt x="648" y="54"/>
                  </a:lnTo>
                  <a:lnTo>
                    <a:pt x="660" y="42"/>
                  </a:lnTo>
                  <a:lnTo>
                    <a:pt x="660" y="48"/>
                  </a:lnTo>
                  <a:lnTo>
                    <a:pt x="666" y="42"/>
                  </a:lnTo>
                  <a:lnTo>
                    <a:pt x="672" y="48"/>
                  </a:lnTo>
                  <a:lnTo>
                    <a:pt x="678" y="48"/>
                  </a:lnTo>
                  <a:lnTo>
                    <a:pt x="678" y="54"/>
                  </a:lnTo>
                  <a:lnTo>
                    <a:pt x="684" y="48"/>
                  </a:lnTo>
                  <a:lnTo>
                    <a:pt x="690" y="48"/>
                  </a:lnTo>
                  <a:lnTo>
                    <a:pt x="690" y="54"/>
                  </a:lnTo>
                  <a:lnTo>
                    <a:pt x="696" y="48"/>
                  </a:lnTo>
                  <a:lnTo>
                    <a:pt x="696" y="42"/>
                  </a:lnTo>
                  <a:lnTo>
                    <a:pt x="702" y="48"/>
                  </a:lnTo>
                  <a:lnTo>
                    <a:pt x="708" y="48"/>
                  </a:lnTo>
                  <a:lnTo>
                    <a:pt x="714" y="48"/>
                  </a:lnTo>
                  <a:lnTo>
                    <a:pt x="714" y="54"/>
                  </a:lnTo>
                  <a:lnTo>
                    <a:pt x="720" y="54"/>
                  </a:lnTo>
                  <a:lnTo>
                    <a:pt x="726" y="54"/>
                  </a:lnTo>
                  <a:lnTo>
                    <a:pt x="726" y="60"/>
                  </a:lnTo>
                  <a:lnTo>
                    <a:pt x="732" y="60"/>
                  </a:lnTo>
                  <a:lnTo>
                    <a:pt x="732" y="66"/>
                  </a:lnTo>
                  <a:lnTo>
                    <a:pt x="732" y="72"/>
                  </a:lnTo>
                  <a:lnTo>
                    <a:pt x="738" y="78"/>
                  </a:lnTo>
                  <a:lnTo>
                    <a:pt x="744" y="84"/>
                  </a:lnTo>
                  <a:lnTo>
                    <a:pt x="744" y="90"/>
                  </a:lnTo>
                  <a:lnTo>
                    <a:pt x="744" y="96"/>
                  </a:lnTo>
                  <a:lnTo>
                    <a:pt x="750" y="96"/>
                  </a:lnTo>
                  <a:lnTo>
                    <a:pt x="750" y="102"/>
                  </a:lnTo>
                  <a:lnTo>
                    <a:pt x="750" y="108"/>
                  </a:lnTo>
                  <a:lnTo>
                    <a:pt x="750" y="114"/>
                  </a:lnTo>
                  <a:lnTo>
                    <a:pt x="750" y="120"/>
                  </a:lnTo>
                  <a:lnTo>
                    <a:pt x="750" y="126"/>
                  </a:lnTo>
                  <a:lnTo>
                    <a:pt x="750" y="132"/>
                  </a:lnTo>
                  <a:lnTo>
                    <a:pt x="744" y="132"/>
                  </a:lnTo>
                  <a:lnTo>
                    <a:pt x="744" y="138"/>
                  </a:lnTo>
                  <a:lnTo>
                    <a:pt x="750" y="138"/>
                  </a:lnTo>
                  <a:lnTo>
                    <a:pt x="750" y="144"/>
                  </a:lnTo>
                  <a:lnTo>
                    <a:pt x="750" y="150"/>
                  </a:lnTo>
                  <a:lnTo>
                    <a:pt x="744" y="150"/>
                  </a:lnTo>
                  <a:lnTo>
                    <a:pt x="738" y="150"/>
                  </a:lnTo>
                  <a:lnTo>
                    <a:pt x="738" y="156"/>
                  </a:lnTo>
                  <a:lnTo>
                    <a:pt x="738" y="162"/>
                  </a:lnTo>
                  <a:lnTo>
                    <a:pt x="738" y="168"/>
                  </a:lnTo>
                  <a:lnTo>
                    <a:pt x="738" y="174"/>
                  </a:lnTo>
                  <a:lnTo>
                    <a:pt x="732" y="174"/>
                  </a:lnTo>
                  <a:lnTo>
                    <a:pt x="726" y="174"/>
                  </a:lnTo>
                  <a:lnTo>
                    <a:pt x="726" y="168"/>
                  </a:lnTo>
                  <a:lnTo>
                    <a:pt x="720" y="168"/>
                  </a:lnTo>
                  <a:lnTo>
                    <a:pt x="714" y="174"/>
                  </a:lnTo>
                  <a:lnTo>
                    <a:pt x="714" y="180"/>
                  </a:lnTo>
                  <a:lnTo>
                    <a:pt x="708" y="180"/>
                  </a:lnTo>
                  <a:lnTo>
                    <a:pt x="702" y="180"/>
                  </a:lnTo>
                  <a:lnTo>
                    <a:pt x="702" y="186"/>
                  </a:lnTo>
                  <a:lnTo>
                    <a:pt x="696" y="186"/>
                  </a:lnTo>
                  <a:lnTo>
                    <a:pt x="696" y="192"/>
                  </a:lnTo>
                  <a:lnTo>
                    <a:pt x="696" y="198"/>
                  </a:lnTo>
                  <a:lnTo>
                    <a:pt x="702" y="198"/>
                  </a:lnTo>
                  <a:lnTo>
                    <a:pt x="702" y="204"/>
                  </a:lnTo>
                  <a:lnTo>
                    <a:pt x="696" y="204"/>
                  </a:lnTo>
                  <a:lnTo>
                    <a:pt x="696" y="210"/>
                  </a:lnTo>
                  <a:lnTo>
                    <a:pt x="702" y="210"/>
                  </a:lnTo>
                  <a:lnTo>
                    <a:pt x="702" y="216"/>
                  </a:lnTo>
                  <a:lnTo>
                    <a:pt x="708" y="216"/>
                  </a:lnTo>
                  <a:lnTo>
                    <a:pt x="708" y="222"/>
                  </a:lnTo>
                  <a:lnTo>
                    <a:pt x="714" y="216"/>
                  </a:lnTo>
                  <a:lnTo>
                    <a:pt x="720" y="216"/>
                  </a:lnTo>
                  <a:lnTo>
                    <a:pt x="726" y="216"/>
                  </a:lnTo>
                  <a:lnTo>
                    <a:pt x="732" y="216"/>
                  </a:lnTo>
                  <a:lnTo>
                    <a:pt x="738" y="216"/>
                  </a:lnTo>
                  <a:lnTo>
                    <a:pt x="738" y="222"/>
                  </a:lnTo>
                  <a:lnTo>
                    <a:pt x="738" y="228"/>
                  </a:lnTo>
                  <a:lnTo>
                    <a:pt x="744" y="228"/>
                  </a:lnTo>
                  <a:lnTo>
                    <a:pt x="750" y="228"/>
                  </a:lnTo>
                  <a:lnTo>
                    <a:pt x="744" y="234"/>
                  </a:lnTo>
                  <a:lnTo>
                    <a:pt x="750" y="234"/>
                  </a:lnTo>
                  <a:lnTo>
                    <a:pt x="750" y="240"/>
                  </a:lnTo>
                  <a:lnTo>
                    <a:pt x="750" y="246"/>
                  </a:lnTo>
                  <a:lnTo>
                    <a:pt x="756" y="246"/>
                  </a:lnTo>
                  <a:lnTo>
                    <a:pt x="762" y="240"/>
                  </a:lnTo>
                  <a:lnTo>
                    <a:pt x="762" y="246"/>
                  </a:lnTo>
                  <a:lnTo>
                    <a:pt x="768" y="246"/>
                  </a:lnTo>
                  <a:lnTo>
                    <a:pt x="768" y="252"/>
                  </a:lnTo>
                  <a:lnTo>
                    <a:pt x="774" y="258"/>
                  </a:lnTo>
                  <a:lnTo>
                    <a:pt x="768" y="264"/>
                  </a:lnTo>
                  <a:lnTo>
                    <a:pt x="768" y="270"/>
                  </a:lnTo>
                  <a:lnTo>
                    <a:pt x="768" y="276"/>
                  </a:lnTo>
                  <a:lnTo>
                    <a:pt x="768" y="282"/>
                  </a:lnTo>
                  <a:lnTo>
                    <a:pt x="768" y="288"/>
                  </a:lnTo>
                  <a:lnTo>
                    <a:pt x="762" y="288"/>
                  </a:lnTo>
                  <a:lnTo>
                    <a:pt x="762" y="294"/>
                  </a:lnTo>
                  <a:lnTo>
                    <a:pt x="756" y="294"/>
                  </a:lnTo>
                  <a:lnTo>
                    <a:pt x="750" y="294"/>
                  </a:lnTo>
                  <a:lnTo>
                    <a:pt x="750" y="288"/>
                  </a:lnTo>
                  <a:lnTo>
                    <a:pt x="744" y="288"/>
                  </a:lnTo>
                  <a:lnTo>
                    <a:pt x="738" y="288"/>
                  </a:lnTo>
                  <a:lnTo>
                    <a:pt x="732" y="288"/>
                  </a:lnTo>
                  <a:lnTo>
                    <a:pt x="732" y="294"/>
                  </a:lnTo>
                  <a:lnTo>
                    <a:pt x="732" y="300"/>
                  </a:lnTo>
                  <a:lnTo>
                    <a:pt x="732" y="306"/>
                  </a:lnTo>
                  <a:lnTo>
                    <a:pt x="732" y="312"/>
                  </a:lnTo>
                  <a:lnTo>
                    <a:pt x="732" y="306"/>
                  </a:lnTo>
                  <a:lnTo>
                    <a:pt x="726" y="312"/>
                  </a:lnTo>
                  <a:lnTo>
                    <a:pt x="726" y="306"/>
                  </a:lnTo>
                  <a:lnTo>
                    <a:pt x="726" y="312"/>
                  </a:lnTo>
                  <a:lnTo>
                    <a:pt x="720" y="312"/>
                  </a:lnTo>
                  <a:lnTo>
                    <a:pt x="714" y="312"/>
                  </a:lnTo>
                  <a:lnTo>
                    <a:pt x="714" y="306"/>
                  </a:lnTo>
                  <a:lnTo>
                    <a:pt x="708" y="306"/>
                  </a:lnTo>
                  <a:lnTo>
                    <a:pt x="708" y="300"/>
                  </a:lnTo>
                  <a:lnTo>
                    <a:pt x="714" y="300"/>
                  </a:lnTo>
                  <a:lnTo>
                    <a:pt x="714" y="294"/>
                  </a:lnTo>
                  <a:lnTo>
                    <a:pt x="714" y="288"/>
                  </a:lnTo>
                  <a:lnTo>
                    <a:pt x="708" y="288"/>
                  </a:lnTo>
                  <a:lnTo>
                    <a:pt x="708" y="294"/>
                  </a:lnTo>
                  <a:lnTo>
                    <a:pt x="702" y="288"/>
                  </a:lnTo>
                  <a:lnTo>
                    <a:pt x="696" y="288"/>
                  </a:lnTo>
                  <a:lnTo>
                    <a:pt x="690" y="288"/>
                  </a:lnTo>
                  <a:lnTo>
                    <a:pt x="684" y="294"/>
                  </a:lnTo>
                  <a:lnTo>
                    <a:pt x="684" y="288"/>
                  </a:lnTo>
                  <a:lnTo>
                    <a:pt x="678" y="288"/>
                  </a:lnTo>
                  <a:lnTo>
                    <a:pt x="678" y="294"/>
                  </a:lnTo>
                  <a:lnTo>
                    <a:pt x="672" y="294"/>
                  </a:lnTo>
                  <a:lnTo>
                    <a:pt x="666" y="294"/>
                  </a:lnTo>
                  <a:lnTo>
                    <a:pt x="660" y="294"/>
                  </a:lnTo>
                  <a:lnTo>
                    <a:pt x="654" y="294"/>
                  </a:lnTo>
                  <a:lnTo>
                    <a:pt x="648" y="294"/>
                  </a:lnTo>
                  <a:lnTo>
                    <a:pt x="642" y="294"/>
                  </a:lnTo>
                  <a:lnTo>
                    <a:pt x="636" y="294"/>
                  </a:lnTo>
                  <a:lnTo>
                    <a:pt x="630" y="294"/>
                  </a:lnTo>
                  <a:lnTo>
                    <a:pt x="630" y="288"/>
                  </a:lnTo>
                  <a:lnTo>
                    <a:pt x="624" y="288"/>
                  </a:lnTo>
                  <a:lnTo>
                    <a:pt x="618" y="288"/>
                  </a:lnTo>
                  <a:lnTo>
                    <a:pt x="618" y="294"/>
                  </a:lnTo>
                  <a:lnTo>
                    <a:pt x="612" y="294"/>
                  </a:lnTo>
                  <a:lnTo>
                    <a:pt x="606" y="294"/>
                  </a:lnTo>
                  <a:lnTo>
                    <a:pt x="600" y="300"/>
                  </a:lnTo>
                  <a:lnTo>
                    <a:pt x="594" y="300"/>
                  </a:lnTo>
                  <a:lnTo>
                    <a:pt x="594" y="294"/>
                  </a:lnTo>
                  <a:lnTo>
                    <a:pt x="588" y="294"/>
                  </a:lnTo>
                  <a:lnTo>
                    <a:pt x="588" y="288"/>
                  </a:lnTo>
                  <a:lnTo>
                    <a:pt x="588" y="294"/>
                  </a:lnTo>
                  <a:lnTo>
                    <a:pt x="582" y="294"/>
                  </a:lnTo>
                  <a:lnTo>
                    <a:pt x="582" y="300"/>
                  </a:lnTo>
                  <a:lnTo>
                    <a:pt x="576" y="300"/>
                  </a:lnTo>
                  <a:lnTo>
                    <a:pt x="570" y="300"/>
                  </a:lnTo>
                  <a:lnTo>
                    <a:pt x="564" y="306"/>
                  </a:lnTo>
                  <a:lnTo>
                    <a:pt x="558" y="306"/>
                  </a:lnTo>
                  <a:lnTo>
                    <a:pt x="552" y="306"/>
                  </a:lnTo>
                  <a:lnTo>
                    <a:pt x="552" y="312"/>
                  </a:lnTo>
                  <a:lnTo>
                    <a:pt x="546" y="318"/>
                  </a:lnTo>
                  <a:lnTo>
                    <a:pt x="540" y="318"/>
                  </a:lnTo>
                  <a:lnTo>
                    <a:pt x="534" y="324"/>
                  </a:lnTo>
                  <a:lnTo>
                    <a:pt x="534" y="330"/>
                  </a:lnTo>
                  <a:lnTo>
                    <a:pt x="528" y="336"/>
                  </a:lnTo>
                  <a:lnTo>
                    <a:pt x="528" y="342"/>
                  </a:lnTo>
                  <a:lnTo>
                    <a:pt x="522" y="348"/>
                  </a:lnTo>
                  <a:lnTo>
                    <a:pt x="522" y="354"/>
                  </a:lnTo>
                  <a:lnTo>
                    <a:pt x="516" y="354"/>
                  </a:lnTo>
                  <a:lnTo>
                    <a:pt x="516" y="360"/>
                  </a:lnTo>
                  <a:lnTo>
                    <a:pt x="510" y="360"/>
                  </a:lnTo>
                  <a:lnTo>
                    <a:pt x="510" y="366"/>
                  </a:lnTo>
                  <a:lnTo>
                    <a:pt x="504" y="366"/>
                  </a:lnTo>
                  <a:lnTo>
                    <a:pt x="504" y="372"/>
                  </a:lnTo>
                  <a:lnTo>
                    <a:pt x="498" y="372"/>
                  </a:lnTo>
                  <a:lnTo>
                    <a:pt x="492" y="372"/>
                  </a:lnTo>
                  <a:lnTo>
                    <a:pt x="492" y="378"/>
                  </a:lnTo>
                  <a:lnTo>
                    <a:pt x="486" y="378"/>
                  </a:lnTo>
                  <a:lnTo>
                    <a:pt x="480" y="384"/>
                  </a:lnTo>
                  <a:lnTo>
                    <a:pt x="480" y="390"/>
                  </a:lnTo>
                  <a:lnTo>
                    <a:pt x="474" y="390"/>
                  </a:lnTo>
                  <a:lnTo>
                    <a:pt x="474" y="396"/>
                  </a:lnTo>
                  <a:lnTo>
                    <a:pt x="474" y="402"/>
                  </a:lnTo>
                  <a:lnTo>
                    <a:pt x="468" y="402"/>
                  </a:lnTo>
                  <a:lnTo>
                    <a:pt x="468" y="408"/>
                  </a:lnTo>
                  <a:lnTo>
                    <a:pt x="468" y="414"/>
                  </a:lnTo>
                  <a:lnTo>
                    <a:pt x="468" y="420"/>
                  </a:lnTo>
                  <a:lnTo>
                    <a:pt x="462" y="420"/>
                  </a:lnTo>
                  <a:lnTo>
                    <a:pt x="462" y="426"/>
                  </a:lnTo>
                  <a:lnTo>
                    <a:pt x="462" y="432"/>
                  </a:lnTo>
                  <a:lnTo>
                    <a:pt x="456" y="432"/>
                  </a:lnTo>
                  <a:lnTo>
                    <a:pt x="456" y="438"/>
                  </a:lnTo>
                  <a:lnTo>
                    <a:pt x="456" y="432"/>
                  </a:lnTo>
                  <a:lnTo>
                    <a:pt x="450" y="432"/>
                  </a:lnTo>
                  <a:lnTo>
                    <a:pt x="450" y="438"/>
                  </a:lnTo>
                  <a:lnTo>
                    <a:pt x="444" y="438"/>
                  </a:lnTo>
                  <a:lnTo>
                    <a:pt x="438" y="444"/>
                  </a:lnTo>
                  <a:lnTo>
                    <a:pt x="438" y="450"/>
                  </a:lnTo>
                  <a:lnTo>
                    <a:pt x="432" y="456"/>
                  </a:lnTo>
                  <a:lnTo>
                    <a:pt x="426" y="456"/>
                  </a:lnTo>
                  <a:lnTo>
                    <a:pt x="426" y="462"/>
                  </a:lnTo>
                  <a:lnTo>
                    <a:pt x="420" y="462"/>
                  </a:lnTo>
                  <a:lnTo>
                    <a:pt x="420" y="468"/>
                  </a:lnTo>
                  <a:lnTo>
                    <a:pt x="420" y="474"/>
                  </a:lnTo>
                  <a:lnTo>
                    <a:pt x="414" y="474"/>
                  </a:lnTo>
                  <a:lnTo>
                    <a:pt x="408" y="474"/>
                  </a:lnTo>
                  <a:lnTo>
                    <a:pt x="402" y="474"/>
                  </a:lnTo>
                  <a:lnTo>
                    <a:pt x="402" y="480"/>
                  </a:lnTo>
                  <a:lnTo>
                    <a:pt x="396" y="486"/>
                  </a:lnTo>
                  <a:lnTo>
                    <a:pt x="390" y="486"/>
                  </a:lnTo>
                  <a:lnTo>
                    <a:pt x="390" y="492"/>
                  </a:lnTo>
                  <a:lnTo>
                    <a:pt x="390" y="498"/>
                  </a:lnTo>
                  <a:lnTo>
                    <a:pt x="384" y="498"/>
                  </a:lnTo>
                  <a:lnTo>
                    <a:pt x="384" y="504"/>
                  </a:lnTo>
                  <a:lnTo>
                    <a:pt x="384" y="498"/>
                  </a:lnTo>
                  <a:lnTo>
                    <a:pt x="378" y="504"/>
                  </a:lnTo>
                  <a:lnTo>
                    <a:pt x="378" y="510"/>
                  </a:lnTo>
                  <a:lnTo>
                    <a:pt x="378" y="516"/>
                  </a:lnTo>
                  <a:lnTo>
                    <a:pt x="372" y="516"/>
                  </a:lnTo>
                  <a:lnTo>
                    <a:pt x="378" y="516"/>
                  </a:lnTo>
                  <a:lnTo>
                    <a:pt x="378" y="510"/>
                  </a:lnTo>
                  <a:lnTo>
                    <a:pt x="372" y="510"/>
                  </a:lnTo>
                  <a:lnTo>
                    <a:pt x="372" y="516"/>
                  </a:lnTo>
                  <a:lnTo>
                    <a:pt x="366" y="516"/>
                  </a:lnTo>
                  <a:lnTo>
                    <a:pt x="366" y="522"/>
                  </a:lnTo>
                  <a:lnTo>
                    <a:pt x="360" y="528"/>
                  </a:lnTo>
                  <a:lnTo>
                    <a:pt x="360" y="534"/>
                  </a:lnTo>
                  <a:lnTo>
                    <a:pt x="360" y="528"/>
                  </a:lnTo>
                  <a:lnTo>
                    <a:pt x="360" y="534"/>
                  </a:lnTo>
                  <a:lnTo>
                    <a:pt x="354" y="534"/>
                  </a:lnTo>
                  <a:lnTo>
                    <a:pt x="354" y="540"/>
                  </a:lnTo>
                  <a:lnTo>
                    <a:pt x="360" y="546"/>
                  </a:lnTo>
                  <a:lnTo>
                    <a:pt x="354" y="546"/>
                  </a:lnTo>
                  <a:lnTo>
                    <a:pt x="354" y="552"/>
                  </a:lnTo>
                  <a:lnTo>
                    <a:pt x="348" y="552"/>
                  </a:lnTo>
                  <a:lnTo>
                    <a:pt x="342" y="552"/>
                  </a:lnTo>
                  <a:lnTo>
                    <a:pt x="342" y="558"/>
                  </a:lnTo>
                  <a:lnTo>
                    <a:pt x="342" y="564"/>
                  </a:lnTo>
                  <a:lnTo>
                    <a:pt x="336" y="570"/>
                  </a:lnTo>
                  <a:lnTo>
                    <a:pt x="330" y="570"/>
                  </a:lnTo>
                  <a:lnTo>
                    <a:pt x="330" y="576"/>
                  </a:lnTo>
                  <a:lnTo>
                    <a:pt x="330" y="570"/>
                  </a:lnTo>
                  <a:lnTo>
                    <a:pt x="330" y="576"/>
                  </a:lnTo>
                  <a:lnTo>
                    <a:pt x="324" y="576"/>
                  </a:lnTo>
                  <a:lnTo>
                    <a:pt x="324" y="582"/>
                  </a:lnTo>
                  <a:lnTo>
                    <a:pt x="324" y="588"/>
                  </a:lnTo>
                  <a:lnTo>
                    <a:pt x="318" y="588"/>
                  </a:lnTo>
                  <a:lnTo>
                    <a:pt x="312" y="588"/>
                  </a:lnTo>
                  <a:lnTo>
                    <a:pt x="312" y="594"/>
                  </a:lnTo>
                  <a:lnTo>
                    <a:pt x="306" y="594"/>
                  </a:lnTo>
                  <a:lnTo>
                    <a:pt x="306" y="600"/>
                  </a:lnTo>
                  <a:lnTo>
                    <a:pt x="300" y="600"/>
                  </a:lnTo>
                  <a:lnTo>
                    <a:pt x="300" y="606"/>
                  </a:lnTo>
                  <a:lnTo>
                    <a:pt x="294" y="606"/>
                  </a:lnTo>
                  <a:lnTo>
                    <a:pt x="294" y="612"/>
                  </a:lnTo>
                  <a:lnTo>
                    <a:pt x="288" y="612"/>
                  </a:lnTo>
                  <a:lnTo>
                    <a:pt x="282" y="612"/>
                  </a:lnTo>
                  <a:lnTo>
                    <a:pt x="282" y="618"/>
                  </a:lnTo>
                  <a:lnTo>
                    <a:pt x="276" y="618"/>
                  </a:lnTo>
                  <a:lnTo>
                    <a:pt x="276" y="624"/>
                  </a:lnTo>
                  <a:lnTo>
                    <a:pt x="270" y="624"/>
                  </a:lnTo>
                  <a:lnTo>
                    <a:pt x="270" y="630"/>
                  </a:lnTo>
                  <a:lnTo>
                    <a:pt x="270" y="636"/>
                  </a:lnTo>
                  <a:lnTo>
                    <a:pt x="264" y="636"/>
                  </a:lnTo>
                  <a:lnTo>
                    <a:pt x="264" y="642"/>
                  </a:lnTo>
                  <a:lnTo>
                    <a:pt x="258" y="642"/>
                  </a:lnTo>
                  <a:lnTo>
                    <a:pt x="258" y="648"/>
                  </a:lnTo>
                  <a:lnTo>
                    <a:pt x="252" y="648"/>
                  </a:lnTo>
                  <a:lnTo>
                    <a:pt x="246" y="654"/>
                  </a:lnTo>
                  <a:lnTo>
                    <a:pt x="240" y="654"/>
                  </a:lnTo>
                  <a:lnTo>
                    <a:pt x="234" y="660"/>
                  </a:lnTo>
                  <a:lnTo>
                    <a:pt x="234" y="666"/>
                  </a:lnTo>
                  <a:lnTo>
                    <a:pt x="228" y="666"/>
                  </a:lnTo>
                  <a:lnTo>
                    <a:pt x="228" y="672"/>
                  </a:lnTo>
                  <a:lnTo>
                    <a:pt x="222" y="672"/>
                  </a:lnTo>
                  <a:lnTo>
                    <a:pt x="222" y="678"/>
                  </a:lnTo>
                  <a:lnTo>
                    <a:pt x="222" y="684"/>
                  </a:lnTo>
                  <a:lnTo>
                    <a:pt x="228" y="684"/>
                  </a:lnTo>
                  <a:lnTo>
                    <a:pt x="222" y="684"/>
                  </a:lnTo>
                  <a:lnTo>
                    <a:pt x="228" y="684"/>
                  </a:lnTo>
                  <a:lnTo>
                    <a:pt x="228" y="690"/>
                  </a:lnTo>
                  <a:lnTo>
                    <a:pt x="234" y="690"/>
                  </a:lnTo>
                  <a:lnTo>
                    <a:pt x="240" y="690"/>
                  </a:lnTo>
                  <a:lnTo>
                    <a:pt x="246" y="690"/>
                  </a:lnTo>
                  <a:lnTo>
                    <a:pt x="246" y="696"/>
                  </a:lnTo>
                  <a:lnTo>
                    <a:pt x="252" y="696"/>
                  </a:lnTo>
                  <a:lnTo>
                    <a:pt x="258" y="696"/>
                  </a:lnTo>
                  <a:lnTo>
                    <a:pt x="264" y="696"/>
                  </a:lnTo>
                  <a:lnTo>
                    <a:pt x="270" y="696"/>
                  </a:lnTo>
                  <a:lnTo>
                    <a:pt x="276" y="696"/>
                  </a:lnTo>
                  <a:lnTo>
                    <a:pt x="282" y="696"/>
                  </a:lnTo>
                  <a:lnTo>
                    <a:pt x="288" y="696"/>
                  </a:lnTo>
                  <a:lnTo>
                    <a:pt x="288" y="690"/>
                  </a:lnTo>
                  <a:lnTo>
                    <a:pt x="288" y="696"/>
                  </a:lnTo>
                  <a:lnTo>
                    <a:pt x="294" y="696"/>
                  </a:lnTo>
                  <a:lnTo>
                    <a:pt x="294" y="690"/>
                  </a:lnTo>
                  <a:lnTo>
                    <a:pt x="294" y="696"/>
                  </a:lnTo>
                  <a:lnTo>
                    <a:pt x="300" y="696"/>
                  </a:lnTo>
                  <a:lnTo>
                    <a:pt x="300" y="702"/>
                  </a:lnTo>
                  <a:lnTo>
                    <a:pt x="294" y="702"/>
                  </a:lnTo>
                  <a:lnTo>
                    <a:pt x="300" y="702"/>
                  </a:lnTo>
                  <a:lnTo>
                    <a:pt x="294" y="702"/>
                  </a:lnTo>
                  <a:lnTo>
                    <a:pt x="294" y="708"/>
                  </a:lnTo>
                  <a:lnTo>
                    <a:pt x="294" y="714"/>
                  </a:lnTo>
                  <a:lnTo>
                    <a:pt x="294" y="720"/>
                  </a:lnTo>
                  <a:lnTo>
                    <a:pt x="294" y="726"/>
                  </a:lnTo>
                  <a:lnTo>
                    <a:pt x="294" y="732"/>
                  </a:lnTo>
                  <a:lnTo>
                    <a:pt x="294" y="738"/>
                  </a:lnTo>
                  <a:lnTo>
                    <a:pt x="288" y="738"/>
                  </a:lnTo>
                  <a:lnTo>
                    <a:pt x="288" y="744"/>
                  </a:lnTo>
                  <a:lnTo>
                    <a:pt x="288" y="750"/>
                  </a:lnTo>
                  <a:lnTo>
                    <a:pt x="288" y="756"/>
                  </a:lnTo>
                  <a:lnTo>
                    <a:pt x="294" y="756"/>
                  </a:lnTo>
                  <a:lnTo>
                    <a:pt x="294" y="762"/>
                  </a:lnTo>
                  <a:lnTo>
                    <a:pt x="300" y="756"/>
                  </a:lnTo>
                  <a:lnTo>
                    <a:pt x="306" y="756"/>
                  </a:lnTo>
                  <a:lnTo>
                    <a:pt x="312" y="756"/>
                  </a:lnTo>
                  <a:lnTo>
                    <a:pt x="312" y="750"/>
                  </a:lnTo>
                  <a:lnTo>
                    <a:pt x="318" y="750"/>
                  </a:lnTo>
                  <a:lnTo>
                    <a:pt x="318" y="744"/>
                  </a:lnTo>
                  <a:lnTo>
                    <a:pt x="318" y="738"/>
                  </a:lnTo>
                  <a:lnTo>
                    <a:pt x="318" y="744"/>
                  </a:lnTo>
                  <a:lnTo>
                    <a:pt x="318" y="738"/>
                  </a:lnTo>
                  <a:lnTo>
                    <a:pt x="312" y="738"/>
                  </a:lnTo>
                  <a:lnTo>
                    <a:pt x="312" y="732"/>
                  </a:lnTo>
                  <a:lnTo>
                    <a:pt x="306" y="732"/>
                  </a:lnTo>
                  <a:lnTo>
                    <a:pt x="312" y="732"/>
                  </a:lnTo>
                  <a:lnTo>
                    <a:pt x="312" y="726"/>
                  </a:lnTo>
                  <a:lnTo>
                    <a:pt x="318" y="726"/>
                  </a:lnTo>
                  <a:lnTo>
                    <a:pt x="318" y="720"/>
                  </a:lnTo>
                  <a:lnTo>
                    <a:pt x="324" y="720"/>
                  </a:lnTo>
                  <a:lnTo>
                    <a:pt x="330" y="720"/>
                  </a:lnTo>
                  <a:lnTo>
                    <a:pt x="336" y="720"/>
                  </a:lnTo>
                  <a:lnTo>
                    <a:pt x="336" y="726"/>
                  </a:lnTo>
                  <a:lnTo>
                    <a:pt x="330" y="726"/>
                  </a:lnTo>
                  <a:lnTo>
                    <a:pt x="330" y="732"/>
                  </a:lnTo>
                  <a:lnTo>
                    <a:pt x="324" y="732"/>
                  </a:lnTo>
                  <a:lnTo>
                    <a:pt x="324" y="738"/>
                  </a:lnTo>
                  <a:lnTo>
                    <a:pt x="324" y="732"/>
                  </a:lnTo>
                  <a:lnTo>
                    <a:pt x="318" y="732"/>
                  </a:lnTo>
                  <a:lnTo>
                    <a:pt x="318" y="738"/>
                  </a:lnTo>
                  <a:lnTo>
                    <a:pt x="324" y="738"/>
                  </a:lnTo>
                  <a:lnTo>
                    <a:pt x="324" y="744"/>
                  </a:lnTo>
                  <a:lnTo>
                    <a:pt x="330" y="744"/>
                  </a:lnTo>
                  <a:lnTo>
                    <a:pt x="336" y="744"/>
                  </a:lnTo>
                  <a:lnTo>
                    <a:pt x="342" y="744"/>
                  </a:lnTo>
                  <a:lnTo>
                    <a:pt x="342" y="750"/>
                  </a:lnTo>
                  <a:lnTo>
                    <a:pt x="336" y="750"/>
                  </a:lnTo>
                  <a:lnTo>
                    <a:pt x="336" y="756"/>
                  </a:lnTo>
                  <a:lnTo>
                    <a:pt x="330" y="756"/>
                  </a:lnTo>
                  <a:lnTo>
                    <a:pt x="330" y="762"/>
                  </a:lnTo>
                  <a:lnTo>
                    <a:pt x="330" y="768"/>
                  </a:lnTo>
                  <a:lnTo>
                    <a:pt x="324" y="768"/>
                  </a:lnTo>
                  <a:lnTo>
                    <a:pt x="318" y="768"/>
                  </a:lnTo>
                  <a:lnTo>
                    <a:pt x="318" y="774"/>
                  </a:lnTo>
                  <a:lnTo>
                    <a:pt x="312" y="774"/>
                  </a:lnTo>
                  <a:lnTo>
                    <a:pt x="318" y="774"/>
                  </a:lnTo>
                  <a:lnTo>
                    <a:pt x="318" y="780"/>
                  </a:lnTo>
                  <a:lnTo>
                    <a:pt x="324" y="780"/>
                  </a:lnTo>
                  <a:lnTo>
                    <a:pt x="330" y="780"/>
                  </a:lnTo>
                  <a:lnTo>
                    <a:pt x="336" y="780"/>
                  </a:lnTo>
                  <a:lnTo>
                    <a:pt x="336" y="774"/>
                  </a:lnTo>
                  <a:lnTo>
                    <a:pt x="342" y="774"/>
                  </a:lnTo>
                  <a:lnTo>
                    <a:pt x="348" y="774"/>
                  </a:lnTo>
                  <a:lnTo>
                    <a:pt x="354" y="774"/>
                  </a:lnTo>
                  <a:lnTo>
                    <a:pt x="354" y="768"/>
                  </a:lnTo>
                  <a:lnTo>
                    <a:pt x="360" y="768"/>
                  </a:lnTo>
                  <a:lnTo>
                    <a:pt x="360" y="762"/>
                  </a:lnTo>
                  <a:lnTo>
                    <a:pt x="366" y="762"/>
                  </a:lnTo>
                  <a:lnTo>
                    <a:pt x="366" y="756"/>
                  </a:lnTo>
                  <a:lnTo>
                    <a:pt x="366" y="750"/>
                  </a:lnTo>
                  <a:lnTo>
                    <a:pt x="372" y="750"/>
                  </a:lnTo>
                  <a:lnTo>
                    <a:pt x="372" y="744"/>
                  </a:lnTo>
                  <a:lnTo>
                    <a:pt x="378" y="744"/>
                  </a:lnTo>
                  <a:lnTo>
                    <a:pt x="378" y="750"/>
                  </a:lnTo>
                  <a:lnTo>
                    <a:pt x="378" y="756"/>
                  </a:lnTo>
                  <a:lnTo>
                    <a:pt x="372" y="762"/>
                  </a:lnTo>
                  <a:lnTo>
                    <a:pt x="372" y="768"/>
                  </a:lnTo>
                  <a:lnTo>
                    <a:pt x="366" y="768"/>
                  </a:lnTo>
                  <a:lnTo>
                    <a:pt x="366" y="774"/>
                  </a:lnTo>
                  <a:lnTo>
                    <a:pt x="360" y="774"/>
                  </a:lnTo>
                  <a:lnTo>
                    <a:pt x="360" y="780"/>
                  </a:lnTo>
                  <a:lnTo>
                    <a:pt x="366" y="780"/>
                  </a:lnTo>
                  <a:lnTo>
                    <a:pt x="372" y="780"/>
                  </a:lnTo>
                  <a:lnTo>
                    <a:pt x="372" y="774"/>
                  </a:lnTo>
                  <a:lnTo>
                    <a:pt x="378" y="774"/>
                  </a:lnTo>
                  <a:lnTo>
                    <a:pt x="378" y="768"/>
                  </a:lnTo>
                  <a:lnTo>
                    <a:pt x="378" y="762"/>
                  </a:lnTo>
                  <a:lnTo>
                    <a:pt x="384" y="756"/>
                  </a:lnTo>
                  <a:lnTo>
                    <a:pt x="384" y="750"/>
                  </a:lnTo>
                  <a:lnTo>
                    <a:pt x="384" y="744"/>
                  </a:lnTo>
                  <a:lnTo>
                    <a:pt x="384" y="738"/>
                  </a:lnTo>
                  <a:lnTo>
                    <a:pt x="378" y="738"/>
                  </a:lnTo>
                  <a:lnTo>
                    <a:pt x="384" y="738"/>
                  </a:lnTo>
                  <a:lnTo>
                    <a:pt x="384" y="732"/>
                  </a:lnTo>
                  <a:lnTo>
                    <a:pt x="384" y="726"/>
                  </a:lnTo>
                  <a:lnTo>
                    <a:pt x="384" y="720"/>
                  </a:lnTo>
                  <a:lnTo>
                    <a:pt x="378" y="720"/>
                  </a:lnTo>
                  <a:lnTo>
                    <a:pt x="384" y="720"/>
                  </a:lnTo>
                  <a:lnTo>
                    <a:pt x="390" y="720"/>
                  </a:lnTo>
                  <a:lnTo>
                    <a:pt x="390" y="726"/>
                  </a:lnTo>
                  <a:lnTo>
                    <a:pt x="396" y="726"/>
                  </a:lnTo>
                  <a:lnTo>
                    <a:pt x="402" y="726"/>
                  </a:lnTo>
                  <a:lnTo>
                    <a:pt x="408" y="726"/>
                  </a:lnTo>
                  <a:lnTo>
                    <a:pt x="414" y="726"/>
                  </a:lnTo>
                  <a:lnTo>
                    <a:pt x="420" y="726"/>
                  </a:lnTo>
                  <a:lnTo>
                    <a:pt x="426" y="726"/>
                  </a:lnTo>
                  <a:lnTo>
                    <a:pt x="426" y="720"/>
                  </a:lnTo>
                  <a:lnTo>
                    <a:pt x="432" y="720"/>
                  </a:lnTo>
                  <a:lnTo>
                    <a:pt x="432" y="726"/>
                  </a:lnTo>
                  <a:lnTo>
                    <a:pt x="438" y="726"/>
                  </a:lnTo>
                  <a:lnTo>
                    <a:pt x="438" y="732"/>
                  </a:lnTo>
                  <a:lnTo>
                    <a:pt x="444" y="732"/>
                  </a:lnTo>
                  <a:lnTo>
                    <a:pt x="444" y="738"/>
                  </a:lnTo>
                  <a:lnTo>
                    <a:pt x="450" y="738"/>
                  </a:lnTo>
                  <a:lnTo>
                    <a:pt x="450" y="744"/>
                  </a:lnTo>
                  <a:lnTo>
                    <a:pt x="456" y="744"/>
                  </a:lnTo>
                  <a:lnTo>
                    <a:pt x="456" y="750"/>
                  </a:lnTo>
                  <a:lnTo>
                    <a:pt x="456" y="756"/>
                  </a:lnTo>
                  <a:lnTo>
                    <a:pt x="456" y="762"/>
                  </a:lnTo>
                  <a:lnTo>
                    <a:pt x="462" y="762"/>
                  </a:lnTo>
                  <a:lnTo>
                    <a:pt x="468" y="762"/>
                  </a:lnTo>
                  <a:lnTo>
                    <a:pt x="462" y="768"/>
                  </a:lnTo>
                  <a:lnTo>
                    <a:pt x="468" y="768"/>
                  </a:lnTo>
                  <a:lnTo>
                    <a:pt x="468" y="774"/>
                  </a:lnTo>
                  <a:lnTo>
                    <a:pt x="474" y="774"/>
                  </a:lnTo>
                  <a:lnTo>
                    <a:pt x="474" y="780"/>
                  </a:lnTo>
                  <a:lnTo>
                    <a:pt x="480" y="780"/>
                  </a:lnTo>
                  <a:lnTo>
                    <a:pt x="486" y="780"/>
                  </a:lnTo>
                  <a:lnTo>
                    <a:pt x="492" y="786"/>
                  </a:lnTo>
                  <a:lnTo>
                    <a:pt x="498" y="786"/>
                  </a:lnTo>
                  <a:lnTo>
                    <a:pt x="504" y="792"/>
                  </a:lnTo>
                  <a:lnTo>
                    <a:pt x="498" y="792"/>
                  </a:lnTo>
                  <a:lnTo>
                    <a:pt x="504" y="792"/>
                  </a:lnTo>
                  <a:lnTo>
                    <a:pt x="498" y="792"/>
                  </a:lnTo>
                  <a:lnTo>
                    <a:pt x="498" y="786"/>
                  </a:lnTo>
                  <a:lnTo>
                    <a:pt x="492" y="786"/>
                  </a:lnTo>
                  <a:lnTo>
                    <a:pt x="486" y="786"/>
                  </a:lnTo>
                  <a:lnTo>
                    <a:pt x="486" y="780"/>
                  </a:lnTo>
                  <a:lnTo>
                    <a:pt x="486" y="786"/>
                  </a:lnTo>
                  <a:lnTo>
                    <a:pt x="480" y="786"/>
                  </a:lnTo>
                  <a:lnTo>
                    <a:pt x="486" y="786"/>
                  </a:lnTo>
                  <a:lnTo>
                    <a:pt x="492" y="786"/>
                  </a:lnTo>
                  <a:lnTo>
                    <a:pt x="492" y="792"/>
                  </a:lnTo>
                  <a:lnTo>
                    <a:pt x="498" y="798"/>
                  </a:lnTo>
                  <a:lnTo>
                    <a:pt x="504" y="798"/>
                  </a:lnTo>
                  <a:lnTo>
                    <a:pt x="504" y="804"/>
                  </a:lnTo>
                  <a:lnTo>
                    <a:pt x="510" y="804"/>
                  </a:lnTo>
                  <a:lnTo>
                    <a:pt x="510" y="810"/>
                  </a:lnTo>
                  <a:lnTo>
                    <a:pt x="504" y="810"/>
                  </a:lnTo>
                  <a:lnTo>
                    <a:pt x="504" y="816"/>
                  </a:lnTo>
                  <a:lnTo>
                    <a:pt x="504" y="810"/>
                  </a:lnTo>
                  <a:lnTo>
                    <a:pt x="498" y="810"/>
                  </a:lnTo>
                  <a:lnTo>
                    <a:pt x="498" y="816"/>
                  </a:lnTo>
                  <a:lnTo>
                    <a:pt x="498" y="810"/>
                  </a:lnTo>
                  <a:lnTo>
                    <a:pt x="498" y="816"/>
                  </a:lnTo>
                  <a:lnTo>
                    <a:pt x="498" y="822"/>
                  </a:lnTo>
                  <a:lnTo>
                    <a:pt x="492" y="822"/>
                  </a:lnTo>
                  <a:lnTo>
                    <a:pt x="492" y="816"/>
                  </a:lnTo>
                  <a:lnTo>
                    <a:pt x="486" y="816"/>
                  </a:lnTo>
                  <a:lnTo>
                    <a:pt x="480" y="810"/>
                  </a:lnTo>
                  <a:lnTo>
                    <a:pt x="474" y="810"/>
                  </a:lnTo>
                  <a:lnTo>
                    <a:pt x="480" y="810"/>
                  </a:lnTo>
                  <a:lnTo>
                    <a:pt x="480" y="816"/>
                  </a:lnTo>
                  <a:lnTo>
                    <a:pt x="486" y="816"/>
                  </a:lnTo>
                  <a:lnTo>
                    <a:pt x="486" y="822"/>
                  </a:lnTo>
                  <a:lnTo>
                    <a:pt x="492" y="828"/>
                  </a:lnTo>
                  <a:lnTo>
                    <a:pt x="498" y="828"/>
                  </a:lnTo>
                  <a:lnTo>
                    <a:pt x="498" y="834"/>
                  </a:lnTo>
                  <a:lnTo>
                    <a:pt x="498" y="840"/>
                  </a:lnTo>
                  <a:lnTo>
                    <a:pt x="498" y="846"/>
                  </a:lnTo>
                  <a:lnTo>
                    <a:pt x="498" y="852"/>
                  </a:lnTo>
                  <a:lnTo>
                    <a:pt x="498" y="858"/>
                  </a:lnTo>
                  <a:lnTo>
                    <a:pt x="492" y="858"/>
                  </a:lnTo>
                  <a:lnTo>
                    <a:pt x="492" y="864"/>
                  </a:lnTo>
                  <a:lnTo>
                    <a:pt x="498" y="870"/>
                  </a:lnTo>
                  <a:lnTo>
                    <a:pt x="498" y="876"/>
                  </a:lnTo>
                  <a:lnTo>
                    <a:pt x="504" y="876"/>
                  </a:lnTo>
                  <a:lnTo>
                    <a:pt x="510" y="876"/>
                  </a:lnTo>
                  <a:lnTo>
                    <a:pt x="510" y="882"/>
                  </a:lnTo>
                  <a:lnTo>
                    <a:pt x="504" y="882"/>
                  </a:lnTo>
                  <a:lnTo>
                    <a:pt x="504" y="888"/>
                  </a:lnTo>
                  <a:lnTo>
                    <a:pt x="504" y="894"/>
                  </a:lnTo>
                  <a:lnTo>
                    <a:pt x="504" y="900"/>
                  </a:lnTo>
                  <a:lnTo>
                    <a:pt x="498" y="900"/>
                  </a:lnTo>
                  <a:lnTo>
                    <a:pt x="498" y="906"/>
                  </a:lnTo>
                  <a:lnTo>
                    <a:pt x="492" y="906"/>
                  </a:lnTo>
                  <a:lnTo>
                    <a:pt x="492" y="912"/>
                  </a:lnTo>
                  <a:lnTo>
                    <a:pt x="498" y="912"/>
                  </a:lnTo>
                  <a:lnTo>
                    <a:pt x="492" y="912"/>
                  </a:lnTo>
                  <a:lnTo>
                    <a:pt x="492" y="918"/>
                  </a:lnTo>
                  <a:lnTo>
                    <a:pt x="486" y="918"/>
                  </a:lnTo>
                  <a:lnTo>
                    <a:pt x="480" y="924"/>
                  </a:lnTo>
                  <a:lnTo>
                    <a:pt x="480" y="930"/>
                  </a:lnTo>
                  <a:lnTo>
                    <a:pt x="480" y="936"/>
                  </a:lnTo>
                  <a:lnTo>
                    <a:pt x="474" y="936"/>
                  </a:lnTo>
                  <a:lnTo>
                    <a:pt x="480" y="936"/>
                  </a:lnTo>
                  <a:lnTo>
                    <a:pt x="480" y="942"/>
                  </a:lnTo>
                  <a:lnTo>
                    <a:pt x="474" y="942"/>
                  </a:lnTo>
                  <a:lnTo>
                    <a:pt x="474" y="948"/>
                  </a:lnTo>
                  <a:lnTo>
                    <a:pt x="468" y="948"/>
                  </a:lnTo>
                  <a:lnTo>
                    <a:pt x="468" y="954"/>
                  </a:lnTo>
                  <a:lnTo>
                    <a:pt x="474" y="954"/>
                  </a:lnTo>
                  <a:lnTo>
                    <a:pt x="474" y="960"/>
                  </a:lnTo>
                  <a:lnTo>
                    <a:pt x="468" y="960"/>
                  </a:lnTo>
                  <a:lnTo>
                    <a:pt x="474" y="960"/>
                  </a:lnTo>
                  <a:lnTo>
                    <a:pt x="474" y="966"/>
                  </a:lnTo>
                  <a:lnTo>
                    <a:pt x="468" y="966"/>
                  </a:lnTo>
                  <a:lnTo>
                    <a:pt x="474" y="966"/>
                  </a:lnTo>
                  <a:lnTo>
                    <a:pt x="468" y="966"/>
                  </a:lnTo>
                  <a:lnTo>
                    <a:pt x="474" y="972"/>
                  </a:lnTo>
                  <a:lnTo>
                    <a:pt x="468" y="972"/>
                  </a:lnTo>
                  <a:lnTo>
                    <a:pt x="468" y="978"/>
                  </a:lnTo>
                  <a:lnTo>
                    <a:pt x="462" y="978"/>
                  </a:lnTo>
                  <a:lnTo>
                    <a:pt x="468" y="978"/>
                  </a:lnTo>
                  <a:lnTo>
                    <a:pt x="468" y="984"/>
                  </a:lnTo>
                  <a:lnTo>
                    <a:pt x="462" y="984"/>
                  </a:lnTo>
                  <a:lnTo>
                    <a:pt x="462" y="990"/>
                  </a:lnTo>
                  <a:lnTo>
                    <a:pt x="462" y="996"/>
                  </a:lnTo>
                  <a:lnTo>
                    <a:pt x="462" y="1002"/>
                  </a:lnTo>
                  <a:lnTo>
                    <a:pt x="462" y="1008"/>
                  </a:lnTo>
                  <a:lnTo>
                    <a:pt x="462" y="1014"/>
                  </a:lnTo>
                  <a:lnTo>
                    <a:pt x="468" y="1014"/>
                  </a:lnTo>
                  <a:lnTo>
                    <a:pt x="462" y="1014"/>
                  </a:lnTo>
                  <a:lnTo>
                    <a:pt x="462" y="1020"/>
                  </a:lnTo>
                  <a:lnTo>
                    <a:pt x="462" y="1026"/>
                  </a:lnTo>
                  <a:lnTo>
                    <a:pt x="468" y="1032"/>
                  </a:lnTo>
                  <a:lnTo>
                    <a:pt x="474" y="1032"/>
                  </a:lnTo>
                  <a:lnTo>
                    <a:pt x="474" y="1038"/>
                  </a:lnTo>
                  <a:lnTo>
                    <a:pt x="468" y="1038"/>
                  </a:lnTo>
                  <a:lnTo>
                    <a:pt x="462" y="1038"/>
                  </a:lnTo>
                  <a:lnTo>
                    <a:pt x="462" y="1044"/>
                  </a:lnTo>
                  <a:lnTo>
                    <a:pt x="462" y="1050"/>
                  </a:lnTo>
                  <a:lnTo>
                    <a:pt x="462" y="1056"/>
                  </a:lnTo>
                  <a:lnTo>
                    <a:pt x="468" y="1056"/>
                  </a:lnTo>
                  <a:lnTo>
                    <a:pt x="468" y="1062"/>
                  </a:lnTo>
                  <a:lnTo>
                    <a:pt x="462" y="1062"/>
                  </a:lnTo>
                  <a:lnTo>
                    <a:pt x="468" y="1062"/>
                  </a:lnTo>
                  <a:lnTo>
                    <a:pt x="468" y="1068"/>
                  </a:lnTo>
                  <a:lnTo>
                    <a:pt x="468" y="1074"/>
                  </a:lnTo>
                  <a:lnTo>
                    <a:pt x="462" y="1074"/>
                  </a:lnTo>
                  <a:lnTo>
                    <a:pt x="462" y="1080"/>
                  </a:lnTo>
                  <a:lnTo>
                    <a:pt x="462" y="1086"/>
                  </a:lnTo>
                  <a:lnTo>
                    <a:pt x="462" y="1092"/>
                  </a:lnTo>
                  <a:lnTo>
                    <a:pt x="456" y="1092"/>
                  </a:lnTo>
                  <a:lnTo>
                    <a:pt x="462" y="1092"/>
                  </a:lnTo>
                  <a:lnTo>
                    <a:pt x="456" y="1092"/>
                  </a:lnTo>
                  <a:lnTo>
                    <a:pt x="456" y="1098"/>
                  </a:lnTo>
                  <a:lnTo>
                    <a:pt x="456" y="1104"/>
                  </a:lnTo>
                  <a:lnTo>
                    <a:pt x="456" y="1110"/>
                  </a:lnTo>
                  <a:lnTo>
                    <a:pt x="456" y="1104"/>
                  </a:lnTo>
                  <a:lnTo>
                    <a:pt x="456" y="1110"/>
                  </a:lnTo>
                  <a:lnTo>
                    <a:pt x="450" y="1110"/>
                  </a:lnTo>
                  <a:lnTo>
                    <a:pt x="450" y="1116"/>
                  </a:lnTo>
                  <a:lnTo>
                    <a:pt x="450" y="1110"/>
                  </a:lnTo>
                  <a:lnTo>
                    <a:pt x="456" y="1110"/>
                  </a:lnTo>
                  <a:lnTo>
                    <a:pt x="462" y="1110"/>
                  </a:lnTo>
                  <a:lnTo>
                    <a:pt x="456" y="1110"/>
                  </a:lnTo>
                  <a:lnTo>
                    <a:pt x="456" y="1116"/>
                  </a:lnTo>
                  <a:lnTo>
                    <a:pt x="456" y="1122"/>
                  </a:lnTo>
                  <a:lnTo>
                    <a:pt x="450" y="1122"/>
                  </a:lnTo>
                  <a:lnTo>
                    <a:pt x="450" y="1128"/>
                  </a:lnTo>
                  <a:lnTo>
                    <a:pt x="450" y="1134"/>
                  </a:lnTo>
                  <a:lnTo>
                    <a:pt x="450" y="1140"/>
                  </a:lnTo>
                  <a:lnTo>
                    <a:pt x="450" y="1146"/>
                  </a:lnTo>
                  <a:lnTo>
                    <a:pt x="450" y="1152"/>
                  </a:lnTo>
                  <a:lnTo>
                    <a:pt x="444" y="1152"/>
                  </a:lnTo>
                  <a:lnTo>
                    <a:pt x="444" y="1158"/>
                  </a:lnTo>
                  <a:lnTo>
                    <a:pt x="438" y="1158"/>
                  </a:lnTo>
                  <a:lnTo>
                    <a:pt x="438" y="1164"/>
                  </a:lnTo>
                  <a:lnTo>
                    <a:pt x="432" y="1164"/>
                  </a:lnTo>
                  <a:lnTo>
                    <a:pt x="432" y="1170"/>
                  </a:lnTo>
                  <a:lnTo>
                    <a:pt x="426" y="1170"/>
                  </a:lnTo>
                  <a:lnTo>
                    <a:pt x="426" y="1176"/>
                  </a:lnTo>
                  <a:lnTo>
                    <a:pt x="420" y="1176"/>
                  </a:lnTo>
                  <a:lnTo>
                    <a:pt x="420" y="1182"/>
                  </a:lnTo>
                  <a:lnTo>
                    <a:pt x="414" y="1182"/>
                  </a:lnTo>
                  <a:lnTo>
                    <a:pt x="414" y="1188"/>
                  </a:lnTo>
                  <a:lnTo>
                    <a:pt x="408" y="1188"/>
                  </a:lnTo>
                  <a:lnTo>
                    <a:pt x="408" y="1194"/>
                  </a:lnTo>
                  <a:lnTo>
                    <a:pt x="408" y="1200"/>
                  </a:lnTo>
                  <a:lnTo>
                    <a:pt x="408" y="1206"/>
                  </a:lnTo>
                  <a:lnTo>
                    <a:pt x="402" y="1206"/>
                  </a:lnTo>
                  <a:lnTo>
                    <a:pt x="402" y="1212"/>
                  </a:lnTo>
                  <a:lnTo>
                    <a:pt x="396" y="1218"/>
                  </a:lnTo>
                  <a:lnTo>
                    <a:pt x="402" y="1218"/>
                  </a:lnTo>
                  <a:lnTo>
                    <a:pt x="396" y="1218"/>
                  </a:lnTo>
                  <a:lnTo>
                    <a:pt x="396" y="1224"/>
                  </a:lnTo>
                  <a:close/>
                  <a:moveTo>
                    <a:pt x="318" y="684"/>
                  </a:moveTo>
                  <a:lnTo>
                    <a:pt x="318" y="678"/>
                  </a:lnTo>
                  <a:lnTo>
                    <a:pt x="318" y="672"/>
                  </a:lnTo>
                  <a:lnTo>
                    <a:pt x="318" y="666"/>
                  </a:lnTo>
                  <a:lnTo>
                    <a:pt x="324" y="666"/>
                  </a:lnTo>
                  <a:lnTo>
                    <a:pt x="324" y="660"/>
                  </a:lnTo>
                  <a:lnTo>
                    <a:pt x="330" y="660"/>
                  </a:lnTo>
                  <a:lnTo>
                    <a:pt x="330" y="654"/>
                  </a:lnTo>
                  <a:lnTo>
                    <a:pt x="330" y="648"/>
                  </a:lnTo>
                  <a:lnTo>
                    <a:pt x="336" y="648"/>
                  </a:lnTo>
                  <a:lnTo>
                    <a:pt x="342" y="654"/>
                  </a:lnTo>
                  <a:lnTo>
                    <a:pt x="348" y="654"/>
                  </a:lnTo>
                  <a:lnTo>
                    <a:pt x="354" y="660"/>
                  </a:lnTo>
                  <a:lnTo>
                    <a:pt x="360" y="660"/>
                  </a:lnTo>
                  <a:lnTo>
                    <a:pt x="360" y="666"/>
                  </a:lnTo>
                  <a:lnTo>
                    <a:pt x="354" y="666"/>
                  </a:lnTo>
                  <a:lnTo>
                    <a:pt x="354" y="672"/>
                  </a:lnTo>
                  <a:lnTo>
                    <a:pt x="348" y="672"/>
                  </a:lnTo>
                  <a:lnTo>
                    <a:pt x="348" y="678"/>
                  </a:lnTo>
                  <a:lnTo>
                    <a:pt x="348" y="684"/>
                  </a:lnTo>
                  <a:lnTo>
                    <a:pt x="342" y="684"/>
                  </a:lnTo>
                  <a:lnTo>
                    <a:pt x="342" y="690"/>
                  </a:lnTo>
                  <a:lnTo>
                    <a:pt x="336" y="690"/>
                  </a:lnTo>
                  <a:lnTo>
                    <a:pt x="336" y="696"/>
                  </a:lnTo>
                  <a:lnTo>
                    <a:pt x="336" y="690"/>
                  </a:lnTo>
                  <a:lnTo>
                    <a:pt x="330" y="684"/>
                  </a:lnTo>
                  <a:lnTo>
                    <a:pt x="330" y="678"/>
                  </a:lnTo>
                  <a:lnTo>
                    <a:pt x="324" y="672"/>
                  </a:lnTo>
                  <a:lnTo>
                    <a:pt x="324" y="678"/>
                  </a:lnTo>
                  <a:lnTo>
                    <a:pt x="318" y="678"/>
                  </a:lnTo>
                  <a:lnTo>
                    <a:pt x="318" y="684"/>
                  </a:lnTo>
                  <a:close/>
                  <a:moveTo>
                    <a:pt x="288" y="672"/>
                  </a:moveTo>
                  <a:lnTo>
                    <a:pt x="288" y="666"/>
                  </a:lnTo>
                  <a:lnTo>
                    <a:pt x="294" y="666"/>
                  </a:lnTo>
                  <a:lnTo>
                    <a:pt x="294" y="660"/>
                  </a:lnTo>
                  <a:lnTo>
                    <a:pt x="300" y="660"/>
                  </a:lnTo>
                  <a:lnTo>
                    <a:pt x="306" y="654"/>
                  </a:lnTo>
                  <a:lnTo>
                    <a:pt x="312" y="654"/>
                  </a:lnTo>
                  <a:lnTo>
                    <a:pt x="312" y="660"/>
                  </a:lnTo>
                  <a:lnTo>
                    <a:pt x="306" y="666"/>
                  </a:lnTo>
                  <a:lnTo>
                    <a:pt x="306" y="672"/>
                  </a:lnTo>
                  <a:lnTo>
                    <a:pt x="300" y="672"/>
                  </a:lnTo>
                  <a:lnTo>
                    <a:pt x="300" y="666"/>
                  </a:lnTo>
                  <a:lnTo>
                    <a:pt x="300" y="672"/>
                  </a:lnTo>
                  <a:lnTo>
                    <a:pt x="300" y="666"/>
                  </a:lnTo>
                  <a:lnTo>
                    <a:pt x="294" y="666"/>
                  </a:lnTo>
                  <a:lnTo>
                    <a:pt x="294" y="672"/>
                  </a:lnTo>
                  <a:lnTo>
                    <a:pt x="288" y="672"/>
                  </a:lnTo>
                  <a:close/>
                  <a:moveTo>
                    <a:pt x="330" y="708"/>
                  </a:moveTo>
                  <a:lnTo>
                    <a:pt x="330" y="702"/>
                  </a:lnTo>
                  <a:lnTo>
                    <a:pt x="330" y="696"/>
                  </a:lnTo>
                  <a:lnTo>
                    <a:pt x="336" y="696"/>
                  </a:lnTo>
                  <a:lnTo>
                    <a:pt x="336" y="702"/>
                  </a:lnTo>
                  <a:lnTo>
                    <a:pt x="336" y="708"/>
                  </a:lnTo>
                  <a:lnTo>
                    <a:pt x="330" y="708"/>
                  </a:lnTo>
                  <a:lnTo>
                    <a:pt x="336" y="708"/>
                  </a:lnTo>
                  <a:lnTo>
                    <a:pt x="336" y="714"/>
                  </a:lnTo>
                  <a:lnTo>
                    <a:pt x="330" y="714"/>
                  </a:lnTo>
                  <a:lnTo>
                    <a:pt x="330" y="708"/>
                  </a:lnTo>
                  <a:close/>
                  <a:moveTo>
                    <a:pt x="336" y="714"/>
                  </a:moveTo>
                  <a:lnTo>
                    <a:pt x="342" y="714"/>
                  </a:lnTo>
                  <a:lnTo>
                    <a:pt x="342" y="708"/>
                  </a:lnTo>
                  <a:lnTo>
                    <a:pt x="342" y="702"/>
                  </a:lnTo>
                  <a:lnTo>
                    <a:pt x="348" y="702"/>
                  </a:lnTo>
                  <a:lnTo>
                    <a:pt x="348" y="708"/>
                  </a:lnTo>
                  <a:lnTo>
                    <a:pt x="342" y="708"/>
                  </a:lnTo>
                  <a:lnTo>
                    <a:pt x="342" y="714"/>
                  </a:lnTo>
                  <a:lnTo>
                    <a:pt x="336" y="714"/>
                  </a:lnTo>
                  <a:close/>
                  <a:moveTo>
                    <a:pt x="270" y="690"/>
                  </a:moveTo>
                  <a:lnTo>
                    <a:pt x="276" y="690"/>
                  </a:lnTo>
                  <a:lnTo>
                    <a:pt x="282" y="690"/>
                  </a:lnTo>
                  <a:lnTo>
                    <a:pt x="282" y="696"/>
                  </a:lnTo>
                  <a:lnTo>
                    <a:pt x="276" y="690"/>
                  </a:lnTo>
                  <a:lnTo>
                    <a:pt x="270" y="690"/>
                  </a:lnTo>
                  <a:close/>
                  <a:moveTo>
                    <a:pt x="366" y="660"/>
                  </a:moveTo>
                  <a:lnTo>
                    <a:pt x="366" y="654"/>
                  </a:lnTo>
                  <a:lnTo>
                    <a:pt x="372" y="654"/>
                  </a:lnTo>
                  <a:lnTo>
                    <a:pt x="372" y="660"/>
                  </a:lnTo>
                  <a:lnTo>
                    <a:pt x="366" y="660"/>
                  </a:lnTo>
                  <a:close/>
                </a:path>
              </a:pathLst>
            </a:custGeom>
            <a:solidFill>
              <a:schemeClr val="accent1"/>
            </a:solidFill>
            <a:ln w="9525">
              <a:solidFill>
                <a:srgbClr val="B2B2B2"/>
              </a:solidFill>
              <a:round/>
              <a:headEnd/>
              <a:tailEnd/>
            </a:ln>
          </p:spPr>
          <p:txBody>
            <a:bodyPr/>
            <a:lstStyle/>
            <a:p>
              <a:endParaRPr lang="en-CA"/>
            </a:p>
          </p:txBody>
        </p:sp>
        <p:sp>
          <p:nvSpPr>
            <p:cNvPr id="456" name="Freeform 515"/>
            <p:cNvSpPr>
              <a:spLocks noEditPoints="1"/>
            </p:cNvSpPr>
            <p:nvPr>
              <p:custDataLst>
                <p:tags r:id="rId79"/>
              </p:custDataLst>
            </p:nvPr>
          </p:nvSpPr>
          <p:spPr bwMode="gray">
            <a:xfrm>
              <a:off x="3851" y="3095"/>
              <a:ext cx="436" cy="483"/>
            </a:xfrm>
            <a:custGeom>
              <a:avLst/>
              <a:gdLst>
                <a:gd name="T0" fmla="*/ 81744690 w 702"/>
                <a:gd name="T1" fmla="*/ 76553360 h 774"/>
                <a:gd name="T2" fmla="*/ 93422503 w 702"/>
                <a:gd name="T3" fmla="*/ 117775238 h 774"/>
                <a:gd name="T4" fmla="*/ 87583596 w 702"/>
                <a:gd name="T5" fmla="*/ 94219596 h 774"/>
                <a:gd name="T6" fmla="*/ 87583596 w 702"/>
                <a:gd name="T7" fmla="*/ 123663653 h 774"/>
                <a:gd name="T8" fmla="*/ 93422503 w 702"/>
                <a:gd name="T9" fmla="*/ 153107710 h 774"/>
                <a:gd name="T10" fmla="*/ 81744690 w 702"/>
                <a:gd name="T11" fmla="*/ 158996125 h 774"/>
                <a:gd name="T12" fmla="*/ 81744690 w 702"/>
                <a:gd name="T13" fmla="*/ 188440182 h 774"/>
                <a:gd name="T14" fmla="*/ 93422503 w 702"/>
                <a:gd name="T15" fmla="*/ 206106418 h 774"/>
                <a:gd name="T16" fmla="*/ 99261409 w 702"/>
                <a:gd name="T17" fmla="*/ 235549485 h 774"/>
                <a:gd name="T18" fmla="*/ 116778128 w 702"/>
                <a:gd name="T19" fmla="*/ 306214429 h 774"/>
                <a:gd name="T20" fmla="*/ 134294847 w 702"/>
                <a:gd name="T21" fmla="*/ 365102543 h 774"/>
                <a:gd name="T22" fmla="*/ 151811567 w 702"/>
                <a:gd name="T23" fmla="*/ 412211846 h 774"/>
                <a:gd name="T24" fmla="*/ 128455941 w 702"/>
                <a:gd name="T25" fmla="*/ 376879373 h 774"/>
                <a:gd name="T26" fmla="*/ 75905783 w 702"/>
                <a:gd name="T27" fmla="*/ 388657194 h 774"/>
                <a:gd name="T28" fmla="*/ 64227971 w 702"/>
                <a:gd name="T29" fmla="*/ 447544318 h 774"/>
                <a:gd name="T30" fmla="*/ 64227971 w 702"/>
                <a:gd name="T31" fmla="*/ 500543026 h 774"/>
                <a:gd name="T32" fmla="*/ 99261409 w 702"/>
                <a:gd name="T33" fmla="*/ 541764904 h 774"/>
                <a:gd name="T34" fmla="*/ 99261409 w 702"/>
                <a:gd name="T35" fmla="*/ 588874207 h 774"/>
                <a:gd name="T36" fmla="*/ 75905783 w 702"/>
                <a:gd name="T37" fmla="*/ 553541734 h 774"/>
                <a:gd name="T38" fmla="*/ 46711251 w 702"/>
                <a:gd name="T39" fmla="*/ 588874207 h 774"/>
                <a:gd name="T40" fmla="*/ 23355626 w 702"/>
                <a:gd name="T41" fmla="*/ 559431140 h 774"/>
                <a:gd name="T42" fmla="*/ 35033438 w 702"/>
                <a:gd name="T43" fmla="*/ 506432432 h 774"/>
                <a:gd name="T44" fmla="*/ 40872345 w 702"/>
                <a:gd name="T45" fmla="*/ 441655903 h 774"/>
                <a:gd name="T46" fmla="*/ 35033438 w 702"/>
                <a:gd name="T47" fmla="*/ 382768779 h 774"/>
                <a:gd name="T48" fmla="*/ 40872345 w 702"/>
                <a:gd name="T49" fmla="*/ 329770071 h 774"/>
                <a:gd name="T50" fmla="*/ 40872345 w 702"/>
                <a:gd name="T51" fmla="*/ 270881957 h 774"/>
                <a:gd name="T52" fmla="*/ 40872345 w 702"/>
                <a:gd name="T53" fmla="*/ 223772654 h 774"/>
                <a:gd name="T54" fmla="*/ 23355626 w 702"/>
                <a:gd name="T55" fmla="*/ 200217012 h 774"/>
                <a:gd name="T56" fmla="*/ 17516719 w 702"/>
                <a:gd name="T57" fmla="*/ 170773946 h 774"/>
                <a:gd name="T58" fmla="*/ 29194532 w 702"/>
                <a:gd name="T59" fmla="*/ 129552068 h 774"/>
                <a:gd name="T60" fmla="*/ 23355626 w 702"/>
                <a:gd name="T61" fmla="*/ 76553360 h 774"/>
                <a:gd name="T62" fmla="*/ 64227971 w 702"/>
                <a:gd name="T63" fmla="*/ 70664944 h 774"/>
                <a:gd name="T64" fmla="*/ 70066877 w 702"/>
                <a:gd name="T65" fmla="*/ 52998708 h 774"/>
                <a:gd name="T66" fmla="*/ 58389064 w 702"/>
                <a:gd name="T67" fmla="*/ 23554651 h 774"/>
                <a:gd name="T68" fmla="*/ 64227971 w 702"/>
                <a:gd name="T69" fmla="*/ 11777821 h 774"/>
                <a:gd name="T70" fmla="*/ 75905783 w 702"/>
                <a:gd name="T71" fmla="*/ 41220887 h 774"/>
                <a:gd name="T72" fmla="*/ 81744690 w 702"/>
                <a:gd name="T73" fmla="*/ 58887123 h 774"/>
                <a:gd name="T74" fmla="*/ 274428601 w 702"/>
                <a:gd name="T75" fmla="*/ 665428557 h 774"/>
                <a:gd name="T76" fmla="*/ 303623133 w 702"/>
                <a:gd name="T77" fmla="*/ 635984500 h 774"/>
                <a:gd name="T78" fmla="*/ 344494492 w 702"/>
                <a:gd name="T79" fmla="*/ 630096085 h 774"/>
                <a:gd name="T80" fmla="*/ 303623133 w 702"/>
                <a:gd name="T81" fmla="*/ 653650736 h 774"/>
                <a:gd name="T82" fmla="*/ 268589695 w 702"/>
                <a:gd name="T83" fmla="*/ 688983208 h 774"/>
                <a:gd name="T84" fmla="*/ 648117626 w 702"/>
                <a:gd name="T85" fmla="*/ 282659778 h 774"/>
                <a:gd name="T86" fmla="*/ 653956532 w 702"/>
                <a:gd name="T87" fmla="*/ 306214429 h 774"/>
                <a:gd name="T88" fmla="*/ 192683912 w 702"/>
                <a:gd name="T89" fmla="*/ 730204095 h 774"/>
                <a:gd name="T90" fmla="*/ 216039537 w 702"/>
                <a:gd name="T91" fmla="*/ 688983208 h 774"/>
                <a:gd name="T92" fmla="*/ 210200631 w 702"/>
                <a:gd name="T93" fmla="*/ 712537859 h 774"/>
                <a:gd name="T94" fmla="*/ 186845005 w 702"/>
                <a:gd name="T95" fmla="*/ 736093501 h 774"/>
                <a:gd name="T96" fmla="*/ 385366837 w 702"/>
                <a:gd name="T97" fmla="*/ 600652028 h 774"/>
                <a:gd name="T98" fmla="*/ 408722463 w 702"/>
                <a:gd name="T99" fmla="*/ 582985791 h 774"/>
                <a:gd name="T100" fmla="*/ 379527931 w 702"/>
                <a:gd name="T101" fmla="*/ 612429849 h 774"/>
                <a:gd name="T102" fmla="*/ 607245281 w 702"/>
                <a:gd name="T103" fmla="*/ 359213137 h 774"/>
                <a:gd name="T104" fmla="*/ 683151064 w 702"/>
                <a:gd name="T105" fmla="*/ 264993542 h 774"/>
                <a:gd name="T106" fmla="*/ 484628246 w 702"/>
                <a:gd name="T107" fmla="*/ 524098668 h 774"/>
                <a:gd name="T108" fmla="*/ 478789340 w 702"/>
                <a:gd name="T109" fmla="*/ 541764904 h 774"/>
                <a:gd name="T110" fmla="*/ 251072976 w 702"/>
                <a:gd name="T111" fmla="*/ 736093501 h 774"/>
                <a:gd name="T112" fmla="*/ 566372936 w 702"/>
                <a:gd name="T113" fmla="*/ 412211846 h 774"/>
                <a:gd name="T114" fmla="*/ 589728561 w 702"/>
                <a:gd name="T115" fmla="*/ 388657194 h 774"/>
                <a:gd name="T116" fmla="*/ 216039537 w 702"/>
                <a:gd name="T117" fmla="*/ 753759737 h 774"/>
                <a:gd name="T118" fmla="*/ 531339497 w 702"/>
                <a:gd name="T119" fmla="*/ 453433724 h 774"/>
                <a:gd name="T120" fmla="*/ 572211842 w 702"/>
                <a:gd name="T121" fmla="*/ 400435015 h 774"/>
                <a:gd name="T122" fmla="*/ 0 w 702"/>
                <a:gd name="T123" fmla="*/ 577097376 h 774"/>
                <a:gd name="T124" fmla="*/ 216039537 w 702"/>
                <a:gd name="T125" fmla="*/ 753759737 h 77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02"/>
                <a:gd name="T190" fmla="*/ 0 h 774"/>
                <a:gd name="T191" fmla="*/ 702 w 702"/>
                <a:gd name="T192" fmla="*/ 774 h 77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02" h="774">
                  <a:moveTo>
                    <a:pt x="84" y="60"/>
                  </a:moveTo>
                  <a:lnTo>
                    <a:pt x="84" y="66"/>
                  </a:lnTo>
                  <a:lnTo>
                    <a:pt x="78" y="66"/>
                  </a:lnTo>
                  <a:lnTo>
                    <a:pt x="78" y="72"/>
                  </a:lnTo>
                  <a:lnTo>
                    <a:pt x="84" y="72"/>
                  </a:lnTo>
                  <a:lnTo>
                    <a:pt x="84" y="66"/>
                  </a:lnTo>
                  <a:lnTo>
                    <a:pt x="84" y="72"/>
                  </a:lnTo>
                  <a:lnTo>
                    <a:pt x="84" y="78"/>
                  </a:lnTo>
                  <a:lnTo>
                    <a:pt x="84" y="72"/>
                  </a:lnTo>
                  <a:lnTo>
                    <a:pt x="84" y="78"/>
                  </a:lnTo>
                  <a:lnTo>
                    <a:pt x="90" y="78"/>
                  </a:lnTo>
                  <a:lnTo>
                    <a:pt x="84" y="78"/>
                  </a:lnTo>
                  <a:lnTo>
                    <a:pt x="84" y="84"/>
                  </a:lnTo>
                  <a:lnTo>
                    <a:pt x="84" y="78"/>
                  </a:lnTo>
                  <a:lnTo>
                    <a:pt x="84" y="84"/>
                  </a:lnTo>
                  <a:lnTo>
                    <a:pt x="84" y="78"/>
                  </a:lnTo>
                  <a:lnTo>
                    <a:pt x="84" y="84"/>
                  </a:lnTo>
                  <a:lnTo>
                    <a:pt x="90" y="84"/>
                  </a:lnTo>
                  <a:lnTo>
                    <a:pt x="90" y="90"/>
                  </a:lnTo>
                  <a:lnTo>
                    <a:pt x="90" y="96"/>
                  </a:lnTo>
                  <a:lnTo>
                    <a:pt x="96" y="102"/>
                  </a:lnTo>
                  <a:lnTo>
                    <a:pt x="96" y="108"/>
                  </a:lnTo>
                  <a:lnTo>
                    <a:pt x="96" y="114"/>
                  </a:lnTo>
                  <a:lnTo>
                    <a:pt x="96" y="120"/>
                  </a:lnTo>
                  <a:lnTo>
                    <a:pt x="96" y="114"/>
                  </a:lnTo>
                  <a:lnTo>
                    <a:pt x="96" y="108"/>
                  </a:lnTo>
                  <a:lnTo>
                    <a:pt x="90" y="108"/>
                  </a:lnTo>
                  <a:lnTo>
                    <a:pt x="96" y="108"/>
                  </a:lnTo>
                  <a:lnTo>
                    <a:pt x="90" y="108"/>
                  </a:lnTo>
                  <a:lnTo>
                    <a:pt x="96" y="108"/>
                  </a:lnTo>
                  <a:lnTo>
                    <a:pt x="90" y="108"/>
                  </a:lnTo>
                  <a:lnTo>
                    <a:pt x="96" y="102"/>
                  </a:lnTo>
                  <a:lnTo>
                    <a:pt x="90" y="102"/>
                  </a:lnTo>
                  <a:lnTo>
                    <a:pt x="90" y="108"/>
                  </a:lnTo>
                  <a:lnTo>
                    <a:pt x="90" y="102"/>
                  </a:lnTo>
                  <a:lnTo>
                    <a:pt x="90" y="96"/>
                  </a:lnTo>
                  <a:lnTo>
                    <a:pt x="90" y="90"/>
                  </a:lnTo>
                  <a:lnTo>
                    <a:pt x="84" y="90"/>
                  </a:lnTo>
                  <a:lnTo>
                    <a:pt x="90" y="90"/>
                  </a:lnTo>
                  <a:lnTo>
                    <a:pt x="90" y="84"/>
                  </a:lnTo>
                  <a:lnTo>
                    <a:pt x="84" y="84"/>
                  </a:lnTo>
                  <a:lnTo>
                    <a:pt x="84" y="90"/>
                  </a:lnTo>
                  <a:lnTo>
                    <a:pt x="84" y="96"/>
                  </a:lnTo>
                  <a:lnTo>
                    <a:pt x="84" y="102"/>
                  </a:lnTo>
                  <a:lnTo>
                    <a:pt x="84" y="108"/>
                  </a:lnTo>
                  <a:lnTo>
                    <a:pt x="90" y="114"/>
                  </a:lnTo>
                  <a:lnTo>
                    <a:pt x="90" y="120"/>
                  </a:lnTo>
                  <a:lnTo>
                    <a:pt x="90" y="126"/>
                  </a:lnTo>
                  <a:lnTo>
                    <a:pt x="90" y="120"/>
                  </a:lnTo>
                  <a:lnTo>
                    <a:pt x="96" y="120"/>
                  </a:lnTo>
                  <a:lnTo>
                    <a:pt x="90" y="120"/>
                  </a:lnTo>
                  <a:lnTo>
                    <a:pt x="96" y="120"/>
                  </a:lnTo>
                  <a:lnTo>
                    <a:pt x="96" y="114"/>
                  </a:lnTo>
                  <a:lnTo>
                    <a:pt x="96" y="120"/>
                  </a:lnTo>
                  <a:lnTo>
                    <a:pt x="96" y="126"/>
                  </a:lnTo>
                  <a:lnTo>
                    <a:pt x="96" y="132"/>
                  </a:lnTo>
                  <a:lnTo>
                    <a:pt x="96" y="138"/>
                  </a:lnTo>
                  <a:lnTo>
                    <a:pt x="96" y="144"/>
                  </a:lnTo>
                  <a:lnTo>
                    <a:pt x="96" y="150"/>
                  </a:lnTo>
                  <a:lnTo>
                    <a:pt x="96" y="156"/>
                  </a:lnTo>
                  <a:lnTo>
                    <a:pt x="90" y="156"/>
                  </a:lnTo>
                  <a:lnTo>
                    <a:pt x="90" y="162"/>
                  </a:lnTo>
                  <a:lnTo>
                    <a:pt x="90" y="156"/>
                  </a:lnTo>
                  <a:lnTo>
                    <a:pt x="96" y="150"/>
                  </a:lnTo>
                  <a:lnTo>
                    <a:pt x="90" y="150"/>
                  </a:lnTo>
                  <a:lnTo>
                    <a:pt x="96" y="144"/>
                  </a:lnTo>
                  <a:lnTo>
                    <a:pt x="96" y="138"/>
                  </a:lnTo>
                  <a:lnTo>
                    <a:pt x="96" y="144"/>
                  </a:lnTo>
                  <a:lnTo>
                    <a:pt x="90" y="144"/>
                  </a:lnTo>
                  <a:lnTo>
                    <a:pt x="90" y="150"/>
                  </a:lnTo>
                  <a:lnTo>
                    <a:pt x="90" y="156"/>
                  </a:lnTo>
                  <a:lnTo>
                    <a:pt x="84" y="162"/>
                  </a:lnTo>
                  <a:lnTo>
                    <a:pt x="90" y="162"/>
                  </a:lnTo>
                  <a:lnTo>
                    <a:pt x="90" y="168"/>
                  </a:lnTo>
                  <a:lnTo>
                    <a:pt x="90" y="174"/>
                  </a:lnTo>
                  <a:lnTo>
                    <a:pt x="90" y="180"/>
                  </a:lnTo>
                  <a:lnTo>
                    <a:pt x="84" y="174"/>
                  </a:lnTo>
                  <a:lnTo>
                    <a:pt x="84" y="180"/>
                  </a:lnTo>
                  <a:lnTo>
                    <a:pt x="90" y="180"/>
                  </a:lnTo>
                  <a:lnTo>
                    <a:pt x="90" y="186"/>
                  </a:lnTo>
                  <a:lnTo>
                    <a:pt x="84" y="186"/>
                  </a:lnTo>
                  <a:lnTo>
                    <a:pt x="90" y="186"/>
                  </a:lnTo>
                  <a:lnTo>
                    <a:pt x="84" y="186"/>
                  </a:lnTo>
                  <a:lnTo>
                    <a:pt x="84" y="192"/>
                  </a:lnTo>
                  <a:lnTo>
                    <a:pt x="90" y="192"/>
                  </a:lnTo>
                  <a:lnTo>
                    <a:pt x="90" y="198"/>
                  </a:lnTo>
                  <a:lnTo>
                    <a:pt x="90" y="192"/>
                  </a:lnTo>
                  <a:lnTo>
                    <a:pt x="90" y="198"/>
                  </a:lnTo>
                  <a:lnTo>
                    <a:pt x="96" y="204"/>
                  </a:lnTo>
                  <a:lnTo>
                    <a:pt x="96" y="210"/>
                  </a:lnTo>
                  <a:lnTo>
                    <a:pt x="90" y="210"/>
                  </a:lnTo>
                  <a:lnTo>
                    <a:pt x="90" y="216"/>
                  </a:lnTo>
                  <a:lnTo>
                    <a:pt x="90" y="222"/>
                  </a:lnTo>
                  <a:lnTo>
                    <a:pt x="96" y="222"/>
                  </a:lnTo>
                  <a:lnTo>
                    <a:pt x="96" y="216"/>
                  </a:lnTo>
                  <a:lnTo>
                    <a:pt x="96" y="210"/>
                  </a:lnTo>
                  <a:lnTo>
                    <a:pt x="96" y="216"/>
                  </a:lnTo>
                  <a:lnTo>
                    <a:pt x="102" y="216"/>
                  </a:lnTo>
                  <a:lnTo>
                    <a:pt x="102" y="222"/>
                  </a:lnTo>
                  <a:lnTo>
                    <a:pt x="102" y="228"/>
                  </a:lnTo>
                  <a:lnTo>
                    <a:pt x="102" y="234"/>
                  </a:lnTo>
                  <a:lnTo>
                    <a:pt x="96" y="234"/>
                  </a:lnTo>
                  <a:lnTo>
                    <a:pt x="102" y="234"/>
                  </a:lnTo>
                  <a:lnTo>
                    <a:pt x="102" y="240"/>
                  </a:lnTo>
                  <a:lnTo>
                    <a:pt x="102" y="246"/>
                  </a:lnTo>
                  <a:lnTo>
                    <a:pt x="102" y="240"/>
                  </a:lnTo>
                  <a:lnTo>
                    <a:pt x="102" y="246"/>
                  </a:lnTo>
                  <a:lnTo>
                    <a:pt x="102" y="240"/>
                  </a:lnTo>
                  <a:lnTo>
                    <a:pt x="108" y="246"/>
                  </a:lnTo>
                  <a:lnTo>
                    <a:pt x="108" y="252"/>
                  </a:lnTo>
                  <a:lnTo>
                    <a:pt x="108" y="258"/>
                  </a:lnTo>
                  <a:lnTo>
                    <a:pt x="108" y="264"/>
                  </a:lnTo>
                  <a:lnTo>
                    <a:pt x="108" y="270"/>
                  </a:lnTo>
                  <a:lnTo>
                    <a:pt x="108" y="276"/>
                  </a:lnTo>
                  <a:lnTo>
                    <a:pt x="114" y="276"/>
                  </a:lnTo>
                  <a:lnTo>
                    <a:pt x="114" y="282"/>
                  </a:lnTo>
                  <a:lnTo>
                    <a:pt x="114" y="288"/>
                  </a:lnTo>
                  <a:lnTo>
                    <a:pt x="114" y="294"/>
                  </a:lnTo>
                  <a:lnTo>
                    <a:pt x="114" y="306"/>
                  </a:lnTo>
                  <a:lnTo>
                    <a:pt x="120" y="312"/>
                  </a:lnTo>
                  <a:lnTo>
                    <a:pt x="120" y="318"/>
                  </a:lnTo>
                  <a:lnTo>
                    <a:pt x="120" y="324"/>
                  </a:lnTo>
                  <a:lnTo>
                    <a:pt x="126" y="324"/>
                  </a:lnTo>
                  <a:lnTo>
                    <a:pt x="126" y="330"/>
                  </a:lnTo>
                  <a:lnTo>
                    <a:pt x="126" y="336"/>
                  </a:lnTo>
                  <a:lnTo>
                    <a:pt x="126" y="342"/>
                  </a:lnTo>
                  <a:lnTo>
                    <a:pt x="132" y="342"/>
                  </a:lnTo>
                  <a:lnTo>
                    <a:pt x="132" y="348"/>
                  </a:lnTo>
                  <a:lnTo>
                    <a:pt x="132" y="354"/>
                  </a:lnTo>
                  <a:lnTo>
                    <a:pt x="132" y="360"/>
                  </a:lnTo>
                  <a:lnTo>
                    <a:pt x="138" y="366"/>
                  </a:lnTo>
                  <a:lnTo>
                    <a:pt x="138" y="372"/>
                  </a:lnTo>
                  <a:lnTo>
                    <a:pt x="138" y="378"/>
                  </a:lnTo>
                  <a:lnTo>
                    <a:pt x="138" y="384"/>
                  </a:lnTo>
                  <a:lnTo>
                    <a:pt x="144" y="390"/>
                  </a:lnTo>
                  <a:lnTo>
                    <a:pt x="144" y="396"/>
                  </a:lnTo>
                  <a:lnTo>
                    <a:pt x="144" y="402"/>
                  </a:lnTo>
                  <a:lnTo>
                    <a:pt x="150" y="402"/>
                  </a:lnTo>
                  <a:lnTo>
                    <a:pt x="150" y="408"/>
                  </a:lnTo>
                  <a:lnTo>
                    <a:pt x="156" y="408"/>
                  </a:lnTo>
                  <a:lnTo>
                    <a:pt x="156" y="414"/>
                  </a:lnTo>
                  <a:lnTo>
                    <a:pt x="156" y="420"/>
                  </a:lnTo>
                  <a:lnTo>
                    <a:pt x="162" y="420"/>
                  </a:lnTo>
                  <a:lnTo>
                    <a:pt x="156" y="420"/>
                  </a:lnTo>
                  <a:lnTo>
                    <a:pt x="156" y="426"/>
                  </a:lnTo>
                  <a:lnTo>
                    <a:pt x="162" y="426"/>
                  </a:lnTo>
                  <a:lnTo>
                    <a:pt x="156" y="426"/>
                  </a:lnTo>
                  <a:lnTo>
                    <a:pt x="156" y="420"/>
                  </a:lnTo>
                  <a:lnTo>
                    <a:pt x="156" y="414"/>
                  </a:lnTo>
                  <a:lnTo>
                    <a:pt x="150" y="408"/>
                  </a:lnTo>
                  <a:lnTo>
                    <a:pt x="144" y="402"/>
                  </a:lnTo>
                  <a:lnTo>
                    <a:pt x="144" y="396"/>
                  </a:lnTo>
                  <a:lnTo>
                    <a:pt x="138" y="396"/>
                  </a:lnTo>
                  <a:lnTo>
                    <a:pt x="138" y="390"/>
                  </a:lnTo>
                  <a:lnTo>
                    <a:pt x="132" y="390"/>
                  </a:lnTo>
                  <a:lnTo>
                    <a:pt x="132" y="384"/>
                  </a:lnTo>
                  <a:lnTo>
                    <a:pt x="126" y="384"/>
                  </a:lnTo>
                  <a:lnTo>
                    <a:pt x="120" y="384"/>
                  </a:lnTo>
                  <a:lnTo>
                    <a:pt x="114" y="384"/>
                  </a:lnTo>
                  <a:lnTo>
                    <a:pt x="114" y="378"/>
                  </a:lnTo>
                  <a:lnTo>
                    <a:pt x="108" y="378"/>
                  </a:lnTo>
                  <a:lnTo>
                    <a:pt x="102" y="378"/>
                  </a:lnTo>
                  <a:lnTo>
                    <a:pt x="96" y="384"/>
                  </a:lnTo>
                  <a:lnTo>
                    <a:pt x="90" y="384"/>
                  </a:lnTo>
                  <a:lnTo>
                    <a:pt x="84" y="384"/>
                  </a:lnTo>
                  <a:lnTo>
                    <a:pt x="84" y="390"/>
                  </a:lnTo>
                  <a:lnTo>
                    <a:pt x="78" y="390"/>
                  </a:lnTo>
                  <a:lnTo>
                    <a:pt x="78" y="396"/>
                  </a:lnTo>
                  <a:lnTo>
                    <a:pt x="78" y="402"/>
                  </a:lnTo>
                  <a:lnTo>
                    <a:pt x="78" y="408"/>
                  </a:lnTo>
                  <a:lnTo>
                    <a:pt x="78" y="414"/>
                  </a:lnTo>
                  <a:lnTo>
                    <a:pt x="78" y="420"/>
                  </a:lnTo>
                  <a:lnTo>
                    <a:pt x="72" y="420"/>
                  </a:lnTo>
                  <a:lnTo>
                    <a:pt x="72" y="426"/>
                  </a:lnTo>
                  <a:lnTo>
                    <a:pt x="72" y="432"/>
                  </a:lnTo>
                  <a:lnTo>
                    <a:pt x="72" y="438"/>
                  </a:lnTo>
                  <a:lnTo>
                    <a:pt x="66" y="438"/>
                  </a:lnTo>
                  <a:lnTo>
                    <a:pt x="66" y="444"/>
                  </a:lnTo>
                  <a:lnTo>
                    <a:pt x="66" y="450"/>
                  </a:lnTo>
                  <a:lnTo>
                    <a:pt x="66" y="456"/>
                  </a:lnTo>
                  <a:lnTo>
                    <a:pt x="60" y="456"/>
                  </a:lnTo>
                  <a:lnTo>
                    <a:pt x="66" y="456"/>
                  </a:lnTo>
                  <a:lnTo>
                    <a:pt x="60" y="462"/>
                  </a:lnTo>
                  <a:lnTo>
                    <a:pt x="60" y="468"/>
                  </a:lnTo>
                  <a:lnTo>
                    <a:pt x="60" y="474"/>
                  </a:lnTo>
                  <a:lnTo>
                    <a:pt x="60" y="480"/>
                  </a:lnTo>
                  <a:lnTo>
                    <a:pt x="60" y="486"/>
                  </a:lnTo>
                  <a:lnTo>
                    <a:pt x="60" y="492"/>
                  </a:lnTo>
                  <a:lnTo>
                    <a:pt x="60" y="498"/>
                  </a:lnTo>
                  <a:lnTo>
                    <a:pt x="66" y="498"/>
                  </a:lnTo>
                  <a:lnTo>
                    <a:pt x="66" y="504"/>
                  </a:lnTo>
                  <a:lnTo>
                    <a:pt x="66" y="510"/>
                  </a:lnTo>
                  <a:lnTo>
                    <a:pt x="72" y="510"/>
                  </a:lnTo>
                  <a:lnTo>
                    <a:pt x="78" y="516"/>
                  </a:lnTo>
                  <a:lnTo>
                    <a:pt x="78" y="522"/>
                  </a:lnTo>
                  <a:lnTo>
                    <a:pt x="84" y="522"/>
                  </a:lnTo>
                  <a:lnTo>
                    <a:pt x="84" y="528"/>
                  </a:lnTo>
                  <a:lnTo>
                    <a:pt x="84" y="534"/>
                  </a:lnTo>
                  <a:lnTo>
                    <a:pt x="84" y="540"/>
                  </a:lnTo>
                  <a:lnTo>
                    <a:pt x="84" y="546"/>
                  </a:lnTo>
                  <a:lnTo>
                    <a:pt x="90" y="546"/>
                  </a:lnTo>
                  <a:lnTo>
                    <a:pt x="90" y="552"/>
                  </a:lnTo>
                  <a:lnTo>
                    <a:pt x="96" y="552"/>
                  </a:lnTo>
                  <a:lnTo>
                    <a:pt x="102" y="552"/>
                  </a:lnTo>
                  <a:lnTo>
                    <a:pt x="102" y="558"/>
                  </a:lnTo>
                  <a:lnTo>
                    <a:pt x="102" y="564"/>
                  </a:lnTo>
                  <a:lnTo>
                    <a:pt x="102" y="570"/>
                  </a:lnTo>
                  <a:lnTo>
                    <a:pt x="108" y="570"/>
                  </a:lnTo>
                  <a:lnTo>
                    <a:pt x="108" y="576"/>
                  </a:lnTo>
                  <a:lnTo>
                    <a:pt x="108" y="582"/>
                  </a:lnTo>
                  <a:lnTo>
                    <a:pt x="108" y="576"/>
                  </a:lnTo>
                  <a:lnTo>
                    <a:pt x="108" y="582"/>
                  </a:lnTo>
                  <a:lnTo>
                    <a:pt x="108" y="588"/>
                  </a:lnTo>
                  <a:lnTo>
                    <a:pt x="102" y="588"/>
                  </a:lnTo>
                  <a:lnTo>
                    <a:pt x="102" y="594"/>
                  </a:lnTo>
                  <a:lnTo>
                    <a:pt x="102" y="600"/>
                  </a:lnTo>
                  <a:lnTo>
                    <a:pt x="102" y="606"/>
                  </a:lnTo>
                  <a:lnTo>
                    <a:pt x="102" y="600"/>
                  </a:lnTo>
                  <a:lnTo>
                    <a:pt x="102" y="594"/>
                  </a:lnTo>
                  <a:lnTo>
                    <a:pt x="102" y="588"/>
                  </a:lnTo>
                  <a:lnTo>
                    <a:pt x="96" y="588"/>
                  </a:lnTo>
                  <a:lnTo>
                    <a:pt x="96" y="582"/>
                  </a:lnTo>
                  <a:lnTo>
                    <a:pt x="96" y="576"/>
                  </a:lnTo>
                  <a:lnTo>
                    <a:pt x="96" y="570"/>
                  </a:lnTo>
                  <a:lnTo>
                    <a:pt x="90" y="570"/>
                  </a:lnTo>
                  <a:lnTo>
                    <a:pt x="90" y="564"/>
                  </a:lnTo>
                  <a:lnTo>
                    <a:pt x="84" y="564"/>
                  </a:lnTo>
                  <a:lnTo>
                    <a:pt x="78" y="564"/>
                  </a:lnTo>
                  <a:lnTo>
                    <a:pt x="72" y="564"/>
                  </a:lnTo>
                  <a:lnTo>
                    <a:pt x="72" y="558"/>
                  </a:lnTo>
                  <a:lnTo>
                    <a:pt x="66" y="558"/>
                  </a:lnTo>
                  <a:lnTo>
                    <a:pt x="60" y="558"/>
                  </a:lnTo>
                  <a:lnTo>
                    <a:pt x="60" y="564"/>
                  </a:lnTo>
                  <a:lnTo>
                    <a:pt x="54" y="564"/>
                  </a:lnTo>
                  <a:lnTo>
                    <a:pt x="54" y="570"/>
                  </a:lnTo>
                  <a:lnTo>
                    <a:pt x="54" y="576"/>
                  </a:lnTo>
                  <a:lnTo>
                    <a:pt x="48" y="582"/>
                  </a:lnTo>
                  <a:lnTo>
                    <a:pt x="48" y="588"/>
                  </a:lnTo>
                  <a:lnTo>
                    <a:pt x="48" y="594"/>
                  </a:lnTo>
                  <a:lnTo>
                    <a:pt x="48" y="600"/>
                  </a:lnTo>
                  <a:lnTo>
                    <a:pt x="42" y="600"/>
                  </a:lnTo>
                  <a:lnTo>
                    <a:pt x="42" y="606"/>
                  </a:lnTo>
                  <a:lnTo>
                    <a:pt x="42" y="612"/>
                  </a:lnTo>
                  <a:lnTo>
                    <a:pt x="36" y="612"/>
                  </a:lnTo>
                  <a:lnTo>
                    <a:pt x="36" y="606"/>
                  </a:lnTo>
                  <a:lnTo>
                    <a:pt x="30" y="606"/>
                  </a:lnTo>
                  <a:lnTo>
                    <a:pt x="30" y="600"/>
                  </a:lnTo>
                  <a:lnTo>
                    <a:pt x="30" y="594"/>
                  </a:lnTo>
                  <a:lnTo>
                    <a:pt x="30" y="588"/>
                  </a:lnTo>
                  <a:lnTo>
                    <a:pt x="30" y="582"/>
                  </a:lnTo>
                  <a:lnTo>
                    <a:pt x="30" y="576"/>
                  </a:lnTo>
                  <a:lnTo>
                    <a:pt x="24" y="570"/>
                  </a:lnTo>
                  <a:lnTo>
                    <a:pt x="30" y="570"/>
                  </a:lnTo>
                  <a:lnTo>
                    <a:pt x="24" y="570"/>
                  </a:lnTo>
                  <a:lnTo>
                    <a:pt x="24" y="564"/>
                  </a:lnTo>
                  <a:lnTo>
                    <a:pt x="30" y="564"/>
                  </a:lnTo>
                  <a:lnTo>
                    <a:pt x="30" y="558"/>
                  </a:lnTo>
                  <a:lnTo>
                    <a:pt x="30" y="552"/>
                  </a:lnTo>
                  <a:lnTo>
                    <a:pt x="36" y="546"/>
                  </a:lnTo>
                  <a:lnTo>
                    <a:pt x="36" y="540"/>
                  </a:lnTo>
                  <a:lnTo>
                    <a:pt x="36" y="534"/>
                  </a:lnTo>
                  <a:lnTo>
                    <a:pt x="36" y="528"/>
                  </a:lnTo>
                  <a:lnTo>
                    <a:pt x="36" y="522"/>
                  </a:lnTo>
                  <a:lnTo>
                    <a:pt x="36" y="516"/>
                  </a:lnTo>
                  <a:lnTo>
                    <a:pt x="36" y="510"/>
                  </a:lnTo>
                  <a:lnTo>
                    <a:pt x="36" y="504"/>
                  </a:lnTo>
                  <a:lnTo>
                    <a:pt x="36" y="498"/>
                  </a:lnTo>
                  <a:lnTo>
                    <a:pt x="36" y="492"/>
                  </a:lnTo>
                  <a:lnTo>
                    <a:pt x="36" y="486"/>
                  </a:lnTo>
                  <a:lnTo>
                    <a:pt x="42" y="486"/>
                  </a:lnTo>
                  <a:lnTo>
                    <a:pt x="42" y="480"/>
                  </a:lnTo>
                  <a:lnTo>
                    <a:pt x="42" y="474"/>
                  </a:lnTo>
                  <a:lnTo>
                    <a:pt x="42" y="468"/>
                  </a:lnTo>
                  <a:lnTo>
                    <a:pt x="42" y="462"/>
                  </a:lnTo>
                  <a:lnTo>
                    <a:pt x="42" y="456"/>
                  </a:lnTo>
                  <a:lnTo>
                    <a:pt x="42" y="450"/>
                  </a:lnTo>
                  <a:lnTo>
                    <a:pt x="42" y="444"/>
                  </a:lnTo>
                  <a:lnTo>
                    <a:pt x="36" y="444"/>
                  </a:lnTo>
                  <a:lnTo>
                    <a:pt x="36" y="438"/>
                  </a:lnTo>
                  <a:lnTo>
                    <a:pt x="30" y="432"/>
                  </a:lnTo>
                  <a:lnTo>
                    <a:pt x="30" y="426"/>
                  </a:lnTo>
                  <a:lnTo>
                    <a:pt x="30" y="420"/>
                  </a:lnTo>
                  <a:lnTo>
                    <a:pt x="30" y="414"/>
                  </a:lnTo>
                  <a:lnTo>
                    <a:pt x="36" y="414"/>
                  </a:lnTo>
                  <a:lnTo>
                    <a:pt x="36" y="408"/>
                  </a:lnTo>
                  <a:lnTo>
                    <a:pt x="36" y="402"/>
                  </a:lnTo>
                  <a:lnTo>
                    <a:pt x="36" y="396"/>
                  </a:lnTo>
                  <a:lnTo>
                    <a:pt x="36" y="390"/>
                  </a:lnTo>
                  <a:lnTo>
                    <a:pt x="42" y="390"/>
                  </a:lnTo>
                  <a:lnTo>
                    <a:pt x="42" y="384"/>
                  </a:lnTo>
                  <a:lnTo>
                    <a:pt x="36" y="384"/>
                  </a:lnTo>
                  <a:lnTo>
                    <a:pt x="36" y="378"/>
                  </a:lnTo>
                  <a:lnTo>
                    <a:pt x="42" y="378"/>
                  </a:lnTo>
                  <a:lnTo>
                    <a:pt x="42" y="372"/>
                  </a:lnTo>
                  <a:lnTo>
                    <a:pt x="42" y="366"/>
                  </a:lnTo>
                  <a:lnTo>
                    <a:pt x="42" y="360"/>
                  </a:lnTo>
                  <a:lnTo>
                    <a:pt x="42" y="354"/>
                  </a:lnTo>
                  <a:lnTo>
                    <a:pt x="42" y="348"/>
                  </a:lnTo>
                  <a:lnTo>
                    <a:pt x="42" y="342"/>
                  </a:lnTo>
                  <a:lnTo>
                    <a:pt x="42" y="336"/>
                  </a:lnTo>
                  <a:lnTo>
                    <a:pt x="42" y="330"/>
                  </a:lnTo>
                  <a:lnTo>
                    <a:pt x="42" y="324"/>
                  </a:lnTo>
                  <a:lnTo>
                    <a:pt x="42" y="318"/>
                  </a:lnTo>
                  <a:lnTo>
                    <a:pt x="42" y="312"/>
                  </a:lnTo>
                  <a:lnTo>
                    <a:pt x="42" y="306"/>
                  </a:lnTo>
                  <a:lnTo>
                    <a:pt x="42" y="300"/>
                  </a:lnTo>
                  <a:lnTo>
                    <a:pt x="36" y="300"/>
                  </a:lnTo>
                  <a:lnTo>
                    <a:pt x="36" y="294"/>
                  </a:lnTo>
                  <a:lnTo>
                    <a:pt x="36" y="288"/>
                  </a:lnTo>
                  <a:lnTo>
                    <a:pt x="36" y="282"/>
                  </a:lnTo>
                  <a:lnTo>
                    <a:pt x="42" y="282"/>
                  </a:lnTo>
                  <a:lnTo>
                    <a:pt x="42" y="276"/>
                  </a:lnTo>
                  <a:lnTo>
                    <a:pt x="42" y="270"/>
                  </a:lnTo>
                  <a:lnTo>
                    <a:pt x="42" y="264"/>
                  </a:lnTo>
                  <a:lnTo>
                    <a:pt x="48" y="264"/>
                  </a:lnTo>
                  <a:lnTo>
                    <a:pt x="48" y="258"/>
                  </a:lnTo>
                  <a:lnTo>
                    <a:pt x="48" y="252"/>
                  </a:lnTo>
                  <a:lnTo>
                    <a:pt x="48" y="246"/>
                  </a:lnTo>
                  <a:lnTo>
                    <a:pt x="42" y="246"/>
                  </a:lnTo>
                  <a:lnTo>
                    <a:pt x="42" y="240"/>
                  </a:lnTo>
                  <a:lnTo>
                    <a:pt x="42" y="234"/>
                  </a:lnTo>
                  <a:lnTo>
                    <a:pt x="42" y="228"/>
                  </a:lnTo>
                  <a:lnTo>
                    <a:pt x="36" y="228"/>
                  </a:lnTo>
                  <a:lnTo>
                    <a:pt x="42" y="228"/>
                  </a:lnTo>
                  <a:lnTo>
                    <a:pt x="36" y="228"/>
                  </a:lnTo>
                  <a:lnTo>
                    <a:pt x="36" y="222"/>
                  </a:lnTo>
                  <a:lnTo>
                    <a:pt x="30" y="216"/>
                  </a:lnTo>
                  <a:lnTo>
                    <a:pt x="36" y="216"/>
                  </a:lnTo>
                  <a:lnTo>
                    <a:pt x="30" y="216"/>
                  </a:lnTo>
                  <a:lnTo>
                    <a:pt x="36" y="216"/>
                  </a:lnTo>
                  <a:lnTo>
                    <a:pt x="30" y="216"/>
                  </a:lnTo>
                  <a:lnTo>
                    <a:pt x="30" y="210"/>
                  </a:lnTo>
                  <a:lnTo>
                    <a:pt x="30" y="216"/>
                  </a:lnTo>
                  <a:lnTo>
                    <a:pt x="30" y="210"/>
                  </a:lnTo>
                  <a:lnTo>
                    <a:pt x="24" y="210"/>
                  </a:lnTo>
                  <a:lnTo>
                    <a:pt x="24" y="204"/>
                  </a:lnTo>
                  <a:lnTo>
                    <a:pt x="18" y="204"/>
                  </a:lnTo>
                  <a:lnTo>
                    <a:pt x="24" y="204"/>
                  </a:lnTo>
                  <a:lnTo>
                    <a:pt x="24" y="210"/>
                  </a:lnTo>
                  <a:lnTo>
                    <a:pt x="24" y="204"/>
                  </a:lnTo>
                  <a:lnTo>
                    <a:pt x="30" y="204"/>
                  </a:lnTo>
                  <a:lnTo>
                    <a:pt x="24" y="204"/>
                  </a:lnTo>
                  <a:lnTo>
                    <a:pt x="24" y="198"/>
                  </a:lnTo>
                  <a:lnTo>
                    <a:pt x="18" y="198"/>
                  </a:lnTo>
                  <a:lnTo>
                    <a:pt x="18" y="192"/>
                  </a:lnTo>
                  <a:lnTo>
                    <a:pt x="18" y="186"/>
                  </a:lnTo>
                  <a:lnTo>
                    <a:pt x="18" y="180"/>
                  </a:lnTo>
                  <a:lnTo>
                    <a:pt x="18" y="174"/>
                  </a:lnTo>
                  <a:lnTo>
                    <a:pt x="18" y="168"/>
                  </a:lnTo>
                  <a:lnTo>
                    <a:pt x="18" y="162"/>
                  </a:lnTo>
                  <a:lnTo>
                    <a:pt x="18" y="156"/>
                  </a:lnTo>
                  <a:lnTo>
                    <a:pt x="24" y="156"/>
                  </a:lnTo>
                  <a:lnTo>
                    <a:pt x="24" y="150"/>
                  </a:lnTo>
                  <a:lnTo>
                    <a:pt x="24" y="144"/>
                  </a:lnTo>
                  <a:lnTo>
                    <a:pt x="30" y="144"/>
                  </a:lnTo>
                  <a:lnTo>
                    <a:pt x="24" y="144"/>
                  </a:lnTo>
                  <a:lnTo>
                    <a:pt x="24" y="138"/>
                  </a:lnTo>
                  <a:lnTo>
                    <a:pt x="30" y="138"/>
                  </a:lnTo>
                  <a:lnTo>
                    <a:pt x="24" y="138"/>
                  </a:lnTo>
                  <a:lnTo>
                    <a:pt x="30" y="132"/>
                  </a:lnTo>
                  <a:lnTo>
                    <a:pt x="24" y="132"/>
                  </a:lnTo>
                  <a:lnTo>
                    <a:pt x="30" y="132"/>
                  </a:lnTo>
                  <a:lnTo>
                    <a:pt x="30" y="126"/>
                  </a:lnTo>
                  <a:lnTo>
                    <a:pt x="30" y="120"/>
                  </a:lnTo>
                  <a:lnTo>
                    <a:pt x="30" y="114"/>
                  </a:lnTo>
                  <a:lnTo>
                    <a:pt x="30" y="108"/>
                  </a:lnTo>
                  <a:lnTo>
                    <a:pt x="30" y="102"/>
                  </a:lnTo>
                  <a:lnTo>
                    <a:pt x="30" y="96"/>
                  </a:lnTo>
                  <a:lnTo>
                    <a:pt x="24" y="96"/>
                  </a:lnTo>
                  <a:lnTo>
                    <a:pt x="24" y="90"/>
                  </a:lnTo>
                  <a:lnTo>
                    <a:pt x="24" y="84"/>
                  </a:lnTo>
                  <a:lnTo>
                    <a:pt x="24" y="78"/>
                  </a:lnTo>
                  <a:lnTo>
                    <a:pt x="30" y="78"/>
                  </a:lnTo>
                  <a:lnTo>
                    <a:pt x="36" y="78"/>
                  </a:lnTo>
                  <a:lnTo>
                    <a:pt x="36" y="72"/>
                  </a:lnTo>
                  <a:lnTo>
                    <a:pt x="42" y="72"/>
                  </a:lnTo>
                  <a:lnTo>
                    <a:pt x="48" y="72"/>
                  </a:lnTo>
                  <a:lnTo>
                    <a:pt x="48" y="78"/>
                  </a:lnTo>
                  <a:lnTo>
                    <a:pt x="48" y="84"/>
                  </a:lnTo>
                  <a:lnTo>
                    <a:pt x="54" y="84"/>
                  </a:lnTo>
                  <a:lnTo>
                    <a:pt x="54" y="78"/>
                  </a:lnTo>
                  <a:lnTo>
                    <a:pt x="60" y="78"/>
                  </a:lnTo>
                  <a:lnTo>
                    <a:pt x="60" y="72"/>
                  </a:lnTo>
                  <a:lnTo>
                    <a:pt x="66" y="72"/>
                  </a:lnTo>
                  <a:lnTo>
                    <a:pt x="66" y="66"/>
                  </a:lnTo>
                  <a:lnTo>
                    <a:pt x="60" y="66"/>
                  </a:lnTo>
                  <a:lnTo>
                    <a:pt x="60" y="72"/>
                  </a:lnTo>
                  <a:lnTo>
                    <a:pt x="60" y="66"/>
                  </a:lnTo>
                  <a:lnTo>
                    <a:pt x="60" y="60"/>
                  </a:lnTo>
                  <a:lnTo>
                    <a:pt x="66" y="60"/>
                  </a:lnTo>
                  <a:lnTo>
                    <a:pt x="66" y="66"/>
                  </a:lnTo>
                  <a:lnTo>
                    <a:pt x="66" y="60"/>
                  </a:lnTo>
                  <a:lnTo>
                    <a:pt x="66" y="66"/>
                  </a:lnTo>
                  <a:lnTo>
                    <a:pt x="66" y="60"/>
                  </a:lnTo>
                  <a:lnTo>
                    <a:pt x="72" y="60"/>
                  </a:lnTo>
                  <a:lnTo>
                    <a:pt x="72" y="54"/>
                  </a:lnTo>
                  <a:lnTo>
                    <a:pt x="72" y="48"/>
                  </a:lnTo>
                  <a:lnTo>
                    <a:pt x="66" y="48"/>
                  </a:lnTo>
                  <a:lnTo>
                    <a:pt x="66" y="54"/>
                  </a:lnTo>
                  <a:lnTo>
                    <a:pt x="66" y="60"/>
                  </a:lnTo>
                  <a:lnTo>
                    <a:pt x="60" y="60"/>
                  </a:lnTo>
                  <a:lnTo>
                    <a:pt x="60" y="54"/>
                  </a:lnTo>
                  <a:lnTo>
                    <a:pt x="66" y="48"/>
                  </a:lnTo>
                  <a:lnTo>
                    <a:pt x="66" y="42"/>
                  </a:lnTo>
                  <a:lnTo>
                    <a:pt x="66" y="36"/>
                  </a:lnTo>
                  <a:lnTo>
                    <a:pt x="60" y="36"/>
                  </a:lnTo>
                  <a:lnTo>
                    <a:pt x="60" y="30"/>
                  </a:lnTo>
                  <a:lnTo>
                    <a:pt x="60" y="24"/>
                  </a:lnTo>
                  <a:lnTo>
                    <a:pt x="54" y="24"/>
                  </a:lnTo>
                  <a:lnTo>
                    <a:pt x="54" y="18"/>
                  </a:lnTo>
                  <a:lnTo>
                    <a:pt x="48" y="12"/>
                  </a:lnTo>
                  <a:lnTo>
                    <a:pt x="54" y="12"/>
                  </a:lnTo>
                  <a:lnTo>
                    <a:pt x="60" y="12"/>
                  </a:lnTo>
                  <a:lnTo>
                    <a:pt x="60" y="18"/>
                  </a:lnTo>
                  <a:lnTo>
                    <a:pt x="60" y="12"/>
                  </a:lnTo>
                  <a:lnTo>
                    <a:pt x="60" y="18"/>
                  </a:lnTo>
                  <a:lnTo>
                    <a:pt x="60" y="12"/>
                  </a:lnTo>
                  <a:lnTo>
                    <a:pt x="66" y="12"/>
                  </a:lnTo>
                  <a:lnTo>
                    <a:pt x="60" y="12"/>
                  </a:lnTo>
                  <a:lnTo>
                    <a:pt x="66" y="12"/>
                  </a:lnTo>
                  <a:lnTo>
                    <a:pt x="60" y="12"/>
                  </a:lnTo>
                  <a:lnTo>
                    <a:pt x="66" y="12"/>
                  </a:lnTo>
                  <a:lnTo>
                    <a:pt x="66" y="6"/>
                  </a:lnTo>
                  <a:lnTo>
                    <a:pt x="66" y="0"/>
                  </a:lnTo>
                  <a:lnTo>
                    <a:pt x="66" y="6"/>
                  </a:lnTo>
                  <a:lnTo>
                    <a:pt x="72" y="6"/>
                  </a:lnTo>
                  <a:lnTo>
                    <a:pt x="72" y="12"/>
                  </a:lnTo>
                  <a:lnTo>
                    <a:pt x="78" y="18"/>
                  </a:lnTo>
                  <a:lnTo>
                    <a:pt x="78" y="24"/>
                  </a:lnTo>
                  <a:lnTo>
                    <a:pt x="78" y="30"/>
                  </a:lnTo>
                  <a:lnTo>
                    <a:pt x="78" y="36"/>
                  </a:lnTo>
                  <a:lnTo>
                    <a:pt x="78" y="42"/>
                  </a:lnTo>
                  <a:lnTo>
                    <a:pt x="72" y="42"/>
                  </a:lnTo>
                  <a:lnTo>
                    <a:pt x="78" y="42"/>
                  </a:lnTo>
                  <a:lnTo>
                    <a:pt x="72" y="42"/>
                  </a:lnTo>
                  <a:lnTo>
                    <a:pt x="72" y="48"/>
                  </a:lnTo>
                  <a:lnTo>
                    <a:pt x="72" y="42"/>
                  </a:lnTo>
                  <a:lnTo>
                    <a:pt x="78" y="42"/>
                  </a:lnTo>
                  <a:lnTo>
                    <a:pt x="72" y="48"/>
                  </a:lnTo>
                  <a:lnTo>
                    <a:pt x="78" y="42"/>
                  </a:lnTo>
                  <a:lnTo>
                    <a:pt x="78" y="48"/>
                  </a:lnTo>
                  <a:lnTo>
                    <a:pt x="78" y="54"/>
                  </a:lnTo>
                  <a:lnTo>
                    <a:pt x="78" y="60"/>
                  </a:lnTo>
                  <a:lnTo>
                    <a:pt x="84" y="60"/>
                  </a:lnTo>
                  <a:close/>
                  <a:moveTo>
                    <a:pt x="258" y="708"/>
                  </a:moveTo>
                  <a:lnTo>
                    <a:pt x="258" y="702"/>
                  </a:lnTo>
                  <a:lnTo>
                    <a:pt x="264" y="702"/>
                  </a:lnTo>
                  <a:lnTo>
                    <a:pt x="264" y="696"/>
                  </a:lnTo>
                  <a:lnTo>
                    <a:pt x="270" y="696"/>
                  </a:lnTo>
                  <a:lnTo>
                    <a:pt x="270" y="690"/>
                  </a:lnTo>
                  <a:lnTo>
                    <a:pt x="276" y="690"/>
                  </a:lnTo>
                  <a:lnTo>
                    <a:pt x="276" y="684"/>
                  </a:lnTo>
                  <a:lnTo>
                    <a:pt x="270" y="684"/>
                  </a:lnTo>
                  <a:lnTo>
                    <a:pt x="276" y="684"/>
                  </a:lnTo>
                  <a:lnTo>
                    <a:pt x="276" y="678"/>
                  </a:lnTo>
                  <a:lnTo>
                    <a:pt x="282" y="678"/>
                  </a:lnTo>
                  <a:lnTo>
                    <a:pt x="282" y="672"/>
                  </a:lnTo>
                  <a:lnTo>
                    <a:pt x="288" y="672"/>
                  </a:lnTo>
                  <a:lnTo>
                    <a:pt x="288" y="666"/>
                  </a:lnTo>
                  <a:lnTo>
                    <a:pt x="294" y="666"/>
                  </a:lnTo>
                  <a:lnTo>
                    <a:pt x="294" y="660"/>
                  </a:lnTo>
                  <a:lnTo>
                    <a:pt x="300" y="660"/>
                  </a:lnTo>
                  <a:lnTo>
                    <a:pt x="306" y="660"/>
                  </a:lnTo>
                  <a:lnTo>
                    <a:pt x="306" y="654"/>
                  </a:lnTo>
                  <a:lnTo>
                    <a:pt x="306" y="648"/>
                  </a:lnTo>
                  <a:lnTo>
                    <a:pt x="306" y="642"/>
                  </a:lnTo>
                  <a:lnTo>
                    <a:pt x="306" y="648"/>
                  </a:lnTo>
                  <a:lnTo>
                    <a:pt x="312" y="648"/>
                  </a:lnTo>
                  <a:lnTo>
                    <a:pt x="312" y="654"/>
                  </a:lnTo>
                  <a:lnTo>
                    <a:pt x="318" y="654"/>
                  </a:lnTo>
                  <a:lnTo>
                    <a:pt x="324" y="654"/>
                  </a:lnTo>
                  <a:lnTo>
                    <a:pt x="330" y="654"/>
                  </a:lnTo>
                  <a:lnTo>
                    <a:pt x="330" y="648"/>
                  </a:lnTo>
                  <a:lnTo>
                    <a:pt x="330" y="642"/>
                  </a:lnTo>
                  <a:lnTo>
                    <a:pt x="336" y="642"/>
                  </a:lnTo>
                  <a:lnTo>
                    <a:pt x="342" y="642"/>
                  </a:lnTo>
                  <a:lnTo>
                    <a:pt x="342" y="636"/>
                  </a:lnTo>
                  <a:lnTo>
                    <a:pt x="348" y="636"/>
                  </a:lnTo>
                  <a:lnTo>
                    <a:pt x="354" y="636"/>
                  </a:lnTo>
                  <a:lnTo>
                    <a:pt x="354" y="642"/>
                  </a:lnTo>
                  <a:lnTo>
                    <a:pt x="348" y="642"/>
                  </a:lnTo>
                  <a:lnTo>
                    <a:pt x="348" y="648"/>
                  </a:lnTo>
                  <a:lnTo>
                    <a:pt x="342" y="648"/>
                  </a:lnTo>
                  <a:lnTo>
                    <a:pt x="336" y="648"/>
                  </a:lnTo>
                  <a:lnTo>
                    <a:pt x="336" y="654"/>
                  </a:lnTo>
                  <a:lnTo>
                    <a:pt x="330" y="654"/>
                  </a:lnTo>
                  <a:lnTo>
                    <a:pt x="330" y="660"/>
                  </a:lnTo>
                  <a:lnTo>
                    <a:pt x="330" y="654"/>
                  </a:lnTo>
                  <a:lnTo>
                    <a:pt x="324" y="660"/>
                  </a:lnTo>
                  <a:lnTo>
                    <a:pt x="318" y="660"/>
                  </a:lnTo>
                  <a:lnTo>
                    <a:pt x="318" y="666"/>
                  </a:lnTo>
                  <a:lnTo>
                    <a:pt x="312" y="666"/>
                  </a:lnTo>
                  <a:lnTo>
                    <a:pt x="312" y="672"/>
                  </a:lnTo>
                  <a:lnTo>
                    <a:pt x="306" y="672"/>
                  </a:lnTo>
                  <a:lnTo>
                    <a:pt x="300" y="672"/>
                  </a:lnTo>
                  <a:lnTo>
                    <a:pt x="294" y="672"/>
                  </a:lnTo>
                  <a:lnTo>
                    <a:pt x="294" y="678"/>
                  </a:lnTo>
                  <a:lnTo>
                    <a:pt x="294" y="684"/>
                  </a:lnTo>
                  <a:lnTo>
                    <a:pt x="288" y="684"/>
                  </a:lnTo>
                  <a:lnTo>
                    <a:pt x="282" y="684"/>
                  </a:lnTo>
                  <a:lnTo>
                    <a:pt x="282" y="690"/>
                  </a:lnTo>
                  <a:lnTo>
                    <a:pt x="276" y="690"/>
                  </a:lnTo>
                  <a:lnTo>
                    <a:pt x="276" y="696"/>
                  </a:lnTo>
                  <a:lnTo>
                    <a:pt x="276" y="702"/>
                  </a:lnTo>
                  <a:lnTo>
                    <a:pt x="270" y="702"/>
                  </a:lnTo>
                  <a:lnTo>
                    <a:pt x="264" y="702"/>
                  </a:lnTo>
                  <a:lnTo>
                    <a:pt x="264" y="708"/>
                  </a:lnTo>
                  <a:lnTo>
                    <a:pt x="258" y="708"/>
                  </a:lnTo>
                  <a:close/>
                  <a:moveTo>
                    <a:pt x="642" y="312"/>
                  </a:moveTo>
                  <a:lnTo>
                    <a:pt x="648" y="312"/>
                  </a:lnTo>
                  <a:lnTo>
                    <a:pt x="648" y="306"/>
                  </a:lnTo>
                  <a:lnTo>
                    <a:pt x="654" y="306"/>
                  </a:lnTo>
                  <a:lnTo>
                    <a:pt x="660" y="306"/>
                  </a:lnTo>
                  <a:lnTo>
                    <a:pt x="666" y="300"/>
                  </a:lnTo>
                  <a:lnTo>
                    <a:pt x="666" y="294"/>
                  </a:lnTo>
                  <a:lnTo>
                    <a:pt x="666" y="288"/>
                  </a:lnTo>
                  <a:lnTo>
                    <a:pt x="672" y="288"/>
                  </a:lnTo>
                  <a:lnTo>
                    <a:pt x="672" y="282"/>
                  </a:lnTo>
                  <a:lnTo>
                    <a:pt x="678" y="276"/>
                  </a:lnTo>
                  <a:lnTo>
                    <a:pt x="684" y="276"/>
                  </a:lnTo>
                  <a:lnTo>
                    <a:pt x="684" y="282"/>
                  </a:lnTo>
                  <a:lnTo>
                    <a:pt x="684" y="288"/>
                  </a:lnTo>
                  <a:lnTo>
                    <a:pt x="684" y="294"/>
                  </a:lnTo>
                  <a:lnTo>
                    <a:pt x="678" y="294"/>
                  </a:lnTo>
                  <a:lnTo>
                    <a:pt x="678" y="300"/>
                  </a:lnTo>
                  <a:lnTo>
                    <a:pt x="678" y="306"/>
                  </a:lnTo>
                  <a:lnTo>
                    <a:pt x="672" y="306"/>
                  </a:lnTo>
                  <a:lnTo>
                    <a:pt x="672" y="312"/>
                  </a:lnTo>
                  <a:lnTo>
                    <a:pt x="666" y="318"/>
                  </a:lnTo>
                  <a:lnTo>
                    <a:pt x="660" y="318"/>
                  </a:lnTo>
                  <a:lnTo>
                    <a:pt x="654" y="318"/>
                  </a:lnTo>
                  <a:lnTo>
                    <a:pt x="654" y="324"/>
                  </a:lnTo>
                  <a:lnTo>
                    <a:pt x="648" y="324"/>
                  </a:lnTo>
                  <a:lnTo>
                    <a:pt x="648" y="330"/>
                  </a:lnTo>
                  <a:lnTo>
                    <a:pt x="642" y="330"/>
                  </a:lnTo>
                  <a:lnTo>
                    <a:pt x="642" y="324"/>
                  </a:lnTo>
                  <a:lnTo>
                    <a:pt x="642" y="318"/>
                  </a:lnTo>
                  <a:lnTo>
                    <a:pt x="642" y="312"/>
                  </a:lnTo>
                  <a:close/>
                  <a:moveTo>
                    <a:pt x="192" y="744"/>
                  </a:moveTo>
                  <a:lnTo>
                    <a:pt x="198" y="744"/>
                  </a:lnTo>
                  <a:lnTo>
                    <a:pt x="198" y="738"/>
                  </a:lnTo>
                  <a:lnTo>
                    <a:pt x="204" y="738"/>
                  </a:lnTo>
                  <a:lnTo>
                    <a:pt x="204" y="732"/>
                  </a:lnTo>
                  <a:lnTo>
                    <a:pt x="210" y="732"/>
                  </a:lnTo>
                  <a:lnTo>
                    <a:pt x="204" y="732"/>
                  </a:lnTo>
                  <a:lnTo>
                    <a:pt x="204" y="726"/>
                  </a:lnTo>
                  <a:lnTo>
                    <a:pt x="210" y="726"/>
                  </a:lnTo>
                  <a:lnTo>
                    <a:pt x="210" y="720"/>
                  </a:lnTo>
                  <a:lnTo>
                    <a:pt x="216" y="720"/>
                  </a:lnTo>
                  <a:lnTo>
                    <a:pt x="216" y="714"/>
                  </a:lnTo>
                  <a:lnTo>
                    <a:pt x="222" y="708"/>
                  </a:lnTo>
                  <a:lnTo>
                    <a:pt x="222" y="702"/>
                  </a:lnTo>
                  <a:lnTo>
                    <a:pt x="228" y="702"/>
                  </a:lnTo>
                  <a:lnTo>
                    <a:pt x="228" y="708"/>
                  </a:lnTo>
                  <a:lnTo>
                    <a:pt x="234" y="708"/>
                  </a:lnTo>
                  <a:lnTo>
                    <a:pt x="240" y="708"/>
                  </a:lnTo>
                  <a:lnTo>
                    <a:pt x="246" y="708"/>
                  </a:lnTo>
                  <a:lnTo>
                    <a:pt x="240" y="714"/>
                  </a:lnTo>
                  <a:lnTo>
                    <a:pt x="234" y="714"/>
                  </a:lnTo>
                  <a:lnTo>
                    <a:pt x="234" y="720"/>
                  </a:lnTo>
                  <a:lnTo>
                    <a:pt x="228" y="720"/>
                  </a:lnTo>
                  <a:lnTo>
                    <a:pt x="222" y="720"/>
                  </a:lnTo>
                  <a:lnTo>
                    <a:pt x="222" y="726"/>
                  </a:lnTo>
                  <a:lnTo>
                    <a:pt x="216" y="726"/>
                  </a:lnTo>
                  <a:lnTo>
                    <a:pt x="216" y="732"/>
                  </a:lnTo>
                  <a:lnTo>
                    <a:pt x="210" y="732"/>
                  </a:lnTo>
                  <a:lnTo>
                    <a:pt x="216" y="732"/>
                  </a:lnTo>
                  <a:lnTo>
                    <a:pt x="210" y="732"/>
                  </a:lnTo>
                  <a:lnTo>
                    <a:pt x="210" y="738"/>
                  </a:lnTo>
                  <a:lnTo>
                    <a:pt x="204" y="738"/>
                  </a:lnTo>
                  <a:lnTo>
                    <a:pt x="204" y="744"/>
                  </a:lnTo>
                  <a:lnTo>
                    <a:pt x="198" y="744"/>
                  </a:lnTo>
                  <a:lnTo>
                    <a:pt x="198" y="750"/>
                  </a:lnTo>
                  <a:lnTo>
                    <a:pt x="198" y="756"/>
                  </a:lnTo>
                  <a:lnTo>
                    <a:pt x="198" y="750"/>
                  </a:lnTo>
                  <a:lnTo>
                    <a:pt x="192" y="750"/>
                  </a:lnTo>
                  <a:lnTo>
                    <a:pt x="192" y="756"/>
                  </a:lnTo>
                  <a:lnTo>
                    <a:pt x="192" y="750"/>
                  </a:lnTo>
                  <a:lnTo>
                    <a:pt x="192" y="744"/>
                  </a:lnTo>
                  <a:close/>
                  <a:moveTo>
                    <a:pt x="372" y="636"/>
                  </a:moveTo>
                  <a:lnTo>
                    <a:pt x="378" y="636"/>
                  </a:lnTo>
                  <a:lnTo>
                    <a:pt x="378" y="630"/>
                  </a:lnTo>
                  <a:lnTo>
                    <a:pt x="378" y="624"/>
                  </a:lnTo>
                  <a:lnTo>
                    <a:pt x="384" y="624"/>
                  </a:lnTo>
                  <a:lnTo>
                    <a:pt x="384" y="618"/>
                  </a:lnTo>
                  <a:lnTo>
                    <a:pt x="390" y="618"/>
                  </a:lnTo>
                  <a:lnTo>
                    <a:pt x="390" y="612"/>
                  </a:lnTo>
                  <a:lnTo>
                    <a:pt x="396" y="612"/>
                  </a:lnTo>
                  <a:lnTo>
                    <a:pt x="396" y="606"/>
                  </a:lnTo>
                  <a:lnTo>
                    <a:pt x="402" y="606"/>
                  </a:lnTo>
                  <a:lnTo>
                    <a:pt x="402" y="600"/>
                  </a:lnTo>
                  <a:lnTo>
                    <a:pt x="408" y="600"/>
                  </a:lnTo>
                  <a:lnTo>
                    <a:pt x="414" y="600"/>
                  </a:lnTo>
                  <a:lnTo>
                    <a:pt x="408" y="594"/>
                  </a:lnTo>
                  <a:lnTo>
                    <a:pt x="414" y="594"/>
                  </a:lnTo>
                  <a:lnTo>
                    <a:pt x="420" y="594"/>
                  </a:lnTo>
                  <a:lnTo>
                    <a:pt x="426" y="594"/>
                  </a:lnTo>
                  <a:lnTo>
                    <a:pt x="426" y="588"/>
                  </a:lnTo>
                  <a:lnTo>
                    <a:pt x="426" y="594"/>
                  </a:lnTo>
                  <a:lnTo>
                    <a:pt x="420" y="594"/>
                  </a:lnTo>
                  <a:lnTo>
                    <a:pt x="420" y="600"/>
                  </a:lnTo>
                  <a:lnTo>
                    <a:pt x="414" y="600"/>
                  </a:lnTo>
                  <a:lnTo>
                    <a:pt x="414" y="606"/>
                  </a:lnTo>
                  <a:lnTo>
                    <a:pt x="408" y="606"/>
                  </a:lnTo>
                  <a:lnTo>
                    <a:pt x="408" y="612"/>
                  </a:lnTo>
                  <a:lnTo>
                    <a:pt x="414" y="612"/>
                  </a:lnTo>
                  <a:lnTo>
                    <a:pt x="408" y="612"/>
                  </a:lnTo>
                  <a:lnTo>
                    <a:pt x="408" y="618"/>
                  </a:lnTo>
                  <a:lnTo>
                    <a:pt x="402" y="618"/>
                  </a:lnTo>
                  <a:lnTo>
                    <a:pt x="396" y="618"/>
                  </a:lnTo>
                  <a:lnTo>
                    <a:pt x="396" y="624"/>
                  </a:lnTo>
                  <a:lnTo>
                    <a:pt x="390" y="624"/>
                  </a:lnTo>
                  <a:lnTo>
                    <a:pt x="390" y="630"/>
                  </a:lnTo>
                  <a:lnTo>
                    <a:pt x="384" y="630"/>
                  </a:lnTo>
                  <a:lnTo>
                    <a:pt x="384" y="636"/>
                  </a:lnTo>
                  <a:lnTo>
                    <a:pt x="378" y="636"/>
                  </a:lnTo>
                  <a:lnTo>
                    <a:pt x="372" y="636"/>
                  </a:lnTo>
                  <a:close/>
                  <a:moveTo>
                    <a:pt x="612" y="378"/>
                  </a:moveTo>
                  <a:lnTo>
                    <a:pt x="612" y="372"/>
                  </a:lnTo>
                  <a:lnTo>
                    <a:pt x="618" y="372"/>
                  </a:lnTo>
                  <a:lnTo>
                    <a:pt x="618" y="366"/>
                  </a:lnTo>
                  <a:lnTo>
                    <a:pt x="618" y="360"/>
                  </a:lnTo>
                  <a:lnTo>
                    <a:pt x="624" y="360"/>
                  </a:lnTo>
                  <a:lnTo>
                    <a:pt x="624" y="366"/>
                  </a:lnTo>
                  <a:lnTo>
                    <a:pt x="624" y="372"/>
                  </a:lnTo>
                  <a:lnTo>
                    <a:pt x="624" y="378"/>
                  </a:lnTo>
                  <a:lnTo>
                    <a:pt x="624" y="384"/>
                  </a:lnTo>
                  <a:lnTo>
                    <a:pt x="618" y="384"/>
                  </a:lnTo>
                  <a:lnTo>
                    <a:pt x="612" y="384"/>
                  </a:lnTo>
                  <a:lnTo>
                    <a:pt x="612" y="378"/>
                  </a:lnTo>
                  <a:close/>
                  <a:moveTo>
                    <a:pt x="684" y="282"/>
                  </a:moveTo>
                  <a:lnTo>
                    <a:pt x="684" y="276"/>
                  </a:lnTo>
                  <a:lnTo>
                    <a:pt x="690" y="276"/>
                  </a:lnTo>
                  <a:lnTo>
                    <a:pt x="690" y="270"/>
                  </a:lnTo>
                  <a:lnTo>
                    <a:pt x="696" y="270"/>
                  </a:lnTo>
                  <a:lnTo>
                    <a:pt x="702" y="270"/>
                  </a:lnTo>
                  <a:lnTo>
                    <a:pt x="702" y="276"/>
                  </a:lnTo>
                  <a:lnTo>
                    <a:pt x="696" y="282"/>
                  </a:lnTo>
                  <a:lnTo>
                    <a:pt x="696" y="288"/>
                  </a:lnTo>
                  <a:lnTo>
                    <a:pt x="690" y="288"/>
                  </a:lnTo>
                  <a:lnTo>
                    <a:pt x="684" y="282"/>
                  </a:lnTo>
                  <a:close/>
                  <a:moveTo>
                    <a:pt x="480" y="552"/>
                  </a:moveTo>
                  <a:lnTo>
                    <a:pt x="486" y="552"/>
                  </a:lnTo>
                  <a:lnTo>
                    <a:pt x="486" y="546"/>
                  </a:lnTo>
                  <a:lnTo>
                    <a:pt x="492" y="546"/>
                  </a:lnTo>
                  <a:lnTo>
                    <a:pt x="492" y="540"/>
                  </a:lnTo>
                  <a:lnTo>
                    <a:pt x="498" y="540"/>
                  </a:lnTo>
                  <a:lnTo>
                    <a:pt x="498" y="534"/>
                  </a:lnTo>
                  <a:lnTo>
                    <a:pt x="504" y="528"/>
                  </a:lnTo>
                  <a:lnTo>
                    <a:pt x="504" y="534"/>
                  </a:lnTo>
                  <a:lnTo>
                    <a:pt x="504" y="528"/>
                  </a:lnTo>
                  <a:lnTo>
                    <a:pt x="510" y="528"/>
                  </a:lnTo>
                  <a:lnTo>
                    <a:pt x="504" y="528"/>
                  </a:lnTo>
                  <a:lnTo>
                    <a:pt x="504" y="534"/>
                  </a:lnTo>
                  <a:lnTo>
                    <a:pt x="498" y="540"/>
                  </a:lnTo>
                  <a:lnTo>
                    <a:pt x="504" y="540"/>
                  </a:lnTo>
                  <a:lnTo>
                    <a:pt x="498" y="540"/>
                  </a:lnTo>
                  <a:lnTo>
                    <a:pt x="498" y="546"/>
                  </a:lnTo>
                  <a:lnTo>
                    <a:pt x="492" y="546"/>
                  </a:lnTo>
                  <a:lnTo>
                    <a:pt x="492" y="552"/>
                  </a:lnTo>
                  <a:lnTo>
                    <a:pt x="486" y="552"/>
                  </a:lnTo>
                  <a:lnTo>
                    <a:pt x="486" y="558"/>
                  </a:lnTo>
                  <a:lnTo>
                    <a:pt x="480" y="552"/>
                  </a:lnTo>
                  <a:close/>
                  <a:moveTo>
                    <a:pt x="246" y="750"/>
                  </a:moveTo>
                  <a:lnTo>
                    <a:pt x="246" y="744"/>
                  </a:lnTo>
                  <a:lnTo>
                    <a:pt x="252" y="744"/>
                  </a:lnTo>
                  <a:lnTo>
                    <a:pt x="258" y="744"/>
                  </a:lnTo>
                  <a:lnTo>
                    <a:pt x="252" y="744"/>
                  </a:lnTo>
                  <a:lnTo>
                    <a:pt x="258" y="744"/>
                  </a:lnTo>
                  <a:lnTo>
                    <a:pt x="258" y="750"/>
                  </a:lnTo>
                  <a:lnTo>
                    <a:pt x="252" y="750"/>
                  </a:lnTo>
                  <a:lnTo>
                    <a:pt x="258" y="750"/>
                  </a:lnTo>
                  <a:lnTo>
                    <a:pt x="252" y="750"/>
                  </a:lnTo>
                  <a:lnTo>
                    <a:pt x="252" y="756"/>
                  </a:lnTo>
                  <a:lnTo>
                    <a:pt x="246" y="756"/>
                  </a:lnTo>
                  <a:lnTo>
                    <a:pt x="246" y="750"/>
                  </a:lnTo>
                  <a:close/>
                  <a:moveTo>
                    <a:pt x="654" y="270"/>
                  </a:moveTo>
                  <a:lnTo>
                    <a:pt x="654" y="264"/>
                  </a:lnTo>
                  <a:lnTo>
                    <a:pt x="660" y="264"/>
                  </a:lnTo>
                  <a:lnTo>
                    <a:pt x="660" y="270"/>
                  </a:lnTo>
                  <a:lnTo>
                    <a:pt x="660" y="276"/>
                  </a:lnTo>
                  <a:lnTo>
                    <a:pt x="654" y="276"/>
                  </a:lnTo>
                  <a:lnTo>
                    <a:pt x="654" y="270"/>
                  </a:lnTo>
                  <a:close/>
                  <a:moveTo>
                    <a:pt x="582" y="420"/>
                  </a:moveTo>
                  <a:lnTo>
                    <a:pt x="588" y="420"/>
                  </a:lnTo>
                  <a:lnTo>
                    <a:pt x="588" y="414"/>
                  </a:lnTo>
                  <a:lnTo>
                    <a:pt x="588" y="408"/>
                  </a:lnTo>
                  <a:lnTo>
                    <a:pt x="594" y="408"/>
                  </a:lnTo>
                  <a:lnTo>
                    <a:pt x="594" y="414"/>
                  </a:lnTo>
                  <a:lnTo>
                    <a:pt x="588" y="414"/>
                  </a:lnTo>
                  <a:lnTo>
                    <a:pt x="588" y="420"/>
                  </a:lnTo>
                  <a:lnTo>
                    <a:pt x="582" y="420"/>
                  </a:lnTo>
                  <a:close/>
                  <a:moveTo>
                    <a:pt x="606" y="390"/>
                  </a:moveTo>
                  <a:lnTo>
                    <a:pt x="612" y="390"/>
                  </a:lnTo>
                  <a:lnTo>
                    <a:pt x="612" y="396"/>
                  </a:lnTo>
                  <a:lnTo>
                    <a:pt x="606" y="396"/>
                  </a:lnTo>
                  <a:lnTo>
                    <a:pt x="606" y="390"/>
                  </a:lnTo>
                  <a:close/>
                  <a:moveTo>
                    <a:pt x="510" y="516"/>
                  </a:moveTo>
                  <a:lnTo>
                    <a:pt x="516" y="516"/>
                  </a:lnTo>
                  <a:lnTo>
                    <a:pt x="516" y="522"/>
                  </a:lnTo>
                  <a:lnTo>
                    <a:pt x="516" y="516"/>
                  </a:lnTo>
                  <a:lnTo>
                    <a:pt x="510" y="516"/>
                  </a:lnTo>
                  <a:lnTo>
                    <a:pt x="516" y="516"/>
                  </a:lnTo>
                  <a:lnTo>
                    <a:pt x="510" y="516"/>
                  </a:lnTo>
                  <a:close/>
                  <a:moveTo>
                    <a:pt x="540" y="486"/>
                  </a:moveTo>
                  <a:lnTo>
                    <a:pt x="540" y="492"/>
                  </a:lnTo>
                  <a:lnTo>
                    <a:pt x="540" y="486"/>
                  </a:lnTo>
                  <a:close/>
                  <a:moveTo>
                    <a:pt x="222" y="768"/>
                  </a:moveTo>
                  <a:lnTo>
                    <a:pt x="222" y="762"/>
                  </a:lnTo>
                  <a:lnTo>
                    <a:pt x="228" y="762"/>
                  </a:lnTo>
                  <a:lnTo>
                    <a:pt x="228" y="768"/>
                  </a:lnTo>
                  <a:lnTo>
                    <a:pt x="222" y="768"/>
                  </a:lnTo>
                  <a:close/>
                  <a:moveTo>
                    <a:pt x="600" y="348"/>
                  </a:moveTo>
                  <a:lnTo>
                    <a:pt x="606" y="348"/>
                  </a:lnTo>
                  <a:lnTo>
                    <a:pt x="606" y="342"/>
                  </a:lnTo>
                  <a:lnTo>
                    <a:pt x="606" y="348"/>
                  </a:lnTo>
                  <a:lnTo>
                    <a:pt x="606" y="354"/>
                  </a:lnTo>
                  <a:lnTo>
                    <a:pt x="606" y="348"/>
                  </a:lnTo>
                  <a:lnTo>
                    <a:pt x="600" y="348"/>
                  </a:lnTo>
                  <a:close/>
                  <a:moveTo>
                    <a:pt x="546" y="462"/>
                  </a:moveTo>
                  <a:lnTo>
                    <a:pt x="552" y="462"/>
                  </a:lnTo>
                  <a:lnTo>
                    <a:pt x="552" y="468"/>
                  </a:lnTo>
                  <a:lnTo>
                    <a:pt x="546" y="468"/>
                  </a:lnTo>
                  <a:lnTo>
                    <a:pt x="546" y="462"/>
                  </a:lnTo>
                  <a:close/>
                  <a:moveTo>
                    <a:pt x="48" y="66"/>
                  </a:moveTo>
                  <a:lnTo>
                    <a:pt x="54" y="66"/>
                  </a:lnTo>
                  <a:lnTo>
                    <a:pt x="48" y="72"/>
                  </a:lnTo>
                  <a:lnTo>
                    <a:pt x="48" y="66"/>
                  </a:lnTo>
                  <a:close/>
                  <a:moveTo>
                    <a:pt x="582" y="408"/>
                  </a:moveTo>
                  <a:lnTo>
                    <a:pt x="582" y="402"/>
                  </a:lnTo>
                  <a:lnTo>
                    <a:pt x="582" y="408"/>
                  </a:lnTo>
                  <a:lnTo>
                    <a:pt x="588" y="408"/>
                  </a:lnTo>
                  <a:lnTo>
                    <a:pt x="582" y="408"/>
                  </a:lnTo>
                  <a:lnTo>
                    <a:pt x="588" y="408"/>
                  </a:lnTo>
                  <a:lnTo>
                    <a:pt x="582" y="408"/>
                  </a:lnTo>
                  <a:close/>
                  <a:moveTo>
                    <a:pt x="438" y="570"/>
                  </a:moveTo>
                  <a:lnTo>
                    <a:pt x="444" y="570"/>
                  </a:lnTo>
                  <a:lnTo>
                    <a:pt x="444" y="576"/>
                  </a:lnTo>
                  <a:lnTo>
                    <a:pt x="438" y="576"/>
                  </a:lnTo>
                  <a:lnTo>
                    <a:pt x="438" y="570"/>
                  </a:lnTo>
                  <a:close/>
                  <a:moveTo>
                    <a:pt x="0" y="588"/>
                  </a:moveTo>
                  <a:lnTo>
                    <a:pt x="0" y="594"/>
                  </a:lnTo>
                  <a:lnTo>
                    <a:pt x="1" y="594"/>
                  </a:lnTo>
                  <a:lnTo>
                    <a:pt x="0" y="588"/>
                  </a:lnTo>
                  <a:close/>
                  <a:moveTo>
                    <a:pt x="210" y="768"/>
                  </a:moveTo>
                  <a:lnTo>
                    <a:pt x="216" y="768"/>
                  </a:lnTo>
                  <a:lnTo>
                    <a:pt x="216" y="774"/>
                  </a:lnTo>
                  <a:lnTo>
                    <a:pt x="210" y="774"/>
                  </a:lnTo>
                  <a:lnTo>
                    <a:pt x="210" y="768"/>
                  </a:lnTo>
                  <a:close/>
                  <a:moveTo>
                    <a:pt x="438" y="576"/>
                  </a:moveTo>
                  <a:lnTo>
                    <a:pt x="444" y="576"/>
                  </a:lnTo>
                  <a:lnTo>
                    <a:pt x="438" y="576"/>
                  </a:lnTo>
                  <a:close/>
                  <a:moveTo>
                    <a:pt x="222" y="768"/>
                  </a:moveTo>
                  <a:lnTo>
                    <a:pt x="222" y="774"/>
                  </a:lnTo>
                  <a:lnTo>
                    <a:pt x="223" y="774"/>
                  </a:lnTo>
                  <a:lnTo>
                    <a:pt x="222" y="768"/>
                  </a:lnTo>
                  <a:close/>
                  <a:moveTo>
                    <a:pt x="228" y="756"/>
                  </a:moveTo>
                  <a:lnTo>
                    <a:pt x="234" y="756"/>
                  </a:lnTo>
                  <a:lnTo>
                    <a:pt x="234" y="762"/>
                  </a:lnTo>
                  <a:lnTo>
                    <a:pt x="228" y="762"/>
                  </a:lnTo>
                  <a:lnTo>
                    <a:pt x="228" y="756"/>
                  </a:lnTo>
                  <a:close/>
                </a:path>
              </a:pathLst>
            </a:custGeom>
            <a:solidFill>
              <a:schemeClr val="accent1"/>
            </a:solidFill>
            <a:ln w="9525">
              <a:solidFill>
                <a:srgbClr val="B2B2B2"/>
              </a:solidFill>
              <a:round/>
              <a:headEnd/>
              <a:tailEnd/>
            </a:ln>
          </p:spPr>
          <p:txBody>
            <a:bodyPr/>
            <a:lstStyle/>
            <a:p>
              <a:endParaRPr lang="en-CA"/>
            </a:p>
          </p:txBody>
        </p:sp>
      </p:grpSp>
      <p:sp>
        <p:nvSpPr>
          <p:cNvPr id="3" name="Rectangle 2"/>
          <p:cNvSpPr/>
          <p:nvPr/>
        </p:nvSpPr>
        <p:spPr>
          <a:xfrm>
            <a:off x="1937614" y="5446714"/>
            <a:ext cx="90347" cy="71436"/>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7" name="Rectangle 456"/>
          <p:cNvSpPr/>
          <p:nvPr/>
        </p:nvSpPr>
        <p:spPr>
          <a:xfrm>
            <a:off x="2560778" y="3889376"/>
            <a:ext cx="90347" cy="71436"/>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8" name="Rectangle 457"/>
          <p:cNvSpPr/>
          <p:nvPr/>
        </p:nvSpPr>
        <p:spPr>
          <a:xfrm>
            <a:off x="3538351" y="3692526"/>
            <a:ext cx="90347" cy="71436"/>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9" name="Rectangle 458"/>
          <p:cNvSpPr/>
          <p:nvPr/>
        </p:nvSpPr>
        <p:spPr>
          <a:xfrm>
            <a:off x="2308226" y="5434014"/>
            <a:ext cx="90347" cy="71436"/>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0" name="Rectangle 459"/>
          <p:cNvSpPr/>
          <p:nvPr/>
        </p:nvSpPr>
        <p:spPr>
          <a:xfrm>
            <a:off x="6781800" y="4572000"/>
            <a:ext cx="90347" cy="71436"/>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1" name="Rectangle 460"/>
          <p:cNvSpPr/>
          <p:nvPr/>
        </p:nvSpPr>
        <p:spPr>
          <a:xfrm>
            <a:off x="7315200" y="4343400"/>
            <a:ext cx="90347" cy="71436"/>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2" name="Rectangle 461"/>
          <p:cNvSpPr/>
          <p:nvPr/>
        </p:nvSpPr>
        <p:spPr>
          <a:xfrm>
            <a:off x="4724400" y="3886200"/>
            <a:ext cx="90347" cy="71436"/>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3" name="Rectangle 462"/>
          <p:cNvSpPr/>
          <p:nvPr/>
        </p:nvSpPr>
        <p:spPr>
          <a:xfrm>
            <a:off x="3243263" y="3992695"/>
            <a:ext cx="90347" cy="71436"/>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 name="Rectangle 463"/>
          <p:cNvSpPr/>
          <p:nvPr/>
        </p:nvSpPr>
        <p:spPr>
          <a:xfrm>
            <a:off x="3696564" y="3603628"/>
            <a:ext cx="90347" cy="71436"/>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 name="Rectangle 464"/>
          <p:cNvSpPr/>
          <p:nvPr/>
        </p:nvSpPr>
        <p:spPr>
          <a:xfrm>
            <a:off x="2125221" y="3921918"/>
            <a:ext cx="90347" cy="71436"/>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6" name="Rectangle 465"/>
          <p:cNvSpPr/>
          <p:nvPr/>
        </p:nvSpPr>
        <p:spPr>
          <a:xfrm>
            <a:off x="5751513" y="5919600"/>
            <a:ext cx="90347" cy="71436"/>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 name="Rectangle 466"/>
          <p:cNvSpPr/>
          <p:nvPr/>
        </p:nvSpPr>
        <p:spPr>
          <a:xfrm>
            <a:off x="2223647" y="5362578"/>
            <a:ext cx="90347" cy="71436"/>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 name="Rectangle 467"/>
          <p:cNvSpPr/>
          <p:nvPr/>
        </p:nvSpPr>
        <p:spPr>
          <a:xfrm>
            <a:off x="1680488" y="5006976"/>
            <a:ext cx="90347" cy="71436"/>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9" name="Rectangle 468"/>
          <p:cNvSpPr/>
          <p:nvPr/>
        </p:nvSpPr>
        <p:spPr>
          <a:xfrm>
            <a:off x="2133600" y="4800600"/>
            <a:ext cx="90347" cy="71436"/>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0" name="Rectangle 469"/>
          <p:cNvSpPr/>
          <p:nvPr/>
        </p:nvSpPr>
        <p:spPr>
          <a:xfrm>
            <a:off x="1295400" y="4267200"/>
            <a:ext cx="90347" cy="71436"/>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1" name="Rectangle 470"/>
          <p:cNvSpPr/>
          <p:nvPr/>
        </p:nvSpPr>
        <p:spPr>
          <a:xfrm>
            <a:off x="2590800" y="4648200"/>
            <a:ext cx="90347" cy="71436"/>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2" name="Rectangle 471"/>
          <p:cNvSpPr/>
          <p:nvPr/>
        </p:nvSpPr>
        <p:spPr>
          <a:xfrm>
            <a:off x="1344992" y="5114134"/>
            <a:ext cx="90347" cy="71436"/>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4" name="Rectangle 473"/>
          <p:cNvSpPr/>
          <p:nvPr/>
        </p:nvSpPr>
        <p:spPr>
          <a:xfrm>
            <a:off x="6934200" y="5105400"/>
            <a:ext cx="90347" cy="71436"/>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 name="Rectangle 474"/>
          <p:cNvSpPr/>
          <p:nvPr/>
        </p:nvSpPr>
        <p:spPr>
          <a:xfrm>
            <a:off x="7086600" y="3962400"/>
            <a:ext cx="90347" cy="71436"/>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Oval 3"/>
          <p:cNvSpPr/>
          <p:nvPr/>
        </p:nvSpPr>
        <p:spPr>
          <a:xfrm>
            <a:off x="1922147" y="4247802"/>
            <a:ext cx="84453" cy="89598"/>
          </a:xfrm>
          <a:prstGeom prst="ellips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6" name="Oval 475"/>
          <p:cNvSpPr/>
          <p:nvPr/>
        </p:nvSpPr>
        <p:spPr>
          <a:xfrm>
            <a:off x="5943600" y="5791200"/>
            <a:ext cx="84453" cy="89598"/>
          </a:xfrm>
          <a:prstGeom prst="ellips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 name="Oval 476"/>
          <p:cNvSpPr/>
          <p:nvPr/>
        </p:nvSpPr>
        <p:spPr>
          <a:xfrm>
            <a:off x="4724400" y="4027319"/>
            <a:ext cx="84453" cy="89598"/>
          </a:xfrm>
          <a:prstGeom prst="ellips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8" name="Oval 477"/>
          <p:cNvSpPr/>
          <p:nvPr/>
        </p:nvSpPr>
        <p:spPr>
          <a:xfrm>
            <a:off x="7772400" y="4419600"/>
            <a:ext cx="84453" cy="89598"/>
          </a:xfrm>
          <a:prstGeom prst="ellips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9" name="Oval 478"/>
          <p:cNvSpPr/>
          <p:nvPr/>
        </p:nvSpPr>
        <p:spPr>
          <a:xfrm>
            <a:off x="4493718" y="4038668"/>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0" name="Oval 479"/>
          <p:cNvSpPr/>
          <p:nvPr/>
        </p:nvSpPr>
        <p:spPr>
          <a:xfrm>
            <a:off x="4724400" y="41148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1" name="Oval 480"/>
          <p:cNvSpPr/>
          <p:nvPr/>
        </p:nvSpPr>
        <p:spPr>
          <a:xfrm>
            <a:off x="7086600" y="50292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2" name="Oval 481"/>
          <p:cNvSpPr/>
          <p:nvPr/>
        </p:nvSpPr>
        <p:spPr>
          <a:xfrm>
            <a:off x="6705600" y="47244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3" name="Oval 482"/>
          <p:cNvSpPr/>
          <p:nvPr/>
        </p:nvSpPr>
        <p:spPr>
          <a:xfrm>
            <a:off x="1295400" y="47244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4" name="Oval 483"/>
          <p:cNvSpPr/>
          <p:nvPr/>
        </p:nvSpPr>
        <p:spPr>
          <a:xfrm>
            <a:off x="1295400" y="48768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5" name="Oval 484"/>
          <p:cNvSpPr/>
          <p:nvPr/>
        </p:nvSpPr>
        <p:spPr>
          <a:xfrm>
            <a:off x="1295400" y="51816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6" name="Oval 485"/>
          <p:cNvSpPr/>
          <p:nvPr/>
        </p:nvSpPr>
        <p:spPr>
          <a:xfrm>
            <a:off x="1600200" y="57912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8" name="Oval 487"/>
          <p:cNvSpPr/>
          <p:nvPr/>
        </p:nvSpPr>
        <p:spPr>
          <a:xfrm>
            <a:off x="1981200" y="4876800"/>
            <a:ext cx="84453" cy="89598"/>
          </a:xfrm>
          <a:prstGeom prst="ellips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9" name="Oval 488"/>
          <p:cNvSpPr/>
          <p:nvPr/>
        </p:nvSpPr>
        <p:spPr>
          <a:xfrm>
            <a:off x="1430576" y="5390412"/>
            <a:ext cx="84453" cy="8959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0" name="Oval 489"/>
          <p:cNvSpPr/>
          <p:nvPr/>
        </p:nvSpPr>
        <p:spPr>
          <a:xfrm>
            <a:off x="1524000" y="5486400"/>
            <a:ext cx="84453" cy="8959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1" name="Oval 490"/>
          <p:cNvSpPr/>
          <p:nvPr/>
        </p:nvSpPr>
        <p:spPr>
          <a:xfrm>
            <a:off x="4495800" y="4114800"/>
            <a:ext cx="84453" cy="8959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2" name="Oval 491"/>
          <p:cNvSpPr/>
          <p:nvPr/>
        </p:nvSpPr>
        <p:spPr>
          <a:xfrm>
            <a:off x="3657600" y="4038600"/>
            <a:ext cx="84453" cy="8959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3" name="Oval 492"/>
          <p:cNvSpPr/>
          <p:nvPr/>
        </p:nvSpPr>
        <p:spPr>
          <a:xfrm>
            <a:off x="3553500" y="4191000"/>
            <a:ext cx="84453" cy="8959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4" name="Oval 493"/>
          <p:cNvSpPr/>
          <p:nvPr/>
        </p:nvSpPr>
        <p:spPr>
          <a:xfrm>
            <a:off x="7010400" y="4876800"/>
            <a:ext cx="84453" cy="8959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Isosceles Triangle 4"/>
          <p:cNvSpPr/>
          <p:nvPr/>
        </p:nvSpPr>
        <p:spPr>
          <a:xfrm>
            <a:off x="6934200" y="5248229"/>
            <a:ext cx="89980" cy="88993"/>
          </a:xfrm>
          <a:prstGeom prst="triangl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5" name="Isosceles Triangle 494"/>
          <p:cNvSpPr/>
          <p:nvPr/>
        </p:nvSpPr>
        <p:spPr>
          <a:xfrm>
            <a:off x="5105400" y="3200400"/>
            <a:ext cx="89980" cy="88993"/>
          </a:xfrm>
          <a:prstGeom prst="triangl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6" name="Isosceles Triangle 495"/>
          <p:cNvSpPr/>
          <p:nvPr/>
        </p:nvSpPr>
        <p:spPr>
          <a:xfrm>
            <a:off x="2514600" y="5257800"/>
            <a:ext cx="89980" cy="88993"/>
          </a:xfrm>
          <a:prstGeom prst="triangl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7" name="Isosceles Triangle 496"/>
          <p:cNvSpPr/>
          <p:nvPr/>
        </p:nvSpPr>
        <p:spPr>
          <a:xfrm>
            <a:off x="3505200" y="3200400"/>
            <a:ext cx="89980" cy="88993"/>
          </a:xfrm>
          <a:prstGeom prst="triangl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8" name="Isosceles Triangle 497"/>
          <p:cNvSpPr/>
          <p:nvPr/>
        </p:nvSpPr>
        <p:spPr>
          <a:xfrm>
            <a:off x="2517235" y="4560796"/>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9" name="Isosceles Triangle 498"/>
          <p:cNvSpPr/>
          <p:nvPr/>
        </p:nvSpPr>
        <p:spPr>
          <a:xfrm>
            <a:off x="5898610" y="5892708"/>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0" name="Isosceles Triangle 499"/>
          <p:cNvSpPr/>
          <p:nvPr/>
        </p:nvSpPr>
        <p:spPr>
          <a:xfrm>
            <a:off x="1684653" y="5088905"/>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1" name="Isosceles Triangle 500"/>
          <p:cNvSpPr/>
          <p:nvPr/>
        </p:nvSpPr>
        <p:spPr>
          <a:xfrm>
            <a:off x="7162800" y="4800600"/>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2" name="Isosceles Triangle 501"/>
          <p:cNvSpPr/>
          <p:nvPr/>
        </p:nvSpPr>
        <p:spPr>
          <a:xfrm>
            <a:off x="1143000" y="4953000"/>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3" name="Isosceles Triangle 502"/>
          <p:cNvSpPr/>
          <p:nvPr/>
        </p:nvSpPr>
        <p:spPr>
          <a:xfrm>
            <a:off x="1600200" y="5867400"/>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4" name="Isosceles Triangle 503"/>
          <p:cNvSpPr/>
          <p:nvPr/>
        </p:nvSpPr>
        <p:spPr>
          <a:xfrm>
            <a:off x="2590800" y="4724400"/>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5" name="Isosceles Triangle 504"/>
          <p:cNvSpPr/>
          <p:nvPr/>
        </p:nvSpPr>
        <p:spPr>
          <a:xfrm>
            <a:off x="2488803" y="5403758"/>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6" name="Isosceles Triangle 505"/>
          <p:cNvSpPr/>
          <p:nvPr/>
        </p:nvSpPr>
        <p:spPr>
          <a:xfrm>
            <a:off x="2057400" y="5410200"/>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7" name="Isosceles Triangle 506"/>
          <p:cNvSpPr/>
          <p:nvPr/>
        </p:nvSpPr>
        <p:spPr>
          <a:xfrm>
            <a:off x="1828800" y="3886200"/>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8" name="Isosceles Triangle 507"/>
          <p:cNvSpPr/>
          <p:nvPr/>
        </p:nvSpPr>
        <p:spPr>
          <a:xfrm>
            <a:off x="2514600" y="3657600"/>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9" name="Isosceles Triangle 508"/>
          <p:cNvSpPr/>
          <p:nvPr/>
        </p:nvSpPr>
        <p:spPr>
          <a:xfrm>
            <a:off x="3581400" y="3124200"/>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0" name="Isosceles Triangle 509"/>
          <p:cNvSpPr/>
          <p:nvPr/>
        </p:nvSpPr>
        <p:spPr>
          <a:xfrm>
            <a:off x="6248400" y="3276600"/>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1" name="Isosceles Triangle 510"/>
          <p:cNvSpPr/>
          <p:nvPr/>
        </p:nvSpPr>
        <p:spPr>
          <a:xfrm>
            <a:off x="7924800" y="4191000"/>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2" name="Isosceles Triangle 511"/>
          <p:cNvSpPr/>
          <p:nvPr/>
        </p:nvSpPr>
        <p:spPr>
          <a:xfrm>
            <a:off x="7010400" y="5181600"/>
            <a:ext cx="89980" cy="88993"/>
          </a:xfrm>
          <a:prstGeom prst="triangle">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6677039" y="5665276"/>
            <a:ext cx="2337612" cy="562164"/>
            <a:chOff x="6806388" y="6227440"/>
            <a:chExt cx="2337612" cy="562164"/>
          </a:xfrm>
        </p:grpSpPr>
        <p:sp>
          <p:nvSpPr>
            <p:cNvPr id="473" name="Rectangle 472"/>
            <p:cNvSpPr/>
            <p:nvPr/>
          </p:nvSpPr>
          <p:spPr>
            <a:xfrm>
              <a:off x="6806388" y="6324600"/>
              <a:ext cx="186090" cy="89598"/>
            </a:xfrm>
            <a:prstGeom prst="rect">
              <a:avLst/>
            </a:prstGeom>
            <a:solidFill>
              <a:srgbClr val="5EA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3" name="Rectangle 512"/>
            <p:cNvSpPr/>
            <p:nvPr/>
          </p:nvSpPr>
          <p:spPr>
            <a:xfrm>
              <a:off x="6806388" y="6485779"/>
              <a:ext cx="186090" cy="89598"/>
            </a:xfrm>
            <a:prstGeom prst="rect">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4" name="Rectangle 513"/>
            <p:cNvSpPr/>
            <p:nvPr/>
          </p:nvSpPr>
          <p:spPr>
            <a:xfrm>
              <a:off x="6806388" y="6646957"/>
              <a:ext cx="186090" cy="8959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5" name="Rectangle 514"/>
            <p:cNvSpPr/>
            <p:nvPr/>
          </p:nvSpPr>
          <p:spPr>
            <a:xfrm>
              <a:off x="7848600" y="6486081"/>
              <a:ext cx="90347" cy="71436"/>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6" name="Oval 515"/>
            <p:cNvSpPr/>
            <p:nvPr/>
          </p:nvSpPr>
          <p:spPr>
            <a:xfrm>
              <a:off x="7848600" y="6324600"/>
              <a:ext cx="84453" cy="89598"/>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7" name="Isosceles Triangle 516"/>
            <p:cNvSpPr/>
            <p:nvPr/>
          </p:nvSpPr>
          <p:spPr>
            <a:xfrm>
              <a:off x="7848600" y="6629400"/>
              <a:ext cx="89980" cy="88993"/>
            </a:xfrm>
            <a:prstGeom prst="triangl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6934199" y="6414198"/>
              <a:ext cx="748113" cy="215444"/>
            </a:xfrm>
            <a:prstGeom prst="rect">
              <a:avLst/>
            </a:prstGeom>
            <a:noFill/>
          </p:spPr>
          <p:txBody>
            <a:bodyPr wrap="square" rtlCol="0">
              <a:spAutoFit/>
            </a:bodyPr>
            <a:lstStyle/>
            <a:p>
              <a:r>
                <a:rPr lang="en-US" sz="800" dirty="0" smtClean="0"/>
                <a:t>AT</a:t>
              </a:r>
              <a:endParaRPr lang="en-US" sz="800" dirty="0"/>
            </a:p>
          </p:txBody>
        </p:sp>
        <p:sp>
          <p:nvSpPr>
            <p:cNvPr id="518" name="TextBox 517"/>
            <p:cNvSpPr txBox="1"/>
            <p:nvPr/>
          </p:nvSpPr>
          <p:spPr>
            <a:xfrm>
              <a:off x="6934200" y="6248400"/>
              <a:ext cx="615990" cy="215444"/>
            </a:xfrm>
            <a:prstGeom prst="rect">
              <a:avLst/>
            </a:prstGeom>
            <a:noFill/>
          </p:spPr>
          <p:txBody>
            <a:bodyPr wrap="square" rtlCol="0">
              <a:spAutoFit/>
            </a:bodyPr>
            <a:lstStyle/>
            <a:p>
              <a:r>
                <a:rPr lang="en-US" sz="800" dirty="0" smtClean="0"/>
                <a:t>Naval</a:t>
              </a:r>
              <a:endParaRPr lang="en-US" sz="800" dirty="0"/>
            </a:p>
          </p:txBody>
        </p:sp>
        <p:sp>
          <p:nvSpPr>
            <p:cNvPr id="519" name="TextBox 518"/>
            <p:cNvSpPr txBox="1"/>
            <p:nvPr/>
          </p:nvSpPr>
          <p:spPr>
            <a:xfrm>
              <a:off x="6934200" y="6574160"/>
              <a:ext cx="938974" cy="215444"/>
            </a:xfrm>
            <a:prstGeom prst="rect">
              <a:avLst/>
            </a:prstGeom>
            <a:noFill/>
          </p:spPr>
          <p:txBody>
            <a:bodyPr wrap="square" rtlCol="0">
              <a:spAutoFit/>
            </a:bodyPr>
            <a:lstStyle/>
            <a:p>
              <a:r>
                <a:rPr lang="en-US" sz="800" dirty="0" smtClean="0"/>
                <a:t>Submarines</a:t>
              </a:r>
              <a:endParaRPr lang="en-US" sz="800" dirty="0"/>
            </a:p>
          </p:txBody>
        </p:sp>
        <p:sp>
          <p:nvSpPr>
            <p:cNvPr id="520" name="TextBox 519"/>
            <p:cNvSpPr txBox="1"/>
            <p:nvPr/>
          </p:nvSpPr>
          <p:spPr>
            <a:xfrm>
              <a:off x="7924799" y="6393238"/>
              <a:ext cx="748113" cy="215444"/>
            </a:xfrm>
            <a:prstGeom prst="rect">
              <a:avLst/>
            </a:prstGeom>
            <a:noFill/>
          </p:spPr>
          <p:txBody>
            <a:bodyPr wrap="square" rtlCol="0">
              <a:spAutoFit/>
            </a:bodyPr>
            <a:lstStyle/>
            <a:p>
              <a:r>
                <a:rPr lang="en-US" sz="800" dirty="0" smtClean="0"/>
                <a:t>Parts</a:t>
              </a:r>
              <a:endParaRPr lang="en-US" sz="800" dirty="0"/>
            </a:p>
          </p:txBody>
        </p:sp>
        <p:sp>
          <p:nvSpPr>
            <p:cNvPr id="521" name="TextBox 520"/>
            <p:cNvSpPr txBox="1"/>
            <p:nvPr/>
          </p:nvSpPr>
          <p:spPr>
            <a:xfrm>
              <a:off x="7924800" y="6227440"/>
              <a:ext cx="1006670" cy="215444"/>
            </a:xfrm>
            <a:prstGeom prst="rect">
              <a:avLst/>
            </a:prstGeom>
            <a:noFill/>
          </p:spPr>
          <p:txBody>
            <a:bodyPr wrap="square" rtlCol="0">
              <a:spAutoFit/>
            </a:bodyPr>
            <a:lstStyle/>
            <a:p>
              <a:r>
                <a:rPr lang="en-US" sz="800" dirty="0" smtClean="0"/>
                <a:t>Raw Material</a:t>
              </a:r>
              <a:endParaRPr lang="en-US" sz="800" dirty="0"/>
            </a:p>
          </p:txBody>
        </p:sp>
        <p:sp>
          <p:nvSpPr>
            <p:cNvPr id="522" name="TextBox 521"/>
            <p:cNvSpPr txBox="1"/>
            <p:nvPr/>
          </p:nvSpPr>
          <p:spPr>
            <a:xfrm>
              <a:off x="7924800" y="6553200"/>
              <a:ext cx="1219200" cy="215444"/>
            </a:xfrm>
            <a:prstGeom prst="rect">
              <a:avLst/>
            </a:prstGeom>
            <a:noFill/>
          </p:spPr>
          <p:txBody>
            <a:bodyPr wrap="square" rtlCol="0">
              <a:spAutoFit/>
            </a:bodyPr>
            <a:lstStyle/>
            <a:p>
              <a:r>
                <a:rPr lang="en-US" sz="800" dirty="0" smtClean="0"/>
                <a:t>Final Assembly</a:t>
              </a:r>
              <a:endParaRPr lang="en-US" sz="800" dirty="0"/>
            </a:p>
          </p:txBody>
        </p:sp>
      </p:grpSp>
      <p:sp>
        <p:nvSpPr>
          <p:cNvPr id="523" name="Rectangle 522"/>
          <p:cNvSpPr/>
          <p:nvPr/>
        </p:nvSpPr>
        <p:spPr>
          <a:xfrm>
            <a:off x="609600" y="1724492"/>
            <a:ext cx="8014512" cy="452390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4" name="Rectangle 523"/>
          <p:cNvSpPr/>
          <p:nvPr/>
        </p:nvSpPr>
        <p:spPr>
          <a:xfrm>
            <a:off x="609600" y="1298574"/>
            <a:ext cx="8014512" cy="63182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smtClean="0"/>
              <a:t>Exhibit 1: Map of Russian shipbuilding facilities</a:t>
            </a:r>
            <a:endParaRPr lang="en-US" sz="1600" b="1" dirty="0"/>
          </a:p>
        </p:txBody>
      </p:sp>
      <p:sp>
        <p:nvSpPr>
          <p:cNvPr id="525" name="Isosceles Triangle 524"/>
          <p:cNvSpPr/>
          <p:nvPr/>
        </p:nvSpPr>
        <p:spPr>
          <a:xfrm>
            <a:off x="5715000" y="3581400"/>
            <a:ext cx="89980" cy="88993"/>
          </a:xfrm>
          <a:prstGeom prst="triangle">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9359661"/>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152</a:t>
            </a:fld>
            <a:endParaRPr lang="en-US" dirty="0"/>
          </a:p>
        </p:txBody>
      </p:sp>
      <p:sp>
        <p:nvSpPr>
          <p:cNvPr id="9"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graphicFrame>
        <p:nvGraphicFramePr>
          <p:cNvPr id="6" name="Diagram 5"/>
          <p:cNvGraphicFramePr/>
          <p:nvPr>
            <p:extLst>
              <p:ext uri="{D42A27DB-BD31-4B8C-83A1-F6EECF244321}">
                <p14:modId xmlns:p14="http://schemas.microsoft.com/office/powerpoint/2010/main" val="3729359023"/>
              </p:ext>
            </p:extLst>
          </p:nvPr>
        </p:nvGraphicFramePr>
        <p:xfrm>
          <a:off x="1524000" y="17526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p:cNvSpPr/>
          <p:nvPr/>
        </p:nvSpPr>
        <p:spPr>
          <a:xfrm>
            <a:off x="1168400" y="2006600"/>
            <a:ext cx="6959600" cy="38100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13"/>
          <p:cNvSpPr/>
          <p:nvPr/>
        </p:nvSpPr>
        <p:spPr>
          <a:xfrm>
            <a:off x="1168400" y="1447800"/>
            <a:ext cx="6959600" cy="5588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smtClean="0"/>
              <a:t>Exhibit 2: </a:t>
            </a:r>
            <a:r>
              <a:rPr lang="en-US" sz="1600" b="1" dirty="0" err="1" smtClean="0"/>
              <a:t>Fjellstrand</a:t>
            </a:r>
            <a:r>
              <a:rPr lang="en-US" sz="1600" b="1" dirty="0" smtClean="0"/>
              <a:t> M/V vessel, originally for commercial purposes, now adapted to military</a:t>
            </a:r>
            <a:endParaRPr lang="en-US" sz="1600" b="1" dirty="0"/>
          </a:p>
        </p:txBody>
      </p:sp>
      <p:sp>
        <p:nvSpPr>
          <p:cNvPr id="15"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sp>
        <p:nvSpPr>
          <p:cNvPr id="2" name="TextBox 1"/>
          <p:cNvSpPr txBox="1"/>
          <p:nvPr/>
        </p:nvSpPr>
        <p:spPr>
          <a:xfrm>
            <a:off x="3084176" y="5066562"/>
            <a:ext cx="3097136" cy="369332"/>
          </a:xfrm>
          <a:prstGeom prst="rect">
            <a:avLst/>
          </a:prstGeom>
          <a:noFill/>
        </p:spPr>
        <p:txBody>
          <a:bodyPr wrap="square" rtlCol="0">
            <a:spAutoFit/>
          </a:bodyPr>
          <a:lstStyle/>
          <a:p>
            <a:pPr algn="ctr"/>
            <a:r>
              <a:rPr lang="en-US" dirty="0" smtClean="0"/>
              <a:t>EXAMPLE</a:t>
            </a:r>
            <a:endParaRPr lang="en-US" dirty="0"/>
          </a:p>
        </p:txBody>
      </p:sp>
    </p:spTree>
    <p:extLst>
      <p:ext uri="{BB962C8B-B14F-4D97-AF65-F5344CB8AC3E}">
        <p14:creationId xmlns:p14="http://schemas.microsoft.com/office/powerpoint/2010/main" val="883275645"/>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Slide Number Placeholder 7"/>
          <p:cNvSpPr>
            <a:spLocks noGrp="1"/>
          </p:cNvSpPr>
          <p:nvPr>
            <p:ph type="sldNum" sz="quarter" idx="11"/>
          </p:nvPr>
        </p:nvSpPr>
        <p:spPr/>
        <p:txBody>
          <a:bodyPr/>
          <a:lstStyle/>
          <a:p>
            <a:pPr>
              <a:defRPr/>
            </a:pPr>
            <a:fld id="{2E1E1E2A-88E9-4CB1-89D2-8ABF177DA4C4}" type="slidenum">
              <a:rPr lang="en-US" smtClean="0">
                <a:solidFill>
                  <a:srgbClr val="000000"/>
                </a:solidFill>
              </a:rPr>
              <a:pPr>
                <a:defRPr/>
              </a:pPr>
              <a:t>153</a:t>
            </a:fld>
            <a:endParaRPr lang="en-US" dirty="0">
              <a:solidFill>
                <a:srgbClr val="000000"/>
              </a:solidFill>
            </a:endParaRPr>
          </a:p>
        </p:txBody>
      </p:sp>
      <p:sp>
        <p:nvSpPr>
          <p:cNvPr id="9"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solidFill>
                  <a:srgbClr val="000000"/>
                </a:solidFill>
              </a:rPr>
              <a:t>Strategy</a:t>
            </a:r>
            <a:endParaRPr lang="en-US" sz="1400" i="1" dirty="0">
              <a:solidFill>
                <a:srgbClr val="000000"/>
              </a:solidFill>
            </a:endParaRPr>
          </a:p>
        </p:txBody>
      </p:sp>
      <p:sp>
        <p:nvSpPr>
          <p:cNvPr id="6" name="Rectangle 5"/>
          <p:cNvSpPr/>
          <p:nvPr/>
        </p:nvSpPr>
        <p:spPr>
          <a:xfrm>
            <a:off x="520700" y="2006600"/>
            <a:ext cx="8039100" cy="38100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7" name="Rectangle 6"/>
          <p:cNvSpPr/>
          <p:nvPr/>
        </p:nvSpPr>
        <p:spPr>
          <a:xfrm>
            <a:off x="520700" y="1447800"/>
            <a:ext cx="8039100" cy="5588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smtClean="0">
                <a:solidFill>
                  <a:srgbClr val="000000"/>
                </a:solidFill>
              </a:rPr>
              <a:t>Exhibit 3: Programs within the advanced technology division</a:t>
            </a:r>
            <a:endParaRPr lang="en-US" sz="1600" b="1" dirty="0">
              <a:solidFill>
                <a:srgbClr val="000000"/>
              </a:solidFill>
            </a:endParaRPr>
          </a:p>
        </p:txBody>
      </p:sp>
      <p:graphicFrame>
        <p:nvGraphicFramePr>
          <p:cNvPr id="2" name="Diagram 1"/>
          <p:cNvGraphicFramePr/>
          <p:nvPr>
            <p:extLst>
              <p:ext uri="{D42A27DB-BD31-4B8C-83A1-F6EECF244321}">
                <p14:modId xmlns:p14="http://schemas.microsoft.com/office/powerpoint/2010/main" val="3845576995"/>
              </p:ext>
            </p:extLst>
          </p:nvPr>
        </p:nvGraphicFramePr>
        <p:xfrm>
          <a:off x="698500" y="1971675"/>
          <a:ext cx="7518400" cy="3565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sp>
        <p:nvSpPr>
          <p:cNvPr id="3" name="Oval 2"/>
          <p:cNvSpPr/>
          <p:nvPr/>
        </p:nvSpPr>
        <p:spPr>
          <a:xfrm>
            <a:off x="1051394" y="4807403"/>
            <a:ext cx="907111" cy="4405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3.1</a:t>
            </a:r>
            <a:endParaRPr lang="en-US" sz="1200" dirty="0">
              <a:solidFill>
                <a:srgbClr val="000000"/>
              </a:solidFill>
            </a:endParaRPr>
          </a:p>
        </p:txBody>
      </p:sp>
      <p:sp>
        <p:nvSpPr>
          <p:cNvPr id="10" name="Oval 9"/>
          <p:cNvSpPr/>
          <p:nvPr/>
        </p:nvSpPr>
        <p:spPr>
          <a:xfrm>
            <a:off x="7014922" y="4807403"/>
            <a:ext cx="907111" cy="4405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5.2</a:t>
            </a:r>
            <a:endParaRPr lang="en-US" sz="1200" dirty="0">
              <a:solidFill>
                <a:srgbClr val="000000"/>
              </a:solidFill>
            </a:endParaRPr>
          </a:p>
        </p:txBody>
      </p:sp>
      <p:sp>
        <p:nvSpPr>
          <p:cNvPr id="11" name="Oval 10"/>
          <p:cNvSpPr/>
          <p:nvPr/>
        </p:nvSpPr>
        <p:spPr>
          <a:xfrm>
            <a:off x="5029200" y="4807403"/>
            <a:ext cx="907111" cy="4405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1.7</a:t>
            </a:r>
            <a:endParaRPr lang="en-US" sz="1200" dirty="0">
              <a:solidFill>
                <a:srgbClr val="000000"/>
              </a:solidFill>
            </a:endParaRPr>
          </a:p>
        </p:txBody>
      </p:sp>
      <p:sp>
        <p:nvSpPr>
          <p:cNvPr id="12" name="Oval 11"/>
          <p:cNvSpPr/>
          <p:nvPr/>
        </p:nvSpPr>
        <p:spPr>
          <a:xfrm>
            <a:off x="3048000" y="4807403"/>
            <a:ext cx="907111" cy="4405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2.2</a:t>
            </a:r>
            <a:endParaRPr lang="en-US" sz="1200" dirty="0">
              <a:solidFill>
                <a:srgbClr val="000000"/>
              </a:solidFill>
            </a:endParaRPr>
          </a:p>
        </p:txBody>
      </p:sp>
      <p:sp>
        <p:nvSpPr>
          <p:cNvPr id="4" name="Oval 3"/>
          <p:cNvSpPr/>
          <p:nvPr/>
        </p:nvSpPr>
        <p:spPr>
          <a:xfrm>
            <a:off x="6634867" y="6025451"/>
            <a:ext cx="1924933" cy="40169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Yearly revenues in $B</a:t>
            </a:r>
            <a:endParaRPr lang="en-US" sz="1200" dirty="0">
              <a:solidFill>
                <a:srgbClr val="000000"/>
              </a:solidFill>
            </a:endParaRPr>
          </a:p>
        </p:txBody>
      </p:sp>
    </p:spTree>
    <p:extLst>
      <p:ext uri="{BB962C8B-B14F-4D97-AF65-F5344CB8AC3E}">
        <p14:creationId xmlns:p14="http://schemas.microsoft.com/office/powerpoint/2010/main" val="4106866876"/>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graphicFrame>
        <p:nvGraphicFramePr>
          <p:cNvPr id="12" name="Table 11"/>
          <p:cNvGraphicFramePr>
            <a:graphicFrameLocks noGrp="1"/>
          </p:cNvGraphicFramePr>
          <p:nvPr>
            <p:extLst>
              <p:ext uri="{D42A27DB-BD31-4B8C-83A1-F6EECF244321}">
                <p14:modId xmlns:p14="http://schemas.microsoft.com/office/powerpoint/2010/main" val="3894249647"/>
              </p:ext>
            </p:extLst>
          </p:nvPr>
        </p:nvGraphicFramePr>
        <p:xfrm>
          <a:off x="304800" y="1381125"/>
          <a:ext cx="8534400" cy="5212080"/>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b="1" dirty="0" smtClean="0">
                          <a:solidFill>
                            <a:srgbClr val="000000"/>
                          </a:solidFill>
                        </a:rPr>
                        <a:t>Guidance</a:t>
                      </a:r>
                      <a:endParaRPr lang="en-US" b="1" baseline="0" dirty="0" smtClean="0">
                        <a:solidFill>
                          <a:srgbClr val="000000"/>
                        </a:solidFill>
                      </a:endParaRPr>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The goal of this case is to evaluate how the student analyzes the current and future situation, develop alternative scenarios for the new organization and provide a recommendation to the CEO.</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The first thing that the student should be surprised by is that missile boats are not a part of Naval. This is a key question for the discussion. The initial reasons why missile boats were included under Advanced Technology are not valid nowadays, and are not needed to develop the case.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dirty="0" smtClean="0"/>
                        <a:t>Please note that those employees who are directly related in manufacturing process are regarded as direct employees whereas there are several subsidiary services required like machine repairs etc. which are not directly related to production but are inevitable. Employees falling under this category are namely indirect employees.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 typeface="+mj-lt"/>
                        <a:buNone/>
                        <a:tabLst/>
                        <a:defRPr/>
                      </a:pPr>
                      <a:r>
                        <a:rPr lang="en-US" sz="1200" b="0" i="0" kern="1200" baseline="0" dirty="0" smtClean="0">
                          <a:solidFill>
                            <a:srgbClr val="000000"/>
                          </a:solidFill>
                          <a:latin typeface="+mn-lt"/>
                          <a:ea typeface="+mn-ea"/>
                          <a:cs typeface="+mn-cs"/>
                        </a:rPr>
                        <a:t>Although many frameworks are possible, there are 4 main areas to discuss:</a:t>
                      </a:r>
                    </a:p>
                    <a:p>
                      <a:pPr marL="228600" marR="0"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rgbClr val="000000"/>
                          </a:solidFill>
                          <a:latin typeface="+mn-lt"/>
                          <a:ea typeface="+mn-ea"/>
                          <a:cs typeface="+mn-cs"/>
                        </a:rPr>
                        <a:t>Market potential: any change in the organization will require a certain investment. We want to know if there are market opportunities that would justify this change</a:t>
                      </a:r>
                    </a:p>
                    <a:p>
                      <a:pPr marL="228600" marR="0"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rgbClr val="000000"/>
                          </a:solidFill>
                          <a:latin typeface="+mn-lt"/>
                          <a:ea typeface="+mn-ea"/>
                          <a:cs typeface="+mn-cs"/>
                        </a:rPr>
                        <a:t>Synergies: there might be synergy opportunities for each scenario</a:t>
                      </a:r>
                    </a:p>
                    <a:p>
                      <a:pPr marL="228600" marR="0"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rgbClr val="000000"/>
                          </a:solidFill>
                          <a:latin typeface="+mn-lt"/>
                          <a:ea typeface="+mn-ea"/>
                          <a:cs typeface="+mn-cs"/>
                        </a:rPr>
                        <a:t>Political issues: as stated in the case, politicians are wary of any change in the organization. Any change in the organization could affect the facilities distribution and power ownership, potentially going against the State’s interests</a:t>
                      </a:r>
                    </a:p>
                    <a:p>
                      <a:pPr marL="228600" marR="0" indent="-228600" algn="l" defTabSz="457200" rtl="0" eaLnBrk="1" fontAlgn="auto" latinLnBrk="0" hangingPunct="1">
                        <a:lnSpc>
                          <a:spcPct val="100000"/>
                        </a:lnSpc>
                        <a:spcBef>
                          <a:spcPts val="0"/>
                        </a:spcBef>
                        <a:spcAft>
                          <a:spcPts val="0"/>
                        </a:spcAft>
                        <a:buClrTx/>
                        <a:buSzTx/>
                        <a:buFont typeface="+mj-lt"/>
                        <a:buAutoNum type="arabicPeriod"/>
                        <a:tabLst/>
                        <a:defRPr/>
                      </a:pPr>
                      <a:r>
                        <a:rPr lang="en-US" sz="1200" b="0" i="0" kern="1200" baseline="0" dirty="0" smtClean="0">
                          <a:solidFill>
                            <a:srgbClr val="000000"/>
                          </a:solidFill>
                          <a:latin typeface="+mn-lt"/>
                          <a:ea typeface="+mn-ea"/>
                          <a:cs typeface="+mn-cs"/>
                        </a:rPr>
                        <a:t>Potential scenarios:</a:t>
                      </a:r>
                    </a:p>
                    <a:p>
                      <a:pPr marL="685800" marR="0" lvl="1" indent="-22860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rgbClr val="000000"/>
                          </a:solidFill>
                          <a:latin typeface="+mn-lt"/>
                          <a:ea typeface="+mn-ea"/>
                          <a:cs typeface="+mn-cs"/>
                        </a:rPr>
                        <a:t>M&amp;A: creating a new division (Military) separated from the other two</a:t>
                      </a:r>
                    </a:p>
                    <a:p>
                      <a:pPr marL="685800" marR="0" lvl="1" indent="-22860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rgbClr val="000000"/>
                          </a:solidFill>
                          <a:latin typeface="+mn-lt"/>
                          <a:ea typeface="+mn-ea"/>
                          <a:cs typeface="+mn-cs"/>
                        </a:rPr>
                        <a:t>Integration: integrating missile boats into Naval</a:t>
                      </a:r>
                    </a:p>
                    <a:p>
                      <a:pPr marL="685800" marR="0" lvl="1" indent="-22860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rgbClr val="000000"/>
                          </a:solidFill>
                          <a:latin typeface="+mn-lt"/>
                          <a:ea typeface="+mn-ea"/>
                          <a:cs typeface="+mn-cs"/>
                        </a:rPr>
                        <a:t>Cooperation: increasing synergies between naval and missile boats</a:t>
                      </a:r>
                    </a:p>
                    <a:p>
                      <a:pPr marL="685800" marR="0" lvl="1" indent="-22860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rgbClr val="000000"/>
                          </a:solidFill>
                          <a:latin typeface="+mn-lt"/>
                          <a:ea typeface="+mn-ea"/>
                          <a:cs typeface="+mn-cs"/>
                        </a:rPr>
                        <a:t>Current: keeping the company AS-IS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j-lt"/>
                          <a:ea typeface="+mn-ea"/>
                          <a:cs typeface="+mn-cs"/>
                        </a:rPr>
                        <a:t>If the candidate does not mention the 4 points above, ask him/her to analyze the market potential and list some synergies, political issues and potential scenarios.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1" kern="1200" baseline="0" dirty="0" smtClean="0">
                        <a:solidFill>
                          <a:srgbClr val="000000"/>
                        </a:solidFill>
                        <a:latin typeface="+mj-lt"/>
                        <a:ea typeface="+mn-ea"/>
                        <a:cs typeface="+mn-cs"/>
                      </a:endParaRPr>
                    </a:p>
                  </a:txBody>
                  <a:tcPr>
                    <a:solidFill>
                      <a:srgbClr val="CCCCCC"/>
                    </a:solidFill>
                  </a:tcPr>
                </a:tc>
              </a:tr>
            </a:tbl>
          </a:graphicData>
        </a:graphic>
      </p:graphicFrame>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154</a:t>
            </a:fld>
            <a:endParaRPr lang="en-US" dirty="0"/>
          </a:p>
        </p:txBody>
      </p:sp>
      <p:sp>
        <p:nvSpPr>
          <p:cNvPr id="9"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7"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spTree>
    <p:extLst>
      <p:ext uri="{BB962C8B-B14F-4D97-AF65-F5344CB8AC3E}">
        <p14:creationId xmlns:p14="http://schemas.microsoft.com/office/powerpoint/2010/main" val="51969178"/>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Slide Number Placeholder 7"/>
          <p:cNvSpPr>
            <a:spLocks noGrp="1"/>
          </p:cNvSpPr>
          <p:nvPr>
            <p:ph type="sldNum" sz="quarter" idx="11"/>
          </p:nvPr>
        </p:nvSpPr>
        <p:spPr/>
        <p:txBody>
          <a:bodyPr/>
          <a:lstStyle/>
          <a:p>
            <a:pPr>
              <a:defRPr/>
            </a:pPr>
            <a:fld id="{2E1E1E2A-88E9-4CB1-89D2-8ABF177DA4C4}" type="slidenum">
              <a:rPr lang="en-US" smtClean="0">
                <a:solidFill>
                  <a:srgbClr val="000000"/>
                </a:solidFill>
              </a:rPr>
              <a:pPr>
                <a:defRPr/>
              </a:pPr>
              <a:t>155</a:t>
            </a:fld>
            <a:endParaRPr lang="en-US" dirty="0">
              <a:solidFill>
                <a:srgbClr val="000000"/>
              </a:solidFill>
            </a:endParaRPr>
          </a:p>
        </p:txBody>
      </p:sp>
      <p:sp>
        <p:nvSpPr>
          <p:cNvPr id="9"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solidFill>
                  <a:srgbClr val="000000"/>
                </a:solidFill>
              </a:rPr>
              <a:t>Strategy</a:t>
            </a:r>
            <a:endParaRPr lang="en-US" sz="1400" i="1" dirty="0">
              <a:solidFill>
                <a:srgbClr val="000000"/>
              </a:solidFill>
            </a:endParaRPr>
          </a:p>
        </p:txBody>
      </p:sp>
      <p:sp>
        <p:nvSpPr>
          <p:cNvPr id="7"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graphicFrame>
        <p:nvGraphicFramePr>
          <p:cNvPr id="17" name="Table 16"/>
          <p:cNvGraphicFramePr>
            <a:graphicFrameLocks noGrp="1"/>
          </p:cNvGraphicFramePr>
          <p:nvPr>
            <p:extLst>
              <p:ext uri="{D42A27DB-BD31-4B8C-83A1-F6EECF244321}">
                <p14:modId xmlns:p14="http://schemas.microsoft.com/office/powerpoint/2010/main" val="3813963418"/>
              </p:ext>
            </p:extLst>
          </p:nvPr>
        </p:nvGraphicFramePr>
        <p:xfrm>
          <a:off x="304800" y="1381125"/>
          <a:ext cx="8534400" cy="5029200"/>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b="1" dirty="0" smtClean="0">
                          <a:solidFill>
                            <a:srgbClr val="000000"/>
                          </a:solidFill>
                        </a:rPr>
                        <a:t>Guidance</a:t>
                      </a:r>
                      <a:endParaRPr lang="en-US" b="1" baseline="0" dirty="0" smtClean="0">
                        <a:solidFill>
                          <a:srgbClr val="000000"/>
                        </a:solidFill>
                      </a:endParaRPr>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Market guidance: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Provide Exhibit 4. The candidate should identify that deliveries of missile boats will stop in 2018, while naval deliveries will continue increasing in the future. He/she should conclude that the market for missile boats will stop and therefore it is not necessary to do a merger. This conclusion would be a trap, because: </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rgbClr val="000000"/>
                          </a:solidFill>
                          <a:latin typeface="+mn-lt"/>
                          <a:ea typeface="+mn-ea"/>
                          <a:cs typeface="+mn-cs"/>
                        </a:rPr>
                        <a:t>The average manufacturing length to deliver a naval ship is 10 years, while for missile boats it is just 5 years.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r>
                        <a:rPr lang="en-US" sz="1200" b="0" i="0" kern="1200" baseline="0" dirty="0" smtClean="0">
                          <a:solidFill>
                            <a:srgbClr val="000000"/>
                          </a:solidFill>
                          <a:latin typeface="+mn-lt"/>
                          <a:ea typeface="+mn-ea"/>
                          <a:cs typeface="+mn-cs"/>
                        </a:rPr>
                        <a:t>The main interests for AT are electronics, so they have little interest on improving (sales and R&amp;D) missile boats</a:t>
                      </a:r>
                    </a:p>
                    <a:p>
                      <a:pPr marL="171450" marR="0" indent="-171450" algn="l" defTabSz="457200" rtl="0" eaLnBrk="1" fontAlgn="auto" latinLnBrk="0" hangingPunct="1">
                        <a:lnSpc>
                          <a:spcPct val="100000"/>
                        </a:lnSpc>
                        <a:spcBef>
                          <a:spcPts val="0"/>
                        </a:spcBef>
                        <a:spcAft>
                          <a:spcPts val="0"/>
                        </a:spcAft>
                        <a:buClrTx/>
                        <a:buSzTx/>
                        <a:buFont typeface="Arial"/>
                        <a:buChar char="•"/>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Synergies guidance: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The candidate should develop an extended list of potential synergies. It is important to list the 3 main synergies: revenues, costs, know-how (this is key, because it will affect the political issues and development of new products). A list with examples is shown later. This is an orientation list; the candidate might come with other examples. No numbers are required. Share this with him/her once the analysis is done.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Political issues guidance: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rgbClr val="000000"/>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rgbClr val="000000"/>
                          </a:solidFill>
                          <a:latin typeface="+mn-lt"/>
                          <a:ea typeface="+mn-ea"/>
                          <a:cs typeface="+mn-cs"/>
                        </a:rPr>
                        <a:t>The candidate should list different organizational scenarios and how political issues might affect each one. If he/she is stuck, the interviewer could provide some metrics (e.g. whether the scenario will affect employees, facilities and State power) to develop the discussion. A list with examples is shown below later. This is an orientation list, the student might come with other examples. No numbers are required. Share it with him/her once the analysis is done.</a:t>
                      </a:r>
                    </a:p>
                    <a:p>
                      <a:pPr marL="0" marR="0" indent="0" algn="l" defTabSz="457200" rtl="0" eaLnBrk="1" fontAlgn="auto" latinLnBrk="0" hangingPunct="1">
                        <a:lnSpc>
                          <a:spcPct val="100000"/>
                        </a:lnSpc>
                        <a:spcBef>
                          <a:spcPts val="0"/>
                        </a:spcBef>
                        <a:spcAft>
                          <a:spcPts val="0"/>
                        </a:spcAft>
                        <a:buClrTx/>
                        <a:buSzTx/>
                        <a:buFont typeface="Arial"/>
                        <a:buNone/>
                        <a:tabLst/>
                        <a:defRPr/>
                      </a:pPr>
                      <a:endParaRPr lang="en-US" sz="1200" b="0" i="0" kern="1200" baseline="0" dirty="0" smtClean="0">
                        <a:solidFill>
                          <a:srgbClr val="000000"/>
                        </a:solidFill>
                        <a:latin typeface="+mn-lt"/>
                        <a:ea typeface="+mn-ea"/>
                        <a:cs typeface="+mn-cs"/>
                      </a:endParaRPr>
                    </a:p>
                  </a:txBody>
                  <a:tcPr>
                    <a:solidFill>
                      <a:srgbClr val="CCCCCC"/>
                    </a:solidFill>
                  </a:tcPr>
                </a:tc>
              </a:tr>
            </a:tbl>
          </a:graphicData>
        </a:graphic>
      </p:graphicFrame>
    </p:spTree>
    <p:extLst>
      <p:ext uri="{BB962C8B-B14F-4D97-AF65-F5344CB8AC3E}">
        <p14:creationId xmlns:p14="http://schemas.microsoft.com/office/powerpoint/2010/main" val="3185426739"/>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156</a:t>
            </a:fld>
            <a:endParaRPr lang="en-US" dirty="0"/>
          </a:p>
        </p:txBody>
      </p:sp>
      <p:sp>
        <p:nvSpPr>
          <p:cNvPr id="9"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7"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graphicFrame>
        <p:nvGraphicFramePr>
          <p:cNvPr id="17" name="Table 16"/>
          <p:cNvGraphicFramePr>
            <a:graphicFrameLocks noGrp="1"/>
          </p:cNvGraphicFramePr>
          <p:nvPr>
            <p:extLst>
              <p:ext uri="{D42A27DB-BD31-4B8C-83A1-F6EECF244321}">
                <p14:modId xmlns:p14="http://schemas.microsoft.com/office/powerpoint/2010/main" val="2164242275"/>
              </p:ext>
            </p:extLst>
          </p:nvPr>
        </p:nvGraphicFramePr>
        <p:xfrm>
          <a:off x="304800" y="1381125"/>
          <a:ext cx="8534400" cy="5303520"/>
        </p:xfrm>
        <a:graphic>
          <a:graphicData uri="http://schemas.openxmlformats.org/drawingml/2006/table">
            <a:tbl>
              <a:tblPr firstRow="1" bandRow="1">
                <a:tableStyleId>{616DA210-FB5B-4158-B5E0-FEB733F419BA}</a:tableStyleId>
              </a:tblPr>
              <a:tblGrid>
                <a:gridCol w="1600200"/>
                <a:gridCol w="6934200"/>
              </a:tblGrid>
              <a:tr h="159173">
                <a:tc>
                  <a:txBody>
                    <a:bodyPr/>
                    <a:lstStyle/>
                    <a:p>
                      <a:pPr algn="ctr"/>
                      <a:r>
                        <a:rPr lang="en-US" b="1" dirty="0" smtClean="0"/>
                        <a:t>Guidance</a:t>
                      </a:r>
                      <a:endParaRPr lang="en-US" b="1" baseline="0" dirty="0" smtClean="0"/>
                    </a:p>
                  </a:txBody>
                  <a:tcPr anchor="ctr">
                    <a:solidFill>
                      <a:srgbClr val="CCCCCC"/>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Scenarios guidance: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smtClean="0">
                          <a:solidFill>
                            <a:schemeClr val="tx1"/>
                          </a:solidFill>
                          <a:latin typeface="+mn-lt"/>
                          <a:ea typeface="+mn-ea"/>
                          <a:cs typeface="+mn-cs"/>
                        </a:rPr>
                        <a:t>The candidate should identify 4 possible scenarios (as-is, cooperation, integration, merge into a new division).The student should then highlight some aspects of each scenario, including ease of implementation, value creation, and political attractiveness. A table with the different options is given later. Key aspects are examples; other could be possible. Once completed, the interviewer can share the table with the candidate. At the end of analyzing the scenarios, the student should perform a recommendation to the CEO. Any answer is possible and should be supported with good reasoning and information.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n-lt"/>
                        <a:ea typeface="+mn-ea"/>
                        <a:cs typeface="+mn-cs"/>
                      </a:endParaRPr>
                    </a:p>
                  </a:txBody>
                  <a:tcPr>
                    <a:solidFill>
                      <a:srgbClr val="CCCCCC"/>
                    </a:solidFill>
                  </a:tcPr>
                </a:tc>
              </a:tr>
              <a:tr h="159173">
                <a:tc>
                  <a:txBody>
                    <a:bodyPr/>
                    <a:lstStyle/>
                    <a:p>
                      <a:pPr algn="ctr"/>
                      <a:r>
                        <a:rPr lang="en-US" b="1" i="0" dirty="0" smtClean="0"/>
                        <a:t>Performance Evaluation</a:t>
                      </a:r>
                      <a:endParaRPr lang="en-US" sz="1000" i="0" dirty="0"/>
                    </a:p>
                  </a:txBody>
                  <a:tcPr anchor="ctr">
                    <a:noFill/>
                  </a:tcP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Effectively summarizes the information given</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Identifies areas of discussion</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Arrives at some conclusion</a:t>
                      </a:r>
                    </a:p>
                    <a:p>
                      <a:pPr marL="0" marR="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n-lt"/>
                        <a:ea typeface="+mn-ea"/>
                        <a:cs typeface="+mn-cs"/>
                      </a:endParaRPr>
                    </a:p>
                    <a:p>
                      <a:r>
                        <a:rPr lang="en-US" sz="1200" b="1" i="0" kern="1200" baseline="0" dirty="0" smtClean="0">
                          <a:solidFill>
                            <a:schemeClr val="tx1"/>
                          </a:solidFill>
                          <a:latin typeface="+mj-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Completes all “Expected” requirements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Works with the data to answer questions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Asks good clarification questions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Identifies most areas of synergies</a:t>
                      </a:r>
                    </a:p>
                    <a:p>
                      <a:endParaRPr lang="en-US" sz="1200" b="0"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Completes all “Good” requirements</a:t>
                      </a:r>
                    </a:p>
                    <a:p>
                      <a:pPr marL="171450" indent="-171450">
                        <a:buFont typeface="Arial" pitchFamily="34" charset="0"/>
                        <a:buChar char="•"/>
                      </a:pPr>
                      <a:r>
                        <a:rPr lang="en-US" sz="1200" b="0" i="0" kern="1200" baseline="0" dirty="0" smtClean="0">
                          <a:solidFill>
                            <a:schemeClr val="tx1"/>
                          </a:solidFill>
                          <a:latin typeface="+mj-lt"/>
                          <a:ea typeface="+mn-ea"/>
                          <a:cs typeface="+mn-cs"/>
                        </a:rPr>
                        <a:t>Identifies all key recommendations with data to support</a:t>
                      </a:r>
                    </a:p>
                    <a:p>
                      <a:pPr marL="171450" indent="-171450">
                        <a:buFont typeface="Arial" pitchFamily="34" charset="0"/>
                        <a:buChar char="•"/>
                      </a:pPr>
                      <a:r>
                        <a:rPr lang="en-US" sz="1200" b="0" i="0" kern="1200" baseline="0" dirty="0" smtClean="0">
                          <a:solidFill>
                            <a:schemeClr val="tx1"/>
                          </a:solidFill>
                          <a:latin typeface="+mj-lt"/>
                          <a:ea typeface="+mn-ea"/>
                          <a:cs typeface="+mn-cs"/>
                        </a:rPr>
                        <a:t>Identifies all 4 key scenarios</a:t>
                      </a:r>
                    </a:p>
                    <a:p>
                      <a:pPr marL="171450" indent="-171450">
                        <a:buFont typeface="Arial" pitchFamily="34" charset="0"/>
                        <a:buChar char="•"/>
                      </a:pPr>
                      <a:r>
                        <a:rPr lang="en-US" sz="1200" b="0" i="0" kern="1200" baseline="0" dirty="0" smtClean="0">
                          <a:solidFill>
                            <a:schemeClr val="tx1"/>
                          </a:solidFill>
                          <a:latin typeface="+mj-lt"/>
                          <a:ea typeface="+mn-ea"/>
                          <a:cs typeface="+mn-cs"/>
                        </a:rPr>
                        <a:t>Summarizes all of the findings at the end of the case and provide a recommendation</a:t>
                      </a:r>
                    </a:p>
                    <a:p>
                      <a:pPr marL="171450" indent="-171450">
                        <a:buFont typeface="Arial" pitchFamily="34" charset="0"/>
                        <a:buChar char="•"/>
                      </a:pPr>
                      <a:r>
                        <a:rPr lang="en-US" sz="1200" b="0" i="0" kern="1200" baseline="0" dirty="0" smtClean="0">
                          <a:solidFill>
                            <a:schemeClr val="tx1"/>
                          </a:solidFill>
                          <a:latin typeface="+mj-lt"/>
                          <a:ea typeface="+mn-ea"/>
                          <a:cs typeface="+mn-cs"/>
                        </a:rPr>
                        <a:t>Provides additional creative ideas</a:t>
                      </a:r>
                    </a:p>
                    <a:p>
                      <a:pPr marL="171450" indent="-171450">
                        <a:buFont typeface="Arial" pitchFamily="34" charset="0"/>
                        <a:buChar char="•"/>
                      </a:pPr>
                      <a:endParaRPr lang="en-US" sz="1200" b="0" i="0" kern="1200" baseline="0" dirty="0" smtClean="0">
                        <a:solidFill>
                          <a:schemeClr val="tx1"/>
                        </a:solidFill>
                        <a:latin typeface="Calibri" pitchFamily="34" charset="0"/>
                        <a:ea typeface="+mn-ea"/>
                        <a:cs typeface="+mn-cs"/>
                      </a:endParaRPr>
                    </a:p>
                  </a:txBody>
                  <a:tcPr>
                    <a:noFill/>
                  </a:tcPr>
                </a:tc>
              </a:tr>
            </a:tbl>
          </a:graphicData>
        </a:graphic>
      </p:graphicFrame>
    </p:spTree>
    <p:extLst>
      <p:ext uri="{BB962C8B-B14F-4D97-AF65-F5344CB8AC3E}">
        <p14:creationId xmlns:p14="http://schemas.microsoft.com/office/powerpoint/2010/main" val="4046785304"/>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075"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078"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graphicFrame>
        <p:nvGraphicFramePr>
          <p:cNvPr id="12" name="Table 11"/>
          <p:cNvGraphicFramePr>
            <a:graphicFrameLocks noGrp="1"/>
          </p:cNvGraphicFramePr>
          <p:nvPr>
            <p:extLst>
              <p:ext uri="{D42A27DB-BD31-4B8C-83A1-F6EECF244321}">
                <p14:modId xmlns:p14="http://schemas.microsoft.com/office/powerpoint/2010/main" val="3226684341"/>
              </p:ext>
            </p:extLst>
          </p:nvPr>
        </p:nvGraphicFramePr>
        <p:xfrm>
          <a:off x="304800" y="1651000"/>
          <a:ext cx="8737600" cy="4480560"/>
        </p:xfrm>
        <a:graphic>
          <a:graphicData uri="http://schemas.openxmlformats.org/drawingml/2006/table">
            <a:tbl>
              <a:tblPr firstRow="1" bandRow="1">
                <a:tableStyleId>{616DA210-FB5B-4158-B5E0-FEB733F419BA}</a:tableStyleId>
              </a:tblPr>
              <a:tblGrid>
                <a:gridCol w="1638300"/>
                <a:gridCol w="7099300"/>
              </a:tblGrid>
              <a:tr h="4292600">
                <a:tc>
                  <a:txBody>
                    <a:bodyPr/>
                    <a:lstStyle/>
                    <a:p>
                      <a:pPr algn="ctr"/>
                      <a:r>
                        <a:rPr lang="en-US" sz="1600" dirty="0" smtClean="0"/>
                        <a:t>Market Shipbuilding</a:t>
                      </a:r>
                      <a:endParaRPr lang="en-US" sz="1600" dirty="0"/>
                    </a:p>
                  </a:txBody>
                  <a:tcPr anchor="ctr"/>
                </a:tc>
                <a:tc>
                  <a:txBody>
                    <a:bodyPr/>
                    <a:lstStyle/>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txBody>
                  <a:tcPr/>
                </a:tc>
              </a:tr>
            </a:tbl>
          </a:graphicData>
        </a:graphic>
      </p:graphicFrame>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157</a:t>
            </a:fld>
            <a:endParaRPr lang="en-US" dirty="0"/>
          </a:p>
        </p:txBody>
      </p:sp>
      <p:sp>
        <p:nvSpPr>
          <p:cNvPr id="10" name="TextBox 9"/>
          <p:cNvSpPr txBox="1"/>
          <p:nvPr/>
        </p:nvSpPr>
        <p:spPr>
          <a:xfrm>
            <a:off x="6261100" y="5651500"/>
            <a:ext cx="2781300" cy="400110"/>
          </a:xfrm>
          <a:prstGeom prst="rect">
            <a:avLst/>
          </a:prstGeom>
          <a:noFill/>
        </p:spPr>
        <p:txBody>
          <a:bodyPr wrap="square" rtlCol="0">
            <a:spAutoFit/>
          </a:bodyPr>
          <a:lstStyle/>
          <a:p>
            <a:r>
              <a:rPr lang="en-US" sz="1000" dirty="0" smtClean="0"/>
              <a:t>Red: products from advanced technologies</a:t>
            </a:r>
          </a:p>
          <a:p>
            <a:r>
              <a:rPr lang="en-US" sz="1000" dirty="0" smtClean="0"/>
              <a:t>Blue: products from naval</a:t>
            </a:r>
            <a:endParaRPr lang="en-US" sz="1000" dirty="0"/>
          </a:p>
        </p:txBody>
      </p:sp>
      <p:sp>
        <p:nvSpPr>
          <p:cNvPr id="15" name="TextBox 14"/>
          <p:cNvSpPr txBox="1"/>
          <p:nvPr/>
        </p:nvSpPr>
        <p:spPr>
          <a:xfrm>
            <a:off x="2006600" y="5896249"/>
            <a:ext cx="7035800" cy="246221"/>
          </a:xfrm>
          <a:prstGeom prst="rect">
            <a:avLst/>
          </a:prstGeom>
          <a:noFill/>
        </p:spPr>
        <p:txBody>
          <a:bodyPr wrap="square" rtlCol="0">
            <a:spAutoFit/>
          </a:bodyPr>
          <a:lstStyle/>
          <a:p>
            <a:r>
              <a:rPr lang="en-US" sz="1000" dirty="0" smtClean="0">
                <a:solidFill>
                  <a:srgbClr val="000000"/>
                </a:solidFill>
              </a:rPr>
              <a:t>1 Missile boat don’t have a new product in the pipeline after 2015</a:t>
            </a:r>
          </a:p>
        </p:txBody>
      </p:sp>
      <p:pic>
        <p:nvPicPr>
          <p:cNvPr id="6" name="Picture 5"/>
          <p:cNvPicPr>
            <a:picLocks noChangeAspect="1"/>
          </p:cNvPicPr>
          <p:nvPr/>
        </p:nvPicPr>
        <p:blipFill>
          <a:blip r:embed="rId3"/>
          <a:stretch>
            <a:fillRect/>
          </a:stretch>
        </p:blipFill>
        <p:spPr>
          <a:xfrm>
            <a:off x="2621077" y="2182538"/>
            <a:ext cx="5354444" cy="3028470"/>
          </a:xfrm>
          <a:prstGeom prst="rect">
            <a:avLst/>
          </a:prstGeom>
        </p:spPr>
      </p:pic>
      <p:sp>
        <p:nvSpPr>
          <p:cNvPr id="16" name="TextBox 15"/>
          <p:cNvSpPr txBox="1"/>
          <p:nvPr/>
        </p:nvSpPr>
        <p:spPr>
          <a:xfrm>
            <a:off x="7682832" y="3039308"/>
            <a:ext cx="280578" cy="194925"/>
          </a:xfrm>
          <a:prstGeom prst="rect">
            <a:avLst/>
          </a:prstGeom>
          <a:noFill/>
        </p:spPr>
        <p:txBody>
          <a:bodyPr wrap="square" rtlCol="0">
            <a:spAutoFit/>
          </a:bodyPr>
          <a:lstStyle/>
          <a:p>
            <a:r>
              <a:rPr lang="en-US" sz="1000" baseline="30000" dirty="0" smtClean="0"/>
              <a:t>1</a:t>
            </a:r>
            <a:endParaRPr lang="en-US" sz="1000" baseline="30000" dirty="0"/>
          </a:p>
        </p:txBody>
      </p:sp>
      <p:sp>
        <p:nvSpPr>
          <p:cNvPr id="13" name="Rectangle 12"/>
          <p:cNvSpPr/>
          <p:nvPr/>
        </p:nvSpPr>
        <p:spPr>
          <a:xfrm>
            <a:off x="304800" y="1485900"/>
            <a:ext cx="8737600" cy="5588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b="1" dirty="0" smtClean="0">
                <a:solidFill>
                  <a:srgbClr val="000000"/>
                </a:solidFill>
              </a:rPr>
              <a:t>Exhibit 4: </a:t>
            </a:r>
            <a:r>
              <a:rPr lang="en-US" sz="1400" b="1" dirty="0"/>
              <a:t>Confirmed military orders to deliver by type of product</a:t>
            </a:r>
          </a:p>
        </p:txBody>
      </p:sp>
    </p:spTree>
    <p:extLst>
      <p:ext uri="{BB962C8B-B14F-4D97-AF65-F5344CB8AC3E}">
        <p14:creationId xmlns:p14="http://schemas.microsoft.com/office/powerpoint/2010/main" val="4029380098"/>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0"/>
          <a:srcRect/>
          <a:stretch>
            <a:fillRect/>
          </a:stretch>
        </p:blipFill>
        <p:spPr bwMode="auto">
          <a:xfrm>
            <a:off x="304800" y="228600"/>
            <a:ext cx="1200150" cy="635000"/>
          </a:xfrm>
          <a:prstGeom prst="rect">
            <a:avLst/>
          </a:prstGeom>
          <a:noFill/>
          <a:ln w="9525" algn="ctr">
            <a:noFill/>
            <a:miter lim="800000"/>
            <a:headEnd/>
            <a:tailEnd/>
          </a:ln>
        </p:spPr>
      </p:pic>
      <p:sp>
        <p:nvSpPr>
          <p:cNvPr id="3075"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3078"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graphicFrame>
        <p:nvGraphicFramePr>
          <p:cNvPr id="12" name="Table 11"/>
          <p:cNvGraphicFramePr>
            <a:graphicFrameLocks noGrp="1"/>
          </p:cNvGraphicFramePr>
          <p:nvPr>
            <p:extLst>
              <p:ext uri="{D42A27DB-BD31-4B8C-83A1-F6EECF244321}">
                <p14:modId xmlns:p14="http://schemas.microsoft.com/office/powerpoint/2010/main" val="1508162711"/>
              </p:ext>
            </p:extLst>
          </p:nvPr>
        </p:nvGraphicFramePr>
        <p:xfrm>
          <a:off x="304800" y="1295400"/>
          <a:ext cx="8737600" cy="5003800"/>
        </p:xfrm>
        <a:graphic>
          <a:graphicData uri="http://schemas.openxmlformats.org/drawingml/2006/table">
            <a:tbl>
              <a:tblPr firstRow="1" bandRow="1">
                <a:tableStyleId>{616DA210-FB5B-4158-B5E0-FEB733F419BA}</a:tableStyleId>
              </a:tblPr>
              <a:tblGrid>
                <a:gridCol w="1638300"/>
                <a:gridCol w="7099300"/>
              </a:tblGrid>
              <a:tr h="5003800">
                <a:tc>
                  <a:txBody>
                    <a:bodyPr/>
                    <a:lstStyle/>
                    <a:p>
                      <a:pPr algn="ctr"/>
                      <a:r>
                        <a:rPr lang="en-US" sz="1600" dirty="0" smtClean="0"/>
                        <a:t>Synergies</a:t>
                      </a:r>
                      <a:endParaRPr lang="en-US" sz="1600" dirty="0"/>
                    </a:p>
                  </a:txBody>
                  <a:tcPr anchor="ctr"/>
                </a:tc>
                <a:tc>
                  <a:txBody>
                    <a:bodyPr/>
                    <a:lstStyle/>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txBody>
                  <a:tcPr/>
                </a:tc>
              </a:tr>
            </a:tbl>
          </a:graphicData>
        </a:graphic>
      </p:graphicFrame>
      <p:sp>
        <p:nvSpPr>
          <p:cNvPr id="2" name="Slide Number Placeholder 1"/>
          <p:cNvSpPr>
            <a:spLocks noGrp="1"/>
          </p:cNvSpPr>
          <p:nvPr>
            <p:ph type="sldNum" sz="quarter" idx="11"/>
          </p:nvPr>
        </p:nvSpPr>
        <p:spPr/>
        <p:txBody>
          <a:bodyPr/>
          <a:lstStyle/>
          <a:p>
            <a:pPr>
              <a:defRPr/>
            </a:pPr>
            <a:fld id="{2E1E1E2A-88E9-4CB1-89D2-8ABF177DA4C4}" type="slidenum">
              <a:rPr lang="en-US" smtClean="0"/>
              <a:pPr>
                <a:defRPr/>
              </a:pPr>
              <a:t>158</a:t>
            </a:fld>
            <a:endParaRPr lang="en-US" dirty="0"/>
          </a:p>
        </p:txBody>
      </p:sp>
      <p:sp>
        <p:nvSpPr>
          <p:cNvPr id="11" name="Rectangle 68"/>
          <p:cNvSpPr>
            <a:spLocks noChangeArrowheads="1"/>
          </p:cNvSpPr>
          <p:nvPr>
            <p:custDataLst>
              <p:tags r:id="rId1"/>
            </p:custDataLst>
          </p:nvPr>
        </p:nvSpPr>
        <p:spPr bwMode="gray">
          <a:xfrm>
            <a:off x="2286000" y="3813176"/>
            <a:ext cx="1136650" cy="755650"/>
          </a:xfrm>
          <a:prstGeom prst="rect">
            <a:avLst/>
          </a:prstGeom>
          <a:solidFill>
            <a:schemeClr va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spAutoFit/>
          </a:bodyPr>
          <a:lstStyle/>
          <a:p>
            <a:endParaRPr lang="en-US"/>
          </a:p>
        </p:txBody>
      </p:sp>
      <p:sp>
        <p:nvSpPr>
          <p:cNvPr id="13" name="Rectangle 73"/>
          <p:cNvSpPr txBox="1">
            <a:spLocks noChangeArrowheads="1"/>
          </p:cNvSpPr>
          <p:nvPr>
            <p:custDataLst>
              <p:tags r:id="rId2"/>
            </p:custDataLst>
          </p:nvPr>
        </p:nvSpPr>
        <p:spPr bwMode="gray">
          <a:xfrm>
            <a:off x="3600450" y="2640013"/>
            <a:ext cx="841375" cy="431800"/>
          </a:xfrm>
          <a:prstGeom prst="rect">
            <a:avLst/>
          </a:prstGeom>
          <a:solidFill>
            <a:schemeClr val="bg1"/>
          </a:solidFill>
          <a:ln w="9525">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dirty="0" smtClean="0"/>
              <a:t>Costs synergies </a:t>
            </a:r>
            <a:endParaRPr lang="en-US" sz="1000" dirty="0"/>
          </a:p>
        </p:txBody>
      </p:sp>
      <p:sp>
        <p:nvSpPr>
          <p:cNvPr id="14" name="Rectangle 83"/>
          <p:cNvSpPr txBox="1">
            <a:spLocks noChangeArrowheads="1"/>
          </p:cNvSpPr>
          <p:nvPr>
            <p:custDataLst>
              <p:tags r:id="rId3"/>
            </p:custDataLst>
          </p:nvPr>
        </p:nvSpPr>
        <p:spPr bwMode="gray">
          <a:xfrm>
            <a:off x="3600450" y="5362576"/>
            <a:ext cx="841375" cy="431800"/>
          </a:xfrm>
          <a:prstGeom prst="rect">
            <a:avLst/>
          </a:prstGeom>
          <a:solidFill>
            <a:schemeClr val="bg1"/>
          </a:solidFill>
          <a:ln w="9525">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dirty="0" smtClean="0"/>
              <a:t>Transfer of know-how</a:t>
            </a:r>
            <a:endParaRPr lang="en-US" sz="1000" dirty="0"/>
          </a:p>
        </p:txBody>
      </p:sp>
      <p:sp>
        <p:nvSpPr>
          <p:cNvPr id="16" name="Rectangle 84"/>
          <p:cNvSpPr txBox="1">
            <a:spLocks noChangeArrowheads="1"/>
          </p:cNvSpPr>
          <p:nvPr>
            <p:custDataLst>
              <p:tags r:id="rId4"/>
            </p:custDataLst>
          </p:nvPr>
        </p:nvSpPr>
        <p:spPr bwMode="gray">
          <a:xfrm>
            <a:off x="3600450" y="4105629"/>
            <a:ext cx="841375" cy="431800"/>
          </a:xfrm>
          <a:prstGeom prst="rect">
            <a:avLst/>
          </a:prstGeom>
          <a:solidFill>
            <a:schemeClr val="bg1"/>
          </a:solidFill>
          <a:ln w="9525">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smtClean="0"/>
              <a:t>Revenue synergies </a:t>
            </a:r>
            <a:endParaRPr lang="en-US" sz="1000"/>
          </a:p>
        </p:txBody>
      </p:sp>
      <p:cxnSp>
        <p:nvCxnSpPr>
          <p:cNvPr id="17" name="AutoShape 85"/>
          <p:cNvCxnSpPr>
            <a:cxnSpLocks noChangeShapeType="1"/>
            <a:stCxn id="11" idx="3"/>
            <a:endCxn id="13" idx="1"/>
          </p:cNvCxnSpPr>
          <p:nvPr>
            <p:custDataLst>
              <p:tags r:id="rId5"/>
            </p:custDataLst>
          </p:nvPr>
        </p:nvCxnSpPr>
        <p:spPr bwMode="gray">
          <a:xfrm flipV="1">
            <a:off x="3422650" y="2855913"/>
            <a:ext cx="177800" cy="1335088"/>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86"/>
          <p:cNvCxnSpPr>
            <a:cxnSpLocks noChangeShapeType="1"/>
            <a:stCxn id="11" idx="3"/>
            <a:endCxn id="16" idx="1"/>
          </p:cNvCxnSpPr>
          <p:nvPr>
            <p:custDataLst>
              <p:tags r:id="rId6"/>
            </p:custDataLst>
          </p:nvPr>
        </p:nvCxnSpPr>
        <p:spPr bwMode="gray">
          <a:xfrm>
            <a:off x="3422650" y="4191001"/>
            <a:ext cx="177800" cy="130528"/>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87"/>
          <p:cNvCxnSpPr>
            <a:cxnSpLocks noChangeShapeType="1"/>
            <a:stCxn id="11" idx="3"/>
            <a:endCxn id="14" idx="1"/>
          </p:cNvCxnSpPr>
          <p:nvPr>
            <p:custDataLst>
              <p:tags r:id="rId7"/>
            </p:custDataLst>
          </p:nvPr>
        </p:nvCxnSpPr>
        <p:spPr bwMode="gray">
          <a:xfrm>
            <a:off x="3422650" y="4191001"/>
            <a:ext cx="177800" cy="1387475"/>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Rectangle 74"/>
          <p:cNvSpPr txBox="1">
            <a:spLocks noChangeArrowheads="1"/>
          </p:cNvSpPr>
          <p:nvPr>
            <p:custDataLst>
              <p:tags r:id="rId8"/>
            </p:custDataLst>
          </p:nvPr>
        </p:nvSpPr>
        <p:spPr bwMode="gray">
          <a:xfrm>
            <a:off x="4619624" y="2446864"/>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dirty="0" smtClean="0"/>
              <a:t>Amortization of R&amp;D costs on a higher production volume </a:t>
            </a:r>
            <a:endParaRPr lang="en-US" sz="1000" dirty="0"/>
          </a:p>
        </p:txBody>
      </p:sp>
      <p:sp>
        <p:nvSpPr>
          <p:cNvPr id="21" name="Rectangle 78"/>
          <p:cNvSpPr txBox="1">
            <a:spLocks noChangeArrowheads="1"/>
          </p:cNvSpPr>
          <p:nvPr>
            <p:custDataLst>
              <p:tags r:id="rId9"/>
            </p:custDataLst>
          </p:nvPr>
        </p:nvSpPr>
        <p:spPr bwMode="gray">
          <a:xfrm>
            <a:off x="4619624" y="4138084"/>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smtClean="0"/>
              <a:t>Extension of the product portfolio and cross-selling</a:t>
            </a:r>
            <a:endParaRPr lang="en-US" sz="1000"/>
          </a:p>
        </p:txBody>
      </p:sp>
      <p:sp>
        <p:nvSpPr>
          <p:cNvPr id="22" name="Rectangle 79"/>
          <p:cNvSpPr txBox="1">
            <a:spLocks noChangeArrowheads="1"/>
          </p:cNvSpPr>
          <p:nvPr>
            <p:custDataLst>
              <p:tags r:id="rId10"/>
            </p:custDataLst>
          </p:nvPr>
        </p:nvSpPr>
        <p:spPr bwMode="gray">
          <a:xfrm>
            <a:off x="4619624" y="3715279"/>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smtClean="0"/>
              <a:t>Better access to markets (geographies, clients)</a:t>
            </a:r>
            <a:endParaRPr lang="en-US" sz="1000"/>
          </a:p>
        </p:txBody>
      </p:sp>
      <p:sp>
        <p:nvSpPr>
          <p:cNvPr id="23" name="Rectangle 80"/>
          <p:cNvSpPr txBox="1">
            <a:spLocks noChangeArrowheads="1"/>
          </p:cNvSpPr>
          <p:nvPr>
            <p:custDataLst>
              <p:tags r:id="rId11"/>
            </p:custDataLst>
          </p:nvPr>
        </p:nvSpPr>
        <p:spPr bwMode="gray">
          <a:xfrm>
            <a:off x="4619624" y="4560889"/>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smtClean="0"/>
              <a:t>Strengthening of the bargaining power</a:t>
            </a:r>
            <a:endParaRPr lang="en-US" sz="1000"/>
          </a:p>
        </p:txBody>
      </p:sp>
      <p:sp>
        <p:nvSpPr>
          <p:cNvPr id="24" name="Rectangle 82"/>
          <p:cNvSpPr txBox="1">
            <a:spLocks noChangeArrowheads="1"/>
          </p:cNvSpPr>
          <p:nvPr>
            <p:custDataLst>
              <p:tags r:id="rId12"/>
            </p:custDataLst>
          </p:nvPr>
        </p:nvSpPr>
        <p:spPr bwMode="gray">
          <a:xfrm>
            <a:off x="4619624" y="4983694"/>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smtClean="0"/>
              <a:t>Enhancement of the products through the use of better technologies </a:t>
            </a:r>
            <a:endParaRPr lang="en-US" sz="1000"/>
          </a:p>
        </p:txBody>
      </p:sp>
      <p:sp>
        <p:nvSpPr>
          <p:cNvPr id="25" name="Rectangle 81"/>
          <p:cNvSpPr txBox="1">
            <a:spLocks noChangeArrowheads="1"/>
          </p:cNvSpPr>
          <p:nvPr>
            <p:custDataLst>
              <p:tags r:id="rId13"/>
            </p:custDataLst>
          </p:nvPr>
        </p:nvSpPr>
        <p:spPr bwMode="gray">
          <a:xfrm>
            <a:off x="4619624" y="5406499"/>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dirty="0" smtClean="0"/>
              <a:t>Sharing of management and operations best practices </a:t>
            </a:r>
            <a:endParaRPr lang="en-US" sz="1000" dirty="0"/>
          </a:p>
        </p:txBody>
      </p:sp>
      <p:sp>
        <p:nvSpPr>
          <p:cNvPr id="26" name="Rectangle 77"/>
          <p:cNvSpPr txBox="1">
            <a:spLocks noChangeArrowheads="1"/>
          </p:cNvSpPr>
          <p:nvPr>
            <p:custDataLst>
              <p:tags r:id="rId14"/>
            </p:custDataLst>
          </p:nvPr>
        </p:nvSpPr>
        <p:spPr bwMode="gray">
          <a:xfrm>
            <a:off x="4619624" y="2869669"/>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smtClean="0"/>
              <a:t>Efficiency gains in production</a:t>
            </a:r>
            <a:endParaRPr lang="en-US" sz="1000"/>
          </a:p>
        </p:txBody>
      </p:sp>
      <p:sp>
        <p:nvSpPr>
          <p:cNvPr id="27" name="Rectangle 75"/>
          <p:cNvSpPr txBox="1">
            <a:spLocks noChangeArrowheads="1"/>
          </p:cNvSpPr>
          <p:nvPr>
            <p:custDataLst>
              <p:tags r:id="rId15"/>
            </p:custDataLst>
          </p:nvPr>
        </p:nvSpPr>
        <p:spPr bwMode="gray">
          <a:xfrm>
            <a:off x="4619624" y="2024059"/>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dirty="0" smtClean="0"/>
              <a:t>Reduction of procurement costs (economies of scale) </a:t>
            </a:r>
            <a:endParaRPr lang="en-US" sz="1000" dirty="0"/>
          </a:p>
        </p:txBody>
      </p:sp>
      <p:sp>
        <p:nvSpPr>
          <p:cNvPr id="28" name="Rectangle 76"/>
          <p:cNvSpPr txBox="1">
            <a:spLocks noChangeArrowheads="1"/>
          </p:cNvSpPr>
          <p:nvPr>
            <p:custDataLst>
              <p:tags r:id="rId16"/>
            </p:custDataLst>
          </p:nvPr>
        </p:nvSpPr>
        <p:spPr bwMode="gray">
          <a:xfrm>
            <a:off x="4619624" y="3292474"/>
            <a:ext cx="3201035" cy="365760"/>
          </a:xfrm>
          <a:prstGeom prst="rect">
            <a:avLst/>
          </a:prstGeom>
          <a:solidFill>
            <a:schemeClr val="accent2"/>
          </a:solidFill>
          <a:ln w="9525">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smtClean="0"/>
              <a:t>Reduction of structural costs</a:t>
            </a:r>
            <a:endParaRPr lang="en-US" sz="1000"/>
          </a:p>
        </p:txBody>
      </p:sp>
      <p:cxnSp>
        <p:nvCxnSpPr>
          <p:cNvPr id="29" name="AutoShape 140"/>
          <p:cNvCxnSpPr>
            <a:cxnSpLocks noChangeShapeType="1"/>
            <a:stCxn id="13" idx="3"/>
            <a:endCxn id="27" idx="1"/>
          </p:cNvCxnSpPr>
          <p:nvPr/>
        </p:nvCxnSpPr>
        <p:spPr bwMode="gray">
          <a:xfrm flipV="1">
            <a:off x="4441825" y="2206939"/>
            <a:ext cx="177799" cy="648974"/>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141"/>
          <p:cNvCxnSpPr>
            <a:cxnSpLocks noChangeShapeType="1"/>
            <a:stCxn id="13" idx="3"/>
            <a:endCxn id="20" idx="1"/>
          </p:cNvCxnSpPr>
          <p:nvPr/>
        </p:nvCxnSpPr>
        <p:spPr bwMode="gray">
          <a:xfrm flipV="1">
            <a:off x="4441825" y="2629744"/>
            <a:ext cx="177799" cy="226169"/>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AutoShape 142"/>
          <p:cNvCxnSpPr>
            <a:cxnSpLocks noChangeShapeType="1"/>
            <a:stCxn id="13" idx="3"/>
            <a:endCxn id="26" idx="1"/>
          </p:cNvCxnSpPr>
          <p:nvPr/>
        </p:nvCxnSpPr>
        <p:spPr bwMode="gray">
          <a:xfrm>
            <a:off x="4441825" y="2855913"/>
            <a:ext cx="177799" cy="196636"/>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143"/>
          <p:cNvCxnSpPr>
            <a:cxnSpLocks noChangeShapeType="1"/>
            <a:stCxn id="13" idx="3"/>
            <a:endCxn id="28" idx="1"/>
          </p:cNvCxnSpPr>
          <p:nvPr/>
        </p:nvCxnSpPr>
        <p:spPr bwMode="gray">
          <a:xfrm>
            <a:off x="4441825" y="2855913"/>
            <a:ext cx="177799" cy="619441"/>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AutoShape 144"/>
          <p:cNvCxnSpPr>
            <a:cxnSpLocks noChangeShapeType="1"/>
            <a:stCxn id="16" idx="3"/>
            <a:endCxn id="22" idx="1"/>
          </p:cNvCxnSpPr>
          <p:nvPr/>
        </p:nvCxnSpPr>
        <p:spPr bwMode="gray">
          <a:xfrm flipV="1">
            <a:off x="4441825" y="3898159"/>
            <a:ext cx="177799" cy="423370"/>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145"/>
          <p:cNvCxnSpPr>
            <a:cxnSpLocks noChangeShapeType="1"/>
            <a:stCxn id="16" idx="3"/>
            <a:endCxn id="21" idx="1"/>
          </p:cNvCxnSpPr>
          <p:nvPr/>
        </p:nvCxnSpPr>
        <p:spPr bwMode="gray">
          <a:xfrm flipV="1">
            <a:off x="4441825" y="4320964"/>
            <a:ext cx="177799" cy="565"/>
          </a:xfrm>
          <a:prstGeom prst="straightConnector1">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146"/>
          <p:cNvCxnSpPr>
            <a:cxnSpLocks noChangeShapeType="1"/>
            <a:stCxn id="16" idx="3"/>
            <a:endCxn id="23" idx="1"/>
          </p:cNvCxnSpPr>
          <p:nvPr/>
        </p:nvCxnSpPr>
        <p:spPr bwMode="gray">
          <a:xfrm>
            <a:off x="4441825" y="4321529"/>
            <a:ext cx="177799" cy="422240"/>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AutoShape 147"/>
          <p:cNvCxnSpPr>
            <a:cxnSpLocks noChangeShapeType="1"/>
            <a:stCxn id="14" idx="3"/>
            <a:endCxn id="24" idx="1"/>
          </p:cNvCxnSpPr>
          <p:nvPr/>
        </p:nvCxnSpPr>
        <p:spPr bwMode="gray">
          <a:xfrm flipV="1">
            <a:off x="4441825" y="5166574"/>
            <a:ext cx="177799" cy="411902"/>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148"/>
          <p:cNvCxnSpPr>
            <a:cxnSpLocks noChangeShapeType="1"/>
            <a:stCxn id="14" idx="3"/>
            <a:endCxn id="25" idx="1"/>
          </p:cNvCxnSpPr>
          <p:nvPr/>
        </p:nvCxnSpPr>
        <p:spPr bwMode="gray">
          <a:xfrm>
            <a:off x="4441825" y="5578476"/>
            <a:ext cx="177799" cy="10903"/>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Rectangle 171"/>
          <p:cNvSpPr txBox="1">
            <a:spLocks noChangeArrowheads="1"/>
          </p:cNvSpPr>
          <p:nvPr>
            <p:custDataLst>
              <p:tags r:id="rId17"/>
            </p:custDataLst>
          </p:nvPr>
        </p:nvSpPr>
        <p:spPr bwMode="gray">
          <a:xfrm>
            <a:off x="2387600" y="4064001"/>
            <a:ext cx="962025" cy="3048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000" b="1" dirty="0" smtClean="0">
                <a:solidFill>
                  <a:schemeClr val="bg1"/>
                </a:solidFill>
              </a:rPr>
              <a:t>Synergies</a:t>
            </a:r>
            <a:endParaRPr lang="en-US" sz="1000" b="1" dirty="0">
              <a:solidFill>
                <a:schemeClr val="bg1"/>
              </a:solidFill>
            </a:endParaRPr>
          </a:p>
        </p:txBody>
      </p:sp>
      <p:sp>
        <p:nvSpPr>
          <p:cNvPr id="50" name="Rectangle 81"/>
          <p:cNvSpPr txBox="1">
            <a:spLocks noChangeArrowheads="1"/>
          </p:cNvSpPr>
          <p:nvPr>
            <p:custDataLst>
              <p:tags r:id="rId18"/>
            </p:custDataLst>
          </p:nvPr>
        </p:nvSpPr>
        <p:spPr bwMode="gray">
          <a:xfrm>
            <a:off x="4619624" y="5829301"/>
            <a:ext cx="3201035" cy="365760"/>
          </a:xfrm>
          <a:prstGeom prst="rect">
            <a:avLst/>
          </a:prstGeom>
          <a:solidFill>
            <a:schemeClr val="accent2"/>
          </a:solidFill>
          <a:ln w="9525" algn="ctr">
            <a:solidFill>
              <a:srgbClr val="808080"/>
            </a:solidFill>
            <a:miter lim="800000"/>
            <a:headEnd/>
            <a:tailEnd/>
          </a:ln>
        </p:spPr>
        <p:txBody>
          <a:bodyPr vert="horz" wrap="square" lIns="50517" tIns="42771" rIns="50517" bIns="42771"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000" dirty="0" smtClean="0"/>
              <a:t>Sharing technology to new product development</a:t>
            </a:r>
            <a:endParaRPr lang="en-US" sz="1000" dirty="0"/>
          </a:p>
        </p:txBody>
      </p:sp>
      <p:cxnSp>
        <p:nvCxnSpPr>
          <p:cNvPr id="57" name="AutoShape 148"/>
          <p:cNvCxnSpPr>
            <a:cxnSpLocks noChangeShapeType="1"/>
            <a:stCxn id="14" idx="3"/>
            <a:endCxn id="50" idx="1"/>
          </p:cNvCxnSpPr>
          <p:nvPr/>
        </p:nvCxnSpPr>
        <p:spPr bwMode="gray">
          <a:xfrm>
            <a:off x="4441825" y="5578476"/>
            <a:ext cx="177799" cy="433705"/>
          </a:xfrm>
          <a:prstGeom prst="bentConnector3">
            <a:avLst>
              <a:gd name="adj1" fmla="val 50000"/>
            </a:avLst>
          </a:prstGeom>
          <a:noFill/>
          <a:ln w="19050">
            <a:solidFill>
              <a:srgbClr val="80808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Rectangle 38"/>
          <p:cNvSpPr/>
          <p:nvPr/>
        </p:nvSpPr>
        <p:spPr>
          <a:xfrm>
            <a:off x="304800" y="1295400"/>
            <a:ext cx="8737600" cy="5588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smtClean="0">
                <a:solidFill>
                  <a:srgbClr val="000000"/>
                </a:solidFill>
              </a:rPr>
              <a:t>Interviewer copy: potential synergies</a:t>
            </a:r>
            <a:endParaRPr lang="en-US" sz="1600" b="1" dirty="0"/>
          </a:p>
        </p:txBody>
      </p:sp>
    </p:spTree>
    <p:extLst>
      <p:ext uri="{BB962C8B-B14F-4D97-AF65-F5344CB8AC3E}">
        <p14:creationId xmlns:p14="http://schemas.microsoft.com/office/powerpoint/2010/main" val="2540356085"/>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66"/>
          <a:srcRect/>
          <a:stretch>
            <a:fillRect/>
          </a:stretch>
        </p:blipFill>
        <p:spPr bwMode="auto">
          <a:xfrm>
            <a:off x="304800" y="228600"/>
            <a:ext cx="1200150" cy="635000"/>
          </a:xfrm>
          <a:prstGeom prst="rect">
            <a:avLst/>
          </a:prstGeom>
          <a:noFill/>
          <a:ln w="9525" algn="ctr">
            <a:noFill/>
            <a:miter lim="800000"/>
            <a:headEnd/>
            <a:tailEnd/>
          </a:ln>
        </p:spPr>
      </p:pic>
      <p:sp>
        <p:nvSpPr>
          <p:cNvPr id="3075"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solidFill>
                  <a:srgbClr val="000000"/>
                </a:solidFill>
              </a:rPr>
              <a:t>Strategy</a:t>
            </a:r>
            <a:endParaRPr lang="en-US" sz="1400" i="1" dirty="0">
              <a:solidFill>
                <a:srgbClr val="000000"/>
              </a:solidFill>
            </a:endParaRPr>
          </a:p>
        </p:txBody>
      </p:sp>
      <p:sp>
        <p:nvSpPr>
          <p:cNvPr id="3078"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graphicFrame>
        <p:nvGraphicFramePr>
          <p:cNvPr id="12" name="Table 11"/>
          <p:cNvGraphicFramePr>
            <a:graphicFrameLocks noGrp="1"/>
          </p:cNvGraphicFramePr>
          <p:nvPr>
            <p:extLst>
              <p:ext uri="{D42A27DB-BD31-4B8C-83A1-F6EECF244321}">
                <p14:modId xmlns:p14="http://schemas.microsoft.com/office/powerpoint/2010/main" val="495552916"/>
              </p:ext>
            </p:extLst>
          </p:nvPr>
        </p:nvGraphicFramePr>
        <p:xfrm>
          <a:off x="304800" y="1295400"/>
          <a:ext cx="8737600" cy="5245100"/>
        </p:xfrm>
        <a:graphic>
          <a:graphicData uri="http://schemas.openxmlformats.org/drawingml/2006/table">
            <a:tbl>
              <a:tblPr firstRow="1" bandRow="1">
                <a:tableStyleId>{616DA210-FB5B-4158-B5E0-FEB733F419BA}</a:tableStyleId>
              </a:tblPr>
              <a:tblGrid>
                <a:gridCol w="1638300"/>
                <a:gridCol w="7099300"/>
              </a:tblGrid>
              <a:tr h="5245100">
                <a:tc>
                  <a:txBody>
                    <a:bodyPr/>
                    <a:lstStyle/>
                    <a:p>
                      <a:pPr algn="ctr"/>
                      <a:r>
                        <a:rPr lang="en-US" sz="1600" dirty="0" smtClean="0"/>
                        <a:t>Political</a:t>
                      </a:r>
                    </a:p>
                    <a:p>
                      <a:pPr algn="ctr"/>
                      <a:r>
                        <a:rPr lang="en-US" sz="1600" dirty="0" smtClean="0"/>
                        <a:t>Issues</a:t>
                      </a:r>
                      <a:endParaRPr lang="en-US" sz="1600" dirty="0"/>
                    </a:p>
                  </a:txBody>
                  <a:tcPr anchor="ctr"/>
                </a:tc>
                <a:tc>
                  <a:txBody>
                    <a:bodyPr/>
                    <a:lstStyle/>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txBody>
                  <a:tcPr/>
                </a:tc>
              </a:tr>
            </a:tbl>
          </a:graphicData>
        </a:graphic>
      </p:graphicFrame>
      <p:sp>
        <p:nvSpPr>
          <p:cNvPr id="2" name="Slide Number Placeholder 1"/>
          <p:cNvSpPr>
            <a:spLocks noGrp="1"/>
          </p:cNvSpPr>
          <p:nvPr>
            <p:ph type="sldNum" sz="quarter" idx="11"/>
          </p:nvPr>
        </p:nvSpPr>
        <p:spPr/>
        <p:txBody>
          <a:bodyPr/>
          <a:lstStyle/>
          <a:p>
            <a:pPr>
              <a:defRPr/>
            </a:pPr>
            <a:fld id="{2E1E1E2A-88E9-4CB1-89D2-8ABF177DA4C4}" type="slidenum">
              <a:rPr lang="en-US" smtClean="0">
                <a:solidFill>
                  <a:srgbClr val="000000"/>
                </a:solidFill>
              </a:rPr>
              <a:pPr>
                <a:defRPr/>
              </a:pPr>
              <a:t>159</a:t>
            </a:fld>
            <a:endParaRPr lang="en-US" dirty="0">
              <a:solidFill>
                <a:srgbClr val="000000"/>
              </a:solidFill>
            </a:endParaRPr>
          </a:p>
        </p:txBody>
      </p:sp>
      <p:sp>
        <p:nvSpPr>
          <p:cNvPr id="7" name="Rectangle 67"/>
          <p:cNvSpPr txBox="1">
            <a:spLocks noChangeArrowheads="1"/>
          </p:cNvSpPr>
          <p:nvPr>
            <p:custDataLst>
              <p:tags r:id="rId1"/>
            </p:custDataLst>
          </p:nvPr>
        </p:nvSpPr>
        <p:spPr bwMode="gray">
          <a:xfrm>
            <a:off x="3907365" y="1969274"/>
            <a:ext cx="2160383"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smtClean="0">
                <a:solidFill>
                  <a:srgbClr val="000000"/>
                </a:solidFill>
              </a:rPr>
              <a:t>Key comments</a:t>
            </a:r>
            <a:endParaRPr lang="en-US" sz="1200" b="1" dirty="0">
              <a:solidFill>
                <a:srgbClr val="000000"/>
              </a:solidFill>
            </a:endParaRPr>
          </a:p>
        </p:txBody>
      </p:sp>
      <p:sp>
        <p:nvSpPr>
          <p:cNvPr id="8" name="Line 100"/>
          <p:cNvSpPr>
            <a:spLocks noChangeShapeType="1"/>
          </p:cNvSpPr>
          <p:nvPr/>
        </p:nvSpPr>
        <p:spPr bwMode="gray">
          <a:xfrm>
            <a:off x="2012950" y="2158981"/>
            <a:ext cx="7029450"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9" name="Rectangle 14"/>
          <p:cNvSpPr txBox="1">
            <a:spLocks noChangeArrowheads="1"/>
          </p:cNvSpPr>
          <p:nvPr>
            <p:custDataLst>
              <p:tags r:id="rId2"/>
            </p:custDataLst>
          </p:nvPr>
        </p:nvSpPr>
        <p:spPr bwMode="gray">
          <a:xfrm>
            <a:off x="3924300" y="3212967"/>
            <a:ext cx="2755900" cy="109728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dirty="0" smtClean="0">
                <a:solidFill>
                  <a:srgbClr val="000000"/>
                </a:solidFill>
              </a:rPr>
              <a:t>Some R&amp;D might move from one factory to another, decreasing expertise in some regions</a:t>
            </a:r>
          </a:p>
          <a:p>
            <a:pPr marL="117475" lvl="1" indent="-115888">
              <a:spcBef>
                <a:spcPct val="2000"/>
              </a:spcBef>
            </a:pPr>
            <a:r>
              <a:rPr lang="en-US" sz="1200" dirty="0" smtClean="0">
                <a:solidFill>
                  <a:srgbClr val="000000"/>
                </a:solidFill>
              </a:rPr>
              <a:t>Redefine some facilities’ activities</a:t>
            </a:r>
          </a:p>
          <a:p>
            <a:pPr marL="117475" lvl="1" indent="-115888">
              <a:spcBef>
                <a:spcPct val="2000"/>
              </a:spcBef>
            </a:pPr>
            <a:r>
              <a:rPr lang="en-US" sz="1200" dirty="0" smtClean="0">
                <a:solidFill>
                  <a:srgbClr val="000000"/>
                </a:solidFill>
              </a:rPr>
              <a:t>Change commercial organization</a:t>
            </a:r>
          </a:p>
        </p:txBody>
      </p:sp>
      <p:sp>
        <p:nvSpPr>
          <p:cNvPr id="10" name="Rectangle 21"/>
          <p:cNvSpPr>
            <a:spLocks noChangeArrowheads="1"/>
          </p:cNvSpPr>
          <p:nvPr>
            <p:custDataLst>
              <p:tags r:id="rId3"/>
            </p:custDataLst>
          </p:nvPr>
        </p:nvSpPr>
        <p:spPr bwMode="gray">
          <a:xfrm>
            <a:off x="1987550" y="3301092"/>
            <a:ext cx="1708150" cy="954862"/>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11" name="Rectangle 25"/>
          <p:cNvSpPr txBox="1">
            <a:spLocks noChangeArrowheads="1"/>
          </p:cNvSpPr>
          <p:nvPr>
            <p:custDataLst>
              <p:tags r:id="rId4"/>
            </p:custDataLst>
          </p:nvPr>
        </p:nvSpPr>
        <p:spPr bwMode="gray">
          <a:xfrm>
            <a:off x="2670175" y="3215464"/>
            <a:ext cx="1237190" cy="1093786"/>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Increase </a:t>
            </a:r>
            <a:r>
              <a:rPr lang="en-US" sz="1200" b="1" dirty="0" err="1" smtClean="0">
                <a:solidFill>
                  <a:srgbClr val="000000"/>
                </a:solidFill>
              </a:rPr>
              <a:t>coopera-tion</a:t>
            </a:r>
            <a:r>
              <a:rPr lang="en-US" sz="1200" b="1" dirty="0" smtClean="0">
                <a:solidFill>
                  <a:srgbClr val="000000"/>
                </a:solidFill>
              </a:rPr>
              <a:t> between companies</a:t>
            </a:r>
            <a:endParaRPr lang="en-US" sz="1200" b="1" dirty="0">
              <a:solidFill>
                <a:srgbClr val="000000"/>
              </a:solidFill>
            </a:endParaRPr>
          </a:p>
        </p:txBody>
      </p:sp>
      <p:pic>
        <p:nvPicPr>
          <p:cNvPr id="13" name="Picture 28" descr="Consortium 3"/>
          <p:cNvPicPr>
            <a:picLocks noChangeArrowheads="1"/>
          </p:cNvPicPr>
          <p:nvPr>
            <p:custDataLst>
              <p:tags r:id="rId5"/>
            </p:custDataLst>
          </p:nvPr>
        </p:nvPicPr>
        <p:blipFill>
          <a:blip r:embed="rId67">
            <a:extLst>
              <a:ext uri="{28A0092B-C50C-407E-A947-70E740481C1C}">
                <a14:useLocalDpi xmlns:a14="http://schemas.microsoft.com/office/drawing/2010/main" val="0"/>
              </a:ext>
            </a:extLst>
          </a:blip>
          <a:srcRect l="17923" t="3696" r="9776" b="3696"/>
          <a:stretch>
            <a:fillRect/>
          </a:stretch>
        </p:blipFill>
        <p:spPr bwMode="gray">
          <a:xfrm>
            <a:off x="2049463" y="3407550"/>
            <a:ext cx="539750" cy="70961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p:cNvSpPr txBox="1">
            <a:spLocks noChangeArrowheads="1"/>
          </p:cNvSpPr>
          <p:nvPr>
            <p:custDataLst>
              <p:tags r:id="rId6"/>
            </p:custDataLst>
          </p:nvPr>
        </p:nvSpPr>
        <p:spPr bwMode="gray">
          <a:xfrm>
            <a:off x="3924300" y="4343720"/>
            <a:ext cx="2755900" cy="10972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dirty="0" smtClean="0">
                <a:solidFill>
                  <a:srgbClr val="000000"/>
                </a:solidFill>
              </a:rPr>
              <a:t>Redefine facilities’ activities and organization</a:t>
            </a:r>
          </a:p>
          <a:p>
            <a:pPr marL="117475" lvl="1" indent="-115888">
              <a:spcBef>
                <a:spcPct val="2000"/>
              </a:spcBef>
            </a:pPr>
            <a:r>
              <a:rPr lang="en-US" sz="1200" dirty="0" smtClean="0">
                <a:solidFill>
                  <a:srgbClr val="000000"/>
                </a:solidFill>
              </a:rPr>
              <a:t>Integrate missiles’ services into naval central organization</a:t>
            </a:r>
          </a:p>
          <a:p>
            <a:pPr marL="117475" lvl="1" indent="-115888">
              <a:spcBef>
                <a:spcPct val="2000"/>
              </a:spcBef>
            </a:pPr>
            <a:r>
              <a:rPr lang="en-US" sz="1200" dirty="0" smtClean="0">
                <a:solidFill>
                  <a:srgbClr val="000000"/>
                </a:solidFill>
              </a:rPr>
              <a:t>Decrease power of States where missile facilities are located</a:t>
            </a:r>
          </a:p>
        </p:txBody>
      </p:sp>
      <p:sp>
        <p:nvSpPr>
          <p:cNvPr id="15" name="Rectangle 11"/>
          <p:cNvSpPr>
            <a:spLocks noChangeArrowheads="1"/>
          </p:cNvSpPr>
          <p:nvPr>
            <p:custDataLst>
              <p:tags r:id="rId7"/>
            </p:custDataLst>
          </p:nvPr>
        </p:nvSpPr>
        <p:spPr bwMode="gray">
          <a:xfrm>
            <a:off x="1987550" y="4431844"/>
            <a:ext cx="1708150" cy="954863"/>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16" name="Rectangle 26"/>
          <p:cNvSpPr txBox="1">
            <a:spLocks noChangeArrowheads="1"/>
          </p:cNvSpPr>
          <p:nvPr>
            <p:custDataLst>
              <p:tags r:id="rId8"/>
            </p:custDataLst>
          </p:nvPr>
        </p:nvSpPr>
        <p:spPr bwMode="gray">
          <a:xfrm>
            <a:off x="2670175" y="4343721"/>
            <a:ext cx="1237190" cy="1093788"/>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Integrate missiles into naval</a:t>
            </a:r>
            <a:endParaRPr lang="en-US" sz="1200" b="1" dirty="0">
              <a:solidFill>
                <a:srgbClr val="000000"/>
              </a:solidFill>
            </a:endParaRPr>
          </a:p>
        </p:txBody>
      </p:sp>
      <p:pic>
        <p:nvPicPr>
          <p:cNvPr id="17" name="Picture 30"/>
          <p:cNvPicPr>
            <a:picLocks noChangeArrowheads="1"/>
          </p:cNvPicPr>
          <p:nvPr>
            <p:custDataLst>
              <p:tags r:id="rId9"/>
            </p:custDataLst>
          </p:nvPr>
        </p:nvPicPr>
        <p:blipFill>
          <a:blip r:embed="rId68">
            <a:extLst>
              <a:ext uri="{28A0092B-C50C-407E-A947-70E740481C1C}">
                <a14:useLocalDpi xmlns:a14="http://schemas.microsoft.com/office/drawing/2010/main" val="0"/>
              </a:ext>
            </a:extLst>
          </a:blip>
          <a:srcRect l="6236" t="5438" b="3546"/>
          <a:stretch>
            <a:fillRect/>
          </a:stretch>
        </p:blipFill>
        <p:spPr bwMode="gray">
          <a:xfrm>
            <a:off x="2049463" y="4548963"/>
            <a:ext cx="539750"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txBox="1">
            <a:spLocks noChangeArrowheads="1"/>
          </p:cNvSpPr>
          <p:nvPr>
            <p:custDataLst>
              <p:tags r:id="rId10"/>
            </p:custDataLst>
          </p:nvPr>
        </p:nvSpPr>
        <p:spPr bwMode="gray">
          <a:xfrm>
            <a:off x="3924300" y="5461775"/>
            <a:ext cx="2755900" cy="109728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dirty="0" smtClean="0">
                <a:solidFill>
                  <a:srgbClr val="000000"/>
                </a:solidFill>
              </a:rPr>
              <a:t>One unique organization, separated from naval and AT</a:t>
            </a:r>
          </a:p>
          <a:p>
            <a:pPr marL="117475" lvl="1" indent="-115888">
              <a:spcBef>
                <a:spcPct val="2000"/>
              </a:spcBef>
            </a:pPr>
            <a:r>
              <a:rPr lang="en-US" sz="1200" dirty="0" smtClean="0">
                <a:solidFill>
                  <a:srgbClr val="000000"/>
                </a:solidFill>
              </a:rPr>
              <a:t>Redefine contractual agreements with suppliers</a:t>
            </a:r>
          </a:p>
          <a:p>
            <a:pPr marL="117475" lvl="1" indent="-115888">
              <a:spcBef>
                <a:spcPct val="2000"/>
              </a:spcBef>
            </a:pPr>
            <a:r>
              <a:rPr lang="en-US" sz="1200" dirty="0" smtClean="0">
                <a:solidFill>
                  <a:srgbClr val="000000"/>
                </a:solidFill>
              </a:rPr>
              <a:t>Redefine manufacturing process</a:t>
            </a:r>
          </a:p>
        </p:txBody>
      </p:sp>
      <p:sp>
        <p:nvSpPr>
          <p:cNvPr id="19" name="Rectangle 7"/>
          <p:cNvSpPr>
            <a:spLocks noChangeArrowheads="1"/>
          </p:cNvSpPr>
          <p:nvPr>
            <p:custDataLst>
              <p:tags r:id="rId11"/>
            </p:custDataLst>
          </p:nvPr>
        </p:nvSpPr>
        <p:spPr bwMode="gray">
          <a:xfrm>
            <a:off x="1987550" y="5549899"/>
            <a:ext cx="1708150" cy="954863"/>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20" name="Rectangle 27"/>
          <p:cNvSpPr txBox="1">
            <a:spLocks noChangeArrowheads="1"/>
          </p:cNvSpPr>
          <p:nvPr>
            <p:custDataLst>
              <p:tags r:id="rId12"/>
            </p:custDataLst>
          </p:nvPr>
        </p:nvSpPr>
        <p:spPr bwMode="gray">
          <a:xfrm>
            <a:off x="2670175" y="5461775"/>
            <a:ext cx="1237190" cy="1093788"/>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Merge both programs to create a new “Military” division</a:t>
            </a:r>
            <a:endParaRPr lang="en-US" sz="1200" b="1" i="1" dirty="0">
              <a:solidFill>
                <a:srgbClr val="000000"/>
              </a:solidFill>
            </a:endParaRPr>
          </a:p>
        </p:txBody>
      </p:sp>
      <p:pic>
        <p:nvPicPr>
          <p:cNvPr id="21" name="Picture 29"/>
          <p:cNvPicPr>
            <a:picLocks noChangeAspect="1" noChangeArrowheads="1"/>
          </p:cNvPicPr>
          <p:nvPr>
            <p:custDataLst>
              <p:tags r:id="rId13"/>
            </p:custDataLst>
          </p:nvPr>
        </p:nvPicPr>
        <p:blipFill>
          <a:blip r:embed="rId69" cstate="print">
            <a:extLst>
              <a:ext uri="{28A0092B-C50C-407E-A947-70E740481C1C}">
                <a14:useLocalDpi xmlns:a14="http://schemas.microsoft.com/office/drawing/2010/main" val="0"/>
              </a:ext>
            </a:extLst>
          </a:blip>
          <a:srcRect/>
          <a:stretch>
            <a:fillRect/>
          </a:stretch>
        </p:blipFill>
        <p:spPr bwMode="gray">
          <a:xfrm>
            <a:off x="2049463" y="5679263"/>
            <a:ext cx="539750"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ectangle 9"/>
          <p:cNvSpPr txBox="1">
            <a:spLocks noChangeArrowheads="1"/>
          </p:cNvSpPr>
          <p:nvPr>
            <p:custDataLst>
              <p:tags r:id="rId14"/>
            </p:custDataLst>
          </p:nvPr>
        </p:nvSpPr>
        <p:spPr bwMode="gray">
          <a:xfrm>
            <a:off x="3924300" y="2116821"/>
            <a:ext cx="2755900" cy="109728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dirty="0" smtClean="0">
                <a:solidFill>
                  <a:srgbClr val="000000"/>
                </a:solidFill>
              </a:rPr>
              <a:t>National interests remaining too divergent</a:t>
            </a:r>
          </a:p>
          <a:p>
            <a:pPr marL="117475" lvl="1" indent="-115888">
              <a:spcBef>
                <a:spcPct val="2000"/>
              </a:spcBef>
            </a:pPr>
            <a:r>
              <a:rPr lang="en-US" sz="1200" dirty="0" smtClean="0">
                <a:solidFill>
                  <a:srgbClr val="000000"/>
                </a:solidFill>
              </a:rPr>
              <a:t>Keep current political division</a:t>
            </a:r>
          </a:p>
        </p:txBody>
      </p:sp>
      <p:sp>
        <p:nvSpPr>
          <p:cNvPr id="23" name="Rectangle 10"/>
          <p:cNvSpPr>
            <a:spLocks noChangeArrowheads="1"/>
          </p:cNvSpPr>
          <p:nvPr>
            <p:custDataLst>
              <p:tags r:id="rId15"/>
            </p:custDataLst>
          </p:nvPr>
        </p:nvSpPr>
        <p:spPr bwMode="gray">
          <a:xfrm>
            <a:off x="1987550" y="2208439"/>
            <a:ext cx="1708150" cy="954862"/>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24" name="Rectangle 24"/>
          <p:cNvSpPr txBox="1">
            <a:spLocks noChangeArrowheads="1"/>
          </p:cNvSpPr>
          <p:nvPr>
            <p:custDataLst>
              <p:tags r:id="rId16"/>
            </p:custDataLst>
          </p:nvPr>
        </p:nvSpPr>
        <p:spPr bwMode="gray">
          <a:xfrm>
            <a:off x="2670174" y="2120314"/>
            <a:ext cx="1237190" cy="1093786"/>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Keep AS-IS</a:t>
            </a:r>
            <a:endParaRPr lang="en-US" sz="1200" b="1" dirty="0">
              <a:solidFill>
                <a:srgbClr val="000000"/>
              </a:solidFill>
            </a:endParaRPr>
          </a:p>
        </p:txBody>
      </p:sp>
      <p:pic>
        <p:nvPicPr>
          <p:cNvPr id="25" name="Picture 31"/>
          <p:cNvPicPr>
            <a:picLocks noChangeAspect="1" noChangeArrowheads="1"/>
          </p:cNvPicPr>
          <p:nvPr>
            <p:custDataLst>
              <p:tags r:id="rId17"/>
            </p:custDataLst>
          </p:nvPr>
        </p:nvPicPr>
        <p:blipFill>
          <a:blip r:embed="rId70">
            <a:extLst>
              <a:ext uri="{28A0092B-C50C-407E-A947-70E740481C1C}">
                <a14:useLocalDpi xmlns:a14="http://schemas.microsoft.com/office/drawing/2010/main" val="0"/>
              </a:ext>
            </a:extLst>
          </a:blip>
          <a:srcRect l="15053" r="34409"/>
          <a:stretch>
            <a:fillRect/>
          </a:stretch>
        </p:blipFill>
        <p:spPr bwMode="gray">
          <a:xfrm>
            <a:off x="2049463" y="2264550"/>
            <a:ext cx="53975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Line 19"/>
          <p:cNvSpPr>
            <a:spLocks noChangeShapeType="1"/>
          </p:cNvSpPr>
          <p:nvPr>
            <p:custDataLst>
              <p:tags r:id="rId18"/>
            </p:custDataLst>
          </p:nvPr>
        </p:nvSpPr>
        <p:spPr bwMode="gray">
          <a:xfrm>
            <a:off x="1987550" y="3213534"/>
            <a:ext cx="7054850" cy="0"/>
          </a:xfrm>
          <a:prstGeom prst="line">
            <a:avLst/>
          </a:prstGeom>
          <a:noFill/>
          <a:ln w="3175">
            <a:solidFill>
              <a:srgbClr val="80808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sp>
        <p:nvSpPr>
          <p:cNvPr id="27" name="Line 20"/>
          <p:cNvSpPr>
            <a:spLocks noChangeShapeType="1"/>
          </p:cNvSpPr>
          <p:nvPr>
            <p:custDataLst>
              <p:tags r:id="rId19"/>
            </p:custDataLst>
          </p:nvPr>
        </p:nvSpPr>
        <p:spPr bwMode="gray">
          <a:xfrm>
            <a:off x="1987550" y="4318887"/>
            <a:ext cx="7038976" cy="0"/>
          </a:xfrm>
          <a:prstGeom prst="line">
            <a:avLst/>
          </a:prstGeom>
          <a:noFill/>
          <a:ln w="3175">
            <a:solidFill>
              <a:srgbClr val="80808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sp>
        <p:nvSpPr>
          <p:cNvPr id="28" name="Line 32"/>
          <p:cNvSpPr>
            <a:spLocks noChangeShapeType="1"/>
          </p:cNvSpPr>
          <p:nvPr>
            <p:custDataLst>
              <p:tags r:id="rId20"/>
            </p:custDataLst>
          </p:nvPr>
        </p:nvSpPr>
        <p:spPr bwMode="gray">
          <a:xfrm>
            <a:off x="1987550" y="5500441"/>
            <a:ext cx="7054850" cy="0"/>
          </a:xfrm>
          <a:prstGeom prst="line">
            <a:avLst/>
          </a:prstGeom>
          <a:noFill/>
          <a:ln w="3175">
            <a:solidFill>
              <a:srgbClr val="80808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sp>
        <p:nvSpPr>
          <p:cNvPr id="34" name="Rectangle 67"/>
          <p:cNvSpPr txBox="1">
            <a:spLocks noChangeArrowheads="1"/>
          </p:cNvSpPr>
          <p:nvPr>
            <p:custDataLst>
              <p:tags r:id="rId21"/>
            </p:custDataLst>
          </p:nvPr>
        </p:nvSpPr>
        <p:spPr bwMode="gray">
          <a:xfrm>
            <a:off x="1981200" y="1969274"/>
            <a:ext cx="2032000"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smtClean="0">
                <a:solidFill>
                  <a:srgbClr val="000000"/>
                </a:solidFill>
              </a:rPr>
              <a:t>Scenarios</a:t>
            </a:r>
            <a:endParaRPr lang="en-US" sz="1200" b="1" dirty="0">
              <a:solidFill>
                <a:srgbClr val="000000"/>
              </a:solidFill>
            </a:endParaRPr>
          </a:p>
        </p:txBody>
      </p:sp>
      <p:sp>
        <p:nvSpPr>
          <p:cNvPr id="35" name="Rectangle 67"/>
          <p:cNvSpPr txBox="1">
            <a:spLocks noChangeArrowheads="1"/>
          </p:cNvSpPr>
          <p:nvPr>
            <p:custDataLst>
              <p:tags r:id="rId22"/>
            </p:custDataLst>
          </p:nvPr>
        </p:nvSpPr>
        <p:spPr bwMode="gray">
          <a:xfrm>
            <a:off x="6477521" y="1969274"/>
            <a:ext cx="914400" cy="189707"/>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smtClean="0">
                <a:solidFill>
                  <a:srgbClr val="000000"/>
                </a:solidFill>
              </a:rPr>
              <a:t>Moving </a:t>
            </a:r>
          </a:p>
          <a:p>
            <a:pPr marL="50800" indent="0">
              <a:buNone/>
            </a:pPr>
            <a:r>
              <a:rPr lang="en-US" sz="1200" b="1" dirty="0" smtClean="0">
                <a:solidFill>
                  <a:srgbClr val="000000"/>
                </a:solidFill>
              </a:rPr>
              <a:t>Employees</a:t>
            </a:r>
            <a:endParaRPr lang="en-US" sz="1200" b="1" dirty="0">
              <a:solidFill>
                <a:srgbClr val="000000"/>
              </a:solidFill>
            </a:endParaRPr>
          </a:p>
        </p:txBody>
      </p:sp>
      <p:sp>
        <p:nvSpPr>
          <p:cNvPr id="36" name="Rectangle 67"/>
          <p:cNvSpPr txBox="1">
            <a:spLocks noChangeArrowheads="1"/>
          </p:cNvSpPr>
          <p:nvPr>
            <p:custDataLst>
              <p:tags r:id="rId23"/>
            </p:custDataLst>
          </p:nvPr>
        </p:nvSpPr>
        <p:spPr bwMode="gray">
          <a:xfrm>
            <a:off x="7449211" y="1969275"/>
            <a:ext cx="738130"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smtClean="0">
                <a:solidFill>
                  <a:srgbClr val="000000"/>
                </a:solidFill>
              </a:rPr>
              <a:t>Moving </a:t>
            </a:r>
          </a:p>
          <a:p>
            <a:pPr marL="50800" indent="0">
              <a:buNone/>
            </a:pPr>
            <a:r>
              <a:rPr lang="en-US" sz="1200" b="1" dirty="0" smtClean="0">
                <a:solidFill>
                  <a:srgbClr val="000000"/>
                </a:solidFill>
              </a:rPr>
              <a:t>Facilities</a:t>
            </a:r>
            <a:endParaRPr lang="en-US" sz="1200" b="1" dirty="0">
              <a:solidFill>
                <a:srgbClr val="000000"/>
              </a:solidFill>
            </a:endParaRPr>
          </a:p>
        </p:txBody>
      </p:sp>
      <p:sp>
        <p:nvSpPr>
          <p:cNvPr id="37" name="Rectangle 67"/>
          <p:cNvSpPr txBox="1">
            <a:spLocks noChangeArrowheads="1"/>
          </p:cNvSpPr>
          <p:nvPr>
            <p:custDataLst>
              <p:tags r:id="rId24"/>
            </p:custDataLst>
          </p:nvPr>
        </p:nvSpPr>
        <p:spPr bwMode="gray">
          <a:xfrm>
            <a:off x="8244631" y="1969275"/>
            <a:ext cx="711200"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smtClean="0">
                <a:solidFill>
                  <a:srgbClr val="000000"/>
                </a:solidFill>
              </a:rPr>
              <a:t>Power</a:t>
            </a:r>
          </a:p>
          <a:p>
            <a:pPr marL="50800" indent="0">
              <a:buNone/>
            </a:pPr>
            <a:r>
              <a:rPr lang="en-US" sz="1200" b="1" dirty="0" smtClean="0">
                <a:solidFill>
                  <a:srgbClr val="000000"/>
                </a:solidFill>
              </a:rPr>
              <a:t>Change</a:t>
            </a:r>
            <a:r>
              <a:rPr lang="en-US" sz="1200" b="1" baseline="30000" dirty="0" smtClean="0">
                <a:solidFill>
                  <a:srgbClr val="000000"/>
                </a:solidFill>
              </a:rPr>
              <a:t>1</a:t>
            </a:r>
            <a:endParaRPr lang="en-US" sz="1200" b="1" baseline="30000" dirty="0">
              <a:solidFill>
                <a:srgbClr val="000000"/>
              </a:solidFill>
            </a:endParaRPr>
          </a:p>
        </p:txBody>
      </p:sp>
      <p:grpSp>
        <p:nvGrpSpPr>
          <p:cNvPr id="38" name="Group 38"/>
          <p:cNvGrpSpPr>
            <a:grpSpLocks/>
          </p:cNvGrpSpPr>
          <p:nvPr>
            <p:custDataLst>
              <p:tags r:id="rId25"/>
            </p:custDataLst>
          </p:nvPr>
        </p:nvGrpSpPr>
        <p:grpSpPr bwMode="auto">
          <a:xfrm>
            <a:off x="6755334" y="2347912"/>
            <a:ext cx="358775" cy="358775"/>
            <a:chOff x="4339" y="1054"/>
            <a:chExt cx="210" cy="210"/>
          </a:xfrm>
        </p:grpSpPr>
        <p:sp>
          <p:nvSpPr>
            <p:cNvPr id="39" name="Oval 39"/>
            <p:cNvSpPr>
              <a:spLocks noChangeArrowheads="1"/>
            </p:cNvSpPr>
            <p:nvPr>
              <p:custDataLst>
                <p:tags r:id="rId63"/>
              </p:custDataLst>
            </p:nvPr>
          </p:nvSpPr>
          <p:spPr bwMode="gray">
            <a:xfrm>
              <a:off x="433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40" name="Arc 40" hidden="1"/>
            <p:cNvSpPr>
              <a:spLocks/>
            </p:cNvSpPr>
            <p:nvPr>
              <p:custDataLst>
                <p:tags r:id="rId64"/>
              </p:custDataLst>
            </p:nvPr>
          </p:nvSpPr>
          <p:spPr bwMode="gray">
            <a:xfrm>
              <a:off x="4340" y="1054"/>
              <a:ext cx="209"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chemeClr val="folHlink"/>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41" name="Group 38"/>
          <p:cNvGrpSpPr>
            <a:grpSpLocks/>
          </p:cNvGrpSpPr>
          <p:nvPr>
            <p:custDataLst>
              <p:tags r:id="rId26"/>
            </p:custDataLst>
          </p:nvPr>
        </p:nvGrpSpPr>
        <p:grpSpPr bwMode="auto">
          <a:xfrm>
            <a:off x="7638889" y="2347912"/>
            <a:ext cx="358775" cy="358775"/>
            <a:chOff x="4339" y="1054"/>
            <a:chExt cx="210" cy="210"/>
          </a:xfrm>
        </p:grpSpPr>
        <p:sp>
          <p:nvSpPr>
            <p:cNvPr id="42" name="Oval 39"/>
            <p:cNvSpPr>
              <a:spLocks noChangeArrowheads="1"/>
            </p:cNvSpPr>
            <p:nvPr>
              <p:custDataLst>
                <p:tags r:id="rId61"/>
              </p:custDataLst>
            </p:nvPr>
          </p:nvSpPr>
          <p:spPr bwMode="gray">
            <a:xfrm>
              <a:off x="433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43" name="Arc 40" hidden="1"/>
            <p:cNvSpPr>
              <a:spLocks/>
            </p:cNvSpPr>
            <p:nvPr>
              <p:custDataLst>
                <p:tags r:id="rId62"/>
              </p:custDataLst>
            </p:nvPr>
          </p:nvSpPr>
          <p:spPr bwMode="gray">
            <a:xfrm>
              <a:off x="4340" y="1054"/>
              <a:ext cx="209"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chemeClr val="folHlink"/>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44" name="Group 38"/>
          <p:cNvGrpSpPr>
            <a:grpSpLocks/>
          </p:cNvGrpSpPr>
          <p:nvPr>
            <p:custDataLst>
              <p:tags r:id="rId27"/>
            </p:custDataLst>
          </p:nvPr>
        </p:nvGrpSpPr>
        <p:grpSpPr bwMode="auto">
          <a:xfrm>
            <a:off x="8420844" y="2347912"/>
            <a:ext cx="358775" cy="358775"/>
            <a:chOff x="4339" y="1054"/>
            <a:chExt cx="210" cy="210"/>
          </a:xfrm>
        </p:grpSpPr>
        <p:sp>
          <p:nvSpPr>
            <p:cNvPr id="45" name="Oval 39"/>
            <p:cNvSpPr>
              <a:spLocks noChangeArrowheads="1"/>
            </p:cNvSpPr>
            <p:nvPr>
              <p:custDataLst>
                <p:tags r:id="rId59"/>
              </p:custDataLst>
            </p:nvPr>
          </p:nvSpPr>
          <p:spPr bwMode="gray">
            <a:xfrm>
              <a:off x="433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46" name="Arc 40" hidden="1"/>
            <p:cNvSpPr>
              <a:spLocks/>
            </p:cNvSpPr>
            <p:nvPr>
              <p:custDataLst>
                <p:tags r:id="rId60"/>
              </p:custDataLst>
            </p:nvPr>
          </p:nvSpPr>
          <p:spPr bwMode="gray">
            <a:xfrm>
              <a:off x="4340" y="1054"/>
              <a:ext cx="209"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chemeClr val="folHlink"/>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47" name="Group 50"/>
          <p:cNvGrpSpPr>
            <a:grpSpLocks/>
          </p:cNvGrpSpPr>
          <p:nvPr>
            <p:custDataLst>
              <p:tags r:id="rId28"/>
            </p:custDataLst>
          </p:nvPr>
        </p:nvGrpSpPr>
        <p:grpSpPr bwMode="auto">
          <a:xfrm>
            <a:off x="8420844" y="5854700"/>
            <a:ext cx="358775" cy="358775"/>
            <a:chOff x="5019" y="1054"/>
            <a:chExt cx="210" cy="211"/>
          </a:xfrm>
          <a:solidFill>
            <a:srgbClr val="2929FF"/>
          </a:solidFill>
        </p:grpSpPr>
        <p:sp>
          <p:nvSpPr>
            <p:cNvPr id="48" name="Oval 51"/>
            <p:cNvSpPr>
              <a:spLocks noChangeArrowheads="1"/>
            </p:cNvSpPr>
            <p:nvPr>
              <p:custDataLst>
                <p:tags r:id="rId57"/>
              </p:custDataLst>
            </p:nvPr>
          </p:nvSpPr>
          <p:spPr bwMode="gray">
            <a:xfrm>
              <a:off x="5019" y="1054"/>
              <a:ext cx="209" cy="209"/>
            </a:xfrm>
            <a:prstGeom prst="ellipse">
              <a:avLst/>
            </a:prstGeom>
            <a:grp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49" name="Oval 52"/>
            <p:cNvSpPr>
              <a:spLocks noChangeArrowheads="1"/>
            </p:cNvSpPr>
            <p:nvPr>
              <p:custDataLst>
                <p:tags r:id="rId58"/>
              </p:custDataLst>
            </p:nvPr>
          </p:nvSpPr>
          <p:spPr bwMode="gray">
            <a:xfrm>
              <a:off x="5019" y="1054"/>
              <a:ext cx="210" cy="211"/>
            </a:xfrm>
            <a:prstGeom prst="ellipse">
              <a:avLst/>
            </a:prstGeom>
            <a:grp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50" name="Group 41"/>
          <p:cNvGrpSpPr>
            <a:grpSpLocks/>
          </p:cNvGrpSpPr>
          <p:nvPr>
            <p:custDataLst>
              <p:tags r:id="rId29"/>
            </p:custDataLst>
          </p:nvPr>
        </p:nvGrpSpPr>
        <p:grpSpPr bwMode="auto">
          <a:xfrm>
            <a:off x="6755334" y="3483766"/>
            <a:ext cx="358775" cy="358775"/>
            <a:chOff x="4356" y="1877"/>
            <a:chExt cx="210" cy="209"/>
          </a:xfrm>
        </p:grpSpPr>
        <p:sp>
          <p:nvSpPr>
            <p:cNvPr id="51" name="Oval 42"/>
            <p:cNvSpPr>
              <a:spLocks noChangeArrowheads="1"/>
            </p:cNvSpPr>
            <p:nvPr>
              <p:custDataLst>
                <p:tags r:id="rId55"/>
              </p:custDataLst>
            </p:nvPr>
          </p:nvSpPr>
          <p:spPr bwMode="gray">
            <a:xfrm>
              <a:off x="4356" y="1877"/>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52" name="Arc 43"/>
            <p:cNvSpPr>
              <a:spLocks/>
            </p:cNvSpPr>
            <p:nvPr>
              <p:custDataLst>
                <p:tags r:id="rId56"/>
              </p:custDataLst>
            </p:nvPr>
          </p:nvSpPr>
          <p:spPr bwMode="gray">
            <a:xfrm>
              <a:off x="4461" y="1877"/>
              <a:ext cx="105"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56" name="Group 56"/>
          <p:cNvGrpSpPr>
            <a:grpSpLocks/>
          </p:cNvGrpSpPr>
          <p:nvPr>
            <p:custDataLst>
              <p:tags r:id="rId30"/>
            </p:custDataLst>
          </p:nvPr>
        </p:nvGrpSpPr>
        <p:grpSpPr bwMode="auto">
          <a:xfrm>
            <a:off x="6755334" y="4657725"/>
            <a:ext cx="358775" cy="358775"/>
            <a:chOff x="5019" y="2642"/>
            <a:chExt cx="210" cy="212"/>
          </a:xfrm>
        </p:grpSpPr>
        <p:sp>
          <p:nvSpPr>
            <p:cNvPr id="57" name="Oval 57"/>
            <p:cNvSpPr>
              <a:spLocks noChangeArrowheads="1"/>
            </p:cNvSpPr>
            <p:nvPr>
              <p:custDataLst>
                <p:tags r:id="rId53"/>
              </p:custDataLst>
            </p:nvPr>
          </p:nvSpPr>
          <p:spPr bwMode="gray">
            <a:xfrm>
              <a:off x="5019" y="2642"/>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58" name="Arc 58"/>
            <p:cNvSpPr>
              <a:spLocks/>
            </p:cNvSpPr>
            <p:nvPr>
              <p:custDataLst>
                <p:tags r:id="rId54"/>
              </p:custDataLst>
            </p:nvPr>
          </p:nvSpPr>
          <p:spPr bwMode="gray">
            <a:xfrm>
              <a:off x="5124" y="2643"/>
              <a:ext cx="105" cy="2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59" name="Group 38"/>
          <p:cNvGrpSpPr>
            <a:grpSpLocks/>
          </p:cNvGrpSpPr>
          <p:nvPr>
            <p:custDataLst>
              <p:tags r:id="rId31"/>
            </p:custDataLst>
          </p:nvPr>
        </p:nvGrpSpPr>
        <p:grpSpPr bwMode="auto">
          <a:xfrm>
            <a:off x="7638889" y="3483766"/>
            <a:ext cx="358775" cy="358775"/>
            <a:chOff x="4339" y="1054"/>
            <a:chExt cx="210" cy="210"/>
          </a:xfrm>
        </p:grpSpPr>
        <p:sp>
          <p:nvSpPr>
            <p:cNvPr id="60" name="Oval 39"/>
            <p:cNvSpPr>
              <a:spLocks noChangeArrowheads="1"/>
            </p:cNvSpPr>
            <p:nvPr>
              <p:custDataLst>
                <p:tags r:id="rId51"/>
              </p:custDataLst>
            </p:nvPr>
          </p:nvSpPr>
          <p:spPr bwMode="gray">
            <a:xfrm>
              <a:off x="433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61" name="Arc 40" hidden="1"/>
            <p:cNvSpPr>
              <a:spLocks/>
            </p:cNvSpPr>
            <p:nvPr>
              <p:custDataLst>
                <p:tags r:id="rId52"/>
              </p:custDataLst>
            </p:nvPr>
          </p:nvSpPr>
          <p:spPr bwMode="gray">
            <a:xfrm>
              <a:off x="4340" y="1054"/>
              <a:ext cx="209"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chemeClr val="folHlink"/>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68" name="Group 41"/>
          <p:cNvGrpSpPr>
            <a:grpSpLocks/>
          </p:cNvGrpSpPr>
          <p:nvPr>
            <p:custDataLst>
              <p:tags r:id="rId32"/>
            </p:custDataLst>
          </p:nvPr>
        </p:nvGrpSpPr>
        <p:grpSpPr bwMode="auto">
          <a:xfrm>
            <a:off x="7638889" y="4657725"/>
            <a:ext cx="358775" cy="358775"/>
            <a:chOff x="4356" y="1877"/>
            <a:chExt cx="210" cy="209"/>
          </a:xfrm>
        </p:grpSpPr>
        <p:sp>
          <p:nvSpPr>
            <p:cNvPr id="69" name="Oval 42"/>
            <p:cNvSpPr>
              <a:spLocks noChangeArrowheads="1"/>
            </p:cNvSpPr>
            <p:nvPr>
              <p:custDataLst>
                <p:tags r:id="rId49"/>
              </p:custDataLst>
            </p:nvPr>
          </p:nvSpPr>
          <p:spPr bwMode="gray">
            <a:xfrm>
              <a:off x="4356" y="1877"/>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70" name="Arc 43"/>
            <p:cNvSpPr>
              <a:spLocks/>
            </p:cNvSpPr>
            <p:nvPr>
              <p:custDataLst>
                <p:tags r:id="rId50"/>
              </p:custDataLst>
            </p:nvPr>
          </p:nvSpPr>
          <p:spPr bwMode="gray">
            <a:xfrm>
              <a:off x="4461" y="1877"/>
              <a:ext cx="105"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71" name="Group 41"/>
          <p:cNvGrpSpPr>
            <a:grpSpLocks/>
          </p:cNvGrpSpPr>
          <p:nvPr>
            <p:custDataLst>
              <p:tags r:id="rId33"/>
            </p:custDataLst>
          </p:nvPr>
        </p:nvGrpSpPr>
        <p:grpSpPr bwMode="auto">
          <a:xfrm>
            <a:off x="8420844" y="3483766"/>
            <a:ext cx="358775" cy="358775"/>
            <a:chOff x="4356" y="1877"/>
            <a:chExt cx="210" cy="209"/>
          </a:xfrm>
        </p:grpSpPr>
        <p:sp>
          <p:nvSpPr>
            <p:cNvPr id="72" name="Oval 42"/>
            <p:cNvSpPr>
              <a:spLocks noChangeArrowheads="1"/>
            </p:cNvSpPr>
            <p:nvPr>
              <p:custDataLst>
                <p:tags r:id="rId47"/>
              </p:custDataLst>
            </p:nvPr>
          </p:nvSpPr>
          <p:spPr bwMode="gray">
            <a:xfrm>
              <a:off x="4356" y="1877"/>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73" name="Arc 43"/>
            <p:cNvSpPr>
              <a:spLocks/>
            </p:cNvSpPr>
            <p:nvPr>
              <p:custDataLst>
                <p:tags r:id="rId48"/>
              </p:custDataLst>
            </p:nvPr>
          </p:nvSpPr>
          <p:spPr bwMode="gray">
            <a:xfrm>
              <a:off x="4461" y="1877"/>
              <a:ext cx="105"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74" name="Group 56"/>
          <p:cNvGrpSpPr>
            <a:grpSpLocks/>
          </p:cNvGrpSpPr>
          <p:nvPr>
            <p:custDataLst>
              <p:tags r:id="rId34"/>
            </p:custDataLst>
          </p:nvPr>
        </p:nvGrpSpPr>
        <p:grpSpPr bwMode="auto">
          <a:xfrm>
            <a:off x="8420844" y="4657725"/>
            <a:ext cx="358775" cy="358775"/>
            <a:chOff x="5019" y="2642"/>
            <a:chExt cx="210" cy="212"/>
          </a:xfrm>
        </p:grpSpPr>
        <p:sp>
          <p:nvSpPr>
            <p:cNvPr id="75" name="Oval 57"/>
            <p:cNvSpPr>
              <a:spLocks noChangeArrowheads="1"/>
            </p:cNvSpPr>
            <p:nvPr>
              <p:custDataLst>
                <p:tags r:id="rId45"/>
              </p:custDataLst>
            </p:nvPr>
          </p:nvSpPr>
          <p:spPr bwMode="gray">
            <a:xfrm>
              <a:off x="5019" y="2642"/>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76" name="Arc 58"/>
            <p:cNvSpPr>
              <a:spLocks/>
            </p:cNvSpPr>
            <p:nvPr>
              <p:custDataLst>
                <p:tags r:id="rId46"/>
              </p:custDataLst>
            </p:nvPr>
          </p:nvSpPr>
          <p:spPr bwMode="gray">
            <a:xfrm>
              <a:off x="5124" y="2643"/>
              <a:ext cx="105" cy="2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80" name="Group 50"/>
          <p:cNvGrpSpPr>
            <a:grpSpLocks/>
          </p:cNvGrpSpPr>
          <p:nvPr>
            <p:custDataLst>
              <p:tags r:id="rId35"/>
            </p:custDataLst>
          </p:nvPr>
        </p:nvGrpSpPr>
        <p:grpSpPr bwMode="auto">
          <a:xfrm>
            <a:off x="6755334" y="5854700"/>
            <a:ext cx="358775" cy="358775"/>
            <a:chOff x="5019" y="1054"/>
            <a:chExt cx="210" cy="211"/>
          </a:xfrm>
          <a:solidFill>
            <a:srgbClr val="2929FF"/>
          </a:solidFill>
        </p:grpSpPr>
        <p:sp>
          <p:nvSpPr>
            <p:cNvPr id="81" name="Oval 51"/>
            <p:cNvSpPr>
              <a:spLocks noChangeArrowheads="1"/>
            </p:cNvSpPr>
            <p:nvPr>
              <p:custDataLst>
                <p:tags r:id="rId43"/>
              </p:custDataLst>
            </p:nvPr>
          </p:nvSpPr>
          <p:spPr bwMode="gray">
            <a:xfrm>
              <a:off x="5019" y="1054"/>
              <a:ext cx="209" cy="209"/>
            </a:xfrm>
            <a:prstGeom prst="ellipse">
              <a:avLst/>
            </a:prstGeom>
            <a:grp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82" name="Oval 52"/>
            <p:cNvSpPr>
              <a:spLocks noChangeArrowheads="1"/>
            </p:cNvSpPr>
            <p:nvPr>
              <p:custDataLst>
                <p:tags r:id="rId44"/>
              </p:custDataLst>
            </p:nvPr>
          </p:nvSpPr>
          <p:spPr bwMode="gray">
            <a:xfrm>
              <a:off x="5019" y="1054"/>
              <a:ext cx="210" cy="211"/>
            </a:xfrm>
            <a:prstGeom prst="ellipse">
              <a:avLst/>
            </a:prstGeom>
            <a:grp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83" name="Group 47"/>
          <p:cNvGrpSpPr>
            <a:grpSpLocks/>
          </p:cNvGrpSpPr>
          <p:nvPr>
            <p:custDataLst>
              <p:tags r:id="rId36"/>
            </p:custDataLst>
          </p:nvPr>
        </p:nvGrpSpPr>
        <p:grpSpPr bwMode="auto">
          <a:xfrm>
            <a:off x="7637181" y="5851299"/>
            <a:ext cx="358775" cy="358775"/>
            <a:chOff x="4356" y="3464"/>
            <a:chExt cx="210" cy="212"/>
          </a:xfrm>
        </p:grpSpPr>
        <p:sp>
          <p:nvSpPr>
            <p:cNvPr id="84" name="Oval 48"/>
            <p:cNvSpPr>
              <a:spLocks noChangeArrowheads="1"/>
            </p:cNvSpPr>
            <p:nvPr>
              <p:custDataLst>
                <p:tags r:id="rId41"/>
              </p:custDataLst>
            </p:nvPr>
          </p:nvSpPr>
          <p:spPr bwMode="gray">
            <a:xfrm>
              <a:off x="4356" y="346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85" name="Arc 49"/>
            <p:cNvSpPr>
              <a:spLocks/>
            </p:cNvSpPr>
            <p:nvPr>
              <p:custDataLst>
                <p:tags r:id="rId42"/>
              </p:custDataLst>
            </p:nvPr>
          </p:nvSpPr>
          <p:spPr bwMode="gray">
            <a:xfrm>
              <a:off x="4356" y="3464"/>
              <a:ext cx="210" cy="212"/>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grpSp>
        <p:nvGrpSpPr>
          <p:cNvPr id="86" name="Group 38"/>
          <p:cNvGrpSpPr>
            <a:grpSpLocks/>
          </p:cNvGrpSpPr>
          <p:nvPr>
            <p:custDataLst>
              <p:tags r:id="rId37"/>
            </p:custDataLst>
          </p:nvPr>
        </p:nvGrpSpPr>
        <p:grpSpPr bwMode="auto">
          <a:xfrm>
            <a:off x="6846775" y="928569"/>
            <a:ext cx="175893" cy="175894"/>
            <a:chOff x="4339" y="1054"/>
            <a:chExt cx="210" cy="210"/>
          </a:xfrm>
        </p:grpSpPr>
        <p:sp>
          <p:nvSpPr>
            <p:cNvPr id="87" name="Oval 39"/>
            <p:cNvSpPr>
              <a:spLocks noChangeArrowheads="1"/>
            </p:cNvSpPr>
            <p:nvPr>
              <p:custDataLst>
                <p:tags r:id="rId39"/>
              </p:custDataLst>
            </p:nvPr>
          </p:nvSpPr>
          <p:spPr bwMode="gray">
            <a:xfrm>
              <a:off x="433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88" name="Arc 40" hidden="1"/>
            <p:cNvSpPr>
              <a:spLocks/>
            </p:cNvSpPr>
            <p:nvPr>
              <p:custDataLst>
                <p:tags r:id="rId40"/>
              </p:custDataLst>
            </p:nvPr>
          </p:nvSpPr>
          <p:spPr bwMode="gray">
            <a:xfrm>
              <a:off x="4340" y="1054"/>
              <a:ext cx="209"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chemeClr val="folHlink"/>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sp>
        <p:nvSpPr>
          <p:cNvPr id="89" name="Rectangle 9"/>
          <p:cNvSpPr txBox="1">
            <a:spLocks noChangeArrowheads="1"/>
          </p:cNvSpPr>
          <p:nvPr>
            <p:custDataLst>
              <p:tags r:id="rId38"/>
            </p:custDataLst>
          </p:nvPr>
        </p:nvSpPr>
        <p:spPr bwMode="gray">
          <a:xfrm>
            <a:off x="7118429" y="899794"/>
            <a:ext cx="1758472" cy="2286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587" lvl="1" indent="0">
              <a:spcBef>
                <a:spcPct val="2000"/>
              </a:spcBef>
              <a:buNone/>
            </a:pPr>
            <a:r>
              <a:rPr lang="en-US" sz="1200" dirty="0" smtClean="0">
                <a:solidFill>
                  <a:srgbClr val="000000"/>
                </a:solidFill>
              </a:rPr>
              <a:t>Probability of happening</a:t>
            </a:r>
          </a:p>
        </p:txBody>
      </p:sp>
      <p:sp>
        <p:nvSpPr>
          <p:cNvPr id="77" name="TextBox 76"/>
          <p:cNvSpPr txBox="1"/>
          <p:nvPr/>
        </p:nvSpPr>
        <p:spPr>
          <a:xfrm>
            <a:off x="317500" y="6545892"/>
            <a:ext cx="7035800" cy="246221"/>
          </a:xfrm>
          <a:prstGeom prst="rect">
            <a:avLst/>
          </a:prstGeom>
          <a:noFill/>
        </p:spPr>
        <p:txBody>
          <a:bodyPr wrap="square" rtlCol="0">
            <a:spAutoFit/>
          </a:bodyPr>
          <a:lstStyle/>
          <a:p>
            <a:r>
              <a:rPr lang="en-US" sz="1000" dirty="0" smtClean="0">
                <a:solidFill>
                  <a:srgbClr val="000000"/>
                </a:solidFill>
              </a:rPr>
              <a:t>1 Changes in the State’s stake might happen due to changes in employees and facilities</a:t>
            </a:r>
          </a:p>
        </p:txBody>
      </p:sp>
      <p:sp>
        <p:nvSpPr>
          <p:cNvPr id="78" name="Rectangle 77"/>
          <p:cNvSpPr/>
          <p:nvPr/>
        </p:nvSpPr>
        <p:spPr>
          <a:xfrm>
            <a:off x="304800" y="1295400"/>
            <a:ext cx="8737600" cy="406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smtClean="0">
                <a:solidFill>
                  <a:srgbClr val="000000"/>
                </a:solidFill>
              </a:rPr>
              <a:t>Interviewer copy: political issues</a:t>
            </a:r>
            <a:endParaRPr lang="en-US" sz="1600" b="1" dirty="0"/>
          </a:p>
        </p:txBody>
      </p:sp>
    </p:spTree>
    <p:extLst>
      <p:ext uri="{BB962C8B-B14F-4D97-AF65-F5344CB8AC3E}">
        <p14:creationId xmlns:p14="http://schemas.microsoft.com/office/powerpoint/2010/main" val="2522312638"/>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58"/>
          <a:srcRect/>
          <a:stretch>
            <a:fillRect/>
          </a:stretch>
        </p:blipFill>
        <p:spPr bwMode="auto">
          <a:xfrm>
            <a:off x="304800" y="228600"/>
            <a:ext cx="1200150" cy="635000"/>
          </a:xfrm>
          <a:prstGeom prst="rect">
            <a:avLst/>
          </a:prstGeom>
          <a:noFill/>
          <a:ln w="9525" algn="ctr">
            <a:noFill/>
            <a:miter lim="800000"/>
            <a:headEnd/>
            <a:tailEnd/>
          </a:ln>
        </p:spPr>
      </p:pic>
      <p:sp>
        <p:nvSpPr>
          <p:cNvPr id="3075" name="TextBox 6"/>
          <p:cNvSpPr txBox="1">
            <a:spLocks noChangeArrowheads="1"/>
          </p:cNvSpPr>
          <p:nvPr/>
        </p:nvSpPr>
        <p:spPr bwMode="auto">
          <a:xfrm>
            <a:off x="228600" y="990600"/>
            <a:ext cx="2057400" cy="307975"/>
          </a:xfrm>
          <a:prstGeom prst="rect">
            <a:avLst/>
          </a:prstGeom>
          <a:noFill/>
          <a:ln w="9525">
            <a:noFill/>
            <a:miter lim="800000"/>
            <a:headEnd/>
            <a:tailEnd/>
          </a:ln>
        </p:spPr>
        <p:txBody>
          <a:bodyPr>
            <a:spAutoFit/>
          </a:bodyPr>
          <a:lstStyle/>
          <a:p>
            <a:r>
              <a:rPr lang="en-US" sz="1400" i="1" dirty="0" smtClean="0">
                <a:solidFill>
                  <a:srgbClr val="000000"/>
                </a:solidFill>
              </a:rPr>
              <a:t>Strategy</a:t>
            </a:r>
            <a:endParaRPr lang="en-US" sz="1400" i="1" dirty="0">
              <a:solidFill>
                <a:srgbClr val="000000"/>
              </a:solidFill>
            </a:endParaRPr>
          </a:p>
        </p:txBody>
      </p:sp>
      <p:sp>
        <p:nvSpPr>
          <p:cNvPr id="3078" name="TextBox 9"/>
          <p:cNvSpPr txBox="1">
            <a:spLocks noChangeArrowheads="1"/>
          </p:cNvSpPr>
          <p:nvPr/>
        </p:nvSpPr>
        <p:spPr bwMode="auto">
          <a:xfrm>
            <a:off x="1828800" y="376238"/>
            <a:ext cx="5943600" cy="461665"/>
          </a:xfrm>
          <a:prstGeom prst="rect">
            <a:avLst/>
          </a:prstGeom>
          <a:noFill/>
          <a:ln w="9525">
            <a:noFill/>
            <a:miter lim="800000"/>
            <a:headEnd/>
            <a:tailEnd/>
          </a:ln>
        </p:spPr>
        <p:txBody>
          <a:bodyPr>
            <a:spAutoFit/>
          </a:bodyPr>
          <a:lstStyle/>
          <a:p>
            <a:r>
              <a:rPr lang="en-US" sz="2400" b="1" dirty="0"/>
              <a:t>Case 19: Russian Shipbuilding</a:t>
            </a:r>
          </a:p>
        </p:txBody>
      </p:sp>
      <p:graphicFrame>
        <p:nvGraphicFramePr>
          <p:cNvPr id="12" name="Table 11"/>
          <p:cNvGraphicFramePr>
            <a:graphicFrameLocks noGrp="1"/>
          </p:cNvGraphicFramePr>
          <p:nvPr>
            <p:extLst>
              <p:ext uri="{D42A27DB-BD31-4B8C-83A1-F6EECF244321}">
                <p14:modId xmlns:p14="http://schemas.microsoft.com/office/powerpoint/2010/main" val="244608920"/>
              </p:ext>
            </p:extLst>
          </p:nvPr>
        </p:nvGraphicFramePr>
        <p:xfrm>
          <a:off x="304800" y="1295400"/>
          <a:ext cx="8737600" cy="5245100"/>
        </p:xfrm>
        <a:graphic>
          <a:graphicData uri="http://schemas.openxmlformats.org/drawingml/2006/table">
            <a:tbl>
              <a:tblPr firstRow="1" bandRow="1">
                <a:tableStyleId>{616DA210-FB5B-4158-B5E0-FEB733F419BA}</a:tableStyleId>
              </a:tblPr>
              <a:tblGrid>
                <a:gridCol w="1638300"/>
                <a:gridCol w="7099300"/>
              </a:tblGrid>
              <a:tr h="5245100">
                <a:tc>
                  <a:txBody>
                    <a:bodyPr/>
                    <a:lstStyle/>
                    <a:p>
                      <a:pPr algn="ctr"/>
                      <a:r>
                        <a:rPr lang="en-US" sz="1600" dirty="0" smtClean="0"/>
                        <a:t>Scenarios</a:t>
                      </a:r>
                      <a:endParaRPr lang="en-US" sz="1600" dirty="0"/>
                    </a:p>
                  </a:txBody>
                  <a:tcPr anchor="ctr"/>
                </a:tc>
                <a:tc>
                  <a:txBody>
                    <a:bodyPr/>
                    <a:lstStyle/>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p>
                      <a:endParaRPr lang="en-US" sz="1200" b="0" i="0" kern="1200" baseline="0" dirty="0" smtClean="0">
                        <a:solidFill>
                          <a:schemeClr val="tx1"/>
                        </a:solidFill>
                        <a:latin typeface="+mj-lt"/>
                        <a:ea typeface="+mn-ea"/>
                        <a:cs typeface="+mn-cs"/>
                      </a:endParaRPr>
                    </a:p>
                  </a:txBody>
                  <a:tcPr/>
                </a:tc>
              </a:tr>
            </a:tbl>
          </a:graphicData>
        </a:graphic>
      </p:graphicFrame>
      <p:sp>
        <p:nvSpPr>
          <p:cNvPr id="2" name="Slide Number Placeholder 1"/>
          <p:cNvSpPr>
            <a:spLocks noGrp="1"/>
          </p:cNvSpPr>
          <p:nvPr>
            <p:ph type="sldNum" sz="quarter" idx="11"/>
          </p:nvPr>
        </p:nvSpPr>
        <p:spPr/>
        <p:txBody>
          <a:bodyPr/>
          <a:lstStyle/>
          <a:p>
            <a:pPr>
              <a:defRPr/>
            </a:pPr>
            <a:fld id="{2E1E1E2A-88E9-4CB1-89D2-8ABF177DA4C4}" type="slidenum">
              <a:rPr lang="en-US" smtClean="0">
                <a:solidFill>
                  <a:srgbClr val="000000"/>
                </a:solidFill>
              </a:rPr>
              <a:pPr>
                <a:defRPr/>
              </a:pPr>
              <a:t>160</a:t>
            </a:fld>
            <a:endParaRPr lang="en-US" dirty="0">
              <a:solidFill>
                <a:srgbClr val="000000"/>
              </a:solidFill>
            </a:endParaRPr>
          </a:p>
        </p:txBody>
      </p:sp>
      <p:sp>
        <p:nvSpPr>
          <p:cNvPr id="7" name="Rectangle 67"/>
          <p:cNvSpPr txBox="1">
            <a:spLocks noChangeArrowheads="1"/>
          </p:cNvSpPr>
          <p:nvPr>
            <p:custDataLst>
              <p:tags r:id="rId1"/>
            </p:custDataLst>
          </p:nvPr>
        </p:nvSpPr>
        <p:spPr bwMode="gray">
          <a:xfrm>
            <a:off x="3907365" y="1969274"/>
            <a:ext cx="2160383"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smtClean="0">
                <a:solidFill>
                  <a:srgbClr val="000000"/>
                </a:solidFill>
              </a:rPr>
              <a:t>Key comments</a:t>
            </a:r>
            <a:endParaRPr lang="en-US" sz="1200" b="1" dirty="0">
              <a:solidFill>
                <a:srgbClr val="000000"/>
              </a:solidFill>
            </a:endParaRPr>
          </a:p>
        </p:txBody>
      </p:sp>
      <p:sp>
        <p:nvSpPr>
          <p:cNvPr id="8" name="Line 100"/>
          <p:cNvSpPr>
            <a:spLocks noChangeShapeType="1"/>
          </p:cNvSpPr>
          <p:nvPr/>
        </p:nvSpPr>
        <p:spPr bwMode="gray">
          <a:xfrm>
            <a:off x="2012950" y="2158981"/>
            <a:ext cx="7029450" cy="0"/>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9" name="Rectangle 14"/>
          <p:cNvSpPr txBox="1">
            <a:spLocks noChangeArrowheads="1"/>
          </p:cNvSpPr>
          <p:nvPr>
            <p:custDataLst>
              <p:tags r:id="rId2"/>
            </p:custDataLst>
          </p:nvPr>
        </p:nvSpPr>
        <p:spPr bwMode="gray">
          <a:xfrm>
            <a:off x="3924300" y="3212967"/>
            <a:ext cx="2755900" cy="109728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b="1" dirty="0"/>
              <a:t>Common R&amp;D effort </a:t>
            </a:r>
            <a:r>
              <a:rPr lang="en-US" sz="1200" dirty="0"/>
              <a:t>throughout a program</a:t>
            </a:r>
          </a:p>
          <a:p>
            <a:pPr marL="117475" lvl="1" indent="-115888">
              <a:spcBef>
                <a:spcPct val="2000"/>
              </a:spcBef>
            </a:pPr>
            <a:r>
              <a:rPr lang="en-US" sz="1200" b="1" dirty="0"/>
              <a:t>Sharing of industrial activities</a:t>
            </a:r>
            <a:endParaRPr lang="en-US" sz="1200" dirty="0"/>
          </a:p>
          <a:p>
            <a:pPr marL="117475" lvl="1" indent="-115888">
              <a:spcBef>
                <a:spcPct val="2000"/>
              </a:spcBef>
            </a:pPr>
            <a:r>
              <a:rPr lang="en-US" sz="1200" b="1" dirty="0"/>
              <a:t>Unified commercial approach</a:t>
            </a:r>
          </a:p>
        </p:txBody>
      </p:sp>
      <p:sp>
        <p:nvSpPr>
          <p:cNvPr id="10" name="Rectangle 21"/>
          <p:cNvSpPr>
            <a:spLocks noChangeArrowheads="1"/>
          </p:cNvSpPr>
          <p:nvPr>
            <p:custDataLst>
              <p:tags r:id="rId3"/>
            </p:custDataLst>
          </p:nvPr>
        </p:nvSpPr>
        <p:spPr bwMode="gray">
          <a:xfrm>
            <a:off x="1987550" y="3301092"/>
            <a:ext cx="1708150" cy="954862"/>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11" name="Rectangle 25"/>
          <p:cNvSpPr txBox="1">
            <a:spLocks noChangeArrowheads="1"/>
          </p:cNvSpPr>
          <p:nvPr>
            <p:custDataLst>
              <p:tags r:id="rId4"/>
            </p:custDataLst>
          </p:nvPr>
        </p:nvSpPr>
        <p:spPr bwMode="gray">
          <a:xfrm>
            <a:off x="2670175" y="3215464"/>
            <a:ext cx="1237190" cy="1093786"/>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Increase </a:t>
            </a:r>
            <a:r>
              <a:rPr lang="en-US" sz="1200" b="1" dirty="0" err="1" smtClean="0">
                <a:solidFill>
                  <a:srgbClr val="000000"/>
                </a:solidFill>
              </a:rPr>
              <a:t>coopera-tion</a:t>
            </a:r>
            <a:r>
              <a:rPr lang="en-US" sz="1200" b="1" dirty="0" smtClean="0">
                <a:solidFill>
                  <a:srgbClr val="000000"/>
                </a:solidFill>
              </a:rPr>
              <a:t> between companies</a:t>
            </a:r>
            <a:endParaRPr lang="en-US" sz="1200" b="1" dirty="0">
              <a:solidFill>
                <a:srgbClr val="000000"/>
              </a:solidFill>
            </a:endParaRPr>
          </a:p>
        </p:txBody>
      </p:sp>
      <p:pic>
        <p:nvPicPr>
          <p:cNvPr id="13" name="Picture 28" descr="Consortium 3"/>
          <p:cNvPicPr>
            <a:picLocks noChangeArrowheads="1"/>
          </p:cNvPicPr>
          <p:nvPr>
            <p:custDataLst>
              <p:tags r:id="rId5"/>
            </p:custDataLst>
          </p:nvPr>
        </p:nvPicPr>
        <p:blipFill>
          <a:blip r:embed="rId59">
            <a:extLst>
              <a:ext uri="{28A0092B-C50C-407E-A947-70E740481C1C}">
                <a14:useLocalDpi xmlns:a14="http://schemas.microsoft.com/office/drawing/2010/main" val="0"/>
              </a:ext>
            </a:extLst>
          </a:blip>
          <a:srcRect l="17923" t="3696" r="9776" b="3696"/>
          <a:stretch>
            <a:fillRect/>
          </a:stretch>
        </p:blipFill>
        <p:spPr bwMode="gray">
          <a:xfrm>
            <a:off x="2049463" y="3407550"/>
            <a:ext cx="539750" cy="70961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p:cNvSpPr txBox="1">
            <a:spLocks noChangeArrowheads="1"/>
          </p:cNvSpPr>
          <p:nvPr>
            <p:custDataLst>
              <p:tags r:id="rId6"/>
            </p:custDataLst>
          </p:nvPr>
        </p:nvSpPr>
        <p:spPr bwMode="gray">
          <a:xfrm>
            <a:off x="3924300" y="4343720"/>
            <a:ext cx="2755900" cy="10972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b="1" dirty="0"/>
              <a:t>Integration </a:t>
            </a:r>
            <a:r>
              <a:rPr lang="en-US" sz="1200" dirty="0"/>
              <a:t>of all activities into </a:t>
            </a:r>
            <a:r>
              <a:rPr lang="en-US" sz="1200" b="1" dirty="0"/>
              <a:t>naval</a:t>
            </a:r>
          </a:p>
          <a:p>
            <a:pPr marL="117475" lvl="1" indent="-115888">
              <a:spcBef>
                <a:spcPct val="2000"/>
              </a:spcBef>
            </a:pPr>
            <a:r>
              <a:rPr lang="en-US" sz="1200" b="1" dirty="0"/>
              <a:t>Change in political weights</a:t>
            </a:r>
          </a:p>
          <a:p>
            <a:pPr marL="117475" lvl="1" indent="-115888">
              <a:spcBef>
                <a:spcPct val="2000"/>
              </a:spcBef>
            </a:pPr>
            <a:r>
              <a:rPr lang="en-US" sz="1200" b="1" dirty="0"/>
              <a:t>Naval </a:t>
            </a:r>
            <a:r>
              <a:rPr lang="en-US" sz="1200" dirty="0"/>
              <a:t>would become even a </a:t>
            </a:r>
            <a:r>
              <a:rPr lang="en-US" sz="1200" b="1" dirty="0"/>
              <a:t>bigger division compared to submarines and advanced technology</a:t>
            </a:r>
          </a:p>
        </p:txBody>
      </p:sp>
      <p:sp>
        <p:nvSpPr>
          <p:cNvPr id="15" name="Rectangle 11"/>
          <p:cNvSpPr>
            <a:spLocks noChangeArrowheads="1"/>
          </p:cNvSpPr>
          <p:nvPr>
            <p:custDataLst>
              <p:tags r:id="rId7"/>
            </p:custDataLst>
          </p:nvPr>
        </p:nvSpPr>
        <p:spPr bwMode="gray">
          <a:xfrm>
            <a:off x="1987550" y="4431844"/>
            <a:ext cx="1708150" cy="954863"/>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16" name="Rectangle 26"/>
          <p:cNvSpPr txBox="1">
            <a:spLocks noChangeArrowheads="1"/>
          </p:cNvSpPr>
          <p:nvPr>
            <p:custDataLst>
              <p:tags r:id="rId8"/>
            </p:custDataLst>
          </p:nvPr>
        </p:nvSpPr>
        <p:spPr bwMode="gray">
          <a:xfrm>
            <a:off x="2670175" y="4343721"/>
            <a:ext cx="1237190" cy="1093788"/>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Integrate missiles into naval</a:t>
            </a:r>
            <a:endParaRPr lang="en-US" sz="1200" b="1" dirty="0">
              <a:solidFill>
                <a:srgbClr val="000000"/>
              </a:solidFill>
            </a:endParaRPr>
          </a:p>
        </p:txBody>
      </p:sp>
      <p:pic>
        <p:nvPicPr>
          <p:cNvPr id="17" name="Picture 30"/>
          <p:cNvPicPr>
            <a:picLocks noChangeArrowheads="1"/>
          </p:cNvPicPr>
          <p:nvPr>
            <p:custDataLst>
              <p:tags r:id="rId9"/>
            </p:custDataLst>
          </p:nvPr>
        </p:nvPicPr>
        <p:blipFill>
          <a:blip r:embed="rId60">
            <a:extLst>
              <a:ext uri="{28A0092B-C50C-407E-A947-70E740481C1C}">
                <a14:useLocalDpi xmlns:a14="http://schemas.microsoft.com/office/drawing/2010/main" val="0"/>
              </a:ext>
            </a:extLst>
          </a:blip>
          <a:srcRect l="6236" t="5438" b="3546"/>
          <a:stretch>
            <a:fillRect/>
          </a:stretch>
        </p:blipFill>
        <p:spPr bwMode="gray">
          <a:xfrm>
            <a:off x="2049463" y="4548963"/>
            <a:ext cx="539750"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txBox="1">
            <a:spLocks noChangeArrowheads="1"/>
          </p:cNvSpPr>
          <p:nvPr>
            <p:custDataLst>
              <p:tags r:id="rId10"/>
            </p:custDataLst>
          </p:nvPr>
        </p:nvSpPr>
        <p:spPr bwMode="gray">
          <a:xfrm>
            <a:off x="3924300" y="5461775"/>
            <a:ext cx="2755900" cy="109728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b="1" dirty="0"/>
              <a:t>Consolidation</a:t>
            </a:r>
            <a:r>
              <a:rPr lang="en-US" sz="1200" dirty="0"/>
              <a:t> of all activities into a new separated division </a:t>
            </a:r>
          </a:p>
          <a:p>
            <a:pPr marL="117475" lvl="1" indent="-115888">
              <a:spcBef>
                <a:spcPct val="2000"/>
              </a:spcBef>
            </a:pPr>
            <a:r>
              <a:rPr lang="en-US" sz="1200" b="1" dirty="0"/>
              <a:t>Sharing</a:t>
            </a:r>
            <a:r>
              <a:rPr lang="en-US" sz="1200" dirty="0"/>
              <a:t> of R&amp;D and production load</a:t>
            </a:r>
          </a:p>
          <a:p>
            <a:pPr marL="117475" lvl="1" indent="-115888">
              <a:spcBef>
                <a:spcPct val="2000"/>
              </a:spcBef>
            </a:pPr>
            <a:r>
              <a:rPr lang="en-US" sz="1200" b="1" dirty="0"/>
              <a:t>Specialization of sites</a:t>
            </a:r>
          </a:p>
          <a:p>
            <a:pPr marL="117475" lvl="1" indent="-115888">
              <a:spcBef>
                <a:spcPct val="2000"/>
              </a:spcBef>
            </a:pPr>
            <a:r>
              <a:rPr lang="en-US" sz="1200" b="1" dirty="0"/>
              <a:t>New power division</a:t>
            </a:r>
          </a:p>
        </p:txBody>
      </p:sp>
      <p:sp>
        <p:nvSpPr>
          <p:cNvPr id="19" name="Rectangle 7"/>
          <p:cNvSpPr>
            <a:spLocks noChangeArrowheads="1"/>
          </p:cNvSpPr>
          <p:nvPr>
            <p:custDataLst>
              <p:tags r:id="rId11"/>
            </p:custDataLst>
          </p:nvPr>
        </p:nvSpPr>
        <p:spPr bwMode="gray">
          <a:xfrm>
            <a:off x="1987550" y="5549899"/>
            <a:ext cx="1708150" cy="954863"/>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20" name="Rectangle 27"/>
          <p:cNvSpPr txBox="1">
            <a:spLocks noChangeArrowheads="1"/>
          </p:cNvSpPr>
          <p:nvPr>
            <p:custDataLst>
              <p:tags r:id="rId12"/>
            </p:custDataLst>
          </p:nvPr>
        </p:nvSpPr>
        <p:spPr bwMode="gray">
          <a:xfrm>
            <a:off x="2670175" y="5461775"/>
            <a:ext cx="1237190" cy="1093788"/>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Merge both programs to create a new “Military” division</a:t>
            </a:r>
            <a:endParaRPr lang="en-US" sz="1200" b="1" i="1" dirty="0">
              <a:solidFill>
                <a:srgbClr val="000000"/>
              </a:solidFill>
            </a:endParaRPr>
          </a:p>
        </p:txBody>
      </p:sp>
      <p:pic>
        <p:nvPicPr>
          <p:cNvPr id="21" name="Picture 29"/>
          <p:cNvPicPr>
            <a:picLocks noChangeAspect="1" noChangeArrowheads="1"/>
          </p:cNvPicPr>
          <p:nvPr>
            <p:custDataLst>
              <p:tags r:id="rId13"/>
            </p:custDataLst>
          </p:nvPr>
        </p:nvPicPr>
        <p:blipFill>
          <a:blip r:embed="rId61" cstate="print">
            <a:extLst>
              <a:ext uri="{28A0092B-C50C-407E-A947-70E740481C1C}">
                <a14:useLocalDpi xmlns:a14="http://schemas.microsoft.com/office/drawing/2010/main" val="0"/>
              </a:ext>
            </a:extLst>
          </a:blip>
          <a:srcRect/>
          <a:stretch>
            <a:fillRect/>
          </a:stretch>
        </p:blipFill>
        <p:spPr bwMode="gray">
          <a:xfrm>
            <a:off x="2049463" y="5679263"/>
            <a:ext cx="539750"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ectangle 9"/>
          <p:cNvSpPr txBox="1">
            <a:spLocks noChangeArrowheads="1"/>
          </p:cNvSpPr>
          <p:nvPr>
            <p:custDataLst>
              <p:tags r:id="rId14"/>
            </p:custDataLst>
          </p:nvPr>
        </p:nvSpPr>
        <p:spPr bwMode="gray">
          <a:xfrm>
            <a:off x="3924300" y="2116821"/>
            <a:ext cx="2755900" cy="109728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spcBef>
                <a:spcPct val="2000"/>
              </a:spcBef>
            </a:pPr>
            <a:r>
              <a:rPr lang="en-US" sz="1200" b="1" dirty="0"/>
              <a:t>No changes </a:t>
            </a:r>
            <a:r>
              <a:rPr lang="en-US" sz="1200" dirty="0"/>
              <a:t>in the current landscape</a:t>
            </a:r>
          </a:p>
          <a:p>
            <a:pPr marL="117475" lvl="1" indent="-115888">
              <a:spcBef>
                <a:spcPct val="2000"/>
              </a:spcBef>
            </a:pPr>
            <a:r>
              <a:rPr lang="en-US" sz="1200" b="1" dirty="0"/>
              <a:t>No synergies </a:t>
            </a:r>
            <a:r>
              <a:rPr lang="en-US" sz="1200" dirty="0"/>
              <a:t>and keeping underperforming facilities</a:t>
            </a:r>
          </a:p>
        </p:txBody>
      </p:sp>
      <p:sp>
        <p:nvSpPr>
          <p:cNvPr id="23" name="Rectangle 10"/>
          <p:cNvSpPr>
            <a:spLocks noChangeArrowheads="1"/>
          </p:cNvSpPr>
          <p:nvPr>
            <p:custDataLst>
              <p:tags r:id="rId15"/>
            </p:custDataLst>
          </p:nvPr>
        </p:nvSpPr>
        <p:spPr bwMode="gray">
          <a:xfrm>
            <a:off x="1987550" y="2208439"/>
            <a:ext cx="1708150" cy="954862"/>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9" tIns="90000" rIns="72009" bIns="72009" anchor="ctr" anchorCtr="1"/>
          <a:lstStyle/>
          <a:p>
            <a:endParaRPr lang="en-US">
              <a:solidFill>
                <a:srgbClr val="000000"/>
              </a:solidFill>
            </a:endParaRPr>
          </a:p>
        </p:txBody>
      </p:sp>
      <p:sp>
        <p:nvSpPr>
          <p:cNvPr id="24" name="Rectangle 24"/>
          <p:cNvSpPr txBox="1">
            <a:spLocks noChangeArrowheads="1"/>
          </p:cNvSpPr>
          <p:nvPr>
            <p:custDataLst>
              <p:tags r:id="rId16"/>
            </p:custDataLst>
          </p:nvPr>
        </p:nvSpPr>
        <p:spPr bwMode="gray">
          <a:xfrm>
            <a:off x="2670174" y="2120314"/>
            <a:ext cx="1237190" cy="1093786"/>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Clr>
                <a:schemeClr val="bg1"/>
              </a:buClr>
              <a:buNone/>
            </a:pPr>
            <a:r>
              <a:rPr lang="en-US" sz="1200" b="1" dirty="0" smtClean="0">
                <a:solidFill>
                  <a:srgbClr val="000000"/>
                </a:solidFill>
              </a:rPr>
              <a:t>Keep AS-IS</a:t>
            </a:r>
            <a:endParaRPr lang="en-US" sz="1200" b="1" dirty="0">
              <a:solidFill>
                <a:srgbClr val="000000"/>
              </a:solidFill>
            </a:endParaRPr>
          </a:p>
        </p:txBody>
      </p:sp>
      <p:pic>
        <p:nvPicPr>
          <p:cNvPr id="25" name="Picture 31"/>
          <p:cNvPicPr>
            <a:picLocks noChangeAspect="1" noChangeArrowheads="1"/>
          </p:cNvPicPr>
          <p:nvPr>
            <p:custDataLst>
              <p:tags r:id="rId17"/>
            </p:custDataLst>
          </p:nvPr>
        </p:nvPicPr>
        <p:blipFill>
          <a:blip r:embed="rId62">
            <a:extLst>
              <a:ext uri="{28A0092B-C50C-407E-A947-70E740481C1C}">
                <a14:useLocalDpi xmlns:a14="http://schemas.microsoft.com/office/drawing/2010/main" val="0"/>
              </a:ext>
            </a:extLst>
          </a:blip>
          <a:srcRect l="15053" r="34409"/>
          <a:stretch>
            <a:fillRect/>
          </a:stretch>
        </p:blipFill>
        <p:spPr bwMode="gray">
          <a:xfrm>
            <a:off x="2049463" y="2264550"/>
            <a:ext cx="53975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Line 19"/>
          <p:cNvSpPr>
            <a:spLocks noChangeShapeType="1"/>
          </p:cNvSpPr>
          <p:nvPr>
            <p:custDataLst>
              <p:tags r:id="rId18"/>
            </p:custDataLst>
          </p:nvPr>
        </p:nvSpPr>
        <p:spPr bwMode="gray">
          <a:xfrm>
            <a:off x="1987550" y="3213534"/>
            <a:ext cx="7054850" cy="0"/>
          </a:xfrm>
          <a:prstGeom prst="line">
            <a:avLst/>
          </a:prstGeom>
          <a:noFill/>
          <a:ln w="3175">
            <a:solidFill>
              <a:srgbClr val="80808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sp>
        <p:nvSpPr>
          <p:cNvPr id="27" name="Line 20"/>
          <p:cNvSpPr>
            <a:spLocks noChangeShapeType="1"/>
          </p:cNvSpPr>
          <p:nvPr>
            <p:custDataLst>
              <p:tags r:id="rId19"/>
            </p:custDataLst>
          </p:nvPr>
        </p:nvSpPr>
        <p:spPr bwMode="gray">
          <a:xfrm>
            <a:off x="1987550" y="4318887"/>
            <a:ext cx="7038976" cy="0"/>
          </a:xfrm>
          <a:prstGeom prst="line">
            <a:avLst/>
          </a:prstGeom>
          <a:noFill/>
          <a:ln w="3175">
            <a:solidFill>
              <a:srgbClr val="80808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sp>
        <p:nvSpPr>
          <p:cNvPr id="28" name="Line 32"/>
          <p:cNvSpPr>
            <a:spLocks noChangeShapeType="1"/>
          </p:cNvSpPr>
          <p:nvPr>
            <p:custDataLst>
              <p:tags r:id="rId20"/>
            </p:custDataLst>
          </p:nvPr>
        </p:nvSpPr>
        <p:spPr bwMode="gray">
          <a:xfrm>
            <a:off x="1987550" y="5500441"/>
            <a:ext cx="7054850" cy="0"/>
          </a:xfrm>
          <a:prstGeom prst="line">
            <a:avLst/>
          </a:prstGeom>
          <a:noFill/>
          <a:ln w="3175">
            <a:solidFill>
              <a:srgbClr val="80808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sp>
        <p:nvSpPr>
          <p:cNvPr id="34" name="Rectangle 67"/>
          <p:cNvSpPr txBox="1">
            <a:spLocks noChangeArrowheads="1"/>
          </p:cNvSpPr>
          <p:nvPr>
            <p:custDataLst>
              <p:tags r:id="rId21"/>
            </p:custDataLst>
          </p:nvPr>
        </p:nvSpPr>
        <p:spPr bwMode="gray">
          <a:xfrm>
            <a:off x="1981200" y="1969274"/>
            <a:ext cx="2032000"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smtClean="0">
                <a:solidFill>
                  <a:srgbClr val="000000"/>
                </a:solidFill>
              </a:rPr>
              <a:t>Scenarios</a:t>
            </a:r>
            <a:endParaRPr lang="en-US" sz="1200" b="1" dirty="0">
              <a:solidFill>
                <a:srgbClr val="000000"/>
              </a:solidFill>
            </a:endParaRPr>
          </a:p>
        </p:txBody>
      </p:sp>
      <p:sp>
        <p:nvSpPr>
          <p:cNvPr id="35" name="Rectangle 67"/>
          <p:cNvSpPr txBox="1">
            <a:spLocks noChangeArrowheads="1"/>
          </p:cNvSpPr>
          <p:nvPr>
            <p:custDataLst>
              <p:tags r:id="rId22"/>
            </p:custDataLst>
          </p:nvPr>
        </p:nvSpPr>
        <p:spPr bwMode="gray">
          <a:xfrm>
            <a:off x="6477521" y="1969274"/>
            <a:ext cx="914400" cy="189707"/>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a:t>Value</a:t>
            </a:r>
          </a:p>
          <a:p>
            <a:pPr marL="50800" indent="0">
              <a:buNone/>
            </a:pPr>
            <a:r>
              <a:rPr lang="en-US" sz="1200" b="1" dirty="0"/>
              <a:t>creation</a:t>
            </a:r>
          </a:p>
        </p:txBody>
      </p:sp>
      <p:sp>
        <p:nvSpPr>
          <p:cNvPr id="36" name="Rectangle 67"/>
          <p:cNvSpPr txBox="1">
            <a:spLocks noChangeArrowheads="1"/>
          </p:cNvSpPr>
          <p:nvPr>
            <p:custDataLst>
              <p:tags r:id="rId23"/>
            </p:custDataLst>
          </p:nvPr>
        </p:nvSpPr>
        <p:spPr bwMode="gray">
          <a:xfrm>
            <a:off x="7322211" y="1969275"/>
            <a:ext cx="738130"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err="1" smtClean="0"/>
              <a:t>Feasi</a:t>
            </a:r>
            <a:r>
              <a:rPr lang="en-US" sz="1200" b="1" dirty="0" smtClean="0"/>
              <a:t>-</a:t>
            </a:r>
            <a:r>
              <a:rPr lang="en-US" sz="1200" b="1" dirty="0"/>
              <a:t/>
            </a:r>
            <a:br>
              <a:rPr lang="en-US" sz="1200" b="1" dirty="0"/>
            </a:br>
            <a:r>
              <a:rPr lang="en-US" sz="1200" b="1" dirty="0" err="1"/>
              <a:t>bility</a:t>
            </a:r>
            <a:endParaRPr lang="en-US" sz="1200" b="1" dirty="0"/>
          </a:p>
        </p:txBody>
      </p:sp>
      <p:sp>
        <p:nvSpPr>
          <p:cNvPr id="37" name="Rectangle 67"/>
          <p:cNvSpPr txBox="1">
            <a:spLocks noChangeArrowheads="1"/>
          </p:cNvSpPr>
          <p:nvPr>
            <p:custDataLst>
              <p:tags r:id="rId24"/>
            </p:custDataLst>
          </p:nvPr>
        </p:nvSpPr>
        <p:spPr bwMode="gray">
          <a:xfrm>
            <a:off x="7977931" y="1969275"/>
            <a:ext cx="711200" cy="182562"/>
          </a:xfrm>
          <a:prstGeom prst="rect">
            <a:avLst/>
          </a:prstGeom>
          <a:noFill/>
          <a:ln w="9525">
            <a:noFill/>
            <a:miter lim="800000"/>
            <a:headEnd/>
            <a:tailEnd/>
          </a:ln>
        </p:spPr>
        <p:txBody>
          <a:bodyPr vert="horz" wrap="none" lIns="0" tIns="0" rIns="0" bIns="0" numCol="1" anchor="b"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50800" indent="0">
              <a:buNone/>
            </a:pPr>
            <a:r>
              <a:rPr lang="en-US" sz="1200" b="1" dirty="0"/>
              <a:t>"Political" at-</a:t>
            </a:r>
            <a:br>
              <a:rPr lang="en-US" sz="1200" b="1" dirty="0"/>
            </a:br>
            <a:r>
              <a:rPr lang="en-US" sz="1200" b="1" dirty="0" err="1"/>
              <a:t>tractiveness</a:t>
            </a:r>
            <a:endParaRPr lang="en-US" sz="1200" b="1" dirty="0"/>
          </a:p>
        </p:txBody>
      </p:sp>
      <p:grpSp>
        <p:nvGrpSpPr>
          <p:cNvPr id="86" name="Group 38"/>
          <p:cNvGrpSpPr>
            <a:grpSpLocks/>
          </p:cNvGrpSpPr>
          <p:nvPr>
            <p:custDataLst>
              <p:tags r:id="rId25"/>
            </p:custDataLst>
          </p:nvPr>
        </p:nvGrpSpPr>
        <p:grpSpPr bwMode="auto">
          <a:xfrm>
            <a:off x="6846775" y="928569"/>
            <a:ext cx="175893" cy="175894"/>
            <a:chOff x="4339" y="1054"/>
            <a:chExt cx="210" cy="210"/>
          </a:xfrm>
        </p:grpSpPr>
        <p:sp>
          <p:nvSpPr>
            <p:cNvPr id="87" name="Oval 39"/>
            <p:cNvSpPr>
              <a:spLocks noChangeArrowheads="1"/>
            </p:cNvSpPr>
            <p:nvPr>
              <p:custDataLst>
                <p:tags r:id="rId55"/>
              </p:custDataLst>
            </p:nvPr>
          </p:nvSpPr>
          <p:spPr bwMode="gray">
            <a:xfrm>
              <a:off x="433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sp>
          <p:nvSpPr>
            <p:cNvPr id="88" name="Arc 40" hidden="1"/>
            <p:cNvSpPr>
              <a:spLocks/>
            </p:cNvSpPr>
            <p:nvPr>
              <p:custDataLst>
                <p:tags r:id="rId56"/>
              </p:custDataLst>
            </p:nvPr>
          </p:nvSpPr>
          <p:spPr bwMode="gray">
            <a:xfrm>
              <a:off x="4340" y="1054"/>
              <a:ext cx="209"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chemeClr val="folHlink"/>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000000"/>
                </a:solidFill>
              </a:endParaRPr>
            </a:p>
          </p:txBody>
        </p:sp>
      </p:grpSp>
      <p:sp>
        <p:nvSpPr>
          <p:cNvPr id="89" name="Rectangle 9"/>
          <p:cNvSpPr txBox="1">
            <a:spLocks noChangeArrowheads="1"/>
          </p:cNvSpPr>
          <p:nvPr>
            <p:custDataLst>
              <p:tags r:id="rId26"/>
            </p:custDataLst>
          </p:nvPr>
        </p:nvSpPr>
        <p:spPr bwMode="gray">
          <a:xfrm>
            <a:off x="7118429" y="899794"/>
            <a:ext cx="1758472" cy="228600"/>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587" lvl="1" indent="0">
              <a:spcBef>
                <a:spcPct val="2000"/>
              </a:spcBef>
              <a:buNone/>
            </a:pPr>
            <a:r>
              <a:rPr lang="en-US" sz="1200" dirty="0" smtClean="0">
                <a:solidFill>
                  <a:srgbClr val="000000"/>
                </a:solidFill>
              </a:rPr>
              <a:t>Probability of happening</a:t>
            </a:r>
          </a:p>
        </p:txBody>
      </p:sp>
      <p:sp>
        <p:nvSpPr>
          <p:cNvPr id="78" name="Rectangle 77"/>
          <p:cNvSpPr/>
          <p:nvPr/>
        </p:nvSpPr>
        <p:spPr>
          <a:xfrm>
            <a:off x="304800" y="1295400"/>
            <a:ext cx="8737600" cy="406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b="1" dirty="0" smtClean="0">
                <a:solidFill>
                  <a:srgbClr val="000000"/>
                </a:solidFill>
              </a:rPr>
              <a:t>Interviewer copy: potential scenarios</a:t>
            </a:r>
            <a:endParaRPr lang="en-US" sz="1600" b="1" dirty="0"/>
          </a:p>
        </p:txBody>
      </p:sp>
      <p:grpSp>
        <p:nvGrpSpPr>
          <p:cNvPr id="79" name="Group 41"/>
          <p:cNvGrpSpPr>
            <a:grpSpLocks/>
          </p:cNvGrpSpPr>
          <p:nvPr>
            <p:custDataLst>
              <p:tags r:id="rId27"/>
            </p:custDataLst>
          </p:nvPr>
        </p:nvGrpSpPr>
        <p:grpSpPr bwMode="auto">
          <a:xfrm>
            <a:off x="6635751" y="3554412"/>
            <a:ext cx="358775" cy="358775"/>
            <a:chOff x="4356" y="1877"/>
            <a:chExt cx="210" cy="209"/>
          </a:xfrm>
        </p:grpSpPr>
        <p:sp>
          <p:nvSpPr>
            <p:cNvPr id="90" name="Oval 42"/>
            <p:cNvSpPr>
              <a:spLocks noChangeArrowheads="1"/>
            </p:cNvSpPr>
            <p:nvPr>
              <p:custDataLst>
                <p:tags r:id="rId53"/>
              </p:custDataLst>
            </p:nvPr>
          </p:nvSpPr>
          <p:spPr bwMode="gray">
            <a:xfrm>
              <a:off x="4356" y="1877"/>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 name="Arc 43"/>
            <p:cNvSpPr>
              <a:spLocks/>
            </p:cNvSpPr>
            <p:nvPr>
              <p:custDataLst>
                <p:tags r:id="rId54"/>
              </p:custDataLst>
            </p:nvPr>
          </p:nvSpPr>
          <p:spPr bwMode="gray">
            <a:xfrm>
              <a:off x="4461" y="1877"/>
              <a:ext cx="105"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2" name="Group 44"/>
          <p:cNvGrpSpPr>
            <a:grpSpLocks/>
          </p:cNvGrpSpPr>
          <p:nvPr>
            <p:custDataLst>
              <p:tags r:id="rId28"/>
            </p:custDataLst>
          </p:nvPr>
        </p:nvGrpSpPr>
        <p:grpSpPr bwMode="auto">
          <a:xfrm>
            <a:off x="6635751" y="4670425"/>
            <a:ext cx="358775" cy="358775"/>
            <a:chOff x="4339" y="1877"/>
            <a:chExt cx="210" cy="212"/>
          </a:xfrm>
        </p:grpSpPr>
        <p:sp>
          <p:nvSpPr>
            <p:cNvPr id="93" name="Oval 45"/>
            <p:cNvSpPr>
              <a:spLocks noChangeArrowheads="1"/>
            </p:cNvSpPr>
            <p:nvPr>
              <p:custDataLst>
                <p:tags r:id="rId51"/>
              </p:custDataLst>
            </p:nvPr>
          </p:nvSpPr>
          <p:spPr bwMode="gray">
            <a:xfrm>
              <a:off x="4339" y="1877"/>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 name="Arc 46"/>
            <p:cNvSpPr>
              <a:spLocks/>
            </p:cNvSpPr>
            <p:nvPr>
              <p:custDataLst>
                <p:tags r:id="rId52"/>
              </p:custDataLst>
            </p:nvPr>
          </p:nvSpPr>
          <p:spPr bwMode="gray">
            <a:xfrm>
              <a:off x="4444" y="1878"/>
              <a:ext cx="105" cy="2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5" name="Group 47"/>
          <p:cNvGrpSpPr>
            <a:grpSpLocks/>
          </p:cNvGrpSpPr>
          <p:nvPr>
            <p:custDataLst>
              <p:tags r:id="rId29"/>
            </p:custDataLst>
          </p:nvPr>
        </p:nvGrpSpPr>
        <p:grpSpPr bwMode="auto">
          <a:xfrm>
            <a:off x="6635751" y="5737225"/>
            <a:ext cx="358775" cy="358775"/>
            <a:chOff x="4356" y="3464"/>
            <a:chExt cx="210" cy="212"/>
          </a:xfrm>
        </p:grpSpPr>
        <p:sp>
          <p:nvSpPr>
            <p:cNvPr id="96" name="Oval 48"/>
            <p:cNvSpPr>
              <a:spLocks noChangeArrowheads="1"/>
            </p:cNvSpPr>
            <p:nvPr>
              <p:custDataLst>
                <p:tags r:id="rId49"/>
              </p:custDataLst>
            </p:nvPr>
          </p:nvSpPr>
          <p:spPr bwMode="gray">
            <a:xfrm>
              <a:off x="4356" y="346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 name="Arc 49"/>
            <p:cNvSpPr>
              <a:spLocks/>
            </p:cNvSpPr>
            <p:nvPr>
              <p:custDataLst>
                <p:tags r:id="rId50"/>
              </p:custDataLst>
            </p:nvPr>
          </p:nvSpPr>
          <p:spPr bwMode="gray">
            <a:xfrm>
              <a:off x="4356" y="3464"/>
              <a:ext cx="210" cy="212"/>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8" name="Group 38"/>
          <p:cNvGrpSpPr>
            <a:grpSpLocks/>
          </p:cNvGrpSpPr>
          <p:nvPr>
            <p:custDataLst>
              <p:tags r:id="rId30"/>
            </p:custDataLst>
          </p:nvPr>
        </p:nvGrpSpPr>
        <p:grpSpPr bwMode="auto">
          <a:xfrm>
            <a:off x="6635751" y="2411412"/>
            <a:ext cx="358775" cy="358775"/>
            <a:chOff x="4339" y="1054"/>
            <a:chExt cx="210" cy="210"/>
          </a:xfrm>
        </p:grpSpPr>
        <p:sp>
          <p:nvSpPr>
            <p:cNvPr id="99" name="Oval 39"/>
            <p:cNvSpPr>
              <a:spLocks noChangeArrowheads="1"/>
            </p:cNvSpPr>
            <p:nvPr>
              <p:custDataLst>
                <p:tags r:id="rId47"/>
              </p:custDataLst>
            </p:nvPr>
          </p:nvSpPr>
          <p:spPr bwMode="gray">
            <a:xfrm>
              <a:off x="433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0" name="Arc 40" hidden="1"/>
            <p:cNvSpPr>
              <a:spLocks/>
            </p:cNvSpPr>
            <p:nvPr>
              <p:custDataLst>
                <p:tags r:id="rId48"/>
              </p:custDataLst>
            </p:nvPr>
          </p:nvSpPr>
          <p:spPr bwMode="gray">
            <a:xfrm>
              <a:off x="4340" y="1054"/>
              <a:ext cx="209"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chemeClr val="folHlink"/>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01" name="Group 53"/>
          <p:cNvGrpSpPr>
            <a:grpSpLocks/>
          </p:cNvGrpSpPr>
          <p:nvPr>
            <p:custDataLst>
              <p:tags r:id="rId31"/>
            </p:custDataLst>
          </p:nvPr>
        </p:nvGrpSpPr>
        <p:grpSpPr bwMode="auto">
          <a:xfrm>
            <a:off x="7451726" y="3554412"/>
            <a:ext cx="358775" cy="358775"/>
            <a:chOff x="4992" y="1905"/>
            <a:chExt cx="210" cy="212"/>
          </a:xfrm>
        </p:grpSpPr>
        <p:sp>
          <p:nvSpPr>
            <p:cNvPr id="102" name="Oval 54"/>
            <p:cNvSpPr>
              <a:spLocks noChangeArrowheads="1"/>
            </p:cNvSpPr>
            <p:nvPr>
              <p:custDataLst>
                <p:tags r:id="rId45"/>
              </p:custDataLst>
            </p:nvPr>
          </p:nvSpPr>
          <p:spPr bwMode="gray">
            <a:xfrm>
              <a:off x="4992" y="1905"/>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 name="Arc 55"/>
            <p:cNvSpPr>
              <a:spLocks/>
            </p:cNvSpPr>
            <p:nvPr>
              <p:custDataLst>
                <p:tags r:id="rId46"/>
              </p:custDataLst>
            </p:nvPr>
          </p:nvSpPr>
          <p:spPr bwMode="gray">
            <a:xfrm>
              <a:off x="5097" y="1906"/>
              <a:ext cx="105" cy="2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04" name="Group 56"/>
          <p:cNvGrpSpPr>
            <a:grpSpLocks/>
          </p:cNvGrpSpPr>
          <p:nvPr>
            <p:custDataLst>
              <p:tags r:id="rId32"/>
            </p:custDataLst>
          </p:nvPr>
        </p:nvGrpSpPr>
        <p:grpSpPr bwMode="auto">
          <a:xfrm>
            <a:off x="7451726" y="4670425"/>
            <a:ext cx="358775" cy="358775"/>
            <a:chOff x="5019" y="2642"/>
            <a:chExt cx="210" cy="212"/>
          </a:xfrm>
        </p:grpSpPr>
        <p:sp>
          <p:nvSpPr>
            <p:cNvPr id="105" name="Oval 57"/>
            <p:cNvSpPr>
              <a:spLocks noChangeArrowheads="1"/>
            </p:cNvSpPr>
            <p:nvPr>
              <p:custDataLst>
                <p:tags r:id="rId43"/>
              </p:custDataLst>
            </p:nvPr>
          </p:nvSpPr>
          <p:spPr bwMode="gray">
            <a:xfrm>
              <a:off x="5019" y="2642"/>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 name="Arc 58"/>
            <p:cNvSpPr>
              <a:spLocks/>
            </p:cNvSpPr>
            <p:nvPr>
              <p:custDataLst>
                <p:tags r:id="rId44"/>
              </p:custDataLst>
            </p:nvPr>
          </p:nvSpPr>
          <p:spPr bwMode="gray">
            <a:xfrm>
              <a:off x="5124" y="2643"/>
              <a:ext cx="105" cy="2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07" name="Group 59"/>
          <p:cNvGrpSpPr>
            <a:grpSpLocks/>
          </p:cNvGrpSpPr>
          <p:nvPr>
            <p:custDataLst>
              <p:tags r:id="rId33"/>
            </p:custDataLst>
          </p:nvPr>
        </p:nvGrpSpPr>
        <p:grpSpPr bwMode="auto">
          <a:xfrm>
            <a:off x="7451726" y="5737225"/>
            <a:ext cx="358775" cy="358775"/>
            <a:chOff x="5019" y="3464"/>
            <a:chExt cx="210" cy="209"/>
          </a:xfrm>
        </p:grpSpPr>
        <p:sp>
          <p:nvSpPr>
            <p:cNvPr id="108" name="Oval 60"/>
            <p:cNvSpPr>
              <a:spLocks noChangeArrowheads="1"/>
            </p:cNvSpPr>
            <p:nvPr>
              <p:custDataLst>
                <p:tags r:id="rId41"/>
              </p:custDataLst>
            </p:nvPr>
          </p:nvSpPr>
          <p:spPr bwMode="gray">
            <a:xfrm>
              <a:off x="5019" y="346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 name="Arc 61"/>
            <p:cNvSpPr>
              <a:spLocks/>
            </p:cNvSpPr>
            <p:nvPr>
              <p:custDataLst>
                <p:tags r:id="rId42"/>
              </p:custDataLst>
            </p:nvPr>
          </p:nvSpPr>
          <p:spPr bwMode="gray">
            <a:xfrm>
              <a:off x="5124" y="3464"/>
              <a:ext cx="105"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2929FF"/>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0" name="Group 50"/>
          <p:cNvGrpSpPr>
            <a:grpSpLocks/>
          </p:cNvGrpSpPr>
          <p:nvPr>
            <p:custDataLst>
              <p:tags r:id="rId34"/>
            </p:custDataLst>
          </p:nvPr>
        </p:nvGrpSpPr>
        <p:grpSpPr bwMode="auto">
          <a:xfrm>
            <a:off x="7451726" y="2411412"/>
            <a:ext cx="358775" cy="358775"/>
            <a:chOff x="5019" y="1054"/>
            <a:chExt cx="210" cy="211"/>
          </a:xfrm>
        </p:grpSpPr>
        <p:sp>
          <p:nvSpPr>
            <p:cNvPr id="111" name="Oval 51"/>
            <p:cNvSpPr>
              <a:spLocks noChangeArrowheads="1"/>
            </p:cNvSpPr>
            <p:nvPr>
              <p:custDataLst>
                <p:tags r:id="rId39"/>
              </p:custDataLst>
            </p:nvPr>
          </p:nvSpPr>
          <p:spPr bwMode="gray">
            <a:xfrm>
              <a:off x="5019" y="1054"/>
              <a:ext cx="209" cy="209"/>
            </a:xfrm>
            <a:prstGeom prst="ellipse">
              <a:avLst/>
            </a:prstGeom>
            <a:solidFill>
              <a:schemeClr val="accent1"/>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 name="Oval 52"/>
            <p:cNvSpPr>
              <a:spLocks noChangeArrowheads="1"/>
            </p:cNvSpPr>
            <p:nvPr>
              <p:custDataLst>
                <p:tags r:id="rId40"/>
              </p:custDataLst>
            </p:nvPr>
          </p:nvSpPr>
          <p:spPr bwMode="gray">
            <a:xfrm>
              <a:off x="5019" y="1054"/>
              <a:ext cx="210" cy="211"/>
            </a:xfrm>
            <a:prstGeom prst="ellipse">
              <a:avLst/>
            </a:prstGeom>
            <a:solidFill>
              <a:schemeClr val="tx2">
                <a:lumMod val="60000"/>
                <a:lumOff val="40000"/>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3" name="Rectangle 63"/>
          <p:cNvSpPr txBox="1">
            <a:spLocks noChangeArrowheads="1"/>
          </p:cNvSpPr>
          <p:nvPr>
            <p:custDataLst>
              <p:tags r:id="rId35"/>
            </p:custDataLst>
          </p:nvPr>
        </p:nvSpPr>
        <p:spPr bwMode="gray">
          <a:xfrm>
            <a:off x="8151813" y="3606800"/>
            <a:ext cx="874713" cy="1825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lgn="ctr">
              <a:buFont typeface="Arial" pitchFamily="34" charset="0"/>
              <a:buNone/>
            </a:pPr>
            <a:r>
              <a:rPr lang="en-US" sz="1200" b="1" smtClean="0"/>
              <a:t>Medium</a:t>
            </a:r>
            <a:endParaRPr lang="en-US" sz="1200" i="1"/>
          </a:p>
        </p:txBody>
      </p:sp>
      <p:sp>
        <p:nvSpPr>
          <p:cNvPr id="114" name="Rectangle 64"/>
          <p:cNvSpPr txBox="1">
            <a:spLocks noChangeArrowheads="1"/>
          </p:cNvSpPr>
          <p:nvPr>
            <p:custDataLst>
              <p:tags r:id="rId36"/>
            </p:custDataLst>
          </p:nvPr>
        </p:nvSpPr>
        <p:spPr bwMode="gray">
          <a:xfrm>
            <a:off x="8151813" y="4722812"/>
            <a:ext cx="874713" cy="1825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lgn="ctr">
              <a:buFont typeface="Arial" pitchFamily="34" charset="0"/>
              <a:buNone/>
            </a:pPr>
            <a:r>
              <a:rPr lang="en-US" sz="1200" b="1" dirty="0" smtClean="0"/>
              <a:t>Low</a:t>
            </a:r>
            <a:endParaRPr lang="en-US" sz="1200" i="1" dirty="0"/>
          </a:p>
        </p:txBody>
      </p:sp>
      <p:sp>
        <p:nvSpPr>
          <p:cNvPr id="115" name="Rectangle 65"/>
          <p:cNvSpPr txBox="1">
            <a:spLocks noChangeArrowheads="1"/>
          </p:cNvSpPr>
          <p:nvPr>
            <p:custDataLst>
              <p:tags r:id="rId37"/>
            </p:custDataLst>
          </p:nvPr>
        </p:nvSpPr>
        <p:spPr bwMode="gray">
          <a:xfrm>
            <a:off x="8151813" y="5789612"/>
            <a:ext cx="874713" cy="1825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lgn="ctr">
              <a:buFont typeface="Arial" pitchFamily="34" charset="0"/>
              <a:buNone/>
            </a:pPr>
            <a:r>
              <a:rPr lang="en-US" sz="1200" b="1" dirty="0" smtClean="0"/>
              <a:t>Low</a:t>
            </a:r>
            <a:endParaRPr lang="en-US" sz="1200" i="1" dirty="0"/>
          </a:p>
        </p:txBody>
      </p:sp>
      <p:sp>
        <p:nvSpPr>
          <p:cNvPr id="116" name="Rectangle 62"/>
          <p:cNvSpPr txBox="1">
            <a:spLocks noChangeArrowheads="1"/>
          </p:cNvSpPr>
          <p:nvPr>
            <p:custDataLst>
              <p:tags r:id="rId38"/>
            </p:custDataLst>
          </p:nvPr>
        </p:nvSpPr>
        <p:spPr bwMode="gray">
          <a:xfrm>
            <a:off x="8151813" y="2463800"/>
            <a:ext cx="874713" cy="1825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34950" indent="-184150" algn="l" rtl="0" eaLnBrk="0" fontAlgn="base" hangingPunct="0">
              <a:spcBef>
                <a:spcPct val="20000"/>
              </a:spcBef>
              <a:spcAft>
                <a:spcPct val="0"/>
              </a:spcAft>
              <a:buClr>
                <a:schemeClr val="tx1"/>
              </a:buClr>
              <a:buChar char="•"/>
              <a:defRPr sz="2600">
                <a:solidFill>
                  <a:schemeClr val="tx1"/>
                </a:solidFill>
                <a:latin typeface="+mn-lt"/>
                <a:ea typeface="ＭＳ Ｐゴシック" charset="-128"/>
                <a:cs typeface="ＭＳ Ｐゴシック" charset="-128"/>
              </a:defRPr>
            </a:lvl1pPr>
            <a:lvl2pPr marL="568325" indent="-219075" algn="l" rtl="0" eaLnBrk="0" fontAlgn="base" hangingPunct="0">
              <a:spcBef>
                <a:spcPct val="20000"/>
              </a:spcBef>
              <a:spcAft>
                <a:spcPct val="0"/>
              </a:spcAft>
              <a:buClr>
                <a:schemeClr val="tx1"/>
              </a:buClr>
              <a:buFont typeface="Arial" pitchFamily="34" charset="0"/>
              <a:buChar char="–"/>
              <a:defRPr sz="2400">
                <a:solidFill>
                  <a:schemeClr val="tx1"/>
                </a:solidFill>
                <a:latin typeface="+mn-lt"/>
                <a:ea typeface="ＭＳ Ｐゴシック" charset="-128"/>
              </a:defRPr>
            </a:lvl2pPr>
            <a:lvl3pPr marL="914400" indent="-231775" algn="l" rtl="0" eaLnBrk="0" fontAlgn="base" hangingPunct="0">
              <a:spcBef>
                <a:spcPct val="20000"/>
              </a:spcBef>
              <a:spcAft>
                <a:spcPct val="0"/>
              </a:spcAft>
              <a:buClr>
                <a:schemeClr val="tx1"/>
              </a:buClr>
              <a:buChar char="•"/>
              <a:defRPr>
                <a:solidFill>
                  <a:schemeClr val="tx1"/>
                </a:solidFill>
                <a:latin typeface="+mn-lt"/>
                <a:ea typeface="ＭＳ Ｐゴシック" charset="-128"/>
              </a:defRPr>
            </a:lvl3pPr>
            <a:lvl4pPr marL="1262063" indent="-231775" algn="l" rtl="0" eaLnBrk="0" fontAlgn="base" hangingPunct="0">
              <a:spcBef>
                <a:spcPct val="20000"/>
              </a:spcBef>
              <a:spcAft>
                <a:spcPct val="0"/>
              </a:spcAft>
              <a:buClr>
                <a:schemeClr val="tx1"/>
              </a:buClr>
              <a:buFont typeface="Arial" pitchFamily="34" charset="0"/>
              <a:buChar char="–"/>
              <a:defRPr sz="16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a:lstStyle>
          <a:p>
            <a:pPr marL="117475" lvl="1" indent="-115888" algn="ctr">
              <a:buFont typeface="Arial" pitchFamily="34" charset="0"/>
              <a:buNone/>
            </a:pPr>
            <a:r>
              <a:rPr lang="en-US" sz="1200" b="1" dirty="0" smtClean="0"/>
              <a:t>High</a:t>
            </a:r>
            <a:endParaRPr lang="en-US" sz="1200" i="1" dirty="0"/>
          </a:p>
        </p:txBody>
      </p:sp>
    </p:spTree>
    <p:extLst>
      <p:ext uri="{BB962C8B-B14F-4D97-AF65-F5344CB8AC3E}">
        <p14:creationId xmlns:p14="http://schemas.microsoft.com/office/powerpoint/2010/main" val="390316617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161</a:t>
            </a:fld>
            <a:endParaRPr lang="en-US" dirty="0"/>
          </a:p>
        </p:txBody>
      </p:sp>
    </p:spTree>
    <p:extLst>
      <p:ext uri="{BB962C8B-B14F-4D97-AF65-F5344CB8AC3E}">
        <p14:creationId xmlns:p14="http://schemas.microsoft.com/office/powerpoint/2010/main" val="1388300548"/>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301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20: Online University</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1500470304"/>
              </p:ext>
            </p:extLst>
          </p:nvPr>
        </p:nvGraphicFramePr>
        <p:xfrm>
          <a:off x="304800" y="1295400"/>
          <a:ext cx="8686800" cy="4572000"/>
        </p:xfrm>
        <a:graphic>
          <a:graphicData uri="http://schemas.openxmlformats.org/drawingml/2006/table">
            <a:tbl>
              <a:tblPr firstRow="1" bandRow="1">
                <a:tableStyleId>{616DA210-FB5B-4158-B5E0-FEB733F419BA}</a:tableStyleId>
              </a:tblPr>
              <a:tblGrid>
                <a:gridCol w="1628775"/>
                <a:gridCol w="7058025"/>
              </a:tblGrid>
              <a:tr h="838200">
                <a:tc>
                  <a:txBody>
                    <a:bodyPr/>
                    <a:lstStyle/>
                    <a:p>
                      <a:pPr algn="ctr"/>
                      <a:r>
                        <a:rPr lang="en-US" dirty="0" smtClean="0"/>
                        <a:t>Prompt</a:t>
                      </a:r>
                      <a:endParaRPr lang="en-US" dirty="0"/>
                    </a:p>
                  </a:txBody>
                  <a:tcPr anchor="ctr"/>
                </a:tc>
                <a:tc>
                  <a:txBody>
                    <a:bodyPr/>
                    <a:lstStyle/>
                    <a:p>
                      <a:r>
                        <a:rPr lang="en-US" sz="1200" b="0" kern="1200" dirty="0" smtClean="0">
                          <a:latin typeface="+mj-lt"/>
                        </a:rPr>
                        <a:t>Your client is a reputed</a:t>
                      </a:r>
                      <a:r>
                        <a:rPr lang="en-US" sz="1200" b="0" kern="1200" baseline="0" dirty="0" smtClean="0">
                          <a:latin typeface="+mj-lt"/>
                        </a:rPr>
                        <a:t> top 10 private university in the U.S. T</a:t>
                      </a:r>
                      <a:r>
                        <a:rPr lang="en-US" sz="1200" b="0" kern="1200" dirty="0" smtClean="0">
                          <a:latin typeface="+mj-lt"/>
                        </a:rPr>
                        <a:t>he</a:t>
                      </a:r>
                      <a:r>
                        <a:rPr lang="en-US" sz="1200" b="0" kern="1200" baseline="0" dirty="0" smtClean="0">
                          <a:latin typeface="+mj-lt"/>
                        </a:rPr>
                        <a:t> school’s management have determined that they need to start introducing online courses in their portfolio of offerings but the board of directors are skeptical of providing education in this format. Your firm has been hired the answer the following questions:</a:t>
                      </a:r>
                    </a:p>
                    <a:p>
                      <a:pPr marL="228600" indent="-228600">
                        <a:buFont typeface="+mj-lt"/>
                        <a:buAutoNum type="arabicPeriod"/>
                      </a:pPr>
                      <a:endParaRPr lang="en-US" sz="1200" b="0" kern="1200" baseline="0" dirty="0" smtClean="0">
                        <a:latin typeface="+mj-lt"/>
                      </a:endParaRPr>
                    </a:p>
                    <a:p>
                      <a:pPr marL="228600" indent="-228600">
                        <a:buFont typeface="Arial" pitchFamily="34" charset="0"/>
                        <a:buChar char="•"/>
                      </a:pPr>
                      <a:r>
                        <a:rPr lang="en-US" sz="1200" b="1" kern="1200" baseline="0" dirty="0" smtClean="0">
                          <a:latin typeface="+mj-lt"/>
                        </a:rPr>
                        <a:t>What are the drivers of online education?</a:t>
                      </a:r>
                    </a:p>
                    <a:p>
                      <a:pPr marL="228600" indent="-228600">
                        <a:buFont typeface="Arial" pitchFamily="34" charset="0"/>
                        <a:buChar char="•"/>
                      </a:pPr>
                      <a:r>
                        <a:rPr lang="en-US" sz="1200" b="1" kern="1200" baseline="0" dirty="0" smtClean="0">
                          <a:latin typeface="+mj-lt"/>
                        </a:rPr>
                        <a:t>What is the market size of online courses in the U.S. today? Could you show how this has grown in the last decade (2002-2012)?</a:t>
                      </a:r>
                    </a:p>
                    <a:p>
                      <a:pPr marL="228600" indent="-228600">
                        <a:buFont typeface="Arial" pitchFamily="34" charset="0"/>
                        <a:buChar char="•"/>
                      </a:pPr>
                      <a:r>
                        <a:rPr lang="en-US" sz="1200" b="1" kern="1200" baseline="0" dirty="0" smtClean="0">
                          <a:latin typeface="+mj-lt"/>
                        </a:rPr>
                        <a:t>Should the university introduce online courses? Please advise the client on opportunities, risks and the strategy they should adopt.</a:t>
                      </a:r>
                    </a:p>
                    <a:p>
                      <a:pPr marL="228600" indent="-228600">
                        <a:buFont typeface="Arial" pitchFamily="34" charset="0"/>
                        <a:buChar char="•"/>
                      </a:pPr>
                      <a:endParaRPr lang="en-US" sz="1200" b="1" kern="1200" baseline="0" dirty="0" smtClean="0">
                        <a:latin typeface="+mj-lt"/>
                      </a:endParaRPr>
                    </a:p>
                  </a:txBody>
                  <a:tcPr/>
                </a:tc>
              </a:tr>
              <a:tr h="159173">
                <a:tc>
                  <a:txBody>
                    <a:bodyPr/>
                    <a:lstStyle/>
                    <a:p>
                      <a:pPr algn="ctr"/>
                      <a:r>
                        <a:rPr lang="en-US" b="1" dirty="0" smtClean="0"/>
                        <a:t>Guidance</a:t>
                      </a:r>
                      <a:endParaRPr lang="en-US" b="1" baseline="0" dirty="0" smtClean="0"/>
                    </a:p>
                  </a:txBody>
                  <a:tcPr anchor="ctr"/>
                </a:tc>
                <a:tc>
                  <a:txBody>
                    <a:bodyPr/>
                    <a:lstStyle/>
                    <a:p>
                      <a:r>
                        <a:rPr lang="en-US" sz="1200" i="0" u="none" kern="1200" dirty="0" smtClean="0">
                          <a:solidFill>
                            <a:schemeClr val="tx1"/>
                          </a:solidFill>
                          <a:latin typeface="+mj-lt"/>
                          <a:ea typeface="+mn-ea"/>
                          <a:cs typeface="+mn-cs"/>
                        </a:rPr>
                        <a:t>This is a part strategy</a:t>
                      </a:r>
                      <a:r>
                        <a:rPr lang="en-US" sz="1200" i="0" u="none" kern="1200" baseline="0" dirty="0" smtClean="0">
                          <a:solidFill>
                            <a:schemeClr val="tx1"/>
                          </a:solidFill>
                          <a:latin typeface="+mj-lt"/>
                          <a:ea typeface="+mn-ea"/>
                          <a:cs typeface="+mn-cs"/>
                        </a:rPr>
                        <a:t> and part </a:t>
                      </a:r>
                      <a:r>
                        <a:rPr lang="en-US" sz="1200" i="0" u="none" kern="1200" dirty="0" smtClean="0">
                          <a:solidFill>
                            <a:schemeClr val="tx1"/>
                          </a:solidFill>
                          <a:latin typeface="+mj-lt"/>
                          <a:ea typeface="+mn-ea"/>
                          <a:cs typeface="+mn-cs"/>
                        </a:rPr>
                        <a:t>market estimation case. The analysis  below is one way that it could</a:t>
                      </a:r>
                      <a:r>
                        <a:rPr lang="en-US" sz="1200" i="0" u="none" kern="1200" baseline="0" dirty="0" smtClean="0">
                          <a:solidFill>
                            <a:schemeClr val="tx1"/>
                          </a:solidFill>
                          <a:latin typeface="+mj-lt"/>
                          <a:ea typeface="+mn-ea"/>
                          <a:cs typeface="+mn-cs"/>
                        </a:rPr>
                        <a:t> be solved, and the information may be provided if requested. It is also acceptable for the candidate to make many of these assumptions for his/herself, as long as you find them reasonable. Either way, ask the candidate to walk you through his/her thought process for solving the problem before embarking on the calculations and final conclusion.</a:t>
                      </a:r>
                    </a:p>
                    <a:p>
                      <a:endParaRPr lang="en-US" sz="1200" i="0" u="none"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i="0" u="none" kern="1200" dirty="0" smtClean="0">
                          <a:solidFill>
                            <a:schemeClr val="tx1"/>
                          </a:solidFill>
                          <a:latin typeface="+mn-lt"/>
                          <a:ea typeface="+mn-ea"/>
                          <a:cs typeface="+mn-cs"/>
                        </a:rPr>
                        <a:t>The following details may be provided upon</a:t>
                      </a:r>
                      <a:r>
                        <a:rPr lang="en-US" sz="1200" i="0" u="none" kern="1200" baseline="0" dirty="0" smtClean="0">
                          <a:solidFill>
                            <a:schemeClr val="tx1"/>
                          </a:solidFill>
                          <a:latin typeface="+mn-lt"/>
                          <a:ea typeface="+mn-ea"/>
                          <a:cs typeface="+mn-cs"/>
                        </a:rPr>
                        <a:t> request:</a:t>
                      </a: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Char char="§"/>
                        <a:tabLst/>
                        <a:defRPr/>
                      </a:pPr>
                      <a:r>
                        <a:rPr lang="en-US" sz="1200" i="0" u="none" kern="1200" dirty="0" smtClean="0">
                          <a:solidFill>
                            <a:schemeClr val="tx1"/>
                          </a:solidFill>
                          <a:latin typeface="+mn-lt"/>
                          <a:ea typeface="+mn-ea"/>
                          <a:cs typeface="+mn-cs"/>
                        </a:rPr>
                        <a:t>U</a:t>
                      </a:r>
                      <a:r>
                        <a:rPr lang="en-US" sz="1200" i="0" u="none" kern="1200" baseline="0" dirty="0" smtClean="0">
                          <a:solidFill>
                            <a:schemeClr val="tx1"/>
                          </a:solidFill>
                          <a:latin typeface="+mn-lt"/>
                          <a:ea typeface="+mn-ea"/>
                          <a:cs typeface="+mn-cs"/>
                        </a:rPr>
                        <a:t>ndergraduate program (6,500 students) and graduate programs, ranging from business, medicine, to law, public policy (8,200 students) – the candidate may ask for this but is expected to recognize that it is not necessary to solve the case</a:t>
                      </a: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Char char="§"/>
                        <a:tabLst/>
                        <a:defRPr/>
                      </a:pPr>
                      <a:r>
                        <a:rPr lang="en-US" sz="1200" i="0" u="none" kern="1200" baseline="0" dirty="0" smtClean="0">
                          <a:solidFill>
                            <a:schemeClr val="tx1"/>
                          </a:solidFill>
                          <a:latin typeface="+mn-lt"/>
                          <a:ea typeface="+mn-ea"/>
                          <a:cs typeface="+mn-cs"/>
                        </a:rPr>
                        <a:t>If the candidate asks anything else, feel free to provide information you see fit but note that the profile of the university itself is not very relevant to the case</a:t>
                      </a:r>
                    </a:p>
                    <a:p>
                      <a:endParaRPr lang="en-US" sz="1200" i="0" u="none" kern="1200" baseline="0" dirty="0" smtClean="0">
                        <a:solidFill>
                          <a:schemeClr val="tx1"/>
                        </a:solidFill>
                        <a:latin typeface="+mn-lt"/>
                        <a:ea typeface="+mn-ea"/>
                        <a:cs typeface="+mn-cs"/>
                      </a:endParaRPr>
                    </a:p>
                  </a:txBody>
                  <a:tcPr/>
                </a:tc>
              </a:tr>
            </a:tbl>
          </a:graphicData>
        </a:graphic>
      </p:graphicFrame>
      <p:sp>
        <p:nvSpPr>
          <p:cNvPr id="43026"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162</a:t>
            </a:fld>
            <a:endParaRPr lang="en-US" dirty="0"/>
          </a:p>
        </p:txBody>
      </p:sp>
      <p:sp>
        <p:nvSpPr>
          <p:cNvPr id="7" name="TextBox 6"/>
          <p:cNvSpPr txBox="1">
            <a:spLocks noChangeArrowheads="1"/>
          </p:cNvSpPr>
          <p:nvPr/>
        </p:nvSpPr>
        <p:spPr bwMode="auto">
          <a:xfrm>
            <a:off x="3657600" y="987425"/>
            <a:ext cx="2286000" cy="307975"/>
          </a:xfrm>
          <a:prstGeom prst="rect">
            <a:avLst/>
          </a:prstGeom>
          <a:noFill/>
          <a:ln w="9525">
            <a:noFill/>
            <a:miter lim="800000"/>
            <a:headEnd/>
            <a:tailEnd/>
          </a:ln>
        </p:spPr>
        <p:txBody>
          <a:bodyPr>
            <a:spAutoFit/>
          </a:bodyPr>
          <a:lstStyle/>
          <a:p>
            <a:pPr algn="ctr"/>
            <a:r>
              <a:rPr lang="en-US" sz="1400" i="1" dirty="0" smtClean="0"/>
              <a:t>Deloitte</a:t>
            </a:r>
            <a:endParaRPr lang="en-US" sz="1400" i="1" dirty="0"/>
          </a:p>
        </p:txBody>
      </p:sp>
    </p:spTree>
    <p:extLst>
      <p:ext uri="{BB962C8B-B14F-4D97-AF65-F5344CB8AC3E}">
        <p14:creationId xmlns:p14="http://schemas.microsoft.com/office/powerpoint/2010/main" val="180571161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3011"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20: Online University</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1833176952"/>
              </p:ext>
            </p:extLst>
          </p:nvPr>
        </p:nvGraphicFramePr>
        <p:xfrm>
          <a:off x="304800" y="1295400"/>
          <a:ext cx="8686800" cy="1737360"/>
        </p:xfrm>
        <a:graphic>
          <a:graphicData uri="http://schemas.openxmlformats.org/drawingml/2006/table">
            <a:tbl>
              <a:tblPr firstRow="1" bandRow="1">
                <a:tableStyleId>{616DA210-FB5B-4158-B5E0-FEB733F419BA}</a:tableStyleId>
              </a:tblPr>
              <a:tblGrid>
                <a:gridCol w="1628775"/>
                <a:gridCol w="7058025"/>
              </a:tblGrid>
              <a:tr h="159173">
                <a:tc>
                  <a:txBody>
                    <a:bodyPr/>
                    <a:lstStyle/>
                    <a:p>
                      <a:pPr algn="ctr"/>
                      <a:r>
                        <a:rPr lang="en-US" b="1" dirty="0" smtClean="0"/>
                        <a:t>Guidance</a:t>
                      </a:r>
                      <a:endParaRPr lang="en-US" b="1" baseline="0" dirty="0" smtClean="0"/>
                    </a:p>
                  </a:txBody>
                  <a:tcPr anchor="ctr">
                    <a:solidFill>
                      <a:srgbClr val="CCCCCC"/>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u="none" kern="1200" baseline="0" dirty="0" smtClean="0">
                          <a:solidFill>
                            <a:schemeClr val="tx1"/>
                          </a:solidFill>
                          <a:latin typeface="+mn-lt"/>
                          <a:ea typeface="+mn-ea"/>
                          <a:cs typeface="+mn-cs"/>
                        </a:rPr>
                        <a:t>The candidate should list some, if not all the following drivers of online education growth: </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the rising cost of traditional education</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greater trust and credibility associated with online learning</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internet adoption and streaming capability</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increased accreditation</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increased acceptable of qualifications earned through online education by employers</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attractive technology-based tools that enhance learning</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n-lt"/>
                          <a:ea typeface="+mn-ea"/>
                          <a:cs typeface="+mn-cs"/>
                        </a:rPr>
                        <a:t>recent involvement by brand name universities</a:t>
                      </a:r>
                      <a:endParaRPr lang="en-US" sz="1200" i="0" u="none" kern="1200" dirty="0" smtClean="0">
                        <a:solidFill>
                          <a:schemeClr val="tx1"/>
                        </a:solidFill>
                        <a:latin typeface="+mn-lt"/>
                        <a:ea typeface="+mn-ea"/>
                        <a:cs typeface="+mn-cs"/>
                      </a:endParaRPr>
                    </a:p>
                    <a:p>
                      <a:endParaRPr lang="en-US" sz="1200" i="0" u="none" kern="1200" baseline="0" dirty="0" smtClean="0">
                        <a:solidFill>
                          <a:schemeClr val="tx1"/>
                        </a:solidFill>
                        <a:latin typeface="+mn-lt"/>
                        <a:ea typeface="+mn-ea"/>
                        <a:cs typeface="+mn-cs"/>
                      </a:endParaRPr>
                    </a:p>
                  </a:txBody>
                  <a:tcPr>
                    <a:solidFill>
                      <a:srgbClr val="CCCCCC"/>
                    </a:solidFill>
                  </a:tcPr>
                </a:tc>
              </a:tr>
            </a:tbl>
          </a:graphicData>
        </a:graphic>
      </p:graphicFrame>
      <p:sp>
        <p:nvSpPr>
          <p:cNvPr id="43026"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163</a:t>
            </a:fld>
            <a:endParaRPr lang="en-US" dirty="0"/>
          </a:p>
        </p:txBody>
      </p:sp>
      <p:sp>
        <p:nvSpPr>
          <p:cNvPr id="7" name="TextBox 6"/>
          <p:cNvSpPr txBox="1">
            <a:spLocks noChangeArrowheads="1"/>
          </p:cNvSpPr>
          <p:nvPr/>
        </p:nvSpPr>
        <p:spPr bwMode="auto">
          <a:xfrm>
            <a:off x="3657600" y="987425"/>
            <a:ext cx="2286000" cy="307975"/>
          </a:xfrm>
          <a:prstGeom prst="rect">
            <a:avLst/>
          </a:prstGeom>
          <a:noFill/>
          <a:ln w="9525">
            <a:noFill/>
            <a:miter lim="800000"/>
            <a:headEnd/>
            <a:tailEnd/>
          </a:ln>
        </p:spPr>
        <p:txBody>
          <a:bodyPr>
            <a:spAutoFit/>
          </a:bodyPr>
          <a:lstStyle/>
          <a:p>
            <a:pPr algn="ctr"/>
            <a:r>
              <a:rPr lang="en-US" sz="1400" i="1" dirty="0" smtClean="0"/>
              <a:t>Deloitte</a:t>
            </a:r>
            <a:endParaRPr lang="en-US" sz="1400" i="1" dirty="0"/>
          </a:p>
        </p:txBody>
      </p:sp>
    </p:spTree>
    <p:extLst>
      <p:ext uri="{BB962C8B-B14F-4D97-AF65-F5344CB8AC3E}">
        <p14:creationId xmlns:p14="http://schemas.microsoft.com/office/powerpoint/2010/main" val="2066942676"/>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1"/>
          </p:nvPr>
        </p:nvSpPr>
        <p:spPr>
          <a:noFill/>
        </p:spPr>
        <p:txBody>
          <a:bodyPr/>
          <a:lstStyle/>
          <a:p>
            <a:fld id="{1B6A3715-9D8F-44C1-8AA8-49B83372AED8}" type="slidenum">
              <a:rPr lang="en-US" smtClean="0">
                <a:latin typeface="Arial" pitchFamily="34" charset="0"/>
                <a:ea typeface="ＭＳ Ｐゴシック" pitchFamily="34" charset="-128"/>
              </a:rPr>
              <a:pPr/>
              <a:t>164</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891629145"/>
              </p:ext>
            </p:extLst>
          </p:nvPr>
        </p:nvGraphicFramePr>
        <p:xfrm>
          <a:off x="304800" y="1295400"/>
          <a:ext cx="8534400" cy="4297680"/>
        </p:xfrm>
        <a:graphic>
          <a:graphicData uri="http://schemas.openxmlformats.org/drawingml/2006/table">
            <a:tbl>
              <a:tblPr firstRow="1" bandRow="1">
                <a:tableStyleId>{616DA210-FB5B-4158-B5E0-FEB733F419BA}</a:tableStyleId>
              </a:tblPr>
              <a:tblGrid>
                <a:gridCol w="1600200"/>
                <a:gridCol w="6934200"/>
              </a:tblGrid>
              <a:tr h="533400">
                <a:tc>
                  <a:txBody>
                    <a:bodyPr/>
                    <a:lstStyle/>
                    <a:p>
                      <a:pPr algn="ctr"/>
                      <a:r>
                        <a:rPr lang="en-US" sz="1800" dirty="0" smtClean="0"/>
                        <a:t>Guidance</a:t>
                      </a:r>
                      <a:endParaRPr lang="en-US" sz="1800" dirty="0"/>
                    </a:p>
                  </a:txBody>
                  <a:tcPr anchor="ctr">
                    <a:solidFill>
                      <a:srgbClr val="CCCCCC"/>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dirty="0" smtClean="0">
                          <a:solidFill>
                            <a:schemeClr val="tx1"/>
                          </a:solidFill>
                          <a:latin typeface="+mj-lt"/>
                          <a:ea typeface="+mn-ea"/>
                          <a:cs typeface="+mn-cs"/>
                        </a:rPr>
                        <a:t>The candidate should ask for the following information</a:t>
                      </a:r>
                      <a:r>
                        <a:rPr lang="en-US" sz="1200" b="0" i="0" kern="1200" baseline="0" dirty="0" smtClean="0">
                          <a:solidFill>
                            <a:schemeClr val="tx1"/>
                          </a:solidFill>
                          <a:latin typeface="+mj-lt"/>
                          <a:ea typeface="+mn-ea"/>
                          <a:cs typeface="+mn-cs"/>
                        </a:rPr>
                        <a:t> about the market to do the sizing exercise:</a:t>
                      </a: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dirty="0" smtClean="0">
                          <a:solidFill>
                            <a:schemeClr val="tx1"/>
                          </a:solidFill>
                          <a:latin typeface="+mj-lt"/>
                          <a:ea typeface="+mn-ea"/>
                          <a:cs typeface="+mn-cs"/>
                        </a:rPr>
                        <a:t>The candidate is expected to calculate the number of </a:t>
                      </a:r>
                      <a:r>
                        <a:rPr lang="en-US" sz="1200" b="0" i="1" kern="1200" dirty="0" smtClean="0">
                          <a:solidFill>
                            <a:schemeClr val="tx1"/>
                          </a:solidFill>
                          <a:latin typeface="+mj-lt"/>
                          <a:ea typeface="+mn-ea"/>
                          <a:cs typeface="+mn-cs"/>
                        </a:rPr>
                        <a:t>online courses </a:t>
                      </a:r>
                      <a:r>
                        <a:rPr lang="en-US" sz="1200" b="0" i="0" kern="1200" dirty="0" smtClean="0">
                          <a:solidFill>
                            <a:schemeClr val="tx1"/>
                          </a:solidFill>
                          <a:latin typeface="+mj-lt"/>
                          <a:ea typeface="+mn-ea"/>
                          <a:cs typeface="+mn-cs"/>
                        </a:rPr>
                        <a:t>(which is</a:t>
                      </a:r>
                      <a:r>
                        <a:rPr lang="en-US" sz="1200" b="0" i="0" kern="1200" baseline="0" dirty="0" smtClean="0">
                          <a:solidFill>
                            <a:schemeClr val="tx1"/>
                          </a:solidFill>
                          <a:latin typeface="+mj-lt"/>
                          <a:ea typeface="+mn-ea"/>
                          <a:cs typeface="+mn-cs"/>
                        </a:rPr>
                        <a:t> not the same as calculating the </a:t>
                      </a:r>
                      <a:r>
                        <a:rPr lang="en-US" sz="1200" b="0" i="1" kern="1200" baseline="0" dirty="0" smtClean="0">
                          <a:solidFill>
                            <a:schemeClr val="tx1"/>
                          </a:solidFill>
                          <a:latin typeface="+mj-lt"/>
                          <a:ea typeface="+mn-ea"/>
                          <a:cs typeface="+mn-cs"/>
                        </a:rPr>
                        <a:t>number of students</a:t>
                      </a:r>
                      <a:r>
                        <a:rPr lang="en-US" sz="1200" b="0" i="0" kern="1200" baseline="0" dirty="0" smtClean="0">
                          <a:solidFill>
                            <a:schemeClr val="tx1"/>
                          </a:solidFill>
                          <a:latin typeface="+mj-lt"/>
                          <a:ea typeface="+mn-ea"/>
                          <a:cs typeface="+mn-cs"/>
                        </a:rPr>
                        <a:t> doing one or more online courses) for 2002 and 2012 by assuming a reasonable split among students who are doing full programs online (e.g. Phoenix University) vs. some course (average of 4) vs. few (average of 1.5). Allow the student to provide a rationale for the split he/she assumes. Then provide this table:</a:t>
                      </a: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a:solidFill>
                          <a:schemeClr val="tx1"/>
                        </a:solidFill>
                        <a:latin typeface="+mj-lt"/>
                        <a:ea typeface="+mn-ea"/>
                        <a:cs typeface="+mn-cs"/>
                      </a:endParaRPr>
                    </a:p>
                  </a:txBody>
                  <a:tcPr>
                    <a:solidFill>
                      <a:srgbClr val="CCCCCC"/>
                    </a:solidFill>
                  </a:tcPr>
                </a:tc>
              </a:tr>
            </a:tbl>
          </a:graphicData>
        </a:graphic>
      </p:graphicFrame>
      <p:pic>
        <p:nvPicPr>
          <p:cNvPr id="4404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4050"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20: Online University</a:t>
            </a:r>
            <a:endParaRPr lang="en-US" sz="2400" b="1" dirty="0"/>
          </a:p>
        </p:txBody>
      </p:sp>
      <p:sp>
        <p:nvSpPr>
          <p:cNvPr id="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8" name="TextBox 7"/>
          <p:cNvSpPr txBox="1">
            <a:spLocks noChangeArrowheads="1"/>
          </p:cNvSpPr>
          <p:nvPr/>
        </p:nvSpPr>
        <p:spPr bwMode="auto">
          <a:xfrm>
            <a:off x="3657600" y="987425"/>
            <a:ext cx="2286000" cy="307975"/>
          </a:xfrm>
          <a:prstGeom prst="rect">
            <a:avLst/>
          </a:prstGeom>
          <a:noFill/>
          <a:ln w="9525">
            <a:noFill/>
            <a:miter lim="800000"/>
            <a:headEnd/>
            <a:tailEnd/>
          </a:ln>
        </p:spPr>
        <p:txBody>
          <a:bodyPr>
            <a:spAutoFit/>
          </a:bodyPr>
          <a:lstStyle/>
          <a:p>
            <a:pPr algn="ctr"/>
            <a:r>
              <a:rPr lang="en-US" sz="1400" i="1" dirty="0" smtClean="0"/>
              <a:t>Deloitte</a:t>
            </a:r>
            <a:endParaRPr lang="en-US" sz="1400" i="1" dirty="0"/>
          </a:p>
        </p:txBody>
      </p:sp>
      <p:graphicFrame>
        <p:nvGraphicFramePr>
          <p:cNvPr id="2" name="Table 1"/>
          <p:cNvGraphicFramePr>
            <a:graphicFrameLocks noGrp="1"/>
          </p:cNvGraphicFramePr>
          <p:nvPr>
            <p:extLst>
              <p:ext uri="{D42A27DB-BD31-4B8C-83A1-F6EECF244321}">
                <p14:modId xmlns:p14="http://schemas.microsoft.com/office/powerpoint/2010/main" val="3285254307"/>
              </p:ext>
            </p:extLst>
          </p:nvPr>
        </p:nvGraphicFramePr>
        <p:xfrm>
          <a:off x="2209800" y="1967865"/>
          <a:ext cx="5435600" cy="1080135"/>
        </p:xfrm>
        <a:graphic>
          <a:graphicData uri="http://schemas.openxmlformats.org/drawingml/2006/table">
            <a:tbl>
              <a:tblPr>
                <a:tableStyleId>{5C22544A-7EE6-4342-B048-85BDC9FD1C3A}</a:tableStyleId>
              </a:tblPr>
              <a:tblGrid>
                <a:gridCol w="3657600"/>
                <a:gridCol w="889000"/>
                <a:gridCol w="889000"/>
              </a:tblGrid>
              <a:tr h="200025">
                <a:tc>
                  <a:txBody>
                    <a:bodyPr/>
                    <a:lstStyle/>
                    <a:p>
                      <a:pPr algn="l" fontAlgn="b"/>
                      <a:r>
                        <a:rPr lang="en-US" sz="1100" u="none" strike="noStrike" dirty="0">
                          <a:effectLst/>
                        </a:rPr>
                        <a:t>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100" b="1" u="none" strike="noStrike" dirty="0">
                          <a:effectLst/>
                        </a:rPr>
                        <a:t>2002</a:t>
                      </a:r>
                      <a:endParaRPr lang="en-US" sz="11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100" b="1" u="none" strike="noStrike" dirty="0">
                          <a:effectLst/>
                        </a:rPr>
                        <a:t>2012</a:t>
                      </a:r>
                      <a:endParaRPr lang="en-US" sz="11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190500">
                <a:tc>
                  <a:txBody>
                    <a:bodyPr/>
                    <a:lstStyle/>
                    <a:p>
                      <a:pPr algn="l" fontAlgn="b"/>
                      <a:r>
                        <a:rPr lang="en-US" sz="1100" u="none" strike="noStrike" dirty="0">
                          <a:effectLst/>
                        </a:rPr>
                        <a:t>Total number of post secondary students in the U.S.</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a:effectLst/>
                        </a:rPr>
                        <a:t>         1,916,000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a:effectLst/>
                        </a:rPr>
                        <a:t>         2,628,000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190500">
                <a:tc>
                  <a:txBody>
                    <a:bodyPr/>
                    <a:lstStyle/>
                    <a:p>
                      <a:pPr algn="l" fontAlgn="b"/>
                      <a:r>
                        <a:rPr lang="en-US" sz="1100" u="none" strike="noStrike">
                          <a:effectLst/>
                        </a:rPr>
                        <a:t>Percentage taking one or more online courses</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100" u="none" strike="noStrike">
                          <a:effectLst/>
                        </a:rPr>
                        <a:t>20%</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200025">
                <a:tc>
                  <a:txBody>
                    <a:bodyPr/>
                    <a:lstStyle/>
                    <a:p>
                      <a:pPr algn="l" fontAlgn="b"/>
                      <a:r>
                        <a:rPr lang="en-US" sz="1100" u="none" strike="noStrike">
                          <a:effectLst/>
                        </a:rPr>
                        <a:t>Number of students doing online courses (to be calculated)</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a:effectLst/>
                        </a:rPr>
                        <a:t>               57,480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dirty="0">
                          <a:effectLst/>
                        </a:rPr>
                        <a:t>             525,600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732900481"/>
              </p:ext>
            </p:extLst>
          </p:nvPr>
        </p:nvGraphicFramePr>
        <p:xfrm>
          <a:off x="2209800" y="4419600"/>
          <a:ext cx="5816600" cy="784860"/>
        </p:xfrm>
        <a:graphic>
          <a:graphicData uri="http://schemas.openxmlformats.org/drawingml/2006/table">
            <a:tbl>
              <a:tblPr>
                <a:tableStyleId>{5C22544A-7EE6-4342-B048-85BDC9FD1C3A}</a:tableStyleId>
              </a:tblPr>
              <a:tblGrid>
                <a:gridCol w="330200"/>
                <a:gridCol w="4114800"/>
                <a:gridCol w="609600"/>
                <a:gridCol w="762000"/>
              </a:tblGrid>
              <a:tr h="200025">
                <a:tc>
                  <a:txBody>
                    <a:bodyPr/>
                    <a:lstStyle/>
                    <a:p>
                      <a:pPr algn="l" fontAlgn="b"/>
                      <a:r>
                        <a:rPr lang="en-US" sz="1200" u="none" strike="noStrike" dirty="0">
                          <a:effectLst/>
                        </a:rPr>
                        <a:t> </a:t>
                      </a:r>
                      <a:endParaRPr lang="en-US" sz="12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200" u="none" strike="noStrike" dirty="0">
                          <a:effectLst/>
                        </a:rPr>
                        <a:t> </a:t>
                      </a:r>
                      <a:endParaRPr lang="en-US" sz="12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b="1" u="none" strike="noStrike" dirty="0">
                          <a:effectLst/>
                        </a:rPr>
                        <a:t>2002</a:t>
                      </a:r>
                      <a:endParaRPr lang="en-US" sz="12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b="1" u="none" strike="noStrike" dirty="0">
                          <a:effectLst/>
                        </a:rPr>
                        <a:t>2012</a:t>
                      </a:r>
                      <a:endParaRPr lang="en-US" sz="12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190500">
                <a:tc>
                  <a:txBody>
                    <a:bodyPr/>
                    <a:lstStyle/>
                    <a:p>
                      <a:pPr algn="r" fontAlgn="b"/>
                      <a:r>
                        <a:rPr lang="en-US" sz="1200" u="none" strike="noStrike">
                          <a:effectLst/>
                        </a:rPr>
                        <a:t>A</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200" u="none" strike="noStrike">
                          <a:effectLst/>
                        </a:rPr>
                        <a:t>% of online students doing full programs (12 courses p.a.)</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u="none" strike="noStrike">
                          <a:effectLst/>
                        </a:rPr>
                        <a:t>10%</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u="none" strike="noStrike">
                          <a:effectLst/>
                        </a:rPr>
                        <a:t>20%</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190500">
                <a:tc>
                  <a:txBody>
                    <a:bodyPr/>
                    <a:lstStyle/>
                    <a:p>
                      <a:pPr algn="r" fontAlgn="b"/>
                      <a:r>
                        <a:rPr lang="en-US" sz="1200" u="none" strike="noStrike">
                          <a:effectLst/>
                        </a:rPr>
                        <a:t>B</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200" u="none" strike="noStrike">
                          <a:effectLst/>
                        </a:rPr>
                        <a:t>% of online students doing 4 courses average</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u="none" strike="noStrike">
                          <a:effectLst/>
                        </a:rPr>
                        <a:t>20%</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u="none" strike="noStrike">
                          <a:effectLst/>
                        </a:rPr>
                        <a:t>30%</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200025">
                <a:tc>
                  <a:txBody>
                    <a:bodyPr/>
                    <a:lstStyle/>
                    <a:p>
                      <a:pPr algn="r" fontAlgn="b"/>
                      <a:r>
                        <a:rPr lang="en-US" sz="1200" u="none" strike="noStrike">
                          <a:effectLst/>
                        </a:rPr>
                        <a:t>C</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200" u="none" strike="noStrike" dirty="0">
                          <a:effectLst/>
                        </a:rPr>
                        <a:t>% of online students doing 1.5 courses average</a:t>
                      </a:r>
                      <a:endParaRPr lang="en-US" sz="12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u="none" strike="noStrike">
                          <a:effectLst/>
                        </a:rPr>
                        <a:t>70%</a:t>
                      </a:r>
                      <a:endParaRPr lang="en-US" sz="12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200" u="none" strike="noStrike" dirty="0">
                          <a:effectLst/>
                        </a:rPr>
                        <a:t>50%</a:t>
                      </a:r>
                      <a:endParaRPr lang="en-US" sz="12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bl>
          </a:graphicData>
        </a:graphic>
      </p:graphicFrame>
    </p:spTree>
    <p:extLst>
      <p:ext uri="{BB962C8B-B14F-4D97-AF65-F5344CB8AC3E}">
        <p14:creationId xmlns:p14="http://schemas.microsoft.com/office/powerpoint/2010/main" val="3326044531"/>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1"/>
          </p:nvPr>
        </p:nvSpPr>
        <p:spPr>
          <a:noFill/>
        </p:spPr>
        <p:txBody>
          <a:bodyPr/>
          <a:lstStyle/>
          <a:p>
            <a:fld id="{1B6A3715-9D8F-44C1-8AA8-49B83372AED8}" type="slidenum">
              <a:rPr lang="en-US" smtClean="0">
                <a:latin typeface="Arial" pitchFamily="34" charset="0"/>
                <a:ea typeface="ＭＳ Ｐゴシック" pitchFamily="34" charset="-128"/>
              </a:rPr>
              <a:pPr/>
              <a:t>165</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063129607"/>
              </p:ext>
            </p:extLst>
          </p:nvPr>
        </p:nvGraphicFramePr>
        <p:xfrm>
          <a:off x="304800" y="1295400"/>
          <a:ext cx="8534400" cy="3931920"/>
        </p:xfrm>
        <a:graphic>
          <a:graphicData uri="http://schemas.openxmlformats.org/drawingml/2006/table">
            <a:tbl>
              <a:tblPr firstRow="1" bandRow="1">
                <a:tableStyleId>{616DA210-FB5B-4158-B5E0-FEB733F419BA}</a:tableStyleId>
              </a:tblPr>
              <a:tblGrid>
                <a:gridCol w="1600200"/>
                <a:gridCol w="6934200"/>
              </a:tblGrid>
              <a:tr h="533400">
                <a:tc>
                  <a:txBody>
                    <a:bodyPr/>
                    <a:lstStyle/>
                    <a:p>
                      <a:pPr algn="ctr"/>
                      <a:r>
                        <a:rPr lang="en-US" sz="1800" dirty="0" smtClean="0"/>
                        <a:t>Guidance</a:t>
                      </a:r>
                      <a:endParaRPr lang="en-US" sz="1800" dirty="0"/>
                    </a:p>
                  </a:txBody>
                  <a:tcPr anchor="ctr">
                    <a:solidFill>
                      <a:srgbClr val="CCCCCC"/>
                    </a:solidFill>
                  </a:tcPr>
                </a:tc>
                <a:tc>
                  <a:txBody>
                    <a:bodyPr/>
                    <a:lstStyle/>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j-lt"/>
                          <a:ea typeface="+mn-ea"/>
                          <a:cs typeface="+mn-cs"/>
                        </a:rPr>
                        <a:t>This will allow the candidate to make the following calculations:</a:t>
                      </a: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baseline="0" dirty="0" smtClean="0">
                        <a:solidFill>
                          <a:schemeClr val="tx1"/>
                        </a:solidFill>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j-lt"/>
                          <a:ea typeface="+mn-ea"/>
                          <a:cs typeface="+mn-cs"/>
                        </a:rPr>
                        <a:t>Eventually, the candidate is supposed to compare ~1% in 2002 vs. ~7% in 2012 of online courses taken as a percentage of total courses taken and recommend whether this is significant enough for the client to consider introducing online courses. There is no clear answer but the candidate is expected to take a side and support it confidently. </a:t>
                      </a: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a:solidFill>
                          <a:schemeClr val="tx1"/>
                        </a:solidFill>
                        <a:latin typeface="+mj-lt"/>
                        <a:ea typeface="+mn-ea"/>
                        <a:cs typeface="+mn-cs"/>
                      </a:endParaRPr>
                    </a:p>
                  </a:txBody>
                  <a:tcPr>
                    <a:solidFill>
                      <a:srgbClr val="CCCCCC"/>
                    </a:solidFill>
                  </a:tcPr>
                </a:tc>
              </a:tr>
            </a:tbl>
          </a:graphicData>
        </a:graphic>
      </p:graphicFrame>
      <p:pic>
        <p:nvPicPr>
          <p:cNvPr id="4404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4050"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20: Online University</a:t>
            </a:r>
            <a:endParaRPr lang="en-US" sz="2400" b="1" dirty="0"/>
          </a:p>
        </p:txBody>
      </p:sp>
      <p:sp>
        <p:nvSpPr>
          <p:cNvPr id="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8" name="TextBox 7"/>
          <p:cNvSpPr txBox="1">
            <a:spLocks noChangeArrowheads="1"/>
          </p:cNvSpPr>
          <p:nvPr/>
        </p:nvSpPr>
        <p:spPr bwMode="auto">
          <a:xfrm>
            <a:off x="3657600" y="987425"/>
            <a:ext cx="2286000" cy="307975"/>
          </a:xfrm>
          <a:prstGeom prst="rect">
            <a:avLst/>
          </a:prstGeom>
          <a:noFill/>
          <a:ln w="9525">
            <a:noFill/>
            <a:miter lim="800000"/>
            <a:headEnd/>
            <a:tailEnd/>
          </a:ln>
        </p:spPr>
        <p:txBody>
          <a:bodyPr>
            <a:spAutoFit/>
          </a:bodyPr>
          <a:lstStyle/>
          <a:p>
            <a:pPr algn="ctr"/>
            <a:r>
              <a:rPr lang="en-US" sz="1400" i="1" dirty="0" smtClean="0"/>
              <a:t>Deloitte</a:t>
            </a:r>
            <a:endParaRPr lang="en-US" sz="1400" i="1" dirty="0"/>
          </a:p>
        </p:txBody>
      </p:sp>
      <p:graphicFrame>
        <p:nvGraphicFramePr>
          <p:cNvPr id="4" name="Table 3"/>
          <p:cNvGraphicFramePr>
            <a:graphicFrameLocks noGrp="1"/>
          </p:cNvGraphicFramePr>
          <p:nvPr>
            <p:extLst>
              <p:ext uri="{D42A27DB-BD31-4B8C-83A1-F6EECF244321}">
                <p14:modId xmlns:p14="http://schemas.microsoft.com/office/powerpoint/2010/main" val="1294088958"/>
              </p:ext>
            </p:extLst>
          </p:nvPr>
        </p:nvGraphicFramePr>
        <p:xfrm>
          <a:off x="2125579" y="1676400"/>
          <a:ext cx="6553199" cy="2291715"/>
        </p:xfrm>
        <a:graphic>
          <a:graphicData uri="http://schemas.openxmlformats.org/drawingml/2006/table">
            <a:tbl>
              <a:tblPr>
                <a:tableStyleId>{5C22544A-7EE6-4342-B048-85BDC9FD1C3A}</a:tableStyleId>
              </a:tblPr>
              <a:tblGrid>
                <a:gridCol w="172075"/>
                <a:gridCol w="4552325"/>
                <a:gridCol w="990600"/>
                <a:gridCol w="838199"/>
              </a:tblGrid>
              <a:tr h="200025">
                <a:tc>
                  <a:txBody>
                    <a:bodyPr/>
                    <a:lstStyle/>
                    <a:p>
                      <a:pPr algn="l" fontAlgn="b"/>
                      <a:r>
                        <a:rPr lang="en-US" sz="1100" u="none" strike="noStrike" dirty="0">
                          <a:effectLst/>
                        </a:rPr>
                        <a:t>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100" u="none" strike="noStrike" dirty="0">
                          <a:effectLst/>
                        </a:rPr>
                        <a:t>2002</a:t>
                      </a:r>
                      <a:endParaRPr lang="en-US" sz="1100" b="1"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r" fontAlgn="b"/>
                      <a:r>
                        <a:rPr lang="en-US" sz="1100" u="none" strike="noStrike">
                          <a:effectLst/>
                        </a:rPr>
                        <a:t>2012</a:t>
                      </a:r>
                      <a:endParaRPr lang="en-US" sz="1100" b="1"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257175">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dirty="0">
                          <a:effectLst/>
                        </a:rPr>
                        <a:t>A (</a:t>
                      </a:r>
                      <a:r>
                        <a:rPr lang="en-US" sz="1100" u="none" strike="noStrike" dirty="0" smtClean="0">
                          <a:effectLst/>
                        </a:rPr>
                        <a:t>No. </a:t>
                      </a:r>
                      <a:r>
                        <a:rPr lang="en-US" sz="1100" u="none" strike="noStrike" dirty="0">
                          <a:effectLst/>
                        </a:rPr>
                        <a:t>of students doing online course*% doing full </a:t>
                      </a:r>
                      <a:r>
                        <a:rPr lang="en-US" sz="1100" u="none" strike="noStrike" dirty="0" smtClean="0">
                          <a:effectLst/>
                        </a:rPr>
                        <a:t>programs*12) </a:t>
                      </a:r>
                    </a:p>
                    <a:p>
                      <a:pPr algn="l" fontAlgn="b"/>
                      <a:r>
                        <a:rPr lang="en-US" sz="1100" b="0" i="0" u="none" strike="noStrike" dirty="0" smtClean="0">
                          <a:solidFill>
                            <a:srgbClr val="000000"/>
                          </a:solidFill>
                          <a:effectLst/>
                          <a:latin typeface="Calibri"/>
                        </a:rPr>
                        <a:t>= 57,480*10%*12</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68,976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a:effectLst/>
                        </a:rPr>
                        <a:t>         1,261,440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217170">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dirty="0">
                          <a:effectLst/>
                        </a:rPr>
                        <a:t>B (</a:t>
                      </a:r>
                      <a:r>
                        <a:rPr lang="en-US" sz="1100" u="none" strike="noStrike" dirty="0" smtClean="0">
                          <a:effectLst/>
                        </a:rPr>
                        <a:t>No. </a:t>
                      </a:r>
                      <a:r>
                        <a:rPr lang="en-US" sz="1100" u="none" strike="noStrike" dirty="0">
                          <a:effectLst/>
                        </a:rPr>
                        <a:t>of students doing online course*% doing </a:t>
                      </a:r>
                      <a:r>
                        <a:rPr lang="en-US" sz="1100" u="none" strike="noStrike" dirty="0" smtClean="0">
                          <a:effectLst/>
                        </a:rPr>
                        <a:t>some courses*4)</a:t>
                      </a:r>
                    </a:p>
                    <a:p>
                      <a:pPr algn="l" fontAlgn="b"/>
                      <a:r>
                        <a:rPr lang="en-US" sz="1100" b="0" i="0" u="none" strike="noStrike" dirty="0" smtClean="0">
                          <a:solidFill>
                            <a:srgbClr val="000000"/>
                          </a:solidFill>
                          <a:effectLst/>
                          <a:latin typeface="Calibri"/>
                        </a:rPr>
                        <a:t>= 57,480*20%*4</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45,984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630,720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253365">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dirty="0">
                          <a:effectLst/>
                        </a:rPr>
                        <a:t>C (</a:t>
                      </a:r>
                      <a:r>
                        <a:rPr lang="en-US" sz="1100" u="none" strike="noStrike" dirty="0" smtClean="0">
                          <a:effectLst/>
                        </a:rPr>
                        <a:t>No. </a:t>
                      </a:r>
                      <a:r>
                        <a:rPr lang="en-US" sz="1100" u="none" strike="noStrike" dirty="0">
                          <a:effectLst/>
                        </a:rPr>
                        <a:t>of students doing online course*% doing </a:t>
                      </a:r>
                      <a:r>
                        <a:rPr lang="en-US" sz="1100" u="none" strike="noStrike" dirty="0" smtClean="0">
                          <a:effectLst/>
                        </a:rPr>
                        <a:t>few courses*1.5)</a:t>
                      </a:r>
                    </a:p>
                    <a:p>
                      <a:pPr algn="l" fontAlgn="b"/>
                      <a:r>
                        <a:rPr lang="en-US" sz="1100" b="0" i="0" u="none" strike="noStrike" dirty="0" smtClean="0">
                          <a:solidFill>
                            <a:srgbClr val="000000"/>
                          </a:solidFill>
                          <a:effectLst/>
                          <a:latin typeface="Calibri"/>
                        </a:rPr>
                        <a:t>= 57,480*10%*1.5</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60,354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394,200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190500">
                <a:tc>
                  <a:txBody>
                    <a:bodyPr/>
                    <a:lstStyle/>
                    <a:p>
                      <a:pPr algn="l" fontAlgn="b"/>
                      <a:r>
                        <a:rPr lang="en-US" sz="1100" u="none" strike="noStrike">
                          <a:effectLst/>
                        </a:rPr>
                        <a:t>D</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dirty="0">
                          <a:effectLst/>
                        </a:rPr>
                        <a:t>Total online courses taken (A+B+C)</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a:effectLst/>
                        </a:rPr>
                        <a:t>             175,314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2,286,360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381000">
                <a:tc>
                  <a:txBody>
                    <a:bodyPr/>
                    <a:lstStyle/>
                    <a:p>
                      <a:pPr algn="l" fontAlgn="b"/>
                      <a:r>
                        <a:rPr lang="en-US" sz="1100" u="none" strike="noStrike">
                          <a:effectLst/>
                        </a:rPr>
                        <a:t>E</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dirty="0">
                          <a:effectLst/>
                        </a:rPr>
                        <a:t>Total traditional courses taken (total number of post secondary students*12 courses p.a</a:t>
                      </a:r>
                      <a:r>
                        <a:rPr lang="en-US" sz="1100" u="none" strike="noStrike" dirty="0" smtClean="0">
                          <a:effectLst/>
                        </a:rPr>
                        <a:t>.)</a:t>
                      </a:r>
                    </a:p>
                    <a:p>
                      <a:pPr algn="l" fontAlgn="b"/>
                      <a:r>
                        <a:rPr lang="en-US" sz="1100" b="0" i="0" u="none" strike="noStrike" dirty="0" smtClean="0">
                          <a:solidFill>
                            <a:srgbClr val="000000"/>
                          </a:solidFill>
                          <a:effectLst/>
                          <a:latin typeface="Calibri"/>
                        </a:rPr>
                        <a:t>= 1,916,000*12</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22,992,000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       31,536,000 </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r h="200025">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l" fontAlgn="b"/>
                      <a:r>
                        <a:rPr lang="en-US" sz="1100" u="none" strike="noStrike" dirty="0">
                          <a:effectLst/>
                        </a:rPr>
                        <a:t>Online courses as a percentage of total courses taken (D/(D+E))</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a:effectLst/>
                        </a:rPr>
                        <a:t>0.76%</a:t>
                      </a:r>
                      <a:endParaRPr lang="en-US" sz="1100" b="0" i="0" u="none" strike="noStrike">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fontAlgn="b"/>
                      <a:r>
                        <a:rPr lang="en-US" sz="1100" u="none" strike="noStrike" dirty="0">
                          <a:effectLst/>
                        </a:rPr>
                        <a:t>6.76%</a:t>
                      </a:r>
                      <a:endParaRPr lang="en-US" sz="11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r>
            </a:tbl>
          </a:graphicData>
        </a:graphic>
      </p:graphicFrame>
    </p:spTree>
    <p:extLst>
      <p:ext uri="{BB962C8B-B14F-4D97-AF65-F5344CB8AC3E}">
        <p14:creationId xmlns:p14="http://schemas.microsoft.com/office/powerpoint/2010/main" val="2286982694"/>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1"/>
          </p:nvPr>
        </p:nvSpPr>
        <p:spPr>
          <a:noFill/>
        </p:spPr>
        <p:txBody>
          <a:bodyPr/>
          <a:lstStyle/>
          <a:p>
            <a:fld id="{1B6A3715-9D8F-44C1-8AA8-49B83372AED8}" type="slidenum">
              <a:rPr lang="en-US" smtClean="0">
                <a:latin typeface="Arial" pitchFamily="34" charset="0"/>
                <a:ea typeface="ＭＳ Ｐゴシック" pitchFamily="34" charset="-128"/>
              </a:rPr>
              <a:pPr/>
              <a:t>166</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923640610"/>
              </p:ext>
            </p:extLst>
          </p:nvPr>
        </p:nvGraphicFramePr>
        <p:xfrm>
          <a:off x="304800" y="1295400"/>
          <a:ext cx="8534400" cy="3749040"/>
        </p:xfrm>
        <a:graphic>
          <a:graphicData uri="http://schemas.openxmlformats.org/drawingml/2006/table">
            <a:tbl>
              <a:tblPr firstRow="1" bandRow="1">
                <a:tableStyleId>{616DA210-FB5B-4158-B5E0-FEB733F419BA}</a:tableStyleId>
              </a:tblPr>
              <a:tblGrid>
                <a:gridCol w="1600200"/>
                <a:gridCol w="6934200"/>
              </a:tblGrid>
              <a:tr h="533400">
                <a:tc>
                  <a:txBody>
                    <a:bodyPr/>
                    <a:lstStyle/>
                    <a:p>
                      <a:pPr algn="ctr"/>
                      <a:r>
                        <a:rPr lang="en-US" sz="1800" dirty="0" smtClean="0"/>
                        <a:t>Guidance</a:t>
                      </a:r>
                      <a:endParaRPr lang="en-US" sz="1800" dirty="0"/>
                    </a:p>
                  </a:txBody>
                  <a:tcPr anchor="ctr">
                    <a:solidFill>
                      <a:srgbClr val="CCCCCC"/>
                    </a:solidFill>
                  </a:tcPr>
                </a:tc>
                <a:tc>
                  <a:txBody>
                    <a:bodyPr/>
                    <a:lstStyle/>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j-lt"/>
                          <a:ea typeface="+mn-ea"/>
                          <a:cs typeface="+mn-cs"/>
                        </a:rPr>
                        <a:t>Possible reasons for introducing online courses: </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Absolute number of online courses taken increasing from less than 200,000 to about 2M in decade</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Rise of accreditation (number of universities accredited as well as agencies providing accreditation)</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Global reach in terms of students for the client</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Limited infrastructure costs (no buildings required; part-time teaching staff can be employed)</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Major brand names also joining the online education game (Harvard, MIT, Purdue)</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baseline="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r>
                        <a:rPr lang="en-US" sz="1200" b="0" i="0" kern="1200" baseline="0" dirty="0" smtClean="0">
                          <a:solidFill>
                            <a:schemeClr val="tx1"/>
                          </a:solidFill>
                          <a:latin typeface="+mn-lt"/>
                          <a:ea typeface="+mn-ea"/>
                          <a:cs typeface="+mn-cs"/>
                        </a:rPr>
                        <a:t>Possible reasons to not introduce online courses: </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1% to 7% of total courses taken being online over a ten year period during which society has become hugely dependent on online means to communicate and function is not significant</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Most students (80%) doing online courses are only doing a few or some courses online (not full programs)</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There is no data yet to show that individuals with online degrees have similar learning outcomes and/or employment prospects</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There is no one major, reliable accreditation agency</a:t>
                      </a:r>
                    </a:p>
                    <a:p>
                      <a:pPr marL="234950" marR="0" lvl="0" indent="-2349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The client is a top 10 private university that caters to the most sought after employers in al fields. They do not accept online qualifications</a:t>
                      </a:r>
                      <a:endParaRPr lang="en-US" sz="1200" b="0" i="0" kern="1200" dirty="0" smtClean="0">
                        <a:solidFill>
                          <a:schemeClr val="tx1"/>
                        </a:solidFill>
                        <a:latin typeface="+mj-lt"/>
                        <a:ea typeface="+mn-ea"/>
                        <a:cs typeface="+mn-cs"/>
                      </a:endParaRPr>
                    </a:p>
                    <a:p>
                      <a:pPr marL="234950" marR="0" lvl="0" indent="-234950" algn="l" defTabSz="457200" rtl="0" eaLnBrk="1" fontAlgn="auto" latinLnBrk="0" hangingPunct="1">
                        <a:lnSpc>
                          <a:spcPct val="100000"/>
                        </a:lnSpc>
                        <a:spcBef>
                          <a:spcPts val="0"/>
                        </a:spcBef>
                        <a:spcAft>
                          <a:spcPts val="0"/>
                        </a:spcAft>
                        <a:buClrTx/>
                        <a:buSzTx/>
                        <a:buFont typeface="Wingdings" pitchFamily="2" charset="2"/>
                        <a:buNone/>
                        <a:tabLst/>
                        <a:defRPr/>
                      </a:pPr>
                      <a:endParaRPr lang="en-US" sz="1200" b="0" i="0" kern="1200" dirty="0">
                        <a:solidFill>
                          <a:schemeClr val="tx1"/>
                        </a:solidFill>
                        <a:latin typeface="+mj-lt"/>
                        <a:ea typeface="+mn-ea"/>
                        <a:cs typeface="+mn-cs"/>
                      </a:endParaRPr>
                    </a:p>
                  </a:txBody>
                  <a:tcPr>
                    <a:solidFill>
                      <a:srgbClr val="CCCCCC"/>
                    </a:solidFill>
                  </a:tcPr>
                </a:tc>
              </a:tr>
            </a:tbl>
          </a:graphicData>
        </a:graphic>
      </p:graphicFrame>
      <p:pic>
        <p:nvPicPr>
          <p:cNvPr id="4404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4050"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20: Online University</a:t>
            </a:r>
            <a:endParaRPr lang="en-US" sz="2400" b="1" dirty="0"/>
          </a:p>
        </p:txBody>
      </p:sp>
      <p:sp>
        <p:nvSpPr>
          <p:cNvPr id="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8" name="TextBox 7"/>
          <p:cNvSpPr txBox="1">
            <a:spLocks noChangeArrowheads="1"/>
          </p:cNvSpPr>
          <p:nvPr/>
        </p:nvSpPr>
        <p:spPr bwMode="auto">
          <a:xfrm>
            <a:off x="3657600" y="987425"/>
            <a:ext cx="2286000" cy="307975"/>
          </a:xfrm>
          <a:prstGeom prst="rect">
            <a:avLst/>
          </a:prstGeom>
          <a:noFill/>
          <a:ln w="9525">
            <a:noFill/>
            <a:miter lim="800000"/>
            <a:headEnd/>
            <a:tailEnd/>
          </a:ln>
        </p:spPr>
        <p:txBody>
          <a:bodyPr>
            <a:spAutoFit/>
          </a:bodyPr>
          <a:lstStyle/>
          <a:p>
            <a:pPr algn="ctr"/>
            <a:r>
              <a:rPr lang="en-US" sz="1400" i="1" dirty="0" smtClean="0"/>
              <a:t>Deloitte</a:t>
            </a:r>
            <a:endParaRPr lang="en-US" sz="1400" i="1" dirty="0"/>
          </a:p>
        </p:txBody>
      </p:sp>
    </p:spTree>
    <p:extLst>
      <p:ext uri="{BB962C8B-B14F-4D97-AF65-F5344CB8AC3E}">
        <p14:creationId xmlns:p14="http://schemas.microsoft.com/office/powerpoint/2010/main" val="298351187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1"/>
          </p:nvPr>
        </p:nvSpPr>
        <p:spPr>
          <a:noFill/>
        </p:spPr>
        <p:txBody>
          <a:bodyPr/>
          <a:lstStyle/>
          <a:p>
            <a:fld id="{1B6A3715-9D8F-44C1-8AA8-49B83372AED8}" type="slidenum">
              <a:rPr lang="en-US" smtClean="0">
                <a:latin typeface="Arial" pitchFamily="34" charset="0"/>
                <a:ea typeface="ＭＳ Ｐゴシック" pitchFamily="34" charset="-128"/>
              </a:rPr>
              <a:pPr/>
              <a:t>167</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445810809"/>
              </p:ext>
            </p:extLst>
          </p:nvPr>
        </p:nvGraphicFramePr>
        <p:xfrm>
          <a:off x="304800" y="1295400"/>
          <a:ext cx="8534400" cy="484632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b="1" i="0" dirty="0" smtClean="0"/>
                        <a:t>Performance Evaluation</a:t>
                      </a:r>
                      <a:endParaRPr lang="en-US" sz="1000" i="0" dirty="0"/>
                    </a:p>
                  </a:txBody>
                  <a:tcPr anchor="ctr"/>
                </a:tc>
                <a:tc>
                  <a:txBody>
                    <a:bodyPr/>
                    <a:lstStyle/>
                    <a:p>
                      <a:r>
                        <a:rPr lang="en-US" sz="1200" b="1" i="0" kern="1200" dirty="0" smtClean="0">
                          <a:solidFill>
                            <a:schemeClr val="tx1"/>
                          </a:solidFill>
                          <a:latin typeface="+mj-lt"/>
                          <a:ea typeface="+mn-ea"/>
                          <a:cs typeface="+mn-cs"/>
                        </a:rPr>
                        <a:t>Expected:</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Recognizes first that a brainstorming of factors driving online education growth is necessary before embarking on the market sizing part of the case</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Lists some of the factors contributing to the growth of online education</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Comes up with a reasonable approach to the market sizing and c</a:t>
                      </a:r>
                      <a:r>
                        <a:rPr lang="en-US" sz="1200" b="0" i="0" kern="1200" baseline="0" dirty="0" smtClean="0">
                          <a:solidFill>
                            <a:schemeClr val="tx1"/>
                          </a:solidFill>
                          <a:latin typeface="+mn-lt"/>
                          <a:ea typeface="+mn-ea"/>
                          <a:cs typeface="+mn-cs"/>
                        </a:rPr>
                        <a:t>ompletes the calculations competently</a:t>
                      </a:r>
                    </a:p>
                    <a:p>
                      <a:pPr marL="171450" marR="0" lvl="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Arrives at some conclusion</a:t>
                      </a:r>
                      <a:endParaRPr lang="en-US" sz="1200" b="0" i="0" kern="1200" baseline="0" dirty="0" smtClean="0">
                        <a:solidFill>
                          <a:schemeClr val="tx1"/>
                        </a:solidFill>
                        <a:latin typeface="+mj-lt"/>
                        <a:ea typeface="+mn-ea"/>
                        <a:cs typeface="+mn-cs"/>
                      </a:endParaRP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Completes all “Expected” requirements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Recognizes most strategic drivers of growth for online education and can articulate the relationship among them</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Can explain his/her plans at the start and provides reasoning behind the approach to the market sizing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Assumptions are realistic and he/she reaches a conclusion without much help</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Can make a final recommendation for the client without prompting and with confidence.</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n-lt"/>
                          <a:ea typeface="+mn-ea"/>
                          <a:cs typeface="+mn-cs"/>
                        </a:rPr>
                        <a:t>Completes all “Good” requirements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Reaches a very sound conclusion based on the data and calculations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Assumptions and estimations are very realistic and the candidate is quick in identifying all the elements of the problem</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Proceeds with the assumptions in the right direction and estimates the market size without any prompts from the interviewer</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kern="1200" baseline="0" dirty="0" smtClean="0">
                          <a:solidFill>
                            <a:schemeClr val="tx1"/>
                          </a:solidFill>
                          <a:latin typeface="+mj-lt"/>
                          <a:ea typeface="+mn-ea"/>
                          <a:cs typeface="+mn-cs"/>
                        </a:rPr>
                        <a:t>Delves into other avenues that the company might explore if the ideal plan fails</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US" sz="1200" b="0" i="0" kern="1200" dirty="0">
                        <a:solidFill>
                          <a:schemeClr val="tx1"/>
                        </a:solidFill>
                        <a:latin typeface="+mj-lt"/>
                        <a:ea typeface="+mn-ea"/>
                        <a:cs typeface="+mn-cs"/>
                      </a:endParaRPr>
                    </a:p>
                  </a:txBody>
                  <a:tcPr/>
                </a:tc>
              </a:tr>
            </a:tbl>
          </a:graphicData>
        </a:graphic>
      </p:graphicFrame>
      <p:pic>
        <p:nvPicPr>
          <p:cNvPr id="44046"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44050"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smtClean="0"/>
              <a:t>Case 20: Online University</a:t>
            </a:r>
            <a:endParaRPr lang="en-US" sz="2400" b="1" dirty="0"/>
          </a:p>
        </p:txBody>
      </p:sp>
      <p:sp>
        <p:nvSpPr>
          <p:cNvPr id="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Strategy</a:t>
            </a:r>
            <a:endParaRPr lang="en-US" sz="1400" i="1" dirty="0"/>
          </a:p>
        </p:txBody>
      </p:sp>
      <p:sp>
        <p:nvSpPr>
          <p:cNvPr id="8" name="TextBox 7"/>
          <p:cNvSpPr txBox="1">
            <a:spLocks noChangeArrowheads="1"/>
          </p:cNvSpPr>
          <p:nvPr/>
        </p:nvSpPr>
        <p:spPr bwMode="auto">
          <a:xfrm>
            <a:off x="3657600" y="987425"/>
            <a:ext cx="2286000" cy="307975"/>
          </a:xfrm>
          <a:prstGeom prst="rect">
            <a:avLst/>
          </a:prstGeom>
          <a:noFill/>
          <a:ln w="9525">
            <a:noFill/>
            <a:miter lim="800000"/>
            <a:headEnd/>
            <a:tailEnd/>
          </a:ln>
        </p:spPr>
        <p:txBody>
          <a:bodyPr>
            <a:spAutoFit/>
          </a:bodyPr>
          <a:lstStyle/>
          <a:p>
            <a:pPr algn="ctr"/>
            <a:r>
              <a:rPr lang="en-US" sz="1400" i="1" dirty="0" smtClean="0"/>
              <a:t>Deloitte</a:t>
            </a:r>
            <a:endParaRPr lang="en-US" sz="1400" i="1" dirty="0"/>
          </a:p>
        </p:txBody>
      </p:sp>
    </p:spTree>
    <p:extLst>
      <p:ext uri="{BB962C8B-B14F-4D97-AF65-F5344CB8AC3E}">
        <p14:creationId xmlns:p14="http://schemas.microsoft.com/office/powerpoint/2010/main" val="3558772424"/>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168</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ctrTitle"/>
          </p:nvPr>
        </p:nvSpPr>
        <p:spPr/>
        <p:txBody>
          <a:bodyPr anchor="ctr"/>
          <a:lstStyle/>
          <a:p>
            <a:pPr algn="ctr"/>
            <a:r>
              <a:rPr lang="en-US" dirty="0" smtClean="0">
                <a:ea typeface="ＭＳ Ｐゴシック" pitchFamily="34" charset="-128"/>
              </a:rPr>
              <a:t>Operations</a:t>
            </a:r>
          </a:p>
        </p:txBody>
      </p:sp>
      <p:sp>
        <p:nvSpPr>
          <p:cNvPr id="37892" name="Slide Number Placeholder 3"/>
          <p:cNvSpPr>
            <a:spLocks noGrp="1"/>
          </p:cNvSpPr>
          <p:nvPr>
            <p:ph type="sldNum" sz="quarter" idx="11"/>
          </p:nvPr>
        </p:nvSpPr>
        <p:spPr>
          <a:noFill/>
        </p:spPr>
        <p:txBody>
          <a:bodyPr/>
          <a:lstStyle/>
          <a:p>
            <a:fld id="{6AC4ECBC-C185-4305-8110-C5F462218BC6}" type="slidenum">
              <a:rPr lang="en-US" smtClean="0">
                <a:latin typeface="Arial" pitchFamily="34" charset="0"/>
                <a:ea typeface="ＭＳ Ｐゴシック" pitchFamily="34" charset="-128"/>
              </a:rPr>
              <a:pPr/>
              <a:t>169</a:t>
            </a:fld>
            <a:endParaRPr lang="en-US" smtClean="0">
              <a:latin typeface="Arial" pitchFamily="34" charset="0"/>
              <a:ea typeface="ＭＳ Ｐゴシック" pitchFamily="34" charset="-128"/>
            </a:endParaRPr>
          </a:p>
        </p:txBody>
      </p:sp>
    </p:spTree>
    <p:extLst>
      <p:ext uri="{BB962C8B-B14F-4D97-AF65-F5344CB8AC3E}">
        <p14:creationId xmlns:p14="http://schemas.microsoft.com/office/powerpoint/2010/main" val="4055462371"/>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38915"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21</a:t>
            </a:r>
            <a:r>
              <a:rPr lang="en-US" sz="2400" b="1" dirty="0"/>
              <a:t>: </a:t>
            </a:r>
            <a:r>
              <a:rPr lang="en-US" sz="2400" b="1" dirty="0" smtClean="0"/>
              <a:t>Beta Peaks</a:t>
            </a:r>
            <a:endParaRPr lang="en-US" sz="2400" b="1" dirty="0"/>
          </a:p>
        </p:txBody>
      </p:sp>
      <p:graphicFrame>
        <p:nvGraphicFramePr>
          <p:cNvPr id="12" name="Table 11"/>
          <p:cNvGraphicFramePr>
            <a:graphicFrameLocks noGrp="1"/>
          </p:cNvGraphicFramePr>
          <p:nvPr>
            <p:extLst>
              <p:ext uri="{D42A27DB-BD31-4B8C-83A1-F6EECF244321}">
                <p14:modId xmlns:p14="http://schemas.microsoft.com/office/powerpoint/2010/main" val="2167889966"/>
              </p:ext>
            </p:extLst>
          </p:nvPr>
        </p:nvGraphicFramePr>
        <p:xfrm>
          <a:off x="304800" y="1381125"/>
          <a:ext cx="8534400" cy="3108960"/>
        </p:xfrm>
        <a:graphic>
          <a:graphicData uri="http://schemas.openxmlformats.org/drawingml/2006/table">
            <a:tbl>
              <a:tblPr firstRow="1" bandRow="1">
                <a:tableStyleId>{616DA210-FB5B-4158-B5E0-FEB733F419BA}</a:tableStyleId>
              </a:tblPr>
              <a:tblGrid>
                <a:gridCol w="1600200"/>
                <a:gridCol w="6934200"/>
              </a:tblGrid>
              <a:tr h="675640">
                <a:tc>
                  <a:txBody>
                    <a:bodyPr/>
                    <a:lstStyle/>
                    <a:p>
                      <a:pPr algn="ctr"/>
                      <a:r>
                        <a:rPr lang="en-US" dirty="0" smtClean="0"/>
                        <a:t>Prompt</a:t>
                      </a:r>
                      <a:endParaRPr lang="en-US" dirty="0"/>
                    </a:p>
                  </a:txBody>
                  <a:tcPr anchor="ctr"/>
                </a:tc>
                <a:tc>
                  <a:txBody>
                    <a:bodyPr/>
                    <a:lstStyle/>
                    <a:p>
                      <a:r>
                        <a:rPr lang="en-US" sz="1200" b="0" kern="1200" dirty="0" smtClean="0">
                          <a:latin typeface="+mj-lt"/>
                        </a:rPr>
                        <a:t>Your client, the general manager of Beta Peaks, a ski mountain in western Massachusetts, has asked you to help him with the business. He was appointed to oversee all business operations 4 years ago. The client has noted that each year, Beta Peaks has earned disproportionately lower revenues than a nearby mountain, Alpha Peaks. While costs have been stable, he is afraid that the mountain cannot stay in business if the current trend continues. Your assignment is to identify why revenues are lower at Beta Peaks and to propose solutions to increase revenues.</a:t>
                      </a:r>
                    </a:p>
                    <a:p>
                      <a:endParaRPr lang="en-US" sz="1200" b="0" i="1" kern="1200" dirty="0" smtClean="0">
                        <a:solidFill>
                          <a:schemeClr val="tx1"/>
                        </a:solidFill>
                        <a:latin typeface="+mj-lt"/>
                        <a:ea typeface="+mn-ea"/>
                        <a:cs typeface="+mn-cs"/>
                      </a:endParaRPr>
                    </a:p>
                    <a:p>
                      <a:r>
                        <a:rPr lang="en-US" sz="1200" b="1" i="0" kern="1200" dirty="0" smtClean="0">
                          <a:solidFill>
                            <a:schemeClr val="tx1"/>
                          </a:solidFill>
                          <a:latin typeface="+mj-lt"/>
                          <a:ea typeface="+mn-ea"/>
                          <a:cs typeface="+mn-cs"/>
                        </a:rPr>
                        <a:t>What areas would you explore to identify why revenues have declined?</a:t>
                      </a:r>
                    </a:p>
                    <a:p>
                      <a:endParaRPr lang="en-US" sz="1200" b="1" i="0" kern="1200" dirty="0" smtClean="0">
                        <a:solidFill>
                          <a:schemeClr val="tx1"/>
                        </a:solidFill>
                        <a:latin typeface="+mj-lt"/>
                        <a:ea typeface="+mn-ea"/>
                        <a:cs typeface="+mn-cs"/>
                      </a:endParaRPr>
                    </a:p>
                  </a:txBody>
                  <a:tcPr/>
                </a:tc>
              </a:tr>
              <a:tr h="159173">
                <a:tc>
                  <a:txBody>
                    <a:bodyPr/>
                    <a:lstStyle/>
                    <a:p>
                      <a:pPr algn="ctr"/>
                      <a:r>
                        <a:rPr lang="en-US" b="1" dirty="0" smtClean="0"/>
                        <a:t>Guidance</a:t>
                      </a:r>
                      <a:endParaRPr lang="en-US" b="1" baseline="0" dirty="0" smtClean="0"/>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kern="1200" baseline="0" dirty="0" smtClean="0">
                          <a:solidFill>
                            <a:schemeClr val="tx1"/>
                          </a:solidFill>
                          <a:latin typeface="+mj-lt"/>
                          <a:ea typeface="+mn-ea"/>
                          <a:cs typeface="+mn-cs"/>
                        </a:rPr>
                        <a:t>Allow the candidate to draft his/her framework and walk you through. Potential areas of exploration include demand (total number of customers has remained constant over the past 4 years), c</a:t>
                      </a:r>
                      <a:r>
                        <a:rPr lang="en-US" sz="1200" b="0" i="0" u="none" kern="1200" baseline="0" dirty="0" smtClean="0">
                          <a:solidFill>
                            <a:schemeClr val="tx1"/>
                          </a:solidFill>
                          <a:latin typeface="+mn-lt"/>
                          <a:ea typeface="+mn-ea"/>
                          <a:cs typeface="+mn-cs"/>
                        </a:rPr>
                        <a:t>ompetition (Alpha Peaks is the only other mountain within 100 miles of Beta Peaks) </a:t>
                      </a:r>
                      <a:r>
                        <a:rPr lang="en-US" sz="1200" b="0" i="0" u="none" kern="1200" baseline="0" dirty="0" smtClean="0">
                          <a:solidFill>
                            <a:schemeClr val="tx1"/>
                          </a:solidFill>
                          <a:latin typeface="+mj-lt"/>
                          <a:ea typeface="+mn-ea"/>
                          <a:cs typeface="+mn-cs"/>
                        </a:rPr>
                        <a:t>and if the candidate asks about product mix &amp; prices, let them know that: </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Prices and product sales mix for all other concessions, rentals, and apparel sales are the same</a:t>
                      </a:r>
                    </a:p>
                    <a:p>
                      <a:pPr marL="171450" marR="0" indent="-171450" algn="l" defTabSz="457200" rtl="0" eaLnBrk="1" fontAlgn="auto" latinLnBrk="0" hangingPunct="1">
                        <a:lnSpc>
                          <a:spcPct val="100000"/>
                        </a:lnSpc>
                        <a:spcBef>
                          <a:spcPts val="0"/>
                        </a:spcBef>
                        <a:spcAft>
                          <a:spcPts val="0"/>
                        </a:spcAft>
                        <a:buClrTx/>
                        <a:buSzTx/>
                        <a:buFont typeface="Arial" pitchFamily="34" charset="0"/>
                        <a:buChar char="•"/>
                        <a:tabLst/>
                        <a:defRPr/>
                      </a:pPr>
                      <a:r>
                        <a:rPr lang="en-US" sz="1200" b="0" i="0" u="none" kern="1200" baseline="0" dirty="0" smtClean="0">
                          <a:solidFill>
                            <a:schemeClr val="tx1"/>
                          </a:solidFill>
                          <a:latin typeface="+mj-lt"/>
                          <a:ea typeface="+mn-ea"/>
                          <a:cs typeface="+mn-cs"/>
                        </a:rPr>
                        <a:t>Alpha Peaks charges $30 for day passes while Beta Peaks charges $40</a:t>
                      </a:r>
                      <a:endParaRPr lang="en-US" sz="1200" b="0" i="0" kern="1200" baseline="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latin typeface="+mj-lt"/>
                        <a:ea typeface="+mn-ea"/>
                        <a:cs typeface="+mn-cs"/>
                      </a:endParaRPr>
                    </a:p>
                  </a:txBody>
                  <a:tcPr/>
                </a:tc>
              </a:tr>
            </a:tbl>
          </a:graphicData>
        </a:graphic>
      </p:graphicFrame>
      <p:sp>
        <p:nvSpPr>
          <p:cNvPr id="38927"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Operations</a:t>
            </a:r>
            <a:endParaRPr lang="en-US" sz="1400" i="1" dirty="0"/>
          </a:p>
        </p:txBody>
      </p:sp>
      <p:sp>
        <p:nvSpPr>
          <p:cNvPr id="38929" name="TextBox 6"/>
          <p:cNvSpPr txBox="1">
            <a:spLocks noChangeArrowheads="1"/>
          </p:cNvSpPr>
          <p:nvPr/>
        </p:nvSpPr>
        <p:spPr bwMode="auto">
          <a:xfrm>
            <a:off x="3657600" y="990600"/>
            <a:ext cx="2286000" cy="307975"/>
          </a:xfrm>
          <a:prstGeom prst="rect">
            <a:avLst/>
          </a:prstGeom>
          <a:noFill/>
          <a:ln w="9525">
            <a:noFill/>
            <a:miter lim="800000"/>
            <a:headEnd/>
            <a:tailEnd/>
          </a:ln>
        </p:spPr>
        <p:txBody>
          <a:bodyPr>
            <a:spAutoFit/>
          </a:bodyPr>
          <a:lstStyle/>
          <a:p>
            <a:pPr algn="ctr"/>
            <a:r>
              <a:rPr lang="en-US" sz="1400" i="1" dirty="0" smtClean="0"/>
              <a:t>McKinsey &amp; Company</a:t>
            </a:r>
            <a:endParaRPr lang="en-US" sz="1400" i="1" dirty="0"/>
          </a:p>
        </p:txBody>
      </p:sp>
      <p:sp>
        <p:nvSpPr>
          <p:cNvPr id="8" name="Slide Number Placeholder 7"/>
          <p:cNvSpPr>
            <a:spLocks noGrp="1"/>
          </p:cNvSpPr>
          <p:nvPr>
            <p:ph type="sldNum" sz="quarter" idx="11"/>
          </p:nvPr>
        </p:nvSpPr>
        <p:spPr/>
        <p:txBody>
          <a:bodyPr/>
          <a:lstStyle/>
          <a:p>
            <a:pPr>
              <a:defRPr/>
            </a:pPr>
            <a:fld id="{2E1E1E2A-88E9-4CB1-89D2-8ABF177DA4C4}" type="slidenum">
              <a:rPr lang="en-US" smtClean="0"/>
              <a:pPr>
                <a:defRPr/>
              </a:pPr>
              <a:t>170</a:t>
            </a:fld>
            <a:endParaRPr lang="en-US" dirty="0"/>
          </a:p>
        </p:txBody>
      </p:sp>
    </p:spTree>
    <p:extLst>
      <p:ext uri="{BB962C8B-B14F-4D97-AF65-F5344CB8AC3E}">
        <p14:creationId xmlns:p14="http://schemas.microsoft.com/office/powerpoint/2010/main" val="512825536"/>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171</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280115872"/>
              </p:ext>
            </p:extLst>
          </p:nvPr>
        </p:nvGraphicFramePr>
        <p:xfrm>
          <a:off x="304800" y="1295400"/>
          <a:ext cx="8534400" cy="5303520"/>
        </p:xfrm>
        <a:graphic>
          <a:graphicData uri="http://schemas.openxmlformats.org/drawingml/2006/table">
            <a:tbl>
              <a:tblPr firstRow="1" bandRow="1">
                <a:tableStyleId>{616DA210-FB5B-4158-B5E0-FEB733F419BA}</a:tableStyleId>
              </a:tblPr>
              <a:tblGrid>
                <a:gridCol w="1600200"/>
                <a:gridCol w="69342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i="0" dirty="0" smtClean="0"/>
                        <a:t>Prompt</a:t>
                      </a:r>
                      <a:endParaRPr lang="en-US" sz="1000" i="0" dirty="0" smtClean="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Now</a:t>
                      </a:r>
                      <a:r>
                        <a:rPr lang="en-US" sz="1200" b="0" i="0" kern="1200" baseline="0" dirty="0" smtClean="0">
                          <a:solidFill>
                            <a:schemeClr val="tx1"/>
                          </a:solidFill>
                          <a:latin typeface="+mj-lt"/>
                          <a:ea typeface="+mn-ea"/>
                          <a:cs typeface="+mn-cs"/>
                        </a:rPr>
                        <a:t> that you have scoped out the </a:t>
                      </a:r>
                      <a:r>
                        <a:rPr lang="en-US" sz="1200" b="0" i="0" kern="1200" dirty="0" smtClean="0">
                          <a:solidFill>
                            <a:schemeClr val="tx1"/>
                          </a:solidFill>
                          <a:latin typeface="+mj-lt"/>
                          <a:ea typeface="+mn-ea"/>
                          <a:cs typeface="+mn-cs"/>
                        </a:rPr>
                        <a:t>problem, he would like you to take a look at Exhibit 1.</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latin typeface="+mj-lt"/>
                          <a:ea typeface="+mn-ea"/>
                          <a:cs typeface="+mn-cs"/>
                        </a:rPr>
                        <a:t>Given this data, what is the average number of customers at each mountain?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latin typeface="+mj-lt"/>
                        <a:ea typeface="+mn-ea"/>
                        <a:cs typeface="+mn-cs"/>
                      </a:endParaRPr>
                    </a:p>
                  </a:txBody>
                  <a:tcPr>
                    <a:noFill/>
                  </a:tcPr>
                </a:tc>
              </a:tr>
              <a:tr h="731520">
                <a:tc>
                  <a:txBody>
                    <a:bodyPr/>
                    <a:lstStyle/>
                    <a:p>
                      <a:pPr algn="ctr"/>
                      <a:r>
                        <a:rPr lang="en-US" b="1" i="0" dirty="0" smtClean="0"/>
                        <a:t>Guidance</a:t>
                      </a:r>
                      <a:endParaRPr lang="en-US" sz="1000" i="0" dirty="0"/>
                    </a:p>
                  </a:txBody>
                  <a:tcPr anchor="ctr">
                    <a:solidFill>
                      <a:schemeClr val="tx1">
                        <a:alpha val="20000"/>
                      </a:schemeClr>
                    </a:solidFill>
                  </a:tcPr>
                </a:tc>
                <a:tc>
                  <a:txBody>
                    <a:bodyPr/>
                    <a:lstStyle/>
                    <a:p>
                      <a:r>
                        <a:rPr lang="en-US" sz="1200" b="0" i="0" u="none" kern="1200" dirty="0" smtClean="0">
                          <a:solidFill>
                            <a:schemeClr val="tx1"/>
                          </a:solidFill>
                          <a:latin typeface="+mj-lt"/>
                          <a:ea typeface="+mn-ea"/>
                          <a:cs typeface="+mn-cs"/>
                        </a:rPr>
                        <a:t>If asked, tell the candidate to assume single queue, multiple server model.</a:t>
                      </a:r>
                      <a:r>
                        <a:rPr lang="en-US" sz="1200" b="0" i="0" u="none" kern="1200" baseline="0" dirty="0" smtClean="0">
                          <a:solidFill>
                            <a:schemeClr val="tx1"/>
                          </a:solidFill>
                          <a:latin typeface="+mj-lt"/>
                          <a:ea typeface="+mn-ea"/>
                          <a:cs typeface="+mn-cs"/>
                        </a:rPr>
                        <a:t> Please note that </a:t>
                      </a:r>
                      <a:r>
                        <a:rPr lang="en-US" sz="1200" b="0" i="0" u="none" kern="1200" dirty="0" smtClean="0">
                          <a:solidFill>
                            <a:schemeClr val="tx1"/>
                          </a:solidFill>
                          <a:latin typeface="+mj-lt"/>
                          <a:ea typeface="+mn-ea"/>
                          <a:cs typeface="+mn-cs"/>
                        </a:rPr>
                        <a:t>all</a:t>
                      </a:r>
                      <a:r>
                        <a:rPr lang="en-US" sz="1200" b="0" i="0" u="none" kern="1200" baseline="0" dirty="0" smtClean="0">
                          <a:solidFill>
                            <a:schemeClr val="tx1"/>
                          </a:solidFill>
                          <a:latin typeface="+mj-lt"/>
                          <a:ea typeface="+mn-ea"/>
                          <a:cs typeface="+mn-cs"/>
                        </a:rPr>
                        <a:t> lifts have 20 chairs: 10 going up and 10 going down. Only the chairs that are going up should be used to calculate the number of customers on the lift.</a:t>
                      </a:r>
                      <a:endParaRPr lang="en-US" sz="1200" b="0" i="0" u="none" kern="1200" dirty="0" smtClean="0">
                        <a:solidFill>
                          <a:schemeClr val="tx1"/>
                        </a:solidFill>
                        <a:latin typeface="+mj-lt"/>
                        <a:ea typeface="+mn-ea"/>
                        <a:cs typeface="+mn-cs"/>
                      </a:endParaRPr>
                    </a:p>
                    <a:p>
                      <a:endParaRPr lang="en-US" sz="1200" b="0" i="0" u="none" kern="1200" dirty="0" smtClean="0">
                        <a:solidFill>
                          <a:schemeClr val="tx1"/>
                        </a:solidFill>
                        <a:latin typeface="+mj-lt"/>
                        <a:ea typeface="+mn-ea"/>
                        <a:cs typeface="+mn-cs"/>
                      </a:endParaRPr>
                    </a:p>
                    <a:p>
                      <a:r>
                        <a:rPr lang="en-US" sz="1200" b="0" i="0" u="none" kern="1200" dirty="0" smtClean="0">
                          <a:solidFill>
                            <a:schemeClr val="tx1"/>
                          </a:solidFill>
                          <a:latin typeface="+mj-lt"/>
                          <a:ea typeface="+mn-ea"/>
                          <a:cs typeface="+mn-cs"/>
                        </a:rPr>
                        <a:t>Beta Peaks:</a:t>
                      </a:r>
                    </a:p>
                    <a:p>
                      <a:pPr marL="171450" indent="-171450">
                        <a:buFont typeface="Arial" pitchFamily="34" charset="0"/>
                        <a:buChar char="•"/>
                      </a:pPr>
                      <a:r>
                        <a:rPr lang="en-US" sz="1200" b="0" i="0" u="none" kern="1200" dirty="0" smtClean="0">
                          <a:solidFill>
                            <a:schemeClr val="tx1"/>
                          </a:solidFill>
                          <a:latin typeface="+mj-lt"/>
                          <a:ea typeface="+mn-ea"/>
                          <a:cs typeface="+mn-cs"/>
                        </a:rPr>
                        <a:t>People on the lifts: 10 chairs/quad x 2 quads x 4 seats/quad = 80 people</a:t>
                      </a:r>
                    </a:p>
                    <a:p>
                      <a:pPr marL="171450" indent="-171450">
                        <a:buFont typeface="Arial" pitchFamily="34" charset="0"/>
                        <a:buChar char="•"/>
                      </a:pPr>
                      <a:r>
                        <a:rPr lang="en-US" sz="1200" b="0" i="0" u="none" kern="1200" dirty="0" smtClean="0">
                          <a:solidFill>
                            <a:schemeClr val="tx1"/>
                          </a:solidFill>
                          <a:latin typeface="+mj-lt"/>
                          <a:ea typeface="+mn-ea"/>
                          <a:cs typeface="+mn-cs"/>
                        </a:rPr>
                        <a:t>People skiing down: 8 people arrive at the top per minute x 10 minutes to get down = 80 people</a:t>
                      </a:r>
                    </a:p>
                    <a:p>
                      <a:pPr marL="171450" indent="-171450">
                        <a:buFont typeface="Arial" pitchFamily="34" charset="0"/>
                        <a:buChar char="•"/>
                      </a:pPr>
                      <a:r>
                        <a:rPr lang="en-US" sz="1200" b="0" i="0" u="none" kern="1200" dirty="0" smtClean="0">
                          <a:solidFill>
                            <a:schemeClr val="tx1"/>
                          </a:solidFill>
                          <a:latin typeface="+mj-lt"/>
                          <a:ea typeface="+mn-ea"/>
                          <a:cs typeface="+mn-cs"/>
                        </a:rPr>
                        <a:t>People in line for lift: = arrival rate x time in line = 8 people/min x 5 min = 40 people</a:t>
                      </a:r>
                    </a:p>
                    <a:p>
                      <a:pPr marL="0" indent="0">
                        <a:buFont typeface="Arial" pitchFamily="34" charset="0"/>
                        <a:buNone/>
                      </a:pPr>
                      <a:r>
                        <a:rPr lang="en-US" sz="1200" b="0" i="0" u="none" kern="1200" dirty="0" smtClean="0">
                          <a:solidFill>
                            <a:schemeClr val="tx1"/>
                          </a:solidFill>
                          <a:latin typeface="+mj-lt"/>
                          <a:ea typeface="+mn-ea"/>
                          <a:cs typeface="+mn-cs"/>
                        </a:rPr>
                        <a:t>Total for Beta Peaks: 200 people</a:t>
                      </a:r>
                    </a:p>
                    <a:p>
                      <a:pPr marL="0" indent="0">
                        <a:buFont typeface="Arial" pitchFamily="34" charset="0"/>
                        <a:buNone/>
                      </a:pPr>
                      <a:endParaRPr lang="en-US" sz="1200" b="0" i="0" u="none" kern="1200" dirty="0" smtClean="0">
                        <a:solidFill>
                          <a:schemeClr val="tx1"/>
                        </a:solidFill>
                        <a:latin typeface="+mj-lt"/>
                        <a:ea typeface="+mn-ea"/>
                        <a:cs typeface="+mn-cs"/>
                      </a:endParaRPr>
                    </a:p>
                    <a:p>
                      <a:pPr marL="0" indent="0">
                        <a:buFont typeface="Arial" pitchFamily="34" charset="0"/>
                        <a:buNone/>
                      </a:pPr>
                      <a:r>
                        <a:rPr lang="en-US" sz="1200" b="0" i="0" u="none" kern="1200" dirty="0" smtClean="0">
                          <a:solidFill>
                            <a:schemeClr val="tx1"/>
                          </a:solidFill>
                          <a:latin typeface="+mj-lt"/>
                          <a:ea typeface="+mn-ea"/>
                          <a:cs typeface="+mn-cs"/>
                        </a:rPr>
                        <a:t>Alpha Peaks:</a:t>
                      </a:r>
                    </a:p>
                    <a:p>
                      <a:pPr marL="171450" indent="-171450">
                        <a:buFont typeface="Arial" pitchFamily="34" charset="0"/>
                        <a:buChar char="•"/>
                      </a:pPr>
                      <a:r>
                        <a:rPr lang="en-US" sz="1200" b="0" i="0" u="none" kern="1200" dirty="0" smtClean="0">
                          <a:solidFill>
                            <a:schemeClr val="tx1"/>
                          </a:solidFill>
                          <a:latin typeface="+mj-lt"/>
                          <a:ea typeface="+mn-ea"/>
                          <a:cs typeface="+mn-cs"/>
                        </a:rPr>
                        <a:t>People on the lifts: (10 chairs/quad x 2 quads x 4 seats/quad) + (10 chairs/double x 2 doubles x 2 seats/double) = 120 people</a:t>
                      </a:r>
                    </a:p>
                    <a:p>
                      <a:pPr marL="171450" indent="-171450">
                        <a:buFont typeface="Arial" pitchFamily="34" charset="0"/>
                        <a:buChar char="•"/>
                      </a:pPr>
                      <a:r>
                        <a:rPr lang="en-US" sz="1200" b="0" i="0" u="none" kern="1200" dirty="0" smtClean="0">
                          <a:solidFill>
                            <a:schemeClr val="tx1"/>
                          </a:solidFill>
                          <a:latin typeface="+mj-lt"/>
                          <a:ea typeface="+mn-ea"/>
                          <a:cs typeface="+mn-cs"/>
                        </a:rPr>
                        <a:t>People skiing down: 12 people arrive at the top per minute x 10 minutes to get down = 120 people</a:t>
                      </a:r>
                    </a:p>
                    <a:p>
                      <a:pPr marL="171450" indent="-171450">
                        <a:buFont typeface="Arial" pitchFamily="34" charset="0"/>
                        <a:buChar char="•"/>
                      </a:pPr>
                      <a:r>
                        <a:rPr lang="en-US" sz="1200" b="0" i="0" u="none" kern="1200" dirty="0" smtClean="0">
                          <a:solidFill>
                            <a:schemeClr val="tx1"/>
                          </a:solidFill>
                          <a:latin typeface="+mj-lt"/>
                          <a:ea typeface="+mn-ea"/>
                          <a:cs typeface="+mn-cs"/>
                        </a:rPr>
                        <a:t>People in line: 12 people/min x 30 minutes = 360 people</a:t>
                      </a:r>
                    </a:p>
                    <a:p>
                      <a:pPr marL="0" indent="0">
                        <a:buFont typeface="Arial" pitchFamily="34" charset="0"/>
                        <a:buNone/>
                      </a:pPr>
                      <a:r>
                        <a:rPr lang="en-US" sz="1200" b="0" i="0" u="none" kern="1200" dirty="0" smtClean="0">
                          <a:solidFill>
                            <a:schemeClr val="tx1"/>
                          </a:solidFill>
                          <a:latin typeface="+mj-lt"/>
                          <a:ea typeface="+mn-ea"/>
                          <a:cs typeface="+mn-cs"/>
                        </a:rPr>
                        <a:t>Total for Alpha Peaks: 600 people</a:t>
                      </a:r>
                    </a:p>
                    <a:p>
                      <a:pPr marL="0" indent="0">
                        <a:buFont typeface="Arial" pitchFamily="34" charset="0"/>
                        <a:buNone/>
                      </a:pPr>
                      <a:endParaRPr lang="en-US" sz="1200" b="0" i="0" u="none" kern="1200" dirty="0" smtClean="0">
                        <a:solidFill>
                          <a:schemeClr val="tx1"/>
                        </a:solidFill>
                        <a:latin typeface="+mj-lt"/>
                        <a:ea typeface="+mn-ea"/>
                        <a:cs typeface="+mn-cs"/>
                      </a:endParaRPr>
                    </a:p>
                    <a:p>
                      <a:pPr marL="0" indent="0">
                        <a:buFont typeface="Arial" pitchFamily="34" charset="0"/>
                        <a:buNone/>
                      </a:pPr>
                      <a:r>
                        <a:rPr lang="en-US" sz="1200" b="0" i="0" u="none" kern="1200" dirty="0" smtClean="0">
                          <a:solidFill>
                            <a:schemeClr val="tx1"/>
                          </a:solidFill>
                          <a:latin typeface="+mj-lt"/>
                          <a:ea typeface="+mn-ea"/>
                          <a:cs typeface="+mn-cs"/>
                        </a:rPr>
                        <a:t>Next</a:t>
                      </a:r>
                      <a:r>
                        <a:rPr lang="en-US" sz="1200" b="0" i="0" u="none" kern="1200" baseline="0" dirty="0" smtClean="0">
                          <a:solidFill>
                            <a:schemeClr val="tx1"/>
                          </a:solidFill>
                          <a:latin typeface="+mj-lt"/>
                          <a:ea typeface="+mn-ea"/>
                          <a:cs typeface="+mn-cs"/>
                        </a:rPr>
                        <a:t> level i</a:t>
                      </a:r>
                      <a:r>
                        <a:rPr lang="en-US" sz="1200" b="0" i="0" u="none" kern="1200" dirty="0" smtClean="0">
                          <a:solidFill>
                            <a:schemeClr val="tx1"/>
                          </a:solidFill>
                          <a:latin typeface="+mj-lt"/>
                          <a:ea typeface="+mn-ea"/>
                          <a:cs typeface="+mn-cs"/>
                        </a:rPr>
                        <a:t>nsights from analysis: </a:t>
                      </a:r>
                    </a:p>
                    <a:p>
                      <a:pPr marL="171450" indent="-171450">
                        <a:buFont typeface="Arial" pitchFamily="34" charset="0"/>
                        <a:buChar char="•"/>
                      </a:pPr>
                      <a:r>
                        <a:rPr lang="en-US" sz="1200" b="0" i="0" u="none" kern="1200" dirty="0" smtClean="0">
                          <a:solidFill>
                            <a:schemeClr val="tx1"/>
                          </a:solidFill>
                          <a:latin typeface="+mj-lt"/>
                          <a:ea typeface="+mn-ea"/>
                          <a:cs typeface="+mn-cs"/>
                        </a:rPr>
                        <a:t>There are 3 times as many customers at Alpha Peaks. Based on prices of $40 at Beta Peaks and $30 at Alpha Peaks per ticket, this results in a revenue difference of $10,000 ($18,000 - $8,000) per day</a:t>
                      </a:r>
                    </a:p>
                    <a:p>
                      <a:pPr marL="171450" indent="-171450">
                        <a:buFont typeface="Arial" pitchFamily="34" charset="0"/>
                        <a:buChar char="•"/>
                      </a:pPr>
                      <a:r>
                        <a:rPr lang="en-US" sz="1200" b="0" i="0" u="none" kern="1200" dirty="0" smtClean="0">
                          <a:solidFill>
                            <a:schemeClr val="tx1"/>
                          </a:solidFill>
                          <a:latin typeface="+mj-lt"/>
                          <a:ea typeface="+mn-ea"/>
                          <a:cs typeface="+mn-cs"/>
                        </a:rPr>
                        <a:t>Additionally, our client has a 6x shorter wait time for getting on chairlifts. This indicates a clear differentiating factor to draw more customers</a:t>
                      </a:r>
                    </a:p>
                    <a:p>
                      <a:pPr marL="171450" indent="-171450">
                        <a:buFont typeface="Arial" pitchFamily="34" charset="0"/>
                        <a:buChar char="•"/>
                      </a:pPr>
                      <a:endParaRPr lang="en-US" sz="1200" b="0" i="0" u="none" kern="1200" dirty="0" smtClean="0">
                        <a:solidFill>
                          <a:schemeClr val="tx1"/>
                        </a:solidFill>
                        <a:latin typeface="+mj-lt"/>
                        <a:ea typeface="+mn-ea"/>
                        <a:cs typeface="+mn-cs"/>
                      </a:endParaRPr>
                    </a:p>
                  </a:txBody>
                  <a:tcPr>
                    <a:solidFill>
                      <a:schemeClr val="tx1">
                        <a:alpha val="20000"/>
                      </a:schemeClr>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21</a:t>
            </a:r>
            <a:r>
              <a:rPr lang="en-US" sz="2400" b="1" dirty="0"/>
              <a:t>: </a:t>
            </a:r>
            <a:r>
              <a:rPr lang="en-US" sz="2400" b="1" dirty="0" smtClean="0"/>
              <a:t>Beta Peaks</a:t>
            </a:r>
            <a:endParaRPr lang="en-US" sz="2400" b="1" dirty="0"/>
          </a:p>
        </p:txBody>
      </p:sp>
      <p:sp>
        <p:nvSpPr>
          <p:cNvPr id="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Operations</a:t>
            </a:r>
            <a:endParaRPr lang="en-US" sz="1400" i="1" dirty="0"/>
          </a:p>
        </p:txBody>
      </p:sp>
      <p:sp>
        <p:nvSpPr>
          <p:cNvPr id="10" name="TextBox 6"/>
          <p:cNvSpPr txBox="1">
            <a:spLocks noChangeArrowheads="1"/>
          </p:cNvSpPr>
          <p:nvPr/>
        </p:nvSpPr>
        <p:spPr bwMode="auto">
          <a:xfrm>
            <a:off x="3657600" y="990600"/>
            <a:ext cx="2286000" cy="523220"/>
          </a:xfrm>
          <a:prstGeom prst="rect">
            <a:avLst/>
          </a:prstGeom>
          <a:noFill/>
          <a:ln w="9525">
            <a:noFill/>
            <a:miter lim="800000"/>
            <a:headEnd/>
            <a:tailEnd/>
          </a:ln>
        </p:spPr>
        <p:txBody>
          <a:bodyPr>
            <a:spAutoFit/>
          </a:bodyPr>
          <a:lstStyle/>
          <a:p>
            <a:pPr algn="ctr"/>
            <a:r>
              <a:rPr lang="en-US" sz="1400" i="1" dirty="0"/>
              <a:t>McKinsey &amp; Company</a:t>
            </a:r>
          </a:p>
          <a:p>
            <a:pPr algn="ctr"/>
            <a:endParaRPr lang="en-US" sz="1400" i="1" dirty="0"/>
          </a:p>
        </p:txBody>
      </p:sp>
    </p:spTree>
    <p:extLst>
      <p:ext uri="{BB962C8B-B14F-4D97-AF65-F5344CB8AC3E}">
        <p14:creationId xmlns:p14="http://schemas.microsoft.com/office/powerpoint/2010/main" val="3805402522"/>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p>
            <a:fld id="{F58F2B17-4F46-442D-8353-C109C3119ED4}" type="slidenum">
              <a:rPr lang="en-US" smtClean="0">
                <a:latin typeface="Arial" pitchFamily="34" charset="0"/>
                <a:ea typeface="ＭＳ Ｐゴシック" pitchFamily="34" charset="-128"/>
              </a:rPr>
              <a:pPr/>
              <a:t>172</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198804145"/>
              </p:ext>
            </p:extLst>
          </p:nvPr>
        </p:nvGraphicFramePr>
        <p:xfrm>
          <a:off x="304800" y="1295400"/>
          <a:ext cx="8534400" cy="5486400"/>
        </p:xfrm>
        <a:graphic>
          <a:graphicData uri="http://schemas.openxmlformats.org/drawingml/2006/table">
            <a:tbl>
              <a:tblPr firstRow="1" bandRow="1">
                <a:tableStyleId>{616DA210-FB5B-4158-B5E0-FEB733F419BA}</a:tableStyleId>
              </a:tblPr>
              <a:tblGrid>
                <a:gridCol w="1600200"/>
                <a:gridCol w="6934200"/>
              </a:tblGrid>
              <a:tr h="5334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i="0" dirty="0" smtClean="0"/>
                        <a:t>Prompt</a:t>
                      </a:r>
                      <a:endParaRPr lang="en-US" sz="1000" i="0" dirty="0" smtClean="0"/>
                    </a:p>
                  </a:txBody>
                  <a:tcPr anchor="ctr">
                    <a:no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j-lt"/>
                          <a:ea typeface="+mn-ea"/>
                          <a:cs typeface="+mn-cs"/>
                        </a:rPr>
                        <a:t>After seeing this intermediate analysis, the client proposes reducing the price per ticket to match Alpha Peaks price of $30 per ticket.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latin typeface="+mj-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latin typeface="+mj-lt"/>
                          <a:ea typeface="+mn-ea"/>
                          <a:cs typeface="+mn-cs"/>
                        </a:rPr>
                        <a:t>By what percent should the client expect to increase annual sales?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latin typeface="+mj-lt"/>
                        <a:ea typeface="+mn-ea"/>
                        <a:cs typeface="+mn-cs"/>
                      </a:endParaRPr>
                    </a:p>
                  </a:txBody>
                  <a:tcPr>
                    <a:noFill/>
                  </a:tcPr>
                </a:tc>
              </a:tr>
              <a:tr h="731520">
                <a:tc>
                  <a:txBody>
                    <a:bodyPr/>
                    <a:lstStyle/>
                    <a:p>
                      <a:pPr algn="ctr"/>
                      <a:r>
                        <a:rPr lang="en-US" b="1" i="0" dirty="0" smtClean="0"/>
                        <a:t>Guidance</a:t>
                      </a:r>
                      <a:endParaRPr lang="en-US" sz="1000" i="0" dirty="0"/>
                    </a:p>
                  </a:txBody>
                  <a:tcPr anchor="ctr">
                    <a:solidFill>
                      <a:schemeClr val="tx1">
                        <a:alpha val="20000"/>
                      </a:schemeClr>
                    </a:solidFill>
                  </a:tcPr>
                </a:tc>
                <a:tc>
                  <a:txBody>
                    <a:bodyPr/>
                    <a:lstStyle/>
                    <a:p>
                      <a:r>
                        <a:rPr lang="en-US" sz="1200" b="0" u="none" kern="1200" dirty="0" smtClean="0">
                          <a:solidFill>
                            <a:schemeClr val="tx1"/>
                          </a:solidFill>
                          <a:effectLst/>
                          <a:latin typeface="+mn-lt"/>
                          <a:ea typeface="+mn-ea"/>
                          <a:cs typeface="+mn-cs"/>
                        </a:rPr>
                        <a:t>Inform the candidate</a:t>
                      </a:r>
                      <a:r>
                        <a:rPr lang="en-US" sz="1200" b="0" u="none" kern="1200" baseline="0" dirty="0" smtClean="0">
                          <a:solidFill>
                            <a:schemeClr val="tx1"/>
                          </a:solidFill>
                          <a:effectLst/>
                          <a:latin typeface="+mn-lt"/>
                          <a:ea typeface="+mn-ea"/>
                          <a:cs typeface="+mn-cs"/>
                        </a:rPr>
                        <a:t> to make the following a</a:t>
                      </a:r>
                      <a:r>
                        <a:rPr lang="en-US" sz="1200" b="0" u="none" kern="1200" dirty="0" smtClean="0">
                          <a:solidFill>
                            <a:schemeClr val="tx1"/>
                          </a:solidFill>
                          <a:effectLst/>
                          <a:latin typeface="+mn-lt"/>
                          <a:ea typeface="+mn-ea"/>
                          <a:cs typeface="+mn-cs"/>
                        </a:rPr>
                        <a:t>ssumptions</a:t>
                      </a:r>
                      <a:r>
                        <a:rPr lang="en-US" sz="1200" b="1" u="none" kern="1200" dirty="0" smtClean="0">
                          <a:solidFill>
                            <a:schemeClr val="tx1"/>
                          </a:solidFill>
                          <a:effectLst/>
                          <a:latin typeface="+mn-lt"/>
                          <a:ea typeface="+mn-ea"/>
                          <a:cs typeface="+mn-cs"/>
                        </a:rPr>
                        <a:t>: c</a:t>
                      </a:r>
                      <a:r>
                        <a:rPr lang="en-US" sz="1200" u="none" kern="1200" dirty="0" smtClean="0">
                          <a:solidFill>
                            <a:schemeClr val="tx1"/>
                          </a:solidFill>
                          <a:effectLst/>
                          <a:latin typeface="+mn-lt"/>
                          <a:ea typeface="+mn-ea"/>
                          <a:cs typeface="+mn-cs"/>
                        </a:rPr>
                        <a:t>ustomers will switch mountains until the wait time at each mountain is the same,</a:t>
                      </a:r>
                      <a:r>
                        <a:rPr lang="en-US" sz="1200" u="none" kern="1200" baseline="0" dirty="0" smtClean="0">
                          <a:solidFill>
                            <a:schemeClr val="tx1"/>
                          </a:solidFill>
                          <a:effectLst/>
                          <a:latin typeface="+mn-lt"/>
                          <a:ea typeface="+mn-ea"/>
                          <a:cs typeface="+mn-cs"/>
                        </a:rPr>
                        <a:t> n</a:t>
                      </a:r>
                      <a:r>
                        <a:rPr lang="en-US" sz="1200" u="none" kern="1200" dirty="0" smtClean="0">
                          <a:solidFill>
                            <a:schemeClr val="tx1"/>
                          </a:solidFill>
                          <a:effectLst/>
                          <a:latin typeface="+mn-lt"/>
                          <a:ea typeface="+mn-ea"/>
                          <a:cs typeface="+mn-cs"/>
                        </a:rPr>
                        <a:t>o additional customers will enter the market, all other variables stay the same (time to get down the mountain, number of lifts, competitors prices, etc.), mountain is open from October through March, 7 days a week with even demand each week through the season </a:t>
                      </a:r>
                    </a:p>
                    <a:p>
                      <a:r>
                        <a:rPr lang="en-US" sz="1200" u="none" kern="1200" dirty="0" smtClean="0">
                          <a:solidFill>
                            <a:schemeClr val="tx1"/>
                          </a:solidFill>
                          <a:effectLst/>
                          <a:latin typeface="+mn-lt"/>
                          <a:ea typeface="+mn-ea"/>
                          <a:cs typeface="+mn-cs"/>
                        </a:rPr>
                        <a:t> </a:t>
                      </a:r>
                    </a:p>
                    <a:p>
                      <a:r>
                        <a:rPr lang="en-US" sz="1200" b="0" u="none" kern="1200" dirty="0" smtClean="0">
                          <a:solidFill>
                            <a:schemeClr val="tx1"/>
                          </a:solidFill>
                          <a:effectLst/>
                          <a:latin typeface="+mn-lt"/>
                          <a:ea typeface="+mn-ea"/>
                          <a:cs typeface="+mn-cs"/>
                        </a:rPr>
                        <a:t>Time in line</a:t>
                      </a:r>
                      <a:r>
                        <a:rPr lang="en-US" sz="1200" b="1" u="none" kern="1200" dirty="0" smtClean="0">
                          <a:solidFill>
                            <a:schemeClr val="tx1"/>
                          </a:solidFill>
                          <a:effectLst/>
                          <a:latin typeface="+mn-lt"/>
                          <a:ea typeface="+mn-ea"/>
                          <a:cs typeface="+mn-cs"/>
                        </a:rPr>
                        <a:t> </a:t>
                      </a:r>
                      <a:r>
                        <a:rPr lang="en-US" sz="1200" u="none" kern="1200" dirty="0" smtClean="0">
                          <a:solidFill>
                            <a:schemeClr val="tx1"/>
                          </a:solidFill>
                          <a:effectLst/>
                          <a:latin typeface="+mn-lt"/>
                          <a:ea typeface="+mn-ea"/>
                          <a:cs typeface="+mn-cs"/>
                        </a:rPr>
                        <a:t>	= (# people in B line / B arrival rate) = (400 people - # people in B line / A arrival rate) = </a:t>
                      </a:r>
                    </a:p>
                    <a:p>
                      <a:r>
                        <a:rPr lang="en-US" sz="1200" u="none" kern="1200" dirty="0" smtClean="0">
                          <a:solidFill>
                            <a:schemeClr val="tx1"/>
                          </a:solidFill>
                          <a:effectLst/>
                          <a:latin typeface="+mn-lt"/>
                          <a:ea typeface="+mn-ea"/>
                          <a:cs typeface="+mn-cs"/>
                        </a:rPr>
                        <a:t>		= (# people in B line / 8 people/min) = (400 people - # people in B line / 12 people/min)</a:t>
                      </a:r>
                    </a:p>
                    <a:p>
                      <a:r>
                        <a:rPr lang="en-US" sz="1200" u="none" kern="1200" dirty="0" smtClean="0">
                          <a:solidFill>
                            <a:schemeClr val="tx1"/>
                          </a:solidFill>
                          <a:effectLst/>
                          <a:latin typeface="+mn-lt"/>
                          <a:ea typeface="+mn-ea"/>
                          <a:cs typeface="+mn-cs"/>
                        </a:rPr>
                        <a:t> </a:t>
                      </a:r>
                    </a:p>
                    <a:p>
                      <a:r>
                        <a:rPr lang="en-US" sz="1200" u="none" kern="1200" dirty="0" smtClean="0">
                          <a:solidFill>
                            <a:schemeClr val="tx1"/>
                          </a:solidFill>
                          <a:effectLst/>
                          <a:latin typeface="+mn-lt"/>
                          <a:ea typeface="+mn-ea"/>
                          <a:cs typeface="+mn-cs"/>
                        </a:rPr>
                        <a:t>(# people in B line) x 12 people/min = (3200 people</a:t>
                      </a:r>
                      <a:r>
                        <a:rPr lang="en-US" sz="1200" u="none" kern="1200" baseline="30000" dirty="0" smtClean="0">
                          <a:solidFill>
                            <a:schemeClr val="tx1"/>
                          </a:solidFill>
                          <a:effectLst/>
                          <a:latin typeface="+mn-lt"/>
                          <a:ea typeface="+mn-ea"/>
                          <a:cs typeface="+mn-cs"/>
                        </a:rPr>
                        <a:t>2</a:t>
                      </a:r>
                      <a:r>
                        <a:rPr lang="en-US" sz="1200" u="none" kern="1200" dirty="0" smtClean="0">
                          <a:solidFill>
                            <a:schemeClr val="tx1"/>
                          </a:solidFill>
                          <a:effectLst/>
                          <a:latin typeface="+mn-lt"/>
                          <a:ea typeface="+mn-ea"/>
                          <a:cs typeface="+mn-cs"/>
                        </a:rPr>
                        <a:t> /min) – (# people in B line) x 8 people/min</a:t>
                      </a:r>
                    </a:p>
                    <a:p>
                      <a:r>
                        <a:rPr lang="en-US" sz="1200" u="none" kern="1200" dirty="0" smtClean="0">
                          <a:solidFill>
                            <a:schemeClr val="tx1"/>
                          </a:solidFill>
                          <a:effectLst/>
                          <a:latin typeface="+mn-lt"/>
                          <a:ea typeface="+mn-ea"/>
                          <a:cs typeface="+mn-cs"/>
                        </a:rPr>
                        <a:t># people in B line = (3200 people</a:t>
                      </a:r>
                      <a:r>
                        <a:rPr lang="en-US" sz="1200" u="none" kern="1200" baseline="30000" dirty="0" smtClean="0">
                          <a:solidFill>
                            <a:schemeClr val="tx1"/>
                          </a:solidFill>
                          <a:effectLst/>
                          <a:latin typeface="+mn-lt"/>
                          <a:ea typeface="+mn-ea"/>
                          <a:cs typeface="+mn-cs"/>
                        </a:rPr>
                        <a:t>2</a:t>
                      </a:r>
                      <a:r>
                        <a:rPr lang="en-US" sz="1200" u="none" kern="1200" dirty="0" smtClean="0">
                          <a:solidFill>
                            <a:schemeClr val="tx1"/>
                          </a:solidFill>
                          <a:effectLst/>
                          <a:latin typeface="+mn-lt"/>
                          <a:ea typeface="+mn-ea"/>
                          <a:cs typeface="+mn-cs"/>
                        </a:rPr>
                        <a:t> / min) / (20 people/min) = </a:t>
                      </a:r>
                      <a:r>
                        <a:rPr lang="en-US" sz="1200" b="0" u="none" kern="1200" dirty="0" smtClean="0">
                          <a:solidFill>
                            <a:schemeClr val="tx1"/>
                          </a:solidFill>
                          <a:effectLst/>
                          <a:latin typeface="+mn-lt"/>
                          <a:ea typeface="+mn-ea"/>
                          <a:cs typeface="+mn-cs"/>
                        </a:rPr>
                        <a:t>160 in line at Beta Peaks</a:t>
                      </a:r>
                    </a:p>
                    <a:p>
                      <a:r>
                        <a:rPr lang="en-US" sz="1200" u="none" kern="1200" dirty="0" smtClean="0">
                          <a:solidFill>
                            <a:schemeClr val="tx1"/>
                          </a:solidFill>
                          <a:effectLst/>
                          <a:latin typeface="+mn-lt"/>
                          <a:ea typeface="+mn-ea"/>
                          <a:cs typeface="+mn-cs"/>
                        </a:rPr>
                        <a:t> </a:t>
                      </a:r>
                    </a:p>
                    <a:p>
                      <a:r>
                        <a:rPr lang="en-US" sz="1200" b="0" u="none" kern="1200" dirty="0" smtClean="0">
                          <a:solidFill>
                            <a:schemeClr val="tx1"/>
                          </a:solidFill>
                          <a:effectLst/>
                          <a:latin typeface="+mn-lt"/>
                          <a:ea typeface="+mn-ea"/>
                          <a:cs typeface="+mn-cs"/>
                        </a:rPr>
                        <a:t>Insights from analysis:</a:t>
                      </a:r>
                    </a:p>
                    <a:p>
                      <a:pPr marL="171450" indent="-171450">
                        <a:buFont typeface="Arial" pitchFamily="34" charset="0"/>
                        <a:buChar char="•"/>
                      </a:pPr>
                      <a:r>
                        <a:rPr lang="en-US" sz="1200" u="none" kern="1200" dirty="0" smtClean="0">
                          <a:solidFill>
                            <a:schemeClr val="tx1"/>
                          </a:solidFill>
                          <a:effectLst/>
                          <a:latin typeface="+mn-lt"/>
                          <a:ea typeface="+mn-ea"/>
                          <a:cs typeface="+mn-cs"/>
                        </a:rPr>
                        <a:t>This pricing change results in 120 (160</a:t>
                      </a:r>
                      <a:r>
                        <a:rPr lang="en-US" sz="1200" u="none" kern="1200" baseline="0" dirty="0" smtClean="0">
                          <a:solidFill>
                            <a:schemeClr val="tx1"/>
                          </a:solidFill>
                          <a:effectLst/>
                          <a:latin typeface="+mn-lt"/>
                          <a:ea typeface="+mn-ea"/>
                          <a:cs typeface="+mn-cs"/>
                        </a:rPr>
                        <a:t> – 40) </a:t>
                      </a:r>
                      <a:r>
                        <a:rPr lang="en-US" sz="1200" u="none" kern="1200" dirty="0" smtClean="0">
                          <a:solidFill>
                            <a:schemeClr val="tx1"/>
                          </a:solidFill>
                          <a:effectLst/>
                          <a:latin typeface="+mn-lt"/>
                          <a:ea typeface="+mn-ea"/>
                          <a:cs typeface="+mn-cs"/>
                        </a:rPr>
                        <a:t>new customers per day. Total revenue per day = 320 x $30 = $9,600</a:t>
                      </a:r>
                    </a:p>
                    <a:p>
                      <a:pPr marL="171450" indent="-171450">
                        <a:buFont typeface="Arial" pitchFamily="34" charset="0"/>
                        <a:buChar char="•"/>
                      </a:pPr>
                      <a:r>
                        <a:rPr lang="en-US" sz="1200" u="none" kern="1200" dirty="0" smtClean="0">
                          <a:solidFill>
                            <a:schemeClr val="tx1"/>
                          </a:solidFill>
                          <a:effectLst/>
                          <a:latin typeface="+mn-lt"/>
                          <a:ea typeface="+mn-ea"/>
                          <a:cs typeface="+mn-cs"/>
                        </a:rPr>
                        <a:t>Total revenue before per day = $8,000</a:t>
                      </a:r>
                    </a:p>
                    <a:p>
                      <a:pPr marL="171450" indent="-171450">
                        <a:buFont typeface="Arial" pitchFamily="34" charset="0"/>
                        <a:buChar char="•"/>
                      </a:pPr>
                      <a:r>
                        <a:rPr lang="en-US" sz="1200" u="none" kern="1200" dirty="0" smtClean="0">
                          <a:solidFill>
                            <a:schemeClr val="tx1"/>
                          </a:solidFill>
                          <a:effectLst/>
                          <a:latin typeface="+mn-lt"/>
                          <a:ea typeface="+mn-ea"/>
                          <a:cs typeface="+mn-cs"/>
                        </a:rPr>
                        <a:t>Increase of $1,600 per day </a:t>
                      </a:r>
                      <a:r>
                        <a:rPr lang="en-US" sz="1200" u="none" kern="1200" dirty="0" smtClean="0">
                          <a:solidFill>
                            <a:schemeClr val="tx1"/>
                          </a:solidFill>
                          <a:effectLst/>
                          <a:latin typeface="+mn-lt"/>
                          <a:ea typeface="+mn-ea"/>
                          <a:cs typeface="+mn-cs"/>
                          <a:sym typeface="Wingdings"/>
                        </a:rPr>
                        <a:t></a:t>
                      </a:r>
                      <a:r>
                        <a:rPr lang="en-US" sz="1200" u="none" kern="1200" dirty="0" smtClean="0">
                          <a:solidFill>
                            <a:schemeClr val="tx1"/>
                          </a:solidFill>
                          <a:effectLst/>
                          <a:latin typeface="+mn-lt"/>
                          <a:ea typeface="+mn-ea"/>
                          <a:cs typeface="+mn-cs"/>
                        </a:rPr>
                        <a:t> a 20% increase in daily revenues</a:t>
                      </a:r>
                    </a:p>
                    <a:p>
                      <a:r>
                        <a:rPr lang="en-US" sz="1200" u="none" kern="1200" dirty="0" smtClean="0">
                          <a:solidFill>
                            <a:schemeClr val="tx1"/>
                          </a:solidFill>
                          <a:effectLst/>
                          <a:latin typeface="+mn-lt"/>
                          <a:ea typeface="+mn-ea"/>
                          <a:cs typeface="+mn-cs"/>
                        </a:rPr>
                        <a:t> </a:t>
                      </a:r>
                    </a:p>
                    <a:p>
                      <a:r>
                        <a:rPr lang="en-US" sz="1200" b="0" u="none" kern="1200" dirty="0" smtClean="0">
                          <a:solidFill>
                            <a:schemeClr val="tx1"/>
                          </a:solidFill>
                          <a:effectLst/>
                          <a:latin typeface="+mn-lt"/>
                          <a:ea typeface="+mn-ea"/>
                          <a:cs typeface="+mn-cs"/>
                        </a:rPr>
                        <a:t>Next</a:t>
                      </a:r>
                      <a:r>
                        <a:rPr lang="en-US" sz="1200" b="0" u="none" kern="1200" baseline="0" dirty="0" smtClean="0">
                          <a:solidFill>
                            <a:schemeClr val="tx1"/>
                          </a:solidFill>
                          <a:effectLst/>
                          <a:latin typeface="+mn-lt"/>
                          <a:ea typeface="+mn-ea"/>
                          <a:cs typeface="+mn-cs"/>
                        </a:rPr>
                        <a:t> level i</a:t>
                      </a:r>
                      <a:r>
                        <a:rPr lang="en-US" sz="1200" b="0" u="none" kern="1200" dirty="0" smtClean="0">
                          <a:solidFill>
                            <a:schemeClr val="tx1"/>
                          </a:solidFill>
                          <a:effectLst/>
                          <a:latin typeface="+mn-lt"/>
                          <a:ea typeface="+mn-ea"/>
                          <a:cs typeface="+mn-cs"/>
                        </a:rPr>
                        <a:t>nsights from analysis:</a:t>
                      </a:r>
                    </a:p>
                    <a:p>
                      <a:pPr marL="171450" lvl="0" indent="-171450">
                        <a:buFont typeface="Arial" pitchFamily="34" charset="0"/>
                        <a:buChar char="•"/>
                      </a:pPr>
                      <a:r>
                        <a:rPr lang="en-US" sz="1200" u="none" kern="1200" dirty="0" smtClean="0">
                          <a:solidFill>
                            <a:schemeClr val="tx1"/>
                          </a:solidFill>
                          <a:effectLst/>
                          <a:latin typeface="+mn-lt"/>
                          <a:ea typeface="+mn-ea"/>
                          <a:cs typeface="+mn-cs"/>
                        </a:rPr>
                        <a:t>This is a substantial increase in revenue and the strategy is worth considering, however it is important to note that wait times would increase, potentially negatively impacting demand of current customers. </a:t>
                      </a:r>
                    </a:p>
                    <a:p>
                      <a:pPr marL="171450" indent="-171450">
                        <a:buFont typeface="Arial" pitchFamily="34" charset="0"/>
                        <a:buChar char="•"/>
                      </a:pPr>
                      <a:r>
                        <a:rPr lang="en-US" sz="1200" u="none" kern="1200" dirty="0" smtClean="0">
                          <a:solidFill>
                            <a:schemeClr val="tx1"/>
                          </a:solidFill>
                          <a:effectLst/>
                          <a:latin typeface="+mn-lt"/>
                          <a:ea typeface="+mn-ea"/>
                          <a:cs typeface="+mn-cs"/>
                        </a:rPr>
                        <a:t>The wait time would increase from 5 minutes to 20 minutes</a:t>
                      </a:r>
                    </a:p>
                    <a:p>
                      <a:pPr marL="0" indent="0">
                        <a:buFont typeface="Arial" pitchFamily="34" charset="0"/>
                        <a:buNone/>
                      </a:pPr>
                      <a:endParaRPr lang="en-US" sz="1200" b="0" i="0" u="none" kern="1200" dirty="0" smtClean="0">
                        <a:solidFill>
                          <a:schemeClr val="tx1"/>
                        </a:solidFill>
                        <a:latin typeface="+mj-lt"/>
                        <a:ea typeface="+mn-ea"/>
                        <a:cs typeface="+mn-cs"/>
                      </a:endParaRPr>
                    </a:p>
                  </a:txBody>
                  <a:tcPr>
                    <a:solidFill>
                      <a:schemeClr val="tx1">
                        <a:alpha val="20000"/>
                      </a:schemeClr>
                    </a:solidFill>
                  </a:tcPr>
                </a:tc>
              </a:tr>
            </a:tbl>
          </a:graphicData>
        </a:graphic>
      </p:graphicFrame>
      <p:pic>
        <p:nvPicPr>
          <p:cNvPr id="39953"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21</a:t>
            </a:r>
            <a:r>
              <a:rPr lang="en-US" sz="2400" b="1" dirty="0"/>
              <a:t>: </a:t>
            </a:r>
            <a:r>
              <a:rPr lang="en-US" sz="2400" b="1" dirty="0" smtClean="0"/>
              <a:t>Beta Peaks</a:t>
            </a:r>
            <a:endParaRPr lang="en-US" sz="2400" b="1" dirty="0"/>
          </a:p>
        </p:txBody>
      </p:sp>
      <p:sp>
        <p:nvSpPr>
          <p:cNvPr id="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Operations</a:t>
            </a:r>
            <a:endParaRPr lang="en-US" sz="1400" i="1" dirty="0"/>
          </a:p>
        </p:txBody>
      </p:sp>
      <p:sp>
        <p:nvSpPr>
          <p:cNvPr id="10" name="TextBox 6"/>
          <p:cNvSpPr txBox="1">
            <a:spLocks noChangeArrowheads="1"/>
          </p:cNvSpPr>
          <p:nvPr/>
        </p:nvSpPr>
        <p:spPr bwMode="auto">
          <a:xfrm>
            <a:off x="3657600" y="990600"/>
            <a:ext cx="2286000" cy="523220"/>
          </a:xfrm>
          <a:prstGeom prst="rect">
            <a:avLst/>
          </a:prstGeom>
          <a:noFill/>
          <a:ln w="9525">
            <a:noFill/>
            <a:miter lim="800000"/>
            <a:headEnd/>
            <a:tailEnd/>
          </a:ln>
        </p:spPr>
        <p:txBody>
          <a:bodyPr>
            <a:spAutoFit/>
          </a:bodyPr>
          <a:lstStyle/>
          <a:p>
            <a:pPr algn="ctr"/>
            <a:r>
              <a:rPr lang="en-US" sz="1400" i="1" dirty="0"/>
              <a:t>McKinsey &amp; Company</a:t>
            </a:r>
          </a:p>
          <a:p>
            <a:pPr algn="ctr"/>
            <a:endParaRPr lang="en-US" sz="1400" i="1" dirty="0"/>
          </a:p>
        </p:txBody>
      </p:sp>
    </p:spTree>
    <p:extLst>
      <p:ext uri="{BB962C8B-B14F-4D97-AF65-F5344CB8AC3E}">
        <p14:creationId xmlns:p14="http://schemas.microsoft.com/office/powerpoint/2010/main" val="2742567746"/>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2E1E1E2A-88E9-4CB1-89D2-8ABF177DA4C4}" type="slidenum">
              <a:rPr lang="en-US" smtClean="0"/>
              <a:pPr>
                <a:defRPr/>
              </a:pPr>
              <a:t>173</a:t>
            </a:fld>
            <a:endParaRPr lang="en-US" dirty="0"/>
          </a:p>
        </p:txBody>
      </p:sp>
      <p:sp>
        <p:nvSpPr>
          <p:cNvPr id="7"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21</a:t>
            </a:r>
            <a:r>
              <a:rPr lang="en-US" sz="2400" b="1" dirty="0"/>
              <a:t>: </a:t>
            </a:r>
            <a:r>
              <a:rPr lang="en-US" sz="2400" b="1" dirty="0" smtClean="0"/>
              <a:t>Beta Peaks</a:t>
            </a:r>
            <a:endParaRPr lang="en-US" sz="2400" b="1" dirty="0"/>
          </a:p>
        </p:txBody>
      </p:sp>
      <p:sp>
        <p:nvSpPr>
          <p:cNvPr id="8"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Operations</a:t>
            </a:r>
            <a:endParaRPr lang="en-US" sz="1400" i="1" dirty="0"/>
          </a:p>
        </p:txBody>
      </p:sp>
      <p:sp>
        <p:nvSpPr>
          <p:cNvPr id="9" name="TextBox 6"/>
          <p:cNvSpPr txBox="1">
            <a:spLocks noChangeArrowheads="1"/>
          </p:cNvSpPr>
          <p:nvPr/>
        </p:nvSpPr>
        <p:spPr bwMode="auto">
          <a:xfrm>
            <a:off x="3657600" y="990600"/>
            <a:ext cx="2286000" cy="523220"/>
          </a:xfrm>
          <a:prstGeom prst="rect">
            <a:avLst/>
          </a:prstGeom>
          <a:noFill/>
          <a:ln w="9525">
            <a:noFill/>
            <a:miter lim="800000"/>
            <a:headEnd/>
            <a:tailEnd/>
          </a:ln>
        </p:spPr>
        <p:txBody>
          <a:bodyPr>
            <a:spAutoFit/>
          </a:bodyPr>
          <a:lstStyle/>
          <a:p>
            <a:pPr algn="ctr"/>
            <a:r>
              <a:rPr lang="en-US" sz="1400" i="1" dirty="0"/>
              <a:t>McKinsey &amp; Company</a:t>
            </a:r>
          </a:p>
          <a:p>
            <a:pPr algn="ctr"/>
            <a:endParaRPr lang="en-US" sz="1400" i="1" dirty="0"/>
          </a:p>
        </p:txBody>
      </p:sp>
      <p:pic>
        <p:nvPicPr>
          <p:cNvPr id="10"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11" name="TextBox 10"/>
          <p:cNvSpPr txBox="1"/>
          <p:nvPr/>
        </p:nvSpPr>
        <p:spPr>
          <a:xfrm>
            <a:off x="1143000" y="1524000"/>
            <a:ext cx="7105650" cy="338554"/>
          </a:xfrm>
          <a:prstGeom prst="rect">
            <a:avLst/>
          </a:prstGeom>
          <a:noFill/>
        </p:spPr>
        <p:txBody>
          <a:bodyPr wrap="square" rtlCol="0">
            <a:spAutoFit/>
          </a:bodyPr>
          <a:lstStyle/>
          <a:p>
            <a:pPr algn="ctr"/>
            <a:r>
              <a:rPr lang="en-US" sz="1600" b="1" dirty="0" smtClean="0"/>
              <a:t>Exhibit 1: Representative Snapshot of the two mountains</a:t>
            </a:r>
            <a:endParaRPr lang="en-US" sz="1600" b="1" dirty="0"/>
          </a:p>
        </p:txBody>
      </p:sp>
      <p:graphicFrame>
        <p:nvGraphicFramePr>
          <p:cNvPr id="12" name="Table 11"/>
          <p:cNvGraphicFramePr>
            <a:graphicFrameLocks noGrp="1"/>
          </p:cNvGraphicFramePr>
          <p:nvPr>
            <p:extLst>
              <p:ext uri="{D42A27DB-BD31-4B8C-83A1-F6EECF244321}">
                <p14:modId xmlns:p14="http://schemas.microsoft.com/office/powerpoint/2010/main" val="2306130233"/>
              </p:ext>
            </p:extLst>
          </p:nvPr>
        </p:nvGraphicFramePr>
        <p:xfrm>
          <a:off x="838200" y="1981200"/>
          <a:ext cx="7757160" cy="2966720"/>
        </p:xfrm>
        <a:graphic>
          <a:graphicData uri="http://schemas.openxmlformats.org/drawingml/2006/table">
            <a:tbl>
              <a:tblPr firstRow="1" bandRow="1">
                <a:tableStyleId>{5C22544A-7EE6-4342-B048-85BDC9FD1C3A}</a:tableStyleId>
              </a:tblPr>
              <a:tblGrid>
                <a:gridCol w="2653512"/>
                <a:gridCol w="303048"/>
                <a:gridCol w="2286000"/>
                <a:gridCol w="228600"/>
                <a:gridCol w="2286000"/>
              </a:tblGrid>
              <a:tr h="370840">
                <a:tc>
                  <a:txBody>
                    <a:bodyPr/>
                    <a:lstStyle/>
                    <a:p>
                      <a:pPr marL="0" marR="0" algn="l" defTabSz="457200" rtl="0" eaLnBrk="1" latinLnBrk="0" hangingPunct="1">
                        <a:lnSpc>
                          <a:spcPct val="115000"/>
                        </a:lnSpc>
                        <a:spcBef>
                          <a:spcPts val="0"/>
                        </a:spcBef>
                        <a:spcAft>
                          <a:spcPts val="0"/>
                        </a:spcAft>
                      </a:pPr>
                      <a:endParaRPr lang="en-US" sz="1200" kern="1200" dirty="0">
                        <a:solidFill>
                          <a:srgbClr val="000000"/>
                        </a:solidFill>
                        <a:effectLst/>
                        <a:latin typeface="+mj-lt"/>
                        <a:ea typeface="Times New Roman"/>
                        <a:cs typeface="Times New Roman"/>
                      </a:endParaRPr>
                    </a:p>
                  </a:txBody>
                  <a:tcPr>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dirty="0">
                        <a:solidFill>
                          <a:srgbClr val="000000"/>
                        </a:solidFill>
                        <a:effectLst/>
                        <a:latin typeface="+mj-lt"/>
                        <a:ea typeface="Times New Roman"/>
                        <a:cs typeface="Times New Roman"/>
                      </a:endParaRPr>
                    </a:p>
                  </a:txBody>
                  <a:tcPr>
                    <a:solidFill>
                      <a:schemeClr val="bg1"/>
                    </a:solidFill>
                  </a:tcPr>
                </a:tc>
                <a:tc>
                  <a:txBody>
                    <a:bodyPr/>
                    <a:lstStyle/>
                    <a:p>
                      <a:pPr marL="0" marR="0" algn="ctr" defTabSz="457200" rtl="0" eaLnBrk="1" latinLnBrk="0" hangingPunct="1">
                        <a:lnSpc>
                          <a:spcPct val="115000"/>
                        </a:lnSpc>
                        <a:spcBef>
                          <a:spcPts val="0"/>
                        </a:spcBef>
                        <a:spcAft>
                          <a:spcPts val="0"/>
                        </a:spcAft>
                      </a:pPr>
                      <a:r>
                        <a:rPr lang="en-US" sz="1200" kern="1200" dirty="0" smtClean="0">
                          <a:solidFill>
                            <a:srgbClr val="000000"/>
                          </a:solidFill>
                          <a:effectLst/>
                          <a:latin typeface="+mj-lt"/>
                          <a:ea typeface="Times New Roman"/>
                          <a:cs typeface="Times New Roman"/>
                        </a:rPr>
                        <a:t>Beta Peaks</a:t>
                      </a:r>
                      <a:endParaRPr lang="en-US" sz="1200" kern="1200" dirty="0">
                        <a:solidFill>
                          <a:srgbClr val="000000"/>
                        </a:solidFill>
                        <a:effectLst/>
                        <a:latin typeface="+mj-lt"/>
                        <a:ea typeface="Times New Roman"/>
                        <a:cs typeface="Times New Roman"/>
                      </a:endParaRPr>
                    </a:p>
                  </a:txBody>
                  <a:tcPr anchor="b">
                    <a:lnB w="12700" cap="flat" cmpd="sng" algn="ctr">
                      <a:solidFill>
                        <a:schemeClr val="tx1"/>
                      </a:solidFill>
                      <a:prstDash val="solid"/>
                      <a:round/>
                      <a:headEnd type="none" w="med" len="med"/>
                      <a:tailEnd type="none" w="med" len="med"/>
                    </a:lnB>
                    <a:solidFill>
                      <a:schemeClr val="bg1"/>
                    </a:solidFill>
                  </a:tcPr>
                </a:tc>
                <a:tc>
                  <a:txBody>
                    <a:bodyPr/>
                    <a:lstStyle/>
                    <a:p>
                      <a:pPr marL="0" marR="0" algn="ctr" defTabSz="457200" rtl="0" eaLnBrk="1" latinLnBrk="0" hangingPunct="1">
                        <a:lnSpc>
                          <a:spcPct val="115000"/>
                        </a:lnSpc>
                        <a:spcBef>
                          <a:spcPts val="0"/>
                        </a:spcBef>
                        <a:spcAft>
                          <a:spcPts val="0"/>
                        </a:spcAft>
                      </a:pPr>
                      <a:endParaRPr lang="en-US" sz="1200" kern="1200" dirty="0">
                        <a:solidFill>
                          <a:srgbClr val="000000"/>
                        </a:solidFill>
                        <a:effectLst/>
                        <a:latin typeface="+mj-lt"/>
                        <a:ea typeface="Times New Roman"/>
                        <a:cs typeface="Times New Roman"/>
                      </a:endParaRPr>
                    </a:p>
                  </a:txBody>
                  <a:tcPr anchor="b">
                    <a:solidFill>
                      <a:schemeClr val="bg1"/>
                    </a:solidFill>
                  </a:tcPr>
                </a:tc>
                <a:tc>
                  <a:txBody>
                    <a:bodyPr/>
                    <a:lstStyle/>
                    <a:p>
                      <a:pPr marL="0" marR="0" algn="ctr" defTabSz="457200" rtl="0" eaLnBrk="1" latinLnBrk="0" hangingPunct="1">
                        <a:lnSpc>
                          <a:spcPct val="115000"/>
                        </a:lnSpc>
                        <a:spcBef>
                          <a:spcPts val="0"/>
                        </a:spcBef>
                        <a:spcAft>
                          <a:spcPts val="0"/>
                        </a:spcAft>
                      </a:pPr>
                      <a:r>
                        <a:rPr lang="en-US" sz="1200" kern="1200" dirty="0" smtClean="0">
                          <a:solidFill>
                            <a:srgbClr val="000000"/>
                          </a:solidFill>
                          <a:effectLst/>
                          <a:latin typeface="+mj-lt"/>
                          <a:ea typeface="Times New Roman"/>
                          <a:cs typeface="Times New Roman"/>
                        </a:rPr>
                        <a:t>Alpha Peaks</a:t>
                      </a:r>
                      <a:endParaRPr lang="en-US" sz="1200" kern="1200" dirty="0">
                        <a:solidFill>
                          <a:srgbClr val="000000"/>
                        </a:solidFill>
                        <a:effectLst/>
                        <a:latin typeface="+mj-lt"/>
                        <a:ea typeface="Times New Roman"/>
                        <a:cs typeface="Times New Roman"/>
                      </a:endParaRPr>
                    </a:p>
                  </a:txBody>
                  <a:tcPr anchor="b">
                    <a:lnB w="12700" cap="flat" cmpd="sng" algn="ctr">
                      <a:solidFill>
                        <a:schemeClr val="tx1"/>
                      </a:solidFill>
                      <a:prstDash val="solid"/>
                      <a:round/>
                      <a:headEnd type="none" w="med" len="med"/>
                      <a:tailEnd type="none" w="med" len="med"/>
                    </a:lnB>
                    <a:solidFill>
                      <a:schemeClr val="bg1"/>
                    </a:solidFill>
                  </a:tcPr>
                </a:tc>
              </a:tr>
              <a:tr h="370840">
                <a:tc>
                  <a:txBody>
                    <a:bodyPr/>
                    <a:lstStyle/>
                    <a:p>
                      <a:pPr marL="0" marR="0" algn="l" defTabSz="457200" rtl="0" eaLnBrk="1" latinLnBrk="0" hangingPunct="1">
                        <a:lnSpc>
                          <a:spcPct val="115000"/>
                        </a:lnSpc>
                        <a:spcBef>
                          <a:spcPts val="0"/>
                        </a:spcBef>
                        <a:spcAft>
                          <a:spcPts val="0"/>
                        </a:spcAft>
                      </a:pPr>
                      <a:r>
                        <a:rPr lang="en-US" sz="1200" kern="1200" dirty="0">
                          <a:solidFill>
                            <a:srgbClr val="000000"/>
                          </a:solidFill>
                          <a:effectLst/>
                          <a:latin typeface="+mj-lt"/>
                          <a:ea typeface="Times New Roman"/>
                          <a:cs typeface="Times New Roman"/>
                        </a:rPr>
                        <a:t>Number of quad chairlifts</a:t>
                      </a: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dirty="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2</a:t>
                      </a:r>
                      <a:endParaRPr lang="en-US" sz="1200" dirty="0">
                        <a:effectLst/>
                        <a:latin typeface="+mj-lt"/>
                        <a:ea typeface="Times New Roman"/>
                        <a:cs typeface="Times New Roman"/>
                      </a:endParaRPr>
                    </a:p>
                  </a:txBody>
                  <a:tcPr marL="68580" marR="68580" marT="0" marB="0" anchor="b">
                    <a:lnT w="12700" cap="flat" cmpd="sng" algn="ctr">
                      <a:solidFill>
                        <a:schemeClr val="tx1"/>
                      </a:solidFill>
                      <a:prstDash val="solid"/>
                      <a:round/>
                      <a:headEnd type="none" w="med" len="med"/>
                      <a:tailEnd type="none" w="med" len="med"/>
                    </a:lnT>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2</a:t>
                      </a:r>
                      <a:endParaRPr lang="en-US" sz="1200" dirty="0">
                        <a:effectLst/>
                        <a:latin typeface="+mj-lt"/>
                        <a:ea typeface="Times New Roman"/>
                        <a:cs typeface="Times New Roman"/>
                      </a:endParaRPr>
                    </a:p>
                  </a:txBody>
                  <a:tcPr marL="68580" marR="68580" marT="0" marB="0" anchor="b">
                    <a:lnT w="12700" cap="flat" cmpd="sng" algn="ctr">
                      <a:solidFill>
                        <a:schemeClr val="tx1"/>
                      </a:solidFill>
                      <a:prstDash val="solid"/>
                      <a:round/>
                      <a:headEnd type="none" w="med" len="med"/>
                      <a:tailEnd type="none" w="med" len="med"/>
                    </a:lnT>
                    <a:solidFill>
                      <a:schemeClr val="bg1"/>
                    </a:solidFill>
                  </a:tcPr>
                </a:tc>
              </a:tr>
              <a:tr h="370840">
                <a:tc>
                  <a:txBody>
                    <a:bodyPr/>
                    <a:lstStyle/>
                    <a:p>
                      <a:pPr marL="0" marR="0" algn="l" defTabSz="457200" rtl="0" eaLnBrk="1" latinLnBrk="0" hangingPunct="1">
                        <a:lnSpc>
                          <a:spcPct val="115000"/>
                        </a:lnSpc>
                        <a:spcBef>
                          <a:spcPts val="0"/>
                        </a:spcBef>
                        <a:spcAft>
                          <a:spcPts val="0"/>
                        </a:spcAft>
                      </a:pPr>
                      <a:r>
                        <a:rPr lang="en-US" sz="1200" kern="1200" dirty="0">
                          <a:solidFill>
                            <a:srgbClr val="000000"/>
                          </a:solidFill>
                          <a:effectLst/>
                          <a:latin typeface="+mj-lt"/>
                          <a:ea typeface="Times New Roman"/>
                          <a:cs typeface="Times New Roman"/>
                        </a:rPr>
                        <a:t>Number of double chairlifts</a:t>
                      </a: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0</a:t>
                      </a:r>
                      <a:endParaRPr lang="en-US" sz="1200" dirty="0">
                        <a:effectLst/>
                        <a:latin typeface="+mj-lt"/>
                        <a:ea typeface="Times New Roman"/>
                        <a:cs typeface="Times New Roman"/>
                      </a:endParaRP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dirty="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2</a:t>
                      </a:r>
                      <a:endParaRPr lang="en-US" sz="1200" dirty="0">
                        <a:effectLst/>
                        <a:latin typeface="+mj-lt"/>
                        <a:ea typeface="Times New Roman"/>
                        <a:cs typeface="Times New Roman"/>
                      </a:endParaRPr>
                    </a:p>
                  </a:txBody>
                  <a:tcPr marL="68580" marR="68580" marT="0" marB="0" anchor="b">
                    <a:solidFill>
                      <a:schemeClr val="bg1"/>
                    </a:solidFill>
                  </a:tcPr>
                </a:tc>
              </a:tr>
              <a:tr h="370840">
                <a:tc>
                  <a:txBody>
                    <a:bodyPr/>
                    <a:lstStyle/>
                    <a:p>
                      <a:pPr marL="0" marR="0" algn="l" defTabSz="457200" rtl="0" eaLnBrk="1" latinLnBrk="0" hangingPunct="1">
                        <a:lnSpc>
                          <a:spcPct val="115000"/>
                        </a:lnSpc>
                        <a:spcBef>
                          <a:spcPts val="0"/>
                        </a:spcBef>
                        <a:spcAft>
                          <a:spcPts val="0"/>
                        </a:spcAft>
                      </a:pPr>
                      <a:r>
                        <a:rPr lang="en-US" sz="1200" kern="1200" dirty="0">
                          <a:solidFill>
                            <a:srgbClr val="000000"/>
                          </a:solidFill>
                          <a:effectLst/>
                          <a:latin typeface="+mj-lt"/>
                          <a:ea typeface="Times New Roman"/>
                          <a:cs typeface="Times New Roman"/>
                        </a:rPr>
                        <a:t>Number of chairs per lift</a:t>
                      </a: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20</a:t>
                      </a:r>
                      <a:endParaRPr lang="en-US" sz="1200" dirty="0">
                        <a:effectLst/>
                        <a:latin typeface="+mj-lt"/>
                        <a:ea typeface="Times New Roman"/>
                        <a:cs typeface="Times New Roman"/>
                      </a:endParaRP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a:solidFill>
                            <a:srgbClr val="000000"/>
                          </a:solidFill>
                          <a:effectLst/>
                          <a:latin typeface="+mj-lt"/>
                          <a:ea typeface="Times New Roman"/>
                          <a:cs typeface="Times New Roman"/>
                        </a:rPr>
                        <a:t>20</a:t>
                      </a:r>
                      <a:endParaRPr lang="en-US" sz="1200">
                        <a:effectLst/>
                        <a:latin typeface="+mj-lt"/>
                        <a:ea typeface="Times New Roman"/>
                        <a:cs typeface="Times New Roman"/>
                      </a:endParaRPr>
                    </a:p>
                  </a:txBody>
                  <a:tcPr marL="68580" marR="68580" marT="0" marB="0" anchor="b">
                    <a:solidFill>
                      <a:schemeClr val="bg1"/>
                    </a:solidFill>
                  </a:tcPr>
                </a:tc>
              </a:tr>
              <a:tr h="370840">
                <a:tc>
                  <a:txBody>
                    <a:bodyPr/>
                    <a:lstStyle/>
                    <a:p>
                      <a:pPr marL="0" marR="0" algn="l" defTabSz="457200" rtl="0" eaLnBrk="1" latinLnBrk="0" hangingPunct="1">
                        <a:lnSpc>
                          <a:spcPct val="115000"/>
                        </a:lnSpc>
                        <a:spcBef>
                          <a:spcPts val="0"/>
                        </a:spcBef>
                        <a:spcAft>
                          <a:spcPts val="0"/>
                        </a:spcAft>
                      </a:pPr>
                      <a:r>
                        <a:rPr lang="en-US" sz="1200" kern="1200" dirty="0">
                          <a:solidFill>
                            <a:srgbClr val="000000"/>
                          </a:solidFill>
                          <a:effectLst/>
                          <a:latin typeface="+mj-lt"/>
                          <a:ea typeface="Times New Roman"/>
                          <a:cs typeface="Times New Roman"/>
                        </a:rPr>
                        <a:t>Number of seats per chair</a:t>
                      </a: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4</a:t>
                      </a:r>
                      <a:endParaRPr lang="en-US" sz="1200" dirty="0">
                        <a:effectLst/>
                        <a:latin typeface="+mj-lt"/>
                        <a:ea typeface="Times New Roman"/>
                        <a:cs typeface="Times New Roman"/>
                      </a:endParaRP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a:solidFill>
                            <a:srgbClr val="000000"/>
                          </a:solidFill>
                          <a:effectLst/>
                          <a:latin typeface="+mj-lt"/>
                          <a:ea typeface="Times New Roman"/>
                          <a:cs typeface="Times New Roman"/>
                        </a:rPr>
                        <a:t>4</a:t>
                      </a:r>
                      <a:endParaRPr lang="en-US" sz="1200">
                        <a:effectLst/>
                        <a:latin typeface="+mj-lt"/>
                        <a:ea typeface="Times New Roman"/>
                        <a:cs typeface="Times New Roman"/>
                      </a:endParaRPr>
                    </a:p>
                  </a:txBody>
                  <a:tcPr marL="68580" marR="68580" marT="0" marB="0" anchor="b">
                    <a:solidFill>
                      <a:schemeClr val="bg1"/>
                    </a:solidFill>
                  </a:tcPr>
                </a:tc>
              </a:tr>
              <a:tr h="370840">
                <a:tc>
                  <a:txBody>
                    <a:bodyPr/>
                    <a:lstStyle/>
                    <a:p>
                      <a:pPr marL="0" marR="0" algn="l" defTabSz="457200" rtl="0" eaLnBrk="1" latinLnBrk="0" hangingPunct="1">
                        <a:lnSpc>
                          <a:spcPct val="115000"/>
                        </a:lnSpc>
                        <a:spcBef>
                          <a:spcPts val="0"/>
                        </a:spcBef>
                        <a:spcAft>
                          <a:spcPts val="0"/>
                        </a:spcAft>
                      </a:pPr>
                      <a:r>
                        <a:rPr lang="en-US" sz="1200" kern="1200" dirty="0">
                          <a:solidFill>
                            <a:srgbClr val="000000"/>
                          </a:solidFill>
                          <a:effectLst/>
                          <a:latin typeface="+mj-lt"/>
                          <a:ea typeface="Times New Roman"/>
                          <a:cs typeface="Times New Roman"/>
                        </a:rPr>
                        <a:t>Time to reach the top</a:t>
                      </a: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10 minutes</a:t>
                      </a:r>
                      <a:endParaRPr lang="en-US" sz="1200" dirty="0">
                        <a:effectLst/>
                        <a:latin typeface="+mj-lt"/>
                        <a:ea typeface="Times New Roman"/>
                        <a:cs typeface="Times New Roman"/>
                      </a:endParaRP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10 minutes</a:t>
                      </a:r>
                      <a:endParaRPr lang="en-US" sz="1200" dirty="0">
                        <a:effectLst/>
                        <a:latin typeface="+mj-lt"/>
                        <a:ea typeface="Times New Roman"/>
                        <a:cs typeface="Times New Roman"/>
                      </a:endParaRPr>
                    </a:p>
                  </a:txBody>
                  <a:tcPr marL="68580" marR="68580" marT="0" marB="0" anchor="b">
                    <a:solidFill>
                      <a:schemeClr val="bg1"/>
                    </a:solidFill>
                  </a:tcPr>
                </a:tc>
              </a:tr>
              <a:tr h="370840">
                <a:tc>
                  <a:txBody>
                    <a:bodyPr/>
                    <a:lstStyle/>
                    <a:p>
                      <a:pPr marL="0" marR="0" algn="l" defTabSz="457200" rtl="0" eaLnBrk="1" latinLnBrk="0" hangingPunct="1">
                        <a:lnSpc>
                          <a:spcPct val="115000"/>
                        </a:lnSpc>
                        <a:spcBef>
                          <a:spcPts val="0"/>
                        </a:spcBef>
                        <a:spcAft>
                          <a:spcPts val="0"/>
                        </a:spcAft>
                      </a:pPr>
                      <a:r>
                        <a:rPr lang="en-US" sz="1200" kern="1200" dirty="0">
                          <a:solidFill>
                            <a:srgbClr val="000000"/>
                          </a:solidFill>
                          <a:effectLst/>
                          <a:latin typeface="+mj-lt"/>
                          <a:ea typeface="Times New Roman"/>
                          <a:cs typeface="Times New Roman"/>
                        </a:rPr>
                        <a:t>Time to get to the bottom</a:t>
                      </a: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a:solidFill>
                            <a:srgbClr val="000000"/>
                          </a:solidFill>
                          <a:effectLst/>
                          <a:latin typeface="+mj-lt"/>
                          <a:ea typeface="Times New Roman"/>
                          <a:cs typeface="Times New Roman"/>
                        </a:rPr>
                        <a:t>10 minutes</a:t>
                      </a:r>
                      <a:endParaRPr lang="en-US" sz="1200">
                        <a:effectLst/>
                        <a:latin typeface="+mj-lt"/>
                        <a:ea typeface="Times New Roman"/>
                        <a:cs typeface="Times New Roman"/>
                      </a:endParaRP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10 minutes</a:t>
                      </a:r>
                      <a:endParaRPr lang="en-US" sz="1200" dirty="0">
                        <a:effectLst/>
                        <a:latin typeface="+mj-lt"/>
                        <a:ea typeface="Times New Roman"/>
                        <a:cs typeface="Times New Roman"/>
                      </a:endParaRPr>
                    </a:p>
                  </a:txBody>
                  <a:tcPr marL="68580" marR="68580" marT="0" marB="0" anchor="b">
                    <a:solidFill>
                      <a:schemeClr val="bg1"/>
                    </a:solidFill>
                  </a:tcPr>
                </a:tc>
              </a:tr>
              <a:tr h="370840">
                <a:tc>
                  <a:txBody>
                    <a:bodyPr/>
                    <a:lstStyle/>
                    <a:p>
                      <a:pPr marL="0" marR="0" algn="l" defTabSz="457200" rtl="0" eaLnBrk="1" latinLnBrk="0" hangingPunct="1">
                        <a:lnSpc>
                          <a:spcPct val="115000"/>
                        </a:lnSpc>
                        <a:spcBef>
                          <a:spcPts val="0"/>
                        </a:spcBef>
                        <a:spcAft>
                          <a:spcPts val="0"/>
                        </a:spcAft>
                      </a:pPr>
                      <a:r>
                        <a:rPr lang="en-US" sz="1200" kern="1200" dirty="0">
                          <a:solidFill>
                            <a:srgbClr val="000000"/>
                          </a:solidFill>
                          <a:effectLst/>
                          <a:latin typeface="+mj-lt"/>
                          <a:ea typeface="Times New Roman"/>
                          <a:cs typeface="Times New Roman"/>
                        </a:rPr>
                        <a:t>Average wait time in line</a:t>
                      </a: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5 minutes</a:t>
                      </a:r>
                      <a:endParaRPr lang="en-US" sz="1200" dirty="0">
                        <a:effectLst/>
                        <a:latin typeface="+mj-lt"/>
                        <a:ea typeface="Times New Roman"/>
                        <a:cs typeface="Times New Roman"/>
                      </a:endParaRPr>
                    </a:p>
                  </a:txBody>
                  <a:tcPr marL="68580" marR="68580" marT="0" marB="0" anchor="b">
                    <a:solidFill>
                      <a:schemeClr val="bg1"/>
                    </a:solidFill>
                  </a:tcPr>
                </a:tc>
                <a:tc>
                  <a:txBody>
                    <a:bodyPr/>
                    <a:lstStyle/>
                    <a:p>
                      <a:pPr marL="0" marR="0" algn="l" defTabSz="457200" rtl="0" eaLnBrk="1" latinLnBrk="0" hangingPunct="1">
                        <a:lnSpc>
                          <a:spcPct val="115000"/>
                        </a:lnSpc>
                        <a:spcBef>
                          <a:spcPts val="0"/>
                        </a:spcBef>
                        <a:spcAft>
                          <a:spcPts val="0"/>
                        </a:spcAft>
                      </a:pPr>
                      <a:endParaRPr lang="en-US" sz="1200" kern="1200">
                        <a:solidFill>
                          <a:srgbClr val="000000"/>
                        </a:solidFill>
                        <a:effectLst/>
                        <a:latin typeface="+mj-lt"/>
                        <a:ea typeface="Times New Roman"/>
                        <a:cs typeface="Times New Roman"/>
                      </a:endParaRPr>
                    </a:p>
                  </a:txBody>
                  <a:tcPr>
                    <a:solidFill>
                      <a:schemeClr val="bg1"/>
                    </a:solidFill>
                  </a:tcPr>
                </a:tc>
                <a:tc>
                  <a:txBody>
                    <a:bodyPr/>
                    <a:lstStyle/>
                    <a:p>
                      <a:pPr marL="0" marR="0" algn="ctr">
                        <a:lnSpc>
                          <a:spcPct val="115000"/>
                        </a:lnSpc>
                        <a:spcBef>
                          <a:spcPts val="0"/>
                        </a:spcBef>
                        <a:spcAft>
                          <a:spcPts val="0"/>
                        </a:spcAft>
                      </a:pPr>
                      <a:r>
                        <a:rPr lang="en-US" sz="1200" dirty="0">
                          <a:solidFill>
                            <a:srgbClr val="000000"/>
                          </a:solidFill>
                          <a:effectLst/>
                          <a:latin typeface="+mj-lt"/>
                          <a:ea typeface="Times New Roman"/>
                          <a:cs typeface="Times New Roman"/>
                        </a:rPr>
                        <a:t>30 minutes</a:t>
                      </a:r>
                      <a:endParaRPr lang="en-US" sz="1200" dirty="0">
                        <a:effectLst/>
                        <a:latin typeface="+mj-lt"/>
                        <a:ea typeface="Times New Roman"/>
                        <a:cs typeface="Times New Roman"/>
                      </a:endParaRPr>
                    </a:p>
                  </a:txBody>
                  <a:tcPr marL="68580" marR="68580" marT="0" marB="0" anchor="b">
                    <a:solidFill>
                      <a:schemeClr val="bg1"/>
                    </a:solidFill>
                  </a:tcPr>
                </a:tc>
              </a:tr>
            </a:tbl>
          </a:graphicData>
        </a:graphic>
      </p:graphicFrame>
      <p:sp>
        <p:nvSpPr>
          <p:cNvPr id="13" name="Rectangle 12"/>
          <p:cNvSpPr/>
          <p:nvPr/>
        </p:nvSpPr>
        <p:spPr>
          <a:xfrm>
            <a:off x="685800" y="1447800"/>
            <a:ext cx="8153400" cy="36576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4696371"/>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p>
            <a:fld id="{87D017A0-F14F-4B60-B946-811BCE3CFDD9}" type="slidenum">
              <a:rPr lang="en-US" smtClean="0">
                <a:latin typeface="Arial" pitchFamily="34" charset="0"/>
                <a:ea typeface="ＭＳ Ｐゴシック" pitchFamily="34" charset="-128"/>
              </a:rPr>
              <a:pPr/>
              <a:t>174</a:t>
            </a:fld>
            <a:endParaRPr lang="en-US" smtClean="0">
              <a:latin typeface="Arial" pitchFamily="34" charset="0"/>
              <a:ea typeface="ＭＳ Ｐゴシック"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3832179852"/>
              </p:ext>
            </p:extLst>
          </p:nvPr>
        </p:nvGraphicFramePr>
        <p:xfrm>
          <a:off x="304800" y="1371600"/>
          <a:ext cx="8534400" cy="2834640"/>
        </p:xfrm>
        <a:graphic>
          <a:graphicData uri="http://schemas.openxmlformats.org/drawingml/2006/table">
            <a:tbl>
              <a:tblPr firstRow="1" bandRow="1">
                <a:tableStyleId>{616DA210-FB5B-4158-B5E0-FEB733F419BA}</a:tableStyleId>
              </a:tblPr>
              <a:tblGrid>
                <a:gridCol w="1600200"/>
                <a:gridCol w="6934200"/>
              </a:tblGrid>
              <a:tr h="731520">
                <a:tc>
                  <a:txBody>
                    <a:bodyPr/>
                    <a:lstStyle/>
                    <a:p>
                      <a:pPr algn="ctr"/>
                      <a:r>
                        <a:rPr lang="en-US" sz="1800" b="1" i="0" dirty="0" smtClean="0">
                          <a:latin typeface="+mj-lt"/>
                        </a:rPr>
                        <a:t>Performance Evaluation</a:t>
                      </a:r>
                      <a:endParaRPr lang="en-US" sz="1800" i="0" dirty="0">
                        <a:latin typeface="+mj-lt"/>
                      </a:endParaRPr>
                    </a:p>
                  </a:txBody>
                  <a:tcPr anchor="ctr"/>
                </a:tc>
                <a:tc>
                  <a:txBody>
                    <a:bodyPr/>
                    <a:lstStyle/>
                    <a:p>
                      <a:r>
                        <a:rPr lang="en-US" sz="1200" b="1" i="0" kern="1200" dirty="0" smtClean="0">
                          <a:solidFill>
                            <a:schemeClr val="tx1"/>
                          </a:solidFill>
                          <a:latin typeface="+mj-lt"/>
                          <a:ea typeface="+mn-ea"/>
                          <a:cs typeface="+mn-cs"/>
                        </a:rPr>
                        <a:t>Expected:</a:t>
                      </a:r>
                      <a:endParaRPr lang="en-US" sz="1200" b="1" i="0" kern="1200" baseline="0" dirty="0" smtClean="0">
                        <a:solidFill>
                          <a:schemeClr val="tx1"/>
                        </a:solidFill>
                        <a:latin typeface="+mj-lt"/>
                        <a:ea typeface="+mn-ea"/>
                        <a:cs typeface="+mn-cs"/>
                      </a:endParaRPr>
                    </a:p>
                    <a:p>
                      <a:pPr marL="225425" indent="-225425">
                        <a:buFont typeface="Arial" pitchFamily="34" charset="0"/>
                        <a:buChar char="•"/>
                      </a:pPr>
                      <a:r>
                        <a:rPr lang="en-US" sz="1200" b="0" i="0" kern="1200" baseline="0" dirty="0" smtClean="0">
                          <a:solidFill>
                            <a:schemeClr val="tx1"/>
                          </a:solidFill>
                          <a:latin typeface="+mj-lt"/>
                          <a:ea typeface="+mn-ea"/>
                          <a:cs typeface="+mn-cs"/>
                        </a:rPr>
                        <a:t>Appropriately scopes problem in a MECE framework</a:t>
                      </a:r>
                    </a:p>
                    <a:p>
                      <a:pPr marL="225425" indent="-225425">
                        <a:buFont typeface="Arial" pitchFamily="34" charset="0"/>
                        <a:buChar char="•"/>
                      </a:pPr>
                      <a:r>
                        <a:rPr lang="en-US" sz="1200" b="0" i="0" kern="1200" baseline="0" dirty="0" smtClean="0">
                          <a:solidFill>
                            <a:schemeClr val="tx1"/>
                          </a:solidFill>
                          <a:latin typeface="+mj-lt"/>
                          <a:ea typeface="+mn-ea"/>
                          <a:cs typeface="+mn-cs"/>
                        </a:rPr>
                        <a:t>Identifies differences in volume, capacity, and sales at two mountains</a:t>
                      </a:r>
                    </a:p>
                    <a:p>
                      <a:pPr marL="225425" indent="-225425">
                        <a:buFont typeface="Arial" pitchFamily="34" charset="0"/>
                        <a:buChar char="•"/>
                      </a:pPr>
                      <a:r>
                        <a:rPr lang="en-US" sz="1200" b="0" i="0" kern="1200" baseline="0" dirty="0" smtClean="0">
                          <a:solidFill>
                            <a:schemeClr val="tx1"/>
                          </a:solidFill>
                          <a:latin typeface="+mj-lt"/>
                          <a:ea typeface="+mn-ea"/>
                          <a:cs typeface="+mn-cs"/>
                        </a:rPr>
                        <a:t>Does the math correctly, without hesitation</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Good:</a:t>
                      </a:r>
                    </a:p>
                    <a:p>
                      <a:pPr marL="225425" indent="-225425">
                        <a:buFont typeface="Arial" pitchFamily="34" charset="0"/>
                        <a:buChar char="•"/>
                      </a:pPr>
                      <a:r>
                        <a:rPr lang="en-US" sz="1200" b="0" i="0" kern="1200" baseline="0" dirty="0" smtClean="0">
                          <a:solidFill>
                            <a:schemeClr val="tx1"/>
                          </a:solidFill>
                          <a:latin typeface="+mj-lt"/>
                          <a:ea typeface="+mn-ea"/>
                          <a:cs typeface="+mn-cs"/>
                        </a:rPr>
                        <a:t>Completes “Expected”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Uses math to identify # of people at each mountain</a:t>
                      </a:r>
                    </a:p>
                    <a:p>
                      <a:pPr marL="225425" indent="-225425">
                        <a:buFont typeface="Arial" pitchFamily="34" charset="0"/>
                        <a:buChar char="•"/>
                      </a:pPr>
                      <a:r>
                        <a:rPr lang="en-US" sz="1200" b="0" i="0" kern="1200" baseline="0" dirty="0" smtClean="0">
                          <a:solidFill>
                            <a:schemeClr val="tx1"/>
                          </a:solidFill>
                          <a:latin typeface="+mj-lt"/>
                          <a:ea typeface="+mn-ea"/>
                          <a:cs typeface="+mn-cs"/>
                        </a:rPr>
                        <a:t>Achieves first level insights and scopes out how to get more customers to mountain</a:t>
                      </a:r>
                    </a:p>
                    <a:p>
                      <a:pPr marL="225425" indent="-225425">
                        <a:buFont typeface="Arial" pitchFamily="34" charset="0"/>
                        <a:buChar char="•"/>
                      </a:pPr>
                      <a:r>
                        <a:rPr lang="en-US" sz="1200" b="0" i="0" kern="1200" baseline="0" dirty="0" smtClean="0">
                          <a:solidFill>
                            <a:schemeClr val="tx1"/>
                          </a:solidFill>
                          <a:latin typeface="+mj-lt"/>
                          <a:ea typeface="+mn-ea"/>
                          <a:cs typeface="+mn-cs"/>
                        </a:rPr>
                        <a:t>Uses analysis effectively in wrap up</a:t>
                      </a:r>
                    </a:p>
                    <a:p>
                      <a:endParaRPr lang="en-US" sz="1200" b="1" i="0" kern="1200" baseline="0" dirty="0" smtClean="0">
                        <a:solidFill>
                          <a:schemeClr val="tx1"/>
                        </a:solidFill>
                        <a:latin typeface="+mj-lt"/>
                        <a:ea typeface="+mn-ea"/>
                        <a:cs typeface="+mn-cs"/>
                      </a:endParaRPr>
                    </a:p>
                    <a:p>
                      <a:r>
                        <a:rPr lang="en-US" sz="1200" b="1" i="0" kern="1200" baseline="0" dirty="0" smtClean="0">
                          <a:solidFill>
                            <a:schemeClr val="tx1"/>
                          </a:solidFill>
                          <a:latin typeface="+mj-lt"/>
                          <a:ea typeface="+mn-ea"/>
                          <a:cs typeface="+mn-cs"/>
                        </a:rPr>
                        <a:t>Excellent:</a:t>
                      </a:r>
                    </a:p>
                    <a:p>
                      <a:pPr marL="225425" indent="-225425">
                        <a:buFont typeface="Arial" pitchFamily="34" charset="0"/>
                        <a:buChar char="•"/>
                      </a:pPr>
                      <a:r>
                        <a:rPr lang="en-US" sz="1200" b="0" i="0" kern="1200" baseline="0" dirty="0" smtClean="0">
                          <a:solidFill>
                            <a:schemeClr val="tx1"/>
                          </a:solidFill>
                          <a:latin typeface="+mj-lt"/>
                          <a:ea typeface="+mn-ea"/>
                          <a:cs typeface="+mn-cs"/>
                        </a:rPr>
                        <a:t>Completed “Good” requirements</a:t>
                      </a:r>
                    </a:p>
                    <a:p>
                      <a:pPr marL="225425" indent="-225425">
                        <a:buFont typeface="Arial" pitchFamily="34" charset="0"/>
                        <a:buChar char="•"/>
                      </a:pPr>
                      <a:r>
                        <a:rPr lang="en-US" sz="1200" b="0" i="0" kern="1200" baseline="0" dirty="0" smtClean="0">
                          <a:solidFill>
                            <a:schemeClr val="tx1"/>
                          </a:solidFill>
                          <a:latin typeface="+mj-lt"/>
                          <a:ea typeface="+mn-ea"/>
                          <a:cs typeface="+mn-cs"/>
                        </a:rPr>
                        <a:t>Reaches next level insights independently</a:t>
                      </a:r>
                    </a:p>
                    <a:p>
                      <a:pPr marL="225425" indent="-225425">
                        <a:buFont typeface="Arial" pitchFamily="34" charset="0"/>
                        <a:buChar char="•"/>
                      </a:pPr>
                      <a:endParaRPr lang="en-US" sz="1200" b="0" i="0" kern="1200" baseline="0" dirty="0" smtClean="0">
                        <a:solidFill>
                          <a:schemeClr val="tx1"/>
                        </a:solidFill>
                        <a:latin typeface="+mj-lt"/>
                        <a:ea typeface="+mn-ea"/>
                        <a:cs typeface="+mn-cs"/>
                      </a:endParaRPr>
                    </a:p>
                  </a:txBody>
                  <a:tcPr/>
                </a:tc>
              </a:tr>
            </a:tbl>
          </a:graphicData>
        </a:graphic>
      </p:graphicFrame>
      <p:pic>
        <p:nvPicPr>
          <p:cNvPr id="40971" name="Picture 2"/>
          <p:cNvPicPr>
            <a:picLocks noChangeAspect="1" noChangeArrowheads="1"/>
          </p:cNvPicPr>
          <p:nvPr/>
        </p:nvPicPr>
        <p:blipFill>
          <a:blip r:embed="rId2"/>
          <a:srcRect/>
          <a:stretch>
            <a:fillRect/>
          </a:stretch>
        </p:blipFill>
        <p:spPr bwMode="auto">
          <a:xfrm>
            <a:off x="304800" y="228600"/>
            <a:ext cx="1200150" cy="635000"/>
          </a:xfrm>
          <a:prstGeom prst="rect">
            <a:avLst/>
          </a:prstGeom>
          <a:noFill/>
          <a:ln w="9525" algn="ctr">
            <a:noFill/>
            <a:miter lim="800000"/>
            <a:headEnd/>
            <a:tailEnd/>
          </a:ln>
        </p:spPr>
      </p:pic>
      <p:sp>
        <p:nvSpPr>
          <p:cNvPr id="8" name="TextBox 9"/>
          <p:cNvSpPr txBox="1">
            <a:spLocks noChangeArrowheads="1"/>
          </p:cNvSpPr>
          <p:nvPr/>
        </p:nvSpPr>
        <p:spPr bwMode="auto">
          <a:xfrm>
            <a:off x="1828800" y="376238"/>
            <a:ext cx="5943600" cy="461962"/>
          </a:xfrm>
          <a:prstGeom prst="rect">
            <a:avLst/>
          </a:prstGeom>
          <a:noFill/>
          <a:ln w="9525">
            <a:noFill/>
            <a:miter lim="800000"/>
            <a:headEnd/>
            <a:tailEnd/>
          </a:ln>
        </p:spPr>
        <p:txBody>
          <a:bodyPr>
            <a:spAutoFit/>
          </a:bodyPr>
          <a:lstStyle/>
          <a:p>
            <a:r>
              <a:rPr lang="en-US" sz="2400" b="1" dirty="0"/>
              <a:t>Case </a:t>
            </a:r>
            <a:r>
              <a:rPr lang="en-US" sz="2400" b="1" dirty="0" smtClean="0"/>
              <a:t>21</a:t>
            </a:r>
            <a:r>
              <a:rPr lang="en-US" sz="2400" b="1" dirty="0"/>
              <a:t>: </a:t>
            </a:r>
            <a:r>
              <a:rPr lang="en-US" sz="2400" b="1" dirty="0" smtClean="0"/>
              <a:t>Beta Peaks</a:t>
            </a:r>
            <a:endParaRPr lang="en-US" sz="2400" b="1" dirty="0"/>
          </a:p>
        </p:txBody>
      </p:sp>
      <p:sp>
        <p:nvSpPr>
          <p:cNvPr id="9" name="TextBox 6"/>
          <p:cNvSpPr txBox="1">
            <a:spLocks noChangeArrowheads="1"/>
          </p:cNvSpPr>
          <p:nvPr/>
        </p:nvSpPr>
        <p:spPr bwMode="auto">
          <a:xfrm>
            <a:off x="228600" y="990600"/>
            <a:ext cx="2286000" cy="307975"/>
          </a:xfrm>
          <a:prstGeom prst="rect">
            <a:avLst/>
          </a:prstGeom>
          <a:noFill/>
          <a:ln w="9525">
            <a:noFill/>
            <a:miter lim="800000"/>
            <a:headEnd/>
            <a:tailEnd/>
          </a:ln>
        </p:spPr>
        <p:txBody>
          <a:bodyPr>
            <a:spAutoFit/>
          </a:bodyPr>
          <a:lstStyle/>
          <a:p>
            <a:r>
              <a:rPr lang="en-US" sz="1400" i="1" dirty="0" smtClean="0"/>
              <a:t>Operations</a:t>
            </a:r>
            <a:endParaRPr lang="en-US" sz="1400" i="1" dirty="0"/>
          </a:p>
        </p:txBody>
      </p:sp>
      <p:sp>
        <p:nvSpPr>
          <p:cNvPr id="10" name="TextBox 6"/>
          <p:cNvSpPr txBox="1">
            <a:spLocks noChangeArrowheads="1"/>
          </p:cNvSpPr>
          <p:nvPr/>
        </p:nvSpPr>
        <p:spPr bwMode="auto">
          <a:xfrm>
            <a:off x="3657600" y="990600"/>
            <a:ext cx="2286000" cy="523220"/>
          </a:xfrm>
          <a:prstGeom prst="rect">
            <a:avLst/>
          </a:prstGeom>
          <a:noFill/>
          <a:ln w="9525">
            <a:noFill/>
            <a:miter lim="800000"/>
            <a:headEnd/>
            <a:tailEnd/>
          </a:ln>
        </p:spPr>
        <p:txBody>
          <a:bodyPr>
            <a:spAutoFit/>
          </a:bodyPr>
          <a:lstStyle/>
          <a:p>
            <a:pPr algn="ctr"/>
            <a:r>
              <a:rPr lang="en-US" sz="1400" i="1" dirty="0"/>
              <a:t>McKinsey &amp; Company</a:t>
            </a:r>
          </a:p>
          <a:p>
            <a:pPr algn="ctr"/>
            <a:endParaRPr lang="en-US" sz="1400" i="1" dirty="0"/>
          </a:p>
        </p:txBody>
      </p:sp>
    </p:spTree>
    <p:extLst>
      <p:ext uri="{BB962C8B-B14F-4D97-AF65-F5344CB8AC3E}">
        <p14:creationId xmlns:p14="http://schemas.microsoft.com/office/powerpoint/2010/main" val="1995528028"/>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219200" y="0"/>
            <a:ext cx="7696200" cy="533400"/>
          </a:xfrm>
        </p:spPr>
        <p:txBody>
          <a:bodyPr/>
          <a:lstStyle/>
          <a:p>
            <a:r>
              <a:rPr lang="en-US" sz="1600" dirty="0" smtClean="0">
                <a:ea typeface="ＭＳ Ｐゴシック" pitchFamily="34" charset="-128"/>
              </a:rPr>
              <a:t>Case Interview feedback form</a:t>
            </a:r>
            <a:br>
              <a:rPr lang="en-US" sz="1600" dirty="0" smtClean="0">
                <a:ea typeface="ＭＳ Ｐゴシック" pitchFamily="34" charset="-128"/>
              </a:rPr>
            </a:br>
            <a:r>
              <a:rPr lang="en-US" sz="1200" dirty="0" smtClean="0">
                <a:ea typeface="ＭＳ Ｐゴシック" pitchFamily="34" charset="-128"/>
              </a:rPr>
              <a:t>Case _______________________  Case type ______________ Interviewer ____________________</a:t>
            </a:r>
          </a:p>
        </p:txBody>
      </p:sp>
      <p:sp>
        <p:nvSpPr>
          <p:cNvPr id="21" name="Rounded Rectangle 20"/>
          <p:cNvSpPr/>
          <p:nvPr/>
        </p:nvSpPr>
        <p:spPr>
          <a:xfrm>
            <a:off x="152400" y="6858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Execution</a:t>
            </a:r>
          </a:p>
        </p:txBody>
      </p:sp>
      <p:sp>
        <p:nvSpPr>
          <p:cNvPr id="22" name="Rectangle 21"/>
          <p:cNvSpPr/>
          <p:nvPr/>
        </p:nvSpPr>
        <p:spPr>
          <a:xfrm>
            <a:off x="228600" y="9906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Structure			</a:t>
            </a:r>
          </a:p>
          <a:p>
            <a:pPr lvl="1">
              <a:buFont typeface="Wingdings" pitchFamily="2" charset="2"/>
              <a:buChar char="Ø"/>
              <a:defRPr/>
            </a:pPr>
            <a:r>
              <a:rPr lang="en-US" sz="1100" dirty="0">
                <a:solidFill>
                  <a:schemeClr val="tx1"/>
                </a:solidFill>
              </a:rPr>
              <a:t>Logical approach</a:t>
            </a:r>
          </a:p>
          <a:p>
            <a:pPr lvl="1">
              <a:buFont typeface="Wingdings" pitchFamily="2" charset="2"/>
              <a:buChar char="Ø"/>
              <a:defRPr/>
            </a:pPr>
            <a:r>
              <a:rPr lang="en-US" sz="1100" dirty="0">
                <a:solidFill>
                  <a:schemeClr val="tx1"/>
                </a:solidFill>
              </a:rPr>
              <a:t>MECE</a:t>
            </a:r>
          </a:p>
          <a:p>
            <a:pPr lvl="1">
              <a:buFont typeface="Wingdings" pitchFamily="2" charset="2"/>
              <a:buChar char="Ø"/>
              <a:defRPr/>
            </a:pPr>
            <a:r>
              <a:rPr lang="en-US" sz="1100" dirty="0">
                <a:solidFill>
                  <a:schemeClr val="tx1"/>
                </a:solidFill>
              </a:rPr>
              <a:t>Appropriate drive to solution</a:t>
            </a:r>
          </a:p>
          <a:p>
            <a:pPr>
              <a:buFont typeface="Arial" pitchFamily="34" charset="0"/>
              <a:buChar char="•"/>
              <a:defRPr/>
            </a:pPr>
            <a:r>
              <a:rPr lang="en-US" sz="1400" dirty="0">
                <a:solidFill>
                  <a:schemeClr val="tx1"/>
                </a:solidFill>
              </a:rPr>
              <a:t>Quantitative Ability</a:t>
            </a:r>
          </a:p>
          <a:p>
            <a:pPr lvl="1">
              <a:buFont typeface="Wingdings" pitchFamily="2" charset="2"/>
              <a:buChar char="Ø"/>
              <a:defRPr/>
            </a:pPr>
            <a:r>
              <a:rPr lang="en-US" sz="1100" dirty="0">
                <a:solidFill>
                  <a:schemeClr val="tx1"/>
                </a:solidFill>
              </a:rPr>
              <a:t>Speed</a:t>
            </a:r>
          </a:p>
          <a:p>
            <a:pPr lvl="1">
              <a:buFont typeface="Wingdings" pitchFamily="2" charset="2"/>
              <a:buChar char="Ø"/>
              <a:defRPr/>
            </a:pPr>
            <a:r>
              <a:rPr lang="en-US" sz="1100" dirty="0">
                <a:solidFill>
                  <a:schemeClr val="tx1"/>
                </a:solidFill>
              </a:rPr>
              <a:t>Accuracy</a:t>
            </a:r>
          </a:p>
          <a:p>
            <a:pPr lvl="1">
              <a:buFont typeface="Wingdings" pitchFamily="2" charset="2"/>
              <a:buChar char="Ø"/>
              <a:defRPr/>
            </a:pPr>
            <a:r>
              <a:rPr lang="en-US" sz="1100" dirty="0">
                <a:solidFill>
                  <a:schemeClr val="tx1"/>
                </a:solidFill>
              </a:rPr>
              <a:t>Comfort, reaction to mistakes</a:t>
            </a:r>
          </a:p>
          <a:p>
            <a:pPr>
              <a:buFont typeface="Arial" pitchFamily="34" charset="0"/>
              <a:buChar char="•"/>
              <a:defRPr/>
            </a:pPr>
            <a:r>
              <a:rPr lang="en-US" sz="1400" dirty="0">
                <a:solidFill>
                  <a:schemeClr val="tx1"/>
                </a:solidFill>
              </a:rPr>
              <a:t>Business intuition</a:t>
            </a:r>
          </a:p>
          <a:p>
            <a:pPr lvl="1">
              <a:buFont typeface="Wingdings" pitchFamily="2" charset="2"/>
              <a:buChar char="Ø"/>
              <a:defRPr/>
            </a:pPr>
            <a:r>
              <a:rPr lang="en-US" sz="1100" dirty="0">
                <a:solidFill>
                  <a:schemeClr val="tx1"/>
                </a:solidFill>
              </a:rPr>
              <a:t>Practical</a:t>
            </a:r>
          </a:p>
          <a:p>
            <a:pPr lvl="1">
              <a:buFont typeface="Wingdings" pitchFamily="2" charset="2"/>
              <a:buChar char="Ø"/>
              <a:defRPr/>
            </a:pPr>
            <a:r>
              <a:rPr lang="en-US" sz="1100" dirty="0">
                <a:solidFill>
                  <a:schemeClr val="tx1"/>
                </a:solidFill>
              </a:rPr>
              <a:t>Insightful</a:t>
            </a:r>
          </a:p>
          <a:p>
            <a:pPr lvl="1">
              <a:buFont typeface="Wingdings" pitchFamily="2" charset="2"/>
              <a:buChar char="Ø"/>
              <a:defRPr/>
            </a:pPr>
            <a:r>
              <a:rPr lang="en-US" sz="1100" dirty="0">
                <a:solidFill>
                  <a:schemeClr val="tx1"/>
                </a:solidFill>
              </a:rPr>
              <a:t>Breadth &amp; depth across multiple functions</a:t>
            </a:r>
          </a:p>
          <a:p>
            <a:pPr lvl="1">
              <a:buFont typeface="Wingdings" pitchFamily="2" charset="2"/>
              <a:buChar char="Ø"/>
              <a:defRPr/>
            </a:pPr>
            <a:r>
              <a:rPr lang="en-US" sz="1100" dirty="0">
                <a:solidFill>
                  <a:schemeClr val="tx1"/>
                </a:solidFill>
              </a:rPr>
              <a:t>Creativity</a:t>
            </a: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4" name="Rectangle 23"/>
          <p:cNvSpPr/>
          <p:nvPr/>
        </p:nvSpPr>
        <p:spPr>
          <a:xfrm>
            <a:off x="3352800" y="9906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5" name="Rectangle 24"/>
          <p:cNvSpPr/>
          <p:nvPr/>
        </p:nvSpPr>
        <p:spPr>
          <a:xfrm>
            <a:off x="3352800" y="1752600"/>
            <a:ext cx="27432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26" name="Rectangle 25"/>
          <p:cNvSpPr/>
          <p:nvPr/>
        </p:nvSpPr>
        <p:spPr>
          <a:xfrm>
            <a:off x="3352800" y="2438400"/>
            <a:ext cx="2743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28" name="Straight Connector 27"/>
          <p:cNvCxnSpPr/>
          <p:nvPr/>
        </p:nvCxnSpPr>
        <p:spPr>
          <a:xfrm>
            <a:off x="152400" y="1752600"/>
            <a:ext cx="601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2400" y="2438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152400" y="34290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Communication</a:t>
            </a:r>
          </a:p>
        </p:txBody>
      </p:sp>
      <p:sp>
        <p:nvSpPr>
          <p:cNvPr id="38" name="Rectangle 37"/>
          <p:cNvSpPr/>
          <p:nvPr/>
        </p:nvSpPr>
        <p:spPr>
          <a:xfrm>
            <a:off x="228600" y="3810000"/>
            <a:ext cx="42672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400" dirty="0">
                <a:solidFill>
                  <a:schemeClr val="tx1"/>
                </a:solidFill>
              </a:rPr>
              <a:t>Professionalism			</a:t>
            </a:r>
          </a:p>
          <a:p>
            <a:pPr lvl="1">
              <a:buFont typeface="Wingdings" pitchFamily="2" charset="2"/>
              <a:buChar char="Ø"/>
              <a:defRPr/>
            </a:pPr>
            <a:r>
              <a:rPr lang="en-US" sz="1100" dirty="0">
                <a:solidFill>
                  <a:schemeClr val="tx1"/>
                </a:solidFill>
              </a:rPr>
              <a:t>Poise</a:t>
            </a:r>
          </a:p>
          <a:p>
            <a:pPr lvl="1">
              <a:buFont typeface="Wingdings" pitchFamily="2" charset="2"/>
              <a:buChar char="Ø"/>
              <a:defRPr/>
            </a:pPr>
            <a:r>
              <a:rPr lang="en-US" sz="1100" dirty="0">
                <a:solidFill>
                  <a:schemeClr val="tx1"/>
                </a:solidFill>
              </a:rPr>
              <a:t>Confident-Persuasive</a:t>
            </a:r>
          </a:p>
          <a:p>
            <a:pPr lvl="1">
              <a:buFont typeface="Wingdings" pitchFamily="2" charset="2"/>
              <a:buChar char="Ø"/>
              <a:defRPr/>
            </a:pPr>
            <a:r>
              <a:rPr lang="en-US" sz="1100" dirty="0">
                <a:solidFill>
                  <a:schemeClr val="tx1"/>
                </a:solidFill>
              </a:rPr>
              <a:t>Articulate-concise</a:t>
            </a:r>
          </a:p>
          <a:p>
            <a:pPr lvl="1">
              <a:buFont typeface="Wingdings" pitchFamily="2" charset="2"/>
              <a:buChar char="Ø"/>
              <a:defRPr/>
            </a:pPr>
            <a:r>
              <a:rPr lang="en-US" sz="1100" dirty="0">
                <a:solidFill>
                  <a:schemeClr val="tx1"/>
                </a:solidFill>
              </a:rPr>
              <a:t>Client ready</a:t>
            </a:r>
          </a:p>
          <a:p>
            <a:pPr>
              <a:buFont typeface="Arial" pitchFamily="34" charset="0"/>
              <a:buChar char="•"/>
              <a:defRPr/>
            </a:pPr>
            <a:r>
              <a:rPr lang="en-US" sz="1400" dirty="0">
                <a:solidFill>
                  <a:schemeClr val="tx1"/>
                </a:solidFill>
              </a:rPr>
              <a:t>Written</a:t>
            </a:r>
          </a:p>
          <a:p>
            <a:pPr lvl="1">
              <a:buFont typeface="Wingdings" pitchFamily="2" charset="2"/>
              <a:buChar char="Ø"/>
              <a:defRPr/>
            </a:pPr>
            <a:r>
              <a:rPr lang="en-US" sz="1100" dirty="0">
                <a:solidFill>
                  <a:schemeClr val="tx1"/>
                </a:solidFill>
              </a:rPr>
              <a:t>Clarity  of writing and page layout</a:t>
            </a:r>
          </a:p>
          <a:p>
            <a:pPr lvl="1">
              <a:buFont typeface="Wingdings" pitchFamily="2" charset="2"/>
              <a:buChar char="Ø"/>
              <a:defRPr/>
            </a:pPr>
            <a:r>
              <a:rPr lang="en-US" sz="1100" dirty="0">
                <a:solidFill>
                  <a:schemeClr val="tx1"/>
                </a:solidFill>
              </a:rPr>
              <a:t>Ability to refer back</a:t>
            </a:r>
          </a:p>
          <a:p>
            <a:pPr lvl="1">
              <a:buFont typeface="Wingdings" pitchFamily="2" charset="2"/>
              <a:buChar char="Ø"/>
              <a:defRPr/>
            </a:pPr>
            <a:r>
              <a:rPr lang="en-US" sz="1100" dirty="0">
                <a:solidFill>
                  <a:schemeClr val="tx1"/>
                </a:solidFill>
              </a:rPr>
              <a:t>Comfort, reaction to mistakes</a:t>
            </a: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39" name="Rectangle 38"/>
          <p:cNvSpPr/>
          <p:nvPr/>
        </p:nvSpPr>
        <p:spPr>
          <a:xfrm>
            <a:off x="3352800" y="3810000"/>
            <a:ext cx="28194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40" name="Rectangle 39"/>
          <p:cNvSpPr/>
          <p:nvPr/>
        </p:nvSpPr>
        <p:spPr>
          <a:xfrm>
            <a:off x="3352800" y="4724400"/>
            <a:ext cx="28194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en-US" sz="1400" dirty="0">
                <a:solidFill>
                  <a:schemeClr val="tx1"/>
                </a:solidFill>
              </a:rPr>
              <a:t>1  2  3  4  5</a:t>
            </a:r>
          </a:p>
          <a:p>
            <a:pPr>
              <a:defRPr/>
            </a:pPr>
            <a:r>
              <a:rPr lang="en-US" sz="1100" dirty="0">
                <a:solidFill>
                  <a:schemeClr val="tx1"/>
                </a:solidFill>
              </a:rPr>
              <a:t>Comments:</a:t>
            </a:r>
          </a:p>
          <a:p>
            <a:pPr>
              <a:defRPr/>
            </a:pPr>
            <a:endParaRPr lang="en-US" sz="1100" dirty="0">
              <a:solidFill>
                <a:schemeClr val="tx1"/>
              </a:solidFill>
            </a:endParaRPr>
          </a:p>
          <a:p>
            <a:pPr>
              <a:defRPr/>
            </a:pPr>
            <a:endParaRPr lang="en-US" sz="1100" dirty="0">
              <a:solidFill>
                <a:schemeClr val="tx1"/>
              </a:solidFill>
            </a:endParaRPr>
          </a:p>
          <a:p>
            <a:pPr lvl="1">
              <a:defRPr/>
            </a:pPr>
            <a:endParaRPr lang="en-US" sz="11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cxnSp>
        <p:nvCxnSpPr>
          <p:cNvPr id="42" name="Straight Connector 41"/>
          <p:cNvCxnSpPr/>
          <p:nvPr/>
        </p:nvCxnSpPr>
        <p:spPr>
          <a:xfrm>
            <a:off x="152400" y="47244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ounded Rectangle 59"/>
          <p:cNvSpPr/>
          <p:nvPr/>
        </p:nvSpPr>
        <p:spPr>
          <a:xfrm>
            <a:off x="6286500" y="8382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start time   __:__</a:t>
            </a:r>
          </a:p>
        </p:txBody>
      </p:sp>
      <p:sp>
        <p:nvSpPr>
          <p:cNvPr id="61" name="Rounded Rectangle 60"/>
          <p:cNvSpPr/>
          <p:nvPr/>
        </p:nvSpPr>
        <p:spPr>
          <a:xfrm>
            <a:off x="6324600" y="1828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Case end time   </a:t>
            </a:r>
            <a:r>
              <a:rPr lang="en-US" sz="1400" dirty="0">
                <a:solidFill>
                  <a:schemeClr val="accent4"/>
                </a:solidFill>
              </a:rPr>
              <a:t>___:____</a:t>
            </a:r>
          </a:p>
        </p:txBody>
      </p:sp>
      <p:sp>
        <p:nvSpPr>
          <p:cNvPr id="35857" name="TextBox 61"/>
          <p:cNvSpPr txBox="1">
            <a:spLocks noChangeArrowheads="1"/>
          </p:cNvSpPr>
          <p:nvPr/>
        </p:nvSpPr>
        <p:spPr bwMode="auto">
          <a:xfrm>
            <a:off x="6248400" y="1143000"/>
            <a:ext cx="2819400" cy="646113"/>
          </a:xfrm>
          <a:prstGeom prst="rect">
            <a:avLst/>
          </a:prstGeom>
          <a:noFill/>
          <a:ln w="9525">
            <a:noFill/>
            <a:miter lim="800000"/>
            <a:headEnd/>
            <a:tailEnd/>
          </a:ln>
        </p:spPr>
        <p:txBody>
          <a:bodyPr>
            <a:spAutoFit/>
          </a:bodyPr>
          <a:lstStyle/>
          <a:p>
            <a:r>
              <a:rPr lang="en-US" sz="1200"/>
              <a:t>Framework development	______ min</a:t>
            </a:r>
          </a:p>
          <a:p>
            <a:r>
              <a:rPr lang="en-US" sz="1200"/>
              <a:t>Framework explanation 	______ min</a:t>
            </a:r>
          </a:p>
          <a:p>
            <a:r>
              <a:rPr lang="en-US" sz="1200"/>
              <a:t>Case discussion	______ min</a:t>
            </a:r>
          </a:p>
        </p:txBody>
      </p:sp>
      <p:sp>
        <p:nvSpPr>
          <p:cNvPr id="63" name="Rounded Rectangle 62"/>
          <p:cNvSpPr/>
          <p:nvPr/>
        </p:nvSpPr>
        <p:spPr>
          <a:xfrm>
            <a:off x="152400" y="5486400"/>
            <a:ext cx="60198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Behavioral (optional)</a:t>
            </a:r>
          </a:p>
        </p:txBody>
      </p:sp>
      <p:sp>
        <p:nvSpPr>
          <p:cNvPr id="64" name="Rectangle 63"/>
          <p:cNvSpPr/>
          <p:nvPr/>
        </p:nvSpPr>
        <p:spPr>
          <a:xfrm>
            <a:off x="152400" y="5867400"/>
            <a:ext cx="6019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buFont typeface="Arial" pitchFamily="34" charset="0"/>
              <a:buChar char="•"/>
              <a:defRPr/>
            </a:pPr>
            <a:r>
              <a:rPr lang="en-US" sz="1100" dirty="0">
                <a:solidFill>
                  <a:schemeClr val="tx1"/>
                </a:solidFill>
              </a:rPr>
              <a:t>Quality of star stories	1  2  3  4  5	            Comments: </a:t>
            </a:r>
          </a:p>
          <a:p>
            <a:pPr>
              <a:buFont typeface="Arial" pitchFamily="34" charset="0"/>
              <a:buChar char="•"/>
              <a:defRPr/>
            </a:pPr>
            <a:r>
              <a:rPr lang="en-US" sz="1100" dirty="0">
                <a:solidFill>
                  <a:schemeClr val="tx1"/>
                </a:solidFill>
              </a:rPr>
              <a:t>Length		1  2  3  4  5</a:t>
            </a:r>
            <a:endParaRPr lang="en-US" sz="1100" dirty="0"/>
          </a:p>
          <a:p>
            <a:pPr>
              <a:buFont typeface="Arial" pitchFamily="34" charset="0"/>
              <a:buChar char="•"/>
              <a:defRPr/>
            </a:pPr>
            <a:r>
              <a:rPr lang="en-US" sz="1100" dirty="0">
                <a:solidFill>
                  <a:schemeClr val="tx1"/>
                </a:solidFill>
              </a:rPr>
              <a:t>Clarity		1  2  3  4  5</a:t>
            </a:r>
          </a:p>
          <a:p>
            <a:pPr>
              <a:buFont typeface="Arial" pitchFamily="34" charset="0"/>
              <a:buChar char="•"/>
              <a:defRPr/>
            </a:pPr>
            <a:r>
              <a:rPr lang="en-US" sz="1100" dirty="0">
                <a:solidFill>
                  <a:schemeClr val="tx1"/>
                </a:solidFill>
              </a:rPr>
              <a:t>Relevance 		1  2  3  4  5</a:t>
            </a:r>
          </a:p>
          <a:p>
            <a:pPr>
              <a:buFont typeface="Arial" pitchFamily="34" charset="0"/>
              <a:buChar char="•"/>
              <a:defRPr/>
            </a:pPr>
            <a:endParaRPr lang="en-US" sz="1200" dirty="0">
              <a:solidFill>
                <a:schemeClr val="tx1"/>
              </a:solidFill>
            </a:endParaRPr>
          </a:p>
          <a:p>
            <a:pPr lvl="1">
              <a:buFont typeface="Arial" pitchFamily="34" charset="0"/>
              <a:buChar char="•"/>
              <a:defRPr/>
            </a:pPr>
            <a:endParaRPr lang="en-US" sz="1400" dirty="0">
              <a:solidFill>
                <a:schemeClr val="tx1"/>
              </a:solidFill>
            </a:endParaRPr>
          </a:p>
          <a:p>
            <a:pPr>
              <a:defRPr/>
            </a:pPr>
            <a:endParaRPr lang="en-US" sz="1400" dirty="0">
              <a:solidFill>
                <a:schemeClr val="tx1"/>
              </a:solidFill>
            </a:endParaRPr>
          </a:p>
          <a:p>
            <a:pPr algn="ctr">
              <a:defRPr/>
            </a:pPr>
            <a:endParaRPr lang="en-US" sz="1400" dirty="0">
              <a:solidFill>
                <a:schemeClr val="tx1"/>
              </a:solidFill>
            </a:endParaRPr>
          </a:p>
        </p:txBody>
      </p:sp>
      <p:sp>
        <p:nvSpPr>
          <p:cNvPr id="65" name="Rounded Rectangle 64"/>
          <p:cNvSpPr/>
          <p:nvPr/>
        </p:nvSpPr>
        <p:spPr>
          <a:xfrm>
            <a:off x="6324600" y="2590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Strengths </a:t>
            </a:r>
          </a:p>
        </p:txBody>
      </p:sp>
      <p:sp>
        <p:nvSpPr>
          <p:cNvPr id="67" name="Rectangle 66"/>
          <p:cNvSpPr/>
          <p:nvPr/>
        </p:nvSpPr>
        <p:spPr>
          <a:xfrm>
            <a:off x="6324600" y="2971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ounded Rectangle 67"/>
          <p:cNvSpPr/>
          <p:nvPr/>
        </p:nvSpPr>
        <p:spPr>
          <a:xfrm>
            <a:off x="6324600" y="4495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accent4"/>
                </a:solidFill>
              </a:rPr>
              <a:t>Weaknesses</a:t>
            </a:r>
          </a:p>
        </p:txBody>
      </p:sp>
      <p:sp>
        <p:nvSpPr>
          <p:cNvPr id="69" name="Rectangle 68"/>
          <p:cNvSpPr/>
          <p:nvPr/>
        </p:nvSpPr>
        <p:spPr>
          <a:xfrm>
            <a:off x="6324600" y="4876800"/>
            <a:ext cx="2667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Rounded Rectangle 69"/>
          <p:cNvSpPr/>
          <p:nvPr/>
        </p:nvSpPr>
        <p:spPr>
          <a:xfrm>
            <a:off x="6324600" y="2209800"/>
            <a:ext cx="2705100" cy="304800"/>
          </a:xfrm>
          <a:prstGeom prst="roundRect">
            <a:avLst/>
          </a:prstGeom>
          <a:noFill/>
          <a:ln>
            <a:solidFill>
              <a:srgbClr val="113C9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dirty="0">
                <a:solidFill>
                  <a:schemeClr val="accent4"/>
                </a:solidFill>
              </a:rPr>
              <a:t>Overall Rating:  1  2  3  4  5</a:t>
            </a:r>
          </a:p>
        </p:txBody>
      </p:sp>
      <p:sp>
        <p:nvSpPr>
          <p:cNvPr id="35865" name="TextBox 70"/>
          <p:cNvSpPr txBox="1">
            <a:spLocks noChangeArrowheads="1"/>
          </p:cNvSpPr>
          <p:nvPr/>
        </p:nvSpPr>
        <p:spPr bwMode="auto">
          <a:xfrm>
            <a:off x="5715000" y="6305550"/>
            <a:ext cx="2819400" cy="400050"/>
          </a:xfrm>
          <a:prstGeom prst="rect">
            <a:avLst/>
          </a:prstGeom>
          <a:noFill/>
          <a:ln w="9525">
            <a:noFill/>
            <a:miter lim="800000"/>
            <a:headEnd/>
            <a:tailEnd/>
          </a:ln>
        </p:spPr>
        <p:txBody>
          <a:bodyPr>
            <a:spAutoFit/>
          </a:bodyPr>
          <a:lstStyle/>
          <a:p>
            <a:r>
              <a:rPr lang="en-US" sz="1000" b="1" u="sng" dirty="0"/>
              <a:t>Key</a:t>
            </a:r>
            <a:r>
              <a:rPr lang="en-US" sz="1000" dirty="0"/>
              <a:t>: 1=Bottom 10%, 2= 10</a:t>
            </a:r>
            <a:r>
              <a:rPr lang="en-US" sz="1000" baseline="30000" dirty="0"/>
              <a:t>th</a:t>
            </a:r>
            <a:r>
              <a:rPr lang="en-US" sz="1000" dirty="0"/>
              <a:t>-25</a:t>
            </a:r>
            <a:r>
              <a:rPr lang="en-US" sz="1000" baseline="30000" dirty="0"/>
              <a:t>th</a:t>
            </a:r>
            <a:r>
              <a:rPr lang="en-US" sz="1000" dirty="0"/>
              <a:t> percentile, 3= middle 50%, 4= 75</a:t>
            </a:r>
            <a:r>
              <a:rPr lang="en-US" sz="1000" baseline="30000" dirty="0"/>
              <a:t>th</a:t>
            </a:r>
            <a:r>
              <a:rPr lang="en-US" sz="1000" dirty="0"/>
              <a:t>-90</a:t>
            </a:r>
            <a:r>
              <a:rPr lang="en-US" sz="1000" baseline="30000" dirty="0"/>
              <a:t>th</a:t>
            </a:r>
            <a:r>
              <a:rPr lang="en-US" sz="1000" dirty="0"/>
              <a:t> percentile, 5=Top 10%</a:t>
            </a:r>
          </a:p>
        </p:txBody>
      </p:sp>
      <p:pic>
        <p:nvPicPr>
          <p:cNvPr id="35866" name="Picture 2"/>
          <p:cNvPicPr>
            <a:picLocks noChangeAspect="1" noChangeArrowheads="1"/>
          </p:cNvPicPr>
          <p:nvPr/>
        </p:nvPicPr>
        <p:blipFill>
          <a:blip r:embed="rId2"/>
          <a:srcRect/>
          <a:stretch>
            <a:fillRect/>
          </a:stretch>
        </p:blipFill>
        <p:spPr bwMode="auto">
          <a:xfrm>
            <a:off x="279400" y="76200"/>
            <a:ext cx="863600" cy="457200"/>
          </a:xfrm>
          <a:prstGeom prst="rect">
            <a:avLst/>
          </a:prstGeom>
          <a:noFill/>
          <a:ln w="9525" algn="ctr">
            <a:noFill/>
            <a:miter lim="800000"/>
            <a:headEnd/>
            <a:tailEnd/>
          </a:ln>
        </p:spPr>
      </p:pic>
      <p:sp>
        <p:nvSpPr>
          <p:cNvPr id="27" name="Slide Number Placeholder 26"/>
          <p:cNvSpPr>
            <a:spLocks noGrp="1"/>
          </p:cNvSpPr>
          <p:nvPr>
            <p:ph type="sldNum" sz="quarter" idx="10"/>
          </p:nvPr>
        </p:nvSpPr>
        <p:spPr/>
        <p:txBody>
          <a:bodyPr/>
          <a:lstStyle/>
          <a:p>
            <a:pPr>
              <a:defRPr/>
            </a:pPr>
            <a:fld id="{2C3620DA-591A-47C1-BA9B-670AF3E2C382}" type="slidenum">
              <a:rPr lang="en-US" smtClean="0"/>
              <a:pPr>
                <a:defRPr/>
              </a:pPr>
              <a:t>175</a:t>
            </a:fld>
            <a:endParaRPr lang="en-US" dirty="0"/>
          </a:p>
        </p:txBody>
      </p:sp>
    </p:spTree>
    <p:extLst>
      <p:ext uri="{BB962C8B-B14F-4D97-AF65-F5344CB8AC3E}">
        <p14:creationId xmlns:p14="http://schemas.microsoft.com/office/powerpoint/2010/main" val="421191255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ABLESTYLEIDTAG" val="{16D9F66E-5EB9-4882-86FB-DCBF35E3C3E4}"/>
</p:tagLst>
</file>

<file path=ppt/tags/tag2.xml><?xml version="1.0" encoding="utf-8"?>
<p:tagLst xmlns:a="http://schemas.openxmlformats.org/drawingml/2006/main" xmlns:r="http://schemas.openxmlformats.org/officeDocument/2006/relationships" xmlns:p="http://schemas.openxmlformats.org/presentationml/2006/main">
  <p:tag name="TABLESTYLEIDTAG" val="{16D9F66E-5EB9-4882-86FB-DCBF35E3C3E4}"/>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xsJNbS6NrESzjK5cKaiWh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C_B397JC0WaESWkrM_O8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WE485jPUYUWXW0IvdP0OO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1ZYWPGwhPUWhiI1Bu4c1u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F07.cU.DK0yH6Koxt1.rK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yRgrCsoOzkabISweNyGCE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FetfuBoryU21lDOjNYG2u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vn64SZfarEyJsFyDEkXDP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f0agL.fJSEy6rxkaYifWA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quBskNpAYE6TlYllib3Go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fvEPmm.PSkiWIMz7y7Iha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OLmikAs.0ySbudM.6GdZ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ygJpBS60ukSUPrPN.g0a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nzFEu36t7U.16KDOdw4AB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oAayBKDLaU.4.ernvhf4u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U.pawc7fkeRbbHRcTBFz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C9i78.Q0kewTE94p1D_s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F7IX4MJcE0iOGOAGCU88y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G8GVRBbeQUG4Kho68GjdP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pKcD7COBtUG.KQzpC.R62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Xmy57vEaukKya7Mr256qx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rH4ONq9uk6QqFJE.OnF6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u40yEIYSm0yf86VEYGy9z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I0.EgfBYZ0uECf4KgQySq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qxnEW6sj1USqsOkBL6X4S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W8LG1zICEyS8Z1_u9h4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OE69uLmEq06SLAd6OkztO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YiRTl9BUcU2hQDE43pRVU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d3hleF52qEGtG29lq3qQq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bdNuXeawKkaiO..OZV08V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kOnhedJl0ijjytpe6ZJ5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2XrzOFDtk0SuAjo2oRWUW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FMw1ctSldUGDAguOUALPw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uQD0.xgtb0WueU9FvsjAJ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4TtlkoROPUmiyP6DeqroX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yQWBxHbOPUapbiVrg8QSI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6P6hymqroUSCUlSkePeni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Sc68Q3joZEuz26z6QLp3w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r9svtEpJ8E2mOgxSpD1Sb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IuvLeDWRVES6B4F0Qzm0i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WXA.YtrCa0..LCQFkJcY9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uyYvYsOUlUy6FET.uDDII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UWMFa_bSqEqvrUdggtswi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FWKLpEosskO0u0zt1aaNy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wEgtFyCSb06ULXZV1WW7n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kM6JRDWFmE.EoaO7956fV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kYToWSUJd0.YaEvNTjtj7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2p6x8CkdCkCG8ay73U30L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PvszHYZ_cEea5vUnXtfRn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TwIhttZ_t0uq0v6XpDL6B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pBRu5nhysUC4kDc3jkTlD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Rt5hRjoAkkufQ6roDdbeI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mCmNjNAPOkmWbwDmTGg1X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5i9YBgBX.EOagO.OYLuN3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H9KM6U1ekUWbizZDp7O6u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Qg64Gm4i_0KeVLiONBS0H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sdsB5NdvcE.et6O8MzGJr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lBpcV4K3tUO4mmRDg0u8U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kdu8QuL2W0yYXJjPj06WX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sQ.I7KpRZEO9INOxzzSAA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RBIhBgdNJ0iGnsxXrq.lh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59TkrDKDrkysUKa7Jw_Ns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rYPAggquDUCtsB25dJ8RA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sXmnlgwsLkWvjAmsrP.OR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gmJ22SRwRUS3pN8n4eCZ6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zcIaX5_0Ek.07ASZ_Oxpm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vTENKI9KVE.HAU5eq5pT7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aT0DWB1Ut0KF8iOvUuR2h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teBf.N3sNE6kBMg21PTWV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qRihbXZfHkKjZSSscSEYsA"/>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I0JNJtHWr0CFKrdfq6.EI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6ooE2ztWAU2FIIv9ybZIc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yFuFPxqxckyn9qJ9mB55YQ"/>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U13m9x36ZUibEjB6M28Yo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R4edOmhdhkuvJNREYnkaB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im_KenRlQECL_ppirOwrp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xnKwj7CCBUeXELp2ghiJF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TwAE6okt_0eTGaV4j9DY6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pPByqB43YkOkrkAYcSPbeg"/>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6ntW_9iXS0ejAW4QaqThFg"/>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7cdej_1XlkyI6EFy3tP6d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QI8gHlk8j0ynvkZnU59QJg"/>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2F_6L7TevEyp5iDTyEkpf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kE5tJKavrk6JG3NMzQxtq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RepxziiBFEWsCFT_VCloE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DBkocIg4akWhKmvtSuvwW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sibEk1Dsdk634f7m52IEl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4vnOMXAEj0qywwfLJcq.0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sBE7GcgacUyOpOW8QZBjE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TXMEPk.udUKWw6kQpQ7TfA"/>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H2Tm90C8JkSiO9mFm_q0J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qWbQxvE9Q0yOAZpocbqLP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zbLEZ.J6WEqXZoAj6ZuDQ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YF1zMwal70SKj5t15NM9q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9QUxVhDokk61CvSZfpsXY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w_vK62NAYEqm5.HCuigrk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qWbQxvE9Q0yOAZpocbqLPQ"/>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UwcTdqR9s0Cr3TKH1TjX9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6ntW_9iXS0ejAW4QaqThFg"/>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w_vK62NAYEqm5.HCuigrk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sVUfL.moDEqMd0URodu9t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jqJAHDx600G7gOrpsphJW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MYhiaEEbR0ad64fiv73b7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QwLbSR98dk6X99yZUvagO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DUs7npQxJUWyP2zscWd3FA"/>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B5pWh7BHXkWx66ttFassb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Eqgexo6Hf0yej_aiiY_EZ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Oqvx9f.Al0mUfZrPg0isX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kFVMovqK8Ua8gvO3RViYq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MoVUdZLAyUul8dfBDHlNj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E2D2ms7zRk.fj4vLzhtEO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IG13ZoqYLUaVJUAiNAGXG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cfCczZm1WEeLdI3cnGty5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50IiFT64wkazU9o1pvvYH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e2TzFd8Gck.bHvCz5x6XaQ"/>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3yIK3.OiHkel6gCQe0uK3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24.xml><?xml version="1.0" encoding="utf-8"?>
<p:tagLst xmlns:a="http://schemas.openxmlformats.org/drawingml/2006/main" xmlns:r="http://schemas.openxmlformats.org/officeDocument/2006/relationships" xmlns:p="http://schemas.openxmlformats.org/presentationml/2006/main">
  <p:tag name="NAME" val="Moon"/>
  <p:tag name="THINKCELLSHAPEDONOTDELETE" val="pjXm4yPt4Z0GTq8C3mv29Lw"/>
</p:tagLst>
</file>

<file path=ppt/tags/tag125.xml><?xml version="1.0" encoding="utf-8"?>
<p:tagLst xmlns:a="http://schemas.openxmlformats.org/drawingml/2006/main" xmlns:r="http://schemas.openxmlformats.org/officeDocument/2006/relationships" xmlns:p="http://schemas.openxmlformats.org/presentationml/2006/main">
  <p:tag name="NAME" val="Moon"/>
  <p:tag name="THINKCELLSHAPEDONOTDELETE" val="pjXm4yPt4Z0GTq8C3mv29Lw"/>
</p:tagLst>
</file>

<file path=ppt/tags/tag126.xml><?xml version="1.0" encoding="utf-8"?>
<p:tagLst xmlns:a="http://schemas.openxmlformats.org/drawingml/2006/main" xmlns:r="http://schemas.openxmlformats.org/officeDocument/2006/relationships" xmlns:p="http://schemas.openxmlformats.org/presentationml/2006/main">
  <p:tag name="NAME" val="Moon"/>
  <p:tag name="THINKCELLSHAPEDONOTDELETE" val="pjXm4yPt4Z0GTq8C3mv29Lw"/>
</p:tagLst>
</file>

<file path=ppt/tags/tag127.xml><?xml version="1.0" encoding="utf-8"?>
<p:tagLst xmlns:a="http://schemas.openxmlformats.org/drawingml/2006/main" xmlns:r="http://schemas.openxmlformats.org/officeDocument/2006/relationships" xmlns:p="http://schemas.openxmlformats.org/presentationml/2006/main">
  <p:tag name="NAME" val="Moon"/>
  <p:tag name="THINKCELLSHAPEDONOTDELETE" val="piCAcqe8ZpEmBgvZbDWNbgg"/>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NAME" val="Moon"/>
  <p:tag name="THINKCELLSHAPEDONOTDELETE" val="pxOSZrzIhWk6lDPZIG0ntXw"/>
</p:tagLst>
</file>

<file path=ppt/tags/tag130.xml><?xml version="1.0" encoding="utf-8"?>
<p:tagLst xmlns:a="http://schemas.openxmlformats.org/drawingml/2006/main" xmlns:r="http://schemas.openxmlformats.org/officeDocument/2006/relationships" xmlns:p="http://schemas.openxmlformats.org/presentationml/2006/main">
  <p:tag name="NAME" val="Moon"/>
  <p:tag name="THINKCELLSHAPEDONOTDELETE" val="pjXm4yPt4Z0GTq8C3mv29Lw"/>
</p:tagLst>
</file>

<file path=ppt/tags/tag131.xml><?xml version="1.0" encoding="utf-8"?>
<p:tagLst xmlns:a="http://schemas.openxmlformats.org/drawingml/2006/main" xmlns:r="http://schemas.openxmlformats.org/officeDocument/2006/relationships" xmlns:p="http://schemas.openxmlformats.org/presentationml/2006/main">
  <p:tag name="NAME" val="Moon"/>
</p:tagLst>
</file>

<file path=ppt/tags/tag132.xml><?xml version="1.0" encoding="utf-8"?>
<p:tagLst xmlns:a="http://schemas.openxmlformats.org/drawingml/2006/main" xmlns:r="http://schemas.openxmlformats.org/officeDocument/2006/relationships" xmlns:p="http://schemas.openxmlformats.org/presentationml/2006/main">
  <p:tag name="NAME" val="Moon"/>
</p:tagLst>
</file>

<file path=ppt/tags/tag133.xml><?xml version="1.0" encoding="utf-8"?>
<p:tagLst xmlns:a="http://schemas.openxmlformats.org/drawingml/2006/main" xmlns:r="http://schemas.openxmlformats.org/officeDocument/2006/relationships" xmlns:p="http://schemas.openxmlformats.org/presentationml/2006/main">
  <p:tag name="NAME" val="Moon"/>
  <p:tag name="THINKCELLSHAPEDONOTDELETE" val="pxOSZrzIhWk6lDPZIG0ntXw"/>
</p:tagLst>
</file>

<file path=ppt/tags/tag134.xml><?xml version="1.0" encoding="utf-8"?>
<p:tagLst xmlns:a="http://schemas.openxmlformats.org/drawingml/2006/main" xmlns:r="http://schemas.openxmlformats.org/officeDocument/2006/relationships" xmlns:p="http://schemas.openxmlformats.org/presentationml/2006/main">
  <p:tag name="NAME" val="Moon"/>
  <p:tag name="THINKCELLSHAPEDONOTDELETE" val="piCAcqe8ZpEmBgvZbDWNbgg"/>
</p:tagLst>
</file>

<file path=ppt/tags/tag135.xml><?xml version="1.0" encoding="utf-8"?>
<p:tagLst xmlns:a="http://schemas.openxmlformats.org/drawingml/2006/main" xmlns:r="http://schemas.openxmlformats.org/officeDocument/2006/relationships" xmlns:p="http://schemas.openxmlformats.org/presentationml/2006/main">
  <p:tag name="NAME" val="Moon"/>
</p:tagLst>
</file>

<file path=ppt/tags/tag136.xml><?xml version="1.0" encoding="utf-8"?>
<p:tagLst xmlns:a="http://schemas.openxmlformats.org/drawingml/2006/main" xmlns:r="http://schemas.openxmlformats.org/officeDocument/2006/relationships" xmlns:p="http://schemas.openxmlformats.org/presentationml/2006/main">
  <p:tag name="NAME" val="Moon"/>
  <p:tag name="THINKCELLSHAPEDONOTDELETE" val="pjXm4yPt4Z0GTq8C3mv29Lw"/>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MoVUdZLAyUul8dfBDHlNjA"/>
</p:tagLst>
</file>

<file path=ppt/tags/tag138.xml><?xml version="1.0" encoding="utf-8"?>
<p:tagLst xmlns:a="http://schemas.openxmlformats.org/drawingml/2006/main" xmlns:r="http://schemas.openxmlformats.org/officeDocument/2006/relationships" xmlns:p="http://schemas.openxmlformats.org/presentationml/2006/main">
  <p:tag name="NAME" val="MoonShape"/>
</p:tagLst>
</file>

<file path=ppt/tags/tag139.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140.xml><?xml version="1.0" encoding="utf-8"?>
<p:tagLst xmlns:a="http://schemas.openxmlformats.org/drawingml/2006/main" xmlns:r="http://schemas.openxmlformats.org/officeDocument/2006/relationships" xmlns:p="http://schemas.openxmlformats.org/presentationml/2006/main">
  <p:tag name="NAME" val="MoonShape"/>
</p:tagLst>
</file>

<file path=ppt/tags/tag141.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142.xml><?xml version="1.0" encoding="utf-8"?>
<p:tagLst xmlns:a="http://schemas.openxmlformats.org/drawingml/2006/main" xmlns:r="http://schemas.openxmlformats.org/officeDocument/2006/relationships" xmlns:p="http://schemas.openxmlformats.org/presentationml/2006/main">
  <p:tag name="NAME" val="MoonShape"/>
</p:tagLst>
</file>

<file path=ppt/tags/tag143.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144.xml><?xml version="1.0" encoding="utf-8"?>
<p:tagLst xmlns:a="http://schemas.openxmlformats.org/drawingml/2006/main" xmlns:r="http://schemas.openxmlformats.org/officeDocument/2006/relationships" xmlns:p="http://schemas.openxmlformats.org/presentationml/2006/main">
  <p:tag name="NAME" val="MoonShape"/>
</p:tagLst>
</file>

<file path=ppt/tags/tag145.xml><?xml version="1.0" encoding="utf-8"?>
<p:tagLst xmlns:a="http://schemas.openxmlformats.org/drawingml/2006/main" xmlns:r="http://schemas.openxmlformats.org/officeDocument/2006/relationships" xmlns:p="http://schemas.openxmlformats.org/presentationml/2006/main">
  <p:tag name="NAME" val="MoonHalfShape"/>
  <p:tag name="ANGLE" val="3"/>
</p:tagLst>
</file>

<file path=ppt/tags/tag146.xml><?xml version="1.0" encoding="utf-8"?>
<p:tagLst xmlns:a="http://schemas.openxmlformats.org/drawingml/2006/main" xmlns:r="http://schemas.openxmlformats.org/officeDocument/2006/relationships" xmlns:p="http://schemas.openxmlformats.org/presentationml/2006/main">
  <p:tag name="NAME" val="MoonShape"/>
</p:tagLst>
</file>

<file path=ppt/tags/tag147.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48.xml><?xml version="1.0" encoding="utf-8"?>
<p:tagLst xmlns:a="http://schemas.openxmlformats.org/drawingml/2006/main" xmlns:r="http://schemas.openxmlformats.org/officeDocument/2006/relationships" xmlns:p="http://schemas.openxmlformats.org/presentationml/2006/main">
  <p:tag name="NAME" val="MoonShape"/>
</p:tagLst>
</file>

<file path=ppt/tags/tag14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50.xml><?xml version="1.0" encoding="utf-8"?>
<p:tagLst xmlns:a="http://schemas.openxmlformats.org/drawingml/2006/main" xmlns:r="http://schemas.openxmlformats.org/officeDocument/2006/relationships" xmlns:p="http://schemas.openxmlformats.org/presentationml/2006/main">
  <p:tag name="NAME" val="MoonShape"/>
</p:tagLst>
</file>

<file path=ppt/tags/tag151.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152.xml><?xml version="1.0" encoding="utf-8"?>
<p:tagLst xmlns:a="http://schemas.openxmlformats.org/drawingml/2006/main" xmlns:r="http://schemas.openxmlformats.org/officeDocument/2006/relationships" xmlns:p="http://schemas.openxmlformats.org/presentationml/2006/main">
  <p:tag name="NAME" val="MoonShape"/>
</p:tagLst>
</file>

<file path=ppt/tags/tag153.xml><?xml version="1.0" encoding="utf-8"?>
<p:tagLst xmlns:a="http://schemas.openxmlformats.org/drawingml/2006/main" xmlns:r="http://schemas.openxmlformats.org/officeDocument/2006/relationships" xmlns:p="http://schemas.openxmlformats.org/presentationml/2006/main">
  <p:tag name="NAME" val="MoonHalfShape"/>
  <p:tag name="ANGLE" val="3"/>
</p:tagLst>
</file>

<file path=ppt/tags/tag154.xml><?xml version="1.0" encoding="utf-8"?>
<p:tagLst xmlns:a="http://schemas.openxmlformats.org/drawingml/2006/main" xmlns:r="http://schemas.openxmlformats.org/officeDocument/2006/relationships" xmlns:p="http://schemas.openxmlformats.org/presentationml/2006/main">
  <p:tag name="NAME" val="MoonShape"/>
</p:tagLst>
</file>

<file path=ppt/tags/tag15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56.xml><?xml version="1.0" encoding="utf-8"?>
<p:tagLst xmlns:a="http://schemas.openxmlformats.org/drawingml/2006/main" xmlns:r="http://schemas.openxmlformats.org/officeDocument/2006/relationships" xmlns:p="http://schemas.openxmlformats.org/presentationml/2006/main">
  <p:tag name="NAME" val="MoonShape"/>
</p:tagLst>
</file>

<file path=ppt/tags/tag157.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158.xml><?xml version="1.0" encoding="utf-8"?>
<p:tagLst xmlns:a="http://schemas.openxmlformats.org/drawingml/2006/main" xmlns:r="http://schemas.openxmlformats.org/officeDocument/2006/relationships" xmlns:p="http://schemas.openxmlformats.org/presentationml/2006/main">
  <p:tag name="NAME" val="MoonShape"/>
</p:tagLst>
</file>

<file path=ppt/tags/tag159.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160.xml><?xml version="1.0" encoding="utf-8"?>
<p:tagLst xmlns:a="http://schemas.openxmlformats.org/drawingml/2006/main" xmlns:r="http://schemas.openxmlformats.org/officeDocument/2006/relationships" xmlns:p="http://schemas.openxmlformats.org/presentationml/2006/main">
  <p:tag name="NAME" val="MoonShape"/>
</p:tagLst>
</file>

<file path=ppt/tags/tag161.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162.xml><?xml version="1.0" encoding="utf-8"?>
<p:tagLst xmlns:a="http://schemas.openxmlformats.org/drawingml/2006/main" xmlns:r="http://schemas.openxmlformats.org/officeDocument/2006/relationships" xmlns:p="http://schemas.openxmlformats.org/presentationml/2006/main">
  <p:tag name="NAME" val="MoonShape"/>
</p:tagLst>
</file>

<file path=ppt/tags/tag163.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pUwcTdqR9s0Cr3TKH1TjX9Q"/>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p6ntW_9iXS0ejAW4QaqThFg"/>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pw_vK62NAYEqm5.HCuigrkw"/>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psVUfL.moDEqMd0URodu9tg"/>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pjqJAHDx600G7gOrpsphJWw"/>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pMYhiaEEbR0ad64fiv73b7w"/>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pQwLbSR98dk6X99yZUvagOw"/>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pDUs7npQxJUWyP2zscWd3FA"/>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pB5pWh7BHXkWx66ttFassbw"/>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pEqgexo6Hf0yej_aiiY_EZ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pOqvx9f.Al0mUfZrPg0isXQ"/>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pkFVMovqK8Ua8gvO3RViYqA"/>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pMoVUdZLAyUul8dfBDHlNjA"/>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pE2D2ms7zRk.fj4vLzhtEO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pIG13ZoqYLUaVJUAiNAGXG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pcfCczZm1WEeLdI3cnGty5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p50IiFT64wkazU9o1pvvYHA"/>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pe2TzFd8Gck.bHvCz5x6Xa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p3yIK3.OiHkel6gCQe0uK3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pAjS.42CrJkq9AiSEoqgTqA"/>
</p:tagLst>
</file>

<file path=ppt/tags/tag188.xml><?xml version="1.0" encoding="utf-8"?>
<p:tagLst xmlns:a="http://schemas.openxmlformats.org/drawingml/2006/main" xmlns:r="http://schemas.openxmlformats.org/officeDocument/2006/relationships" xmlns:p="http://schemas.openxmlformats.org/presentationml/2006/main">
  <p:tag name="NAME" val="Moon"/>
  <p:tag name="THINKCELLSHAPEDONOTDELETE" val="pjXm4yPt4Z0GTq8C3mv29Lw"/>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pMoVUdZLAyUul8dfBDHlNjA"/>
</p:tagLst>
</file>

<file path=ppt/tags/tag190.xml><?xml version="1.0" encoding="utf-8"?>
<p:tagLst xmlns:a="http://schemas.openxmlformats.org/drawingml/2006/main" xmlns:r="http://schemas.openxmlformats.org/officeDocument/2006/relationships" xmlns:p="http://schemas.openxmlformats.org/presentationml/2006/main">
  <p:tag name="NAME" val="Moon"/>
</p:tagLst>
</file>

<file path=ppt/tags/tag191.xml><?xml version="1.0" encoding="utf-8"?>
<p:tagLst xmlns:a="http://schemas.openxmlformats.org/drawingml/2006/main" xmlns:r="http://schemas.openxmlformats.org/officeDocument/2006/relationships" xmlns:p="http://schemas.openxmlformats.org/presentationml/2006/main">
  <p:tag name="NAME" val="Moon"/>
  <p:tag name="THINKCELLSHAPEDONOTDELETE" val="pqJTU1CRAc0uHBF.XG6gaoQ"/>
</p:tagLst>
</file>

<file path=ppt/tags/tag192.xml><?xml version="1.0" encoding="utf-8"?>
<p:tagLst xmlns:a="http://schemas.openxmlformats.org/drawingml/2006/main" xmlns:r="http://schemas.openxmlformats.org/officeDocument/2006/relationships" xmlns:p="http://schemas.openxmlformats.org/presentationml/2006/main">
  <p:tag name="NAME" val="Moon"/>
</p:tagLst>
</file>

<file path=ppt/tags/tag193.xml><?xml version="1.0" encoding="utf-8"?>
<p:tagLst xmlns:a="http://schemas.openxmlformats.org/drawingml/2006/main" xmlns:r="http://schemas.openxmlformats.org/officeDocument/2006/relationships" xmlns:p="http://schemas.openxmlformats.org/presentationml/2006/main">
  <p:tag name="NAME" val="Moon"/>
  <p:tag name="THINKCELLSHAPEDONOTDELETE" val="pjXm4yPt4Z0GTq8C3mv29Lw"/>
</p:tagLst>
</file>

<file path=ppt/tags/tag194.xml><?xml version="1.0" encoding="utf-8"?>
<p:tagLst xmlns:a="http://schemas.openxmlformats.org/drawingml/2006/main" xmlns:r="http://schemas.openxmlformats.org/officeDocument/2006/relationships" xmlns:p="http://schemas.openxmlformats.org/presentationml/2006/main">
  <p:tag name="NAME" val="Moon"/>
</p:tagLst>
</file>

<file path=ppt/tags/tag195.xml><?xml version="1.0" encoding="utf-8"?>
<p:tagLst xmlns:a="http://schemas.openxmlformats.org/drawingml/2006/main" xmlns:r="http://schemas.openxmlformats.org/officeDocument/2006/relationships" xmlns:p="http://schemas.openxmlformats.org/presentationml/2006/main">
  <p:tag name="NAME" val="Moon"/>
  <p:tag name="THINKCELLSHAPEDONOTDELETE" val="pxOSZrzIhWk6lDPZIG0ntXw"/>
</p:tagLst>
</file>

<file path=ppt/tags/tag196.xml><?xml version="1.0" encoding="utf-8"?>
<p:tagLst xmlns:a="http://schemas.openxmlformats.org/drawingml/2006/main" xmlns:r="http://schemas.openxmlformats.org/officeDocument/2006/relationships" xmlns:p="http://schemas.openxmlformats.org/presentationml/2006/main">
  <p:tag name="NAME" val="Moon"/>
  <p:tag name="THINKCELLSHAPEDONOTDELETE" val="pGEedxGc8xUOo.92I3qS0Rg"/>
</p:tagLst>
</file>

<file path=ppt/tags/tag197.xml><?xml version="1.0" encoding="utf-8"?>
<p:tagLst xmlns:a="http://schemas.openxmlformats.org/drawingml/2006/main" xmlns:r="http://schemas.openxmlformats.org/officeDocument/2006/relationships" xmlns:p="http://schemas.openxmlformats.org/presentationml/2006/main">
  <p:tag name="NAME" val="Moon"/>
  <p:tag name="THINKCELLSHAPEDONOTDELETE" val="piCAcqe8ZpEmBgvZbDWNbg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pcG4w9hzEBkKLbOQBctbxc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p.T1K1EPhOkK6x2Eq6nxMGA"/>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p1GVrDZyEL0CQN8U1a4oSVQ"/>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ptqfRJLbz1k2TnYFJH7uEWw"/>
</p:tagLst>
</file>

<file path=ppt/tags/tag202.xml><?xml version="1.0" encoding="utf-8"?>
<p:tagLst xmlns:a="http://schemas.openxmlformats.org/drawingml/2006/main" xmlns:r="http://schemas.openxmlformats.org/officeDocument/2006/relationships" xmlns:p="http://schemas.openxmlformats.org/presentationml/2006/main">
  <p:tag name="NAME" val="MoonShape"/>
</p:tagLst>
</file>

<file path=ppt/tags/tag203.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204.xml><?xml version="1.0" encoding="utf-8"?>
<p:tagLst xmlns:a="http://schemas.openxmlformats.org/drawingml/2006/main" xmlns:r="http://schemas.openxmlformats.org/officeDocument/2006/relationships" xmlns:p="http://schemas.openxmlformats.org/presentationml/2006/main">
  <p:tag name="NAME" val="MoonShape"/>
</p:tagLst>
</file>

<file path=ppt/tags/tag20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06.xml><?xml version="1.0" encoding="utf-8"?>
<p:tagLst xmlns:a="http://schemas.openxmlformats.org/drawingml/2006/main" xmlns:r="http://schemas.openxmlformats.org/officeDocument/2006/relationships" xmlns:p="http://schemas.openxmlformats.org/presentationml/2006/main">
  <p:tag name="NAME" val="MoonShape"/>
</p:tagLst>
</file>

<file path=ppt/tags/tag207.xml><?xml version="1.0" encoding="utf-8"?>
<p:tagLst xmlns:a="http://schemas.openxmlformats.org/drawingml/2006/main" xmlns:r="http://schemas.openxmlformats.org/officeDocument/2006/relationships" xmlns:p="http://schemas.openxmlformats.org/presentationml/2006/main">
  <p:tag name="NAME" val="MoonHalfShape"/>
  <p:tag name="ANGLE" val="3"/>
</p:tagLst>
</file>

<file path=ppt/tags/tag208.xml><?xml version="1.0" encoding="utf-8"?>
<p:tagLst xmlns:a="http://schemas.openxmlformats.org/drawingml/2006/main" xmlns:r="http://schemas.openxmlformats.org/officeDocument/2006/relationships" xmlns:p="http://schemas.openxmlformats.org/presentationml/2006/main">
  <p:tag name="NAME" val="MoonShape"/>
</p:tagLst>
</file>

<file path=ppt/tags/tag209.xml><?xml version="1.0" encoding="utf-8"?>
<p:tagLst xmlns:a="http://schemas.openxmlformats.org/drawingml/2006/main" xmlns:r="http://schemas.openxmlformats.org/officeDocument/2006/relationships" xmlns:p="http://schemas.openxmlformats.org/presentationml/2006/main">
  <p:tag name="NAME" val="MoonHalfShape"/>
  <p:tag name="ANGLE" val="3"/>
</p:tagLst>
</file>

<file path=ppt/tags/tag210.xml><?xml version="1.0" encoding="utf-8"?>
<p:tagLst xmlns:a="http://schemas.openxmlformats.org/drawingml/2006/main" xmlns:r="http://schemas.openxmlformats.org/officeDocument/2006/relationships" xmlns:p="http://schemas.openxmlformats.org/presentationml/2006/main">
  <p:tag name="NAME" val="MoonShape"/>
</p:tagLst>
</file>

<file path=ppt/tags/tag211.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212.xml><?xml version="1.0" encoding="utf-8"?>
<p:tagLst xmlns:a="http://schemas.openxmlformats.org/drawingml/2006/main" xmlns:r="http://schemas.openxmlformats.org/officeDocument/2006/relationships" xmlns:p="http://schemas.openxmlformats.org/presentationml/2006/main">
  <p:tag name="NAME" val="MoonShape"/>
</p:tagLst>
</file>

<file path=ppt/tags/tag213.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214.xml><?xml version="1.0" encoding="utf-8"?>
<p:tagLst xmlns:a="http://schemas.openxmlformats.org/drawingml/2006/main" xmlns:r="http://schemas.openxmlformats.org/officeDocument/2006/relationships" xmlns:p="http://schemas.openxmlformats.org/presentationml/2006/main">
  <p:tag name="NAME" val="MoonShape"/>
</p:tagLst>
</file>

<file path=ppt/tags/tag215.xml><?xml version="1.0" encoding="utf-8"?>
<p:tagLst xmlns:a="http://schemas.openxmlformats.org/drawingml/2006/main" xmlns:r="http://schemas.openxmlformats.org/officeDocument/2006/relationships" xmlns:p="http://schemas.openxmlformats.org/presentationml/2006/main">
  <p:tag name="NAME" val="MoonHalfShape"/>
  <p:tag name="ANGLE" val="3"/>
</p:tagLst>
</file>

<file path=ppt/tags/tag216.xml><?xml version="1.0" encoding="utf-8"?>
<p:tagLst xmlns:a="http://schemas.openxmlformats.org/drawingml/2006/main" xmlns:r="http://schemas.openxmlformats.org/officeDocument/2006/relationships" xmlns:p="http://schemas.openxmlformats.org/presentationml/2006/main">
  <p:tag name="NAME" val="MoonShape"/>
</p:tagLst>
</file>

<file path=ppt/tags/tag217.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18.xml><?xml version="1.0" encoding="utf-8"?>
<p:tagLst xmlns:a="http://schemas.openxmlformats.org/drawingml/2006/main" xmlns:r="http://schemas.openxmlformats.org/officeDocument/2006/relationships" xmlns:p="http://schemas.openxmlformats.org/presentationml/2006/main">
  <p:tag name="NAME" val="MoonShape"/>
</p:tagLst>
</file>

<file path=ppt/tags/tag219.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heme/theme1.xml><?xml version="1.0" encoding="utf-8"?>
<a:theme xmlns:a="http://schemas.openxmlformats.org/drawingml/2006/main" name="Duke MBA - Rethinking Boundaries">
  <a:themeElements>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fontScheme name="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new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ew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ew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ew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ew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ew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ew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ew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ew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ew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ew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ew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uke MBA - Rethinking Boundari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uke MBA - Rethinking Boundari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uke MBA - Rethinking Boundari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uke MBA - Rethinking Boundari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uke MBA - Rethinking Boundari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uke MBA - Rethinking Boundari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uke MBA - Rethinking Boundari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uke MBA - Rethinking Boundari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uke MBA - Rethinking Boundari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uke MBA - Rethinking Boundari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uke MBA - Rethinking Boundari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uke MBA - Rethinking Boundari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uke MBA - Rethinking Boundaries 13">
        <a:dk1>
          <a:srgbClr val="000000"/>
        </a:dk1>
        <a:lt1>
          <a:srgbClr val="FFFFFF"/>
        </a:lt1>
        <a:dk2>
          <a:srgbClr val="000099"/>
        </a:dk2>
        <a:lt2>
          <a:srgbClr val="999999"/>
        </a:lt2>
        <a:accent1>
          <a:srgbClr val="6979B9"/>
        </a:accent1>
        <a:accent2>
          <a:srgbClr val="FFFF00"/>
        </a:accent2>
        <a:accent3>
          <a:srgbClr val="FFFFFF"/>
        </a:accent3>
        <a:accent4>
          <a:srgbClr val="000000"/>
        </a:accent4>
        <a:accent5>
          <a:srgbClr val="B9BED9"/>
        </a:accent5>
        <a:accent6>
          <a:srgbClr val="E7E700"/>
        </a:accent6>
        <a:hlink>
          <a:srgbClr val="000099"/>
        </a:hlink>
        <a:folHlink>
          <a:srgbClr val="000099"/>
        </a:folHlink>
      </a:clrScheme>
      <a:clrMap bg1="lt1" tx1="dk1" bg2="lt2" tx2="dk2" accent1="accent1" accent2="accent2" accent3="accent3" accent4="accent4" accent5="accent5" accent6="accent6" hlink="hlink" folHlink="folHlink"/>
    </a:extraClrScheme>
    <a:extraClrScheme>
      <a:clrScheme name="Duke MBA - Rethinking Boundaries 14">
        <a:dk1>
          <a:srgbClr val="000000"/>
        </a:dk1>
        <a:lt1>
          <a:srgbClr val="FFFFFF"/>
        </a:lt1>
        <a:dk2>
          <a:srgbClr val="000099"/>
        </a:dk2>
        <a:lt2>
          <a:srgbClr val="666666"/>
        </a:lt2>
        <a:accent1>
          <a:srgbClr val="CCCCCC"/>
        </a:accent1>
        <a:accent2>
          <a:srgbClr val="FFFF00"/>
        </a:accent2>
        <a:accent3>
          <a:srgbClr val="FFFFFF"/>
        </a:accent3>
        <a:accent4>
          <a:srgbClr val="000000"/>
        </a:accent4>
        <a:accent5>
          <a:srgbClr val="E2E2E2"/>
        </a:accent5>
        <a:accent6>
          <a:srgbClr val="E7E700"/>
        </a:accent6>
        <a:hlink>
          <a:srgbClr val="3A4AA0"/>
        </a:hlink>
        <a:folHlink>
          <a:srgbClr val="929BC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Duke MBA - Rethinking Boundaries</Template>
  <TotalTime>0</TotalTime>
  <Words>27224</Words>
  <Application>Microsoft Office PowerPoint</Application>
  <PresentationFormat>Letter Paper (8.5x11 in)</PresentationFormat>
  <Paragraphs>5030</Paragraphs>
  <Slides>175</Slides>
  <Notes>4</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175</vt:i4>
      </vt:variant>
    </vt:vector>
  </HeadingPairs>
  <TitlesOfParts>
    <vt:vector size="178" baseType="lpstr">
      <vt:lpstr>Duke MBA - Rethinking Boundaries</vt:lpstr>
      <vt:lpstr>Document</vt:lpstr>
      <vt:lpstr>Worksheet</vt:lpstr>
      <vt:lpstr>DMCC 2012-2013 Casebook</vt:lpstr>
      <vt:lpstr>DMCC 2012-2013 Sponsors</vt:lpstr>
      <vt:lpstr>Editor’s Note</vt:lpstr>
      <vt:lpstr>Case material table of contents</vt:lpstr>
      <vt:lpstr>Industry Overviews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Market Sizing</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Case Interview feedback form Case _______________________  Case type ______________ Interviewer ____________________</vt:lpstr>
      <vt:lpstr>Valuation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Case Interview feedback form Case _______________________  Case type ______________ Interviewer ____________________</vt:lpstr>
      <vt:lpstr>Profitability</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Market Entry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Strategy</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PowerPoint Presentation</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lpstr>Operations</vt:lpstr>
      <vt:lpstr>PowerPoint Presentation</vt:lpstr>
      <vt:lpstr>PowerPoint Presentation</vt:lpstr>
      <vt:lpstr>PowerPoint Presentation</vt:lpstr>
      <vt:lpstr>PowerPoint Presentation</vt:lpstr>
      <vt:lpstr>PowerPoint Presentation</vt:lpstr>
      <vt:lpstr>Case Interview feedback form Case _______________________  Case type ______________ Interviewer ____________________</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7</cp:revision>
  <cp:lastPrinted>1901-01-01T05:00:00Z</cp:lastPrinted>
  <dcterms:created xsi:type="dcterms:W3CDTF">2010-09-08T00:14:50Z</dcterms:created>
  <dcterms:modified xsi:type="dcterms:W3CDTF">2012-09-27T00:36:46Z</dcterms:modified>
</cp:coreProperties>
</file>