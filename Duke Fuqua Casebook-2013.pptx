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xlsx" ContentType="application/vnd.openxmlformats-officedocument.spreadsheetml.sheet"/>
  <Default Extension="rels" ContentType="application/vnd.openxmlformats-package.relationships+xml"/>
  <Default Extension="vml" ContentType="application/vnd.openxmlformats-officedocument.vmlDrawing"/>
  <Default Extension="gif" ContentType="image/gif"/>
  <Default Extension="xls" ContentType="application/vnd.ms-exce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4.xml" ContentType="application/vnd.openxmlformats-officedocument.drawingml.chart+xml"/>
  <Override PartName="/ppt/theme/themeOverride1.xml" ContentType="application/vnd.openxmlformats-officedocument.themeOverride+xml"/>
  <Override PartName="/ppt/charts/chart5.xml" ContentType="application/vnd.openxmlformats-officedocument.drawingml.chart+xml"/>
  <Override PartName="/ppt/theme/themeOverride2.xml" ContentType="application/vnd.openxmlformats-officedocument.themeOverride+xml"/>
  <Override PartName="/ppt/drawings/drawing1.xml" ContentType="application/vnd.openxmlformats-officedocument.drawingml.chartshapes+xml"/>
  <Override PartName="/ppt/embeddings/oleObject1.bin" ContentType="application/vnd.openxmlformats-officedocument.oleObject"/>
  <Override PartName="/ppt/notesSlides/notesSlide6.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theme/themeOverride3.xml" ContentType="application/vnd.openxmlformats-officedocument.themeOverride+xml"/>
  <Override PartName="/ppt/charts/chart8.xml" ContentType="application/vnd.openxmlformats-officedocument.drawingml.chart+xml"/>
  <Override PartName="/ppt/theme/themeOverride4.xml" ContentType="application/vnd.openxmlformats-officedocument.themeOverride+xml"/>
  <Override PartName="/ppt/charts/chart9.xml" ContentType="application/vnd.openxmlformats-officedocument.drawingml.chart+xml"/>
  <Override PartName="/ppt/theme/themeOverride5.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0.xml" ContentType="application/vnd.openxmlformats-officedocument.drawingml.chart+xml"/>
  <Override PartName="/ppt/theme/themeOverride6.xml" ContentType="application/vnd.openxmlformats-officedocument.themeOverride+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notesSlides/notesSlide24.xml" ContentType="application/vnd.openxmlformats-officedocument.presentationml.notesSlide+xml"/>
  <Override PartName="/ppt/charts/chart14.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1"/>
    <p:sldMasterId id="2147483889" r:id="rId2"/>
  </p:sldMasterIdLst>
  <p:notesMasterIdLst>
    <p:notesMasterId r:id="rId180"/>
  </p:notesMasterIdLst>
  <p:handoutMasterIdLst>
    <p:handoutMasterId r:id="rId181"/>
  </p:handoutMasterIdLst>
  <p:sldIdLst>
    <p:sldId id="1005" r:id="rId3"/>
    <p:sldId id="1060" r:id="rId4"/>
    <p:sldId id="986" r:id="rId5"/>
    <p:sldId id="1048" r:id="rId6"/>
    <p:sldId id="1061" r:id="rId7"/>
    <p:sldId id="1054" r:id="rId8"/>
    <p:sldId id="1052" r:id="rId9"/>
    <p:sldId id="1059" r:id="rId10"/>
    <p:sldId id="1055" r:id="rId11"/>
    <p:sldId id="1058" r:id="rId12"/>
    <p:sldId id="1073" r:id="rId13"/>
    <p:sldId id="1056" r:id="rId14"/>
    <p:sldId id="1057" r:id="rId15"/>
    <p:sldId id="1062" r:id="rId16"/>
    <p:sldId id="987" r:id="rId17"/>
    <p:sldId id="988" r:id="rId18"/>
    <p:sldId id="989" r:id="rId19"/>
    <p:sldId id="1063" r:id="rId20"/>
    <p:sldId id="884" r:id="rId21"/>
    <p:sldId id="885" r:id="rId22"/>
    <p:sldId id="886" r:id="rId23"/>
    <p:sldId id="887" r:id="rId24"/>
    <p:sldId id="888" r:id="rId25"/>
    <p:sldId id="889" r:id="rId26"/>
    <p:sldId id="891" r:id="rId27"/>
    <p:sldId id="857" r:id="rId28"/>
    <p:sldId id="858" r:id="rId29"/>
    <p:sldId id="859" r:id="rId30"/>
    <p:sldId id="934" r:id="rId31"/>
    <p:sldId id="935" r:id="rId32"/>
    <p:sldId id="936" r:id="rId33"/>
    <p:sldId id="937" r:id="rId34"/>
    <p:sldId id="938" r:id="rId35"/>
    <p:sldId id="939" r:id="rId36"/>
    <p:sldId id="940" r:id="rId37"/>
    <p:sldId id="954" r:id="rId38"/>
    <p:sldId id="955" r:id="rId39"/>
    <p:sldId id="956" r:id="rId40"/>
    <p:sldId id="957" r:id="rId41"/>
    <p:sldId id="762" r:id="rId42"/>
    <p:sldId id="763" r:id="rId43"/>
    <p:sldId id="765" r:id="rId44"/>
    <p:sldId id="766" r:id="rId45"/>
    <p:sldId id="767" r:id="rId46"/>
    <p:sldId id="880" r:id="rId47"/>
    <p:sldId id="780" r:id="rId48"/>
    <p:sldId id="1014" r:id="rId49"/>
    <p:sldId id="1015" r:id="rId50"/>
    <p:sldId id="1016" r:id="rId51"/>
    <p:sldId id="1017" r:id="rId52"/>
    <p:sldId id="1018" r:id="rId53"/>
    <p:sldId id="1019" r:id="rId54"/>
    <p:sldId id="1020" r:id="rId55"/>
    <p:sldId id="788" r:id="rId56"/>
    <p:sldId id="991" r:id="rId57"/>
    <p:sldId id="992" r:id="rId58"/>
    <p:sldId id="993" r:id="rId59"/>
    <p:sldId id="995" r:id="rId60"/>
    <p:sldId id="996" r:id="rId61"/>
    <p:sldId id="997" r:id="rId62"/>
    <p:sldId id="998" r:id="rId63"/>
    <p:sldId id="999" r:id="rId64"/>
    <p:sldId id="994" r:id="rId65"/>
    <p:sldId id="1000" r:id="rId66"/>
    <p:sldId id="1001" r:id="rId67"/>
    <p:sldId id="1004" r:id="rId68"/>
    <p:sldId id="1002" r:id="rId69"/>
    <p:sldId id="1003" r:id="rId70"/>
    <p:sldId id="990" r:id="rId71"/>
    <p:sldId id="789" r:id="rId72"/>
    <p:sldId id="790" r:id="rId73"/>
    <p:sldId id="791" r:id="rId74"/>
    <p:sldId id="792" r:id="rId75"/>
    <p:sldId id="793" r:id="rId76"/>
    <p:sldId id="794" r:id="rId77"/>
    <p:sldId id="795" r:id="rId78"/>
    <p:sldId id="796" r:id="rId79"/>
    <p:sldId id="1021" r:id="rId80"/>
    <p:sldId id="1022" r:id="rId81"/>
    <p:sldId id="1028" r:id="rId82"/>
    <p:sldId id="1023" r:id="rId83"/>
    <p:sldId id="1029" r:id="rId84"/>
    <p:sldId id="1024" r:id="rId85"/>
    <p:sldId id="1027" r:id="rId86"/>
    <p:sldId id="1031" r:id="rId87"/>
    <p:sldId id="1032" r:id="rId88"/>
    <p:sldId id="1033" r:id="rId89"/>
    <p:sldId id="1034" r:id="rId90"/>
    <p:sldId id="1035" r:id="rId91"/>
    <p:sldId id="1036" r:id="rId92"/>
    <p:sldId id="1037" r:id="rId93"/>
    <p:sldId id="1064" r:id="rId94"/>
    <p:sldId id="1065" r:id="rId95"/>
    <p:sldId id="1066" r:id="rId96"/>
    <p:sldId id="1067" r:id="rId97"/>
    <p:sldId id="1068" r:id="rId98"/>
    <p:sldId id="1069" r:id="rId99"/>
    <p:sldId id="1070" r:id="rId100"/>
    <p:sldId id="1071" r:id="rId101"/>
    <p:sldId id="1072" r:id="rId102"/>
    <p:sldId id="978" r:id="rId103"/>
    <p:sldId id="979" r:id="rId104"/>
    <p:sldId id="980" r:id="rId105"/>
    <p:sldId id="981" r:id="rId106"/>
    <p:sldId id="982" r:id="rId107"/>
    <p:sldId id="983" r:id="rId108"/>
    <p:sldId id="984" r:id="rId109"/>
    <p:sldId id="985" r:id="rId110"/>
    <p:sldId id="837" r:id="rId111"/>
    <p:sldId id="844" r:id="rId112"/>
    <p:sldId id="838" r:id="rId113"/>
    <p:sldId id="839" r:id="rId114"/>
    <p:sldId id="840" r:id="rId115"/>
    <p:sldId id="845" r:id="rId116"/>
    <p:sldId id="841" r:id="rId117"/>
    <p:sldId id="842" r:id="rId118"/>
    <p:sldId id="843" r:id="rId119"/>
    <p:sldId id="846" r:id="rId120"/>
    <p:sldId id="893" r:id="rId121"/>
    <p:sldId id="894" r:id="rId122"/>
    <p:sldId id="868" r:id="rId123"/>
    <p:sldId id="895" r:id="rId124"/>
    <p:sldId id="869" r:id="rId125"/>
    <p:sldId id="896" r:id="rId126"/>
    <p:sldId id="897" r:id="rId127"/>
    <p:sldId id="870" r:id="rId128"/>
    <p:sldId id="871" r:id="rId129"/>
    <p:sldId id="872" r:id="rId130"/>
    <p:sldId id="924" r:id="rId131"/>
    <p:sldId id="925" r:id="rId132"/>
    <p:sldId id="926" r:id="rId133"/>
    <p:sldId id="927" r:id="rId134"/>
    <p:sldId id="928" r:id="rId135"/>
    <p:sldId id="929" r:id="rId136"/>
    <p:sldId id="930" r:id="rId137"/>
    <p:sldId id="931" r:id="rId138"/>
    <p:sldId id="908" r:id="rId139"/>
    <p:sldId id="909" r:id="rId140"/>
    <p:sldId id="910" r:id="rId141"/>
    <p:sldId id="911" r:id="rId142"/>
    <p:sldId id="912" r:id="rId143"/>
    <p:sldId id="913" r:id="rId144"/>
    <p:sldId id="915" r:id="rId145"/>
    <p:sldId id="916" r:id="rId146"/>
    <p:sldId id="917" r:id="rId147"/>
    <p:sldId id="918" r:id="rId148"/>
    <p:sldId id="919" r:id="rId149"/>
    <p:sldId id="920" r:id="rId150"/>
    <p:sldId id="921" r:id="rId151"/>
    <p:sldId id="1049" r:id="rId152"/>
    <p:sldId id="1050" r:id="rId153"/>
    <p:sldId id="1051" r:id="rId154"/>
    <p:sldId id="1099" r:id="rId155"/>
    <p:sldId id="1100" r:id="rId156"/>
    <p:sldId id="1101" r:id="rId157"/>
    <p:sldId id="1102" r:id="rId158"/>
    <p:sldId id="1103" r:id="rId159"/>
    <p:sldId id="1104" r:id="rId160"/>
    <p:sldId id="1105" r:id="rId161"/>
    <p:sldId id="1106" r:id="rId162"/>
    <p:sldId id="1107" r:id="rId163"/>
    <p:sldId id="1108" r:id="rId164"/>
    <p:sldId id="1109" r:id="rId165"/>
    <p:sldId id="1110" r:id="rId166"/>
    <p:sldId id="1111" r:id="rId167"/>
    <p:sldId id="1112" r:id="rId168"/>
    <p:sldId id="1113" r:id="rId169"/>
    <p:sldId id="1114" r:id="rId170"/>
    <p:sldId id="1115" r:id="rId171"/>
    <p:sldId id="1116" r:id="rId172"/>
    <p:sldId id="1117" r:id="rId173"/>
    <p:sldId id="1118" r:id="rId174"/>
    <p:sldId id="1119" r:id="rId175"/>
    <p:sldId id="1120" r:id="rId176"/>
    <p:sldId id="1121" r:id="rId177"/>
    <p:sldId id="1122" r:id="rId178"/>
    <p:sldId id="1123" r:id="rId179"/>
  </p:sldIdLst>
  <p:sldSz cx="9144000" cy="6858000" type="letter"/>
  <p:notesSz cx="6881813" cy="9296400"/>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8">
          <p15:clr>
            <a:srgbClr val="A4A3A4"/>
          </p15:clr>
        </p15:guide>
        <p15:guide id="2" pos="216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prnPr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97F3"/>
    <a:srgbClr val="CCCCCC"/>
    <a:srgbClr val="113C9B"/>
    <a:srgbClr val="999999"/>
    <a:srgbClr val="B8C0DB"/>
    <a:srgbClr val="3A4AA0"/>
    <a:srgbClr val="6979B9"/>
    <a:srgbClr val="FFFF00"/>
    <a:srgbClr val="778B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3" autoAdjust="0"/>
    <p:restoredTop sz="98999" autoAdjust="0"/>
  </p:normalViewPr>
  <p:slideViewPr>
    <p:cSldViewPr snapToGrid="0" snapToObjects="1">
      <p:cViewPr varScale="1">
        <p:scale>
          <a:sx n="116" d="100"/>
          <a:sy n="116" d="100"/>
        </p:scale>
        <p:origin x="-1032" y="-11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5224"/>
    </p:cViewPr>
  </p:sorterViewPr>
  <p:notesViewPr>
    <p:cSldViewPr>
      <p:cViewPr varScale="1">
        <p:scale>
          <a:sx n="57" d="100"/>
          <a:sy n="57" d="100"/>
        </p:scale>
        <p:origin x="-2520" y="-78"/>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142" Type="http://schemas.openxmlformats.org/officeDocument/2006/relationships/slide" Target="slides/slide140.xml"/><Relationship Id="rId143" Type="http://schemas.openxmlformats.org/officeDocument/2006/relationships/slide" Target="slides/slide141.xml"/><Relationship Id="rId144" Type="http://schemas.openxmlformats.org/officeDocument/2006/relationships/slide" Target="slides/slide142.xml"/><Relationship Id="rId145" Type="http://schemas.openxmlformats.org/officeDocument/2006/relationships/slide" Target="slides/slide143.xml"/><Relationship Id="rId146" Type="http://schemas.openxmlformats.org/officeDocument/2006/relationships/slide" Target="slides/slide144.xml"/><Relationship Id="rId147" Type="http://schemas.openxmlformats.org/officeDocument/2006/relationships/slide" Target="slides/slide145.xml"/><Relationship Id="rId148" Type="http://schemas.openxmlformats.org/officeDocument/2006/relationships/slide" Target="slides/slide146.xml"/><Relationship Id="rId149" Type="http://schemas.openxmlformats.org/officeDocument/2006/relationships/slide" Target="slides/slide147.xml"/><Relationship Id="rId180" Type="http://schemas.openxmlformats.org/officeDocument/2006/relationships/notesMaster" Target="notesMasters/notesMaster1.xml"/><Relationship Id="rId181" Type="http://schemas.openxmlformats.org/officeDocument/2006/relationships/handoutMaster" Target="handoutMasters/handoutMaster1.xml"/><Relationship Id="rId182" Type="http://schemas.openxmlformats.org/officeDocument/2006/relationships/printerSettings" Target="printerSettings/printerSettings1.bin"/><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83" Type="http://schemas.openxmlformats.org/officeDocument/2006/relationships/commentAuthors" Target="commentAuthors.xml"/><Relationship Id="rId184" Type="http://schemas.openxmlformats.org/officeDocument/2006/relationships/presProps" Target="presProps.xml"/><Relationship Id="rId185" Type="http://schemas.openxmlformats.org/officeDocument/2006/relationships/viewProps" Target="viewProps.xml"/><Relationship Id="rId186" Type="http://schemas.openxmlformats.org/officeDocument/2006/relationships/theme" Target="theme/theme1.xml"/><Relationship Id="rId187" Type="http://schemas.openxmlformats.org/officeDocument/2006/relationships/tableStyles" Target="tableStyles.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110" Type="http://schemas.openxmlformats.org/officeDocument/2006/relationships/slide" Target="slides/slide108.xml"/><Relationship Id="rId111" Type="http://schemas.openxmlformats.org/officeDocument/2006/relationships/slide" Target="slides/slide109.xml"/><Relationship Id="rId112" Type="http://schemas.openxmlformats.org/officeDocument/2006/relationships/slide" Target="slides/slide110.xml"/><Relationship Id="rId113" Type="http://schemas.openxmlformats.org/officeDocument/2006/relationships/slide" Target="slides/slide111.xml"/><Relationship Id="rId114" Type="http://schemas.openxmlformats.org/officeDocument/2006/relationships/slide" Target="slides/slide112.xml"/><Relationship Id="rId115" Type="http://schemas.openxmlformats.org/officeDocument/2006/relationships/slide" Target="slides/slide113.xml"/><Relationship Id="rId116" Type="http://schemas.openxmlformats.org/officeDocument/2006/relationships/slide" Target="slides/slide114.xml"/><Relationship Id="rId117" Type="http://schemas.openxmlformats.org/officeDocument/2006/relationships/slide" Target="slides/slide115.xml"/><Relationship Id="rId118" Type="http://schemas.openxmlformats.org/officeDocument/2006/relationships/slide" Target="slides/slide116.xml"/><Relationship Id="rId119" Type="http://schemas.openxmlformats.org/officeDocument/2006/relationships/slide" Target="slides/slide117.xml"/><Relationship Id="rId150" Type="http://schemas.openxmlformats.org/officeDocument/2006/relationships/slide" Target="slides/slide148.xml"/><Relationship Id="rId151" Type="http://schemas.openxmlformats.org/officeDocument/2006/relationships/slide" Target="slides/slide149.xml"/><Relationship Id="rId152" Type="http://schemas.openxmlformats.org/officeDocument/2006/relationships/slide" Target="slides/slide150.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153" Type="http://schemas.openxmlformats.org/officeDocument/2006/relationships/slide" Target="slides/slide151.xml"/><Relationship Id="rId154" Type="http://schemas.openxmlformats.org/officeDocument/2006/relationships/slide" Target="slides/slide152.xml"/><Relationship Id="rId155" Type="http://schemas.openxmlformats.org/officeDocument/2006/relationships/slide" Target="slides/slide153.xml"/><Relationship Id="rId156" Type="http://schemas.openxmlformats.org/officeDocument/2006/relationships/slide" Target="slides/slide154.xml"/><Relationship Id="rId157" Type="http://schemas.openxmlformats.org/officeDocument/2006/relationships/slide" Target="slides/slide155.xml"/><Relationship Id="rId158" Type="http://schemas.openxmlformats.org/officeDocument/2006/relationships/slide" Target="slides/slide156.xml"/><Relationship Id="rId159" Type="http://schemas.openxmlformats.org/officeDocument/2006/relationships/slide" Target="slides/slide15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20" Type="http://schemas.openxmlformats.org/officeDocument/2006/relationships/slide" Target="slides/slide118.xml"/><Relationship Id="rId121" Type="http://schemas.openxmlformats.org/officeDocument/2006/relationships/slide" Target="slides/slide119.xml"/><Relationship Id="rId122" Type="http://schemas.openxmlformats.org/officeDocument/2006/relationships/slide" Target="slides/slide120.xml"/><Relationship Id="rId123" Type="http://schemas.openxmlformats.org/officeDocument/2006/relationships/slide" Target="slides/slide121.xml"/><Relationship Id="rId124" Type="http://schemas.openxmlformats.org/officeDocument/2006/relationships/slide" Target="slides/slide122.xml"/><Relationship Id="rId125" Type="http://schemas.openxmlformats.org/officeDocument/2006/relationships/slide" Target="slides/slide123.xml"/><Relationship Id="rId126" Type="http://schemas.openxmlformats.org/officeDocument/2006/relationships/slide" Target="slides/slide124.xml"/><Relationship Id="rId127" Type="http://schemas.openxmlformats.org/officeDocument/2006/relationships/slide" Target="slides/slide125.xml"/><Relationship Id="rId128" Type="http://schemas.openxmlformats.org/officeDocument/2006/relationships/slide" Target="slides/slide126.xml"/><Relationship Id="rId129" Type="http://schemas.openxmlformats.org/officeDocument/2006/relationships/slide" Target="slides/slide127.xml"/><Relationship Id="rId160" Type="http://schemas.openxmlformats.org/officeDocument/2006/relationships/slide" Target="slides/slide158.xml"/><Relationship Id="rId161" Type="http://schemas.openxmlformats.org/officeDocument/2006/relationships/slide" Target="slides/slide159.xml"/><Relationship Id="rId162" Type="http://schemas.openxmlformats.org/officeDocument/2006/relationships/slide" Target="slides/slide160.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63" Type="http://schemas.openxmlformats.org/officeDocument/2006/relationships/slide" Target="slides/slide161.xml"/><Relationship Id="rId164" Type="http://schemas.openxmlformats.org/officeDocument/2006/relationships/slide" Target="slides/slide162.xml"/><Relationship Id="rId165" Type="http://schemas.openxmlformats.org/officeDocument/2006/relationships/slide" Target="slides/slide163.xml"/><Relationship Id="rId166" Type="http://schemas.openxmlformats.org/officeDocument/2006/relationships/slide" Target="slides/slide164.xml"/><Relationship Id="rId167" Type="http://schemas.openxmlformats.org/officeDocument/2006/relationships/slide" Target="slides/slide165.xml"/><Relationship Id="rId168" Type="http://schemas.openxmlformats.org/officeDocument/2006/relationships/slide" Target="slides/slide166.xml"/><Relationship Id="rId169" Type="http://schemas.openxmlformats.org/officeDocument/2006/relationships/slide" Target="slides/slide16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130" Type="http://schemas.openxmlformats.org/officeDocument/2006/relationships/slide" Target="slides/slide128.xml"/><Relationship Id="rId131" Type="http://schemas.openxmlformats.org/officeDocument/2006/relationships/slide" Target="slides/slide129.xml"/><Relationship Id="rId132" Type="http://schemas.openxmlformats.org/officeDocument/2006/relationships/slide" Target="slides/slide130.xml"/><Relationship Id="rId133" Type="http://schemas.openxmlformats.org/officeDocument/2006/relationships/slide" Target="slides/slide131.xml"/><Relationship Id="rId134" Type="http://schemas.openxmlformats.org/officeDocument/2006/relationships/slide" Target="slides/slide132.xml"/><Relationship Id="rId135" Type="http://schemas.openxmlformats.org/officeDocument/2006/relationships/slide" Target="slides/slide133.xml"/><Relationship Id="rId136" Type="http://schemas.openxmlformats.org/officeDocument/2006/relationships/slide" Target="slides/slide134.xml"/><Relationship Id="rId137" Type="http://schemas.openxmlformats.org/officeDocument/2006/relationships/slide" Target="slides/slide135.xml"/><Relationship Id="rId138" Type="http://schemas.openxmlformats.org/officeDocument/2006/relationships/slide" Target="slides/slide136.xml"/><Relationship Id="rId139" Type="http://schemas.openxmlformats.org/officeDocument/2006/relationships/slide" Target="slides/slide137.xml"/><Relationship Id="rId170" Type="http://schemas.openxmlformats.org/officeDocument/2006/relationships/slide" Target="slides/slide168.xml"/><Relationship Id="rId171" Type="http://schemas.openxmlformats.org/officeDocument/2006/relationships/slide" Target="slides/slide169.xml"/><Relationship Id="rId172" Type="http://schemas.openxmlformats.org/officeDocument/2006/relationships/slide" Target="slides/slide170.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173" Type="http://schemas.openxmlformats.org/officeDocument/2006/relationships/slide" Target="slides/slide171.xml"/><Relationship Id="rId174" Type="http://schemas.openxmlformats.org/officeDocument/2006/relationships/slide" Target="slides/slide172.xml"/><Relationship Id="rId175" Type="http://schemas.openxmlformats.org/officeDocument/2006/relationships/slide" Target="slides/slide173.xml"/><Relationship Id="rId176" Type="http://schemas.openxmlformats.org/officeDocument/2006/relationships/slide" Target="slides/slide174.xml"/><Relationship Id="rId177" Type="http://schemas.openxmlformats.org/officeDocument/2006/relationships/slide" Target="slides/slide175.xml"/><Relationship Id="rId178" Type="http://schemas.openxmlformats.org/officeDocument/2006/relationships/slide" Target="slides/slide176.xml"/><Relationship Id="rId179" Type="http://schemas.openxmlformats.org/officeDocument/2006/relationships/slide" Target="slides/slide17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5" Type="http://schemas.openxmlformats.org/officeDocument/2006/relationships/slide" Target="slides/slide103.xml"/><Relationship Id="rId106" Type="http://schemas.openxmlformats.org/officeDocument/2006/relationships/slide" Target="slides/slide104.xml"/><Relationship Id="rId107" Type="http://schemas.openxmlformats.org/officeDocument/2006/relationships/slide" Target="slides/slide105.xml"/><Relationship Id="rId108" Type="http://schemas.openxmlformats.org/officeDocument/2006/relationships/slide" Target="slides/slide106.xml"/><Relationship Id="rId109" Type="http://schemas.openxmlformats.org/officeDocument/2006/relationships/slide" Target="slides/slide107.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40" Type="http://schemas.openxmlformats.org/officeDocument/2006/relationships/slide" Target="slides/slide138.xml"/><Relationship Id="rId141" Type="http://schemas.openxmlformats.org/officeDocument/2006/relationships/slide" Target="slides/slide1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package" Target="../embeddings/Microsoft_Excel_Sheet5.xlsx"/><Relationship Id="rId3"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Book2" TargetMode="External"/></Relationships>
</file>

<file path=ppt/charts/_rels/chart8.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Book2" TargetMode="External"/></Relationships>
</file>

<file path=ppt/charts/_rels/chart9.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oleObject" Target="Workbook10" TargetMode="External"/></Relationships>
</file>

<file path=ppt/charts/_rels/chart10.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package" Target="../embeddings/Microsoft_Excel_Sheet7.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Liters Per Capita</c:v>
                </c:pt>
              </c:strCache>
            </c:strRef>
          </c:tx>
          <c:spPr>
            <a:solidFill>
              <a:schemeClr val="tx2"/>
            </a:solidFill>
            <a:ln>
              <a:noFill/>
            </a:ln>
            <a:effectLst/>
          </c:spPr>
          <c:invertIfNegative val="0"/>
          <c:cat>
            <c:strRef>
              <c:f>Sheet1!$A$2:$A$9</c:f>
              <c:strCache>
                <c:ptCount val="7"/>
                <c:pt idx="0">
                  <c:v>France</c:v>
                </c:pt>
                <c:pt idx="1">
                  <c:v>USA</c:v>
                </c:pt>
                <c:pt idx="2">
                  <c:v>Romania</c:v>
                </c:pt>
                <c:pt idx="3">
                  <c:v>Ukraine</c:v>
                </c:pt>
                <c:pt idx="4">
                  <c:v>Kazakhstan</c:v>
                </c:pt>
                <c:pt idx="5">
                  <c:v>Moldova</c:v>
                </c:pt>
                <c:pt idx="6">
                  <c:v>Estonia</c:v>
                </c:pt>
              </c:strCache>
            </c:strRef>
          </c:cat>
          <c:val>
            <c:numRef>
              <c:f>Sheet1!$B$2:$B$9</c:f>
              <c:numCache>
                <c:formatCode>General</c:formatCode>
                <c:ptCount val="8"/>
                <c:pt idx="0">
                  <c:v>45.7</c:v>
                </c:pt>
                <c:pt idx="1">
                  <c:v>9.4</c:v>
                </c:pt>
                <c:pt idx="2">
                  <c:v>22.9</c:v>
                </c:pt>
                <c:pt idx="3">
                  <c:v>4.5</c:v>
                </c:pt>
                <c:pt idx="4">
                  <c:v>1.6</c:v>
                </c:pt>
                <c:pt idx="5">
                  <c:v>6.25</c:v>
                </c:pt>
                <c:pt idx="6">
                  <c:v>10.0</c:v>
                </c:pt>
              </c:numCache>
            </c:numRef>
          </c:val>
        </c:ser>
        <c:dLbls>
          <c:showLegendKey val="0"/>
          <c:showVal val="0"/>
          <c:showCatName val="0"/>
          <c:showSerName val="0"/>
          <c:showPercent val="0"/>
          <c:showBubbleSize val="0"/>
        </c:dLbls>
        <c:gapWidth val="219"/>
        <c:overlap val="-27"/>
        <c:axId val="-2133595464"/>
        <c:axId val="-2133591880"/>
      </c:barChart>
      <c:catAx>
        <c:axId val="-2133595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133591880"/>
        <c:crosses val="autoZero"/>
        <c:auto val="1"/>
        <c:lblAlgn val="ctr"/>
        <c:lblOffset val="100"/>
        <c:noMultiLvlLbl val="0"/>
      </c:catAx>
      <c:valAx>
        <c:axId val="-21335918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359546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Percent Growth</c:v>
                </c:pt>
              </c:strCache>
            </c:strRef>
          </c:tx>
          <c:spPr>
            <a:solidFill>
              <a:schemeClr val="accent2"/>
            </a:solidFill>
            <a:ln>
              <a:solidFill>
                <a:schemeClr val="tx1"/>
              </a:solidFill>
            </a:ln>
            <a:effectLst/>
          </c:spPr>
          <c:invertIfNegative val="0"/>
          <c:cat>
            <c:strRef>
              <c:f>Sheet1!$A$2:$A$8</c:f>
              <c:strCache>
                <c:ptCount val="7"/>
                <c:pt idx="0">
                  <c:v>France</c:v>
                </c:pt>
                <c:pt idx="1">
                  <c:v>USA</c:v>
                </c:pt>
                <c:pt idx="2">
                  <c:v>Romania</c:v>
                </c:pt>
                <c:pt idx="3">
                  <c:v>Ukraine</c:v>
                </c:pt>
                <c:pt idx="4">
                  <c:v>Kazakhstan</c:v>
                </c:pt>
                <c:pt idx="5">
                  <c:v>Moldova</c:v>
                </c:pt>
                <c:pt idx="6">
                  <c:v>Estonia</c:v>
                </c:pt>
              </c:strCache>
            </c:strRef>
          </c:cat>
          <c:val>
            <c:numRef>
              <c:f>Sheet1!$B$2:$B$8</c:f>
              <c:numCache>
                <c:formatCode>General</c:formatCode>
                <c:ptCount val="7"/>
                <c:pt idx="0">
                  <c:v>-3.0</c:v>
                </c:pt>
                <c:pt idx="1">
                  <c:v>5.1</c:v>
                </c:pt>
                <c:pt idx="2">
                  <c:v>-2.8</c:v>
                </c:pt>
                <c:pt idx="3">
                  <c:v>-6.9</c:v>
                </c:pt>
                <c:pt idx="4">
                  <c:v>-3.8</c:v>
                </c:pt>
                <c:pt idx="5">
                  <c:v>-1.5</c:v>
                </c:pt>
                <c:pt idx="6">
                  <c:v>30.0</c:v>
                </c:pt>
              </c:numCache>
            </c:numRef>
          </c:val>
        </c:ser>
        <c:dLbls>
          <c:showLegendKey val="0"/>
          <c:showVal val="0"/>
          <c:showCatName val="0"/>
          <c:showSerName val="0"/>
          <c:showPercent val="0"/>
          <c:showBubbleSize val="0"/>
        </c:dLbls>
        <c:gapWidth val="219"/>
        <c:overlap val="-27"/>
        <c:axId val="2073949624"/>
        <c:axId val="2073953208"/>
      </c:barChart>
      <c:catAx>
        <c:axId val="2073949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073953208"/>
        <c:crosses val="autoZero"/>
        <c:auto val="1"/>
        <c:lblAlgn val="ctr"/>
        <c:lblOffset val="100"/>
        <c:noMultiLvlLbl val="0"/>
      </c:catAx>
      <c:valAx>
        <c:axId val="2073953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394962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90th</c:v>
                </c:pt>
              </c:strCache>
            </c:strRef>
          </c:tx>
          <c:spPr>
            <a:solidFill>
              <a:schemeClr val="bg2"/>
            </a:solidFill>
            <a:ln>
              <a:solidFill>
                <a:schemeClr val="tx1"/>
              </a:solidFill>
            </a:ln>
            <a:effectLst/>
          </c:spPr>
          <c:invertIfNegative val="0"/>
          <c:cat>
            <c:strRef>
              <c:f>Sheet1!$A$2:$A$4</c:f>
              <c:strCache>
                <c:ptCount val="3"/>
                <c:pt idx="0">
                  <c:v>Estonia</c:v>
                </c:pt>
                <c:pt idx="1">
                  <c:v>Romania</c:v>
                </c:pt>
                <c:pt idx="2">
                  <c:v>USA</c:v>
                </c:pt>
              </c:strCache>
            </c:strRef>
          </c:cat>
          <c:val>
            <c:numRef>
              <c:f>Sheet1!$B$2:$B$4</c:f>
              <c:numCache>
                <c:formatCode>General</c:formatCode>
                <c:ptCount val="3"/>
                <c:pt idx="0">
                  <c:v>18.0</c:v>
                </c:pt>
                <c:pt idx="1">
                  <c:v>16.0</c:v>
                </c:pt>
                <c:pt idx="2">
                  <c:v>40.0</c:v>
                </c:pt>
              </c:numCache>
            </c:numRef>
          </c:val>
        </c:ser>
        <c:ser>
          <c:idx val="1"/>
          <c:order val="1"/>
          <c:tx>
            <c:strRef>
              <c:f>Sheet1!$C$1</c:f>
              <c:strCache>
                <c:ptCount val="1"/>
                <c:pt idx="0">
                  <c:v>50th</c:v>
                </c:pt>
              </c:strCache>
            </c:strRef>
          </c:tx>
          <c:spPr>
            <a:solidFill>
              <a:schemeClr val="accent1"/>
            </a:solidFill>
            <a:ln>
              <a:solidFill>
                <a:schemeClr val="tx1"/>
              </a:solidFill>
            </a:ln>
            <a:effectLst/>
          </c:spPr>
          <c:invertIfNegative val="0"/>
          <c:cat>
            <c:strRef>
              <c:f>Sheet1!$A$2:$A$4</c:f>
              <c:strCache>
                <c:ptCount val="3"/>
                <c:pt idx="0">
                  <c:v>Estonia</c:v>
                </c:pt>
                <c:pt idx="1">
                  <c:v>Romania</c:v>
                </c:pt>
                <c:pt idx="2">
                  <c:v>USA</c:v>
                </c:pt>
              </c:strCache>
            </c:strRef>
          </c:cat>
          <c:val>
            <c:numRef>
              <c:f>Sheet1!$C$2:$C$4</c:f>
              <c:numCache>
                <c:formatCode>General</c:formatCode>
                <c:ptCount val="3"/>
                <c:pt idx="0">
                  <c:v>15.0</c:v>
                </c:pt>
                <c:pt idx="1">
                  <c:v>15.0</c:v>
                </c:pt>
                <c:pt idx="2">
                  <c:v>20.0</c:v>
                </c:pt>
              </c:numCache>
            </c:numRef>
          </c:val>
        </c:ser>
        <c:ser>
          <c:idx val="2"/>
          <c:order val="2"/>
          <c:tx>
            <c:strRef>
              <c:f>Sheet1!$D$1</c:f>
              <c:strCache>
                <c:ptCount val="1"/>
                <c:pt idx="0">
                  <c:v>10th</c:v>
                </c:pt>
              </c:strCache>
            </c:strRef>
          </c:tx>
          <c:spPr>
            <a:solidFill>
              <a:schemeClr val="tx2"/>
            </a:solidFill>
            <a:ln>
              <a:solidFill>
                <a:schemeClr val="tx1"/>
              </a:solidFill>
            </a:ln>
            <a:effectLst/>
          </c:spPr>
          <c:invertIfNegative val="0"/>
          <c:cat>
            <c:strRef>
              <c:f>Sheet1!$A$2:$A$4</c:f>
              <c:strCache>
                <c:ptCount val="3"/>
                <c:pt idx="0">
                  <c:v>Estonia</c:v>
                </c:pt>
                <c:pt idx="1">
                  <c:v>Romania</c:v>
                </c:pt>
                <c:pt idx="2">
                  <c:v>USA</c:v>
                </c:pt>
              </c:strCache>
            </c:strRef>
          </c:cat>
          <c:val>
            <c:numRef>
              <c:f>Sheet1!$D$2:$D$4</c:f>
              <c:numCache>
                <c:formatCode>General</c:formatCode>
                <c:ptCount val="3"/>
                <c:pt idx="0">
                  <c:v>8.0</c:v>
                </c:pt>
                <c:pt idx="1">
                  <c:v>12.0</c:v>
                </c:pt>
                <c:pt idx="2">
                  <c:v>15.0</c:v>
                </c:pt>
              </c:numCache>
            </c:numRef>
          </c:val>
        </c:ser>
        <c:dLbls>
          <c:showLegendKey val="0"/>
          <c:showVal val="0"/>
          <c:showCatName val="0"/>
          <c:showSerName val="0"/>
          <c:showPercent val="0"/>
          <c:showBubbleSize val="0"/>
        </c:dLbls>
        <c:gapWidth val="219"/>
        <c:overlap val="-27"/>
        <c:axId val="-2133333016"/>
        <c:axId val="-2133329464"/>
      </c:barChart>
      <c:catAx>
        <c:axId val="-2133333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3329464"/>
        <c:crosses val="autoZero"/>
        <c:auto val="1"/>
        <c:lblAlgn val="ctr"/>
        <c:lblOffset val="100"/>
        <c:noMultiLvlLbl val="0"/>
      </c:catAx>
      <c:valAx>
        <c:axId val="-2133329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33330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smtClean="0"/>
              <a:t>Brand Perception</a:t>
            </a:r>
            <a:endParaRPr lang="en-US" dirty="0"/>
          </a:p>
        </c:rich>
      </c:tx>
      <c:layout/>
      <c:overlay val="0"/>
      <c:spPr>
        <a:noFill/>
        <a:ln>
          <a:noFill/>
        </a:ln>
        <a:effectLst/>
      </c:spPr>
    </c:title>
    <c:autoTitleDeleted val="0"/>
    <c:plotArea>
      <c:layout/>
      <c:lineChart>
        <c:grouping val="standard"/>
        <c:varyColors val="0"/>
        <c:ser>
          <c:idx val="0"/>
          <c:order val="0"/>
          <c:tx>
            <c:strRef>
              <c:f>Sheet1!$B$1</c:f>
              <c:strCache>
                <c:ptCount val="1"/>
                <c:pt idx="0">
                  <c:v>Furberry</c:v>
                </c:pt>
              </c:strCache>
            </c:strRef>
          </c:tx>
          <c:spPr>
            <a:ln w="28575" cap="rnd">
              <a:solidFill>
                <a:schemeClr val="accent1">
                  <a:lumMod val="75000"/>
                </a:schemeClr>
              </a:solidFill>
              <a:round/>
            </a:ln>
            <a:effectLst/>
          </c:spPr>
          <c:marker>
            <c:symbol val="none"/>
          </c:marker>
          <c:cat>
            <c:numRef>
              <c:f>Sheet1!$A$2:$A$5</c:f>
              <c:numCache>
                <c:formatCode>General</c:formatCode>
                <c:ptCount val="4"/>
                <c:pt idx="0">
                  <c:v>2010.0</c:v>
                </c:pt>
                <c:pt idx="1">
                  <c:v>2011.0</c:v>
                </c:pt>
                <c:pt idx="2">
                  <c:v>2012.0</c:v>
                </c:pt>
                <c:pt idx="3">
                  <c:v>2013.0</c:v>
                </c:pt>
              </c:numCache>
            </c:numRef>
          </c:cat>
          <c:val>
            <c:numRef>
              <c:f>Sheet1!$B$2:$B$5</c:f>
              <c:numCache>
                <c:formatCode>General</c:formatCode>
                <c:ptCount val="4"/>
                <c:pt idx="0">
                  <c:v>4.8</c:v>
                </c:pt>
                <c:pt idx="1">
                  <c:v>4.7</c:v>
                </c:pt>
                <c:pt idx="2">
                  <c:v>4.2</c:v>
                </c:pt>
                <c:pt idx="3">
                  <c:v>3.6</c:v>
                </c:pt>
              </c:numCache>
            </c:numRef>
          </c:val>
          <c:smooth val="0"/>
        </c:ser>
        <c:ser>
          <c:idx val="1"/>
          <c:order val="1"/>
          <c:tx>
            <c:strRef>
              <c:f>Sheet1!$C$1</c:f>
              <c:strCache>
                <c:ptCount val="1"/>
                <c:pt idx="0">
                  <c:v>Mucchi</c:v>
                </c:pt>
              </c:strCache>
            </c:strRef>
          </c:tx>
          <c:spPr>
            <a:ln w="28575" cap="rnd">
              <a:solidFill>
                <a:schemeClr val="tx1"/>
              </a:solidFill>
              <a:round/>
            </a:ln>
            <a:effectLst/>
          </c:spPr>
          <c:marker>
            <c:symbol val="none"/>
          </c:marker>
          <c:cat>
            <c:numRef>
              <c:f>Sheet1!$A$2:$A$5</c:f>
              <c:numCache>
                <c:formatCode>General</c:formatCode>
                <c:ptCount val="4"/>
                <c:pt idx="0">
                  <c:v>2010.0</c:v>
                </c:pt>
                <c:pt idx="1">
                  <c:v>2011.0</c:v>
                </c:pt>
                <c:pt idx="2">
                  <c:v>2012.0</c:v>
                </c:pt>
                <c:pt idx="3">
                  <c:v>2013.0</c:v>
                </c:pt>
              </c:numCache>
            </c:numRef>
          </c:cat>
          <c:val>
            <c:numRef>
              <c:f>Sheet1!$C$2:$C$5</c:f>
              <c:numCache>
                <c:formatCode>General</c:formatCode>
                <c:ptCount val="4"/>
                <c:pt idx="0">
                  <c:v>4.5</c:v>
                </c:pt>
                <c:pt idx="1">
                  <c:v>4.7</c:v>
                </c:pt>
                <c:pt idx="2">
                  <c:v>4.6</c:v>
                </c:pt>
                <c:pt idx="3">
                  <c:v>4.7</c:v>
                </c:pt>
              </c:numCache>
            </c:numRef>
          </c:val>
          <c:smooth val="0"/>
        </c:ser>
        <c:ser>
          <c:idx val="2"/>
          <c:order val="2"/>
          <c:tx>
            <c:strRef>
              <c:f>Sheet1!$D$1</c:f>
              <c:strCache>
                <c:ptCount val="1"/>
                <c:pt idx="0">
                  <c:v>Poach</c:v>
                </c:pt>
              </c:strCache>
            </c:strRef>
          </c:tx>
          <c:spPr>
            <a:ln w="28575" cap="rnd">
              <a:solidFill>
                <a:schemeClr val="tx2"/>
              </a:solidFill>
              <a:round/>
            </a:ln>
            <a:effectLst/>
          </c:spPr>
          <c:marker>
            <c:symbol val="none"/>
          </c:marker>
          <c:cat>
            <c:numRef>
              <c:f>Sheet1!$A$2:$A$5</c:f>
              <c:numCache>
                <c:formatCode>General</c:formatCode>
                <c:ptCount val="4"/>
                <c:pt idx="0">
                  <c:v>2010.0</c:v>
                </c:pt>
                <c:pt idx="1">
                  <c:v>2011.0</c:v>
                </c:pt>
                <c:pt idx="2">
                  <c:v>2012.0</c:v>
                </c:pt>
                <c:pt idx="3">
                  <c:v>2013.0</c:v>
                </c:pt>
              </c:numCache>
            </c:numRef>
          </c:cat>
          <c:val>
            <c:numRef>
              <c:f>Sheet1!$D$2:$D$5</c:f>
              <c:numCache>
                <c:formatCode>General</c:formatCode>
                <c:ptCount val="4"/>
                <c:pt idx="0">
                  <c:v>4.2</c:v>
                </c:pt>
                <c:pt idx="1">
                  <c:v>4.3</c:v>
                </c:pt>
                <c:pt idx="2">
                  <c:v>4.1</c:v>
                </c:pt>
                <c:pt idx="3">
                  <c:v>4.3</c:v>
                </c:pt>
              </c:numCache>
            </c:numRef>
          </c:val>
          <c:smooth val="0"/>
        </c:ser>
        <c:dLbls>
          <c:showLegendKey val="0"/>
          <c:showVal val="0"/>
          <c:showCatName val="0"/>
          <c:showSerName val="0"/>
          <c:showPercent val="0"/>
          <c:showBubbleSize val="0"/>
        </c:dLbls>
        <c:marker val="1"/>
        <c:smooth val="0"/>
        <c:axId val="-2134199016"/>
        <c:axId val="-2134195480"/>
      </c:lineChart>
      <c:catAx>
        <c:axId val="-2134199016"/>
        <c:scaling>
          <c:orientation val="minMax"/>
        </c:scaling>
        <c:delete val="0"/>
        <c:axPos val="b"/>
        <c:numFmt formatCode="General" sourceLinked="1"/>
        <c:majorTickMark val="none"/>
        <c:minorTickMark val="none"/>
        <c:tickLblPos val="nextTo"/>
        <c:spPr>
          <a:noFill/>
          <a:ln w="9525" cap="flat" cmpd="sng" algn="ctr">
            <a:solidFill>
              <a:srgbClr val="000000"/>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2134195480"/>
        <c:crosses val="autoZero"/>
        <c:auto val="1"/>
        <c:lblAlgn val="ctr"/>
        <c:lblOffset val="100"/>
        <c:noMultiLvlLbl val="0"/>
      </c:catAx>
      <c:valAx>
        <c:axId val="-2134195480"/>
        <c:scaling>
          <c:orientation val="minMax"/>
          <c:max val="5.0"/>
        </c:scaling>
        <c:delete val="0"/>
        <c:axPos val="l"/>
        <c:majorGridlines>
          <c:spPr>
            <a:ln w="9525" cap="flat" cmpd="sng" algn="ctr">
              <a:solidFill>
                <a:srgbClr val="000000"/>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34199016"/>
        <c:crosses val="autoZero"/>
        <c:crossBetween val="between"/>
        <c:majorUnit val="1.0"/>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Furberry</c:v>
                </c:pt>
              </c:strCache>
            </c:strRef>
          </c:tx>
          <c:spPr>
            <a:ln w="28575" cap="rnd">
              <a:solidFill>
                <a:schemeClr val="accent1">
                  <a:lumMod val="75000"/>
                </a:schemeClr>
              </a:solidFill>
              <a:round/>
            </a:ln>
            <a:effectLst/>
          </c:spPr>
          <c:marker>
            <c:symbol val="none"/>
          </c:marker>
          <c:cat>
            <c:numRef>
              <c:f>Sheet1!$A$2:$A$5</c:f>
              <c:numCache>
                <c:formatCode>General</c:formatCode>
                <c:ptCount val="4"/>
                <c:pt idx="0">
                  <c:v>2010.0</c:v>
                </c:pt>
                <c:pt idx="1">
                  <c:v>2011.0</c:v>
                </c:pt>
                <c:pt idx="2">
                  <c:v>2012.0</c:v>
                </c:pt>
                <c:pt idx="3">
                  <c:v>2013.0</c:v>
                </c:pt>
              </c:numCache>
            </c:numRef>
          </c:cat>
          <c:val>
            <c:numRef>
              <c:f>Sheet1!$B$2:$B$5</c:f>
              <c:numCache>
                <c:formatCode>General</c:formatCode>
                <c:ptCount val="4"/>
                <c:pt idx="0">
                  <c:v>4.8</c:v>
                </c:pt>
                <c:pt idx="1">
                  <c:v>4.7</c:v>
                </c:pt>
                <c:pt idx="2">
                  <c:v>4.2</c:v>
                </c:pt>
                <c:pt idx="3">
                  <c:v>3.6</c:v>
                </c:pt>
              </c:numCache>
            </c:numRef>
          </c:val>
          <c:smooth val="0"/>
        </c:ser>
        <c:ser>
          <c:idx val="1"/>
          <c:order val="1"/>
          <c:tx>
            <c:strRef>
              <c:f>Sheet1!$C$1</c:f>
              <c:strCache>
                <c:ptCount val="1"/>
                <c:pt idx="0">
                  <c:v>Mucchi</c:v>
                </c:pt>
              </c:strCache>
            </c:strRef>
          </c:tx>
          <c:spPr>
            <a:ln w="28575" cap="rnd">
              <a:solidFill>
                <a:schemeClr val="tx1"/>
              </a:solidFill>
              <a:round/>
            </a:ln>
            <a:effectLst/>
          </c:spPr>
          <c:marker>
            <c:symbol val="none"/>
          </c:marker>
          <c:cat>
            <c:numRef>
              <c:f>Sheet1!$A$2:$A$5</c:f>
              <c:numCache>
                <c:formatCode>General</c:formatCode>
                <c:ptCount val="4"/>
                <c:pt idx="0">
                  <c:v>2010.0</c:v>
                </c:pt>
                <c:pt idx="1">
                  <c:v>2011.0</c:v>
                </c:pt>
                <c:pt idx="2">
                  <c:v>2012.0</c:v>
                </c:pt>
                <c:pt idx="3">
                  <c:v>2013.0</c:v>
                </c:pt>
              </c:numCache>
            </c:numRef>
          </c:cat>
          <c:val>
            <c:numRef>
              <c:f>Sheet1!$C$2:$C$5</c:f>
              <c:numCache>
                <c:formatCode>General</c:formatCode>
                <c:ptCount val="4"/>
                <c:pt idx="0">
                  <c:v>4.5</c:v>
                </c:pt>
                <c:pt idx="1">
                  <c:v>4.7</c:v>
                </c:pt>
                <c:pt idx="2">
                  <c:v>4.6</c:v>
                </c:pt>
                <c:pt idx="3">
                  <c:v>4.7</c:v>
                </c:pt>
              </c:numCache>
            </c:numRef>
          </c:val>
          <c:smooth val="0"/>
        </c:ser>
        <c:ser>
          <c:idx val="2"/>
          <c:order val="2"/>
          <c:tx>
            <c:strRef>
              <c:f>Sheet1!$D$1</c:f>
              <c:strCache>
                <c:ptCount val="1"/>
                <c:pt idx="0">
                  <c:v>Poach</c:v>
                </c:pt>
              </c:strCache>
            </c:strRef>
          </c:tx>
          <c:spPr>
            <a:ln w="28575" cap="rnd">
              <a:solidFill>
                <a:schemeClr val="tx2"/>
              </a:solidFill>
              <a:round/>
            </a:ln>
            <a:effectLst/>
          </c:spPr>
          <c:marker>
            <c:symbol val="none"/>
          </c:marker>
          <c:cat>
            <c:numRef>
              <c:f>Sheet1!$A$2:$A$5</c:f>
              <c:numCache>
                <c:formatCode>General</c:formatCode>
                <c:ptCount val="4"/>
                <c:pt idx="0">
                  <c:v>2010.0</c:v>
                </c:pt>
                <c:pt idx="1">
                  <c:v>2011.0</c:v>
                </c:pt>
                <c:pt idx="2">
                  <c:v>2012.0</c:v>
                </c:pt>
                <c:pt idx="3">
                  <c:v>2013.0</c:v>
                </c:pt>
              </c:numCache>
            </c:numRef>
          </c:cat>
          <c:val>
            <c:numRef>
              <c:f>Sheet1!$D$2:$D$5</c:f>
              <c:numCache>
                <c:formatCode>General</c:formatCode>
                <c:ptCount val="4"/>
                <c:pt idx="0">
                  <c:v>4.2</c:v>
                </c:pt>
                <c:pt idx="1">
                  <c:v>4.3</c:v>
                </c:pt>
                <c:pt idx="2">
                  <c:v>4.1</c:v>
                </c:pt>
                <c:pt idx="3">
                  <c:v>4.3</c:v>
                </c:pt>
              </c:numCache>
            </c:numRef>
          </c:val>
          <c:smooth val="0"/>
        </c:ser>
        <c:dLbls>
          <c:showLegendKey val="0"/>
          <c:showVal val="0"/>
          <c:showCatName val="0"/>
          <c:showSerName val="0"/>
          <c:showPercent val="0"/>
          <c:showBubbleSize val="0"/>
        </c:dLbls>
        <c:marker val="1"/>
        <c:smooth val="0"/>
        <c:axId val="-2131318808"/>
        <c:axId val="-2131314840"/>
      </c:lineChart>
      <c:catAx>
        <c:axId val="-2131318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31314840"/>
        <c:crosses val="autoZero"/>
        <c:auto val="1"/>
        <c:lblAlgn val="ctr"/>
        <c:lblOffset val="100"/>
        <c:noMultiLvlLbl val="0"/>
      </c:catAx>
      <c:valAx>
        <c:axId val="-2131314840"/>
        <c:scaling>
          <c:orientation val="minMax"/>
          <c:max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31318808"/>
        <c:crosses val="autoZero"/>
        <c:crossBetween val="between"/>
        <c:majorUnit val="1.0"/>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2">
    <c:autoUpdate val="0"/>
  </c:externalData>
  <c:userShapes r:id="rId3"/>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percentStacked"/>
        <c:varyColors val="0"/>
        <c:ser>
          <c:idx val="0"/>
          <c:order val="0"/>
          <c:tx>
            <c:strRef>
              <c:f>Sheet1!$B$1</c:f>
              <c:strCache>
                <c:ptCount val="1"/>
                <c:pt idx="0">
                  <c:v>Client</c:v>
                </c:pt>
              </c:strCache>
            </c:strRef>
          </c:tx>
          <c:spPr>
            <a:solidFill>
              <a:srgbClr val="1F497D"/>
            </a:solidFill>
            <a:ln w="26188">
              <a:noFill/>
            </a:ln>
            <a:effectLst>
              <a:outerShdw dist="35921" dir="2700000" algn="br">
                <a:srgbClr val="000000"/>
              </a:outerShdw>
            </a:effectLst>
          </c:spPr>
          <c:invertIfNegative val="0"/>
          <c:cat>
            <c:strRef>
              <c:f>Sheet1!$A$2:$A$4</c:f>
              <c:strCache>
                <c:ptCount val="3"/>
                <c:pt idx="0">
                  <c:v>Product 1</c:v>
                </c:pt>
                <c:pt idx="1">
                  <c:v>Product 2</c:v>
                </c:pt>
                <c:pt idx="2">
                  <c:v>Product 3</c:v>
                </c:pt>
              </c:strCache>
            </c:strRef>
          </c:cat>
          <c:val>
            <c:numRef>
              <c:f>Sheet1!$B$2:$B$4</c:f>
              <c:numCache>
                <c:formatCode>General</c:formatCode>
                <c:ptCount val="3"/>
                <c:pt idx="0">
                  <c:v>65.0</c:v>
                </c:pt>
                <c:pt idx="1">
                  <c:v>10.0</c:v>
                </c:pt>
                <c:pt idx="2">
                  <c:v>100.0</c:v>
                </c:pt>
              </c:numCache>
            </c:numRef>
          </c:val>
        </c:ser>
        <c:ser>
          <c:idx val="1"/>
          <c:order val="1"/>
          <c:tx>
            <c:strRef>
              <c:f>Sheet1!$C$1</c:f>
              <c:strCache>
                <c:ptCount val="1"/>
                <c:pt idx="0">
                  <c:v>Competitor 1</c:v>
                </c:pt>
              </c:strCache>
            </c:strRef>
          </c:tx>
          <c:spPr>
            <a:gradFill rotWithShape="0">
              <a:gsLst>
                <a:gs pos="0">
                  <a:srgbClr val="FFFF67"/>
                </a:gs>
                <a:gs pos="100000">
                  <a:srgbClr val="FFFF00"/>
                </a:gs>
              </a:gsLst>
              <a:lin ang="5400000"/>
            </a:gradFill>
            <a:ln w="26188">
              <a:noFill/>
            </a:ln>
            <a:effectLst>
              <a:outerShdw dist="35921" dir="2700000" algn="br">
                <a:srgbClr val="000000"/>
              </a:outerShdw>
            </a:effectLst>
          </c:spPr>
          <c:invertIfNegative val="0"/>
          <c:cat>
            <c:strRef>
              <c:f>Sheet1!$A$2:$A$4</c:f>
              <c:strCache>
                <c:ptCount val="3"/>
                <c:pt idx="0">
                  <c:v>Product 1</c:v>
                </c:pt>
                <c:pt idx="1">
                  <c:v>Product 2</c:v>
                </c:pt>
                <c:pt idx="2">
                  <c:v>Product 3</c:v>
                </c:pt>
              </c:strCache>
            </c:strRef>
          </c:cat>
          <c:val>
            <c:numRef>
              <c:f>Sheet1!$C$2:$C$4</c:f>
              <c:numCache>
                <c:formatCode>General</c:formatCode>
                <c:ptCount val="3"/>
                <c:pt idx="0">
                  <c:v>20.0</c:v>
                </c:pt>
                <c:pt idx="1">
                  <c:v>70.0</c:v>
                </c:pt>
                <c:pt idx="2">
                  <c:v>0.0</c:v>
                </c:pt>
              </c:numCache>
            </c:numRef>
          </c:val>
        </c:ser>
        <c:ser>
          <c:idx val="2"/>
          <c:order val="2"/>
          <c:tx>
            <c:strRef>
              <c:f>Sheet1!$D$1</c:f>
              <c:strCache>
                <c:ptCount val="1"/>
                <c:pt idx="0">
                  <c:v>Competitor 2</c:v>
                </c:pt>
              </c:strCache>
            </c:strRef>
          </c:tx>
          <c:spPr>
            <a:gradFill rotWithShape="0">
              <a:gsLst>
                <a:gs pos="0">
                  <a:srgbClr val="FFFFFF"/>
                </a:gs>
                <a:gs pos="100000">
                  <a:srgbClr val="FFFFFF"/>
                </a:gs>
              </a:gsLst>
              <a:lin ang="5400000"/>
            </a:gradFill>
            <a:ln w="26188">
              <a:noFill/>
            </a:ln>
            <a:effectLst>
              <a:outerShdw dist="35921" dir="2700000" algn="br">
                <a:srgbClr val="000000"/>
              </a:outerShdw>
            </a:effectLst>
          </c:spPr>
          <c:invertIfNegative val="0"/>
          <c:cat>
            <c:strRef>
              <c:f>Sheet1!$A$2:$A$4</c:f>
              <c:strCache>
                <c:ptCount val="3"/>
                <c:pt idx="0">
                  <c:v>Product 1</c:v>
                </c:pt>
                <c:pt idx="1">
                  <c:v>Product 2</c:v>
                </c:pt>
                <c:pt idx="2">
                  <c:v>Product 3</c:v>
                </c:pt>
              </c:strCache>
            </c:strRef>
          </c:cat>
          <c:val>
            <c:numRef>
              <c:f>Sheet1!$D$2:$D$4</c:f>
              <c:numCache>
                <c:formatCode>General</c:formatCode>
                <c:ptCount val="3"/>
                <c:pt idx="0">
                  <c:v>15.0</c:v>
                </c:pt>
                <c:pt idx="1">
                  <c:v>20.0</c:v>
                </c:pt>
                <c:pt idx="2">
                  <c:v>0.0</c:v>
                </c:pt>
              </c:numCache>
            </c:numRef>
          </c:val>
        </c:ser>
        <c:ser>
          <c:idx val="3"/>
          <c:order val="3"/>
          <c:tx>
            <c:strRef>
              <c:f>Sheet1!$E$1</c:f>
              <c:strCache>
                <c:ptCount val="1"/>
                <c:pt idx="0">
                  <c:v>Others</c:v>
                </c:pt>
              </c:strCache>
            </c:strRef>
          </c:tx>
          <c:spPr>
            <a:solidFill>
              <a:schemeClr val="bg1">
                <a:lumMod val="75000"/>
              </a:schemeClr>
            </a:solidFill>
            <a:ln w="26188">
              <a:noFill/>
            </a:ln>
            <a:effectLst>
              <a:outerShdw dist="35921" dir="2700000" algn="br">
                <a:srgbClr val="000000"/>
              </a:outerShdw>
            </a:effectLst>
          </c:spPr>
          <c:invertIfNegative val="0"/>
          <c:cat>
            <c:strRef>
              <c:f>Sheet1!$A$2:$A$4</c:f>
              <c:strCache>
                <c:ptCount val="3"/>
                <c:pt idx="0">
                  <c:v>Product 1</c:v>
                </c:pt>
                <c:pt idx="1">
                  <c:v>Product 2</c:v>
                </c:pt>
                <c:pt idx="2">
                  <c:v>Product 3</c:v>
                </c:pt>
              </c:strCache>
            </c:strRef>
          </c:cat>
          <c:val>
            <c:numRef>
              <c:f>Sheet1!$E$2:$E$4</c:f>
              <c:numCache>
                <c:formatCode>General</c:formatCode>
                <c:ptCount val="3"/>
                <c:pt idx="0">
                  <c:v>20.0</c:v>
                </c:pt>
                <c:pt idx="1">
                  <c:v>30.0</c:v>
                </c:pt>
                <c:pt idx="2">
                  <c:v>20.0</c:v>
                </c:pt>
              </c:numCache>
            </c:numRef>
          </c:val>
        </c:ser>
        <c:dLbls>
          <c:showLegendKey val="0"/>
          <c:showVal val="0"/>
          <c:showCatName val="0"/>
          <c:showSerName val="0"/>
          <c:showPercent val="0"/>
          <c:showBubbleSize val="0"/>
        </c:dLbls>
        <c:gapWidth val="55"/>
        <c:overlap val="100"/>
        <c:axId val="-2127906648"/>
        <c:axId val="-2127903208"/>
      </c:barChart>
      <c:catAx>
        <c:axId val="-2127906648"/>
        <c:scaling>
          <c:orientation val="minMax"/>
        </c:scaling>
        <c:delete val="0"/>
        <c:axPos val="b"/>
        <c:numFmt formatCode="General" sourceLinked="1"/>
        <c:majorTickMark val="none"/>
        <c:minorTickMark val="none"/>
        <c:tickLblPos val="nextTo"/>
        <c:spPr>
          <a:ln w="3274">
            <a:solidFill>
              <a:srgbClr val="808080"/>
            </a:solidFill>
            <a:prstDash val="solid"/>
          </a:ln>
        </c:spPr>
        <c:txPr>
          <a:bodyPr rot="0" vert="horz"/>
          <a:lstStyle/>
          <a:p>
            <a:pPr>
              <a:defRPr sz="1851" b="0" i="0" u="none" strike="noStrike" baseline="0">
                <a:solidFill>
                  <a:srgbClr val="000000"/>
                </a:solidFill>
                <a:latin typeface="Arial"/>
                <a:ea typeface="Arial"/>
                <a:cs typeface="Arial"/>
              </a:defRPr>
            </a:pPr>
            <a:endParaRPr lang="en-US"/>
          </a:p>
        </c:txPr>
        <c:crossAx val="-2127903208"/>
        <c:crosses val="autoZero"/>
        <c:auto val="1"/>
        <c:lblAlgn val="ctr"/>
        <c:lblOffset val="100"/>
        <c:noMultiLvlLbl val="0"/>
      </c:catAx>
      <c:valAx>
        <c:axId val="-2127903208"/>
        <c:scaling>
          <c:orientation val="minMax"/>
        </c:scaling>
        <c:delete val="0"/>
        <c:axPos val="l"/>
        <c:majorGridlines>
          <c:spPr>
            <a:ln w="3274">
              <a:solidFill>
                <a:srgbClr val="808080"/>
              </a:solidFill>
              <a:prstDash val="solid"/>
            </a:ln>
          </c:spPr>
        </c:majorGridlines>
        <c:numFmt formatCode="0%" sourceLinked="1"/>
        <c:majorTickMark val="none"/>
        <c:minorTickMark val="none"/>
        <c:tickLblPos val="nextTo"/>
        <c:spPr>
          <a:ln w="3274">
            <a:solidFill>
              <a:srgbClr val="808080"/>
            </a:solidFill>
            <a:prstDash val="solid"/>
          </a:ln>
        </c:spPr>
        <c:txPr>
          <a:bodyPr rot="0" vert="horz"/>
          <a:lstStyle/>
          <a:p>
            <a:pPr>
              <a:defRPr sz="1851" b="0" i="0" u="none" strike="noStrike" baseline="0">
                <a:solidFill>
                  <a:srgbClr val="000000"/>
                </a:solidFill>
                <a:latin typeface="Arial"/>
                <a:ea typeface="Arial"/>
                <a:cs typeface="Arial"/>
              </a:defRPr>
            </a:pPr>
            <a:endParaRPr lang="en-US"/>
          </a:p>
        </c:txPr>
        <c:crossAx val="-2127906648"/>
        <c:crosses val="autoZero"/>
        <c:crossBetween val="between"/>
      </c:valAx>
      <c:spPr>
        <a:noFill/>
        <a:ln w="26188">
          <a:noFill/>
        </a:ln>
      </c:spPr>
    </c:plotArea>
    <c:legend>
      <c:legendPos val="r"/>
      <c:layout>
        <c:manualLayout>
          <c:xMode val="edge"/>
          <c:yMode val="edge"/>
          <c:x val="0.761674532002045"/>
          <c:y val="0.389890210233503"/>
          <c:w val="0.236365990225588"/>
          <c:h val="0.498316513252745"/>
        </c:manualLayout>
      </c:layout>
      <c:overlay val="0"/>
      <c:spPr>
        <a:noFill/>
        <a:ln w="26188">
          <a:noFill/>
        </a:ln>
      </c:spPr>
      <c:txPr>
        <a:bodyPr/>
        <a:lstStyle/>
        <a:p>
          <a:pPr>
            <a:defRPr sz="1701" b="0" i="0" u="none" strike="noStrike" baseline="0">
              <a:solidFill>
                <a:srgbClr val="000000"/>
              </a:solidFill>
              <a:latin typeface="Arial"/>
              <a:ea typeface="Arial"/>
              <a:cs typeface="Arial"/>
            </a:defRPr>
          </a:pPr>
          <a:endParaRPr lang="en-US"/>
        </a:p>
      </c:txPr>
    </c:legend>
    <c:plotVisOnly val="1"/>
    <c:dispBlanksAs val="gap"/>
    <c:showDLblsOverMax val="0"/>
  </c:chart>
  <c:spPr>
    <a:noFill/>
    <a:ln>
      <a:noFill/>
    </a:ln>
  </c:spPr>
  <c:txPr>
    <a:bodyPr/>
    <a:lstStyle/>
    <a:p>
      <a:pPr>
        <a:defRPr sz="1851" b="0" i="0" u="none" strike="noStrike" baseline="0">
          <a:solidFill>
            <a:srgbClr val="000000"/>
          </a:solidFill>
          <a:latin typeface="Arial"/>
          <a:ea typeface="Arial"/>
          <a:cs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dirty="0" smtClean="0"/>
              <a:t>2013 Budget</a:t>
            </a:r>
            <a:endParaRPr lang="en-US" b="1" u="sng" dirty="0"/>
          </a:p>
        </c:rich>
      </c:tx>
      <c:overlay val="0"/>
      <c:spPr>
        <a:noFill/>
        <a:ln>
          <a:noFill/>
        </a:ln>
        <a:effectLst/>
      </c:spPr>
    </c:title>
    <c:autoTitleDeleted val="0"/>
    <c:plotArea>
      <c:layout>
        <c:manualLayout>
          <c:layoutTarget val="inner"/>
          <c:xMode val="edge"/>
          <c:yMode val="edge"/>
          <c:x val="0.0812728145390393"/>
          <c:y val="0.167257294437153"/>
          <c:w val="0.466416666666667"/>
          <c:h val="0.777361111111111"/>
        </c:manualLayout>
      </c:layout>
      <c:pieChart>
        <c:varyColors val="1"/>
        <c:ser>
          <c:idx val="0"/>
          <c:order val="0"/>
          <c:dPt>
            <c:idx val="0"/>
            <c:bubble3D val="0"/>
            <c:spPr>
              <a:solidFill>
                <a:srgbClr val="999999"/>
              </a:solidFill>
              <a:ln w="19050">
                <a:solidFill>
                  <a:schemeClr val="lt1"/>
                </a:solidFill>
              </a:ln>
              <a:effectLst/>
            </c:spPr>
          </c:dPt>
          <c:dPt>
            <c:idx val="1"/>
            <c:bubble3D val="0"/>
            <c:spPr>
              <a:solidFill>
                <a:srgbClr val="7030A0"/>
              </a:solidFill>
              <a:ln w="19050">
                <a:solidFill>
                  <a:schemeClr val="lt1"/>
                </a:solidFill>
              </a:ln>
              <a:effectLst/>
            </c:spPr>
          </c:dPt>
          <c:dPt>
            <c:idx val="2"/>
            <c:bubble3D val="0"/>
            <c:spPr>
              <a:solidFill>
                <a:srgbClr val="00B050"/>
              </a:solidFill>
              <a:ln w="19050">
                <a:solidFill>
                  <a:schemeClr val="lt1"/>
                </a:solidFill>
              </a:ln>
              <a:effectLst/>
            </c:spPr>
          </c:dPt>
          <c:dPt>
            <c:idx val="3"/>
            <c:bubble3D val="0"/>
            <c:spPr>
              <a:solidFill>
                <a:srgbClr val="3A4AA0"/>
              </a:solidFill>
              <a:ln w="19050">
                <a:solidFill>
                  <a:schemeClr val="lt1"/>
                </a:solidFill>
              </a:ln>
              <a:effectLst/>
            </c:spPr>
          </c:dPt>
          <c:dPt>
            <c:idx val="4"/>
            <c:bubble3D val="0"/>
            <c:spPr>
              <a:solidFill>
                <a:srgbClr val="FFC000"/>
              </a:solidFill>
              <a:ln w="19050">
                <a:solidFill>
                  <a:schemeClr val="lt1"/>
                </a:solidFill>
              </a:ln>
              <a:effectLst/>
            </c:spPr>
          </c:dPt>
          <c:dPt>
            <c:idx val="5"/>
            <c:bubble3D val="0"/>
            <c:spPr>
              <a:solidFill>
                <a:srgbClr val="C00000"/>
              </a:solidFill>
              <a:ln w="19050">
                <a:solidFill>
                  <a:schemeClr val="lt1"/>
                </a:solidFill>
              </a:ln>
              <a:effectLst/>
            </c:spPr>
          </c:dPt>
          <c:dPt>
            <c:idx val="6"/>
            <c:bubble3D val="0"/>
            <c:spPr>
              <a:solidFill>
                <a:srgbClr val="00B0F0"/>
              </a:solidFill>
              <a:ln w="19050">
                <a:solidFill>
                  <a:schemeClr val="lt1"/>
                </a:solidFill>
              </a:ln>
              <a:effectLst/>
            </c:spPr>
          </c:dPt>
          <c:cat>
            <c:strRef>
              <c:f>Sheet1!$G$2:$G$8</c:f>
              <c:strCache>
                <c:ptCount val="7"/>
                <c:pt idx="0">
                  <c:v>Parks - ?</c:v>
                </c:pt>
                <c:pt idx="1">
                  <c:v>Administration- $13.75M</c:v>
                </c:pt>
                <c:pt idx="2">
                  <c:v>Public Safety- $15M</c:v>
                </c:pt>
                <c:pt idx="3">
                  <c:v>Law and Courts- $11M</c:v>
                </c:pt>
                <c:pt idx="4">
                  <c:v>Public Works- ?</c:v>
                </c:pt>
                <c:pt idx="5">
                  <c:v>Utilities- $6M</c:v>
                </c:pt>
                <c:pt idx="6">
                  <c:v>Schools- 45%</c:v>
                </c:pt>
              </c:strCache>
            </c:strRef>
          </c:cat>
          <c:val>
            <c:numRef>
              <c:f>Sheet1!$H$2:$H$8</c:f>
              <c:numCache>
                <c:formatCode>General</c:formatCode>
                <c:ptCount val="7"/>
                <c:pt idx="0">
                  <c:v>5.0</c:v>
                </c:pt>
                <c:pt idx="1">
                  <c:v>13.75</c:v>
                </c:pt>
                <c:pt idx="2">
                  <c:v>15.0</c:v>
                </c:pt>
                <c:pt idx="3">
                  <c:v>11.0</c:v>
                </c:pt>
                <c:pt idx="4">
                  <c:v>4.25</c:v>
                </c:pt>
                <c:pt idx="5">
                  <c:v>6.0</c:v>
                </c:pt>
                <c:pt idx="6">
                  <c:v>45.0</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r"/>
      <c:legendEntry>
        <c:idx val="0"/>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565305209995373"/>
          <c:y val="0.124916885389326"/>
          <c:w val="0.424195064579036"/>
          <c:h val="0.8478047535724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u="sng" dirty="0" smtClean="0"/>
              <a:t>2009</a:t>
            </a:r>
            <a:r>
              <a:rPr lang="en-US" b="1" u="sng" baseline="0" dirty="0" smtClean="0"/>
              <a:t> Non-personnel</a:t>
            </a:r>
            <a:endParaRPr lang="en-US" b="1" u="sng" dirty="0"/>
          </a:p>
        </c:rich>
      </c:tx>
      <c:overlay val="0"/>
      <c:spPr>
        <a:noFill/>
        <a:ln>
          <a:noFill/>
        </a:ln>
        <a:effectLst/>
      </c:spPr>
    </c:title>
    <c:autoTitleDeleted val="0"/>
    <c:plotArea>
      <c:layout/>
      <c:barChart>
        <c:barDir val="bar"/>
        <c:grouping val="clustered"/>
        <c:varyColors val="0"/>
        <c:ser>
          <c:idx val="0"/>
          <c:order val="0"/>
          <c:spPr>
            <a:solidFill>
              <a:srgbClr val="000099"/>
            </a:solidFill>
            <a:ln>
              <a:noFill/>
            </a:ln>
            <a:effectLst/>
          </c:spPr>
          <c:invertIfNegative val="0"/>
          <c:cat>
            <c:strRef>
              <c:f>Sheet1!$A$2:$A$8</c:f>
              <c:strCache>
                <c:ptCount val="7"/>
                <c:pt idx="0">
                  <c:v>Parks-$5M</c:v>
                </c:pt>
                <c:pt idx="1">
                  <c:v>Administration- $6M</c:v>
                </c:pt>
                <c:pt idx="2">
                  <c:v>Public Safety- $11M</c:v>
                </c:pt>
                <c:pt idx="3">
                  <c:v>Law and Courts- $8M</c:v>
                </c:pt>
                <c:pt idx="4">
                  <c:v>Public Works- $5M</c:v>
                </c:pt>
                <c:pt idx="5">
                  <c:v>Utilities - ?</c:v>
                </c:pt>
                <c:pt idx="6">
                  <c:v>Schools- $48M</c:v>
                </c:pt>
              </c:strCache>
            </c:strRef>
          </c:cat>
          <c:val>
            <c:numRef>
              <c:f>Sheet1!$B$2:$B$8</c:f>
              <c:numCache>
                <c:formatCode>General</c:formatCode>
                <c:ptCount val="7"/>
                <c:pt idx="0">
                  <c:v>5.0</c:v>
                </c:pt>
                <c:pt idx="1">
                  <c:v>6.0</c:v>
                </c:pt>
                <c:pt idx="2">
                  <c:v>11.0</c:v>
                </c:pt>
                <c:pt idx="3">
                  <c:v>8.0</c:v>
                </c:pt>
                <c:pt idx="4">
                  <c:v>5.0</c:v>
                </c:pt>
                <c:pt idx="5">
                  <c:v>2.0</c:v>
                </c:pt>
                <c:pt idx="6">
                  <c:v>48.0</c:v>
                </c:pt>
              </c:numCache>
            </c:numRef>
          </c:val>
        </c:ser>
        <c:dLbls>
          <c:showLegendKey val="0"/>
          <c:showVal val="0"/>
          <c:showCatName val="0"/>
          <c:showSerName val="0"/>
          <c:showPercent val="0"/>
          <c:showBubbleSize val="0"/>
        </c:dLbls>
        <c:gapWidth val="182"/>
        <c:axId val="-2123915736"/>
        <c:axId val="-2123930824"/>
      </c:barChart>
      <c:catAx>
        <c:axId val="-212391573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123930824"/>
        <c:crosses val="autoZero"/>
        <c:auto val="1"/>
        <c:lblAlgn val="ctr"/>
        <c:lblOffset val="100"/>
        <c:noMultiLvlLbl val="0"/>
      </c:catAx>
      <c:valAx>
        <c:axId val="-2123930824"/>
        <c:scaling>
          <c:orientation val="minMax"/>
        </c:scaling>
        <c:delete val="0"/>
        <c:axPos val="b"/>
        <c:majorGridlines>
          <c:spPr>
            <a:ln w="9525" cap="flat" cmpd="sng" algn="ctr">
              <a:solidFill>
                <a:srgbClr val="000000"/>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239157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title>
      <c:overlay val="0"/>
    </c:title>
    <c:autoTitleDeleted val="0"/>
    <c:plotArea>
      <c:layout/>
      <c:barChart>
        <c:barDir val="col"/>
        <c:grouping val="clustered"/>
        <c:varyColors val="0"/>
        <c:ser>
          <c:idx val="1"/>
          <c:order val="0"/>
          <c:tx>
            <c:strRef>
              <c:f>Sheet1!$B$1</c:f>
              <c:strCache>
                <c:ptCount val="1"/>
                <c:pt idx="0">
                  <c:v>Average Auction Price BB Spectrum (Millions)</c:v>
                </c:pt>
              </c:strCache>
            </c:strRef>
          </c:tx>
          <c:spPr>
            <a:solidFill>
              <a:srgbClr val="000099"/>
            </a:solidFill>
          </c:spPr>
          <c:invertIfNegative val="0"/>
          <c:val>
            <c:numRef>
              <c:f>Sheet1!$B$2:$B$13</c:f>
              <c:numCache>
                <c:formatCode>General</c:formatCode>
                <c:ptCount val="12"/>
                <c:pt idx="0">
                  <c:v>1100.0</c:v>
                </c:pt>
                <c:pt idx="1">
                  <c:v>340.0</c:v>
                </c:pt>
                <c:pt idx="2">
                  <c:v>250.0</c:v>
                </c:pt>
                <c:pt idx="3">
                  <c:v>240.0</c:v>
                </c:pt>
                <c:pt idx="4">
                  <c:v>500.0</c:v>
                </c:pt>
                <c:pt idx="5">
                  <c:v>450.0</c:v>
                </c:pt>
                <c:pt idx="6">
                  <c:v>340.0</c:v>
                </c:pt>
                <c:pt idx="7">
                  <c:v>200.0</c:v>
                </c:pt>
                <c:pt idx="8">
                  <c:v>1200.0</c:v>
                </c:pt>
                <c:pt idx="9">
                  <c:v>450.0</c:v>
                </c:pt>
                <c:pt idx="10">
                  <c:v>600.0</c:v>
                </c:pt>
                <c:pt idx="11">
                  <c:v>330.0</c:v>
                </c:pt>
              </c:numCache>
            </c:numRef>
          </c:val>
        </c:ser>
        <c:dLbls>
          <c:showLegendKey val="0"/>
          <c:showVal val="0"/>
          <c:showCatName val="0"/>
          <c:showSerName val="0"/>
          <c:showPercent val="0"/>
          <c:showBubbleSize val="0"/>
        </c:dLbls>
        <c:gapWidth val="150"/>
        <c:axId val="-2127863944"/>
        <c:axId val="-2127860888"/>
      </c:barChart>
      <c:catAx>
        <c:axId val="-2127863944"/>
        <c:scaling>
          <c:orientation val="minMax"/>
        </c:scaling>
        <c:delete val="0"/>
        <c:axPos val="b"/>
        <c:majorTickMark val="out"/>
        <c:minorTickMark val="none"/>
        <c:tickLblPos val="nextTo"/>
        <c:crossAx val="-2127860888"/>
        <c:crosses val="autoZero"/>
        <c:auto val="1"/>
        <c:lblAlgn val="ctr"/>
        <c:lblOffset val="100"/>
        <c:noMultiLvlLbl val="0"/>
      </c:catAx>
      <c:valAx>
        <c:axId val="-2127860888"/>
        <c:scaling>
          <c:orientation val="minMax"/>
        </c:scaling>
        <c:delete val="0"/>
        <c:axPos val="l"/>
        <c:majorGridlines/>
        <c:numFmt formatCode="General" sourceLinked="1"/>
        <c:majorTickMark val="out"/>
        <c:minorTickMark val="none"/>
        <c:tickLblPos val="nextTo"/>
        <c:crossAx val="-2127863944"/>
        <c:crosses val="autoZero"/>
        <c:crossBetween val="between"/>
      </c:valAx>
    </c:plotArea>
    <c:plotVisOnly val="1"/>
    <c:dispBlanksAs val="gap"/>
    <c:showDLblsOverMax val="0"/>
  </c:chart>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64812339232632"/>
          <c:y val="0.0674543910297735"/>
          <c:w val="0.635187660767372"/>
          <c:h val="0.865091217940462"/>
        </c:manualLayout>
      </c:layout>
      <c:barChart>
        <c:barDir val="bar"/>
        <c:grouping val="clustered"/>
        <c:varyColors val="0"/>
        <c:ser>
          <c:idx val="0"/>
          <c:order val="0"/>
          <c:tx>
            <c:strRef>
              <c:f>Sheet1!$B$1</c:f>
              <c:strCache>
                <c:ptCount val="1"/>
                <c:pt idx="0">
                  <c:v>Customers</c:v>
                </c:pt>
              </c:strCache>
            </c:strRef>
          </c:tx>
          <c:spPr>
            <a:solidFill>
              <a:srgbClr val="003399"/>
            </a:soli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Student Assistance Program (SAP)</c:v>
                </c:pt>
                <c:pt idx="1">
                  <c:v>Discount Cards</c:v>
                </c:pt>
                <c:pt idx="2">
                  <c:v>Dental Insurance</c:v>
                </c:pt>
                <c:pt idx="3">
                  <c:v>Medical Insurance</c:v>
                </c:pt>
              </c:strCache>
            </c:strRef>
          </c:cat>
          <c:val>
            <c:numRef>
              <c:f>Sheet1!$B$2:$B$5</c:f>
              <c:numCache>
                <c:formatCode>0.0%</c:formatCode>
                <c:ptCount val="4"/>
                <c:pt idx="0">
                  <c:v>0.002</c:v>
                </c:pt>
                <c:pt idx="1">
                  <c:v>0.002</c:v>
                </c:pt>
                <c:pt idx="2">
                  <c:v>0.00600000000000001</c:v>
                </c:pt>
                <c:pt idx="3" formatCode="0%">
                  <c:v>0.99</c:v>
                </c:pt>
              </c:numCache>
            </c:numRef>
          </c:val>
        </c:ser>
        <c:dLbls>
          <c:showLegendKey val="0"/>
          <c:showVal val="0"/>
          <c:showCatName val="0"/>
          <c:showSerName val="0"/>
          <c:showPercent val="0"/>
          <c:showBubbleSize val="0"/>
        </c:dLbls>
        <c:gapWidth val="150"/>
        <c:axId val="-2138599992"/>
        <c:axId val="-2138609160"/>
      </c:barChart>
      <c:catAx>
        <c:axId val="-2138599992"/>
        <c:scaling>
          <c:orientation val="minMax"/>
        </c:scaling>
        <c:delete val="0"/>
        <c:axPos val="l"/>
        <c:numFmt formatCode="General" sourceLinked="0"/>
        <c:majorTickMark val="out"/>
        <c:minorTickMark val="none"/>
        <c:tickLblPos val="nextTo"/>
        <c:txPr>
          <a:bodyPr/>
          <a:lstStyle/>
          <a:p>
            <a:pPr>
              <a:defRPr sz="1050"/>
            </a:pPr>
            <a:endParaRPr lang="en-US"/>
          </a:p>
        </c:txPr>
        <c:crossAx val="-2138609160"/>
        <c:crosses val="autoZero"/>
        <c:auto val="1"/>
        <c:lblAlgn val="ctr"/>
        <c:lblOffset val="100"/>
        <c:noMultiLvlLbl val="0"/>
      </c:catAx>
      <c:valAx>
        <c:axId val="-2138609160"/>
        <c:scaling>
          <c:orientation val="minMax"/>
          <c:max val="1.2"/>
        </c:scaling>
        <c:delete val="1"/>
        <c:axPos val="b"/>
        <c:numFmt formatCode="0.0%" sourceLinked="1"/>
        <c:majorTickMark val="out"/>
        <c:minorTickMark val="none"/>
        <c:tickLblPos val="none"/>
        <c:crossAx val="-2138599992"/>
        <c:crosses val="autoZero"/>
        <c:crossBetween val="between"/>
      </c:valAx>
    </c:plotArea>
    <c:plotVisOnly val="1"/>
    <c:dispBlanksAs val="gap"/>
    <c:showDLblsOverMax val="0"/>
  </c:chart>
  <c:txPr>
    <a:bodyPr/>
    <a:lstStyle/>
    <a:p>
      <a:pPr>
        <a:defRPr sz="1000">
          <a:solidFill>
            <a:schemeClr val="tx1"/>
          </a:solidFill>
        </a:defRPr>
      </a:pPr>
      <a:endParaRPr lang="en-US"/>
    </a:p>
  </c:txPr>
  <c:externalData r:id="rId2">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Customers</c:v>
                </c:pt>
              </c:strCache>
            </c:strRef>
          </c:tx>
          <c:explosion val="6"/>
          <c:dLbls>
            <c:dLbl>
              <c:idx val="0"/>
              <c:layout>
                <c:manualLayout>
                  <c:x val="0.23251930834984"/>
                  <c:y val="-0.0189553806516955"/>
                </c:manualLayout>
              </c:layout>
              <c:spPr/>
              <c:txPr>
                <a:bodyPr/>
                <a:lstStyle/>
                <a:p>
                  <a:pPr>
                    <a:defRPr b="1">
                      <a:solidFill>
                        <a:schemeClr val="bg1"/>
                      </a:solidFill>
                    </a:defRPr>
                  </a:pPr>
                  <a:endParaRPr lang="en-US"/>
                </a:p>
              </c:txPr>
              <c:showLegendKey val="0"/>
              <c:showVal val="1"/>
              <c:showCatName val="0"/>
              <c:showSerName val="0"/>
              <c:showPercent val="0"/>
              <c:showBubbleSize val="0"/>
              <c:extLst>
                <c:ext xmlns:c15="http://schemas.microsoft.com/office/drawing/2012/chart" uri="{CE6537A1-D6FC-4f65-9D91-7224C49458BB}"/>
              </c:extLst>
            </c:dLbl>
            <c:dLbl>
              <c:idx val="1"/>
              <c:layout>
                <c:manualLayout>
                  <c:x val="-0.170097557756941"/>
                  <c:y val="0.0105744035524142"/>
                </c:manualLayout>
              </c:layout>
              <c:spPr/>
              <c:txPr>
                <a:bodyPr/>
                <a:lstStyle/>
                <a:p>
                  <a:pPr>
                    <a:defRPr b="1">
                      <a:solidFill>
                        <a:schemeClr val="bg1"/>
                      </a:solidFill>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a:lstStyle/>
              <a:p>
                <a:pPr>
                  <a:defRPr b="1"/>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Sheet1!$A$2:$A$3</c:f>
              <c:strCache>
                <c:ptCount val="2"/>
                <c:pt idx="0">
                  <c:v>Large Schoolts</c:v>
                </c:pt>
                <c:pt idx="1">
                  <c:v>Small Schools</c:v>
                </c:pt>
              </c:strCache>
            </c:strRef>
          </c:cat>
          <c:val>
            <c:numRef>
              <c:f>Sheet1!$B$2:$B$3</c:f>
              <c:numCache>
                <c:formatCode>0%</c:formatCode>
                <c:ptCount val="2"/>
                <c:pt idx="0">
                  <c:v>0.93</c:v>
                </c:pt>
                <c:pt idx="1">
                  <c:v>0.07</c:v>
                </c:pt>
              </c:numCache>
            </c:numRef>
          </c:val>
        </c:ser>
        <c:dLbls>
          <c:showLegendKey val="0"/>
          <c:showVal val="0"/>
          <c:showCatName val="0"/>
          <c:showSerName val="0"/>
          <c:showPercent val="0"/>
          <c:showBubbleSize val="0"/>
          <c:showLeaderLines val="1"/>
        </c:dLbls>
        <c:firstSliceAng val="100"/>
      </c:pieChart>
    </c:plotArea>
    <c:plotVisOnly val="1"/>
    <c:dispBlanksAs val="zero"/>
    <c:showDLblsOverMax val="0"/>
  </c:chart>
  <c:txPr>
    <a:bodyPr/>
    <a:lstStyle/>
    <a:p>
      <a:pPr>
        <a:defRPr sz="10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402045145131809"/>
          <c:y val="0.069633301166769"/>
          <c:w val="0.559076687659628"/>
          <c:h val="0.860733397666462"/>
        </c:manualLayout>
      </c:layout>
      <c:barChart>
        <c:barDir val="bar"/>
        <c:grouping val="clustered"/>
        <c:varyColors val="0"/>
        <c:ser>
          <c:idx val="0"/>
          <c:order val="0"/>
          <c:tx>
            <c:strRef>
              <c:f>Sheet1!$B$1</c:f>
              <c:strCache>
                <c:ptCount val="1"/>
                <c:pt idx="0">
                  <c:v>Student</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Student Assistance Program (SAP)</c:v>
                </c:pt>
                <c:pt idx="1">
                  <c:v>Discount Cards</c:v>
                </c:pt>
                <c:pt idx="2">
                  <c:v>Dental</c:v>
                </c:pt>
              </c:strCache>
            </c:strRef>
          </c:cat>
          <c:val>
            <c:numRef>
              <c:f>Sheet1!$B$2:$B$4</c:f>
              <c:numCache>
                <c:formatCode>0.0%</c:formatCode>
                <c:ptCount val="3"/>
                <c:pt idx="0">
                  <c:v>1.0</c:v>
                </c:pt>
                <c:pt idx="1">
                  <c:v>0.195</c:v>
                </c:pt>
                <c:pt idx="2">
                  <c:v>0.066</c:v>
                </c:pt>
              </c:numCache>
            </c:numRef>
          </c:val>
        </c:ser>
        <c:ser>
          <c:idx val="1"/>
          <c:order val="1"/>
          <c:tx>
            <c:strRef>
              <c:f>Sheet1!$C$1</c:f>
              <c:strCache>
                <c:ptCount val="1"/>
                <c:pt idx="0">
                  <c:v>School</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Student Assistance Program (SAP)</c:v>
                </c:pt>
                <c:pt idx="1">
                  <c:v>Discount Cards</c:v>
                </c:pt>
                <c:pt idx="2">
                  <c:v>Dental</c:v>
                </c:pt>
              </c:strCache>
            </c:strRef>
          </c:cat>
          <c:val>
            <c:numRef>
              <c:f>Sheet1!$C$2:$C$4</c:f>
              <c:numCache>
                <c:formatCode>0.0%</c:formatCode>
                <c:ptCount val="3"/>
                <c:pt idx="0">
                  <c:v>0.0747126436781609</c:v>
                </c:pt>
                <c:pt idx="1">
                  <c:v>0.523</c:v>
                </c:pt>
                <c:pt idx="2">
                  <c:v>0.42</c:v>
                </c:pt>
              </c:numCache>
            </c:numRef>
          </c:val>
        </c:ser>
        <c:dLbls>
          <c:showLegendKey val="0"/>
          <c:showVal val="0"/>
          <c:showCatName val="0"/>
          <c:showSerName val="0"/>
          <c:showPercent val="0"/>
          <c:showBubbleSize val="0"/>
        </c:dLbls>
        <c:gapWidth val="150"/>
        <c:axId val="-2138649512"/>
        <c:axId val="-2138646536"/>
      </c:barChart>
      <c:catAx>
        <c:axId val="-2138649512"/>
        <c:scaling>
          <c:orientation val="minMax"/>
        </c:scaling>
        <c:delete val="0"/>
        <c:axPos val="l"/>
        <c:numFmt formatCode="General" sourceLinked="0"/>
        <c:majorTickMark val="out"/>
        <c:minorTickMark val="none"/>
        <c:tickLblPos val="nextTo"/>
        <c:txPr>
          <a:bodyPr/>
          <a:lstStyle/>
          <a:p>
            <a:pPr>
              <a:defRPr sz="1050"/>
            </a:pPr>
            <a:endParaRPr lang="en-US"/>
          </a:p>
        </c:txPr>
        <c:crossAx val="-2138646536"/>
        <c:crosses val="autoZero"/>
        <c:auto val="1"/>
        <c:lblAlgn val="ctr"/>
        <c:lblOffset val="100"/>
        <c:noMultiLvlLbl val="0"/>
      </c:catAx>
      <c:valAx>
        <c:axId val="-2138646536"/>
        <c:scaling>
          <c:orientation val="minMax"/>
        </c:scaling>
        <c:delete val="1"/>
        <c:axPos val="b"/>
        <c:numFmt formatCode="0.0%" sourceLinked="1"/>
        <c:majorTickMark val="out"/>
        <c:minorTickMark val="none"/>
        <c:tickLblPos val="none"/>
        <c:crossAx val="-2138649512"/>
        <c:crosses val="autoZero"/>
        <c:crossBetween val="between"/>
      </c:valAx>
    </c:plotArea>
    <c:legend>
      <c:legendPos val="r"/>
      <c:layout>
        <c:manualLayout>
          <c:xMode val="edge"/>
          <c:yMode val="edge"/>
          <c:x val="0.759890919000661"/>
          <c:y val="0.0943068467763413"/>
          <c:w val="0.197152907264867"/>
          <c:h val="0.199396123803449"/>
        </c:manualLayout>
      </c:layout>
      <c:overlay val="1"/>
    </c:legend>
    <c:plotVisOnly val="1"/>
    <c:dispBlanksAs val="gap"/>
    <c:showDLblsOverMax val="0"/>
  </c:chart>
  <c:txPr>
    <a:bodyPr/>
    <a:lstStyle/>
    <a:p>
      <a:pPr>
        <a:defRPr sz="10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9485995444563"/>
          <c:y val="0.0304778676575507"/>
          <c:w val="0.777394814711732"/>
          <c:h val="0.77197369778555"/>
        </c:manualLayout>
      </c:layout>
      <c:barChart>
        <c:barDir val="col"/>
        <c:grouping val="stacked"/>
        <c:varyColors val="0"/>
        <c:ser>
          <c:idx val="0"/>
          <c:order val="0"/>
          <c:tx>
            <c:strRef>
              <c:f>Sheet1!$B$1</c:f>
              <c:strCache>
                <c:ptCount val="1"/>
                <c:pt idx="0">
                  <c:v>Public</c:v>
                </c:pt>
              </c:strCache>
            </c:strRef>
          </c:tx>
          <c:spPr>
            <a:solidFill>
              <a:schemeClr val="accent1"/>
            </a:solidFill>
          </c:spPr>
          <c:invertIfNegative val="0"/>
          <c:cat>
            <c:strRef>
              <c:f>Sheet1!$A$2:$A$6</c:f>
              <c:strCache>
                <c:ptCount val="5"/>
                <c:pt idx="0">
                  <c:v>&gt;20K</c:v>
                </c:pt>
                <c:pt idx="1">
                  <c:v>10-20K</c:v>
                </c:pt>
                <c:pt idx="2">
                  <c:v>5-10K</c:v>
                </c:pt>
                <c:pt idx="3">
                  <c:v>1-5K</c:v>
                </c:pt>
                <c:pt idx="4">
                  <c:v>&lt;1K</c:v>
                </c:pt>
              </c:strCache>
            </c:strRef>
          </c:cat>
          <c:val>
            <c:numRef>
              <c:f>Sheet1!$B$2:$B$6</c:f>
              <c:numCache>
                <c:formatCode>General</c:formatCode>
                <c:ptCount val="5"/>
                <c:pt idx="0">
                  <c:v>211.0</c:v>
                </c:pt>
                <c:pt idx="1">
                  <c:v>337.0</c:v>
                </c:pt>
                <c:pt idx="2">
                  <c:v>518.0</c:v>
                </c:pt>
                <c:pt idx="3">
                  <c:v>1605.0</c:v>
                </c:pt>
                <c:pt idx="4">
                  <c:v>1878.0</c:v>
                </c:pt>
              </c:numCache>
            </c:numRef>
          </c:val>
        </c:ser>
        <c:dLbls>
          <c:showLegendKey val="0"/>
          <c:showVal val="0"/>
          <c:showCatName val="0"/>
          <c:showSerName val="0"/>
          <c:showPercent val="0"/>
          <c:showBubbleSize val="0"/>
        </c:dLbls>
        <c:gapWidth val="150"/>
        <c:overlap val="100"/>
        <c:axId val="-2104051352"/>
        <c:axId val="-2103972456"/>
      </c:barChart>
      <c:catAx>
        <c:axId val="-2104051352"/>
        <c:scaling>
          <c:orientation val="minMax"/>
        </c:scaling>
        <c:delete val="0"/>
        <c:axPos val="b"/>
        <c:title>
          <c:tx>
            <c:rich>
              <a:bodyPr/>
              <a:lstStyle/>
              <a:p>
                <a:pPr>
                  <a:defRPr/>
                </a:pPr>
                <a:r>
                  <a:rPr lang="en-US" sz="1000" dirty="0" smtClean="0"/>
                  <a:t>School Size (</a:t>
                </a:r>
                <a:r>
                  <a:rPr lang="en-US" sz="1000" baseline="0" dirty="0" smtClean="0"/>
                  <a:t>Students)</a:t>
                </a:r>
                <a:endParaRPr lang="en-US" sz="1000" dirty="0"/>
              </a:p>
            </c:rich>
          </c:tx>
          <c:layout>
            <c:manualLayout>
              <c:xMode val="edge"/>
              <c:yMode val="edge"/>
              <c:x val="0.267983308553721"/>
              <c:y val="0.907609812274433"/>
            </c:manualLayout>
          </c:layout>
          <c:overlay val="0"/>
        </c:title>
        <c:numFmt formatCode="General" sourceLinked="0"/>
        <c:majorTickMark val="out"/>
        <c:minorTickMark val="none"/>
        <c:tickLblPos val="nextTo"/>
        <c:txPr>
          <a:bodyPr/>
          <a:lstStyle/>
          <a:p>
            <a:pPr>
              <a:defRPr sz="1000"/>
            </a:pPr>
            <a:endParaRPr lang="en-US"/>
          </a:p>
        </c:txPr>
        <c:crossAx val="-2103972456"/>
        <c:crosses val="autoZero"/>
        <c:auto val="1"/>
        <c:lblAlgn val="ctr"/>
        <c:lblOffset val="100"/>
        <c:noMultiLvlLbl val="0"/>
      </c:catAx>
      <c:valAx>
        <c:axId val="-2103972456"/>
        <c:scaling>
          <c:orientation val="minMax"/>
        </c:scaling>
        <c:delete val="0"/>
        <c:axPos val="l"/>
        <c:majorGridlines>
          <c:spPr>
            <a:ln>
              <a:solidFill>
                <a:schemeClr val="bg1">
                  <a:lumMod val="75000"/>
                </a:schemeClr>
              </a:solidFill>
              <a:prstDash val="sysDot"/>
            </a:ln>
          </c:spPr>
        </c:majorGridlines>
        <c:title>
          <c:tx>
            <c:rich>
              <a:bodyPr rot="-5400000" vert="horz"/>
              <a:lstStyle/>
              <a:p>
                <a:pPr>
                  <a:defRPr sz="1000"/>
                </a:pPr>
                <a:r>
                  <a:rPr lang="en-US" sz="1000" dirty="0" smtClean="0"/>
                  <a:t>Number of Schools</a:t>
                </a:r>
                <a:endParaRPr lang="en-US" sz="1000" dirty="0"/>
              </a:p>
            </c:rich>
          </c:tx>
          <c:overlay val="0"/>
        </c:title>
        <c:numFmt formatCode="#,##0\ \ \ ;\(#,##0\)\ \ ;0\ \ \ ;" sourceLinked="0"/>
        <c:majorTickMark val="out"/>
        <c:minorTickMark val="none"/>
        <c:tickLblPos val="nextTo"/>
        <c:txPr>
          <a:bodyPr/>
          <a:lstStyle/>
          <a:p>
            <a:pPr>
              <a:defRPr sz="1000"/>
            </a:pPr>
            <a:endParaRPr lang="en-US"/>
          </a:p>
        </c:txPr>
        <c:crossAx val="-2104051352"/>
        <c:crosses val="autoZero"/>
        <c:crossBetween val="between"/>
        <c:majorUnit val="500.0"/>
      </c:valAx>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Revenue ($M)</c:v>
                </c:pt>
              </c:strCache>
            </c:strRef>
          </c:tx>
          <c:spPr>
            <a:solidFill>
              <a:schemeClr val="bg1">
                <a:lumMod val="85000"/>
              </a:schemeClr>
            </a:solidFill>
          </c:spPr>
          <c:invertIfNegative val="0"/>
          <c:dLbls>
            <c:numFmt formatCode="&quot;$&quot;#0&quot;M&quot;" sourceLinked="0"/>
            <c:spPr>
              <a:solidFill>
                <a:schemeClr val="bg1"/>
              </a:solidFill>
            </c:spPr>
            <c:txPr>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2006</c:v>
                </c:pt>
                <c:pt idx="1">
                  <c:v>07</c:v>
                </c:pt>
                <c:pt idx="2">
                  <c:v>08</c:v>
                </c:pt>
                <c:pt idx="3">
                  <c:v>09</c:v>
                </c:pt>
                <c:pt idx="4">
                  <c:v>10</c:v>
                </c:pt>
              </c:strCache>
            </c:strRef>
          </c:cat>
          <c:val>
            <c:numRef>
              <c:f>Sheet1!$B$2:$B$6</c:f>
              <c:numCache>
                <c:formatCode>General</c:formatCode>
                <c:ptCount val="5"/>
                <c:pt idx="0">
                  <c:v>372.9</c:v>
                </c:pt>
                <c:pt idx="1">
                  <c:v>398.2</c:v>
                </c:pt>
                <c:pt idx="2">
                  <c:v>462.0</c:v>
                </c:pt>
                <c:pt idx="3">
                  <c:v>486.6</c:v>
                </c:pt>
                <c:pt idx="4">
                  <c:v>518.1</c:v>
                </c:pt>
              </c:numCache>
            </c:numRef>
          </c:val>
        </c:ser>
        <c:ser>
          <c:idx val="2"/>
          <c:order val="1"/>
          <c:tx>
            <c:strRef>
              <c:f>Sheet1!$D$1</c:f>
              <c:strCache>
                <c:ptCount val="1"/>
                <c:pt idx="0">
                  <c:v>Pretax Operating Income ($M)</c:v>
                </c:pt>
              </c:strCache>
            </c:strRef>
          </c:tx>
          <c:spPr>
            <a:solidFill>
              <a:schemeClr val="accent1"/>
            </a:solidFill>
          </c:spPr>
          <c:invertIfNegative val="0"/>
          <c:dLbls>
            <c:numFmt formatCode="&quot;$&quot;#0&quot;M&quot;" sourceLinked="0"/>
            <c:spPr>
              <a:noFill/>
              <a:ln>
                <a:noFill/>
              </a:ln>
              <a:effectLst/>
            </c:spPr>
            <c:txPr>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2006</c:v>
                </c:pt>
                <c:pt idx="1">
                  <c:v>07</c:v>
                </c:pt>
                <c:pt idx="2">
                  <c:v>08</c:v>
                </c:pt>
                <c:pt idx="3">
                  <c:v>09</c:v>
                </c:pt>
                <c:pt idx="4">
                  <c:v>10</c:v>
                </c:pt>
              </c:strCache>
            </c:strRef>
          </c:cat>
          <c:val>
            <c:numRef>
              <c:f>Sheet1!$D$2:$D$6</c:f>
              <c:numCache>
                <c:formatCode>#,##0.0\ \ \ ;\(#,##0.0\)\ \ ;0.0\ \ \ ;</c:formatCode>
                <c:ptCount val="5"/>
                <c:pt idx="0">
                  <c:v>88.26430266</c:v>
                </c:pt>
                <c:pt idx="1">
                  <c:v>70.33206394</c:v>
                </c:pt>
                <c:pt idx="2">
                  <c:v>58.40015689000001</c:v>
                </c:pt>
                <c:pt idx="3">
                  <c:v>42.08011655000001</c:v>
                </c:pt>
                <c:pt idx="4">
                  <c:v>44.49124632</c:v>
                </c:pt>
              </c:numCache>
            </c:numRef>
          </c:val>
        </c:ser>
        <c:dLbls>
          <c:showLegendKey val="0"/>
          <c:showVal val="0"/>
          <c:showCatName val="0"/>
          <c:showSerName val="0"/>
          <c:showPercent val="0"/>
          <c:showBubbleSize val="0"/>
        </c:dLbls>
        <c:gapWidth val="150"/>
        <c:axId val="-2105178520"/>
        <c:axId val="-2105175512"/>
      </c:barChart>
      <c:catAx>
        <c:axId val="-2105178520"/>
        <c:scaling>
          <c:orientation val="minMax"/>
        </c:scaling>
        <c:delete val="0"/>
        <c:axPos val="b"/>
        <c:numFmt formatCode="General" sourceLinked="0"/>
        <c:majorTickMark val="out"/>
        <c:minorTickMark val="none"/>
        <c:tickLblPos val="nextTo"/>
        <c:txPr>
          <a:bodyPr/>
          <a:lstStyle/>
          <a:p>
            <a:pPr>
              <a:defRPr sz="1000"/>
            </a:pPr>
            <a:endParaRPr lang="en-US"/>
          </a:p>
        </c:txPr>
        <c:crossAx val="-2105175512"/>
        <c:crosses val="autoZero"/>
        <c:auto val="1"/>
        <c:lblAlgn val="ctr"/>
        <c:lblOffset val="100"/>
        <c:noMultiLvlLbl val="0"/>
      </c:catAx>
      <c:valAx>
        <c:axId val="-2105175512"/>
        <c:scaling>
          <c:orientation val="minMax"/>
        </c:scaling>
        <c:delete val="1"/>
        <c:axPos val="l"/>
        <c:numFmt formatCode="#,##0" sourceLinked="0"/>
        <c:majorTickMark val="out"/>
        <c:minorTickMark val="none"/>
        <c:tickLblPos val="none"/>
        <c:crossAx val="-2105178520"/>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30.emf"/></Relationships>
</file>

<file path=ppt/drawings/drawing1.xml><?xml version="1.0" encoding="utf-8"?>
<c:userShapes xmlns:c="http://schemas.openxmlformats.org/drawingml/2006/chart">
  <cdr:relSizeAnchor xmlns:cdr="http://schemas.openxmlformats.org/drawingml/2006/chartDrawing">
    <cdr:from>
      <cdr:x>0.87059</cdr:x>
      <cdr:y>0.23856</cdr:y>
    </cdr:from>
    <cdr:to>
      <cdr:x>0.91471</cdr:x>
      <cdr:y>0.29158</cdr:y>
    </cdr:to>
    <cdr:sp macro="" textlink="">
      <cdr:nvSpPr>
        <cdr:cNvPr id="3" name="TextBox 8"/>
        <cdr:cNvSpPr txBox="1"/>
      </cdr:nvSpPr>
      <cdr:spPr>
        <a:xfrm xmlns:a="http://schemas.openxmlformats.org/drawingml/2006/main">
          <a:off x="5307105" y="969528"/>
          <a:ext cx="268941" cy="215444"/>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a:lstStyle>
        <a:p xmlns:a="http://schemas.openxmlformats.org/drawingml/2006/main">
          <a:r>
            <a:rPr lang="en-US" sz="800" dirty="0" smtClean="0"/>
            <a:t>F</a:t>
          </a:r>
          <a:endParaRPr lang="en-US" sz="8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2" y="0"/>
            <a:ext cx="2982119" cy="464820"/>
          </a:xfrm>
          <a:prstGeom prst="rect">
            <a:avLst/>
          </a:prstGeom>
          <a:noFill/>
          <a:ln w="9525">
            <a:noFill/>
            <a:miter lim="800000"/>
            <a:headEnd/>
            <a:tailEnd/>
          </a:ln>
          <a:effectLst/>
        </p:spPr>
        <p:txBody>
          <a:bodyPr vert="horz" wrap="square" lIns="92444" tIns="46222" rIns="92444" bIns="46222" numCol="1" anchor="t" anchorCtr="0" compatLnSpc="1">
            <a:prstTxWarp prst="textNoShape">
              <a:avLst/>
            </a:prstTxWarp>
          </a:bodyPr>
          <a:lstStyle>
            <a:lvl1pPr eaLnBrk="0" hangingPunct="0">
              <a:defRPr sz="1200">
                <a:latin typeface="Arial" charset="0"/>
                <a:ea typeface="ＭＳ Ｐゴシック" pitchFamily="-65" charset="-128"/>
              </a:defRPr>
            </a:lvl1pPr>
          </a:lstStyle>
          <a:p>
            <a:pPr>
              <a:defRPr/>
            </a:pPr>
            <a:endParaRPr lang="en-US" dirty="0"/>
          </a:p>
        </p:txBody>
      </p:sp>
      <p:sp>
        <p:nvSpPr>
          <p:cNvPr id="44035" name="Rectangle 3"/>
          <p:cNvSpPr>
            <a:spLocks noGrp="1" noChangeArrowheads="1"/>
          </p:cNvSpPr>
          <p:nvPr>
            <p:ph type="dt" sz="quarter" idx="1"/>
          </p:nvPr>
        </p:nvSpPr>
        <p:spPr bwMode="auto">
          <a:xfrm>
            <a:off x="3898104" y="0"/>
            <a:ext cx="2982119" cy="464820"/>
          </a:xfrm>
          <a:prstGeom prst="rect">
            <a:avLst/>
          </a:prstGeom>
          <a:noFill/>
          <a:ln w="9525">
            <a:noFill/>
            <a:miter lim="800000"/>
            <a:headEnd/>
            <a:tailEnd/>
          </a:ln>
          <a:effectLst/>
        </p:spPr>
        <p:txBody>
          <a:bodyPr vert="horz" wrap="square" lIns="92444" tIns="46222" rIns="92444" bIns="46222" numCol="1" anchor="t" anchorCtr="0" compatLnSpc="1">
            <a:prstTxWarp prst="textNoShape">
              <a:avLst/>
            </a:prstTxWarp>
          </a:bodyPr>
          <a:lstStyle>
            <a:lvl1pPr algn="r" eaLnBrk="0" hangingPunct="0">
              <a:defRPr sz="1200">
                <a:latin typeface="Arial" charset="0"/>
                <a:ea typeface="ＭＳ Ｐゴシック" pitchFamily="-65" charset="-128"/>
              </a:defRPr>
            </a:lvl1pPr>
          </a:lstStyle>
          <a:p>
            <a:pPr>
              <a:defRPr/>
            </a:pPr>
            <a:fld id="{74E8DE25-A96C-4784-9AF2-B7521031505D}" type="datetime1">
              <a:rPr lang="en-US"/>
              <a:pPr>
                <a:defRPr/>
              </a:pPr>
              <a:t>1/27/14</a:t>
            </a:fld>
            <a:endParaRPr lang="en-US" dirty="0"/>
          </a:p>
        </p:txBody>
      </p:sp>
      <p:sp>
        <p:nvSpPr>
          <p:cNvPr id="44036" name="Rectangle 4"/>
          <p:cNvSpPr>
            <a:spLocks noGrp="1" noChangeArrowheads="1"/>
          </p:cNvSpPr>
          <p:nvPr>
            <p:ph type="ftr" sz="quarter" idx="2"/>
          </p:nvPr>
        </p:nvSpPr>
        <p:spPr bwMode="auto">
          <a:xfrm>
            <a:off x="2" y="8829967"/>
            <a:ext cx="2982119" cy="464820"/>
          </a:xfrm>
          <a:prstGeom prst="rect">
            <a:avLst/>
          </a:prstGeom>
          <a:noFill/>
          <a:ln w="9525">
            <a:noFill/>
            <a:miter lim="800000"/>
            <a:headEnd/>
            <a:tailEnd/>
          </a:ln>
          <a:effectLst/>
        </p:spPr>
        <p:txBody>
          <a:bodyPr vert="horz" wrap="square" lIns="92444" tIns="46222" rIns="92444" bIns="46222" numCol="1" anchor="b" anchorCtr="0" compatLnSpc="1">
            <a:prstTxWarp prst="textNoShape">
              <a:avLst/>
            </a:prstTxWarp>
          </a:bodyPr>
          <a:lstStyle>
            <a:lvl1pPr eaLnBrk="0" hangingPunct="0">
              <a:defRPr sz="1200">
                <a:latin typeface="Arial" charset="0"/>
                <a:ea typeface="ＭＳ Ｐゴシック" pitchFamily="-65" charset="-128"/>
              </a:defRPr>
            </a:lvl1pPr>
          </a:lstStyle>
          <a:p>
            <a:pPr>
              <a:defRPr/>
            </a:pPr>
            <a:endParaRPr lang="en-US" dirty="0"/>
          </a:p>
        </p:txBody>
      </p:sp>
      <p:sp>
        <p:nvSpPr>
          <p:cNvPr id="44037" name="Rectangle 5"/>
          <p:cNvSpPr>
            <a:spLocks noGrp="1" noChangeArrowheads="1"/>
          </p:cNvSpPr>
          <p:nvPr>
            <p:ph type="sldNum" sz="quarter" idx="3"/>
          </p:nvPr>
        </p:nvSpPr>
        <p:spPr bwMode="auto">
          <a:xfrm>
            <a:off x="3898104" y="8829967"/>
            <a:ext cx="2982119" cy="464820"/>
          </a:xfrm>
          <a:prstGeom prst="rect">
            <a:avLst/>
          </a:prstGeom>
          <a:noFill/>
          <a:ln w="9525">
            <a:noFill/>
            <a:miter lim="800000"/>
            <a:headEnd/>
            <a:tailEnd/>
          </a:ln>
          <a:effectLst/>
        </p:spPr>
        <p:txBody>
          <a:bodyPr vert="horz" wrap="square" lIns="92444" tIns="46222" rIns="92444" bIns="46222" numCol="1" anchor="b" anchorCtr="0" compatLnSpc="1">
            <a:prstTxWarp prst="textNoShape">
              <a:avLst/>
            </a:prstTxWarp>
          </a:bodyPr>
          <a:lstStyle>
            <a:lvl1pPr algn="r" eaLnBrk="0" hangingPunct="0">
              <a:defRPr sz="1200">
                <a:latin typeface="Arial" charset="0"/>
                <a:ea typeface="ＭＳ Ｐゴシック" pitchFamily="-65" charset="-128"/>
              </a:defRPr>
            </a:lvl1pPr>
          </a:lstStyle>
          <a:p>
            <a:pPr>
              <a:defRPr/>
            </a:pPr>
            <a:fld id="{78AC4344-9A57-4A61-B31C-7A5508CCB294}" type="slidenum">
              <a:rPr lang="en-US"/>
              <a:pPr>
                <a:defRPr/>
              </a:pPr>
              <a:t>‹#›</a:t>
            </a:fld>
            <a:endParaRPr lang="en-US" dirty="0"/>
          </a:p>
        </p:txBody>
      </p:sp>
    </p:spTree>
    <p:extLst>
      <p:ext uri="{BB962C8B-B14F-4D97-AF65-F5344CB8AC3E}">
        <p14:creationId xmlns:p14="http://schemas.microsoft.com/office/powerpoint/2010/main" val="4673171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2" y="0"/>
            <a:ext cx="2982119" cy="464820"/>
          </a:xfrm>
          <a:prstGeom prst="rect">
            <a:avLst/>
          </a:prstGeom>
          <a:noFill/>
          <a:ln w="9525">
            <a:noFill/>
            <a:miter lim="800000"/>
            <a:headEnd/>
            <a:tailEnd/>
          </a:ln>
          <a:effectLst/>
        </p:spPr>
        <p:txBody>
          <a:bodyPr vert="horz" wrap="square" lIns="92444" tIns="46222" rIns="92444" bIns="46222" numCol="1" anchor="t" anchorCtr="0" compatLnSpc="1">
            <a:prstTxWarp prst="textNoShape">
              <a:avLst/>
            </a:prstTxWarp>
          </a:bodyPr>
          <a:lstStyle>
            <a:lvl1pPr eaLnBrk="0" hangingPunct="0">
              <a:defRPr sz="1200">
                <a:latin typeface="Arial" charset="0"/>
                <a:ea typeface="ＭＳ Ｐゴシック" pitchFamily="-65" charset="-128"/>
              </a:defRPr>
            </a:lvl1pPr>
          </a:lstStyle>
          <a:p>
            <a:pPr>
              <a:defRPr/>
            </a:pPr>
            <a:endParaRPr lang="en-US" dirty="0"/>
          </a:p>
        </p:txBody>
      </p:sp>
      <p:sp>
        <p:nvSpPr>
          <p:cNvPr id="53251" name="Rectangle 3"/>
          <p:cNvSpPr>
            <a:spLocks noGrp="1" noChangeArrowheads="1"/>
          </p:cNvSpPr>
          <p:nvPr>
            <p:ph type="dt" idx="1"/>
          </p:nvPr>
        </p:nvSpPr>
        <p:spPr bwMode="auto">
          <a:xfrm>
            <a:off x="3898104" y="0"/>
            <a:ext cx="2982119" cy="464820"/>
          </a:xfrm>
          <a:prstGeom prst="rect">
            <a:avLst/>
          </a:prstGeom>
          <a:noFill/>
          <a:ln w="9525">
            <a:noFill/>
            <a:miter lim="800000"/>
            <a:headEnd/>
            <a:tailEnd/>
          </a:ln>
          <a:effectLst/>
        </p:spPr>
        <p:txBody>
          <a:bodyPr vert="horz" wrap="square" lIns="92444" tIns="46222" rIns="92444" bIns="46222" numCol="1" anchor="t" anchorCtr="0" compatLnSpc="1">
            <a:prstTxWarp prst="textNoShape">
              <a:avLst/>
            </a:prstTxWarp>
          </a:bodyPr>
          <a:lstStyle>
            <a:lvl1pPr algn="r" eaLnBrk="0" hangingPunct="0">
              <a:defRPr sz="1200">
                <a:latin typeface="Arial" charset="0"/>
                <a:ea typeface="ＭＳ Ｐゴシック" pitchFamily="-65" charset="-128"/>
              </a:defRPr>
            </a:lvl1pPr>
          </a:lstStyle>
          <a:p>
            <a:pPr>
              <a:defRPr/>
            </a:pPr>
            <a:fld id="{4D17307E-A673-4CA3-8E6E-8EA722CE39DA}" type="datetime1">
              <a:rPr lang="en-US"/>
              <a:pPr>
                <a:defRPr/>
              </a:pPr>
              <a:t>1/27/14</a:t>
            </a:fld>
            <a:endParaRPr lang="en-US" dirty="0"/>
          </a:p>
        </p:txBody>
      </p:sp>
      <p:sp>
        <p:nvSpPr>
          <p:cNvPr id="144388" name="Rectangle 4"/>
          <p:cNvSpPr>
            <a:spLocks noGrp="1" noRot="1" noChangeAspect="1" noChangeArrowheads="1" noTextEdit="1"/>
          </p:cNvSpPr>
          <p:nvPr>
            <p:ph type="sldImg" idx="2"/>
          </p:nvPr>
        </p:nvSpPr>
        <p:spPr bwMode="auto">
          <a:xfrm>
            <a:off x="1119188" y="696913"/>
            <a:ext cx="4646612" cy="3486150"/>
          </a:xfrm>
          <a:prstGeom prst="rect">
            <a:avLst/>
          </a:prstGeom>
          <a:noFill/>
          <a:ln w="9525">
            <a:solidFill>
              <a:srgbClr val="000000"/>
            </a:solidFill>
            <a:miter lim="800000"/>
            <a:headEnd/>
            <a:tailEnd/>
          </a:ln>
        </p:spPr>
      </p:sp>
      <p:sp>
        <p:nvSpPr>
          <p:cNvPr id="53253" name="Rectangle 5"/>
          <p:cNvSpPr>
            <a:spLocks noGrp="1" noChangeArrowheads="1"/>
          </p:cNvSpPr>
          <p:nvPr>
            <p:ph type="body" sz="quarter" idx="3"/>
          </p:nvPr>
        </p:nvSpPr>
        <p:spPr bwMode="auto">
          <a:xfrm>
            <a:off x="688182" y="4415790"/>
            <a:ext cx="5505450" cy="4183380"/>
          </a:xfrm>
          <a:prstGeom prst="rect">
            <a:avLst/>
          </a:prstGeom>
          <a:noFill/>
          <a:ln w="9525">
            <a:noFill/>
            <a:miter lim="800000"/>
            <a:headEnd/>
            <a:tailEnd/>
          </a:ln>
          <a:effectLst/>
        </p:spPr>
        <p:txBody>
          <a:bodyPr vert="horz" wrap="square" lIns="92444" tIns="46222" rIns="92444" bIns="4622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3254" name="Rectangle 6"/>
          <p:cNvSpPr>
            <a:spLocks noGrp="1" noChangeArrowheads="1"/>
          </p:cNvSpPr>
          <p:nvPr>
            <p:ph type="ftr" sz="quarter" idx="4"/>
          </p:nvPr>
        </p:nvSpPr>
        <p:spPr bwMode="auto">
          <a:xfrm>
            <a:off x="2" y="8829967"/>
            <a:ext cx="2982119" cy="464820"/>
          </a:xfrm>
          <a:prstGeom prst="rect">
            <a:avLst/>
          </a:prstGeom>
          <a:noFill/>
          <a:ln w="9525">
            <a:noFill/>
            <a:miter lim="800000"/>
            <a:headEnd/>
            <a:tailEnd/>
          </a:ln>
          <a:effectLst/>
        </p:spPr>
        <p:txBody>
          <a:bodyPr vert="horz" wrap="square" lIns="92444" tIns="46222" rIns="92444" bIns="46222" numCol="1" anchor="b" anchorCtr="0" compatLnSpc="1">
            <a:prstTxWarp prst="textNoShape">
              <a:avLst/>
            </a:prstTxWarp>
          </a:bodyPr>
          <a:lstStyle>
            <a:lvl1pPr eaLnBrk="0" hangingPunct="0">
              <a:defRPr sz="1200">
                <a:latin typeface="Arial" charset="0"/>
                <a:ea typeface="ＭＳ Ｐゴシック" pitchFamily="-65" charset="-128"/>
              </a:defRPr>
            </a:lvl1pPr>
          </a:lstStyle>
          <a:p>
            <a:pPr>
              <a:defRPr/>
            </a:pPr>
            <a:endParaRPr lang="en-US" dirty="0"/>
          </a:p>
        </p:txBody>
      </p:sp>
      <p:sp>
        <p:nvSpPr>
          <p:cNvPr id="53255" name="Rectangle 7"/>
          <p:cNvSpPr>
            <a:spLocks noGrp="1" noChangeArrowheads="1"/>
          </p:cNvSpPr>
          <p:nvPr>
            <p:ph type="sldNum" sz="quarter" idx="5"/>
          </p:nvPr>
        </p:nvSpPr>
        <p:spPr bwMode="auto">
          <a:xfrm>
            <a:off x="3898104" y="8829967"/>
            <a:ext cx="2982119" cy="464820"/>
          </a:xfrm>
          <a:prstGeom prst="rect">
            <a:avLst/>
          </a:prstGeom>
          <a:noFill/>
          <a:ln w="9525">
            <a:noFill/>
            <a:miter lim="800000"/>
            <a:headEnd/>
            <a:tailEnd/>
          </a:ln>
          <a:effectLst/>
        </p:spPr>
        <p:txBody>
          <a:bodyPr vert="horz" wrap="square" lIns="92444" tIns="46222" rIns="92444" bIns="46222" numCol="1" anchor="b" anchorCtr="0" compatLnSpc="1">
            <a:prstTxWarp prst="textNoShape">
              <a:avLst/>
            </a:prstTxWarp>
          </a:bodyPr>
          <a:lstStyle>
            <a:lvl1pPr algn="r" eaLnBrk="0" hangingPunct="0">
              <a:defRPr sz="1200">
                <a:latin typeface="Arial" charset="0"/>
                <a:ea typeface="ＭＳ Ｐゴシック" pitchFamily="-65" charset="-128"/>
              </a:defRPr>
            </a:lvl1pPr>
          </a:lstStyle>
          <a:p>
            <a:pPr>
              <a:defRPr/>
            </a:pPr>
            <a:fld id="{C3E0605D-1DE2-4A71-8779-0284BDF8C5AD}" type="slidenum">
              <a:rPr lang="en-US"/>
              <a:pPr>
                <a:defRPr/>
              </a:pPr>
              <a:t>‹#›</a:t>
            </a:fld>
            <a:endParaRPr lang="en-US" dirty="0"/>
          </a:p>
        </p:txBody>
      </p:sp>
    </p:spTree>
    <p:extLst>
      <p:ext uri="{BB962C8B-B14F-4D97-AF65-F5344CB8AC3E}">
        <p14:creationId xmlns:p14="http://schemas.microsoft.com/office/powerpoint/2010/main" val="3016137650"/>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65" charset="-128"/>
        <a:cs typeface="+mn-cs"/>
      </a:defRPr>
    </a:lvl1pPr>
    <a:lvl2pPr marL="4572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65" charset="-128"/>
        <a:cs typeface="+mn-cs"/>
      </a:defRPr>
    </a:lvl2pPr>
    <a:lvl3pPr marL="9144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65" charset="-128"/>
        <a:cs typeface="+mn-cs"/>
      </a:defRPr>
    </a:lvl3pPr>
    <a:lvl4pPr marL="13716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65" charset="-128"/>
        <a:cs typeface="+mn-cs"/>
      </a:defRPr>
    </a:lvl4pPr>
    <a:lvl5pPr marL="18288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pPr>
              <a:defRPr/>
            </a:pPr>
            <a:fld id="{8600B3CD-BB54-9649-A138-CAAC3F74618D}" type="slidenum">
              <a:rPr lang="en-US"/>
              <a:pPr>
                <a:defRPr/>
              </a:pPr>
              <a:t>1</a:t>
            </a:fld>
            <a:endParaRPr lang="en-US"/>
          </a:p>
        </p:txBody>
      </p:sp>
      <p:sp>
        <p:nvSpPr>
          <p:cNvPr id="1587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158723" name="Rectangle 3"/>
          <p:cNvSpPr>
            <a:spLocks noGrp="1" noChangeArrowheads="1"/>
          </p:cNvSpPr>
          <p:nvPr>
            <p:ph type="body" idx="1"/>
          </p:nvPr>
        </p:nvSpPr>
        <p:spPr/>
        <p:txBody>
          <a:bodyPr/>
          <a:lstStyle/>
          <a:p>
            <a:pPr eaLnBrk="1" hangingPunct="1">
              <a:defRPr/>
            </a:pPr>
            <a:endParaRPr lang="en-US" smtClean="0"/>
          </a:p>
        </p:txBody>
      </p:sp>
    </p:spTree>
    <p:extLst>
      <p:ext uri="{BB962C8B-B14F-4D97-AF65-F5344CB8AC3E}">
        <p14:creationId xmlns:p14="http://schemas.microsoft.com/office/powerpoint/2010/main" val="3534449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C44110AE-A116-4B53-BC2C-7A1E2A5AD82B}" type="slidenum">
              <a:rPr lang="en-US" smtClean="0">
                <a:latin typeface="Arial" pitchFamily="34" charset="0"/>
                <a:ea typeface="ＭＳ Ｐゴシック" pitchFamily="34" charset="-128"/>
                <a:cs typeface="Arial" pitchFamily="34" charset="0"/>
              </a:rPr>
              <a:pPr/>
              <a:t>2</a:t>
            </a:fld>
            <a:endParaRPr lang="en-US" smtClean="0">
              <a:latin typeface="Arial" pitchFamily="34" charset="0"/>
              <a:ea typeface="ＭＳ Ｐゴシック" pitchFamily="34" charset="-128"/>
              <a:cs typeface="Arial" pitchFamily="34" charset="0"/>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eaLnBrk="1" hangingPunct="1"/>
            <a:endParaRPr lang="en-US" smtClean="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476964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3E0605D-1DE2-4A71-8779-0284BDF8C5AD}" type="slidenum">
              <a:rPr lang="en-US" smtClean="0"/>
              <a:pPr>
                <a:defRPr/>
              </a:pPr>
              <a:t>78</a:t>
            </a:fld>
            <a:endParaRPr lang="en-US" dirty="0"/>
          </a:p>
        </p:txBody>
      </p:sp>
    </p:spTree>
    <p:extLst>
      <p:ext uri="{BB962C8B-B14F-4D97-AF65-F5344CB8AC3E}">
        <p14:creationId xmlns:p14="http://schemas.microsoft.com/office/powerpoint/2010/main" val="597402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3E0605D-1DE2-4A71-8779-0284BDF8C5AD}" type="slidenum">
              <a:rPr lang="en-US" smtClean="0"/>
              <a:pPr>
                <a:defRPr/>
              </a:pPr>
              <a:t>79</a:t>
            </a:fld>
            <a:endParaRPr lang="en-US" dirty="0"/>
          </a:p>
        </p:txBody>
      </p:sp>
    </p:spTree>
    <p:extLst>
      <p:ext uri="{BB962C8B-B14F-4D97-AF65-F5344CB8AC3E}">
        <p14:creationId xmlns:p14="http://schemas.microsoft.com/office/powerpoint/2010/main" val="3239633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3E0605D-1DE2-4A71-8779-0284BDF8C5AD}" type="slidenum">
              <a:rPr lang="en-US" smtClean="0"/>
              <a:pPr>
                <a:defRPr/>
              </a:pPr>
              <a:t>81</a:t>
            </a:fld>
            <a:endParaRPr lang="en-US" dirty="0"/>
          </a:p>
        </p:txBody>
      </p:sp>
    </p:spTree>
    <p:extLst>
      <p:ext uri="{BB962C8B-B14F-4D97-AF65-F5344CB8AC3E}">
        <p14:creationId xmlns:p14="http://schemas.microsoft.com/office/powerpoint/2010/main" val="4018206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a:ln/>
        </p:spPr>
      </p:sp>
      <p:sp>
        <p:nvSpPr>
          <p:cNvPr id="2150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ea typeface="ＭＳ Ｐゴシック" pitchFamily="34" charset="-128"/>
              </a:rPr>
              <a:t>Insert table</a:t>
            </a:r>
          </a:p>
        </p:txBody>
      </p:sp>
      <p:sp>
        <p:nvSpPr>
          <p:cNvPr id="2150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915658C-A251-4CFE-BF43-F6951F0FDE9C}" type="slidenum">
              <a:rPr lang="en-US" sz="1200"/>
              <a:pPr/>
              <a:t>97</a:t>
            </a:fld>
            <a:endParaRPr lang="en-US" sz="1200"/>
          </a:p>
        </p:txBody>
      </p:sp>
    </p:spTree>
    <p:extLst>
      <p:ext uri="{BB962C8B-B14F-4D97-AF65-F5344CB8AC3E}">
        <p14:creationId xmlns:p14="http://schemas.microsoft.com/office/powerpoint/2010/main" val="2009444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3E0605D-1DE2-4A71-8779-0284BDF8C5AD}" type="slidenum">
              <a:rPr lang="en-US" smtClean="0"/>
              <a:pPr>
                <a:defRPr/>
              </a:pPr>
              <a:t>151</a:t>
            </a:fld>
            <a:endParaRPr lang="en-US" dirty="0"/>
          </a:p>
        </p:txBody>
      </p:sp>
    </p:spTree>
    <p:extLst>
      <p:ext uri="{BB962C8B-B14F-4D97-AF65-F5344CB8AC3E}">
        <p14:creationId xmlns:p14="http://schemas.microsoft.com/office/powerpoint/2010/main" val="1932193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3E0605D-1DE2-4A71-8779-0284BDF8C5AD}" type="slidenum">
              <a:rPr lang="en-US" smtClean="0"/>
              <a:pPr>
                <a:defRPr/>
              </a:pPr>
              <a:t>154</a:t>
            </a:fld>
            <a:endParaRPr lang="en-US" dirty="0"/>
          </a:p>
        </p:txBody>
      </p:sp>
    </p:spTree>
    <p:extLst>
      <p:ext uri="{BB962C8B-B14F-4D97-AF65-F5344CB8AC3E}">
        <p14:creationId xmlns:p14="http://schemas.microsoft.com/office/powerpoint/2010/main" val="19847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p:txBody>
          <a:bodyPr/>
          <a:lstStyle/>
          <a:p>
            <a:pPr>
              <a:defRPr/>
            </a:pPr>
            <a:fld id="{CE8F8FB8-50F3-436A-A259-1031C4D86ADE}" type="slidenum">
              <a:rPr lang="en-US" smtClean="0">
                <a:solidFill>
                  <a:srgbClr val="000000"/>
                </a:solidFill>
                <a:latin typeface="Arial" pitchFamily="34" charset="0"/>
              </a:rPr>
              <a:pPr>
                <a:defRPr/>
              </a:pPr>
              <a:t>155</a:t>
            </a:fld>
            <a:endParaRPr lang="en-US" dirty="0" smtClean="0">
              <a:solidFill>
                <a:srgbClr val="000000"/>
              </a:solidFill>
              <a:latin typeface="Arial" pitchFamily="34" charset="0"/>
            </a:endParaRPr>
          </a:p>
        </p:txBody>
      </p:sp>
      <p:sp>
        <p:nvSpPr>
          <p:cNvPr id="63491" name="Rectangle 2"/>
          <p:cNvSpPr>
            <a:spLocks noGrp="1" noRot="1" noChangeAspect="1" noChangeArrowheads="1" noTextEdit="1"/>
          </p:cNvSpPr>
          <p:nvPr>
            <p:ph type="sldImg"/>
          </p:nvPr>
        </p:nvSpPr>
        <p:spPr>
          <a:xfrm>
            <a:off x="1101725" y="696913"/>
            <a:ext cx="4654550" cy="3492500"/>
          </a:xfrm>
          <a:ln/>
        </p:spPr>
      </p:sp>
      <p:sp>
        <p:nvSpPr>
          <p:cNvPr id="63492" name="Rectangle 3"/>
          <p:cNvSpPr>
            <a:spLocks noGrp="1" noChangeArrowheads="1"/>
          </p:cNvSpPr>
          <p:nvPr>
            <p:ph type="body" idx="1"/>
          </p:nvPr>
        </p:nvSpPr>
        <p:spPr>
          <a:xfrm>
            <a:off x="331158" y="4423755"/>
            <a:ext cx="6195686" cy="266186"/>
          </a:xfrm>
          <a:noFill/>
          <a:ln/>
        </p:spPr>
        <p:txBody>
          <a:bodyPr/>
          <a:lstStyle/>
          <a:p>
            <a:pPr eaLnBrk="1" hangingPunct="1"/>
            <a:endParaRPr lang="en-US" dirty="0" smtClean="0"/>
          </a:p>
        </p:txBody>
      </p:sp>
    </p:spTree>
    <p:extLst>
      <p:ext uri="{BB962C8B-B14F-4D97-AF65-F5344CB8AC3E}">
        <p14:creationId xmlns:p14="http://schemas.microsoft.com/office/powerpoint/2010/main" val="981199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p:txBody>
          <a:bodyPr/>
          <a:lstStyle/>
          <a:p>
            <a:pPr>
              <a:defRPr/>
            </a:pPr>
            <a:fld id="{E0C5D518-65D5-4FEF-BCE5-2A591E6A9BF0}" type="slidenum">
              <a:rPr lang="en-US" smtClean="0">
                <a:solidFill>
                  <a:srgbClr val="000000"/>
                </a:solidFill>
                <a:latin typeface="Arial" pitchFamily="34" charset="0"/>
              </a:rPr>
              <a:pPr>
                <a:defRPr/>
              </a:pPr>
              <a:t>156</a:t>
            </a:fld>
            <a:endParaRPr lang="en-US" dirty="0" smtClean="0">
              <a:solidFill>
                <a:srgbClr val="000000"/>
              </a:solidFill>
              <a:latin typeface="Arial"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633921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883461" y="8845395"/>
            <a:ext cx="2973366" cy="464768"/>
          </a:xfrm>
          <a:prstGeom prst="rect">
            <a:avLst/>
          </a:prstGeom>
          <a:noFill/>
          <a:ln w="9525">
            <a:noFill/>
            <a:miter lim="800000"/>
            <a:headEnd/>
            <a:tailEnd/>
          </a:ln>
        </p:spPr>
        <p:txBody>
          <a:bodyPr lIns="94253" tIns="47128" rIns="94253" bIns="47128" anchor="b"/>
          <a:lstStyle/>
          <a:p>
            <a:pPr algn="r" eaLnBrk="0" hangingPunct="0">
              <a:lnSpc>
                <a:spcPct val="106000"/>
              </a:lnSpc>
            </a:pPr>
            <a:fld id="{BF5D18B6-6A63-44A3-BC50-6F72F93DF488}" type="slidenum">
              <a:rPr lang="en-US" sz="1200" b="1">
                <a:solidFill>
                  <a:prstClr val="black"/>
                </a:solidFill>
                <a:latin typeface="Arial" charset="0"/>
                <a:cs typeface="Arial" charset="0"/>
              </a:rPr>
              <a:pPr algn="r" eaLnBrk="0" hangingPunct="0">
                <a:lnSpc>
                  <a:spcPct val="106000"/>
                </a:lnSpc>
              </a:pPr>
              <a:t>157</a:t>
            </a:fld>
            <a:endParaRPr lang="en-US" sz="1200" b="1" dirty="0">
              <a:solidFill>
                <a:prstClr val="black"/>
              </a:solidFill>
              <a:latin typeface="Arial" charset="0"/>
              <a:cs typeface="Arial"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lIns="96044" tIns="48022" rIns="96044" bIns="48022"/>
          <a:lstStyle/>
          <a:p>
            <a:pPr eaLnBrk="1" hangingPunct="1"/>
            <a:endParaRPr lang="en-US" dirty="0" smtClean="0"/>
          </a:p>
        </p:txBody>
      </p:sp>
    </p:spTree>
    <p:extLst>
      <p:ext uri="{BB962C8B-B14F-4D97-AF65-F5344CB8AC3E}">
        <p14:creationId xmlns:p14="http://schemas.microsoft.com/office/powerpoint/2010/main" val="3909258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p:txBody>
          <a:bodyPr/>
          <a:lstStyle/>
          <a:p>
            <a:pPr>
              <a:defRPr/>
            </a:pPr>
            <a:fld id="{35BC9F7A-316D-4B59-8B42-81A9F8409F4C}" type="slidenum">
              <a:rPr lang="en-US" smtClean="0">
                <a:solidFill>
                  <a:srgbClr val="000000"/>
                </a:solidFill>
                <a:latin typeface="Arial" pitchFamily="34" charset="0"/>
              </a:rPr>
              <a:pPr>
                <a:defRPr/>
              </a:pPr>
              <a:t>158</a:t>
            </a:fld>
            <a:endParaRPr lang="en-US" dirty="0" smtClean="0">
              <a:solidFill>
                <a:srgbClr val="000000"/>
              </a:solidFill>
              <a:latin typeface="Arial" pitchFamily="34"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259612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p:txBody>
          <a:bodyPr/>
          <a:lstStyle/>
          <a:p>
            <a:pPr>
              <a:defRPr/>
            </a:pPr>
            <a:fld id="{35BC9F7A-316D-4B59-8B42-81A9F8409F4C}" type="slidenum">
              <a:rPr lang="en-US" smtClean="0">
                <a:solidFill>
                  <a:srgbClr val="000000"/>
                </a:solidFill>
                <a:latin typeface="Arial" pitchFamily="34" charset="0"/>
              </a:rPr>
              <a:pPr>
                <a:defRPr/>
              </a:pPr>
              <a:t>159</a:t>
            </a:fld>
            <a:endParaRPr lang="en-US" dirty="0" smtClean="0">
              <a:solidFill>
                <a:srgbClr val="000000"/>
              </a:solidFill>
              <a:latin typeface="Arial" pitchFamily="34"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778763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p:txBody>
          <a:bodyPr/>
          <a:lstStyle/>
          <a:p>
            <a:pPr>
              <a:defRPr/>
            </a:pPr>
            <a:fld id="{35BC9F7A-316D-4B59-8B42-81A9F8409F4C}" type="slidenum">
              <a:rPr lang="en-US" smtClean="0">
                <a:solidFill>
                  <a:srgbClr val="000000"/>
                </a:solidFill>
                <a:latin typeface="Arial" pitchFamily="34" charset="0"/>
              </a:rPr>
              <a:pPr>
                <a:defRPr/>
              </a:pPr>
              <a:t>160</a:t>
            </a:fld>
            <a:endParaRPr lang="en-US" dirty="0" smtClean="0">
              <a:solidFill>
                <a:srgbClr val="000000"/>
              </a:solidFill>
              <a:latin typeface="Arial" pitchFamily="34"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8412934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p:txBody>
          <a:bodyPr/>
          <a:lstStyle/>
          <a:p>
            <a:pPr>
              <a:defRPr/>
            </a:pPr>
            <a:fld id="{35BC9F7A-316D-4B59-8B42-81A9F8409F4C}" type="slidenum">
              <a:rPr lang="en-US" smtClean="0">
                <a:solidFill>
                  <a:srgbClr val="000000"/>
                </a:solidFill>
                <a:latin typeface="Arial" pitchFamily="34" charset="0"/>
              </a:rPr>
              <a:pPr>
                <a:defRPr/>
              </a:pPr>
              <a:t>161</a:t>
            </a:fld>
            <a:endParaRPr lang="en-US" dirty="0" smtClean="0">
              <a:solidFill>
                <a:srgbClr val="000000"/>
              </a:solidFill>
              <a:latin typeface="Arial" pitchFamily="34"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9066153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p:txBody>
          <a:bodyPr/>
          <a:lstStyle/>
          <a:p>
            <a:pPr>
              <a:defRPr/>
            </a:pPr>
            <a:fld id="{35BC9F7A-316D-4B59-8B42-81A9F8409F4C}" type="slidenum">
              <a:rPr lang="en-US" smtClean="0">
                <a:solidFill>
                  <a:srgbClr val="000000"/>
                </a:solidFill>
                <a:latin typeface="Arial" pitchFamily="34" charset="0"/>
              </a:rPr>
              <a:pPr>
                <a:defRPr/>
              </a:pPr>
              <a:t>162</a:t>
            </a:fld>
            <a:endParaRPr lang="en-US" dirty="0" smtClean="0">
              <a:solidFill>
                <a:srgbClr val="000000"/>
              </a:solidFill>
              <a:latin typeface="Arial" pitchFamily="34"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2171074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p:txBody>
          <a:bodyPr/>
          <a:lstStyle/>
          <a:p>
            <a:pPr>
              <a:defRPr/>
            </a:pPr>
            <a:fld id="{C81EF32D-E2A2-4A68-ACB2-041664898311}" type="slidenum">
              <a:rPr lang="en-US" smtClean="0">
                <a:solidFill>
                  <a:srgbClr val="000000"/>
                </a:solidFill>
                <a:latin typeface="Arial" pitchFamily="34" charset="0"/>
              </a:rPr>
              <a:pPr>
                <a:defRPr/>
              </a:pPr>
              <a:t>163</a:t>
            </a:fld>
            <a:endParaRPr lang="en-US" dirty="0" smtClean="0">
              <a:solidFill>
                <a:srgbClr val="000000"/>
              </a:solidFill>
              <a:latin typeface="Arial" pitchFamily="34"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688163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p:txBody>
          <a:bodyPr/>
          <a:lstStyle/>
          <a:p>
            <a:pPr>
              <a:defRPr/>
            </a:pPr>
            <a:fld id="{C81EF32D-E2A2-4A68-ACB2-041664898311}" type="slidenum">
              <a:rPr lang="en-US" smtClean="0">
                <a:solidFill>
                  <a:srgbClr val="000000"/>
                </a:solidFill>
                <a:latin typeface="Arial" pitchFamily="34" charset="0"/>
              </a:rPr>
              <a:pPr>
                <a:defRPr/>
              </a:pPr>
              <a:t>164</a:t>
            </a:fld>
            <a:endParaRPr lang="en-US" dirty="0" smtClean="0">
              <a:solidFill>
                <a:srgbClr val="000000"/>
              </a:solidFill>
              <a:latin typeface="Arial" pitchFamily="34"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269390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p:txBody>
          <a:bodyPr/>
          <a:lstStyle/>
          <a:p>
            <a:pPr>
              <a:defRPr/>
            </a:pPr>
            <a:fld id="{AC948100-5E56-44E3-8ACC-3984DA250D67}" type="slidenum">
              <a:rPr lang="en-US" smtClean="0">
                <a:solidFill>
                  <a:srgbClr val="000000"/>
                </a:solidFill>
                <a:latin typeface="Arial" pitchFamily="34" charset="0"/>
              </a:rPr>
              <a:pPr>
                <a:defRPr/>
              </a:pPr>
              <a:t>165</a:t>
            </a:fld>
            <a:endParaRPr lang="en-US" dirty="0" smtClean="0">
              <a:solidFill>
                <a:srgbClr val="000000"/>
              </a:solidFill>
              <a:latin typeface="Arial"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xfrm>
            <a:off x="930061" y="4430093"/>
            <a:ext cx="5000232" cy="4174469"/>
          </a:xfrm>
          <a:noFill/>
          <a:ln/>
        </p:spPr>
        <p:txBody>
          <a:bodyPr/>
          <a:lstStyle/>
          <a:p>
            <a:pPr eaLnBrk="1" hangingPunct="1"/>
            <a:endParaRPr lang="en-US" dirty="0" smtClean="0"/>
          </a:p>
        </p:txBody>
      </p:sp>
    </p:spTree>
    <p:extLst>
      <p:ext uri="{BB962C8B-B14F-4D97-AF65-F5344CB8AC3E}">
        <p14:creationId xmlns:p14="http://schemas.microsoft.com/office/powerpoint/2010/main" val="300387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p:txBody>
          <a:bodyPr/>
          <a:lstStyle/>
          <a:p>
            <a:pPr>
              <a:defRPr/>
            </a:pPr>
            <a:fld id="{CE8F8FB8-50F3-436A-A259-1031C4D86ADE}" type="slidenum">
              <a:rPr lang="en-US" smtClean="0">
                <a:solidFill>
                  <a:srgbClr val="000000"/>
                </a:solidFill>
                <a:latin typeface="Arial" pitchFamily="34" charset="0"/>
              </a:rPr>
              <a:pPr>
                <a:defRPr/>
              </a:pPr>
              <a:t>166</a:t>
            </a:fld>
            <a:endParaRPr lang="en-US" dirty="0" smtClean="0">
              <a:solidFill>
                <a:srgbClr val="000000"/>
              </a:solidFill>
              <a:latin typeface="Arial" pitchFamily="34" charset="0"/>
            </a:endParaRPr>
          </a:p>
        </p:txBody>
      </p:sp>
      <p:sp>
        <p:nvSpPr>
          <p:cNvPr id="63491" name="Rectangle 2"/>
          <p:cNvSpPr>
            <a:spLocks noGrp="1" noRot="1" noChangeAspect="1" noChangeArrowheads="1" noTextEdit="1"/>
          </p:cNvSpPr>
          <p:nvPr>
            <p:ph type="sldImg"/>
          </p:nvPr>
        </p:nvSpPr>
        <p:spPr>
          <a:xfrm>
            <a:off x="1101725" y="696913"/>
            <a:ext cx="4654550" cy="3492500"/>
          </a:xfrm>
          <a:ln/>
        </p:spPr>
      </p:sp>
      <p:sp>
        <p:nvSpPr>
          <p:cNvPr id="63492" name="Rectangle 3"/>
          <p:cNvSpPr>
            <a:spLocks noGrp="1" noChangeArrowheads="1"/>
          </p:cNvSpPr>
          <p:nvPr>
            <p:ph type="body" idx="1"/>
          </p:nvPr>
        </p:nvSpPr>
        <p:spPr>
          <a:xfrm>
            <a:off x="331158" y="4423755"/>
            <a:ext cx="6195686" cy="266186"/>
          </a:xfrm>
          <a:noFill/>
          <a:ln/>
        </p:spPr>
        <p:txBody>
          <a:bodyPr/>
          <a:lstStyle/>
          <a:p>
            <a:pPr eaLnBrk="1" hangingPunct="1"/>
            <a:endParaRPr lang="en-US" dirty="0" smtClean="0"/>
          </a:p>
        </p:txBody>
      </p:sp>
    </p:spTree>
    <p:extLst>
      <p:ext uri="{BB962C8B-B14F-4D97-AF65-F5344CB8AC3E}">
        <p14:creationId xmlns:p14="http://schemas.microsoft.com/office/powerpoint/2010/main" val="19553032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4583" tIns="47292" rIns="94583" bIns="47292" anchor="b"/>
          <a:lstStyle/>
          <a:p>
            <a:pPr algn="r" defTabSz="944415" eaLnBrk="0" hangingPunct="0">
              <a:lnSpc>
                <a:spcPct val="106000"/>
              </a:lnSpc>
            </a:pPr>
            <a:fld id="{1E3F4E52-F460-4AE0-A47D-A65E2C4C81B6}" type="slidenum">
              <a:rPr lang="en-US" sz="1200" b="1">
                <a:solidFill>
                  <a:prstClr val="black"/>
                </a:solidFill>
                <a:latin typeface="Calibri"/>
                <a:cs typeface="Arial" pitchFamily="34" charset="0"/>
              </a:rPr>
              <a:pPr algn="r" defTabSz="944415" eaLnBrk="0" hangingPunct="0">
                <a:lnSpc>
                  <a:spcPct val="106000"/>
                </a:lnSpc>
              </a:pPr>
              <a:t>167</a:t>
            </a:fld>
            <a:endParaRPr lang="en-US" sz="1200" b="1" dirty="0">
              <a:solidFill>
                <a:prstClr val="black"/>
              </a:solidFill>
              <a:latin typeface="Calibri"/>
              <a:cs typeface="Arial" pitchFamily="34"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1822095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4583" tIns="47292" rIns="94583" bIns="47292" anchor="b"/>
          <a:lstStyle/>
          <a:p>
            <a:pPr algn="r" defTabSz="944415" eaLnBrk="0" hangingPunct="0">
              <a:lnSpc>
                <a:spcPct val="106000"/>
              </a:lnSpc>
            </a:pPr>
            <a:fld id="{85054E0F-A4F2-4D5B-81D2-83A41E4F57BF}" type="slidenum">
              <a:rPr lang="en-US" sz="1200" b="1">
                <a:solidFill>
                  <a:prstClr val="black"/>
                </a:solidFill>
                <a:latin typeface="Calibri"/>
                <a:cs typeface="Arial" pitchFamily="34" charset="0"/>
              </a:rPr>
              <a:pPr algn="r" defTabSz="944415" eaLnBrk="0" hangingPunct="0">
                <a:lnSpc>
                  <a:spcPct val="106000"/>
                </a:lnSpc>
              </a:pPr>
              <a:t>168</a:t>
            </a:fld>
            <a:endParaRPr lang="en-US" sz="1200" b="1" dirty="0">
              <a:solidFill>
                <a:prstClr val="black"/>
              </a:solidFill>
              <a:latin typeface="Calibri"/>
              <a:cs typeface="Arial" pitchFamily="34"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3293859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2820" tIns="46410" rIns="92820" bIns="46410" anchor="b"/>
          <a:lstStyle/>
          <a:p>
            <a:pPr algn="r" eaLnBrk="0" hangingPunct="0">
              <a:lnSpc>
                <a:spcPct val="106000"/>
              </a:lnSpc>
            </a:pPr>
            <a:fld id="{E560A89C-F7D6-4AE1-9216-8D125641197F}" type="slidenum">
              <a:rPr lang="en-US" sz="1200" b="1">
                <a:solidFill>
                  <a:prstClr val="black"/>
                </a:solidFill>
                <a:cs typeface="Arial" pitchFamily="34" charset="0"/>
              </a:rPr>
              <a:pPr algn="r" eaLnBrk="0" hangingPunct="0">
                <a:lnSpc>
                  <a:spcPct val="106000"/>
                </a:lnSpc>
              </a:pPr>
              <a:t>169</a:t>
            </a:fld>
            <a:endParaRPr lang="en-US" sz="1200" b="1" dirty="0">
              <a:solidFill>
                <a:prstClr val="black"/>
              </a:solidFill>
              <a:cs typeface="Arial" pitchFamily="34"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5426516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2820" tIns="46410" rIns="92820" bIns="46410" anchor="b"/>
          <a:lstStyle/>
          <a:p>
            <a:pPr algn="r" eaLnBrk="0" hangingPunct="0">
              <a:lnSpc>
                <a:spcPct val="106000"/>
              </a:lnSpc>
            </a:pPr>
            <a:fld id="{416FE7B3-25A7-4F5B-8500-BA6E2DDE885C}" type="slidenum">
              <a:rPr lang="en-US" sz="1200" b="1">
                <a:solidFill>
                  <a:prstClr val="black"/>
                </a:solidFill>
                <a:cs typeface="Arial" pitchFamily="34" charset="0"/>
              </a:rPr>
              <a:pPr algn="r" eaLnBrk="0" hangingPunct="0">
                <a:lnSpc>
                  <a:spcPct val="106000"/>
                </a:lnSpc>
              </a:pPr>
              <a:t>170</a:t>
            </a:fld>
            <a:endParaRPr lang="en-US" sz="1200" b="1" dirty="0">
              <a:solidFill>
                <a:prstClr val="black"/>
              </a:solidFill>
              <a:cs typeface="Arial" pitchFamily="34"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24426423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2820" tIns="46410" rIns="92820" bIns="46410" anchor="b"/>
          <a:lstStyle/>
          <a:p>
            <a:pPr algn="r" eaLnBrk="0" hangingPunct="0">
              <a:lnSpc>
                <a:spcPct val="106000"/>
              </a:lnSpc>
            </a:pPr>
            <a:fld id="{B8653922-421A-4DDE-8ED1-605E1BC8319E}" type="slidenum">
              <a:rPr lang="en-US" sz="1200" b="1">
                <a:solidFill>
                  <a:prstClr val="black"/>
                </a:solidFill>
                <a:cs typeface="Arial" pitchFamily="34" charset="0"/>
              </a:rPr>
              <a:pPr algn="r" eaLnBrk="0" hangingPunct="0">
                <a:lnSpc>
                  <a:spcPct val="106000"/>
                </a:lnSpc>
              </a:pPr>
              <a:t>171</a:t>
            </a:fld>
            <a:endParaRPr lang="en-US" sz="1200" b="1" dirty="0">
              <a:solidFill>
                <a:prstClr val="black"/>
              </a:solidFill>
              <a:cs typeface="Arial" pitchFamily="34"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27268480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2820" tIns="46410" rIns="92820" bIns="46410" anchor="b"/>
          <a:lstStyle/>
          <a:p>
            <a:pPr algn="r" eaLnBrk="0" hangingPunct="0">
              <a:lnSpc>
                <a:spcPct val="106000"/>
              </a:lnSpc>
            </a:pPr>
            <a:fld id="{B8653922-421A-4DDE-8ED1-605E1BC8319E}" type="slidenum">
              <a:rPr lang="en-US" sz="1200" b="1">
                <a:solidFill>
                  <a:prstClr val="black"/>
                </a:solidFill>
                <a:cs typeface="Arial" pitchFamily="34" charset="0"/>
              </a:rPr>
              <a:pPr algn="r" eaLnBrk="0" hangingPunct="0">
                <a:lnSpc>
                  <a:spcPct val="106000"/>
                </a:lnSpc>
              </a:pPr>
              <a:t>172</a:t>
            </a:fld>
            <a:endParaRPr lang="en-US" sz="1200" b="1" dirty="0">
              <a:solidFill>
                <a:prstClr val="black"/>
              </a:solidFill>
              <a:cs typeface="Arial" pitchFamily="34"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18826876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2820" tIns="46410" rIns="92820" bIns="46410" anchor="b"/>
          <a:lstStyle/>
          <a:p>
            <a:pPr algn="r" eaLnBrk="0" hangingPunct="0">
              <a:lnSpc>
                <a:spcPct val="106000"/>
              </a:lnSpc>
            </a:pPr>
            <a:fld id="{16BAF0E7-016A-4D05-9513-FB48B7BCA7FF}" type="slidenum">
              <a:rPr lang="en-US" sz="1200" b="1">
                <a:solidFill>
                  <a:prstClr val="black"/>
                </a:solidFill>
                <a:cs typeface="Arial" pitchFamily="34" charset="0"/>
              </a:rPr>
              <a:pPr algn="r" eaLnBrk="0" hangingPunct="0">
                <a:lnSpc>
                  <a:spcPct val="106000"/>
                </a:lnSpc>
              </a:pPr>
              <a:t>173</a:t>
            </a:fld>
            <a:endParaRPr lang="en-US" sz="1200" b="1" dirty="0">
              <a:solidFill>
                <a:prstClr val="black"/>
              </a:solidFill>
              <a:cs typeface="Arial" pitchFamily="3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27192760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2820" tIns="46410" rIns="92820" bIns="46410" anchor="b"/>
          <a:lstStyle/>
          <a:p>
            <a:pPr algn="r" eaLnBrk="0" hangingPunct="0">
              <a:lnSpc>
                <a:spcPct val="106000"/>
              </a:lnSpc>
            </a:pPr>
            <a:fld id="{942E2DC8-6788-46F9-B3C7-B2B24F1934BA}" type="slidenum">
              <a:rPr lang="en-US" sz="1200" b="1">
                <a:solidFill>
                  <a:prstClr val="black"/>
                </a:solidFill>
                <a:cs typeface="Arial" pitchFamily="34" charset="0"/>
              </a:rPr>
              <a:pPr algn="r" eaLnBrk="0" hangingPunct="0">
                <a:lnSpc>
                  <a:spcPct val="106000"/>
                </a:lnSpc>
              </a:pPr>
              <a:t>174</a:t>
            </a:fld>
            <a:endParaRPr lang="en-US" sz="1200" b="1" dirty="0">
              <a:solidFill>
                <a:prstClr val="black"/>
              </a:solidFill>
              <a:cs typeface="Arial" pitchFamily="3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508186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2820" tIns="46410" rIns="92820" bIns="46410" anchor="b"/>
          <a:lstStyle/>
          <a:p>
            <a:pPr algn="r" eaLnBrk="0" hangingPunct="0">
              <a:lnSpc>
                <a:spcPct val="106000"/>
              </a:lnSpc>
            </a:pPr>
            <a:fld id="{942E2DC8-6788-46F9-B3C7-B2B24F1934BA}" type="slidenum">
              <a:rPr lang="en-US" sz="1200" b="1">
                <a:solidFill>
                  <a:prstClr val="black"/>
                </a:solidFill>
                <a:cs typeface="Arial" pitchFamily="34" charset="0"/>
              </a:rPr>
              <a:pPr algn="r" eaLnBrk="0" hangingPunct="0">
                <a:lnSpc>
                  <a:spcPct val="106000"/>
                </a:lnSpc>
              </a:pPr>
              <a:t>175</a:t>
            </a:fld>
            <a:endParaRPr lang="en-US" sz="1200" b="1" dirty="0">
              <a:solidFill>
                <a:prstClr val="black"/>
              </a:solidFill>
              <a:cs typeface="Arial" pitchFamily="3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40530184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2820" tIns="46410" rIns="92820" bIns="46410" anchor="b"/>
          <a:lstStyle/>
          <a:p>
            <a:pPr algn="r" eaLnBrk="0" hangingPunct="0">
              <a:lnSpc>
                <a:spcPct val="106000"/>
              </a:lnSpc>
            </a:pPr>
            <a:fld id="{942E2DC8-6788-46F9-B3C7-B2B24F1934BA}" type="slidenum">
              <a:rPr lang="en-US" sz="1200" b="1">
                <a:solidFill>
                  <a:prstClr val="black"/>
                </a:solidFill>
                <a:cs typeface="Arial" pitchFamily="34" charset="0"/>
              </a:rPr>
              <a:pPr algn="r" eaLnBrk="0" hangingPunct="0">
                <a:lnSpc>
                  <a:spcPct val="106000"/>
                </a:lnSpc>
              </a:pPr>
              <a:t>176</a:t>
            </a:fld>
            <a:endParaRPr lang="en-US" sz="1200" b="1" dirty="0">
              <a:solidFill>
                <a:prstClr val="black"/>
              </a:solidFill>
              <a:cs typeface="Arial" pitchFamily="3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15487123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3460" y="8845395"/>
            <a:ext cx="2973366" cy="464768"/>
          </a:xfrm>
          <a:prstGeom prst="rect">
            <a:avLst/>
          </a:prstGeom>
          <a:noFill/>
          <a:ln w="9525">
            <a:noFill/>
            <a:miter lim="800000"/>
            <a:headEnd/>
            <a:tailEnd/>
          </a:ln>
        </p:spPr>
        <p:txBody>
          <a:bodyPr lIns="92820" tIns="46410" rIns="92820" bIns="46410" anchor="b"/>
          <a:lstStyle/>
          <a:p>
            <a:pPr algn="r" eaLnBrk="0" hangingPunct="0">
              <a:lnSpc>
                <a:spcPct val="106000"/>
              </a:lnSpc>
            </a:pPr>
            <a:fld id="{942E2DC8-6788-46F9-B3C7-B2B24F1934BA}" type="slidenum">
              <a:rPr lang="en-US" sz="1200" b="1">
                <a:solidFill>
                  <a:prstClr val="black"/>
                </a:solidFill>
                <a:cs typeface="Arial" pitchFamily="34" charset="0"/>
              </a:rPr>
              <a:pPr algn="r" eaLnBrk="0" hangingPunct="0">
                <a:lnSpc>
                  <a:spcPct val="106000"/>
                </a:lnSpc>
              </a:pPr>
              <a:t>177</a:t>
            </a:fld>
            <a:endParaRPr lang="en-US" sz="1200" b="1" dirty="0">
              <a:solidFill>
                <a:prstClr val="black"/>
              </a:solidFill>
              <a:cs typeface="Arial" pitchFamily="3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lIns="94583" tIns="47292" rIns="94583" bIns="47292"/>
          <a:lstStyle/>
          <a:p>
            <a:pPr eaLnBrk="1" hangingPunct="1"/>
            <a:endParaRPr lang="en-US" dirty="0" smtClean="0"/>
          </a:p>
        </p:txBody>
      </p:sp>
    </p:spTree>
    <p:extLst>
      <p:ext uri="{BB962C8B-B14F-4D97-AF65-F5344CB8AC3E}">
        <p14:creationId xmlns:p14="http://schemas.microsoft.com/office/powerpoint/2010/main" val="2070724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4" name="Picture 4" descr="covernew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10594" name="Rectangle 2"/>
          <p:cNvSpPr>
            <a:spLocks noGrp="1" noChangeArrowheads="1"/>
          </p:cNvSpPr>
          <p:nvPr>
            <p:ph type="subTitle" idx="1"/>
          </p:nvPr>
        </p:nvSpPr>
        <p:spPr>
          <a:xfrm>
            <a:off x="304800" y="3810000"/>
            <a:ext cx="4573588" cy="1295400"/>
          </a:xfrm>
        </p:spPr>
        <p:txBody>
          <a:bodyPr/>
          <a:lstStyle>
            <a:lvl1pPr marL="0" indent="50800" algn="r">
              <a:buFontTx/>
              <a:buNone/>
              <a:defRPr smtClean="0">
                <a:solidFill>
                  <a:schemeClr val="bg1"/>
                </a:solidFill>
                <a:ea typeface="ＭＳ Ｐゴシック" pitchFamily="-65" charset="-128"/>
              </a:defRPr>
            </a:lvl1pPr>
          </a:lstStyle>
          <a:p>
            <a:r>
              <a:rPr lang="en-US" smtClean="0"/>
              <a:t>Click to edit Master subtitle style</a:t>
            </a:r>
          </a:p>
        </p:txBody>
      </p:sp>
      <p:sp>
        <p:nvSpPr>
          <p:cNvPr id="110595" name="Rectangle 3"/>
          <p:cNvSpPr>
            <a:spLocks noGrp="1" noChangeArrowheads="1"/>
          </p:cNvSpPr>
          <p:nvPr>
            <p:ph type="ctrTitle"/>
          </p:nvPr>
        </p:nvSpPr>
        <p:spPr>
          <a:xfrm>
            <a:off x="307975" y="2511425"/>
            <a:ext cx="4570413" cy="1143000"/>
          </a:xfrm>
        </p:spPr>
        <p:txBody>
          <a:bodyPr anchor="b"/>
          <a:lstStyle>
            <a:lvl1pPr algn="r">
              <a:defRPr sz="3600" smtClean="0">
                <a:solidFill>
                  <a:schemeClr val="bg1"/>
                </a:solidFill>
                <a:ea typeface="ＭＳ Ｐゴシック" pitchFamily="-65" charset="-128"/>
              </a:defRPr>
            </a:lvl1pPr>
          </a:lstStyle>
          <a:p>
            <a:r>
              <a:rPr lang="en-US" smtClean="0"/>
              <a:t>Click to edit Master title style</a:t>
            </a:r>
          </a:p>
        </p:txBody>
      </p:sp>
    </p:spTree>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16"/>
          <p:cNvSpPr>
            <a:spLocks noGrp="1" noChangeArrowheads="1"/>
          </p:cNvSpPr>
          <p:nvPr>
            <p:ph type="sldNum" sz="quarter" idx="11"/>
          </p:nvPr>
        </p:nvSpPr>
        <p:spPr>
          <a:ln/>
        </p:spPr>
        <p:txBody>
          <a:bodyPr/>
          <a:lstStyle>
            <a:lvl1pPr>
              <a:defRPr/>
            </a:lvl1pPr>
          </a:lstStyle>
          <a:p>
            <a:pPr>
              <a:defRPr/>
            </a:pPr>
            <a:fld id="{D27468C5-B7D7-4747-8C9A-D2E8B4FA8FD8}"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16"/>
          <p:cNvSpPr>
            <a:spLocks noGrp="1" noChangeArrowheads="1"/>
          </p:cNvSpPr>
          <p:nvPr>
            <p:ph type="sldNum" sz="quarter" idx="11"/>
          </p:nvPr>
        </p:nvSpPr>
        <p:spPr>
          <a:ln/>
        </p:spPr>
        <p:txBody>
          <a:bodyPr/>
          <a:lstStyle>
            <a:lvl1pPr>
              <a:defRPr/>
            </a:lvl1pPr>
          </a:lstStyle>
          <a:p>
            <a:pPr>
              <a:defRPr/>
            </a:pPr>
            <a:fld id="{2E1E1E2A-88E9-4CB1-89D2-8ABF177DA4C4}"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16"/>
          <p:cNvSpPr>
            <a:spLocks noGrp="1" noChangeArrowheads="1"/>
          </p:cNvSpPr>
          <p:nvPr>
            <p:ph type="sldNum" sz="quarter" idx="11"/>
          </p:nvPr>
        </p:nvSpPr>
        <p:spPr>
          <a:ln/>
        </p:spPr>
        <p:txBody>
          <a:bodyPr/>
          <a:lstStyle>
            <a:lvl1pPr>
              <a:defRPr/>
            </a:lvl1pPr>
          </a:lstStyle>
          <a:p>
            <a:pPr>
              <a:defRPr/>
            </a:pPr>
            <a:fld id="{D759F432-5C29-46DF-8263-BF10542E1504}"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6" name="Rectangle 16"/>
          <p:cNvSpPr>
            <a:spLocks noGrp="1" noChangeArrowheads="1"/>
          </p:cNvSpPr>
          <p:nvPr>
            <p:ph type="sldNum" sz="quarter" idx="11"/>
          </p:nvPr>
        </p:nvSpPr>
        <p:spPr>
          <a:ln/>
        </p:spPr>
        <p:txBody>
          <a:bodyPr/>
          <a:lstStyle>
            <a:lvl1pPr>
              <a:defRPr/>
            </a:lvl1pPr>
          </a:lstStyle>
          <a:p>
            <a:pPr>
              <a:defRPr/>
            </a:pPr>
            <a:fld id="{877B509B-5EB0-4520-9B58-D8564FFB8F6C}"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8" name="Rectangle 16"/>
          <p:cNvSpPr>
            <a:spLocks noGrp="1" noChangeArrowheads="1"/>
          </p:cNvSpPr>
          <p:nvPr>
            <p:ph type="sldNum" sz="quarter" idx="11"/>
          </p:nvPr>
        </p:nvSpPr>
        <p:spPr>
          <a:ln/>
        </p:spPr>
        <p:txBody>
          <a:bodyPr/>
          <a:lstStyle>
            <a:lvl1pPr>
              <a:defRPr/>
            </a:lvl1pPr>
          </a:lstStyle>
          <a:p>
            <a:pPr>
              <a:defRPr/>
            </a:pPr>
            <a:fld id="{BD29660B-BB27-443B-87F8-87C692B15210}"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4" name="Rectangle 16"/>
          <p:cNvSpPr>
            <a:spLocks noGrp="1" noChangeArrowheads="1"/>
          </p:cNvSpPr>
          <p:nvPr>
            <p:ph type="sldNum" sz="quarter" idx="11"/>
          </p:nvPr>
        </p:nvSpPr>
        <p:spPr>
          <a:ln/>
        </p:spPr>
        <p:txBody>
          <a:bodyPr/>
          <a:lstStyle>
            <a:lvl1pPr>
              <a:defRPr/>
            </a:lvl1pPr>
          </a:lstStyle>
          <a:p>
            <a:pPr>
              <a:defRPr/>
            </a:pPr>
            <a:fld id="{10901BB4-5089-4320-8756-C6A8E09E0B36}"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3" name="Rectangle 16"/>
          <p:cNvSpPr>
            <a:spLocks noGrp="1" noChangeArrowheads="1"/>
          </p:cNvSpPr>
          <p:nvPr>
            <p:ph type="sldNum" sz="quarter" idx="11"/>
          </p:nvPr>
        </p:nvSpPr>
        <p:spPr>
          <a:ln/>
        </p:spPr>
        <p:txBody>
          <a:bodyPr/>
          <a:lstStyle>
            <a:lvl1pPr>
              <a:defRPr/>
            </a:lvl1pPr>
          </a:lstStyle>
          <a:p>
            <a:pPr>
              <a:defRPr/>
            </a:pPr>
            <a:fld id="{BF285564-E1E5-4525-BB6A-2AFE653BA515}"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6" name="Rectangle 16"/>
          <p:cNvSpPr>
            <a:spLocks noGrp="1" noChangeArrowheads="1"/>
          </p:cNvSpPr>
          <p:nvPr>
            <p:ph type="sldNum" sz="quarter" idx="11"/>
          </p:nvPr>
        </p:nvSpPr>
        <p:spPr>
          <a:ln/>
        </p:spPr>
        <p:txBody>
          <a:bodyPr/>
          <a:lstStyle>
            <a:lvl1pPr>
              <a:defRPr/>
            </a:lvl1pPr>
          </a:lstStyle>
          <a:p>
            <a:pPr>
              <a:defRPr/>
            </a:pPr>
            <a:fld id="{52E31419-A6D4-4E8B-8D07-05C3D4125D25}"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6" name="Rectangle 16"/>
          <p:cNvSpPr>
            <a:spLocks noGrp="1" noChangeArrowheads="1"/>
          </p:cNvSpPr>
          <p:nvPr>
            <p:ph type="sldNum" sz="quarter" idx="11"/>
          </p:nvPr>
        </p:nvSpPr>
        <p:spPr>
          <a:ln/>
        </p:spPr>
        <p:txBody>
          <a:bodyPr/>
          <a:lstStyle>
            <a:lvl1pPr>
              <a:defRPr/>
            </a:lvl1pPr>
          </a:lstStyle>
          <a:p>
            <a:pPr>
              <a:defRPr/>
            </a:pPr>
            <a:fld id="{3F537DBD-422F-4D5C-A5EE-4E4F1057B9DF}"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16"/>
          <p:cNvSpPr>
            <a:spLocks noGrp="1" noChangeArrowheads="1"/>
          </p:cNvSpPr>
          <p:nvPr>
            <p:ph type="sldNum" sz="quarter" idx="11"/>
          </p:nvPr>
        </p:nvSpPr>
        <p:spPr>
          <a:ln/>
        </p:spPr>
        <p:txBody>
          <a:bodyPr/>
          <a:lstStyle>
            <a:lvl1pPr>
              <a:defRPr/>
            </a:lvl1pPr>
          </a:lstStyle>
          <a:p>
            <a:pPr>
              <a:defRPr/>
            </a:pPr>
            <a:fld id="{ECA40AA0-10D0-4A0E-A264-B78F197B7B6A}"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5"/>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16"/>
          <p:cNvSpPr>
            <a:spLocks noGrp="1" noChangeArrowheads="1"/>
          </p:cNvSpPr>
          <p:nvPr>
            <p:ph type="sldNum" sz="quarter" idx="11"/>
          </p:nvPr>
        </p:nvSpPr>
        <p:spPr>
          <a:ln/>
        </p:spPr>
        <p:txBody>
          <a:bodyPr/>
          <a:lstStyle>
            <a:lvl1pPr>
              <a:defRPr/>
            </a:lvl1pPr>
          </a:lstStyle>
          <a:p>
            <a:pPr>
              <a:defRPr/>
            </a:pPr>
            <a:fld id="{02D24644-5C3A-4E01-8B92-2A9696A0D21A}"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352524" y="244476"/>
            <a:ext cx="6242655" cy="121602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68690" y="1631950"/>
            <a:ext cx="8273143" cy="4667250"/>
          </a:xfrm>
        </p:spPr>
        <p:txBody>
          <a:bodyPr/>
          <a:lstStyle/>
          <a:p>
            <a:pPr lvl="0"/>
            <a:endParaRPr lang="en-US" noProof="0"/>
          </a:p>
        </p:txBody>
      </p:sp>
      <p:sp>
        <p:nvSpPr>
          <p:cNvPr id="4" name="Rectangle 16"/>
          <p:cNvSpPr>
            <a:spLocks noGrp="1" noChangeArrowheads="1"/>
          </p:cNvSpPr>
          <p:nvPr>
            <p:ph type="sldNum" sz="quarter" idx="10"/>
          </p:nvPr>
        </p:nvSpPr>
        <p:spPr/>
        <p:txBody>
          <a:bodyPr/>
          <a:lstStyle>
            <a:lvl1pPr algn="r" eaLnBrk="0" hangingPunct="0">
              <a:defRPr sz="1200">
                <a:latin typeface="Arial" charset="0"/>
                <a:ea typeface="ＭＳ Ｐゴシック" pitchFamily="-65" charset="-128"/>
              </a:defRPr>
            </a:lvl1pPr>
          </a:lstStyle>
          <a:p>
            <a:pPr>
              <a:defRPr/>
            </a:pPr>
            <a:fld id="{2C3620DA-591A-47C1-BA9B-670AF3E2C382}" type="slidenum">
              <a:rPr lang="en-US"/>
              <a:pPr>
                <a:defRPr/>
              </a:pPr>
              <a:t>‹#›</a:t>
            </a:fld>
            <a:endParaRPr lang="en-US" dirty="0"/>
          </a:p>
        </p:txBody>
      </p:sp>
    </p:spTree>
    <p:extLst>
      <p:ext uri="{BB962C8B-B14F-4D97-AF65-F5344CB8AC3E}">
        <p14:creationId xmlns:p14="http://schemas.microsoft.com/office/powerpoint/2010/main" val="122181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4" name="Rectangle 2"/>
          <p:cNvSpPr>
            <a:spLocks noChangeArrowheads="1"/>
          </p:cNvSpPr>
          <p:nvPr/>
        </p:nvSpPr>
        <p:spPr bwMode="gray">
          <a:xfrm>
            <a:off x="585788" y="774700"/>
            <a:ext cx="7972425" cy="4795838"/>
          </a:xfrm>
          <a:prstGeom prst="rect">
            <a:avLst/>
          </a:prstGeom>
          <a:solidFill>
            <a:schemeClr val="bg1"/>
          </a:solidFill>
          <a:ln w="12700" algn="ctr">
            <a:solidFill>
              <a:schemeClr val="accent1"/>
            </a:solidFill>
            <a:miter lim="800000"/>
            <a:headEnd/>
            <a:tailEnd/>
          </a:ln>
          <a:effectLst/>
        </p:spPr>
        <p:txBody>
          <a:bodyPr lIns="90000" tIns="90000" rIns="90000" bIns="90000" anchor="ctr"/>
          <a:lstStyle/>
          <a:p>
            <a:pPr marL="119063" indent="-119063" eaLnBrk="0" hangingPunct="0">
              <a:spcBef>
                <a:spcPct val="50000"/>
              </a:spcBef>
              <a:defRPr/>
            </a:pPr>
            <a:endParaRPr lang="en-US" sz="1100" b="1" dirty="0">
              <a:solidFill>
                <a:srgbClr val="000000"/>
              </a:solidFill>
              <a:latin typeface="Arial"/>
              <a:cs typeface="Arial" charset="0"/>
            </a:endParaRPr>
          </a:p>
        </p:txBody>
      </p:sp>
      <p:pic>
        <p:nvPicPr>
          <p:cNvPr id="5" name="Picture 5" descr="LLP logo with big space copy"/>
          <p:cNvPicPr>
            <a:picLocks noChangeAspect="1" noChangeArrowheads="1"/>
          </p:cNvPicPr>
          <p:nvPr/>
        </p:nvPicPr>
        <p:blipFill>
          <a:blip r:embed="rId2" cstate="print">
            <a:clrChange>
              <a:clrFrom>
                <a:srgbClr val="FFFFFF"/>
              </a:clrFrom>
              <a:clrTo>
                <a:srgbClr val="FFFFFF">
                  <a:alpha val="0"/>
                </a:srgbClr>
              </a:clrTo>
            </a:clrChange>
          </a:blip>
          <a:srcRect l="995" t="1778" b="59770"/>
          <a:stretch>
            <a:fillRect/>
          </a:stretch>
        </p:blipFill>
        <p:spPr bwMode="gray">
          <a:xfrm>
            <a:off x="895350" y="6019800"/>
            <a:ext cx="1444625" cy="274638"/>
          </a:xfrm>
          <a:prstGeom prst="rect">
            <a:avLst/>
          </a:prstGeom>
          <a:noFill/>
          <a:ln w="9525">
            <a:noFill/>
            <a:miter lim="800000"/>
            <a:headEnd/>
            <a:tailEnd/>
          </a:ln>
        </p:spPr>
      </p:pic>
      <p:sp>
        <p:nvSpPr>
          <p:cNvPr id="6" name="Text Box 9"/>
          <p:cNvSpPr txBox="1">
            <a:spLocks noChangeArrowheads="1"/>
          </p:cNvSpPr>
          <p:nvPr/>
        </p:nvSpPr>
        <p:spPr bwMode="gray">
          <a:xfrm>
            <a:off x="892175" y="4756150"/>
            <a:ext cx="1585913" cy="201613"/>
          </a:xfrm>
          <a:prstGeom prst="rect">
            <a:avLst/>
          </a:prstGeom>
          <a:noFill/>
          <a:ln w="12700" cap="rnd" algn="ctr">
            <a:noFill/>
            <a:miter lim="800000"/>
            <a:headEnd/>
            <a:tailEnd/>
          </a:ln>
          <a:effectLst/>
        </p:spPr>
        <p:txBody>
          <a:bodyPr wrap="none" lIns="0" tIns="0" rIns="0" bIns="0">
            <a:spAutoFit/>
          </a:bodyPr>
          <a:lstStyle/>
          <a:p>
            <a:pPr eaLnBrk="0" hangingPunct="0">
              <a:lnSpc>
                <a:spcPct val="110000"/>
              </a:lnSpc>
              <a:defRPr/>
            </a:pPr>
            <a:r>
              <a:rPr lang="en-US" sz="1200" dirty="0">
                <a:solidFill>
                  <a:srgbClr val="000000"/>
                </a:solidFill>
                <a:latin typeface="Arial"/>
                <a:cs typeface="Arial" charset="0"/>
              </a:rPr>
              <a:t>Deloitte Consulting LLP</a:t>
            </a:r>
          </a:p>
        </p:txBody>
      </p:sp>
      <p:sp>
        <p:nvSpPr>
          <p:cNvPr id="3700739" name="Rectangle 3"/>
          <p:cNvSpPr>
            <a:spLocks noGrp="1" noChangeArrowheads="1"/>
          </p:cNvSpPr>
          <p:nvPr>
            <p:ph type="ctrTitle" sz="quarter"/>
          </p:nvPr>
        </p:nvSpPr>
        <p:spPr>
          <a:xfrm>
            <a:off x="892175" y="2581275"/>
            <a:ext cx="6581775" cy="549275"/>
          </a:xfrm>
        </p:spPr>
        <p:txBody>
          <a:bodyPr/>
          <a:lstStyle>
            <a:lvl1pPr>
              <a:lnSpc>
                <a:spcPts val="2200"/>
              </a:lnSpc>
              <a:spcBef>
                <a:spcPct val="100000"/>
              </a:spcBef>
              <a:buClr>
                <a:schemeClr val="tx2"/>
              </a:buClr>
              <a:buSzPct val="85000"/>
              <a:buFont typeface="Wingdings" pitchFamily="2" charset="2"/>
              <a:buNone/>
              <a:defRPr sz="1800"/>
            </a:lvl1pPr>
          </a:lstStyle>
          <a:p>
            <a:r>
              <a:rPr lang="en-US"/>
              <a:t>Click to edit Master title style</a:t>
            </a:r>
          </a:p>
        </p:txBody>
      </p:sp>
      <p:sp>
        <p:nvSpPr>
          <p:cNvPr id="3700740" name="Rectangle 4"/>
          <p:cNvSpPr>
            <a:spLocks noGrp="1" noChangeArrowheads="1"/>
          </p:cNvSpPr>
          <p:nvPr>
            <p:ph type="subTitle" sz="quarter" idx="1"/>
          </p:nvPr>
        </p:nvSpPr>
        <p:spPr>
          <a:xfrm>
            <a:off x="892175" y="3402013"/>
            <a:ext cx="6583363" cy="439737"/>
          </a:xfrm>
          <a:ln/>
        </p:spPr>
        <p:txBody>
          <a:bodyPr/>
          <a:lstStyle>
            <a:lvl1pPr>
              <a:lnSpc>
                <a:spcPts val="1600"/>
              </a:lnSpc>
              <a:spcBef>
                <a:spcPct val="15000"/>
              </a:spcBef>
              <a:buClrTx/>
              <a:defRPr sz="1400" b="1"/>
            </a:lvl1pPr>
          </a:lstStyle>
          <a:p>
            <a:r>
              <a:rPr lang="en-US"/>
              <a:t>Click to edit Master subtitle style</a:t>
            </a:r>
          </a:p>
        </p:txBody>
      </p:sp>
    </p:spTree>
    <p:extLst>
      <p:ext uri="{BB962C8B-B14F-4D97-AF65-F5344CB8AC3E}">
        <p14:creationId xmlns:p14="http://schemas.microsoft.com/office/powerpoint/2010/main" val="24837087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25776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2075632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96875" y="1154113"/>
            <a:ext cx="1927225" cy="5135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476500" y="1154113"/>
            <a:ext cx="1928813" cy="5135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143258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509669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738950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4299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44631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281790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088796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3" y="514350"/>
            <a:ext cx="2087562" cy="57753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96875" y="514350"/>
            <a:ext cx="6110288" cy="57753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683214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01638" y="514350"/>
            <a:ext cx="8345487" cy="258763"/>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96875" y="1154113"/>
            <a:ext cx="4008438" cy="5135562"/>
          </a:xfrm>
        </p:spPr>
        <p:txBody>
          <a:bodyPr/>
          <a:lstStyle/>
          <a:p>
            <a:pPr lvl="0"/>
            <a:endParaRPr lang="en-US" noProof="0" dirty="0" smtClean="0"/>
          </a:p>
        </p:txBody>
      </p:sp>
    </p:spTree>
    <p:extLst>
      <p:ext uri="{BB962C8B-B14F-4D97-AF65-F5344CB8AC3E}">
        <p14:creationId xmlns:p14="http://schemas.microsoft.com/office/powerpoint/2010/main" val="19089025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01638" y="514350"/>
            <a:ext cx="8345487" cy="258763"/>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396875" y="1154113"/>
            <a:ext cx="1927225" cy="51355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2476500" y="1154113"/>
            <a:ext cx="1928813" cy="24907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2476500" y="3797300"/>
            <a:ext cx="1928813" cy="24923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5620549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 Id="rId15" Type="http://schemas.openxmlformats.org/officeDocument/2006/relationships/image" Target="../media/image3.png"/><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3" name="Rectangle 4"/>
          <p:cNvSpPr>
            <a:spLocks noGrp="1" noChangeArrowheads="1"/>
          </p:cNvSpPr>
          <p:nvPr>
            <p:ph type="body" idx="1"/>
          </p:nvPr>
        </p:nvSpPr>
        <p:spPr bwMode="auto">
          <a:xfrm>
            <a:off x="228600" y="1143000"/>
            <a:ext cx="8610600" cy="50292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Text</a:t>
            </a:r>
          </a:p>
          <a:p>
            <a:pPr lvl="1"/>
            <a:r>
              <a:rPr lang="en-US" smtClean="0"/>
              <a:t>Second level</a:t>
            </a:r>
          </a:p>
          <a:p>
            <a:pPr lvl="2"/>
            <a:r>
              <a:rPr lang="en-US" smtClean="0"/>
              <a:t>Third level</a:t>
            </a:r>
          </a:p>
          <a:p>
            <a:pPr lvl="3"/>
            <a:r>
              <a:rPr lang="en-US" smtClean="0"/>
              <a:t>Fourth level</a:t>
            </a:r>
          </a:p>
        </p:txBody>
      </p:sp>
      <p:sp>
        <p:nvSpPr>
          <p:cNvPr id="5124" name="Rectangle 7"/>
          <p:cNvSpPr>
            <a:spLocks noGrp="1" noChangeArrowheads="1"/>
          </p:cNvSpPr>
          <p:nvPr>
            <p:ph type="title"/>
          </p:nvPr>
        </p:nvSpPr>
        <p:spPr bwMode="auto">
          <a:xfrm>
            <a:off x="228600" y="206375"/>
            <a:ext cx="7620000" cy="7842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Slide Title</a:t>
            </a:r>
          </a:p>
        </p:txBody>
      </p:sp>
      <p:pic>
        <p:nvPicPr>
          <p:cNvPr id="5125" name="Picture 6"/>
          <p:cNvPicPr>
            <a:picLocks noChangeAspect="1"/>
          </p:cNvPicPr>
          <p:nvPr/>
        </p:nvPicPr>
        <p:blipFill>
          <a:blip r:embed="rId15"/>
          <a:srcRect l="31718" t="17410" r="30782" b="13788"/>
          <a:stretch>
            <a:fillRect/>
          </a:stretch>
        </p:blipFill>
        <p:spPr bwMode="auto">
          <a:xfrm>
            <a:off x="8247063" y="206375"/>
            <a:ext cx="592137" cy="609600"/>
          </a:xfrm>
          <a:prstGeom prst="rect">
            <a:avLst/>
          </a:prstGeom>
          <a:noFill/>
          <a:ln w="9525">
            <a:noFill/>
            <a:miter lim="800000"/>
            <a:headEnd/>
            <a:tailEnd/>
          </a:ln>
        </p:spPr>
      </p:pic>
      <p:sp>
        <p:nvSpPr>
          <p:cNvPr id="1039" name="Rectangle 15"/>
          <p:cNvSpPr>
            <a:spLocks noGrp="1" noChangeArrowheads="1"/>
          </p:cNvSpPr>
          <p:nvPr>
            <p:ph type="ftr" sz="quarter" idx="3"/>
          </p:nvPr>
        </p:nvSpPr>
        <p:spPr bwMode="auto">
          <a:xfrm>
            <a:off x="228600" y="6540500"/>
            <a:ext cx="5105400" cy="17462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0" hangingPunct="0">
              <a:defRPr sz="1200">
                <a:latin typeface="Arial" charset="0"/>
                <a:ea typeface="ＭＳ Ｐゴシック" pitchFamily="-65" charset="-128"/>
              </a:defRPr>
            </a:lvl1pPr>
          </a:lstStyle>
          <a:p>
            <a:pPr>
              <a:defRPr/>
            </a:pPr>
            <a:endParaRPr lang="en-US" dirty="0"/>
          </a:p>
        </p:txBody>
      </p:sp>
      <p:sp>
        <p:nvSpPr>
          <p:cNvPr id="1040" name="Rectangle 16"/>
          <p:cNvSpPr>
            <a:spLocks noGrp="1" noChangeArrowheads="1"/>
          </p:cNvSpPr>
          <p:nvPr>
            <p:ph type="sldNum" sz="quarter" idx="4"/>
          </p:nvPr>
        </p:nvSpPr>
        <p:spPr bwMode="auto">
          <a:xfrm>
            <a:off x="8458200" y="6540500"/>
            <a:ext cx="381000" cy="2286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r" eaLnBrk="0" hangingPunct="0">
              <a:defRPr sz="1200">
                <a:latin typeface="Arial" charset="0"/>
                <a:ea typeface="ＭＳ Ｐゴシック" pitchFamily="-65" charset="-128"/>
              </a:defRPr>
            </a:lvl1pPr>
          </a:lstStyle>
          <a:p>
            <a:pPr>
              <a:defRPr/>
            </a:pPr>
            <a:fld id="{EEEB95DC-8C94-4E07-A3EA-4CA8B02B26BB}"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87"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8" r:id="rId13"/>
  </p:sldLayoutIdLst>
  <p:timing>
    <p:tnLst>
      <p:par>
        <p:cTn xmlns:p14="http://schemas.microsoft.com/office/powerpoint/2010/main" id="1" dur="indefinite" restart="never" nodeType="tmRoot"/>
      </p:par>
    </p:tnLst>
  </p:timing>
  <p:hf hdr="0" ftr="0" dt="0"/>
  <p:txStyles>
    <p:titleStyle>
      <a:lvl1pPr algn="l" rtl="0" eaLnBrk="0" fontAlgn="base" hangingPunct="0">
        <a:spcBef>
          <a:spcPct val="0"/>
        </a:spcBef>
        <a:spcAft>
          <a:spcPct val="0"/>
        </a:spcAft>
        <a:defRPr sz="3200" b="1">
          <a:solidFill>
            <a:srgbClr val="113C9B"/>
          </a:solidFill>
          <a:latin typeface="+mj-lt"/>
          <a:ea typeface="ＭＳ Ｐゴシック" charset="-128"/>
          <a:cs typeface="ＭＳ Ｐゴシック" charset="-128"/>
        </a:defRPr>
      </a:lvl1pPr>
      <a:lvl2pPr algn="l" rtl="0" eaLnBrk="0" fontAlgn="base" hangingPunct="0">
        <a:spcBef>
          <a:spcPct val="0"/>
        </a:spcBef>
        <a:spcAft>
          <a:spcPct val="0"/>
        </a:spcAft>
        <a:defRPr sz="3200" b="1">
          <a:solidFill>
            <a:srgbClr val="113C9B"/>
          </a:solidFill>
          <a:latin typeface="Arial" charset="0"/>
          <a:ea typeface="ＭＳ Ｐゴシック" charset="-128"/>
          <a:cs typeface="ＭＳ Ｐゴシック" charset="-128"/>
        </a:defRPr>
      </a:lvl2pPr>
      <a:lvl3pPr algn="l" rtl="0" eaLnBrk="0" fontAlgn="base" hangingPunct="0">
        <a:spcBef>
          <a:spcPct val="0"/>
        </a:spcBef>
        <a:spcAft>
          <a:spcPct val="0"/>
        </a:spcAft>
        <a:defRPr sz="3200" b="1">
          <a:solidFill>
            <a:srgbClr val="113C9B"/>
          </a:solidFill>
          <a:latin typeface="Arial" charset="0"/>
          <a:ea typeface="ＭＳ Ｐゴシック" charset="-128"/>
          <a:cs typeface="ＭＳ Ｐゴシック" charset="-128"/>
        </a:defRPr>
      </a:lvl3pPr>
      <a:lvl4pPr algn="l" rtl="0" eaLnBrk="0" fontAlgn="base" hangingPunct="0">
        <a:spcBef>
          <a:spcPct val="0"/>
        </a:spcBef>
        <a:spcAft>
          <a:spcPct val="0"/>
        </a:spcAft>
        <a:defRPr sz="3200" b="1">
          <a:solidFill>
            <a:srgbClr val="113C9B"/>
          </a:solidFill>
          <a:latin typeface="Arial" charset="0"/>
          <a:ea typeface="ＭＳ Ｐゴシック" charset="-128"/>
          <a:cs typeface="ＭＳ Ｐゴシック" charset="-128"/>
        </a:defRPr>
      </a:lvl4pPr>
      <a:lvl5pPr algn="l" rtl="0" eaLnBrk="0" fontAlgn="base" hangingPunct="0">
        <a:spcBef>
          <a:spcPct val="0"/>
        </a:spcBef>
        <a:spcAft>
          <a:spcPct val="0"/>
        </a:spcAft>
        <a:defRPr sz="3200" b="1">
          <a:solidFill>
            <a:srgbClr val="113C9B"/>
          </a:solidFill>
          <a:latin typeface="Arial" charset="0"/>
          <a:ea typeface="ＭＳ Ｐゴシック" charset="-128"/>
          <a:cs typeface="ＭＳ Ｐゴシック" charset="-128"/>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3699749" name="Line 37"/>
          <p:cNvSpPr>
            <a:spLocks noChangeShapeType="1"/>
          </p:cNvSpPr>
          <p:nvPr/>
        </p:nvSpPr>
        <p:spPr bwMode="gray">
          <a:xfrm>
            <a:off x="392113" y="806450"/>
            <a:ext cx="8355012" cy="0"/>
          </a:xfrm>
          <a:prstGeom prst="line">
            <a:avLst/>
          </a:prstGeom>
          <a:noFill/>
          <a:ln w="19050">
            <a:solidFill>
              <a:schemeClr val="accent1"/>
            </a:solidFill>
            <a:round/>
            <a:headEnd/>
            <a:tailEnd/>
          </a:ln>
          <a:effectLst/>
        </p:spPr>
        <p:txBody>
          <a:bodyPr wrap="none" anchor="ctr"/>
          <a:lstStyle/>
          <a:p>
            <a:pPr algn="ctr" eaLnBrk="0" hangingPunct="0">
              <a:lnSpc>
                <a:spcPct val="106000"/>
              </a:lnSpc>
              <a:defRPr/>
            </a:pPr>
            <a:endParaRPr lang="en-US" sz="1100" b="1" dirty="0">
              <a:solidFill>
                <a:srgbClr val="000000"/>
              </a:solidFill>
              <a:latin typeface="Arial"/>
              <a:cs typeface="Arial" charset="0"/>
            </a:endParaRPr>
          </a:p>
        </p:txBody>
      </p:sp>
      <p:sp>
        <p:nvSpPr>
          <p:cNvPr id="4099" name="Rectangle 2"/>
          <p:cNvSpPr>
            <a:spLocks noGrp="1" noChangeArrowheads="1"/>
          </p:cNvSpPr>
          <p:nvPr>
            <p:ph type="title"/>
          </p:nvPr>
        </p:nvSpPr>
        <p:spPr bwMode="gray">
          <a:xfrm>
            <a:off x="401638" y="514350"/>
            <a:ext cx="8345487" cy="258763"/>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p>
            <a:pPr lvl="0"/>
            <a:r>
              <a:rPr lang="en-US" smtClean="0"/>
              <a:t>Click to Edit Master Title Style</a:t>
            </a:r>
          </a:p>
        </p:txBody>
      </p:sp>
      <p:sp>
        <p:nvSpPr>
          <p:cNvPr id="4100" name="Rectangle 3"/>
          <p:cNvSpPr>
            <a:spLocks noGrp="1" noChangeArrowheads="1"/>
          </p:cNvSpPr>
          <p:nvPr>
            <p:ph type="body" idx="1"/>
          </p:nvPr>
        </p:nvSpPr>
        <p:spPr bwMode="gray">
          <a:xfrm>
            <a:off x="396875" y="1154113"/>
            <a:ext cx="4008438" cy="5135562"/>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699717" name="Text Box 5"/>
          <p:cNvSpPr txBox="1">
            <a:spLocks noChangeArrowheads="1"/>
          </p:cNvSpPr>
          <p:nvPr/>
        </p:nvSpPr>
        <p:spPr bwMode="gray">
          <a:xfrm>
            <a:off x="4432300" y="6664325"/>
            <a:ext cx="279400" cy="144463"/>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lnSpc>
                <a:spcPct val="106000"/>
              </a:lnSpc>
              <a:buClr>
                <a:srgbClr val="000000"/>
              </a:buClr>
              <a:buSzPct val="65000"/>
              <a:buFont typeface="Wingdings" pitchFamily="2" charset="2"/>
              <a:buNone/>
              <a:defRPr/>
            </a:pPr>
            <a:r>
              <a:rPr lang="en-US" sz="900" dirty="0">
                <a:solidFill>
                  <a:srgbClr val="000000"/>
                </a:solidFill>
                <a:latin typeface="Arial"/>
                <a:cs typeface="Arial" charset="0"/>
              </a:rPr>
              <a:t>- </a:t>
            </a:r>
            <a:fld id="{14FC2ADD-DE66-4719-B40D-CE6BCDC996E3}" type="slidenum">
              <a:rPr lang="en-US" sz="900">
                <a:solidFill>
                  <a:srgbClr val="000000"/>
                </a:solidFill>
                <a:latin typeface="Arial"/>
                <a:cs typeface="Arial" charset="0"/>
              </a:rPr>
              <a:pPr algn="ctr" eaLnBrk="0" hangingPunct="0">
                <a:lnSpc>
                  <a:spcPct val="106000"/>
                </a:lnSpc>
                <a:buClr>
                  <a:srgbClr val="000000"/>
                </a:buClr>
                <a:buSzPct val="65000"/>
                <a:buFont typeface="Wingdings" pitchFamily="2" charset="2"/>
                <a:buNone/>
                <a:defRPr/>
              </a:pPr>
              <a:t>‹#›</a:t>
            </a:fld>
            <a:r>
              <a:rPr lang="en-US" sz="900" dirty="0">
                <a:solidFill>
                  <a:srgbClr val="000000"/>
                </a:solidFill>
                <a:latin typeface="Arial"/>
                <a:cs typeface="Arial" charset="0"/>
              </a:rPr>
              <a:t> -</a:t>
            </a:r>
          </a:p>
        </p:txBody>
      </p:sp>
      <p:pic>
        <p:nvPicPr>
          <p:cNvPr id="4102" name="Picture 6" descr="DEL_COL"/>
          <p:cNvPicPr>
            <a:picLocks noChangeAspect="1" noChangeArrowheads="1"/>
          </p:cNvPicPr>
          <p:nvPr/>
        </p:nvPicPr>
        <p:blipFill>
          <a:blip r:embed="rId15" cstate="print"/>
          <a:srcRect/>
          <a:stretch>
            <a:fillRect/>
          </a:stretch>
        </p:blipFill>
        <p:spPr bwMode="gray">
          <a:xfrm>
            <a:off x="395288" y="6645275"/>
            <a:ext cx="690562" cy="139700"/>
          </a:xfrm>
          <a:prstGeom prst="rect">
            <a:avLst/>
          </a:prstGeom>
          <a:noFill/>
          <a:ln w="9525">
            <a:noFill/>
            <a:miter lim="800000"/>
            <a:headEnd/>
            <a:tailEnd/>
          </a:ln>
        </p:spPr>
      </p:pic>
      <p:sp>
        <p:nvSpPr>
          <p:cNvPr id="3699747" name="Line 35"/>
          <p:cNvSpPr>
            <a:spLocks noChangeShapeType="1"/>
          </p:cNvSpPr>
          <p:nvPr/>
        </p:nvSpPr>
        <p:spPr bwMode="gray">
          <a:xfrm>
            <a:off x="469900" y="992188"/>
            <a:ext cx="8504238" cy="0"/>
          </a:xfrm>
          <a:prstGeom prst="line">
            <a:avLst/>
          </a:prstGeom>
          <a:noFill/>
          <a:ln w="12700">
            <a:noFill/>
            <a:round/>
            <a:headEnd/>
            <a:tailEnd/>
          </a:ln>
          <a:effectLst/>
        </p:spPr>
        <p:txBody>
          <a:bodyPr lIns="73152" tIns="73152" rIns="73152" bIns="73152" anchor="ctr" anchorCtr="1"/>
          <a:lstStyle/>
          <a:p>
            <a:pPr algn="ctr" eaLnBrk="0" hangingPunct="0">
              <a:lnSpc>
                <a:spcPct val="106000"/>
              </a:lnSpc>
              <a:defRPr/>
            </a:pPr>
            <a:endParaRPr lang="en-US" sz="1100" b="1" dirty="0">
              <a:solidFill>
                <a:srgbClr val="000000"/>
              </a:solidFill>
              <a:latin typeface="Arial"/>
              <a:cs typeface="Arial" charset="0"/>
            </a:endParaRPr>
          </a:p>
        </p:txBody>
      </p:sp>
    </p:spTree>
    <p:extLst>
      <p:ext uri="{BB962C8B-B14F-4D97-AF65-F5344CB8AC3E}">
        <p14:creationId xmlns:p14="http://schemas.microsoft.com/office/powerpoint/2010/main" val="1887058785"/>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Lst>
  <p:hf hdr="0" ftr="0" dt="0"/>
  <p:txStyles>
    <p:titleStyle>
      <a:lvl1pPr algn="l" rtl="0" eaLnBrk="0" fontAlgn="base" hangingPunct="0">
        <a:lnSpc>
          <a:spcPct val="106000"/>
        </a:lnSpc>
        <a:spcBef>
          <a:spcPct val="0"/>
        </a:spcBef>
        <a:spcAft>
          <a:spcPct val="0"/>
        </a:spcAft>
        <a:defRPr sz="1600" b="1">
          <a:solidFill>
            <a:schemeClr val="tx1"/>
          </a:solidFill>
          <a:latin typeface="+mj-lt"/>
          <a:ea typeface="+mj-ea"/>
          <a:cs typeface="+mj-cs"/>
        </a:defRPr>
      </a:lvl1pPr>
      <a:lvl2pPr algn="l" rtl="0" eaLnBrk="0" fontAlgn="base" hangingPunct="0">
        <a:lnSpc>
          <a:spcPct val="106000"/>
        </a:lnSpc>
        <a:spcBef>
          <a:spcPct val="0"/>
        </a:spcBef>
        <a:spcAft>
          <a:spcPct val="0"/>
        </a:spcAft>
        <a:defRPr sz="1600" b="1">
          <a:solidFill>
            <a:schemeClr val="tx1"/>
          </a:solidFill>
          <a:latin typeface="Arial" charset="0"/>
        </a:defRPr>
      </a:lvl2pPr>
      <a:lvl3pPr algn="l" rtl="0" eaLnBrk="0" fontAlgn="base" hangingPunct="0">
        <a:lnSpc>
          <a:spcPct val="106000"/>
        </a:lnSpc>
        <a:spcBef>
          <a:spcPct val="0"/>
        </a:spcBef>
        <a:spcAft>
          <a:spcPct val="0"/>
        </a:spcAft>
        <a:defRPr sz="1600" b="1">
          <a:solidFill>
            <a:schemeClr val="tx1"/>
          </a:solidFill>
          <a:latin typeface="Arial" charset="0"/>
        </a:defRPr>
      </a:lvl3pPr>
      <a:lvl4pPr algn="l" rtl="0" eaLnBrk="0" fontAlgn="base" hangingPunct="0">
        <a:lnSpc>
          <a:spcPct val="106000"/>
        </a:lnSpc>
        <a:spcBef>
          <a:spcPct val="0"/>
        </a:spcBef>
        <a:spcAft>
          <a:spcPct val="0"/>
        </a:spcAft>
        <a:defRPr sz="1600" b="1">
          <a:solidFill>
            <a:schemeClr val="tx1"/>
          </a:solidFill>
          <a:latin typeface="Arial" charset="0"/>
        </a:defRPr>
      </a:lvl4pPr>
      <a:lvl5pPr algn="l" rtl="0" eaLnBrk="0" fontAlgn="base" hangingPunct="0">
        <a:lnSpc>
          <a:spcPct val="106000"/>
        </a:lnSpc>
        <a:spcBef>
          <a:spcPct val="0"/>
        </a:spcBef>
        <a:spcAft>
          <a:spcPct val="0"/>
        </a:spcAft>
        <a:defRPr sz="1600" b="1">
          <a:solidFill>
            <a:schemeClr val="tx1"/>
          </a:solidFill>
          <a:latin typeface="Arial" charset="0"/>
        </a:defRPr>
      </a:lvl5pPr>
      <a:lvl6pPr marL="457200" algn="l" rtl="0" fontAlgn="base">
        <a:lnSpc>
          <a:spcPct val="106000"/>
        </a:lnSpc>
        <a:spcBef>
          <a:spcPct val="0"/>
        </a:spcBef>
        <a:spcAft>
          <a:spcPct val="0"/>
        </a:spcAft>
        <a:defRPr sz="1600" b="1">
          <a:solidFill>
            <a:schemeClr val="tx1"/>
          </a:solidFill>
          <a:latin typeface="Arial" charset="0"/>
        </a:defRPr>
      </a:lvl6pPr>
      <a:lvl7pPr marL="914400" algn="l" rtl="0" fontAlgn="base">
        <a:lnSpc>
          <a:spcPct val="106000"/>
        </a:lnSpc>
        <a:spcBef>
          <a:spcPct val="0"/>
        </a:spcBef>
        <a:spcAft>
          <a:spcPct val="0"/>
        </a:spcAft>
        <a:defRPr sz="1600" b="1">
          <a:solidFill>
            <a:schemeClr val="tx1"/>
          </a:solidFill>
          <a:latin typeface="Arial" charset="0"/>
        </a:defRPr>
      </a:lvl7pPr>
      <a:lvl8pPr marL="1371600" algn="l" rtl="0" fontAlgn="base">
        <a:lnSpc>
          <a:spcPct val="106000"/>
        </a:lnSpc>
        <a:spcBef>
          <a:spcPct val="0"/>
        </a:spcBef>
        <a:spcAft>
          <a:spcPct val="0"/>
        </a:spcAft>
        <a:defRPr sz="1600" b="1">
          <a:solidFill>
            <a:schemeClr val="tx1"/>
          </a:solidFill>
          <a:latin typeface="Arial" charset="0"/>
        </a:defRPr>
      </a:lvl8pPr>
      <a:lvl9pPr marL="1828800" algn="l" rtl="0" fontAlgn="base">
        <a:lnSpc>
          <a:spcPct val="106000"/>
        </a:lnSpc>
        <a:spcBef>
          <a:spcPct val="0"/>
        </a:spcBef>
        <a:spcAft>
          <a:spcPct val="0"/>
        </a:spcAft>
        <a:defRPr sz="1600" b="1">
          <a:solidFill>
            <a:schemeClr val="tx1"/>
          </a:solidFill>
          <a:latin typeface="Arial" charset="0"/>
        </a:defRPr>
      </a:lvl9pPr>
    </p:titleStyle>
    <p:bodyStyle>
      <a:lvl1pPr marL="342900" indent="-342900" algn="l" rtl="0" eaLnBrk="0" fontAlgn="base" hangingPunct="0">
        <a:lnSpc>
          <a:spcPct val="106000"/>
        </a:lnSpc>
        <a:spcBef>
          <a:spcPct val="80000"/>
        </a:spcBef>
        <a:spcAft>
          <a:spcPct val="0"/>
        </a:spcAft>
        <a:buClr>
          <a:schemeClr val="tx1"/>
        </a:buClr>
        <a:buSzPct val="80000"/>
        <a:buFont typeface="Wingdings" pitchFamily="2" charset="2"/>
        <a:defRPr sz="1100">
          <a:solidFill>
            <a:schemeClr val="tx1"/>
          </a:solidFill>
          <a:latin typeface="+mn-lt"/>
          <a:ea typeface="+mn-ea"/>
          <a:cs typeface="+mn-cs"/>
        </a:defRPr>
      </a:lvl1pPr>
      <a:lvl2pPr marL="169863" indent="-168275" algn="l" rtl="0" eaLnBrk="0" fontAlgn="base" hangingPunct="0">
        <a:lnSpc>
          <a:spcPct val="106000"/>
        </a:lnSpc>
        <a:spcBef>
          <a:spcPct val="80000"/>
        </a:spcBef>
        <a:spcAft>
          <a:spcPct val="0"/>
        </a:spcAft>
        <a:buClr>
          <a:schemeClr val="tx1"/>
        </a:buClr>
        <a:buFont typeface="Wingdings 2" pitchFamily="18" charset="2"/>
        <a:buChar char="¡"/>
        <a:defRPr sz="1100">
          <a:solidFill>
            <a:schemeClr val="tx1"/>
          </a:solidFill>
          <a:latin typeface="+mn-lt"/>
        </a:defRPr>
      </a:lvl2pPr>
      <a:lvl3pPr marL="344488" indent="-173038" algn="l" rtl="0" eaLnBrk="0" fontAlgn="base" hangingPunct="0">
        <a:lnSpc>
          <a:spcPct val="106000"/>
        </a:lnSpc>
        <a:spcBef>
          <a:spcPct val="40000"/>
        </a:spcBef>
        <a:spcAft>
          <a:spcPct val="0"/>
        </a:spcAft>
        <a:buClr>
          <a:schemeClr val="tx1"/>
        </a:buClr>
        <a:buFont typeface="Arial" charset="0"/>
        <a:buChar char="–"/>
        <a:defRPr sz="1000">
          <a:solidFill>
            <a:schemeClr val="tx1"/>
          </a:solidFill>
          <a:latin typeface="+mn-lt"/>
        </a:defRPr>
      </a:lvl3pPr>
      <a:lvl4pPr marL="517525" indent="-171450" algn="l" rtl="0" eaLnBrk="0" fontAlgn="base" hangingPunct="0">
        <a:lnSpc>
          <a:spcPct val="106000"/>
        </a:lnSpc>
        <a:spcBef>
          <a:spcPct val="20000"/>
        </a:spcBef>
        <a:spcAft>
          <a:spcPct val="0"/>
        </a:spcAft>
        <a:buClr>
          <a:schemeClr val="tx1"/>
        </a:buClr>
        <a:buChar char="•"/>
        <a:defRPr sz="1000">
          <a:solidFill>
            <a:schemeClr val="tx1"/>
          </a:solidFill>
          <a:latin typeface="+mn-lt"/>
        </a:defRPr>
      </a:lvl4pPr>
      <a:lvl5pPr marL="1446213" indent="-236538" algn="l" rtl="0" eaLnBrk="0" fontAlgn="base" hangingPunct="0">
        <a:spcBef>
          <a:spcPct val="20000"/>
        </a:spcBef>
        <a:spcAft>
          <a:spcPct val="0"/>
        </a:spcAft>
        <a:buClr>
          <a:schemeClr val="tx1"/>
        </a:buClr>
        <a:buChar char="–"/>
        <a:defRPr sz="1200">
          <a:solidFill>
            <a:schemeClr val="tx1"/>
          </a:solidFill>
          <a:latin typeface="+mn-lt"/>
        </a:defRPr>
      </a:lvl5pPr>
      <a:lvl6pPr marL="1903413" indent="-236538" algn="l" rtl="0" fontAlgn="base">
        <a:spcBef>
          <a:spcPct val="20000"/>
        </a:spcBef>
        <a:spcAft>
          <a:spcPct val="0"/>
        </a:spcAft>
        <a:buClr>
          <a:schemeClr val="tx1"/>
        </a:buClr>
        <a:buChar char="–"/>
        <a:defRPr sz="1200">
          <a:solidFill>
            <a:schemeClr val="tx1"/>
          </a:solidFill>
          <a:latin typeface="+mn-lt"/>
        </a:defRPr>
      </a:lvl6pPr>
      <a:lvl7pPr marL="2360613" indent="-236538" algn="l" rtl="0" fontAlgn="base">
        <a:spcBef>
          <a:spcPct val="20000"/>
        </a:spcBef>
        <a:spcAft>
          <a:spcPct val="0"/>
        </a:spcAft>
        <a:buClr>
          <a:schemeClr val="tx1"/>
        </a:buClr>
        <a:buChar char="–"/>
        <a:defRPr sz="1200">
          <a:solidFill>
            <a:schemeClr val="tx1"/>
          </a:solidFill>
          <a:latin typeface="+mn-lt"/>
        </a:defRPr>
      </a:lvl7pPr>
      <a:lvl8pPr marL="2817813" indent="-236538" algn="l" rtl="0" fontAlgn="base">
        <a:spcBef>
          <a:spcPct val="20000"/>
        </a:spcBef>
        <a:spcAft>
          <a:spcPct val="0"/>
        </a:spcAft>
        <a:buClr>
          <a:schemeClr val="tx1"/>
        </a:buClr>
        <a:buChar char="–"/>
        <a:defRPr sz="1200">
          <a:solidFill>
            <a:schemeClr val="tx1"/>
          </a:solidFill>
          <a:latin typeface="+mn-lt"/>
        </a:defRPr>
      </a:lvl8pPr>
      <a:lvl9pPr marL="3275013" indent="-236538" algn="l" rtl="0" fontAlgn="base">
        <a:spcBef>
          <a:spcPct val="20000"/>
        </a:spcBef>
        <a:spcAft>
          <a:spcPct val="0"/>
        </a:spcAft>
        <a:buClr>
          <a:schemeClr val="tx1"/>
        </a:buClr>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image" Target="../media/image13.png"/><Relationship Id="rId12" Type="http://schemas.openxmlformats.org/officeDocument/2006/relationships/image" Target="../media/image14.jpg"/><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jpg"/><Relationship Id="rId5" Type="http://schemas.openxmlformats.org/officeDocument/2006/relationships/image" Target="../media/image7.png"/><Relationship Id="rId6" Type="http://schemas.openxmlformats.org/officeDocument/2006/relationships/image" Target="../media/image8.jpg"/><Relationship Id="rId7" Type="http://schemas.openxmlformats.org/officeDocument/2006/relationships/image" Target="../media/image9.jpg"/><Relationship Id="rId8" Type="http://schemas.openxmlformats.org/officeDocument/2006/relationships/image" Target="../media/image10.jpg"/><Relationship Id="rId9" Type="http://schemas.openxmlformats.org/officeDocument/2006/relationships/image" Target="../media/image11.jpg"/><Relationship Id="rId10" Type="http://schemas.openxmlformats.org/officeDocument/2006/relationships/image" Target="../media/image12.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hyperlink" Target="https://www.caseinterview.com/math" TargetMode="External"/><Relationship Id="rId4" Type="http://schemas.openxmlformats.org/officeDocument/2006/relationships/hyperlink" Target="http://www.mathsisfun.com/worksheets/index.php" TargetMode="External"/><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jpeg"/><Relationship Id="rId8" Type="http://schemas.openxmlformats.org/officeDocument/2006/relationships/image" Target="../media/image21.jpeg"/><Relationship Id="rId9" Type="http://schemas.openxmlformats.org/officeDocument/2006/relationships/image" Target="../media/image22.jpeg"/><Relationship Id="rId10" Type="http://schemas.openxmlformats.org/officeDocument/2006/relationships/image" Target="../media/image23.png"/><Relationship Id="rId1" Type="http://schemas.openxmlformats.org/officeDocument/2006/relationships/slideLayout" Target="../slideLayouts/slideLayout8.xml"/><Relationship Id="rId2"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chart" Target="../charts/char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chart" Target="../charts/char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26.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chart" Target="../charts/char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81.xml.rels><?xml version="1.0" encoding="UTF-8" standalone="yes"?>
<Relationships xmlns="http://schemas.openxmlformats.org/package/2006/relationships"><Relationship Id="rId3" Type="http://schemas.openxmlformats.org/officeDocument/2006/relationships/chart" Target="../charts/chart4.xml"/><Relationship Id="rId4" Type="http://schemas.openxmlformats.org/officeDocument/2006/relationships/image" Target="../media/image5.png"/><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5.xml"/><Relationship Id="rId3" Type="http://schemas.openxmlformats.org/officeDocument/2006/relationships/image" Target="../media/image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28.e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29.e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oleObject" Target="../embeddings/Microsoft_Excel_97_-_2004_Worksheet1.xls"/><Relationship Id="rId5" Type="http://schemas.openxmlformats.org/officeDocument/2006/relationships/image" Target="../media/image30.emf"/><Relationship Id="rId6" Type="http://schemas.openxmlformats.org/officeDocument/2006/relationships/image" Target="../media/image5.png"/><Relationship Id="rId1" Type="http://schemas.openxmlformats.org/officeDocument/2006/relationships/vmlDrawing" Target="../drawings/vmlDrawing1.vml"/><Relationship Id="rId2"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97.xml.rels><?xml version="1.0" encoding="UTF-8" standalone="yes"?>
<Relationships xmlns="http://schemas.openxmlformats.org/package/2006/relationships"><Relationship Id="rId3" Type="http://schemas.openxmlformats.org/officeDocument/2006/relationships/chart" Target="../charts/chart6.xml"/><Relationship Id="rId4" Type="http://schemas.openxmlformats.org/officeDocument/2006/relationships/image" Target="../media/image5.png"/><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7.xml"/><Relationship Id="rId3" Type="http://schemas.openxmlformats.org/officeDocument/2006/relationships/chart" Target="../charts/chart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3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chart" Target="../charts/chart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jpe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_rels/slide169.xml.rels><?xml version="1.0" encoding="UTF-8" standalone="yes"?>
<Relationships xmlns="http://schemas.openxmlformats.org/package/2006/relationships"><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chart" Target="../charts/chart12.xml"/><Relationship Id="rId6" Type="http://schemas.openxmlformats.org/officeDocument/2006/relationships/chart" Target="../charts/chart13.xml"/><Relationship Id="rId1" Type="http://schemas.openxmlformats.org/officeDocument/2006/relationships/slideLayout" Target="../slideLayouts/slideLayout20.xml"/><Relationship Id="rId2" Type="http://schemas.openxmlformats.org/officeDocument/2006/relationships/notesSlide" Target="../notesSlides/notesSlide2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chart" Target="../charts/chart1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Rectangle 4"/>
          <p:cNvSpPr>
            <a:spLocks noGrp="1" noChangeArrowheads="1"/>
          </p:cNvSpPr>
          <p:nvPr>
            <p:ph type="ctrTitle"/>
          </p:nvPr>
        </p:nvSpPr>
        <p:spPr/>
        <p:txBody>
          <a:bodyPr/>
          <a:lstStyle/>
          <a:p>
            <a:pPr>
              <a:defRPr/>
            </a:pPr>
            <a:r>
              <a:rPr lang="en-US" dirty="0" smtClean="0"/>
              <a:t>DMCC 2013-2014 Casebook</a:t>
            </a:r>
            <a:endParaRPr lang="en-US" dirty="0"/>
          </a:p>
        </p:txBody>
      </p:sp>
    </p:spTree>
    <p:extLst>
      <p:ext uri="{BB962C8B-B14F-4D97-AF65-F5344CB8AC3E}">
        <p14:creationId xmlns:p14="http://schemas.microsoft.com/office/powerpoint/2010/main" val="3939001841"/>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507" name="Group 11"/>
          <p:cNvGraphicFramePr>
            <a:graphicFrameLocks noGrp="1"/>
          </p:cNvGraphicFramePr>
          <p:nvPr>
            <p:ph idx="1"/>
            <p:extLst/>
          </p:nvPr>
        </p:nvGraphicFramePr>
        <p:xfrm>
          <a:off x="311150" y="1143000"/>
          <a:ext cx="8528050" cy="5489277"/>
        </p:xfrm>
        <a:graphic>
          <a:graphicData uri="http://schemas.openxmlformats.org/drawingml/2006/table">
            <a:tbl>
              <a:tblPr/>
              <a:tblGrid>
                <a:gridCol w="2411461"/>
                <a:gridCol w="6116589"/>
              </a:tblGrid>
              <a:tr h="55745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cs typeface="Arial" charset="0"/>
                        </a:rPr>
                        <a:t>Sponsor Categories</a:t>
                      </a:r>
                    </a:p>
                  </a:txBody>
                  <a:tcPr marL="87086" marR="87086" marT="91440" marB="91440" anchor="ctr" horzOverflow="overflow">
                    <a:lnL w="28575" cap="flat" cmpd="sng" algn="ctr">
                      <a:solidFill>
                        <a:schemeClr val="tx1"/>
                      </a:solidFill>
                      <a:prstDash val="solid"/>
                      <a:round/>
                      <a:headEnd type="none" w="lg" len="lg"/>
                      <a:tailEnd type="none" w="lg" len="lg"/>
                    </a:lnL>
                    <a:lnR w="12700" cap="flat" cmpd="sng" algn="ctr">
                      <a:solidFill>
                        <a:schemeClr val="tx1"/>
                      </a:solidFill>
                      <a:prstDash val="solid"/>
                      <a:round/>
                      <a:headEnd type="none" w="lg" len="lg"/>
                      <a:tailEnd type="none" w="lg" len="lg"/>
                    </a:lnR>
                    <a:lnT w="28575"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cs typeface="Arial" charset="0"/>
                        </a:rPr>
                        <a:t>Firms</a:t>
                      </a:r>
                    </a:p>
                  </a:txBody>
                  <a:tcPr marL="87086" marR="87086" marT="91440" marB="91440" anchor="ctr" horzOverflow="overflow">
                    <a:lnL w="12700" cap="flat" cmpd="sng" algn="ctr">
                      <a:solidFill>
                        <a:schemeClr val="tx1"/>
                      </a:solidFill>
                      <a:prstDash val="solid"/>
                      <a:round/>
                      <a:headEnd type="none" w="lg" len="lg"/>
                      <a:tailEnd type="none" w="lg" len="lg"/>
                    </a:lnL>
                    <a:lnR w="28575" cap="flat" cmpd="sng" algn="ctr">
                      <a:solidFill>
                        <a:schemeClr val="tx1"/>
                      </a:solidFill>
                      <a:prstDash val="solid"/>
                      <a:round/>
                      <a:headEnd type="none" w="lg" len="lg"/>
                      <a:tailEnd type="none" w="lg" len="lg"/>
                    </a:lnR>
                    <a:lnT w="28575"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r>
              <a:tr h="8240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dirty="0" smtClean="0">
                          <a:ln>
                            <a:noFill/>
                          </a:ln>
                          <a:solidFill>
                            <a:schemeClr val="tx1"/>
                          </a:solidFill>
                          <a:effectLst/>
                          <a:latin typeface="Arial" charset="0"/>
                          <a:cs typeface="Arial" charset="0"/>
                        </a:rPr>
                        <a:t>Platinum</a:t>
                      </a:r>
                    </a:p>
                  </a:txBody>
                  <a:tcPr marL="87086" marR="87086" marT="91440" marB="91440" anchor="ctr" horzOverflow="overflow">
                    <a:lnL w="28575" cap="flat" cmpd="sng" algn="ctr">
                      <a:solidFill>
                        <a:schemeClr val="tx1"/>
                      </a:solidFill>
                      <a:prstDash val="solid"/>
                      <a:round/>
                      <a:headEnd type="none" w="lg" len="lg"/>
                      <a:tailEnd type="none" w="lg" len="lg"/>
                    </a:lnL>
                    <a:lnR w="12700"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cs typeface="Arial" charset="0"/>
                      </a:endParaRPr>
                    </a:p>
                  </a:txBody>
                  <a:tcPr marL="87086" marR="87086" marT="91440" marB="91440" anchor="ctr" horzOverflow="overflow">
                    <a:lnL w="12700" cap="flat" cmpd="sng" algn="ctr">
                      <a:solidFill>
                        <a:schemeClr val="tx1"/>
                      </a:solidFill>
                      <a:prstDash val="solid"/>
                      <a:round/>
                      <a:headEnd type="none" w="lg" len="lg"/>
                      <a:tailEnd type="none" w="lg" len="lg"/>
                    </a:lnL>
                    <a:lnR w="28575"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r>
              <a:tr h="19354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dirty="0" smtClean="0">
                          <a:ln>
                            <a:noFill/>
                          </a:ln>
                          <a:solidFill>
                            <a:schemeClr val="tx1"/>
                          </a:solidFill>
                          <a:effectLst/>
                          <a:latin typeface="Arial" charset="0"/>
                          <a:cs typeface="Arial" charset="0"/>
                        </a:rPr>
                        <a:t>Gold</a:t>
                      </a:r>
                    </a:p>
                  </a:txBody>
                  <a:tcPr marL="87086" marR="87086" marT="91440" marB="91440" anchor="ctr" horzOverflow="overflow">
                    <a:lnL w="28575" cap="flat" cmpd="sng" algn="ctr">
                      <a:solidFill>
                        <a:schemeClr val="tx1"/>
                      </a:solidFill>
                      <a:prstDash val="solid"/>
                      <a:round/>
                      <a:headEnd type="none" w="lg" len="lg"/>
                      <a:tailEnd type="none" w="lg" len="lg"/>
                    </a:lnL>
                    <a:lnR w="12700"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cs typeface="Arial" charset="0"/>
                      </a:endParaRPr>
                    </a:p>
                  </a:txBody>
                  <a:tcPr marL="87086" marR="87086" marT="91440" marB="91440" anchor="ctr" horzOverflow="overflow">
                    <a:lnL w="12700" cap="flat" cmpd="sng" algn="ctr">
                      <a:solidFill>
                        <a:schemeClr val="tx1"/>
                      </a:solidFill>
                      <a:prstDash val="solid"/>
                      <a:round/>
                      <a:headEnd type="none" w="lg" len="lg"/>
                      <a:tailEnd type="none" w="lg" len="lg"/>
                    </a:lnL>
                    <a:lnR w="28575"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r>
              <a:tr h="116035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dirty="0" smtClean="0">
                          <a:ln>
                            <a:noFill/>
                          </a:ln>
                          <a:solidFill>
                            <a:schemeClr val="tx1"/>
                          </a:solidFill>
                          <a:effectLst/>
                          <a:latin typeface="Arial" charset="0"/>
                          <a:cs typeface="Arial" charset="0"/>
                        </a:rPr>
                        <a:t>Silver</a:t>
                      </a:r>
                    </a:p>
                  </a:txBody>
                  <a:tcPr marL="87086" marR="87086" marT="91440" marB="91440" anchor="ctr" horzOverflow="overflow">
                    <a:lnL w="28575" cap="flat" cmpd="sng" algn="ctr">
                      <a:solidFill>
                        <a:schemeClr val="tx1"/>
                      </a:solidFill>
                      <a:prstDash val="solid"/>
                      <a:round/>
                      <a:headEnd type="none" w="lg" len="lg"/>
                      <a:tailEnd type="none" w="lg" len="lg"/>
                    </a:lnL>
                    <a:lnR w="12700"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cs typeface="Arial" charset="0"/>
                      </a:endParaRPr>
                    </a:p>
                  </a:txBody>
                  <a:tcPr marL="87086" marR="87086" marT="91440" marB="91440" anchor="ctr" horzOverflow="overflow">
                    <a:lnL w="12700" cap="flat" cmpd="sng" algn="ctr">
                      <a:solidFill>
                        <a:schemeClr val="tx1"/>
                      </a:solidFill>
                      <a:prstDash val="solid"/>
                      <a:round/>
                      <a:headEnd type="none" w="lg" len="lg"/>
                      <a:tailEnd type="none" w="lg" len="lg"/>
                    </a:lnL>
                    <a:lnR w="28575"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r>
              <a:tr h="9656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dirty="0" smtClean="0">
                        <a:ln>
                          <a:noFill/>
                        </a:ln>
                        <a:solidFill>
                          <a:schemeClr val="tx1"/>
                        </a:solidFill>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dirty="0" smtClean="0">
                          <a:ln>
                            <a:noFill/>
                          </a:ln>
                          <a:solidFill>
                            <a:schemeClr val="tx1"/>
                          </a:solidFill>
                          <a:effectLst/>
                          <a:latin typeface="Arial" charset="0"/>
                          <a:cs typeface="Arial" charset="0"/>
                        </a:rPr>
                        <a:t>Resource</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dirty="0" smtClean="0">
                        <a:ln>
                          <a:noFill/>
                        </a:ln>
                        <a:solidFill>
                          <a:schemeClr val="tx1"/>
                        </a:solidFill>
                        <a:effectLst/>
                        <a:latin typeface="Arial" charset="0"/>
                        <a:cs typeface="Arial" charset="0"/>
                      </a:endParaRPr>
                    </a:p>
                  </a:txBody>
                  <a:tcPr marL="87086" marR="87086" marT="91440" marB="91440" anchor="ctr" horzOverflow="overflow">
                    <a:lnL w="28575" cap="flat" cmpd="sng" algn="ctr">
                      <a:solidFill>
                        <a:schemeClr val="tx1"/>
                      </a:solidFill>
                      <a:prstDash val="solid"/>
                      <a:round/>
                      <a:headEnd type="none" w="lg" len="lg"/>
                      <a:tailEnd type="none" w="lg" len="lg"/>
                    </a:lnL>
                    <a:lnR w="12700"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28575" cap="flat" cmpd="sng" algn="ctr">
                      <a:solidFill>
                        <a:schemeClr val="tx1"/>
                      </a:solidFill>
                      <a:prstDash val="solid"/>
                      <a:round/>
                      <a:headEnd type="none" w="lg" len="lg"/>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cs typeface="Arial" charset="0"/>
                      </a:endParaRPr>
                    </a:p>
                  </a:txBody>
                  <a:tcPr marL="87086" marR="87086" marT="91440" marB="91440" anchor="ctr" horzOverflow="overflow">
                    <a:lnL w="12700" cap="flat" cmpd="sng" algn="ctr">
                      <a:solidFill>
                        <a:schemeClr val="tx1"/>
                      </a:solidFill>
                      <a:prstDash val="solid"/>
                      <a:round/>
                      <a:headEnd type="none" w="lg" len="lg"/>
                      <a:tailEnd type="none" w="lg" len="lg"/>
                    </a:lnL>
                    <a:lnR w="28575"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28575" cap="flat" cmpd="sng" algn="ctr">
                      <a:solidFill>
                        <a:schemeClr val="tx1"/>
                      </a:solidFill>
                      <a:prstDash val="solid"/>
                      <a:round/>
                      <a:headEnd type="none" w="lg" len="lg"/>
                      <a:tailEnd type="none" w="lg" len="lg"/>
                    </a:lnB>
                    <a:lnTlToBr>
                      <a:noFill/>
                    </a:lnTlToBr>
                    <a:lnBlToTr>
                      <a:noFill/>
                    </a:lnBlToTr>
                    <a:noFill/>
                  </a:tcPr>
                </a:tc>
              </a:tr>
            </a:tbl>
          </a:graphicData>
        </a:graphic>
      </p:graphicFrame>
      <p:sp>
        <p:nvSpPr>
          <p:cNvPr id="8214" name="Rectangle 2"/>
          <p:cNvSpPr>
            <a:spLocks noGrp="1" noChangeArrowheads="1"/>
          </p:cNvSpPr>
          <p:nvPr>
            <p:ph type="title"/>
          </p:nvPr>
        </p:nvSpPr>
        <p:spPr>
          <a:xfrm>
            <a:off x="1752600" y="476250"/>
            <a:ext cx="6196013" cy="628650"/>
          </a:xfrm>
        </p:spPr>
        <p:txBody>
          <a:bodyPr/>
          <a:lstStyle/>
          <a:p>
            <a:pPr eaLnBrk="1" hangingPunct="1"/>
            <a:r>
              <a:rPr lang="en-US" dirty="0" smtClean="0">
                <a:ea typeface="ＭＳ Ｐゴシック" pitchFamily="34" charset="-128"/>
              </a:rPr>
              <a:t>DMCC 2013-2014 Sponsors</a:t>
            </a:r>
          </a:p>
        </p:txBody>
      </p:sp>
      <p:pic>
        <p:nvPicPr>
          <p:cNvPr id="8225" name="Picture 2"/>
          <p:cNvPicPr>
            <a:picLocks noChangeAspect="1" noChangeArrowheads="1"/>
          </p:cNvPicPr>
          <p:nvPr/>
        </p:nvPicPr>
        <p:blipFill>
          <a:blip r:embed="rId3"/>
          <a:srcRect/>
          <a:stretch>
            <a:fillRect/>
          </a:stretch>
        </p:blipFill>
        <p:spPr bwMode="auto">
          <a:xfrm>
            <a:off x="304800" y="228600"/>
            <a:ext cx="1200150" cy="635000"/>
          </a:xfrm>
          <a:prstGeom prst="rect">
            <a:avLst/>
          </a:prstGeom>
          <a:noFill/>
          <a:ln w="9525" algn="ctr">
            <a:noFill/>
            <a:miter lim="800000"/>
            <a:headEnd/>
            <a:tailEnd/>
          </a:ln>
        </p:spPr>
      </p:pic>
      <p:pic>
        <p:nvPicPr>
          <p:cNvPr id="2" name="Picture 1"/>
          <p:cNvPicPr>
            <a:picLocks noChangeAspect="1"/>
          </p:cNvPicPr>
          <p:nvPr/>
        </p:nvPicPr>
        <p:blipFill rotWithShape="1">
          <a:blip r:embed="rId4">
            <a:extLst>
              <a:ext uri="{28A0092B-C50C-407E-A947-70E740481C1C}">
                <a14:useLocalDpi xmlns:a14="http://schemas.microsoft.com/office/drawing/2010/main" val="0"/>
              </a:ext>
            </a:extLst>
          </a:blip>
          <a:srcRect t="22427" b="22427"/>
          <a:stretch/>
        </p:blipFill>
        <p:spPr>
          <a:xfrm>
            <a:off x="4850606" y="1716786"/>
            <a:ext cx="1798321" cy="793376"/>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00095" y="2577006"/>
            <a:ext cx="1343989" cy="839993"/>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91897" y="3428205"/>
            <a:ext cx="1216703" cy="1004888"/>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08600" y="3498598"/>
            <a:ext cx="2785608" cy="946968"/>
          </a:xfrm>
          <a:prstGeom prst="rect">
            <a:avLst/>
          </a:prstGeom>
        </p:spPr>
      </p:pic>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81400" y="4495800"/>
            <a:ext cx="2370398" cy="1078475"/>
          </a:xfrm>
          <a:prstGeom prst="rect">
            <a:avLst/>
          </a:prstGeom>
        </p:spPr>
      </p:pic>
      <p:pic>
        <p:nvPicPr>
          <p:cNvPr id="12" name="Picture 1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23430" y="5679186"/>
            <a:ext cx="2286000" cy="914400"/>
          </a:xfrm>
          <a:prstGeom prst="rect">
            <a:avLst/>
          </a:prstGeom>
        </p:spPr>
      </p:pic>
      <p:pic>
        <p:nvPicPr>
          <p:cNvPr id="5125" name="Picture 5" descr="ZS Associates"/>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91275" y="4532455"/>
            <a:ext cx="1177925" cy="1005163"/>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descr="Pwc logo.sv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78453" y="2627709"/>
            <a:ext cx="1045902" cy="79365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911861" y="5629879"/>
            <a:ext cx="2388598" cy="977154"/>
          </a:xfrm>
          <a:prstGeom prst="rect">
            <a:avLst/>
          </a:prstGeom>
        </p:spPr>
      </p:pic>
      <p:sp>
        <p:nvSpPr>
          <p:cNvPr id="3" name="Slide Number Placeholder 2"/>
          <p:cNvSpPr>
            <a:spLocks noGrp="1"/>
          </p:cNvSpPr>
          <p:nvPr>
            <p:ph type="sldNum" sz="quarter" idx="10"/>
          </p:nvPr>
        </p:nvSpPr>
        <p:spPr/>
        <p:txBody>
          <a:bodyPr/>
          <a:lstStyle/>
          <a:p>
            <a:pPr>
              <a:defRPr/>
            </a:pPr>
            <a:fld id="{2C3620DA-591A-47C1-BA9B-670AF3E2C382}" type="slidenum">
              <a:rPr lang="en-US" smtClean="0"/>
              <a:pPr>
                <a:defRPr/>
              </a:pPr>
              <a:t>2</a:t>
            </a:fld>
            <a:endParaRPr lang="en-US" dirty="0"/>
          </a:p>
        </p:txBody>
      </p:sp>
    </p:spTree>
    <p:extLst>
      <p:ext uri="{BB962C8B-B14F-4D97-AF65-F5344CB8AC3E}">
        <p14:creationId xmlns:p14="http://schemas.microsoft.com/office/powerpoint/2010/main" val="3230931516"/>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685800" y="152400"/>
            <a:ext cx="7772400" cy="1470025"/>
          </a:xfrm>
        </p:spPr>
        <p:txBody>
          <a:bodyPr/>
          <a:lstStyle/>
          <a:p>
            <a:pPr algn="ctr"/>
            <a:r>
              <a:rPr lang="en-US" dirty="0" smtClean="0">
                <a:ea typeface="ＭＳ Ｐゴシック" pitchFamily="34" charset="-128"/>
              </a:rPr>
              <a:t>Editor’s Note</a:t>
            </a:r>
          </a:p>
        </p:txBody>
      </p:sp>
      <p:sp>
        <p:nvSpPr>
          <p:cNvPr id="9219" name="Subtitle 2"/>
          <p:cNvSpPr>
            <a:spLocks noGrp="1"/>
          </p:cNvSpPr>
          <p:nvPr>
            <p:ph type="subTitle" idx="1"/>
          </p:nvPr>
        </p:nvSpPr>
        <p:spPr>
          <a:xfrm>
            <a:off x="457200" y="1371600"/>
            <a:ext cx="8153400" cy="4800600"/>
          </a:xfrm>
        </p:spPr>
        <p:txBody>
          <a:bodyPr/>
          <a:lstStyle/>
          <a:p>
            <a:pPr algn="l"/>
            <a:r>
              <a:rPr lang="en-US" sz="1200" dirty="0" smtClean="0">
                <a:ea typeface="ＭＳ Ｐゴシック" pitchFamily="34" charset="-128"/>
              </a:rPr>
              <a:t>Welcome students:</a:t>
            </a:r>
          </a:p>
          <a:p>
            <a:pPr algn="l"/>
            <a:endParaRPr lang="en-US" sz="1200" dirty="0" smtClean="0">
              <a:ea typeface="ＭＳ Ｐゴシック" pitchFamily="34" charset="-128"/>
            </a:endParaRPr>
          </a:p>
          <a:p>
            <a:pPr algn="l"/>
            <a:r>
              <a:rPr lang="en-US" sz="1200" dirty="0" smtClean="0">
                <a:ea typeface="ＭＳ Ｐゴシック" pitchFamily="34" charset="-128"/>
              </a:rPr>
              <a:t>The Duke MBA Consulting Club (DMCC) is proud to present the official 2013-2014 DMCC Casebook. This year we have included over 15 brand new cases. The objective of this book is to help you prepare for your upcoming consulting case interviews. Case interviews are an integral part of the hiring process for consulting firms. These interviews give you the opportunity to showcase your communication, client, creative and analytical skills to your interviewer. This book was developed to complement the Duke MBA Consulting Roadmap curriculum.  We hope that using both will help lead you to success during the upcoming recruiting season.</a:t>
            </a:r>
          </a:p>
          <a:p>
            <a:pPr algn="l"/>
            <a:endParaRPr lang="en-US" sz="1200" dirty="0" smtClean="0">
              <a:ea typeface="ＭＳ Ｐゴシック" pitchFamily="34" charset="-128"/>
            </a:endParaRPr>
          </a:p>
          <a:p>
            <a:pPr algn="l"/>
            <a:r>
              <a:rPr lang="en-US" sz="1200" dirty="0" smtClean="0">
                <a:ea typeface="ＭＳ Ｐゴシック" pitchFamily="34" charset="-128"/>
              </a:rPr>
              <a:t>A couple of changes have been made to enhance the training of  those utilizing the book.  First, the book does not specify which cases are what type (i.e. profitability, market entry, etc.).  We believe this unrealistically alerts the candidate of the nature of the case.  Second, the order of the cases are roughly ordered by difficulty.  Finally, there are specialty cases (Federal, Technology, and Human Capital) at the end of the book.</a:t>
            </a:r>
            <a:endParaRPr lang="en-US" sz="1200" dirty="0">
              <a:ea typeface="ＭＳ Ｐゴシック" pitchFamily="34" charset="-128"/>
            </a:endParaRPr>
          </a:p>
          <a:p>
            <a:pPr algn="l"/>
            <a:endParaRPr lang="en-US" sz="1200" dirty="0" smtClean="0">
              <a:ea typeface="ＭＳ Ｐゴシック" pitchFamily="34" charset="-128"/>
            </a:endParaRPr>
          </a:p>
          <a:p>
            <a:pPr algn="l"/>
            <a:r>
              <a:rPr lang="en-US" sz="1200" dirty="0" smtClean="0">
                <a:ea typeface="ＭＳ Ｐゴシック" pitchFamily="34" charset="-128"/>
              </a:rPr>
              <a:t>This casebook could not have been completed without </a:t>
            </a:r>
            <a:r>
              <a:rPr lang="en-US" sz="1200" dirty="0" smtClean="0"/>
              <a:t>Mike Slattery and AJ Tysenn and </a:t>
            </a:r>
            <a:r>
              <a:rPr lang="en-US" sz="1200" dirty="0">
                <a:ea typeface="ＭＳ Ｐゴシック" pitchFamily="34" charset="-128"/>
              </a:rPr>
              <a:t>the valuable contributions </a:t>
            </a:r>
            <a:r>
              <a:rPr lang="en-US" sz="1200" dirty="0" smtClean="0">
                <a:ea typeface="ＭＳ Ｐゴシック" pitchFamily="34" charset="-128"/>
              </a:rPr>
              <a:t>of</a:t>
            </a:r>
            <a:r>
              <a:rPr lang="en-US" sz="1200" dirty="0"/>
              <a:t>, Garrett Bredenkamp, Cordelia </a:t>
            </a:r>
            <a:r>
              <a:rPr lang="en-US" sz="1200" dirty="0" smtClean="0"/>
              <a:t>Chansler, Angela Crocker, </a:t>
            </a:r>
            <a:r>
              <a:rPr lang="en-US" sz="1200" dirty="0"/>
              <a:t>Bern Ebersole</a:t>
            </a:r>
            <a:r>
              <a:rPr lang="en-US" sz="1200" dirty="0" smtClean="0"/>
              <a:t>, </a:t>
            </a:r>
            <a:r>
              <a:rPr lang="en-US" sz="1200" dirty="0"/>
              <a:t>Alison Flinn</a:t>
            </a:r>
            <a:r>
              <a:rPr lang="en-US" sz="1200" dirty="0" smtClean="0"/>
              <a:t>,</a:t>
            </a:r>
            <a:r>
              <a:rPr lang="en-US" sz="1200" dirty="0"/>
              <a:t> Gloria Guan,</a:t>
            </a:r>
            <a:r>
              <a:rPr lang="en-US" sz="1200" dirty="0" smtClean="0"/>
              <a:t> </a:t>
            </a:r>
            <a:r>
              <a:rPr lang="en-US" sz="1200" dirty="0"/>
              <a:t>Martin Kaczynski, </a:t>
            </a:r>
            <a:r>
              <a:rPr lang="en-US" sz="1200" dirty="0" smtClean="0"/>
              <a:t>Brandon </a:t>
            </a:r>
            <a:r>
              <a:rPr lang="en-US" sz="1200" dirty="0" err="1"/>
              <a:t>Magsaman</a:t>
            </a:r>
            <a:r>
              <a:rPr lang="en-US" sz="1200" dirty="0"/>
              <a:t>, Jen McFann, </a:t>
            </a:r>
            <a:r>
              <a:rPr lang="en-US" sz="1200" dirty="0" smtClean="0"/>
              <a:t>Michael Nov, Matt Rogers, Mike Sprengnether, Dave </a:t>
            </a:r>
            <a:r>
              <a:rPr lang="en-US" sz="1200" dirty="0"/>
              <a:t>Strickler,</a:t>
            </a:r>
            <a:r>
              <a:rPr lang="en-US" sz="1200" dirty="0" smtClean="0"/>
              <a:t> </a:t>
            </a:r>
            <a:r>
              <a:rPr lang="en-US" sz="1200" dirty="0"/>
              <a:t>Richard Wang </a:t>
            </a:r>
            <a:r>
              <a:rPr lang="en-US" sz="1200" dirty="0" smtClean="0"/>
              <a:t>and the </a:t>
            </a:r>
            <a:r>
              <a:rPr lang="en-US" sz="1200" dirty="0" smtClean="0">
                <a:ea typeface="ＭＳ Ｐゴシック" pitchFamily="34" charset="-128"/>
              </a:rPr>
              <a:t>DMCC Cabinet Officers. We would also like to thank our friends at other MBA programs for sharing with us their old casebooks in order for us to continue to harvest new material.</a:t>
            </a:r>
          </a:p>
          <a:p>
            <a:pPr algn="l"/>
            <a:endParaRPr lang="en-US" sz="1200" dirty="0" smtClean="0">
              <a:ea typeface="ＭＳ Ｐゴシック" pitchFamily="34" charset="-128"/>
            </a:endParaRPr>
          </a:p>
          <a:p>
            <a:pPr algn="l"/>
            <a:r>
              <a:rPr lang="en-US" sz="1200" dirty="0" smtClean="0">
                <a:ea typeface="ＭＳ Ｐゴシック" pitchFamily="34" charset="-128"/>
              </a:rPr>
              <a:t>We wish you luck with your preparation and would like you to remember that your fellow DMCC members are here to help!  Please reach out to anyone on the cabinet if you feel that you are not “cracking the case”.  Lastly, to the students of other top MBA programs using this case book during their preparation, we warmly welcome you to “Team Fuqua”.</a:t>
            </a:r>
          </a:p>
          <a:p>
            <a:pPr algn="l"/>
            <a:endParaRPr lang="en-US" sz="600" dirty="0" smtClean="0">
              <a:ea typeface="ＭＳ Ｐゴシック" pitchFamily="34" charset="-128"/>
            </a:endParaRPr>
          </a:p>
          <a:p>
            <a:pPr algn="l"/>
            <a:r>
              <a:rPr lang="en-US" sz="1200" dirty="0" smtClean="0">
                <a:ea typeface="ＭＳ Ｐゴシック" pitchFamily="34" charset="-128"/>
              </a:rPr>
              <a:t>Good luck!</a:t>
            </a:r>
          </a:p>
          <a:p>
            <a:pPr algn="l"/>
            <a:endParaRPr lang="en-US" sz="600" dirty="0" smtClean="0">
              <a:ea typeface="ＭＳ Ｐゴシック" pitchFamily="34" charset="-128"/>
            </a:endParaRPr>
          </a:p>
          <a:p>
            <a:pPr algn="l"/>
            <a:r>
              <a:rPr lang="en-US" sz="1200" dirty="0" smtClean="0">
                <a:ea typeface="ＭＳ Ｐゴシック" pitchFamily="34" charset="-128"/>
              </a:rPr>
              <a:t>Elise Eggart, Ben Holm and the DMCC Class of 2014 Officers</a:t>
            </a:r>
          </a:p>
          <a:p>
            <a:pPr algn="l"/>
            <a:endParaRPr lang="en-US" sz="1200" dirty="0" smtClean="0">
              <a:ea typeface="ＭＳ Ｐゴシック" pitchFamily="34" charset="-128"/>
            </a:endParaRPr>
          </a:p>
        </p:txBody>
      </p:sp>
      <p:pic>
        <p:nvPicPr>
          <p:cNvPr id="9221" name="Picture 2"/>
          <p:cNvPicPr>
            <a:picLocks noChangeAspect="1" noChangeArrowheads="1"/>
          </p:cNvPicPr>
          <p:nvPr/>
        </p:nvPicPr>
        <p:blipFill>
          <a:blip r:embed="rId2"/>
          <a:srcRect/>
          <a:stretch>
            <a:fillRect/>
          </a:stretch>
        </p:blipFill>
        <p:spPr bwMode="auto">
          <a:xfrm>
            <a:off x="304800" y="203200"/>
            <a:ext cx="1200150" cy="635000"/>
          </a:xfrm>
          <a:prstGeom prst="rect">
            <a:avLst/>
          </a:prstGeom>
          <a:noFill/>
          <a:ln w="9525" algn="ctr">
            <a:noFill/>
            <a:miter lim="800000"/>
            <a:headEnd/>
            <a:tailEnd/>
          </a:ln>
        </p:spPr>
      </p:pic>
      <p:sp>
        <p:nvSpPr>
          <p:cNvPr id="2" name="Slide Number Placeholder 1"/>
          <p:cNvSpPr>
            <a:spLocks noGrp="1"/>
          </p:cNvSpPr>
          <p:nvPr>
            <p:ph type="sldNum" sz="quarter" idx="11"/>
          </p:nvPr>
        </p:nvSpPr>
        <p:spPr/>
        <p:txBody>
          <a:bodyPr/>
          <a:lstStyle/>
          <a:p>
            <a:pPr>
              <a:defRPr/>
            </a:pPr>
            <a:fld id="{D27468C5-B7D7-4747-8C9A-D2E8B4FA8FD8}" type="slidenum">
              <a:rPr lang="en-US" smtClean="0"/>
              <a:pPr>
                <a:defRPr/>
              </a:pPr>
              <a:t>3</a:t>
            </a:fld>
            <a:endParaRPr lang="en-US" dirty="0"/>
          </a:p>
        </p:txBody>
      </p:sp>
    </p:spTree>
    <p:extLst>
      <p:ext uri="{BB962C8B-B14F-4D97-AF65-F5344CB8AC3E}">
        <p14:creationId xmlns:p14="http://schemas.microsoft.com/office/powerpoint/2010/main" val="2003650499"/>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TextBox 9"/>
          <p:cNvSpPr txBox="1">
            <a:spLocks noChangeArrowheads="1"/>
          </p:cNvSpPr>
          <p:nvPr/>
        </p:nvSpPr>
        <p:spPr bwMode="auto">
          <a:xfrm>
            <a:off x="1828800" y="34852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ctr" eaLnBrk="1" hangingPunct="1"/>
            <a:r>
              <a:rPr lang="en-US" sz="2400" b="1" dirty="0" smtClean="0"/>
              <a:t>The Cases</a:t>
            </a:r>
            <a:endParaRPr lang="en-US" sz="2400" b="1" dirty="0"/>
          </a:p>
        </p:txBody>
      </p:sp>
      <p:graphicFrame>
        <p:nvGraphicFramePr>
          <p:cNvPr id="13" name="Table 12"/>
          <p:cNvGraphicFramePr>
            <a:graphicFrameLocks noGrp="1"/>
          </p:cNvGraphicFramePr>
          <p:nvPr>
            <p:extLst>
              <p:ext uri="{D42A27DB-BD31-4B8C-83A1-F6EECF244321}">
                <p14:modId xmlns:p14="http://schemas.microsoft.com/office/powerpoint/2010/main" val="1391861253"/>
              </p:ext>
            </p:extLst>
          </p:nvPr>
        </p:nvGraphicFramePr>
        <p:xfrm>
          <a:off x="1919368" y="1071236"/>
          <a:ext cx="5305265" cy="5275775"/>
        </p:xfrm>
        <a:graphic>
          <a:graphicData uri="http://schemas.openxmlformats.org/drawingml/2006/table">
            <a:tbl>
              <a:tblPr/>
              <a:tblGrid>
                <a:gridCol w="788683"/>
                <a:gridCol w="1292065"/>
                <a:gridCol w="2556372"/>
                <a:gridCol w="668145"/>
              </a:tblGrid>
              <a:tr h="219003">
                <a:tc>
                  <a:txBody>
                    <a:bodyPr/>
                    <a:lstStyle/>
                    <a:p>
                      <a:pPr algn="ctr" fontAlgn="b"/>
                      <a:r>
                        <a:rPr lang="en-US" sz="1400" b="1" i="0" u="none" strike="noStrike" dirty="0">
                          <a:solidFill>
                            <a:srgbClr val="000000"/>
                          </a:solidFill>
                          <a:effectLst/>
                          <a:latin typeface="Calibri"/>
                        </a:rPr>
                        <a:t>Case #</a:t>
                      </a:r>
                    </a:p>
                  </a:txBody>
                  <a:tcPr marL="6464" marR="6464" marT="6464" marB="0" anchor="b">
                    <a:lnL>
                      <a:noFill/>
                    </a:lnL>
                    <a:lnR>
                      <a:noFill/>
                    </a:lnR>
                    <a:lnT>
                      <a:noFill/>
                    </a:lnT>
                    <a:lnB>
                      <a:noFill/>
                    </a:lnB>
                    <a:solidFill>
                      <a:srgbClr val="D9D9D9"/>
                    </a:solidFill>
                  </a:tcPr>
                </a:tc>
                <a:tc>
                  <a:txBody>
                    <a:bodyPr/>
                    <a:lstStyle/>
                    <a:p>
                      <a:pPr algn="l" fontAlgn="b"/>
                      <a:r>
                        <a:rPr lang="en-US" sz="1400" b="1" i="0" u="none" strike="noStrike" dirty="0">
                          <a:solidFill>
                            <a:srgbClr val="000000"/>
                          </a:solidFill>
                          <a:effectLst/>
                          <a:latin typeface="Calibri"/>
                        </a:rPr>
                        <a:t>Type</a:t>
                      </a:r>
                    </a:p>
                  </a:txBody>
                  <a:tcPr marL="6464" marR="6464" marT="6464" marB="0" anchor="b">
                    <a:lnL>
                      <a:noFill/>
                    </a:lnL>
                    <a:lnR>
                      <a:noFill/>
                    </a:lnR>
                    <a:lnT>
                      <a:noFill/>
                    </a:lnT>
                    <a:lnB>
                      <a:noFill/>
                    </a:lnB>
                    <a:solidFill>
                      <a:srgbClr val="D9D9D9"/>
                    </a:solidFill>
                  </a:tcPr>
                </a:tc>
                <a:tc>
                  <a:txBody>
                    <a:bodyPr/>
                    <a:lstStyle/>
                    <a:p>
                      <a:pPr algn="l" fontAlgn="b"/>
                      <a:r>
                        <a:rPr lang="en-US" sz="1400" b="1" i="0" u="none" strike="noStrike" dirty="0">
                          <a:solidFill>
                            <a:schemeClr val="tx1"/>
                          </a:solidFill>
                          <a:effectLst/>
                          <a:latin typeface="Calibri"/>
                        </a:rPr>
                        <a:t>Name</a:t>
                      </a:r>
                    </a:p>
                  </a:txBody>
                  <a:tcPr marL="6464" marR="6464" marT="6464" marB="0" anchor="b">
                    <a:lnL>
                      <a:noFill/>
                    </a:lnL>
                    <a:lnR>
                      <a:noFill/>
                    </a:lnR>
                    <a:lnT>
                      <a:noFill/>
                    </a:lnT>
                    <a:lnB>
                      <a:noFill/>
                    </a:lnB>
                    <a:solidFill>
                      <a:srgbClr val="D9D9D9"/>
                    </a:solidFill>
                  </a:tcPr>
                </a:tc>
                <a:tc>
                  <a:txBody>
                    <a:bodyPr/>
                    <a:lstStyle/>
                    <a:p>
                      <a:pPr algn="ctr" fontAlgn="b"/>
                      <a:r>
                        <a:rPr lang="en-US" sz="1400" b="1" i="0" u="none" strike="noStrike" dirty="0">
                          <a:solidFill>
                            <a:srgbClr val="000000"/>
                          </a:solidFill>
                          <a:effectLst/>
                          <a:latin typeface="Calibri"/>
                        </a:rPr>
                        <a:t>Page</a:t>
                      </a:r>
                    </a:p>
                  </a:txBody>
                  <a:tcPr marL="6464" marR="6464" marT="6464" marB="0" anchor="b">
                    <a:lnL>
                      <a:noFill/>
                    </a:lnL>
                    <a:lnR>
                      <a:noFill/>
                    </a:lnR>
                    <a:lnT>
                      <a:noFill/>
                    </a:lnT>
                    <a:lnB>
                      <a:noFill/>
                    </a:lnB>
                    <a:solidFill>
                      <a:srgbClr val="D9D9D9"/>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1</a:t>
                      </a:r>
                    </a:p>
                  </a:txBody>
                  <a:tcPr marL="6464" marR="6464" marT="6464" marB="0" anchor="b">
                    <a:lnL>
                      <a:noFill/>
                    </a:lnL>
                    <a:lnR>
                      <a:noFill/>
                    </a:lnR>
                    <a:lnT>
                      <a:noFill/>
                    </a:lnT>
                    <a:lnB>
                      <a:noFill/>
                    </a:lnB>
                    <a:solidFill>
                      <a:srgbClr val="DCE6F1"/>
                    </a:solidFill>
                  </a:tcPr>
                </a:tc>
                <a:tc>
                  <a:txBody>
                    <a:bodyPr/>
                    <a:lstStyle/>
                    <a:p>
                      <a:pPr algn="l" fontAlgn="b"/>
                      <a:r>
                        <a:rPr lang="en-US" sz="1400" b="0" i="0" u="none" strike="noStrike" kern="1200" baseline="0" dirty="0">
                          <a:solidFill>
                            <a:schemeClr val="tx1"/>
                          </a:solidFill>
                          <a:effectLst/>
                          <a:latin typeface="Calibri"/>
                          <a:ea typeface="+mn-ea"/>
                          <a:cs typeface="+mn-cs"/>
                        </a:rPr>
                        <a:t>Market Sizing</a:t>
                      </a:r>
                    </a:p>
                  </a:txBody>
                  <a:tcPr marL="6464" marR="6464" marT="6464" marB="0" anchor="b">
                    <a:lnL>
                      <a:noFill/>
                    </a:lnL>
                    <a:lnR>
                      <a:noFill/>
                    </a:lnR>
                    <a:lnT>
                      <a:noFill/>
                    </a:lnT>
                    <a:lnB>
                      <a:noFill/>
                    </a:lnB>
                    <a:solidFill>
                      <a:srgbClr val="DCE6F1"/>
                    </a:solidFill>
                  </a:tcPr>
                </a:tc>
                <a:tc>
                  <a:txBody>
                    <a:bodyPr/>
                    <a:lstStyle/>
                    <a:p>
                      <a:pPr algn="l" fontAlgn="b"/>
                      <a:r>
                        <a:rPr lang="en-US" sz="1400" b="0" i="0" u="none" strike="noStrike" kern="1200" baseline="0" dirty="0" smtClean="0">
                          <a:solidFill>
                            <a:schemeClr val="tx1"/>
                          </a:solidFill>
                          <a:effectLst/>
                          <a:latin typeface="Calibri"/>
                          <a:ea typeface="+mn-ea"/>
                          <a:cs typeface="+mn-cs"/>
                        </a:rPr>
                        <a:t>Drinks on a Plane</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DCE6F1"/>
                    </a:solidFill>
                  </a:tcPr>
                </a:tc>
                <a:tc>
                  <a:txBody>
                    <a:bodyPr/>
                    <a:lstStyle/>
                    <a:p>
                      <a:pPr algn="r" fontAlgn="b"/>
                      <a:r>
                        <a:rPr lang="en-US" sz="1400" b="0" i="0" u="none" strike="noStrike" kern="1200" baseline="0" dirty="0" smtClean="0">
                          <a:solidFill>
                            <a:schemeClr val="tx1"/>
                          </a:solidFill>
                          <a:effectLst/>
                          <a:latin typeface="Calibri"/>
                          <a:ea typeface="+mn-ea"/>
                          <a:cs typeface="+mn-cs"/>
                        </a:rPr>
                        <a:t>19</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DCE6F1"/>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2</a:t>
                      </a:r>
                    </a:p>
                  </a:txBody>
                  <a:tcPr marL="6464" marR="6464" marT="6464" marB="0" anchor="b">
                    <a:lnL>
                      <a:noFill/>
                    </a:lnL>
                    <a:lnR>
                      <a:noFill/>
                    </a:lnR>
                    <a:lnT>
                      <a:noFill/>
                    </a:lnT>
                    <a:lnB>
                      <a:noFill/>
                    </a:lnB>
                    <a:solidFill>
                      <a:srgbClr val="DCE6F1"/>
                    </a:solidFill>
                  </a:tcPr>
                </a:tc>
                <a:tc>
                  <a:txBody>
                    <a:bodyPr/>
                    <a:lstStyle/>
                    <a:p>
                      <a:pPr algn="l" fontAlgn="b"/>
                      <a:r>
                        <a:rPr lang="en-US" sz="1400" b="0" i="0" u="none" strike="noStrike" kern="1200" baseline="0" dirty="0">
                          <a:solidFill>
                            <a:schemeClr val="tx1"/>
                          </a:solidFill>
                          <a:effectLst/>
                          <a:latin typeface="Calibri"/>
                          <a:ea typeface="+mn-ea"/>
                          <a:cs typeface="+mn-cs"/>
                        </a:rPr>
                        <a:t>Market Sizing</a:t>
                      </a:r>
                    </a:p>
                  </a:txBody>
                  <a:tcPr marL="6464" marR="6464" marT="6464" marB="0" anchor="b">
                    <a:lnL>
                      <a:noFill/>
                    </a:lnL>
                    <a:lnR>
                      <a:noFill/>
                    </a:lnR>
                    <a:lnT>
                      <a:noFill/>
                    </a:lnT>
                    <a:lnB>
                      <a:noFill/>
                    </a:lnB>
                    <a:solidFill>
                      <a:srgbClr val="DCE6F1"/>
                    </a:solidFill>
                  </a:tcPr>
                </a:tc>
                <a:tc>
                  <a:txBody>
                    <a:bodyPr/>
                    <a:lstStyle/>
                    <a:p>
                      <a:pPr algn="l" fontAlgn="b"/>
                      <a:r>
                        <a:rPr lang="en-US" sz="1400" b="0" i="0" u="none" strike="noStrike" kern="1200" baseline="0" dirty="0" smtClean="0">
                          <a:solidFill>
                            <a:schemeClr val="tx1"/>
                          </a:solidFill>
                          <a:effectLst/>
                          <a:latin typeface="Calibri"/>
                          <a:ea typeface="+mn-ea"/>
                          <a:cs typeface="+mn-cs"/>
                        </a:rPr>
                        <a:t>Snowboards in Colorado</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DCE6F1"/>
                    </a:solidFill>
                  </a:tcPr>
                </a:tc>
                <a:tc>
                  <a:txBody>
                    <a:bodyPr/>
                    <a:lstStyle/>
                    <a:p>
                      <a:pPr algn="r" fontAlgn="b"/>
                      <a:r>
                        <a:rPr lang="en-US" sz="1400" b="0" i="0" u="none" strike="noStrike" kern="1200" baseline="0" dirty="0" smtClean="0">
                          <a:solidFill>
                            <a:schemeClr val="tx1"/>
                          </a:solidFill>
                          <a:effectLst/>
                          <a:latin typeface="Calibri"/>
                          <a:ea typeface="+mn-ea"/>
                          <a:cs typeface="+mn-cs"/>
                        </a:rPr>
                        <a:t>25</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DCE6F1"/>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3</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SPG</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29</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4</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Mexican Tile Company</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36</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5</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Winter Olympics</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40</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6</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Semi Co</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47</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7</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Who Will Buy Our Wine</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54</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8</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Selling Drugs</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64</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9</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Great Burger</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69</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10</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Furberry</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78</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11</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baseline="0" dirty="0" smtClean="0">
                          <a:solidFill>
                            <a:schemeClr val="tx1"/>
                          </a:solidFill>
                          <a:effectLst/>
                          <a:latin typeface="Calibri"/>
                          <a:ea typeface="+mn-ea"/>
                          <a:cs typeface="+mn-cs"/>
                        </a:rPr>
                        <a:t>What’s Next for Tony</a:t>
                      </a: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85</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12</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Old McDonald had a…?</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92</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13</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Parks and Recreation</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101</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14</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err="1" smtClean="0">
                          <a:solidFill>
                            <a:schemeClr val="tx1"/>
                          </a:solidFill>
                          <a:effectLst/>
                          <a:latin typeface="Calibri"/>
                          <a:ea typeface="+mn-ea"/>
                          <a:cs typeface="+mn-cs"/>
                        </a:rPr>
                        <a:t>SatCo</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109</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15</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Alpha Software, Inc. </a:t>
                      </a: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119</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a:solidFill>
                            <a:schemeClr val="tx1"/>
                          </a:solidFill>
                          <a:effectLst/>
                          <a:latin typeface="Calibri"/>
                          <a:ea typeface="+mn-ea"/>
                          <a:cs typeface="+mn-cs"/>
                        </a:rPr>
                        <a:t>16</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smtClean="0">
                          <a:solidFill>
                            <a:schemeClr val="tx1"/>
                          </a:solidFill>
                          <a:effectLst/>
                          <a:latin typeface="Calibri"/>
                          <a:ea typeface="+mn-ea"/>
                          <a:cs typeface="+mn-cs"/>
                        </a:rPr>
                        <a:t>General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noStrike" kern="1200" baseline="0" dirty="0" smtClean="0">
                          <a:solidFill>
                            <a:schemeClr val="tx1"/>
                          </a:solidFill>
                          <a:effectLst/>
                          <a:latin typeface="Calibri"/>
                          <a:ea typeface="+mn-ea"/>
                          <a:cs typeface="+mn-cs"/>
                        </a:rPr>
                        <a:t>NY Economic Development</a:t>
                      </a: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noStrike" kern="1200" baseline="0" dirty="0" smtClean="0">
                          <a:solidFill>
                            <a:schemeClr val="tx1"/>
                          </a:solidFill>
                          <a:effectLst/>
                          <a:latin typeface="Calibri"/>
                          <a:ea typeface="+mn-ea"/>
                          <a:cs typeface="+mn-cs"/>
                        </a:rPr>
                        <a:t>129</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sngStrike" kern="1200" baseline="0" dirty="0">
                          <a:solidFill>
                            <a:schemeClr val="tx1"/>
                          </a:solidFill>
                          <a:effectLst/>
                          <a:latin typeface="Calibri"/>
                          <a:ea typeface="+mn-ea"/>
                          <a:cs typeface="+mn-cs"/>
                        </a:rPr>
                        <a:t>17</a:t>
                      </a: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sngStrike" kern="1200" baseline="0" dirty="0" smtClean="0">
                          <a:solidFill>
                            <a:schemeClr val="tx1"/>
                          </a:solidFill>
                          <a:effectLst/>
                          <a:latin typeface="Calibri"/>
                          <a:ea typeface="+mn-ea"/>
                          <a:cs typeface="+mn-cs"/>
                        </a:rPr>
                        <a:t>General</a:t>
                      </a:r>
                      <a:endParaRPr lang="en-US" sz="1400" b="0" i="0" u="none" strike="sng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sngStrike" kern="1200" baseline="0" dirty="0" smtClean="0">
                          <a:solidFill>
                            <a:schemeClr val="tx1"/>
                          </a:solidFill>
                          <a:effectLst/>
                          <a:latin typeface="Calibri"/>
                          <a:ea typeface="+mn-ea"/>
                          <a:cs typeface="+mn-cs"/>
                        </a:rPr>
                        <a:t>ERP Corp</a:t>
                      </a:r>
                      <a:endParaRPr lang="en-US" sz="1400" b="0" i="0" u="none" strike="sng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sngStrike" kern="1200" baseline="0" dirty="0" smtClean="0">
                          <a:solidFill>
                            <a:schemeClr val="tx1"/>
                          </a:solidFill>
                          <a:effectLst/>
                          <a:latin typeface="Calibri"/>
                          <a:ea typeface="+mn-ea"/>
                          <a:cs typeface="+mn-cs"/>
                        </a:rPr>
                        <a:t>136</a:t>
                      </a:r>
                      <a:endParaRPr lang="en-US" sz="1400" b="0" i="0" u="none" strike="sng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sngStrike" kern="1200" baseline="0" dirty="0" smtClean="0">
                          <a:solidFill>
                            <a:schemeClr val="tx1"/>
                          </a:solidFill>
                          <a:effectLst/>
                          <a:latin typeface="Calibri"/>
                          <a:ea typeface="+mn-ea"/>
                          <a:cs typeface="+mn-cs"/>
                        </a:rPr>
                        <a:t>18</a:t>
                      </a:r>
                      <a:endParaRPr lang="en-US" sz="1400" b="0" i="0" u="none" strike="sng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sngStrike" kern="1200" baseline="0" dirty="0" smtClean="0">
                          <a:solidFill>
                            <a:schemeClr val="tx1"/>
                          </a:solidFill>
                          <a:effectLst/>
                          <a:latin typeface="Calibri"/>
                          <a:ea typeface="+mn-ea"/>
                          <a:cs typeface="+mn-cs"/>
                        </a:rPr>
                        <a:t>General</a:t>
                      </a:r>
                      <a:endParaRPr lang="en-US" sz="1400" b="0" i="0" u="none" strike="sng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l" fontAlgn="b"/>
                      <a:r>
                        <a:rPr lang="en-US" sz="1400" b="0" i="0" u="none" strike="sngStrike" kern="1200" baseline="0" dirty="0" smtClean="0">
                          <a:solidFill>
                            <a:schemeClr val="tx1"/>
                          </a:solidFill>
                          <a:effectLst/>
                          <a:latin typeface="Calibri"/>
                          <a:ea typeface="+mn-ea"/>
                          <a:cs typeface="+mn-cs"/>
                        </a:rPr>
                        <a:t>New Clear Energy</a:t>
                      </a:r>
                      <a:endParaRPr lang="en-US" sz="1400" b="0" i="0" u="none" strike="sng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c>
                  <a:txBody>
                    <a:bodyPr/>
                    <a:lstStyle/>
                    <a:p>
                      <a:pPr algn="r" fontAlgn="b"/>
                      <a:r>
                        <a:rPr lang="en-US" sz="1400" b="0" i="0" u="none" strike="sngStrike" kern="1200" baseline="0" dirty="0" smtClean="0">
                          <a:solidFill>
                            <a:schemeClr val="tx1"/>
                          </a:solidFill>
                          <a:effectLst/>
                          <a:latin typeface="Calibri"/>
                          <a:ea typeface="+mn-ea"/>
                          <a:cs typeface="+mn-cs"/>
                        </a:rPr>
                        <a:t>148</a:t>
                      </a:r>
                      <a:endParaRPr lang="en-US" sz="1400" b="0" i="0" u="none" strike="sng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chemeClr val="accent2">
                        <a:lumMod val="20000"/>
                        <a:lumOff val="80000"/>
                      </a:schemeClr>
                    </a:solidFill>
                  </a:tcPr>
                </a:tc>
              </a:tr>
              <a:tr h="219003">
                <a:tc>
                  <a:txBody>
                    <a:bodyPr/>
                    <a:lstStyle/>
                    <a:p>
                      <a:pPr algn="ctr" fontAlgn="b"/>
                      <a:r>
                        <a:rPr lang="en-US" sz="1400" b="0" i="0" u="none" strike="noStrike" kern="1200" baseline="0" dirty="0" smtClean="0">
                          <a:solidFill>
                            <a:schemeClr val="tx1"/>
                          </a:solidFill>
                          <a:effectLst/>
                          <a:latin typeface="Calibri"/>
                          <a:ea typeface="+mn-ea"/>
                          <a:cs typeface="+mn-cs"/>
                        </a:rPr>
                        <a:t>19</a:t>
                      </a:r>
                    </a:p>
                  </a:txBody>
                  <a:tcPr marL="6464" marR="6464" marT="6464" marB="0" anchor="b">
                    <a:lnL>
                      <a:noFill/>
                    </a:lnL>
                    <a:lnR>
                      <a:noFill/>
                    </a:lnR>
                    <a:lnT>
                      <a:noFill/>
                    </a:lnT>
                    <a:lnB>
                      <a:noFill/>
                    </a:lnB>
                    <a:solidFill>
                      <a:srgbClr val="C4D79B"/>
                    </a:solidFill>
                  </a:tcPr>
                </a:tc>
                <a:tc>
                  <a:txBody>
                    <a:bodyPr/>
                    <a:lstStyle/>
                    <a:p>
                      <a:pPr algn="l" fontAlgn="b"/>
                      <a:r>
                        <a:rPr lang="en-US" sz="1400" b="0" i="0" u="none" strike="noStrike" kern="1200" baseline="0" dirty="0" smtClean="0">
                          <a:solidFill>
                            <a:schemeClr val="tx1"/>
                          </a:solidFill>
                          <a:effectLst/>
                          <a:latin typeface="Calibri"/>
                          <a:ea typeface="+mn-ea"/>
                          <a:cs typeface="+mn-cs"/>
                        </a:rPr>
                        <a:t>Federal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c>
                  <a:txBody>
                    <a:bodyPr/>
                    <a:lstStyle/>
                    <a:p>
                      <a:pPr algn="l" fontAlgn="b"/>
                      <a:r>
                        <a:rPr lang="en-US" sz="1400" b="0" i="0" u="none" strike="noStrike" kern="1200" baseline="0" dirty="0" smtClean="0">
                          <a:solidFill>
                            <a:schemeClr val="tx1"/>
                          </a:solidFill>
                          <a:effectLst/>
                          <a:latin typeface="Calibri"/>
                          <a:ea typeface="+mn-ea"/>
                          <a:cs typeface="+mn-cs"/>
                        </a:rPr>
                        <a:t>Agency Overrun</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c>
                  <a:txBody>
                    <a:bodyPr/>
                    <a:lstStyle/>
                    <a:p>
                      <a:pPr algn="r" fontAlgn="b"/>
                      <a:r>
                        <a:rPr lang="en-US" sz="1400" b="0" i="0" u="none" strike="noStrike" kern="1200" baseline="0" dirty="0" smtClean="0">
                          <a:solidFill>
                            <a:schemeClr val="tx1"/>
                          </a:solidFill>
                          <a:effectLst/>
                          <a:latin typeface="Calibri"/>
                          <a:ea typeface="+mn-ea"/>
                          <a:cs typeface="+mn-cs"/>
                        </a:rPr>
                        <a:t>158</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r>
              <a:tr h="219003">
                <a:tc>
                  <a:txBody>
                    <a:bodyPr/>
                    <a:lstStyle/>
                    <a:p>
                      <a:pPr algn="ctr" fontAlgn="b"/>
                      <a:r>
                        <a:rPr lang="en-US" sz="1400" b="0" i="0" u="none" strike="noStrike" kern="1200" baseline="0" dirty="0" smtClean="0">
                          <a:solidFill>
                            <a:schemeClr val="tx1"/>
                          </a:solidFill>
                          <a:effectLst/>
                          <a:latin typeface="Calibri"/>
                          <a:ea typeface="+mn-ea"/>
                          <a:cs typeface="+mn-cs"/>
                        </a:rPr>
                        <a:t>20</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c>
                  <a:txBody>
                    <a:bodyPr/>
                    <a:lstStyle/>
                    <a:p>
                      <a:pPr algn="l" fontAlgn="b"/>
                      <a:r>
                        <a:rPr lang="en-US" sz="1400" b="0" i="0" u="none" strike="noStrike" kern="1200" baseline="0" dirty="0" smtClean="0">
                          <a:solidFill>
                            <a:schemeClr val="tx1"/>
                          </a:solidFill>
                          <a:effectLst/>
                          <a:latin typeface="Calibri"/>
                          <a:ea typeface="+mn-ea"/>
                          <a:cs typeface="+mn-cs"/>
                        </a:rPr>
                        <a:t>Technology</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c>
                  <a:txBody>
                    <a:bodyPr/>
                    <a:lstStyle/>
                    <a:p>
                      <a:pPr algn="l" fontAlgn="b"/>
                      <a:r>
                        <a:rPr lang="en-US" sz="1400" b="0" i="0" u="none" strike="noStrike" kern="1200" baseline="0" dirty="0" smtClean="0">
                          <a:solidFill>
                            <a:schemeClr val="tx1"/>
                          </a:solidFill>
                          <a:effectLst/>
                          <a:latin typeface="Calibri"/>
                          <a:ea typeface="+mn-ea"/>
                          <a:cs typeface="+mn-cs"/>
                        </a:rPr>
                        <a:t>Bravo Insurance</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c>
                  <a:txBody>
                    <a:bodyPr/>
                    <a:lstStyle/>
                    <a:p>
                      <a:pPr algn="r" fontAlgn="b"/>
                      <a:r>
                        <a:rPr lang="en-US" sz="1400" b="0" i="0" u="none" strike="noStrike" kern="1200" baseline="0" dirty="0" smtClean="0">
                          <a:solidFill>
                            <a:schemeClr val="tx1"/>
                          </a:solidFill>
                          <a:effectLst/>
                          <a:latin typeface="Calibri"/>
                          <a:ea typeface="+mn-ea"/>
                          <a:cs typeface="+mn-cs"/>
                        </a:rPr>
                        <a:t>164</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r>
              <a:tr h="219003">
                <a:tc>
                  <a:txBody>
                    <a:bodyPr/>
                    <a:lstStyle/>
                    <a:p>
                      <a:pPr algn="ctr" fontAlgn="b"/>
                      <a:r>
                        <a:rPr lang="en-US" sz="1400" b="0" i="0" u="none" strike="noStrike" kern="1200" baseline="0" dirty="0" smtClean="0">
                          <a:solidFill>
                            <a:schemeClr val="tx1"/>
                          </a:solidFill>
                          <a:effectLst/>
                          <a:latin typeface="Calibri"/>
                          <a:ea typeface="+mn-ea"/>
                          <a:cs typeface="+mn-cs"/>
                        </a:rPr>
                        <a:t>21</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c>
                  <a:txBody>
                    <a:bodyPr/>
                    <a:lstStyle/>
                    <a:p>
                      <a:pPr algn="l" fontAlgn="b"/>
                      <a:r>
                        <a:rPr lang="en-US" sz="1400" b="0" i="0" u="none" strike="noStrike" kern="1200" baseline="0" dirty="0" smtClean="0">
                          <a:solidFill>
                            <a:schemeClr val="tx1"/>
                          </a:solidFill>
                          <a:effectLst/>
                          <a:latin typeface="Calibri"/>
                          <a:ea typeface="+mn-ea"/>
                          <a:cs typeface="+mn-cs"/>
                        </a:rPr>
                        <a:t>Human Capital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c>
                  <a:txBody>
                    <a:bodyPr/>
                    <a:lstStyle/>
                    <a:p>
                      <a:pPr algn="l" fontAlgn="b"/>
                      <a:r>
                        <a:rPr lang="en-US" sz="1400" b="0" i="0" u="none" strike="noStrike" kern="1200" baseline="0" dirty="0" smtClean="0">
                          <a:solidFill>
                            <a:schemeClr val="tx1"/>
                          </a:solidFill>
                          <a:effectLst/>
                          <a:latin typeface="Calibri"/>
                          <a:ea typeface="+mn-ea"/>
                          <a:cs typeface="+mn-cs"/>
                        </a:rPr>
                        <a:t>RDTC</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c>
                  <a:txBody>
                    <a:bodyPr/>
                    <a:lstStyle/>
                    <a:p>
                      <a:pPr algn="r" fontAlgn="b"/>
                      <a:r>
                        <a:rPr lang="en-US" sz="1400" b="0" i="0" u="none" strike="noStrike" kern="1200" baseline="0" dirty="0" smtClean="0">
                          <a:solidFill>
                            <a:schemeClr val="tx1"/>
                          </a:solidFill>
                          <a:effectLst/>
                          <a:latin typeface="Calibri"/>
                          <a:ea typeface="+mn-ea"/>
                          <a:cs typeface="+mn-cs"/>
                        </a:rPr>
                        <a:t>171</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C4D79B"/>
                    </a:solidFill>
                  </a:tcPr>
                </a:tc>
              </a:tr>
              <a:tr h="219003">
                <a:tc>
                  <a:txBody>
                    <a:bodyPr/>
                    <a:lstStyle/>
                    <a:p>
                      <a:pPr algn="ctr" fontAlgn="b"/>
                      <a:r>
                        <a:rPr lang="en-US" sz="1400" b="0" i="0" u="none" strike="noStrike" kern="1200" baseline="0" dirty="0" smtClean="0">
                          <a:solidFill>
                            <a:schemeClr val="tx1"/>
                          </a:solidFill>
                          <a:effectLst/>
                          <a:latin typeface="Calibri"/>
                          <a:ea typeface="+mn-ea"/>
                          <a:cs typeface="+mn-cs"/>
                        </a:rPr>
                        <a:t>22</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B197F3"/>
                    </a:solidFill>
                  </a:tcPr>
                </a:tc>
                <a:tc>
                  <a:txBody>
                    <a:bodyPr/>
                    <a:lstStyle/>
                    <a:p>
                      <a:pPr algn="l" fontAlgn="b"/>
                      <a:r>
                        <a:rPr lang="en-US" sz="1400" b="0" i="0" u="none" strike="noStrike" kern="1200" baseline="0" dirty="0" smtClean="0">
                          <a:solidFill>
                            <a:schemeClr val="tx1"/>
                          </a:solidFill>
                          <a:effectLst/>
                          <a:latin typeface="Calibri"/>
                          <a:ea typeface="+mn-ea"/>
                          <a:cs typeface="+mn-cs"/>
                        </a:rPr>
                        <a:t>Deloitte</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B197F3"/>
                    </a:solidFill>
                  </a:tcPr>
                </a:tc>
                <a:tc>
                  <a:txBody>
                    <a:bodyPr/>
                    <a:lstStyle/>
                    <a:p>
                      <a:pPr algn="l" fontAlgn="b"/>
                      <a:r>
                        <a:rPr lang="en-US" sz="1400" b="0" i="0" u="none" strike="noStrike" kern="1200" baseline="0" dirty="0" smtClean="0">
                          <a:solidFill>
                            <a:schemeClr val="tx1"/>
                          </a:solidFill>
                          <a:effectLst/>
                          <a:latin typeface="Calibri"/>
                          <a:ea typeface="+mn-ea"/>
                          <a:cs typeface="+mn-cs"/>
                        </a:rPr>
                        <a:t>Appeal</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B197F3"/>
                    </a:solidFill>
                  </a:tcPr>
                </a:tc>
                <a:tc>
                  <a:txBody>
                    <a:bodyPr/>
                    <a:lstStyle/>
                    <a:p>
                      <a:pPr algn="r" fontAlgn="b"/>
                      <a:r>
                        <a:rPr lang="en-US" sz="1400" b="0" i="0" u="none" strike="noStrike" kern="1200" baseline="0" dirty="0" smtClean="0">
                          <a:solidFill>
                            <a:schemeClr val="tx1"/>
                          </a:solidFill>
                          <a:effectLst/>
                          <a:latin typeface="Calibri"/>
                          <a:ea typeface="+mn-ea"/>
                          <a:cs typeface="+mn-cs"/>
                        </a:rPr>
                        <a:t>176</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B197F3"/>
                    </a:solidFill>
                  </a:tcPr>
                </a:tc>
              </a:tr>
              <a:tr h="140120">
                <a:tc>
                  <a:txBody>
                    <a:bodyPr/>
                    <a:lstStyle/>
                    <a:p>
                      <a:pPr algn="ctr" fontAlgn="b"/>
                      <a:r>
                        <a:rPr lang="en-US" sz="1400" b="0" i="0" u="none" strike="noStrike" kern="1200" baseline="0" dirty="0" smtClean="0">
                          <a:solidFill>
                            <a:schemeClr val="tx1"/>
                          </a:solidFill>
                          <a:effectLst/>
                          <a:latin typeface="Calibri"/>
                          <a:ea typeface="+mn-ea"/>
                          <a:cs typeface="+mn-cs"/>
                        </a:rPr>
                        <a:t>23</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B197F3"/>
                    </a:solidFill>
                  </a:tcPr>
                </a:tc>
                <a:tc>
                  <a:txBody>
                    <a:bodyPr/>
                    <a:lstStyle/>
                    <a:p>
                      <a:pPr algn="l" fontAlgn="b"/>
                      <a:r>
                        <a:rPr lang="en-US" sz="1400" b="0" i="0" u="none" strike="noStrike" kern="1200" baseline="0" dirty="0" smtClean="0">
                          <a:solidFill>
                            <a:schemeClr val="tx1"/>
                          </a:solidFill>
                          <a:effectLst/>
                          <a:latin typeface="Calibri"/>
                          <a:ea typeface="+mn-ea"/>
                          <a:cs typeface="+mn-cs"/>
                        </a:rPr>
                        <a:t>Deloitte</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B197F3"/>
                    </a:solidFill>
                  </a:tcPr>
                </a:tc>
                <a:tc>
                  <a:txBody>
                    <a:bodyPr/>
                    <a:lstStyle/>
                    <a:p>
                      <a:pPr algn="l" fontAlgn="b"/>
                      <a:r>
                        <a:rPr lang="en-US" sz="1400" b="0" i="0" u="none" strike="noStrike" kern="1200" baseline="0" dirty="0" smtClean="0">
                          <a:solidFill>
                            <a:schemeClr val="tx1"/>
                          </a:solidFill>
                          <a:effectLst/>
                          <a:latin typeface="Calibri"/>
                          <a:ea typeface="+mn-ea"/>
                          <a:cs typeface="+mn-cs"/>
                        </a:rPr>
                        <a:t>Student Health Insurance</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B197F3"/>
                    </a:solidFill>
                  </a:tcPr>
                </a:tc>
                <a:tc>
                  <a:txBody>
                    <a:bodyPr/>
                    <a:lstStyle/>
                    <a:p>
                      <a:pPr algn="r" fontAlgn="b"/>
                      <a:r>
                        <a:rPr lang="en-US" sz="1400" b="0" i="0" u="none" strike="noStrike" kern="1200" baseline="0" dirty="0" smtClean="0">
                          <a:solidFill>
                            <a:schemeClr val="tx1"/>
                          </a:solidFill>
                          <a:effectLst/>
                          <a:latin typeface="Calibri"/>
                          <a:ea typeface="+mn-ea"/>
                          <a:cs typeface="+mn-cs"/>
                        </a:rPr>
                        <a:t>187</a:t>
                      </a:r>
                      <a:endParaRPr lang="en-US" sz="1400" b="0" i="0" u="none" strike="noStrike" kern="1200" baseline="0" dirty="0">
                        <a:solidFill>
                          <a:schemeClr val="tx1"/>
                        </a:solidFill>
                        <a:effectLst/>
                        <a:latin typeface="Calibri"/>
                        <a:ea typeface="+mn-ea"/>
                        <a:cs typeface="+mn-cs"/>
                      </a:endParaRPr>
                    </a:p>
                  </a:txBody>
                  <a:tcPr marL="6464" marR="6464" marT="6464" marB="0" anchor="b">
                    <a:lnL>
                      <a:noFill/>
                    </a:lnL>
                    <a:lnR>
                      <a:noFill/>
                    </a:lnR>
                    <a:lnT>
                      <a:noFill/>
                    </a:lnT>
                    <a:lnB>
                      <a:noFill/>
                    </a:lnB>
                    <a:solidFill>
                      <a:srgbClr val="B197F3"/>
                    </a:solidFill>
                  </a:tcPr>
                </a:tc>
              </a:tr>
            </a:tbl>
          </a:graphicData>
        </a:graphic>
      </p:graphicFrame>
      <p:sp>
        <p:nvSpPr>
          <p:cNvPr id="2" name="Slide Number Placeholder 1"/>
          <p:cNvSpPr>
            <a:spLocks noGrp="1"/>
          </p:cNvSpPr>
          <p:nvPr>
            <p:ph type="sldNum" sz="quarter" idx="11"/>
          </p:nvPr>
        </p:nvSpPr>
        <p:spPr/>
        <p:txBody>
          <a:bodyPr/>
          <a:lstStyle/>
          <a:p>
            <a:pPr>
              <a:defRPr/>
            </a:pPr>
            <a:fld id="{D27468C5-B7D7-4747-8C9A-D2E8B4FA8FD8}" type="slidenum">
              <a:rPr lang="en-US" smtClean="0"/>
              <a:pPr>
                <a:defRPr/>
              </a:pPr>
              <a:t>4</a:t>
            </a:fld>
            <a:endParaRPr lang="en-US" dirty="0"/>
          </a:p>
        </p:txBody>
      </p:sp>
    </p:spTree>
    <p:extLst>
      <p:ext uri="{BB962C8B-B14F-4D97-AF65-F5344CB8AC3E}">
        <p14:creationId xmlns:p14="http://schemas.microsoft.com/office/powerpoint/2010/main" val="1143146614"/>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9" descr="layersvert"/>
          <p:cNvPicPr>
            <a:picLocks noChangeAspect="1" noChangeArrowheads="1"/>
          </p:cNvPicPr>
          <p:nvPr/>
        </p:nvPicPr>
        <p:blipFill>
          <a:blip r:embed="rId2">
            <a:lum bright="60000" contrast="-60000"/>
          </a:blip>
          <a:srcRect/>
          <a:stretch>
            <a:fillRect/>
          </a:stretch>
        </p:blipFill>
        <p:spPr bwMode="auto">
          <a:xfrm>
            <a:off x="0" y="3962400"/>
            <a:ext cx="9144000" cy="2908300"/>
          </a:xfrm>
          <a:prstGeom prst="rect">
            <a:avLst/>
          </a:prstGeom>
          <a:noFill/>
          <a:ln w="9525">
            <a:noFill/>
            <a:miter lim="800000"/>
            <a:headEnd/>
            <a:tailEnd/>
          </a:ln>
        </p:spPr>
      </p:pic>
      <p:sp>
        <p:nvSpPr>
          <p:cNvPr id="6" name="Title 1"/>
          <p:cNvSpPr>
            <a:spLocks noGrp="1"/>
          </p:cNvSpPr>
          <p:nvPr>
            <p:ph type="ctrTitle"/>
          </p:nvPr>
        </p:nvSpPr>
        <p:spPr>
          <a:xfrm>
            <a:off x="685800" y="2130425"/>
            <a:ext cx="7772400" cy="1470025"/>
          </a:xfrm>
        </p:spPr>
        <p:txBody>
          <a:bodyPr anchor="ctr"/>
          <a:lstStyle/>
          <a:p>
            <a:pPr algn="ctr"/>
            <a:r>
              <a:rPr lang="en-US" dirty="0" smtClean="0">
                <a:ea typeface="ＭＳ Ｐゴシック" pitchFamily="34" charset="-128"/>
              </a:rPr>
              <a:t>The Firms</a:t>
            </a:r>
          </a:p>
        </p:txBody>
      </p:sp>
      <p:sp>
        <p:nvSpPr>
          <p:cNvPr id="2" name="Slide Number Placeholder 1"/>
          <p:cNvSpPr>
            <a:spLocks noGrp="1"/>
          </p:cNvSpPr>
          <p:nvPr>
            <p:ph type="sldNum" sz="quarter" idx="11"/>
          </p:nvPr>
        </p:nvSpPr>
        <p:spPr/>
        <p:txBody>
          <a:bodyPr/>
          <a:lstStyle/>
          <a:p>
            <a:pPr>
              <a:defRPr/>
            </a:pPr>
            <a:fld id="{D27468C5-B7D7-4747-8C9A-D2E8B4FA8FD8}" type="slidenum">
              <a:rPr lang="en-US" smtClean="0"/>
              <a:pPr>
                <a:defRPr/>
              </a:pPr>
              <a:t>5</a:t>
            </a:fld>
            <a:endParaRPr lang="en-US" dirty="0"/>
          </a:p>
        </p:txBody>
      </p:sp>
    </p:spTree>
    <p:extLst>
      <p:ext uri="{BB962C8B-B14F-4D97-AF65-F5344CB8AC3E}">
        <p14:creationId xmlns:p14="http://schemas.microsoft.com/office/powerpoint/2010/main" val="1905729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Accenture</a:t>
            </a:r>
            <a:endParaRPr lang="en-US" sz="2400" b="1" dirty="0"/>
          </a:p>
        </p:txBody>
      </p:sp>
      <p:sp>
        <p:nvSpPr>
          <p:cNvPr id="16388" name="Notes"/>
          <p:cNvSpPr txBox="1">
            <a:spLocks noChangeArrowheads="1"/>
          </p:cNvSpPr>
          <p:nvPr/>
        </p:nvSpPr>
        <p:spPr bwMode="auto">
          <a:xfrm>
            <a:off x="525463" y="8041958"/>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5" name="KMATable0TextBox1"/>
          <p:cNvSpPr>
            <a:spLocks noChangeArrowheads="1"/>
          </p:cNvSpPr>
          <p:nvPr/>
        </p:nvSpPr>
        <p:spPr bwMode="auto">
          <a:xfrm>
            <a:off x="182563" y="1356869"/>
            <a:ext cx="2036762" cy="1344168"/>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Overview</a:t>
            </a:r>
            <a:endParaRPr lang="en-US" sz="1100" b="1" dirty="0">
              <a:solidFill>
                <a:schemeClr val="bg1"/>
              </a:solidFill>
            </a:endParaRPr>
          </a:p>
        </p:txBody>
      </p:sp>
      <p:sp>
        <p:nvSpPr>
          <p:cNvPr id="17" name="KMATable0TextBox1"/>
          <p:cNvSpPr>
            <a:spLocks noChangeArrowheads="1"/>
          </p:cNvSpPr>
          <p:nvPr/>
        </p:nvSpPr>
        <p:spPr bwMode="auto">
          <a:xfrm>
            <a:off x="182563" y="2900895"/>
            <a:ext cx="2036762" cy="717119"/>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Interview Overview</a:t>
            </a:r>
            <a:endParaRPr lang="en-US" sz="1100" b="1" dirty="0">
              <a:solidFill>
                <a:schemeClr val="bg1"/>
              </a:solidFill>
            </a:endParaRPr>
          </a:p>
        </p:txBody>
      </p:sp>
      <p:sp>
        <p:nvSpPr>
          <p:cNvPr id="18" name="KMATable0TextBox1"/>
          <p:cNvSpPr>
            <a:spLocks noChangeArrowheads="1"/>
          </p:cNvSpPr>
          <p:nvPr/>
        </p:nvSpPr>
        <p:spPr bwMode="auto">
          <a:xfrm>
            <a:off x="182563" y="3817872"/>
            <a:ext cx="2036762" cy="1446550"/>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Unique Interview Features</a:t>
            </a:r>
            <a:endParaRPr lang="en-US" sz="1100" b="1" dirty="0">
              <a:solidFill>
                <a:schemeClr val="bg1"/>
              </a:solidFill>
            </a:endParaRPr>
          </a:p>
        </p:txBody>
      </p:sp>
      <p:sp>
        <p:nvSpPr>
          <p:cNvPr id="19" name="KMATable0TextBox1"/>
          <p:cNvSpPr>
            <a:spLocks noChangeArrowheads="1"/>
          </p:cNvSpPr>
          <p:nvPr/>
        </p:nvSpPr>
        <p:spPr bwMode="auto">
          <a:xfrm>
            <a:off x="182563" y="5464281"/>
            <a:ext cx="2036762" cy="1277273"/>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Career Progression</a:t>
            </a:r>
            <a:endParaRPr lang="en-US" sz="1100" b="1" dirty="0">
              <a:solidFill>
                <a:schemeClr val="bg1"/>
              </a:solidFill>
            </a:endParaRPr>
          </a:p>
        </p:txBody>
      </p:sp>
      <p:sp>
        <p:nvSpPr>
          <p:cNvPr id="23" name="Rectangle 22"/>
          <p:cNvSpPr/>
          <p:nvPr/>
        </p:nvSpPr>
        <p:spPr>
          <a:xfrm>
            <a:off x="2286000" y="2900895"/>
            <a:ext cx="2533650" cy="441018"/>
          </a:xfrm>
          <a:prstGeom prst="rect">
            <a:avLst/>
          </a:prstGeom>
        </p:spPr>
        <p:txBody>
          <a:bodyPr wrap="square">
            <a:spAutoFit/>
          </a:bodyPr>
          <a:lstStyle/>
          <a:p>
            <a:pPr marL="0" lvl="1">
              <a:lnSpc>
                <a:spcPct val="106000"/>
              </a:lnSpc>
              <a:buClr>
                <a:srgbClr val="000000"/>
              </a:buClr>
              <a:buSzPct val="100000"/>
            </a:pPr>
            <a:r>
              <a:rPr lang="en-US" sz="1100" dirty="0"/>
              <a:t>Round 1</a:t>
            </a:r>
          </a:p>
          <a:p>
            <a:pPr marL="342900" lvl="1" indent="-171450">
              <a:buFont typeface="Wingdings" pitchFamily="2" charset="2"/>
              <a:buChar char="§"/>
            </a:pPr>
            <a:r>
              <a:rPr lang="en-US" sz="1100" dirty="0" smtClean="0"/>
              <a:t>2 Behavioral/Case interviews </a:t>
            </a:r>
            <a:endParaRPr lang="en-US" sz="1100" dirty="0"/>
          </a:p>
        </p:txBody>
      </p:sp>
      <p:sp>
        <p:nvSpPr>
          <p:cNvPr id="24" name="Rectangle 23"/>
          <p:cNvSpPr/>
          <p:nvPr/>
        </p:nvSpPr>
        <p:spPr>
          <a:xfrm>
            <a:off x="2286000" y="3817872"/>
            <a:ext cx="6477000" cy="1107996"/>
          </a:xfrm>
          <a:prstGeom prst="rect">
            <a:avLst/>
          </a:prstGeom>
        </p:spPr>
        <p:txBody>
          <a:bodyPr wrap="square">
            <a:spAutoFit/>
          </a:bodyPr>
          <a:lstStyle/>
          <a:p>
            <a:pPr marL="171450" indent="-171450">
              <a:buFont typeface="Wingdings" pitchFamily="2" charset="2"/>
              <a:buChar char="§"/>
            </a:pPr>
            <a:r>
              <a:rPr lang="en-US" sz="1100" u="sng" dirty="0" smtClean="0"/>
              <a:t>Cases</a:t>
            </a:r>
            <a:r>
              <a:rPr lang="en-US" sz="1100" dirty="0" smtClean="0"/>
              <a:t>- Cases are often based on real client experiences. Therefore, the case discussion will focus on your vertical. Cases may or may not have a quantitative component, so listen for verbal clues. </a:t>
            </a:r>
            <a:r>
              <a:rPr lang="en-US" sz="1100" dirty="0"/>
              <a:t> </a:t>
            </a:r>
            <a:r>
              <a:rPr lang="en-US" sz="1100" dirty="0" smtClean="0"/>
              <a:t>Cases are often very conversational and are an opportunity to showcase your interpersonal skills. </a:t>
            </a:r>
          </a:p>
          <a:p>
            <a:pPr marL="171450" indent="-171450">
              <a:buFont typeface="Wingdings" pitchFamily="2" charset="2"/>
              <a:buChar char="§"/>
            </a:pPr>
            <a:endParaRPr lang="en-US" sz="1100" dirty="0" smtClean="0"/>
          </a:p>
          <a:p>
            <a:pPr marL="171450" indent="-171450">
              <a:buFont typeface="Wingdings" pitchFamily="2" charset="2"/>
              <a:buChar char="§"/>
            </a:pPr>
            <a:r>
              <a:rPr lang="en-US" sz="1100" u="sng" dirty="0" smtClean="0"/>
              <a:t>Behavioral/Fit-</a:t>
            </a:r>
            <a:r>
              <a:rPr lang="en-US" sz="1100" dirty="0" smtClean="0"/>
              <a:t> Fit is very important. The interviewer may have a “brief conversation” about your background and experience instead of a standard question &amp; answer format. </a:t>
            </a:r>
          </a:p>
        </p:txBody>
      </p:sp>
      <p:sp>
        <p:nvSpPr>
          <p:cNvPr id="29" name="Rectangle 28"/>
          <p:cNvSpPr/>
          <p:nvPr/>
        </p:nvSpPr>
        <p:spPr>
          <a:xfrm>
            <a:off x="2286000" y="5464280"/>
            <a:ext cx="6400800" cy="1277273"/>
          </a:xfrm>
          <a:prstGeom prst="rect">
            <a:avLst/>
          </a:prstGeom>
        </p:spPr>
        <p:txBody>
          <a:bodyPr wrap="square">
            <a:spAutoFit/>
          </a:bodyPr>
          <a:lstStyle/>
          <a:p>
            <a:pPr marL="171450" indent="-171450">
              <a:buFont typeface="Wingdings" pitchFamily="2" charset="2"/>
              <a:buChar char="§"/>
            </a:pPr>
            <a:r>
              <a:rPr lang="en-US" sz="1100" dirty="0" smtClean="0"/>
              <a:t>Analyst</a:t>
            </a:r>
          </a:p>
          <a:p>
            <a:pPr marL="171450" indent="-171450">
              <a:buFont typeface="Wingdings" pitchFamily="2" charset="2"/>
              <a:buChar char="§"/>
            </a:pPr>
            <a:r>
              <a:rPr lang="en-US" sz="1100" dirty="0" smtClean="0"/>
              <a:t>Consultant</a:t>
            </a:r>
          </a:p>
          <a:p>
            <a:pPr marL="171450" indent="-171450">
              <a:buFont typeface="Wingdings" pitchFamily="2" charset="2"/>
              <a:buChar char="§"/>
            </a:pPr>
            <a:r>
              <a:rPr lang="en-US" sz="1100" dirty="0" smtClean="0"/>
              <a:t>(Business School); </a:t>
            </a:r>
            <a:r>
              <a:rPr lang="en-US" sz="1100" i="1" dirty="0"/>
              <a:t>Summer </a:t>
            </a:r>
            <a:r>
              <a:rPr lang="en-US" sz="1100" i="1" dirty="0" smtClean="0"/>
              <a:t>Consultant</a:t>
            </a:r>
          </a:p>
          <a:p>
            <a:pPr marL="171450" indent="-171450">
              <a:buFont typeface="Wingdings" pitchFamily="2" charset="2"/>
              <a:buChar char="§"/>
            </a:pPr>
            <a:r>
              <a:rPr lang="en-US" sz="1100" i="1" dirty="0" smtClean="0"/>
              <a:t>Consultant</a:t>
            </a:r>
          </a:p>
          <a:p>
            <a:pPr marL="171450" indent="-171450">
              <a:buFont typeface="Wingdings" pitchFamily="2" charset="2"/>
              <a:buChar char="§"/>
            </a:pPr>
            <a:r>
              <a:rPr lang="en-US" sz="1100" dirty="0" smtClean="0"/>
              <a:t>Manager</a:t>
            </a:r>
          </a:p>
          <a:p>
            <a:pPr marL="171450" indent="-171450">
              <a:buFont typeface="Wingdings" pitchFamily="2" charset="2"/>
              <a:buChar char="§"/>
            </a:pPr>
            <a:r>
              <a:rPr lang="en-US" sz="1100" smtClean="0"/>
              <a:t>Senior Manager</a:t>
            </a:r>
            <a:endParaRPr lang="en-US" sz="1100" dirty="0" smtClean="0"/>
          </a:p>
          <a:p>
            <a:pPr marL="171450" indent="-171450">
              <a:buFont typeface="Wingdings" pitchFamily="2" charset="2"/>
              <a:buChar char="§"/>
            </a:pPr>
            <a:r>
              <a:rPr lang="en-US" sz="1100" dirty="0" smtClean="0"/>
              <a:t>Senior Executive</a:t>
            </a:r>
          </a:p>
        </p:txBody>
      </p:sp>
      <p:cxnSp>
        <p:nvCxnSpPr>
          <p:cNvPr id="32" name="Straight Connector 31"/>
          <p:cNvCxnSpPr/>
          <p:nvPr/>
        </p:nvCxnSpPr>
        <p:spPr>
          <a:xfrm>
            <a:off x="152400" y="1270000"/>
            <a:ext cx="8607552" cy="86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286000" y="2786015"/>
            <a:ext cx="6477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286000" y="3689283"/>
            <a:ext cx="647395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286000" y="5391150"/>
            <a:ext cx="6473952"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52400" y="776151"/>
            <a:ext cx="8610600" cy="523220"/>
          </a:xfrm>
          <a:prstGeom prst="rect">
            <a:avLst/>
          </a:prstGeom>
        </p:spPr>
        <p:txBody>
          <a:bodyPr wrap="square">
            <a:spAutoFit/>
          </a:bodyPr>
          <a:lstStyle/>
          <a:p>
            <a:r>
              <a:rPr lang="en-US" sz="1400" i="1" dirty="0" smtClean="0">
                <a:solidFill>
                  <a:schemeClr val="bg2"/>
                </a:solidFill>
              </a:rPr>
              <a:t>High Performance, delivered. Accenture brings </a:t>
            </a:r>
            <a:r>
              <a:rPr lang="en-US" sz="1400" i="1" dirty="0">
                <a:solidFill>
                  <a:schemeClr val="bg2"/>
                </a:solidFill>
              </a:rPr>
              <a:t>strategic </a:t>
            </a:r>
            <a:r>
              <a:rPr lang="en-US" sz="1400" i="1" dirty="0" smtClean="0">
                <a:solidFill>
                  <a:schemeClr val="bg2"/>
                </a:solidFill>
              </a:rPr>
              <a:t>thinking, </a:t>
            </a:r>
            <a:r>
              <a:rPr lang="en-US" sz="1400" i="1" dirty="0">
                <a:solidFill>
                  <a:schemeClr val="bg2"/>
                </a:solidFill>
              </a:rPr>
              <a:t>innovative approaches </a:t>
            </a:r>
            <a:r>
              <a:rPr lang="en-US" sz="1400" i="1" dirty="0" smtClean="0">
                <a:solidFill>
                  <a:schemeClr val="bg2"/>
                </a:solidFill>
              </a:rPr>
              <a:t>and the ability to make a difference to </a:t>
            </a:r>
            <a:r>
              <a:rPr lang="en-US" sz="1400" i="1" dirty="0">
                <a:solidFill>
                  <a:schemeClr val="bg2"/>
                </a:solidFill>
              </a:rPr>
              <a:t>companies and governments around the </a:t>
            </a:r>
            <a:r>
              <a:rPr lang="en-US" sz="1400" i="1" dirty="0" smtClean="0">
                <a:solidFill>
                  <a:schemeClr val="bg2"/>
                </a:solidFill>
              </a:rPr>
              <a:t>world.</a:t>
            </a:r>
            <a:endParaRPr lang="en-US" sz="1400" i="1" dirty="0">
              <a:solidFill>
                <a:schemeClr val="bg2"/>
              </a:solidFill>
            </a:endParaRPr>
          </a:p>
        </p:txBody>
      </p:sp>
      <p:sp>
        <p:nvSpPr>
          <p:cNvPr id="26" name="Rectangle 25"/>
          <p:cNvSpPr/>
          <p:nvPr/>
        </p:nvSpPr>
        <p:spPr>
          <a:xfrm>
            <a:off x="2286000" y="1356870"/>
            <a:ext cx="6477000" cy="1327928"/>
          </a:xfrm>
          <a:prstGeom prst="rect">
            <a:avLst/>
          </a:prstGeom>
          <a:ln>
            <a:noFill/>
          </a:ln>
        </p:spPr>
        <p:txBody>
          <a:bodyPr wrap="square">
            <a:spAutoFit/>
          </a:bodyPr>
          <a:lstStyle/>
          <a:p>
            <a:pPr indent="-206375">
              <a:lnSpc>
                <a:spcPct val="106000"/>
              </a:lnSpc>
              <a:spcBef>
                <a:spcPts val="600"/>
              </a:spcBef>
              <a:buClr>
                <a:srgbClr val="000000"/>
              </a:buClr>
              <a:buSzPct val="100000"/>
            </a:pPr>
            <a:r>
              <a:rPr lang="en-US" sz="1100" dirty="0" smtClean="0">
                <a:solidFill>
                  <a:srgbClr val="000000"/>
                </a:solidFill>
                <a:latin typeface="+mj-lt"/>
                <a:ea typeface="+mn-ea"/>
                <a:cs typeface="Calibri" pitchFamily="34" charset="0"/>
              </a:rPr>
              <a:t>Accenture recruits on-campus for the areas below. Student align with an area before interviewing.</a:t>
            </a:r>
          </a:p>
          <a:p>
            <a:pPr marL="171450" lvl="1" indent="-171450">
              <a:lnSpc>
                <a:spcPct val="106000"/>
              </a:lnSpc>
              <a:buClr>
                <a:srgbClr val="000000"/>
              </a:buClr>
              <a:buSzPct val="100000"/>
              <a:buFont typeface="Wingdings" pitchFamily="2" charset="2"/>
              <a:buChar char="§"/>
            </a:pPr>
            <a:r>
              <a:rPr lang="en-US" sz="1100" b="1" dirty="0" smtClean="0"/>
              <a:t>Strategy- </a:t>
            </a:r>
            <a:r>
              <a:rPr lang="en-US" sz="1100" dirty="0" smtClean="0"/>
              <a:t>Offerings in </a:t>
            </a:r>
            <a:r>
              <a:rPr lang="en-US" sz="1100" dirty="0"/>
              <a:t>Mergers and Acquisitions; Operating Model Strategy; Sales and Marketing Strategy; and Strategic Planning and </a:t>
            </a:r>
            <a:r>
              <a:rPr lang="en-US" sz="1100" dirty="0" smtClean="0"/>
              <a:t>Growth</a:t>
            </a:r>
            <a:r>
              <a:rPr lang="en-US" sz="1100" b="1" dirty="0" smtClean="0"/>
              <a:t> </a:t>
            </a:r>
          </a:p>
          <a:p>
            <a:pPr marL="171450" lvl="1" indent="-171450">
              <a:lnSpc>
                <a:spcPct val="106000"/>
              </a:lnSpc>
              <a:buClr>
                <a:srgbClr val="000000"/>
              </a:buClr>
              <a:buSzPct val="100000"/>
              <a:buFont typeface="Wingdings" pitchFamily="2" charset="2"/>
              <a:buChar char="§"/>
            </a:pPr>
            <a:r>
              <a:rPr lang="en-US" sz="1100" b="1" dirty="0"/>
              <a:t>Operations- </a:t>
            </a:r>
            <a:r>
              <a:rPr lang="en-US" sz="1100" dirty="0"/>
              <a:t>Generate value </a:t>
            </a:r>
            <a:r>
              <a:rPr lang="en-US" sz="1100" dirty="0" smtClean="0"/>
              <a:t>by </a:t>
            </a:r>
            <a:r>
              <a:rPr lang="en-US" sz="1100" dirty="0"/>
              <a:t>creating solutions to the most complex supply chain issues</a:t>
            </a:r>
          </a:p>
          <a:p>
            <a:pPr marL="171450" lvl="1" indent="-171450">
              <a:lnSpc>
                <a:spcPct val="106000"/>
              </a:lnSpc>
              <a:buClr>
                <a:srgbClr val="000000"/>
              </a:buClr>
              <a:buSzPct val="100000"/>
              <a:buFont typeface="Wingdings" pitchFamily="2" charset="2"/>
              <a:buChar char="§"/>
            </a:pPr>
            <a:r>
              <a:rPr lang="en-US" sz="1100" b="1" dirty="0" smtClean="0"/>
              <a:t>Federal- </a:t>
            </a:r>
            <a:r>
              <a:rPr lang="en-US" sz="1100" dirty="0" smtClean="0"/>
              <a:t>Helping government clients solve complex problems</a:t>
            </a:r>
            <a:endParaRPr lang="en-US" sz="1100" b="1" dirty="0" smtClean="0"/>
          </a:p>
          <a:p>
            <a:pPr marL="171450" indent="-171450">
              <a:buFont typeface="Wingdings" panose="05000000000000000000" pitchFamily="2" charset="2"/>
              <a:buChar char="§"/>
            </a:pPr>
            <a:r>
              <a:rPr lang="en-US" sz="1100" b="1" dirty="0" smtClean="0"/>
              <a:t>Finance &amp; </a:t>
            </a:r>
            <a:r>
              <a:rPr lang="en-US" sz="1100" b="1" dirty="0"/>
              <a:t>Enterprise</a:t>
            </a:r>
            <a:r>
              <a:rPr lang="en-US" sz="1100" b="1" dirty="0" smtClean="0"/>
              <a:t> Performance- </a:t>
            </a:r>
            <a:r>
              <a:rPr lang="en-US" sz="1100" dirty="0" smtClean="0"/>
              <a:t>Help </a:t>
            </a:r>
            <a:r>
              <a:rPr lang="en-US" sz="1100" dirty="0"/>
              <a:t>CFOs from </a:t>
            </a:r>
            <a:r>
              <a:rPr lang="en-US" sz="1100" dirty="0" smtClean="0"/>
              <a:t>to </a:t>
            </a:r>
            <a:r>
              <a:rPr lang="en-US" sz="1100" dirty="0"/>
              <a:t>establish better integration across the enterprise to improve efficiency, effectiveness and control on the journey to value creation.</a:t>
            </a:r>
          </a:p>
        </p:txBody>
      </p:sp>
      <p:sp>
        <p:nvSpPr>
          <p:cNvPr id="27" name="Rectangle 26"/>
          <p:cNvSpPr/>
          <p:nvPr/>
        </p:nvSpPr>
        <p:spPr>
          <a:xfrm>
            <a:off x="5199063" y="2900895"/>
            <a:ext cx="3352800" cy="610295"/>
          </a:xfrm>
          <a:prstGeom prst="rect">
            <a:avLst/>
          </a:prstGeom>
        </p:spPr>
        <p:txBody>
          <a:bodyPr wrap="square">
            <a:spAutoFit/>
          </a:bodyPr>
          <a:lstStyle/>
          <a:p>
            <a:pPr marL="0" lvl="1">
              <a:lnSpc>
                <a:spcPct val="106000"/>
              </a:lnSpc>
              <a:buClr>
                <a:srgbClr val="000000"/>
              </a:buClr>
              <a:buSzPct val="100000"/>
            </a:pPr>
            <a:r>
              <a:rPr lang="en-US" sz="1100" dirty="0" smtClean="0"/>
              <a:t>Round 2</a:t>
            </a:r>
            <a:endParaRPr lang="en-US" sz="1100" dirty="0"/>
          </a:p>
          <a:p>
            <a:pPr marL="342900" lvl="1" indent="-171450">
              <a:buFont typeface="Wingdings" pitchFamily="2" charset="2"/>
              <a:buChar char="§"/>
            </a:pPr>
            <a:r>
              <a:rPr lang="en-US" sz="1100" dirty="0" smtClean="0"/>
              <a:t>Depends on area</a:t>
            </a:r>
          </a:p>
          <a:p>
            <a:pPr marL="342900" lvl="1" indent="-171450">
              <a:buFont typeface="Wingdings" pitchFamily="2" charset="2"/>
              <a:buChar char="§"/>
            </a:pPr>
            <a:r>
              <a:rPr lang="en-US" sz="1100" dirty="0" smtClean="0"/>
              <a:t>At least two interviews </a:t>
            </a:r>
            <a:endParaRPr lang="en-US" sz="1100"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6</a:t>
            </a:fld>
            <a:endParaRPr lang="en-US" dirty="0"/>
          </a:p>
        </p:txBody>
      </p:sp>
    </p:spTree>
    <p:extLst>
      <p:ext uri="{BB962C8B-B14F-4D97-AF65-F5344CB8AC3E}">
        <p14:creationId xmlns:p14="http://schemas.microsoft.com/office/powerpoint/2010/main" val="666601100"/>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Bain &amp; Company</a:t>
            </a:r>
            <a:endParaRPr lang="en-US" sz="2400" b="1" dirty="0"/>
          </a:p>
        </p:txBody>
      </p:sp>
      <p:sp>
        <p:nvSpPr>
          <p:cNvPr id="16388" name="Notes"/>
          <p:cNvSpPr txBox="1">
            <a:spLocks noChangeArrowheads="1"/>
          </p:cNvSpPr>
          <p:nvPr/>
        </p:nvSpPr>
        <p:spPr bwMode="auto">
          <a:xfrm>
            <a:off x="525463" y="8041958"/>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5" name="KMATable0TextBox1"/>
          <p:cNvSpPr>
            <a:spLocks noChangeArrowheads="1"/>
          </p:cNvSpPr>
          <p:nvPr/>
        </p:nvSpPr>
        <p:spPr bwMode="auto">
          <a:xfrm>
            <a:off x="182563" y="1356869"/>
            <a:ext cx="2036762" cy="938656"/>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Overview</a:t>
            </a:r>
            <a:endParaRPr lang="en-US" sz="1100" b="1" dirty="0">
              <a:solidFill>
                <a:schemeClr val="bg1"/>
              </a:solidFill>
            </a:endParaRPr>
          </a:p>
        </p:txBody>
      </p:sp>
      <p:sp>
        <p:nvSpPr>
          <p:cNvPr id="17" name="KMATable0TextBox1"/>
          <p:cNvSpPr>
            <a:spLocks noChangeArrowheads="1"/>
          </p:cNvSpPr>
          <p:nvPr/>
        </p:nvSpPr>
        <p:spPr bwMode="auto">
          <a:xfrm>
            <a:off x="182563" y="2466975"/>
            <a:ext cx="2036762" cy="944619"/>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Interview Overview</a:t>
            </a:r>
            <a:endParaRPr lang="en-US" sz="1100" b="1" dirty="0">
              <a:solidFill>
                <a:schemeClr val="bg1"/>
              </a:solidFill>
            </a:endParaRPr>
          </a:p>
        </p:txBody>
      </p:sp>
      <p:sp>
        <p:nvSpPr>
          <p:cNvPr id="18" name="KMATable0TextBox1"/>
          <p:cNvSpPr>
            <a:spLocks noChangeArrowheads="1"/>
          </p:cNvSpPr>
          <p:nvPr/>
        </p:nvSpPr>
        <p:spPr bwMode="auto">
          <a:xfrm>
            <a:off x="182563" y="3581400"/>
            <a:ext cx="2036762" cy="1683022"/>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Unique Interview Features</a:t>
            </a:r>
            <a:endParaRPr lang="en-US" sz="1100" b="1" dirty="0">
              <a:solidFill>
                <a:schemeClr val="bg1"/>
              </a:solidFill>
            </a:endParaRPr>
          </a:p>
        </p:txBody>
      </p:sp>
      <p:sp>
        <p:nvSpPr>
          <p:cNvPr id="19" name="KMATable0TextBox1"/>
          <p:cNvSpPr>
            <a:spLocks noChangeArrowheads="1"/>
          </p:cNvSpPr>
          <p:nvPr/>
        </p:nvSpPr>
        <p:spPr bwMode="auto">
          <a:xfrm>
            <a:off x="182563" y="5388080"/>
            <a:ext cx="2036762" cy="1371600"/>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Career Progression</a:t>
            </a:r>
            <a:endParaRPr lang="en-US" sz="1100" b="1" dirty="0">
              <a:solidFill>
                <a:schemeClr val="bg1"/>
              </a:solidFill>
            </a:endParaRPr>
          </a:p>
        </p:txBody>
      </p:sp>
      <p:sp>
        <p:nvSpPr>
          <p:cNvPr id="23" name="Rectangle 22"/>
          <p:cNvSpPr/>
          <p:nvPr/>
        </p:nvSpPr>
        <p:spPr>
          <a:xfrm>
            <a:off x="2286000" y="2462745"/>
            <a:ext cx="2533650" cy="948849"/>
          </a:xfrm>
          <a:prstGeom prst="rect">
            <a:avLst/>
          </a:prstGeom>
        </p:spPr>
        <p:txBody>
          <a:bodyPr wrap="square">
            <a:spAutoFit/>
          </a:bodyPr>
          <a:lstStyle/>
          <a:p>
            <a:pPr marL="0" lvl="1">
              <a:lnSpc>
                <a:spcPct val="106000"/>
              </a:lnSpc>
              <a:buClr>
                <a:srgbClr val="000000"/>
              </a:buClr>
              <a:buSzPct val="100000"/>
            </a:pPr>
            <a:r>
              <a:rPr lang="en-US" sz="1100" dirty="0"/>
              <a:t>Round 1</a:t>
            </a:r>
          </a:p>
          <a:p>
            <a:pPr marL="342900" lvl="1" indent="-171450">
              <a:buFont typeface="Wingdings" pitchFamily="2" charset="2"/>
              <a:buChar char="§"/>
            </a:pPr>
            <a:r>
              <a:rPr lang="en-US" sz="1100" dirty="0" smtClean="0"/>
              <a:t>2 Interviews (~45min. each)</a:t>
            </a:r>
          </a:p>
          <a:p>
            <a:pPr marL="342900" lvl="1" indent="-171450">
              <a:buFont typeface="Wingdings" pitchFamily="2" charset="2"/>
              <a:buChar char="§"/>
            </a:pPr>
            <a:r>
              <a:rPr lang="en-US" sz="1100" dirty="0" smtClean="0"/>
              <a:t>A few behavioral/fit questions and a case (Note: interview may start with the case)</a:t>
            </a:r>
            <a:endParaRPr lang="en-US" sz="1100" dirty="0"/>
          </a:p>
        </p:txBody>
      </p:sp>
      <p:sp>
        <p:nvSpPr>
          <p:cNvPr id="24" name="Rectangle 23"/>
          <p:cNvSpPr/>
          <p:nvPr/>
        </p:nvSpPr>
        <p:spPr>
          <a:xfrm>
            <a:off x="2282952" y="3581400"/>
            <a:ext cx="6477000" cy="1446550"/>
          </a:xfrm>
          <a:prstGeom prst="rect">
            <a:avLst/>
          </a:prstGeom>
        </p:spPr>
        <p:txBody>
          <a:bodyPr wrap="square">
            <a:spAutoFit/>
          </a:bodyPr>
          <a:lstStyle/>
          <a:p>
            <a:pPr marL="171450" indent="-171450">
              <a:buFont typeface="Wingdings" pitchFamily="2" charset="2"/>
              <a:buChar char="§"/>
            </a:pPr>
            <a:r>
              <a:rPr lang="en-US" sz="1100" u="sng" dirty="0" smtClean="0"/>
              <a:t>Shorter prompts</a:t>
            </a:r>
            <a:r>
              <a:rPr lang="en-US" sz="1100" dirty="0" smtClean="0"/>
              <a:t>- Most cases feature shorter prompts (2-4 sentences) .  Candidates should feel free to ask additional questions before creating a unique framework</a:t>
            </a:r>
          </a:p>
          <a:p>
            <a:pPr marL="171450" indent="-171450">
              <a:buFont typeface="Wingdings" pitchFamily="2" charset="2"/>
              <a:buChar char="§"/>
            </a:pPr>
            <a:r>
              <a:rPr lang="en-US" sz="1100" u="sng" dirty="0" smtClean="0"/>
              <a:t>Charts and graphs-</a:t>
            </a:r>
            <a:r>
              <a:rPr lang="en-US" sz="1100" dirty="0" smtClean="0"/>
              <a:t> Bain has a few unique chart and graph formats that should be reviewed (materials are on their website) before interviews to become familiar with each type</a:t>
            </a:r>
            <a:endParaRPr lang="en-US" sz="1100" dirty="0"/>
          </a:p>
          <a:p>
            <a:pPr marL="171450" indent="-171450">
              <a:buFont typeface="Wingdings" pitchFamily="2" charset="2"/>
              <a:buChar char="§"/>
            </a:pPr>
            <a:r>
              <a:rPr lang="en-US" sz="1100" u="sng" dirty="0" smtClean="0"/>
              <a:t>Second level insights-</a:t>
            </a:r>
            <a:r>
              <a:rPr lang="en-US" sz="1100" dirty="0" smtClean="0"/>
              <a:t> Candidates should focus on the business implications of information provided during the case (the “so what?”)</a:t>
            </a:r>
          </a:p>
          <a:p>
            <a:pPr marL="171450" indent="-171450">
              <a:buFont typeface="Wingdings" pitchFamily="2" charset="2"/>
              <a:buChar char="§"/>
            </a:pPr>
            <a:r>
              <a:rPr lang="en-US" sz="1100" u="sng" dirty="0" smtClean="0"/>
              <a:t>Action-oriented recommendation </a:t>
            </a:r>
            <a:r>
              <a:rPr lang="en-US" sz="1100" dirty="0" smtClean="0"/>
              <a:t>The recommendation should be crisp and concise and contain specific actions the client could take immediately</a:t>
            </a:r>
          </a:p>
        </p:txBody>
      </p:sp>
      <p:sp>
        <p:nvSpPr>
          <p:cNvPr id="29" name="Rectangle 28"/>
          <p:cNvSpPr/>
          <p:nvPr/>
        </p:nvSpPr>
        <p:spPr>
          <a:xfrm>
            <a:off x="2286000" y="5388080"/>
            <a:ext cx="6400800" cy="1446550"/>
          </a:xfrm>
          <a:prstGeom prst="rect">
            <a:avLst/>
          </a:prstGeom>
        </p:spPr>
        <p:txBody>
          <a:bodyPr wrap="square">
            <a:spAutoFit/>
          </a:bodyPr>
          <a:lstStyle/>
          <a:p>
            <a:pPr marL="171450" indent="-171450">
              <a:buFont typeface="Wingdings" pitchFamily="2" charset="2"/>
              <a:buChar char="§"/>
            </a:pPr>
            <a:r>
              <a:rPr lang="en-US" sz="1100" dirty="0" smtClean="0"/>
              <a:t>Associate Consultant</a:t>
            </a:r>
          </a:p>
          <a:p>
            <a:pPr marL="171450" indent="-171450">
              <a:buFont typeface="Wingdings" pitchFamily="2" charset="2"/>
              <a:buChar char="§"/>
            </a:pPr>
            <a:r>
              <a:rPr lang="en-US" sz="1100" dirty="0" smtClean="0"/>
              <a:t>Senior Associate Consultant</a:t>
            </a:r>
          </a:p>
          <a:p>
            <a:pPr marL="171450" indent="-171450">
              <a:buFont typeface="Wingdings" pitchFamily="2" charset="2"/>
              <a:buChar char="§"/>
            </a:pPr>
            <a:r>
              <a:rPr lang="en-US" sz="1100" dirty="0" smtClean="0"/>
              <a:t>(Business School); </a:t>
            </a:r>
            <a:r>
              <a:rPr lang="en-US" sz="1100" i="1" dirty="0" smtClean="0"/>
              <a:t>Summer Associate</a:t>
            </a:r>
          </a:p>
          <a:p>
            <a:pPr marL="171450" indent="-171450">
              <a:buFont typeface="Wingdings" pitchFamily="2" charset="2"/>
              <a:buChar char="§"/>
            </a:pPr>
            <a:r>
              <a:rPr lang="en-US" sz="1100" i="1" dirty="0" smtClean="0"/>
              <a:t>Consultant</a:t>
            </a:r>
          </a:p>
          <a:p>
            <a:pPr marL="171450" indent="-171450">
              <a:buFont typeface="Wingdings" pitchFamily="2" charset="2"/>
              <a:buChar char="§"/>
            </a:pPr>
            <a:r>
              <a:rPr lang="en-US" sz="1100" dirty="0" smtClean="0"/>
              <a:t>Case Team Leader</a:t>
            </a:r>
          </a:p>
          <a:p>
            <a:pPr marL="171450" indent="-171450">
              <a:buFont typeface="Wingdings" pitchFamily="2" charset="2"/>
              <a:buChar char="§"/>
            </a:pPr>
            <a:r>
              <a:rPr lang="en-US" sz="1100" dirty="0" smtClean="0"/>
              <a:t>Manager</a:t>
            </a:r>
          </a:p>
          <a:p>
            <a:pPr marL="171450" indent="-171450">
              <a:buFont typeface="Wingdings" pitchFamily="2" charset="2"/>
              <a:buChar char="§"/>
            </a:pPr>
            <a:r>
              <a:rPr lang="en-US" sz="1100" dirty="0" smtClean="0"/>
              <a:t>Principal</a:t>
            </a:r>
          </a:p>
          <a:p>
            <a:pPr marL="171450" indent="-171450">
              <a:buFont typeface="Wingdings" pitchFamily="2" charset="2"/>
              <a:buChar char="§"/>
            </a:pPr>
            <a:r>
              <a:rPr lang="en-US" sz="1100" dirty="0" smtClean="0"/>
              <a:t>Partner</a:t>
            </a:r>
          </a:p>
        </p:txBody>
      </p:sp>
      <p:cxnSp>
        <p:nvCxnSpPr>
          <p:cNvPr id="32" name="Straight Connector 31"/>
          <p:cNvCxnSpPr/>
          <p:nvPr/>
        </p:nvCxnSpPr>
        <p:spPr>
          <a:xfrm>
            <a:off x="152400" y="1270000"/>
            <a:ext cx="8607552" cy="86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286000" y="2328815"/>
            <a:ext cx="6477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286000" y="3460683"/>
            <a:ext cx="647395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286000" y="5314950"/>
            <a:ext cx="6473952"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52400" y="776151"/>
            <a:ext cx="8610600" cy="307777"/>
          </a:xfrm>
          <a:prstGeom prst="rect">
            <a:avLst/>
          </a:prstGeom>
        </p:spPr>
        <p:txBody>
          <a:bodyPr wrap="square">
            <a:spAutoFit/>
          </a:bodyPr>
          <a:lstStyle/>
          <a:p>
            <a:r>
              <a:rPr lang="en-US" sz="1400" i="1" dirty="0" smtClean="0">
                <a:solidFill>
                  <a:schemeClr val="bg2"/>
                </a:solidFill>
              </a:rPr>
              <a:t>Bain is a leading strategy consulting firm based in Boston, MA with 49 offices across the globe.</a:t>
            </a:r>
            <a:endParaRPr lang="en-US" sz="1400" i="1" dirty="0">
              <a:solidFill>
                <a:schemeClr val="bg2"/>
              </a:solidFill>
            </a:endParaRPr>
          </a:p>
        </p:txBody>
      </p:sp>
      <p:sp>
        <p:nvSpPr>
          <p:cNvPr id="26" name="Rectangle 25"/>
          <p:cNvSpPr/>
          <p:nvPr/>
        </p:nvSpPr>
        <p:spPr>
          <a:xfrm>
            <a:off x="2286000" y="1356870"/>
            <a:ext cx="6477000" cy="979242"/>
          </a:xfrm>
          <a:prstGeom prst="rect">
            <a:avLst/>
          </a:prstGeom>
          <a:ln>
            <a:noFill/>
          </a:ln>
        </p:spPr>
        <p:txBody>
          <a:bodyPr wrap="square">
            <a:spAutoFit/>
          </a:bodyPr>
          <a:lstStyle/>
          <a:p>
            <a:pPr indent="-206375">
              <a:lnSpc>
                <a:spcPct val="106000"/>
              </a:lnSpc>
              <a:spcBef>
                <a:spcPts val="600"/>
              </a:spcBef>
              <a:buClr>
                <a:srgbClr val="000000"/>
              </a:buClr>
              <a:buSzPct val="100000"/>
            </a:pPr>
            <a:r>
              <a:rPr lang="en-US" sz="1100" dirty="0" smtClean="0">
                <a:solidFill>
                  <a:srgbClr val="000000"/>
                </a:solidFill>
                <a:latin typeface="+mj-lt"/>
                <a:ea typeface="+mn-ea"/>
                <a:cs typeface="Calibri" pitchFamily="34" charset="0"/>
              </a:rPr>
              <a:t>Bain follows the generalist model.  There is no need to align with a specific industry or area before interviewing.</a:t>
            </a:r>
          </a:p>
          <a:p>
            <a:pPr marL="171450" lvl="1" indent="-171450">
              <a:lnSpc>
                <a:spcPct val="106000"/>
              </a:lnSpc>
              <a:buClr>
                <a:srgbClr val="000000"/>
              </a:buClr>
              <a:buSzPct val="100000"/>
              <a:buFont typeface="Wingdings" pitchFamily="2" charset="2"/>
              <a:buChar char="§"/>
            </a:pPr>
            <a:r>
              <a:rPr lang="en-US" sz="1100" b="1" dirty="0" smtClean="0"/>
              <a:t>Strategy- </a:t>
            </a:r>
            <a:r>
              <a:rPr lang="en-US" sz="1100" dirty="0"/>
              <a:t>I</a:t>
            </a:r>
            <a:r>
              <a:rPr lang="en-US" sz="1100" dirty="0" smtClean="0"/>
              <a:t>nfluential </a:t>
            </a:r>
            <a:r>
              <a:rPr lang="en-US" sz="1100" dirty="0"/>
              <a:t>experts and deep expertise in dozens of </a:t>
            </a:r>
            <a:r>
              <a:rPr lang="en-US" sz="1100" dirty="0" smtClean="0"/>
              <a:t>industries, provides consultants with </a:t>
            </a:r>
            <a:r>
              <a:rPr lang="en-US" sz="1100" dirty="0"/>
              <a:t>a broad foundation on which </a:t>
            </a:r>
            <a:r>
              <a:rPr lang="en-US" sz="1100" dirty="0" smtClean="0"/>
              <a:t>to build their own expertise</a:t>
            </a:r>
            <a:r>
              <a:rPr lang="en-US" sz="1100" b="1" dirty="0" smtClean="0"/>
              <a:t> </a:t>
            </a:r>
          </a:p>
          <a:p>
            <a:pPr marL="171450" indent="-171450">
              <a:buFont typeface="Wingdings" panose="05000000000000000000" pitchFamily="2" charset="2"/>
              <a:buChar char="§"/>
            </a:pPr>
            <a:r>
              <a:rPr lang="en-US" sz="1100" b="1" dirty="0" smtClean="0"/>
              <a:t>Private Equity Group (PEG)-</a:t>
            </a:r>
            <a:r>
              <a:rPr lang="en-US" sz="1100" dirty="0" smtClean="0"/>
              <a:t>Work with  private equity firms to assess potential deals</a:t>
            </a:r>
          </a:p>
        </p:txBody>
      </p:sp>
      <p:sp>
        <p:nvSpPr>
          <p:cNvPr id="27" name="Rectangle 26"/>
          <p:cNvSpPr/>
          <p:nvPr/>
        </p:nvSpPr>
        <p:spPr>
          <a:xfrm>
            <a:off x="5199063" y="2462745"/>
            <a:ext cx="3352800" cy="779572"/>
          </a:xfrm>
          <a:prstGeom prst="rect">
            <a:avLst/>
          </a:prstGeom>
        </p:spPr>
        <p:txBody>
          <a:bodyPr wrap="square">
            <a:spAutoFit/>
          </a:bodyPr>
          <a:lstStyle/>
          <a:p>
            <a:pPr marL="0" lvl="1">
              <a:lnSpc>
                <a:spcPct val="106000"/>
              </a:lnSpc>
              <a:buClr>
                <a:srgbClr val="000000"/>
              </a:buClr>
              <a:buSzPct val="100000"/>
            </a:pPr>
            <a:r>
              <a:rPr lang="en-US" sz="1100" dirty="0" smtClean="0"/>
              <a:t>Round 2</a:t>
            </a:r>
            <a:endParaRPr lang="en-US" sz="1100" dirty="0"/>
          </a:p>
          <a:p>
            <a:pPr marL="342900" lvl="1" indent="-171450">
              <a:buFont typeface="Wingdings" pitchFamily="2" charset="2"/>
              <a:buChar char="§"/>
            </a:pPr>
            <a:r>
              <a:rPr lang="en-US" sz="1100" dirty="0" smtClean="0"/>
              <a:t>1 fit interview (~45min)</a:t>
            </a:r>
          </a:p>
          <a:p>
            <a:pPr marL="342900" lvl="1" indent="-171450">
              <a:buFont typeface="Wingdings" pitchFamily="2" charset="2"/>
              <a:buChar char="§"/>
            </a:pPr>
            <a:r>
              <a:rPr lang="en-US" sz="1100" dirty="0" smtClean="0"/>
              <a:t>1 written case </a:t>
            </a:r>
            <a:r>
              <a:rPr lang="en-US" sz="1100" dirty="0"/>
              <a:t>interview (~45min</a:t>
            </a:r>
            <a:r>
              <a:rPr lang="en-US" sz="1100" dirty="0" smtClean="0"/>
              <a:t>)</a:t>
            </a:r>
          </a:p>
          <a:p>
            <a:pPr marL="342900" lvl="1" indent="-171450">
              <a:buFont typeface="Wingdings" pitchFamily="2" charset="2"/>
              <a:buChar char="§"/>
            </a:pPr>
            <a:r>
              <a:rPr lang="en-US" sz="1100" dirty="0" smtClean="0"/>
              <a:t>1 typical case </a:t>
            </a:r>
            <a:r>
              <a:rPr lang="en-US" sz="1100" dirty="0"/>
              <a:t>interview (~45min</a:t>
            </a:r>
            <a:r>
              <a:rPr lang="en-US" sz="1100" dirty="0" smtClean="0"/>
              <a:t>)</a:t>
            </a:r>
            <a:endParaRPr lang="en-US" sz="1100"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7</a:t>
            </a:fld>
            <a:endParaRPr lang="en-US" dirty="0"/>
          </a:p>
        </p:txBody>
      </p:sp>
    </p:spTree>
    <p:extLst>
      <p:ext uri="{BB962C8B-B14F-4D97-AF65-F5344CB8AC3E}">
        <p14:creationId xmlns:p14="http://schemas.microsoft.com/office/powerpoint/2010/main" val="1143228481"/>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580184" cy="461665"/>
          </a:xfrm>
          <a:prstGeom prst="rect">
            <a:avLst/>
          </a:prstGeom>
          <a:noFill/>
          <a:ln w="9525">
            <a:noFill/>
            <a:miter lim="800000"/>
            <a:headEnd/>
            <a:tailEnd/>
          </a:ln>
        </p:spPr>
        <p:txBody>
          <a:bodyPr wrap="square">
            <a:spAutoFit/>
          </a:bodyPr>
          <a:lstStyle/>
          <a:p>
            <a:r>
              <a:rPr lang="en-US" sz="2400" b="1" dirty="0" smtClean="0"/>
              <a:t>Boston Consulting Group (BCG)</a:t>
            </a:r>
            <a:endParaRPr lang="en-US" sz="2400" b="1" dirty="0"/>
          </a:p>
        </p:txBody>
      </p:sp>
      <p:sp>
        <p:nvSpPr>
          <p:cNvPr id="16388" name="Notes"/>
          <p:cNvSpPr txBox="1">
            <a:spLocks noChangeArrowheads="1"/>
          </p:cNvSpPr>
          <p:nvPr/>
        </p:nvSpPr>
        <p:spPr bwMode="auto">
          <a:xfrm>
            <a:off x="525463" y="8041958"/>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5" name="KMATable0TextBox1"/>
          <p:cNvSpPr>
            <a:spLocks noChangeArrowheads="1"/>
          </p:cNvSpPr>
          <p:nvPr/>
        </p:nvSpPr>
        <p:spPr bwMode="auto">
          <a:xfrm>
            <a:off x="182563" y="1356869"/>
            <a:ext cx="2036762" cy="1527598"/>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Overview</a:t>
            </a:r>
            <a:endParaRPr lang="en-US" sz="1100" b="1" dirty="0">
              <a:solidFill>
                <a:schemeClr val="bg1"/>
              </a:solidFill>
            </a:endParaRPr>
          </a:p>
        </p:txBody>
      </p:sp>
      <p:sp>
        <p:nvSpPr>
          <p:cNvPr id="17" name="KMATable0TextBox1"/>
          <p:cNvSpPr>
            <a:spLocks noChangeArrowheads="1"/>
          </p:cNvSpPr>
          <p:nvPr/>
        </p:nvSpPr>
        <p:spPr bwMode="auto">
          <a:xfrm>
            <a:off x="182563" y="3051108"/>
            <a:ext cx="2036762" cy="717119"/>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Interview Overview</a:t>
            </a:r>
            <a:endParaRPr lang="en-US" sz="1100" b="1" dirty="0">
              <a:solidFill>
                <a:schemeClr val="bg1"/>
              </a:solidFill>
            </a:endParaRPr>
          </a:p>
        </p:txBody>
      </p:sp>
      <p:sp>
        <p:nvSpPr>
          <p:cNvPr id="18" name="KMATable0TextBox1"/>
          <p:cNvSpPr>
            <a:spLocks noChangeArrowheads="1"/>
          </p:cNvSpPr>
          <p:nvPr/>
        </p:nvSpPr>
        <p:spPr bwMode="auto">
          <a:xfrm>
            <a:off x="182563" y="3909965"/>
            <a:ext cx="2036762" cy="1446550"/>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Unique Interview Features</a:t>
            </a:r>
            <a:endParaRPr lang="en-US" sz="1100" b="1" dirty="0">
              <a:solidFill>
                <a:schemeClr val="bg1"/>
              </a:solidFill>
            </a:endParaRPr>
          </a:p>
        </p:txBody>
      </p:sp>
      <p:sp>
        <p:nvSpPr>
          <p:cNvPr id="19" name="KMATable0TextBox1"/>
          <p:cNvSpPr>
            <a:spLocks noChangeArrowheads="1"/>
          </p:cNvSpPr>
          <p:nvPr/>
        </p:nvSpPr>
        <p:spPr bwMode="auto">
          <a:xfrm>
            <a:off x="182563" y="5464281"/>
            <a:ext cx="2036762" cy="1277273"/>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Career Progression</a:t>
            </a:r>
            <a:endParaRPr lang="en-US" sz="1100" b="1" dirty="0">
              <a:solidFill>
                <a:schemeClr val="bg1"/>
              </a:solidFill>
            </a:endParaRPr>
          </a:p>
        </p:txBody>
      </p:sp>
      <p:sp>
        <p:nvSpPr>
          <p:cNvPr id="23" name="Rectangle 22"/>
          <p:cNvSpPr/>
          <p:nvPr/>
        </p:nvSpPr>
        <p:spPr>
          <a:xfrm>
            <a:off x="2286000" y="3051109"/>
            <a:ext cx="2789234" cy="948847"/>
          </a:xfrm>
          <a:prstGeom prst="rect">
            <a:avLst/>
          </a:prstGeom>
        </p:spPr>
        <p:txBody>
          <a:bodyPr wrap="square">
            <a:spAutoFit/>
          </a:bodyPr>
          <a:lstStyle/>
          <a:p>
            <a:pPr marL="0" lvl="1">
              <a:lnSpc>
                <a:spcPct val="106000"/>
              </a:lnSpc>
              <a:buClr>
                <a:srgbClr val="000000"/>
              </a:buClr>
              <a:buSzPct val="100000"/>
            </a:pPr>
            <a:r>
              <a:rPr lang="en-US" sz="1100" dirty="0"/>
              <a:t>Round 1</a:t>
            </a:r>
          </a:p>
          <a:p>
            <a:pPr marL="342900" lvl="1" indent="-171450">
              <a:buFont typeface="Wingdings" pitchFamily="2" charset="2"/>
              <a:buChar char="§"/>
            </a:pPr>
            <a:r>
              <a:rPr lang="en-US" sz="1100" dirty="0" smtClean="0"/>
              <a:t>Two analytical cases with  a portion of the time dedicated to behavioral fit questions – 45 min each</a:t>
            </a:r>
            <a:endParaRPr lang="en-US" sz="1100" dirty="0"/>
          </a:p>
        </p:txBody>
      </p:sp>
      <p:sp>
        <p:nvSpPr>
          <p:cNvPr id="24" name="Rectangle 23"/>
          <p:cNvSpPr/>
          <p:nvPr/>
        </p:nvSpPr>
        <p:spPr>
          <a:xfrm>
            <a:off x="2286000" y="3909965"/>
            <a:ext cx="6477000" cy="1107996"/>
          </a:xfrm>
          <a:prstGeom prst="rect">
            <a:avLst/>
          </a:prstGeom>
        </p:spPr>
        <p:txBody>
          <a:bodyPr wrap="square">
            <a:spAutoFit/>
          </a:bodyPr>
          <a:lstStyle/>
          <a:p>
            <a:pPr marL="171450" indent="-171450">
              <a:buFont typeface="Wingdings" pitchFamily="2" charset="2"/>
              <a:buChar char="§"/>
            </a:pPr>
            <a:r>
              <a:rPr lang="en-US" sz="1100" dirty="0" smtClean="0"/>
              <a:t>Be prepared for the behavioral portion of the case to bleed into the analytical portion of the case.  The break between the two is not always obvious and clear cut.</a:t>
            </a:r>
          </a:p>
          <a:p>
            <a:pPr marL="171450" indent="-171450">
              <a:buFont typeface="Wingdings" pitchFamily="2" charset="2"/>
              <a:buChar char="§"/>
            </a:pPr>
            <a:r>
              <a:rPr lang="en-US" sz="1100" dirty="0" smtClean="0"/>
              <a:t>Highly quantitative – be prepared for lots of complex math.  Most decision round pitfalls are related to slow or inaccurate mental math.  </a:t>
            </a:r>
          </a:p>
          <a:p>
            <a:pPr marL="171450" indent="-171450">
              <a:buFont typeface="Wingdings" pitchFamily="2" charset="2"/>
              <a:buChar char="§"/>
            </a:pPr>
            <a:r>
              <a:rPr lang="en-US" sz="1100" dirty="0" smtClean="0"/>
              <a:t>Partners look for driving the case and the application of common sense judgment.  Not simply textbook knowledge.</a:t>
            </a:r>
          </a:p>
        </p:txBody>
      </p:sp>
      <p:sp>
        <p:nvSpPr>
          <p:cNvPr id="29" name="Rectangle 28"/>
          <p:cNvSpPr/>
          <p:nvPr/>
        </p:nvSpPr>
        <p:spPr>
          <a:xfrm>
            <a:off x="2286000" y="5464280"/>
            <a:ext cx="6400800" cy="1277273"/>
          </a:xfrm>
          <a:prstGeom prst="rect">
            <a:avLst/>
          </a:prstGeom>
        </p:spPr>
        <p:txBody>
          <a:bodyPr wrap="square">
            <a:spAutoFit/>
          </a:bodyPr>
          <a:lstStyle/>
          <a:p>
            <a:pPr marL="171450" indent="-171450">
              <a:buFont typeface="Wingdings" pitchFamily="2" charset="2"/>
              <a:buChar char="§"/>
            </a:pPr>
            <a:r>
              <a:rPr lang="en-US" sz="1100" dirty="0" smtClean="0"/>
              <a:t>(Undergrad); Analyst – A1/A2 (denotes the years in the position)</a:t>
            </a:r>
          </a:p>
          <a:p>
            <a:pPr marL="171450" indent="-171450">
              <a:buFont typeface="Wingdings" pitchFamily="2" charset="2"/>
              <a:buChar char="§"/>
            </a:pPr>
            <a:r>
              <a:rPr lang="en-US" sz="1100" dirty="0" smtClean="0"/>
              <a:t>(Business School); </a:t>
            </a:r>
            <a:r>
              <a:rPr lang="en-US" sz="1100" dirty="0"/>
              <a:t>Summer </a:t>
            </a:r>
            <a:r>
              <a:rPr lang="en-US" sz="1100" dirty="0" smtClean="0"/>
              <a:t>Consultant</a:t>
            </a:r>
          </a:p>
          <a:p>
            <a:pPr marL="171450" indent="-171450">
              <a:buFont typeface="Wingdings" pitchFamily="2" charset="2"/>
              <a:buChar char="§"/>
            </a:pPr>
            <a:r>
              <a:rPr lang="en-US" sz="1100" dirty="0" smtClean="0"/>
              <a:t>Consultant – C1/C2</a:t>
            </a:r>
          </a:p>
          <a:p>
            <a:pPr marL="171450" indent="-171450">
              <a:buFont typeface="Wingdings" pitchFamily="2" charset="2"/>
              <a:buChar char="§"/>
            </a:pPr>
            <a:r>
              <a:rPr lang="en-US" sz="1100" dirty="0" smtClean="0"/>
              <a:t>Project Leader – PL1, PL2, PL3</a:t>
            </a:r>
          </a:p>
          <a:p>
            <a:pPr marL="171450" indent="-171450">
              <a:buFont typeface="Wingdings" pitchFamily="2" charset="2"/>
              <a:buChar char="§"/>
            </a:pPr>
            <a:r>
              <a:rPr lang="en-US" sz="1100" dirty="0" smtClean="0"/>
              <a:t>Principal – P1, P2, P3, </a:t>
            </a:r>
            <a:r>
              <a:rPr lang="en-US" sz="1100" dirty="0" err="1" smtClean="0"/>
              <a:t>Px</a:t>
            </a:r>
            <a:endParaRPr lang="en-US" sz="1100" dirty="0" smtClean="0"/>
          </a:p>
          <a:p>
            <a:pPr marL="171450" indent="-171450">
              <a:buFont typeface="Wingdings" pitchFamily="2" charset="2"/>
              <a:buChar char="§"/>
            </a:pPr>
            <a:r>
              <a:rPr lang="en-US" sz="1100" dirty="0" smtClean="0"/>
              <a:t>Partner</a:t>
            </a:r>
          </a:p>
          <a:p>
            <a:pPr marL="171450" indent="-171450">
              <a:buFont typeface="Wingdings" pitchFamily="2" charset="2"/>
              <a:buChar char="§"/>
            </a:pPr>
            <a:r>
              <a:rPr lang="en-US" sz="1100" dirty="0" smtClean="0"/>
              <a:t>Sr. Partner / Managing Director</a:t>
            </a:r>
          </a:p>
        </p:txBody>
      </p:sp>
      <p:cxnSp>
        <p:nvCxnSpPr>
          <p:cNvPr id="32" name="Straight Connector 31"/>
          <p:cNvCxnSpPr/>
          <p:nvPr/>
        </p:nvCxnSpPr>
        <p:spPr>
          <a:xfrm>
            <a:off x="152400" y="1270000"/>
            <a:ext cx="8382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362200" y="2957465"/>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362200" y="3860733"/>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362200" y="5392405"/>
            <a:ext cx="6172200"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82562" y="767699"/>
            <a:ext cx="8351837" cy="523220"/>
          </a:xfrm>
          <a:prstGeom prst="rect">
            <a:avLst/>
          </a:prstGeom>
        </p:spPr>
        <p:txBody>
          <a:bodyPr wrap="square">
            <a:spAutoFit/>
          </a:bodyPr>
          <a:lstStyle/>
          <a:p>
            <a:r>
              <a:rPr lang="en-US" sz="1400" i="1" dirty="0" smtClean="0">
                <a:solidFill>
                  <a:schemeClr val="bg2"/>
                </a:solidFill>
              </a:rPr>
              <a:t>BCG is a premier strategy firm developing and implementing high-value opportunities for change for Private, Public and Not for Profit Organizations</a:t>
            </a:r>
            <a:endParaRPr lang="en-US" sz="1400" i="1" dirty="0">
              <a:solidFill>
                <a:schemeClr val="bg2"/>
              </a:solidFill>
            </a:endParaRPr>
          </a:p>
        </p:txBody>
      </p:sp>
      <p:sp>
        <p:nvSpPr>
          <p:cNvPr id="26" name="Rectangle 25"/>
          <p:cNvSpPr/>
          <p:nvPr/>
        </p:nvSpPr>
        <p:spPr>
          <a:xfrm>
            <a:off x="2286000" y="1356870"/>
            <a:ext cx="6477000" cy="1446550"/>
          </a:xfrm>
          <a:prstGeom prst="rect">
            <a:avLst/>
          </a:prstGeom>
          <a:ln>
            <a:noFill/>
          </a:ln>
        </p:spPr>
        <p:txBody>
          <a:bodyPr wrap="square">
            <a:spAutoFit/>
          </a:bodyPr>
          <a:lstStyle/>
          <a:p>
            <a:pPr marL="171450" indent="-171450">
              <a:buFont typeface="Wingdings" panose="05000000000000000000" pitchFamily="2" charset="2"/>
              <a:buChar char="§"/>
            </a:pPr>
            <a:r>
              <a:rPr lang="en-US" sz="1100" dirty="0" smtClean="0"/>
              <a:t>Generalist </a:t>
            </a:r>
            <a:r>
              <a:rPr lang="en-US" sz="1100" dirty="0"/>
              <a:t>in the beginning – can choose to focus on industry as one moves into project leader </a:t>
            </a:r>
          </a:p>
          <a:p>
            <a:pPr marL="171450" indent="-171450">
              <a:buFont typeface="Wingdings" panose="05000000000000000000" pitchFamily="2" charset="2"/>
              <a:buChar char="§"/>
            </a:pPr>
            <a:r>
              <a:rPr lang="en-US" sz="1100" dirty="0" smtClean="0"/>
              <a:t>Strong </a:t>
            </a:r>
            <a:r>
              <a:rPr lang="en-US" sz="1100" dirty="0"/>
              <a:t>regional staffing model </a:t>
            </a:r>
            <a:endParaRPr lang="en-US" sz="1100" dirty="0" smtClean="0"/>
          </a:p>
          <a:p>
            <a:pPr marL="171450" indent="-171450">
              <a:buFont typeface="Wingdings" panose="05000000000000000000" pitchFamily="2" charset="2"/>
              <a:buChar char="§"/>
            </a:pPr>
            <a:r>
              <a:rPr lang="en-US" sz="1100" dirty="0" smtClean="0"/>
              <a:t>Flat </a:t>
            </a:r>
            <a:r>
              <a:rPr lang="en-US" sz="1100" dirty="0"/>
              <a:t>organization with a lot of transparency; communication is direct and feedback is highly valued </a:t>
            </a:r>
          </a:p>
          <a:p>
            <a:pPr marL="171450" indent="-171450">
              <a:buFont typeface="Wingdings" panose="05000000000000000000" pitchFamily="2" charset="2"/>
              <a:buChar char="§"/>
            </a:pPr>
            <a:r>
              <a:rPr lang="en-US" sz="1100" dirty="0" smtClean="0"/>
              <a:t> </a:t>
            </a:r>
            <a:r>
              <a:rPr lang="en-US" sz="1100" dirty="0"/>
              <a:t>“Chart your own course” philosophy – you can specialize in a particular industry early or take on a variety of assignments across different countries or take a sabbatical to work for a non-profit for a year </a:t>
            </a:r>
          </a:p>
          <a:p>
            <a:pPr marL="171450" indent="-171450">
              <a:buFont typeface="Wingdings" panose="05000000000000000000" pitchFamily="2" charset="2"/>
              <a:buChar char="§"/>
            </a:pPr>
            <a:r>
              <a:rPr lang="en-US" sz="1100" dirty="0" smtClean="0"/>
              <a:t>Strong </a:t>
            </a:r>
            <a:r>
              <a:rPr lang="en-US" sz="1100" dirty="0"/>
              <a:t>mentoring culture, frequent interaction with partners on cases and lots of training opportunities if you join BCG full-time. Personal development is taken very seriously </a:t>
            </a:r>
          </a:p>
        </p:txBody>
      </p:sp>
      <p:sp>
        <p:nvSpPr>
          <p:cNvPr id="27" name="Rectangle 26"/>
          <p:cNvSpPr/>
          <p:nvPr/>
        </p:nvSpPr>
        <p:spPr>
          <a:xfrm>
            <a:off x="5199063" y="3051108"/>
            <a:ext cx="3352800" cy="779572"/>
          </a:xfrm>
          <a:prstGeom prst="rect">
            <a:avLst/>
          </a:prstGeom>
        </p:spPr>
        <p:txBody>
          <a:bodyPr wrap="square">
            <a:spAutoFit/>
          </a:bodyPr>
          <a:lstStyle/>
          <a:p>
            <a:pPr marL="0" lvl="1">
              <a:lnSpc>
                <a:spcPct val="106000"/>
              </a:lnSpc>
              <a:buClr>
                <a:srgbClr val="000000"/>
              </a:buClr>
              <a:buSzPct val="100000"/>
            </a:pPr>
            <a:r>
              <a:rPr lang="en-US" sz="1100" dirty="0" smtClean="0"/>
              <a:t>Round 2</a:t>
            </a:r>
            <a:endParaRPr lang="en-US" sz="1100" dirty="0"/>
          </a:p>
          <a:p>
            <a:pPr marL="342900" lvl="1" indent="-171450">
              <a:buFont typeface="Wingdings" pitchFamily="2" charset="2"/>
              <a:buChar char="§"/>
            </a:pPr>
            <a:r>
              <a:rPr lang="en-US" sz="1100" dirty="0" smtClean="0"/>
              <a:t>Two to three analytical cases with a portion of the time dedicated to behavioral/fit questions – 55 minutes each</a:t>
            </a:r>
            <a:endParaRPr lang="en-US" sz="1100"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8</a:t>
            </a:fld>
            <a:endParaRPr lang="en-US" dirty="0"/>
          </a:p>
        </p:txBody>
      </p:sp>
    </p:spTree>
    <p:extLst>
      <p:ext uri="{BB962C8B-B14F-4D97-AF65-F5344CB8AC3E}">
        <p14:creationId xmlns:p14="http://schemas.microsoft.com/office/powerpoint/2010/main" val="4099626063"/>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Deloitte Consulting LLP</a:t>
            </a:r>
            <a:endParaRPr lang="en-US" sz="2400" b="1" dirty="0"/>
          </a:p>
        </p:txBody>
      </p:sp>
      <p:sp>
        <p:nvSpPr>
          <p:cNvPr id="16388" name="Notes"/>
          <p:cNvSpPr txBox="1">
            <a:spLocks noChangeArrowheads="1"/>
          </p:cNvSpPr>
          <p:nvPr/>
        </p:nvSpPr>
        <p:spPr bwMode="auto">
          <a:xfrm>
            <a:off x="525463" y="8041958"/>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5" name="KMATable0TextBox1"/>
          <p:cNvSpPr>
            <a:spLocks noChangeArrowheads="1"/>
          </p:cNvSpPr>
          <p:nvPr/>
        </p:nvSpPr>
        <p:spPr bwMode="auto">
          <a:xfrm>
            <a:off x="182563" y="1356869"/>
            <a:ext cx="2036762" cy="1344168"/>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Overview</a:t>
            </a:r>
            <a:endParaRPr lang="en-US" sz="1100" b="1" dirty="0">
              <a:solidFill>
                <a:schemeClr val="bg1"/>
              </a:solidFill>
            </a:endParaRPr>
          </a:p>
        </p:txBody>
      </p:sp>
      <p:sp>
        <p:nvSpPr>
          <p:cNvPr id="17" name="KMATable0TextBox1"/>
          <p:cNvSpPr>
            <a:spLocks noChangeArrowheads="1"/>
          </p:cNvSpPr>
          <p:nvPr/>
        </p:nvSpPr>
        <p:spPr bwMode="auto">
          <a:xfrm>
            <a:off x="182563" y="2900895"/>
            <a:ext cx="2036762" cy="717119"/>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Interview Overview</a:t>
            </a:r>
            <a:endParaRPr lang="en-US" sz="1100" b="1" dirty="0">
              <a:solidFill>
                <a:schemeClr val="bg1"/>
              </a:solidFill>
            </a:endParaRPr>
          </a:p>
        </p:txBody>
      </p:sp>
      <p:sp>
        <p:nvSpPr>
          <p:cNvPr id="18" name="KMATable0TextBox1"/>
          <p:cNvSpPr>
            <a:spLocks noChangeArrowheads="1"/>
          </p:cNvSpPr>
          <p:nvPr/>
        </p:nvSpPr>
        <p:spPr bwMode="auto">
          <a:xfrm>
            <a:off x="182563" y="3817872"/>
            <a:ext cx="2036762" cy="1446550"/>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Unique Interview Features</a:t>
            </a:r>
            <a:endParaRPr lang="en-US" sz="1100" b="1" dirty="0">
              <a:solidFill>
                <a:schemeClr val="bg1"/>
              </a:solidFill>
            </a:endParaRPr>
          </a:p>
        </p:txBody>
      </p:sp>
      <p:sp>
        <p:nvSpPr>
          <p:cNvPr id="19" name="KMATable0TextBox1"/>
          <p:cNvSpPr>
            <a:spLocks noChangeArrowheads="1"/>
          </p:cNvSpPr>
          <p:nvPr/>
        </p:nvSpPr>
        <p:spPr bwMode="auto">
          <a:xfrm>
            <a:off x="182563" y="5464281"/>
            <a:ext cx="2036762" cy="1277273"/>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Career Progression</a:t>
            </a:r>
            <a:endParaRPr lang="en-US" sz="1100" b="1" dirty="0">
              <a:solidFill>
                <a:schemeClr val="bg1"/>
              </a:solidFill>
            </a:endParaRPr>
          </a:p>
        </p:txBody>
      </p:sp>
      <p:sp>
        <p:nvSpPr>
          <p:cNvPr id="23" name="Rectangle 22"/>
          <p:cNvSpPr/>
          <p:nvPr/>
        </p:nvSpPr>
        <p:spPr>
          <a:xfrm>
            <a:off x="2286000" y="2900895"/>
            <a:ext cx="2533650" cy="610295"/>
          </a:xfrm>
          <a:prstGeom prst="rect">
            <a:avLst/>
          </a:prstGeom>
        </p:spPr>
        <p:txBody>
          <a:bodyPr wrap="square">
            <a:spAutoFit/>
          </a:bodyPr>
          <a:lstStyle/>
          <a:p>
            <a:pPr marL="0" lvl="1">
              <a:lnSpc>
                <a:spcPct val="106000"/>
              </a:lnSpc>
              <a:buClr>
                <a:srgbClr val="000000"/>
              </a:buClr>
              <a:buSzPct val="100000"/>
            </a:pPr>
            <a:r>
              <a:rPr lang="en-US" sz="1100" dirty="0"/>
              <a:t>Round 1</a:t>
            </a:r>
          </a:p>
          <a:p>
            <a:pPr marL="342900" lvl="1" indent="-171450">
              <a:buFont typeface="Wingdings" pitchFamily="2" charset="2"/>
              <a:buChar char="§"/>
            </a:pPr>
            <a:r>
              <a:rPr lang="en-US" sz="1100" dirty="0"/>
              <a:t>Analytical Case– 30 min</a:t>
            </a:r>
          </a:p>
          <a:p>
            <a:pPr marL="342900" lvl="1" indent="-171450">
              <a:buFont typeface="Wingdings" pitchFamily="2" charset="2"/>
              <a:buChar char="§"/>
            </a:pPr>
            <a:r>
              <a:rPr lang="en-US" sz="1100" dirty="0"/>
              <a:t>Behavioral– 30 </a:t>
            </a:r>
            <a:r>
              <a:rPr lang="en-US" sz="1100" dirty="0" smtClean="0"/>
              <a:t>min</a:t>
            </a:r>
            <a:endParaRPr lang="en-US" sz="1100" dirty="0"/>
          </a:p>
        </p:txBody>
      </p:sp>
      <p:sp>
        <p:nvSpPr>
          <p:cNvPr id="24" name="Rectangle 23"/>
          <p:cNvSpPr/>
          <p:nvPr/>
        </p:nvSpPr>
        <p:spPr>
          <a:xfrm>
            <a:off x="2286000" y="3817872"/>
            <a:ext cx="6477000" cy="1446550"/>
          </a:xfrm>
          <a:prstGeom prst="rect">
            <a:avLst/>
          </a:prstGeom>
        </p:spPr>
        <p:txBody>
          <a:bodyPr wrap="square">
            <a:spAutoFit/>
          </a:bodyPr>
          <a:lstStyle/>
          <a:p>
            <a:pPr marL="171450" indent="-171450">
              <a:buFont typeface="Wingdings" pitchFamily="2" charset="2"/>
              <a:buChar char="§"/>
            </a:pPr>
            <a:r>
              <a:rPr lang="en-US" sz="1100" u="sng" dirty="0" smtClean="0"/>
              <a:t>Long prompts</a:t>
            </a:r>
            <a:r>
              <a:rPr lang="en-US" sz="1100" dirty="0" smtClean="0"/>
              <a:t>- Some cases feature multi-paragraph introductions that include lots of data. Make sure you capture all the information before moving on, since it’s usually not repeated.</a:t>
            </a:r>
          </a:p>
          <a:p>
            <a:pPr marL="171450" indent="-171450">
              <a:buFont typeface="Wingdings" pitchFamily="2" charset="2"/>
              <a:buChar char="§"/>
            </a:pPr>
            <a:r>
              <a:rPr lang="en-US" sz="1100" u="sng" dirty="0" smtClean="0"/>
              <a:t>The Data Sheet</a:t>
            </a:r>
            <a:r>
              <a:rPr lang="en-US" sz="1100" dirty="0" smtClean="0"/>
              <a:t>- Deloitte often hands you a page with multiple exhibits (chart</a:t>
            </a:r>
            <a:r>
              <a:rPr lang="en-US" sz="1100" dirty="0"/>
              <a:t>, graph, list</a:t>
            </a:r>
            <a:r>
              <a:rPr lang="en-US" sz="1100" dirty="0" smtClean="0"/>
              <a:t>, or data table etc.), usually one in each of the four quadrants. Often you will need to combine information from different exhibits to synthesize an answer.</a:t>
            </a:r>
            <a:endParaRPr lang="en-US" sz="1100" dirty="0"/>
          </a:p>
          <a:p>
            <a:pPr marL="171450" indent="-171450">
              <a:buFont typeface="Wingdings" pitchFamily="2" charset="2"/>
              <a:buChar char="§"/>
            </a:pPr>
            <a:r>
              <a:rPr lang="en-US" sz="1100" u="sng" dirty="0" smtClean="0"/>
              <a:t>The Group Case</a:t>
            </a:r>
            <a:r>
              <a:rPr lang="en-US" sz="1100" dirty="0" smtClean="0"/>
              <a:t>- You interview with 4-5 candidates. Each of you is assigned a role (usually different than your prior work experience) and presented with overall and role specific questions. Collaborate with your peers to successfully crack the case. </a:t>
            </a:r>
          </a:p>
        </p:txBody>
      </p:sp>
      <p:sp>
        <p:nvSpPr>
          <p:cNvPr id="29" name="Rectangle 28"/>
          <p:cNvSpPr/>
          <p:nvPr/>
        </p:nvSpPr>
        <p:spPr>
          <a:xfrm>
            <a:off x="2286000" y="5464280"/>
            <a:ext cx="6400800" cy="1277273"/>
          </a:xfrm>
          <a:prstGeom prst="rect">
            <a:avLst/>
          </a:prstGeom>
        </p:spPr>
        <p:txBody>
          <a:bodyPr wrap="square">
            <a:spAutoFit/>
          </a:bodyPr>
          <a:lstStyle/>
          <a:p>
            <a:pPr marL="171450" indent="-171450">
              <a:buFont typeface="Wingdings" pitchFamily="2" charset="2"/>
              <a:buChar char="§"/>
            </a:pPr>
            <a:r>
              <a:rPr lang="en-US" sz="1100" dirty="0" smtClean="0"/>
              <a:t>Business Analyst</a:t>
            </a:r>
          </a:p>
          <a:p>
            <a:pPr marL="171450" indent="-171450">
              <a:buFont typeface="Wingdings" pitchFamily="2" charset="2"/>
              <a:buChar char="§"/>
            </a:pPr>
            <a:r>
              <a:rPr lang="en-US" sz="1100" dirty="0" smtClean="0"/>
              <a:t>Consultant</a:t>
            </a:r>
          </a:p>
          <a:p>
            <a:pPr marL="171450" indent="-171450">
              <a:buFont typeface="Wingdings" pitchFamily="2" charset="2"/>
              <a:buChar char="§"/>
            </a:pPr>
            <a:r>
              <a:rPr lang="en-US" sz="1100" dirty="0" smtClean="0"/>
              <a:t>(Business School); </a:t>
            </a:r>
            <a:r>
              <a:rPr lang="en-US" sz="1100" i="1" dirty="0"/>
              <a:t>Summer Associate</a:t>
            </a:r>
            <a:endParaRPr lang="en-US" sz="1100" i="1" dirty="0" smtClean="0"/>
          </a:p>
          <a:p>
            <a:pPr marL="171450" indent="-171450">
              <a:buFont typeface="Wingdings" pitchFamily="2" charset="2"/>
              <a:buChar char="§"/>
            </a:pPr>
            <a:r>
              <a:rPr lang="en-US" sz="1100" i="1" dirty="0" smtClean="0"/>
              <a:t>Senior Consultant</a:t>
            </a:r>
          </a:p>
          <a:p>
            <a:pPr marL="171450" indent="-171450">
              <a:buFont typeface="Wingdings" pitchFamily="2" charset="2"/>
              <a:buChar char="§"/>
            </a:pPr>
            <a:r>
              <a:rPr lang="en-US" sz="1100" dirty="0" smtClean="0"/>
              <a:t>Manager</a:t>
            </a:r>
          </a:p>
          <a:p>
            <a:pPr marL="171450" indent="-171450">
              <a:buFont typeface="Wingdings" pitchFamily="2" charset="2"/>
              <a:buChar char="§"/>
            </a:pPr>
            <a:r>
              <a:rPr lang="en-US" sz="1100" dirty="0" smtClean="0"/>
              <a:t>Senior Manager</a:t>
            </a:r>
          </a:p>
          <a:p>
            <a:pPr marL="171450" indent="-171450">
              <a:buFont typeface="Wingdings" pitchFamily="2" charset="2"/>
              <a:buChar char="§"/>
            </a:pPr>
            <a:r>
              <a:rPr lang="en-US" sz="1100" dirty="0" smtClean="0"/>
              <a:t>Partner/Principal/Director</a:t>
            </a:r>
          </a:p>
        </p:txBody>
      </p:sp>
      <p:cxnSp>
        <p:nvCxnSpPr>
          <p:cNvPr id="32" name="Straight Connector 31"/>
          <p:cNvCxnSpPr/>
          <p:nvPr/>
        </p:nvCxnSpPr>
        <p:spPr>
          <a:xfrm>
            <a:off x="152400" y="1270000"/>
            <a:ext cx="8607552" cy="86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286000" y="2786015"/>
            <a:ext cx="6477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286000" y="3689283"/>
            <a:ext cx="647395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286000" y="5391150"/>
            <a:ext cx="6473952"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82562" y="970899"/>
            <a:ext cx="8351837" cy="307777"/>
          </a:xfrm>
          <a:prstGeom prst="rect">
            <a:avLst/>
          </a:prstGeom>
        </p:spPr>
        <p:txBody>
          <a:bodyPr wrap="square">
            <a:spAutoFit/>
          </a:bodyPr>
          <a:lstStyle/>
          <a:p>
            <a:r>
              <a:rPr lang="en-US" sz="1400" i="1" dirty="0" smtClean="0">
                <a:solidFill>
                  <a:schemeClr val="bg2"/>
                </a:solidFill>
              </a:rPr>
              <a:t>Deloitte is a leading strategy firm bringing executable strategies to the Fortune 500</a:t>
            </a:r>
            <a:endParaRPr lang="en-US" sz="1400" i="1" dirty="0">
              <a:solidFill>
                <a:schemeClr val="bg2"/>
              </a:solidFill>
            </a:endParaRPr>
          </a:p>
        </p:txBody>
      </p:sp>
      <p:sp>
        <p:nvSpPr>
          <p:cNvPr id="26" name="Rectangle 25"/>
          <p:cNvSpPr/>
          <p:nvPr/>
        </p:nvSpPr>
        <p:spPr>
          <a:xfrm>
            <a:off x="2286000" y="1356870"/>
            <a:ext cx="6477000" cy="1344168"/>
          </a:xfrm>
          <a:prstGeom prst="rect">
            <a:avLst/>
          </a:prstGeom>
          <a:ln>
            <a:noFill/>
          </a:ln>
        </p:spPr>
        <p:txBody>
          <a:bodyPr wrap="square">
            <a:spAutoFit/>
          </a:bodyPr>
          <a:lstStyle/>
          <a:p>
            <a:pPr indent="-206375">
              <a:lnSpc>
                <a:spcPct val="106000"/>
              </a:lnSpc>
              <a:spcBef>
                <a:spcPts val="600"/>
              </a:spcBef>
              <a:buClr>
                <a:srgbClr val="000000"/>
              </a:buClr>
              <a:buSzPct val="100000"/>
            </a:pPr>
            <a:r>
              <a:rPr lang="en-US" sz="1100" dirty="0" smtClean="0">
                <a:solidFill>
                  <a:srgbClr val="000000"/>
                </a:solidFill>
                <a:latin typeface="+mj-lt"/>
                <a:ea typeface="+mn-ea"/>
                <a:cs typeface="Calibri" pitchFamily="34" charset="0"/>
              </a:rPr>
              <a:t>Deloitte has three service areas (below). Student must align with a service area before applying.</a:t>
            </a:r>
          </a:p>
          <a:p>
            <a:pPr marL="171450" lvl="1" indent="-171450">
              <a:lnSpc>
                <a:spcPct val="106000"/>
              </a:lnSpc>
              <a:buClr>
                <a:srgbClr val="000000"/>
              </a:buClr>
              <a:buSzPct val="100000"/>
              <a:buFont typeface="Wingdings" pitchFamily="2" charset="2"/>
              <a:buChar char="§"/>
            </a:pPr>
            <a:r>
              <a:rPr lang="en-US" sz="1100" b="1" dirty="0"/>
              <a:t>Human Capital </a:t>
            </a:r>
            <a:r>
              <a:rPr lang="en-US" sz="1100" dirty="0"/>
              <a:t>professionals </a:t>
            </a:r>
            <a:r>
              <a:rPr lang="en-US" sz="1100" dirty="0" smtClean="0"/>
              <a:t>bring industry </a:t>
            </a:r>
            <a:r>
              <a:rPr lang="en-US" sz="1100" dirty="0"/>
              <a:t>expertise in integrating business, HR and talent strategies to create business value through </a:t>
            </a:r>
            <a:r>
              <a:rPr lang="en-US" sz="1100" dirty="0" smtClean="0"/>
              <a:t>people</a:t>
            </a:r>
            <a:endParaRPr lang="en-US" sz="1100" dirty="0"/>
          </a:p>
          <a:p>
            <a:pPr marL="171450" lvl="1" indent="-171450">
              <a:lnSpc>
                <a:spcPct val="106000"/>
              </a:lnSpc>
              <a:buClr>
                <a:srgbClr val="000000"/>
              </a:buClr>
              <a:buSzPct val="100000"/>
              <a:buFont typeface="Wingdings" pitchFamily="2" charset="2"/>
              <a:buChar char="§"/>
            </a:pPr>
            <a:r>
              <a:rPr lang="en-US" sz="1100" b="1" dirty="0"/>
              <a:t>Strategy and Operations </a:t>
            </a:r>
            <a:r>
              <a:rPr lang="en-US" sz="1100" dirty="0"/>
              <a:t>professionals bring deep industry experience with capabilities spanning corporate and business unit strategy, M&amp;A strategy, and sales and marketing</a:t>
            </a:r>
          </a:p>
          <a:p>
            <a:pPr marL="171450" lvl="1" indent="-171450">
              <a:lnSpc>
                <a:spcPct val="106000"/>
              </a:lnSpc>
              <a:buClr>
                <a:srgbClr val="000000"/>
              </a:buClr>
              <a:buSzPct val="100000"/>
              <a:buFont typeface="Wingdings" pitchFamily="2" charset="2"/>
              <a:buChar char="§"/>
            </a:pPr>
            <a:r>
              <a:rPr lang="en-US" sz="1100" b="1" dirty="0"/>
              <a:t>Technology</a:t>
            </a:r>
            <a:r>
              <a:rPr lang="en-US" sz="1100" dirty="0"/>
              <a:t> professionals </a:t>
            </a:r>
            <a:r>
              <a:rPr lang="en-US" sz="1100" dirty="0" smtClean="0"/>
              <a:t>focus on internal </a:t>
            </a:r>
            <a:r>
              <a:rPr lang="en-US" sz="1100" dirty="0"/>
              <a:t>technology solutions, challenges, and innovation </a:t>
            </a:r>
            <a:r>
              <a:rPr lang="en-US" sz="1100" dirty="0" smtClean="0"/>
              <a:t>–and </a:t>
            </a:r>
            <a:r>
              <a:rPr lang="en-US" sz="1100" dirty="0"/>
              <a:t>full-spectrum delivery across </a:t>
            </a:r>
            <a:r>
              <a:rPr lang="en-US" sz="1100" dirty="0">
                <a:solidFill>
                  <a:srgbClr val="000000"/>
                </a:solidFill>
                <a:latin typeface="+mj-lt"/>
                <a:ea typeface="+mn-ea"/>
                <a:cs typeface="Calibri" pitchFamily="34" charset="0"/>
              </a:rPr>
              <a:t>strategy, implementation, management and </a:t>
            </a:r>
            <a:r>
              <a:rPr lang="en-US" sz="1100" dirty="0" smtClean="0">
                <a:solidFill>
                  <a:srgbClr val="000000"/>
                </a:solidFill>
                <a:latin typeface="+mj-lt"/>
                <a:ea typeface="+mn-ea"/>
                <a:cs typeface="Calibri" pitchFamily="34" charset="0"/>
              </a:rPr>
              <a:t>operations</a:t>
            </a:r>
            <a:endParaRPr lang="en-US" sz="1100" dirty="0">
              <a:latin typeface="+mj-lt"/>
            </a:endParaRPr>
          </a:p>
        </p:txBody>
      </p:sp>
      <p:sp>
        <p:nvSpPr>
          <p:cNvPr id="27" name="Rectangle 26"/>
          <p:cNvSpPr/>
          <p:nvPr/>
        </p:nvSpPr>
        <p:spPr>
          <a:xfrm>
            <a:off x="5199063" y="2900895"/>
            <a:ext cx="3352800" cy="779572"/>
          </a:xfrm>
          <a:prstGeom prst="rect">
            <a:avLst/>
          </a:prstGeom>
        </p:spPr>
        <p:txBody>
          <a:bodyPr wrap="square">
            <a:spAutoFit/>
          </a:bodyPr>
          <a:lstStyle/>
          <a:p>
            <a:pPr marL="0" lvl="1">
              <a:lnSpc>
                <a:spcPct val="106000"/>
              </a:lnSpc>
              <a:buClr>
                <a:srgbClr val="000000"/>
              </a:buClr>
              <a:buSzPct val="100000"/>
            </a:pPr>
            <a:r>
              <a:rPr lang="en-US" sz="1100" dirty="0" smtClean="0"/>
              <a:t>Round 2</a:t>
            </a:r>
            <a:endParaRPr lang="en-US" sz="1100" dirty="0"/>
          </a:p>
          <a:p>
            <a:pPr marL="342900" lvl="1" indent="-171450">
              <a:buFont typeface="Wingdings" pitchFamily="2" charset="2"/>
              <a:buChar char="§"/>
            </a:pPr>
            <a:r>
              <a:rPr lang="en-US" sz="1100" dirty="0" smtClean="0"/>
              <a:t>Strategy Case</a:t>
            </a:r>
            <a:r>
              <a:rPr lang="en-US" sz="1100" dirty="0"/>
              <a:t>– </a:t>
            </a:r>
            <a:r>
              <a:rPr lang="en-US" sz="1100" dirty="0" smtClean="0"/>
              <a:t>60 min</a:t>
            </a:r>
            <a:endParaRPr lang="en-US" sz="1100" dirty="0"/>
          </a:p>
          <a:p>
            <a:pPr marL="342900" lvl="1" indent="-171450">
              <a:buFont typeface="Wingdings" pitchFamily="2" charset="2"/>
              <a:buChar char="§"/>
            </a:pPr>
            <a:r>
              <a:rPr lang="en-US" sz="1100" dirty="0"/>
              <a:t>Behavioral– 30 </a:t>
            </a:r>
            <a:r>
              <a:rPr lang="en-US" sz="1100" dirty="0" smtClean="0"/>
              <a:t>min</a:t>
            </a:r>
          </a:p>
          <a:p>
            <a:pPr marL="342900" lvl="1" indent="-171450">
              <a:buFont typeface="Wingdings" pitchFamily="2" charset="2"/>
              <a:buChar char="§"/>
            </a:pPr>
            <a:r>
              <a:rPr lang="en-US" sz="1100" dirty="0" smtClean="0"/>
              <a:t>Group Case– 90 min</a:t>
            </a:r>
            <a:endParaRPr lang="en-US" sz="1100"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9</a:t>
            </a:fld>
            <a:endParaRPr lang="en-US" dirty="0"/>
          </a:p>
        </p:txBody>
      </p:sp>
    </p:spTree>
    <p:extLst>
      <p:ext uri="{BB962C8B-B14F-4D97-AF65-F5344CB8AC3E}">
        <p14:creationId xmlns:p14="http://schemas.microsoft.com/office/powerpoint/2010/main" val="449380862"/>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McKinsey &amp; Company</a:t>
            </a:r>
            <a:endParaRPr lang="en-US" sz="2400" b="1" dirty="0"/>
          </a:p>
        </p:txBody>
      </p:sp>
      <p:sp>
        <p:nvSpPr>
          <p:cNvPr id="16388" name="Notes"/>
          <p:cNvSpPr txBox="1">
            <a:spLocks noChangeArrowheads="1"/>
          </p:cNvSpPr>
          <p:nvPr/>
        </p:nvSpPr>
        <p:spPr bwMode="auto">
          <a:xfrm>
            <a:off x="525463" y="8041958"/>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5" name="KMATable0TextBox1"/>
          <p:cNvSpPr>
            <a:spLocks noChangeArrowheads="1"/>
          </p:cNvSpPr>
          <p:nvPr/>
        </p:nvSpPr>
        <p:spPr bwMode="auto">
          <a:xfrm>
            <a:off x="182563" y="1356869"/>
            <a:ext cx="2036762" cy="1344168"/>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Overview</a:t>
            </a:r>
            <a:endParaRPr lang="en-US" sz="1100" b="1" dirty="0">
              <a:solidFill>
                <a:schemeClr val="bg1"/>
              </a:solidFill>
            </a:endParaRPr>
          </a:p>
        </p:txBody>
      </p:sp>
      <p:sp>
        <p:nvSpPr>
          <p:cNvPr id="17" name="KMATable0TextBox1"/>
          <p:cNvSpPr>
            <a:spLocks noChangeArrowheads="1"/>
          </p:cNvSpPr>
          <p:nvPr/>
        </p:nvSpPr>
        <p:spPr bwMode="auto">
          <a:xfrm>
            <a:off x="182563" y="2900895"/>
            <a:ext cx="2036762" cy="717119"/>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Interview Overview</a:t>
            </a:r>
            <a:endParaRPr lang="en-US" sz="1100" b="1" dirty="0">
              <a:solidFill>
                <a:schemeClr val="bg1"/>
              </a:solidFill>
            </a:endParaRPr>
          </a:p>
        </p:txBody>
      </p:sp>
      <p:sp>
        <p:nvSpPr>
          <p:cNvPr id="18" name="KMATable0TextBox1"/>
          <p:cNvSpPr>
            <a:spLocks noChangeArrowheads="1"/>
          </p:cNvSpPr>
          <p:nvPr/>
        </p:nvSpPr>
        <p:spPr bwMode="auto">
          <a:xfrm>
            <a:off x="182563" y="3817872"/>
            <a:ext cx="2036762" cy="1446550"/>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Unique Interview Features</a:t>
            </a:r>
            <a:endParaRPr lang="en-US" sz="1100" b="1" dirty="0">
              <a:solidFill>
                <a:schemeClr val="bg1"/>
              </a:solidFill>
            </a:endParaRPr>
          </a:p>
        </p:txBody>
      </p:sp>
      <p:sp>
        <p:nvSpPr>
          <p:cNvPr id="19" name="KMATable0TextBox1"/>
          <p:cNvSpPr>
            <a:spLocks noChangeArrowheads="1"/>
          </p:cNvSpPr>
          <p:nvPr/>
        </p:nvSpPr>
        <p:spPr bwMode="auto">
          <a:xfrm>
            <a:off x="182563" y="5388080"/>
            <a:ext cx="2036762" cy="1371600"/>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Career Progression</a:t>
            </a:r>
            <a:endParaRPr lang="en-US" sz="1100" b="1" dirty="0">
              <a:solidFill>
                <a:schemeClr val="bg1"/>
              </a:solidFill>
            </a:endParaRPr>
          </a:p>
        </p:txBody>
      </p:sp>
      <p:sp>
        <p:nvSpPr>
          <p:cNvPr id="23" name="Rectangle 22"/>
          <p:cNvSpPr/>
          <p:nvPr/>
        </p:nvSpPr>
        <p:spPr>
          <a:xfrm>
            <a:off x="2286000" y="2900895"/>
            <a:ext cx="2533650" cy="779572"/>
          </a:xfrm>
          <a:prstGeom prst="rect">
            <a:avLst/>
          </a:prstGeom>
        </p:spPr>
        <p:txBody>
          <a:bodyPr wrap="square">
            <a:spAutoFit/>
          </a:bodyPr>
          <a:lstStyle/>
          <a:p>
            <a:pPr marL="0" lvl="1">
              <a:lnSpc>
                <a:spcPct val="106000"/>
              </a:lnSpc>
              <a:buClr>
                <a:srgbClr val="000000"/>
              </a:buClr>
              <a:buSzPct val="100000"/>
            </a:pPr>
            <a:r>
              <a:rPr lang="en-US" sz="1100" dirty="0"/>
              <a:t>Round </a:t>
            </a:r>
            <a:r>
              <a:rPr lang="en-US" sz="1100" dirty="0" smtClean="0"/>
              <a:t>1 (at or near Fuqua)</a:t>
            </a:r>
            <a:endParaRPr lang="en-US" sz="1100" dirty="0"/>
          </a:p>
          <a:p>
            <a:pPr marL="342900" lvl="1" indent="-171450">
              <a:buFont typeface="Wingdings" pitchFamily="2" charset="2"/>
              <a:buChar char="§"/>
            </a:pPr>
            <a:r>
              <a:rPr lang="en-US" sz="1100" dirty="0" smtClean="0"/>
              <a:t>2 Interviews</a:t>
            </a:r>
          </a:p>
          <a:p>
            <a:pPr marL="342900" lvl="1" indent="-171450">
              <a:buFont typeface="Wingdings" pitchFamily="2" charset="2"/>
              <a:buChar char="§"/>
            </a:pPr>
            <a:r>
              <a:rPr lang="en-US" sz="1100" dirty="0"/>
              <a:t>2</a:t>
            </a:r>
            <a:r>
              <a:rPr lang="en-US" sz="1100" dirty="0" smtClean="0"/>
              <a:t>0 min experience</a:t>
            </a:r>
            <a:endParaRPr lang="en-US" sz="1100" dirty="0"/>
          </a:p>
          <a:p>
            <a:pPr marL="342900" lvl="1" indent="-171450">
              <a:buFont typeface="Wingdings" pitchFamily="2" charset="2"/>
              <a:buChar char="§"/>
            </a:pPr>
            <a:r>
              <a:rPr lang="en-US" sz="1100" dirty="0" smtClean="0"/>
              <a:t>30 min case</a:t>
            </a:r>
            <a:endParaRPr lang="en-US" sz="1100" dirty="0"/>
          </a:p>
        </p:txBody>
      </p:sp>
      <p:sp>
        <p:nvSpPr>
          <p:cNvPr id="24" name="Rectangle 23"/>
          <p:cNvSpPr/>
          <p:nvPr/>
        </p:nvSpPr>
        <p:spPr>
          <a:xfrm>
            <a:off x="2286000" y="3817872"/>
            <a:ext cx="6477000" cy="1446550"/>
          </a:xfrm>
          <a:prstGeom prst="rect">
            <a:avLst/>
          </a:prstGeom>
        </p:spPr>
        <p:txBody>
          <a:bodyPr wrap="square">
            <a:spAutoFit/>
          </a:bodyPr>
          <a:lstStyle/>
          <a:p>
            <a:pPr marL="171450" indent="-171450">
              <a:buFont typeface="Wingdings" pitchFamily="2" charset="2"/>
              <a:buChar char="§"/>
            </a:pPr>
            <a:r>
              <a:rPr lang="en-US" sz="1100" u="sng" dirty="0" smtClean="0"/>
              <a:t>The Personal Experience Interview</a:t>
            </a:r>
            <a:r>
              <a:rPr lang="en-US" sz="1100" dirty="0" smtClean="0"/>
              <a:t>- Unlike other firm’s behavioral interviews, McKinsey asks candidates one question to asses behavioral/fit. Questions are rooted in at least one of four key areas: problem solving, achieving, personal impact, and leadership. Details matter. The interviewer may ask several follow up questions to understand your thought process in that situation. It’s not uncommon to spend 20 minutes on one experience.  </a:t>
            </a:r>
          </a:p>
          <a:p>
            <a:pPr marL="171450" indent="-171450">
              <a:buFont typeface="Wingdings" pitchFamily="2" charset="2"/>
              <a:buChar char="§"/>
            </a:pPr>
            <a:r>
              <a:rPr lang="en-US" sz="1100" u="sng" dirty="0" smtClean="0"/>
              <a:t>Highly Structured</a:t>
            </a:r>
            <a:r>
              <a:rPr lang="en-US" sz="1100" u="sng" dirty="0"/>
              <a:t> </a:t>
            </a:r>
            <a:r>
              <a:rPr lang="en-US" sz="1100" u="sng" dirty="0" smtClean="0"/>
              <a:t>Cases</a:t>
            </a:r>
            <a:r>
              <a:rPr lang="en-US" sz="1100" dirty="0" smtClean="0"/>
              <a:t>- Cases often have discrete framework, brainstorming, and quantitative “sections” that focus on a question specific to that section. Although candidates must drive the analysis, the interviewer may redirect towards the next section. </a:t>
            </a:r>
            <a:endParaRPr lang="en-US" sz="1100" u="sng" dirty="0" smtClean="0"/>
          </a:p>
        </p:txBody>
      </p:sp>
      <p:sp>
        <p:nvSpPr>
          <p:cNvPr id="29" name="Rectangle 28"/>
          <p:cNvSpPr/>
          <p:nvPr/>
        </p:nvSpPr>
        <p:spPr>
          <a:xfrm>
            <a:off x="2286000" y="5388080"/>
            <a:ext cx="6400800" cy="1277273"/>
          </a:xfrm>
          <a:prstGeom prst="rect">
            <a:avLst/>
          </a:prstGeom>
        </p:spPr>
        <p:txBody>
          <a:bodyPr wrap="square">
            <a:spAutoFit/>
          </a:bodyPr>
          <a:lstStyle/>
          <a:p>
            <a:pPr marL="171450" indent="-171450">
              <a:buFont typeface="Wingdings" pitchFamily="2" charset="2"/>
              <a:buChar char="§"/>
            </a:pPr>
            <a:r>
              <a:rPr lang="en-US" sz="1100" dirty="0" smtClean="0"/>
              <a:t>Business Analyst</a:t>
            </a:r>
          </a:p>
          <a:p>
            <a:pPr marL="171450" indent="-171450">
              <a:buFont typeface="Wingdings" pitchFamily="2" charset="2"/>
              <a:buChar char="§"/>
            </a:pPr>
            <a:r>
              <a:rPr lang="en-US" sz="1100" dirty="0" smtClean="0"/>
              <a:t>(Business School); </a:t>
            </a:r>
            <a:r>
              <a:rPr lang="en-US" sz="1100" i="1" dirty="0" smtClean="0"/>
              <a:t>Summer Associate</a:t>
            </a:r>
          </a:p>
          <a:p>
            <a:pPr marL="171450" indent="-171450">
              <a:buFont typeface="Wingdings" pitchFamily="2" charset="2"/>
              <a:buChar char="§"/>
            </a:pPr>
            <a:r>
              <a:rPr lang="en-US" sz="1100" i="1" dirty="0" smtClean="0"/>
              <a:t>Associate</a:t>
            </a:r>
          </a:p>
          <a:p>
            <a:pPr marL="171450" indent="-171450">
              <a:buFont typeface="Wingdings" pitchFamily="2" charset="2"/>
              <a:buChar char="§"/>
            </a:pPr>
            <a:r>
              <a:rPr lang="en-US" sz="1100" dirty="0" smtClean="0"/>
              <a:t>Engagement Manager</a:t>
            </a:r>
          </a:p>
          <a:p>
            <a:pPr marL="171450" indent="-171450">
              <a:buFont typeface="Wingdings" pitchFamily="2" charset="2"/>
              <a:buChar char="§"/>
            </a:pPr>
            <a:r>
              <a:rPr lang="en-US" sz="1100" dirty="0" smtClean="0"/>
              <a:t>Associate Principal</a:t>
            </a:r>
          </a:p>
          <a:p>
            <a:pPr marL="171450" indent="-171450">
              <a:buFont typeface="Wingdings" pitchFamily="2" charset="2"/>
              <a:buChar char="§"/>
            </a:pPr>
            <a:r>
              <a:rPr lang="en-US" sz="1100" dirty="0" smtClean="0"/>
              <a:t>Partner</a:t>
            </a:r>
          </a:p>
          <a:p>
            <a:pPr marL="171450" indent="-171450">
              <a:buFont typeface="Wingdings" pitchFamily="2" charset="2"/>
              <a:buChar char="§"/>
            </a:pPr>
            <a:r>
              <a:rPr lang="en-US" sz="1100" dirty="0" smtClean="0"/>
              <a:t>Director</a:t>
            </a:r>
          </a:p>
        </p:txBody>
      </p:sp>
      <p:cxnSp>
        <p:nvCxnSpPr>
          <p:cNvPr id="32" name="Straight Connector 31"/>
          <p:cNvCxnSpPr/>
          <p:nvPr/>
        </p:nvCxnSpPr>
        <p:spPr>
          <a:xfrm>
            <a:off x="152400" y="1270000"/>
            <a:ext cx="8607552" cy="86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286000" y="2786015"/>
            <a:ext cx="6477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286000" y="3689283"/>
            <a:ext cx="647395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286000" y="5314950"/>
            <a:ext cx="6473952"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52400" y="776151"/>
            <a:ext cx="8610600" cy="523220"/>
          </a:xfrm>
          <a:prstGeom prst="rect">
            <a:avLst/>
          </a:prstGeom>
        </p:spPr>
        <p:txBody>
          <a:bodyPr wrap="square">
            <a:spAutoFit/>
          </a:bodyPr>
          <a:lstStyle/>
          <a:p>
            <a:r>
              <a:rPr lang="en-US" sz="1400" i="1" dirty="0">
                <a:solidFill>
                  <a:schemeClr val="bg2"/>
                </a:solidFill>
              </a:rPr>
              <a:t>McKinsey &amp; Company is a global management consulting firm. We </a:t>
            </a:r>
            <a:r>
              <a:rPr lang="en-US" sz="1400" i="1" dirty="0" smtClean="0">
                <a:solidFill>
                  <a:schemeClr val="bg2"/>
                </a:solidFill>
              </a:rPr>
              <a:t>are </a:t>
            </a:r>
            <a:r>
              <a:rPr lang="en-US" sz="1400" i="1" dirty="0">
                <a:solidFill>
                  <a:schemeClr val="bg2"/>
                </a:solidFill>
              </a:rPr>
              <a:t>the trusted advisor to the world's leading businesses, governments, </a:t>
            </a:r>
            <a:r>
              <a:rPr lang="en-US" sz="1400" i="1" dirty="0" smtClean="0">
                <a:solidFill>
                  <a:schemeClr val="bg2"/>
                </a:solidFill>
              </a:rPr>
              <a:t>and </a:t>
            </a:r>
            <a:r>
              <a:rPr lang="en-US" sz="1400" i="1" dirty="0">
                <a:solidFill>
                  <a:schemeClr val="bg2"/>
                </a:solidFill>
              </a:rPr>
              <a:t>institutions.</a:t>
            </a:r>
          </a:p>
        </p:txBody>
      </p:sp>
      <p:sp>
        <p:nvSpPr>
          <p:cNvPr id="26" name="Rectangle 25"/>
          <p:cNvSpPr/>
          <p:nvPr/>
        </p:nvSpPr>
        <p:spPr>
          <a:xfrm>
            <a:off x="2286000" y="1356870"/>
            <a:ext cx="6477000" cy="1245726"/>
          </a:xfrm>
          <a:prstGeom prst="rect">
            <a:avLst/>
          </a:prstGeom>
          <a:ln>
            <a:noFill/>
          </a:ln>
        </p:spPr>
        <p:txBody>
          <a:bodyPr wrap="square">
            <a:spAutoFit/>
          </a:bodyPr>
          <a:lstStyle/>
          <a:p>
            <a:pPr indent="-206375">
              <a:lnSpc>
                <a:spcPct val="106000"/>
              </a:lnSpc>
              <a:spcBef>
                <a:spcPts val="600"/>
              </a:spcBef>
              <a:buClr>
                <a:srgbClr val="000000"/>
              </a:buClr>
              <a:buSzPct val="100000"/>
            </a:pPr>
            <a:r>
              <a:rPr lang="en-US" sz="1100" dirty="0" smtClean="0">
                <a:solidFill>
                  <a:srgbClr val="000000"/>
                </a:solidFill>
                <a:latin typeface="+mj-lt"/>
                <a:ea typeface="+mn-ea"/>
                <a:cs typeface="Calibri" pitchFamily="34" charset="0"/>
              </a:rPr>
              <a:t>McKinsey recruits students into generalist and business technology tracks. Students can express an interest in business technology (BTO) during the application process</a:t>
            </a:r>
          </a:p>
          <a:p>
            <a:pPr indent="-206375">
              <a:lnSpc>
                <a:spcPct val="106000"/>
              </a:lnSpc>
              <a:spcBef>
                <a:spcPts val="600"/>
              </a:spcBef>
              <a:buClr>
                <a:srgbClr val="000000"/>
              </a:buClr>
              <a:buSzPct val="100000"/>
            </a:pPr>
            <a:r>
              <a:rPr lang="en-US" sz="1100" dirty="0" smtClean="0">
                <a:solidFill>
                  <a:srgbClr val="000000"/>
                </a:solidFill>
                <a:latin typeface="+mj-lt"/>
                <a:ea typeface="+mn-ea"/>
                <a:cs typeface="Calibri" pitchFamily="34" charset="0"/>
              </a:rPr>
              <a:t>Summer Associates are assigned to any of a wide range of industries, touching any point in the value chain. Project (“study”) staffing is collaborative between SAs and Professional Development staff. Structured, formal feedback is provided by a senior firm member twice during the summer. Informal feedback is common, and is highly emphasized in the firm’s culture. M-</a:t>
            </a:r>
            <a:r>
              <a:rPr lang="en-US" sz="1100" dirty="0" err="1" smtClean="0">
                <a:solidFill>
                  <a:srgbClr val="000000"/>
                </a:solidFill>
                <a:latin typeface="+mj-lt"/>
                <a:ea typeface="+mn-ea"/>
                <a:cs typeface="Calibri" pitchFamily="34" charset="0"/>
              </a:rPr>
              <a:t>Th</a:t>
            </a:r>
            <a:r>
              <a:rPr lang="en-US" sz="1100" dirty="0" smtClean="0">
                <a:solidFill>
                  <a:srgbClr val="000000"/>
                </a:solidFill>
                <a:latin typeface="+mj-lt"/>
                <a:ea typeface="+mn-ea"/>
                <a:cs typeface="Calibri" pitchFamily="34" charset="0"/>
              </a:rPr>
              <a:t> travel is typical.</a:t>
            </a:r>
          </a:p>
        </p:txBody>
      </p:sp>
      <p:sp>
        <p:nvSpPr>
          <p:cNvPr id="27" name="Rectangle 26"/>
          <p:cNvSpPr/>
          <p:nvPr/>
        </p:nvSpPr>
        <p:spPr>
          <a:xfrm>
            <a:off x="5199063" y="2900895"/>
            <a:ext cx="3352800" cy="948849"/>
          </a:xfrm>
          <a:prstGeom prst="rect">
            <a:avLst/>
          </a:prstGeom>
        </p:spPr>
        <p:txBody>
          <a:bodyPr wrap="square">
            <a:spAutoFit/>
          </a:bodyPr>
          <a:lstStyle/>
          <a:p>
            <a:pPr marL="0" lvl="1">
              <a:lnSpc>
                <a:spcPct val="106000"/>
              </a:lnSpc>
              <a:buClr>
                <a:srgbClr val="000000"/>
              </a:buClr>
              <a:buSzPct val="100000"/>
            </a:pPr>
            <a:r>
              <a:rPr lang="en-US" sz="1100" dirty="0" smtClean="0"/>
              <a:t>Round 2 (at office)</a:t>
            </a:r>
            <a:endParaRPr lang="en-US" sz="1100" dirty="0"/>
          </a:p>
          <a:p>
            <a:pPr marL="342900" lvl="1" indent="-171450">
              <a:buFont typeface="Wingdings" pitchFamily="2" charset="2"/>
              <a:buChar char="§"/>
            </a:pPr>
            <a:r>
              <a:rPr lang="en-US" sz="1100" dirty="0" smtClean="0"/>
              <a:t>3-4 Interviews depending on office</a:t>
            </a:r>
          </a:p>
          <a:p>
            <a:pPr marL="342900" lvl="1" indent="-171450">
              <a:buFont typeface="Wingdings" pitchFamily="2" charset="2"/>
              <a:buChar char="§"/>
            </a:pPr>
            <a:r>
              <a:rPr lang="en-US" sz="1100" dirty="0" smtClean="0"/>
              <a:t>20 </a:t>
            </a:r>
            <a:r>
              <a:rPr lang="en-US" sz="1100" dirty="0"/>
              <a:t>min experience</a:t>
            </a:r>
          </a:p>
          <a:p>
            <a:pPr marL="342900" lvl="1" indent="-171450">
              <a:buFont typeface="Wingdings" pitchFamily="2" charset="2"/>
              <a:buChar char="§"/>
            </a:pPr>
            <a:r>
              <a:rPr lang="en-US" sz="1100" dirty="0" smtClean="0"/>
              <a:t>30 </a:t>
            </a:r>
            <a:r>
              <a:rPr lang="en-US" sz="1100" dirty="0"/>
              <a:t>min case</a:t>
            </a:r>
          </a:p>
          <a:p>
            <a:pPr marL="171450" lvl="1"/>
            <a:endParaRPr lang="en-US" sz="1100"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10</a:t>
            </a:fld>
            <a:endParaRPr lang="en-US" dirty="0"/>
          </a:p>
        </p:txBody>
      </p:sp>
    </p:spTree>
    <p:extLst>
      <p:ext uri="{BB962C8B-B14F-4D97-AF65-F5344CB8AC3E}">
        <p14:creationId xmlns:p14="http://schemas.microsoft.com/office/powerpoint/2010/main" val="3463383955"/>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L.E.K. Consulting</a:t>
            </a:r>
            <a:endParaRPr lang="en-US" sz="2400" b="1" dirty="0"/>
          </a:p>
        </p:txBody>
      </p:sp>
      <p:sp>
        <p:nvSpPr>
          <p:cNvPr id="16388" name="Notes"/>
          <p:cNvSpPr txBox="1">
            <a:spLocks noChangeArrowheads="1"/>
          </p:cNvSpPr>
          <p:nvPr/>
        </p:nvSpPr>
        <p:spPr bwMode="auto">
          <a:xfrm>
            <a:off x="525463" y="8041958"/>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5" name="KMATable0TextBox1"/>
          <p:cNvSpPr>
            <a:spLocks noChangeArrowheads="1"/>
          </p:cNvSpPr>
          <p:nvPr/>
        </p:nvSpPr>
        <p:spPr bwMode="auto">
          <a:xfrm>
            <a:off x="182563" y="1356869"/>
            <a:ext cx="2036762" cy="938656"/>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Overview</a:t>
            </a:r>
            <a:endParaRPr lang="en-US" sz="1100" b="1" dirty="0">
              <a:solidFill>
                <a:schemeClr val="bg1"/>
              </a:solidFill>
            </a:endParaRPr>
          </a:p>
        </p:txBody>
      </p:sp>
      <p:sp>
        <p:nvSpPr>
          <p:cNvPr id="17" name="KMATable0TextBox1"/>
          <p:cNvSpPr>
            <a:spLocks noChangeArrowheads="1"/>
          </p:cNvSpPr>
          <p:nvPr/>
        </p:nvSpPr>
        <p:spPr bwMode="auto">
          <a:xfrm>
            <a:off x="182563" y="2466975"/>
            <a:ext cx="2036762" cy="944619"/>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Interview Overview</a:t>
            </a:r>
            <a:endParaRPr lang="en-US" sz="1100" b="1" dirty="0">
              <a:solidFill>
                <a:schemeClr val="bg1"/>
              </a:solidFill>
            </a:endParaRPr>
          </a:p>
        </p:txBody>
      </p:sp>
      <p:sp>
        <p:nvSpPr>
          <p:cNvPr id="18" name="KMATable0TextBox1"/>
          <p:cNvSpPr>
            <a:spLocks noChangeArrowheads="1"/>
          </p:cNvSpPr>
          <p:nvPr/>
        </p:nvSpPr>
        <p:spPr bwMode="auto">
          <a:xfrm>
            <a:off x="182563" y="3581400"/>
            <a:ext cx="2036762" cy="1683022"/>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Unique Interview Features</a:t>
            </a:r>
            <a:endParaRPr lang="en-US" sz="1100" b="1" dirty="0">
              <a:solidFill>
                <a:schemeClr val="bg1"/>
              </a:solidFill>
            </a:endParaRPr>
          </a:p>
        </p:txBody>
      </p:sp>
      <p:sp>
        <p:nvSpPr>
          <p:cNvPr id="19" name="KMATable0TextBox1"/>
          <p:cNvSpPr>
            <a:spLocks noChangeArrowheads="1"/>
          </p:cNvSpPr>
          <p:nvPr/>
        </p:nvSpPr>
        <p:spPr bwMode="auto">
          <a:xfrm>
            <a:off x="182563" y="5388080"/>
            <a:ext cx="2036762" cy="1371600"/>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Career Progression</a:t>
            </a:r>
            <a:endParaRPr lang="en-US" sz="1100" b="1" dirty="0">
              <a:solidFill>
                <a:schemeClr val="bg1"/>
              </a:solidFill>
            </a:endParaRPr>
          </a:p>
        </p:txBody>
      </p:sp>
      <p:sp>
        <p:nvSpPr>
          <p:cNvPr id="23" name="Rectangle 22"/>
          <p:cNvSpPr/>
          <p:nvPr/>
        </p:nvSpPr>
        <p:spPr>
          <a:xfrm>
            <a:off x="2286000" y="2462745"/>
            <a:ext cx="2533650" cy="779572"/>
          </a:xfrm>
          <a:prstGeom prst="rect">
            <a:avLst/>
          </a:prstGeom>
        </p:spPr>
        <p:txBody>
          <a:bodyPr wrap="square">
            <a:spAutoFit/>
          </a:bodyPr>
          <a:lstStyle/>
          <a:p>
            <a:pPr marL="0" lvl="1">
              <a:lnSpc>
                <a:spcPct val="106000"/>
              </a:lnSpc>
              <a:buClr>
                <a:srgbClr val="000000"/>
              </a:buClr>
              <a:buSzPct val="100000"/>
            </a:pPr>
            <a:r>
              <a:rPr lang="en-US" sz="1100" dirty="0"/>
              <a:t>Round 1</a:t>
            </a:r>
          </a:p>
          <a:p>
            <a:pPr marL="342900" lvl="1" indent="-171450">
              <a:buFont typeface="Wingdings" pitchFamily="2" charset="2"/>
              <a:buChar char="§"/>
            </a:pPr>
            <a:r>
              <a:rPr lang="en-US" sz="1100" dirty="0" smtClean="0"/>
              <a:t>2 Interviews (~30min. each)</a:t>
            </a:r>
          </a:p>
          <a:p>
            <a:pPr marL="342900" lvl="1" indent="-171450">
              <a:buFont typeface="Wingdings" pitchFamily="2" charset="2"/>
              <a:buChar char="§"/>
            </a:pPr>
            <a:r>
              <a:rPr lang="en-US" sz="1100" dirty="0" smtClean="0"/>
              <a:t>A few behavioral/fit questions and a case </a:t>
            </a:r>
            <a:endParaRPr lang="en-US" sz="1100" dirty="0"/>
          </a:p>
        </p:txBody>
      </p:sp>
      <p:sp>
        <p:nvSpPr>
          <p:cNvPr id="24" name="Rectangle 23"/>
          <p:cNvSpPr/>
          <p:nvPr/>
        </p:nvSpPr>
        <p:spPr>
          <a:xfrm>
            <a:off x="2282952" y="3581400"/>
            <a:ext cx="6477000" cy="1785104"/>
          </a:xfrm>
          <a:prstGeom prst="rect">
            <a:avLst/>
          </a:prstGeom>
        </p:spPr>
        <p:txBody>
          <a:bodyPr wrap="square">
            <a:spAutoFit/>
          </a:bodyPr>
          <a:lstStyle/>
          <a:p>
            <a:pPr marL="171450" indent="-171450">
              <a:buFont typeface="Wingdings" pitchFamily="2" charset="2"/>
              <a:buChar char="§"/>
            </a:pPr>
            <a:r>
              <a:rPr lang="en-US" sz="1100" u="sng" dirty="0" smtClean="0"/>
              <a:t>Shorter cases</a:t>
            </a:r>
            <a:r>
              <a:rPr lang="en-US" sz="1100" dirty="0" smtClean="0"/>
              <a:t>- L.E.K. cases are designed to be shorter than some of the other firms. First round interviews last only 30 minutes including behavioral questions, meaning candidates must get through the case within 20-25 minutes.</a:t>
            </a:r>
          </a:p>
          <a:p>
            <a:pPr marL="171450" indent="-171450">
              <a:buFont typeface="Wingdings" pitchFamily="2" charset="2"/>
              <a:buChar char="§"/>
            </a:pPr>
            <a:r>
              <a:rPr lang="en-US" sz="1100" u="sng" dirty="0" smtClean="0"/>
              <a:t>Quantitative focus </a:t>
            </a:r>
            <a:r>
              <a:rPr lang="en-US" sz="1100" dirty="0" smtClean="0"/>
              <a:t> Nearly all L.E.K. cases contain a significant quantitative component, and quantitative aptitude is very important in the evaluation of candidates. Many cases also require familiarity with financial statements or basic finance concepts such as NPV. First round cases typically include at least one market sizing case.</a:t>
            </a:r>
            <a:endParaRPr lang="en-US" sz="1100" u="sng" dirty="0" smtClean="0"/>
          </a:p>
          <a:p>
            <a:pPr marL="171450" indent="-171450">
              <a:buFont typeface="Wingdings" pitchFamily="2" charset="2"/>
              <a:buChar char="§"/>
            </a:pPr>
            <a:r>
              <a:rPr lang="en-US" sz="1100" u="sng" dirty="0" smtClean="0"/>
              <a:t>Leadership potential </a:t>
            </a:r>
            <a:r>
              <a:rPr lang="en-US" sz="1100" dirty="0" smtClean="0"/>
              <a:t>in addition to standard behavioral questions such as “why L.E.K.?” interviewers look specifically for candidates able to take on immediate management responsibility, as consultants are given responsibility for managing associates on casework as soon as they join.</a:t>
            </a:r>
          </a:p>
        </p:txBody>
      </p:sp>
      <p:sp>
        <p:nvSpPr>
          <p:cNvPr id="29" name="Rectangle 28"/>
          <p:cNvSpPr/>
          <p:nvPr/>
        </p:nvSpPr>
        <p:spPr>
          <a:xfrm>
            <a:off x="2286000" y="5388080"/>
            <a:ext cx="6400800" cy="1107996"/>
          </a:xfrm>
          <a:prstGeom prst="rect">
            <a:avLst/>
          </a:prstGeom>
        </p:spPr>
        <p:txBody>
          <a:bodyPr wrap="square">
            <a:spAutoFit/>
          </a:bodyPr>
          <a:lstStyle/>
          <a:p>
            <a:pPr marL="171450" indent="-171450">
              <a:buFont typeface="Wingdings" pitchFamily="2" charset="2"/>
              <a:buChar char="§"/>
            </a:pPr>
            <a:r>
              <a:rPr lang="en-US" sz="1100" dirty="0" smtClean="0"/>
              <a:t>Associate</a:t>
            </a:r>
          </a:p>
          <a:p>
            <a:pPr marL="171450" indent="-171450">
              <a:buFont typeface="Wingdings" pitchFamily="2" charset="2"/>
              <a:buChar char="§"/>
            </a:pPr>
            <a:r>
              <a:rPr lang="en-US" sz="1100" dirty="0" smtClean="0"/>
              <a:t>Associate Consultant</a:t>
            </a:r>
          </a:p>
          <a:p>
            <a:pPr marL="171450" indent="-171450">
              <a:buFont typeface="Wingdings" pitchFamily="2" charset="2"/>
              <a:buChar char="§"/>
            </a:pPr>
            <a:r>
              <a:rPr lang="en-US" sz="1100" dirty="0" smtClean="0"/>
              <a:t>(Business School); </a:t>
            </a:r>
            <a:r>
              <a:rPr lang="en-US" sz="1100" i="1" dirty="0" smtClean="0"/>
              <a:t>Summer Consultant </a:t>
            </a:r>
          </a:p>
          <a:p>
            <a:pPr marL="171450" indent="-171450">
              <a:buFont typeface="Wingdings" pitchFamily="2" charset="2"/>
              <a:buChar char="§"/>
            </a:pPr>
            <a:r>
              <a:rPr lang="en-US" sz="1100" i="1" dirty="0" smtClean="0"/>
              <a:t>Consultant</a:t>
            </a:r>
          </a:p>
          <a:p>
            <a:pPr marL="171450" indent="-171450">
              <a:buFont typeface="Wingdings" pitchFamily="2" charset="2"/>
              <a:buChar char="§"/>
            </a:pPr>
            <a:r>
              <a:rPr lang="en-US" sz="1100" dirty="0" smtClean="0"/>
              <a:t>Manager</a:t>
            </a:r>
          </a:p>
          <a:p>
            <a:pPr marL="171450" indent="-171450">
              <a:buFont typeface="Wingdings" pitchFamily="2" charset="2"/>
              <a:buChar char="§"/>
            </a:pPr>
            <a:r>
              <a:rPr lang="en-US" sz="1100" dirty="0" smtClean="0"/>
              <a:t>Managing Director (Partner)</a:t>
            </a:r>
          </a:p>
        </p:txBody>
      </p:sp>
      <p:cxnSp>
        <p:nvCxnSpPr>
          <p:cNvPr id="32" name="Straight Connector 31"/>
          <p:cNvCxnSpPr/>
          <p:nvPr/>
        </p:nvCxnSpPr>
        <p:spPr>
          <a:xfrm>
            <a:off x="152400" y="1270000"/>
            <a:ext cx="8607552" cy="86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286000" y="2328815"/>
            <a:ext cx="6477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286000" y="3460683"/>
            <a:ext cx="647395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1410789" y="5366504"/>
            <a:ext cx="6473952"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52400" y="776151"/>
            <a:ext cx="8736106" cy="523220"/>
          </a:xfrm>
          <a:prstGeom prst="rect">
            <a:avLst/>
          </a:prstGeom>
        </p:spPr>
        <p:txBody>
          <a:bodyPr wrap="square">
            <a:spAutoFit/>
          </a:bodyPr>
          <a:lstStyle/>
          <a:p>
            <a:r>
              <a:rPr lang="en-US" sz="1400" i="1" dirty="0">
                <a:solidFill>
                  <a:schemeClr val="bg2"/>
                </a:solidFill>
              </a:rPr>
              <a:t>L.E.K. is a global </a:t>
            </a:r>
            <a:r>
              <a:rPr lang="en-US" sz="1400" i="1" dirty="0" smtClean="0">
                <a:solidFill>
                  <a:schemeClr val="bg2"/>
                </a:solidFill>
              </a:rPr>
              <a:t>strategy consulting firm. </a:t>
            </a:r>
            <a:r>
              <a:rPr lang="en-US" sz="1400" i="1" dirty="0">
                <a:solidFill>
                  <a:schemeClr val="bg2"/>
                </a:solidFill>
              </a:rPr>
              <a:t>We counsel our clients on their key strategic issues, leveraging our deep industry expertise and using analytical rigor </a:t>
            </a:r>
            <a:r>
              <a:rPr lang="en-US" sz="1400" i="1" dirty="0" smtClean="0">
                <a:solidFill>
                  <a:schemeClr val="bg2"/>
                </a:solidFill>
              </a:rPr>
              <a:t>to solve </a:t>
            </a:r>
            <a:r>
              <a:rPr lang="en-US" sz="1400" i="1" dirty="0">
                <a:solidFill>
                  <a:schemeClr val="bg2"/>
                </a:solidFill>
              </a:rPr>
              <a:t>their toughest and most critical business problems.</a:t>
            </a:r>
          </a:p>
        </p:txBody>
      </p:sp>
      <p:sp>
        <p:nvSpPr>
          <p:cNvPr id="26" name="Rectangle 25"/>
          <p:cNvSpPr/>
          <p:nvPr/>
        </p:nvSpPr>
        <p:spPr>
          <a:xfrm>
            <a:off x="2286000" y="1356870"/>
            <a:ext cx="6477000" cy="989373"/>
          </a:xfrm>
          <a:prstGeom prst="rect">
            <a:avLst/>
          </a:prstGeom>
          <a:ln>
            <a:noFill/>
          </a:ln>
        </p:spPr>
        <p:txBody>
          <a:bodyPr wrap="square">
            <a:spAutoFit/>
          </a:bodyPr>
          <a:lstStyle/>
          <a:p>
            <a:pPr indent="-206375">
              <a:lnSpc>
                <a:spcPct val="106000"/>
              </a:lnSpc>
              <a:spcBef>
                <a:spcPts val="600"/>
              </a:spcBef>
              <a:buClr>
                <a:srgbClr val="000000"/>
              </a:buClr>
              <a:buSzPct val="100000"/>
            </a:pPr>
            <a:r>
              <a:rPr lang="en-US" sz="1100" dirty="0" smtClean="0">
                <a:solidFill>
                  <a:srgbClr val="000000"/>
                </a:solidFill>
                <a:latin typeface="+mj-lt"/>
                <a:ea typeface="+mn-ea"/>
                <a:cs typeface="Calibri" pitchFamily="34" charset="0"/>
              </a:rPr>
              <a:t>L.E.K. follows the generalist model with new consultants.  There is no need to align with a specific industry or area before interviewing. However, there is potential to specialize in a particular industry starting in your second year.</a:t>
            </a:r>
          </a:p>
          <a:p>
            <a:pPr marL="171450" lvl="1" indent="-171450">
              <a:lnSpc>
                <a:spcPct val="106000"/>
              </a:lnSpc>
              <a:buClr>
                <a:srgbClr val="000000"/>
              </a:buClr>
              <a:buSzPct val="100000"/>
              <a:buFont typeface="Wingdings" pitchFamily="2" charset="2"/>
              <a:buChar char="§"/>
            </a:pPr>
            <a:r>
              <a:rPr lang="en-US" sz="1100" b="1" dirty="0" smtClean="0"/>
              <a:t>Focus industries </a:t>
            </a:r>
            <a:r>
              <a:rPr lang="en-US" sz="1100" dirty="0" smtClean="0"/>
              <a:t>where L.E.K. has particular expertise include life sciences/ pharmaceuticals, aviation and travel, basic industries (building materials/ manufacturing), retail, and private equity</a:t>
            </a:r>
            <a:endParaRPr lang="en-US" sz="1100" b="1" dirty="0" smtClean="0"/>
          </a:p>
        </p:txBody>
      </p:sp>
      <p:sp>
        <p:nvSpPr>
          <p:cNvPr id="27" name="Rectangle 26"/>
          <p:cNvSpPr/>
          <p:nvPr/>
        </p:nvSpPr>
        <p:spPr>
          <a:xfrm>
            <a:off x="5199062" y="2462745"/>
            <a:ext cx="3487737" cy="1118127"/>
          </a:xfrm>
          <a:prstGeom prst="rect">
            <a:avLst/>
          </a:prstGeom>
        </p:spPr>
        <p:txBody>
          <a:bodyPr wrap="square">
            <a:spAutoFit/>
          </a:bodyPr>
          <a:lstStyle/>
          <a:p>
            <a:pPr marL="0" lvl="1">
              <a:lnSpc>
                <a:spcPct val="106000"/>
              </a:lnSpc>
              <a:buClr>
                <a:srgbClr val="000000"/>
              </a:buClr>
              <a:buSzPct val="100000"/>
            </a:pPr>
            <a:r>
              <a:rPr lang="en-US" sz="1100" dirty="0" smtClean="0"/>
              <a:t>Round 2</a:t>
            </a:r>
            <a:endParaRPr lang="en-US" sz="1100" dirty="0"/>
          </a:p>
          <a:p>
            <a:pPr marL="342900" lvl="1" indent="-171450">
              <a:buFont typeface="Wingdings" pitchFamily="2" charset="2"/>
              <a:buChar char="§"/>
            </a:pPr>
            <a:r>
              <a:rPr lang="en-US" sz="1100" dirty="0" smtClean="0"/>
              <a:t>1 written case </a:t>
            </a:r>
            <a:r>
              <a:rPr lang="en-US" sz="1100" dirty="0"/>
              <a:t>interview </a:t>
            </a:r>
            <a:r>
              <a:rPr lang="en-US" sz="1100" dirty="0" smtClean="0"/>
              <a:t> with presentation(1 hour to prepare, 30 min to present )</a:t>
            </a:r>
          </a:p>
          <a:p>
            <a:pPr marL="342900" lvl="1" indent="-171450">
              <a:buFont typeface="Wingdings" pitchFamily="2" charset="2"/>
              <a:buChar char="§"/>
            </a:pPr>
            <a:r>
              <a:rPr lang="en-US" sz="1100" dirty="0" smtClean="0"/>
              <a:t>1 typical case interview with Mgr./ C  (~30min)</a:t>
            </a:r>
          </a:p>
          <a:p>
            <a:pPr marL="342900" lvl="1" indent="-171450">
              <a:buFont typeface="Wingdings" pitchFamily="2" charset="2"/>
              <a:buChar char="§"/>
            </a:pPr>
            <a:r>
              <a:rPr lang="en-US" sz="1100" dirty="0" smtClean="0"/>
              <a:t>1 case/fit interview with MD </a:t>
            </a:r>
            <a:r>
              <a:rPr lang="en-US" sz="1100" dirty="0"/>
              <a:t>(~45min)</a:t>
            </a:r>
          </a:p>
          <a:p>
            <a:pPr marL="171450" lvl="1"/>
            <a:endParaRPr lang="en-US" sz="1100"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11</a:t>
            </a:fld>
            <a:endParaRPr lang="en-US" dirty="0"/>
          </a:p>
        </p:txBody>
      </p:sp>
    </p:spTree>
    <p:extLst>
      <p:ext uri="{BB962C8B-B14F-4D97-AF65-F5344CB8AC3E}">
        <p14:creationId xmlns:p14="http://schemas.microsoft.com/office/powerpoint/2010/main" val="3041304095"/>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err="1" smtClean="0"/>
              <a:t>Pricewaterhouse</a:t>
            </a:r>
            <a:r>
              <a:rPr lang="en-US" sz="2400" b="1" dirty="0" smtClean="0"/>
              <a:t> Coopers (PwC)</a:t>
            </a:r>
            <a:endParaRPr lang="en-US" sz="2400" b="1" dirty="0"/>
          </a:p>
        </p:txBody>
      </p:sp>
      <p:sp>
        <p:nvSpPr>
          <p:cNvPr id="16388" name="Notes"/>
          <p:cNvSpPr txBox="1">
            <a:spLocks noChangeArrowheads="1"/>
          </p:cNvSpPr>
          <p:nvPr/>
        </p:nvSpPr>
        <p:spPr bwMode="auto">
          <a:xfrm>
            <a:off x="525463" y="8041958"/>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5" name="KMATable0TextBox1"/>
          <p:cNvSpPr>
            <a:spLocks noChangeArrowheads="1"/>
          </p:cNvSpPr>
          <p:nvPr/>
        </p:nvSpPr>
        <p:spPr bwMode="auto">
          <a:xfrm>
            <a:off x="182563" y="1356869"/>
            <a:ext cx="2036762" cy="938656"/>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Overview</a:t>
            </a:r>
            <a:endParaRPr lang="en-US" sz="1100" b="1" dirty="0">
              <a:solidFill>
                <a:schemeClr val="bg1"/>
              </a:solidFill>
            </a:endParaRPr>
          </a:p>
        </p:txBody>
      </p:sp>
      <p:sp>
        <p:nvSpPr>
          <p:cNvPr id="17" name="KMATable0TextBox1"/>
          <p:cNvSpPr>
            <a:spLocks noChangeArrowheads="1"/>
          </p:cNvSpPr>
          <p:nvPr/>
        </p:nvSpPr>
        <p:spPr bwMode="auto">
          <a:xfrm>
            <a:off x="182563" y="2466975"/>
            <a:ext cx="2036762" cy="944619"/>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Interview Overview</a:t>
            </a:r>
            <a:endParaRPr lang="en-US" sz="1100" b="1" dirty="0">
              <a:solidFill>
                <a:schemeClr val="bg1"/>
              </a:solidFill>
            </a:endParaRPr>
          </a:p>
        </p:txBody>
      </p:sp>
      <p:sp>
        <p:nvSpPr>
          <p:cNvPr id="18" name="KMATable0TextBox1"/>
          <p:cNvSpPr>
            <a:spLocks noChangeArrowheads="1"/>
          </p:cNvSpPr>
          <p:nvPr/>
        </p:nvSpPr>
        <p:spPr bwMode="auto">
          <a:xfrm>
            <a:off x="182563" y="3581400"/>
            <a:ext cx="2036762" cy="1683022"/>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Unique Interview Features</a:t>
            </a:r>
            <a:endParaRPr lang="en-US" sz="1100" b="1" dirty="0">
              <a:solidFill>
                <a:schemeClr val="bg1"/>
              </a:solidFill>
            </a:endParaRPr>
          </a:p>
        </p:txBody>
      </p:sp>
      <p:sp>
        <p:nvSpPr>
          <p:cNvPr id="19" name="KMATable0TextBox1"/>
          <p:cNvSpPr>
            <a:spLocks noChangeArrowheads="1"/>
          </p:cNvSpPr>
          <p:nvPr/>
        </p:nvSpPr>
        <p:spPr bwMode="auto">
          <a:xfrm>
            <a:off x="182563" y="5388080"/>
            <a:ext cx="2036762" cy="1371600"/>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Career Progression</a:t>
            </a:r>
            <a:endParaRPr lang="en-US" sz="1100" b="1" dirty="0">
              <a:solidFill>
                <a:schemeClr val="bg1"/>
              </a:solidFill>
            </a:endParaRPr>
          </a:p>
        </p:txBody>
      </p:sp>
      <p:sp>
        <p:nvSpPr>
          <p:cNvPr id="23" name="Rectangle 22"/>
          <p:cNvSpPr/>
          <p:nvPr/>
        </p:nvSpPr>
        <p:spPr>
          <a:xfrm>
            <a:off x="2286000" y="2462745"/>
            <a:ext cx="2533650" cy="610295"/>
          </a:xfrm>
          <a:prstGeom prst="rect">
            <a:avLst/>
          </a:prstGeom>
        </p:spPr>
        <p:txBody>
          <a:bodyPr wrap="square">
            <a:spAutoFit/>
          </a:bodyPr>
          <a:lstStyle/>
          <a:p>
            <a:pPr marL="0" lvl="1">
              <a:lnSpc>
                <a:spcPct val="106000"/>
              </a:lnSpc>
              <a:buClr>
                <a:srgbClr val="000000"/>
              </a:buClr>
              <a:buSzPct val="100000"/>
            </a:pPr>
            <a:r>
              <a:rPr lang="en-US" sz="1100" dirty="0"/>
              <a:t>Round 1</a:t>
            </a:r>
          </a:p>
          <a:p>
            <a:pPr marL="342900" lvl="1" indent="-171450">
              <a:buFont typeface="Wingdings" pitchFamily="2" charset="2"/>
              <a:buChar char="§"/>
            </a:pPr>
            <a:r>
              <a:rPr lang="en-US" sz="1100" dirty="0" smtClean="0"/>
              <a:t>2 Interviews (~45min. each)</a:t>
            </a:r>
          </a:p>
          <a:p>
            <a:pPr marL="342900" lvl="1" indent="-171450">
              <a:buFont typeface="Wingdings" pitchFamily="2" charset="2"/>
              <a:buChar char="§"/>
            </a:pPr>
            <a:r>
              <a:rPr lang="en-US" sz="1100" dirty="0" smtClean="0"/>
              <a:t>Only behavioral/fit questions</a:t>
            </a:r>
            <a:endParaRPr lang="en-US" sz="1100" dirty="0"/>
          </a:p>
        </p:txBody>
      </p:sp>
      <p:sp>
        <p:nvSpPr>
          <p:cNvPr id="24" name="Rectangle 23"/>
          <p:cNvSpPr/>
          <p:nvPr/>
        </p:nvSpPr>
        <p:spPr>
          <a:xfrm>
            <a:off x="2282952" y="3581400"/>
            <a:ext cx="6477000" cy="1446550"/>
          </a:xfrm>
          <a:prstGeom prst="rect">
            <a:avLst/>
          </a:prstGeom>
        </p:spPr>
        <p:txBody>
          <a:bodyPr wrap="square">
            <a:spAutoFit/>
          </a:bodyPr>
          <a:lstStyle/>
          <a:p>
            <a:pPr marL="171450" indent="-171450">
              <a:buFont typeface="Wingdings" pitchFamily="2" charset="2"/>
              <a:buChar char="§"/>
            </a:pPr>
            <a:r>
              <a:rPr lang="en-US" sz="1100" u="sng" dirty="0">
                <a:solidFill>
                  <a:srgbClr val="000000"/>
                </a:solidFill>
              </a:rPr>
              <a:t>First/Second Round Behavioral Interviews -</a:t>
            </a:r>
            <a:r>
              <a:rPr lang="en-US" sz="1100" dirty="0">
                <a:solidFill>
                  <a:srgbClr val="000000"/>
                </a:solidFill>
              </a:rPr>
              <a:t> PwC puts extra emphasis on your background and fit with PwC. Your first interview will also include a discussion of which vertical (above) best fits with your work experience and career goals. </a:t>
            </a:r>
          </a:p>
          <a:p>
            <a:pPr marL="171450" indent="-171450">
              <a:buFont typeface="Wingdings" pitchFamily="2" charset="2"/>
              <a:buChar char="§"/>
            </a:pPr>
            <a:r>
              <a:rPr lang="en-US" sz="1100" u="sng" dirty="0">
                <a:solidFill>
                  <a:srgbClr val="000000"/>
                </a:solidFill>
              </a:rPr>
              <a:t>Case Interview </a:t>
            </a:r>
            <a:r>
              <a:rPr lang="en-US" sz="1100" dirty="0">
                <a:solidFill>
                  <a:srgbClr val="000000"/>
                </a:solidFill>
              </a:rPr>
              <a:t>- The case interview is a little different than other firms. The case is very conversational as the candidate and interviewer discuss  a business situation.  Candidates may be given a case to prepare 1-2 days in advance (usually 4-5 pages). On the interview day, candidates are given questions on the case and are asked to prepare a slide deck presentation in an hour before discussing it with the interviewer.</a:t>
            </a:r>
          </a:p>
        </p:txBody>
      </p:sp>
      <p:sp>
        <p:nvSpPr>
          <p:cNvPr id="29" name="Rectangle 28"/>
          <p:cNvSpPr/>
          <p:nvPr/>
        </p:nvSpPr>
        <p:spPr>
          <a:xfrm>
            <a:off x="2286000" y="5388080"/>
            <a:ext cx="6400800" cy="1107996"/>
          </a:xfrm>
          <a:prstGeom prst="rect">
            <a:avLst/>
          </a:prstGeom>
        </p:spPr>
        <p:txBody>
          <a:bodyPr wrap="square">
            <a:spAutoFit/>
          </a:bodyPr>
          <a:lstStyle/>
          <a:p>
            <a:pPr marL="171450" indent="-171450">
              <a:buFont typeface="Wingdings" pitchFamily="2" charset="2"/>
              <a:buChar char="§"/>
            </a:pPr>
            <a:r>
              <a:rPr lang="en-US" sz="1100" dirty="0">
                <a:solidFill>
                  <a:srgbClr val="000000"/>
                </a:solidFill>
              </a:rPr>
              <a:t>Associate/ Experienced Associate (Undergraduate level)</a:t>
            </a:r>
          </a:p>
          <a:p>
            <a:pPr marL="171450" indent="-171450">
              <a:buFont typeface="Wingdings" pitchFamily="2" charset="2"/>
              <a:buChar char="§"/>
            </a:pPr>
            <a:r>
              <a:rPr lang="en-US" sz="1100" i="1" dirty="0">
                <a:solidFill>
                  <a:srgbClr val="000000"/>
                </a:solidFill>
              </a:rPr>
              <a:t>Summer Senior Associate </a:t>
            </a:r>
            <a:r>
              <a:rPr lang="en-US" sz="1100" dirty="0">
                <a:solidFill>
                  <a:srgbClr val="000000"/>
                </a:solidFill>
              </a:rPr>
              <a:t>(Business School internship)</a:t>
            </a:r>
            <a:endParaRPr lang="en-US" sz="1100" i="1" dirty="0">
              <a:solidFill>
                <a:srgbClr val="000000"/>
              </a:solidFill>
            </a:endParaRPr>
          </a:p>
          <a:p>
            <a:pPr marL="171450" indent="-171450">
              <a:buFont typeface="Wingdings" pitchFamily="2" charset="2"/>
              <a:buChar char="§"/>
            </a:pPr>
            <a:r>
              <a:rPr lang="en-US" sz="1100" i="1" dirty="0">
                <a:solidFill>
                  <a:srgbClr val="000000"/>
                </a:solidFill>
              </a:rPr>
              <a:t>Senior Associate </a:t>
            </a:r>
            <a:r>
              <a:rPr lang="en-US" sz="1100" dirty="0">
                <a:solidFill>
                  <a:srgbClr val="000000"/>
                </a:solidFill>
              </a:rPr>
              <a:t>(After Business School)</a:t>
            </a:r>
            <a:endParaRPr lang="en-US" sz="1100" i="1" dirty="0">
              <a:solidFill>
                <a:srgbClr val="000000"/>
              </a:solidFill>
            </a:endParaRPr>
          </a:p>
          <a:p>
            <a:pPr marL="171450" indent="-171450">
              <a:buFont typeface="Wingdings" pitchFamily="2" charset="2"/>
              <a:buChar char="§"/>
            </a:pPr>
            <a:r>
              <a:rPr lang="en-US" sz="1100" dirty="0">
                <a:solidFill>
                  <a:srgbClr val="000000"/>
                </a:solidFill>
              </a:rPr>
              <a:t>Manager</a:t>
            </a:r>
          </a:p>
          <a:p>
            <a:pPr marL="171450" indent="-171450">
              <a:buFont typeface="Wingdings" pitchFamily="2" charset="2"/>
              <a:buChar char="§"/>
            </a:pPr>
            <a:r>
              <a:rPr lang="en-US" sz="1100" dirty="0">
                <a:solidFill>
                  <a:srgbClr val="000000"/>
                </a:solidFill>
              </a:rPr>
              <a:t>Director</a:t>
            </a:r>
          </a:p>
          <a:p>
            <a:pPr marL="171450" indent="-171450">
              <a:buFont typeface="Wingdings" pitchFamily="2" charset="2"/>
              <a:buChar char="§"/>
            </a:pPr>
            <a:r>
              <a:rPr lang="en-US" sz="1100" dirty="0">
                <a:solidFill>
                  <a:srgbClr val="000000"/>
                </a:solidFill>
              </a:rPr>
              <a:t>Partner</a:t>
            </a:r>
          </a:p>
        </p:txBody>
      </p:sp>
      <p:cxnSp>
        <p:nvCxnSpPr>
          <p:cNvPr id="32" name="Straight Connector 31"/>
          <p:cNvCxnSpPr/>
          <p:nvPr/>
        </p:nvCxnSpPr>
        <p:spPr>
          <a:xfrm>
            <a:off x="152400" y="1270000"/>
            <a:ext cx="8607552" cy="86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286000" y="2328815"/>
            <a:ext cx="6477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249424" y="3433838"/>
            <a:ext cx="647395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286000" y="5314950"/>
            <a:ext cx="6473952"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4809" y="749643"/>
            <a:ext cx="8736106" cy="523220"/>
          </a:xfrm>
          <a:prstGeom prst="rect">
            <a:avLst/>
          </a:prstGeom>
        </p:spPr>
        <p:txBody>
          <a:bodyPr wrap="square">
            <a:spAutoFit/>
          </a:bodyPr>
          <a:lstStyle/>
          <a:p>
            <a:r>
              <a:rPr lang="en-US" sz="1400" i="1" dirty="0">
                <a:solidFill>
                  <a:schemeClr val="bg2"/>
                </a:solidFill>
              </a:rPr>
              <a:t>PwC Advisory helps clients build their next competitive </a:t>
            </a:r>
            <a:r>
              <a:rPr lang="en-US" sz="1400" i="1" dirty="0" smtClean="0">
                <a:solidFill>
                  <a:schemeClr val="bg2"/>
                </a:solidFill>
              </a:rPr>
              <a:t>advantage. </a:t>
            </a:r>
            <a:r>
              <a:rPr lang="en-US" sz="1400" i="1" dirty="0">
                <a:solidFill>
                  <a:schemeClr val="bg2"/>
                </a:solidFill>
              </a:rPr>
              <a:t>You will help our clients improve business processes, transform organizations and implement </a:t>
            </a:r>
            <a:r>
              <a:rPr lang="en-US" sz="1400" i="1" dirty="0" smtClean="0">
                <a:solidFill>
                  <a:schemeClr val="bg2"/>
                </a:solidFill>
              </a:rPr>
              <a:t>technologies.</a:t>
            </a:r>
            <a:endParaRPr lang="en-US" sz="1400" i="1" dirty="0">
              <a:solidFill>
                <a:schemeClr val="bg2"/>
              </a:solidFill>
            </a:endParaRPr>
          </a:p>
        </p:txBody>
      </p:sp>
      <p:sp>
        <p:nvSpPr>
          <p:cNvPr id="26" name="Rectangle 25"/>
          <p:cNvSpPr/>
          <p:nvPr/>
        </p:nvSpPr>
        <p:spPr>
          <a:xfrm>
            <a:off x="2286000" y="1356870"/>
            <a:ext cx="6477000" cy="989373"/>
          </a:xfrm>
          <a:prstGeom prst="rect">
            <a:avLst/>
          </a:prstGeom>
          <a:ln>
            <a:noFill/>
          </a:ln>
        </p:spPr>
        <p:txBody>
          <a:bodyPr wrap="square">
            <a:spAutoFit/>
          </a:bodyPr>
          <a:lstStyle/>
          <a:p>
            <a:pPr indent="-206375">
              <a:lnSpc>
                <a:spcPct val="106000"/>
              </a:lnSpc>
              <a:spcBef>
                <a:spcPts val="600"/>
              </a:spcBef>
              <a:buClr>
                <a:srgbClr val="000000"/>
              </a:buClr>
              <a:buSzPct val="100000"/>
            </a:pPr>
            <a:r>
              <a:rPr lang="en-US" sz="1100" dirty="0" smtClean="0">
                <a:solidFill>
                  <a:srgbClr val="000000"/>
                </a:solidFill>
                <a:latin typeface="+mj-lt"/>
                <a:ea typeface="+mn-ea"/>
                <a:cs typeface="Calibri" pitchFamily="34" charset="0"/>
              </a:rPr>
              <a:t>Students must directly apply to one of the following practice areas:</a:t>
            </a:r>
          </a:p>
          <a:p>
            <a:pPr marL="171450" lvl="1" indent="-171450">
              <a:lnSpc>
                <a:spcPct val="106000"/>
              </a:lnSpc>
              <a:buClr>
                <a:srgbClr val="000000"/>
              </a:buClr>
              <a:buSzPct val="100000"/>
              <a:buFont typeface="Wingdings" pitchFamily="2" charset="2"/>
              <a:buChar char="§"/>
            </a:pPr>
            <a:r>
              <a:rPr lang="en-US" sz="1100" b="1" dirty="0" smtClean="0"/>
              <a:t>Health Industries</a:t>
            </a:r>
          </a:p>
          <a:p>
            <a:pPr marL="171450" lvl="1" indent="-171450">
              <a:lnSpc>
                <a:spcPct val="106000"/>
              </a:lnSpc>
              <a:buClr>
                <a:srgbClr val="000000"/>
              </a:buClr>
              <a:buSzPct val="100000"/>
              <a:buFont typeface="Wingdings" pitchFamily="2" charset="2"/>
              <a:buChar char="§"/>
            </a:pPr>
            <a:r>
              <a:rPr lang="en-US" sz="1100" b="1" dirty="0" smtClean="0"/>
              <a:t>Public Sector</a:t>
            </a:r>
          </a:p>
          <a:p>
            <a:pPr marL="171450" lvl="1" indent="-171450">
              <a:lnSpc>
                <a:spcPct val="106000"/>
              </a:lnSpc>
              <a:buClr>
                <a:srgbClr val="000000"/>
              </a:buClr>
              <a:buSzPct val="100000"/>
              <a:buFont typeface="Wingdings" pitchFamily="2" charset="2"/>
              <a:buChar char="§"/>
            </a:pPr>
            <a:r>
              <a:rPr lang="en-US" sz="1100" b="1" dirty="0" smtClean="0"/>
              <a:t>Financial Services</a:t>
            </a:r>
          </a:p>
          <a:p>
            <a:pPr marL="171450" lvl="1" indent="-171450">
              <a:lnSpc>
                <a:spcPct val="106000"/>
              </a:lnSpc>
              <a:buClr>
                <a:srgbClr val="000000"/>
              </a:buClr>
              <a:buSzPct val="100000"/>
              <a:buFont typeface="Wingdings" pitchFamily="2" charset="2"/>
              <a:buChar char="§"/>
            </a:pPr>
            <a:r>
              <a:rPr lang="en-US" sz="1100" b="1" dirty="0" smtClean="0"/>
              <a:t>Products &amp; Services Industry</a:t>
            </a:r>
          </a:p>
        </p:txBody>
      </p:sp>
      <p:sp>
        <p:nvSpPr>
          <p:cNvPr id="27" name="Rectangle 26"/>
          <p:cNvSpPr/>
          <p:nvPr/>
        </p:nvSpPr>
        <p:spPr>
          <a:xfrm>
            <a:off x="5199063" y="2462745"/>
            <a:ext cx="3352800" cy="610295"/>
          </a:xfrm>
          <a:prstGeom prst="rect">
            <a:avLst/>
          </a:prstGeom>
        </p:spPr>
        <p:txBody>
          <a:bodyPr wrap="square">
            <a:spAutoFit/>
          </a:bodyPr>
          <a:lstStyle/>
          <a:p>
            <a:pPr marL="0" lvl="1">
              <a:lnSpc>
                <a:spcPct val="106000"/>
              </a:lnSpc>
              <a:buClr>
                <a:srgbClr val="000000"/>
              </a:buClr>
              <a:buSzPct val="100000"/>
            </a:pPr>
            <a:r>
              <a:rPr lang="en-US" sz="1100" dirty="0" smtClean="0"/>
              <a:t>Round 2</a:t>
            </a:r>
            <a:endParaRPr lang="en-US" sz="1100" dirty="0"/>
          </a:p>
          <a:p>
            <a:pPr marL="342900" lvl="1" indent="-171450">
              <a:buFont typeface="Wingdings" pitchFamily="2" charset="2"/>
              <a:buChar char="§"/>
            </a:pPr>
            <a:r>
              <a:rPr lang="en-US" sz="1100" dirty="0" smtClean="0"/>
              <a:t>2 </a:t>
            </a:r>
            <a:r>
              <a:rPr lang="en-US" sz="1100" dirty="0">
                <a:solidFill>
                  <a:srgbClr val="000000"/>
                </a:solidFill>
              </a:rPr>
              <a:t>behavioral/fit </a:t>
            </a:r>
            <a:r>
              <a:rPr lang="en-US" sz="1100" dirty="0" smtClean="0">
                <a:solidFill>
                  <a:srgbClr val="000000"/>
                </a:solidFill>
              </a:rPr>
              <a:t>interviews</a:t>
            </a:r>
            <a:r>
              <a:rPr lang="en-US" sz="1100" dirty="0" smtClean="0"/>
              <a:t> (~45min)</a:t>
            </a:r>
          </a:p>
          <a:p>
            <a:pPr marL="342900" lvl="1" indent="-171450">
              <a:buFont typeface="Wingdings" pitchFamily="2" charset="2"/>
              <a:buChar char="§"/>
            </a:pPr>
            <a:r>
              <a:rPr lang="en-US" sz="1100" dirty="0" smtClean="0"/>
              <a:t>1 case </a:t>
            </a:r>
            <a:r>
              <a:rPr lang="en-US" sz="1100" dirty="0"/>
              <a:t>interview (~45min</a:t>
            </a:r>
            <a:r>
              <a:rPr lang="en-US" sz="1100" dirty="0" smtClean="0"/>
              <a:t>)</a:t>
            </a:r>
            <a:endParaRPr lang="en-US" sz="1100"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12</a:t>
            </a:fld>
            <a:endParaRPr lang="en-US" dirty="0"/>
          </a:p>
        </p:txBody>
      </p:sp>
    </p:spTree>
    <p:extLst>
      <p:ext uri="{BB962C8B-B14F-4D97-AF65-F5344CB8AC3E}">
        <p14:creationId xmlns:p14="http://schemas.microsoft.com/office/powerpoint/2010/main" val="3879287217"/>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ZS Associates</a:t>
            </a:r>
            <a:endParaRPr lang="en-US" sz="2400" b="1" dirty="0"/>
          </a:p>
        </p:txBody>
      </p:sp>
      <p:sp>
        <p:nvSpPr>
          <p:cNvPr id="16388" name="Notes"/>
          <p:cNvSpPr txBox="1">
            <a:spLocks noChangeArrowheads="1"/>
          </p:cNvSpPr>
          <p:nvPr/>
        </p:nvSpPr>
        <p:spPr bwMode="auto">
          <a:xfrm>
            <a:off x="525463" y="8041958"/>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5" name="KMATable0TextBox1"/>
          <p:cNvSpPr>
            <a:spLocks noChangeArrowheads="1"/>
          </p:cNvSpPr>
          <p:nvPr/>
        </p:nvSpPr>
        <p:spPr bwMode="auto">
          <a:xfrm>
            <a:off x="182563" y="1356868"/>
            <a:ext cx="2036762" cy="1348191"/>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Overview</a:t>
            </a:r>
            <a:endParaRPr lang="en-US" sz="1100" b="1" dirty="0">
              <a:solidFill>
                <a:schemeClr val="bg1"/>
              </a:solidFill>
            </a:endParaRPr>
          </a:p>
        </p:txBody>
      </p:sp>
      <p:sp>
        <p:nvSpPr>
          <p:cNvPr id="17" name="KMATable0TextBox1"/>
          <p:cNvSpPr>
            <a:spLocks noChangeArrowheads="1"/>
          </p:cNvSpPr>
          <p:nvPr/>
        </p:nvSpPr>
        <p:spPr bwMode="auto">
          <a:xfrm>
            <a:off x="182563" y="2924175"/>
            <a:ext cx="2036762" cy="944619"/>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Interview Overview</a:t>
            </a:r>
            <a:endParaRPr lang="en-US" sz="1100" b="1" dirty="0">
              <a:solidFill>
                <a:schemeClr val="bg1"/>
              </a:solidFill>
            </a:endParaRPr>
          </a:p>
        </p:txBody>
      </p:sp>
      <p:sp>
        <p:nvSpPr>
          <p:cNvPr id="18" name="KMATable0TextBox1"/>
          <p:cNvSpPr>
            <a:spLocks noChangeArrowheads="1"/>
          </p:cNvSpPr>
          <p:nvPr/>
        </p:nvSpPr>
        <p:spPr bwMode="auto">
          <a:xfrm>
            <a:off x="182563" y="4038600"/>
            <a:ext cx="2036762" cy="1112472"/>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Unique Interview Features</a:t>
            </a:r>
            <a:endParaRPr lang="en-US" sz="1100" b="1" dirty="0">
              <a:solidFill>
                <a:schemeClr val="bg1"/>
              </a:solidFill>
            </a:endParaRPr>
          </a:p>
        </p:txBody>
      </p:sp>
      <p:sp>
        <p:nvSpPr>
          <p:cNvPr id="19" name="KMATable0TextBox1"/>
          <p:cNvSpPr>
            <a:spLocks noChangeArrowheads="1"/>
          </p:cNvSpPr>
          <p:nvPr/>
        </p:nvSpPr>
        <p:spPr bwMode="auto">
          <a:xfrm>
            <a:off x="182563" y="5388080"/>
            <a:ext cx="2036762" cy="1371600"/>
          </a:xfrm>
          <a:prstGeom prst="rect">
            <a:avLst/>
          </a:prstGeom>
          <a:solidFill>
            <a:srgbClr val="003399"/>
          </a:solidFill>
          <a:ln w="9525">
            <a:noFill/>
            <a:miter lim="800000"/>
            <a:headEnd/>
            <a:tailEnd/>
          </a:ln>
        </p:spPr>
        <p:txBody>
          <a:bodyPr anchor="ctr"/>
          <a:lstStyle/>
          <a:p>
            <a:pPr algn="ctr" eaLnBrk="0" hangingPunct="0">
              <a:spcBef>
                <a:spcPct val="20000"/>
              </a:spcBef>
            </a:pPr>
            <a:r>
              <a:rPr lang="en-US" sz="1100" b="1" dirty="0" smtClean="0">
                <a:solidFill>
                  <a:schemeClr val="bg1"/>
                </a:solidFill>
              </a:rPr>
              <a:t>Career Progression</a:t>
            </a:r>
            <a:endParaRPr lang="en-US" sz="1100" b="1" dirty="0">
              <a:solidFill>
                <a:schemeClr val="bg1"/>
              </a:solidFill>
            </a:endParaRPr>
          </a:p>
        </p:txBody>
      </p:sp>
      <p:sp>
        <p:nvSpPr>
          <p:cNvPr id="23" name="Rectangle 22"/>
          <p:cNvSpPr/>
          <p:nvPr/>
        </p:nvSpPr>
        <p:spPr>
          <a:xfrm>
            <a:off x="2286000" y="2919945"/>
            <a:ext cx="2533650" cy="779572"/>
          </a:xfrm>
          <a:prstGeom prst="rect">
            <a:avLst/>
          </a:prstGeom>
        </p:spPr>
        <p:txBody>
          <a:bodyPr wrap="square">
            <a:spAutoFit/>
          </a:bodyPr>
          <a:lstStyle/>
          <a:p>
            <a:pPr marL="0" lvl="1">
              <a:lnSpc>
                <a:spcPct val="106000"/>
              </a:lnSpc>
              <a:buClr>
                <a:srgbClr val="000000"/>
              </a:buClr>
              <a:buSzPct val="100000"/>
            </a:pPr>
            <a:r>
              <a:rPr lang="en-US" sz="1100" dirty="0"/>
              <a:t>Round 1</a:t>
            </a:r>
          </a:p>
          <a:p>
            <a:pPr marL="342900" lvl="1" indent="-171450">
              <a:buFont typeface="Wingdings" pitchFamily="2" charset="2"/>
              <a:buChar char="§"/>
            </a:pPr>
            <a:r>
              <a:rPr lang="en-US" sz="1100" dirty="0" smtClean="0"/>
              <a:t>2 Interviews (~45min. each)</a:t>
            </a:r>
          </a:p>
          <a:p>
            <a:pPr marL="342900" lvl="1" indent="114300">
              <a:buFont typeface="Wingdings" pitchFamily="2" charset="2"/>
              <a:buChar char="§"/>
            </a:pPr>
            <a:r>
              <a:rPr lang="en-US" sz="1100" dirty="0" smtClean="0"/>
              <a:t>1 behavioral</a:t>
            </a:r>
          </a:p>
          <a:p>
            <a:pPr marL="342900" lvl="1" indent="114300">
              <a:buFont typeface="Wingdings" pitchFamily="2" charset="2"/>
              <a:buChar char="§"/>
            </a:pPr>
            <a:r>
              <a:rPr lang="en-US" sz="1100" dirty="0" smtClean="0"/>
              <a:t>1 case</a:t>
            </a:r>
            <a:endParaRPr lang="en-US" sz="1100" dirty="0"/>
          </a:p>
        </p:txBody>
      </p:sp>
      <p:sp>
        <p:nvSpPr>
          <p:cNvPr id="24" name="Rectangle 23"/>
          <p:cNvSpPr/>
          <p:nvPr/>
        </p:nvSpPr>
        <p:spPr>
          <a:xfrm>
            <a:off x="2282952" y="4038600"/>
            <a:ext cx="6477000" cy="1277273"/>
          </a:xfrm>
          <a:prstGeom prst="rect">
            <a:avLst/>
          </a:prstGeom>
        </p:spPr>
        <p:txBody>
          <a:bodyPr wrap="square">
            <a:spAutoFit/>
          </a:bodyPr>
          <a:lstStyle/>
          <a:p>
            <a:pPr marL="171450" indent="-171450">
              <a:buFont typeface="Wingdings" pitchFamily="2" charset="2"/>
              <a:buChar char="§"/>
            </a:pPr>
            <a:r>
              <a:rPr lang="en-US" sz="1100" u="sng" dirty="0" smtClean="0"/>
              <a:t>Case Focus</a:t>
            </a:r>
            <a:r>
              <a:rPr lang="en-US" sz="1100" i="1" dirty="0" smtClean="0"/>
              <a:t>- </a:t>
            </a:r>
            <a:r>
              <a:rPr lang="en-US" sz="1100" dirty="0" smtClean="0"/>
              <a:t>Although </a:t>
            </a:r>
            <a:r>
              <a:rPr lang="en-US" sz="1100" i="1" dirty="0" smtClean="0"/>
              <a:t>ZS </a:t>
            </a:r>
            <a:r>
              <a:rPr lang="en-US" sz="1100" dirty="0" smtClean="0"/>
              <a:t>rigorously tests a candidate’s public math skills and ability to synthesize, do not neglect the qualitative component. In </a:t>
            </a:r>
            <a:r>
              <a:rPr lang="en-US" sz="1100" dirty="0"/>
              <a:t>recent years ZS has begun to focus on both qualitative reasoning as well as quantitative </a:t>
            </a:r>
            <a:r>
              <a:rPr lang="en-US" sz="1100" dirty="0" smtClean="0"/>
              <a:t>skills.</a:t>
            </a:r>
          </a:p>
          <a:p>
            <a:pPr marL="171450" indent="-171450">
              <a:buFont typeface="Wingdings" pitchFamily="2" charset="2"/>
              <a:buChar char="§"/>
            </a:pPr>
            <a:r>
              <a:rPr lang="en-US" sz="1100" u="sng" dirty="0" smtClean="0"/>
              <a:t>Presentation Case</a:t>
            </a:r>
            <a:r>
              <a:rPr lang="en-US" sz="1100" dirty="0" smtClean="0"/>
              <a:t>- Candidates are provided information and must </a:t>
            </a:r>
            <a:r>
              <a:rPr lang="en-US" sz="1100" dirty="0"/>
              <a:t>synthesize </a:t>
            </a:r>
            <a:r>
              <a:rPr lang="en-US" sz="1100" dirty="0" smtClean="0"/>
              <a:t>a presentation to a panel of interviewers. Expect to be challenged and questioned.</a:t>
            </a:r>
            <a:endParaRPr lang="en-US" sz="1100" u="sng" dirty="0" smtClean="0"/>
          </a:p>
          <a:p>
            <a:pPr marL="171450" indent="-171450">
              <a:buFont typeface="Wingdings" pitchFamily="2" charset="2"/>
              <a:buChar char="§"/>
            </a:pPr>
            <a:r>
              <a:rPr lang="en-US" sz="1100" u="sng" dirty="0" smtClean="0"/>
              <a:t>Rounds-</a:t>
            </a:r>
            <a:r>
              <a:rPr lang="en-US" sz="1100" dirty="0" smtClean="0"/>
              <a:t> ZS holds its second round interviews within a few days of its second round. Candidates should plan accordingly to minimize potential conflicts.</a:t>
            </a:r>
          </a:p>
        </p:txBody>
      </p:sp>
      <p:sp>
        <p:nvSpPr>
          <p:cNvPr id="29" name="Rectangle 28"/>
          <p:cNvSpPr/>
          <p:nvPr/>
        </p:nvSpPr>
        <p:spPr>
          <a:xfrm>
            <a:off x="2286000" y="5388080"/>
            <a:ext cx="6400800" cy="1277273"/>
          </a:xfrm>
          <a:prstGeom prst="rect">
            <a:avLst/>
          </a:prstGeom>
        </p:spPr>
        <p:txBody>
          <a:bodyPr wrap="square">
            <a:spAutoFit/>
          </a:bodyPr>
          <a:lstStyle/>
          <a:p>
            <a:pPr marL="171450" indent="-171450">
              <a:buFont typeface="Wingdings" pitchFamily="2" charset="2"/>
              <a:buChar char="§"/>
            </a:pPr>
            <a:r>
              <a:rPr lang="en-US" sz="1100" dirty="0" smtClean="0"/>
              <a:t>Associate</a:t>
            </a:r>
          </a:p>
          <a:p>
            <a:pPr marL="171450" indent="-171450">
              <a:buFont typeface="Wingdings" pitchFamily="2" charset="2"/>
              <a:buChar char="§"/>
            </a:pPr>
            <a:r>
              <a:rPr lang="en-US" sz="1100" dirty="0" smtClean="0"/>
              <a:t>Associate Consultant</a:t>
            </a:r>
          </a:p>
          <a:p>
            <a:pPr marL="171450" indent="-171450">
              <a:buFont typeface="Wingdings" pitchFamily="2" charset="2"/>
              <a:buChar char="§"/>
            </a:pPr>
            <a:r>
              <a:rPr lang="en-US" sz="1100" dirty="0" smtClean="0"/>
              <a:t>(Business School); </a:t>
            </a:r>
            <a:r>
              <a:rPr lang="en-US" sz="1100" i="1" dirty="0" smtClean="0"/>
              <a:t>Business Consultant Intern</a:t>
            </a:r>
          </a:p>
          <a:p>
            <a:pPr marL="171450" indent="-171450">
              <a:buFont typeface="Wingdings" pitchFamily="2" charset="2"/>
              <a:buChar char="§"/>
            </a:pPr>
            <a:r>
              <a:rPr lang="en-US" sz="1100" i="1" dirty="0" smtClean="0"/>
              <a:t>Consultant</a:t>
            </a:r>
          </a:p>
          <a:p>
            <a:pPr marL="171450" indent="-171450">
              <a:buFont typeface="Wingdings" pitchFamily="2" charset="2"/>
              <a:buChar char="§"/>
            </a:pPr>
            <a:r>
              <a:rPr lang="en-US" sz="1100" dirty="0" smtClean="0"/>
              <a:t>Manager</a:t>
            </a:r>
          </a:p>
          <a:p>
            <a:pPr marL="171450" indent="-171450">
              <a:buFont typeface="Wingdings" pitchFamily="2" charset="2"/>
              <a:buChar char="§"/>
            </a:pPr>
            <a:r>
              <a:rPr lang="en-US" sz="1100" dirty="0" smtClean="0"/>
              <a:t>Associate Principal</a:t>
            </a:r>
          </a:p>
          <a:p>
            <a:pPr marL="171450" indent="-171450">
              <a:buFont typeface="Wingdings" pitchFamily="2" charset="2"/>
              <a:buChar char="§"/>
            </a:pPr>
            <a:r>
              <a:rPr lang="en-US" sz="1100" dirty="0" smtClean="0"/>
              <a:t>Principal</a:t>
            </a:r>
          </a:p>
        </p:txBody>
      </p:sp>
      <p:cxnSp>
        <p:nvCxnSpPr>
          <p:cNvPr id="32" name="Straight Connector 31"/>
          <p:cNvCxnSpPr/>
          <p:nvPr/>
        </p:nvCxnSpPr>
        <p:spPr>
          <a:xfrm>
            <a:off x="152400" y="1270000"/>
            <a:ext cx="8607552" cy="86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286000" y="2786015"/>
            <a:ext cx="6477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249424" y="3878338"/>
            <a:ext cx="647395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286000" y="5276850"/>
            <a:ext cx="6473952"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4809" y="749643"/>
            <a:ext cx="8736106" cy="523220"/>
          </a:xfrm>
          <a:prstGeom prst="rect">
            <a:avLst/>
          </a:prstGeom>
        </p:spPr>
        <p:txBody>
          <a:bodyPr wrap="square">
            <a:spAutoFit/>
          </a:bodyPr>
          <a:lstStyle/>
          <a:p>
            <a:r>
              <a:rPr lang="en-US" sz="1400" i="1" dirty="0" smtClean="0">
                <a:solidFill>
                  <a:schemeClr val="bg2"/>
                </a:solidFill>
              </a:rPr>
              <a:t>Our </a:t>
            </a:r>
            <a:r>
              <a:rPr lang="en-US" sz="1400" i="1" dirty="0">
                <a:solidFill>
                  <a:schemeClr val="bg2"/>
                </a:solidFill>
              </a:rPr>
              <a:t>singular focus over our 30 years has been to help global companies maximize their sales and marketing organizations’ performance and results. </a:t>
            </a:r>
          </a:p>
        </p:txBody>
      </p:sp>
      <p:sp>
        <p:nvSpPr>
          <p:cNvPr id="26" name="Rectangle 25"/>
          <p:cNvSpPr/>
          <p:nvPr/>
        </p:nvSpPr>
        <p:spPr>
          <a:xfrm>
            <a:off x="2286000" y="1356870"/>
            <a:ext cx="6477000" cy="1348190"/>
          </a:xfrm>
          <a:prstGeom prst="rect">
            <a:avLst/>
          </a:prstGeom>
          <a:ln>
            <a:noFill/>
          </a:ln>
        </p:spPr>
        <p:txBody>
          <a:bodyPr wrap="square">
            <a:spAutoFit/>
          </a:bodyPr>
          <a:lstStyle/>
          <a:p>
            <a:pPr indent="-206375">
              <a:lnSpc>
                <a:spcPct val="106000"/>
              </a:lnSpc>
              <a:spcBef>
                <a:spcPts val="600"/>
              </a:spcBef>
              <a:buClr>
                <a:srgbClr val="000000"/>
              </a:buClr>
              <a:buSzPct val="100000"/>
            </a:pPr>
            <a:r>
              <a:rPr lang="en-US" sz="1100" dirty="0" smtClean="0">
                <a:solidFill>
                  <a:srgbClr val="000000"/>
                </a:solidFill>
                <a:latin typeface="+mj-lt"/>
                <a:ea typeface="+mn-ea"/>
                <a:cs typeface="Calibri" pitchFamily="34" charset="0"/>
              </a:rPr>
              <a:t>Students must directly apply for one of two roles:</a:t>
            </a:r>
          </a:p>
          <a:p>
            <a:pPr marL="171450" lvl="1" indent="-171450">
              <a:lnSpc>
                <a:spcPct val="106000"/>
              </a:lnSpc>
              <a:buClr>
                <a:srgbClr val="000000"/>
              </a:buClr>
              <a:buSzPct val="100000"/>
              <a:buFont typeface="Wingdings" pitchFamily="2" charset="2"/>
              <a:buChar char="§"/>
            </a:pPr>
            <a:r>
              <a:rPr lang="en-US" sz="1100" b="1" dirty="0" smtClean="0"/>
              <a:t>Business Consultant- </a:t>
            </a:r>
            <a:r>
              <a:rPr lang="en-US" sz="1100" dirty="0" smtClean="0"/>
              <a:t>serve </a:t>
            </a:r>
            <a:r>
              <a:rPr lang="en-US" sz="1100" dirty="0"/>
              <a:t>on project teams that deliver high-quality marketing and sales strategy projects to clients. In particular, Business Consultants possess qualitative research and unstructured problem solving skills and/or advanced quantitative analytics </a:t>
            </a:r>
            <a:r>
              <a:rPr lang="en-US" sz="1100" dirty="0" smtClean="0"/>
              <a:t>skills</a:t>
            </a:r>
            <a:endParaRPr lang="en-US" sz="1100" b="1" dirty="0" smtClean="0"/>
          </a:p>
          <a:p>
            <a:pPr marL="171450" lvl="1" indent="-171450">
              <a:lnSpc>
                <a:spcPct val="106000"/>
              </a:lnSpc>
              <a:buClr>
                <a:srgbClr val="000000"/>
              </a:buClr>
              <a:buSzPct val="100000"/>
              <a:buFont typeface="Wingdings" pitchFamily="2" charset="2"/>
              <a:buChar char="§"/>
            </a:pPr>
            <a:r>
              <a:rPr lang="en-US" sz="1100" b="1" dirty="0" smtClean="0"/>
              <a:t>Business </a:t>
            </a:r>
            <a:r>
              <a:rPr lang="en-US" sz="1100" b="1" dirty="0"/>
              <a:t>Operations </a:t>
            </a:r>
            <a:r>
              <a:rPr lang="en-US" sz="1100" b="1" dirty="0" smtClean="0"/>
              <a:t>Consultant- </a:t>
            </a:r>
            <a:r>
              <a:rPr lang="en-US" sz="1100" dirty="0" smtClean="0"/>
              <a:t>manage </a:t>
            </a:r>
            <a:r>
              <a:rPr lang="en-US" sz="1100" dirty="0"/>
              <a:t>overall projects and client engagements. They support our clients' sales and marketing activities and ensure productivity and profitability in their business operations</a:t>
            </a:r>
            <a:r>
              <a:rPr lang="en-US" sz="1100" dirty="0" smtClean="0"/>
              <a:t>.  </a:t>
            </a:r>
          </a:p>
        </p:txBody>
      </p:sp>
      <p:sp>
        <p:nvSpPr>
          <p:cNvPr id="27" name="Rectangle 26"/>
          <p:cNvSpPr/>
          <p:nvPr/>
        </p:nvSpPr>
        <p:spPr>
          <a:xfrm>
            <a:off x="5199063" y="2919945"/>
            <a:ext cx="3352800" cy="779572"/>
          </a:xfrm>
          <a:prstGeom prst="rect">
            <a:avLst/>
          </a:prstGeom>
        </p:spPr>
        <p:txBody>
          <a:bodyPr wrap="square">
            <a:spAutoFit/>
          </a:bodyPr>
          <a:lstStyle/>
          <a:p>
            <a:pPr marL="0" lvl="1">
              <a:lnSpc>
                <a:spcPct val="106000"/>
              </a:lnSpc>
              <a:buClr>
                <a:srgbClr val="000000"/>
              </a:buClr>
              <a:buSzPct val="100000"/>
            </a:pPr>
            <a:r>
              <a:rPr lang="en-US" sz="1100" dirty="0" smtClean="0"/>
              <a:t>Round 2</a:t>
            </a:r>
            <a:endParaRPr lang="en-US" sz="1100" dirty="0"/>
          </a:p>
          <a:p>
            <a:pPr marL="342900" lvl="1" indent="-171450">
              <a:buFont typeface="Wingdings" pitchFamily="2" charset="2"/>
              <a:buChar char="§"/>
            </a:pPr>
            <a:r>
              <a:rPr lang="en-US" sz="1100" dirty="0" smtClean="0"/>
              <a:t>1 fit/behavioral interview </a:t>
            </a:r>
          </a:p>
          <a:p>
            <a:pPr marL="342900" lvl="1" indent="-171450">
              <a:buFont typeface="Wingdings" pitchFamily="2" charset="2"/>
              <a:buChar char="§"/>
            </a:pPr>
            <a:r>
              <a:rPr lang="en-US" sz="1100" dirty="0" smtClean="0"/>
              <a:t>1 case </a:t>
            </a:r>
            <a:r>
              <a:rPr lang="en-US" sz="1100" dirty="0"/>
              <a:t>interview </a:t>
            </a:r>
            <a:endParaRPr lang="en-US" sz="1100" dirty="0" smtClean="0"/>
          </a:p>
          <a:p>
            <a:pPr marL="342900" lvl="1" indent="-171450">
              <a:buFont typeface="Wingdings" pitchFamily="2" charset="2"/>
              <a:buChar char="§"/>
            </a:pPr>
            <a:r>
              <a:rPr lang="en-US" sz="1100" dirty="0" smtClean="0"/>
              <a:t>1 presentation case</a:t>
            </a:r>
            <a:endParaRPr lang="en-US" sz="1100"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13</a:t>
            </a:fld>
            <a:endParaRPr lang="en-US" dirty="0"/>
          </a:p>
        </p:txBody>
      </p:sp>
    </p:spTree>
    <p:extLst>
      <p:ext uri="{BB962C8B-B14F-4D97-AF65-F5344CB8AC3E}">
        <p14:creationId xmlns:p14="http://schemas.microsoft.com/office/powerpoint/2010/main" val="494089407"/>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9" descr="layersvert"/>
          <p:cNvPicPr>
            <a:picLocks noChangeAspect="1" noChangeArrowheads="1"/>
          </p:cNvPicPr>
          <p:nvPr/>
        </p:nvPicPr>
        <p:blipFill>
          <a:blip r:embed="rId2">
            <a:lum bright="60000" contrast="-60000"/>
          </a:blip>
          <a:srcRect/>
          <a:stretch>
            <a:fillRect/>
          </a:stretch>
        </p:blipFill>
        <p:spPr bwMode="auto">
          <a:xfrm>
            <a:off x="0" y="3962400"/>
            <a:ext cx="9144000" cy="2908300"/>
          </a:xfrm>
          <a:prstGeom prst="rect">
            <a:avLst/>
          </a:prstGeom>
          <a:noFill/>
          <a:ln w="9525">
            <a:noFill/>
            <a:miter lim="800000"/>
            <a:headEnd/>
            <a:tailEnd/>
          </a:ln>
        </p:spPr>
      </p:pic>
      <p:sp>
        <p:nvSpPr>
          <p:cNvPr id="6" name="Title 1"/>
          <p:cNvSpPr>
            <a:spLocks noGrp="1"/>
          </p:cNvSpPr>
          <p:nvPr>
            <p:ph type="ctrTitle"/>
          </p:nvPr>
        </p:nvSpPr>
        <p:spPr>
          <a:xfrm>
            <a:off x="685800" y="2130425"/>
            <a:ext cx="7772400" cy="1470025"/>
          </a:xfrm>
        </p:spPr>
        <p:txBody>
          <a:bodyPr anchor="ctr"/>
          <a:lstStyle/>
          <a:p>
            <a:pPr algn="ctr"/>
            <a:r>
              <a:rPr lang="en-US" dirty="0" smtClean="0">
                <a:ea typeface="ＭＳ Ｐゴシック" pitchFamily="34" charset="-128"/>
              </a:rPr>
              <a:t>The Basics</a:t>
            </a:r>
          </a:p>
        </p:txBody>
      </p:sp>
      <p:sp>
        <p:nvSpPr>
          <p:cNvPr id="2" name="Slide Number Placeholder 1"/>
          <p:cNvSpPr>
            <a:spLocks noGrp="1"/>
          </p:cNvSpPr>
          <p:nvPr>
            <p:ph type="sldNum" sz="quarter" idx="11"/>
          </p:nvPr>
        </p:nvSpPr>
        <p:spPr/>
        <p:txBody>
          <a:bodyPr/>
          <a:lstStyle/>
          <a:p>
            <a:pPr>
              <a:defRPr/>
            </a:pPr>
            <a:fld id="{D27468C5-B7D7-4747-8C9A-D2E8B4FA8FD8}" type="slidenum">
              <a:rPr lang="en-US" smtClean="0"/>
              <a:pPr>
                <a:defRPr/>
              </a:pPr>
              <a:t>14</a:t>
            </a:fld>
            <a:endParaRPr lang="en-US" dirty="0"/>
          </a:p>
        </p:txBody>
      </p:sp>
    </p:spTree>
    <p:extLst>
      <p:ext uri="{BB962C8B-B14F-4D97-AF65-F5344CB8AC3E}">
        <p14:creationId xmlns:p14="http://schemas.microsoft.com/office/powerpoint/2010/main" val="3051232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800" y="863600"/>
            <a:ext cx="8640763" cy="5842000"/>
          </a:xfrm>
          <a:prstGeom prst="rect">
            <a:avLst/>
          </a:prstGeom>
          <a:noFill/>
          <a:ln>
            <a:noFill/>
          </a:ln>
        </p:spPr>
        <p:style>
          <a:lnRef idx="2">
            <a:schemeClr val="dk1"/>
          </a:lnRef>
          <a:fillRef idx="1">
            <a:schemeClr val="lt1"/>
          </a:fillRef>
          <a:effectRef idx="0">
            <a:schemeClr val="dk1"/>
          </a:effectRef>
          <a:fontRef idx="minor">
            <a:schemeClr val="dk1"/>
          </a:fontRef>
        </p:style>
        <p:txBody>
          <a:bodyPr/>
          <a:lstStyle/>
          <a:p>
            <a:pPr defTabSz="457200" eaLnBrk="1" hangingPunct="1">
              <a:defRPr/>
            </a:pPr>
            <a:r>
              <a:rPr lang="en-US" b="1" dirty="0">
                <a:solidFill>
                  <a:schemeClr val="tx1"/>
                </a:solidFill>
              </a:rPr>
              <a:t>Overview</a:t>
            </a:r>
          </a:p>
          <a:p>
            <a:pPr>
              <a:defRPr/>
            </a:pPr>
            <a:r>
              <a:rPr lang="en-US" sz="1200" dirty="0"/>
              <a:t>There are many opportunities throughout the case to demonstrate structured thinking. Creating an initial framework is one of the most critical parts of the case. Your framework should serve as “roadmap” throughout the case. While many resources provide sample frameworks, there is no right or wrong framework. Instead a good structure often has the following qualities:</a:t>
            </a:r>
          </a:p>
          <a:p>
            <a:pPr>
              <a:defRPr/>
            </a:pPr>
            <a:endParaRPr lang="en-US" sz="1200" dirty="0"/>
          </a:p>
          <a:p>
            <a:pPr marL="171450" indent="-171450">
              <a:buFont typeface="Wingdings" panose="05000000000000000000" pitchFamily="2" charset="2"/>
              <a:buChar char="§"/>
              <a:defRPr/>
            </a:pPr>
            <a:r>
              <a:rPr lang="en-US" sz="1200" dirty="0"/>
              <a:t>MECE- Mutually Exclusive, Collectively Exhaustive</a:t>
            </a:r>
          </a:p>
          <a:p>
            <a:pPr marL="171450" indent="-171450">
              <a:buFont typeface="Wingdings" panose="05000000000000000000" pitchFamily="2" charset="2"/>
              <a:buChar char="§"/>
              <a:defRPr/>
            </a:pPr>
            <a:r>
              <a:rPr lang="en-US" sz="1200" dirty="0"/>
              <a:t>Horizontal and Vertical Logic</a:t>
            </a:r>
          </a:p>
          <a:p>
            <a:pPr marL="171450" indent="-171450">
              <a:buFont typeface="Wingdings" panose="05000000000000000000" pitchFamily="2" charset="2"/>
              <a:buChar char="§"/>
              <a:defRPr/>
            </a:pPr>
            <a:r>
              <a:rPr lang="en-US" sz="1200" dirty="0"/>
              <a:t>Customized based on the prompt</a:t>
            </a:r>
          </a:p>
          <a:p>
            <a:pPr marL="171450" indent="-171450">
              <a:buFont typeface="Wingdings" panose="05000000000000000000" pitchFamily="2" charset="2"/>
              <a:buChar char="§"/>
              <a:defRPr/>
            </a:pPr>
            <a:endParaRPr lang="en-US" sz="1200" dirty="0"/>
          </a:p>
          <a:p>
            <a:pPr>
              <a:defRPr/>
            </a:pPr>
            <a:r>
              <a:rPr lang="en-US" b="1" dirty="0">
                <a:solidFill>
                  <a:schemeClr val="tx1"/>
                </a:solidFill>
              </a:rPr>
              <a:t>Case Starts</a:t>
            </a:r>
          </a:p>
          <a:p>
            <a:pPr>
              <a:defRPr/>
            </a:pPr>
            <a:r>
              <a:rPr lang="en-US" sz="1200" dirty="0"/>
              <a:t>The  following prompts give you an opportunity to practice developing frameworks. Several of the prompts are based on recent news articles. For additional practice read a WSJ, BusinessWeek, etc. article, write down an initial approach, then verbally pitch/explain your framework. </a:t>
            </a:r>
          </a:p>
          <a:p>
            <a:pPr>
              <a:defRPr/>
            </a:pPr>
            <a:endParaRPr lang="en-US" sz="1200" dirty="0"/>
          </a:p>
          <a:p>
            <a:pPr marL="228600" indent="-228600">
              <a:buFont typeface="+mj-lt"/>
              <a:buAutoNum type="arabicPeriod"/>
              <a:defRPr/>
            </a:pPr>
            <a:r>
              <a:rPr lang="en-US" sz="1100" dirty="0"/>
              <a:t>Several restaurants in a small in Washington, D.C  neighborhood have begun to offer a bottomless mimosa brunch (unlimited drinks for a fixed price) within the past year. Charles, a small restaurant owner, is considering introducing this offering and approached your firm for advice.</a:t>
            </a:r>
          </a:p>
          <a:p>
            <a:pPr marL="228600" indent="-228600">
              <a:buFont typeface="+mj-lt"/>
              <a:buAutoNum type="arabicPeriod"/>
              <a:defRPr/>
            </a:pPr>
            <a:endParaRPr lang="en-US" sz="1100" dirty="0"/>
          </a:p>
          <a:p>
            <a:pPr marL="228600" indent="-228600">
              <a:buFont typeface="+mj-lt"/>
              <a:buAutoNum type="arabicPeriod"/>
              <a:defRPr/>
            </a:pPr>
            <a:r>
              <a:rPr lang="en-US" sz="1100" dirty="0" err="1"/>
              <a:t>BigBank</a:t>
            </a:r>
            <a:r>
              <a:rPr lang="en-US" sz="1100" dirty="0"/>
              <a:t>, a large financial services company, has recently acquired a smaller boutique bank specializing in mortgages. The deal has closed and moved into the integration phase. As part of the acquisition, </a:t>
            </a:r>
            <a:r>
              <a:rPr lang="en-US" sz="1100" dirty="0" err="1"/>
              <a:t>BigBank</a:t>
            </a:r>
            <a:r>
              <a:rPr lang="en-US" sz="1100" dirty="0"/>
              <a:t> has promised 10% IT synergies. Additionally the CIO promised the CEO that all system, data, and application migration will occur within the next six months. </a:t>
            </a:r>
            <a:r>
              <a:rPr lang="en-US" sz="1100" dirty="0" err="1"/>
              <a:t>BigBank</a:t>
            </a:r>
            <a:r>
              <a:rPr lang="en-US" sz="1100" dirty="0"/>
              <a:t> is asking several consulting firms for assistance. What is your firms proposal?</a:t>
            </a:r>
          </a:p>
          <a:p>
            <a:pPr marL="228600" indent="-228600">
              <a:buFont typeface="+mj-lt"/>
              <a:buAutoNum type="arabicPeriod"/>
              <a:defRPr/>
            </a:pPr>
            <a:endParaRPr lang="en-US" sz="1100" dirty="0"/>
          </a:p>
          <a:p>
            <a:pPr marL="228600" indent="-228600">
              <a:buFont typeface="+mj-lt"/>
              <a:buAutoNum type="arabicPeriod"/>
              <a:defRPr/>
            </a:pPr>
            <a:r>
              <a:rPr lang="en-US" sz="1100" dirty="0"/>
              <a:t>Your friend Lauren has come to you with an amazing business proposal. She wants to sell frozen ice at Rehoboth Beach during the summer. She is confident the business will be a success but needs $10,000 to get it started. Will you fund her </a:t>
            </a:r>
            <a:r>
              <a:rPr lang="en-US" sz="1100" dirty="0" smtClean="0"/>
              <a:t>proposal</a:t>
            </a:r>
            <a:r>
              <a:rPr lang="en-US" sz="1100" dirty="0"/>
              <a:t>?</a:t>
            </a:r>
          </a:p>
          <a:p>
            <a:pPr marL="228600" indent="-228600">
              <a:buFont typeface="+mj-lt"/>
              <a:buAutoNum type="arabicPeriod"/>
              <a:defRPr/>
            </a:pPr>
            <a:endParaRPr lang="en-US" sz="1100" dirty="0"/>
          </a:p>
          <a:p>
            <a:pPr marL="228600" indent="-228600">
              <a:buFont typeface="+mj-lt"/>
              <a:buAutoNum type="arabicPeriod"/>
              <a:defRPr/>
            </a:pPr>
            <a:r>
              <a:rPr lang="en-US" sz="1100" dirty="0"/>
              <a:t>Archeologists recently discovered a living dinosaur in Australia! What should they do?</a:t>
            </a:r>
          </a:p>
          <a:p>
            <a:pPr marL="228600" indent="-228600">
              <a:buFont typeface="+mj-lt"/>
              <a:buAutoNum type="arabicPeriod"/>
              <a:defRPr/>
            </a:pPr>
            <a:endParaRPr lang="en-US" sz="1100" dirty="0"/>
          </a:p>
          <a:p>
            <a:pPr marL="228600" indent="-228600">
              <a:buFont typeface="+mj-lt"/>
              <a:buAutoNum type="arabicPeriod"/>
              <a:defRPr/>
            </a:pPr>
            <a:r>
              <a:rPr lang="en-US" sz="1100" dirty="0"/>
              <a:t>Bolts, a contract manufacturing company, started out making nuts an bolts for the aerospace industry. Through several strategic partnerships, Bolts expanded its products to meet customer needs for ever more complex aircraft. Manufacturing and managing all these products has become cumbersome. </a:t>
            </a:r>
            <a:r>
              <a:rPr lang="en-US" sz="1100" dirty="0" smtClean="0"/>
              <a:t>Bolts has </a:t>
            </a:r>
            <a:r>
              <a:rPr lang="en-US" sz="1100" dirty="0"/>
              <a:t>hired you to assess its product offerings and determine  which SKUs to retire</a:t>
            </a:r>
            <a:r>
              <a:rPr lang="en-US" sz="1100" dirty="0" smtClean="0"/>
              <a:t>.</a:t>
            </a:r>
            <a:endParaRPr lang="en-US" sz="1100" dirty="0"/>
          </a:p>
        </p:txBody>
      </p:sp>
      <p:pic>
        <p:nvPicPr>
          <p:cNvPr id="512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4" name="TextBox 9"/>
          <p:cNvSpPr txBox="1">
            <a:spLocks noChangeArrowheads="1"/>
          </p:cNvSpPr>
          <p:nvPr/>
        </p:nvSpPr>
        <p:spPr bwMode="auto">
          <a:xfrm>
            <a:off x="1653381"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ctr" eaLnBrk="1" hangingPunct="1"/>
            <a:r>
              <a:rPr lang="en-US" sz="2400" b="1" dirty="0"/>
              <a:t>A Structured Approach</a:t>
            </a:r>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15</a:t>
            </a:fld>
            <a:endParaRPr lang="en-US" dirty="0"/>
          </a:p>
        </p:txBody>
      </p:sp>
    </p:spTree>
    <p:extLst>
      <p:ext uri="{BB962C8B-B14F-4D97-AF65-F5344CB8AC3E}">
        <p14:creationId xmlns:p14="http://schemas.microsoft.com/office/powerpoint/2010/main" val="1179510948"/>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3" name="Table 2"/>
          <p:cNvGraphicFramePr>
            <a:graphicFrameLocks noGrp="1"/>
          </p:cNvGraphicFramePr>
          <p:nvPr>
            <p:extLst>
              <p:ext uri="{D42A27DB-BD31-4B8C-83A1-F6EECF244321}">
                <p14:modId xmlns:p14="http://schemas.microsoft.com/office/powerpoint/2010/main" val="847395563"/>
              </p:ext>
            </p:extLst>
          </p:nvPr>
        </p:nvGraphicFramePr>
        <p:xfrm>
          <a:off x="304800" y="873125"/>
          <a:ext cx="8639175" cy="5984875"/>
        </p:xfrm>
        <a:graphic>
          <a:graphicData uri="http://schemas.openxmlformats.org/drawingml/2006/table">
            <a:tbl>
              <a:tblPr firstRow="1" bandRow="1">
                <a:tableStyleId>{616DA210-FB5B-4158-B5E0-FEB733F419BA}</a:tableStyleId>
              </a:tblPr>
              <a:tblGrid>
                <a:gridCol w="8639175"/>
              </a:tblGrid>
              <a:tr h="5984875">
                <a:tc>
                  <a:txBody>
                    <a:bodyPr/>
                    <a:lstStyle/>
                    <a:p>
                      <a:pPr algn="l"/>
                      <a:r>
                        <a:rPr lang="en-US" sz="1800" kern="1200" dirty="0" smtClean="0"/>
                        <a:t>Public Math Resources</a:t>
                      </a:r>
                      <a:endParaRPr lang="en-US" sz="1800" b="1" i="0" kern="1200" dirty="0">
                        <a:solidFill>
                          <a:schemeClr val="tx1"/>
                        </a:solidFill>
                        <a:latin typeface="+mn-lt"/>
                        <a:ea typeface="+mn-ea"/>
                        <a:cs typeface="+mn-cs"/>
                      </a:endParaRPr>
                    </a:p>
                    <a:p>
                      <a:r>
                        <a:rPr lang="en-US" sz="1200" b="0" kern="1200" dirty="0" smtClean="0"/>
                        <a:t>Almost</a:t>
                      </a:r>
                      <a:r>
                        <a:rPr lang="en-US" sz="1200" b="0" kern="1200" baseline="0" dirty="0" smtClean="0"/>
                        <a:t> all case interviews have a quantitative portion. You must be comfortable confidently articulating basic calculations in front of someone else. If you find yourself struggling, there are several websites that let you focus on public math. </a:t>
                      </a:r>
                    </a:p>
                    <a:p>
                      <a:endParaRPr lang="en-US" sz="1200" b="0" kern="1200" baseline="0" dirty="0" smtClean="0"/>
                    </a:p>
                    <a:p>
                      <a:pPr marL="171450" indent="-171450">
                        <a:buFont typeface="Arial" panose="020B0604020202020204" pitchFamily="34" charset="0"/>
                        <a:buChar char="•"/>
                      </a:pPr>
                      <a:r>
                        <a:rPr lang="en-US" sz="1200" b="0" kern="1200" baseline="0" dirty="0" smtClean="0">
                          <a:hlinkClick r:id="rId3"/>
                        </a:rPr>
                        <a:t>https://www.caseinterview.com/math</a:t>
                      </a:r>
                      <a:endParaRPr lang="en-US" sz="1200" b="0" kern="1200" baseline="0" dirty="0" smtClean="0"/>
                    </a:p>
                    <a:p>
                      <a:pPr marL="171450" indent="-171450">
                        <a:buFont typeface="Arial" panose="020B0604020202020204" pitchFamily="34" charset="0"/>
                        <a:buChar char="•"/>
                      </a:pPr>
                      <a:r>
                        <a:rPr lang="en-US" sz="1200" b="0" dirty="0" smtClean="0">
                          <a:hlinkClick r:id="rId4"/>
                        </a:rPr>
                        <a:t>http://www.mathsisfun.com/worksheets/index.php</a:t>
                      </a:r>
                      <a:endParaRPr lang="en-US" sz="1200" b="0" kern="1200" baseline="0" dirty="0" smtClean="0"/>
                    </a:p>
                    <a:p>
                      <a:endParaRPr lang="en-US" sz="1200" b="0" kern="1200" baseline="0" dirty="0" smtClean="0"/>
                    </a:p>
                    <a:p>
                      <a:r>
                        <a:rPr lang="en-US" sz="1200" b="0" kern="1200" baseline="0" dirty="0" smtClean="0"/>
                        <a:t>In order to replicate the case environment, </a:t>
                      </a:r>
                      <a:r>
                        <a:rPr lang="en-US" sz="1200" b="1" kern="1200" baseline="0" dirty="0" smtClean="0"/>
                        <a:t>time</a:t>
                      </a:r>
                      <a:r>
                        <a:rPr lang="en-US" sz="1200" b="0" kern="1200" baseline="0" dirty="0" smtClean="0"/>
                        <a:t> yourself and </a:t>
                      </a:r>
                      <a:r>
                        <a:rPr lang="en-US" sz="1200" b="1" kern="1200" baseline="0" dirty="0" smtClean="0"/>
                        <a:t>talk</a:t>
                      </a:r>
                      <a:r>
                        <a:rPr lang="en-US" sz="1200" b="0" kern="1200" baseline="0" dirty="0" smtClean="0"/>
                        <a:t> through the math. Once you are comfortable and accurate with your public math, uses cases to practice other analytical aspects and drive to the “so what.”</a:t>
                      </a:r>
                    </a:p>
                    <a:p>
                      <a:endParaRPr lang="en-US" sz="1200" b="0" kern="1200"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sz="1800" b="1" kern="1200" dirty="0" smtClean="0">
                          <a:solidFill>
                            <a:schemeClr val="tx1"/>
                          </a:solidFill>
                          <a:latin typeface="+mn-lt"/>
                          <a:ea typeface="+mn-ea"/>
                          <a:cs typeface="+mn-cs"/>
                        </a:rPr>
                        <a:t>Common Applications</a:t>
                      </a:r>
                    </a:p>
                    <a:p>
                      <a:r>
                        <a:rPr lang="en-US" sz="1200" b="0" u="sng" kern="1200" baseline="0" dirty="0" smtClean="0"/>
                        <a:t>Market Sizing</a:t>
                      </a:r>
                    </a:p>
                    <a:p>
                      <a:r>
                        <a:rPr lang="en-US" sz="1200" b="0" u="none" kern="1200" baseline="0" dirty="0" smtClean="0"/>
                        <a:t>Often components of new product or market entry cases, Market Sizing tests your logical structuring and quantitative skills.</a:t>
                      </a:r>
                    </a:p>
                    <a:p>
                      <a:r>
                        <a:rPr lang="en-US" sz="1200" b="0" u="none" kern="1200" baseline="0" dirty="0" smtClean="0"/>
                        <a:t>There are many examples online and in other books. This as an opportunity to showcase your business intuition. Examples include:</a:t>
                      </a:r>
                    </a:p>
                    <a:p>
                      <a:pPr marL="171450" indent="-171450">
                        <a:buFont typeface="Wingdings" panose="05000000000000000000" pitchFamily="2" charset="2"/>
                        <a:buChar char="§"/>
                      </a:pPr>
                      <a:r>
                        <a:rPr lang="en-US" sz="1200" b="0" u="none" kern="1200" baseline="0" dirty="0" smtClean="0"/>
                        <a:t>What is the annual contact lens market in the US?</a:t>
                      </a:r>
                    </a:p>
                    <a:p>
                      <a:pPr marL="171450" indent="-171450">
                        <a:buFont typeface="Wingdings" panose="05000000000000000000" pitchFamily="2" charset="2"/>
                        <a:buChar char="§"/>
                      </a:pPr>
                      <a:r>
                        <a:rPr lang="en-US" sz="1200" b="0" u="none" kern="1200" baseline="0" dirty="0" smtClean="0"/>
                        <a:t>How many mailboxes are in the city of Manhattan?</a:t>
                      </a:r>
                    </a:p>
                    <a:p>
                      <a:pPr marL="171450" indent="-171450">
                        <a:buFont typeface="Wingdings" panose="05000000000000000000" pitchFamily="2" charset="2"/>
                        <a:buChar char="§"/>
                      </a:pPr>
                      <a:r>
                        <a:rPr lang="en-US" sz="1200" b="0" u="none" kern="1200" baseline="0" dirty="0" smtClean="0"/>
                        <a:t>How much money is annually donated to the New York City youth orchestra?</a:t>
                      </a:r>
                    </a:p>
                    <a:p>
                      <a:pPr marL="171450" indent="-171450">
                        <a:buFont typeface="Wingdings" panose="05000000000000000000" pitchFamily="2" charset="2"/>
                        <a:buChar char="§"/>
                      </a:pPr>
                      <a:endParaRPr lang="en-US" sz="1200" b="0" u="none" kern="1200" baseline="0" dirty="0" smtClean="0"/>
                    </a:p>
                    <a:p>
                      <a:endParaRPr lang="en-US" sz="1200" b="0" kern="1200" baseline="0" dirty="0" smtClean="0"/>
                    </a:p>
                    <a:p>
                      <a:r>
                        <a:rPr lang="en-US" sz="1200" b="0" u="sng" kern="1200" baseline="0" dirty="0" smtClean="0"/>
                        <a:t>Profitability</a:t>
                      </a:r>
                    </a:p>
                    <a:p>
                      <a:r>
                        <a:rPr lang="en-US" sz="1200" b="0" u="none" kern="1200" baseline="0" dirty="0" smtClean="0"/>
                        <a:t>In previous years, profitability or profit maximization was the most common case type. Furthermore, almost all cases use one part of the equation. The profit equation is a good starting point in your cases preparation. A quick refresher is below:</a:t>
                      </a:r>
                    </a:p>
                    <a:p>
                      <a:endParaRPr lang="en-US" sz="1200" b="0" u="none" kern="1200" baseline="0" dirty="0" smtClean="0"/>
                    </a:p>
                    <a:p>
                      <a:endParaRPr lang="en-US" sz="1200" b="0" u="sng" kern="1200" baseline="0" dirty="0" smtClean="0"/>
                    </a:p>
                    <a:p>
                      <a:endParaRPr lang="en-US" sz="1200" b="0" u="sng" kern="1200" baseline="0" dirty="0" smtClean="0"/>
                    </a:p>
                    <a:p>
                      <a:endParaRPr lang="en-US" sz="1200" b="0" u="sng" kern="1200" baseline="0" dirty="0" smtClean="0"/>
                    </a:p>
                    <a:p>
                      <a:endParaRPr lang="en-US" sz="1200" b="0" kern="1200" baseline="0" dirty="0" smtClean="0"/>
                    </a:p>
                    <a:p>
                      <a:endParaRPr lang="en-US" sz="1200" b="0" kern="1200" baseline="0" dirty="0" smtClean="0"/>
                    </a:p>
                    <a:p>
                      <a:endParaRPr lang="en-US" sz="1200" b="0" kern="1200" baseline="0" dirty="0" smtClean="0"/>
                    </a:p>
                  </a:txBody>
                  <a:tcPr marT="45703" marB="45703">
                    <a:lnL w="12700" cmpd="sng">
                      <a:noFill/>
                    </a:lnL>
                    <a:lnR w="12700" cmpd="sng">
                      <a:noFill/>
                    </a:lnR>
                    <a:lnT w="12700" cmpd="sng">
                      <a:noFill/>
                    </a:lnT>
                    <a:lnB w="25400" cmpd="sng">
                      <a:noFill/>
                    </a:lnB>
                    <a:lnTlToBr w="12700" cmpd="sng">
                      <a:noFill/>
                      <a:prstDash val="solid"/>
                    </a:lnTlToBr>
                    <a:lnBlToTr w="12700" cmpd="sng">
                      <a:noFill/>
                      <a:prstDash val="solid"/>
                    </a:lnBlToTr>
                  </a:tcPr>
                </a:tc>
              </a:tr>
            </a:tbl>
          </a:graphicData>
        </a:graphic>
      </p:graphicFrame>
      <p:sp>
        <p:nvSpPr>
          <p:cNvPr id="4" name="Rectangle 3"/>
          <p:cNvSpPr/>
          <p:nvPr/>
        </p:nvSpPr>
        <p:spPr>
          <a:xfrm>
            <a:off x="952500" y="5486400"/>
            <a:ext cx="1752600" cy="3048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200" dirty="0"/>
              <a:t>Revenue</a:t>
            </a:r>
          </a:p>
        </p:txBody>
      </p:sp>
      <p:sp>
        <p:nvSpPr>
          <p:cNvPr id="11" name="Rectangle 10"/>
          <p:cNvSpPr/>
          <p:nvPr/>
        </p:nvSpPr>
        <p:spPr>
          <a:xfrm>
            <a:off x="3660775" y="5481638"/>
            <a:ext cx="1755775" cy="290512"/>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200" dirty="0"/>
              <a:t>Cost</a:t>
            </a:r>
          </a:p>
        </p:txBody>
      </p:sp>
      <p:cxnSp>
        <p:nvCxnSpPr>
          <p:cNvPr id="6" name="Straight Connector 5"/>
          <p:cNvCxnSpPr/>
          <p:nvPr/>
        </p:nvCxnSpPr>
        <p:spPr>
          <a:xfrm>
            <a:off x="2971800" y="5638800"/>
            <a:ext cx="304800"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5753100" y="5638800"/>
            <a:ext cx="381000"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5753100" y="5715000"/>
            <a:ext cx="381000" cy="0"/>
          </a:xfrm>
          <a:prstGeom prst="line">
            <a:avLst/>
          </a:prstGeom>
        </p:spPr>
        <p:style>
          <a:lnRef idx="1">
            <a:schemeClr val="dk1"/>
          </a:lnRef>
          <a:fillRef idx="0">
            <a:schemeClr val="dk1"/>
          </a:fillRef>
          <a:effectRef idx="0">
            <a:schemeClr val="dk1"/>
          </a:effectRef>
          <a:fontRef idx="minor">
            <a:schemeClr val="tx1"/>
          </a:fontRef>
        </p:style>
      </p:cxnSp>
      <p:sp>
        <p:nvSpPr>
          <p:cNvPr id="16" name="Rectangle 15"/>
          <p:cNvSpPr/>
          <p:nvPr/>
        </p:nvSpPr>
        <p:spPr>
          <a:xfrm>
            <a:off x="6438900" y="5481638"/>
            <a:ext cx="1752600" cy="3048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200" dirty="0"/>
              <a:t>Profit</a:t>
            </a:r>
          </a:p>
        </p:txBody>
      </p:sp>
      <p:sp>
        <p:nvSpPr>
          <p:cNvPr id="18" name="Rectangle 17"/>
          <p:cNvSpPr/>
          <p:nvPr/>
        </p:nvSpPr>
        <p:spPr>
          <a:xfrm>
            <a:off x="952500" y="5786438"/>
            <a:ext cx="1752600" cy="842962"/>
          </a:xfrm>
          <a:prstGeom prst="rect">
            <a:avLst/>
          </a:prstGeom>
        </p:spPr>
        <p:style>
          <a:lnRef idx="2">
            <a:schemeClr val="dk1"/>
          </a:lnRef>
          <a:fillRef idx="1">
            <a:schemeClr val="lt1"/>
          </a:fillRef>
          <a:effectRef idx="0">
            <a:schemeClr val="dk1"/>
          </a:effectRef>
          <a:fontRef idx="minor">
            <a:schemeClr val="dk1"/>
          </a:fontRef>
        </p:style>
        <p:txBody>
          <a:bodyPr/>
          <a:lstStyle/>
          <a:p>
            <a:pPr algn="ctr">
              <a:defRPr/>
            </a:pPr>
            <a:r>
              <a:rPr lang="en-US" sz="1000" dirty="0"/>
              <a:t>Price (P)</a:t>
            </a:r>
          </a:p>
          <a:p>
            <a:pPr algn="ctr">
              <a:defRPr/>
            </a:pPr>
            <a:r>
              <a:rPr lang="en-US" sz="1000" dirty="0"/>
              <a:t>X</a:t>
            </a:r>
          </a:p>
          <a:p>
            <a:pPr algn="ctr">
              <a:defRPr/>
            </a:pPr>
            <a:r>
              <a:rPr lang="en-US" sz="1000" dirty="0"/>
              <a:t>Volume/ Quantity (Q)</a:t>
            </a:r>
          </a:p>
          <a:p>
            <a:pPr marL="171450" indent="-171450">
              <a:buFont typeface="Wingdings" panose="05000000000000000000" pitchFamily="2" charset="2"/>
              <a:buChar char="§"/>
              <a:defRPr/>
            </a:pPr>
            <a:endParaRPr lang="en-US" sz="1000" dirty="0"/>
          </a:p>
          <a:p>
            <a:pPr algn="ctr">
              <a:defRPr/>
            </a:pPr>
            <a:r>
              <a:rPr lang="en-US" sz="1000" dirty="0"/>
              <a:t>Consider Product Mix</a:t>
            </a:r>
          </a:p>
        </p:txBody>
      </p:sp>
      <p:sp>
        <p:nvSpPr>
          <p:cNvPr id="19" name="Rectangle 18"/>
          <p:cNvSpPr/>
          <p:nvPr/>
        </p:nvSpPr>
        <p:spPr>
          <a:xfrm>
            <a:off x="3660838" y="5762625"/>
            <a:ext cx="1755648" cy="866775"/>
          </a:xfrm>
          <a:prstGeom prst="rect">
            <a:avLst/>
          </a:prstGeom>
        </p:spPr>
        <p:style>
          <a:lnRef idx="2">
            <a:schemeClr val="dk1"/>
          </a:lnRef>
          <a:fillRef idx="1">
            <a:schemeClr val="lt1"/>
          </a:fillRef>
          <a:effectRef idx="0">
            <a:schemeClr val="dk1"/>
          </a:effectRef>
          <a:fontRef idx="minor">
            <a:schemeClr val="dk1"/>
          </a:fontRef>
        </p:style>
        <p:txBody>
          <a:bodyPr numCol="2"/>
          <a:lstStyle/>
          <a:p>
            <a:pPr marL="171450" indent="-171450">
              <a:buFont typeface="Wingdings" panose="05000000000000000000" pitchFamily="2" charset="2"/>
              <a:buChar char="§"/>
              <a:defRPr/>
            </a:pPr>
            <a:r>
              <a:rPr lang="en-US" sz="1000" dirty="0"/>
              <a:t>Fixed</a:t>
            </a:r>
          </a:p>
          <a:p>
            <a:pPr marL="171450" indent="-171450">
              <a:buFont typeface="Wingdings" panose="05000000000000000000" pitchFamily="2" charset="2"/>
              <a:buChar char="§"/>
              <a:defRPr/>
            </a:pPr>
            <a:r>
              <a:rPr lang="en-US" sz="1000" dirty="0"/>
              <a:t>Variable</a:t>
            </a:r>
          </a:p>
          <a:p>
            <a:pPr marL="171450" indent="-171450">
              <a:buFont typeface="Wingdings" panose="05000000000000000000" pitchFamily="2" charset="2"/>
              <a:buChar char="§"/>
              <a:defRPr/>
            </a:pPr>
            <a:r>
              <a:rPr lang="en-US" sz="1000" dirty="0"/>
              <a:t>F+ V*Q</a:t>
            </a:r>
          </a:p>
          <a:p>
            <a:pPr marL="171450" indent="-171450">
              <a:buFont typeface="Wingdings" panose="05000000000000000000" pitchFamily="2" charset="2"/>
              <a:buChar char="§"/>
              <a:defRPr/>
            </a:pPr>
            <a:endParaRPr lang="en-US" sz="1000" dirty="0"/>
          </a:p>
          <a:p>
            <a:pPr marL="171450" indent="-171450">
              <a:buFont typeface="Wingdings" panose="05000000000000000000" pitchFamily="2" charset="2"/>
              <a:buChar char="§"/>
              <a:defRPr/>
            </a:pPr>
            <a:endParaRPr lang="en-US" sz="1000" dirty="0"/>
          </a:p>
          <a:p>
            <a:pPr marL="171450" indent="-171450">
              <a:buFont typeface="Wingdings" panose="05000000000000000000" pitchFamily="2" charset="2"/>
              <a:buChar char="§"/>
              <a:defRPr/>
            </a:pPr>
            <a:endParaRPr lang="en-US" sz="1000" dirty="0"/>
          </a:p>
          <a:p>
            <a:pPr marL="171450" indent="-171450">
              <a:buFont typeface="Wingdings" panose="05000000000000000000" pitchFamily="2" charset="2"/>
              <a:buChar char="§"/>
              <a:defRPr/>
            </a:pPr>
            <a:r>
              <a:rPr lang="en-US" sz="1000" dirty="0"/>
              <a:t>Overhead</a:t>
            </a:r>
          </a:p>
          <a:p>
            <a:pPr marL="171450" indent="-171450">
              <a:buFont typeface="Wingdings" panose="05000000000000000000" pitchFamily="2" charset="2"/>
              <a:buChar char="§"/>
              <a:defRPr/>
            </a:pPr>
            <a:r>
              <a:rPr lang="en-US" sz="1000" dirty="0"/>
              <a:t>SG&amp;A</a:t>
            </a:r>
          </a:p>
          <a:p>
            <a:pPr marL="171450" indent="-171450">
              <a:buFont typeface="Wingdings" panose="05000000000000000000" pitchFamily="2" charset="2"/>
              <a:buChar char="§"/>
              <a:defRPr/>
            </a:pPr>
            <a:r>
              <a:rPr lang="en-US" sz="1000" dirty="0"/>
              <a:t>Labor</a:t>
            </a:r>
          </a:p>
          <a:p>
            <a:pPr marL="171450" indent="-171450">
              <a:buFont typeface="Wingdings" panose="05000000000000000000" pitchFamily="2" charset="2"/>
              <a:buChar char="§"/>
              <a:defRPr/>
            </a:pPr>
            <a:r>
              <a:rPr lang="en-US" sz="1000" dirty="0"/>
              <a:t>Materials</a:t>
            </a:r>
          </a:p>
          <a:p>
            <a:pPr marL="171450" indent="-171450">
              <a:buFont typeface="Wingdings" panose="05000000000000000000" pitchFamily="2" charset="2"/>
              <a:buChar char="§"/>
              <a:defRPr/>
            </a:pPr>
            <a:r>
              <a:rPr lang="en-US" sz="1000" dirty="0"/>
              <a:t>IT</a:t>
            </a:r>
          </a:p>
        </p:txBody>
      </p:sp>
      <p:sp>
        <p:nvSpPr>
          <p:cNvPr id="13" name="TextBox 9"/>
          <p:cNvSpPr txBox="1">
            <a:spLocks noChangeArrowheads="1"/>
          </p:cNvSpPr>
          <p:nvPr/>
        </p:nvSpPr>
        <p:spPr bwMode="auto">
          <a:xfrm>
            <a:off x="1828800" y="34852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Public Math and Common Applications</a:t>
            </a:r>
          </a:p>
        </p:txBody>
      </p:sp>
      <p:sp>
        <p:nvSpPr>
          <p:cNvPr id="5" name="Slide Number Placeholder 4"/>
          <p:cNvSpPr>
            <a:spLocks noGrp="1"/>
          </p:cNvSpPr>
          <p:nvPr>
            <p:ph type="sldNum" sz="quarter" idx="11"/>
          </p:nvPr>
        </p:nvSpPr>
        <p:spPr/>
        <p:txBody>
          <a:bodyPr/>
          <a:lstStyle/>
          <a:p>
            <a:pPr>
              <a:defRPr/>
            </a:pPr>
            <a:fld id="{2E1E1E2A-88E9-4CB1-89D2-8ABF177DA4C4}" type="slidenum">
              <a:rPr lang="en-US" smtClean="0"/>
              <a:pPr>
                <a:defRPr/>
              </a:pPr>
              <a:t>16</a:t>
            </a:fld>
            <a:endParaRPr lang="en-US" dirty="0"/>
          </a:p>
        </p:txBody>
      </p:sp>
    </p:spTree>
    <p:extLst>
      <p:ext uri="{BB962C8B-B14F-4D97-AF65-F5344CB8AC3E}">
        <p14:creationId xmlns:p14="http://schemas.microsoft.com/office/powerpoint/2010/main" val="426759103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800" y="863600"/>
            <a:ext cx="8640763" cy="5842000"/>
          </a:xfrm>
          <a:prstGeom prst="rect">
            <a:avLst/>
          </a:prstGeom>
          <a:noFill/>
          <a:ln>
            <a:noFill/>
          </a:ln>
        </p:spPr>
        <p:style>
          <a:lnRef idx="2">
            <a:schemeClr val="dk1"/>
          </a:lnRef>
          <a:fillRef idx="1">
            <a:schemeClr val="lt1"/>
          </a:fillRef>
          <a:effectRef idx="0">
            <a:schemeClr val="dk1"/>
          </a:effectRef>
          <a:fontRef idx="minor">
            <a:schemeClr val="dk1"/>
          </a:fontRef>
        </p:style>
        <p:txBody>
          <a:bodyPr/>
          <a:lstStyle/>
          <a:p>
            <a:pPr>
              <a:defRPr/>
            </a:pPr>
            <a:r>
              <a:rPr lang="en-US" sz="1200" u="sng" dirty="0"/>
              <a:t>Valuation</a:t>
            </a:r>
          </a:p>
          <a:p>
            <a:pPr>
              <a:defRPr/>
            </a:pPr>
            <a:r>
              <a:rPr lang="en-US" sz="1200" dirty="0"/>
              <a:t>In a variety of cases, you could be asked or required to estimate the value of a business. The formula below is one common </a:t>
            </a:r>
            <a:r>
              <a:rPr lang="en-US" sz="1200" dirty="0" smtClean="0"/>
              <a:t>method.</a:t>
            </a:r>
            <a:endParaRPr lang="en-US" sz="1200" dirty="0"/>
          </a:p>
          <a:p>
            <a:pPr>
              <a:defRPr/>
            </a:pPr>
            <a:endParaRPr lang="en-US" sz="1200" dirty="0"/>
          </a:p>
          <a:p>
            <a:pPr>
              <a:defRPr/>
            </a:pPr>
            <a:r>
              <a:rPr lang="en-US" sz="1200" dirty="0"/>
              <a:t>Often the interviewer may tell you to ignore certain factors (taxes, deprecation) or you may have to make an </a:t>
            </a:r>
            <a:r>
              <a:rPr lang="en-US" sz="1200" dirty="0" smtClean="0"/>
              <a:t>assumption</a:t>
            </a:r>
            <a:endParaRPr lang="en-US" sz="1200" dirty="0"/>
          </a:p>
          <a:p>
            <a:pPr>
              <a:defRPr/>
            </a:pPr>
            <a:endParaRPr lang="en-US" sz="1200" dirty="0"/>
          </a:p>
          <a:p>
            <a:pPr>
              <a:defRPr/>
            </a:pPr>
            <a:endParaRPr lang="en-US" sz="1200" dirty="0"/>
          </a:p>
          <a:p>
            <a:pPr>
              <a:defRPr/>
            </a:pPr>
            <a:r>
              <a:rPr lang="en-US" sz="1200" dirty="0"/>
              <a:t>	</a:t>
            </a:r>
            <a:r>
              <a:rPr lang="en-US" sz="1200" b="1" dirty="0"/>
              <a:t>Comprehensive</a:t>
            </a:r>
            <a:r>
              <a:rPr lang="en-US" sz="1200" dirty="0"/>
              <a:t>				           </a:t>
            </a:r>
            <a:r>
              <a:rPr lang="en-US" sz="1200" b="1" dirty="0"/>
              <a:t>Simplified</a:t>
            </a:r>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a:defRPr/>
            </a:pPr>
            <a:endParaRPr lang="en-US" sz="1200" b="1" dirty="0"/>
          </a:p>
          <a:p>
            <a:pPr marL="171450" indent="-171450">
              <a:buFont typeface="Wingdings" panose="05000000000000000000" pitchFamily="2" charset="2"/>
              <a:buChar char="§"/>
              <a:defRPr/>
            </a:pPr>
            <a:r>
              <a:rPr lang="en-US" sz="1200" b="1" dirty="0"/>
              <a:t>After you get a number remember the “so what!” </a:t>
            </a:r>
            <a:endParaRPr lang="en-US" sz="1200" b="1" dirty="0" smtClean="0"/>
          </a:p>
          <a:p>
            <a:pPr marL="171450" indent="-171450">
              <a:buFont typeface="Wingdings" panose="05000000000000000000" pitchFamily="2" charset="2"/>
              <a:buChar char="§"/>
              <a:defRPr/>
            </a:pPr>
            <a:r>
              <a:rPr lang="en-US" sz="1200" b="1" dirty="0" smtClean="0"/>
              <a:t>Combine </a:t>
            </a:r>
            <a:r>
              <a:rPr lang="en-US" sz="1200" b="1" dirty="0"/>
              <a:t>other case facts to highlight your analytical and business </a:t>
            </a:r>
            <a:r>
              <a:rPr lang="en-US" sz="1200" b="1" dirty="0" smtClean="0"/>
              <a:t>skills</a:t>
            </a:r>
            <a:endParaRPr lang="en-US" sz="1200" b="1" dirty="0"/>
          </a:p>
        </p:txBody>
      </p:sp>
      <p:pic>
        <p:nvPicPr>
          <p:cNvPr id="717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172" name="TextBox 9"/>
          <p:cNvSpPr txBox="1">
            <a:spLocks noChangeArrowheads="1"/>
          </p:cNvSpPr>
          <p:nvPr/>
        </p:nvSpPr>
        <p:spPr bwMode="auto">
          <a:xfrm>
            <a:off x="1828800" y="34852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Public Math and Common Applications</a:t>
            </a:r>
          </a:p>
        </p:txBody>
      </p:sp>
      <p:graphicFrame>
        <p:nvGraphicFramePr>
          <p:cNvPr id="2" name="Table 1"/>
          <p:cNvGraphicFramePr>
            <a:graphicFrameLocks noGrp="1"/>
          </p:cNvGraphicFramePr>
          <p:nvPr>
            <p:extLst>
              <p:ext uri="{D42A27DB-BD31-4B8C-83A1-F6EECF244321}">
                <p14:modId xmlns:p14="http://schemas.microsoft.com/office/powerpoint/2010/main" val="804557980"/>
              </p:ext>
            </p:extLst>
          </p:nvPr>
        </p:nvGraphicFramePr>
        <p:xfrm>
          <a:off x="533399" y="2400300"/>
          <a:ext cx="8162925" cy="3565952"/>
        </p:xfrm>
        <a:graphic>
          <a:graphicData uri="http://schemas.openxmlformats.org/drawingml/2006/table">
            <a:tbl>
              <a:tblPr firstRow="1" bandRow="1">
                <a:tableStyleId>{F5AB1C69-6EDB-4FF4-983F-18BD219EF322}</a:tableStyleId>
              </a:tblPr>
              <a:tblGrid>
                <a:gridCol w="1428512"/>
                <a:gridCol w="6734413"/>
              </a:tblGrid>
              <a:tr h="261571">
                <a:tc>
                  <a:txBody>
                    <a:bodyPr/>
                    <a:lstStyle/>
                    <a:p>
                      <a:r>
                        <a:rPr lang="en-US" sz="1200" b="0" dirty="0" smtClean="0">
                          <a:solidFill>
                            <a:schemeClr val="tx1"/>
                          </a:solidFill>
                        </a:rPr>
                        <a:t>Sales</a:t>
                      </a:r>
                      <a:endParaRPr lang="en-US" sz="1200" b="0" dirty="0">
                        <a:solidFill>
                          <a:schemeClr val="tx1"/>
                        </a:solidFill>
                      </a:endParaRPr>
                    </a:p>
                  </a:txBody>
                  <a:tcPr marT="45712" marB="45712"/>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kumimoji="0" lang="en-US" sz="1200" b="0" u="none" strike="noStrike" kern="0" cap="none" spc="0" normalizeH="0" baseline="0" noProof="0" dirty="0" smtClean="0">
                          <a:ln>
                            <a:noFill/>
                          </a:ln>
                          <a:solidFill>
                            <a:schemeClr val="tx1"/>
                          </a:solidFill>
                          <a:effectLst/>
                          <a:uLnTx/>
                          <a:uFillTx/>
                        </a:rPr>
                        <a:t>Revenues from operations</a:t>
                      </a:r>
                      <a:endParaRPr kumimoji="0" lang="en-US" sz="1200" b="0" i="0" u="none" strike="noStrike" kern="0" cap="none" spc="0" normalizeH="0" baseline="0" noProof="0" dirty="0" smtClean="0">
                        <a:ln>
                          <a:noFill/>
                        </a:ln>
                        <a:solidFill>
                          <a:schemeClr val="tx1"/>
                        </a:solidFill>
                        <a:effectLst/>
                        <a:uLnTx/>
                        <a:uFillTx/>
                        <a:latin typeface="+mn-lt"/>
                        <a:ea typeface="ＭＳ Ｐゴシック" charset="-128"/>
                      </a:endParaRPr>
                    </a:p>
                  </a:txBody>
                  <a:tcPr marT="45712" marB="45712"/>
                </a:tc>
              </a:tr>
              <a:tr h="261571">
                <a:tc>
                  <a:txBody>
                    <a:bodyPr/>
                    <a:lstStyle/>
                    <a:p>
                      <a:r>
                        <a:rPr kumimoji="0" lang="en-US" sz="1200" u="none" strike="noStrike" kern="0" cap="none" spc="0" normalizeH="0" baseline="0" noProof="0" dirty="0" smtClean="0">
                          <a:ln>
                            <a:noFill/>
                          </a:ln>
                          <a:solidFill>
                            <a:schemeClr val="tx1"/>
                          </a:solidFill>
                          <a:effectLst/>
                          <a:uLnTx/>
                          <a:uFillTx/>
                        </a:rPr>
                        <a:t>-  COGS </a:t>
                      </a:r>
                      <a:endParaRPr lang="en-US" sz="1200" dirty="0">
                        <a:solidFill>
                          <a:schemeClr val="tx1"/>
                        </a:solidFill>
                      </a:endParaRPr>
                    </a:p>
                  </a:txBody>
                  <a:tcPr marT="45712" marB="45712"/>
                </a:tc>
                <a:tc>
                  <a:txBody>
                    <a:bodyPr/>
                    <a:lstStyle/>
                    <a:p>
                      <a:r>
                        <a:rPr kumimoji="0" lang="en-US" sz="1200" u="none" strike="noStrike" kern="0" cap="none" spc="0" normalizeH="0" baseline="0" noProof="0" dirty="0" smtClean="0">
                          <a:ln>
                            <a:noFill/>
                          </a:ln>
                          <a:solidFill>
                            <a:schemeClr val="tx1"/>
                          </a:solidFill>
                          <a:effectLst/>
                          <a:uLnTx/>
                          <a:uFillTx/>
                        </a:rPr>
                        <a:t>Labor + Materials + Book Depreciation</a:t>
                      </a:r>
                      <a:endParaRPr lang="en-US" sz="1200" dirty="0">
                        <a:solidFill>
                          <a:schemeClr val="tx1"/>
                        </a:solidFill>
                      </a:endParaRPr>
                    </a:p>
                  </a:txBody>
                  <a:tcPr marT="45712" marB="45712"/>
                </a:tc>
              </a:tr>
              <a:tr h="261571">
                <a:tc>
                  <a:txBody>
                    <a:bodyPr/>
                    <a:lstStyle/>
                    <a:p>
                      <a:r>
                        <a:rPr kumimoji="0" lang="en-US" sz="1200" u="none" strike="noStrike" kern="0" cap="none" spc="0" normalizeH="0" baseline="0" noProof="0" dirty="0" smtClean="0">
                          <a:ln>
                            <a:noFill/>
                          </a:ln>
                          <a:solidFill>
                            <a:schemeClr val="tx1"/>
                          </a:solidFill>
                          <a:effectLst/>
                          <a:uLnTx/>
                          <a:uFillTx/>
                        </a:rPr>
                        <a:t>-  SG&amp;A </a:t>
                      </a:r>
                      <a:endParaRPr lang="en-US" sz="1200" dirty="0">
                        <a:solidFill>
                          <a:schemeClr val="tx1"/>
                        </a:solidFill>
                      </a:endParaRPr>
                    </a:p>
                  </a:txBody>
                  <a:tcPr marT="45712" marB="45712">
                    <a:lnB w="12700" cap="flat" cmpd="sng" algn="ctr">
                      <a:solidFill>
                        <a:schemeClr val="tx1"/>
                      </a:solidFill>
                      <a:prstDash val="solid"/>
                      <a:round/>
                      <a:headEnd type="none" w="med" len="med"/>
                      <a:tailEnd type="none" w="med" len="med"/>
                    </a:lnB>
                  </a:tcPr>
                </a:tc>
                <a:tc>
                  <a:txBody>
                    <a:bodyPr/>
                    <a:lstStyle/>
                    <a:p>
                      <a:r>
                        <a:rPr kumimoji="0" lang="en-US" sz="1200" u="none" strike="noStrike" kern="0" cap="none" spc="0" normalizeH="0" baseline="0" noProof="0" dirty="0" smtClean="0">
                          <a:ln>
                            <a:noFill/>
                          </a:ln>
                          <a:solidFill>
                            <a:schemeClr val="tx1"/>
                          </a:solidFill>
                          <a:effectLst/>
                          <a:uLnTx/>
                          <a:uFillTx/>
                        </a:rPr>
                        <a:t>Selling, General and Administrative Costs</a:t>
                      </a:r>
                      <a:endParaRPr lang="en-US" sz="1200" dirty="0">
                        <a:solidFill>
                          <a:schemeClr val="tx1"/>
                        </a:solidFill>
                      </a:endParaRPr>
                    </a:p>
                  </a:txBody>
                  <a:tcPr marT="45712" marB="45712"/>
                </a:tc>
              </a:tr>
              <a:tr h="261571">
                <a:tc>
                  <a:txBody>
                    <a:bodyPr/>
                    <a:lstStyle/>
                    <a:p>
                      <a:r>
                        <a:rPr kumimoji="0" lang="en-US" sz="1200" u="none" strike="noStrike" kern="0" cap="none" spc="0" normalizeH="0" baseline="0" noProof="0" dirty="0" smtClean="0">
                          <a:ln>
                            <a:noFill/>
                          </a:ln>
                          <a:solidFill>
                            <a:schemeClr val="tx1"/>
                          </a:solidFill>
                          <a:effectLst/>
                          <a:uLnTx/>
                          <a:uFillTx/>
                        </a:rPr>
                        <a:t> EBIT </a:t>
                      </a:r>
                      <a:endParaRPr lang="en-US" sz="1200" dirty="0">
                        <a:solidFill>
                          <a:schemeClr val="tx1"/>
                        </a:solidFill>
                      </a:endParaRPr>
                    </a:p>
                  </a:txBody>
                  <a:tcPr marT="45712" marB="45712">
                    <a:lnT w="12700" cap="flat" cmpd="sng" algn="ctr">
                      <a:solidFill>
                        <a:schemeClr val="tx1"/>
                      </a:solidFill>
                      <a:prstDash val="solid"/>
                      <a:round/>
                      <a:headEnd type="none" w="med" len="med"/>
                      <a:tailEnd type="none" w="med" len="med"/>
                    </a:lnT>
                  </a:tcPr>
                </a:tc>
                <a:tc>
                  <a:txBody>
                    <a:bodyPr/>
                    <a:lstStyle/>
                    <a:p>
                      <a:r>
                        <a:rPr kumimoji="0" lang="en-US" sz="1200" u="none" strike="noStrike" kern="0" cap="none" spc="0" normalizeH="0" baseline="0" noProof="0" dirty="0" smtClean="0">
                          <a:ln>
                            <a:noFill/>
                          </a:ln>
                          <a:solidFill>
                            <a:schemeClr val="tx1"/>
                          </a:solidFill>
                          <a:effectLst/>
                          <a:uLnTx/>
                          <a:uFillTx/>
                        </a:rPr>
                        <a:t>Earnings Before Interest and Taxes</a:t>
                      </a:r>
                      <a:endParaRPr lang="en-US" sz="1200" dirty="0">
                        <a:solidFill>
                          <a:schemeClr val="tx1"/>
                        </a:solidFill>
                      </a:endParaRPr>
                    </a:p>
                  </a:txBody>
                  <a:tcPr marT="45712" marB="45712"/>
                </a:tc>
              </a:tr>
              <a:tr h="261571">
                <a:tc>
                  <a:txBody>
                    <a:bodyPr/>
                    <a:lstStyle/>
                    <a:p>
                      <a:r>
                        <a:rPr kumimoji="0" lang="en-US" sz="1200" u="none" strike="noStrike" kern="0" cap="none" spc="0" normalizeH="0" baseline="0" noProof="0" dirty="0" smtClean="0">
                          <a:ln>
                            <a:noFill/>
                          </a:ln>
                          <a:solidFill>
                            <a:schemeClr val="tx1"/>
                          </a:solidFill>
                          <a:effectLst/>
                          <a:uLnTx/>
                          <a:uFillTx/>
                        </a:rPr>
                        <a:t>-  Taxes </a:t>
                      </a:r>
                      <a:endParaRPr lang="en-US" sz="1200" dirty="0">
                        <a:solidFill>
                          <a:schemeClr val="tx1"/>
                        </a:solidFill>
                      </a:endParaRPr>
                    </a:p>
                  </a:txBody>
                  <a:tcPr marT="45712" marB="45712">
                    <a:lnB w="12700" cap="flat" cmpd="sng" algn="ctr">
                      <a:solidFill>
                        <a:schemeClr val="tx1"/>
                      </a:solidFill>
                      <a:prstDash val="solid"/>
                      <a:round/>
                      <a:headEnd type="none" w="med" len="med"/>
                      <a:tailEnd type="none" w="med" len="med"/>
                    </a:lnB>
                  </a:tcPr>
                </a:tc>
                <a:tc>
                  <a:txBody>
                    <a:bodyPr/>
                    <a:lstStyle/>
                    <a:p>
                      <a:r>
                        <a:rPr kumimoji="0" lang="en-US" sz="1200" u="none" strike="noStrike" kern="0" cap="none" spc="0" normalizeH="0" baseline="0" noProof="0" dirty="0" smtClean="0">
                          <a:ln>
                            <a:noFill/>
                          </a:ln>
                          <a:solidFill>
                            <a:schemeClr val="tx1"/>
                          </a:solidFill>
                          <a:effectLst/>
                          <a:uLnTx/>
                          <a:uFillTx/>
                        </a:rPr>
                        <a:t>Calculated on EBIT</a:t>
                      </a:r>
                      <a:endParaRPr lang="en-US" sz="1200" dirty="0">
                        <a:solidFill>
                          <a:schemeClr val="tx1"/>
                        </a:solidFill>
                      </a:endParaRPr>
                    </a:p>
                  </a:txBody>
                  <a:tcPr marT="45712" marB="45712"/>
                </a:tc>
              </a:tr>
              <a:tr h="261571">
                <a:tc>
                  <a:txBody>
                    <a:bodyPr/>
                    <a:lstStyle/>
                    <a:p>
                      <a:r>
                        <a:rPr kumimoji="0" lang="en-US" sz="1200" u="none" strike="noStrike" kern="0" cap="none" spc="0" normalizeH="0" baseline="0" noProof="0" dirty="0" smtClean="0">
                          <a:ln>
                            <a:noFill/>
                          </a:ln>
                          <a:solidFill>
                            <a:schemeClr val="tx1"/>
                          </a:solidFill>
                          <a:effectLst/>
                          <a:uLnTx/>
                          <a:uFillTx/>
                        </a:rPr>
                        <a:t>EBIAT </a:t>
                      </a:r>
                      <a:endParaRPr lang="en-US" sz="1200" dirty="0">
                        <a:solidFill>
                          <a:schemeClr val="tx1"/>
                        </a:solidFill>
                      </a:endParaRPr>
                    </a:p>
                  </a:txBody>
                  <a:tcPr marT="45712" marB="45712">
                    <a:lnT w="12700" cap="flat" cmpd="sng" algn="ctr">
                      <a:solidFill>
                        <a:schemeClr val="tx1"/>
                      </a:solidFill>
                      <a:prstDash val="solid"/>
                      <a:round/>
                      <a:headEnd type="none" w="med" len="med"/>
                      <a:tailEnd type="none" w="med" len="med"/>
                    </a:lnT>
                  </a:tcPr>
                </a:tc>
                <a:tc>
                  <a:txBody>
                    <a:bodyPr/>
                    <a:lstStyle/>
                    <a:p>
                      <a:r>
                        <a:rPr lang="en-US" sz="1200" dirty="0" smtClean="0">
                          <a:solidFill>
                            <a:schemeClr val="tx1"/>
                          </a:solidFill>
                        </a:rPr>
                        <a:t>Earnings Before Interest After Taxes </a:t>
                      </a:r>
                      <a:endParaRPr lang="en-US" sz="1200" dirty="0">
                        <a:solidFill>
                          <a:schemeClr val="tx1"/>
                        </a:solidFill>
                      </a:endParaRPr>
                    </a:p>
                  </a:txBody>
                  <a:tcPr marT="45712" marB="45712"/>
                </a:tc>
              </a:tr>
              <a:tr h="261571">
                <a:tc>
                  <a:txBody>
                    <a:bodyPr/>
                    <a:lstStyle/>
                    <a:p>
                      <a:r>
                        <a:rPr lang="en-US" sz="1200" dirty="0" smtClean="0">
                          <a:solidFill>
                            <a:schemeClr val="tx1"/>
                          </a:solidFill>
                        </a:rPr>
                        <a:t>+  DEP </a:t>
                      </a:r>
                      <a:endParaRPr lang="en-US" sz="1200" dirty="0">
                        <a:solidFill>
                          <a:schemeClr val="tx1"/>
                        </a:solidFill>
                      </a:endParaRPr>
                    </a:p>
                  </a:txBody>
                  <a:tcPr marT="45712" marB="45712"/>
                </a:tc>
                <a:tc>
                  <a:txBody>
                    <a:bodyPr/>
                    <a:lstStyle/>
                    <a:p>
                      <a:r>
                        <a:rPr lang="en-US" sz="1200" dirty="0" smtClean="0">
                          <a:solidFill>
                            <a:schemeClr val="tx1"/>
                          </a:solidFill>
                        </a:rPr>
                        <a:t>Book Depreciation</a:t>
                      </a:r>
                      <a:endParaRPr lang="en-US" sz="1200" dirty="0">
                        <a:solidFill>
                          <a:schemeClr val="tx1"/>
                        </a:solidFill>
                      </a:endParaRPr>
                    </a:p>
                  </a:txBody>
                  <a:tcPr marT="45712" marB="45712"/>
                </a:tc>
              </a:tr>
              <a:tr h="261571">
                <a:tc>
                  <a:txBody>
                    <a:bodyPr/>
                    <a:lstStyle/>
                    <a:p>
                      <a:r>
                        <a:rPr lang="en-US" sz="1200" dirty="0" smtClean="0">
                          <a:solidFill>
                            <a:schemeClr val="tx1"/>
                          </a:solidFill>
                        </a:rPr>
                        <a:t>-  CAPX </a:t>
                      </a:r>
                      <a:endParaRPr lang="en-US" sz="1200" dirty="0">
                        <a:solidFill>
                          <a:schemeClr val="tx1"/>
                        </a:solidFill>
                      </a:endParaRPr>
                    </a:p>
                  </a:txBody>
                  <a:tcPr marT="45712" marB="45712">
                    <a:lnB w="12700" cap="flat" cmpd="sng" algn="ctr">
                      <a:solidFill>
                        <a:schemeClr val="tx1"/>
                      </a:solidFill>
                      <a:prstDash val="solid"/>
                      <a:round/>
                      <a:headEnd type="none" w="med" len="med"/>
                      <a:tailEnd type="none" w="med" len="med"/>
                    </a:lnB>
                  </a:tcPr>
                </a:tc>
                <a:tc>
                  <a:txBody>
                    <a:bodyPr/>
                    <a:lstStyle/>
                    <a:p>
                      <a:r>
                        <a:rPr lang="en-US" sz="1200" dirty="0" smtClean="0">
                          <a:solidFill>
                            <a:schemeClr val="tx1"/>
                          </a:solidFill>
                        </a:rPr>
                        <a:t>Incremental Working Capital</a:t>
                      </a:r>
                      <a:endParaRPr lang="en-US" sz="1200" dirty="0">
                        <a:solidFill>
                          <a:schemeClr val="tx1"/>
                        </a:solidFill>
                      </a:endParaRPr>
                    </a:p>
                  </a:txBody>
                  <a:tcPr marT="45712" marB="45712"/>
                </a:tc>
              </a:tr>
              <a:tr h="261571">
                <a:tc>
                  <a:txBody>
                    <a:bodyPr/>
                    <a:lstStyle/>
                    <a:p>
                      <a:r>
                        <a:rPr lang="en-US" sz="1200" dirty="0" smtClean="0">
                          <a:solidFill>
                            <a:schemeClr val="tx1"/>
                          </a:solidFill>
                        </a:rPr>
                        <a:t>FCF</a:t>
                      </a:r>
                      <a:endParaRPr lang="en-US" sz="1200" b="1" dirty="0">
                        <a:solidFill>
                          <a:schemeClr val="tx1"/>
                        </a:solidFill>
                      </a:endParaRPr>
                    </a:p>
                  </a:txBody>
                  <a:tcPr marT="45712" marB="45712">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1200" dirty="0" smtClean="0">
                          <a:solidFill>
                            <a:schemeClr val="tx1"/>
                          </a:solidFill>
                        </a:rPr>
                        <a:t>Free Cash Flows</a:t>
                      </a:r>
                      <a:endParaRPr lang="en-US" sz="1200" dirty="0">
                        <a:solidFill>
                          <a:schemeClr val="tx1"/>
                        </a:solidFill>
                      </a:endParaRPr>
                    </a:p>
                  </a:txBody>
                  <a:tcPr marT="45712" marB="45712">
                    <a:lnB w="12700" cmpd="sng">
                      <a:noFill/>
                    </a:lnB>
                  </a:tcPr>
                </a:tc>
              </a:tr>
              <a:tr h="261571">
                <a:tc>
                  <a:txBody>
                    <a:bodyPr/>
                    <a:lstStyle/>
                    <a:p>
                      <a:endParaRPr lang="en-US" sz="1200" b="1" dirty="0">
                        <a:solidFill>
                          <a:schemeClr val="tx1"/>
                        </a:solidFill>
                      </a:endParaRPr>
                    </a:p>
                  </a:txBody>
                  <a:tcPr marT="45712" marB="45712">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endParaRPr>
                    </a:p>
                  </a:txBody>
                  <a:tcPr marT="45712" marB="45712">
                    <a:lnL w="12700" cmpd="sng">
                      <a:noFill/>
                    </a:lnL>
                    <a:lnR w="12700" cmpd="sng">
                      <a:noFill/>
                    </a:lnR>
                    <a:lnT w="12700" cmpd="sng">
                      <a:noFill/>
                    </a:lnT>
                    <a:lnB w="12700" cmpd="sng">
                      <a:noFill/>
                    </a:lnB>
                    <a:lnTlToBr w="12700" cmpd="sng">
                      <a:noFill/>
                      <a:prstDash val="solid"/>
                    </a:lnTlToBr>
                    <a:lnBlToTr w="12700" cmpd="sng">
                      <a:noFill/>
                      <a:prstDash val="solid"/>
                    </a:lnBlToTr>
                  </a:tcPr>
                </a:tc>
              </a:tr>
              <a:tr h="261571">
                <a:tc>
                  <a:txBody>
                    <a:bodyPr/>
                    <a:lstStyle/>
                    <a:p>
                      <a:r>
                        <a:rPr lang="en-US" sz="1200" b="0" dirty="0" smtClean="0">
                          <a:solidFill>
                            <a:schemeClr val="tx1"/>
                          </a:solidFill>
                        </a:rPr>
                        <a:t>FCF</a:t>
                      </a:r>
                      <a:endParaRPr lang="en-US" sz="1200" b="0" dirty="0">
                        <a:solidFill>
                          <a:schemeClr val="tx1"/>
                        </a:solidFill>
                      </a:endParaRPr>
                    </a:p>
                  </a:txBody>
                  <a:tcPr marT="45712" marB="45712">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endParaRPr>
                    </a:p>
                  </a:txBody>
                  <a:tcPr marT="45712" marB="45712">
                    <a:lnL w="12700" cmpd="sng">
                      <a:noFill/>
                    </a:lnL>
                    <a:lnR w="12700" cmpd="sng">
                      <a:noFill/>
                    </a:lnR>
                    <a:lnT w="12700" cmpd="sng">
                      <a:noFill/>
                    </a:lnT>
                    <a:lnB w="12700" cmpd="sng">
                      <a:noFill/>
                    </a:lnB>
                    <a:lnTlToBr w="12700" cmpd="sng">
                      <a:noFill/>
                      <a:prstDash val="solid"/>
                    </a:lnTlToBr>
                    <a:lnBlToTr w="12700" cmpd="sng">
                      <a:noFill/>
                      <a:prstDash val="solid"/>
                    </a:lnBlToTr>
                  </a:tcPr>
                </a:tc>
              </a:tr>
              <a:tr h="261571">
                <a:tc>
                  <a:txBody>
                    <a:bodyPr/>
                    <a:lstStyle/>
                    <a:p>
                      <a:r>
                        <a:rPr lang="en-US" sz="1200" b="0" dirty="0" smtClean="0">
                          <a:solidFill>
                            <a:schemeClr val="tx1"/>
                          </a:solidFill>
                        </a:rPr>
                        <a:t>(R-G)</a:t>
                      </a:r>
                      <a:endParaRPr lang="en-US" sz="1200" b="0" dirty="0">
                        <a:solidFill>
                          <a:schemeClr val="tx1"/>
                        </a:solidFill>
                      </a:endParaRPr>
                    </a:p>
                  </a:txBody>
                  <a:tcPr marT="45712" marB="45712">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smtClean="0">
                          <a:solidFill>
                            <a:schemeClr val="tx1"/>
                          </a:solidFill>
                        </a:rPr>
                        <a:t>Rate of Return – Growth</a:t>
                      </a:r>
                      <a:r>
                        <a:rPr lang="en-US" sz="1200" baseline="0" dirty="0" smtClean="0">
                          <a:solidFill>
                            <a:schemeClr val="tx1"/>
                          </a:solidFill>
                        </a:rPr>
                        <a:t> Rate</a:t>
                      </a:r>
                      <a:endParaRPr lang="en-US" sz="1200" dirty="0">
                        <a:solidFill>
                          <a:schemeClr val="tx1"/>
                        </a:solidFill>
                      </a:endParaRPr>
                    </a:p>
                  </a:txBody>
                  <a:tcPr marT="45712" marB="45712">
                    <a:lnL w="12700" cmpd="sng">
                      <a:noFill/>
                    </a:lnL>
                    <a:lnR w="12700" cmpd="sng">
                      <a:noFill/>
                    </a:lnR>
                    <a:lnT w="12700" cmpd="sng">
                      <a:noFill/>
                    </a:lnT>
                    <a:lnB w="12700" cmpd="sng">
                      <a:noFill/>
                    </a:lnB>
                    <a:lnTlToBr w="12700" cmpd="sng">
                      <a:noFill/>
                      <a:prstDash val="solid"/>
                    </a:lnTlToBr>
                    <a:lnBlToTr w="12700" cmpd="sng">
                      <a:noFill/>
                      <a:prstDash val="solid"/>
                    </a:lnBlToTr>
                  </a:tcPr>
                </a:tc>
              </a:tr>
              <a:tr h="261571">
                <a:tc>
                  <a:txBody>
                    <a:bodyPr/>
                    <a:lstStyle/>
                    <a:p>
                      <a:endParaRPr lang="en-US" sz="1200" b="1" dirty="0">
                        <a:solidFill>
                          <a:schemeClr val="tx1"/>
                        </a:solidFill>
                      </a:endParaRPr>
                    </a:p>
                  </a:txBody>
                  <a:tcPr marT="45712" marB="45712">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200" dirty="0">
                        <a:solidFill>
                          <a:schemeClr val="tx1"/>
                        </a:solidFill>
                      </a:endParaRPr>
                    </a:p>
                  </a:txBody>
                  <a:tcPr marT="45712" marB="45712">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graphicFrame>
        <p:nvGraphicFramePr>
          <p:cNvPr id="8" name="Table 7"/>
          <p:cNvGraphicFramePr>
            <a:graphicFrameLocks noGrp="1"/>
          </p:cNvGraphicFramePr>
          <p:nvPr/>
        </p:nvGraphicFramePr>
        <p:xfrm>
          <a:off x="6248400" y="3717925"/>
          <a:ext cx="1066800" cy="549276"/>
        </p:xfrm>
        <a:graphic>
          <a:graphicData uri="http://schemas.openxmlformats.org/drawingml/2006/table">
            <a:tbl>
              <a:tblPr firstRow="1" bandRow="1">
                <a:tableStyleId>{F5AB1C69-6EDB-4FF4-983F-18BD219EF322}</a:tableStyleId>
              </a:tblPr>
              <a:tblGrid>
                <a:gridCol w="1066800"/>
              </a:tblGrid>
              <a:tr h="274638">
                <a:tc>
                  <a:txBody>
                    <a:bodyPr/>
                    <a:lstStyle/>
                    <a:p>
                      <a:r>
                        <a:rPr kumimoji="0" lang="en-US" sz="1200" b="0" u="none" strike="noStrike" kern="0" cap="none" spc="0" normalizeH="0" baseline="0" noProof="0" dirty="0" smtClean="0">
                          <a:ln>
                            <a:noFill/>
                          </a:ln>
                          <a:solidFill>
                            <a:schemeClr val="tx1"/>
                          </a:solidFill>
                          <a:effectLst/>
                          <a:uLnTx/>
                          <a:uFillTx/>
                        </a:rPr>
                        <a:t>Annual Profit</a:t>
                      </a:r>
                      <a:endParaRPr lang="en-US" sz="1200" b="0" dirty="0">
                        <a:solidFill>
                          <a:schemeClr val="tx1"/>
                        </a:solidFill>
                      </a:endParaRPr>
                    </a:p>
                  </a:txBody>
                  <a:tcPr marT="45773" marB="45773">
                    <a:lnB w="12700" cap="flat" cmpd="sng" algn="ctr">
                      <a:solidFill>
                        <a:schemeClr val="tx1"/>
                      </a:solidFill>
                      <a:prstDash val="solid"/>
                      <a:round/>
                      <a:headEnd type="none" w="med" len="med"/>
                      <a:tailEnd type="none" w="med" len="med"/>
                    </a:lnB>
                  </a:tcPr>
                </a:tc>
              </a:tr>
              <a:tr h="274638">
                <a:tc>
                  <a:txBody>
                    <a:bodyPr/>
                    <a:lstStyle/>
                    <a:p>
                      <a:pPr algn="ctr"/>
                      <a:r>
                        <a:rPr kumimoji="0" lang="en-US" sz="1200" u="none" strike="noStrike" kern="0" cap="none" spc="0" normalizeH="0" baseline="0" noProof="0" dirty="0" smtClean="0">
                          <a:ln>
                            <a:noFill/>
                          </a:ln>
                          <a:solidFill>
                            <a:schemeClr val="tx1"/>
                          </a:solidFill>
                          <a:effectLst/>
                          <a:uLnTx/>
                          <a:uFillTx/>
                        </a:rPr>
                        <a:t> (R-G)</a:t>
                      </a:r>
                      <a:endParaRPr lang="en-US" sz="1200" dirty="0">
                        <a:solidFill>
                          <a:schemeClr val="tx1"/>
                        </a:solidFill>
                      </a:endParaRPr>
                    </a:p>
                  </a:txBody>
                  <a:tcPr marT="45773" marB="45773">
                    <a:lnT w="12700" cap="flat" cmpd="sng" algn="ctr">
                      <a:solidFill>
                        <a:schemeClr val="tx1"/>
                      </a:solidFill>
                      <a:prstDash val="solid"/>
                      <a:round/>
                      <a:headEnd type="none" w="med" len="med"/>
                      <a:tailEnd type="none" w="med" len="med"/>
                    </a:lnT>
                  </a:tcPr>
                </a:tc>
              </a:tr>
            </a:tbl>
          </a:graphicData>
        </a:graphic>
      </p:graphicFrame>
      <p:sp>
        <p:nvSpPr>
          <p:cNvPr id="9" name="Pentagon 8"/>
          <p:cNvSpPr/>
          <p:nvPr/>
        </p:nvSpPr>
        <p:spPr>
          <a:xfrm>
            <a:off x="4968875" y="2533650"/>
            <a:ext cx="685800" cy="3200400"/>
          </a:xfrm>
          <a:prstGeom prst="homePlate">
            <a:avLst>
              <a:gd name="adj" fmla="val 77083"/>
            </a:avLst>
          </a:prstGeom>
          <a:solidFill>
            <a:srgbClr val="113C9B"/>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 name="Slide Number Placeholder 3"/>
          <p:cNvSpPr>
            <a:spLocks noGrp="1"/>
          </p:cNvSpPr>
          <p:nvPr>
            <p:ph type="sldNum" sz="quarter" idx="11"/>
          </p:nvPr>
        </p:nvSpPr>
        <p:spPr/>
        <p:txBody>
          <a:bodyPr/>
          <a:lstStyle/>
          <a:p>
            <a:pPr>
              <a:defRPr/>
            </a:pPr>
            <a:fld id="{2E1E1E2A-88E9-4CB1-89D2-8ABF177DA4C4}" type="slidenum">
              <a:rPr lang="en-US" smtClean="0"/>
              <a:pPr>
                <a:defRPr/>
              </a:pPr>
              <a:t>17</a:t>
            </a:fld>
            <a:endParaRPr lang="en-US" dirty="0"/>
          </a:p>
        </p:txBody>
      </p:sp>
    </p:spTree>
    <p:extLst>
      <p:ext uri="{BB962C8B-B14F-4D97-AF65-F5344CB8AC3E}">
        <p14:creationId xmlns:p14="http://schemas.microsoft.com/office/powerpoint/2010/main" val="3173511260"/>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9" descr="layersvert"/>
          <p:cNvPicPr>
            <a:picLocks noChangeAspect="1" noChangeArrowheads="1"/>
          </p:cNvPicPr>
          <p:nvPr/>
        </p:nvPicPr>
        <p:blipFill>
          <a:blip r:embed="rId2">
            <a:lum bright="60000" contrast="-60000"/>
          </a:blip>
          <a:srcRect/>
          <a:stretch>
            <a:fillRect/>
          </a:stretch>
        </p:blipFill>
        <p:spPr bwMode="auto">
          <a:xfrm>
            <a:off x="0" y="3962400"/>
            <a:ext cx="9144000" cy="2908300"/>
          </a:xfrm>
          <a:prstGeom prst="rect">
            <a:avLst/>
          </a:prstGeom>
          <a:noFill/>
          <a:ln w="9525">
            <a:noFill/>
            <a:miter lim="800000"/>
            <a:headEnd/>
            <a:tailEnd/>
          </a:ln>
        </p:spPr>
      </p:pic>
      <p:sp>
        <p:nvSpPr>
          <p:cNvPr id="6" name="Title 1"/>
          <p:cNvSpPr>
            <a:spLocks noGrp="1"/>
          </p:cNvSpPr>
          <p:nvPr>
            <p:ph type="ctrTitle"/>
          </p:nvPr>
        </p:nvSpPr>
        <p:spPr>
          <a:xfrm>
            <a:off x="685800" y="2130425"/>
            <a:ext cx="7772400" cy="1470025"/>
          </a:xfrm>
        </p:spPr>
        <p:txBody>
          <a:bodyPr anchor="ctr"/>
          <a:lstStyle/>
          <a:p>
            <a:pPr algn="ctr"/>
            <a:r>
              <a:rPr lang="en-US" dirty="0" smtClean="0">
                <a:ea typeface="ＭＳ Ｐゴシック" pitchFamily="34" charset="-128"/>
              </a:rPr>
              <a:t>The Cases</a:t>
            </a:r>
          </a:p>
        </p:txBody>
      </p:sp>
      <p:sp>
        <p:nvSpPr>
          <p:cNvPr id="2" name="Slide Number Placeholder 1"/>
          <p:cNvSpPr>
            <a:spLocks noGrp="1"/>
          </p:cNvSpPr>
          <p:nvPr>
            <p:ph type="sldNum" sz="quarter" idx="11"/>
          </p:nvPr>
        </p:nvSpPr>
        <p:spPr/>
        <p:txBody>
          <a:bodyPr/>
          <a:lstStyle/>
          <a:p>
            <a:pPr>
              <a:defRPr/>
            </a:pPr>
            <a:fld id="{D27468C5-B7D7-4747-8C9A-D2E8B4FA8FD8}" type="slidenum">
              <a:rPr lang="en-US" smtClean="0"/>
              <a:pPr>
                <a:defRPr/>
              </a:pPr>
              <a:t>18</a:t>
            </a:fld>
            <a:endParaRPr lang="en-US" dirty="0"/>
          </a:p>
        </p:txBody>
      </p:sp>
    </p:spTree>
    <p:extLst>
      <p:ext uri="{BB962C8B-B14F-4D97-AF65-F5344CB8AC3E}">
        <p14:creationId xmlns:p14="http://schemas.microsoft.com/office/powerpoint/2010/main" val="3355763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5"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512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 </a:t>
            </a:r>
            <a:r>
              <a:rPr lang="en-US" sz="2400" b="1" dirty="0"/>
              <a:t>Drinks on a Plane</a:t>
            </a:r>
          </a:p>
        </p:txBody>
      </p:sp>
      <p:graphicFrame>
        <p:nvGraphicFramePr>
          <p:cNvPr id="12" name="Table 11"/>
          <p:cNvGraphicFramePr>
            <a:graphicFrameLocks noGrp="1"/>
          </p:cNvGraphicFramePr>
          <p:nvPr>
            <p:extLst>
              <p:ext uri="{D42A27DB-BD31-4B8C-83A1-F6EECF244321}">
                <p14:modId xmlns:p14="http://schemas.microsoft.com/office/powerpoint/2010/main" val="2592396442"/>
              </p:ext>
            </p:extLst>
          </p:nvPr>
        </p:nvGraphicFramePr>
        <p:xfrm>
          <a:off x="304800" y="1295400"/>
          <a:ext cx="8534400" cy="5232400"/>
        </p:xfrm>
        <a:graphic>
          <a:graphicData uri="http://schemas.openxmlformats.org/drawingml/2006/table">
            <a:tbl>
              <a:tblPr firstRow="1" bandRow="1">
                <a:tableStyleId>{616DA210-FB5B-4158-B5E0-FEB733F419BA}</a:tableStyleId>
              </a:tblPr>
              <a:tblGrid>
                <a:gridCol w="1600200"/>
                <a:gridCol w="6934200"/>
              </a:tblGrid>
              <a:tr h="1117797">
                <a:tc>
                  <a:txBody>
                    <a:bodyPr/>
                    <a:lstStyle/>
                    <a:p>
                      <a:pPr algn="ctr"/>
                      <a:r>
                        <a:rPr lang="en-US" sz="1800" dirty="0" smtClean="0"/>
                        <a:t>Prompt #1</a:t>
                      </a:r>
                      <a:endParaRPr lang="en-US" sz="1800" dirty="0"/>
                    </a:p>
                  </a:txBody>
                  <a:tcPr marT="45729" marB="45729" anchor="ctr"/>
                </a:tc>
                <a:tc>
                  <a:txBody>
                    <a:bodyPr/>
                    <a:lstStyle/>
                    <a:p>
                      <a:r>
                        <a:rPr lang="en-US" sz="1200" b="0" i="0" kern="1200" dirty="0" smtClean="0">
                          <a:solidFill>
                            <a:schemeClr val="tx1"/>
                          </a:solidFill>
                          <a:latin typeface="+mj-lt"/>
                          <a:ea typeface="+mn-ea"/>
                          <a:cs typeface="+mn-cs"/>
                        </a:rPr>
                        <a:t>Our</a:t>
                      </a:r>
                      <a:r>
                        <a:rPr lang="en-US" sz="1200" b="0" i="0" kern="1200" baseline="0" dirty="0" smtClean="0">
                          <a:solidFill>
                            <a:schemeClr val="tx1"/>
                          </a:solidFill>
                          <a:latin typeface="+mj-lt"/>
                          <a:ea typeface="+mn-ea"/>
                          <a:cs typeface="+mn-cs"/>
                        </a:rPr>
                        <a:t> client, CD OutBev, is a major alcoholic beverage distributor. They have asked us to estimate the daily market size for alcoholic beverages on US domestic flights. First, I would like you to brainstorm a few ways we might approach this problem. Once we agree on an approach, I will then ask you to make some assumptions for me as we work together to size the market. Be sure to provide an explanation for all assumptions.</a:t>
                      </a:r>
                    </a:p>
                  </a:txBody>
                  <a:tcPr marT="45729" marB="45729" anchor="ctr"/>
                </a:tc>
              </a:tr>
              <a:tr h="4114603">
                <a:tc>
                  <a:txBody>
                    <a:bodyPr/>
                    <a:lstStyle/>
                    <a:p>
                      <a:pPr algn="ctr"/>
                      <a:r>
                        <a:rPr lang="en-US" sz="1800" b="1" dirty="0" smtClean="0"/>
                        <a:t>Guidance</a:t>
                      </a:r>
                      <a:endParaRPr lang="en-US" sz="1800" b="1" baseline="0" dirty="0" smtClean="0"/>
                    </a:p>
                  </a:txBody>
                  <a:tcPr marT="45729" marB="45729" anchor="ctr"/>
                </a:tc>
                <a:tc>
                  <a:txBody>
                    <a:bodyPr/>
                    <a:lstStyle/>
                    <a:p>
                      <a:r>
                        <a:rPr lang="en-US" sz="1200" i="1" kern="1200" baseline="0" dirty="0" smtClean="0">
                          <a:solidFill>
                            <a:schemeClr val="tx1"/>
                          </a:solidFill>
                          <a:latin typeface="+mj-lt"/>
                          <a:ea typeface="+mn-ea"/>
                          <a:cs typeface="+mn-cs"/>
                        </a:rPr>
                        <a:t>This case should take no more than 30 minutes, including behavioral and Q&amp;A. Make sure the candidate doesn’t get too bogged down in one part of the case- if  it takes more than 20-25 minutes to complete the case, they will probably be stopped. It is OK to push them along once or twice.</a:t>
                      </a:r>
                    </a:p>
                    <a:p>
                      <a:endParaRPr lang="en-US" sz="1200"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j-lt"/>
                          <a:ea typeface="+mn-ea"/>
                          <a:cs typeface="+mn-cs"/>
                        </a:rPr>
                        <a:t>Give the interviewee 1-2 minutes to develop a plan of attack if they ask for it. If asked, we are looking for number of drinks and dollars, in that order.</a:t>
                      </a:r>
                    </a:p>
                    <a:p>
                      <a:pPr marL="228600" indent="-228600">
                        <a:buNone/>
                      </a:pPr>
                      <a:endParaRPr lang="en-US" sz="1200" i="0" kern="1200" baseline="0" dirty="0" smtClean="0">
                        <a:solidFill>
                          <a:schemeClr val="tx1"/>
                        </a:solidFill>
                        <a:latin typeface="+mj-lt"/>
                        <a:ea typeface="+mn-ea"/>
                        <a:cs typeface="+mn-cs"/>
                      </a:endParaRPr>
                    </a:p>
                    <a:p>
                      <a:pPr marL="228600" indent="-228600">
                        <a:buNone/>
                      </a:pPr>
                      <a:r>
                        <a:rPr lang="en-US" sz="1200" i="0" kern="1200" baseline="0" dirty="0" smtClean="0">
                          <a:solidFill>
                            <a:schemeClr val="tx1"/>
                          </a:solidFill>
                          <a:latin typeface="+mj-lt"/>
                          <a:ea typeface="+mn-ea"/>
                          <a:cs typeface="+mn-cs"/>
                        </a:rPr>
                        <a:t>Some sample approaches might include:</a:t>
                      </a:r>
                    </a:p>
                    <a:p>
                      <a:pPr marL="228600" indent="-228600">
                        <a:buFont typeface="Arial" pitchFamily="34" charset="0"/>
                        <a:buChar char="•"/>
                      </a:pPr>
                      <a:r>
                        <a:rPr lang="en-US" sz="1200" i="0" u="sng" kern="1200" baseline="0" dirty="0" smtClean="0">
                          <a:solidFill>
                            <a:schemeClr val="tx1"/>
                          </a:solidFill>
                          <a:latin typeface="+mj-lt"/>
                          <a:ea typeface="+mn-ea"/>
                          <a:cs typeface="+mn-cs"/>
                        </a:rPr>
                        <a:t>Top down</a:t>
                      </a:r>
                      <a:r>
                        <a:rPr lang="en-US" sz="1200" i="0" u="none" kern="1200" baseline="0" dirty="0" smtClean="0">
                          <a:solidFill>
                            <a:schemeClr val="tx1"/>
                          </a:solidFill>
                          <a:latin typeface="+mj-lt"/>
                          <a:ea typeface="+mn-ea"/>
                          <a:cs typeface="+mn-cs"/>
                        </a:rPr>
                        <a:t> </a:t>
                      </a:r>
                      <a:r>
                        <a:rPr lang="en-US" sz="1200" i="0" kern="1200" baseline="0" dirty="0" smtClean="0">
                          <a:solidFill>
                            <a:schemeClr val="tx1"/>
                          </a:solidFill>
                          <a:latin typeface="+mj-lt"/>
                          <a:ea typeface="+mn-ea"/>
                          <a:cs typeface="+mn-cs"/>
                        </a:rPr>
                        <a:t>- start with total number of domestic passengers in a year &amp; estimate a percentage of passengers that purchase alcohol. OR Take the US population and estimate number or flights taken per person on average, proceed from there.</a:t>
                      </a:r>
                    </a:p>
                    <a:p>
                      <a:pPr marL="228600" indent="-228600">
                        <a:buFont typeface="Arial" pitchFamily="34" charset="0"/>
                        <a:buChar char="•"/>
                      </a:pPr>
                      <a:endParaRPr lang="en-US" sz="1200" i="0" u="sng" kern="1200" baseline="0" dirty="0" smtClean="0">
                        <a:solidFill>
                          <a:schemeClr val="tx1"/>
                        </a:solidFill>
                        <a:latin typeface="+mj-lt"/>
                        <a:ea typeface="+mn-ea"/>
                        <a:cs typeface="+mn-cs"/>
                      </a:endParaRPr>
                    </a:p>
                    <a:p>
                      <a:pPr marL="228600" indent="-228600">
                        <a:buFont typeface="Arial" pitchFamily="34" charset="0"/>
                        <a:buChar char="•"/>
                      </a:pPr>
                      <a:r>
                        <a:rPr lang="en-US" sz="1200" i="0" u="sng" kern="1200" baseline="0" dirty="0" smtClean="0">
                          <a:solidFill>
                            <a:schemeClr val="tx1"/>
                          </a:solidFill>
                          <a:latin typeface="+mj-lt"/>
                          <a:ea typeface="+mn-ea"/>
                          <a:cs typeface="+mn-cs"/>
                        </a:rPr>
                        <a:t>Bottom-up</a:t>
                      </a:r>
                      <a:r>
                        <a:rPr lang="en-US" sz="1200" i="0" u="none" kern="1200" baseline="0" dirty="0" smtClean="0">
                          <a:solidFill>
                            <a:schemeClr val="tx1"/>
                          </a:solidFill>
                          <a:latin typeface="+mj-lt"/>
                          <a:ea typeface="+mn-ea"/>
                          <a:cs typeface="+mn-cs"/>
                        </a:rPr>
                        <a:t> (PERFERRED METHOD)-</a:t>
                      </a:r>
                      <a:r>
                        <a:rPr lang="en-US" sz="1200" i="0" kern="1200" baseline="0" dirty="0" smtClean="0">
                          <a:solidFill>
                            <a:schemeClr val="tx1"/>
                          </a:solidFill>
                          <a:latin typeface="+mj-lt"/>
                          <a:ea typeface="+mn-ea"/>
                          <a:cs typeface="+mn-cs"/>
                        </a:rPr>
                        <a:t>Start with number of passengers on one airline or in one city , and build up from there. </a:t>
                      </a:r>
                    </a:p>
                    <a:p>
                      <a:pPr marL="228600" indent="-228600">
                        <a:buNone/>
                      </a:pPr>
                      <a:endParaRPr lang="en-US" sz="1200" i="0" kern="1200" baseline="0" dirty="0" smtClean="0">
                        <a:solidFill>
                          <a:schemeClr val="tx1"/>
                        </a:solidFill>
                        <a:latin typeface="+mj-lt"/>
                        <a:ea typeface="+mn-ea"/>
                        <a:cs typeface="+mn-cs"/>
                      </a:endParaRPr>
                    </a:p>
                    <a:p>
                      <a:pPr marL="228600" indent="-228600">
                        <a:buNone/>
                      </a:pPr>
                      <a:r>
                        <a:rPr lang="en-US" sz="1200" i="0" kern="1200" baseline="0" dirty="0" smtClean="0">
                          <a:solidFill>
                            <a:schemeClr val="tx1"/>
                          </a:solidFill>
                          <a:latin typeface="+mj-lt"/>
                          <a:ea typeface="+mn-ea"/>
                          <a:cs typeface="+mn-cs"/>
                        </a:rPr>
                        <a:t>If we knew how many flights left one airport each day on average, and how many airports there were in the US, I could get the number of  daily flights. Then by estimating the number of passengers on each flight, we could estimate our potential customer base. In order to get the number of flights at one airport, we could use the number of gates. </a:t>
                      </a:r>
                      <a:endParaRPr lang="en-US" sz="1200" i="0" kern="1200" dirty="0" smtClean="0">
                        <a:solidFill>
                          <a:schemeClr val="tx1"/>
                        </a:solidFill>
                        <a:latin typeface="+mj-lt"/>
                        <a:ea typeface="+mn-ea"/>
                        <a:cs typeface="+mn-cs"/>
                      </a:endParaRPr>
                    </a:p>
                  </a:txBody>
                  <a:tcPr marT="45729" marB="45729"/>
                </a:tc>
              </a:tr>
            </a:tbl>
          </a:graphicData>
        </a:graphic>
      </p:graphicFrame>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19</a:t>
            </a:fld>
            <a:endParaRPr lang="en-US" dirty="0"/>
          </a:p>
        </p:txBody>
      </p:sp>
    </p:spTree>
    <p:extLst>
      <p:ext uri="{BB962C8B-B14F-4D97-AF65-F5344CB8AC3E}">
        <p14:creationId xmlns:p14="http://schemas.microsoft.com/office/powerpoint/2010/main" val="864975485"/>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265876585"/>
              </p:ext>
            </p:extLst>
          </p:nvPr>
        </p:nvGraphicFramePr>
        <p:xfrm>
          <a:off x="228600" y="1447800"/>
          <a:ext cx="8534400" cy="5029200"/>
        </p:xfrm>
        <a:graphic>
          <a:graphicData uri="http://schemas.openxmlformats.org/drawingml/2006/table">
            <a:tbl>
              <a:tblPr firstRow="1" bandRow="1">
                <a:tableStyleId>{616DA210-FB5B-4158-B5E0-FEB733F419BA}</a:tableStyleId>
              </a:tblPr>
              <a:tblGrid>
                <a:gridCol w="1600200"/>
                <a:gridCol w="6934200"/>
              </a:tblGrid>
              <a:tr h="5029200">
                <a:tc>
                  <a:txBody>
                    <a:bodyPr/>
                    <a:lstStyle/>
                    <a:p>
                      <a:pPr algn="ctr"/>
                      <a:r>
                        <a:rPr lang="en-US" sz="1800" dirty="0" smtClean="0">
                          <a:latin typeface="+mj-lt"/>
                        </a:rPr>
                        <a:t>Guidance</a:t>
                      </a:r>
                      <a:endParaRPr lang="en-US" sz="1800" dirty="0">
                        <a:latin typeface="+mj-lt"/>
                      </a:endParaRPr>
                    </a:p>
                  </a:txBody>
                  <a:tcPr marT="45713" marB="45713" anchor="ctr">
                    <a:solidFill>
                      <a:schemeClr val="tx1">
                        <a:alpha val="20000"/>
                      </a:schemeClr>
                    </a:solidFill>
                  </a:tcPr>
                </a:tc>
                <a:tc>
                  <a:txBody>
                    <a:bodyPr/>
                    <a:lstStyle/>
                    <a:p>
                      <a:r>
                        <a:rPr lang="en-US" sz="1200" b="1" i="0" kern="1200" dirty="0" smtClean="0">
                          <a:solidFill>
                            <a:schemeClr val="tx1"/>
                          </a:solidFill>
                          <a:latin typeface="+mj-lt"/>
                          <a:ea typeface="+mn-ea"/>
                          <a:cs typeface="+mn-cs"/>
                        </a:rPr>
                        <a:t>Ask the candidate</a:t>
                      </a:r>
                      <a:r>
                        <a:rPr lang="en-US" sz="1200" b="1" i="0" kern="1200" baseline="0" dirty="0" smtClean="0">
                          <a:solidFill>
                            <a:schemeClr val="tx1"/>
                          </a:solidFill>
                          <a:latin typeface="+mj-lt"/>
                          <a:ea typeface="+mn-ea"/>
                          <a:cs typeface="+mn-cs"/>
                        </a:rPr>
                        <a:t> to provide assumptions  &amp; rationale for each stage before guiding them to the preferred assumption.</a:t>
                      </a:r>
                      <a:endParaRPr lang="en-US" sz="1200" b="1" i="0" kern="1200" dirty="0" smtClean="0">
                        <a:solidFill>
                          <a:schemeClr val="tx1"/>
                        </a:solidFill>
                        <a:latin typeface="+mj-lt"/>
                        <a:ea typeface="+mn-ea"/>
                        <a:cs typeface="+mn-cs"/>
                      </a:endParaRPr>
                    </a:p>
                    <a:p>
                      <a:endParaRPr lang="en-US" sz="1200" b="1" i="0" kern="1200" dirty="0" smtClean="0">
                        <a:solidFill>
                          <a:schemeClr val="tx1"/>
                        </a:solidFill>
                        <a:latin typeface="+mj-lt"/>
                        <a:ea typeface="+mn-ea"/>
                        <a:cs typeface="+mn-cs"/>
                      </a:endParaRPr>
                    </a:p>
                    <a:p>
                      <a:r>
                        <a:rPr lang="en-US" sz="1200" b="1" i="0" kern="1200" dirty="0" smtClean="0">
                          <a:solidFill>
                            <a:schemeClr val="tx1"/>
                          </a:solidFill>
                          <a:latin typeface="+mj-lt"/>
                          <a:ea typeface="+mn-ea"/>
                          <a:cs typeface="+mn-cs"/>
                        </a:rPr>
                        <a:t>How many </a:t>
                      </a:r>
                      <a:r>
                        <a:rPr lang="en-US" sz="1200" b="1" i="0" kern="1200" baseline="0" dirty="0" smtClean="0">
                          <a:solidFill>
                            <a:schemeClr val="tx1"/>
                          </a:solidFill>
                          <a:latin typeface="+mj-lt"/>
                          <a:ea typeface="+mn-ea"/>
                          <a:cs typeface="+mn-cs"/>
                        </a:rPr>
                        <a:t> Major Airports in the US? 50</a:t>
                      </a:r>
                    </a:p>
                    <a:p>
                      <a:r>
                        <a:rPr lang="en-US" sz="1200" b="0" i="0" kern="1200" baseline="0" dirty="0" smtClean="0">
                          <a:solidFill>
                            <a:schemeClr val="tx1"/>
                          </a:solidFill>
                          <a:latin typeface="+mj-lt"/>
                          <a:ea typeface="+mn-ea"/>
                          <a:cs typeface="+mn-cs"/>
                        </a:rPr>
                        <a:t>(Sample explanation: there are 50 states, each with about one “major city” on average, so I’d assume there are 50  major airports)</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Average number of Gates per Airport? 50</a:t>
                      </a:r>
                    </a:p>
                    <a:p>
                      <a:r>
                        <a:rPr lang="en-US" sz="1200" b="0" i="0" kern="1200" baseline="0" dirty="0" smtClean="0">
                          <a:solidFill>
                            <a:schemeClr val="tx1"/>
                          </a:solidFill>
                          <a:latin typeface="+mj-lt"/>
                          <a:ea typeface="+mn-ea"/>
                          <a:cs typeface="+mn-cs"/>
                        </a:rPr>
                        <a:t>(Some of the largest US airports like Atlanta or JFK have well over 100 gates, but  smaller cities like Raleigh/Durham have approximately 30 gates. 50 seems like a reasonable average)</a:t>
                      </a:r>
                    </a:p>
                    <a:p>
                      <a:r>
                        <a:rPr lang="en-US" sz="1200" b="1" i="0" kern="1200" baseline="0" dirty="0" smtClean="0">
                          <a:solidFill>
                            <a:schemeClr val="tx1"/>
                          </a:solidFill>
                          <a:latin typeface="+mj-lt"/>
                          <a:ea typeface="+mn-ea"/>
                          <a:cs typeface="+mn-cs"/>
                        </a:rPr>
                        <a:t>50*50= 2,500 Total Gates</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Flights per gate per day? 8</a:t>
                      </a:r>
                    </a:p>
                    <a:p>
                      <a:r>
                        <a:rPr lang="en-US" sz="1200" b="0" i="0" kern="1200" baseline="0" dirty="0" smtClean="0">
                          <a:solidFill>
                            <a:schemeClr val="tx1"/>
                          </a:solidFill>
                          <a:latin typeface="+mj-lt"/>
                          <a:ea typeface="+mn-ea"/>
                          <a:cs typeface="+mn-cs"/>
                        </a:rPr>
                        <a:t>(About one flight every two hours from 7am to 11pm for each gate.)</a:t>
                      </a:r>
                    </a:p>
                    <a:p>
                      <a:r>
                        <a:rPr lang="en-US" sz="1200" b="1" i="0" kern="1200" baseline="0" dirty="0" smtClean="0">
                          <a:solidFill>
                            <a:schemeClr val="tx1"/>
                          </a:solidFill>
                          <a:latin typeface="+mj-lt"/>
                          <a:ea typeface="+mn-ea"/>
                          <a:cs typeface="+mn-cs"/>
                        </a:rPr>
                        <a:t>2500*8=20,000 domestic flights per day</a:t>
                      </a:r>
                    </a:p>
                    <a:p>
                      <a:endParaRPr lang="en-US" sz="1200" b="1" i="0" kern="1200" dirty="0" smtClean="0">
                        <a:solidFill>
                          <a:schemeClr val="tx1"/>
                        </a:solidFill>
                        <a:latin typeface="+mj-lt"/>
                        <a:ea typeface="+mn-ea"/>
                        <a:cs typeface="+mn-cs"/>
                      </a:endParaRPr>
                    </a:p>
                    <a:p>
                      <a:r>
                        <a:rPr lang="en-US" sz="1200" b="1" i="0" kern="1200" dirty="0" smtClean="0">
                          <a:solidFill>
                            <a:schemeClr val="tx1"/>
                          </a:solidFill>
                          <a:latin typeface="+mj-lt"/>
                          <a:ea typeface="+mn-ea"/>
                          <a:cs typeface="+mn-cs"/>
                        </a:rPr>
                        <a:t>Average Seats</a:t>
                      </a:r>
                      <a:r>
                        <a:rPr lang="en-US" sz="1200" b="1" i="0" kern="1200" baseline="0" dirty="0" smtClean="0">
                          <a:solidFill>
                            <a:schemeClr val="tx1"/>
                          </a:solidFill>
                          <a:latin typeface="+mj-lt"/>
                          <a:ea typeface="+mn-ea"/>
                          <a:cs typeface="+mn-cs"/>
                        </a:rPr>
                        <a:t> per flight: 100</a:t>
                      </a:r>
                    </a:p>
                    <a:p>
                      <a:r>
                        <a:rPr lang="en-US" sz="1200" b="0" i="0" kern="1200" baseline="0" dirty="0" smtClean="0">
                          <a:solidFill>
                            <a:schemeClr val="tx1"/>
                          </a:solidFill>
                          <a:latin typeface="+mj-lt"/>
                          <a:ea typeface="+mn-ea"/>
                          <a:cs typeface="+mn-cs"/>
                        </a:rPr>
                        <a:t>(A typical Southwest  Airlines  737 has about 25 rows of 6, or 150 seats. However many small regional jets have only 12 rows of 2X2 or 48 seats. 100 seems like a decent midpoint) </a:t>
                      </a: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 occupied seats/flight (“load factor”): 80%</a:t>
                      </a:r>
                    </a:p>
                    <a:p>
                      <a:r>
                        <a:rPr lang="en-US" sz="1200" b="0" i="0" kern="1200" baseline="0" dirty="0" smtClean="0">
                          <a:solidFill>
                            <a:schemeClr val="tx1"/>
                          </a:solidFill>
                          <a:latin typeface="+mj-lt"/>
                          <a:ea typeface="+mn-ea"/>
                          <a:cs typeface="+mn-cs"/>
                        </a:rPr>
                        <a:t>(most flights are pretty full these days, well over half, but there are still some empty seats, 80% seems like a good assumption) </a:t>
                      </a:r>
                    </a:p>
                    <a:p>
                      <a:r>
                        <a:rPr lang="en-US" sz="1200" b="1" i="0" kern="1200" baseline="0" dirty="0" smtClean="0">
                          <a:solidFill>
                            <a:schemeClr val="tx1"/>
                          </a:solidFill>
                          <a:latin typeface="+mj-lt"/>
                          <a:ea typeface="+mn-ea"/>
                          <a:cs typeface="+mn-cs"/>
                        </a:rPr>
                        <a:t>= 80 passengers per flight</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80*20,000 = 1,600,000 passengers per day. </a:t>
                      </a:r>
                      <a:r>
                        <a:rPr lang="en-US" sz="1200" b="0" i="0" kern="1200" baseline="0" dirty="0" smtClean="0">
                          <a:solidFill>
                            <a:schemeClr val="tx1"/>
                          </a:solidFill>
                          <a:latin typeface="+mj-lt"/>
                          <a:ea typeface="+mn-ea"/>
                          <a:cs typeface="+mn-cs"/>
                        </a:rPr>
                        <a:t>Now we just need the number of drinks purchased per passenger.</a:t>
                      </a:r>
                    </a:p>
                  </a:txBody>
                  <a:tcPr marT="45713" marB="45713">
                    <a:solidFill>
                      <a:schemeClr val="tx1">
                        <a:alpha val="20000"/>
                      </a:schemeClr>
                    </a:solidFill>
                  </a:tcPr>
                </a:tc>
              </a:tr>
            </a:tbl>
          </a:graphicData>
        </a:graphic>
      </p:graphicFrame>
      <p:pic>
        <p:nvPicPr>
          <p:cNvPr id="615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156"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1</a:t>
            </a:r>
            <a:r>
              <a:rPr lang="en-US" sz="2400" b="1" dirty="0" smtClean="0"/>
              <a:t>: </a:t>
            </a:r>
            <a:r>
              <a:rPr lang="en-US" sz="2400" b="1" dirty="0"/>
              <a:t>Drinks on a Plane</a:t>
            </a:r>
          </a:p>
        </p:txBody>
      </p:sp>
      <p:sp>
        <p:nvSpPr>
          <p:cNvPr id="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20</a:t>
            </a:fld>
            <a:endParaRPr lang="en-US" dirty="0"/>
          </a:p>
        </p:txBody>
      </p:sp>
    </p:spTree>
    <p:extLst>
      <p:ext uri="{BB962C8B-B14F-4D97-AF65-F5344CB8AC3E}">
        <p14:creationId xmlns:p14="http://schemas.microsoft.com/office/powerpoint/2010/main" val="4111838234"/>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174"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 </a:t>
            </a:r>
            <a:r>
              <a:rPr lang="en-US" sz="2400" b="1" dirty="0"/>
              <a:t>Drinks on a Plane</a:t>
            </a:r>
          </a:p>
        </p:txBody>
      </p:sp>
      <p:graphicFrame>
        <p:nvGraphicFramePr>
          <p:cNvPr id="12" name="Table 11"/>
          <p:cNvGraphicFramePr>
            <a:graphicFrameLocks noGrp="1"/>
          </p:cNvGraphicFramePr>
          <p:nvPr>
            <p:extLst>
              <p:ext uri="{D42A27DB-BD31-4B8C-83A1-F6EECF244321}">
                <p14:modId xmlns:p14="http://schemas.microsoft.com/office/powerpoint/2010/main" val="3932040280"/>
              </p:ext>
            </p:extLst>
          </p:nvPr>
        </p:nvGraphicFramePr>
        <p:xfrm>
          <a:off x="304800" y="1336675"/>
          <a:ext cx="8534400" cy="5166929"/>
        </p:xfrm>
        <a:graphic>
          <a:graphicData uri="http://schemas.openxmlformats.org/drawingml/2006/table">
            <a:tbl>
              <a:tblPr firstRow="1" bandRow="1">
                <a:tableStyleId>{616DA210-FB5B-4158-B5E0-FEB733F419BA}</a:tableStyleId>
              </a:tblPr>
              <a:tblGrid>
                <a:gridCol w="1600200"/>
                <a:gridCol w="6934200"/>
              </a:tblGrid>
              <a:tr h="880052">
                <a:tc>
                  <a:txBody>
                    <a:bodyPr/>
                    <a:lstStyle/>
                    <a:p>
                      <a:pPr algn="ctr"/>
                      <a:r>
                        <a:rPr lang="en-US" sz="1800" dirty="0" smtClean="0"/>
                        <a:t>Prompt #2</a:t>
                      </a:r>
                      <a:endParaRPr lang="en-US" sz="1800" dirty="0"/>
                    </a:p>
                  </a:txBody>
                  <a:tcPr marT="45739" marB="45739" anchor="ctr"/>
                </a:tc>
                <a:tc>
                  <a:txBody>
                    <a:bodyPr/>
                    <a:lstStyle/>
                    <a:p>
                      <a:r>
                        <a:rPr lang="en-US" sz="1200" b="0" i="0" kern="1200" dirty="0" smtClean="0">
                          <a:solidFill>
                            <a:schemeClr val="tx1"/>
                          </a:solidFill>
                          <a:latin typeface="+mn-lt"/>
                          <a:ea typeface="+mn-ea"/>
                          <a:cs typeface="+mn-cs"/>
                        </a:rPr>
                        <a:t>Now that we have</a:t>
                      </a:r>
                      <a:r>
                        <a:rPr lang="en-US" sz="1200" b="0" i="0" kern="1200" baseline="0" dirty="0" smtClean="0">
                          <a:solidFill>
                            <a:schemeClr val="tx1"/>
                          </a:solidFill>
                          <a:latin typeface="+mn-lt"/>
                          <a:ea typeface="+mn-ea"/>
                          <a:cs typeface="+mn-cs"/>
                        </a:rPr>
                        <a:t> determined our potential customer base, how can we further segment the market to arrive at the daily market size?</a:t>
                      </a:r>
                    </a:p>
                  </a:txBody>
                  <a:tcPr marT="45739" marB="45739" anchor="ctr"/>
                </a:tc>
              </a:tr>
              <a:tr h="4286877">
                <a:tc>
                  <a:txBody>
                    <a:bodyPr/>
                    <a:lstStyle/>
                    <a:p>
                      <a:pPr algn="ctr"/>
                      <a:r>
                        <a:rPr lang="en-US" sz="1800" b="1" dirty="0" smtClean="0"/>
                        <a:t>Guidance</a:t>
                      </a:r>
                      <a:endParaRPr lang="en-US" sz="1800" b="1" baseline="0" dirty="0" smtClean="0"/>
                    </a:p>
                  </a:txBody>
                  <a:tcPr marT="45739" marB="45739" anchor="ctr"/>
                </a:tc>
                <a:tc>
                  <a:txBody>
                    <a:bodyPr/>
                    <a:lstStyle/>
                    <a:p>
                      <a:r>
                        <a:rPr lang="en-US" sz="1200" b="1" i="0" kern="1200" baseline="0" dirty="0" smtClean="0">
                          <a:solidFill>
                            <a:schemeClr val="tx1"/>
                          </a:solidFill>
                          <a:latin typeface="+mj-lt"/>
                          <a:ea typeface="+mn-ea"/>
                          <a:cs typeface="+mn-cs"/>
                        </a:rPr>
                        <a:t>Allow the candidate to offer one or two options, but direct them towards age. </a:t>
                      </a:r>
                    </a:p>
                    <a:p>
                      <a:r>
                        <a:rPr lang="en-US" sz="1200" i="0" kern="1200" baseline="0" dirty="0" smtClean="0">
                          <a:solidFill>
                            <a:schemeClr val="tx1"/>
                          </a:solidFill>
                          <a:latin typeface="+mj-lt"/>
                          <a:ea typeface="+mn-ea"/>
                          <a:cs typeface="+mn-cs"/>
                        </a:rPr>
                        <a:t>The candidate should realize that some proportion of the population can not legally drink. This makes age an appropriate way to segment the market. </a:t>
                      </a:r>
                    </a:p>
                    <a:p>
                      <a:pPr marL="228600" indent="-228600">
                        <a:buNone/>
                      </a:pPr>
                      <a:endParaRPr lang="en-US" sz="1200" b="1" i="0" kern="1200" baseline="0" dirty="0" smtClean="0">
                        <a:solidFill>
                          <a:schemeClr val="tx1"/>
                        </a:solidFill>
                        <a:latin typeface="+mj-lt"/>
                        <a:ea typeface="+mn-ea"/>
                        <a:cs typeface="+mn-cs"/>
                      </a:endParaRPr>
                    </a:p>
                    <a:p>
                      <a:pPr marL="228600" indent="-228600">
                        <a:buNone/>
                      </a:pPr>
                      <a:r>
                        <a:rPr lang="en-US" sz="1200" b="1" i="0" kern="1200" baseline="0" dirty="0" smtClean="0">
                          <a:solidFill>
                            <a:schemeClr val="tx1"/>
                          </a:solidFill>
                          <a:latin typeface="+mj-lt"/>
                          <a:ea typeface="+mn-ea"/>
                          <a:cs typeface="+mn-cs"/>
                        </a:rPr>
                        <a:t>Provide the candidate the following age breakdown of the domestic air travel market: </a:t>
                      </a:r>
                    </a:p>
                    <a:p>
                      <a:pPr marL="228600" indent="-228600">
                        <a:buNone/>
                      </a:pPr>
                      <a:r>
                        <a:rPr lang="en-US" sz="1200" i="0" kern="1200" baseline="0" dirty="0" smtClean="0">
                          <a:solidFill>
                            <a:schemeClr val="tx1"/>
                          </a:solidFill>
                          <a:latin typeface="+mj-lt"/>
                          <a:ea typeface="+mn-ea"/>
                          <a:cs typeface="+mn-cs"/>
                        </a:rPr>
                        <a:t>0-20 years old= 10% of passengers</a:t>
                      </a:r>
                    </a:p>
                    <a:p>
                      <a:pPr marL="228600" indent="-228600">
                        <a:buNone/>
                      </a:pPr>
                      <a:r>
                        <a:rPr lang="en-US" sz="1200" i="0" kern="1200" baseline="0" dirty="0" smtClean="0">
                          <a:solidFill>
                            <a:schemeClr val="tx1"/>
                          </a:solidFill>
                          <a:latin typeface="+mj-lt"/>
                          <a:ea typeface="+mn-ea"/>
                          <a:cs typeface="+mn-cs"/>
                        </a:rPr>
                        <a:t>20-40 years old= 25%</a:t>
                      </a:r>
                    </a:p>
                    <a:p>
                      <a:pPr marL="228600" indent="-228600">
                        <a:buNone/>
                      </a:pPr>
                      <a:r>
                        <a:rPr lang="en-US" sz="1200" i="0" kern="1200" baseline="0" dirty="0" smtClean="0">
                          <a:solidFill>
                            <a:schemeClr val="tx1"/>
                          </a:solidFill>
                          <a:latin typeface="+mj-lt"/>
                          <a:ea typeface="+mn-ea"/>
                          <a:cs typeface="+mn-cs"/>
                        </a:rPr>
                        <a:t>40-60 years old=  40%</a:t>
                      </a:r>
                    </a:p>
                    <a:p>
                      <a:pPr marL="228600" indent="-228600">
                        <a:buNone/>
                      </a:pPr>
                      <a:r>
                        <a:rPr lang="en-US" sz="1200" i="0" kern="1200" baseline="0" dirty="0" smtClean="0">
                          <a:solidFill>
                            <a:schemeClr val="tx1"/>
                          </a:solidFill>
                          <a:latin typeface="+mj-lt"/>
                          <a:ea typeface="+mn-ea"/>
                          <a:cs typeface="+mn-cs"/>
                        </a:rPr>
                        <a:t>Age 60+= 25%</a:t>
                      </a:r>
                    </a:p>
                    <a:p>
                      <a:pPr marL="228600" indent="-228600">
                        <a:buNone/>
                      </a:pPr>
                      <a:endParaRPr lang="en-US" sz="1200" b="1" i="0" kern="1200" baseline="0" dirty="0" smtClean="0">
                        <a:solidFill>
                          <a:schemeClr val="tx1"/>
                        </a:solidFill>
                        <a:latin typeface="+mj-lt"/>
                        <a:ea typeface="+mn-ea"/>
                        <a:cs typeface="+mn-cs"/>
                      </a:endParaRPr>
                    </a:p>
                    <a:p>
                      <a:pPr marL="228600" indent="-228600">
                        <a:buNone/>
                      </a:pPr>
                      <a:r>
                        <a:rPr lang="en-US" sz="1200" b="1" i="0" kern="1200" baseline="0" dirty="0" smtClean="0">
                          <a:solidFill>
                            <a:schemeClr val="tx1"/>
                          </a:solidFill>
                          <a:latin typeface="+mj-lt"/>
                          <a:ea typeface="+mn-ea"/>
                          <a:cs typeface="+mn-cs"/>
                        </a:rPr>
                        <a:t>Expected calculation- Passengers by segment (% * 1.6 million)</a:t>
                      </a:r>
                    </a:p>
                    <a:p>
                      <a:pPr marL="228600" indent="-228600">
                        <a:buNone/>
                      </a:pPr>
                      <a:r>
                        <a:rPr lang="en-US" sz="1200" i="0" kern="1200" baseline="0" dirty="0" smtClean="0">
                          <a:solidFill>
                            <a:schemeClr val="tx1"/>
                          </a:solidFill>
                          <a:latin typeface="+mj-lt"/>
                          <a:ea typeface="+mn-ea"/>
                          <a:cs typeface="+mn-cs"/>
                        </a:rPr>
                        <a:t>0-20- =160,000           20-40 =400,000          </a:t>
                      </a:r>
                    </a:p>
                    <a:p>
                      <a:pPr marL="228600" indent="-228600">
                        <a:buNone/>
                      </a:pPr>
                      <a:r>
                        <a:rPr lang="en-US" sz="1200" i="0" kern="1200" baseline="0" dirty="0" smtClean="0">
                          <a:solidFill>
                            <a:schemeClr val="tx1"/>
                          </a:solidFill>
                          <a:latin typeface="+mj-lt"/>
                          <a:ea typeface="+mn-ea"/>
                          <a:cs typeface="+mn-cs"/>
                        </a:rPr>
                        <a:t>40-60=640,000            60+= 400,000</a:t>
                      </a:r>
                    </a:p>
                    <a:p>
                      <a:pPr marL="228600" indent="-228600">
                        <a:buNone/>
                      </a:pPr>
                      <a:endParaRPr lang="en-US" sz="1200" b="1" i="0" kern="1200" baseline="0" dirty="0" smtClean="0">
                        <a:solidFill>
                          <a:schemeClr val="tx1"/>
                        </a:solidFill>
                        <a:latin typeface="+mj-lt"/>
                        <a:ea typeface="+mn-ea"/>
                        <a:cs typeface="+mn-cs"/>
                      </a:endParaRPr>
                    </a:p>
                    <a:p>
                      <a:pPr marL="228600" indent="-228600">
                        <a:buNone/>
                      </a:pPr>
                      <a:r>
                        <a:rPr lang="en-US" sz="1200" b="1" i="0" kern="1200" baseline="0" dirty="0" smtClean="0">
                          <a:solidFill>
                            <a:schemeClr val="tx1"/>
                          </a:solidFill>
                          <a:latin typeface="+mj-lt"/>
                          <a:ea typeface="+mn-ea"/>
                          <a:cs typeface="+mn-cs"/>
                        </a:rPr>
                        <a:t>Next provide the candidate the % of passengers in each segment who drink </a:t>
                      </a:r>
                    </a:p>
                    <a:p>
                      <a:pPr marL="228600" indent="-228600">
                        <a:buNone/>
                      </a:pPr>
                      <a:r>
                        <a:rPr lang="en-US" sz="1200" b="0" i="0" kern="1200" baseline="0" dirty="0" smtClean="0">
                          <a:solidFill>
                            <a:schemeClr val="tx1"/>
                          </a:solidFill>
                          <a:latin typeface="+mj-lt"/>
                          <a:ea typeface="+mn-ea"/>
                          <a:cs typeface="+mn-cs"/>
                        </a:rPr>
                        <a:t>0-20:- 0%        (0 passengers)        20-40:  20%    (80,000)       </a:t>
                      </a:r>
                    </a:p>
                    <a:p>
                      <a:pPr marL="228600" indent="-228600">
                        <a:buNone/>
                      </a:pPr>
                      <a:r>
                        <a:rPr lang="en-US" sz="1200" b="0" i="0" kern="1200" baseline="0" dirty="0" smtClean="0">
                          <a:solidFill>
                            <a:schemeClr val="tx1"/>
                          </a:solidFill>
                          <a:latin typeface="+mj-lt"/>
                          <a:ea typeface="+mn-ea"/>
                          <a:cs typeface="+mn-cs"/>
                        </a:rPr>
                        <a:t>40-60 :30%     (192,000)                 60+ 14%          (56,000) </a:t>
                      </a:r>
                    </a:p>
                    <a:p>
                      <a:pPr marL="228600" indent="-228600">
                        <a:buNone/>
                      </a:pPr>
                      <a:endParaRPr lang="en-US" sz="1200" b="1" i="0" kern="1200" baseline="0" dirty="0" smtClean="0">
                        <a:solidFill>
                          <a:schemeClr val="tx1"/>
                        </a:solidFill>
                        <a:latin typeface="+mj-lt"/>
                        <a:ea typeface="+mn-ea"/>
                        <a:cs typeface="+mn-cs"/>
                      </a:endParaRPr>
                    </a:p>
                    <a:p>
                      <a:pPr marL="228600" indent="-228600">
                        <a:buNone/>
                      </a:pPr>
                      <a:r>
                        <a:rPr lang="en-US" sz="1200" b="1" i="0" kern="1200" baseline="0" dirty="0" smtClean="0">
                          <a:solidFill>
                            <a:schemeClr val="tx1"/>
                          </a:solidFill>
                          <a:latin typeface="+mj-lt"/>
                          <a:ea typeface="+mn-ea"/>
                          <a:cs typeface="+mn-cs"/>
                        </a:rPr>
                        <a:t>Next provide the candidate the average number of drinks purchased by those who do drink:</a:t>
                      </a:r>
                    </a:p>
                    <a:p>
                      <a:pPr marL="228600" indent="-228600">
                        <a:buNone/>
                      </a:pPr>
                      <a:r>
                        <a:rPr lang="en-US" sz="1200" b="0" i="0" kern="1200" baseline="0" dirty="0" smtClean="0">
                          <a:solidFill>
                            <a:schemeClr val="tx1"/>
                          </a:solidFill>
                          <a:latin typeface="+mj-lt"/>
                          <a:ea typeface="+mn-ea"/>
                          <a:cs typeface="+mn-cs"/>
                        </a:rPr>
                        <a:t>   20-40 &amp; 40-60- 2 drinks/ passenger.               60 ~ 1 drink/passenger</a:t>
                      </a:r>
                    </a:p>
                    <a:p>
                      <a:pPr marL="228600" indent="-228600">
                        <a:buNone/>
                      </a:pPr>
                      <a:r>
                        <a:rPr lang="en-US" sz="1200" i="0" kern="1200" baseline="0" dirty="0" smtClean="0">
                          <a:solidFill>
                            <a:schemeClr val="tx1"/>
                          </a:solidFill>
                          <a:latin typeface="+mj-lt"/>
                          <a:ea typeface="+mn-ea"/>
                          <a:cs typeface="+mn-cs"/>
                        </a:rPr>
                        <a:t>Expected calculation: 2*80,000+2*192,000+1*56,000= </a:t>
                      </a:r>
                      <a:r>
                        <a:rPr lang="en-US" sz="1200" b="1" i="0" kern="1200" baseline="0" dirty="0" smtClean="0">
                          <a:solidFill>
                            <a:schemeClr val="tx1"/>
                          </a:solidFill>
                          <a:latin typeface="+mj-lt"/>
                          <a:ea typeface="+mn-ea"/>
                          <a:cs typeface="+mn-cs"/>
                        </a:rPr>
                        <a:t>600,000 drinks per day</a:t>
                      </a:r>
                      <a:r>
                        <a:rPr lang="en-US" sz="1200" i="0" kern="1200" baseline="0" dirty="0" smtClean="0">
                          <a:solidFill>
                            <a:schemeClr val="tx1"/>
                          </a:solidFill>
                          <a:latin typeface="+mj-lt"/>
                          <a:ea typeface="+mn-ea"/>
                          <a:cs typeface="+mn-cs"/>
                        </a:rPr>
                        <a:t>. </a:t>
                      </a:r>
                    </a:p>
                    <a:p>
                      <a:pPr marL="228600" indent="-228600">
                        <a:buNone/>
                      </a:pPr>
                      <a:r>
                        <a:rPr lang="en-US" sz="1200" i="0" kern="1200" baseline="0" dirty="0" smtClean="0">
                          <a:solidFill>
                            <a:schemeClr val="tx1"/>
                          </a:solidFill>
                          <a:latin typeface="+mj-lt"/>
                          <a:ea typeface="+mn-ea"/>
                          <a:cs typeface="+mn-cs"/>
                        </a:rPr>
                        <a:t>Price per drink = $6.00 * 600,000= </a:t>
                      </a:r>
                      <a:r>
                        <a:rPr lang="en-US" sz="1200" b="1" i="0" kern="1200" baseline="0" dirty="0" smtClean="0">
                          <a:solidFill>
                            <a:schemeClr val="tx1"/>
                          </a:solidFill>
                          <a:latin typeface="+mj-lt"/>
                          <a:ea typeface="+mn-ea"/>
                          <a:cs typeface="+mn-cs"/>
                        </a:rPr>
                        <a:t>$3.6M size of daily market</a:t>
                      </a:r>
                    </a:p>
                  </a:txBody>
                  <a:tcPr marT="45739" marB="45739"/>
                </a:tc>
              </a:tr>
            </a:tbl>
          </a:graphicData>
        </a:graphic>
      </p:graphicFrame>
      <p:sp>
        <p:nvSpPr>
          <p:cNvPr id="8"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21</a:t>
            </a:fld>
            <a:endParaRPr lang="en-US" dirty="0"/>
          </a:p>
        </p:txBody>
      </p:sp>
    </p:spTree>
    <p:extLst>
      <p:ext uri="{BB962C8B-B14F-4D97-AF65-F5344CB8AC3E}">
        <p14:creationId xmlns:p14="http://schemas.microsoft.com/office/powerpoint/2010/main" val="2932767009"/>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198"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 </a:t>
            </a:r>
            <a:r>
              <a:rPr lang="en-US" sz="2400" b="1" dirty="0"/>
              <a:t>Drinks on a Plane</a:t>
            </a:r>
          </a:p>
        </p:txBody>
      </p:sp>
      <p:graphicFrame>
        <p:nvGraphicFramePr>
          <p:cNvPr id="12" name="Table 11"/>
          <p:cNvGraphicFramePr>
            <a:graphicFrameLocks noGrp="1"/>
          </p:cNvGraphicFramePr>
          <p:nvPr>
            <p:extLst>
              <p:ext uri="{D42A27DB-BD31-4B8C-83A1-F6EECF244321}">
                <p14:modId xmlns:p14="http://schemas.microsoft.com/office/powerpoint/2010/main" val="478436417"/>
              </p:ext>
            </p:extLst>
          </p:nvPr>
        </p:nvGraphicFramePr>
        <p:xfrm>
          <a:off x="304800" y="1371600"/>
          <a:ext cx="8534400" cy="4135438"/>
        </p:xfrm>
        <a:graphic>
          <a:graphicData uri="http://schemas.openxmlformats.org/drawingml/2006/table">
            <a:tbl>
              <a:tblPr firstRow="1" bandRow="1">
                <a:tableStyleId>{616DA210-FB5B-4158-B5E0-FEB733F419BA}</a:tableStyleId>
              </a:tblPr>
              <a:tblGrid>
                <a:gridCol w="1600200"/>
                <a:gridCol w="6934200"/>
              </a:tblGrid>
              <a:tr h="1117913">
                <a:tc>
                  <a:txBody>
                    <a:bodyPr/>
                    <a:lstStyle/>
                    <a:p>
                      <a:pPr algn="ctr"/>
                      <a:r>
                        <a:rPr lang="en-US" sz="1800" dirty="0" smtClean="0"/>
                        <a:t>Prompt #3</a:t>
                      </a:r>
                      <a:endParaRPr lang="en-US" sz="1800" dirty="0"/>
                    </a:p>
                  </a:txBody>
                  <a:tcPr marT="45734" marB="45734" anchor="ctr"/>
                </a:tc>
                <a:tc>
                  <a:txBody>
                    <a:bodyPr/>
                    <a:lstStyle/>
                    <a:p>
                      <a:r>
                        <a:rPr lang="en-US" sz="1200" b="0" i="0" kern="1200" baseline="0" dirty="0" smtClean="0">
                          <a:solidFill>
                            <a:schemeClr val="tx1"/>
                          </a:solidFill>
                          <a:latin typeface="+mn-lt"/>
                          <a:ea typeface="+mn-ea"/>
                          <a:cs typeface="+mn-cs"/>
                        </a:rPr>
                        <a:t>CD OutBev is considering purchasing the exclusive rights to supply all alcoholic beverages on US domestic flights for an indefinite period for $2 billion. Based on the market size we found, should they invest if we expect the market to grow by 3% per year? (Note: use the daily figure we determined, no need to convert days into an annual estimate)</a:t>
                      </a:r>
                    </a:p>
                  </a:txBody>
                  <a:tcPr marT="45734" marB="45734" anchor="ctr"/>
                </a:tc>
              </a:tr>
              <a:tr h="3017525">
                <a:tc>
                  <a:txBody>
                    <a:bodyPr/>
                    <a:lstStyle/>
                    <a:p>
                      <a:pPr algn="ctr"/>
                      <a:r>
                        <a:rPr lang="en-US" sz="1800" b="1" dirty="0" smtClean="0"/>
                        <a:t>Guidance</a:t>
                      </a:r>
                      <a:endParaRPr lang="en-US" sz="1800" b="1" baseline="0" dirty="0" smtClean="0"/>
                    </a:p>
                  </a:txBody>
                  <a:tcPr marT="45734" marB="45734" anchor="ctr"/>
                </a:tc>
                <a:tc>
                  <a:txBody>
                    <a:bodyPr/>
                    <a:lstStyle/>
                    <a:p>
                      <a:endParaRPr lang="en-US" sz="1200" i="1" kern="1200" baseline="0" dirty="0" smtClean="0">
                        <a:solidFill>
                          <a:schemeClr val="tx1"/>
                        </a:solidFill>
                        <a:latin typeface="Calibri" pitchFamily="34" charset="0"/>
                        <a:ea typeface="+mn-ea"/>
                        <a:cs typeface="+mn-cs"/>
                      </a:endParaRPr>
                    </a:p>
                    <a:p>
                      <a:r>
                        <a:rPr lang="en-US" sz="1200" b="1" i="0" kern="1200" baseline="0" dirty="0" smtClean="0">
                          <a:solidFill>
                            <a:schemeClr val="tx1"/>
                          </a:solidFill>
                          <a:latin typeface="+mj-lt"/>
                          <a:ea typeface="+mn-ea"/>
                          <a:cs typeface="+mn-cs"/>
                        </a:rPr>
                        <a:t>The candidate should recognize that this is a present value  of a perpetuity, </a:t>
                      </a:r>
                      <a:r>
                        <a:rPr lang="en-US" sz="1200" i="0" kern="1200" baseline="0" dirty="0" smtClean="0">
                          <a:solidFill>
                            <a:schemeClr val="tx1"/>
                          </a:solidFill>
                          <a:latin typeface="+mj-lt"/>
                          <a:ea typeface="+mn-ea"/>
                          <a:cs typeface="+mn-cs"/>
                        </a:rPr>
                        <a:t> and use the equation </a:t>
                      </a:r>
                    </a:p>
                    <a:p>
                      <a:r>
                        <a:rPr lang="en-US" sz="1200" i="0" kern="1200" baseline="0" dirty="0" smtClean="0">
                          <a:solidFill>
                            <a:schemeClr val="tx1"/>
                          </a:solidFill>
                          <a:latin typeface="+mj-lt"/>
                          <a:ea typeface="+mn-ea"/>
                          <a:cs typeface="+mn-cs"/>
                        </a:rPr>
                        <a:t>PV= FCF / (r-g) where FCF = free cash flow, r= cost of capital, g= perpetuity grow rate. </a:t>
                      </a:r>
                    </a:p>
                    <a:p>
                      <a:r>
                        <a:rPr lang="en-US" sz="1200" i="0" kern="1200" baseline="0" dirty="0" smtClean="0">
                          <a:solidFill>
                            <a:schemeClr val="tx1"/>
                          </a:solidFill>
                          <a:latin typeface="+mj-lt"/>
                          <a:ea typeface="+mn-ea"/>
                          <a:cs typeface="+mn-cs"/>
                        </a:rPr>
                        <a:t>You can provide this equation if the candidate asks for it, but a strong candidate will know it.</a:t>
                      </a:r>
                    </a:p>
                    <a:p>
                      <a:endParaRPr lang="en-US" sz="120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j-lt"/>
                          <a:ea typeface="+mn-ea"/>
                          <a:cs typeface="+mn-cs"/>
                        </a:rPr>
                        <a:t>Provide the following information if  asked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i="0" kern="1200" baseline="0" dirty="0" smtClean="0">
                          <a:solidFill>
                            <a:schemeClr val="tx1"/>
                          </a:solidFill>
                          <a:latin typeface="+mj-lt"/>
                          <a:ea typeface="+mn-ea"/>
                          <a:cs typeface="+mn-cs"/>
                        </a:rPr>
                        <a:t>Profit margin is </a:t>
                      </a:r>
                      <a:r>
                        <a:rPr lang="en-US" sz="1200" b="1" i="0" kern="1200" baseline="0" dirty="0" smtClean="0">
                          <a:solidFill>
                            <a:schemeClr val="tx1"/>
                          </a:solidFill>
                          <a:latin typeface="+mj-lt"/>
                          <a:ea typeface="+mn-ea"/>
                          <a:cs typeface="+mn-cs"/>
                        </a:rPr>
                        <a:t>50% ($3,600,000 * 50% = $1,800,000) * 365 (okay to round to 350) = $630M</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Cost of capital is 13%</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PV= 630M / (.13-.03) = $6.3B</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Since $6.3 billion &gt; $2 billion purchase price, </a:t>
                      </a:r>
                      <a:r>
                        <a:rPr lang="en-US" sz="1200" b="1" i="0" kern="1200" baseline="0" dirty="0" smtClean="0">
                          <a:solidFill>
                            <a:schemeClr val="tx1"/>
                          </a:solidFill>
                          <a:latin typeface="+mj-lt"/>
                          <a:ea typeface="+mn-ea"/>
                          <a:cs typeface="+mn-cs"/>
                        </a:rPr>
                        <a:t>the candidate should recommend investing</a:t>
                      </a:r>
                      <a:r>
                        <a:rPr lang="en-US" sz="1200" b="0" i="0" kern="1200" baseline="0" dirty="0" smtClean="0">
                          <a:solidFill>
                            <a:schemeClr val="tx1"/>
                          </a:solidFill>
                          <a:latin typeface="+mj-lt"/>
                          <a:ea typeface="+mn-ea"/>
                          <a:cs typeface="+mn-cs"/>
                        </a:rPr>
                        <a:t>.</a:t>
                      </a:r>
                      <a:endParaRPr lang="en-US" sz="1200" b="1" i="0" kern="1200" baseline="0" dirty="0" smtClean="0">
                        <a:solidFill>
                          <a:schemeClr val="tx1"/>
                        </a:solidFill>
                        <a:latin typeface="+mj-lt"/>
                        <a:ea typeface="+mn-ea"/>
                        <a:cs typeface="+mn-cs"/>
                      </a:endParaRPr>
                    </a:p>
                  </a:txBody>
                  <a:tcPr marT="45734" marB="45734"/>
                </a:tc>
              </a:tr>
            </a:tbl>
          </a:graphicData>
        </a:graphic>
      </p:graphicFrame>
      <p:sp>
        <p:nvSpPr>
          <p:cNvPr id="8"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22</a:t>
            </a:fld>
            <a:endParaRPr lang="en-US" dirty="0"/>
          </a:p>
        </p:txBody>
      </p:sp>
    </p:spTree>
    <p:extLst>
      <p:ext uri="{BB962C8B-B14F-4D97-AF65-F5344CB8AC3E}">
        <p14:creationId xmlns:p14="http://schemas.microsoft.com/office/powerpoint/2010/main" val="3048631238"/>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723196171"/>
              </p:ext>
            </p:extLst>
          </p:nvPr>
        </p:nvGraphicFramePr>
        <p:xfrm>
          <a:off x="228600" y="1392380"/>
          <a:ext cx="8534400" cy="3200343"/>
        </p:xfrm>
        <a:graphic>
          <a:graphicData uri="http://schemas.openxmlformats.org/drawingml/2006/table">
            <a:tbl>
              <a:tblPr firstRow="1" bandRow="1">
                <a:tableStyleId>{616DA210-FB5B-4158-B5E0-FEB733F419BA}</a:tableStyleId>
              </a:tblPr>
              <a:tblGrid>
                <a:gridCol w="1600200"/>
                <a:gridCol w="6934200"/>
              </a:tblGrid>
              <a:tr h="2651125">
                <a:tc>
                  <a:txBody>
                    <a:bodyPr/>
                    <a:lstStyle/>
                    <a:p>
                      <a:pPr algn="ctr"/>
                      <a:r>
                        <a:rPr lang="en-US" sz="1800" b="1" i="0" dirty="0" smtClean="0">
                          <a:latin typeface="+mj-lt"/>
                        </a:rPr>
                        <a:t>Performance Evaluation</a:t>
                      </a:r>
                      <a:endParaRPr lang="en-US" sz="1000" i="0" dirty="0">
                        <a:latin typeface="+mj-lt"/>
                      </a:endParaRPr>
                    </a:p>
                  </a:txBody>
                  <a:tcPr marT="45692" marB="45692"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171450" indent="-171450">
                        <a:buFont typeface="Arial" pitchFamily="34" charset="0"/>
                        <a:buChar char="•"/>
                      </a:pPr>
                      <a:r>
                        <a:rPr lang="en-US" sz="1200" b="0" i="0" kern="1200" baseline="0" dirty="0" smtClean="0">
                          <a:solidFill>
                            <a:schemeClr val="tx1"/>
                          </a:solidFill>
                          <a:latin typeface="+mj-lt"/>
                          <a:ea typeface="+mn-ea"/>
                          <a:cs typeface="+mn-cs"/>
                        </a:rPr>
                        <a:t>Candidate completes the market sizing calculations with minimal errors.</a:t>
                      </a:r>
                    </a:p>
                    <a:p>
                      <a:pPr marL="171450" indent="-171450">
                        <a:buFont typeface="Arial" pitchFamily="34" charset="0"/>
                        <a:buChar char="•"/>
                      </a:pPr>
                      <a:r>
                        <a:rPr lang="en-US" sz="1200" b="0" i="0" kern="1200" baseline="0" dirty="0" smtClean="0">
                          <a:solidFill>
                            <a:schemeClr val="tx1"/>
                          </a:solidFill>
                          <a:latin typeface="+mj-lt"/>
                          <a:ea typeface="+mn-ea"/>
                          <a:cs typeface="+mn-cs"/>
                        </a:rPr>
                        <a:t>Able to correctly take the present value in the investment decision portion with some help from the interviewer</a:t>
                      </a: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171450" indent="-171450">
                        <a:buFont typeface="Arial" pitchFamily="34" charset="0"/>
                        <a:buChar char="•"/>
                      </a:pPr>
                      <a:r>
                        <a:rPr lang="en-US" sz="1200" b="0" i="0" kern="1200" baseline="0" dirty="0" smtClean="0">
                          <a:solidFill>
                            <a:schemeClr val="tx1"/>
                          </a:solidFill>
                          <a:latin typeface="+mj-lt"/>
                          <a:ea typeface="+mn-ea"/>
                          <a:cs typeface="+mn-cs"/>
                        </a:rPr>
                        <a:t>Provides more than one viable approach to solve the problem, but quickly switches methodology if asked by the interviewer. </a:t>
                      </a:r>
                    </a:p>
                    <a:p>
                      <a:pPr marL="171450" indent="-171450">
                        <a:buFont typeface="Arial" pitchFamily="34" charset="0"/>
                        <a:buChar char="•"/>
                      </a:pPr>
                      <a:r>
                        <a:rPr lang="en-US" sz="1200" b="0" i="0" kern="1200" baseline="0" dirty="0" smtClean="0">
                          <a:solidFill>
                            <a:schemeClr val="tx1"/>
                          </a:solidFill>
                          <a:latin typeface="+mj-lt"/>
                          <a:ea typeface="+mn-ea"/>
                          <a:cs typeface="+mn-cs"/>
                        </a:rPr>
                        <a:t>Makes reasonable assumptions based on personal experience and communicates them succinctly to the interviewer. </a:t>
                      </a:r>
                    </a:p>
                    <a:p>
                      <a:pPr marL="171450" indent="-171450">
                        <a:buFont typeface="Arial" pitchFamily="34" charset="0"/>
                        <a:buChar char="•"/>
                      </a:pPr>
                      <a:r>
                        <a:rPr lang="en-US" sz="1200" b="0" i="0" kern="1200" baseline="0" dirty="0" smtClean="0">
                          <a:solidFill>
                            <a:schemeClr val="tx1"/>
                          </a:solidFill>
                          <a:latin typeface="+mj-lt"/>
                          <a:ea typeface="+mn-ea"/>
                          <a:cs typeface="+mn-cs"/>
                        </a:rPr>
                        <a:t>No more than a couple of quant mistakes</a:t>
                      </a:r>
                    </a:p>
                    <a:p>
                      <a:pPr marL="171450" indent="-171450">
                        <a:buFont typeface="Arial" pitchFamily="34" charset="0"/>
                        <a:buChar char="•"/>
                      </a:pPr>
                      <a:r>
                        <a:rPr lang="en-US" sz="1200" b="0" i="0" kern="1200" baseline="0" dirty="0" smtClean="0">
                          <a:solidFill>
                            <a:schemeClr val="tx1"/>
                          </a:solidFill>
                          <a:latin typeface="+mj-lt"/>
                          <a:ea typeface="+mn-ea"/>
                          <a:cs typeface="+mn-cs"/>
                        </a:rPr>
                        <a:t>Recognizes the need for the present value formula and knows it.</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indent="-171450">
                        <a:buFont typeface="Arial" pitchFamily="34" charset="0"/>
                        <a:buChar char="•"/>
                      </a:pPr>
                      <a:r>
                        <a:rPr lang="en-US" sz="1200" b="0" i="0" kern="1200" baseline="0" dirty="0" smtClean="0">
                          <a:solidFill>
                            <a:schemeClr val="tx1"/>
                          </a:solidFill>
                          <a:latin typeface="+mj-lt"/>
                          <a:ea typeface="+mn-ea"/>
                          <a:cs typeface="+mn-cs"/>
                        </a:rPr>
                        <a:t>Near-flawless on math, strong explanation of all assumptions, adds some additional insight based on knowledge of the airline industry (“load factors are high because of all the recent merger activity”) or (I’d expect margins are typically high when we’re dealing with beverages) . </a:t>
                      </a:r>
                    </a:p>
                  </a:txBody>
                  <a:tcPr marT="45692" marB="45692"/>
                </a:tc>
              </a:tr>
            </a:tbl>
          </a:graphicData>
        </a:graphic>
      </p:graphicFrame>
      <p:pic>
        <p:nvPicPr>
          <p:cNvPr id="92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10"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 </a:t>
            </a:r>
            <a:r>
              <a:rPr lang="en-US" sz="2400" b="1" dirty="0"/>
              <a:t>Drinks on a Plane</a:t>
            </a:r>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23</a:t>
            </a:fld>
            <a:endParaRPr lang="en-US" dirty="0"/>
          </a:p>
        </p:txBody>
      </p:sp>
    </p:spTree>
    <p:extLst>
      <p:ext uri="{BB962C8B-B14F-4D97-AF65-F5344CB8AC3E}">
        <p14:creationId xmlns:p14="http://schemas.microsoft.com/office/powerpoint/2010/main" val="2982325408"/>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24</a:t>
            </a:fld>
            <a:endParaRPr lang="en-US" dirty="0"/>
          </a:p>
        </p:txBody>
      </p:sp>
    </p:spTree>
    <p:extLst>
      <p:ext uri="{BB962C8B-B14F-4D97-AF65-F5344CB8AC3E}">
        <p14:creationId xmlns:p14="http://schemas.microsoft.com/office/powerpoint/2010/main" val="1598767072"/>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graphicFrame>
        <p:nvGraphicFramePr>
          <p:cNvPr id="12" name="Table 11"/>
          <p:cNvGraphicFramePr>
            <a:graphicFrameLocks noGrp="1"/>
          </p:cNvGraphicFramePr>
          <p:nvPr>
            <p:extLst>
              <p:ext uri="{D42A27DB-BD31-4B8C-83A1-F6EECF244321}">
                <p14:modId xmlns:p14="http://schemas.microsoft.com/office/powerpoint/2010/main" val="867516701"/>
              </p:ext>
            </p:extLst>
          </p:nvPr>
        </p:nvGraphicFramePr>
        <p:xfrm>
          <a:off x="304800" y="1295400"/>
          <a:ext cx="8534400" cy="5033356"/>
        </p:xfrm>
        <a:graphic>
          <a:graphicData uri="http://schemas.openxmlformats.org/drawingml/2006/table">
            <a:tbl>
              <a:tblPr firstRow="1" bandRow="1">
                <a:tableStyleId>{616DA210-FB5B-4158-B5E0-FEB733F419BA}</a:tableStyleId>
              </a:tblPr>
              <a:tblGrid>
                <a:gridCol w="1600200"/>
                <a:gridCol w="6934200"/>
              </a:tblGrid>
              <a:tr h="644236">
                <a:tc>
                  <a:txBody>
                    <a:bodyPr/>
                    <a:lstStyle/>
                    <a:p>
                      <a:pPr algn="ctr"/>
                      <a:r>
                        <a:rPr lang="en-US" dirty="0" smtClean="0"/>
                        <a:t>Prompt</a:t>
                      </a:r>
                      <a:endParaRPr lang="en-US" dirty="0"/>
                    </a:p>
                  </a:txBody>
                  <a:tcPr anchor="ctr"/>
                </a:tc>
                <a:tc>
                  <a:txBody>
                    <a:bodyPr/>
                    <a:lstStyle/>
                    <a:p>
                      <a:r>
                        <a:rPr lang="en-US" sz="1200" b="0" kern="1200" dirty="0" smtClean="0"/>
                        <a:t>What is the 2013</a:t>
                      </a:r>
                      <a:r>
                        <a:rPr lang="en-US" sz="1200" b="0" kern="1200" baseline="0" dirty="0" smtClean="0"/>
                        <a:t> </a:t>
                      </a:r>
                      <a:r>
                        <a:rPr lang="en-US" sz="1200" b="0" kern="1200" dirty="0" smtClean="0"/>
                        <a:t>market</a:t>
                      </a:r>
                      <a:r>
                        <a:rPr lang="en-US" sz="1200" b="0" kern="1200" baseline="0" dirty="0" smtClean="0"/>
                        <a:t> size (in revenue) of snowboards in the state of Colorado?</a:t>
                      </a:r>
                      <a:endParaRPr lang="en-US" sz="1200" b="0" kern="1200" dirty="0" smtClean="0"/>
                    </a:p>
                  </a:txBody>
                  <a:tcPr anchor="ctr"/>
                </a:tc>
              </a:tr>
              <a:tr h="159173">
                <a:tc>
                  <a:txBody>
                    <a:bodyPr/>
                    <a:lstStyle/>
                    <a:p>
                      <a:pPr algn="ctr"/>
                      <a:r>
                        <a:rPr lang="en-US" b="1" dirty="0" smtClean="0"/>
                        <a:t>Guidance</a:t>
                      </a:r>
                      <a:endParaRPr lang="en-US" b="1" baseline="0" dirty="0" smtClean="0"/>
                    </a:p>
                  </a:txBody>
                  <a:tcPr anchor="ctr"/>
                </a:tc>
                <a:tc>
                  <a:txBody>
                    <a:bodyPr/>
                    <a:lstStyle/>
                    <a:p>
                      <a:r>
                        <a:rPr lang="en-US" sz="1200" i="0" kern="1200" dirty="0" smtClean="0">
                          <a:solidFill>
                            <a:schemeClr val="tx1"/>
                          </a:solidFill>
                          <a:latin typeface="+mn-lt"/>
                          <a:ea typeface="+mn-ea"/>
                          <a:cs typeface="+mn-cs"/>
                        </a:rPr>
                        <a:t>This is a market estimation case.  The below analysis is one way that it could</a:t>
                      </a:r>
                      <a:r>
                        <a:rPr lang="en-US" sz="1200" i="0" kern="1200" baseline="0" dirty="0" smtClean="0">
                          <a:solidFill>
                            <a:schemeClr val="tx1"/>
                          </a:solidFill>
                          <a:latin typeface="+mn-lt"/>
                          <a:ea typeface="+mn-ea"/>
                          <a:cs typeface="+mn-cs"/>
                        </a:rPr>
                        <a:t> be solved, and the information may be provided if requested. It is also acceptable for the candidate to make many of these assumptions as long as you find them reasonable.</a:t>
                      </a:r>
                    </a:p>
                    <a:p>
                      <a:endParaRPr lang="en-US" sz="1200" i="0" kern="1200" baseline="0" dirty="0" smtClean="0">
                        <a:solidFill>
                          <a:schemeClr val="tx1"/>
                        </a:solidFill>
                        <a:latin typeface="+mn-lt"/>
                        <a:ea typeface="+mn-ea"/>
                        <a:cs typeface="+mn-cs"/>
                      </a:endParaRPr>
                    </a:p>
                    <a:p>
                      <a:r>
                        <a:rPr lang="en-US" sz="1200" i="0" kern="1200" baseline="0" dirty="0" smtClean="0">
                          <a:solidFill>
                            <a:schemeClr val="tx1"/>
                          </a:solidFill>
                          <a:latin typeface="+mn-lt"/>
                          <a:ea typeface="+mn-ea"/>
                          <a:cs typeface="+mn-cs"/>
                        </a:rPr>
                        <a:t>Either way, ask the candidate to walk you through his/her thought process for solving the problem before embarking on the calculations. Once you are comfortable with his/her approach, ask him/her to find the answer, explaining as he/she goes.  </a:t>
                      </a:r>
                    </a:p>
                    <a:p>
                      <a:endParaRPr lang="en-US" sz="1200" i="0" kern="1200" baseline="0" dirty="0" smtClean="0">
                        <a:solidFill>
                          <a:schemeClr val="tx1"/>
                        </a:solidFill>
                        <a:latin typeface="+mn-lt"/>
                        <a:ea typeface="+mn-ea"/>
                        <a:cs typeface="+mn-cs"/>
                      </a:endParaRPr>
                    </a:p>
                    <a:p>
                      <a:r>
                        <a:rPr lang="en-US" sz="1200" i="0" kern="1200" baseline="0" dirty="0" smtClean="0">
                          <a:solidFill>
                            <a:schemeClr val="tx1"/>
                          </a:solidFill>
                          <a:latin typeface="+mn-lt"/>
                          <a:ea typeface="+mn-ea"/>
                          <a:cs typeface="+mn-cs"/>
                        </a:rPr>
                        <a:t>In this case, it is safe to estimate the </a:t>
                      </a:r>
                      <a:r>
                        <a:rPr lang="en-US" sz="1200" b="1" i="0" kern="1200" baseline="0" dirty="0" smtClean="0">
                          <a:solidFill>
                            <a:schemeClr val="tx1"/>
                          </a:solidFill>
                          <a:latin typeface="+mn-lt"/>
                          <a:ea typeface="+mn-ea"/>
                          <a:cs typeface="+mn-cs"/>
                        </a:rPr>
                        <a:t>retail </a:t>
                      </a:r>
                      <a:r>
                        <a:rPr lang="en-US" sz="1200" b="0" i="0" kern="1200" baseline="0" dirty="0" smtClean="0">
                          <a:solidFill>
                            <a:schemeClr val="tx1"/>
                          </a:solidFill>
                          <a:latin typeface="+mn-lt"/>
                          <a:ea typeface="+mn-ea"/>
                          <a:cs typeface="+mn-cs"/>
                        </a:rPr>
                        <a:t>market size for snowboards (not rentals), but a good candidate should suggest evaluating the rental market as well (i.e. those boards purchased by resorts to be rented to day snowboarders)</a:t>
                      </a:r>
                    </a:p>
                    <a:p>
                      <a:endParaRPr lang="en-US" sz="1200" b="0" i="1" kern="1200" baseline="0" dirty="0" smtClean="0">
                        <a:solidFill>
                          <a:schemeClr val="tx1"/>
                        </a:solidFill>
                        <a:latin typeface="+mn-lt"/>
                        <a:ea typeface="+mn-ea"/>
                        <a:cs typeface="+mn-cs"/>
                      </a:endParaRPr>
                    </a:p>
                  </a:txBody>
                  <a:tcPr/>
                </a:tc>
              </a:tr>
              <a:tr h="159173">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800" b="1" dirty="0" smtClean="0"/>
                        <a:t>Analysis</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kern="1200" baseline="0" dirty="0" smtClean="0">
                          <a:solidFill>
                            <a:schemeClr val="tx1"/>
                          </a:solidFill>
                          <a:latin typeface="+mn-lt"/>
                          <a:ea typeface="+mn-ea"/>
                          <a:cs typeface="+mn-cs"/>
                        </a:rPr>
                        <a:t>The candidate should generate the below calculation. If he/she is stuck, assist him/her in arriving at this equation.</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kern="1200" baseline="0" dirty="0" smtClean="0">
                          <a:solidFill>
                            <a:schemeClr val="tx1"/>
                          </a:solidFill>
                          <a:latin typeface="+mn-lt"/>
                          <a:ea typeface="+mn-ea"/>
                          <a:cs typeface="+mn-cs"/>
                        </a:rPr>
                        <a:t>Market size = Population of CO * % Snowboarders * </a:t>
                      </a:r>
                      <a:r>
                        <a:rPr lang="en-US" sz="1200" b="0" i="0" kern="1200" baseline="0" dirty="0" err="1" smtClean="0">
                          <a:solidFill>
                            <a:schemeClr val="tx1"/>
                          </a:solidFill>
                          <a:latin typeface="+mn-lt"/>
                          <a:ea typeface="+mn-ea"/>
                          <a:cs typeface="+mn-cs"/>
                        </a:rPr>
                        <a:t>Avg</a:t>
                      </a:r>
                      <a:r>
                        <a:rPr lang="en-US" sz="1200" b="0" i="0" kern="1200" baseline="0" dirty="0" smtClean="0">
                          <a:solidFill>
                            <a:schemeClr val="tx1"/>
                          </a:solidFill>
                          <a:latin typeface="+mn-lt"/>
                          <a:ea typeface="+mn-ea"/>
                          <a:cs typeface="+mn-cs"/>
                        </a:rPr>
                        <a:t> Snowboard Price * Replacement Rate of Snowboard</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1" i="0" kern="1200" baseline="0" dirty="0" smtClean="0">
                          <a:solidFill>
                            <a:schemeClr val="tx1"/>
                          </a:solidFill>
                          <a:latin typeface="+mn-lt"/>
                          <a:ea typeface="+mn-ea"/>
                          <a:cs typeface="+mn-cs"/>
                        </a:rPr>
                        <a:t>Population of CO</a:t>
                      </a:r>
                    </a:p>
                    <a:p>
                      <a:pPr marL="111125" marR="0" indent="-111125" algn="l" defTabSz="457200" rtl="0" eaLnBrk="1" fontAlgn="auto" latinLnBrk="0" hangingPunct="1">
                        <a:lnSpc>
                          <a:spcPct val="100000"/>
                        </a:lnSpc>
                        <a:spcBef>
                          <a:spcPts val="0"/>
                        </a:spcBef>
                        <a:spcAft>
                          <a:spcPts val="0"/>
                        </a:spcAft>
                        <a:buClrTx/>
                        <a:buSzTx/>
                        <a:buFont typeface="Wingdings" pitchFamily="2" charset="2"/>
                        <a:buChar char="§"/>
                        <a:tabLst/>
                        <a:defRPr/>
                      </a:pPr>
                      <a:r>
                        <a:rPr lang="en-US" sz="1200" b="0" i="0" kern="1200" baseline="0" dirty="0" smtClean="0">
                          <a:solidFill>
                            <a:schemeClr val="tx1"/>
                          </a:solidFill>
                          <a:latin typeface="+mn-lt"/>
                          <a:ea typeface="+mn-ea"/>
                          <a:cs typeface="+mn-cs"/>
                        </a:rPr>
                        <a:t> Population of the United States:  300 million </a:t>
                      </a:r>
                    </a:p>
                    <a:p>
                      <a:pPr marL="111125" marR="0" indent="-111125" algn="l" defTabSz="457200" rtl="0" eaLnBrk="1" fontAlgn="auto" latinLnBrk="0" hangingPunct="1">
                        <a:lnSpc>
                          <a:spcPct val="100000"/>
                        </a:lnSpc>
                        <a:spcBef>
                          <a:spcPts val="0"/>
                        </a:spcBef>
                        <a:spcAft>
                          <a:spcPts val="0"/>
                        </a:spcAft>
                        <a:buClrTx/>
                        <a:buSzTx/>
                        <a:buFont typeface="Wingdings" pitchFamily="2" charset="2"/>
                        <a:buChar char="§"/>
                        <a:tabLst/>
                        <a:defRPr/>
                      </a:pPr>
                      <a:r>
                        <a:rPr lang="en-US" sz="1200" b="0" i="0" kern="1200" baseline="0" dirty="0" smtClean="0">
                          <a:solidFill>
                            <a:schemeClr val="tx1"/>
                          </a:solidFill>
                          <a:latin typeface="+mn-lt"/>
                          <a:ea typeface="+mn-ea"/>
                          <a:cs typeface="+mn-cs"/>
                        </a:rPr>
                        <a:t> US has 50 states; therefore, the average population per state is 6 million. Candidate should reason that CO is average sized state.  Reasonable estimate is a population of </a:t>
                      </a:r>
                      <a:r>
                        <a:rPr lang="en-US" sz="1200" b="1" i="0" kern="1200" baseline="0" dirty="0" smtClean="0">
                          <a:solidFill>
                            <a:schemeClr val="tx1"/>
                          </a:solidFill>
                          <a:latin typeface="+mn-lt"/>
                          <a:ea typeface="+mn-ea"/>
                          <a:cs typeface="+mn-cs"/>
                        </a:rPr>
                        <a:t>5-6 million</a:t>
                      </a:r>
                    </a:p>
                    <a:p>
                      <a:pPr marL="111125" marR="0" indent="-111125" algn="l" defTabSz="457200" rtl="0" eaLnBrk="1" fontAlgn="auto" latinLnBrk="0" hangingPunct="1">
                        <a:lnSpc>
                          <a:spcPct val="100000"/>
                        </a:lnSpc>
                        <a:spcBef>
                          <a:spcPts val="0"/>
                        </a:spcBef>
                        <a:spcAft>
                          <a:spcPts val="0"/>
                        </a:spcAft>
                        <a:buClrTx/>
                        <a:buSzTx/>
                        <a:buFont typeface="Wingdings" pitchFamily="2" charset="2"/>
                        <a:buChar char="§"/>
                        <a:tabLst/>
                        <a:defRPr/>
                      </a:pPr>
                      <a:endParaRPr lang="en-US" sz="1200" b="0" i="0" kern="1200" baseline="0" dirty="0" smtClean="0">
                        <a:solidFill>
                          <a:schemeClr val="tx1"/>
                        </a:solidFill>
                        <a:latin typeface="+mn-lt"/>
                        <a:ea typeface="+mn-ea"/>
                        <a:cs typeface="+mn-cs"/>
                      </a:endParaRPr>
                    </a:p>
                  </a:txBody>
                  <a:tcPr/>
                </a:tc>
              </a:tr>
            </a:tbl>
          </a:graphicData>
        </a:graphic>
      </p:graphicFrame>
      <p:sp>
        <p:nvSpPr>
          <p:cNvPr id="9" name="TextBox 6"/>
          <p:cNvSpPr txBox="1">
            <a:spLocks noChangeArrowheads="1"/>
          </p:cNvSpPr>
          <p:nvPr/>
        </p:nvSpPr>
        <p:spPr bwMode="auto">
          <a:xfrm>
            <a:off x="7543800" y="990600"/>
            <a:ext cx="1447800" cy="307777"/>
          </a:xfrm>
          <a:prstGeom prst="rect">
            <a:avLst/>
          </a:prstGeom>
          <a:noFill/>
          <a:ln w="9525">
            <a:noFill/>
            <a:miter lim="800000"/>
            <a:headEnd/>
            <a:tailEnd/>
          </a:ln>
        </p:spPr>
        <p:txBody>
          <a:bodyPr wrap="square">
            <a:spAutoFit/>
          </a:bodyPr>
          <a:lstStyle/>
          <a:p>
            <a:r>
              <a:rPr lang="en-US" sz="1400" i="1" dirty="0" smtClean="0"/>
              <a:t>First Round</a:t>
            </a:r>
            <a:endParaRPr lang="en-US" sz="1400" i="1" dirty="0"/>
          </a:p>
        </p:txBody>
      </p:sp>
      <p:sp>
        <p:nvSpPr>
          <p:cNvPr id="10"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2: Snowboards in Colorado</a:t>
            </a:r>
            <a:endParaRPr lang="en-US" sz="2400"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25</a:t>
            </a:fld>
            <a:endParaRPr lang="en-US" dirty="0"/>
          </a:p>
        </p:txBody>
      </p:sp>
    </p:spTree>
    <p:extLst>
      <p:ext uri="{BB962C8B-B14F-4D97-AF65-F5344CB8AC3E}">
        <p14:creationId xmlns:p14="http://schemas.microsoft.com/office/powerpoint/2010/main" val="2744585184"/>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3402971461"/>
              </p:ext>
            </p:extLst>
          </p:nvPr>
        </p:nvGraphicFramePr>
        <p:xfrm>
          <a:off x="304800" y="1295400"/>
          <a:ext cx="8534400" cy="5135878"/>
        </p:xfrm>
        <a:graphic>
          <a:graphicData uri="http://schemas.openxmlformats.org/drawingml/2006/table">
            <a:tbl>
              <a:tblPr firstRow="1" bandRow="1">
                <a:tableStyleId>{616DA210-FB5B-4158-B5E0-FEB733F419BA}</a:tableStyleId>
              </a:tblPr>
              <a:tblGrid>
                <a:gridCol w="1600200"/>
                <a:gridCol w="6934200"/>
              </a:tblGrid>
              <a:tr h="159173">
                <a:tc>
                  <a:txBody>
                    <a:bodyPr/>
                    <a:lstStyle/>
                    <a:p>
                      <a:pPr algn="ctr"/>
                      <a:r>
                        <a:rPr lang="en-US" sz="1800" i="0" dirty="0" smtClean="0">
                          <a:latin typeface="+mj-lt"/>
                        </a:rPr>
                        <a:t>Analysis</a:t>
                      </a:r>
                      <a:r>
                        <a:rPr lang="en-US" sz="1800" i="0" baseline="0" dirty="0" smtClean="0">
                          <a:latin typeface="+mj-lt"/>
                        </a:rPr>
                        <a:t> (cont.)</a:t>
                      </a:r>
                      <a:endParaRPr lang="en-US" sz="1800" i="0" dirty="0">
                        <a:latin typeface="+mj-lt"/>
                      </a:endParaRPr>
                    </a:p>
                  </a:txBody>
                  <a:tcPr anchor="ctr">
                    <a:noFill/>
                  </a:tcPr>
                </a:tc>
                <a:tc>
                  <a:txBody>
                    <a:bodyPr/>
                    <a:lstStyle/>
                    <a:p>
                      <a:pPr marL="0" indent="0">
                        <a:buFont typeface="Arial" pitchFamily="34" charset="0"/>
                        <a:buNone/>
                      </a:pPr>
                      <a:r>
                        <a:rPr lang="en-US" sz="1200" b="1" i="0" kern="1200" baseline="0" dirty="0" smtClean="0">
                          <a:solidFill>
                            <a:schemeClr val="tx1"/>
                          </a:solidFill>
                          <a:latin typeface="+mj-lt"/>
                          <a:ea typeface="+mn-ea"/>
                          <a:cs typeface="+mn-cs"/>
                        </a:rPr>
                        <a:t>% of Population that Snowboards:</a:t>
                      </a:r>
                    </a:p>
                    <a:p>
                      <a:pPr marL="171450" indent="-171450">
                        <a:buFont typeface="Arial" pitchFamily="34" charset="0"/>
                        <a:buChar char="•"/>
                      </a:pPr>
                      <a:r>
                        <a:rPr lang="en-US" sz="1200" b="0" i="0" kern="1200" baseline="0" dirty="0" smtClean="0">
                          <a:solidFill>
                            <a:schemeClr val="tx1"/>
                          </a:solidFill>
                          <a:latin typeface="+mj-lt"/>
                          <a:ea typeface="+mn-ea"/>
                          <a:cs typeface="+mn-cs"/>
                        </a:rPr>
                        <a:t>Have the candidate talk through how to properly segment the population and discuss which segments might snowboard.  Logical way to segment the market is needed for strong performance:</a:t>
                      </a:r>
                    </a:p>
                    <a:p>
                      <a:pPr marL="628650" lvl="1" indent="-171450">
                        <a:buFont typeface="Arial" pitchFamily="34" charset="0"/>
                        <a:buChar char="−"/>
                      </a:pPr>
                      <a:r>
                        <a:rPr lang="en-US" sz="1200" b="0" i="0" kern="1200" baseline="0" dirty="0" smtClean="0">
                          <a:solidFill>
                            <a:schemeClr val="tx1"/>
                          </a:solidFill>
                          <a:latin typeface="+mj-lt"/>
                          <a:ea typeface="+mn-ea"/>
                          <a:cs typeface="+mn-cs"/>
                        </a:rPr>
                        <a:t>Age segmentation (15-25 </a:t>
                      </a:r>
                      <a:r>
                        <a:rPr lang="en-US" sz="1200" b="0" i="0" kern="1200" baseline="0" dirty="0" err="1" smtClean="0">
                          <a:solidFill>
                            <a:schemeClr val="tx1"/>
                          </a:solidFill>
                          <a:latin typeface="+mj-lt"/>
                          <a:ea typeface="+mn-ea"/>
                          <a:cs typeface="+mn-cs"/>
                        </a:rPr>
                        <a:t>yrs</a:t>
                      </a:r>
                      <a:r>
                        <a:rPr lang="en-US" sz="1200" b="0" i="0" kern="1200" baseline="0" dirty="0" smtClean="0">
                          <a:solidFill>
                            <a:schemeClr val="tx1"/>
                          </a:solidFill>
                          <a:latin typeface="+mj-lt"/>
                          <a:ea typeface="+mn-ea"/>
                          <a:cs typeface="+mn-cs"/>
                        </a:rPr>
                        <a:t> have higher percentage snowboarding than over 60 </a:t>
                      </a:r>
                      <a:r>
                        <a:rPr lang="en-US" sz="1200" b="0" i="0" kern="1200" baseline="0" dirty="0" err="1" smtClean="0">
                          <a:solidFill>
                            <a:schemeClr val="tx1"/>
                          </a:solidFill>
                          <a:latin typeface="+mj-lt"/>
                          <a:ea typeface="+mn-ea"/>
                          <a:cs typeface="+mn-cs"/>
                        </a:rPr>
                        <a:t>yrs</a:t>
                      </a:r>
                      <a:r>
                        <a:rPr lang="en-US" sz="1200" b="0" i="0" kern="1200" baseline="0" dirty="0" smtClean="0">
                          <a:solidFill>
                            <a:schemeClr val="tx1"/>
                          </a:solidFill>
                          <a:latin typeface="+mj-lt"/>
                          <a:ea typeface="+mn-ea"/>
                          <a:cs typeface="+mn-cs"/>
                        </a:rPr>
                        <a:t>)</a:t>
                      </a:r>
                    </a:p>
                    <a:p>
                      <a:pPr marL="628650" lvl="1" indent="-171450">
                        <a:buFont typeface="Arial" pitchFamily="34" charset="0"/>
                        <a:buChar char="−"/>
                      </a:pPr>
                      <a:r>
                        <a:rPr lang="en-US" sz="1200" b="0" i="0" kern="1200" baseline="0" dirty="0" smtClean="0">
                          <a:solidFill>
                            <a:schemeClr val="tx1"/>
                          </a:solidFill>
                          <a:latin typeface="+mj-lt"/>
                          <a:ea typeface="+mn-ea"/>
                          <a:cs typeface="+mn-cs"/>
                        </a:rPr>
                        <a:t>Wealth segmentation (rich can afford to pay for lift tickets)</a:t>
                      </a:r>
                    </a:p>
                    <a:p>
                      <a:pPr marL="628650" lvl="1" indent="-171450">
                        <a:buFont typeface="Arial" pitchFamily="34" charset="0"/>
                        <a:buChar char="−"/>
                      </a:pPr>
                      <a:r>
                        <a:rPr lang="en-US" sz="1200" b="0" i="0" kern="1200" baseline="0" dirty="0" smtClean="0">
                          <a:solidFill>
                            <a:schemeClr val="tx1"/>
                          </a:solidFill>
                          <a:latin typeface="+mj-lt"/>
                          <a:ea typeface="+mn-ea"/>
                          <a:cs typeface="+mn-cs"/>
                        </a:rPr>
                        <a:t>Macroeconomic impacts on snowboard purchases (e.g. elastic demand)</a:t>
                      </a:r>
                    </a:p>
                    <a:p>
                      <a:pPr marL="171450" lvl="0" indent="-171450">
                        <a:buFont typeface="Arial" pitchFamily="34" charset="0"/>
                        <a:buChar char="•"/>
                      </a:pPr>
                      <a:r>
                        <a:rPr lang="en-US" sz="1200" b="0" i="0" kern="1200" baseline="0" dirty="0" smtClean="0">
                          <a:solidFill>
                            <a:schemeClr val="tx1"/>
                          </a:solidFill>
                          <a:latin typeface="+mj-lt"/>
                          <a:ea typeface="+mn-ea"/>
                          <a:cs typeface="+mn-cs"/>
                        </a:rPr>
                        <a:t>Reasonable estimate: Likely around 10% of CO households.  Acceptable answers from candidates range from </a:t>
                      </a:r>
                      <a:r>
                        <a:rPr lang="en-US" sz="1200" b="1" i="0" kern="1200" baseline="0" dirty="0" smtClean="0">
                          <a:solidFill>
                            <a:schemeClr val="tx1"/>
                          </a:solidFill>
                          <a:latin typeface="+mj-lt"/>
                          <a:ea typeface="+mn-ea"/>
                          <a:cs typeface="+mn-cs"/>
                        </a:rPr>
                        <a:t>5-20% of households, </a:t>
                      </a:r>
                      <a:r>
                        <a:rPr lang="en-US" sz="1200" b="0" i="0" kern="1200" baseline="0" dirty="0" smtClean="0">
                          <a:solidFill>
                            <a:schemeClr val="tx1"/>
                          </a:solidFill>
                          <a:latin typeface="+mj-lt"/>
                          <a:ea typeface="+mn-ea"/>
                          <a:cs typeface="+mn-cs"/>
                        </a:rPr>
                        <a:t>given reasons listed above.</a:t>
                      </a:r>
                    </a:p>
                    <a:p>
                      <a:pPr marL="171450" lvl="0" indent="-171450">
                        <a:buFont typeface="Arial" pitchFamily="34" charset="0"/>
                        <a:buChar char="•"/>
                      </a:pPr>
                      <a:endParaRPr lang="en-US" sz="1200" b="0" i="0" kern="1200" baseline="0" dirty="0" smtClean="0">
                        <a:solidFill>
                          <a:schemeClr val="tx1"/>
                        </a:solidFill>
                        <a:latin typeface="+mj-lt"/>
                        <a:ea typeface="+mn-ea"/>
                        <a:cs typeface="+mn-cs"/>
                      </a:endParaRPr>
                    </a:p>
                    <a:p>
                      <a:pPr marL="0" lvl="0" indent="0">
                        <a:buFont typeface="Arial" pitchFamily="34" charset="0"/>
                        <a:buNone/>
                      </a:pPr>
                      <a:r>
                        <a:rPr lang="en-US" sz="1200" b="1" i="0" kern="1200" baseline="0" dirty="0" smtClean="0">
                          <a:solidFill>
                            <a:schemeClr val="tx1"/>
                          </a:solidFill>
                          <a:latin typeface="+mj-lt"/>
                          <a:ea typeface="+mn-ea"/>
                          <a:cs typeface="+mn-cs"/>
                        </a:rPr>
                        <a:t>Average Snowboard Price:</a:t>
                      </a:r>
                    </a:p>
                    <a:p>
                      <a:pPr marL="171450" lvl="0" indent="-171450">
                        <a:buFont typeface="Arial" pitchFamily="34" charset="0"/>
                        <a:buChar char="•"/>
                      </a:pPr>
                      <a:r>
                        <a:rPr lang="en-US" sz="1200" b="0" i="0" kern="1200" baseline="0" dirty="0" smtClean="0">
                          <a:solidFill>
                            <a:schemeClr val="tx1"/>
                          </a:solidFill>
                          <a:latin typeface="+mj-lt"/>
                          <a:ea typeface="+mn-ea"/>
                          <a:cs typeface="+mn-cs"/>
                        </a:rPr>
                        <a:t>Prices vary by brand </a:t>
                      </a:r>
                    </a:p>
                    <a:p>
                      <a:pPr marL="171450" lvl="0" indent="-171450">
                        <a:buFont typeface="Arial" pitchFamily="34" charset="0"/>
                        <a:buChar char="•"/>
                      </a:pPr>
                      <a:r>
                        <a:rPr lang="en-US" sz="1200" b="0" i="0" kern="1200" baseline="0" dirty="0" smtClean="0">
                          <a:solidFill>
                            <a:schemeClr val="tx1"/>
                          </a:solidFill>
                          <a:latin typeface="+mj-lt"/>
                          <a:ea typeface="+mn-ea"/>
                          <a:cs typeface="+mn-cs"/>
                        </a:rPr>
                        <a:t>Reasonable estimate: </a:t>
                      </a:r>
                      <a:r>
                        <a:rPr lang="en-US" sz="1200" b="1" i="0" kern="1200" baseline="0" dirty="0" smtClean="0">
                          <a:solidFill>
                            <a:schemeClr val="tx1"/>
                          </a:solidFill>
                          <a:latin typeface="+mj-lt"/>
                          <a:ea typeface="+mn-ea"/>
                          <a:cs typeface="+mn-cs"/>
                        </a:rPr>
                        <a:t>$200-$1,000</a:t>
                      </a:r>
                    </a:p>
                    <a:p>
                      <a:pPr marL="0" lvl="0" indent="0">
                        <a:buFont typeface="Arial" pitchFamily="34" charset="0"/>
                        <a:buNone/>
                      </a:pPr>
                      <a:endParaRPr lang="en-US" sz="1200" b="0" i="0" kern="1200" dirty="0" smtClean="0">
                        <a:solidFill>
                          <a:schemeClr val="tx1"/>
                        </a:solidFill>
                        <a:latin typeface="+mj-lt"/>
                        <a:ea typeface="+mn-ea"/>
                        <a:cs typeface="+mn-cs"/>
                      </a:endParaRPr>
                    </a:p>
                    <a:p>
                      <a:pPr marL="0" lvl="0" indent="0">
                        <a:buFont typeface="Arial" pitchFamily="34" charset="0"/>
                        <a:buNone/>
                      </a:pPr>
                      <a:r>
                        <a:rPr lang="en-US" sz="1200" b="1" i="0" kern="1200" dirty="0" smtClean="0">
                          <a:solidFill>
                            <a:schemeClr val="tx1"/>
                          </a:solidFill>
                          <a:latin typeface="+mj-lt"/>
                          <a:ea typeface="+mn-ea"/>
                          <a:cs typeface="+mn-cs"/>
                        </a:rPr>
                        <a:t>Replacement Rate of Snowboards:</a:t>
                      </a:r>
                    </a:p>
                    <a:p>
                      <a:pPr marL="171450" lvl="0" indent="-171450">
                        <a:buFont typeface="Arial" pitchFamily="34" charset="0"/>
                        <a:buChar char="•"/>
                      </a:pPr>
                      <a:r>
                        <a:rPr lang="en-US" sz="1200" b="0" i="0" kern="1200" dirty="0" smtClean="0">
                          <a:solidFill>
                            <a:schemeClr val="tx1"/>
                          </a:solidFill>
                          <a:latin typeface="+mj-lt"/>
                          <a:ea typeface="+mn-ea"/>
                          <a:cs typeface="+mn-cs"/>
                        </a:rPr>
                        <a:t>Candidate should reason that all individuals will not purchase a snowboard each year and should divide the number they have arrived at thus far by the average life of a board (or</a:t>
                      </a:r>
                      <a:r>
                        <a:rPr lang="en-US" sz="1200" b="0" i="0" kern="1200" baseline="0" dirty="0" smtClean="0">
                          <a:solidFill>
                            <a:schemeClr val="tx1"/>
                          </a:solidFill>
                          <a:latin typeface="+mj-lt"/>
                          <a:ea typeface="+mn-ea"/>
                          <a:cs typeface="+mn-cs"/>
                        </a:rPr>
                        <a:t> multiply by the replacement rate).  Again, </a:t>
                      </a:r>
                      <a:r>
                        <a:rPr lang="en-US" sz="1200" b="0" i="1" kern="1200" baseline="0" dirty="0" smtClean="0">
                          <a:solidFill>
                            <a:schemeClr val="tx1"/>
                          </a:solidFill>
                          <a:latin typeface="+mj-lt"/>
                          <a:ea typeface="+mn-ea"/>
                          <a:cs typeface="+mn-cs"/>
                        </a:rPr>
                        <a:t>segmentation here is indication of how strong the candidate is or is not.</a:t>
                      </a:r>
                      <a:endParaRPr lang="en-US" sz="1200" b="0" i="0" kern="1200" baseline="0" dirty="0" smtClean="0">
                        <a:solidFill>
                          <a:schemeClr val="tx1"/>
                        </a:solidFill>
                        <a:latin typeface="+mj-lt"/>
                        <a:ea typeface="+mn-ea"/>
                        <a:cs typeface="+mn-cs"/>
                      </a:endParaRPr>
                    </a:p>
                    <a:p>
                      <a:pPr marL="171450" lvl="0" indent="-171450">
                        <a:buFont typeface="Arial" pitchFamily="34" charset="0"/>
                        <a:buChar char="•"/>
                      </a:pPr>
                      <a:r>
                        <a:rPr lang="en-US" sz="1200" b="0" i="0" kern="1200" baseline="0" dirty="0" smtClean="0">
                          <a:solidFill>
                            <a:schemeClr val="tx1"/>
                          </a:solidFill>
                          <a:latin typeface="+mj-lt"/>
                          <a:ea typeface="+mn-ea"/>
                          <a:cs typeface="+mn-cs"/>
                        </a:rPr>
                        <a:t>Reasonable estimate: average boards should last</a:t>
                      </a:r>
                      <a:r>
                        <a:rPr lang="en-US" sz="1200" b="1" i="0" kern="1200" baseline="0" dirty="0" smtClean="0">
                          <a:solidFill>
                            <a:schemeClr val="tx1"/>
                          </a:solidFill>
                          <a:latin typeface="+mj-lt"/>
                          <a:ea typeface="+mn-ea"/>
                          <a:cs typeface="+mn-cs"/>
                        </a:rPr>
                        <a:t> 2-10 years</a:t>
                      </a:r>
                    </a:p>
                    <a:p>
                      <a:pPr marL="171450" lvl="0" indent="-171450">
                        <a:buFont typeface="Arial" pitchFamily="34" charset="0"/>
                        <a:buChar char="•"/>
                      </a:pPr>
                      <a:endParaRPr lang="en-US" sz="1200" b="1" i="0" kern="1200" baseline="0" dirty="0" smtClean="0">
                        <a:solidFill>
                          <a:schemeClr val="tx1"/>
                        </a:solidFill>
                        <a:latin typeface="+mj-lt"/>
                        <a:ea typeface="+mn-ea"/>
                        <a:cs typeface="+mn-cs"/>
                      </a:endParaRPr>
                    </a:p>
                    <a:p>
                      <a:pPr marL="0" lvl="0" indent="0">
                        <a:buFont typeface="Arial" pitchFamily="34" charset="0"/>
                        <a:buNone/>
                      </a:pPr>
                      <a:endParaRPr lang="en-US" sz="1200" b="1" i="0" kern="1200" baseline="0" dirty="0" smtClean="0">
                        <a:solidFill>
                          <a:schemeClr val="tx1"/>
                        </a:solidFill>
                        <a:latin typeface="+mj-lt"/>
                        <a:ea typeface="+mn-ea"/>
                        <a:cs typeface="+mn-cs"/>
                      </a:endParaRPr>
                    </a:p>
                    <a:p>
                      <a:pPr marL="0" lvl="0" indent="0">
                        <a:buFont typeface="Arial" pitchFamily="34" charset="0"/>
                        <a:buNone/>
                      </a:pPr>
                      <a:r>
                        <a:rPr lang="en-US" sz="1400" b="1" i="0" kern="1200" baseline="0" dirty="0" smtClean="0">
                          <a:solidFill>
                            <a:schemeClr val="tx1"/>
                          </a:solidFill>
                          <a:latin typeface="+mj-lt"/>
                          <a:ea typeface="+mn-ea"/>
                          <a:cs typeface="+mn-cs"/>
                        </a:rPr>
                        <a:t>Result:</a:t>
                      </a:r>
                    </a:p>
                    <a:p>
                      <a:pPr marL="0" lvl="0" indent="0">
                        <a:buFont typeface="Arial" pitchFamily="34" charset="0"/>
                        <a:buNone/>
                      </a:pPr>
                      <a:endParaRPr lang="en-US" sz="500" b="1" i="0" kern="1200" baseline="0" dirty="0" smtClean="0">
                        <a:solidFill>
                          <a:schemeClr val="tx1"/>
                        </a:solidFill>
                        <a:latin typeface="+mj-lt"/>
                        <a:ea typeface="+mn-ea"/>
                        <a:cs typeface="+mn-cs"/>
                      </a:endParaRPr>
                    </a:p>
                    <a:p>
                      <a:pPr marL="0" lvl="0" indent="0">
                        <a:buFont typeface="Arial" pitchFamily="34" charset="0"/>
                        <a:buNone/>
                      </a:pPr>
                      <a:r>
                        <a:rPr lang="en-US" sz="1200" b="1" i="0" kern="1200" baseline="0" dirty="0" smtClean="0">
                          <a:solidFill>
                            <a:schemeClr val="tx1"/>
                          </a:solidFill>
                          <a:latin typeface="+mj-lt"/>
                          <a:ea typeface="+mn-ea"/>
                          <a:cs typeface="+mn-cs"/>
                        </a:rPr>
                        <a:t>5 M people in CO * 10% Snowboarders  = 500,000 Snowboarders  *  $500 per board = $250,000,000 Total Market Size / 5 years = </a:t>
                      </a:r>
                    </a:p>
                    <a:p>
                      <a:pPr marL="0" lvl="0" indent="0">
                        <a:buFont typeface="Arial" pitchFamily="34" charset="0"/>
                        <a:buNone/>
                      </a:pPr>
                      <a:endParaRPr lang="en-US" sz="1200" b="1" i="0" kern="1200" baseline="0" dirty="0" smtClean="0">
                        <a:solidFill>
                          <a:schemeClr val="tx1"/>
                        </a:solidFill>
                        <a:latin typeface="+mj-lt"/>
                        <a:ea typeface="+mn-ea"/>
                        <a:cs typeface="+mn-cs"/>
                      </a:endParaRPr>
                    </a:p>
                    <a:p>
                      <a:pPr marL="0" lvl="0" indent="0">
                        <a:buFont typeface="Arial" pitchFamily="34" charset="0"/>
                        <a:buNone/>
                      </a:pPr>
                      <a:r>
                        <a:rPr lang="en-US" sz="1200" b="1" i="0" u="sng" kern="1200" baseline="0" dirty="0" smtClean="0">
                          <a:solidFill>
                            <a:schemeClr val="tx1"/>
                          </a:solidFill>
                          <a:latin typeface="+mj-lt"/>
                          <a:ea typeface="+mn-ea"/>
                          <a:cs typeface="+mn-cs"/>
                        </a:rPr>
                        <a:t>$50M PER YEAR</a:t>
                      </a:r>
                    </a:p>
                    <a:p>
                      <a:pPr marL="0" lvl="0" indent="0">
                        <a:buFont typeface="Arial" pitchFamily="34" charset="0"/>
                        <a:buNone/>
                      </a:pPr>
                      <a:endParaRPr lang="en-US" sz="1200" b="1" i="0" u="sng" kern="1200" baseline="0" dirty="0" smtClean="0">
                        <a:solidFill>
                          <a:schemeClr val="tx1"/>
                        </a:solidFill>
                        <a:latin typeface="+mj-lt"/>
                        <a:ea typeface="+mn-ea"/>
                        <a:cs typeface="+mn-cs"/>
                      </a:endParaRPr>
                    </a:p>
                  </a:txBody>
                  <a:tcPr>
                    <a:noFill/>
                  </a:tcPr>
                </a:tc>
              </a:tr>
            </a:tbl>
          </a:graphicData>
        </a:graphic>
      </p:graphicFrame>
      <p:pic>
        <p:nvPicPr>
          <p:cNvPr id="49162"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10" name="TextBox 6"/>
          <p:cNvSpPr txBox="1">
            <a:spLocks noChangeArrowheads="1"/>
          </p:cNvSpPr>
          <p:nvPr/>
        </p:nvSpPr>
        <p:spPr bwMode="auto">
          <a:xfrm>
            <a:off x="7543800" y="990600"/>
            <a:ext cx="1447800" cy="307777"/>
          </a:xfrm>
          <a:prstGeom prst="rect">
            <a:avLst/>
          </a:prstGeom>
          <a:noFill/>
          <a:ln w="9525">
            <a:noFill/>
            <a:miter lim="800000"/>
            <a:headEnd/>
            <a:tailEnd/>
          </a:ln>
        </p:spPr>
        <p:txBody>
          <a:bodyPr wrap="square">
            <a:spAutoFit/>
          </a:bodyPr>
          <a:lstStyle/>
          <a:p>
            <a:r>
              <a:rPr lang="en-US" sz="1400" i="1" dirty="0" smtClean="0"/>
              <a:t>First Round</a:t>
            </a:r>
            <a:endParaRPr lang="en-US" sz="1400" i="1" dirty="0"/>
          </a:p>
        </p:txBody>
      </p:sp>
      <p:sp>
        <p:nvSpPr>
          <p:cNvPr id="1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2: Snowboards in Colorado</a:t>
            </a:r>
            <a:endParaRPr lang="en-US" sz="2400"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26</a:t>
            </a:fld>
            <a:endParaRPr lang="en-US" dirty="0"/>
          </a:p>
        </p:txBody>
      </p:sp>
    </p:spTree>
    <p:extLst>
      <p:ext uri="{BB962C8B-B14F-4D97-AF65-F5344CB8AC3E}">
        <p14:creationId xmlns:p14="http://schemas.microsoft.com/office/powerpoint/2010/main" val="2221524536"/>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3240008"/>
              </p:ext>
            </p:extLst>
          </p:nvPr>
        </p:nvGraphicFramePr>
        <p:xfrm>
          <a:off x="304800" y="1295400"/>
          <a:ext cx="8534400" cy="2286000"/>
        </p:xfrm>
        <a:graphic>
          <a:graphicData uri="http://schemas.openxmlformats.org/drawingml/2006/table">
            <a:tbl>
              <a:tblPr firstRow="1" bandRow="1">
                <a:tableStyleId>{616DA210-FB5B-4158-B5E0-FEB733F419BA}</a:tableStyleId>
              </a:tblPr>
              <a:tblGrid>
                <a:gridCol w="1600200"/>
                <a:gridCol w="6934200"/>
              </a:tblGrid>
              <a:tr h="159173">
                <a:tc>
                  <a:txBody>
                    <a:bodyPr/>
                    <a:lstStyle/>
                    <a:p>
                      <a:pPr algn="ctr"/>
                      <a:r>
                        <a:rPr lang="en-US" b="1" i="0" dirty="0" smtClean="0">
                          <a:latin typeface="+mj-lt"/>
                        </a:rPr>
                        <a:t>Performance Evaluation</a:t>
                      </a:r>
                      <a:endParaRPr lang="en-US" sz="1000" i="0" dirty="0">
                        <a:latin typeface="+mj-lt"/>
                      </a:endParaRPr>
                    </a:p>
                  </a:txBody>
                  <a:tcPr anchor="ctr">
                    <a:noFill/>
                  </a:tcP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Candidate will develop a structured approach to finding a solution.  Assumptions will be clarified and based on reasonable logic.</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Candidate will use numbers or round appropriately to simplify calculations. He/she will correctly and clearly walk the interviewer through the calculations.  Appropriate segmentation of the population is a must.  Considering rental markets is a plus for good candidates.</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r>
                        <a:rPr lang="en-US" sz="1200" b="0" i="0" kern="1200" baseline="0" dirty="0" smtClean="0">
                          <a:solidFill>
                            <a:schemeClr val="tx1"/>
                          </a:solidFill>
                          <a:latin typeface="+mj-lt"/>
                          <a:ea typeface="+mn-ea"/>
                          <a:cs typeface="+mn-cs"/>
                        </a:rPr>
                        <a:t>In addition to the above, the candidate will evaluate his/her final number and provide explanation as to how changes to assumptions would affect the estimation.</a:t>
                      </a:r>
                      <a:endParaRPr lang="en-US" sz="1200" b="0" i="0" kern="1200" dirty="0" smtClean="0">
                        <a:solidFill>
                          <a:schemeClr val="tx1"/>
                        </a:solidFill>
                        <a:latin typeface="+mj-lt"/>
                        <a:ea typeface="+mn-ea"/>
                        <a:cs typeface="+mn-cs"/>
                      </a:endParaRPr>
                    </a:p>
                  </a:txBody>
                  <a:tcPr>
                    <a:noFill/>
                  </a:tcPr>
                </a:tc>
              </a:tr>
            </a:tbl>
          </a:graphicData>
        </a:graphic>
      </p:graphicFrame>
      <p:pic>
        <p:nvPicPr>
          <p:cNvPr id="49162"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10" name="TextBox 6"/>
          <p:cNvSpPr txBox="1">
            <a:spLocks noChangeArrowheads="1"/>
          </p:cNvSpPr>
          <p:nvPr/>
        </p:nvSpPr>
        <p:spPr bwMode="auto">
          <a:xfrm>
            <a:off x="7543800" y="990600"/>
            <a:ext cx="1447800" cy="307777"/>
          </a:xfrm>
          <a:prstGeom prst="rect">
            <a:avLst/>
          </a:prstGeom>
          <a:noFill/>
          <a:ln w="9525">
            <a:noFill/>
            <a:miter lim="800000"/>
            <a:headEnd/>
            <a:tailEnd/>
          </a:ln>
        </p:spPr>
        <p:txBody>
          <a:bodyPr wrap="square">
            <a:spAutoFit/>
          </a:bodyPr>
          <a:lstStyle/>
          <a:p>
            <a:r>
              <a:rPr lang="en-US" sz="1400" i="1" dirty="0" smtClean="0"/>
              <a:t>First Round</a:t>
            </a:r>
            <a:endParaRPr lang="en-US" sz="1400" i="1" dirty="0"/>
          </a:p>
        </p:txBody>
      </p:sp>
      <p:sp>
        <p:nvSpPr>
          <p:cNvPr id="1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2: Snowboards in Colorado</a:t>
            </a:r>
            <a:endParaRPr lang="en-US" sz="2400"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27</a:t>
            </a:fld>
            <a:endParaRPr lang="en-US" dirty="0"/>
          </a:p>
        </p:txBody>
      </p:sp>
    </p:spTree>
    <p:extLst>
      <p:ext uri="{BB962C8B-B14F-4D97-AF65-F5344CB8AC3E}">
        <p14:creationId xmlns:p14="http://schemas.microsoft.com/office/powerpoint/2010/main" val="3727399438"/>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28</a:t>
            </a:fld>
            <a:endParaRPr lang="en-US" dirty="0"/>
          </a:p>
        </p:txBody>
      </p:sp>
    </p:spTree>
    <p:extLst>
      <p:ext uri="{BB962C8B-B14F-4D97-AF65-F5344CB8AC3E}">
        <p14:creationId xmlns:p14="http://schemas.microsoft.com/office/powerpoint/2010/main" val="1684579800"/>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5"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512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3: </a:t>
            </a:r>
            <a:r>
              <a:rPr lang="en-US" sz="2400" b="1" dirty="0"/>
              <a:t>SPG</a:t>
            </a:r>
          </a:p>
        </p:txBody>
      </p:sp>
      <p:graphicFrame>
        <p:nvGraphicFramePr>
          <p:cNvPr id="12" name="Table 11"/>
          <p:cNvGraphicFramePr>
            <a:graphicFrameLocks noGrp="1"/>
          </p:cNvGraphicFramePr>
          <p:nvPr>
            <p:extLst>
              <p:ext uri="{D42A27DB-BD31-4B8C-83A1-F6EECF244321}">
                <p14:modId xmlns:p14="http://schemas.microsoft.com/office/powerpoint/2010/main" val="4280837962"/>
              </p:ext>
            </p:extLst>
          </p:nvPr>
        </p:nvGraphicFramePr>
        <p:xfrm>
          <a:off x="304800" y="1295400"/>
          <a:ext cx="8534400" cy="5486554"/>
        </p:xfrm>
        <a:graphic>
          <a:graphicData uri="http://schemas.openxmlformats.org/drawingml/2006/table">
            <a:tbl>
              <a:tblPr firstRow="1" bandRow="1">
                <a:tableStyleId>{616DA210-FB5B-4158-B5E0-FEB733F419BA}</a:tableStyleId>
              </a:tblPr>
              <a:tblGrid>
                <a:gridCol w="1600200"/>
                <a:gridCol w="6934200"/>
              </a:tblGrid>
              <a:tr h="1920363">
                <a:tc>
                  <a:txBody>
                    <a:bodyPr/>
                    <a:lstStyle/>
                    <a:p>
                      <a:pPr algn="ctr"/>
                      <a:r>
                        <a:rPr lang="en-US" sz="1800" dirty="0" smtClean="0"/>
                        <a:t>Prompt #1</a:t>
                      </a:r>
                      <a:endParaRPr lang="en-US" sz="1800" dirty="0"/>
                    </a:p>
                  </a:txBody>
                  <a:tcPr marT="45736" marB="45736" anchor="ctr"/>
                </a:tc>
                <a:tc>
                  <a:txBody>
                    <a:bodyPr/>
                    <a:lstStyle/>
                    <a:p>
                      <a:r>
                        <a:rPr lang="en-US" sz="1200" b="0" kern="1200" dirty="0" smtClean="0"/>
                        <a:t>Your client is SPG, an international</a:t>
                      </a:r>
                      <a:r>
                        <a:rPr lang="en-US" sz="1200" b="0" kern="1200" baseline="0" dirty="0" smtClean="0"/>
                        <a:t> hotel chain that specializes in boutique luxury vacations. The client has over 500 properties worldwide mostly concentrated in North America and Europe. These markets are highly correlated with the global economy. In an effort to diversify, SPG is focusing on Latin America. SPG is interested in opening another 200 room hotel in Costa Rica and has requested your consulting firm’s help. There are several locations within Costa Rica suitable for the new location as costs are relatively uniform throughout the country. </a:t>
                      </a:r>
                    </a:p>
                    <a:p>
                      <a:endParaRPr lang="en-US" sz="1200" b="0" kern="1200" baseline="0" dirty="0" smtClean="0"/>
                    </a:p>
                    <a:p>
                      <a:pPr marL="228600" indent="-228600">
                        <a:buFont typeface="+mj-lt"/>
                        <a:buAutoNum type="arabicPeriod"/>
                      </a:pPr>
                      <a:r>
                        <a:rPr lang="en-US" sz="1200" b="0" kern="1200" baseline="0" dirty="0" smtClean="0"/>
                        <a:t>What should SPG consider when evaluating site locations?</a:t>
                      </a:r>
                    </a:p>
                    <a:p>
                      <a:pPr marL="228600" indent="-228600">
                        <a:buFont typeface="+mj-lt"/>
                        <a:buAutoNum type="arabicPeriod"/>
                      </a:pPr>
                      <a:r>
                        <a:rPr lang="en-US" sz="1200" b="0" kern="1200" baseline="0" dirty="0" smtClean="0"/>
                        <a:t>Since costs will be the same, regardless of the site, which location offers the highest average daily revenue per room?</a:t>
                      </a:r>
                      <a:endParaRPr lang="en-US" sz="1200" b="0" i="1" kern="1200" dirty="0" smtClean="0">
                        <a:solidFill>
                          <a:schemeClr val="tx1"/>
                        </a:solidFill>
                        <a:latin typeface="Calibri" pitchFamily="34" charset="0"/>
                        <a:ea typeface="+mn-ea"/>
                        <a:cs typeface="+mn-cs"/>
                      </a:endParaRPr>
                    </a:p>
                  </a:txBody>
                  <a:tcPr marT="45736" marB="45736"/>
                </a:tc>
              </a:tr>
              <a:tr h="3383475">
                <a:tc>
                  <a:txBody>
                    <a:bodyPr/>
                    <a:lstStyle/>
                    <a:p>
                      <a:pPr algn="ctr"/>
                      <a:r>
                        <a:rPr lang="en-US" sz="1800" b="1" dirty="0" smtClean="0"/>
                        <a:t>Guidance</a:t>
                      </a:r>
                      <a:endParaRPr lang="en-US" sz="1800" b="1" baseline="0" dirty="0" smtClean="0"/>
                    </a:p>
                  </a:txBody>
                  <a:tcPr marT="45736" marB="45736" anchor="ctr"/>
                </a:tc>
                <a:tc>
                  <a:txBody>
                    <a:bodyPr/>
                    <a:lstStyle/>
                    <a:p>
                      <a:r>
                        <a:rPr lang="en-US" sz="1200" i="0" kern="1200" dirty="0" smtClean="0">
                          <a:solidFill>
                            <a:schemeClr val="tx1"/>
                          </a:solidFill>
                          <a:latin typeface="+mj-lt"/>
                          <a:ea typeface="+mn-ea"/>
                          <a:cs typeface="+mn-cs"/>
                        </a:rPr>
                        <a:t>Note: The</a:t>
                      </a:r>
                      <a:r>
                        <a:rPr lang="en-US" sz="1200" i="0" kern="1200" baseline="0" dirty="0" smtClean="0">
                          <a:solidFill>
                            <a:schemeClr val="tx1"/>
                          </a:solidFill>
                          <a:latin typeface="+mj-lt"/>
                          <a:ea typeface="+mn-ea"/>
                          <a:cs typeface="+mn-cs"/>
                        </a:rPr>
                        <a:t> candidate should focus on revenue. A strong candidate will acknowledge that costs are not a concern and may even express skepticism</a:t>
                      </a:r>
                    </a:p>
                    <a:p>
                      <a:endParaRPr lang="en-US" sz="1200" i="0" kern="1200" baseline="0" dirty="0" smtClean="0">
                        <a:solidFill>
                          <a:schemeClr val="tx1"/>
                        </a:solidFill>
                        <a:latin typeface="+mj-lt"/>
                        <a:ea typeface="+mn-ea"/>
                        <a:cs typeface="+mn-cs"/>
                      </a:endParaRPr>
                    </a:p>
                    <a:p>
                      <a:r>
                        <a:rPr lang="en-US" sz="1200" i="0" kern="1200" baseline="0" dirty="0" smtClean="0">
                          <a:solidFill>
                            <a:schemeClr val="tx1"/>
                          </a:solidFill>
                          <a:latin typeface="+mj-lt"/>
                          <a:ea typeface="+mn-ea"/>
                          <a:cs typeface="+mn-cs"/>
                        </a:rPr>
                        <a:t>Typically Questions and Response:</a:t>
                      </a:r>
                    </a:p>
                    <a:p>
                      <a:pPr marL="171450" indent="-171450">
                        <a:buFont typeface="Arial" panose="020B0604020202020204" pitchFamily="34" charset="0"/>
                        <a:buChar char="•"/>
                      </a:pPr>
                      <a:r>
                        <a:rPr lang="en-US" sz="1200" i="0" kern="1200" baseline="0" dirty="0" smtClean="0">
                          <a:solidFill>
                            <a:schemeClr val="tx1"/>
                          </a:solidFill>
                          <a:latin typeface="+mj-lt"/>
                          <a:ea typeface="+mn-ea"/>
                          <a:cs typeface="+mn-cs"/>
                        </a:rPr>
                        <a:t>Why Costa Rica? The client has selected this market due to familiarity with the country and ease of doing business. They are not interested in alternatives</a:t>
                      </a:r>
                    </a:p>
                    <a:p>
                      <a:pPr marL="171450" indent="-171450">
                        <a:buFont typeface="Arial" panose="020B0604020202020204" pitchFamily="34" charset="0"/>
                        <a:buChar char="•"/>
                      </a:pPr>
                      <a:r>
                        <a:rPr lang="en-US" sz="1200" i="0" kern="1200" baseline="0" dirty="0" smtClean="0">
                          <a:solidFill>
                            <a:schemeClr val="tx1"/>
                          </a:solidFill>
                          <a:latin typeface="+mj-lt"/>
                          <a:ea typeface="+mn-ea"/>
                          <a:cs typeface="+mn-cs"/>
                        </a:rPr>
                        <a:t>Do they have other hotels in Costa Rica? Yes, one other located in Manual Antonio</a:t>
                      </a:r>
                    </a:p>
                    <a:p>
                      <a:pPr marL="171450" indent="-171450">
                        <a:buFont typeface="Arial" panose="020B0604020202020204" pitchFamily="34" charset="0"/>
                        <a:buChar char="•"/>
                      </a:pPr>
                      <a:r>
                        <a:rPr lang="en-US" sz="1200" i="0" kern="1200" baseline="0" dirty="0" smtClean="0">
                          <a:solidFill>
                            <a:schemeClr val="tx1"/>
                          </a:solidFill>
                          <a:latin typeface="+mj-lt"/>
                          <a:ea typeface="+mn-ea"/>
                          <a:cs typeface="+mn-cs"/>
                        </a:rPr>
                        <a:t>What is a boutique luxury hotel? All the client’s hotels have 200 rooms and cater to the wealthy. As a result, these room typically go for 50% more than the average rate and the total spend per room is 100% more then the average room</a:t>
                      </a:r>
                    </a:p>
                    <a:p>
                      <a:pPr marL="171450" indent="-171450">
                        <a:buFont typeface="Arial" panose="020B0604020202020204" pitchFamily="34" charset="0"/>
                        <a:buChar char="•"/>
                      </a:pPr>
                      <a:endParaRPr lang="en-US" sz="1200" i="0" kern="1200" baseline="0" dirty="0" smtClean="0">
                        <a:solidFill>
                          <a:schemeClr val="tx1"/>
                        </a:solidFill>
                        <a:latin typeface="+mj-lt"/>
                        <a:ea typeface="+mn-ea"/>
                        <a:cs typeface="+mn-cs"/>
                      </a:endParaRPr>
                    </a:p>
                    <a:p>
                      <a:pPr marL="0" indent="0">
                        <a:buFont typeface="Arial" panose="020B0604020202020204" pitchFamily="34" charset="0"/>
                        <a:buNone/>
                      </a:pPr>
                      <a:r>
                        <a:rPr lang="en-US" sz="1200" i="0" kern="1200" baseline="0" dirty="0" smtClean="0">
                          <a:solidFill>
                            <a:schemeClr val="tx1"/>
                          </a:solidFill>
                          <a:latin typeface="+mj-lt"/>
                          <a:ea typeface="+mn-ea"/>
                          <a:cs typeface="+mn-cs"/>
                        </a:rPr>
                        <a:t>Sample Framework: </a:t>
                      </a:r>
                    </a:p>
                    <a:p>
                      <a:pPr marL="171450" indent="-171450">
                        <a:buFont typeface="Arial" panose="020B0604020202020204" pitchFamily="34" charset="0"/>
                        <a:buChar char="•"/>
                      </a:pPr>
                      <a:r>
                        <a:rPr lang="en-US" sz="1200" i="0" kern="1200" baseline="0" dirty="0" smtClean="0">
                          <a:solidFill>
                            <a:schemeClr val="tx1"/>
                          </a:solidFill>
                          <a:latin typeface="+mj-lt"/>
                          <a:ea typeface="+mn-ea"/>
                          <a:cs typeface="+mn-cs"/>
                        </a:rPr>
                        <a:t>Entry: Buy, Build, Partner</a:t>
                      </a:r>
                    </a:p>
                    <a:p>
                      <a:pPr marL="171450" indent="-171450">
                        <a:buFont typeface="Arial" panose="020B0604020202020204" pitchFamily="34" charset="0"/>
                        <a:buChar char="•"/>
                      </a:pPr>
                      <a:r>
                        <a:rPr lang="en-US" sz="1200" b="1" i="0" kern="1200" baseline="0" dirty="0" smtClean="0">
                          <a:solidFill>
                            <a:schemeClr val="tx1"/>
                          </a:solidFill>
                          <a:latin typeface="+mj-lt"/>
                          <a:ea typeface="+mn-ea"/>
                          <a:cs typeface="+mn-cs"/>
                        </a:rPr>
                        <a:t>Revenue</a:t>
                      </a:r>
                      <a:r>
                        <a:rPr lang="en-US" sz="1200" i="0" kern="1200" baseline="0" dirty="0" smtClean="0">
                          <a:solidFill>
                            <a:schemeClr val="tx1"/>
                          </a:solidFill>
                          <a:latin typeface="+mj-lt"/>
                          <a:ea typeface="+mn-ea"/>
                          <a:cs typeface="+mn-cs"/>
                        </a:rPr>
                        <a:t>: Room, Food/Drinks, Activities, etc.</a:t>
                      </a:r>
                    </a:p>
                    <a:p>
                      <a:pPr marL="171450" indent="-171450">
                        <a:buFont typeface="Arial" panose="020B0604020202020204" pitchFamily="34" charset="0"/>
                        <a:buChar char="•"/>
                      </a:pPr>
                      <a:r>
                        <a:rPr lang="en-US" sz="1200" i="0" kern="1200" baseline="0" dirty="0" smtClean="0">
                          <a:solidFill>
                            <a:schemeClr val="tx1"/>
                          </a:solidFill>
                          <a:latin typeface="+mj-lt"/>
                          <a:ea typeface="+mn-ea"/>
                          <a:cs typeface="+mn-cs"/>
                        </a:rPr>
                        <a:t>Risks: Tourism Trends, Competition, etc.</a:t>
                      </a:r>
                    </a:p>
                    <a:p>
                      <a:pPr marL="171450" indent="-171450">
                        <a:buFont typeface="Arial" panose="020B0604020202020204" pitchFamily="34" charset="0"/>
                        <a:buChar char="•"/>
                      </a:pPr>
                      <a:endParaRPr lang="en-US" sz="1200" i="0" kern="1200" baseline="0" dirty="0" smtClean="0">
                        <a:solidFill>
                          <a:schemeClr val="tx1"/>
                        </a:solidFill>
                        <a:latin typeface="+mj-lt"/>
                        <a:ea typeface="+mn-ea"/>
                        <a:cs typeface="+mn-cs"/>
                      </a:endParaRPr>
                    </a:p>
                    <a:p>
                      <a:pPr marL="0" indent="0">
                        <a:buFont typeface="Arial" panose="020B0604020202020204" pitchFamily="34" charset="0"/>
                        <a:buNone/>
                      </a:pPr>
                      <a:r>
                        <a:rPr lang="en-US" sz="1200" b="1" i="0" kern="1200" baseline="0" dirty="0" smtClean="0">
                          <a:solidFill>
                            <a:schemeClr val="tx1"/>
                          </a:solidFill>
                          <a:latin typeface="+mj-lt"/>
                          <a:ea typeface="+mn-ea"/>
                          <a:cs typeface="+mn-cs"/>
                        </a:rPr>
                        <a:t>Focus on the revenue bucket.  A strong candidate will explain the framework and prioritize revenue.  Push the candidate to brainstorm beyond the initial framework for sources of revenue to a hotel  </a:t>
                      </a:r>
                    </a:p>
                  </a:txBody>
                  <a:tcPr marT="45736" marB="45736"/>
                </a:tc>
              </a:tr>
            </a:tbl>
          </a:graphicData>
        </a:graphic>
      </p:graphicFrame>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29</a:t>
            </a:fld>
            <a:endParaRPr lang="en-US" dirty="0"/>
          </a:p>
        </p:txBody>
      </p:sp>
    </p:spTree>
    <p:extLst>
      <p:ext uri="{BB962C8B-B14F-4D97-AF65-F5344CB8AC3E}">
        <p14:creationId xmlns:p14="http://schemas.microsoft.com/office/powerpoint/2010/main" val="867105254"/>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641093197"/>
              </p:ext>
            </p:extLst>
          </p:nvPr>
        </p:nvGraphicFramePr>
        <p:xfrm>
          <a:off x="228600" y="1298575"/>
          <a:ext cx="8534400" cy="3356518"/>
        </p:xfrm>
        <a:graphic>
          <a:graphicData uri="http://schemas.openxmlformats.org/drawingml/2006/table">
            <a:tbl>
              <a:tblPr firstRow="1" bandRow="1">
                <a:tableStyleId>{616DA210-FB5B-4158-B5E0-FEB733F419BA}</a:tableStyleId>
              </a:tblPr>
              <a:tblGrid>
                <a:gridCol w="1600200"/>
                <a:gridCol w="6934200"/>
              </a:tblGrid>
              <a:tr h="1070552">
                <a:tc>
                  <a:txBody>
                    <a:bodyPr/>
                    <a:lstStyle/>
                    <a:p>
                      <a:pPr algn="ctr"/>
                      <a:r>
                        <a:rPr lang="en-US" sz="1800" b="1" i="0" kern="1200" dirty="0" smtClean="0">
                          <a:solidFill>
                            <a:schemeClr val="tx1"/>
                          </a:solidFill>
                          <a:latin typeface="+mn-lt"/>
                          <a:ea typeface="+mn-ea"/>
                          <a:cs typeface="+mn-cs"/>
                        </a:rPr>
                        <a:t>Prompt</a:t>
                      </a:r>
                      <a:r>
                        <a:rPr lang="en-US" sz="1800" b="1" i="0" kern="1200" baseline="0" dirty="0" smtClean="0">
                          <a:solidFill>
                            <a:schemeClr val="tx1"/>
                          </a:solidFill>
                          <a:latin typeface="+mn-lt"/>
                          <a:ea typeface="+mn-ea"/>
                          <a:cs typeface="+mn-cs"/>
                        </a:rPr>
                        <a:t> #2</a:t>
                      </a:r>
                      <a:endParaRPr lang="en-US" sz="1800" b="1" i="0" kern="1200" dirty="0">
                        <a:solidFill>
                          <a:schemeClr val="tx1"/>
                        </a:solidFill>
                        <a:latin typeface="+mn-lt"/>
                        <a:ea typeface="+mn-ea"/>
                        <a:cs typeface="+mn-cs"/>
                      </a:endParaRPr>
                    </a:p>
                  </a:txBody>
                  <a:tcPr marT="45703" marB="45703" anchor="ctr"/>
                </a:tc>
                <a:tc>
                  <a:txBody>
                    <a:bodyPr/>
                    <a:lstStyle/>
                    <a:p>
                      <a:r>
                        <a:rPr lang="en-US" sz="1200" kern="1200" dirty="0" smtClean="0">
                          <a:latin typeface="+mj-lt"/>
                        </a:rPr>
                        <a:t>That</a:t>
                      </a:r>
                      <a:r>
                        <a:rPr lang="en-US" sz="1200" kern="1200" baseline="0" dirty="0" smtClean="0">
                          <a:latin typeface="+mj-lt"/>
                        </a:rPr>
                        <a:t> sounds like a good approach. Please take a look at Exhibit 1. Tell me what you think?</a:t>
                      </a:r>
                    </a:p>
                  </a:txBody>
                  <a:tcPr marT="45703" marB="45703" anchor="ctr"/>
                </a:tc>
              </a:tr>
              <a:tr h="822850">
                <a:tc>
                  <a:txBody>
                    <a:bodyPr/>
                    <a:lstStyle/>
                    <a:p>
                      <a:pPr algn="ctr"/>
                      <a:r>
                        <a:rPr lang="en-US" sz="1800" b="1" i="0" kern="1200" dirty="0" smtClean="0">
                          <a:solidFill>
                            <a:schemeClr val="tx1"/>
                          </a:solidFill>
                          <a:latin typeface="+mn-lt"/>
                          <a:ea typeface="+mn-ea"/>
                          <a:cs typeface="+mn-cs"/>
                        </a:rPr>
                        <a:t>Guidance</a:t>
                      </a:r>
                      <a:endParaRPr lang="en-US" sz="1800" b="1" i="0" kern="1200" dirty="0">
                        <a:solidFill>
                          <a:schemeClr val="tx1"/>
                        </a:solidFill>
                        <a:latin typeface="+mn-lt"/>
                        <a:ea typeface="+mn-ea"/>
                        <a:cs typeface="+mn-cs"/>
                      </a:endParaRPr>
                    </a:p>
                  </a:txBody>
                  <a:tcPr marT="45703" marB="45703" anchor="ctr">
                    <a:solidFill>
                      <a:schemeClr val="tx1">
                        <a:alpha val="20000"/>
                      </a:schemeClr>
                    </a:solidFill>
                  </a:tcPr>
                </a:tc>
                <a:tc>
                  <a:txBody>
                    <a:bodyPr/>
                    <a:lstStyle/>
                    <a:p>
                      <a:pPr marL="0" indent="0">
                        <a:buFont typeface="Arial" panose="020B0604020202020204" pitchFamily="34" charset="0"/>
                        <a:buNone/>
                      </a:pPr>
                      <a:r>
                        <a:rPr lang="en-US" sz="1200" b="0" i="0" u="none" kern="1200" baseline="0" dirty="0" smtClean="0">
                          <a:solidFill>
                            <a:schemeClr val="tx1"/>
                          </a:solidFill>
                          <a:latin typeface="+mj-lt"/>
                          <a:ea typeface="+mn-ea"/>
                          <a:cs typeface="+mn-cs"/>
                        </a:rPr>
                        <a:t>Interviewer to review candidate calculations using Appendix 2 and 3. </a:t>
                      </a:r>
                    </a:p>
                    <a:p>
                      <a:endParaRPr lang="en-US" sz="1200" b="0" kern="1200" baseline="0" dirty="0" smtClean="0">
                        <a:latin typeface="+mj-lt"/>
                      </a:endParaRPr>
                    </a:p>
                    <a:p>
                      <a:r>
                        <a:rPr lang="en-US" sz="1200" b="0" kern="1200" baseline="0" dirty="0" smtClean="0">
                          <a:latin typeface="+mj-lt"/>
                        </a:rPr>
                        <a:t>Before beginning the calculations:</a:t>
                      </a:r>
                    </a:p>
                    <a:p>
                      <a:pPr marL="171450" indent="-171450">
                        <a:buFont typeface="Arial" panose="020B0604020202020204" pitchFamily="34" charset="0"/>
                        <a:buChar char="•"/>
                      </a:pPr>
                      <a:r>
                        <a:rPr lang="en-US" sz="1200" b="0" kern="1200" baseline="0" dirty="0" smtClean="0">
                          <a:latin typeface="+mj-lt"/>
                        </a:rPr>
                        <a:t>A strong candidate will tell the interviewer initial findings or present a hypothesis</a:t>
                      </a:r>
                    </a:p>
                    <a:p>
                      <a:pPr marL="171450" indent="-171450">
                        <a:buFont typeface="Arial" panose="020B0604020202020204" pitchFamily="34" charset="0"/>
                        <a:buChar char="•"/>
                      </a:pPr>
                      <a:r>
                        <a:rPr lang="en-US" sz="1200" b="0" kern="1200" baseline="0" dirty="0" smtClean="0">
                          <a:latin typeface="+mj-lt"/>
                        </a:rPr>
                        <a:t>A weak candidate will read the exhibit to you or just start doing math</a:t>
                      </a:r>
                    </a:p>
                    <a:p>
                      <a:pPr marL="171450" indent="-171450">
                        <a:buFont typeface="Arial" panose="020B0604020202020204" pitchFamily="34" charset="0"/>
                        <a:buChar char="•"/>
                      </a:pPr>
                      <a:endParaRPr lang="en-US" sz="1200" b="0" i="1" kern="1200" baseline="0" dirty="0" smtClean="0">
                        <a:solidFill>
                          <a:schemeClr val="tx1"/>
                        </a:solidFill>
                        <a:latin typeface="+mj-lt"/>
                        <a:ea typeface="+mn-ea"/>
                        <a:cs typeface="+mn-cs"/>
                      </a:endParaRPr>
                    </a:p>
                    <a:p>
                      <a:pPr marL="0" indent="0">
                        <a:buFont typeface="Arial" panose="020B0604020202020204" pitchFamily="34" charset="0"/>
                        <a:buNone/>
                      </a:pPr>
                      <a:r>
                        <a:rPr lang="en-US" sz="1200" b="1" i="1" kern="1200" baseline="0" dirty="0" smtClean="0">
                          <a:solidFill>
                            <a:schemeClr val="tx1"/>
                          </a:solidFill>
                          <a:latin typeface="+mj-lt"/>
                          <a:ea typeface="+mn-ea"/>
                          <a:cs typeface="+mn-cs"/>
                        </a:rPr>
                        <a:t>The candidate should conclude that </a:t>
                      </a:r>
                      <a:r>
                        <a:rPr lang="en-US" sz="1200" b="1" i="1" kern="1200" baseline="0" dirty="0" err="1" smtClean="0">
                          <a:solidFill>
                            <a:schemeClr val="tx1"/>
                          </a:solidFill>
                          <a:latin typeface="+mj-lt"/>
                          <a:ea typeface="+mn-ea"/>
                          <a:cs typeface="+mn-cs"/>
                        </a:rPr>
                        <a:t>Arenal</a:t>
                      </a:r>
                      <a:r>
                        <a:rPr lang="en-US" sz="1200" b="1" i="1" kern="1200" baseline="0" dirty="0" smtClean="0">
                          <a:solidFill>
                            <a:schemeClr val="tx1"/>
                          </a:solidFill>
                          <a:latin typeface="+mj-lt"/>
                          <a:ea typeface="+mn-ea"/>
                          <a:cs typeface="+mn-cs"/>
                        </a:rPr>
                        <a:t> Volcano offers the highest average daily revenue at $356.25. </a:t>
                      </a:r>
                    </a:p>
                    <a:p>
                      <a:pPr marL="0" indent="0">
                        <a:buFont typeface="Arial" panose="020B0604020202020204" pitchFamily="34" charset="0"/>
                        <a:buNone/>
                      </a:pPr>
                      <a:endParaRPr lang="en-US" sz="1200" b="1" i="1" kern="1200" baseline="0" dirty="0" smtClean="0">
                        <a:solidFill>
                          <a:schemeClr val="tx1"/>
                        </a:solidFill>
                        <a:latin typeface="+mj-lt"/>
                        <a:ea typeface="+mn-ea"/>
                        <a:cs typeface="+mn-cs"/>
                      </a:endParaRPr>
                    </a:p>
                    <a:p>
                      <a:pPr marL="0" indent="0">
                        <a:buFont typeface="Arial" panose="020B0604020202020204" pitchFamily="34" charset="0"/>
                        <a:buNone/>
                      </a:pPr>
                      <a:r>
                        <a:rPr lang="en-US" sz="1200" b="1" i="1" kern="1200" baseline="0" dirty="0" smtClean="0">
                          <a:solidFill>
                            <a:schemeClr val="tx1"/>
                          </a:solidFill>
                          <a:latin typeface="+mj-lt"/>
                          <a:ea typeface="+mn-ea"/>
                          <a:cs typeface="+mn-cs"/>
                        </a:rPr>
                        <a:t>$356.25* 360 days/year * 200 rooms = $25.65MM per year revenue opportunity.</a:t>
                      </a:r>
                    </a:p>
                    <a:p>
                      <a:pPr marL="0" indent="0">
                        <a:buFont typeface="Arial" panose="020B0604020202020204" pitchFamily="34" charset="0"/>
                        <a:buNone/>
                      </a:pPr>
                      <a:endParaRPr lang="en-US" sz="1200" b="0" i="0" u="none" kern="1200" baseline="0" dirty="0" smtClean="0">
                        <a:solidFill>
                          <a:schemeClr val="tx1"/>
                        </a:solidFill>
                        <a:latin typeface="+mj-lt"/>
                        <a:ea typeface="+mn-ea"/>
                        <a:cs typeface="+mn-cs"/>
                      </a:endParaRPr>
                    </a:p>
                    <a:p>
                      <a:pPr marL="0" indent="0">
                        <a:buFont typeface="Arial" panose="020B0604020202020204" pitchFamily="34" charset="0"/>
                        <a:buNone/>
                      </a:pPr>
                      <a:endParaRPr lang="en-US" sz="1200" b="0" i="0" u="none" kern="1200" baseline="0" dirty="0" smtClean="0">
                        <a:solidFill>
                          <a:schemeClr val="tx1"/>
                        </a:solidFill>
                        <a:latin typeface="+mj-lt"/>
                        <a:ea typeface="+mn-ea"/>
                        <a:cs typeface="+mn-cs"/>
                      </a:endParaRPr>
                    </a:p>
                  </a:txBody>
                  <a:tcPr marT="45703" marB="45703">
                    <a:solidFill>
                      <a:schemeClr val="tx1">
                        <a:alpha val="20000"/>
                      </a:schemeClr>
                    </a:solidFill>
                  </a:tcPr>
                </a:tc>
              </a:tr>
            </a:tbl>
          </a:graphicData>
        </a:graphic>
      </p:graphicFrame>
      <p:pic>
        <p:nvPicPr>
          <p:cNvPr id="616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162"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3: </a:t>
            </a:r>
            <a:r>
              <a:rPr lang="en-US" sz="2400" b="1" dirty="0"/>
              <a:t>SPG</a:t>
            </a:r>
          </a:p>
        </p:txBody>
      </p:sp>
      <p:sp>
        <p:nvSpPr>
          <p:cNvPr id="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30</a:t>
            </a:fld>
            <a:endParaRPr lang="en-US" dirty="0"/>
          </a:p>
        </p:txBody>
      </p:sp>
    </p:spTree>
    <p:extLst>
      <p:ext uri="{BB962C8B-B14F-4D97-AF65-F5344CB8AC3E}">
        <p14:creationId xmlns:p14="http://schemas.microsoft.com/office/powerpoint/2010/main" val="4220901602"/>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9456"/>
          <p:cNvSpPr/>
          <p:nvPr/>
        </p:nvSpPr>
        <p:spPr>
          <a:xfrm>
            <a:off x="5305425" y="4000500"/>
            <a:ext cx="3657600" cy="17145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endParaRPr lang="en-US"/>
          </a:p>
        </p:txBody>
      </p:sp>
      <p:pic>
        <p:nvPicPr>
          <p:cNvPr id="717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173"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3: </a:t>
            </a:r>
            <a:r>
              <a:rPr lang="en-US" sz="2400" b="1" dirty="0"/>
              <a:t>SPG</a:t>
            </a:r>
          </a:p>
        </p:txBody>
      </p:sp>
      <p:pic>
        <p:nvPicPr>
          <p:cNvPr id="7175" name="Picture 2" descr="https://encrypted-tbn3.gstatic.com/images?q=tbn:ANd9GcTlfLPDDvXM8UGBmr2TzRBhDZ89XHdVyhU5beAGnYNSkQzGrBdh"/>
          <p:cNvPicPr>
            <a:picLocks noChangeAspect="1" noChangeArrowheads="1"/>
          </p:cNvPicPr>
          <p:nvPr/>
        </p:nvPicPr>
        <p:blipFill>
          <a:blip r:embed="rId3">
            <a:extLst>
              <a:ext uri="{28A0092B-C50C-407E-A947-70E740481C1C}">
                <a14:useLocalDpi xmlns:a14="http://schemas.microsoft.com/office/drawing/2010/main" val="0"/>
              </a:ext>
            </a:extLst>
          </a:blip>
          <a:srcRect l="7616" t="6779" r="7080" b="10168"/>
          <a:stretch>
            <a:fillRect/>
          </a:stretch>
        </p:blipFill>
        <p:spPr bwMode="auto">
          <a:xfrm>
            <a:off x="268288" y="1600200"/>
            <a:ext cx="47021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2795588" y="1647030"/>
            <a:ext cx="2157412" cy="876300"/>
          </a:xfrm>
          <a:prstGeom prst="rect">
            <a:avLst/>
          </a:prstGeom>
        </p:spPr>
        <p:style>
          <a:lnRef idx="2">
            <a:schemeClr val="dk1"/>
          </a:lnRef>
          <a:fillRef idx="1">
            <a:schemeClr val="lt1"/>
          </a:fillRef>
          <a:effectRef idx="0">
            <a:schemeClr val="dk1"/>
          </a:effectRef>
          <a:fontRef idx="minor">
            <a:schemeClr val="dk1"/>
          </a:fontRef>
        </p:style>
        <p:txBody>
          <a:bodyPr/>
          <a:lstStyle/>
          <a:p>
            <a:pPr eaLnBrk="1" hangingPunct="1">
              <a:defRPr/>
            </a:pPr>
            <a:r>
              <a:rPr lang="en-US" sz="1000" dirty="0"/>
              <a:t>San Jose</a:t>
            </a:r>
          </a:p>
          <a:p>
            <a:pPr eaLnBrk="1" hangingPunct="1">
              <a:defRPr/>
            </a:pPr>
            <a:endParaRPr lang="en-US" sz="1200" dirty="0"/>
          </a:p>
          <a:p>
            <a:pPr eaLnBrk="1" hangingPunct="1">
              <a:defRPr/>
            </a:pPr>
            <a:r>
              <a:rPr lang="en-US" sz="1000" dirty="0"/>
              <a:t>Avg. Room/ Day: $100</a:t>
            </a:r>
          </a:p>
          <a:p>
            <a:pPr eaLnBrk="1" hangingPunct="1">
              <a:defRPr/>
            </a:pPr>
            <a:r>
              <a:rPr lang="en-US" sz="1000" dirty="0"/>
              <a:t>Avg. Daily Spend/ Room: $25</a:t>
            </a:r>
          </a:p>
          <a:p>
            <a:pPr eaLnBrk="1" hangingPunct="1">
              <a:defRPr/>
            </a:pPr>
            <a:r>
              <a:rPr lang="en-US" sz="1000" dirty="0"/>
              <a:t>Other SPG Properties: 0</a:t>
            </a:r>
          </a:p>
          <a:p>
            <a:pPr eaLnBrk="1" hangingPunct="1">
              <a:defRPr/>
            </a:pPr>
            <a:endParaRPr lang="en-US" sz="1200" dirty="0"/>
          </a:p>
        </p:txBody>
      </p:sp>
      <p:sp>
        <p:nvSpPr>
          <p:cNvPr id="10" name="Oval 9"/>
          <p:cNvSpPr/>
          <p:nvPr/>
        </p:nvSpPr>
        <p:spPr>
          <a:xfrm>
            <a:off x="2625724" y="2725747"/>
            <a:ext cx="255588" cy="265113"/>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1000" dirty="0"/>
              <a:t>1</a:t>
            </a:r>
          </a:p>
        </p:txBody>
      </p:sp>
      <p:sp>
        <p:nvSpPr>
          <p:cNvPr id="15" name="Oval 14"/>
          <p:cNvSpPr/>
          <p:nvPr/>
        </p:nvSpPr>
        <p:spPr>
          <a:xfrm>
            <a:off x="3686968" y="3450429"/>
            <a:ext cx="255588" cy="265113"/>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1000" dirty="0"/>
              <a:t>3</a:t>
            </a:r>
          </a:p>
        </p:txBody>
      </p:sp>
      <p:sp>
        <p:nvSpPr>
          <p:cNvPr id="16" name="Oval 15"/>
          <p:cNvSpPr/>
          <p:nvPr/>
        </p:nvSpPr>
        <p:spPr>
          <a:xfrm>
            <a:off x="1013619" y="3452811"/>
            <a:ext cx="255588" cy="265113"/>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1000" dirty="0"/>
              <a:t>2</a:t>
            </a:r>
          </a:p>
        </p:txBody>
      </p:sp>
      <p:sp>
        <p:nvSpPr>
          <p:cNvPr id="17" name="Oval 16"/>
          <p:cNvSpPr/>
          <p:nvPr/>
        </p:nvSpPr>
        <p:spPr>
          <a:xfrm>
            <a:off x="2820987" y="4220368"/>
            <a:ext cx="255588" cy="265113"/>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1000" dirty="0"/>
              <a:t>4</a:t>
            </a:r>
          </a:p>
        </p:txBody>
      </p:sp>
      <p:cxnSp>
        <p:nvCxnSpPr>
          <p:cNvPr id="18" name="Straight Connector 17"/>
          <p:cNvCxnSpPr/>
          <p:nvPr/>
        </p:nvCxnSpPr>
        <p:spPr>
          <a:xfrm flipV="1">
            <a:off x="3838575" y="2476500"/>
            <a:ext cx="352425" cy="1001713"/>
          </a:xfrm>
          <a:prstGeom prst="line">
            <a:avLst/>
          </a:prstGeom>
          <a:ln/>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2057400" y="2743200"/>
            <a:ext cx="595313" cy="85725"/>
          </a:xfrm>
          <a:prstGeom prst="line">
            <a:avLst/>
          </a:prstGeom>
          <a:ln/>
        </p:spPr>
        <p:style>
          <a:lnRef idx="1">
            <a:schemeClr val="dk1"/>
          </a:lnRef>
          <a:fillRef idx="0">
            <a:schemeClr val="dk1"/>
          </a:fillRef>
          <a:effectRef idx="0">
            <a:schemeClr val="dk1"/>
          </a:effectRef>
          <a:fontRef idx="minor">
            <a:schemeClr val="tx1"/>
          </a:fontRef>
        </p:style>
      </p:cxnSp>
      <p:cxnSp>
        <p:nvCxnSpPr>
          <p:cNvPr id="23" name="Straight Connector 22"/>
          <p:cNvCxnSpPr/>
          <p:nvPr/>
        </p:nvCxnSpPr>
        <p:spPr>
          <a:xfrm flipH="1" flipV="1">
            <a:off x="1141413" y="3717925"/>
            <a:ext cx="231775" cy="541338"/>
          </a:xfrm>
          <a:prstGeom prst="line">
            <a:avLst/>
          </a:prstGeom>
          <a:ln/>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flipH="1" flipV="1">
            <a:off x="3033713" y="4457700"/>
            <a:ext cx="293687" cy="266700"/>
          </a:xfrm>
          <a:prstGeom prst="line">
            <a:avLst/>
          </a:prstGeom>
          <a:ln/>
        </p:spPr>
        <p:style>
          <a:lnRef idx="1">
            <a:schemeClr val="dk1"/>
          </a:lnRef>
          <a:fillRef idx="0">
            <a:schemeClr val="dk1"/>
          </a:fillRef>
          <a:effectRef idx="0">
            <a:schemeClr val="dk1"/>
          </a:effectRef>
          <a:fontRef idx="minor">
            <a:schemeClr val="tx1"/>
          </a:fontRef>
        </p:style>
      </p:cxnSp>
      <p:sp>
        <p:nvSpPr>
          <p:cNvPr id="7185" name="TextBox 7"/>
          <p:cNvSpPr txBox="1">
            <a:spLocks noChangeArrowheads="1"/>
          </p:cNvSpPr>
          <p:nvPr/>
        </p:nvSpPr>
        <p:spPr bwMode="auto">
          <a:xfrm>
            <a:off x="1141413" y="1347788"/>
            <a:ext cx="28082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ctr" eaLnBrk="1" hangingPunct="1"/>
            <a:r>
              <a:rPr lang="en-US" sz="1400" i="1"/>
              <a:t>Map of Potential Locations</a:t>
            </a:r>
          </a:p>
        </p:txBody>
      </p:sp>
      <p:sp>
        <p:nvSpPr>
          <p:cNvPr id="34" name="Rectangle 33"/>
          <p:cNvSpPr/>
          <p:nvPr/>
        </p:nvSpPr>
        <p:spPr>
          <a:xfrm>
            <a:off x="285750" y="2019300"/>
            <a:ext cx="2157413" cy="876300"/>
          </a:xfrm>
          <a:prstGeom prst="rect">
            <a:avLst/>
          </a:prstGeom>
        </p:spPr>
        <p:style>
          <a:lnRef idx="2">
            <a:schemeClr val="dk1"/>
          </a:lnRef>
          <a:fillRef idx="1">
            <a:schemeClr val="lt1"/>
          </a:fillRef>
          <a:effectRef idx="0">
            <a:schemeClr val="dk1"/>
          </a:effectRef>
          <a:fontRef idx="minor">
            <a:schemeClr val="dk1"/>
          </a:fontRef>
        </p:style>
        <p:txBody>
          <a:bodyPr/>
          <a:lstStyle/>
          <a:p>
            <a:pPr eaLnBrk="1" hangingPunct="1">
              <a:defRPr/>
            </a:pPr>
            <a:r>
              <a:rPr lang="en-US" sz="1000" dirty="0" err="1"/>
              <a:t>Arenal</a:t>
            </a:r>
            <a:r>
              <a:rPr lang="en-US" sz="1000" dirty="0"/>
              <a:t> Volcano</a:t>
            </a:r>
          </a:p>
          <a:p>
            <a:pPr eaLnBrk="1" hangingPunct="1">
              <a:defRPr/>
            </a:pPr>
            <a:endParaRPr lang="en-US" sz="1000" dirty="0"/>
          </a:p>
          <a:p>
            <a:pPr eaLnBrk="1" hangingPunct="1">
              <a:defRPr/>
            </a:pPr>
            <a:r>
              <a:rPr lang="en-US" sz="1000" dirty="0"/>
              <a:t>Avg. Room/ Day: $250</a:t>
            </a:r>
          </a:p>
          <a:p>
            <a:pPr eaLnBrk="1" hangingPunct="1">
              <a:defRPr/>
            </a:pPr>
            <a:r>
              <a:rPr lang="en-US" sz="1000" dirty="0"/>
              <a:t>Avg. Daily Spend/ Room: $50</a:t>
            </a:r>
          </a:p>
          <a:p>
            <a:pPr eaLnBrk="1" hangingPunct="1">
              <a:defRPr/>
            </a:pPr>
            <a:r>
              <a:rPr lang="en-US" sz="1000" dirty="0"/>
              <a:t>Other SPG Properties: 0</a:t>
            </a:r>
          </a:p>
          <a:p>
            <a:pPr eaLnBrk="1" hangingPunct="1">
              <a:defRPr/>
            </a:pPr>
            <a:endParaRPr lang="en-US" sz="1000" dirty="0"/>
          </a:p>
        </p:txBody>
      </p:sp>
      <p:sp>
        <p:nvSpPr>
          <p:cNvPr id="35" name="Rectangle 34"/>
          <p:cNvSpPr/>
          <p:nvPr/>
        </p:nvSpPr>
        <p:spPr>
          <a:xfrm>
            <a:off x="285750" y="4205288"/>
            <a:ext cx="2157413" cy="876300"/>
          </a:xfrm>
          <a:prstGeom prst="rect">
            <a:avLst/>
          </a:prstGeom>
        </p:spPr>
        <p:style>
          <a:lnRef idx="2">
            <a:schemeClr val="dk1"/>
          </a:lnRef>
          <a:fillRef idx="1">
            <a:schemeClr val="lt1"/>
          </a:fillRef>
          <a:effectRef idx="0">
            <a:schemeClr val="dk1"/>
          </a:effectRef>
          <a:fontRef idx="minor">
            <a:schemeClr val="dk1"/>
          </a:fontRef>
        </p:style>
        <p:txBody>
          <a:bodyPr/>
          <a:lstStyle/>
          <a:p>
            <a:pPr eaLnBrk="1" hangingPunct="1">
              <a:defRPr/>
            </a:pPr>
            <a:r>
              <a:rPr lang="en-US" sz="1000" dirty="0"/>
              <a:t>Guanacaste</a:t>
            </a:r>
          </a:p>
          <a:p>
            <a:pPr eaLnBrk="1" hangingPunct="1">
              <a:defRPr/>
            </a:pPr>
            <a:endParaRPr lang="en-US" sz="1000" dirty="0"/>
          </a:p>
          <a:p>
            <a:pPr eaLnBrk="1" hangingPunct="1">
              <a:defRPr/>
            </a:pPr>
            <a:r>
              <a:rPr lang="en-US" sz="1000" dirty="0"/>
              <a:t>Avg. Room/ Day: $300</a:t>
            </a:r>
          </a:p>
          <a:p>
            <a:pPr eaLnBrk="1" hangingPunct="1">
              <a:defRPr/>
            </a:pPr>
            <a:r>
              <a:rPr lang="en-US" sz="1000" dirty="0"/>
              <a:t>Avg. Daily Spend/ Room: $100</a:t>
            </a:r>
          </a:p>
          <a:p>
            <a:pPr eaLnBrk="1" hangingPunct="1">
              <a:defRPr/>
            </a:pPr>
            <a:r>
              <a:rPr lang="en-US" sz="1000" dirty="0"/>
              <a:t>Other SPG Properties: 0</a:t>
            </a:r>
          </a:p>
          <a:p>
            <a:pPr eaLnBrk="1" hangingPunct="1">
              <a:defRPr/>
            </a:pPr>
            <a:endParaRPr lang="en-US" sz="1000" dirty="0"/>
          </a:p>
        </p:txBody>
      </p:sp>
      <p:sp>
        <p:nvSpPr>
          <p:cNvPr id="36" name="Rectangle 35"/>
          <p:cNvSpPr/>
          <p:nvPr/>
        </p:nvSpPr>
        <p:spPr>
          <a:xfrm>
            <a:off x="2795588" y="4708525"/>
            <a:ext cx="2157412" cy="876300"/>
          </a:xfrm>
          <a:prstGeom prst="rect">
            <a:avLst/>
          </a:prstGeom>
        </p:spPr>
        <p:style>
          <a:lnRef idx="2">
            <a:schemeClr val="dk1"/>
          </a:lnRef>
          <a:fillRef idx="1">
            <a:schemeClr val="lt1"/>
          </a:fillRef>
          <a:effectRef idx="0">
            <a:schemeClr val="dk1"/>
          </a:effectRef>
          <a:fontRef idx="minor">
            <a:schemeClr val="dk1"/>
          </a:fontRef>
        </p:style>
        <p:txBody>
          <a:bodyPr/>
          <a:lstStyle/>
          <a:p>
            <a:pPr eaLnBrk="1" hangingPunct="1">
              <a:defRPr/>
            </a:pPr>
            <a:r>
              <a:rPr lang="en-US" sz="1000" dirty="0"/>
              <a:t>Manual Antonio</a:t>
            </a:r>
          </a:p>
          <a:p>
            <a:pPr eaLnBrk="1" hangingPunct="1">
              <a:defRPr/>
            </a:pPr>
            <a:endParaRPr lang="en-US" sz="1000" dirty="0"/>
          </a:p>
          <a:p>
            <a:pPr eaLnBrk="1" hangingPunct="1">
              <a:defRPr/>
            </a:pPr>
            <a:r>
              <a:rPr lang="en-US" sz="1000" dirty="0"/>
              <a:t>Avg. Room/ Day: $350</a:t>
            </a:r>
          </a:p>
          <a:p>
            <a:pPr eaLnBrk="1" hangingPunct="1">
              <a:defRPr/>
            </a:pPr>
            <a:r>
              <a:rPr lang="en-US" sz="1000" dirty="0"/>
              <a:t>Avg. Daily Spend/ Room: $150</a:t>
            </a:r>
          </a:p>
          <a:p>
            <a:pPr eaLnBrk="1" hangingPunct="1">
              <a:defRPr/>
            </a:pPr>
            <a:r>
              <a:rPr lang="en-US" sz="1000" dirty="0"/>
              <a:t>Other SPG Properties: 1</a:t>
            </a:r>
          </a:p>
          <a:p>
            <a:pPr eaLnBrk="1" hangingPunct="1">
              <a:defRPr/>
            </a:pPr>
            <a:endParaRPr lang="en-US" sz="1000" dirty="0"/>
          </a:p>
        </p:txBody>
      </p:sp>
      <p:pic>
        <p:nvPicPr>
          <p:cNvPr id="7189" name="Picture 4" descr="http://www.getthru.govt.nz/web/GetThru.nsf/vwluResources/icon-volcano/$file/icon-volcan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800" y="2082800"/>
            <a:ext cx="40005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0" name="Picture 8" descr="http://icons.iconarchive.com/icons/iconshock/beach/256/parasol-icon.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8825" y="4762500"/>
            <a:ext cx="3841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1" name="Picture 8" descr="http://icons.iconarchive.com/icons/iconshock/beach/256/parasol-icon.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8775" y="4935538"/>
            <a:ext cx="3841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2" name="Picture 10" descr="http://www.777icons.com/libs/travel/city-icon.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8338" y="1684338"/>
            <a:ext cx="40481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3" name="Picture 10" descr="http://www.777icons.com/libs/travel/city-icon.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18438" y="4029075"/>
            <a:ext cx="404812"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94" name="TextBox 7"/>
          <p:cNvSpPr txBox="1">
            <a:spLocks noChangeArrowheads="1"/>
          </p:cNvSpPr>
          <p:nvPr/>
        </p:nvSpPr>
        <p:spPr bwMode="auto">
          <a:xfrm>
            <a:off x="5772150" y="3748088"/>
            <a:ext cx="2809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ctr" eaLnBrk="1" hangingPunct="1"/>
            <a:r>
              <a:rPr lang="en-US" sz="1400" i="1" dirty="0" smtClean="0"/>
              <a:t>Average Occupancy </a:t>
            </a:r>
            <a:r>
              <a:rPr lang="en-US" sz="1400" i="1" dirty="0"/>
              <a:t>by Attraction</a:t>
            </a:r>
          </a:p>
        </p:txBody>
      </p:sp>
      <p:pic>
        <p:nvPicPr>
          <p:cNvPr id="7195" name="Picture 14" descr="http://t3.gstatic.com/images?q=tbn:ANd9GcQUBjKWEk5yFih4-p-0fYtTBVDDJ8QGe441ryd1ZbXUieFfCL0VUQ"/>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5800" y="4267200"/>
            <a:ext cx="38417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6" name="Picture 14" descr="http://t3.gstatic.com/images?q=tbn:ANd9GcQUBjKWEk5yFih4-p-0fYtTBVDDJ8QGe441ryd1ZbXUieFfCL0VUQ"/>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9550" y="4511675"/>
            <a:ext cx="38417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7" name="Picture 16" descr="http://t0.gstatic.com/images?q=tbn:ANd9GcTuV_80w_k9ke37pTKwmRA14dX1VwY7nPT2TF02Ch_BjPwP8TFFf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7663" y="4059238"/>
            <a:ext cx="3841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8" name="Picture 18" descr="http://i.istockimg.com/file_thumbview_approve/4785616/2/stock-illustration-4785616-one-credit-mountain-icon.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94463" y="5437188"/>
            <a:ext cx="515937"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9" name="Picture 20" descr="http://iranskitours.ir/images/icons/ski_icon.gif"/>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29550" y="4927600"/>
            <a:ext cx="4762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00" name="Picture 4" descr="http://www.getthru.govt.nz/web/GetThru.nsf/vwluResources/icon-volcano/$file/icon-volcan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9725" y="4494213"/>
            <a:ext cx="40005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01" name="TextBox 19458"/>
          <p:cNvSpPr txBox="1">
            <a:spLocks noChangeArrowheads="1"/>
          </p:cNvSpPr>
          <p:nvPr/>
        </p:nvSpPr>
        <p:spPr bwMode="auto">
          <a:xfrm>
            <a:off x="5819775" y="4076700"/>
            <a:ext cx="11906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eaLnBrk="1" hangingPunct="1"/>
            <a:r>
              <a:rPr lang="en-US" sz="1200"/>
              <a:t>= 60%</a:t>
            </a:r>
          </a:p>
        </p:txBody>
      </p:sp>
      <p:sp>
        <p:nvSpPr>
          <p:cNvPr id="7202" name="TextBox 52"/>
          <p:cNvSpPr txBox="1">
            <a:spLocks noChangeArrowheads="1"/>
          </p:cNvSpPr>
          <p:nvPr/>
        </p:nvSpPr>
        <p:spPr bwMode="auto">
          <a:xfrm>
            <a:off x="5819775" y="4538663"/>
            <a:ext cx="11906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eaLnBrk="1" hangingPunct="1"/>
            <a:r>
              <a:rPr lang="en-US" sz="1200"/>
              <a:t>= 75%</a:t>
            </a:r>
          </a:p>
        </p:txBody>
      </p:sp>
      <p:sp>
        <p:nvSpPr>
          <p:cNvPr id="7203" name="TextBox 53"/>
          <p:cNvSpPr txBox="1">
            <a:spLocks noChangeArrowheads="1"/>
          </p:cNvSpPr>
          <p:nvPr/>
        </p:nvSpPr>
        <p:spPr bwMode="auto">
          <a:xfrm>
            <a:off x="8288338" y="4102100"/>
            <a:ext cx="11890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eaLnBrk="1" hangingPunct="1"/>
            <a:r>
              <a:rPr lang="en-US" sz="1200"/>
              <a:t>= 100%</a:t>
            </a:r>
          </a:p>
        </p:txBody>
      </p:sp>
      <p:sp>
        <p:nvSpPr>
          <p:cNvPr id="7204" name="TextBox 54"/>
          <p:cNvSpPr txBox="1">
            <a:spLocks noChangeArrowheads="1"/>
          </p:cNvSpPr>
          <p:nvPr/>
        </p:nvSpPr>
        <p:spPr bwMode="auto">
          <a:xfrm>
            <a:off x="5819775" y="4992688"/>
            <a:ext cx="11906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eaLnBrk="1" hangingPunct="1"/>
            <a:r>
              <a:rPr lang="en-US" sz="1200"/>
              <a:t>= 80%</a:t>
            </a:r>
          </a:p>
        </p:txBody>
      </p:sp>
      <p:sp>
        <p:nvSpPr>
          <p:cNvPr id="7205" name="TextBox 55"/>
          <p:cNvSpPr txBox="1">
            <a:spLocks noChangeArrowheads="1"/>
          </p:cNvSpPr>
          <p:nvPr/>
        </p:nvSpPr>
        <p:spPr bwMode="auto">
          <a:xfrm>
            <a:off x="8288338" y="4514850"/>
            <a:ext cx="11890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eaLnBrk="1" hangingPunct="1"/>
            <a:r>
              <a:rPr lang="en-US" sz="1200"/>
              <a:t>= 50%</a:t>
            </a:r>
          </a:p>
        </p:txBody>
      </p:sp>
      <p:sp>
        <p:nvSpPr>
          <p:cNvPr id="7206" name="TextBox 56"/>
          <p:cNvSpPr txBox="1">
            <a:spLocks noChangeArrowheads="1"/>
          </p:cNvSpPr>
          <p:nvPr/>
        </p:nvSpPr>
        <p:spPr bwMode="auto">
          <a:xfrm>
            <a:off x="8288338" y="4954588"/>
            <a:ext cx="11890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eaLnBrk="1" hangingPunct="1"/>
            <a:r>
              <a:rPr lang="en-US" sz="1200"/>
              <a:t>= 25%</a:t>
            </a:r>
          </a:p>
        </p:txBody>
      </p:sp>
      <p:sp>
        <p:nvSpPr>
          <p:cNvPr id="7207" name="TextBox 57"/>
          <p:cNvSpPr txBox="1">
            <a:spLocks noChangeArrowheads="1"/>
          </p:cNvSpPr>
          <p:nvPr/>
        </p:nvSpPr>
        <p:spPr bwMode="auto">
          <a:xfrm>
            <a:off x="7043738" y="5400675"/>
            <a:ext cx="11906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eaLnBrk="1" hangingPunct="1"/>
            <a:r>
              <a:rPr lang="en-US" sz="1200"/>
              <a:t>= 10%</a:t>
            </a:r>
          </a:p>
        </p:txBody>
      </p:sp>
      <p:sp>
        <p:nvSpPr>
          <p:cNvPr id="60" name="Rectangle 59"/>
          <p:cNvSpPr/>
          <p:nvPr/>
        </p:nvSpPr>
        <p:spPr>
          <a:xfrm>
            <a:off x="5305425" y="1614488"/>
            <a:ext cx="3657600" cy="1419225"/>
          </a:xfrm>
          <a:prstGeom prst="rect">
            <a:avLst/>
          </a:prstGeom>
        </p:spPr>
        <p:style>
          <a:lnRef idx="2">
            <a:schemeClr val="dk1"/>
          </a:lnRef>
          <a:fillRef idx="1">
            <a:schemeClr val="lt1"/>
          </a:fillRef>
          <a:effectRef idx="0">
            <a:schemeClr val="dk1"/>
          </a:effectRef>
          <a:fontRef idx="minor">
            <a:schemeClr val="dk1"/>
          </a:fontRef>
        </p:style>
        <p:txBody>
          <a:bodyPr/>
          <a:lstStyle/>
          <a:p>
            <a:pPr marL="171450" indent="-171450" eaLnBrk="1" hangingPunct="1">
              <a:buFont typeface="Arial" panose="020B0604020202020204" pitchFamily="34" charset="0"/>
              <a:buChar char="•"/>
              <a:defRPr/>
            </a:pPr>
            <a:r>
              <a:rPr lang="en-US" sz="1200" dirty="0"/>
              <a:t>The hotels are open 360 days per year</a:t>
            </a:r>
          </a:p>
          <a:p>
            <a:pPr marL="171450" indent="-171450" eaLnBrk="1" hangingPunct="1">
              <a:buFont typeface="Arial" panose="020B0604020202020204" pitchFamily="34" charset="0"/>
              <a:buChar char="•"/>
              <a:defRPr/>
            </a:pPr>
            <a:r>
              <a:rPr lang="en-US" sz="1200" dirty="0"/>
              <a:t>The cost of cleaning each room is $25 dollars per day</a:t>
            </a:r>
          </a:p>
          <a:p>
            <a:pPr marL="171450" indent="-171450" eaLnBrk="1" hangingPunct="1">
              <a:buFont typeface="Arial" panose="020B0604020202020204" pitchFamily="34" charset="0"/>
              <a:buChar char="•"/>
              <a:defRPr/>
            </a:pPr>
            <a:r>
              <a:rPr lang="en-US" sz="1200" dirty="0"/>
              <a:t>Presence of another SPG property in the same location will decrease occupancy </a:t>
            </a:r>
            <a:r>
              <a:rPr lang="en-US" sz="1200"/>
              <a:t>by </a:t>
            </a:r>
            <a:r>
              <a:rPr lang="en-US" sz="1200" smtClean="0"/>
              <a:t>50%</a:t>
            </a:r>
            <a:endParaRPr lang="en-US" sz="1200" dirty="0"/>
          </a:p>
          <a:p>
            <a:pPr marL="171450" indent="-171450" eaLnBrk="1" hangingPunct="1">
              <a:buFont typeface="Arial" panose="020B0604020202020204" pitchFamily="34" charset="0"/>
              <a:buChar char="•"/>
              <a:defRPr/>
            </a:pPr>
            <a:r>
              <a:rPr lang="en-US" sz="1200" dirty="0"/>
              <a:t>All hotels have 200 rooms </a:t>
            </a:r>
          </a:p>
          <a:p>
            <a:pPr marL="171450" indent="-171450" eaLnBrk="1" hangingPunct="1">
              <a:buFont typeface="Arial" panose="020B0604020202020204" pitchFamily="34" charset="0"/>
              <a:buChar char="•"/>
              <a:defRPr/>
            </a:pPr>
            <a:r>
              <a:rPr lang="en-US" sz="1200" dirty="0"/>
              <a:t>There are typically 4 guests per reservation </a:t>
            </a:r>
          </a:p>
        </p:txBody>
      </p:sp>
      <p:sp>
        <p:nvSpPr>
          <p:cNvPr id="7209" name="TextBox 7"/>
          <p:cNvSpPr txBox="1">
            <a:spLocks noChangeArrowheads="1"/>
          </p:cNvSpPr>
          <p:nvPr/>
        </p:nvSpPr>
        <p:spPr bwMode="auto">
          <a:xfrm>
            <a:off x="5672138" y="1335088"/>
            <a:ext cx="28082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ctr" eaLnBrk="1" hangingPunct="1"/>
            <a:r>
              <a:rPr lang="en-US" sz="1400" i="1"/>
              <a:t>Property Information</a:t>
            </a:r>
          </a:p>
        </p:txBody>
      </p:sp>
      <p:graphicFrame>
        <p:nvGraphicFramePr>
          <p:cNvPr id="19463" name="Table 19462"/>
          <p:cNvGraphicFramePr>
            <a:graphicFrameLocks noGrp="1"/>
          </p:cNvGraphicFramePr>
          <p:nvPr/>
        </p:nvGraphicFramePr>
        <p:xfrm>
          <a:off x="339725" y="5802313"/>
          <a:ext cx="7681914" cy="1098549"/>
        </p:xfrm>
        <a:graphic>
          <a:graphicData uri="http://schemas.openxmlformats.org/drawingml/2006/table">
            <a:tbl>
              <a:tblPr firstRow="1" bandRow="1">
                <a:tableStyleId>{2D5ABB26-0587-4C30-8999-92F81FD0307C}</a:tableStyleId>
              </a:tblPr>
              <a:tblGrid>
                <a:gridCol w="2560638"/>
                <a:gridCol w="2560638"/>
                <a:gridCol w="2560638"/>
              </a:tblGrid>
              <a:tr h="366183">
                <a:tc>
                  <a:txBody>
                    <a:bodyPr/>
                    <a:lstStyle/>
                    <a:p>
                      <a:endParaRPr lang="en-US" sz="1800" dirty="0"/>
                    </a:p>
                  </a:txBody>
                  <a:tcPr marL="91445" marR="91445" marT="45773" marB="45773"/>
                </a:tc>
                <a:tc>
                  <a:txBody>
                    <a:bodyPr/>
                    <a:lstStyle/>
                    <a:p>
                      <a:endParaRPr lang="en-US" sz="1800"/>
                    </a:p>
                  </a:txBody>
                  <a:tcPr marL="91445" marR="91445" marT="45773" marB="45773"/>
                </a:tc>
                <a:tc>
                  <a:txBody>
                    <a:bodyPr/>
                    <a:lstStyle/>
                    <a:p>
                      <a:endParaRPr lang="en-US" sz="1800"/>
                    </a:p>
                  </a:txBody>
                  <a:tcPr marL="91445" marR="91445" marT="45773" marB="45773"/>
                </a:tc>
              </a:tr>
              <a:tr h="366183">
                <a:tc>
                  <a:txBody>
                    <a:bodyPr/>
                    <a:lstStyle/>
                    <a:p>
                      <a:endParaRPr lang="en-US" sz="1800"/>
                    </a:p>
                  </a:txBody>
                  <a:tcPr marL="91445" marR="91445" marT="45773" marB="45773"/>
                </a:tc>
                <a:tc>
                  <a:txBody>
                    <a:bodyPr/>
                    <a:lstStyle/>
                    <a:p>
                      <a:endParaRPr lang="en-US" sz="1800"/>
                    </a:p>
                  </a:txBody>
                  <a:tcPr marL="91445" marR="91445" marT="45773" marB="45773"/>
                </a:tc>
                <a:tc>
                  <a:txBody>
                    <a:bodyPr/>
                    <a:lstStyle/>
                    <a:p>
                      <a:endParaRPr lang="en-US" sz="1800"/>
                    </a:p>
                  </a:txBody>
                  <a:tcPr marL="91445" marR="91445" marT="45773" marB="45773"/>
                </a:tc>
              </a:tr>
              <a:tr h="366183">
                <a:tc>
                  <a:txBody>
                    <a:bodyPr/>
                    <a:lstStyle/>
                    <a:p>
                      <a:endParaRPr lang="en-US" sz="1800"/>
                    </a:p>
                  </a:txBody>
                  <a:tcPr marL="91445" marR="91445" marT="45773" marB="45773"/>
                </a:tc>
                <a:tc>
                  <a:txBody>
                    <a:bodyPr/>
                    <a:lstStyle/>
                    <a:p>
                      <a:endParaRPr lang="en-US" sz="1800"/>
                    </a:p>
                  </a:txBody>
                  <a:tcPr marL="91445" marR="91445" marT="45773" marB="45773"/>
                </a:tc>
                <a:tc>
                  <a:txBody>
                    <a:bodyPr/>
                    <a:lstStyle/>
                    <a:p>
                      <a:endParaRPr lang="en-US" sz="1800" dirty="0"/>
                    </a:p>
                  </a:txBody>
                  <a:tcPr marL="91445" marR="91445" marT="45773" marB="45773"/>
                </a:tc>
              </a:tr>
            </a:tbl>
          </a:graphicData>
        </a:graphic>
      </p:graphicFrame>
      <p:graphicFrame>
        <p:nvGraphicFramePr>
          <p:cNvPr id="19465" name="Table 19464"/>
          <p:cNvGraphicFramePr>
            <a:graphicFrameLocks noGrp="1"/>
          </p:cNvGraphicFramePr>
          <p:nvPr/>
        </p:nvGraphicFramePr>
        <p:xfrm>
          <a:off x="228600" y="5973763"/>
          <a:ext cx="8224839" cy="731838"/>
        </p:xfrm>
        <a:graphic>
          <a:graphicData uri="http://schemas.openxmlformats.org/drawingml/2006/table">
            <a:tbl>
              <a:tblPr firstRow="1" bandRow="1">
                <a:tableStyleId>{073A0DAA-6AF3-43AB-8588-CEC1D06C72B9}</a:tableStyleId>
              </a:tblPr>
              <a:tblGrid>
                <a:gridCol w="2741613"/>
                <a:gridCol w="2741613"/>
                <a:gridCol w="2741613"/>
              </a:tblGrid>
              <a:tr h="243946">
                <a:tc>
                  <a:txBody>
                    <a:bodyPr/>
                    <a:lstStyle/>
                    <a:p>
                      <a:r>
                        <a:rPr lang="en-US" sz="1000" dirty="0" smtClean="0">
                          <a:solidFill>
                            <a:schemeClr val="tx1"/>
                          </a:solidFill>
                        </a:rPr>
                        <a:t>Category</a:t>
                      </a:r>
                      <a:endParaRPr lang="en-US" sz="1000" dirty="0">
                        <a:solidFill>
                          <a:schemeClr val="tx1"/>
                        </a:solidFill>
                      </a:endParaRPr>
                    </a:p>
                  </a:txBody>
                  <a:tcPr marL="91435" marR="91435" marT="45740" marB="457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0" dirty="0" smtClean="0">
                          <a:solidFill>
                            <a:schemeClr val="tx1"/>
                          </a:solidFill>
                        </a:rPr>
                        <a:t>Room Factor</a:t>
                      </a:r>
                      <a:endParaRPr lang="en-US" sz="1000" dirty="0">
                        <a:solidFill>
                          <a:schemeClr val="tx1"/>
                        </a:solidFill>
                      </a:endParaRPr>
                    </a:p>
                  </a:txBody>
                  <a:tcPr marL="91435" marR="91435" marT="45740" marB="457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0" dirty="0" smtClean="0">
                          <a:solidFill>
                            <a:schemeClr val="tx1"/>
                          </a:solidFill>
                        </a:rPr>
                        <a:t>Daily</a:t>
                      </a:r>
                      <a:r>
                        <a:rPr lang="en-US" sz="1000" baseline="0" dirty="0" smtClean="0">
                          <a:solidFill>
                            <a:schemeClr val="tx1"/>
                          </a:solidFill>
                        </a:rPr>
                        <a:t> Spend Factor</a:t>
                      </a:r>
                      <a:endParaRPr lang="en-US" sz="1000" dirty="0">
                        <a:solidFill>
                          <a:schemeClr val="tx1"/>
                        </a:solidFill>
                      </a:endParaRPr>
                    </a:p>
                  </a:txBody>
                  <a:tcPr marL="91435" marR="91435" marT="45740" marB="457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3946">
                <a:tc>
                  <a:txBody>
                    <a:bodyPr/>
                    <a:lstStyle/>
                    <a:p>
                      <a:r>
                        <a:rPr lang="en-US" sz="1000" dirty="0" smtClean="0">
                          <a:solidFill>
                            <a:schemeClr val="tx1"/>
                          </a:solidFill>
                        </a:rPr>
                        <a:t>Budget</a:t>
                      </a:r>
                      <a:endParaRPr lang="en-US" sz="1000" dirty="0">
                        <a:solidFill>
                          <a:schemeClr val="tx1"/>
                        </a:solidFill>
                      </a:endParaRPr>
                    </a:p>
                  </a:txBody>
                  <a:tcPr marL="91435" marR="91435" marT="45740" marB="457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0" dirty="0" smtClean="0">
                          <a:solidFill>
                            <a:schemeClr val="tx1"/>
                          </a:solidFill>
                        </a:rPr>
                        <a:t>-50%</a:t>
                      </a:r>
                      <a:endParaRPr lang="en-US" sz="1000" dirty="0">
                        <a:solidFill>
                          <a:schemeClr val="tx1"/>
                        </a:solidFill>
                      </a:endParaRPr>
                    </a:p>
                  </a:txBody>
                  <a:tcPr marL="91435" marR="91435" marT="45740" marB="457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0" dirty="0" smtClean="0">
                          <a:solidFill>
                            <a:schemeClr val="tx1"/>
                          </a:solidFill>
                        </a:rPr>
                        <a:t>-50%</a:t>
                      </a:r>
                      <a:endParaRPr lang="en-US" sz="1000" dirty="0">
                        <a:solidFill>
                          <a:schemeClr val="tx1"/>
                        </a:solidFill>
                      </a:endParaRPr>
                    </a:p>
                  </a:txBody>
                  <a:tcPr marL="91435" marR="91435" marT="45740" marB="457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3946">
                <a:tc>
                  <a:txBody>
                    <a:bodyPr/>
                    <a:lstStyle/>
                    <a:p>
                      <a:r>
                        <a:rPr lang="en-US" sz="1000" dirty="0" smtClean="0">
                          <a:solidFill>
                            <a:schemeClr val="tx1"/>
                          </a:solidFill>
                        </a:rPr>
                        <a:t>Luxury</a:t>
                      </a:r>
                      <a:endParaRPr lang="en-US" sz="1000" dirty="0">
                        <a:solidFill>
                          <a:schemeClr val="tx1"/>
                        </a:solidFill>
                      </a:endParaRPr>
                    </a:p>
                  </a:txBody>
                  <a:tcPr marL="91435" marR="91435" marT="45740" marB="457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0" dirty="0" smtClean="0">
                          <a:solidFill>
                            <a:schemeClr val="tx1"/>
                          </a:solidFill>
                        </a:rPr>
                        <a:t>+50%</a:t>
                      </a:r>
                      <a:endParaRPr lang="en-US" sz="1000" dirty="0">
                        <a:solidFill>
                          <a:schemeClr val="tx1"/>
                        </a:solidFill>
                      </a:endParaRPr>
                    </a:p>
                  </a:txBody>
                  <a:tcPr marL="91435" marR="91435" marT="45740" marB="457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0" dirty="0" smtClean="0">
                          <a:solidFill>
                            <a:schemeClr val="tx1"/>
                          </a:solidFill>
                        </a:rPr>
                        <a:t>+100%</a:t>
                      </a:r>
                      <a:endParaRPr lang="en-US" sz="1000" dirty="0">
                        <a:solidFill>
                          <a:schemeClr val="tx1"/>
                        </a:solidFill>
                      </a:endParaRPr>
                    </a:p>
                  </a:txBody>
                  <a:tcPr marL="91435" marR="91435" marT="45740" marB="457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7238" name="TextBox 7"/>
          <p:cNvSpPr txBox="1">
            <a:spLocks noChangeArrowheads="1"/>
          </p:cNvSpPr>
          <p:nvPr/>
        </p:nvSpPr>
        <p:spPr bwMode="auto">
          <a:xfrm>
            <a:off x="1955800" y="5702300"/>
            <a:ext cx="4292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ctr" eaLnBrk="1" hangingPunct="1"/>
            <a:r>
              <a:rPr lang="en-US" sz="1400" i="1" dirty="0"/>
              <a:t>Category Impact on Average Rates and </a:t>
            </a:r>
            <a:r>
              <a:rPr lang="en-US" sz="1400" i="1" dirty="0" smtClean="0"/>
              <a:t>Spend</a:t>
            </a:r>
            <a:endParaRPr lang="en-US" sz="1400" i="1" dirty="0"/>
          </a:p>
        </p:txBody>
      </p:sp>
      <p:sp>
        <p:nvSpPr>
          <p:cNvPr id="45" name="TextBox 1"/>
          <p:cNvSpPr txBox="1">
            <a:spLocks noChangeArrowheads="1"/>
          </p:cNvSpPr>
          <p:nvPr/>
        </p:nvSpPr>
        <p:spPr bwMode="auto">
          <a:xfrm>
            <a:off x="1364672" y="924490"/>
            <a:ext cx="68718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a:t>
            </a:r>
            <a:r>
              <a:rPr lang="en-US" sz="1800" b="1" dirty="0" smtClean="0"/>
              <a:t>1</a:t>
            </a:r>
            <a:endParaRPr lang="en-US" sz="1800" b="1" dirty="0"/>
          </a:p>
        </p:txBody>
      </p:sp>
      <p:sp>
        <p:nvSpPr>
          <p:cNvPr id="2" name="Slide Number Placeholder 1"/>
          <p:cNvSpPr>
            <a:spLocks noGrp="1"/>
          </p:cNvSpPr>
          <p:nvPr>
            <p:ph type="sldNum" sz="quarter" idx="11"/>
          </p:nvPr>
        </p:nvSpPr>
        <p:spPr/>
        <p:txBody>
          <a:bodyPr/>
          <a:lstStyle/>
          <a:p>
            <a:pPr>
              <a:defRPr/>
            </a:pPr>
            <a:fld id="{BF285564-E1E5-4525-BB6A-2AFE653BA515}" type="slidenum">
              <a:rPr lang="en-US" smtClean="0"/>
              <a:pPr>
                <a:defRPr/>
              </a:pPr>
              <a:t>31</a:t>
            </a:fld>
            <a:endParaRPr lang="en-US" dirty="0"/>
          </a:p>
        </p:txBody>
      </p:sp>
    </p:spTree>
    <p:extLst>
      <p:ext uri="{BB962C8B-B14F-4D97-AF65-F5344CB8AC3E}">
        <p14:creationId xmlns:p14="http://schemas.microsoft.com/office/powerpoint/2010/main" val="3973006080"/>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196"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3: </a:t>
            </a:r>
            <a:r>
              <a:rPr lang="en-US" sz="2400" b="1" dirty="0"/>
              <a:t>SPG</a:t>
            </a:r>
          </a:p>
        </p:txBody>
      </p:sp>
      <p:pic>
        <p:nvPicPr>
          <p:cNvPr id="8" name="Picture 7"/>
          <p:cNvPicPr>
            <a:picLocks noChangeAspect="1"/>
          </p:cNvPicPr>
          <p:nvPr/>
        </p:nvPicPr>
        <p:blipFill rotWithShape="1">
          <a:blip r:embed="rId3">
            <a:duotone>
              <a:schemeClr val="accent5">
                <a:shade val="45000"/>
                <a:satMod val="135000"/>
              </a:schemeClr>
              <a:prstClr val="white"/>
            </a:duotone>
          </a:blip>
          <a:srcRect t="17775"/>
          <a:stretch/>
        </p:blipFill>
        <p:spPr>
          <a:xfrm>
            <a:off x="876300" y="1447800"/>
            <a:ext cx="7655808" cy="4721225"/>
          </a:xfrm>
          <a:prstGeom prst="rect">
            <a:avLst/>
          </a:prstGeom>
          <a:effectLst>
            <a:softEdge rad="127000"/>
          </a:effectLst>
        </p:spPr>
      </p:pic>
      <p:sp>
        <p:nvSpPr>
          <p:cNvPr id="7" name="Rectangle 6"/>
          <p:cNvSpPr/>
          <p:nvPr/>
        </p:nvSpPr>
        <p:spPr>
          <a:xfrm>
            <a:off x="2241550" y="2359025"/>
            <a:ext cx="2209800" cy="2503488"/>
          </a:xfrm>
          <a:prstGeom prst="rect">
            <a:avLst/>
          </a:prstGeom>
        </p:spPr>
        <p:style>
          <a:lnRef idx="2">
            <a:schemeClr val="dk1"/>
          </a:lnRef>
          <a:fillRef idx="1">
            <a:schemeClr val="lt1"/>
          </a:fillRef>
          <a:effectRef idx="0">
            <a:schemeClr val="dk1"/>
          </a:effectRef>
          <a:fontRef idx="minor">
            <a:schemeClr val="dk1"/>
          </a:fontRef>
        </p:style>
        <p:txBody>
          <a:bodyPr/>
          <a:lstStyle/>
          <a:p>
            <a:pPr algn="ctr" eaLnBrk="1" hangingPunct="1">
              <a:defRPr/>
            </a:pPr>
            <a:r>
              <a:rPr lang="en-US" sz="1200" dirty="0"/>
              <a:t>Start Here</a:t>
            </a:r>
          </a:p>
          <a:p>
            <a:pPr marL="171450" indent="-171450" algn="ctr" eaLnBrk="1" hangingPunct="1">
              <a:buFont typeface="Arial" panose="020B0604020202020204" pitchFamily="34" charset="0"/>
              <a:buChar char="•"/>
              <a:defRPr/>
            </a:pPr>
            <a:endParaRPr lang="en-US" sz="1200" dirty="0"/>
          </a:p>
          <a:p>
            <a:pPr marL="171450" indent="-171450" eaLnBrk="1" hangingPunct="1">
              <a:buFont typeface="Arial" panose="020B0604020202020204" pitchFamily="34" charset="0"/>
              <a:buChar char="•"/>
              <a:defRPr/>
            </a:pPr>
            <a:r>
              <a:rPr lang="en-US" sz="1200" dirty="0"/>
              <a:t>Map provides “base rates/spend”</a:t>
            </a:r>
          </a:p>
          <a:p>
            <a:pPr marL="171450" indent="-171450" eaLnBrk="1" hangingPunct="1">
              <a:buFont typeface="Arial" panose="020B0604020202020204" pitchFamily="34" charset="0"/>
              <a:buChar char="•"/>
              <a:defRPr/>
            </a:pPr>
            <a:r>
              <a:rPr lang="en-US" sz="1200" dirty="0"/>
              <a:t>Candidate </a:t>
            </a:r>
            <a:r>
              <a:rPr lang="en-US" sz="1200" dirty="0" smtClean="0"/>
              <a:t>may </a:t>
            </a:r>
            <a:r>
              <a:rPr lang="en-US" sz="1200" dirty="0"/>
              <a:t>use the information in the other boxes to calculate revenue</a:t>
            </a:r>
          </a:p>
          <a:p>
            <a:pPr marL="171450" indent="-171450" eaLnBrk="1" hangingPunct="1">
              <a:buFont typeface="Arial" panose="020B0604020202020204" pitchFamily="34" charset="0"/>
              <a:buChar char="•"/>
              <a:defRPr/>
            </a:pPr>
            <a:r>
              <a:rPr lang="en-US" sz="1200" dirty="0"/>
              <a:t>The circled information is required. Other is meant to complicate calculations or not relevant.  </a:t>
            </a:r>
          </a:p>
        </p:txBody>
      </p:sp>
      <p:sp>
        <p:nvSpPr>
          <p:cNvPr id="9" name="Oval 8"/>
          <p:cNvSpPr/>
          <p:nvPr/>
        </p:nvSpPr>
        <p:spPr>
          <a:xfrm>
            <a:off x="5181600" y="2170113"/>
            <a:ext cx="3505200" cy="53498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0" name="Oval 9"/>
          <p:cNvSpPr/>
          <p:nvPr/>
        </p:nvSpPr>
        <p:spPr>
          <a:xfrm>
            <a:off x="5181600" y="4087813"/>
            <a:ext cx="1362075" cy="53498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1" name="Oval 10"/>
          <p:cNvSpPr/>
          <p:nvPr/>
        </p:nvSpPr>
        <p:spPr>
          <a:xfrm>
            <a:off x="5259388" y="4503738"/>
            <a:ext cx="1360487" cy="53657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2" name="Oval 11"/>
          <p:cNvSpPr/>
          <p:nvPr/>
        </p:nvSpPr>
        <p:spPr>
          <a:xfrm>
            <a:off x="7151688" y="3633788"/>
            <a:ext cx="1362075" cy="53498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3" name="Oval 12"/>
          <p:cNvSpPr/>
          <p:nvPr/>
        </p:nvSpPr>
        <p:spPr>
          <a:xfrm>
            <a:off x="7229475" y="4116388"/>
            <a:ext cx="1360488" cy="53498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4" name="Oval 13"/>
          <p:cNvSpPr/>
          <p:nvPr/>
        </p:nvSpPr>
        <p:spPr>
          <a:xfrm>
            <a:off x="688975" y="5781675"/>
            <a:ext cx="7143750" cy="37465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5" name="TextBox 1"/>
          <p:cNvSpPr txBox="1">
            <a:spLocks noChangeArrowheads="1"/>
          </p:cNvSpPr>
          <p:nvPr/>
        </p:nvSpPr>
        <p:spPr bwMode="auto">
          <a:xfrm>
            <a:off x="1364672" y="1021475"/>
            <a:ext cx="68718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a:t>
            </a:r>
            <a:r>
              <a:rPr lang="en-US" sz="1800" b="1" dirty="0" smtClean="0"/>
              <a:t>2: GUIDANCE</a:t>
            </a:r>
            <a:endParaRPr lang="en-US" sz="1800" b="1" dirty="0"/>
          </a:p>
        </p:txBody>
      </p:sp>
      <p:sp>
        <p:nvSpPr>
          <p:cNvPr id="2" name="Slide Number Placeholder 1"/>
          <p:cNvSpPr>
            <a:spLocks noGrp="1"/>
          </p:cNvSpPr>
          <p:nvPr>
            <p:ph type="sldNum" sz="quarter" idx="11"/>
          </p:nvPr>
        </p:nvSpPr>
        <p:spPr/>
        <p:txBody>
          <a:bodyPr/>
          <a:lstStyle/>
          <a:p>
            <a:pPr>
              <a:defRPr/>
            </a:pPr>
            <a:fld id="{BF285564-E1E5-4525-BB6A-2AFE653BA515}" type="slidenum">
              <a:rPr lang="en-US" smtClean="0"/>
              <a:pPr>
                <a:defRPr/>
              </a:pPr>
              <a:t>32</a:t>
            </a:fld>
            <a:endParaRPr lang="en-US" dirty="0"/>
          </a:p>
        </p:txBody>
      </p:sp>
    </p:spTree>
    <p:extLst>
      <p:ext uri="{BB962C8B-B14F-4D97-AF65-F5344CB8AC3E}">
        <p14:creationId xmlns:p14="http://schemas.microsoft.com/office/powerpoint/2010/main" val="1566111901"/>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220"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3: </a:t>
            </a:r>
            <a:r>
              <a:rPr lang="en-US" sz="2400" b="1" dirty="0"/>
              <a:t>SPG</a:t>
            </a:r>
          </a:p>
        </p:txBody>
      </p:sp>
      <p:graphicFrame>
        <p:nvGraphicFramePr>
          <p:cNvPr id="6" name="Table 5"/>
          <p:cNvGraphicFramePr>
            <a:graphicFrameLocks noGrp="1"/>
          </p:cNvGraphicFramePr>
          <p:nvPr/>
        </p:nvGraphicFramePr>
        <p:xfrm>
          <a:off x="1066800" y="1531938"/>
          <a:ext cx="6705601" cy="3619500"/>
        </p:xfrm>
        <a:graphic>
          <a:graphicData uri="http://schemas.openxmlformats.org/drawingml/2006/table">
            <a:tbl>
              <a:tblPr>
                <a:tableStyleId>{5C22544A-7EE6-4342-B048-85BDC9FD1C3A}</a:tableStyleId>
              </a:tblPr>
              <a:tblGrid>
                <a:gridCol w="2507785"/>
                <a:gridCol w="1049454"/>
                <a:gridCol w="1049454"/>
                <a:gridCol w="1049454"/>
                <a:gridCol w="1049454"/>
              </a:tblGrid>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gridSpan="4">
                  <a:txBody>
                    <a:bodyPr/>
                    <a:lstStyle/>
                    <a:p>
                      <a:pPr algn="ctr" fontAlgn="b"/>
                      <a:r>
                        <a:rPr lang="en-US" sz="1100" u="none" strike="noStrike">
                          <a:effectLst/>
                        </a:rPr>
                        <a:t>Location/Site</a:t>
                      </a:r>
                      <a:endParaRPr lang="en-US" sz="1100" b="1" i="0" u="none" strike="noStrike">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u="sng" strike="noStrike">
                          <a:effectLst/>
                        </a:rPr>
                        <a:t>1</a:t>
                      </a:r>
                      <a:endParaRPr lang="en-US" sz="1100" b="0" i="0" u="sng"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u="sng" strike="noStrike">
                          <a:effectLst/>
                        </a:rPr>
                        <a:t>2</a:t>
                      </a:r>
                      <a:endParaRPr lang="en-US" sz="1100" b="0" i="0" u="sng"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u="sng" strike="noStrike">
                          <a:effectLst/>
                        </a:rPr>
                        <a:t>3</a:t>
                      </a:r>
                      <a:endParaRPr lang="en-US" sz="1100" b="0" i="0" u="sng"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u="sng" strike="noStrike">
                          <a:effectLst/>
                        </a:rPr>
                        <a:t>4</a:t>
                      </a:r>
                      <a:endParaRPr lang="en-US" sz="1100" b="0" i="0" u="sng"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sng" strike="noStrike">
                          <a:effectLst/>
                        </a:rPr>
                        <a:t>Room</a:t>
                      </a:r>
                      <a:endParaRPr lang="en-US" sz="1100" b="0" i="0" u="sng"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a:effectLst/>
                        </a:rPr>
                        <a:t>Base</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250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300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100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350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a:effectLst/>
                        </a:rPr>
                        <a:t>Luxury Bonus (50%)</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125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150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175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a:effectLst/>
                        </a:rPr>
                        <a:t>Effective Rate</a:t>
                      </a:r>
                      <a:endParaRPr lang="en-US" sz="1100" b="1"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375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450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150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525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sng" strike="noStrike">
                          <a:effectLst/>
                        </a:rPr>
                        <a:t>Daily Spend</a:t>
                      </a:r>
                      <a:endParaRPr lang="en-US" sz="1100" b="0" i="0" u="sng"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a:effectLst/>
                        </a:rPr>
                        <a:t>Base</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100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25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150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a:effectLst/>
                        </a:rPr>
                        <a:t>Luxury Bonus (100%)</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100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25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150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a:effectLst/>
                        </a:rPr>
                        <a:t>Effective Rate</a:t>
                      </a:r>
                      <a:endParaRPr lang="en-US" sz="1100" b="1"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100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200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300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a:effectLst/>
                        </a:rPr>
                        <a:t>Total spend</a:t>
                      </a:r>
                      <a:endParaRPr lang="en-US" sz="1100" b="1"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475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650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200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825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a:effectLst/>
                        </a:rPr>
                        <a:t>Occupancy</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0.75</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0.5</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0.8</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dirty="0">
                          <a:effectLst/>
                        </a:rPr>
                        <a:t>Cannibalization Penalty (x.5)</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no</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no</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no</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yes</a:t>
                      </a:r>
                      <a:endParaRPr lang="en-US" sz="1100" b="1"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a:effectLst/>
                        </a:rPr>
                        <a:t>Effective Occupancy</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0.75</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0.5</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r" fontAlgn="b"/>
                      <a:r>
                        <a:rPr lang="en-US" sz="1100" u="none" strike="noStrike">
                          <a:effectLst/>
                        </a:rPr>
                        <a:t>0.4</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r>
              <a:tr h="190500">
                <a:tc>
                  <a:txBody>
                    <a:bodyPr/>
                    <a:lstStyle/>
                    <a:p>
                      <a:pPr algn="l" fontAlgn="b"/>
                      <a:r>
                        <a:rPr lang="en-US" sz="1100" u="none" strike="noStrike">
                          <a:effectLst/>
                        </a:rPr>
                        <a:t>Spend per day</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356.25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325.00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a:effectLst/>
                        </a:rPr>
                        <a:t> $      200.00 </a:t>
                      </a:r>
                      <a:endParaRPr lang="en-US" sz="11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r>
                        <a:rPr lang="en-US" sz="1100" u="none" strike="noStrike" dirty="0">
                          <a:effectLst/>
                        </a:rPr>
                        <a:t> $      330.00 </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r>
            </a:tbl>
          </a:graphicData>
        </a:graphic>
      </p:graphicFrame>
      <p:sp>
        <p:nvSpPr>
          <p:cNvPr id="7" name="TextBox 1"/>
          <p:cNvSpPr txBox="1">
            <a:spLocks noChangeArrowheads="1"/>
          </p:cNvSpPr>
          <p:nvPr/>
        </p:nvSpPr>
        <p:spPr bwMode="auto">
          <a:xfrm>
            <a:off x="1364672" y="979910"/>
            <a:ext cx="68718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3</a:t>
            </a:r>
            <a:r>
              <a:rPr lang="en-US" sz="1800" b="1" dirty="0" smtClean="0"/>
              <a:t>: GUIDANCE - Calculations</a:t>
            </a:r>
            <a:endParaRPr lang="en-US" sz="1800" b="1" dirty="0"/>
          </a:p>
        </p:txBody>
      </p:sp>
      <p:sp>
        <p:nvSpPr>
          <p:cNvPr id="2" name="Slide Number Placeholder 1"/>
          <p:cNvSpPr>
            <a:spLocks noGrp="1"/>
          </p:cNvSpPr>
          <p:nvPr>
            <p:ph type="sldNum" sz="quarter" idx="11"/>
          </p:nvPr>
        </p:nvSpPr>
        <p:spPr/>
        <p:txBody>
          <a:bodyPr/>
          <a:lstStyle/>
          <a:p>
            <a:pPr>
              <a:defRPr/>
            </a:pPr>
            <a:fld id="{BF285564-E1E5-4525-BB6A-2AFE653BA515}" type="slidenum">
              <a:rPr lang="en-US" smtClean="0"/>
              <a:pPr>
                <a:defRPr/>
              </a:pPr>
              <a:t>33</a:t>
            </a:fld>
            <a:endParaRPr lang="en-US" dirty="0"/>
          </a:p>
        </p:txBody>
      </p:sp>
    </p:spTree>
    <p:extLst>
      <p:ext uri="{BB962C8B-B14F-4D97-AF65-F5344CB8AC3E}">
        <p14:creationId xmlns:p14="http://schemas.microsoft.com/office/powerpoint/2010/main" val="1956732433"/>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689957905"/>
              </p:ext>
            </p:extLst>
          </p:nvPr>
        </p:nvGraphicFramePr>
        <p:xfrm>
          <a:off x="228600" y="1298575"/>
          <a:ext cx="8534400" cy="4023291"/>
        </p:xfrm>
        <a:graphic>
          <a:graphicData uri="http://schemas.openxmlformats.org/drawingml/2006/table">
            <a:tbl>
              <a:tblPr firstRow="1" bandRow="1">
                <a:tableStyleId>{616DA210-FB5B-4158-B5E0-FEB733F419BA}</a:tableStyleId>
              </a:tblPr>
              <a:tblGrid>
                <a:gridCol w="1600200"/>
                <a:gridCol w="6934200"/>
              </a:tblGrid>
              <a:tr h="822850">
                <a:tc>
                  <a:txBody>
                    <a:bodyPr/>
                    <a:lstStyle/>
                    <a:p>
                      <a:pPr algn="ctr"/>
                      <a:r>
                        <a:rPr lang="en-US" sz="1800" b="1" i="0" kern="1200" dirty="0" smtClean="0">
                          <a:solidFill>
                            <a:schemeClr val="tx1"/>
                          </a:solidFill>
                          <a:latin typeface="+mn-lt"/>
                          <a:ea typeface="+mn-ea"/>
                          <a:cs typeface="+mn-cs"/>
                        </a:rPr>
                        <a:t>Prompt</a:t>
                      </a:r>
                      <a:r>
                        <a:rPr lang="en-US" sz="1800" b="1" i="0" kern="1200" baseline="0" dirty="0" smtClean="0">
                          <a:solidFill>
                            <a:schemeClr val="tx1"/>
                          </a:solidFill>
                          <a:latin typeface="+mn-lt"/>
                          <a:ea typeface="+mn-ea"/>
                          <a:cs typeface="+mn-cs"/>
                        </a:rPr>
                        <a:t> #3</a:t>
                      </a:r>
                      <a:endParaRPr lang="en-US" sz="1800" b="1" i="0" kern="1200" dirty="0">
                        <a:solidFill>
                          <a:schemeClr val="tx1"/>
                        </a:solidFill>
                        <a:latin typeface="+mn-lt"/>
                        <a:ea typeface="+mn-ea"/>
                        <a:cs typeface="+mn-cs"/>
                      </a:endParaRPr>
                    </a:p>
                  </a:txBody>
                  <a:tcPr marT="45703" marB="45703" anchor="ctr">
                    <a:solidFill>
                      <a:schemeClr val="bg1">
                        <a:alpha val="20000"/>
                      </a:schemeClr>
                    </a:solidFill>
                  </a:tcPr>
                </a:tc>
                <a:tc>
                  <a:txBody>
                    <a:bodyPr/>
                    <a:lstStyle/>
                    <a:p>
                      <a:pPr marL="0" indent="0">
                        <a:buFont typeface="Arial" panose="020B0604020202020204" pitchFamily="34" charset="0"/>
                        <a:buNone/>
                      </a:pPr>
                      <a:r>
                        <a:rPr lang="en-US" sz="1200" b="1" i="0" kern="1200" baseline="0" dirty="0" smtClean="0">
                          <a:solidFill>
                            <a:schemeClr val="tx1"/>
                          </a:solidFill>
                          <a:latin typeface="+mj-lt"/>
                          <a:ea typeface="+mn-ea"/>
                          <a:cs typeface="+mn-cs"/>
                        </a:rPr>
                        <a:t>What else should the client consider?  (This is about risks)</a:t>
                      </a:r>
                    </a:p>
                    <a:p>
                      <a:pPr marL="0" indent="0">
                        <a:buFont typeface="Arial" panose="020B0604020202020204" pitchFamily="34" charset="0"/>
                        <a:buNone/>
                      </a:pPr>
                      <a:endParaRPr lang="en-US" sz="1200" b="1" i="0" kern="1200" baseline="0" dirty="0" smtClean="0">
                        <a:solidFill>
                          <a:schemeClr val="tx1"/>
                        </a:solidFill>
                        <a:latin typeface="+mj-lt"/>
                        <a:ea typeface="+mn-ea"/>
                        <a:cs typeface="+mn-cs"/>
                      </a:endParaRPr>
                    </a:p>
                    <a:p>
                      <a:pPr marL="0" indent="0">
                        <a:buFont typeface="Arial" panose="020B0604020202020204" pitchFamily="34" charset="0"/>
                        <a:buNone/>
                      </a:pPr>
                      <a:r>
                        <a:rPr lang="en-US" sz="1200" b="0" i="0" kern="1200" baseline="0" dirty="0" smtClean="0">
                          <a:solidFill>
                            <a:schemeClr val="tx1"/>
                          </a:solidFill>
                          <a:latin typeface="+mj-lt"/>
                          <a:ea typeface="+mn-ea"/>
                          <a:cs typeface="+mn-cs"/>
                        </a:rPr>
                        <a:t>The candidate should </a:t>
                      </a:r>
                      <a:r>
                        <a:rPr lang="en-US" sz="1200" b="0" i="0" u="sng" kern="1200" baseline="0" dirty="0" smtClean="0">
                          <a:solidFill>
                            <a:schemeClr val="tx1"/>
                          </a:solidFill>
                          <a:latin typeface="+mj-lt"/>
                          <a:ea typeface="+mn-ea"/>
                          <a:cs typeface="+mn-cs"/>
                        </a:rPr>
                        <a:t>briefly</a:t>
                      </a:r>
                      <a:r>
                        <a:rPr lang="en-US" sz="1200" b="0" i="0" u="none" kern="1200" baseline="0" dirty="0" smtClean="0">
                          <a:solidFill>
                            <a:schemeClr val="tx1"/>
                          </a:solidFill>
                          <a:latin typeface="+mj-lt"/>
                          <a:ea typeface="+mn-ea"/>
                          <a:cs typeface="+mn-cs"/>
                        </a:rPr>
                        <a:t> outline some risks. Then suggest a recommendation.</a:t>
                      </a:r>
                    </a:p>
                    <a:p>
                      <a:pPr marL="0" indent="0">
                        <a:buFont typeface="Arial" panose="020B0604020202020204" pitchFamily="34" charset="0"/>
                        <a:buNone/>
                      </a:pPr>
                      <a:r>
                        <a:rPr lang="en-US" sz="1200" b="0" i="0" u="none" kern="1200" baseline="0" dirty="0" smtClean="0">
                          <a:solidFill>
                            <a:schemeClr val="tx1"/>
                          </a:solidFill>
                          <a:latin typeface="+mj-lt"/>
                          <a:ea typeface="+mn-ea"/>
                          <a:cs typeface="+mn-cs"/>
                        </a:rPr>
                        <a:t>If the candidate does not mention risks, suggest a recommendation. </a:t>
                      </a:r>
                      <a:endParaRPr lang="en-US" sz="1200" b="0" i="1" kern="1200" baseline="0" dirty="0" smtClean="0">
                        <a:solidFill>
                          <a:schemeClr val="tx1"/>
                        </a:solidFill>
                        <a:latin typeface="+mj-lt"/>
                        <a:ea typeface="+mn-ea"/>
                        <a:cs typeface="+mn-cs"/>
                      </a:endParaRPr>
                    </a:p>
                  </a:txBody>
                  <a:tcPr marT="45703" marB="45703">
                    <a:solidFill>
                      <a:schemeClr val="bg1">
                        <a:alpha val="20000"/>
                      </a:schemeClr>
                    </a:solidFill>
                  </a:tcPr>
                </a:tc>
              </a:tr>
              <a:tr h="3017181">
                <a:tc>
                  <a:txBody>
                    <a:bodyPr/>
                    <a:lstStyle/>
                    <a:p>
                      <a:pPr algn="ctr"/>
                      <a:r>
                        <a:rPr lang="en-US" sz="1800" b="1" dirty="0" smtClean="0"/>
                        <a:t>Performance Evaluation</a:t>
                      </a:r>
                      <a:endParaRPr lang="en-US" sz="1000" b="1" i="0" dirty="0"/>
                    </a:p>
                  </a:txBody>
                  <a:tcPr marT="45703" marB="45703" anchor="ctr">
                    <a:solidFill>
                      <a:schemeClr val="bg1">
                        <a:lumMod val="75000"/>
                      </a:schemeClr>
                    </a:solidFill>
                  </a:tcPr>
                </a:tc>
                <a:tc>
                  <a:txBody>
                    <a:bodyPr/>
                    <a:lstStyle/>
                    <a:p>
                      <a:r>
                        <a:rPr lang="en-US" sz="1200" b="1" kern="1200" dirty="0" smtClean="0"/>
                        <a:t>Expected</a:t>
                      </a:r>
                      <a:r>
                        <a:rPr lang="en-US" sz="1200" kern="1200" dirty="0" smtClean="0"/>
                        <a:t>:</a:t>
                      </a:r>
                      <a:endParaRPr lang="en-US" sz="1200" kern="1200" baseline="0" dirty="0" smtClean="0"/>
                    </a:p>
                    <a:p>
                      <a:pPr marL="171450" indent="-171450">
                        <a:buFont typeface="Arial" panose="020B0604020202020204" pitchFamily="34" charset="0"/>
                        <a:buChar char="•"/>
                      </a:pPr>
                      <a:r>
                        <a:rPr lang="en-US" sz="1200" kern="1200" baseline="0" dirty="0" smtClean="0"/>
                        <a:t>The candidate focuses on revenue</a:t>
                      </a:r>
                    </a:p>
                    <a:p>
                      <a:pPr marL="171450" indent="-171450">
                        <a:buFont typeface="Arial" panose="020B0604020202020204" pitchFamily="34" charset="0"/>
                        <a:buChar char="•"/>
                      </a:pPr>
                      <a:r>
                        <a:rPr lang="en-US" sz="1200" kern="1200" baseline="0" dirty="0" smtClean="0"/>
                        <a:t>The candidate engages the interviewer while calculating revenue, talking through the thought process and findings</a:t>
                      </a:r>
                    </a:p>
                    <a:p>
                      <a:pPr marL="0" indent="0">
                        <a:buFont typeface="Arial" panose="020B0604020202020204" pitchFamily="34" charset="0"/>
                        <a:buNone/>
                      </a:pPr>
                      <a:endParaRPr lang="en-US" sz="1200" kern="1200" baseline="0" dirty="0" smtClean="0"/>
                    </a:p>
                    <a:p>
                      <a:r>
                        <a:rPr lang="en-US" sz="1200" b="1" kern="1200" baseline="0" dirty="0" smtClean="0"/>
                        <a:t>Good</a:t>
                      </a:r>
                      <a:r>
                        <a:rPr lang="en-US" sz="1200" kern="1200" baseline="0" dirty="0" smtClean="0"/>
                        <a:t>:</a:t>
                      </a:r>
                    </a:p>
                    <a:p>
                      <a:pPr marL="171450" indent="-171450">
                        <a:buFont typeface="Arial" panose="020B0604020202020204" pitchFamily="34" charset="0"/>
                        <a:buChar char="•"/>
                      </a:pPr>
                      <a:r>
                        <a:rPr lang="en-US" sz="1200" kern="1200" baseline="0" dirty="0" smtClean="0"/>
                        <a:t>The candidate demonstrates structured thinking throughout the case (prompt, brainstorming, and analysis/ calculations)</a:t>
                      </a:r>
                    </a:p>
                    <a:p>
                      <a:pPr marL="171450" indent="-171450">
                        <a:buFont typeface="Arial" panose="020B0604020202020204" pitchFamily="34" charset="0"/>
                        <a:buChar char="•"/>
                      </a:pPr>
                      <a:r>
                        <a:rPr lang="en-US" sz="1200" kern="1200" baseline="0" dirty="0" smtClean="0"/>
                        <a:t>Even though the prompt asks for the daily average, a strong candidate will perform rough calculations to synthesize a “so what” (i.e. annualize the calculations)</a:t>
                      </a:r>
                    </a:p>
                    <a:p>
                      <a:pPr marL="171450" indent="-171450">
                        <a:buFont typeface="Arial" panose="020B0604020202020204" pitchFamily="34" charset="0"/>
                        <a:buChar char="•"/>
                      </a:pPr>
                      <a:r>
                        <a:rPr lang="en-US" sz="1200" kern="1200" baseline="0" dirty="0" smtClean="0"/>
                        <a:t>Candidate performs calculations accurately with little help</a:t>
                      </a:r>
                    </a:p>
                    <a:p>
                      <a:pPr marL="171450" indent="-171450">
                        <a:buFont typeface="Arial" panose="020B0604020202020204" pitchFamily="34" charset="0"/>
                        <a:buChar char="•"/>
                      </a:pPr>
                      <a:r>
                        <a:rPr lang="en-US" sz="1200" kern="1200" baseline="0" dirty="0" smtClean="0"/>
                        <a:t>The candidate drives the case requiring very little interviewer prompting</a:t>
                      </a:r>
                    </a:p>
                    <a:p>
                      <a:pPr marL="171450" indent="-171450">
                        <a:buFont typeface="Arial" panose="020B0604020202020204" pitchFamily="34" charset="0"/>
                        <a:buChar char="•"/>
                      </a:pPr>
                      <a:endParaRPr lang="en-US" sz="1200" kern="1200" baseline="0" dirty="0" smtClean="0"/>
                    </a:p>
                    <a:p>
                      <a:r>
                        <a:rPr lang="en-US" sz="1200" b="1" kern="1200" baseline="0" dirty="0" smtClean="0"/>
                        <a:t>Excellent</a:t>
                      </a:r>
                      <a:r>
                        <a:rPr lang="en-US" sz="1200" kern="1200" baseline="0" dirty="0" smtClean="0"/>
                        <a:t>:</a:t>
                      </a:r>
                    </a:p>
                    <a:p>
                      <a:pPr marL="171450" indent="-171450" algn="l" defTabSz="457200" rtl="0" eaLnBrk="1" latinLnBrk="0" hangingPunct="1">
                        <a:buFont typeface="Arial" panose="020B0604020202020204" pitchFamily="34" charset="0"/>
                        <a:buChar char="•"/>
                      </a:pPr>
                      <a:r>
                        <a:rPr lang="en-US" sz="1200" kern="1200" baseline="0" dirty="0" smtClean="0">
                          <a:solidFill>
                            <a:schemeClr val="tx1"/>
                          </a:solidFill>
                          <a:latin typeface="+mn-lt"/>
                          <a:ea typeface="+mn-ea"/>
                          <a:cs typeface="+mn-cs"/>
                        </a:rPr>
                        <a:t>The candidate shows confidence and creativity throughout the case</a:t>
                      </a:r>
                      <a:r>
                        <a:rPr lang="en-US" sz="1200" kern="1200" baseline="0" dirty="0">
                          <a:solidFill>
                            <a:schemeClr val="tx1"/>
                          </a:solidFill>
                          <a:latin typeface="+mn-lt"/>
                          <a:ea typeface="+mn-ea"/>
                          <a:cs typeface="+mn-cs"/>
                        </a:rPr>
                        <a:t> </a:t>
                      </a:r>
                      <a:r>
                        <a:rPr lang="en-US" sz="1200" kern="1200" baseline="0" dirty="0" smtClean="0">
                          <a:solidFill>
                            <a:schemeClr val="tx1"/>
                          </a:solidFill>
                          <a:latin typeface="+mn-lt"/>
                          <a:ea typeface="+mn-ea"/>
                          <a:cs typeface="+mn-cs"/>
                        </a:rPr>
                        <a:t>(Framework, Brainstorming, Risks)</a:t>
                      </a:r>
                    </a:p>
                    <a:p>
                      <a:pPr marL="171450" indent="-171450" algn="l" defTabSz="457200" rtl="0" eaLnBrk="1" latinLnBrk="0" hangingPunct="1">
                        <a:buFont typeface="Arial" panose="020B0604020202020204" pitchFamily="34" charset="0"/>
                        <a:buChar char="•"/>
                      </a:pPr>
                      <a:r>
                        <a:rPr lang="en-US" sz="1200" kern="1200" baseline="0" dirty="0" smtClean="0">
                          <a:solidFill>
                            <a:schemeClr val="tx1"/>
                          </a:solidFill>
                          <a:latin typeface="+mn-lt"/>
                          <a:ea typeface="+mn-ea"/>
                          <a:cs typeface="+mn-cs"/>
                        </a:rPr>
                        <a:t>The candidate quickly and accurately performs calculations with no help from interviewer</a:t>
                      </a:r>
                    </a:p>
                  </a:txBody>
                  <a:tcPr marT="45703" marB="45703">
                    <a:solidFill>
                      <a:schemeClr val="bg1">
                        <a:lumMod val="75000"/>
                      </a:schemeClr>
                    </a:solidFill>
                  </a:tcPr>
                </a:tc>
              </a:tr>
            </a:tbl>
          </a:graphicData>
        </a:graphic>
      </p:graphicFrame>
      <p:pic>
        <p:nvPicPr>
          <p:cNvPr id="616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162"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3: </a:t>
            </a:r>
            <a:r>
              <a:rPr lang="en-US" sz="2400" b="1" dirty="0"/>
              <a:t>SPG</a:t>
            </a:r>
          </a:p>
        </p:txBody>
      </p:sp>
      <p:sp>
        <p:nvSpPr>
          <p:cNvPr id="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34</a:t>
            </a:fld>
            <a:endParaRPr lang="en-US" dirty="0"/>
          </a:p>
        </p:txBody>
      </p:sp>
    </p:spTree>
    <p:extLst>
      <p:ext uri="{BB962C8B-B14F-4D97-AF65-F5344CB8AC3E}">
        <p14:creationId xmlns:p14="http://schemas.microsoft.com/office/powerpoint/2010/main" val="2339721767"/>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35</a:t>
            </a:fld>
            <a:endParaRPr lang="en-US" dirty="0"/>
          </a:p>
        </p:txBody>
      </p:sp>
    </p:spTree>
    <p:extLst>
      <p:ext uri="{BB962C8B-B14F-4D97-AF65-F5344CB8AC3E}">
        <p14:creationId xmlns:p14="http://schemas.microsoft.com/office/powerpoint/2010/main" val="2164060754"/>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7" name="TextBox 8"/>
          <p:cNvSpPr txBox="1">
            <a:spLocks noChangeArrowheads="1"/>
          </p:cNvSpPr>
          <p:nvPr/>
        </p:nvSpPr>
        <p:spPr bwMode="auto">
          <a:xfrm>
            <a:off x="7162800" y="990600"/>
            <a:ext cx="1752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3078"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400" b="1" dirty="0" smtClean="0"/>
              <a:t>Case 4: Mexican </a:t>
            </a:r>
            <a:r>
              <a:rPr lang="en-US" sz="2400" b="1" dirty="0"/>
              <a:t>Tile Company</a:t>
            </a:r>
          </a:p>
        </p:txBody>
      </p:sp>
      <p:graphicFrame>
        <p:nvGraphicFramePr>
          <p:cNvPr id="12" name="Table 11"/>
          <p:cNvGraphicFramePr>
            <a:graphicFrameLocks noGrp="1"/>
          </p:cNvGraphicFramePr>
          <p:nvPr>
            <p:extLst>
              <p:ext uri="{D42A27DB-BD31-4B8C-83A1-F6EECF244321}">
                <p14:modId xmlns:p14="http://schemas.microsoft.com/office/powerpoint/2010/main" val="3498436840"/>
              </p:ext>
            </p:extLst>
          </p:nvPr>
        </p:nvGraphicFramePr>
        <p:xfrm>
          <a:off x="304800" y="1295400"/>
          <a:ext cx="8534400" cy="5303450"/>
        </p:xfrm>
        <a:graphic>
          <a:graphicData uri="http://schemas.openxmlformats.org/drawingml/2006/table">
            <a:tbl>
              <a:tblPr firstRow="1" bandRow="1">
                <a:tableStyleId>{616DA210-FB5B-4158-B5E0-FEB733F419BA}</a:tableStyleId>
              </a:tblPr>
              <a:tblGrid>
                <a:gridCol w="1600200"/>
                <a:gridCol w="6934200"/>
              </a:tblGrid>
              <a:tr h="1371517">
                <a:tc>
                  <a:txBody>
                    <a:bodyPr/>
                    <a:lstStyle/>
                    <a:p>
                      <a:pPr algn="ctr"/>
                      <a:r>
                        <a:rPr lang="en-US" sz="1800" dirty="0" smtClean="0"/>
                        <a:t>Prompt #1</a:t>
                      </a:r>
                      <a:endParaRPr lang="en-US" sz="1800" dirty="0"/>
                    </a:p>
                  </a:txBody>
                  <a:tcPr marT="45727" marB="45727" anchor="ctr"/>
                </a:tc>
                <a:tc>
                  <a:txBody>
                    <a:bodyPr/>
                    <a:lstStyle/>
                    <a:p>
                      <a:r>
                        <a:rPr lang="en-US" sz="1200" b="0" i="0" kern="1200" dirty="0" smtClean="0">
                          <a:solidFill>
                            <a:schemeClr val="tx1"/>
                          </a:solidFill>
                          <a:latin typeface="+mj-lt"/>
                          <a:ea typeface="+mn-ea"/>
                          <a:cs typeface="+mn-cs"/>
                        </a:rPr>
                        <a:t>A</a:t>
                      </a:r>
                      <a:r>
                        <a:rPr lang="en-US" sz="1200" b="0" i="0" kern="1200" baseline="0" dirty="0" smtClean="0">
                          <a:solidFill>
                            <a:schemeClr val="tx1"/>
                          </a:solidFill>
                          <a:latin typeface="+mj-lt"/>
                          <a:ea typeface="+mn-ea"/>
                          <a:cs typeface="+mn-cs"/>
                        </a:rPr>
                        <a:t> l</a:t>
                      </a:r>
                      <a:r>
                        <a:rPr lang="en-US" sz="1200" b="0" i="0" kern="1200" dirty="0" smtClean="0">
                          <a:solidFill>
                            <a:schemeClr val="tx1"/>
                          </a:solidFill>
                          <a:latin typeface="+mj-lt"/>
                          <a:ea typeface="+mn-ea"/>
                          <a:cs typeface="+mn-cs"/>
                        </a:rPr>
                        <a:t>arge,</a:t>
                      </a:r>
                      <a:r>
                        <a:rPr lang="en-US" sz="1200" b="0" i="0" kern="1200" baseline="0" dirty="0" smtClean="0">
                          <a:solidFill>
                            <a:schemeClr val="tx1"/>
                          </a:solidFill>
                          <a:latin typeface="+mj-lt"/>
                          <a:ea typeface="+mn-ea"/>
                          <a:cs typeface="+mn-cs"/>
                        </a:rPr>
                        <a:t> </a:t>
                      </a:r>
                      <a:r>
                        <a:rPr lang="en-US" sz="1200" b="0" i="0" kern="1200" dirty="0" smtClean="0">
                          <a:solidFill>
                            <a:schemeClr val="tx1"/>
                          </a:solidFill>
                          <a:latin typeface="+mj-lt"/>
                          <a:ea typeface="+mn-ea"/>
                          <a:cs typeface="+mn-cs"/>
                        </a:rPr>
                        <a:t>Mexican</a:t>
                      </a:r>
                      <a:r>
                        <a:rPr lang="en-US" sz="1200" b="0" i="0" kern="1200" baseline="0" dirty="0" smtClean="0">
                          <a:solidFill>
                            <a:schemeClr val="tx1"/>
                          </a:solidFill>
                          <a:latin typeface="+mj-lt"/>
                          <a:ea typeface="+mn-ea"/>
                          <a:cs typeface="+mn-cs"/>
                        </a:rPr>
                        <a:t> Tile company, Azulejo, has  enjoyed rapid sales growth and profitability the last several years.  However, the company’s sales growth has been stagnate so far this year.  The company is also concerned that it over-hired this past year and may need to reduce headcount.  </a:t>
                      </a:r>
                    </a:p>
                    <a:p>
                      <a:r>
                        <a:rPr lang="en-US" sz="1200" b="0" i="0" kern="1200" baseline="0" dirty="0" smtClean="0">
                          <a:solidFill>
                            <a:schemeClr val="tx1"/>
                          </a:solidFill>
                          <a:latin typeface="+mj-lt"/>
                          <a:ea typeface="+mn-ea"/>
                          <a:cs typeface="+mn-cs"/>
                        </a:rPr>
                        <a:t>The company requests your help to assess the current situation and to determine the optimal next steps.</a:t>
                      </a:r>
                    </a:p>
                  </a:txBody>
                  <a:tcPr marT="45727" marB="45727" anchor="ctr"/>
                </a:tc>
              </a:tr>
              <a:tr h="3383046">
                <a:tc>
                  <a:txBody>
                    <a:bodyPr/>
                    <a:lstStyle/>
                    <a:p>
                      <a:pPr algn="ctr"/>
                      <a:r>
                        <a:rPr lang="en-US" sz="1800" b="1" dirty="0" smtClean="0"/>
                        <a:t>Guidance</a:t>
                      </a:r>
                      <a:endParaRPr lang="en-US" sz="1800" b="1" baseline="0" dirty="0" smtClean="0"/>
                    </a:p>
                  </a:txBody>
                  <a:tcPr marT="45727" marB="45727" anchor="ctr"/>
                </a:tc>
                <a:tc>
                  <a:txBody>
                    <a:bodyPr/>
                    <a:lstStyle/>
                    <a:p>
                      <a:r>
                        <a:rPr lang="en-US" sz="1200" kern="1200" dirty="0" smtClean="0">
                          <a:solidFill>
                            <a:schemeClr val="tx1"/>
                          </a:solidFill>
                          <a:latin typeface="+mj-lt"/>
                          <a:ea typeface="+mn-ea"/>
                          <a:cs typeface="+mn-cs"/>
                        </a:rPr>
                        <a:t>The</a:t>
                      </a:r>
                      <a:r>
                        <a:rPr lang="en-US" sz="1200" kern="1200" baseline="0" dirty="0" smtClean="0">
                          <a:solidFill>
                            <a:schemeClr val="tx1"/>
                          </a:solidFill>
                          <a:latin typeface="+mj-lt"/>
                          <a:ea typeface="+mn-ea"/>
                          <a:cs typeface="+mn-cs"/>
                        </a:rPr>
                        <a:t> goal of this case  is two fold:</a:t>
                      </a:r>
                    </a:p>
                    <a:p>
                      <a:pPr marL="228600" indent="-228600">
                        <a:buAutoNum type="arabicParenR"/>
                      </a:pPr>
                      <a:r>
                        <a:rPr lang="en-US" sz="1200" kern="1200" dirty="0" smtClean="0">
                          <a:solidFill>
                            <a:schemeClr val="tx1"/>
                          </a:solidFill>
                          <a:latin typeface="+mj-lt"/>
                          <a:ea typeface="+mn-ea"/>
                          <a:cs typeface="+mn-cs"/>
                        </a:rPr>
                        <a:t>Understand</a:t>
                      </a:r>
                      <a:r>
                        <a:rPr lang="en-US" sz="1200" kern="1200" baseline="0" dirty="0" smtClean="0">
                          <a:solidFill>
                            <a:schemeClr val="tx1"/>
                          </a:solidFill>
                          <a:latin typeface="+mj-lt"/>
                          <a:ea typeface="+mn-ea"/>
                          <a:cs typeface="+mn-cs"/>
                        </a:rPr>
                        <a:t> the financial implications of retaining and/or laying off employees</a:t>
                      </a:r>
                    </a:p>
                    <a:p>
                      <a:pPr marL="228600" indent="-228600">
                        <a:buAutoNum type="arabicParenR"/>
                      </a:pPr>
                      <a:r>
                        <a:rPr lang="en-US" sz="1200" kern="1200" baseline="0" dirty="0" smtClean="0">
                          <a:solidFill>
                            <a:schemeClr val="tx1"/>
                          </a:solidFill>
                          <a:latin typeface="+mj-lt"/>
                          <a:ea typeface="+mn-ea"/>
                          <a:cs typeface="+mn-cs"/>
                        </a:rPr>
                        <a:t>Develop strategies that would allow Azulejo to retain workforce and spark sales growth and profitability</a:t>
                      </a:r>
                    </a:p>
                    <a:p>
                      <a:pPr marL="228600" indent="-228600">
                        <a:buAutoNum type="arabicParenR"/>
                      </a:pPr>
                      <a:endParaRPr lang="en-US" sz="1200" kern="1200" baseline="0" dirty="0" smtClean="0">
                        <a:solidFill>
                          <a:schemeClr val="tx1"/>
                        </a:solidFill>
                        <a:latin typeface="+mj-lt"/>
                        <a:ea typeface="+mn-ea"/>
                        <a:cs typeface="+mn-cs"/>
                      </a:endParaRPr>
                    </a:p>
                    <a:p>
                      <a:pPr marL="0" indent="0">
                        <a:buNone/>
                      </a:pPr>
                      <a:r>
                        <a:rPr lang="en-US" sz="1200" kern="1200" baseline="0" dirty="0" smtClean="0">
                          <a:solidFill>
                            <a:schemeClr val="tx1"/>
                          </a:solidFill>
                          <a:latin typeface="+mj-lt"/>
                          <a:ea typeface="+mn-ea"/>
                          <a:cs typeface="+mn-cs"/>
                        </a:rPr>
                        <a:t>Provide the following information upon request:</a:t>
                      </a:r>
                    </a:p>
                    <a:p>
                      <a:pPr marL="171450" indent="-171450">
                        <a:buFont typeface="Arial" pitchFamily="34" charset="0"/>
                        <a:buChar char="•"/>
                      </a:pPr>
                      <a:r>
                        <a:rPr lang="en-US" sz="1200" kern="1200" baseline="0" dirty="0" err="1" smtClean="0">
                          <a:solidFill>
                            <a:schemeClr val="tx1"/>
                          </a:solidFill>
                          <a:latin typeface="+mj-lt"/>
                          <a:ea typeface="+mn-ea"/>
                          <a:cs typeface="+mn-cs"/>
                        </a:rPr>
                        <a:t>Azulejo</a:t>
                      </a:r>
                      <a:r>
                        <a:rPr lang="en-US" sz="1200" kern="1200" baseline="0" dirty="0" smtClean="0">
                          <a:solidFill>
                            <a:schemeClr val="tx1"/>
                          </a:solidFill>
                          <a:latin typeface="+mj-lt"/>
                          <a:ea typeface="+mn-ea"/>
                          <a:cs typeface="+mn-cs"/>
                        </a:rPr>
                        <a:t> occupies a very dominant position in the Mexican market.</a:t>
                      </a:r>
                    </a:p>
                    <a:p>
                      <a:pPr marL="171450" indent="-171450">
                        <a:buFont typeface="Arial" pitchFamily="34" charset="0"/>
                        <a:buChar char="•"/>
                      </a:pPr>
                      <a:r>
                        <a:rPr lang="en-US" sz="1200" kern="1200" baseline="0" dirty="0" smtClean="0">
                          <a:solidFill>
                            <a:schemeClr val="tx1"/>
                          </a:solidFill>
                          <a:latin typeface="+mj-lt"/>
                          <a:ea typeface="+mn-ea"/>
                          <a:cs typeface="+mn-cs"/>
                        </a:rPr>
                        <a:t>The market growth has slowed down dramatically over the last year.  Many industry experts believe the market has become saturated.</a:t>
                      </a:r>
                    </a:p>
                    <a:p>
                      <a:pPr marL="171450" indent="-171450">
                        <a:buFont typeface="Arial" pitchFamily="34" charset="0"/>
                        <a:buChar char="•"/>
                      </a:pPr>
                      <a:r>
                        <a:rPr lang="en-US" sz="1200" kern="1200" baseline="0" dirty="0" err="1" smtClean="0">
                          <a:solidFill>
                            <a:schemeClr val="tx1"/>
                          </a:solidFill>
                          <a:latin typeface="+mj-lt"/>
                          <a:ea typeface="+mn-ea"/>
                          <a:cs typeface="+mn-cs"/>
                        </a:rPr>
                        <a:t>Azulejo</a:t>
                      </a:r>
                      <a:r>
                        <a:rPr lang="en-US" sz="1200" kern="1200" baseline="0" dirty="0" smtClean="0">
                          <a:solidFill>
                            <a:schemeClr val="tx1"/>
                          </a:solidFill>
                          <a:latin typeface="+mj-lt"/>
                          <a:ea typeface="+mn-ea"/>
                          <a:cs typeface="+mn-cs"/>
                        </a:rPr>
                        <a:t> needs to find a way to generate $5M per year in additional profits to avoid layoffs</a:t>
                      </a:r>
                    </a:p>
                    <a:p>
                      <a:pPr marL="171450" indent="-171450">
                        <a:buFont typeface="Arial" pitchFamily="34" charset="0"/>
                        <a:buChar char="•"/>
                      </a:pPr>
                      <a:r>
                        <a:rPr lang="en-US" sz="1200" kern="1200" baseline="0" dirty="0" err="1" smtClean="0">
                          <a:solidFill>
                            <a:schemeClr val="tx1"/>
                          </a:solidFill>
                          <a:latin typeface="+mn-lt"/>
                          <a:ea typeface="+mn-ea"/>
                          <a:cs typeface="+mn-cs"/>
                        </a:rPr>
                        <a:t>Azulejo</a:t>
                      </a:r>
                      <a:r>
                        <a:rPr lang="en-US" sz="1200" kern="1200" baseline="0" dirty="0" smtClean="0">
                          <a:solidFill>
                            <a:schemeClr val="tx1"/>
                          </a:solidFill>
                          <a:latin typeface="+mn-lt"/>
                          <a:ea typeface="+mn-ea"/>
                          <a:cs typeface="+mn-cs"/>
                        </a:rPr>
                        <a:t> has the ability to move into other markets.  It has access to a warehouse in McAllen, Texas (southern part of the state) where it could store its tiles for US distribution</a:t>
                      </a:r>
                    </a:p>
                    <a:p>
                      <a:pPr marL="0" indent="0">
                        <a:buNone/>
                      </a:pPr>
                      <a:endParaRPr lang="en-US" sz="1200" kern="1200" baseline="0" dirty="0" smtClean="0">
                        <a:solidFill>
                          <a:schemeClr val="tx1"/>
                        </a:solidFill>
                        <a:latin typeface="+mn-lt"/>
                        <a:ea typeface="+mn-ea"/>
                        <a:cs typeface="+mn-cs"/>
                      </a:endParaRPr>
                    </a:p>
                    <a:p>
                      <a:pPr marL="0" indent="0">
                        <a:buNone/>
                      </a:pPr>
                      <a:r>
                        <a:rPr lang="en-US" sz="1200" u="sng" kern="1200" baseline="0" dirty="0" smtClean="0">
                          <a:solidFill>
                            <a:schemeClr val="tx1"/>
                          </a:solidFill>
                          <a:latin typeface="+mn-lt"/>
                          <a:ea typeface="+mn-ea"/>
                          <a:cs typeface="+mn-cs"/>
                        </a:rPr>
                        <a:t>Costs associated with expansion into the United States</a:t>
                      </a:r>
                    </a:p>
                    <a:p>
                      <a:pPr marL="0" indent="0">
                        <a:buNone/>
                      </a:pPr>
                      <a:r>
                        <a:rPr lang="en-US" sz="1200" kern="1200" baseline="0" dirty="0" smtClean="0">
                          <a:solidFill>
                            <a:schemeClr val="tx1"/>
                          </a:solidFill>
                          <a:latin typeface="+mn-lt"/>
                          <a:ea typeface="+mn-ea"/>
                          <a:cs typeface="+mn-cs"/>
                        </a:rPr>
                        <a:t>Fixed Costs: Warehouse  ($600k/year), US workforce (350k/year), trucks and drivers (500k/year)</a:t>
                      </a:r>
                    </a:p>
                    <a:p>
                      <a:pPr marL="0" indent="0">
                        <a:buNone/>
                      </a:pPr>
                      <a:r>
                        <a:rPr lang="en-US" sz="1200" kern="1200" baseline="0" dirty="0" smtClean="0">
                          <a:solidFill>
                            <a:schemeClr val="tx1"/>
                          </a:solidFill>
                          <a:latin typeface="+mn-lt"/>
                          <a:ea typeface="+mn-ea"/>
                          <a:cs typeface="+mn-cs"/>
                        </a:rPr>
                        <a:t>Variable Costs: Cost per tile (.50/tiles), Sales Cost (.08/tile), Shrink (.02/tile), Shipping (.10/tile)</a:t>
                      </a:r>
                    </a:p>
                    <a:p>
                      <a:pPr marL="0" indent="0">
                        <a:buNone/>
                      </a:pPr>
                      <a:r>
                        <a:rPr lang="en-US" sz="1200" kern="1200" baseline="0" dirty="0" smtClean="0">
                          <a:solidFill>
                            <a:schemeClr val="tx1"/>
                          </a:solidFill>
                          <a:latin typeface="+mn-lt"/>
                          <a:ea typeface="+mn-ea"/>
                          <a:cs typeface="+mn-cs"/>
                        </a:rPr>
                        <a:t>      *assume this list is exhaustive of all Costs</a:t>
                      </a:r>
                    </a:p>
                    <a:p>
                      <a:pPr marL="0" indent="0">
                        <a:buNone/>
                      </a:pPr>
                      <a:endParaRPr lang="en-US" sz="1200" kern="1200" baseline="0" dirty="0" smtClean="0">
                        <a:solidFill>
                          <a:schemeClr val="tx1"/>
                        </a:solidFill>
                        <a:latin typeface="+mn-lt"/>
                        <a:ea typeface="+mn-ea"/>
                        <a:cs typeface="+mn-cs"/>
                      </a:endParaRPr>
                    </a:p>
                    <a:p>
                      <a:pPr marL="0" indent="0">
                        <a:buNone/>
                      </a:pPr>
                      <a:r>
                        <a:rPr lang="en-US" sz="1200" kern="1200" baseline="0" dirty="0" smtClean="0">
                          <a:solidFill>
                            <a:schemeClr val="tx1"/>
                          </a:solidFill>
                          <a:latin typeface="+mn-lt"/>
                          <a:ea typeface="+mn-ea"/>
                          <a:cs typeface="+mn-cs"/>
                        </a:rPr>
                        <a:t>Total US Market Size – 400 M tiles / year</a:t>
                      </a:r>
                    </a:p>
                    <a:p>
                      <a:pPr marL="0" indent="0">
                        <a:buNone/>
                      </a:pPr>
                      <a:r>
                        <a:rPr lang="en-US" sz="1200" kern="1200" baseline="0" dirty="0" smtClean="0">
                          <a:solidFill>
                            <a:schemeClr val="tx1"/>
                          </a:solidFill>
                          <a:latin typeface="+mn-lt"/>
                          <a:ea typeface="+mn-ea"/>
                          <a:cs typeface="+mn-cs"/>
                        </a:rPr>
                        <a:t>Revenue per Tile - $1.30</a:t>
                      </a:r>
                    </a:p>
                    <a:p>
                      <a:pPr marL="0" indent="0">
                        <a:buNone/>
                      </a:pPr>
                      <a:r>
                        <a:rPr lang="en-US" sz="1200" kern="1200" baseline="0" dirty="0" smtClean="0">
                          <a:solidFill>
                            <a:schemeClr val="tx1"/>
                          </a:solidFill>
                          <a:latin typeface="+mn-lt"/>
                          <a:ea typeface="+mn-ea"/>
                          <a:cs typeface="+mn-cs"/>
                        </a:rPr>
                        <a:t>Expected Market Capture for </a:t>
                      </a:r>
                      <a:r>
                        <a:rPr lang="en-US" sz="1200" kern="1200" baseline="0" dirty="0" err="1" smtClean="0">
                          <a:solidFill>
                            <a:schemeClr val="tx1"/>
                          </a:solidFill>
                          <a:latin typeface="+mn-lt"/>
                          <a:ea typeface="+mn-ea"/>
                          <a:cs typeface="+mn-cs"/>
                        </a:rPr>
                        <a:t>Azulejo</a:t>
                      </a:r>
                      <a:r>
                        <a:rPr lang="en-US" sz="1200" kern="1200" baseline="0" dirty="0" smtClean="0">
                          <a:solidFill>
                            <a:schemeClr val="tx1"/>
                          </a:solidFill>
                          <a:latin typeface="+mn-lt"/>
                          <a:ea typeface="+mn-ea"/>
                          <a:cs typeface="+mn-cs"/>
                        </a:rPr>
                        <a:t> – 8% within three years</a:t>
                      </a:r>
                    </a:p>
                  </a:txBody>
                  <a:tcPr marT="45727" marB="45727"/>
                </a:tc>
              </a:tr>
            </a:tbl>
          </a:graphicData>
        </a:graphic>
      </p:graphicFrame>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36</a:t>
            </a:fld>
            <a:endParaRPr lang="en-US" dirty="0"/>
          </a:p>
        </p:txBody>
      </p:sp>
    </p:spTree>
    <p:extLst>
      <p:ext uri="{BB962C8B-B14F-4D97-AF65-F5344CB8AC3E}">
        <p14:creationId xmlns:p14="http://schemas.microsoft.com/office/powerpoint/2010/main" val="1827099508"/>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102"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400" b="1" dirty="0"/>
              <a:t>Case </a:t>
            </a:r>
            <a:r>
              <a:rPr lang="en-US" sz="2400" b="1" dirty="0" smtClean="0"/>
              <a:t>4: </a:t>
            </a:r>
            <a:r>
              <a:rPr lang="en-US" sz="2400" b="1" dirty="0"/>
              <a:t>Mexican Tile Company</a:t>
            </a:r>
          </a:p>
        </p:txBody>
      </p:sp>
      <p:graphicFrame>
        <p:nvGraphicFramePr>
          <p:cNvPr id="12" name="Table 11"/>
          <p:cNvGraphicFramePr>
            <a:graphicFrameLocks noGrp="1"/>
          </p:cNvGraphicFramePr>
          <p:nvPr>
            <p:extLst>
              <p:ext uri="{D42A27DB-BD31-4B8C-83A1-F6EECF244321}">
                <p14:modId xmlns:p14="http://schemas.microsoft.com/office/powerpoint/2010/main" val="2088858017"/>
              </p:ext>
            </p:extLst>
          </p:nvPr>
        </p:nvGraphicFramePr>
        <p:xfrm>
          <a:off x="304800" y="1295400"/>
          <a:ext cx="8534400" cy="4937125"/>
        </p:xfrm>
        <a:graphic>
          <a:graphicData uri="http://schemas.openxmlformats.org/drawingml/2006/table">
            <a:tbl>
              <a:tblPr firstRow="1" bandRow="1">
                <a:tableStyleId>{616DA210-FB5B-4158-B5E0-FEB733F419BA}</a:tableStyleId>
              </a:tblPr>
              <a:tblGrid>
                <a:gridCol w="1600200"/>
                <a:gridCol w="6934200"/>
              </a:tblGrid>
              <a:tr h="1371432">
                <a:tc>
                  <a:txBody>
                    <a:bodyPr/>
                    <a:lstStyle/>
                    <a:p>
                      <a:pPr algn="ctr"/>
                      <a:r>
                        <a:rPr lang="en-US" sz="1800" dirty="0" smtClean="0"/>
                        <a:t>Prompt #2</a:t>
                      </a:r>
                      <a:endParaRPr lang="en-US" sz="1800" dirty="0"/>
                    </a:p>
                  </a:txBody>
                  <a:tcPr marT="45724" marB="45724" anchor="ctr"/>
                </a:tc>
                <a:tc>
                  <a:txBody>
                    <a:bodyPr/>
                    <a:lstStyle/>
                    <a:p>
                      <a:pPr marL="0" indent="0">
                        <a:buNone/>
                      </a:pPr>
                      <a:r>
                        <a:rPr lang="en-US" sz="1200" b="1" kern="1200" baseline="0" dirty="0" smtClean="0">
                          <a:solidFill>
                            <a:schemeClr val="tx1"/>
                          </a:solidFill>
                          <a:latin typeface="+mn-lt"/>
                          <a:ea typeface="+mn-ea"/>
                          <a:cs typeface="+mn-cs"/>
                        </a:rPr>
                        <a:t>What is the NPV of the US expansion opportunity, given a discount rate of 0%?</a:t>
                      </a:r>
                    </a:p>
                    <a:p>
                      <a:pPr marL="0" indent="0">
                        <a:buNone/>
                      </a:pPr>
                      <a:endParaRPr lang="en-US" sz="1200" b="1" kern="1200" baseline="0" dirty="0" smtClean="0">
                        <a:solidFill>
                          <a:schemeClr val="tx1"/>
                        </a:solidFill>
                        <a:latin typeface="+mn-lt"/>
                        <a:ea typeface="+mn-ea"/>
                        <a:cs typeface="+mn-cs"/>
                      </a:endParaRPr>
                    </a:p>
                    <a:p>
                      <a:pPr marL="0" indent="0">
                        <a:buNone/>
                      </a:pPr>
                      <a:r>
                        <a:rPr lang="en-US" sz="1200" b="1" kern="1200" baseline="0" dirty="0" smtClean="0">
                          <a:solidFill>
                            <a:schemeClr val="tx1"/>
                          </a:solidFill>
                          <a:latin typeface="+mn-lt"/>
                          <a:ea typeface="+mn-ea"/>
                          <a:cs typeface="+mn-cs"/>
                        </a:rPr>
                        <a:t>Should they enter the US tile market?</a:t>
                      </a:r>
                    </a:p>
                  </a:txBody>
                  <a:tcPr marT="45724" marB="45724" anchor="ctr"/>
                </a:tc>
              </a:tr>
              <a:tr h="3565693">
                <a:tc>
                  <a:txBody>
                    <a:bodyPr/>
                    <a:lstStyle/>
                    <a:p>
                      <a:pPr algn="ctr"/>
                      <a:r>
                        <a:rPr lang="en-US" sz="1800" b="1" dirty="0" smtClean="0"/>
                        <a:t>Guidance</a:t>
                      </a:r>
                      <a:endParaRPr lang="en-US" sz="1800" b="1" baseline="0" dirty="0" smtClean="0"/>
                    </a:p>
                  </a:txBody>
                  <a:tcPr marT="45724" marB="45724" anchor="ctr"/>
                </a:tc>
                <a:tc>
                  <a:txBody>
                    <a:bodyPr/>
                    <a:lstStyle/>
                    <a:p>
                      <a:r>
                        <a:rPr lang="en-US" sz="1200" b="1" i="0" kern="1200" baseline="0" dirty="0" smtClean="0">
                          <a:solidFill>
                            <a:schemeClr val="tx1"/>
                          </a:solidFill>
                          <a:latin typeface="+mn-lt"/>
                          <a:ea typeface="+mn-ea"/>
                          <a:cs typeface="+mn-cs"/>
                        </a:rPr>
                        <a:t>To be given if requested:</a:t>
                      </a:r>
                    </a:p>
                    <a:p>
                      <a:r>
                        <a:rPr lang="en-US" sz="1200" b="0" i="0" kern="1200" baseline="0" dirty="0" smtClean="0">
                          <a:solidFill>
                            <a:schemeClr val="tx1"/>
                          </a:solidFill>
                          <a:latin typeface="+mn-lt"/>
                          <a:ea typeface="+mn-ea"/>
                          <a:cs typeface="+mn-cs"/>
                        </a:rPr>
                        <a:t>Profit Target - $5M</a:t>
                      </a:r>
                    </a:p>
                    <a:p>
                      <a:endParaRPr lang="en-US" sz="1200" b="0"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Calculations to be performed:</a:t>
                      </a:r>
                    </a:p>
                    <a:p>
                      <a:pPr marL="171450" indent="-171450">
                        <a:buFont typeface="Arial" pitchFamily="34" charset="0"/>
                        <a:buChar char="•"/>
                      </a:pPr>
                      <a:r>
                        <a:rPr lang="en-US" sz="1200" b="0" i="0" kern="1200" baseline="0" dirty="0" smtClean="0">
                          <a:solidFill>
                            <a:schemeClr val="tx1"/>
                          </a:solidFill>
                          <a:latin typeface="+mn-lt"/>
                          <a:ea typeface="+mn-ea"/>
                          <a:cs typeface="+mn-cs"/>
                        </a:rPr>
                        <a:t>US Market – 400M tiles</a:t>
                      </a:r>
                    </a:p>
                    <a:p>
                      <a:pPr marL="171450" indent="-171450">
                        <a:buFont typeface="Arial" pitchFamily="34" charset="0"/>
                        <a:buChar char="•"/>
                      </a:pPr>
                      <a:r>
                        <a:rPr lang="en-US" sz="1200" b="0" i="0" kern="1200" baseline="0" dirty="0" smtClean="0">
                          <a:solidFill>
                            <a:schemeClr val="tx1"/>
                          </a:solidFill>
                          <a:latin typeface="+mn-lt"/>
                          <a:ea typeface="+mn-ea"/>
                          <a:cs typeface="+mn-cs"/>
                        </a:rPr>
                        <a:t>US Revenue – 400M tiles * $1.30 = $520M</a:t>
                      </a:r>
                    </a:p>
                    <a:p>
                      <a:pPr marL="171450" indent="-171450">
                        <a:buFont typeface="Arial" pitchFamily="34" charset="0"/>
                        <a:buChar char="•"/>
                      </a:pPr>
                      <a:r>
                        <a:rPr lang="en-US" sz="1200" b="0" i="0" kern="1200" baseline="0" dirty="0" err="1" smtClean="0">
                          <a:solidFill>
                            <a:schemeClr val="tx1"/>
                          </a:solidFill>
                          <a:latin typeface="+mn-lt"/>
                          <a:ea typeface="+mn-ea"/>
                          <a:cs typeface="+mn-cs"/>
                        </a:rPr>
                        <a:t>Azulejo</a:t>
                      </a:r>
                      <a:r>
                        <a:rPr lang="en-US" sz="1200" b="0" i="0" kern="1200" baseline="0" dirty="0" smtClean="0">
                          <a:solidFill>
                            <a:schemeClr val="tx1"/>
                          </a:solidFill>
                          <a:latin typeface="+mn-lt"/>
                          <a:ea typeface="+mn-ea"/>
                          <a:cs typeface="+mn-cs"/>
                        </a:rPr>
                        <a:t> Share – 400M * 8% = 32M Tiles</a:t>
                      </a:r>
                    </a:p>
                    <a:p>
                      <a:pPr marL="171450" indent="-171450">
                        <a:buFont typeface="Arial" pitchFamily="34" charset="0"/>
                        <a:buChar char="•"/>
                      </a:pPr>
                      <a:r>
                        <a:rPr lang="en-US" sz="1200" b="0" i="0" kern="1200" baseline="0" dirty="0" err="1" smtClean="0">
                          <a:solidFill>
                            <a:schemeClr val="tx1"/>
                          </a:solidFill>
                          <a:latin typeface="+mn-lt"/>
                          <a:ea typeface="+mn-ea"/>
                          <a:cs typeface="+mn-cs"/>
                        </a:rPr>
                        <a:t>Azulejo</a:t>
                      </a:r>
                      <a:r>
                        <a:rPr lang="en-US" sz="1200" b="0" i="0" kern="1200" baseline="0" dirty="0" smtClean="0">
                          <a:solidFill>
                            <a:schemeClr val="tx1"/>
                          </a:solidFill>
                          <a:latin typeface="+mn-lt"/>
                          <a:ea typeface="+mn-ea"/>
                          <a:cs typeface="+mn-cs"/>
                        </a:rPr>
                        <a:t> Revenue = 32M * $1.30 = $41.6M</a:t>
                      </a:r>
                    </a:p>
                    <a:p>
                      <a:pPr marL="171450" indent="-171450">
                        <a:buFont typeface="Arial" pitchFamily="34" charset="0"/>
                        <a:buChar char="•"/>
                      </a:pPr>
                      <a:r>
                        <a:rPr lang="en-US" sz="1200" b="0" i="0" kern="1200" baseline="0" dirty="0" err="1" smtClean="0">
                          <a:solidFill>
                            <a:schemeClr val="tx1"/>
                          </a:solidFill>
                          <a:latin typeface="+mn-lt"/>
                          <a:ea typeface="+mn-ea"/>
                          <a:cs typeface="+mn-cs"/>
                        </a:rPr>
                        <a:t>Azulejo</a:t>
                      </a:r>
                      <a:r>
                        <a:rPr lang="en-US" sz="1200" b="0" i="0" kern="1200" baseline="0" dirty="0" smtClean="0">
                          <a:solidFill>
                            <a:schemeClr val="tx1"/>
                          </a:solidFill>
                          <a:latin typeface="+mn-lt"/>
                          <a:ea typeface="+mn-ea"/>
                          <a:cs typeface="+mn-cs"/>
                        </a:rPr>
                        <a:t> Sales Margin = (Unit Revenue – Variable Cost) * Units = </a:t>
                      </a:r>
                    </a:p>
                    <a:p>
                      <a:pPr marL="0" indent="0">
                        <a:buFont typeface="Arial" pitchFamily="34" charset="0"/>
                        <a:buNone/>
                      </a:pPr>
                      <a:r>
                        <a:rPr lang="en-US" sz="1200" b="0" i="0" kern="1200" baseline="0" dirty="0" smtClean="0">
                          <a:solidFill>
                            <a:schemeClr val="tx1"/>
                          </a:solidFill>
                          <a:latin typeface="+mn-lt"/>
                          <a:ea typeface="+mn-ea"/>
                          <a:cs typeface="+mn-cs"/>
                        </a:rPr>
                        <a:t>        ($1.30-$0.70) * 32M = $0.60 * 32M = $19.2M</a:t>
                      </a:r>
                    </a:p>
                    <a:p>
                      <a:pPr marL="171450" indent="-171450">
                        <a:buFont typeface="Arial" pitchFamily="34" charset="0"/>
                        <a:buChar char="•"/>
                      </a:pPr>
                      <a:r>
                        <a:rPr lang="en-US" sz="1200" b="0" i="0" kern="1200" baseline="0" dirty="0" err="1" smtClean="0">
                          <a:solidFill>
                            <a:schemeClr val="tx1"/>
                          </a:solidFill>
                          <a:latin typeface="+mn-lt"/>
                          <a:ea typeface="+mn-ea"/>
                          <a:cs typeface="+mn-cs"/>
                        </a:rPr>
                        <a:t>Azulejo</a:t>
                      </a:r>
                      <a:r>
                        <a:rPr lang="en-US" sz="1200" b="0" i="0" kern="1200" baseline="0" dirty="0" smtClean="0">
                          <a:solidFill>
                            <a:schemeClr val="tx1"/>
                          </a:solidFill>
                          <a:latin typeface="+mn-lt"/>
                          <a:ea typeface="+mn-ea"/>
                          <a:cs typeface="+mn-cs"/>
                        </a:rPr>
                        <a:t> Profit = Total Margin – F.C. = $19.2M – $1.45M = $17.75M</a:t>
                      </a:r>
                    </a:p>
                    <a:p>
                      <a:endParaRPr lang="en-US" sz="1200" b="0"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NPV= $17.75 M &gt; $5 M Required Return  = $12.75 M</a:t>
                      </a:r>
                    </a:p>
                    <a:p>
                      <a:endParaRPr lang="en-US" sz="1200" b="0"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Yes, </a:t>
                      </a:r>
                      <a:r>
                        <a:rPr lang="en-US" sz="1200" b="1" i="0" kern="1200" baseline="0" dirty="0" err="1" smtClean="0">
                          <a:solidFill>
                            <a:schemeClr val="tx1"/>
                          </a:solidFill>
                          <a:latin typeface="+mn-lt"/>
                          <a:ea typeface="+mn-ea"/>
                          <a:cs typeface="+mn-cs"/>
                        </a:rPr>
                        <a:t>Azulejo</a:t>
                      </a:r>
                      <a:r>
                        <a:rPr lang="en-US" sz="1200" b="1" i="0" kern="1200" baseline="0" dirty="0" smtClean="0">
                          <a:solidFill>
                            <a:schemeClr val="tx1"/>
                          </a:solidFill>
                          <a:latin typeface="+mn-lt"/>
                          <a:ea typeface="+mn-ea"/>
                          <a:cs typeface="+mn-cs"/>
                        </a:rPr>
                        <a:t> should enter the US Tile Market</a:t>
                      </a:r>
                    </a:p>
                    <a:p>
                      <a:pPr marL="0" indent="0">
                        <a:buNone/>
                      </a:pPr>
                      <a:endParaRPr lang="en-US" sz="1200" kern="1200" dirty="0" smtClean="0">
                        <a:solidFill>
                          <a:schemeClr val="tx1"/>
                        </a:solidFill>
                        <a:latin typeface="+mj-lt"/>
                        <a:ea typeface="+mn-ea"/>
                        <a:cs typeface="+mn-cs"/>
                      </a:endParaRPr>
                    </a:p>
                  </a:txBody>
                  <a:tcPr marT="45724" marB="45724"/>
                </a:tc>
              </a:tr>
            </a:tbl>
          </a:graphicData>
        </a:graphic>
      </p:graphicFrame>
      <p:sp>
        <p:nvSpPr>
          <p:cNvPr id="10" name="TextBox 8"/>
          <p:cNvSpPr txBox="1">
            <a:spLocks noChangeArrowheads="1"/>
          </p:cNvSpPr>
          <p:nvPr/>
        </p:nvSpPr>
        <p:spPr bwMode="auto">
          <a:xfrm>
            <a:off x="7162800" y="990600"/>
            <a:ext cx="1752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37</a:t>
            </a:fld>
            <a:endParaRPr lang="en-US" dirty="0"/>
          </a:p>
        </p:txBody>
      </p:sp>
    </p:spTree>
    <p:extLst>
      <p:ext uri="{BB962C8B-B14F-4D97-AF65-F5344CB8AC3E}">
        <p14:creationId xmlns:p14="http://schemas.microsoft.com/office/powerpoint/2010/main" val="3279510536"/>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359455799"/>
              </p:ext>
            </p:extLst>
          </p:nvPr>
        </p:nvGraphicFramePr>
        <p:xfrm>
          <a:off x="228600" y="1447800"/>
          <a:ext cx="8534400" cy="3017838"/>
        </p:xfrm>
        <a:graphic>
          <a:graphicData uri="http://schemas.openxmlformats.org/drawingml/2006/table">
            <a:tbl>
              <a:tblPr firstRow="1" bandRow="1">
                <a:tableStyleId>{616DA210-FB5B-4158-B5E0-FEB733F419BA}</a:tableStyleId>
              </a:tblPr>
              <a:tblGrid>
                <a:gridCol w="1600200"/>
                <a:gridCol w="6934200"/>
              </a:tblGrid>
              <a:tr h="3017838">
                <a:tc>
                  <a:txBody>
                    <a:bodyPr/>
                    <a:lstStyle/>
                    <a:p>
                      <a:pPr algn="ctr"/>
                      <a:r>
                        <a:rPr lang="en-US" sz="1800" b="1" i="0" dirty="0" smtClean="0"/>
                        <a:t>Performance Evaluation</a:t>
                      </a:r>
                      <a:endParaRPr lang="en-US" sz="1000" i="0" dirty="0"/>
                    </a:p>
                  </a:txBody>
                  <a:tcPr marT="45713" marB="45713"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171450" indent="-171450">
                        <a:buFont typeface="Arial" pitchFamily="34" charset="0"/>
                        <a:buChar char="•"/>
                      </a:pPr>
                      <a:r>
                        <a:rPr lang="en-US" sz="1200" b="0" i="0" kern="1200" baseline="0" dirty="0" smtClean="0">
                          <a:solidFill>
                            <a:schemeClr val="tx1"/>
                          </a:solidFill>
                          <a:latin typeface="+mj-lt"/>
                          <a:ea typeface="+mn-ea"/>
                          <a:cs typeface="+mn-cs"/>
                        </a:rPr>
                        <a:t>The interviewee should realize that the Mexican Tile Market is saturated and consider alternatives that don’t involve the Mexican Market.</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228600" indent="-228600">
                        <a:buFont typeface="Arial" pitchFamily="34" charset="0"/>
                        <a:buChar char="•"/>
                      </a:pPr>
                      <a:r>
                        <a:rPr lang="en-US" sz="1200" b="0" i="0" kern="1200" baseline="0" dirty="0" smtClean="0">
                          <a:solidFill>
                            <a:schemeClr val="tx1"/>
                          </a:solidFill>
                          <a:latin typeface="+mj-lt"/>
                          <a:ea typeface="+mn-ea"/>
                          <a:cs typeface="+mn-cs"/>
                        </a:rPr>
                        <a:t>Candidate should recommend expanding into new geographical markets</a:t>
                      </a:r>
                    </a:p>
                    <a:p>
                      <a:pPr marL="228600" indent="-228600">
                        <a:buFont typeface="Arial" pitchFamily="34" charset="0"/>
                        <a:buChar char="•"/>
                      </a:pPr>
                      <a:r>
                        <a:rPr lang="en-US" sz="1200" b="0" i="0" kern="1200" baseline="0" dirty="0" smtClean="0">
                          <a:solidFill>
                            <a:schemeClr val="tx1"/>
                          </a:solidFill>
                          <a:latin typeface="+mj-lt"/>
                          <a:ea typeface="+mn-ea"/>
                          <a:cs typeface="+mn-cs"/>
                        </a:rPr>
                        <a:t>Candidate should consider changing product mix to compete in markets within Mexico</a:t>
                      </a:r>
                    </a:p>
                    <a:p>
                      <a:pPr marL="228600" indent="-228600">
                        <a:buFont typeface="Arial" pitchFamily="34" charset="0"/>
                        <a:buChar char="•"/>
                      </a:pPr>
                      <a:r>
                        <a:rPr lang="en-US" sz="1200" b="0" i="0" kern="1200" baseline="0" dirty="0" smtClean="0">
                          <a:solidFill>
                            <a:schemeClr val="tx1"/>
                          </a:solidFill>
                          <a:latin typeface="+mj-lt"/>
                          <a:ea typeface="+mn-ea"/>
                          <a:cs typeface="+mn-cs"/>
                        </a:rPr>
                        <a:t>Walk through the financial viability of expanding into new markets, in this case US</a:t>
                      </a:r>
                    </a:p>
                    <a:p>
                      <a:pPr marL="228600" indent="-228600">
                        <a:buFont typeface="Arial" pitchFamily="34" charset="0"/>
                        <a:buChar char="•"/>
                      </a:pPr>
                      <a:r>
                        <a:rPr lang="en-US" sz="1200" b="0" i="0" kern="1200" baseline="0" dirty="0" smtClean="0">
                          <a:solidFill>
                            <a:schemeClr val="tx1"/>
                          </a:solidFill>
                          <a:latin typeface="+mj-lt"/>
                          <a:ea typeface="+mn-ea"/>
                          <a:cs typeface="+mn-cs"/>
                        </a:rPr>
                        <a:t>Give a recommendation, based on financial analysis, to enter the market</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indent="-171450">
                        <a:buFont typeface="Arial" pitchFamily="34" charset="0"/>
                        <a:buChar char="•"/>
                      </a:pPr>
                      <a:r>
                        <a:rPr lang="en-US" sz="1200" b="0" i="0" kern="1200" baseline="0" dirty="0" smtClean="0">
                          <a:solidFill>
                            <a:schemeClr val="tx1"/>
                          </a:solidFill>
                          <a:latin typeface="+mj-lt"/>
                          <a:ea typeface="+mn-ea"/>
                          <a:cs typeface="+mn-cs"/>
                        </a:rPr>
                        <a:t>Solve the specific case, which is to expand into the US as well as provide viable, creative alternatives. </a:t>
                      </a:r>
                    </a:p>
                    <a:p>
                      <a:pPr marL="171450" indent="-171450">
                        <a:buFont typeface="Arial" pitchFamily="34" charset="0"/>
                        <a:buChar char="•"/>
                      </a:pPr>
                      <a:r>
                        <a:rPr lang="en-US" sz="1200" b="0" i="0" kern="1200" baseline="0" dirty="0" smtClean="0">
                          <a:solidFill>
                            <a:schemeClr val="tx1"/>
                          </a:solidFill>
                          <a:latin typeface="+mj-lt"/>
                          <a:ea typeface="+mn-ea"/>
                          <a:cs typeface="+mn-cs"/>
                        </a:rPr>
                        <a:t>Discussing competitive response by other US firms.  </a:t>
                      </a:r>
                    </a:p>
                    <a:p>
                      <a:pPr marL="171450" indent="-171450">
                        <a:buFont typeface="Arial" pitchFamily="34" charset="0"/>
                        <a:buChar char="•"/>
                      </a:pPr>
                      <a:r>
                        <a:rPr lang="en-US" sz="1200" b="0" i="0" kern="1200" baseline="0" dirty="0" smtClean="0">
                          <a:solidFill>
                            <a:schemeClr val="tx1"/>
                          </a:solidFill>
                          <a:latin typeface="+mj-lt"/>
                          <a:ea typeface="+mn-ea"/>
                          <a:cs typeface="+mn-cs"/>
                        </a:rPr>
                        <a:t>Discuss the risks as well as recommend a good entry strategy to optimize opportunity for success.</a:t>
                      </a:r>
                      <a:endParaRPr lang="en-US" sz="1200" b="0" i="0" kern="1200" dirty="0">
                        <a:solidFill>
                          <a:schemeClr val="tx1"/>
                        </a:solidFill>
                        <a:latin typeface="+mj-lt"/>
                        <a:ea typeface="+mn-ea"/>
                        <a:cs typeface="+mn-cs"/>
                      </a:endParaRPr>
                    </a:p>
                  </a:txBody>
                  <a:tcPr marT="45713" marB="45713"/>
                </a:tc>
              </a:tr>
            </a:tbl>
          </a:graphicData>
        </a:graphic>
      </p:graphicFrame>
      <p:pic>
        <p:nvPicPr>
          <p:cNvPr id="615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156"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400" b="1" dirty="0"/>
              <a:t>Case </a:t>
            </a:r>
            <a:r>
              <a:rPr lang="en-US" sz="2400" b="1" dirty="0" smtClean="0"/>
              <a:t>4: </a:t>
            </a:r>
            <a:r>
              <a:rPr lang="en-US" sz="2400" b="1" dirty="0"/>
              <a:t>Mexican Tile Company</a:t>
            </a:r>
          </a:p>
        </p:txBody>
      </p:sp>
      <p:sp>
        <p:nvSpPr>
          <p:cNvPr id="6159" name="TextBox 8"/>
          <p:cNvSpPr txBox="1">
            <a:spLocks noChangeArrowheads="1"/>
          </p:cNvSpPr>
          <p:nvPr/>
        </p:nvSpPr>
        <p:spPr bwMode="auto">
          <a:xfrm>
            <a:off x="7315200" y="1144587"/>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38</a:t>
            </a:fld>
            <a:endParaRPr lang="en-US" dirty="0"/>
          </a:p>
        </p:txBody>
      </p:sp>
    </p:spTree>
    <p:extLst>
      <p:ext uri="{BB962C8B-B14F-4D97-AF65-F5344CB8AC3E}">
        <p14:creationId xmlns:p14="http://schemas.microsoft.com/office/powerpoint/2010/main" val="12314421"/>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39</a:t>
            </a:fld>
            <a:endParaRPr lang="en-US" dirty="0"/>
          </a:p>
        </p:txBody>
      </p:sp>
    </p:spTree>
    <p:extLst>
      <p:ext uri="{BB962C8B-B14F-4D97-AF65-F5344CB8AC3E}">
        <p14:creationId xmlns:p14="http://schemas.microsoft.com/office/powerpoint/2010/main" val="869476321"/>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53254" name="TextBox 9"/>
          <p:cNvSpPr txBox="1">
            <a:spLocks noChangeArrowheads="1"/>
          </p:cNvSpPr>
          <p:nvPr/>
        </p:nvSpPr>
        <p:spPr bwMode="auto">
          <a:xfrm>
            <a:off x="1828800" y="40394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5: Winter </a:t>
            </a:r>
            <a:r>
              <a:rPr lang="en-US" sz="2400" b="1" dirty="0"/>
              <a:t>Olympics</a:t>
            </a:r>
          </a:p>
        </p:txBody>
      </p:sp>
      <p:graphicFrame>
        <p:nvGraphicFramePr>
          <p:cNvPr id="12" name="Table 11"/>
          <p:cNvGraphicFramePr>
            <a:graphicFrameLocks noGrp="1"/>
          </p:cNvGraphicFramePr>
          <p:nvPr>
            <p:extLst>
              <p:ext uri="{D42A27DB-BD31-4B8C-83A1-F6EECF244321}">
                <p14:modId xmlns:p14="http://schemas.microsoft.com/office/powerpoint/2010/main" val="3417659950"/>
              </p:ext>
            </p:extLst>
          </p:nvPr>
        </p:nvGraphicFramePr>
        <p:xfrm>
          <a:off x="304800" y="1295400"/>
          <a:ext cx="8442158" cy="5245100"/>
        </p:xfrm>
        <a:graphic>
          <a:graphicData uri="http://schemas.openxmlformats.org/drawingml/2006/table">
            <a:tbl>
              <a:tblPr firstRow="1" bandRow="1">
                <a:tableStyleId>{616DA210-FB5B-4158-B5E0-FEB733F419BA}</a:tableStyleId>
              </a:tblPr>
              <a:tblGrid>
                <a:gridCol w="1582905"/>
                <a:gridCol w="6859253"/>
              </a:tblGrid>
              <a:tr h="1545130">
                <a:tc>
                  <a:txBody>
                    <a:bodyPr/>
                    <a:lstStyle/>
                    <a:p>
                      <a:pPr algn="ctr"/>
                      <a:r>
                        <a:rPr lang="en-US" dirty="0" smtClean="0"/>
                        <a:t>Prompt #1</a:t>
                      </a:r>
                      <a:endParaRPr lang="en-US" dirty="0"/>
                    </a:p>
                  </a:txBody>
                  <a:tcPr anchor="ctr"/>
                </a:tc>
                <a:tc>
                  <a:txBody>
                    <a:bodyPr/>
                    <a:lstStyle/>
                    <a:p>
                      <a:pPr marL="6350" lvl="1" indent="0">
                        <a:buClr>
                          <a:srgbClr val="000000"/>
                        </a:buClr>
                      </a:pPr>
                      <a:r>
                        <a:rPr lang="en-US" sz="1200" b="0" dirty="0" smtClean="0">
                          <a:solidFill>
                            <a:srgbClr val="000000"/>
                          </a:solidFill>
                          <a:latin typeface="+mn-lt"/>
                        </a:rPr>
                        <a:t>Your client is a large</a:t>
                      </a:r>
                      <a:r>
                        <a:rPr lang="en-US" sz="1200" b="0" baseline="0" dirty="0" smtClean="0">
                          <a:solidFill>
                            <a:srgbClr val="000000"/>
                          </a:solidFill>
                          <a:latin typeface="+mn-lt"/>
                        </a:rPr>
                        <a:t> U.S T.V network and they are looking into buying the rights to broadcast the winter Olympics.</a:t>
                      </a:r>
                    </a:p>
                    <a:p>
                      <a:pPr marL="6350" lvl="1" indent="0">
                        <a:buClr>
                          <a:srgbClr val="000000"/>
                        </a:buClr>
                      </a:pPr>
                      <a:endParaRPr lang="en-US" sz="1200" b="0" dirty="0" smtClean="0">
                        <a:solidFill>
                          <a:srgbClr val="000000"/>
                        </a:solidFill>
                        <a:latin typeface="+mn-lt"/>
                      </a:endParaRPr>
                    </a:p>
                    <a:p>
                      <a:pPr marL="6350" lvl="1" indent="0">
                        <a:buClr>
                          <a:srgbClr val="000000"/>
                        </a:buClr>
                      </a:pPr>
                      <a:r>
                        <a:rPr lang="en-US" sz="1200" b="1" dirty="0" smtClean="0">
                          <a:solidFill>
                            <a:srgbClr val="000000"/>
                          </a:solidFill>
                          <a:latin typeface="+mn-lt"/>
                        </a:rPr>
                        <a:t>The opportunity to bid on this target closes shortly, and you need to advise the client on how much should they bid,</a:t>
                      </a:r>
                      <a:r>
                        <a:rPr lang="en-US" sz="1200" b="1" baseline="0" dirty="0" smtClean="0">
                          <a:solidFill>
                            <a:srgbClr val="000000"/>
                          </a:solidFill>
                          <a:latin typeface="+mn-lt"/>
                        </a:rPr>
                        <a:t> and what should they take into account when bidding.</a:t>
                      </a:r>
                      <a:endParaRPr lang="en-US" sz="1200" dirty="0" smtClean="0">
                        <a:solidFill>
                          <a:srgbClr val="000000"/>
                        </a:solidFill>
                        <a:latin typeface="+mn-lt"/>
                      </a:endParaRPr>
                    </a:p>
                  </a:txBody>
                  <a:tcPr anchor="ctr"/>
                </a:tc>
              </a:tr>
              <a:tr h="3699970">
                <a:tc>
                  <a:txBody>
                    <a:bodyPr/>
                    <a:lstStyle/>
                    <a:p>
                      <a:pPr algn="ctr"/>
                      <a:r>
                        <a:rPr lang="en-US" b="1" dirty="0" smtClean="0"/>
                        <a:t>Guidance</a:t>
                      </a:r>
                      <a:endParaRPr lang="en-US" b="1" baseline="0" dirty="0" smtClean="0"/>
                    </a:p>
                  </a:txBody>
                  <a:tcPr anchor="ctr"/>
                </a:tc>
                <a:tc>
                  <a:txBody>
                    <a:bodyPr/>
                    <a:lstStyle/>
                    <a:p>
                      <a:pPr>
                        <a:buClr>
                          <a:srgbClr val="000000"/>
                        </a:buClr>
                      </a:pPr>
                      <a:r>
                        <a:rPr lang="en-US" sz="1200" dirty="0" smtClean="0">
                          <a:solidFill>
                            <a:srgbClr val="000000"/>
                          </a:solidFill>
                          <a:latin typeface="+mn-lt"/>
                        </a:rPr>
                        <a:t>Additional information,</a:t>
                      </a:r>
                      <a:r>
                        <a:rPr lang="en-US" sz="1200" baseline="0" dirty="0" smtClean="0">
                          <a:solidFill>
                            <a:srgbClr val="000000"/>
                          </a:solidFill>
                          <a:latin typeface="+mn-lt"/>
                        </a:rPr>
                        <a:t> </a:t>
                      </a:r>
                      <a:r>
                        <a:rPr lang="en-US" sz="1200" b="1" baseline="0" dirty="0" smtClean="0">
                          <a:solidFill>
                            <a:srgbClr val="000000"/>
                          </a:solidFill>
                          <a:latin typeface="+mn-lt"/>
                        </a:rPr>
                        <a:t>should be provided only upon request</a:t>
                      </a:r>
                      <a:r>
                        <a:rPr lang="en-US" sz="1200" baseline="0" dirty="0" smtClean="0">
                          <a:solidFill>
                            <a:srgbClr val="000000"/>
                          </a:solidFill>
                          <a:latin typeface="+mn-lt"/>
                        </a:rPr>
                        <a:t>: </a:t>
                      </a:r>
                    </a:p>
                    <a:p>
                      <a:pPr marL="171450" indent="-171450">
                        <a:buClr>
                          <a:srgbClr val="000000"/>
                        </a:buClr>
                        <a:buFont typeface="Arial" charset="0"/>
                        <a:buChar char="•"/>
                      </a:pPr>
                      <a:r>
                        <a:rPr lang="en-US" sz="1200" baseline="0" dirty="0" smtClean="0">
                          <a:solidFill>
                            <a:srgbClr val="000000"/>
                          </a:solidFill>
                          <a:latin typeface="+mn-lt"/>
                        </a:rPr>
                        <a:t>The winter Olympics would be held in Sochi , Russia.</a:t>
                      </a:r>
                    </a:p>
                    <a:p>
                      <a:pPr marL="171450" indent="-171450">
                        <a:buClr>
                          <a:srgbClr val="000000"/>
                        </a:buClr>
                        <a:buFont typeface="Arial" charset="0"/>
                        <a:buChar char="•"/>
                      </a:pPr>
                      <a:r>
                        <a:rPr lang="en-US" sz="1200" baseline="0" dirty="0" smtClean="0">
                          <a:solidFill>
                            <a:srgbClr val="000000"/>
                          </a:solidFill>
                          <a:latin typeface="+mn-lt"/>
                        </a:rPr>
                        <a:t>The network will be filming the events in Russia, and broadcasting the events only in the U.S.</a:t>
                      </a:r>
                    </a:p>
                    <a:p>
                      <a:pPr marL="171450" indent="-171450">
                        <a:buClr>
                          <a:srgbClr val="000000"/>
                        </a:buClr>
                        <a:buFont typeface="Arial" charset="0"/>
                        <a:buChar char="•"/>
                      </a:pPr>
                      <a:r>
                        <a:rPr lang="en-US" sz="1200" baseline="0" dirty="0" smtClean="0">
                          <a:solidFill>
                            <a:srgbClr val="000000"/>
                          </a:solidFill>
                          <a:latin typeface="+mn-lt"/>
                        </a:rPr>
                        <a:t>The network has no experience in broadcasting sports events, nor do they have  an audience in this segment, nor experience filming events abroad.</a:t>
                      </a:r>
                    </a:p>
                    <a:p>
                      <a:pPr marL="171450" indent="-171450">
                        <a:buClr>
                          <a:srgbClr val="000000"/>
                        </a:buClr>
                        <a:buFont typeface="Arial" charset="0"/>
                        <a:buChar char="•"/>
                      </a:pPr>
                      <a:r>
                        <a:rPr lang="en-US" sz="1200" baseline="0" dirty="0" smtClean="0">
                          <a:solidFill>
                            <a:srgbClr val="000000"/>
                          </a:solidFill>
                          <a:latin typeface="+mn-lt"/>
                        </a:rPr>
                        <a:t>There is no specific goal for the network (no ROI or specific profit) – just be profitable from the bid.</a:t>
                      </a:r>
                      <a:endParaRPr lang="en-US" sz="1200" dirty="0" smtClean="0">
                        <a:solidFill>
                          <a:srgbClr val="000000"/>
                        </a:solidFill>
                        <a:latin typeface="+mn-lt"/>
                      </a:endParaRPr>
                    </a:p>
                    <a:p>
                      <a:pPr>
                        <a:buClr>
                          <a:srgbClr val="000000"/>
                        </a:buClr>
                      </a:pPr>
                      <a:endParaRPr lang="en-US" sz="1200" dirty="0" smtClean="0">
                        <a:solidFill>
                          <a:srgbClr val="000000"/>
                        </a:solidFill>
                        <a:latin typeface="+mn-lt"/>
                      </a:endParaRPr>
                    </a:p>
                    <a:p>
                      <a:pPr>
                        <a:buClr>
                          <a:srgbClr val="000000"/>
                        </a:buClr>
                      </a:pPr>
                      <a:r>
                        <a:rPr lang="en-US" sz="1200" dirty="0" smtClean="0">
                          <a:solidFill>
                            <a:srgbClr val="000000"/>
                          </a:solidFill>
                          <a:latin typeface="+mn-lt"/>
                        </a:rPr>
                        <a:t>This case</a:t>
                      </a:r>
                      <a:r>
                        <a:rPr lang="en-US" sz="1200" baseline="0" dirty="0" smtClean="0">
                          <a:solidFill>
                            <a:srgbClr val="000000"/>
                          </a:solidFill>
                          <a:latin typeface="+mn-lt"/>
                        </a:rPr>
                        <a:t> is focusing on a cost benefit  (incremental, and non incremental) for the network.</a:t>
                      </a:r>
                    </a:p>
                    <a:p>
                      <a:pPr>
                        <a:buClr>
                          <a:srgbClr val="000000"/>
                        </a:buClr>
                      </a:pPr>
                      <a:endParaRPr lang="en-US" sz="1200" baseline="0" dirty="0" smtClean="0">
                        <a:solidFill>
                          <a:srgbClr val="000000"/>
                        </a:solidFill>
                        <a:latin typeface="+mn-lt"/>
                      </a:endParaRPr>
                    </a:p>
                    <a:p>
                      <a:pPr>
                        <a:buClr>
                          <a:srgbClr val="000000"/>
                        </a:buClr>
                      </a:pPr>
                      <a:r>
                        <a:rPr lang="en-US" sz="1200" baseline="0" dirty="0" smtClean="0">
                          <a:solidFill>
                            <a:srgbClr val="000000"/>
                          </a:solidFill>
                          <a:latin typeface="+mn-lt"/>
                        </a:rPr>
                        <a:t>The candidate should present a framework focusing on :</a:t>
                      </a:r>
                    </a:p>
                    <a:p>
                      <a:pPr marL="228600" indent="-228600">
                        <a:buClr>
                          <a:srgbClr val="000000"/>
                        </a:buClr>
                        <a:buAutoNum type="arabicPeriod"/>
                      </a:pPr>
                      <a:r>
                        <a:rPr lang="en-US" sz="1200" baseline="0" dirty="0" smtClean="0">
                          <a:solidFill>
                            <a:srgbClr val="000000"/>
                          </a:solidFill>
                          <a:latin typeface="+mn-lt"/>
                        </a:rPr>
                        <a:t>Industry : Understanding the network’s main competitors, trends, and most importantly the viewers who will play a key factor in this case.</a:t>
                      </a:r>
                    </a:p>
                    <a:p>
                      <a:pPr marL="228600" indent="-228600">
                        <a:buClr>
                          <a:srgbClr val="000000"/>
                        </a:buClr>
                        <a:buAutoNum type="arabicPeriod"/>
                      </a:pPr>
                      <a:r>
                        <a:rPr lang="en-US" sz="1200" baseline="0" dirty="0" smtClean="0">
                          <a:solidFill>
                            <a:srgbClr val="000000"/>
                          </a:solidFill>
                          <a:latin typeface="+mn-lt"/>
                        </a:rPr>
                        <a:t>Company – Basic profitability tree, the financials of the company (do they have enough money  to go through with this bid), and the feasibility of proceeding with this bid (can they actually “pull it off”).</a:t>
                      </a:r>
                    </a:p>
                    <a:p>
                      <a:pPr marL="228600" indent="-228600">
                        <a:buClr>
                          <a:srgbClr val="000000"/>
                        </a:buClr>
                        <a:buAutoNum type="arabicPeriod"/>
                      </a:pPr>
                      <a:r>
                        <a:rPr lang="en-US" sz="1200" baseline="0" dirty="0" smtClean="0">
                          <a:solidFill>
                            <a:srgbClr val="000000"/>
                          </a:solidFill>
                          <a:latin typeface="+mn-lt"/>
                        </a:rPr>
                        <a:t>Risks that are affiliated with this bid: No experience, new market segment, losing the bid etc.</a:t>
                      </a:r>
                      <a:endParaRPr lang="en-US" sz="1200" dirty="0" smtClean="0">
                        <a:solidFill>
                          <a:srgbClr val="000000"/>
                        </a:solidFill>
                        <a:latin typeface="+mn-lt"/>
                      </a:endParaRPr>
                    </a:p>
                  </a:txBody>
                  <a:tcPr anchor="ctr"/>
                </a:tc>
              </a:tr>
            </a:tbl>
          </a:graphicData>
        </a:graphic>
      </p:graphicFrame>
      <p:sp>
        <p:nvSpPr>
          <p:cNvPr id="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40</a:t>
            </a:fld>
            <a:endParaRPr lang="en-US" dirty="0"/>
          </a:p>
        </p:txBody>
      </p:sp>
    </p:spTree>
    <p:extLst>
      <p:ext uri="{BB962C8B-B14F-4D97-AF65-F5344CB8AC3E}">
        <p14:creationId xmlns:p14="http://schemas.microsoft.com/office/powerpoint/2010/main" val="1545796990"/>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080884878"/>
              </p:ext>
            </p:extLst>
          </p:nvPr>
        </p:nvGraphicFramePr>
        <p:xfrm>
          <a:off x="228600" y="1295400"/>
          <a:ext cx="8534400" cy="5410200"/>
        </p:xfrm>
        <a:graphic>
          <a:graphicData uri="http://schemas.openxmlformats.org/drawingml/2006/table">
            <a:tbl>
              <a:tblPr firstRow="1" bandRow="1">
                <a:tableStyleId>{616DA210-FB5B-4158-B5E0-FEB733F419BA}</a:tableStyleId>
              </a:tblPr>
              <a:tblGrid>
                <a:gridCol w="1600200"/>
                <a:gridCol w="6934200"/>
              </a:tblGrid>
              <a:tr h="5410200">
                <a:tc>
                  <a:txBody>
                    <a:bodyPr/>
                    <a:lstStyle/>
                    <a:p>
                      <a:pPr algn="ctr"/>
                      <a:r>
                        <a:rPr lang="en-US" b="1" i="0" dirty="0" smtClean="0"/>
                        <a:t>Guidance</a:t>
                      </a:r>
                      <a:endParaRPr lang="en-US" sz="1000" i="0" dirty="0"/>
                    </a:p>
                  </a:txBody>
                  <a:tcPr anchor="ctr">
                    <a:solidFill>
                      <a:schemeClr val="tx1">
                        <a:alpha val="20000"/>
                      </a:schemeClr>
                    </a:solidFill>
                  </a:tcPr>
                </a:tc>
                <a:tc>
                  <a:txBody>
                    <a:bodyPr/>
                    <a:lstStyle/>
                    <a:p>
                      <a:pPr marL="0" indent="0">
                        <a:buFont typeface="Arial" charset="0"/>
                        <a:buNone/>
                      </a:pPr>
                      <a:r>
                        <a:rPr lang="en-US" sz="1200" b="0" i="0" kern="1200" baseline="0" dirty="0" smtClean="0">
                          <a:solidFill>
                            <a:schemeClr val="tx1"/>
                          </a:solidFill>
                          <a:latin typeface="+mn-lt"/>
                          <a:ea typeface="+mn-ea"/>
                          <a:cs typeface="+mn-cs"/>
                        </a:rPr>
                        <a:t>A good candidate should mention couple of potential revenue streams such as: Pay per view, advertisers, reselling re-runs rights, merchandise. </a:t>
                      </a:r>
                    </a:p>
                    <a:p>
                      <a:pPr marL="171450" indent="-171450">
                        <a:buFont typeface="Arial" charset="0"/>
                        <a:buChar char="•"/>
                      </a:pPr>
                      <a:endParaRPr lang="en-US" sz="1200" b="1" i="0" kern="1200" baseline="0" dirty="0" smtClean="0">
                        <a:solidFill>
                          <a:schemeClr val="tx1"/>
                        </a:solidFill>
                        <a:latin typeface="+mn-lt"/>
                        <a:ea typeface="+mn-ea"/>
                        <a:cs typeface="+mn-cs"/>
                      </a:endParaRPr>
                    </a:p>
                    <a:p>
                      <a:pPr marL="0" indent="0">
                        <a:buFont typeface="Arial" charset="0"/>
                        <a:buNone/>
                      </a:pPr>
                      <a:r>
                        <a:rPr lang="en-US" sz="1200" b="1" i="0" kern="1200" baseline="0" dirty="0" smtClean="0">
                          <a:solidFill>
                            <a:schemeClr val="tx1"/>
                          </a:solidFill>
                          <a:latin typeface="+mn-lt"/>
                          <a:ea typeface="+mn-ea"/>
                          <a:cs typeface="+mn-cs"/>
                        </a:rPr>
                        <a:t>Information that should be provided by the interviewer: </a:t>
                      </a:r>
                    </a:p>
                    <a:p>
                      <a:pPr marL="0" indent="0">
                        <a:buFont typeface="Arial" charset="0"/>
                        <a:buNone/>
                      </a:pPr>
                      <a:endParaRPr lang="en-US" sz="1200" b="0" i="0" kern="1200" baseline="0" dirty="0" smtClean="0">
                        <a:solidFill>
                          <a:schemeClr val="tx1"/>
                        </a:solidFill>
                        <a:latin typeface="+mn-lt"/>
                        <a:ea typeface="+mn-ea"/>
                        <a:cs typeface="+mn-cs"/>
                      </a:endParaRPr>
                    </a:p>
                    <a:p>
                      <a:pPr marL="228600" indent="-228600">
                        <a:buAutoNum type="arabicPeriod"/>
                      </a:pPr>
                      <a:endParaRPr lang="en-US" sz="1200" b="1" i="0" kern="1200" baseline="0" dirty="0" smtClean="0">
                        <a:solidFill>
                          <a:schemeClr val="tx1"/>
                        </a:solidFill>
                        <a:latin typeface="+mn-lt"/>
                        <a:ea typeface="+mn-ea"/>
                        <a:cs typeface="+mn-cs"/>
                      </a:endParaRPr>
                    </a:p>
                    <a:p>
                      <a:r>
                        <a:rPr lang="en-US" sz="1200" b="0" i="0" kern="1200" baseline="0" dirty="0" smtClean="0">
                          <a:solidFill>
                            <a:schemeClr val="tx1"/>
                          </a:solidFill>
                          <a:latin typeface="+mn-lt"/>
                          <a:ea typeface="+mn-ea"/>
                          <a:cs typeface="+mn-cs"/>
                        </a:rPr>
                        <a:t> </a:t>
                      </a: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pPr marL="0" indent="0">
                        <a:buFont typeface="Arial" charset="0"/>
                        <a:buNone/>
                      </a:pPr>
                      <a:r>
                        <a:rPr lang="en-US" sz="1200" b="1" i="0" kern="1200" baseline="0" dirty="0" smtClean="0">
                          <a:solidFill>
                            <a:schemeClr val="tx1"/>
                          </a:solidFill>
                          <a:latin typeface="+mn-lt"/>
                          <a:ea typeface="+mn-ea"/>
                          <a:cs typeface="+mn-cs"/>
                        </a:rPr>
                        <a:t>Upon request only the interviewer should proved the following information: </a:t>
                      </a:r>
                    </a:p>
                    <a:p>
                      <a:pPr marL="171450" indent="-171450">
                        <a:buFont typeface="Arial" charset="0"/>
                        <a:buChar char="•"/>
                      </a:pPr>
                      <a:r>
                        <a:rPr lang="en-US" sz="1200" b="0" i="0" kern="1200" baseline="0" dirty="0" smtClean="0">
                          <a:solidFill>
                            <a:schemeClr val="tx1"/>
                          </a:solidFill>
                          <a:latin typeface="+mn-lt"/>
                          <a:ea typeface="+mn-ea"/>
                          <a:cs typeface="+mn-cs"/>
                        </a:rPr>
                        <a:t>Prime time: week days (M-F) – 7 p.m. – 11 p.m., weekends (S+S) – 12 hours a day day.</a:t>
                      </a:r>
                    </a:p>
                    <a:p>
                      <a:pPr marL="171450" indent="-171450">
                        <a:buFont typeface="Arial" charset="0"/>
                        <a:buChar char="•"/>
                      </a:pPr>
                      <a:r>
                        <a:rPr lang="en-US" sz="1200" b="0" i="0" kern="1200" baseline="0" dirty="0" smtClean="0">
                          <a:solidFill>
                            <a:schemeClr val="tx1"/>
                          </a:solidFill>
                          <a:latin typeface="+mn-lt"/>
                          <a:ea typeface="+mn-ea"/>
                          <a:cs typeface="+mn-cs"/>
                        </a:rPr>
                        <a:t>The Olympics will be held for 17 days, 10 weekdays, 5 weekends days, and two special events</a:t>
                      </a:r>
                    </a:p>
                    <a:p>
                      <a:pPr marL="171450" indent="-171450">
                        <a:buFont typeface="Arial" charset="0"/>
                        <a:buChar char="•"/>
                      </a:pPr>
                      <a:r>
                        <a:rPr lang="en-US" sz="1200" b="0" i="0" kern="1200" baseline="0" dirty="0" smtClean="0">
                          <a:solidFill>
                            <a:schemeClr val="tx1"/>
                          </a:solidFill>
                          <a:latin typeface="+mn-lt"/>
                          <a:ea typeface="+mn-ea"/>
                          <a:cs typeface="+mn-cs"/>
                        </a:rPr>
                        <a:t>The Olympics will start with an opening ceremony (7 p.m. – 11 p.m.), and will end with a closing event (9 a.m. – 5 p.m.).</a:t>
                      </a:r>
                    </a:p>
                    <a:p>
                      <a:pPr marL="171450" indent="-171450">
                        <a:buFont typeface="Arial" charset="0"/>
                        <a:buChar char="•"/>
                      </a:pPr>
                      <a:r>
                        <a:rPr lang="en-US" sz="1200" b="0" i="0" kern="1200" baseline="0" dirty="0" smtClean="0">
                          <a:solidFill>
                            <a:schemeClr val="tx1"/>
                          </a:solidFill>
                          <a:latin typeface="+mn-lt"/>
                          <a:ea typeface="+mn-ea"/>
                          <a:cs typeface="+mn-cs"/>
                        </a:rPr>
                        <a:t>The audience will tolerate only 10 minutes of commercials per hour.</a:t>
                      </a:r>
                    </a:p>
                    <a:p>
                      <a:pPr marL="171450" marR="0" indent="-171450" algn="l" defTabSz="457200" rtl="0" eaLnBrk="1" fontAlgn="auto" latinLnBrk="0" hangingPunct="1">
                        <a:lnSpc>
                          <a:spcPct val="100000"/>
                        </a:lnSpc>
                        <a:spcBef>
                          <a:spcPts val="0"/>
                        </a:spcBef>
                        <a:spcAft>
                          <a:spcPts val="0"/>
                        </a:spcAft>
                        <a:buClrTx/>
                        <a:buSzTx/>
                        <a:buFont typeface="Arial" charset="0"/>
                        <a:buChar char="•"/>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charset="0"/>
                        <a:buNone/>
                        <a:tabLst/>
                        <a:defRPr/>
                      </a:pPr>
                      <a:r>
                        <a:rPr lang="en-US" sz="1200" b="1" i="0" kern="1200" baseline="0" dirty="0" smtClean="0">
                          <a:solidFill>
                            <a:schemeClr val="tx1"/>
                          </a:solidFill>
                          <a:latin typeface="+mn-lt"/>
                          <a:ea typeface="+mn-ea"/>
                          <a:cs typeface="+mn-cs"/>
                        </a:rPr>
                        <a:t>The candidate has to make an assumption when the broadcasting will start and will they end</a:t>
                      </a:r>
                      <a:r>
                        <a:rPr lang="en-US" sz="1200" b="0" i="0" kern="1200" baseline="0" dirty="0" smtClean="0">
                          <a:solidFill>
                            <a:schemeClr val="tx1"/>
                          </a:solidFill>
                          <a:latin typeface="+mn-lt"/>
                          <a:ea typeface="+mn-ea"/>
                          <a:cs typeface="+mn-cs"/>
                        </a:rPr>
                        <a:t> (11 a.m. – 11 p.m. every day is reasonable), with justification. A strong candidate will talk about time differences between Russia and the U.S (effects the time when the events should be broadcasted).</a:t>
                      </a:r>
                    </a:p>
                    <a:p>
                      <a:pPr marL="0" indent="0">
                        <a:buFont typeface="Arial" charset="0"/>
                        <a:buNone/>
                      </a:pPr>
                      <a:endParaRPr lang="en-US" sz="1200" b="0" i="0" kern="1200" dirty="0">
                        <a:solidFill>
                          <a:schemeClr val="tx1"/>
                        </a:solidFill>
                        <a:latin typeface="Calibri" pitchFamily="34" charset="0"/>
                        <a:ea typeface="+mn-ea"/>
                        <a:cs typeface="+mn-cs"/>
                      </a:endParaRPr>
                    </a:p>
                  </a:txBody>
                  <a:tcPr>
                    <a:solidFill>
                      <a:schemeClr val="tx1">
                        <a:alpha val="20000"/>
                      </a:schemeClr>
                    </a:solidFill>
                  </a:tcPr>
                </a:tc>
              </a:tr>
            </a:tbl>
          </a:graphicData>
        </a:graphic>
      </p:graphicFrame>
      <p:pic>
        <p:nvPicPr>
          <p:cNvPr id="54286"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9" name="TextBox 9"/>
          <p:cNvSpPr txBox="1">
            <a:spLocks noChangeArrowheads="1"/>
          </p:cNvSpPr>
          <p:nvPr/>
        </p:nvSpPr>
        <p:spPr bwMode="auto">
          <a:xfrm>
            <a:off x="1828800" y="401638"/>
            <a:ext cx="5943600" cy="461962"/>
          </a:xfrm>
          <a:prstGeom prst="rect">
            <a:avLst/>
          </a:prstGeom>
          <a:noFill/>
          <a:ln w="9525">
            <a:noFill/>
            <a:miter lim="800000"/>
            <a:headEnd/>
            <a:tailEnd/>
          </a:ln>
        </p:spPr>
        <p:txBody>
          <a:bodyPr>
            <a:spAutoFit/>
          </a:bodyPr>
          <a:lstStyle/>
          <a:p>
            <a:r>
              <a:rPr lang="en-US" sz="2400" b="1" dirty="0"/>
              <a:t>Case 5: </a:t>
            </a:r>
            <a:r>
              <a:rPr lang="en-US" sz="2400" b="1" dirty="0" smtClean="0"/>
              <a:t>Winter Olympics</a:t>
            </a:r>
            <a:endParaRPr lang="en-US" sz="2400" b="1" dirty="0"/>
          </a:p>
        </p:txBody>
      </p:sp>
      <p:graphicFrame>
        <p:nvGraphicFramePr>
          <p:cNvPr id="2" name="Table 1"/>
          <p:cNvGraphicFramePr>
            <a:graphicFrameLocks noGrp="1"/>
          </p:cNvGraphicFramePr>
          <p:nvPr>
            <p:extLst>
              <p:ext uri="{D42A27DB-BD31-4B8C-83A1-F6EECF244321}">
                <p14:modId xmlns:p14="http://schemas.microsoft.com/office/powerpoint/2010/main" val="1628031511"/>
              </p:ext>
            </p:extLst>
          </p:nvPr>
        </p:nvGraphicFramePr>
        <p:xfrm>
          <a:off x="2170771" y="2289112"/>
          <a:ext cx="3802063" cy="1112520"/>
        </p:xfrm>
        <a:graphic>
          <a:graphicData uri="http://schemas.openxmlformats.org/drawingml/2006/table">
            <a:tbl>
              <a:tblPr firstRow="1" bandRow="1">
                <a:tableStyleId>{5C22544A-7EE6-4342-B048-85BDC9FD1C3A}</a:tableStyleId>
              </a:tblPr>
              <a:tblGrid>
                <a:gridCol w="1139952"/>
                <a:gridCol w="2662111"/>
              </a:tblGrid>
              <a:tr h="370840">
                <a:tc>
                  <a:txBody>
                    <a:bodyPr/>
                    <a:lstStyle/>
                    <a:p>
                      <a:r>
                        <a:rPr lang="en-US" sz="1200" b="1" dirty="0" smtClean="0">
                          <a:solidFill>
                            <a:schemeClr val="tx1"/>
                          </a:solidFill>
                        </a:rPr>
                        <a:t>Type of hour</a:t>
                      </a:r>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smtClean="0">
                          <a:solidFill>
                            <a:schemeClr val="tx1"/>
                          </a:solidFill>
                        </a:rPr>
                        <a:t>Value per 30 seconds commercial</a:t>
                      </a:r>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1200" dirty="0" smtClean="0"/>
                        <a:t>Prime time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$400k</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1200" dirty="0" smtClean="0"/>
                        <a:t>Else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$200k</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41</a:t>
            </a:fld>
            <a:endParaRPr lang="en-US" dirty="0"/>
          </a:p>
        </p:txBody>
      </p:sp>
    </p:spTree>
    <p:extLst>
      <p:ext uri="{BB962C8B-B14F-4D97-AF65-F5344CB8AC3E}">
        <p14:creationId xmlns:p14="http://schemas.microsoft.com/office/powerpoint/2010/main" val="1147105999"/>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328219613"/>
              </p:ext>
            </p:extLst>
          </p:nvPr>
        </p:nvGraphicFramePr>
        <p:xfrm>
          <a:off x="228600" y="1295400"/>
          <a:ext cx="8642124" cy="5410200"/>
        </p:xfrm>
        <a:graphic>
          <a:graphicData uri="http://schemas.openxmlformats.org/drawingml/2006/table">
            <a:tbl>
              <a:tblPr firstRow="1" bandRow="1">
                <a:tableStyleId>{616DA210-FB5B-4158-B5E0-FEB733F419BA}</a:tableStyleId>
              </a:tblPr>
              <a:tblGrid>
                <a:gridCol w="1620398"/>
                <a:gridCol w="7021726"/>
              </a:tblGrid>
              <a:tr h="5410200">
                <a:tc>
                  <a:txBody>
                    <a:bodyPr/>
                    <a:lstStyle/>
                    <a:p>
                      <a:pPr algn="ctr"/>
                      <a:r>
                        <a:rPr lang="en-US" b="1" i="0" dirty="0" smtClean="0"/>
                        <a:t>Guidance</a:t>
                      </a:r>
                      <a:endParaRPr lang="en-US" sz="1000" i="0" dirty="0"/>
                    </a:p>
                  </a:txBody>
                  <a:tcPr anchor="ctr">
                    <a:solidFill>
                      <a:schemeClr val="tx1">
                        <a:alpha val="20000"/>
                      </a:schemeClr>
                    </a:solidFill>
                  </a:tcPr>
                </a:tc>
                <a:tc>
                  <a:txBody>
                    <a:bodyPr/>
                    <a:lstStyle/>
                    <a:p>
                      <a:r>
                        <a:rPr lang="en-US" sz="1200" b="0" i="0" kern="1200" dirty="0" smtClean="0">
                          <a:solidFill>
                            <a:schemeClr val="tx1"/>
                          </a:solidFill>
                          <a:latin typeface="+mn-lt"/>
                          <a:ea typeface="+mn-ea"/>
                          <a:cs typeface="+mn-cs"/>
                        </a:rPr>
                        <a:t>The</a:t>
                      </a:r>
                      <a:r>
                        <a:rPr lang="en-US" sz="1200" b="0" i="0" kern="1200" baseline="0" dirty="0" smtClean="0">
                          <a:solidFill>
                            <a:schemeClr val="tx1"/>
                          </a:solidFill>
                          <a:latin typeface="+mn-lt"/>
                          <a:ea typeface="+mn-ea"/>
                          <a:cs typeface="+mn-cs"/>
                        </a:rPr>
                        <a:t> candidate should perform a revenue calculation (this is the best, and the simplest one to do!):</a:t>
                      </a:r>
                    </a:p>
                    <a:p>
                      <a:pPr marL="171450" indent="-171450">
                        <a:buFont typeface="Arial" charset="0"/>
                        <a:buChar char="•"/>
                      </a:pPr>
                      <a:r>
                        <a:rPr lang="en-US" sz="1200" b="0" i="0" kern="1200" baseline="0" dirty="0" smtClean="0">
                          <a:solidFill>
                            <a:schemeClr val="tx1"/>
                          </a:solidFill>
                          <a:latin typeface="+mn-lt"/>
                          <a:ea typeface="+mn-ea"/>
                          <a:cs typeface="+mn-cs"/>
                        </a:rPr>
                        <a:t>Each commercial is 30 seconds, 10 minutes of commercials / hour ~ 20 commercials / hr.</a:t>
                      </a:r>
                    </a:p>
                    <a:p>
                      <a:pPr marL="171450" indent="-171450">
                        <a:buFont typeface="Arial" charset="0"/>
                        <a:buChar char="•"/>
                      </a:pPr>
                      <a:r>
                        <a:rPr lang="en-US" sz="1200" b="0" i="0" kern="1200" baseline="0" dirty="0" smtClean="0">
                          <a:solidFill>
                            <a:schemeClr val="tx1"/>
                          </a:solidFill>
                          <a:latin typeface="+mn-lt"/>
                          <a:ea typeface="+mn-ea"/>
                          <a:cs typeface="+mn-cs"/>
                        </a:rPr>
                        <a:t>Prime time hour = 20 commercials * $400k = $8MM</a:t>
                      </a:r>
                    </a:p>
                    <a:p>
                      <a:pPr marL="171450" indent="-171450">
                        <a:buFont typeface="Arial" charset="0"/>
                        <a:buChar char="•"/>
                      </a:pPr>
                      <a:r>
                        <a:rPr lang="en-US" sz="1200" b="0" i="0" kern="1200" baseline="0" dirty="0" smtClean="0">
                          <a:solidFill>
                            <a:schemeClr val="tx1"/>
                          </a:solidFill>
                          <a:latin typeface="+mn-lt"/>
                          <a:ea typeface="+mn-ea"/>
                          <a:cs typeface="+mn-cs"/>
                        </a:rPr>
                        <a:t>Non prime time hour = 20 commercials * $200k = $4MM</a:t>
                      </a:r>
                    </a:p>
                    <a:p>
                      <a:pPr marL="171450" indent="-171450">
                        <a:buFont typeface="Arial" charset="0"/>
                        <a:buChar char="•"/>
                      </a:pPr>
                      <a:endParaRPr lang="en-US" sz="1200" b="0" i="0" kern="1200" baseline="0" dirty="0" smtClean="0">
                        <a:solidFill>
                          <a:schemeClr val="tx1"/>
                        </a:solidFill>
                        <a:latin typeface="+mn-lt"/>
                        <a:ea typeface="+mn-ea"/>
                        <a:cs typeface="+mn-cs"/>
                      </a:endParaRPr>
                    </a:p>
                    <a:p>
                      <a:pPr marL="0" indent="0">
                        <a:buFont typeface="Arial" charset="0"/>
                        <a:buNone/>
                      </a:pPr>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txBody>
                  <a:tcPr>
                    <a:solidFill>
                      <a:schemeClr val="tx1">
                        <a:alpha val="20000"/>
                      </a:schemeClr>
                    </a:solidFill>
                  </a:tcPr>
                </a:tc>
              </a:tr>
            </a:tbl>
          </a:graphicData>
        </a:graphic>
      </p:graphicFrame>
      <p:pic>
        <p:nvPicPr>
          <p:cNvPr id="54286"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9" name="TextBox 9"/>
          <p:cNvSpPr txBox="1">
            <a:spLocks noChangeArrowheads="1"/>
          </p:cNvSpPr>
          <p:nvPr/>
        </p:nvSpPr>
        <p:spPr bwMode="auto">
          <a:xfrm>
            <a:off x="1828800" y="401638"/>
            <a:ext cx="5943600" cy="461962"/>
          </a:xfrm>
          <a:prstGeom prst="rect">
            <a:avLst/>
          </a:prstGeom>
          <a:noFill/>
          <a:ln w="9525">
            <a:noFill/>
            <a:miter lim="800000"/>
            <a:headEnd/>
            <a:tailEnd/>
          </a:ln>
        </p:spPr>
        <p:txBody>
          <a:bodyPr>
            <a:spAutoFit/>
          </a:bodyPr>
          <a:lstStyle/>
          <a:p>
            <a:r>
              <a:rPr lang="en-US" sz="2400" b="1" dirty="0"/>
              <a:t>Case 5: </a:t>
            </a:r>
            <a:r>
              <a:rPr lang="en-US" sz="2400" b="1" dirty="0" smtClean="0"/>
              <a:t>Winter Olympics</a:t>
            </a:r>
            <a:endParaRPr lang="en-US" sz="2400" b="1" dirty="0"/>
          </a:p>
        </p:txBody>
      </p:sp>
      <p:graphicFrame>
        <p:nvGraphicFramePr>
          <p:cNvPr id="3" name="Table 2"/>
          <p:cNvGraphicFramePr>
            <a:graphicFrameLocks noGrp="1"/>
          </p:cNvGraphicFramePr>
          <p:nvPr>
            <p:extLst>
              <p:ext uri="{D42A27DB-BD31-4B8C-83A1-F6EECF244321}">
                <p14:modId xmlns:p14="http://schemas.microsoft.com/office/powerpoint/2010/main" val="2346946257"/>
              </p:ext>
            </p:extLst>
          </p:nvPr>
        </p:nvGraphicFramePr>
        <p:xfrm>
          <a:off x="1970389" y="2390467"/>
          <a:ext cx="6744123" cy="2616200"/>
        </p:xfrm>
        <a:graphic>
          <a:graphicData uri="http://schemas.openxmlformats.org/drawingml/2006/table">
            <a:tbl>
              <a:tblPr firstRow="1" bandRow="1">
                <a:tableStyleId>{5C22544A-7EE6-4342-B048-85BDC9FD1C3A}</a:tableStyleId>
              </a:tblPr>
              <a:tblGrid>
                <a:gridCol w="999089"/>
                <a:gridCol w="643856"/>
                <a:gridCol w="665358"/>
                <a:gridCol w="1583473"/>
                <a:gridCol w="759536"/>
                <a:gridCol w="2092811"/>
              </a:tblGrid>
              <a:tr h="370840">
                <a:tc>
                  <a:txBody>
                    <a:bodyPr/>
                    <a:lstStyle/>
                    <a:p>
                      <a:pPr algn="ctr"/>
                      <a:r>
                        <a:rPr lang="en-US" sz="1050" dirty="0" smtClean="0">
                          <a:solidFill>
                            <a:schemeClr val="tx1"/>
                          </a:solidFill>
                        </a:rPr>
                        <a:t>Type of day</a:t>
                      </a:r>
                      <a:endParaRPr lang="en-US" sz="105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solidFill>
                            <a:schemeClr val="tx1"/>
                          </a:solidFill>
                        </a:rPr>
                        <a:t># of prime time hours</a:t>
                      </a:r>
                      <a:endParaRPr lang="en-US" sz="105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solidFill>
                            <a:schemeClr val="tx1"/>
                          </a:solidFill>
                        </a:rPr>
                        <a:t># of non prime time hours</a:t>
                      </a:r>
                      <a:endParaRPr lang="en-US" sz="105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solidFill>
                            <a:schemeClr val="tx1"/>
                          </a:solidFill>
                        </a:rPr>
                        <a:t>Revenue per day</a:t>
                      </a:r>
                      <a:endParaRPr lang="en-US" sz="105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solidFill>
                            <a:schemeClr val="tx1"/>
                          </a:solidFill>
                        </a:rPr>
                        <a:t># of days</a:t>
                      </a:r>
                      <a:endParaRPr lang="en-US" sz="105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solidFill>
                            <a:schemeClr val="tx1"/>
                          </a:solidFill>
                        </a:rPr>
                        <a:t>Revenue per  day type</a:t>
                      </a:r>
                      <a:endParaRPr lang="en-US" sz="105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1050" dirty="0" smtClean="0"/>
                        <a:t>Weekend</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t>12</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t>0</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smtClean="0"/>
                        <a:t>12 </a:t>
                      </a:r>
                      <a:r>
                        <a:rPr lang="en-US" sz="1050" dirty="0" err="1" smtClean="0"/>
                        <a:t>hr</a:t>
                      </a:r>
                      <a:r>
                        <a:rPr lang="en-US" sz="1050" baseline="0" dirty="0" smtClean="0"/>
                        <a:t> * $8M = $96M</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t>5</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smtClean="0"/>
                        <a:t>5 * $96MM= $480M ~ </a:t>
                      </a:r>
                      <a:r>
                        <a:rPr lang="en-US" sz="1050" b="1" dirty="0" smtClean="0"/>
                        <a:t>$500M</a:t>
                      </a:r>
                      <a:endParaRPr lang="en-US"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1050" dirty="0" smtClean="0"/>
                        <a:t>Week days</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t>4</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t>8</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smtClean="0"/>
                        <a:t>4 </a:t>
                      </a:r>
                      <a:r>
                        <a:rPr lang="en-US" sz="1050" dirty="0" err="1" smtClean="0"/>
                        <a:t>hr</a:t>
                      </a:r>
                      <a:r>
                        <a:rPr lang="en-US" sz="1050" dirty="0" smtClean="0"/>
                        <a:t> * $8M+ </a:t>
                      </a:r>
                    </a:p>
                    <a:p>
                      <a:r>
                        <a:rPr lang="en-US" sz="1050" dirty="0" smtClean="0"/>
                        <a:t>8</a:t>
                      </a:r>
                      <a:r>
                        <a:rPr lang="en-US" sz="1050" baseline="0" dirty="0" smtClean="0"/>
                        <a:t> </a:t>
                      </a:r>
                      <a:r>
                        <a:rPr lang="en-US" sz="1050" baseline="0" dirty="0" err="1" smtClean="0"/>
                        <a:t>hr</a:t>
                      </a:r>
                      <a:r>
                        <a:rPr lang="en-US" sz="1050" baseline="0" dirty="0" smtClean="0"/>
                        <a:t> * $4M = $64M</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t>10</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aseline="0" dirty="0" smtClean="0"/>
                        <a:t>10 * $64M = $640M ~</a:t>
                      </a:r>
                      <a:r>
                        <a:rPr lang="en-US" sz="1050" b="1" baseline="0" dirty="0" smtClean="0"/>
                        <a:t>$600M</a:t>
                      </a:r>
                      <a:endParaRPr lang="en-US"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1050" dirty="0" smtClean="0"/>
                        <a:t>Special days (opening + closing)</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t>4 (O) + 8 (C)</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t>0</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aseline="0" dirty="0" smtClean="0"/>
                        <a:t>4 </a:t>
                      </a:r>
                      <a:r>
                        <a:rPr lang="en-US" sz="1050" baseline="0" dirty="0" err="1" smtClean="0"/>
                        <a:t>hr</a:t>
                      </a:r>
                      <a:r>
                        <a:rPr lang="en-US" sz="1050" baseline="0" dirty="0" smtClean="0"/>
                        <a:t> * $8M = $32M</a:t>
                      </a:r>
                    </a:p>
                    <a:p>
                      <a:r>
                        <a:rPr lang="en-US" sz="1050" baseline="0" dirty="0" smtClean="0"/>
                        <a:t>8 </a:t>
                      </a:r>
                      <a:r>
                        <a:rPr lang="en-US" sz="1050" baseline="0" dirty="0" err="1" smtClean="0"/>
                        <a:t>hr</a:t>
                      </a:r>
                      <a:r>
                        <a:rPr lang="en-US" sz="1050" baseline="0" dirty="0" smtClean="0"/>
                        <a:t> * $8M = $64M</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smtClean="0"/>
                        <a:t>2</a:t>
                      </a:r>
                      <a:r>
                        <a:rPr lang="en-US" sz="1050" baseline="0" dirty="0" smtClean="0"/>
                        <a:t> (F +S)</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smtClean="0"/>
                        <a:t>$64M</a:t>
                      </a:r>
                      <a:r>
                        <a:rPr lang="en-US" sz="1050" baseline="0" dirty="0" smtClean="0"/>
                        <a:t> + $32M = $96M ~ </a:t>
                      </a:r>
                      <a:r>
                        <a:rPr lang="en-US" sz="1050" b="1" baseline="0" dirty="0" smtClean="0"/>
                        <a:t>$100M</a:t>
                      </a:r>
                      <a:endParaRPr lang="en-US" sz="1050"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1050" dirty="0" smtClean="0"/>
                        <a:t>Total revenue</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1" dirty="0" smtClean="0"/>
                        <a:t>~$1.2B (okay to round)</a:t>
                      </a:r>
                      <a:endParaRPr lang="en-US"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42</a:t>
            </a:fld>
            <a:endParaRPr lang="en-US" dirty="0"/>
          </a:p>
        </p:txBody>
      </p:sp>
    </p:spTree>
    <p:extLst>
      <p:ext uri="{BB962C8B-B14F-4D97-AF65-F5344CB8AC3E}">
        <p14:creationId xmlns:p14="http://schemas.microsoft.com/office/powerpoint/2010/main" val="3303216006"/>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685805094"/>
              </p:ext>
            </p:extLst>
          </p:nvPr>
        </p:nvGraphicFramePr>
        <p:xfrm>
          <a:off x="228600" y="1295400"/>
          <a:ext cx="8534400" cy="4737410"/>
        </p:xfrm>
        <a:graphic>
          <a:graphicData uri="http://schemas.openxmlformats.org/drawingml/2006/table">
            <a:tbl>
              <a:tblPr firstRow="1" bandRow="1">
                <a:tableStyleId>{616DA210-FB5B-4158-B5E0-FEB733F419BA}</a:tableStyleId>
              </a:tblPr>
              <a:tblGrid>
                <a:gridCol w="1600200"/>
                <a:gridCol w="6934200"/>
              </a:tblGrid>
              <a:tr h="4737410">
                <a:tc>
                  <a:txBody>
                    <a:bodyPr/>
                    <a:lstStyle/>
                    <a:p>
                      <a:pPr algn="ctr"/>
                      <a:r>
                        <a:rPr lang="en-US" b="1" i="0" dirty="0" smtClean="0"/>
                        <a:t>Guidance</a:t>
                      </a:r>
                      <a:endParaRPr lang="en-US" sz="1000" i="0" dirty="0"/>
                    </a:p>
                  </a:txBody>
                  <a:tcPr anchor="ctr">
                    <a:solidFill>
                      <a:schemeClr val="tx1">
                        <a:alpha val="20000"/>
                      </a:schemeClr>
                    </a:solidFill>
                  </a:tcPr>
                </a:tc>
                <a:tc>
                  <a:txBody>
                    <a:bodyPr/>
                    <a:lstStyle/>
                    <a:p>
                      <a:pPr marL="0" indent="0">
                        <a:buFont typeface="Arial" charset="0"/>
                        <a:buNone/>
                      </a:pPr>
                      <a:r>
                        <a:rPr lang="en-US" sz="1200" b="0" i="0" kern="1200" dirty="0" smtClean="0">
                          <a:solidFill>
                            <a:schemeClr val="tx1"/>
                          </a:solidFill>
                          <a:latin typeface="+mn-lt"/>
                          <a:ea typeface="+mn-ea"/>
                          <a:cs typeface="+mn-cs"/>
                        </a:rPr>
                        <a:t>The</a:t>
                      </a:r>
                      <a:r>
                        <a:rPr lang="en-US" sz="1200" b="0" i="0" kern="1200" baseline="0" dirty="0" smtClean="0">
                          <a:solidFill>
                            <a:schemeClr val="tx1"/>
                          </a:solidFill>
                          <a:latin typeface="+mn-lt"/>
                          <a:ea typeface="+mn-ea"/>
                          <a:cs typeface="+mn-cs"/>
                        </a:rPr>
                        <a:t> candidate should now move into cost analysis and brainstorm about potential costs.  The candidate should look at segmenting costs by:</a:t>
                      </a:r>
                    </a:p>
                    <a:p>
                      <a:pPr marL="171450" indent="-171450">
                        <a:buFont typeface="Arial" charset="0"/>
                        <a:buChar char="•"/>
                      </a:pPr>
                      <a:r>
                        <a:rPr lang="en-US" sz="1200" b="0" i="0" kern="1200" baseline="0" dirty="0" smtClean="0">
                          <a:solidFill>
                            <a:schemeClr val="tx1"/>
                          </a:solidFill>
                          <a:latin typeface="+mn-lt"/>
                          <a:ea typeface="+mn-ea"/>
                          <a:cs typeface="+mn-cs"/>
                        </a:rPr>
                        <a:t>Fixed: marketing (advertising before the events), equipment (the network does not own sports filming equipment). </a:t>
                      </a:r>
                    </a:p>
                    <a:p>
                      <a:pPr marL="171450" indent="-171450">
                        <a:buFont typeface="Arial" charset="0"/>
                        <a:buChar char="•"/>
                      </a:pPr>
                      <a:r>
                        <a:rPr lang="en-US" sz="1200" b="0" i="0" kern="1200" baseline="0" dirty="0" smtClean="0">
                          <a:solidFill>
                            <a:schemeClr val="tx1"/>
                          </a:solidFill>
                          <a:latin typeface="+mn-lt"/>
                          <a:ea typeface="+mn-ea"/>
                          <a:cs typeface="+mn-cs"/>
                        </a:rPr>
                        <a:t>Variable: additional labor, transportation, accommodation, security for crew, processing, financing (investment). </a:t>
                      </a:r>
                    </a:p>
                    <a:p>
                      <a:pPr marL="0" indent="0">
                        <a:buFont typeface="Arial" charset="0"/>
                        <a:buNone/>
                      </a:pPr>
                      <a:endParaRPr lang="en-US" sz="1200" b="0" i="0" kern="1200" baseline="0" dirty="0" smtClean="0">
                        <a:solidFill>
                          <a:schemeClr val="tx1"/>
                        </a:solidFill>
                        <a:latin typeface="+mn-lt"/>
                        <a:ea typeface="+mn-ea"/>
                        <a:cs typeface="+mn-cs"/>
                      </a:endParaRPr>
                    </a:p>
                    <a:p>
                      <a:pPr marL="0" indent="0">
                        <a:buFont typeface="Arial" charset="0"/>
                        <a:buNone/>
                      </a:pPr>
                      <a:r>
                        <a:rPr lang="en-US" sz="1200" b="1" i="0" kern="1200" baseline="0" dirty="0" smtClean="0">
                          <a:solidFill>
                            <a:schemeClr val="tx1"/>
                          </a:solidFill>
                          <a:latin typeface="+mn-lt"/>
                          <a:ea typeface="+mn-ea"/>
                          <a:cs typeface="+mn-cs"/>
                        </a:rPr>
                        <a:t>The interviewer should provide the candidate the with the total costs only after the brainstorming - $450M</a:t>
                      </a:r>
                      <a:r>
                        <a:rPr lang="en-US" sz="1200" b="0" i="0" kern="1200" baseline="0" dirty="0" smtClean="0">
                          <a:solidFill>
                            <a:schemeClr val="tx1"/>
                          </a:solidFill>
                          <a:latin typeface="+mn-lt"/>
                          <a:ea typeface="+mn-ea"/>
                          <a:cs typeface="+mn-cs"/>
                        </a:rPr>
                        <a:t>.</a:t>
                      </a:r>
                    </a:p>
                    <a:p>
                      <a:pPr marL="0" indent="0">
                        <a:buFont typeface="Arial" charset="0"/>
                        <a:buNone/>
                      </a:pPr>
                      <a:endParaRPr lang="en-US" sz="1200" b="0" i="0" kern="1200" baseline="0" dirty="0" smtClean="0">
                        <a:solidFill>
                          <a:schemeClr val="tx1"/>
                        </a:solidFill>
                        <a:latin typeface="+mn-lt"/>
                        <a:ea typeface="+mn-ea"/>
                        <a:cs typeface="+mn-cs"/>
                      </a:endParaRPr>
                    </a:p>
                    <a:p>
                      <a:pPr marL="0" indent="0">
                        <a:buFont typeface="Arial" charset="0"/>
                        <a:buNone/>
                      </a:pPr>
                      <a:r>
                        <a:rPr lang="en-US" sz="1200" b="0" i="0" kern="1200" baseline="0" dirty="0" smtClean="0">
                          <a:solidFill>
                            <a:schemeClr val="tx1"/>
                          </a:solidFill>
                          <a:latin typeface="+mn-lt"/>
                          <a:ea typeface="+mn-ea"/>
                          <a:cs typeface="+mn-cs"/>
                        </a:rPr>
                        <a:t>In addition to these costs, a strong candidate will recognize potential to lose revenue from the current commercials. </a:t>
                      </a:r>
                    </a:p>
                    <a:p>
                      <a:pPr marL="171450" indent="-171450">
                        <a:buFont typeface="Arial" charset="0"/>
                        <a:buChar char="•"/>
                      </a:pPr>
                      <a:r>
                        <a:rPr lang="en-US" sz="1200" b="0" i="0" kern="1200" baseline="0" dirty="0" smtClean="0">
                          <a:solidFill>
                            <a:schemeClr val="tx1"/>
                          </a:solidFill>
                          <a:latin typeface="+mn-lt"/>
                          <a:ea typeface="+mn-ea"/>
                          <a:cs typeface="+mn-cs"/>
                        </a:rPr>
                        <a:t>The candidate should estimate how much the client stands to lose from existing commercial revenues</a:t>
                      </a:r>
                    </a:p>
                    <a:p>
                      <a:pPr marL="171450" indent="-171450">
                        <a:buFont typeface="Arial" charset="0"/>
                        <a:buChar char="•"/>
                      </a:pPr>
                      <a:r>
                        <a:rPr lang="en-US" sz="1200" b="0" i="0" kern="1200" baseline="0" dirty="0" smtClean="0">
                          <a:solidFill>
                            <a:schemeClr val="tx1"/>
                          </a:solidFill>
                          <a:latin typeface="+mn-lt"/>
                          <a:ea typeface="+mn-ea"/>
                          <a:cs typeface="+mn-cs"/>
                        </a:rPr>
                        <a:t>The estimation should be roughly half of the potential revenue</a:t>
                      </a:r>
                    </a:p>
                    <a:p>
                      <a:pPr marL="171450" indent="-171450">
                        <a:buFont typeface="Arial" charset="0"/>
                        <a:buChar char="•"/>
                      </a:pPr>
                      <a:r>
                        <a:rPr lang="en-US" sz="1200" b="0" i="0" kern="1200" baseline="0" dirty="0" smtClean="0">
                          <a:solidFill>
                            <a:schemeClr val="tx1"/>
                          </a:solidFill>
                          <a:latin typeface="+mn-lt"/>
                          <a:ea typeface="+mn-ea"/>
                          <a:cs typeface="+mn-cs"/>
                        </a:rPr>
                        <a:t>In this case the opportunity costs will be $1.2B/2 = </a:t>
                      </a:r>
                      <a:r>
                        <a:rPr lang="en-US" sz="1200" b="1" i="0" kern="1200" baseline="0" dirty="0" smtClean="0">
                          <a:solidFill>
                            <a:schemeClr val="tx1"/>
                          </a:solidFill>
                          <a:latin typeface="+mn-lt"/>
                          <a:ea typeface="+mn-ea"/>
                          <a:cs typeface="+mn-cs"/>
                        </a:rPr>
                        <a:t>$600M</a:t>
                      </a:r>
                      <a:r>
                        <a:rPr lang="en-US" sz="1200" b="0" i="0" kern="1200" baseline="0" dirty="0" smtClean="0">
                          <a:solidFill>
                            <a:schemeClr val="tx1"/>
                          </a:solidFill>
                          <a:latin typeface="+mn-lt"/>
                          <a:ea typeface="+mn-ea"/>
                          <a:cs typeface="+mn-cs"/>
                        </a:rPr>
                        <a:t>.</a:t>
                      </a:r>
                    </a:p>
                    <a:p>
                      <a:pPr marL="171450" indent="-171450">
                        <a:buFont typeface="Arial" charset="0"/>
                        <a:buChar char="•"/>
                      </a:pPr>
                      <a:endParaRPr lang="en-US" sz="1200" b="0" i="0" kern="1200" baseline="0" dirty="0" smtClean="0">
                        <a:solidFill>
                          <a:schemeClr val="tx1"/>
                        </a:solidFill>
                        <a:latin typeface="+mn-lt"/>
                        <a:ea typeface="+mn-ea"/>
                        <a:cs typeface="+mn-cs"/>
                      </a:endParaRPr>
                    </a:p>
                    <a:p>
                      <a:pPr marL="0" indent="0">
                        <a:buFont typeface="Arial" charset="0"/>
                        <a:buNone/>
                      </a:pPr>
                      <a:endParaRPr lang="en-US" sz="1200" b="0" i="0" kern="1200" baseline="0" dirty="0" smtClean="0">
                        <a:solidFill>
                          <a:schemeClr val="tx1"/>
                        </a:solidFill>
                        <a:latin typeface="+mn-lt"/>
                        <a:ea typeface="+mn-ea"/>
                        <a:cs typeface="+mn-cs"/>
                      </a:endParaRPr>
                    </a:p>
                    <a:p>
                      <a:pPr marL="0" indent="0">
                        <a:buFont typeface="Arial" charset="0"/>
                        <a:buNone/>
                      </a:pPr>
                      <a:r>
                        <a:rPr lang="en-US" sz="1200" b="0" i="0" kern="1200" baseline="0" dirty="0" smtClean="0">
                          <a:solidFill>
                            <a:schemeClr val="tx1"/>
                          </a:solidFill>
                          <a:latin typeface="+mn-lt"/>
                          <a:ea typeface="+mn-ea"/>
                          <a:cs typeface="+mn-cs"/>
                        </a:rPr>
                        <a:t>The </a:t>
                      </a:r>
                      <a:r>
                        <a:rPr lang="en-US" sz="1200" b="1" i="0" kern="1200" baseline="0" dirty="0" smtClean="0">
                          <a:solidFill>
                            <a:schemeClr val="tx1"/>
                          </a:solidFill>
                          <a:latin typeface="+mn-lt"/>
                          <a:ea typeface="+mn-ea"/>
                          <a:cs typeface="+mn-cs"/>
                        </a:rPr>
                        <a:t>max</a:t>
                      </a:r>
                      <a:r>
                        <a:rPr lang="en-US" sz="1200" b="0" i="0" kern="1200" baseline="0" dirty="0" smtClean="0">
                          <a:solidFill>
                            <a:schemeClr val="tx1"/>
                          </a:solidFill>
                          <a:latin typeface="+mn-lt"/>
                          <a:ea typeface="+mn-ea"/>
                          <a:cs typeface="+mn-cs"/>
                        </a:rPr>
                        <a:t> bid should be: $1.2B - $450M - $600M = </a:t>
                      </a:r>
                      <a:r>
                        <a:rPr lang="en-US" sz="1200" b="1" i="0" kern="1200" baseline="0" dirty="0" smtClean="0">
                          <a:solidFill>
                            <a:schemeClr val="tx1"/>
                          </a:solidFill>
                          <a:latin typeface="+mn-lt"/>
                          <a:ea typeface="+mn-ea"/>
                          <a:cs typeface="+mn-cs"/>
                        </a:rPr>
                        <a:t>$150M</a:t>
                      </a:r>
                      <a:r>
                        <a:rPr lang="en-US" sz="1200" b="0" i="0" kern="1200" baseline="0" dirty="0" smtClean="0">
                          <a:solidFill>
                            <a:schemeClr val="tx1"/>
                          </a:solidFill>
                          <a:latin typeface="+mn-lt"/>
                          <a:ea typeface="+mn-ea"/>
                          <a:cs typeface="+mn-cs"/>
                        </a:rPr>
                        <a:t>.</a:t>
                      </a:r>
                    </a:p>
                  </a:txBody>
                  <a:tcPr>
                    <a:solidFill>
                      <a:schemeClr val="tx1">
                        <a:alpha val="20000"/>
                      </a:schemeClr>
                    </a:solidFill>
                  </a:tcPr>
                </a:tc>
              </a:tr>
            </a:tbl>
          </a:graphicData>
        </a:graphic>
      </p:graphicFrame>
      <p:pic>
        <p:nvPicPr>
          <p:cNvPr id="54286"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9" name="TextBox 9"/>
          <p:cNvSpPr txBox="1">
            <a:spLocks noChangeArrowheads="1"/>
          </p:cNvSpPr>
          <p:nvPr/>
        </p:nvSpPr>
        <p:spPr bwMode="auto">
          <a:xfrm>
            <a:off x="1828800" y="401638"/>
            <a:ext cx="5943600" cy="461962"/>
          </a:xfrm>
          <a:prstGeom prst="rect">
            <a:avLst/>
          </a:prstGeom>
          <a:noFill/>
          <a:ln w="9525">
            <a:noFill/>
            <a:miter lim="800000"/>
            <a:headEnd/>
            <a:tailEnd/>
          </a:ln>
        </p:spPr>
        <p:txBody>
          <a:bodyPr>
            <a:spAutoFit/>
          </a:bodyPr>
          <a:lstStyle/>
          <a:p>
            <a:r>
              <a:rPr lang="en-US" sz="2400" b="1" dirty="0"/>
              <a:t>Case 5: </a:t>
            </a:r>
            <a:r>
              <a:rPr lang="en-US" sz="2400" b="1" dirty="0" smtClean="0"/>
              <a:t>Winter Olympics</a:t>
            </a:r>
            <a:endParaRPr lang="en-US" sz="2400" b="1" dirty="0"/>
          </a:p>
        </p:txBody>
      </p:sp>
      <p:sp>
        <p:nvSpPr>
          <p:cNvPr id="8"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43</a:t>
            </a:fld>
            <a:endParaRPr lang="en-US" dirty="0"/>
          </a:p>
        </p:txBody>
      </p:sp>
    </p:spTree>
    <p:extLst>
      <p:ext uri="{BB962C8B-B14F-4D97-AF65-F5344CB8AC3E}">
        <p14:creationId xmlns:p14="http://schemas.microsoft.com/office/powerpoint/2010/main" val="2292568520"/>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53254" name="TextBox 9"/>
          <p:cNvSpPr txBox="1">
            <a:spLocks noChangeArrowheads="1"/>
          </p:cNvSpPr>
          <p:nvPr/>
        </p:nvSpPr>
        <p:spPr bwMode="auto">
          <a:xfrm>
            <a:off x="1828800" y="40394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5: </a:t>
            </a:r>
            <a:r>
              <a:rPr lang="en-US" sz="2400" b="1" dirty="0"/>
              <a:t>Winter Olympics</a:t>
            </a:r>
          </a:p>
        </p:txBody>
      </p:sp>
      <p:graphicFrame>
        <p:nvGraphicFramePr>
          <p:cNvPr id="12" name="Table 11"/>
          <p:cNvGraphicFramePr>
            <a:graphicFrameLocks noGrp="1"/>
          </p:cNvGraphicFramePr>
          <p:nvPr>
            <p:extLst>
              <p:ext uri="{D42A27DB-BD31-4B8C-83A1-F6EECF244321}">
                <p14:modId xmlns:p14="http://schemas.microsoft.com/office/powerpoint/2010/main" val="3796314881"/>
              </p:ext>
            </p:extLst>
          </p:nvPr>
        </p:nvGraphicFramePr>
        <p:xfrm>
          <a:off x="304800" y="1295400"/>
          <a:ext cx="8442158" cy="2424981"/>
        </p:xfrm>
        <a:graphic>
          <a:graphicData uri="http://schemas.openxmlformats.org/drawingml/2006/table">
            <a:tbl>
              <a:tblPr firstRow="1" bandRow="1">
                <a:tableStyleId>{616DA210-FB5B-4158-B5E0-FEB733F419BA}</a:tableStyleId>
              </a:tblPr>
              <a:tblGrid>
                <a:gridCol w="1582905"/>
                <a:gridCol w="6859253"/>
              </a:tblGrid>
              <a:tr h="687621">
                <a:tc>
                  <a:txBody>
                    <a:bodyPr/>
                    <a:lstStyle/>
                    <a:p>
                      <a:pPr algn="ctr"/>
                      <a:r>
                        <a:rPr lang="en-US" dirty="0" smtClean="0"/>
                        <a:t>Prompt #2</a:t>
                      </a:r>
                      <a:endParaRPr lang="en-US" dirty="0"/>
                    </a:p>
                  </a:txBody>
                  <a:tcPr anchor="ctr"/>
                </a:tc>
                <a:tc>
                  <a:txBody>
                    <a:bodyPr/>
                    <a:lstStyle/>
                    <a:p>
                      <a:pPr marL="6350" lvl="1" indent="0">
                        <a:buClr>
                          <a:srgbClr val="000000"/>
                        </a:buClr>
                      </a:pPr>
                      <a:r>
                        <a:rPr lang="en-US" sz="1200" b="1" dirty="0" smtClean="0">
                          <a:solidFill>
                            <a:srgbClr val="000000"/>
                          </a:solidFill>
                          <a:latin typeface="+mn-lt"/>
                        </a:rPr>
                        <a:t>What other factors</a:t>
                      </a:r>
                      <a:r>
                        <a:rPr lang="en-US" sz="1200" b="1" baseline="0" dirty="0" smtClean="0">
                          <a:solidFill>
                            <a:srgbClr val="000000"/>
                          </a:solidFill>
                          <a:latin typeface="+mn-lt"/>
                        </a:rPr>
                        <a:t> does the network take into account before proceeding with the bid?</a:t>
                      </a:r>
                      <a:endParaRPr lang="en-US" sz="1200" b="1" dirty="0" smtClean="0">
                        <a:solidFill>
                          <a:srgbClr val="000000"/>
                        </a:solidFill>
                        <a:latin typeface="+mn-lt"/>
                      </a:endParaRPr>
                    </a:p>
                  </a:txBody>
                  <a:tcPr anchor="ctr"/>
                </a:tc>
              </a:tr>
              <a:tr h="1440403">
                <a:tc>
                  <a:txBody>
                    <a:bodyPr/>
                    <a:lstStyle/>
                    <a:p>
                      <a:pPr algn="ctr"/>
                      <a:r>
                        <a:rPr lang="en-US" b="1" dirty="0" smtClean="0"/>
                        <a:t>Guidance</a:t>
                      </a:r>
                      <a:endParaRPr lang="en-US" b="1" baseline="0" dirty="0" smtClean="0"/>
                    </a:p>
                  </a:txBody>
                  <a:tcPr anchor="ctr"/>
                </a:tc>
                <a:tc>
                  <a:txBody>
                    <a:bodyPr/>
                    <a:lstStyle/>
                    <a:p>
                      <a:pPr>
                        <a:buClr>
                          <a:srgbClr val="000000"/>
                        </a:buClr>
                      </a:pPr>
                      <a:r>
                        <a:rPr lang="en-US" sz="1200" dirty="0" smtClean="0">
                          <a:solidFill>
                            <a:srgbClr val="000000"/>
                          </a:solidFill>
                          <a:latin typeface="+mn-lt"/>
                        </a:rPr>
                        <a:t>The candidate should address</a:t>
                      </a:r>
                      <a:r>
                        <a:rPr lang="en-US" sz="1200" baseline="0" dirty="0" smtClean="0">
                          <a:solidFill>
                            <a:srgbClr val="000000"/>
                          </a:solidFill>
                          <a:latin typeface="+mn-lt"/>
                        </a:rPr>
                        <a:t> a number of key issues:</a:t>
                      </a:r>
                    </a:p>
                    <a:p>
                      <a:pPr marL="346075" indent="-234950">
                        <a:buClr>
                          <a:srgbClr val="000000"/>
                        </a:buClr>
                        <a:buAutoNum type="arabicPeriod"/>
                      </a:pPr>
                      <a:r>
                        <a:rPr lang="en-US" sz="1200" baseline="0" dirty="0" smtClean="0">
                          <a:solidFill>
                            <a:srgbClr val="000000"/>
                          </a:solidFill>
                          <a:latin typeface="+mn-lt"/>
                        </a:rPr>
                        <a:t>Risks (mentioned in page #1 of the case). </a:t>
                      </a:r>
                    </a:p>
                    <a:p>
                      <a:pPr marL="401638" indent="0">
                        <a:buClr>
                          <a:srgbClr val="000000"/>
                        </a:buClr>
                        <a:buNone/>
                      </a:pPr>
                      <a:r>
                        <a:rPr lang="en-US" sz="1200" baseline="0" dirty="0" smtClean="0">
                          <a:solidFill>
                            <a:srgbClr val="000000"/>
                          </a:solidFill>
                          <a:latin typeface="+mn-lt"/>
                        </a:rPr>
                        <a:t>* Strong candidates will analyze what happens if client loses the bid (i.e. viewers lost to competing network, advertisers lost, revenue lost).</a:t>
                      </a:r>
                    </a:p>
                    <a:p>
                      <a:pPr marL="290513" indent="-179388">
                        <a:buClr>
                          <a:srgbClr val="000000"/>
                        </a:buClr>
                        <a:buNone/>
                      </a:pPr>
                      <a:r>
                        <a:rPr lang="en-US" sz="1200" baseline="0" dirty="0" smtClean="0">
                          <a:solidFill>
                            <a:srgbClr val="000000"/>
                          </a:solidFill>
                          <a:latin typeface="+mn-lt"/>
                        </a:rPr>
                        <a:t>2. Non incremental value – new viewers to our network (approaching new segments), larger viewer base, new advertisers, increase in brand name.  </a:t>
                      </a:r>
                    </a:p>
                    <a:p>
                      <a:pPr marL="0" indent="0">
                        <a:buClr>
                          <a:srgbClr val="000000"/>
                        </a:buClr>
                        <a:buNone/>
                      </a:pPr>
                      <a:endParaRPr lang="en-US" sz="1200" baseline="0" dirty="0" smtClean="0">
                        <a:solidFill>
                          <a:srgbClr val="000000"/>
                        </a:solidFill>
                        <a:latin typeface="+mn-lt"/>
                      </a:endParaRPr>
                    </a:p>
                    <a:p>
                      <a:pPr marL="0" indent="0">
                        <a:buClr>
                          <a:srgbClr val="000000"/>
                        </a:buClr>
                        <a:buNone/>
                      </a:pPr>
                      <a:r>
                        <a:rPr lang="en-US" sz="1200" baseline="0" dirty="0" smtClean="0">
                          <a:solidFill>
                            <a:srgbClr val="000000"/>
                          </a:solidFill>
                          <a:latin typeface="+mn-lt"/>
                        </a:rPr>
                        <a:t>The interviewer should prompt the candidate to form a recommendation which will integrate all parts of the case.</a:t>
                      </a:r>
                      <a:endParaRPr lang="en-US" sz="1200" dirty="0" smtClean="0">
                        <a:solidFill>
                          <a:srgbClr val="000000"/>
                        </a:solidFill>
                        <a:latin typeface="+mn-lt"/>
                      </a:endParaRPr>
                    </a:p>
                  </a:txBody>
                  <a:tcPr/>
                </a:tc>
              </a:tr>
            </a:tbl>
          </a:graphicData>
        </a:graphic>
      </p:graphicFrame>
      <p:sp>
        <p:nvSpPr>
          <p:cNvPr id="10"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44</a:t>
            </a:fld>
            <a:endParaRPr lang="en-US" dirty="0"/>
          </a:p>
        </p:txBody>
      </p:sp>
    </p:spTree>
    <p:extLst>
      <p:ext uri="{BB962C8B-B14F-4D97-AF65-F5344CB8AC3E}">
        <p14:creationId xmlns:p14="http://schemas.microsoft.com/office/powerpoint/2010/main" val="592303145"/>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53254" name="TextBox 9"/>
          <p:cNvSpPr txBox="1">
            <a:spLocks noChangeArrowheads="1"/>
          </p:cNvSpPr>
          <p:nvPr/>
        </p:nvSpPr>
        <p:spPr bwMode="auto">
          <a:xfrm>
            <a:off x="1828800" y="40394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5: </a:t>
            </a:r>
            <a:r>
              <a:rPr lang="en-US" sz="2400" b="1" dirty="0"/>
              <a:t>Winter Olympics</a:t>
            </a:r>
          </a:p>
        </p:txBody>
      </p:sp>
      <p:graphicFrame>
        <p:nvGraphicFramePr>
          <p:cNvPr id="12" name="Table 11"/>
          <p:cNvGraphicFramePr>
            <a:graphicFrameLocks noGrp="1"/>
          </p:cNvGraphicFramePr>
          <p:nvPr>
            <p:extLst>
              <p:ext uri="{D42A27DB-BD31-4B8C-83A1-F6EECF244321}">
                <p14:modId xmlns:p14="http://schemas.microsoft.com/office/powerpoint/2010/main" val="817202259"/>
              </p:ext>
            </p:extLst>
          </p:nvPr>
        </p:nvGraphicFramePr>
        <p:xfrm>
          <a:off x="304800" y="1295400"/>
          <a:ext cx="8442158" cy="3027218"/>
        </p:xfrm>
        <a:graphic>
          <a:graphicData uri="http://schemas.openxmlformats.org/drawingml/2006/table">
            <a:tbl>
              <a:tblPr firstRow="1" bandRow="1">
                <a:tableStyleId>{616DA210-FB5B-4158-B5E0-FEB733F419BA}</a:tableStyleId>
              </a:tblPr>
              <a:tblGrid>
                <a:gridCol w="1582905"/>
                <a:gridCol w="6859253"/>
              </a:tblGrid>
              <a:tr h="30272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b="1" i="0" dirty="0" smtClean="0"/>
                        <a:t>Performance Evaluation</a:t>
                      </a:r>
                      <a:endParaRPr lang="en-US" sz="1000" i="0" dirty="0" smtClean="0"/>
                    </a:p>
                    <a:p>
                      <a:pPr algn="ctr"/>
                      <a:endParaRPr lang="en-US" b="1" baseline="0" dirty="0" smtClean="0"/>
                    </a:p>
                  </a:txBody>
                  <a:tcPr anchor="ctr"/>
                </a:tc>
                <a:tc>
                  <a:txBody>
                    <a:bodyPr/>
                    <a:lstStyle/>
                    <a:p>
                      <a:r>
                        <a:rPr lang="en-US" sz="1200" b="1" i="0" kern="1200" dirty="0" smtClean="0">
                          <a:solidFill>
                            <a:schemeClr val="tx1"/>
                          </a:solidFill>
                          <a:latin typeface="+mn-lt"/>
                          <a:ea typeface="+mn-ea"/>
                          <a:cs typeface="+mn-cs"/>
                        </a:rPr>
                        <a:t>Expected:</a:t>
                      </a:r>
                      <a:endParaRPr lang="en-US" sz="1200" b="1" i="0" kern="1200" baseline="0" dirty="0" smtClean="0">
                        <a:solidFill>
                          <a:schemeClr val="tx1"/>
                        </a:solidFill>
                        <a:latin typeface="+mn-lt"/>
                        <a:ea typeface="+mn-ea"/>
                        <a:cs typeface="+mn-cs"/>
                      </a:endParaRPr>
                    </a:p>
                    <a:p>
                      <a:pPr marL="171450" indent="-171450">
                        <a:buFont typeface="Arial" pitchFamily="34" charset="0"/>
                        <a:buChar char="•"/>
                      </a:pPr>
                      <a:r>
                        <a:rPr lang="en-US" sz="1200" b="0" i="0" kern="1200" baseline="0" dirty="0" smtClean="0">
                          <a:solidFill>
                            <a:schemeClr val="tx1"/>
                          </a:solidFill>
                          <a:latin typeface="+mn-lt"/>
                          <a:ea typeface="+mn-ea"/>
                          <a:cs typeface="+mn-cs"/>
                        </a:rPr>
                        <a:t>Completes all math accurately</a:t>
                      </a:r>
                    </a:p>
                    <a:p>
                      <a:pPr marL="171450" indent="-171450">
                        <a:buFont typeface="Arial" pitchFamily="34" charset="0"/>
                        <a:buChar char="•"/>
                      </a:pPr>
                      <a:r>
                        <a:rPr lang="en-US" sz="1200" b="0" i="0" kern="1200" baseline="0" dirty="0" smtClean="0">
                          <a:solidFill>
                            <a:schemeClr val="tx1"/>
                          </a:solidFill>
                          <a:latin typeface="+mn-lt"/>
                          <a:ea typeface="+mn-ea"/>
                          <a:cs typeface="+mn-cs"/>
                        </a:rPr>
                        <a:t>Proceeds through the process to the answer with some prompting</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Is able to drive the process forward, covering the necessary points with minimal prompting</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Walks the interviewer clearly through the math – also making the math simple</a:t>
                      </a:r>
                      <a:endParaRPr lang="en-US" sz="1200" b="1" i="0" kern="1200" baseline="0" dirty="0" smtClean="0">
                        <a:solidFill>
                          <a:schemeClr val="tx1"/>
                        </a:solidFill>
                        <a:latin typeface="+mn-lt"/>
                        <a:ea typeface="+mn-ea"/>
                        <a:cs typeface="+mn-cs"/>
                      </a:endParaRP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D</a:t>
                      </a:r>
                      <a:r>
                        <a:rPr lang="en-US" sz="1200" b="0" i="0" kern="1200" dirty="0" smtClean="0">
                          <a:solidFill>
                            <a:schemeClr val="tx1"/>
                          </a:solidFill>
                          <a:latin typeface="+mn-lt"/>
                          <a:ea typeface="+mn-ea"/>
                          <a:cs typeface="+mn-cs"/>
                        </a:rPr>
                        <a:t>rives the process forward while recognizing</a:t>
                      </a:r>
                      <a:r>
                        <a:rPr lang="en-US" sz="1200" b="0" i="0" kern="1200" baseline="0" dirty="0" smtClean="0">
                          <a:solidFill>
                            <a:schemeClr val="tx1"/>
                          </a:solidFill>
                          <a:latin typeface="+mn-lt"/>
                          <a:ea typeface="+mn-ea"/>
                          <a:cs typeface="+mn-cs"/>
                        </a:rPr>
                        <a:t> </a:t>
                      </a:r>
                      <a:r>
                        <a:rPr lang="en-US" sz="1200" b="0" i="0" kern="1200" dirty="0" smtClean="0">
                          <a:solidFill>
                            <a:schemeClr val="tx1"/>
                          </a:solidFill>
                          <a:latin typeface="+mn-lt"/>
                          <a:ea typeface="+mn-ea"/>
                          <a:cs typeface="+mn-cs"/>
                        </a:rPr>
                        <a:t>that they need to figure out the opportunity costs.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latin typeface="+mn-lt"/>
                          <a:ea typeface="+mn-ea"/>
                          <a:cs typeface="+mn-cs"/>
                        </a:rPr>
                        <a:t>Acknowledges all of the risks and the non-incremental value in this case.</a:t>
                      </a:r>
                      <a:endParaRPr lang="en-US" sz="1200" b="0" i="0" kern="1200" baseline="0" dirty="0" smtClean="0">
                        <a:solidFill>
                          <a:schemeClr val="tx1"/>
                        </a:solidFill>
                        <a:latin typeface="+mn-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Provides an answer first recommendation with the max bid, the risks involved and next steps (a superb candidate will suggest analyzing the opportunity to open another channel and broadcasting the games on it).</a:t>
                      </a:r>
                    </a:p>
                  </a:txBody>
                  <a:tcPr anchor="ctr"/>
                </a:tc>
              </a:tr>
            </a:tbl>
          </a:graphicData>
        </a:graphic>
      </p:graphicFrame>
      <p:sp>
        <p:nvSpPr>
          <p:cNvPr id="10"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45</a:t>
            </a:fld>
            <a:endParaRPr lang="en-US" dirty="0"/>
          </a:p>
        </p:txBody>
      </p:sp>
    </p:spTree>
    <p:extLst>
      <p:ext uri="{BB962C8B-B14F-4D97-AF65-F5344CB8AC3E}">
        <p14:creationId xmlns:p14="http://schemas.microsoft.com/office/powerpoint/2010/main" val="2708691786"/>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46</a:t>
            </a:fld>
            <a:endParaRPr lang="en-US" dirty="0"/>
          </a:p>
        </p:txBody>
      </p:sp>
    </p:spTree>
    <p:extLst>
      <p:ext uri="{BB962C8B-B14F-4D97-AF65-F5344CB8AC3E}">
        <p14:creationId xmlns:p14="http://schemas.microsoft.com/office/powerpoint/2010/main" val="895876921"/>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6: Semi Co.</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780230778"/>
              </p:ext>
            </p:extLst>
          </p:nvPr>
        </p:nvGraphicFramePr>
        <p:xfrm>
          <a:off x="304800" y="1367270"/>
          <a:ext cx="8534400" cy="3980584"/>
        </p:xfrm>
        <a:graphic>
          <a:graphicData uri="http://schemas.openxmlformats.org/drawingml/2006/table">
            <a:tbl>
              <a:tblPr firstRow="1" bandRow="1">
                <a:tableStyleId>{616DA210-FB5B-4158-B5E0-FEB733F419BA}</a:tableStyleId>
              </a:tblPr>
              <a:tblGrid>
                <a:gridCol w="1600200"/>
                <a:gridCol w="6934200"/>
              </a:tblGrid>
              <a:tr h="1396585">
                <a:tc>
                  <a:txBody>
                    <a:bodyPr/>
                    <a:lstStyle/>
                    <a:p>
                      <a:pPr algn="ctr"/>
                      <a:r>
                        <a:rPr lang="en-US" dirty="0" smtClean="0"/>
                        <a:t>Prompt #1</a:t>
                      </a:r>
                      <a:endParaRPr lang="en-US" dirty="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Semi Co. is an international semiconductor company that designs and manufactures chips that are used in three industries </a:t>
                      </a:r>
                      <a:r>
                        <a:rPr lang="en-US" sz="1200" b="0" i="0" kern="1200" baseline="0" dirty="0" smtClean="0">
                          <a:solidFill>
                            <a:schemeClr val="tx1"/>
                          </a:solidFill>
                          <a:latin typeface="+mn-lt"/>
                          <a:ea typeface="+mn-ea"/>
                          <a:cs typeface="+mn-cs"/>
                        </a:rPr>
                        <a:t>including: consumer electronics, healthcare and automotive. The CEO of Semi Co. has witnessed decreasing profit over the last three years. </a:t>
                      </a: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i="0" kern="1200" baseline="0" dirty="0" smtClean="0">
                          <a:solidFill>
                            <a:schemeClr val="tx1"/>
                          </a:solidFill>
                          <a:latin typeface="+mj-lt"/>
                          <a:ea typeface="+mn-ea"/>
                          <a:cs typeface="+mn-cs"/>
                        </a:rPr>
                        <a:t>Semi Co. has hired you to fix the decline in profit.  What are the areas that they should look into to identify their problem?</a:t>
                      </a:r>
                    </a:p>
                  </a:txBody>
                  <a:tcPr anchor="ctr"/>
                </a:tc>
              </a:tr>
              <a:tr h="2583999">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The candidate should come up with a MECE framework that  covers the following areas: industry trend, product mix, competitors, revenue and cost (profitability).</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When the candidate tries to clarify whether it is a revenue problem or a cost problem, give the following information below</a:t>
                      </a:r>
                      <a:r>
                        <a:rPr lang="en-US" sz="1200" b="0" i="0" kern="1200" baseline="0" dirty="0" smtClean="0">
                          <a:solidFill>
                            <a:schemeClr val="tx1"/>
                          </a:solidFill>
                          <a:latin typeface="+mj-lt"/>
                          <a:ea typeface="+mn-ea"/>
                          <a:cs typeface="+mn-cs"/>
                        </a:rPr>
                        <a:t>: </a:t>
                      </a:r>
                      <a:endParaRPr lang="en-US" altLang="zh-CN" sz="1200" b="0" i="0" kern="1200" baseline="0" dirty="0" smtClean="0">
                        <a:solidFill>
                          <a:schemeClr val="tx1"/>
                        </a:solidFill>
                        <a:latin typeface="+mn-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70% of revenue is from consumer electronics, 20% from healthcare and 10% from automotive.  </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Revenue over the past three years have been stable.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profit margin for consumer electronics declined from 50% to 25%</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profit margin for healthcare increased from 50% to 70%</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profit margin for automotive declined from 100% to 80%</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j-lt"/>
                          <a:ea typeface="+mn-ea"/>
                          <a:cs typeface="+mn-cs"/>
                        </a:rPr>
                        <a:t>The candidate should be able to identify consumer electronics is the client’s major problem.</a:t>
                      </a:r>
                    </a:p>
                  </a:txBody>
                  <a:tcPr anchor="ctr"/>
                </a:tc>
              </a:tr>
            </a:tbl>
          </a:graphicData>
        </a:graphic>
      </p:graphicFrame>
      <p:sp>
        <p:nvSpPr>
          <p:cNvPr id="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47</a:t>
            </a:fld>
            <a:endParaRPr lang="en-US" dirty="0"/>
          </a:p>
        </p:txBody>
      </p:sp>
    </p:spTree>
    <p:extLst>
      <p:ext uri="{BB962C8B-B14F-4D97-AF65-F5344CB8AC3E}">
        <p14:creationId xmlns:p14="http://schemas.microsoft.com/office/powerpoint/2010/main" val="2335727388"/>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6: </a:t>
            </a:r>
            <a:r>
              <a:rPr lang="en-US" sz="2400" b="1" dirty="0"/>
              <a:t>Semi </a:t>
            </a:r>
            <a:r>
              <a:rPr lang="en-US" sz="2400" b="1" dirty="0" smtClean="0"/>
              <a:t>Co.</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330505058"/>
              </p:ext>
            </p:extLst>
          </p:nvPr>
        </p:nvGraphicFramePr>
        <p:xfrm>
          <a:off x="304800" y="1381125"/>
          <a:ext cx="8534400" cy="3467966"/>
        </p:xfrm>
        <a:graphic>
          <a:graphicData uri="http://schemas.openxmlformats.org/drawingml/2006/table">
            <a:tbl>
              <a:tblPr firstRow="1" bandRow="1">
                <a:tableStyleId>{616DA210-FB5B-4158-B5E0-FEB733F419BA}</a:tableStyleId>
              </a:tblPr>
              <a:tblGrid>
                <a:gridCol w="1600200"/>
                <a:gridCol w="6934200"/>
              </a:tblGrid>
              <a:tr h="971031">
                <a:tc>
                  <a:txBody>
                    <a:bodyPr/>
                    <a:lstStyle/>
                    <a:p>
                      <a:pPr algn="ctr"/>
                      <a:r>
                        <a:rPr lang="en-US" dirty="0" smtClean="0"/>
                        <a:t>Prompt #2</a:t>
                      </a:r>
                      <a:endParaRPr lang="en-US" dirty="0"/>
                    </a:p>
                  </a:txBody>
                  <a:tcPr anchor="ctr"/>
                </a:tc>
                <a:tc>
                  <a:txBody>
                    <a:bodyPr/>
                    <a:lstStyle/>
                    <a:p>
                      <a:r>
                        <a:rPr lang="en-US" sz="1200" b="0" i="0" kern="1200" dirty="0" smtClean="0">
                          <a:solidFill>
                            <a:schemeClr val="tx1"/>
                          </a:solidFill>
                          <a:latin typeface="+mj-lt"/>
                          <a:ea typeface="+mn-ea"/>
                          <a:cs typeface="+mn-cs"/>
                        </a:rPr>
                        <a:t>What</a:t>
                      </a:r>
                      <a:r>
                        <a:rPr lang="en-US" sz="1200" b="0" i="0" kern="1200" baseline="0" dirty="0" smtClean="0">
                          <a:solidFill>
                            <a:schemeClr val="tx1"/>
                          </a:solidFill>
                          <a:latin typeface="+mj-lt"/>
                          <a:ea typeface="+mn-ea"/>
                          <a:cs typeface="+mn-cs"/>
                        </a:rPr>
                        <a:t> are the reasons that caused profit declined in consumer electronics </a:t>
                      </a:r>
                      <a:r>
                        <a:rPr lang="en-US" sz="1200" b="0" i="0" kern="1200" dirty="0" smtClean="0">
                          <a:solidFill>
                            <a:schemeClr val="tx1"/>
                          </a:solidFill>
                          <a:latin typeface="+mj-lt"/>
                          <a:ea typeface="+mn-ea"/>
                          <a:cs typeface="+mn-cs"/>
                        </a:rPr>
                        <a:t>?</a:t>
                      </a:r>
                      <a:endParaRPr lang="en-US" sz="1200" b="0" i="0" kern="1200" baseline="0" dirty="0" smtClean="0">
                        <a:solidFill>
                          <a:schemeClr val="tx1"/>
                        </a:solidFill>
                        <a:latin typeface="+mj-lt"/>
                        <a:ea typeface="+mn-ea"/>
                        <a:cs typeface="+mn-cs"/>
                      </a:endParaRPr>
                    </a:p>
                  </a:txBody>
                  <a:tcPr anchor="ctr"/>
                </a:tc>
              </a:tr>
              <a:tr h="2496935">
                <a:tc>
                  <a:txBody>
                    <a:bodyPr/>
                    <a:lstStyle/>
                    <a:p>
                      <a:pPr algn="ctr"/>
                      <a:r>
                        <a:rPr lang="en-US" b="1" baseline="0" dirty="0" smtClean="0"/>
                        <a:t>Guidance</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j-lt"/>
                          <a:ea typeface="+mn-ea"/>
                          <a:cs typeface="+mn-cs"/>
                        </a:rPr>
                        <a:t>The candidate is expected to bring up the following costs with the value chain structure.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i="0" kern="1200" baseline="0" dirty="0" smtClean="0">
                          <a:solidFill>
                            <a:schemeClr val="tx1"/>
                          </a:solidFill>
                          <a:latin typeface="+mj-lt"/>
                          <a:ea typeface="+mn-ea"/>
                          <a:cs typeface="+mn-cs"/>
                        </a:rPr>
                        <a:t>Provide </a:t>
                      </a:r>
                      <a:r>
                        <a:rPr lang="en-US" sz="1200" b="0" i="0" kern="1200" baseline="0" dirty="0" smtClean="0">
                          <a:solidFill>
                            <a:schemeClr val="tx1"/>
                          </a:solidFill>
                          <a:latin typeface="+mn-lt"/>
                          <a:ea typeface="+mn-ea"/>
                          <a:cs typeface="+mn-cs"/>
                        </a:rPr>
                        <a:t>the following information when asked:</a:t>
                      </a:r>
                      <a:endParaRPr lang="en-US" sz="120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i="0" kern="1200" baseline="0" dirty="0" smtClean="0">
                          <a:solidFill>
                            <a:schemeClr val="tx1"/>
                          </a:solidFill>
                          <a:latin typeface="+mj-lt"/>
                          <a:ea typeface="+mn-ea"/>
                          <a:cs typeface="+mn-cs"/>
                        </a:rPr>
                        <a:t>The price of consumer electronics chips has decreased.  The CEO mentioned that t</a:t>
                      </a:r>
                      <a:r>
                        <a:rPr lang="en-US" sz="1200" i="0" kern="1200" baseline="0" dirty="0" smtClean="0">
                          <a:solidFill>
                            <a:schemeClr val="tx1"/>
                          </a:solidFill>
                          <a:latin typeface="+mn-lt"/>
                          <a:ea typeface="+mn-ea"/>
                          <a:cs typeface="+mn-cs"/>
                        </a:rPr>
                        <a:t>here are lots of players in consumer electronics industry, therefore Semi Co. has high price pressure. They cannot increase the price for their current products.</a:t>
                      </a:r>
                      <a:endParaRPr lang="en-US" sz="120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i="0" kern="1200" baseline="0" dirty="0" smtClean="0">
                          <a:solidFill>
                            <a:schemeClr val="tx1"/>
                          </a:solidFill>
                          <a:latin typeface="+mj-lt"/>
                          <a:ea typeface="+mn-ea"/>
                          <a:cs typeface="+mn-cs"/>
                        </a:rPr>
                        <a:t>The volume sold has increased. But they need to be a price leader to get high volumes in the future.</a:t>
                      </a: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i="0" kern="1200" baseline="0" dirty="0" smtClean="0">
                          <a:solidFill>
                            <a:schemeClr val="tx1"/>
                          </a:solidFill>
                          <a:latin typeface="+mj-lt"/>
                          <a:ea typeface="+mn-ea"/>
                          <a:cs typeface="+mn-cs"/>
                        </a:rPr>
                        <a:t>The candidate should figure out the client needs to decrease cost.</a:t>
                      </a:r>
                    </a:p>
                  </a:txBody>
                  <a:tcPr anchor="ctr"/>
                </a:tc>
              </a:tr>
            </a:tbl>
          </a:graphicData>
        </a:graphic>
      </p:graphicFrame>
      <p:sp>
        <p:nvSpPr>
          <p:cNvPr id="2" name="Rectangle 1"/>
          <p:cNvSpPr/>
          <p:nvPr/>
        </p:nvSpPr>
        <p:spPr>
          <a:xfrm>
            <a:off x="2007565" y="2781309"/>
            <a:ext cx="719667" cy="3132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R &amp; D</a:t>
            </a:r>
            <a:endParaRPr lang="en-US" sz="1200" dirty="0">
              <a:solidFill>
                <a:schemeClr val="tx1"/>
              </a:solidFill>
            </a:endParaRPr>
          </a:p>
        </p:txBody>
      </p:sp>
      <p:sp>
        <p:nvSpPr>
          <p:cNvPr id="9" name="Rectangle 8"/>
          <p:cNvSpPr/>
          <p:nvPr/>
        </p:nvSpPr>
        <p:spPr>
          <a:xfrm>
            <a:off x="2997976" y="2781309"/>
            <a:ext cx="1279231" cy="3005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Manufacturing</a:t>
            </a:r>
            <a:endParaRPr lang="en-US" sz="1200" dirty="0">
              <a:solidFill>
                <a:schemeClr val="tx1"/>
              </a:solidFill>
            </a:endParaRPr>
          </a:p>
        </p:txBody>
      </p:sp>
      <p:sp>
        <p:nvSpPr>
          <p:cNvPr id="10" name="Rectangle 9"/>
          <p:cNvSpPr/>
          <p:nvPr/>
        </p:nvSpPr>
        <p:spPr>
          <a:xfrm>
            <a:off x="4538144" y="2781309"/>
            <a:ext cx="1191062" cy="3132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Packaging</a:t>
            </a:r>
            <a:endParaRPr lang="en-US" sz="1200" dirty="0">
              <a:solidFill>
                <a:schemeClr val="tx1"/>
              </a:solidFill>
            </a:endParaRPr>
          </a:p>
        </p:txBody>
      </p:sp>
      <p:sp>
        <p:nvSpPr>
          <p:cNvPr id="13" name="Rectangle 12"/>
          <p:cNvSpPr/>
          <p:nvPr/>
        </p:nvSpPr>
        <p:spPr>
          <a:xfrm>
            <a:off x="7361164" y="2781309"/>
            <a:ext cx="1083726" cy="3132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Customers</a:t>
            </a:r>
          </a:p>
        </p:txBody>
      </p:sp>
      <p:cxnSp>
        <p:nvCxnSpPr>
          <p:cNvPr id="4" name="Straight Arrow Connector 3"/>
          <p:cNvCxnSpPr>
            <a:stCxn id="2" idx="3"/>
            <a:endCxn id="9" idx="1"/>
          </p:cNvCxnSpPr>
          <p:nvPr/>
        </p:nvCxnSpPr>
        <p:spPr>
          <a:xfrm flipV="1">
            <a:off x="2727232" y="2931592"/>
            <a:ext cx="270744" cy="6351"/>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9" idx="3"/>
            <a:endCxn id="10" idx="1"/>
          </p:cNvCxnSpPr>
          <p:nvPr/>
        </p:nvCxnSpPr>
        <p:spPr>
          <a:xfrm>
            <a:off x="4277207" y="2931592"/>
            <a:ext cx="260937" cy="6351"/>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stCxn id="10" idx="3"/>
            <a:endCxn id="16" idx="1"/>
          </p:cNvCxnSpPr>
          <p:nvPr/>
        </p:nvCxnSpPr>
        <p:spPr>
          <a:xfrm>
            <a:off x="5729206" y="2937943"/>
            <a:ext cx="347141"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076347" y="2781309"/>
            <a:ext cx="909168" cy="3132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Shipping</a:t>
            </a:r>
            <a:endParaRPr lang="en-US" sz="1200" dirty="0">
              <a:solidFill>
                <a:schemeClr val="tx1"/>
              </a:solidFill>
            </a:endParaRPr>
          </a:p>
        </p:txBody>
      </p:sp>
      <p:cxnSp>
        <p:nvCxnSpPr>
          <p:cNvPr id="17" name="Straight Arrow Connector 16"/>
          <p:cNvCxnSpPr>
            <a:stCxn id="16" idx="3"/>
            <a:endCxn id="13" idx="1"/>
          </p:cNvCxnSpPr>
          <p:nvPr/>
        </p:nvCxnSpPr>
        <p:spPr>
          <a:xfrm>
            <a:off x="6985515" y="2937943"/>
            <a:ext cx="375649"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8"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48</a:t>
            </a:fld>
            <a:endParaRPr lang="en-US" dirty="0"/>
          </a:p>
        </p:txBody>
      </p:sp>
    </p:spTree>
    <p:extLst>
      <p:ext uri="{BB962C8B-B14F-4D97-AF65-F5344CB8AC3E}">
        <p14:creationId xmlns:p14="http://schemas.microsoft.com/office/powerpoint/2010/main" val="2552915125"/>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6</a:t>
            </a:r>
            <a:r>
              <a:rPr lang="en-US" sz="2400" b="1" dirty="0" smtClean="0"/>
              <a:t>: </a:t>
            </a:r>
            <a:r>
              <a:rPr lang="en-US" sz="2400" b="1" dirty="0"/>
              <a:t>Semi </a:t>
            </a:r>
            <a:r>
              <a:rPr lang="en-US" sz="2400" b="1" dirty="0" smtClean="0"/>
              <a:t>Co.</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4277479755"/>
              </p:ext>
            </p:extLst>
          </p:nvPr>
        </p:nvGraphicFramePr>
        <p:xfrm>
          <a:off x="304800" y="1381125"/>
          <a:ext cx="8534400" cy="3916811"/>
        </p:xfrm>
        <a:graphic>
          <a:graphicData uri="http://schemas.openxmlformats.org/drawingml/2006/table">
            <a:tbl>
              <a:tblPr firstRow="1" bandRow="1">
                <a:tableStyleId>{616DA210-FB5B-4158-B5E0-FEB733F419BA}</a:tableStyleId>
              </a:tblPr>
              <a:tblGrid>
                <a:gridCol w="1600200"/>
                <a:gridCol w="6934200"/>
              </a:tblGrid>
              <a:tr h="1140402">
                <a:tc>
                  <a:txBody>
                    <a:bodyPr/>
                    <a:lstStyle/>
                    <a:p>
                      <a:pPr algn="ctr"/>
                      <a:r>
                        <a:rPr lang="en-US" dirty="0" smtClean="0"/>
                        <a:t>Prompt #3</a:t>
                      </a:r>
                      <a:endParaRPr lang="en-US" dirty="0"/>
                    </a:p>
                  </a:txBody>
                  <a:tcPr anchor="ctr"/>
                </a:tc>
                <a:tc>
                  <a:txBody>
                    <a:bodyPr/>
                    <a:lstStyle/>
                    <a:p>
                      <a:r>
                        <a:rPr lang="en-US" sz="1200" b="0" i="0" kern="1200" baseline="0" dirty="0" smtClean="0">
                          <a:solidFill>
                            <a:schemeClr val="tx1"/>
                          </a:solidFill>
                          <a:latin typeface="+mj-lt"/>
                          <a:ea typeface="+mn-ea"/>
                          <a:cs typeface="+mn-cs"/>
                        </a:rPr>
                        <a:t>Semi Co. has determined, with your help, that they need to decrease cost to increase their profits.  They have determined that the best way to do this is by cutting the size of their chips down. </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If Semi Co. wants to decrease the chip cost by 10%, by what percentage  should the chip size be decrease? </a:t>
                      </a:r>
                    </a:p>
                  </a:txBody>
                  <a:tcPr anchor="ctr"/>
                </a:tc>
              </a:tr>
              <a:tr h="2776409">
                <a:tc>
                  <a:txBody>
                    <a:bodyPr/>
                    <a:lstStyle/>
                    <a:p>
                      <a:pPr algn="ctr"/>
                      <a:r>
                        <a:rPr lang="en-US" b="1" baseline="0" dirty="0" smtClean="0"/>
                        <a:t>Guidance</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Provide the following information to the candidate: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chip is cut from a wafer. </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current dimension of the chip is 10mm x 10mm. Semi Co. can get 10,000 chips from one wafer.</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cost of wafer is $500.</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Packaging cost per chip is $0.08.</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wafer test cost per chip is $0.02.</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Final Test cost per chip is $0.02.</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labor rate is $3.5 / hr. The labor time per chip is roughly 30 sec.</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Shipping cost per chip is 5% of total above cost. </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Overhead per chip is 15% of total above cost.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Profit per chip is 30% of total above cost, or 25% including shipping and OH.</a:t>
                      </a:r>
                    </a:p>
                  </a:txBody>
                  <a:tcPr anchor="ctr"/>
                </a:tc>
              </a:tr>
            </a:tbl>
          </a:graphicData>
        </a:graphic>
      </p:graphicFrame>
      <p:sp>
        <p:nvSpPr>
          <p:cNvPr id="6"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49</a:t>
            </a:fld>
            <a:endParaRPr lang="en-US" dirty="0"/>
          </a:p>
        </p:txBody>
      </p:sp>
    </p:spTree>
    <p:extLst>
      <p:ext uri="{BB962C8B-B14F-4D97-AF65-F5344CB8AC3E}">
        <p14:creationId xmlns:p14="http://schemas.microsoft.com/office/powerpoint/2010/main" val="4269298763"/>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6</a:t>
            </a:r>
            <a:r>
              <a:rPr lang="en-US" sz="2400" b="1" dirty="0" smtClean="0"/>
              <a:t>: </a:t>
            </a:r>
            <a:r>
              <a:rPr lang="en-US" sz="2400" b="1" dirty="0"/>
              <a:t>Semi </a:t>
            </a:r>
            <a:r>
              <a:rPr lang="en-US" sz="2400" b="1" dirty="0" smtClean="0"/>
              <a:t>Co.</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71909941"/>
              </p:ext>
            </p:extLst>
          </p:nvPr>
        </p:nvGraphicFramePr>
        <p:xfrm>
          <a:off x="304800" y="1381125"/>
          <a:ext cx="8534400" cy="4480559"/>
        </p:xfrm>
        <a:graphic>
          <a:graphicData uri="http://schemas.openxmlformats.org/drawingml/2006/table">
            <a:tbl>
              <a:tblPr firstRow="1" bandRow="1">
                <a:tableStyleId>{616DA210-FB5B-4158-B5E0-FEB733F419BA}</a:tableStyleId>
              </a:tblPr>
              <a:tblGrid>
                <a:gridCol w="1600200"/>
                <a:gridCol w="6934200"/>
              </a:tblGrid>
              <a:tr h="4285029">
                <a:tc>
                  <a:txBody>
                    <a:bodyPr/>
                    <a:lstStyle/>
                    <a:p>
                      <a:pPr algn="ctr"/>
                      <a:r>
                        <a:rPr lang="en-US" b="1" baseline="0" dirty="0" smtClean="0"/>
                        <a:t>Guidance</a:t>
                      </a:r>
                    </a:p>
                  </a:txBody>
                  <a:tcPr anchor="ctr">
                    <a:solidFill>
                      <a:schemeClr val="tx1">
                        <a:alpha val="20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n-lt"/>
                          <a:ea typeface="+mn-ea"/>
                          <a:cs typeface="+mn-cs"/>
                        </a:rPr>
                        <a:t>The candidate should realize that:</a:t>
                      </a:r>
                    </a:p>
                    <a:p>
                      <a:pPr marL="228600" marR="0" indent="-228600" algn="l" defTabSz="457200" rtl="0" eaLnBrk="1" fontAlgn="auto" latinLnBrk="0" hangingPunct="1">
                        <a:lnSpc>
                          <a:spcPct val="100000"/>
                        </a:lnSpc>
                        <a:spcBef>
                          <a:spcPts val="0"/>
                        </a:spcBef>
                        <a:spcAft>
                          <a:spcPts val="0"/>
                        </a:spcAft>
                        <a:buClrTx/>
                        <a:buSzTx/>
                        <a:buFont typeface="Arial"/>
                        <a:buAutoNum type="arabicPeriod"/>
                        <a:tabLst/>
                        <a:defRPr/>
                      </a:pPr>
                      <a:r>
                        <a:rPr lang="en-US" sz="1200" b="0" i="0" kern="1200" baseline="0" dirty="0" smtClean="0">
                          <a:solidFill>
                            <a:schemeClr val="tx1"/>
                          </a:solidFill>
                          <a:latin typeface="+mn-lt"/>
                          <a:ea typeface="+mn-ea"/>
                          <a:cs typeface="+mn-cs"/>
                        </a:rPr>
                        <a:t>The wafer cost per chip is $0.05 ($500 / 10,000 chips)</a:t>
                      </a:r>
                    </a:p>
                    <a:p>
                      <a:pPr marL="228600" marR="0" indent="-228600" algn="l" defTabSz="457200" rtl="0" eaLnBrk="1" fontAlgn="auto" latinLnBrk="0" hangingPunct="1">
                        <a:lnSpc>
                          <a:spcPct val="100000"/>
                        </a:lnSpc>
                        <a:spcBef>
                          <a:spcPts val="0"/>
                        </a:spcBef>
                        <a:spcAft>
                          <a:spcPts val="0"/>
                        </a:spcAft>
                        <a:buClrTx/>
                        <a:buSzTx/>
                        <a:buFont typeface="Arial"/>
                        <a:buAutoNum type="arabicPeriod"/>
                        <a:tabLst/>
                        <a:defRPr/>
                      </a:pPr>
                      <a:r>
                        <a:rPr lang="en-US" sz="1200" b="0" i="0" kern="1200" baseline="0" dirty="0" smtClean="0">
                          <a:solidFill>
                            <a:schemeClr val="tx1"/>
                          </a:solidFill>
                          <a:latin typeface="+mn-lt"/>
                          <a:ea typeface="+mn-ea"/>
                          <a:cs typeface="+mn-cs"/>
                        </a:rPr>
                        <a:t>The total cost per chip is $0.30  </a:t>
                      </a: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n-lt"/>
                          <a:ea typeface="+mn-ea"/>
                          <a:cs typeface="+mn-cs"/>
                        </a:rPr>
                        <a:t>         (0.05 for wafer, 0.03 for labor, 0.12 for packaging and testing, 0.10 for shipping OH&amp;P).</a:t>
                      </a:r>
                    </a:p>
                    <a:p>
                      <a:pPr marL="228600" marR="0" indent="-228600" algn="l" defTabSz="457200" rtl="0" eaLnBrk="1" fontAlgn="auto" latinLnBrk="0" hangingPunct="1">
                        <a:lnSpc>
                          <a:spcPct val="100000"/>
                        </a:lnSpc>
                        <a:spcBef>
                          <a:spcPts val="0"/>
                        </a:spcBef>
                        <a:spcAft>
                          <a:spcPts val="0"/>
                        </a:spcAft>
                        <a:buClrTx/>
                        <a:buSzTx/>
                        <a:buFont typeface="+mj-lt"/>
                        <a:buAutoNum type="arabicPeriod" startAt="3"/>
                        <a:tabLst/>
                        <a:defRPr/>
                      </a:pPr>
                      <a:r>
                        <a:rPr lang="en-US" sz="1200" b="0" i="0" kern="1200" baseline="0" dirty="0" smtClean="0">
                          <a:solidFill>
                            <a:schemeClr val="tx1"/>
                          </a:solidFill>
                          <a:latin typeface="+mn-lt"/>
                          <a:ea typeface="+mn-ea"/>
                          <a:cs typeface="+mn-cs"/>
                        </a:rPr>
                        <a:t>The total cost per chip after 10% cost reduction is $0.30 * 90% = $0.27</a:t>
                      </a:r>
                    </a:p>
                    <a:p>
                      <a:pPr marL="228600" marR="0" indent="-228600" algn="l" defTabSz="457200" rtl="0" eaLnBrk="1" fontAlgn="auto" latinLnBrk="0" hangingPunct="1">
                        <a:lnSpc>
                          <a:spcPct val="100000"/>
                        </a:lnSpc>
                        <a:spcBef>
                          <a:spcPts val="0"/>
                        </a:spcBef>
                        <a:spcAft>
                          <a:spcPts val="0"/>
                        </a:spcAft>
                        <a:buClrTx/>
                        <a:buSzTx/>
                        <a:buFont typeface="+mj-lt"/>
                        <a:buAutoNum type="arabicPeriod" startAt="3"/>
                        <a:tabLst/>
                        <a:defRPr/>
                      </a:pPr>
                      <a:r>
                        <a:rPr lang="en-US" sz="1200" b="0" i="0" kern="1200" baseline="0" dirty="0" smtClean="0">
                          <a:solidFill>
                            <a:schemeClr val="tx1"/>
                          </a:solidFill>
                          <a:latin typeface="+mn-lt"/>
                          <a:ea typeface="+mn-ea"/>
                          <a:cs typeface="+mn-cs"/>
                        </a:rPr>
                        <a:t>Assume all cost reductions come from the wafer costs, thus the new wafer cost is </a:t>
                      </a:r>
                      <a:r>
                        <a:rPr lang="en-US" sz="1200" b="1" i="0" kern="1200" baseline="0" dirty="0" smtClean="0">
                          <a:solidFill>
                            <a:schemeClr val="tx1"/>
                          </a:solidFill>
                          <a:latin typeface="+mn-lt"/>
                          <a:ea typeface="+mn-ea"/>
                          <a:cs typeface="+mn-cs"/>
                        </a:rPr>
                        <a:t>$0.02 / chip</a:t>
                      </a:r>
                    </a:p>
                    <a:p>
                      <a:pPr marL="228600" marR="0" indent="-228600" algn="l" defTabSz="457200" rtl="0" eaLnBrk="1" fontAlgn="auto" latinLnBrk="0" hangingPunct="1">
                        <a:lnSpc>
                          <a:spcPct val="100000"/>
                        </a:lnSpc>
                        <a:spcBef>
                          <a:spcPts val="0"/>
                        </a:spcBef>
                        <a:spcAft>
                          <a:spcPts val="0"/>
                        </a:spcAft>
                        <a:buClrTx/>
                        <a:buSzTx/>
                        <a:buFont typeface="+mj-lt"/>
                        <a:buAutoNum type="arabicPeriod" startAt="3"/>
                        <a:tabLst/>
                        <a:defRPr/>
                      </a:pPr>
                      <a:r>
                        <a:rPr lang="en-US" sz="1200" b="1" i="0" kern="1200" baseline="0" dirty="0" smtClean="0">
                          <a:solidFill>
                            <a:schemeClr val="tx1"/>
                          </a:solidFill>
                          <a:latin typeface="+mn-lt"/>
                          <a:ea typeface="+mn-ea"/>
                          <a:cs typeface="+mn-cs"/>
                        </a:rPr>
                        <a:t>Semi Co. should decrease the chip size by 60%. (Which is very challenging)</a:t>
                      </a:r>
                    </a:p>
                    <a:p>
                      <a:pPr marL="228600" marR="0" indent="-228600" algn="l" defTabSz="457200" rtl="0" eaLnBrk="1" fontAlgn="auto" latinLnBrk="0" hangingPunct="1">
                        <a:lnSpc>
                          <a:spcPct val="100000"/>
                        </a:lnSpc>
                        <a:spcBef>
                          <a:spcPts val="0"/>
                        </a:spcBef>
                        <a:spcAft>
                          <a:spcPts val="0"/>
                        </a:spcAft>
                        <a:buClrTx/>
                        <a:buSzTx/>
                        <a:buFont typeface="+mj-lt"/>
                        <a:buAutoNum type="arabicPeriod" startAt="3"/>
                        <a:tabLst/>
                        <a:defRPr/>
                      </a:pPr>
                      <a:r>
                        <a:rPr lang="en-US" sz="1200" b="0" i="0" kern="1200" baseline="0" dirty="0" smtClean="0">
                          <a:solidFill>
                            <a:schemeClr val="tx1"/>
                          </a:solidFill>
                          <a:latin typeface="+mn-lt"/>
                          <a:ea typeface="+mn-ea"/>
                          <a:cs typeface="+mn-cs"/>
                        </a:rPr>
                        <a:t>The number of chips per wafer is $500 / $0.02 = 25,000</a:t>
                      </a:r>
                    </a:p>
                    <a:p>
                      <a:pPr marL="228600" marR="0" indent="-228600" algn="l" defTabSz="457200" rtl="0" eaLnBrk="1" fontAlgn="auto" latinLnBrk="0" hangingPunct="1">
                        <a:lnSpc>
                          <a:spcPct val="100000"/>
                        </a:lnSpc>
                        <a:spcBef>
                          <a:spcPts val="0"/>
                        </a:spcBef>
                        <a:spcAft>
                          <a:spcPts val="0"/>
                        </a:spcAft>
                        <a:buClrTx/>
                        <a:buSzTx/>
                        <a:buFont typeface="+mj-lt"/>
                        <a:buAutoNum type="arabicPeriod" startAt="3"/>
                        <a:tabLst/>
                        <a:defRPr/>
                      </a:pPr>
                      <a:r>
                        <a:rPr lang="en-US" sz="1200" b="0" i="0" kern="1200" baseline="0" dirty="0" smtClean="0">
                          <a:solidFill>
                            <a:schemeClr val="tx1"/>
                          </a:solidFill>
                          <a:latin typeface="+mn-lt"/>
                          <a:ea typeface="+mn-ea"/>
                          <a:cs typeface="+mn-cs"/>
                        </a:rPr>
                        <a:t>The chip size should be 10,000 * 100 / 25,000 = 40 (mm^2)</a:t>
                      </a:r>
                    </a:p>
                    <a:p>
                      <a:pPr marL="228600" marR="0" indent="-228600" algn="l" defTabSz="457200" rtl="0" eaLnBrk="1" fontAlgn="auto" latinLnBrk="0" hangingPunct="1">
                        <a:lnSpc>
                          <a:spcPct val="100000"/>
                        </a:lnSpc>
                        <a:spcBef>
                          <a:spcPts val="0"/>
                        </a:spcBef>
                        <a:spcAft>
                          <a:spcPts val="0"/>
                        </a:spcAft>
                        <a:buClrTx/>
                        <a:buSzTx/>
                        <a:buFont typeface="+mj-lt"/>
                        <a:buAutoNum type="arabicPeriod" startAt="3"/>
                        <a:tabLst/>
                        <a:defRPr/>
                      </a:pPr>
                      <a:r>
                        <a:rPr lang="en-US" sz="1200" b="0" i="0" kern="1200" baseline="0" dirty="0" smtClean="0">
                          <a:solidFill>
                            <a:schemeClr val="tx1"/>
                          </a:solidFill>
                          <a:latin typeface="+mn-lt"/>
                          <a:ea typeface="+mn-ea"/>
                          <a:cs typeface="+mn-cs"/>
                        </a:rPr>
                        <a:t>The detailed calculation is:</a:t>
                      </a: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startAt="3"/>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n-lt"/>
                        <a:ea typeface="+mn-ea"/>
                        <a:cs typeface="+mn-cs"/>
                      </a:endParaRPr>
                    </a:p>
                  </a:txBody>
                  <a:tcPr>
                    <a:solidFill>
                      <a:schemeClr val="tx1">
                        <a:alpha val="20000"/>
                      </a:schemeClr>
                    </a:solidFill>
                  </a:tcPr>
                </a:tc>
              </a:tr>
            </a:tbl>
          </a:graphicData>
        </a:graphic>
      </p:graphicFrame>
      <p:pic>
        <p:nvPicPr>
          <p:cNvPr id="7" name="Picture 6" descr="Screen Shot 2013-08-14 at 10.25.55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3921" y="3346491"/>
            <a:ext cx="5791451" cy="2208823"/>
          </a:xfrm>
          <a:prstGeom prst="rect">
            <a:avLst/>
          </a:prstGeom>
        </p:spPr>
      </p:pic>
      <p:sp>
        <p:nvSpPr>
          <p:cNvPr id="2" name="Rectangle 1"/>
          <p:cNvSpPr/>
          <p:nvPr/>
        </p:nvSpPr>
        <p:spPr>
          <a:xfrm>
            <a:off x="7356781" y="3643747"/>
            <a:ext cx="692714" cy="193963"/>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r"/>
            <a:r>
              <a:rPr lang="en-US" sz="1200" b="1" dirty="0" smtClean="0">
                <a:latin typeface="Calibri" pitchFamily="34" charset="0"/>
              </a:rPr>
              <a:t>25,000</a:t>
            </a:r>
            <a:endParaRPr lang="en-US" sz="1200" b="1" dirty="0">
              <a:latin typeface="Calibri" pitchFamily="34" charset="0"/>
            </a:endParaRPr>
          </a:p>
        </p:txBody>
      </p:sp>
      <p:sp>
        <p:nvSpPr>
          <p:cNvPr id="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50</a:t>
            </a:fld>
            <a:endParaRPr lang="en-US" dirty="0"/>
          </a:p>
        </p:txBody>
      </p:sp>
    </p:spTree>
    <p:extLst>
      <p:ext uri="{BB962C8B-B14F-4D97-AF65-F5344CB8AC3E}">
        <p14:creationId xmlns:p14="http://schemas.microsoft.com/office/powerpoint/2010/main" val="4031904580"/>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6: </a:t>
            </a:r>
            <a:r>
              <a:rPr lang="en-US" sz="2400" b="1" dirty="0"/>
              <a:t>Semi </a:t>
            </a:r>
            <a:r>
              <a:rPr lang="en-US" sz="2400" b="1" dirty="0" smtClean="0"/>
              <a:t>Co.</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096286907"/>
              </p:ext>
            </p:extLst>
          </p:nvPr>
        </p:nvGraphicFramePr>
        <p:xfrm>
          <a:off x="304800" y="1381125"/>
          <a:ext cx="8534400" cy="3736702"/>
        </p:xfrm>
        <a:graphic>
          <a:graphicData uri="http://schemas.openxmlformats.org/drawingml/2006/table">
            <a:tbl>
              <a:tblPr firstRow="1" bandRow="1">
                <a:tableStyleId>{616DA210-FB5B-4158-B5E0-FEB733F419BA}</a:tableStyleId>
              </a:tblPr>
              <a:tblGrid>
                <a:gridCol w="1600200"/>
                <a:gridCol w="6934200"/>
              </a:tblGrid>
              <a:tr h="960293">
                <a:tc>
                  <a:txBody>
                    <a:bodyPr/>
                    <a:lstStyle/>
                    <a:p>
                      <a:pPr algn="ctr"/>
                      <a:r>
                        <a:rPr lang="en-US" dirty="0" smtClean="0"/>
                        <a:t>Prompt #4</a:t>
                      </a:r>
                      <a:endParaRPr lang="en-US" dirty="0"/>
                    </a:p>
                  </a:txBody>
                  <a:tcPr anchor="ctr"/>
                </a:tc>
                <a:tc>
                  <a:txBody>
                    <a:bodyPr/>
                    <a:lstStyle/>
                    <a:p>
                      <a:r>
                        <a:rPr lang="en-US" sz="1200" b="1" i="0" kern="1200" baseline="0" dirty="0" smtClean="0">
                          <a:solidFill>
                            <a:schemeClr val="tx1"/>
                          </a:solidFill>
                          <a:latin typeface="+mj-lt"/>
                          <a:ea typeface="+mn-ea"/>
                          <a:cs typeface="+mn-cs"/>
                        </a:rPr>
                        <a:t>The CEO is walking in the room in 1 minute and expect a summary, please summarize your recommendation?</a:t>
                      </a:r>
                    </a:p>
                  </a:txBody>
                  <a:tcPr anchor="ctr"/>
                </a:tc>
              </a:tr>
              <a:tr h="2776409">
                <a:tc>
                  <a:txBody>
                    <a:bodyPr/>
                    <a:lstStyle/>
                    <a:p>
                      <a:pPr algn="ctr"/>
                      <a:r>
                        <a:rPr lang="en-US" b="1" baseline="0" dirty="0" smtClean="0"/>
                        <a:t>Guidance</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n-lt"/>
                          <a:ea typeface="+mn-ea"/>
                          <a:cs typeface="+mn-cs"/>
                        </a:rPr>
                        <a:t>The candidate should have a structured approach about the final recommendation:</a:t>
                      </a:r>
                    </a:p>
                    <a:p>
                      <a:pPr marL="228600" marR="0" indent="-228600" algn="l" defTabSz="457200" rtl="0" eaLnBrk="1" fontAlgn="auto" latinLnBrk="0" hangingPunct="1">
                        <a:lnSpc>
                          <a:spcPct val="100000"/>
                        </a:lnSpc>
                        <a:spcBef>
                          <a:spcPts val="0"/>
                        </a:spcBef>
                        <a:spcAft>
                          <a:spcPts val="0"/>
                        </a:spcAft>
                        <a:buClrTx/>
                        <a:buSzTx/>
                        <a:buFont typeface="Arial"/>
                        <a:buAutoNum type="arabicPeriod"/>
                        <a:tabLst/>
                        <a:defRPr/>
                      </a:pPr>
                      <a:endParaRPr lang="en-US" sz="1200" b="0" i="0" kern="1200" baseline="0" dirty="0" smtClean="0">
                        <a:solidFill>
                          <a:schemeClr val="tx1"/>
                        </a:solidFill>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 typeface="Arial"/>
                        <a:buAutoNum type="arabicPeriod"/>
                        <a:tabLst/>
                        <a:defRPr/>
                      </a:pPr>
                      <a:r>
                        <a:rPr lang="en-US" sz="1200" b="0" i="0" kern="1200" baseline="0" dirty="0" smtClean="0">
                          <a:solidFill>
                            <a:schemeClr val="tx1"/>
                          </a:solidFill>
                          <a:latin typeface="+mn-lt"/>
                          <a:ea typeface="+mn-ea"/>
                          <a:cs typeface="+mn-cs"/>
                        </a:rPr>
                        <a:t>Semi Co. should focus on consumer electronics since it accounts for 70% of the revenue.</a:t>
                      </a:r>
                    </a:p>
                    <a:p>
                      <a:pPr marL="228600" marR="0" indent="-228600" algn="l" defTabSz="457200" rtl="0" eaLnBrk="1" fontAlgn="auto" latinLnBrk="0" hangingPunct="1">
                        <a:lnSpc>
                          <a:spcPct val="100000"/>
                        </a:lnSpc>
                        <a:spcBef>
                          <a:spcPts val="0"/>
                        </a:spcBef>
                        <a:spcAft>
                          <a:spcPts val="0"/>
                        </a:spcAft>
                        <a:buClrTx/>
                        <a:buSzTx/>
                        <a:buFont typeface="Arial"/>
                        <a:buAutoNum type="arabicPeriod"/>
                        <a:tabLst/>
                        <a:defRPr/>
                      </a:pPr>
                      <a:r>
                        <a:rPr lang="en-US" sz="1200" b="0" i="0" kern="1200" baseline="0" dirty="0" smtClean="0">
                          <a:solidFill>
                            <a:schemeClr val="tx1"/>
                          </a:solidFill>
                          <a:latin typeface="+mn-lt"/>
                          <a:ea typeface="+mn-ea"/>
                          <a:cs typeface="+mn-cs"/>
                        </a:rPr>
                        <a:t>If they could decrease the chip size by 60%, their cost can be decreased by 10%, and increase their profits by roughly 4% (not big impact).  They should not work on this as it is difficult to achieve and low cost impact.</a:t>
                      </a:r>
                    </a:p>
                    <a:p>
                      <a:pPr marL="228600" marR="0" indent="-228600" algn="l" defTabSz="457200" rtl="0" eaLnBrk="1" fontAlgn="auto" latinLnBrk="0" hangingPunct="1">
                        <a:lnSpc>
                          <a:spcPct val="100000"/>
                        </a:lnSpc>
                        <a:spcBef>
                          <a:spcPts val="0"/>
                        </a:spcBef>
                        <a:spcAft>
                          <a:spcPts val="0"/>
                        </a:spcAft>
                        <a:buClrTx/>
                        <a:buSzTx/>
                        <a:buFont typeface="Arial"/>
                        <a:buAutoNum type="arabicPeriod"/>
                        <a:tabLst/>
                        <a:defRPr/>
                      </a:pPr>
                      <a:r>
                        <a:rPr lang="en-US" sz="1200" b="1" i="0" kern="1200" baseline="0" dirty="0" smtClean="0">
                          <a:solidFill>
                            <a:schemeClr val="tx1"/>
                          </a:solidFill>
                          <a:latin typeface="+mn-lt"/>
                          <a:ea typeface="+mn-ea"/>
                          <a:cs typeface="+mn-cs"/>
                        </a:rPr>
                        <a:t>Semi Co. should check if they can decrease the packaging cost since it is the key cost driver (around 27% of the total cost)</a:t>
                      </a:r>
                    </a:p>
                    <a:p>
                      <a:pPr marL="228600" marR="0" indent="-228600" algn="l" defTabSz="457200" rtl="0" eaLnBrk="1" fontAlgn="auto" latinLnBrk="0" hangingPunct="1">
                        <a:lnSpc>
                          <a:spcPct val="100000"/>
                        </a:lnSpc>
                        <a:spcBef>
                          <a:spcPts val="0"/>
                        </a:spcBef>
                        <a:spcAft>
                          <a:spcPts val="0"/>
                        </a:spcAft>
                        <a:buClrTx/>
                        <a:buSzTx/>
                        <a:buFont typeface="Arial"/>
                        <a:buAutoNum type="arabicPeriod"/>
                        <a:tabLst/>
                        <a:defRPr/>
                      </a:pPr>
                      <a:r>
                        <a:rPr lang="en-US" sz="1200" b="0" i="0" kern="1200" baseline="0" dirty="0" smtClean="0">
                          <a:solidFill>
                            <a:schemeClr val="tx1"/>
                          </a:solidFill>
                          <a:latin typeface="+mn-lt"/>
                          <a:ea typeface="+mn-ea"/>
                          <a:cs typeface="+mn-cs"/>
                        </a:rPr>
                        <a:t>To further increase profit in the long term, Semi Co. should find methods to increase their price. For example, invest more in R&amp;D to be technology leader and get a price premium. </a:t>
                      </a:r>
                    </a:p>
                    <a:p>
                      <a:pPr marL="228600" marR="0" indent="-228600" algn="l" defTabSz="457200" rtl="0" eaLnBrk="1" fontAlgn="auto" latinLnBrk="0" hangingPunct="1">
                        <a:lnSpc>
                          <a:spcPct val="100000"/>
                        </a:lnSpc>
                        <a:spcBef>
                          <a:spcPts val="0"/>
                        </a:spcBef>
                        <a:spcAft>
                          <a:spcPts val="0"/>
                        </a:spcAft>
                        <a:buClrTx/>
                        <a:buSzTx/>
                        <a:buFont typeface="Arial"/>
                        <a:buAutoNum type="arabicPeriod"/>
                        <a:tabLst/>
                        <a:defRPr/>
                      </a:pPr>
                      <a:r>
                        <a:rPr lang="en-US" sz="1200" b="0" i="0" kern="1200" baseline="0" dirty="0" smtClean="0">
                          <a:solidFill>
                            <a:schemeClr val="tx1"/>
                          </a:solidFill>
                          <a:latin typeface="+mn-lt"/>
                          <a:ea typeface="+mn-ea"/>
                          <a:cs typeface="+mn-cs"/>
                        </a:rPr>
                        <a:t>In the long term, develop healthcare and automotive revenue sources.</a:t>
                      </a:r>
                    </a:p>
                  </a:txBody>
                  <a:tcPr anchor="ctr"/>
                </a:tc>
              </a:tr>
            </a:tbl>
          </a:graphicData>
        </a:graphic>
      </p:graphicFrame>
      <p:sp>
        <p:nvSpPr>
          <p:cNvPr id="6"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51</a:t>
            </a:fld>
            <a:endParaRPr lang="en-US" dirty="0"/>
          </a:p>
        </p:txBody>
      </p:sp>
    </p:spTree>
    <p:extLst>
      <p:ext uri="{BB962C8B-B14F-4D97-AF65-F5344CB8AC3E}">
        <p14:creationId xmlns:p14="http://schemas.microsoft.com/office/powerpoint/2010/main" val="2796406417"/>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a:t>
            </a:r>
            <a:r>
              <a:rPr lang="en-US" sz="2400" b="1" dirty="0" smtClean="0"/>
              <a:t>6: </a:t>
            </a:r>
            <a:r>
              <a:rPr lang="en-US" sz="2400" b="1" dirty="0"/>
              <a:t>Semi </a:t>
            </a:r>
            <a:r>
              <a:rPr lang="en-US" sz="2400" b="1" dirty="0" smtClean="0"/>
              <a:t>Co.</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836127217"/>
              </p:ext>
            </p:extLst>
          </p:nvPr>
        </p:nvGraphicFramePr>
        <p:xfrm>
          <a:off x="304800" y="1381125"/>
          <a:ext cx="8534400" cy="2858366"/>
        </p:xfrm>
        <a:graphic>
          <a:graphicData uri="http://schemas.openxmlformats.org/drawingml/2006/table">
            <a:tbl>
              <a:tblPr firstRow="1" bandRow="1">
                <a:tableStyleId>{616DA210-FB5B-4158-B5E0-FEB733F419BA}</a:tableStyleId>
              </a:tblPr>
              <a:tblGrid>
                <a:gridCol w="1600200"/>
                <a:gridCol w="6934200"/>
              </a:tblGrid>
              <a:tr h="2858366">
                <a:tc>
                  <a:txBody>
                    <a:bodyPr/>
                    <a:lstStyle/>
                    <a:p>
                      <a:pPr algn="ctr"/>
                      <a:r>
                        <a:rPr lang="en-US" sz="1800" b="1" i="0" kern="1200" dirty="0" smtClean="0">
                          <a:solidFill>
                            <a:schemeClr val="tx1"/>
                          </a:solidFill>
                          <a:latin typeface="+mn-lt"/>
                          <a:ea typeface="+mn-ea"/>
                          <a:cs typeface="+mn-cs"/>
                        </a:rPr>
                        <a:t>Performance Evaluation</a:t>
                      </a:r>
                      <a:endParaRPr lang="en-US" sz="1800" b="1" i="0" kern="1200" dirty="0">
                        <a:solidFill>
                          <a:schemeClr val="tx1"/>
                        </a:solidFill>
                        <a:latin typeface="+mn-lt"/>
                        <a:ea typeface="+mn-ea"/>
                        <a:cs typeface="+mn-cs"/>
                      </a:endParaRPr>
                    </a:p>
                  </a:txBody>
                  <a:tcPr anchor="ctr"/>
                </a:tc>
                <a:tc>
                  <a:txBody>
                    <a:bodyPr/>
                    <a:lstStyle/>
                    <a:p>
                      <a:r>
                        <a:rPr lang="en-US" sz="1200" b="1" i="0" kern="1200" dirty="0" smtClean="0">
                          <a:solidFill>
                            <a:schemeClr val="tx1"/>
                          </a:solidFill>
                          <a:latin typeface="+mn-lt"/>
                          <a:ea typeface="+mn-ea"/>
                          <a:cs typeface="+mn-cs"/>
                        </a:rPr>
                        <a:t>Expected:</a:t>
                      </a:r>
                      <a:endParaRPr lang="en-US" sz="1200" b="0" i="0" kern="1200" baseline="0" dirty="0" smtClean="0">
                        <a:solidFill>
                          <a:schemeClr val="tx1"/>
                        </a:solidFill>
                        <a:latin typeface="+mn-lt"/>
                        <a:ea typeface="+mn-ea"/>
                        <a:cs typeface="+mn-cs"/>
                      </a:endParaRPr>
                    </a:p>
                    <a:p>
                      <a:pPr marL="225425" indent="-225425">
                        <a:buFont typeface="Arial" pitchFamily="34" charset="0"/>
                        <a:buChar char="•"/>
                      </a:pPr>
                      <a:r>
                        <a:rPr lang="en-US" sz="1200" b="0" i="0" kern="1200" baseline="0" dirty="0" smtClean="0">
                          <a:solidFill>
                            <a:schemeClr val="tx1"/>
                          </a:solidFill>
                          <a:latin typeface="+mn-lt"/>
                          <a:ea typeface="+mn-ea"/>
                          <a:cs typeface="+mn-cs"/>
                        </a:rPr>
                        <a:t>Provides a MECE framework, mentioning industry trend, product mix, revenue and cost</a:t>
                      </a:r>
                    </a:p>
                    <a:p>
                      <a:pPr marL="225425" indent="-225425">
                        <a:buFont typeface="Arial" pitchFamily="34" charset="0"/>
                        <a:buChar char="•"/>
                      </a:pPr>
                      <a:r>
                        <a:rPr lang="en-US" sz="1200" b="0" i="0" kern="1200" baseline="0" dirty="0" smtClean="0">
                          <a:solidFill>
                            <a:schemeClr val="tx1"/>
                          </a:solidFill>
                          <a:latin typeface="+mn-lt"/>
                          <a:ea typeface="+mn-ea"/>
                          <a:cs typeface="+mn-cs"/>
                        </a:rPr>
                        <a:t>Realizes that consumer electronics should be their major focus</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answers all questions</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provides the value chain structure and think logically of the reasons for profit declining</a:t>
                      </a:r>
                    </a:p>
                    <a:p>
                      <a:pPr marL="225425" indent="-225425">
                        <a:buFont typeface="Arial" pitchFamily="34" charset="0"/>
                        <a:buChar char="•"/>
                      </a:pPr>
                      <a:r>
                        <a:rPr lang="en-US" sz="1200" b="0" i="0" kern="1200" baseline="0" dirty="0" smtClean="0">
                          <a:solidFill>
                            <a:schemeClr val="tx1"/>
                          </a:solidFill>
                          <a:latin typeface="+mn-lt"/>
                          <a:ea typeface="+mn-ea"/>
                          <a:cs typeface="+mn-cs"/>
                        </a:rPr>
                        <a:t>Asks relevant clarify questions right after the prompts are given</a:t>
                      </a:r>
                    </a:p>
                    <a:p>
                      <a:pPr marL="225425" indent="-225425">
                        <a:buFont typeface="Arial" pitchFamily="34" charset="0"/>
                        <a:buChar char="•"/>
                      </a:pPr>
                      <a:r>
                        <a:rPr lang="en-US" sz="1200" b="0" i="0" kern="1200" baseline="0" dirty="0" smtClean="0">
                          <a:solidFill>
                            <a:schemeClr val="tx1"/>
                          </a:solidFill>
                          <a:latin typeface="+mn-lt"/>
                          <a:ea typeface="+mn-ea"/>
                          <a:cs typeface="+mn-cs"/>
                        </a:rPr>
                        <a:t>Performs all calculations with no errors and with little prompting</a:t>
                      </a:r>
                    </a:p>
                    <a:p>
                      <a:pPr marL="0" indent="0">
                        <a:buFont typeface="Arial" pitchFamily="34" charset="0"/>
                        <a:buNone/>
                      </a:pPr>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Correctly and quickly performs all calculates in the case with no assistance from the interviewer</a:t>
                      </a:r>
                    </a:p>
                    <a:p>
                      <a:pPr marL="225425" indent="-225425">
                        <a:buFont typeface="Arial" pitchFamily="34" charset="0"/>
                        <a:buChar char="•"/>
                      </a:pPr>
                      <a:r>
                        <a:rPr lang="en-US" sz="1200" b="0" i="0" kern="1200" baseline="0" dirty="0" smtClean="0">
                          <a:solidFill>
                            <a:schemeClr val="tx1"/>
                          </a:solidFill>
                          <a:latin typeface="+mn-lt"/>
                          <a:ea typeface="+mn-ea"/>
                          <a:cs typeface="+mn-cs"/>
                        </a:rPr>
                        <a:t>Keeps the interviewer engaged during the calculations and brainstorm sessions, demonstrating strong communication skills</a:t>
                      </a:r>
                    </a:p>
                  </a:txBody>
                  <a:tcPr anchor="ctr"/>
                </a:tc>
              </a:tr>
            </a:tbl>
          </a:graphicData>
        </a:graphic>
      </p:graphicFrame>
      <p:sp>
        <p:nvSpPr>
          <p:cNvPr id="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52</a:t>
            </a:fld>
            <a:endParaRPr lang="en-US" dirty="0"/>
          </a:p>
        </p:txBody>
      </p:sp>
    </p:spTree>
    <p:extLst>
      <p:ext uri="{BB962C8B-B14F-4D97-AF65-F5344CB8AC3E}">
        <p14:creationId xmlns:p14="http://schemas.microsoft.com/office/powerpoint/2010/main" val="3080755041"/>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53</a:t>
            </a:fld>
            <a:endParaRPr lang="en-US" dirty="0"/>
          </a:p>
        </p:txBody>
      </p:sp>
    </p:spTree>
    <p:extLst>
      <p:ext uri="{BB962C8B-B14F-4D97-AF65-F5344CB8AC3E}">
        <p14:creationId xmlns:p14="http://schemas.microsoft.com/office/powerpoint/2010/main" val="2286250805"/>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3273431357"/>
              </p:ext>
            </p:extLst>
          </p:nvPr>
        </p:nvGraphicFramePr>
        <p:xfrm>
          <a:off x="304800" y="1295400"/>
          <a:ext cx="8534400" cy="5299391"/>
        </p:xfrm>
        <a:graphic>
          <a:graphicData uri="http://schemas.openxmlformats.org/drawingml/2006/table">
            <a:tbl>
              <a:tblPr firstRow="1" bandRow="1">
                <a:tableStyleId>{616DA210-FB5B-4158-B5E0-FEB733F419BA}</a:tableStyleId>
              </a:tblPr>
              <a:tblGrid>
                <a:gridCol w="1600200"/>
                <a:gridCol w="6934200"/>
              </a:tblGrid>
              <a:tr h="2098964">
                <a:tc>
                  <a:txBody>
                    <a:bodyPr/>
                    <a:lstStyle/>
                    <a:p>
                      <a:pPr algn="ctr"/>
                      <a:r>
                        <a:rPr lang="en-US" sz="1800" dirty="0" smtClean="0">
                          <a:latin typeface="+mn-lt"/>
                        </a:rPr>
                        <a:t>Prompt #1</a:t>
                      </a:r>
                      <a:endParaRPr lang="en-US" sz="1800" dirty="0">
                        <a:latin typeface="+mn-lt"/>
                      </a:endParaRPr>
                    </a:p>
                  </a:txBody>
                  <a:tcPr marT="45734" marB="45734" anchor="ctr"/>
                </a:tc>
                <a:tc>
                  <a:txBody>
                    <a:bodyPr/>
                    <a:lstStyle/>
                    <a:p>
                      <a:r>
                        <a:rPr lang="en-US" sz="1200" b="0" kern="1200" dirty="0" smtClean="0">
                          <a:latin typeface="+mn-lt"/>
                        </a:rPr>
                        <a:t>Your client is </a:t>
                      </a:r>
                      <a:r>
                        <a:rPr lang="en-US" sz="1200" b="0" kern="1200" dirty="0" err="1" smtClean="0">
                          <a:latin typeface="+mn-lt"/>
                        </a:rPr>
                        <a:t>Deda</a:t>
                      </a:r>
                      <a:r>
                        <a:rPr lang="en-US" sz="1200" b="0" kern="1200" dirty="0" smtClean="0">
                          <a:latin typeface="+mn-lt"/>
                        </a:rPr>
                        <a:t> </a:t>
                      </a:r>
                      <a:r>
                        <a:rPr lang="en-US" sz="1200" b="0" kern="1200" dirty="0" err="1" smtClean="0">
                          <a:latin typeface="+mn-lt"/>
                        </a:rPr>
                        <a:t>Mitsa</a:t>
                      </a:r>
                      <a:r>
                        <a:rPr lang="en-US" sz="1200" b="0" kern="1200" dirty="0" smtClean="0">
                          <a:latin typeface="+mn-lt"/>
                        </a:rPr>
                        <a:t> Winery, a mid-size wine producer in the Republic of Georgia. They produce ten million bottles of wine annually and are moderately profitable. They enjoy a reputation as a high quality wine producer; many of </a:t>
                      </a:r>
                      <a:r>
                        <a:rPr lang="en-US" sz="1200" b="0" kern="1200" dirty="0" err="1" smtClean="0">
                          <a:latin typeface="+mn-lt"/>
                        </a:rPr>
                        <a:t>Deda</a:t>
                      </a:r>
                      <a:r>
                        <a:rPr lang="en-US" sz="1200" b="0" kern="1200" dirty="0" smtClean="0">
                          <a:latin typeface="+mn-lt"/>
                        </a:rPr>
                        <a:t> </a:t>
                      </a:r>
                      <a:r>
                        <a:rPr lang="en-US" sz="1200" b="0" kern="1200" dirty="0" err="1" smtClean="0">
                          <a:latin typeface="+mn-lt"/>
                        </a:rPr>
                        <a:t>Mitsa</a:t>
                      </a:r>
                      <a:r>
                        <a:rPr lang="en-US" sz="1200" b="0" kern="1200" dirty="0" smtClean="0">
                          <a:latin typeface="+mn-lt"/>
                        </a:rPr>
                        <a:t> Winery’s competitors are known to import grapes and pass them off as Georgian in their wines.</a:t>
                      </a:r>
                    </a:p>
                    <a:p>
                      <a:endParaRPr lang="en-US" sz="1200" b="0" kern="1200" dirty="0" smtClean="0">
                        <a:latin typeface="+mn-lt"/>
                      </a:endParaRPr>
                    </a:p>
                    <a:p>
                      <a:r>
                        <a:rPr lang="en-US" sz="1200" b="0" kern="1200" dirty="0" smtClean="0">
                          <a:latin typeface="+mn-lt"/>
                        </a:rPr>
                        <a:t>Even though Georgian wine is largely unknown in many parts of the world, it is the one of the most prized wines of the former Soviet Union and Eastern Europe. However, Russia has recently declared a moratorium on imports of Georgian wine due to the prevalence of counterfeits. </a:t>
                      </a:r>
                      <a:r>
                        <a:rPr lang="en-US" sz="1200" b="0" kern="1200" dirty="0" err="1" smtClean="0">
                          <a:latin typeface="+mn-lt"/>
                        </a:rPr>
                        <a:t>Deda</a:t>
                      </a:r>
                      <a:r>
                        <a:rPr lang="en-US" sz="1200" b="0" kern="1200" dirty="0" smtClean="0">
                          <a:latin typeface="+mn-lt"/>
                        </a:rPr>
                        <a:t> </a:t>
                      </a:r>
                      <a:r>
                        <a:rPr lang="en-US" sz="1200" b="0" kern="1200" dirty="0" err="1" smtClean="0">
                          <a:latin typeface="+mn-lt"/>
                        </a:rPr>
                        <a:t>Mitsa</a:t>
                      </a:r>
                      <a:r>
                        <a:rPr lang="en-US" sz="1200" b="0" kern="1200" dirty="0" smtClean="0">
                          <a:latin typeface="+mn-lt"/>
                        </a:rPr>
                        <a:t> Winery usually exports 50% of its wines to Russia and is uncertain where to make up the difference.  What options are available to the company?</a:t>
                      </a:r>
                    </a:p>
                  </a:txBody>
                  <a:tcPr marT="45734" marB="45734" anchor="ctr"/>
                </a:tc>
              </a:tr>
              <a:tr h="3017517">
                <a:tc>
                  <a:txBody>
                    <a:bodyPr/>
                    <a:lstStyle/>
                    <a:p>
                      <a:pPr algn="ctr"/>
                      <a:r>
                        <a:rPr lang="en-US" sz="1800" b="1" dirty="0" smtClean="0">
                          <a:latin typeface="+mn-lt"/>
                        </a:rPr>
                        <a:t>Guidance</a:t>
                      </a:r>
                      <a:endParaRPr lang="en-US" sz="1800" b="1" baseline="0" dirty="0" smtClean="0">
                        <a:latin typeface="+mn-lt"/>
                      </a:endParaRPr>
                    </a:p>
                  </a:txBody>
                  <a:tcPr marT="45734" marB="45734" anchor="ctr"/>
                </a:tc>
                <a:tc>
                  <a:txBody>
                    <a:bodyPr/>
                    <a:lstStyle/>
                    <a:p>
                      <a:r>
                        <a:rPr lang="en-US" sz="1200" i="0" kern="1200" dirty="0" smtClean="0">
                          <a:solidFill>
                            <a:schemeClr val="tx1"/>
                          </a:solidFill>
                          <a:latin typeface="+mn-lt"/>
                          <a:ea typeface="+mn-ea"/>
                          <a:cs typeface="+mn-cs"/>
                        </a:rPr>
                        <a:t>Provide</a:t>
                      </a:r>
                      <a:r>
                        <a:rPr lang="en-US" sz="1200" i="0" kern="1200" baseline="0" dirty="0" smtClean="0">
                          <a:solidFill>
                            <a:schemeClr val="tx1"/>
                          </a:solidFill>
                          <a:latin typeface="+mn-lt"/>
                          <a:ea typeface="+mn-ea"/>
                          <a:cs typeface="+mn-cs"/>
                        </a:rPr>
                        <a:t> the a</a:t>
                      </a:r>
                      <a:r>
                        <a:rPr lang="en-US" sz="1200" i="0" kern="1200" dirty="0" smtClean="0">
                          <a:solidFill>
                            <a:schemeClr val="tx1"/>
                          </a:solidFill>
                          <a:latin typeface="+mn-lt"/>
                          <a:ea typeface="+mn-ea"/>
                          <a:cs typeface="+mn-cs"/>
                        </a:rPr>
                        <a:t>dditional information if requested:</a:t>
                      </a:r>
                    </a:p>
                    <a:p>
                      <a:pPr marL="171450" indent="-171450">
                        <a:buFont typeface="Arial" pitchFamily="34" charset="0"/>
                        <a:buChar char="•"/>
                      </a:pPr>
                      <a:r>
                        <a:rPr lang="en-US" sz="1200" i="0" kern="1200" dirty="0" smtClean="0">
                          <a:solidFill>
                            <a:schemeClr val="tx1"/>
                          </a:solidFill>
                          <a:latin typeface="+mn-lt"/>
                          <a:ea typeface="+mn-ea"/>
                          <a:cs typeface="+mn-cs"/>
                        </a:rPr>
                        <a:t>The remainder of </a:t>
                      </a:r>
                      <a:r>
                        <a:rPr lang="en-US" sz="1200" i="0" kern="1200" dirty="0" err="1" smtClean="0">
                          <a:solidFill>
                            <a:schemeClr val="tx1"/>
                          </a:solidFill>
                          <a:latin typeface="+mn-lt"/>
                          <a:ea typeface="+mn-ea"/>
                          <a:cs typeface="+mn-cs"/>
                        </a:rPr>
                        <a:t>Deda</a:t>
                      </a:r>
                      <a:r>
                        <a:rPr lang="en-US" sz="1200" i="0" kern="1200" dirty="0" smtClean="0">
                          <a:solidFill>
                            <a:schemeClr val="tx1"/>
                          </a:solidFill>
                          <a:latin typeface="+mn-lt"/>
                          <a:ea typeface="+mn-ea"/>
                          <a:cs typeface="+mn-cs"/>
                        </a:rPr>
                        <a:t> </a:t>
                      </a:r>
                      <a:r>
                        <a:rPr lang="en-US" sz="1200" i="0" kern="1200" dirty="0" err="1" smtClean="0">
                          <a:solidFill>
                            <a:schemeClr val="tx1"/>
                          </a:solidFill>
                          <a:latin typeface="+mn-lt"/>
                          <a:ea typeface="+mn-ea"/>
                          <a:cs typeface="+mn-cs"/>
                        </a:rPr>
                        <a:t>Mitsa</a:t>
                      </a:r>
                      <a:r>
                        <a:rPr lang="en-US" sz="1200" i="0" kern="1200" dirty="0" smtClean="0">
                          <a:solidFill>
                            <a:schemeClr val="tx1"/>
                          </a:solidFill>
                          <a:latin typeface="+mn-lt"/>
                          <a:ea typeface="+mn-ea"/>
                          <a:cs typeface="+mn-cs"/>
                        </a:rPr>
                        <a:t> Winery’s stock is sold to the Ukraine (30%) and domestically (20%).</a:t>
                      </a:r>
                    </a:p>
                    <a:p>
                      <a:pPr marL="171450" indent="-171450">
                        <a:buFont typeface="Arial" pitchFamily="34" charset="0"/>
                        <a:buChar char="•"/>
                      </a:pPr>
                      <a:r>
                        <a:rPr lang="en-US" sz="1200" i="0" kern="1200" dirty="0" smtClean="0">
                          <a:solidFill>
                            <a:schemeClr val="tx1"/>
                          </a:solidFill>
                          <a:latin typeface="+mn-lt"/>
                          <a:ea typeface="+mn-ea"/>
                          <a:cs typeface="+mn-cs"/>
                        </a:rPr>
                        <a:t>Overall, 100 million bottles of Georgian wine are produced every year, giving </a:t>
                      </a:r>
                      <a:r>
                        <a:rPr lang="en-US" sz="1200" i="0" kern="1200" dirty="0" err="1" smtClean="0">
                          <a:solidFill>
                            <a:schemeClr val="tx1"/>
                          </a:solidFill>
                          <a:latin typeface="+mn-lt"/>
                          <a:ea typeface="+mn-ea"/>
                          <a:cs typeface="+mn-cs"/>
                        </a:rPr>
                        <a:t>Deda</a:t>
                      </a:r>
                      <a:r>
                        <a:rPr lang="en-US" sz="1200" i="0" kern="1200" dirty="0" smtClean="0">
                          <a:solidFill>
                            <a:schemeClr val="tx1"/>
                          </a:solidFill>
                          <a:latin typeface="+mn-lt"/>
                          <a:ea typeface="+mn-ea"/>
                          <a:cs typeface="+mn-cs"/>
                        </a:rPr>
                        <a:t> </a:t>
                      </a:r>
                      <a:r>
                        <a:rPr lang="en-US" sz="1200" i="0" kern="1200" dirty="0" err="1" smtClean="0">
                          <a:solidFill>
                            <a:schemeClr val="tx1"/>
                          </a:solidFill>
                          <a:latin typeface="+mn-lt"/>
                          <a:ea typeface="+mn-ea"/>
                          <a:cs typeface="+mn-cs"/>
                        </a:rPr>
                        <a:t>Mitsa</a:t>
                      </a:r>
                      <a:r>
                        <a:rPr lang="en-US" sz="1200" i="0" kern="1200" dirty="0" smtClean="0">
                          <a:solidFill>
                            <a:schemeClr val="tx1"/>
                          </a:solidFill>
                          <a:latin typeface="+mn-lt"/>
                          <a:ea typeface="+mn-ea"/>
                          <a:cs typeface="+mn-cs"/>
                        </a:rPr>
                        <a:t> Winery a 10% market share.</a:t>
                      </a:r>
                    </a:p>
                    <a:p>
                      <a:pPr marL="171450" indent="-171450">
                        <a:buFont typeface="Arial" pitchFamily="34" charset="0"/>
                        <a:buChar char="•"/>
                      </a:pPr>
                      <a:r>
                        <a:rPr lang="en-US" sz="1200" i="0" kern="1200" dirty="0" smtClean="0">
                          <a:solidFill>
                            <a:schemeClr val="tx1"/>
                          </a:solidFill>
                          <a:latin typeface="+mn-lt"/>
                          <a:ea typeface="+mn-ea"/>
                          <a:cs typeface="+mn-cs"/>
                        </a:rPr>
                        <a:t>The potential of the domestic market is limited because many Georgians make wine at home.</a:t>
                      </a:r>
                    </a:p>
                    <a:p>
                      <a:endParaRPr lang="en-US" sz="1200" i="0" kern="1200" dirty="0" smtClean="0">
                        <a:solidFill>
                          <a:schemeClr val="tx1"/>
                        </a:solidFill>
                        <a:latin typeface="+mn-lt"/>
                        <a:ea typeface="+mn-ea"/>
                        <a:cs typeface="+mn-cs"/>
                      </a:endParaRPr>
                    </a:p>
                    <a:p>
                      <a:r>
                        <a:rPr lang="en-US" sz="1200" i="1" kern="1200" dirty="0" smtClean="0">
                          <a:solidFill>
                            <a:schemeClr val="tx1"/>
                          </a:solidFill>
                          <a:latin typeface="+mn-lt"/>
                          <a:ea typeface="+mn-ea"/>
                          <a:cs typeface="+mn-cs"/>
                        </a:rPr>
                        <a:t>Quality frameworks include many/all of the following possibilities:</a:t>
                      </a:r>
                    </a:p>
                    <a:p>
                      <a:pPr marL="171450" indent="-171450">
                        <a:buFont typeface="Arial" pitchFamily="34" charset="0"/>
                        <a:buChar char="•"/>
                      </a:pPr>
                      <a:r>
                        <a:rPr lang="en-US" sz="1200" i="0" kern="1200" dirty="0" smtClean="0">
                          <a:solidFill>
                            <a:schemeClr val="tx1"/>
                          </a:solidFill>
                          <a:latin typeface="+mn-lt"/>
                          <a:ea typeface="+mn-ea"/>
                          <a:cs typeface="+mn-cs"/>
                        </a:rPr>
                        <a:t>Raise prices</a:t>
                      </a:r>
                    </a:p>
                    <a:p>
                      <a:pPr marL="171450" indent="-171450">
                        <a:buFont typeface="Arial" pitchFamily="34" charset="0"/>
                        <a:buChar char="•"/>
                      </a:pPr>
                      <a:r>
                        <a:rPr lang="en-US" sz="1200" i="0" kern="1200" dirty="0" smtClean="0">
                          <a:solidFill>
                            <a:schemeClr val="tx1"/>
                          </a:solidFill>
                          <a:latin typeface="+mn-lt"/>
                          <a:ea typeface="+mn-ea"/>
                          <a:cs typeface="+mn-cs"/>
                        </a:rPr>
                        <a:t>Shut down the company</a:t>
                      </a:r>
                    </a:p>
                    <a:p>
                      <a:pPr marL="171450" indent="-171450">
                        <a:buFont typeface="Arial" pitchFamily="34" charset="0"/>
                        <a:buChar char="•"/>
                      </a:pPr>
                      <a:r>
                        <a:rPr lang="en-US" sz="1200" i="0" kern="1200" dirty="0" smtClean="0">
                          <a:solidFill>
                            <a:schemeClr val="tx1"/>
                          </a:solidFill>
                          <a:latin typeface="+mn-lt"/>
                          <a:ea typeface="+mn-ea"/>
                          <a:cs typeface="+mn-cs"/>
                        </a:rPr>
                        <a:t>Move into alternate grape products (juice, vodka) that are not covered by the embargo</a:t>
                      </a:r>
                    </a:p>
                    <a:p>
                      <a:pPr marL="171450" indent="-171450">
                        <a:buFont typeface="Arial" pitchFamily="34" charset="0"/>
                        <a:buChar char="•"/>
                      </a:pPr>
                      <a:r>
                        <a:rPr lang="en-US" sz="1200" i="0" kern="1200" dirty="0" smtClean="0">
                          <a:solidFill>
                            <a:schemeClr val="tx1"/>
                          </a:solidFill>
                          <a:latin typeface="+mn-lt"/>
                          <a:ea typeface="+mn-ea"/>
                          <a:cs typeface="+mn-cs"/>
                        </a:rPr>
                        <a:t>Seek an exemption from the embargo based on the company’s reputation for quality</a:t>
                      </a:r>
                    </a:p>
                    <a:p>
                      <a:pPr marL="171450" indent="-171450">
                        <a:buFont typeface="Arial" pitchFamily="34" charset="0"/>
                        <a:buChar char="•"/>
                      </a:pPr>
                      <a:r>
                        <a:rPr lang="en-US" sz="1200" i="0" kern="1200" dirty="0" smtClean="0">
                          <a:solidFill>
                            <a:schemeClr val="tx1"/>
                          </a:solidFill>
                          <a:latin typeface="+mn-lt"/>
                          <a:ea typeface="+mn-ea"/>
                          <a:cs typeface="+mn-cs"/>
                        </a:rPr>
                        <a:t>Export to new markets</a:t>
                      </a:r>
                    </a:p>
                    <a:p>
                      <a:pPr marL="171450" indent="-171450">
                        <a:buFont typeface="Arial" pitchFamily="34" charset="0"/>
                        <a:buChar char="•"/>
                      </a:pPr>
                      <a:r>
                        <a:rPr lang="en-US" sz="1200" i="0" kern="1200" dirty="0" smtClean="0">
                          <a:solidFill>
                            <a:schemeClr val="tx1"/>
                          </a:solidFill>
                          <a:latin typeface="+mn-lt"/>
                          <a:ea typeface="+mn-ea"/>
                          <a:cs typeface="+mn-cs"/>
                        </a:rPr>
                        <a:t>Expand sales domestically</a:t>
                      </a:r>
                    </a:p>
                    <a:p>
                      <a:endParaRPr lang="en-US" sz="1200" i="0" kern="1200" dirty="0" smtClean="0">
                        <a:solidFill>
                          <a:schemeClr val="tx1"/>
                        </a:solidFill>
                        <a:latin typeface="+mn-lt"/>
                        <a:ea typeface="+mn-ea"/>
                        <a:cs typeface="+mn-cs"/>
                      </a:endParaRPr>
                    </a:p>
                    <a:p>
                      <a:r>
                        <a:rPr lang="en-US" sz="1200" i="0" kern="1200" dirty="0" smtClean="0">
                          <a:solidFill>
                            <a:schemeClr val="tx1"/>
                          </a:solidFill>
                          <a:latin typeface="+mn-lt"/>
                          <a:ea typeface="+mn-ea"/>
                          <a:cs typeface="+mn-cs"/>
                        </a:rPr>
                        <a:t>Steer the candidate toward exporting to new markets. Ask the candidate to brainstorm what factors determine where </a:t>
                      </a:r>
                      <a:r>
                        <a:rPr lang="en-US" sz="1200" i="0" kern="1200" dirty="0" err="1" smtClean="0">
                          <a:solidFill>
                            <a:schemeClr val="tx1"/>
                          </a:solidFill>
                          <a:latin typeface="+mn-lt"/>
                          <a:ea typeface="+mn-ea"/>
                          <a:cs typeface="+mn-cs"/>
                        </a:rPr>
                        <a:t>Deda</a:t>
                      </a:r>
                      <a:r>
                        <a:rPr lang="en-US" sz="1200" i="0" kern="1200" dirty="0" smtClean="0">
                          <a:solidFill>
                            <a:schemeClr val="tx1"/>
                          </a:solidFill>
                          <a:latin typeface="+mn-lt"/>
                          <a:ea typeface="+mn-ea"/>
                          <a:cs typeface="+mn-cs"/>
                        </a:rPr>
                        <a:t> </a:t>
                      </a:r>
                      <a:r>
                        <a:rPr lang="en-US" sz="1200" i="0" kern="1200" dirty="0" err="1" smtClean="0">
                          <a:solidFill>
                            <a:schemeClr val="tx1"/>
                          </a:solidFill>
                          <a:latin typeface="+mn-lt"/>
                          <a:ea typeface="+mn-ea"/>
                          <a:cs typeface="+mn-cs"/>
                        </a:rPr>
                        <a:t>Mitsa</a:t>
                      </a:r>
                      <a:r>
                        <a:rPr lang="en-US" sz="1200" i="0" kern="1200" dirty="0" smtClean="0">
                          <a:solidFill>
                            <a:schemeClr val="tx1"/>
                          </a:solidFill>
                          <a:latin typeface="+mn-lt"/>
                          <a:ea typeface="+mn-ea"/>
                          <a:cs typeface="+mn-cs"/>
                        </a:rPr>
                        <a:t> Winery should export.  If the candidate asks about wine consumption levels, present Exhibit 1 and 2.</a:t>
                      </a:r>
                    </a:p>
                  </a:txBody>
                  <a:tcPr marT="45734" marB="45734"/>
                </a:tc>
              </a:tr>
            </a:tbl>
          </a:graphicData>
        </a:graphic>
      </p:graphicFrame>
      <p:sp>
        <p:nvSpPr>
          <p:cNvPr id="8"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7: Who Will </a:t>
            </a:r>
            <a:r>
              <a:rPr lang="en-US" b="1" dirty="0"/>
              <a:t>B</a:t>
            </a:r>
            <a:r>
              <a:rPr lang="en-US" b="1" dirty="0" smtClean="0"/>
              <a:t>uy </a:t>
            </a:r>
            <a:r>
              <a:rPr lang="en-US" b="1" dirty="0"/>
              <a:t>O</a:t>
            </a:r>
            <a:r>
              <a:rPr lang="en-US" b="1" dirty="0" smtClean="0"/>
              <a:t>ur </a:t>
            </a:r>
            <a:r>
              <a:rPr lang="en-US" b="1" dirty="0"/>
              <a:t>W</a:t>
            </a:r>
            <a:r>
              <a:rPr lang="en-US" b="1" dirty="0" smtClean="0"/>
              <a:t>ine?	</a:t>
            </a:r>
            <a:endParaRPr lang="en-US"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54</a:t>
            </a:fld>
            <a:endParaRPr lang="en-US" dirty="0"/>
          </a:p>
        </p:txBody>
      </p:sp>
    </p:spTree>
    <p:extLst>
      <p:ext uri="{BB962C8B-B14F-4D97-AF65-F5344CB8AC3E}">
        <p14:creationId xmlns:p14="http://schemas.microsoft.com/office/powerpoint/2010/main" val="1942781210"/>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7: </a:t>
            </a:r>
            <a:r>
              <a:rPr lang="en-US" b="1" dirty="0"/>
              <a:t>Who Will Buy Our Wine?</a:t>
            </a:r>
            <a:r>
              <a:rPr lang="en-US" b="1" dirty="0" smtClean="0"/>
              <a:t>	</a:t>
            </a:r>
            <a:endParaRPr lang="en-US" b="1" dirty="0"/>
          </a:p>
        </p:txBody>
      </p:sp>
      <p:graphicFrame>
        <p:nvGraphicFramePr>
          <p:cNvPr id="6" name="Chart 5"/>
          <p:cNvGraphicFramePr/>
          <p:nvPr>
            <p:extLst>
              <p:ext uri="{D42A27DB-BD31-4B8C-83A1-F6EECF244321}">
                <p14:modId xmlns:p14="http://schemas.microsoft.com/office/powerpoint/2010/main" val="3462368029"/>
              </p:ext>
            </p:extLst>
          </p:nvPr>
        </p:nvGraphicFramePr>
        <p:xfrm>
          <a:off x="1316181" y="1981201"/>
          <a:ext cx="6567055" cy="4308763"/>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1"/>
          <p:cNvSpPr txBox="1">
            <a:spLocks noChangeArrowheads="1"/>
          </p:cNvSpPr>
          <p:nvPr/>
        </p:nvSpPr>
        <p:spPr bwMode="auto">
          <a:xfrm>
            <a:off x="2043545" y="1359620"/>
            <a:ext cx="5514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1: </a:t>
            </a:r>
            <a:r>
              <a:rPr lang="en-US" sz="1800" b="1" dirty="0" smtClean="0"/>
              <a:t>Per Capita Wine Consumption</a:t>
            </a:r>
            <a:endParaRPr lang="en-US" sz="1800"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55</a:t>
            </a:fld>
            <a:endParaRPr lang="en-US" dirty="0"/>
          </a:p>
        </p:txBody>
      </p:sp>
    </p:spTree>
    <p:extLst>
      <p:ext uri="{BB962C8B-B14F-4D97-AF65-F5344CB8AC3E}">
        <p14:creationId xmlns:p14="http://schemas.microsoft.com/office/powerpoint/2010/main" val="1804980854"/>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7: </a:t>
            </a:r>
            <a:r>
              <a:rPr lang="en-US" b="1" dirty="0"/>
              <a:t>Who Will Buy Our Wine?</a:t>
            </a:r>
            <a:r>
              <a:rPr lang="en-US" b="1" dirty="0" smtClean="0"/>
              <a:t>	</a:t>
            </a:r>
            <a:endParaRPr lang="en-US" b="1" dirty="0"/>
          </a:p>
        </p:txBody>
      </p:sp>
      <p:graphicFrame>
        <p:nvGraphicFramePr>
          <p:cNvPr id="6" name="Chart 5"/>
          <p:cNvGraphicFramePr/>
          <p:nvPr>
            <p:extLst>
              <p:ext uri="{D42A27DB-BD31-4B8C-83A1-F6EECF244321}">
                <p14:modId xmlns:p14="http://schemas.microsoft.com/office/powerpoint/2010/main" val="3451242438"/>
              </p:ext>
            </p:extLst>
          </p:nvPr>
        </p:nvGraphicFramePr>
        <p:xfrm>
          <a:off x="1316182" y="1828798"/>
          <a:ext cx="6599094" cy="459970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1"/>
          <p:cNvSpPr txBox="1">
            <a:spLocks noChangeArrowheads="1"/>
          </p:cNvSpPr>
          <p:nvPr/>
        </p:nvSpPr>
        <p:spPr bwMode="auto">
          <a:xfrm>
            <a:off x="1364672" y="1298575"/>
            <a:ext cx="68718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a:t>
            </a:r>
            <a:r>
              <a:rPr lang="en-US" sz="1800" b="1" dirty="0" smtClean="0"/>
              <a:t>2: Per Capita Wine Consumption vs. Previous Year</a:t>
            </a:r>
            <a:endParaRPr lang="en-US" sz="1800"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56</a:t>
            </a:fld>
            <a:endParaRPr lang="en-US" dirty="0"/>
          </a:p>
        </p:txBody>
      </p:sp>
    </p:spTree>
    <p:extLst>
      <p:ext uri="{BB962C8B-B14F-4D97-AF65-F5344CB8AC3E}">
        <p14:creationId xmlns:p14="http://schemas.microsoft.com/office/powerpoint/2010/main" val="1804980854"/>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3169968911"/>
              </p:ext>
            </p:extLst>
          </p:nvPr>
        </p:nvGraphicFramePr>
        <p:xfrm>
          <a:off x="304800" y="1295400"/>
          <a:ext cx="8534400" cy="5296620"/>
        </p:xfrm>
        <a:graphic>
          <a:graphicData uri="http://schemas.openxmlformats.org/drawingml/2006/table">
            <a:tbl>
              <a:tblPr firstRow="1" bandRow="1">
                <a:tableStyleId>{616DA210-FB5B-4158-B5E0-FEB733F419BA}</a:tableStyleId>
              </a:tblPr>
              <a:tblGrid>
                <a:gridCol w="1600200"/>
                <a:gridCol w="6934200"/>
              </a:tblGrid>
              <a:tr h="1364673">
                <a:tc>
                  <a:txBody>
                    <a:bodyPr/>
                    <a:lstStyle/>
                    <a:p>
                      <a:pPr algn="ctr"/>
                      <a:r>
                        <a:rPr lang="en-US" sz="1800" dirty="0" smtClean="0">
                          <a:latin typeface="+mn-lt"/>
                        </a:rPr>
                        <a:t>Prompt #2</a:t>
                      </a:r>
                      <a:endParaRPr lang="en-US" sz="1800" dirty="0">
                        <a:latin typeface="+mn-lt"/>
                      </a:endParaRPr>
                    </a:p>
                  </a:txBody>
                  <a:tcPr marT="45734" marB="45734" anchor="ctr"/>
                </a:tc>
                <a:tc>
                  <a:txBody>
                    <a:bodyPr/>
                    <a:lstStyle/>
                    <a:p>
                      <a:r>
                        <a:rPr lang="en-US" sz="1200" b="0" i="1" kern="1200" dirty="0" smtClean="0">
                          <a:latin typeface="+mn-lt"/>
                        </a:rPr>
                        <a:t>Give</a:t>
                      </a:r>
                      <a:r>
                        <a:rPr lang="en-US" sz="1200" b="0" i="1" kern="1200" baseline="0" dirty="0" smtClean="0">
                          <a:latin typeface="+mn-lt"/>
                        </a:rPr>
                        <a:t> candidate Exhibit 1 and 2</a:t>
                      </a:r>
                    </a:p>
                    <a:p>
                      <a:endParaRPr lang="en-US" sz="1200" b="0" i="1" kern="1200" baseline="0" dirty="0" smtClean="0">
                        <a:latin typeface="+mn-lt"/>
                      </a:endParaRPr>
                    </a:p>
                    <a:p>
                      <a:r>
                        <a:rPr lang="en-US" sz="1200" b="0" kern="1200" dirty="0" smtClean="0">
                          <a:latin typeface="+mn-lt"/>
                        </a:rPr>
                        <a:t>Based on the Exhibit 1 and 2, which country/countries are the strongest candidates for </a:t>
                      </a:r>
                      <a:r>
                        <a:rPr lang="en-US" sz="1200" b="0" kern="1200" dirty="0" err="1" smtClean="0">
                          <a:latin typeface="+mn-lt"/>
                        </a:rPr>
                        <a:t>Deda</a:t>
                      </a:r>
                      <a:r>
                        <a:rPr lang="en-US" sz="1200" b="0" kern="1200" dirty="0" smtClean="0">
                          <a:latin typeface="+mn-lt"/>
                        </a:rPr>
                        <a:t> </a:t>
                      </a:r>
                      <a:r>
                        <a:rPr lang="en-US" sz="1200" b="0" kern="1200" dirty="0" err="1" smtClean="0">
                          <a:latin typeface="+mn-lt"/>
                        </a:rPr>
                        <a:t>Mitsa</a:t>
                      </a:r>
                      <a:r>
                        <a:rPr lang="en-US" sz="1200" b="0" kern="1200" dirty="0" smtClean="0">
                          <a:latin typeface="+mn-lt"/>
                        </a:rPr>
                        <a:t> Winery’s export strategy?  Create a short list of 2-3 countries to explore. What additional factors should they consider?</a:t>
                      </a:r>
                    </a:p>
                  </a:txBody>
                  <a:tcPr marT="45734" marB="45734" anchor="ctr"/>
                </a:tc>
              </a:tr>
              <a:tr h="3017517">
                <a:tc>
                  <a:txBody>
                    <a:bodyPr/>
                    <a:lstStyle/>
                    <a:p>
                      <a:pPr algn="ctr"/>
                      <a:r>
                        <a:rPr lang="en-US" sz="1800" b="1" dirty="0" smtClean="0">
                          <a:latin typeface="+mn-lt"/>
                        </a:rPr>
                        <a:t>Guidance</a:t>
                      </a:r>
                      <a:endParaRPr lang="en-US" sz="1800" b="1" baseline="0" dirty="0" smtClean="0">
                        <a:latin typeface="+mn-lt"/>
                      </a:endParaRPr>
                    </a:p>
                  </a:txBody>
                  <a:tcPr marT="45734" marB="45734" anchor="ctr"/>
                </a:tc>
                <a:tc>
                  <a:txBody>
                    <a:bodyPr/>
                    <a:lstStyle/>
                    <a:p>
                      <a:r>
                        <a:rPr lang="en-US" sz="1200" i="0" kern="1200" dirty="0" smtClean="0">
                          <a:solidFill>
                            <a:schemeClr val="tx1"/>
                          </a:solidFill>
                          <a:latin typeface="+mn-lt"/>
                          <a:ea typeface="+mn-ea"/>
                          <a:cs typeface="+mn-cs"/>
                        </a:rPr>
                        <a:t>Arguments can be made for many of the countries on the list. A successful candidate will display understanding of the charts by considering growth rate and current consumption, but will also use information from earlier in the case to inform his/her analysis. For instance, the candidate knows that Georgian wine has little fame outside the former Soviet Union, so it may not be a good idea to try and compete in a place with a strong international reputation for wine, such as France. However, the growth rate of US wine consumption is such that a candidate may argue for exports to the US. </a:t>
                      </a:r>
                    </a:p>
                    <a:p>
                      <a:endParaRPr lang="en-US" sz="1200" i="0" kern="1200" dirty="0" smtClean="0">
                        <a:solidFill>
                          <a:schemeClr val="tx1"/>
                        </a:solidFill>
                        <a:latin typeface="+mn-lt"/>
                        <a:ea typeface="+mn-ea"/>
                        <a:cs typeface="+mn-cs"/>
                      </a:endParaRPr>
                    </a:p>
                    <a:p>
                      <a:r>
                        <a:rPr lang="en-US" sz="1200" i="0" kern="1200" dirty="0" smtClean="0">
                          <a:solidFill>
                            <a:schemeClr val="tx1"/>
                          </a:solidFill>
                          <a:latin typeface="+mn-lt"/>
                          <a:ea typeface="+mn-ea"/>
                          <a:cs typeface="+mn-cs"/>
                        </a:rPr>
                        <a:t>Based on the charts and the information in the case, Estonia and Romania are the strongest potential markets.</a:t>
                      </a:r>
                    </a:p>
                    <a:p>
                      <a:endParaRPr lang="en-US" sz="1200" i="0" kern="1200" dirty="0" smtClean="0">
                        <a:solidFill>
                          <a:schemeClr val="tx1"/>
                        </a:solidFill>
                        <a:latin typeface="+mn-lt"/>
                        <a:ea typeface="+mn-ea"/>
                        <a:cs typeface="+mn-cs"/>
                      </a:endParaRPr>
                    </a:p>
                    <a:p>
                      <a:r>
                        <a:rPr lang="en-US" sz="1200" i="0" kern="1200" dirty="0" smtClean="0">
                          <a:solidFill>
                            <a:schemeClr val="tx1"/>
                          </a:solidFill>
                          <a:latin typeface="+mn-lt"/>
                          <a:ea typeface="+mn-ea"/>
                          <a:cs typeface="+mn-cs"/>
                        </a:rPr>
                        <a:t>Possible additional factors to consider:</a:t>
                      </a:r>
                    </a:p>
                    <a:p>
                      <a:pPr marL="171450" indent="-171450">
                        <a:buFont typeface="Arial" pitchFamily="34" charset="0"/>
                        <a:buChar char="•"/>
                      </a:pPr>
                      <a:r>
                        <a:rPr lang="en-US" sz="1200" i="0" kern="1200" dirty="0" smtClean="0">
                          <a:solidFill>
                            <a:schemeClr val="tx1"/>
                          </a:solidFill>
                          <a:latin typeface="+mn-lt"/>
                          <a:ea typeface="+mn-ea"/>
                          <a:cs typeface="+mn-cs"/>
                        </a:rPr>
                        <a:t>Cost of shipping</a:t>
                      </a:r>
                    </a:p>
                    <a:p>
                      <a:pPr marL="171450" indent="-171450">
                        <a:buFont typeface="Arial" pitchFamily="34" charset="0"/>
                        <a:buChar char="•"/>
                      </a:pPr>
                      <a:r>
                        <a:rPr lang="en-US" sz="1200" i="0" kern="1200" dirty="0" smtClean="0">
                          <a:solidFill>
                            <a:schemeClr val="tx1"/>
                          </a:solidFill>
                          <a:latin typeface="+mn-lt"/>
                          <a:ea typeface="+mn-ea"/>
                          <a:cs typeface="+mn-cs"/>
                        </a:rPr>
                        <a:t>Wine preferences (dry, sweet)</a:t>
                      </a:r>
                    </a:p>
                    <a:p>
                      <a:pPr marL="171450" indent="-171450">
                        <a:buFont typeface="Arial" pitchFamily="34" charset="0"/>
                        <a:buChar char="•"/>
                      </a:pPr>
                      <a:r>
                        <a:rPr lang="en-US" sz="1200" i="0" kern="1200" dirty="0" smtClean="0">
                          <a:solidFill>
                            <a:schemeClr val="tx1"/>
                          </a:solidFill>
                          <a:latin typeface="+mn-lt"/>
                          <a:ea typeface="+mn-ea"/>
                          <a:cs typeface="+mn-cs"/>
                        </a:rPr>
                        <a:t>GDP</a:t>
                      </a:r>
                    </a:p>
                    <a:p>
                      <a:pPr marL="171450" indent="-171450">
                        <a:buFont typeface="Arial" pitchFamily="34" charset="0"/>
                        <a:buChar char="•"/>
                      </a:pPr>
                      <a:r>
                        <a:rPr lang="en-US" sz="1200" i="0" kern="1200" dirty="0" smtClean="0">
                          <a:solidFill>
                            <a:schemeClr val="tx1"/>
                          </a:solidFill>
                          <a:latin typeface="+mn-lt"/>
                          <a:ea typeface="+mn-ea"/>
                          <a:cs typeface="+mn-cs"/>
                        </a:rPr>
                        <a:t>Potential of additional embargos</a:t>
                      </a:r>
                    </a:p>
                    <a:p>
                      <a:pPr marL="171450" indent="-171450">
                        <a:buFont typeface="Arial" pitchFamily="34" charset="0"/>
                        <a:buChar char="•"/>
                      </a:pPr>
                      <a:r>
                        <a:rPr lang="en-US" sz="1200" i="0" kern="1200" dirty="0" smtClean="0">
                          <a:solidFill>
                            <a:schemeClr val="tx1"/>
                          </a:solidFill>
                          <a:latin typeface="+mn-lt"/>
                          <a:ea typeface="+mn-ea"/>
                          <a:cs typeface="+mn-cs"/>
                        </a:rPr>
                        <a:t>Reputation of Georgian wine in that country</a:t>
                      </a:r>
                    </a:p>
                    <a:p>
                      <a:pPr marL="171450" indent="-171450">
                        <a:buFont typeface="Arial" pitchFamily="34" charset="0"/>
                        <a:buChar char="•"/>
                      </a:pPr>
                      <a:r>
                        <a:rPr lang="en-US" sz="1200" i="0" kern="1200" dirty="0" smtClean="0">
                          <a:solidFill>
                            <a:schemeClr val="tx1"/>
                          </a:solidFill>
                          <a:latin typeface="+mn-lt"/>
                          <a:ea typeface="+mn-ea"/>
                          <a:cs typeface="+mn-cs"/>
                        </a:rPr>
                        <a:t>Political and economic stability</a:t>
                      </a:r>
                    </a:p>
                    <a:p>
                      <a:pPr marL="171450" indent="-171450">
                        <a:buFont typeface="Arial" pitchFamily="34" charset="0"/>
                        <a:buChar char="•"/>
                      </a:pPr>
                      <a:r>
                        <a:rPr lang="en-US" sz="1200" i="0" kern="1200" dirty="0" smtClean="0">
                          <a:solidFill>
                            <a:schemeClr val="tx1"/>
                          </a:solidFill>
                          <a:latin typeface="+mn-lt"/>
                          <a:ea typeface="+mn-ea"/>
                          <a:cs typeface="+mn-cs"/>
                        </a:rPr>
                        <a:t>Distribution networks</a:t>
                      </a:r>
                    </a:p>
                    <a:p>
                      <a:pPr marL="171450" indent="-171450">
                        <a:buFont typeface="Arial" pitchFamily="34" charset="0"/>
                        <a:buChar char="•"/>
                      </a:pPr>
                      <a:r>
                        <a:rPr lang="en-US" sz="1200" i="0" kern="1200" dirty="0" smtClean="0">
                          <a:solidFill>
                            <a:schemeClr val="tx1"/>
                          </a:solidFill>
                          <a:latin typeface="+mn-lt"/>
                          <a:ea typeface="+mn-ea"/>
                          <a:cs typeface="+mn-cs"/>
                        </a:rPr>
                        <a:t>Corruption level</a:t>
                      </a:r>
                    </a:p>
                    <a:p>
                      <a:endParaRPr lang="en-US" sz="1200" i="0" kern="1200" dirty="0" smtClean="0">
                        <a:solidFill>
                          <a:schemeClr val="tx1"/>
                        </a:solidFill>
                        <a:latin typeface="+mn-lt"/>
                        <a:ea typeface="+mn-ea"/>
                        <a:cs typeface="+mn-cs"/>
                      </a:endParaRPr>
                    </a:p>
                    <a:p>
                      <a:r>
                        <a:rPr lang="en-US" sz="1200" i="0" kern="1200" dirty="0" smtClean="0">
                          <a:solidFill>
                            <a:schemeClr val="tx1"/>
                          </a:solidFill>
                          <a:latin typeface="+mn-lt"/>
                          <a:ea typeface="+mn-ea"/>
                          <a:cs typeface="+mn-cs"/>
                        </a:rPr>
                        <a:t>Guide the candidate toward considering profitability.</a:t>
                      </a:r>
                    </a:p>
                  </a:txBody>
                  <a:tcPr marT="45734" marB="45734"/>
                </a:tc>
              </a:tr>
            </a:tbl>
          </a:graphicData>
        </a:graphic>
      </p:graphicFrame>
      <p:sp>
        <p:nvSpPr>
          <p:cNvPr id="8"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7: </a:t>
            </a:r>
            <a:r>
              <a:rPr lang="en-US" b="1" dirty="0"/>
              <a:t>Who Will Buy Our Wine?</a:t>
            </a:r>
            <a:r>
              <a:rPr lang="en-US" b="1" dirty="0" smtClean="0"/>
              <a:t>	</a:t>
            </a:r>
            <a:endParaRPr lang="en-US"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57</a:t>
            </a:fld>
            <a:endParaRPr lang="en-US" dirty="0"/>
          </a:p>
        </p:txBody>
      </p:sp>
    </p:spTree>
    <p:extLst>
      <p:ext uri="{BB962C8B-B14F-4D97-AF65-F5344CB8AC3E}">
        <p14:creationId xmlns:p14="http://schemas.microsoft.com/office/powerpoint/2010/main" val="1541866168"/>
      </p:ext>
    </p:extLst>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1002501754"/>
              </p:ext>
            </p:extLst>
          </p:nvPr>
        </p:nvGraphicFramePr>
        <p:xfrm>
          <a:off x="304800" y="1295399"/>
          <a:ext cx="8534400" cy="4772891"/>
        </p:xfrm>
        <a:graphic>
          <a:graphicData uri="http://schemas.openxmlformats.org/drawingml/2006/table">
            <a:tbl>
              <a:tblPr firstRow="1" bandRow="1">
                <a:tableStyleId>{616DA210-FB5B-4158-B5E0-FEB733F419BA}</a:tableStyleId>
              </a:tblPr>
              <a:tblGrid>
                <a:gridCol w="1600200"/>
                <a:gridCol w="6934200"/>
              </a:tblGrid>
              <a:tr h="1486343">
                <a:tc>
                  <a:txBody>
                    <a:bodyPr/>
                    <a:lstStyle/>
                    <a:p>
                      <a:pPr algn="ctr"/>
                      <a:r>
                        <a:rPr lang="en-US" sz="1800" dirty="0" smtClean="0">
                          <a:latin typeface="+mn-lt"/>
                        </a:rPr>
                        <a:t>Prompt #3</a:t>
                      </a:r>
                      <a:endParaRPr lang="en-US" sz="1800" dirty="0">
                        <a:latin typeface="+mn-lt"/>
                      </a:endParaRPr>
                    </a:p>
                  </a:txBody>
                  <a:tcPr marT="45734" marB="45734" anchor="ctr"/>
                </a:tc>
                <a:tc>
                  <a:txBody>
                    <a:bodyPr/>
                    <a:lstStyle/>
                    <a:p>
                      <a:r>
                        <a:rPr lang="en-US" sz="1200" b="0" i="0" kern="1200" dirty="0" smtClean="0">
                          <a:latin typeface="+mn-lt"/>
                        </a:rPr>
                        <a:t>How much will </a:t>
                      </a:r>
                      <a:r>
                        <a:rPr lang="en-US" sz="1200" b="0" i="0" kern="1200" dirty="0" err="1" smtClean="0">
                          <a:latin typeface="+mn-lt"/>
                        </a:rPr>
                        <a:t>Deda</a:t>
                      </a:r>
                      <a:r>
                        <a:rPr lang="en-US" sz="1200" b="0" i="0" kern="1200" dirty="0" smtClean="0">
                          <a:latin typeface="+mn-lt"/>
                        </a:rPr>
                        <a:t> </a:t>
                      </a:r>
                      <a:r>
                        <a:rPr lang="en-US" sz="1200" b="0" i="0" kern="1200" dirty="0" err="1" smtClean="0">
                          <a:latin typeface="+mn-lt"/>
                        </a:rPr>
                        <a:t>Mitsa</a:t>
                      </a:r>
                      <a:r>
                        <a:rPr lang="en-US" sz="1200" b="0" i="0" kern="1200" dirty="0" smtClean="0">
                          <a:latin typeface="+mn-lt"/>
                        </a:rPr>
                        <a:t> Winery have to charge per bottle in each country in order to break even? Assume that all of the bottles Russia used to buy will be sold in one new country from the list below.</a:t>
                      </a:r>
                    </a:p>
                    <a:p>
                      <a:r>
                        <a:rPr lang="en-US" sz="1200" b="0" i="0" kern="1200" dirty="0" smtClean="0">
                          <a:latin typeface="+mn-lt"/>
                        </a:rPr>
                        <a:t>Each country should</a:t>
                      </a:r>
                      <a:r>
                        <a:rPr lang="en-US" sz="1200" b="0" i="0" kern="1200" baseline="0" dirty="0" smtClean="0">
                          <a:latin typeface="+mn-lt"/>
                        </a:rPr>
                        <a:t> be evaluated independently.</a:t>
                      </a:r>
                      <a:r>
                        <a:rPr lang="en-US" sz="1200" b="0" i="0" kern="1200" dirty="0" smtClean="0">
                          <a:latin typeface="+mn-lt"/>
                        </a:rPr>
                        <a:t> </a:t>
                      </a:r>
                    </a:p>
                    <a:p>
                      <a:endParaRPr lang="en-US" sz="1200" b="0" i="0" kern="1200" dirty="0" smtClean="0">
                        <a:latin typeface="+mn-lt"/>
                      </a:endParaRPr>
                    </a:p>
                    <a:p>
                      <a:r>
                        <a:rPr lang="en-US" sz="1200" b="0" i="0" kern="1200" dirty="0" smtClean="0">
                          <a:latin typeface="+mn-lt"/>
                        </a:rPr>
                        <a:t>For your convenience, costs are listed in </a:t>
                      </a:r>
                      <a:r>
                        <a:rPr lang="en-US" sz="1200" b="0" i="0" kern="1200" dirty="0" err="1" smtClean="0">
                          <a:latin typeface="+mn-lt"/>
                        </a:rPr>
                        <a:t>lari</a:t>
                      </a:r>
                      <a:r>
                        <a:rPr lang="en-US" sz="1200" b="0" i="0" kern="1200" dirty="0" smtClean="0">
                          <a:latin typeface="+mn-lt"/>
                        </a:rPr>
                        <a:t>, the Georgian currency.</a:t>
                      </a:r>
                    </a:p>
                  </a:txBody>
                  <a:tcPr marT="45734" marB="45734" anchor="ctr"/>
                </a:tc>
              </a:tr>
              <a:tr h="3286548">
                <a:tc>
                  <a:txBody>
                    <a:bodyPr/>
                    <a:lstStyle/>
                    <a:p>
                      <a:pPr algn="ctr"/>
                      <a:r>
                        <a:rPr lang="en-US" sz="1800" b="1" dirty="0" smtClean="0">
                          <a:latin typeface="+mn-lt"/>
                        </a:rPr>
                        <a:t>Guidance</a:t>
                      </a:r>
                      <a:endParaRPr lang="en-US" sz="1800" b="1" baseline="0" dirty="0" smtClean="0">
                        <a:latin typeface="+mn-lt"/>
                      </a:endParaRPr>
                    </a:p>
                  </a:txBody>
                  <a:tcPr marT="45734" marB="45734" anchor="ctr"/>
                </a:tc>
                <a:tc>
                  <a:txBody>
                    <a:bodyPr/>
                    <a:lstStyle/>
                    <a:p>
                      <a:r>
                        <a:rPr lang="it-IT" sz="1200" b="1" i="0" u="sng" kern="1200" dirty="0" smtClean="0">
                          <a:solidFill>
                            <a:schemeClr val="tx1"/>
                          </a:solidFill>
                          <a:latin typeface="+mn-lt"/>
                          <a:ea typeface="+mn-ea"/>
                          <a:cs typeface="+mn-cs"/>
                        </a:rPr>
                        <a:t>COGS</a:t>
                      </a:r>
                    </a:p>
                    <a:p>
                      <a:r>
                        <a:rPr lang="it-IT" sz="1200" i="0" kern="1200" dirty="0" smtClean="0">
                          <a:solidFill>
                            <a:schemeClr val="tx1"/>
                          </a:solidFill>
                          <a:latin typeface="+mn-lt"/>
                          <a:ea typeface="+mn-ea"/>
                          <a:cs typeface="+mn-cs"/>
                        </a:rPr>
                        <a:t>Wine – 5 lari</a:t>
                      </a:r>
                    </a:p>
                    <a:p>
                      <a:r>
                        <a:rPr lang="it-IT" sz="1200" i="0" kern="1200" dirty="0" smtClean="0">
                          <a:solidFill>
                            <a:schemeClr val="tx1"/>
                          </a:solidFill>
                          <a:latin typeface="+mn-lt"/>
                          <a:ea typeface="+mn-ea"/>
                          <a:cs typeface="+mn-cs"/>
                        </a:rPr>
                        <a:t>Bottle – .5 lari</a:t>
                      </a:r>
                    </a:p>
                    <a:p>
                      <a:r>
                        <a:rPr lang="it-IT" sz="1200" i="0" u="sng" kern="1200" dirty="0" smtClean="0">
                          <a:solidFill>
                            <a:schemeClr val="tx1"/>
                          </a:solidFill>
                          <a:latin typeface="+mn-lt"/>
                          <a:ea typeface="+mn-ea"/>
                          <a:cs typeface="+mn-cs"/>
                        </a:rPr>
                        <a:t>Label – .1 lari                   .</a:t>
                      </a:r>
                    </a:p>
                    <a:p>
                      <a:r>
                        <a:rPr lang="it-IT" sz="1200" b="1" i="0" kern="1200" dirty="0" smtClean="0">
                          <a:solidFill>
                            <a:schemeClr val="tx1"/>
                          </a:solidFill>
                          <a:latin typeface="+mn-lt"/>
                          <a:ea typeface="+mn-ea"/>
                          <a:cs typeface="+mn-cs"/>
                        </a:rPr>
                        <a:t>Total – 5.6 lari per bottle</a:t>
                      </a:r>
                    </a:p>
                    <a:p>
                      <a:endParaRPr lang="en-US" sz="1200" i="0" kern="1200" dirty="0" smtClean="0">
                        <a:solidFill>
                          <a:schemeClr val="tx1"/>
                        </a:solidFill>
                        <a:latin typeface="+mn-lt"/>
                        <a:ea typeface="+mn-ea"/>
                        <a:cs typeface="+mn-cs"/>
                      </a:endParaRPr>
                    </a:p>
                  </a:txBody>
                  <a:tcPr marT="45734" marB="45734"/>
                </a:tc>
              </a:tr>
            </a:tbl>
          </a:graphicData>
        </a:graphic>
      </p:graphicFrame>
      <p:sp>
        <p:nvSpPr>
          <p:cNvPr id="8"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7: Who Will </a:t>
            </a:r>
            <a:r>
              <a:rPr lang="en-US" b="1" dirty="0"/>
              <a:t>B</a:t>
            </a:r>
            <a:r>
              <a:rPr lang="en-US" b="1" dirty="0" smtClean="0"/>
              <a:t>uy </a:t>
            </a:r>
            <a:r>
              <a:rPr lang="en-US" b="1" dirty="0"/>
              <a:t>O</a:t>
            </a:r>
            <a:r>
              <a:rPr lang="en-US" b="1" dirty="0" smtClean="0"/>
              <a:t>ur Wine?	</a:t>
            </a:r>
            <a:endParaRPr lang="en-US" b="1"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0108" y="3816969"/>
            <a:ext cx="4744765" cy="2123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58</a:t>
            </a:fld>
            <a:endParaRPr lang="en-US" dirty="0"/>
          </a:p>
        </p:txBody>
      </p:sp>
    </p:spTree>
    <p:extLst>
      <p:ext uri="{BB962C8B-B14F-4D97-AF65-F5344CB8AC3E}">
        <p14:creationId xmlns:p14="http://schemas.microsoft.com/office/powerpoint/2010/main" val="1230642175"/>
      </p:ext>
    </p:extLst>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2843326625"/>
              </p:ext>
            </p:extLst>
          </p:nvPr>
        </p:nvGraphicFramePr>
        <p:xfrm>
          <a:off x="304800" y="1295400"/>
          <a:ext cx="8534400" cy="3566187"/>
        </p:xfrm>
        <a:graphic>
          <a:graphicData uri="http://schemas.openxmlformats.org/drawingml/2006/table">
            <a:tbl>
              <a:tblPr firstRow="1" bandRow="1">
                <a:tableStyleId>{616DA210-FB5B-4158-B5E0-FEB733F419BA}</a:tableStyleId>
              </a:tblPr>
              <a:tblGrid>
                <a:gridCol w="1600200"/>
                <a:gridCol w="6934200"/>
              </a:tblGrid>
              <a:tr h="3017517">
                <a:tc>
                  <a:txBody>
                    <a:bodyPr/>
                    <a:lstStyle/>
                    <a:p>
                      <a:pPr algn="ctr"/>
                      <a:r>
                        <a:rPr lang="en-US" sz="1800" b="1" dirty="0" smtClean="0">
                          <a:latin typeface="+mn-lt"/>
                        </a:rPr>
                        <a:t>Analysis</a:t>
                      </a:r>
                      <a:endParaRPr lang="en-US" sz="1800" b="1" baseline="0" dirty="0" smtClean="0">
                        <a:latin typeface="+mn-lt"/>
                      </a:endParaRPr>
                    </a:p>
                  </a:txBody>
                  <a:tcPr marT="45734" marB="45734" anchor="ctr"/>
                </a:tc>
                <a:tc>
                  <a:txBody>
                    <a:bodyPr/>
                    <a:lstStyle/>
                    <a:p>
                      <a:r>
                        <a:rPr lang="en-US" sz="1200" b="1" i="0" kern="1200" dirty="0" smtClean="0">
                          <a:solidFill>
                            <a:schemeClr val="tx1"/>
                          </a:solidFill>
                          <a:latin typeface="+mn-lt"/>
                          <a:ea typeface="+mn-ea"/>
                          <a:cs typeface="+mn-cs"/>
                        </a:rPr>
                        <a:t>Wine formerly purchased by Russia: </a:t>
                      </a:r>
                    </a:p>
                    <a:p>
                      <a:r>
                        <a:rPr lang="en-US" sz="1200" b="0" i="0" kern="1200" dirty="0" smtClean="0">
                          <a:solidFill>
                            <a:schemeClr val="tx1"/>
                          </a:solidFill>
                          <a:latin typeface="+mn-lt"/>
                          <a:ea typeface="+mn-ea"/>
                          <a:cs typeface="+mn-cs"/>
                        </a:rPr>
                        <a:t>10,000,000 bottles in production by DM x 50% to Russia = 5,000,000 bottles</a:t>
                      </a:r>
                    </a:p>
                    <a:p>
                      <a:endParaRPr lang="en-US" sz="1200" b="0" i="0" kern="1200" dirty="0" smtClean="0">
                        <a:solidFill>
                          <a:schemeClr val="tx1"/>
                        </a:solidFill>
                        <a:latin typeface="+mn-lt"/>
                        <a:ea typeface="+mn-ea"/>
                        <a:cs typeface="+mn-cs"/>
                      </a:endParaRPr>
                    </a:p>
                    <a:p>
                      <a:r>
                        <a:rPr lang="en-US" sz="1200" b="1" i="0" kern="1200" dirty="0" smtClean="0">
                          <a:solidFill>
                            <a:schemeClr val="tx1"/>
                          </a:solidFill>
                          <a:latin typeface="+mn-lt"/>
                          <a:ea typeface="+mn-ea"/>
                          <a:cs typeface="+mn-cs"/>
                        </a:rPr>
                        <a:t>Total COGS</a:t>
                      </a:r>
                    </a:p>
                    <a:p>
                      <a:r>
                        <a:rPr lang="en-US" sz="1200" b="0" i="0" kern="1200" dirty="0" smtClean="0">
                          <a:solidFill>
                            <a:schemeClr val="tx1"/>
                          </a:solidFill>
                          <a:latin typeface="+mn-lt"/>
                          <a:ea typeface="+mn-ea"/>
                          <a:cs typeface="+mn-cs"/>
                        </a:rPr>
                        <a:t>5,000,000 bottles x 5.6 </a:t>
                      </a:r>
                      <a:r>
                        <a:rPr lang="en-US" sz="1200" b="0" i="0" kern="1200" dirty="0" err="1" smtClean="0">
                          <a:solidFill>
                            <a:schemeClr val="tx1"/>
                          </a:solidFill>
                          <a:latin typeface="+mn-lt"/>
                          <a:ea typeface="+mn-ea"/>
                          <a:cs typeface="+mn-cs"/>
                        </a:rPr>
                        <a:t>lari</a:t>
                      </a:r>
                      <a:r>
                        <a:rPr lang="en-US" sz="1200" b="0" i="0" kern="1200" dirty="0" smtClean="0">
                          <a:solidFill>
                            <a:schemeClr val="tx1"/>
                          </a:solidFill>
                          <a:latin typeface="+mn-lt"/>
                          <a:ea typeface="+mn-ea"/>
                          <a:cs typeface="+mn-cs"/>
                        </a:rPr>
                        <a:t>/bottle = </a:t>
                      </a:r>
                      <a:r>
                        <a:rPr lang="en-US" sz="1200" b="1" i="0" kern="1200" dirty="0" smtClean="0">
                          <a:solidFill>
                            <a:schemeClr val="tx1"/>
                          </a:solidFill>
                          <a:latin typeface="+mn-lt"/>
                          <a:ea typeface="+mn-ea"/>
                          <a:cs typeface="+mn-cs"/>
                        </a:rPr>
                        <a:t>28MM </a:t>
                      </a:r>
                      <a:r>
                        <a:rPr lang="en-US" sz="1200" b="1" i="0" kern="1200" dirty="0" err="1" smtClean="0">
                          <a:solidFill>
                            <a:schemeClr val="tx1"/>
                          </a:solidFill>
                          <a:latin typeface="+mn-lt"/>
                          <a:ea typeface="+mn-ea"/>
                          <a:cs typeface="+mn-cs"/>
                        </a:rPr>
                        <a:t>lari</a:t>
                      </a:r>
                      <a:endParaRPr lang="en-US" sz="1200" b="1"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a:p>
                      <a:r>
                        <a:rPr lang="en-US" sz="1200" b="1" i="0" kern="1200" dirty="0" smtClean="0">
                          <a:solidFill>
                            <a:schemeClr val="tx1"/>
                          </a:solidFill>
                          <a:latin typeface="+mn-lt"/>
                          <a:ea typeface="+mn-ea"/>
                          <a:cs typeface="+mn-cs"/>
                        </a:rPr>
                        <a:t>Total Cost to Sell to Estonia</a:t>
                      </a:r>
                    </a:p>
                    <a:p>
                      <a:r>
                        <a:rPr lang="en-US" sz="1200" b="0" i="0" kern="1200" dirty="0" smtClean="0">
                          <a:solidFill>
                            <a:schemeClr val="tx1"/>
                          </a:solidFill>
                          <a:latin typeface="+mn-lt"/>
                          <a:ea typeface="+mn-ea"/>
                          <a:cs typeface="+mn-cs"/>
                        </a:rPr>
                        <a:t>28M COGS + 1M marketing + 1M tariff + (5 </a:t>
                      </a:r>
                      <a:r>
                        <a:rPr lang="en-US" sz="1200" b="0" i="0" kern="1200" dirty="0" err="1" smtClean="0">
                          <a:solidFill>
                            <a:schemeClr val="tx1"/>
                          </a:solidFill>
                          <a:latin typeface="+mn-lt"/>
                          <a:ea typeface="+mn-ea"/>
                          <a:cs typeface="+mn-cs"/>
                        </a:rPr>
                        <a:t>lari</a:t>
                      </a:r>
                      <a:r>
                        <a:rPr lang="en-US" sz="1200" b="0" i="0" kern="1200" dirty="0" smtClean="0">
                          <a:solidFill>
                            <a:schemeClr val="tx1"/>
                          </a:solidFill>
                          <a:latin typeface="+mn-lt"/>
                          <a:ea typeface="+mn-ea"/>
                          <a:cs typeface="+mn-cs"/>
                        </a:rPr>
                        <a:t> shipping x 5M bottles) = </a:t>
                      </a:r>
                      <a:r>
                        <a:rPr lang="en-US" sz="1200" b="1" i="0" kern="1200" dirty="0" smtClean="0">
                          <a:solidFill>
                            <a:schemeClr val="tx1"/>
                          </a:solidFill>
                          <a:latin typeface="+mn-lt"/>
                          <a:ea typeface="+mn-ea"/>
                          <a:cs typeface="+mn-cs"/>
                        </a:rPr>
                        <a:t>55MM </a:t>
                      </a:r>
                      <a:r>
                        <a:rPr lang="en-US" sz="1200" b="1" i="0" kern="1200" dirty="0" err="1" smtClean="0">
                          <a:solidFill>
                            <a:schemeClr val="tx1"/>
                          </a:solidFill>
                          <a:latin typeface="+mn-lt"/>
                          <a:ea typeface="+mn-ea"/>
                          <a:cs typeface="+mn-cs"/>
                        </a:rPr>
                        <a:t>lari</a:t>
                      </a:r>
                      <a:endParaRPr lang="en-US" sz="1200" b="1"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a:p>
                      <a:r>
                        <a:rPr lang="en-US" sz="1200" b="1" i="0" kern="1200" dirty="0" smtClean="0">
                          <a:solidFill>
                            <a:schemeClr val="tx1"/>
                          </a:solidFill>
                          <a:latin typeface="+mn-lt"/>
                          <a:ea typeface="+mn-ea"/>
                          <a:cs typeface="+mn-cs"/>
                        </a:rPr>
                        <a:t>Total Cost to Sell to Romania</a:t>
                      </a:r>
                    </a:p>
                    <a:p>
                      <a:r>
                        <a:rPr lang="en-US" sz="1200" b="0" i="0" kern="1200" dirty="0" smtClean="0">
                          <a:solidFill>
                            <a:schemeClr val="tx1"/>
                          </a:solidFill>
                          <a:latin typeface="+mn-lt"/>
                          <a:ea typeface="+mn-ea"/>
                          <a:cs typeface="+mn-cs"/>
                        </a:rPr>
                        <a:t>28MM COGS + 7MM marketing + 20MM tariff + (5 </a:t>
                      </a:r>
                      <a:r>
                        <a:rPr lang="en-US" sz="1200" b="0" i="0" kern="1200" dirty="0" err="1" smtClean="0">
                          <a:solidFill>
                            <a:schemeClr val="tx1"/>
                          </a:solidFill>
                          <a:latin typeface="+mn-lt"/>
                          <a:ea typeface="+mn-ea"/>
                          <a:cs typeface="+mn-cs"/>
                        </a:rPr>
                        <a:t>lari</a:t>
                      </a:r>
                      <a:r>
                        <a:rPr lang="en-US" sz="1200" b="0" i="0" kern="1200" dirty="0" smtClean="0">
                          <a:solidFill>
                            <a:schemeClr val="tx1"/>
                          </a:solidFill>
                          <a:latin typeface="+mn-lt"/>
                          <a:ea typeface="+mn-ea"/>
                          <a:cs typeface="+mn-cs"/>
                        </a:rPr>
                        <a:t> shipping x 5MM bottles) =</a:t>
                      </a:r>
                      <a:r>
                        <a:rPr lang="en-US" sz="1200" b="0" i="0" kern="1200" baseline="0" dirty="0" smtClean="0">
                          <a:solidFill>
                            <a:schemeClr val="tx1"/>
                          </a:solidFill>
                          <a:latin typeface="+mn-lt"/>
                          <a:ea typeface="+mn-ea"/>
                          <a:cs typeface="+mn-cs"/>
                        </a:rPr>
                        <a:t> </a:t>
                      </a:r>
                      <a:r>
                        <a:rPr lang="en-US" sz="1200" b="1" i="0" kern="1200" dirty="0" smtClean="0">
                          <a:solidFill>
                            <a:schemeClr val="tx1"/>
                          </a:solidFill>
                          <a:latin typeface="+mn-lt"/>
                          <a:ea typeface="+mn-ea"/>
                          <a:cs typeface="+mn-cs"/>
                        </a:rPr>
                        <a:t>80MM </a:t>
                      </a:r>
                      <a:r>
                        <a:rPr lang="en-US" sz="1200" b="1" i="0" kern="1200" dirty="0" err="1" smtClean="0">
                          <a:solidFill>
                            <a:schemeClr val="tx1"/>
                          </a:solidFill>
                          <a:latin typeface="+mn-lt"/>
                          <a:ea typeface="+mn-ea"/>
                          <a:cs typeface="+mn-cs"/>
                        </a:rPr>
                        <a:t>lari</a:t>
                      </a:r>
                      <a:endParaRPr lang="en-US" sz="1200" b="1"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a:p>
                      <a:r>
                        <a:rPr lang="en-US" sz="1200" b="1" i="0" kern="1200" dirty="0" smtClean="0">
                          <a:solidFill>
                            <a:schemeClr val="tx1"/>
                          </a:solidFill>
                          <a:latin typeface="+mn-lt"/>
                          <a:ea typeface="+mn-ea"/>
                          <a:cs typeface="+mn-cs"/>
                        </a:rPr>
                        <a:t>Total Cost to Sell to USA</a:t>
                      </a:r>
                    </a:p>
                    <a:p>
                      <a:r>
                        <a:rPr lang="en-US" sz="1200" b="0" i="0" kern="1200" dirty="0" smtClean="0">
                          <a:solidFill>
                            <a:schemeClr val="tx1"/>
                          </a:solidFill>
                          <a:latin typeface="+mn-lt"/>
                          <a:ea typeface="+mn-ea"/>
                          <a:cs typeface="+mn-cs"/>
                        </a:rPr>
                        <a:t>28MM COGS + 12MM marketing + 0MM tariff + (10 </a:t>
                      </a:r>
                      <a:r>
                        <a:rPr lang="en-US" sz="1200" b="0" i="0" kern="1200" dirty="0" err="1" smtClean="0">
                          <a:solidFill>
                            <a:schemeClr val="tx1"/>
                          </a:solidFill>
                          <a:latin typeface="+mn-lt"/>
                          <a:ea typeface="+mn-ea"/>
                          <a:cs typeface="+mn-cs"/>
                        </a:rPr>
                        <a:t>lari</a:t>
                      </a:r>
                      <a:r>
                        <a:rPr lang="en-US" sz="1200" b="0" i="0" kern="1200" dirty="0" smtClean="0">
                          <a:solidFill>
                            <a:schemeClr val="tx1"/>
                          </a:solidFill>
                          <a:latin typeface="+mn-lt"/>
                          <a:ea typeface="+mn-ea"/>
                          <a:cs typeface="+mn-cs"/>
                        </a:rPr>
                        <a:t> shipping x 5MM bottles) =</a:t>
                      </a:r>
                      <a:r>
                        <a:rPr lang="en-US" sz="1200" b="0" i="0" kern="1200" baseline="0" dirty="0" smtClean="0">
                          <a:solidFill>
                            <a:schemeClr val="tx1"/>
                          </a:solidFill>
                          <a:latin typeface="+mn-lt"/>
                          <a:ea typeface="+mn-ea"/>
                          <a:cs typeface="+mn-cs"/>
                        </a:rPr>
                        <a:t> </a:t>
                      </a:r>
                      <a:r>
                        <a:rPr lang="en-US" sz="1200" b="1" i="0" kern="1200" dirty="0" smtClean="0">
                          <a:solidFill>
                            <a:schemeClr val="tx1"/>
                          </a:solidFill>
                          <a:latin typeface="+mn-lt"/>
                          <a:ea typeface="+mn-ea"/>
                          <a:cs typeface="+mn-cs"/>
                        </a:rPr>
                        <a:t>90MM </a:t>
                      </a:r>
                      <a:r>
                        <a:rPr lang="en-US" sz="1200" b="1" i="0" kern="1200" dirty="0" err="1" smtClean="0">
                          <a:solidFill>
                            <a:schemeClr val="tx1"/>
                          </a:solidFill>
                          <a:latin typeface="+mn-lt"/>
                          <a:ea typeface="+mn-ea"/>
                          <a:cs typeface="+mn-cs"/>
                        </a:rPr>
                        <a:t>lari</a:t>
                      </a:r>
                      <a:endParaRPr lang="en-US" sz="1200" b="1"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a:p>
                      <a:r>
                        <a:rPr lang="en-US" sz="1200" b="1" i="0" kern="1200" dirty="0" smtClean="0">
                          <a:solidFill>
                            <a:schemeClr val="tx1"/>
                          </a:solidFill>
                          <a:latin typeface="+mn-lt"/>
                          <a:ea typeface="+mn-ea"/>
                          <a:cs typeface="+mn-cs"/>
                        </a:rPr>
                        <a:t>Breakeven Prices</a:t>
                      </a:r>
                    </a:p>
                    <a:p>
                      <a:r>
                        <a:rPr lang="en-US" sz="1200" b="0" i="0" kern="1200" dirty="0" smtClean="0">
                          <a:solidFill>
                            <a:schemeClr val="tx1"/>
                          </a:solidFill>
                          <a:latin typeface="+mn-lt"/>
                          <a:ea typeface="+mn-ea"/>
                          <a:cs typeface="+mn-cs"/>
                        </a:rPr>
                        <a:t>Estonia: 55MM </a:t>
                      </a:r>
                      <a:r>
                        <a:rPr lang="en-US" sz="1200" b="0" i="0" kern="1200" dirty="0" err="1" smtClean="0">
                          <a:solidFill>
                            <a:schemeClr val="tx1"/>
                          </a:solidFill>
                          <a:latin typeface="+mn-lt"/>
                          <a:ea typeface="+mn-ea"/>
                          <a:cs typeface="+mn-cs"/>
                        </a:rPr>
                        <a:t>lari</a:t>
                      </a:r>
                      <a:r>
                        <a:rPr lang="en-US" sz="1200" b="0" i="0" kern="1200" dirty="0" smtClean="0">
                          <a:solidFill>
                            <a:schemeClr val="tx1"/>
                          </a:solidFill>
                          <a:latin typeface="+mn-lt"/>
                          <a:ea typeface="+mn-ea"/>
                          <a:cs typeface="+mn-cs"/>
                        </a:rPr>
                        <a:t> / 5MM bottles = </a:t>
                      </a:r>
                      <a:r>
                        <a:rPr lang="en-US" sz="1200" b="1" i="0" kern="1200" dirty="0" smtClean="0">
                          <a:solidFill>
                            <a:schemeClr val="tx1"/>
                          </a:solidFill>
                          <a:latin typeface="+mn-lt"/>
                          <a:ea typeface="+mn-ea"/>
                          <a:cs typeface="+mn-cs"/>
                        </a:rPr>
                        <a:t>11 </a:t>
                      </a:r>
                      <a:r>
                        <a:rPr lang="en-US" sz="1200" b="1" i="0" kern="1200" dirty="0" err="1" smtClean="0">
                          <a:solidFill>
                            <a:schemeClr val="tx1"/>
                          </a:solidFill>
                          <a:latin typeface="+mn-lt"/>
                          <a:ea typeface="+mn-ea"/>
                          <a:cs typeface="+mn-cs"/>
                        </a:rPr>
                        <a:t>lari</a:t>
                      </a:r>
                      <a:r>
                        <a:rPr lang="en-US" sz="1200" b="1" i="0" kern="1200" dirty="0" smtClean="0">
                          <a:solidFill>
                            <a:schemeClr val="tx1"/>
                          </a:solidFill>
                          <a:latin typeface="+mn-lt"/>
                          <a:ea typeface="+mn-ea"/>
                          <a:cs typeface="+mn-cs"/>
                        </a:rPr>
                        <a:t> per bottle</a:t>
                      </a:r>
                    </a:p>
                    <a:p>
                      <a:r>
                        <a:rPr lang="en-US" sz="1200" b="0" i="0" kern="1200" dirty="0" smtClean="0">
                          <a:solidFill>
                            <a:schemeClr val="tx1"/>
                          </a:solidFill>
                          <a:latin typeface="+mn-lt"/>
                          <a:ea typeface="+mn-ea"/>
                          <a:cs typeface="+mn-cs"/>
                        </a:rPr>
                        <a:t>Romania: 80MM </a:t>
                      </a:r>
                      <a:r>
                        <a:rPr lang="en-US" sz="1200" b="0" i="0" kern="1200" dirty="0" err="1" smtClean="0">
                          <a:solidFill>
                            <a:schemeClr val="tx1"/>
                          </a:solidFill>
                          <a:latin typeface="+mn-lt"/>
                          <a:ea typeface="+mn-ea"/>
                          <a:cs typeface="+mn-cs"/>
                        </a:rPr>
                        <a:t>lari</a:t>
                      </a:r>
                      <a:r>
                        <a:rPr lang="en-US" sz="1200" b="0" i="0" kern="1200" dirty="0" smtClean="0">
                          <a:solidFill>
                            <a:schemeClr val="tx1"/>
                          </a:solidFill>
                          <a:latin typeface="+mn-lt"/>
                          <a:ea typeface="+mn-ea"/>
                          <a:cs typeface="+mn-cs"/>
                        </a:rPr>
                        <a:t> / 5MM bottles = </a:t>
                      </a:r>
                      <a:r>
                        <a:rPr lang="en-US" sz="1200" b="1" i="0" kern="1200" dirty="0" smtClean="0">
                          <a:solidFill>
                            <a:schemeClr val="tx1"/>
                          </a:solidFill>
                          <a:latin typeface="+mn-lt"/>
                          <a:ea typeface="+mn-ea"/>
                          <a:cs typeface="+mn-cs"/>
                        </a:rPr>
                        <a:t>16 </a:t>
                      </a:r>
                      <a:r>
                        <a:rPr lang="en-US" sz="1200" b="1" i="0" kern="1200" dirty="0" err="1" smtClean="0">
                          <a:solidFill>
                            <a:schemeClr val="tx1"/>
                          </a:solidFill>
                          <a:latin typeface="+mn-lt"/>
                          <a:ea typeface="+mn-ea"/>
                          <a:cs typeface="+mn-cs"/>
                        </a:rPr>
                        <a:t>lari</a:t>
                      </a:r>
                      <a:r>
                        <a:rPr lang="en-US" sz="1200" b="1" i="0" kern="1200" dirty="0" smtClean="0">
                          <a:solidFill>
                            <a:schemeClr val="tx1"/>
                          </a:solidFill>
                          <a:latin typeface="+mn-lt"/>
                          <a:ea typeface="+mn-ea"/>
                          <a:cs typeface="+mn-cs"/>
                        </a:rPr>
                        <a:t> per bottle</a:t>
                      </a:r>
                    </a:p>
                    <a:p>
                      <a:r>
                        <a:rPr lang="en-US" sz="1200" b="0" i="0" kern="1200" dirty="0" smtClean="0">
                          <a:solidFill>
                            <a:schemeClr val="tx1"/>
                          </a:solidFill>
                          <a:latin typeface="+mn-lt"/>
                          <a:ea typeface="+mn-ea"/>
                          <a:cs typeface="+mn-cs"/>
                        </a:rPr>
                        <a:t>USA: 90MM </a:t>
                      </a:r>
                      <a:r>
                        <a:rPr lang="en-US" sz="1200" b="0" i="0" kern="1200" dirty="0" err="1" smtClean="0">
                          <a:solidFill>
                            <a:schemeClr val="tx1"/>
                          </a:solidFill>
                          <a:latin typeface="+mn-lt"/>
                          <a:ea typeface="+mn-ea"/>
                          <a:cs typeface="+mn-cs"/>
                        </a:rPr>
                        <a:t>lari</a:t>
                      </a:r>
                      <a:r>
                        <a:rPr lang="en-US" sz="1200" b="0" i="0" kern="1200" dirty="0" smtClean="0">
                          <a:solidFill>
                            <a:schemeClr val="tx1"/>
                          </a:solidFill>
                          <a:latin typeface="+mn-lt"/>
                          <a:ea typeface="+mn-ea"/>
                          <a:cs typeface="+mn-cs"/>
                        </a:rPr>
                        <a:t> / 5MM bottles = </a:t>
                      </a:r>
                      <a:r>
                        <a:rPr lang="en-US" sz="1200" b="1" i="0" kern="1200" dirty="0" smtClean="0">
                          <a:solidFill>
                            <a:schemeClr val="tx1"/>
                          </a:solidFill>
                          <a:latin typeface="+mn-lt"/>
                          <a:ea typeface="+mn-ea"/>
                          <a:cs typeface="+mn-cs"/>
                        </a:rPr>
                        <a:t>18 </a:t>
                      </a:r>
                      <a:r>
                        <a:rPr lang="en-US" sz="1200" b="1" i="0" kern="1200" dirty="0" err="1" smtClean="0">
                          <a:solidFill>
                            <a:schemeClr val="tx1"/>
                          </a:solidFill>
                          <a:latin typeface="+mn-lt"/>
                          <a:ea typeface="+mn-ea"/>
                          <a:cs typeface="+mn-cs"/>
                        </a:rPr>
                        <a:t>lari</a:t>
                      </a:r>
                      <a:r>
                        <a:rPr lang="en-US" sz="1200" b="1" i="0" kern="1200" dirty="0" smtClean="0">
                          <a:solidFill>
                            <a:schemeClr val="tx1"/>
                          </a:solidFill>
                          <a:latin typeface="+mn-lt"/>
                          <a:ea typeface="+mn-ea"/>
                          <a:cs typeface="+mn-cs"/>
                        </a:rPr>
                        <a:t> per bottle</a:t>
                      </a:r>
                    </a:p>
                  </a:txBody>
                  <a:tcPr marT="45734" marB="45734"/>
                </a:tc>
              </a:tr>
            </a:tbl>
          </a:graphicData>
        </a:graphic>
      </p:graphicFrame>
      <p:sp>
        <p:nvSpPr>
          <p:cNvPr id="8"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7: </a:t>
            </a:r>
            <a:r>
              <a:rPr lang="en-US" b="1" dirty="0"/>
              <a:t>Who Will Buy Our Wine?</a:t>
            </a:r>
            <a:r>
              <a:rPr lang="en-US" b="1" dirty="0" smtClean="0"/>
              <a:t>	</a:t>
            </a:r>
            <a:endParaRPr lang="en-US"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59</a:t>
            </a:fld>
            <a:endParaRPr lang="en-US" dirty="0"/>
          </a:p>
        </p:txBody>
      </p:sp>
    </p:spTree>
    <p:extLst>
      <p:ext uri="{BB962C8B-B14F-4D97-AF65-F5344CB8AC3E}">
        <p14:creationId xmlns:p14="http://schemas.microsoft.com/office/powerpoint/2010/main" val="2799142392"/>
      </p:ext>
    </p:extLst>
  </p:cSld>
  <p:clrMapOvr>
    <a:masterClrMapping/>
  </p:clrMapOvr>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4175141350"/>
              </p:ext>
            </p:extLst>
          </p:nvPr>
        </p:nvGraphicFramePr>
        <p:xfrm>
          <a:off x="304800" y="1295401"/>
          <a:ext cx="8534400" cy="4986786"/>
        </p:xfrm>
        <a:graphic>
          <a:graphicData uri="http://schemas.openxmlformats.org/drawingml/2006/table">
            <a:tbl>
              <a:tblPr firstRow="1" bandRow="1">
                <a:tableStyleId>{616DA210-FB5B-4158-B5E0-FEB733F419BA}</a:tableStyleId>
              </a:tblPr>
              <a:tblGrid>
                <a:gridCol w="1600200"/>
                <a:gridCol w="6934200"/>
              </a:tblGrid>
              <a:tr h="1217264">
                <a:tc>
                  <a:txBody>
                    <a:bodyPr/>
                    <a:lstStyle/>
                    <a:p>
                      <a:pPr algn="ctr"/>
                      <a:r>
                        <a:rPr lang="en-US" sz="1800" dirty="0" smtClean="0">
                          <a:latin typeface="+mn-lt"/>
                        </a:rPr>
                        <a:t>Prompt #4</a:t>
                      </a:r>
                      <a:endParaRPr lang="en-US" sz="1800" dirty="0">
                        <a:latin typeface="+mn-lt"/>
                      </a:endParaRPr>
                    </a:p>
                  </a:txBody>
                  <a:tcPr marT="45734" marB="45734" anchor="ctr"/>
                </a:tc>
                <a:tc>
                  <a:txBody>
                    <a:bodyPr/>
                    <a:lstStyle/>
                    <a:p>
                      <a:r>
                        <a:rPr lang="en-US" sz="1200" b="0" i="0" kern="1200" dirty="0" smtClean="0">
                          <a:latin typeface="+mn-lt"/>
                        </a:rPr>
                        <a:t>What information do you need in order to determine whether these prices are reasonable?</a:t>
                      </a:r>
                    </a:p>
                  </a:txBody>
                  <a:tcPr marT="45734" marB="45734" anchor="ctr"/>
                </a:tc>
              </a:tr>
              <a:tr h="1532862">
                <a:tc>
                  <a:txBody>
                    <a:bodyPr/>
                    <a:lstStyle/>
                    <a:p>
                      <a:pPr algn="ctr"/>
                      <a:r>
                        <a:rPr lang="en-US" sz="1800" b="1" dirty="0" smtClean="0">
                          <a:latin typeface="+mn-lt"/>
                        </a:rPr>
                        <a:t>Guidance</a:t>
                      </a:r>
                      <a:endParaRPr lang="en-US" sz="1800" b="1" baseline="0" dirty="0" smtClean="0">
                        <a:latin typeface="+mn-lt"/>
                      </a:endParaRPr>
                    </a:p>
                  </a:txBody>
                  <a:tcPr marT="45734" marB="45734" anchor="ctr"/>
                </a:tc>
                <a:tc>
                  <a:txBody>
                    <a:bodyPr/>
                    <a:lstStyle/>
                    <a:p>
                      <a:r>
                        <a:rPr lang="en-US" sz="1200" i="0" kern="1200" dirty="0" smtClean="0">
                          <a:solidFill>
                            <a:schemeClr val="tx1"/>
                          </a:solidFill>
                          <a:latin typeface="+mn-lt"/>
                          <a:ea typeface="+mn-ea"/>
                          <a:cs typeface="+mn-cs"/>
                        </a:rPr>
                        <a:t>If the candidate asks for competitors’ prices or the average price of wine in the countries above, show them Exhibit #3.</a:t>
                      </a:r>
                    </a:p>
                    <a:p>
                      <a:endParaRPr lang="en-US" sz="1200" i="0" kern="1200" dirty="0" smtClean="0">
                        <a:solidFill>
                          <a:schemeClr val="tx1"/>
                        </a:solidFill>
                        <a:latin typeface="+mn-lt"/>
                        <a:ea typeface="+mn-ea"/>
                        <a:cs typeface="+mn-cs"/>
                      </a:endParaRPr>
                    </a:p>
                    <a:p>
                      <a:r>
                        <a:rPr lang="en-US" sz="1200" i="0" kern="1200" dirty="0" smtClean="0">
                          <a:solidFill>
                            <a:schemeClr val="tx1"/>
                          </a:solidFill>
                          <a:latin typeface="+mn-lt"/>
                          <a:ea typeface="+mn-ea"/>
                          <a:cs typeface="+mn-cs"/>
                        </a:rPr>
                        <a:t>The candidate should note that the breakeven price is higher than what most Romanians regularly pay for wine. The candidate should also note that while the breakeven price for selling wine in the USA is higher than the other breakeven prices, it is still within the range of what most Americans will pay for wine.  Most Estonians would also be willing to pay the breakeven price for Georgian wine sold there.</a:t>
                      </a:r>
                    </a:p>
                  </a:txBody>
                  <a:tcPr marT="45734" marB="45734" anchor="ctr"/>
                </a:tc>
              </a:tr>
              <a:tr h="1209146">
                <a:tc>
                  <a:txBody>
                    <a:bodyPr/>
                    <a:lstStyle/>
                    <a:p>
                      <a:pPr algn="ctr"/>
                      <a:r>
                        <a:rPr lang="en-US" sz="1800" b="1" baseline="0" dirty="0" smtClean="0">
                          <a:latin typeface="+mn-lt"/>
                        </a:rPr>
                        <a:t>Prompt #5</a:t>
                      </a:r>
                    </a:p>
                  </a:txBody>
                  <a:tcPr marT="45734" marB="45734" anchor="ctr"/>
                </a:tc>
                <a:tc>
                  <a:txBody>
                    <a:bodyPr/>
                    <a:lstStyle/>
                    <a:p>
                      <a:r>
                        <a:rPr lang="en-US" sz="1200" i="0" kern="1200" dirty="0" smtClean="0">
                          <a:solidFill>
                            <a:schemeClr val="tx1"/>
                          </a:solidFill>
                          <a:latin typeface="+mn-lt"/>
                          <a:ea typeface="+mn-ea"/>
                          <a:cs typeface="+mn-cs"/>
                        </a:rPr>
                        <a:t>Make a recommendation as to where </a:t>
                      </a:r>
                      <a:r>
                        <a:rPr lang="en-US" sz="1200" i="0" kern="1200" dirty="0" err="1" smtClean="0">
                          <a:solidFill>
                            <a:schemeClr val="tx1"/>
                          </a:solidFill>
                          <a:latin typeface="+mn-lt"/>
                          <a:ea typeface="+mn-ea"/>
                          <a:cs typeface="+mn-cs"/>
                        </a:rPr>
                        <a:t>Deda</a:t>
                      </a:r>
                      <a:r>
                        <a:rPr lang="en-US" sz="1200" i="0" kern="1200" dirty="0" smtClean="0">
                          <a:solidFill>
                            <a:schemeClr val="tx1"/>
                          </a:solidFill>
                          <a:latin typeface="+mn-lt"/>
                          <a:ea typeface="+mn-ea"/>
                          <a:cs typeface="+mn-cs"/>
                        </a:rPr>
                        <a:t> </a:t>
                      </a:r>
                      <a:r>
                        <a:rPr lang="en-US" sz="1200" i="0" kern="1200" dirty="0" err="1" smtClean="0">
                          <a:solidFill>
                            <a:schemeClr val="tx1"/>
                          </a:solidFill>
                          <a:latin typeface="+mn-lt"/>
                          <a:ea typeface="+mn-ea"/>
                          <a:cs typeface="+mn-cs"/>
                        </a:rPr>
                        <a:t>Mitsa</a:t>
                      </a:r>
                      <a:r>
                        <a:rPr lang="en-US" sz="1200" i="0" kern="1200" dirty="0" smtClean="0">
                          <a:solidFill>
                            <a:schemeClr val="tx1"/>
                          </a:solidFill>
                          <a:latin typeface="+mn-lt"/>
                          <a:ea typeface="+mn-ea"/>
                          <a:cs typeface="+mn-cs"/>
                        </a:rPr>
                        <a:t> Winery should attempt to export their wine.</a:t>
                      </a:r>
                    </a:p>
                  </a:txBody>
                  <a:tcPr marT="45734" marB="45734" anchor="ctr"/>
                </a:tc>
              </a:tr>
              <a:tr h="858982">
                <a:tc>
                  <a:txBody>
                    <a:bodyPr/>
                    <a:lstStyle/>
                    <a:p>
                      <a:pPr algn="ctr"/>
                      <a:r>
                        <a:rPr lang="en-US" sz="1800" b="1" baseline="0" dirty="0" smtClean="0">
                          <a:latin typeface="+mn-lt"/>
                        </a:rPr>
                        <a:t>Guidance</a:t>
                      </a:r>
                    </a:p>
                  </a:txBody>
                  <a:tcPr marT="45734" marB="45734" anchor="ctr"/>
                </a:tc>
                <a:tc>
                  <a:txBody>
                    <a:bodyPr/>
                    <a:lstStyle/>
                    <a:p>
                      <a:r>
                        <a:rPr lang="en-US" sz="1200" i="0" kern="1200" dirty="0" smtClean="0">
                          <a:solidFill>
                            <a:schemeClr val="tx1"/>
                          </a:solidFill>
                          <a:latin typeface="+mn-lt"/>
                          <a:ea typeface="+mn-ea"/>
                          <a:cs typeface="+mn-cs"/>
                        </a:rPr>
                        <a:t>Look</a:t>
                      </a:r>
                      <a:r>
                        <a:rPr lang="en-US" sz="1200" i="0" kern="1200" baseline="0" dirty="0" smtClean="0">
                          <a:solidFill>
                            <a:schemeClr val="tx1"/>
                          </a:solidFill>
                          <a:latin typeface="+mn-lt"/>
                          <a:ea typeface="+mn-ea"/>
                          <a:cs typeface="+mn-cs"/>
                        </a:rPr>
                        <a:t> for structured logic and justifications that pull in all the points from the case.  They should take into account growth of consumption, breakeven prices, and willingness to pay (competitor comparison).  </a:t>
                      </a:r>
                    </a:p>
                    <a:p>
                      <a:endParaRPr lang="en-US" sz="1200" i="0" kern="1200" baseline="0" dirty="0" smtClean="0">
                        <a:solidFill>
                          <a:schemeClr val="tx1"/>
                        </a:solidFill>
                        <a:latin typeface="+mn-lt"/>
                        <a:ea typeface="+mn-ea"/>
                        <a:cs typeface="+mn-cs"/>
                      </a:endParaRPr>
                    </a:p>
                    <a:p>
                      <a:r>
                        <a:rPr lang="en-US" sz="1200" i="0" kern="1200" baseline="0" dirty="0" smtClean="0">
                          <a:solidFill>
                            <a:schemeClr val="tx1"/>
                          </a:solidFill>
                          <a:latin typeface="+mn-lt"/>
                          <a:ea typeface="+mn-ea"/>
                          <a:cs typeface="+mn-cs"/>
                        </a:rPr>
                        <a:t>Look for risks and next steps.</a:t>
                      </a:r>
                      <a:endParaRPr lang="en-US" sz="1200" i="0" kern="1200" dirty="0" smtClean="0">
                        <a:solidFill>
                          <a:schemeClr val="tx1"/>
                        </a:solidFill>
                        <a:latin typeface="+mn-lt"/>
                        <a:ea typeface="+mn-ea"/>
                        <a:cs typeface="+mn-cs"/>
                      </a:endParaRPr>
                    </a:p>
                  </a:txBody>
                  <a:tcPr marT="45734" marB="45734" anchor="ctr"/>
                </a:tc>
              </a:tr>
            </a:tbl>
          </a:graphicData>
        </a:graphic>
      </p:graphicFrame>
      <p:sp>
        <p:nvSpPr>
          <p:cNvPr id="8"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7: Who Will </a:t>
            </a:r>
            <a:r>
              <a:rPr lang="en-US" b="1" dirty="0"/>
              <a:t>B</a:t>
            </a:r>
            <a:r>
              <a:rPr lang="en-US" b="1" dirty="0" smtClean="0"/>
              <a:t>uy </a:t>
            </a:r>
            <a:r>
              <a:rPr lang="en-US" b="1" dirty="0"/>
              <a:t>O</a:t>
            </a:r>
            <a:r>
              <a:rPr lang="en-US" b="1" dirty="0" smtClean="0"/>
              <a:t>ur </a:t>
            </a:r>
            <a:r>
              <a:rPr lang="en-US" b="1" dirty="0"/>
              <a:t>W</a:t>
            </a:r>
            <a:r>
              <a:rPr lang="en-US" b="1" dirty="0" smtClean="0"/>
              <a:t>ine?	</a:t>
            </a:r>
            <a:endParaRPr lang="en-US"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60</a:t>
            </a:fld>
            <a:endParaRPr lang="en-US" dirty="0"/>
          </a:p>
        </p:txBody>
      </p:sp>
    </p:spTree>
    <p:extLst>
      <p:ext uri="{BB962C8B-B14F-4D97-AF65-F5344CB8AC3E}">
        <p14:creationId xmlns:p14="http://schemas.microsoft.com/office/powerpoint/2010/main" val="1681087574"/>
      </p:ext>
    </p:extLst>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7: </a:t>
            </a:r>
            <a:r>
              <a:rPr lang="en-US" b="1" dirty="0"/>
              <a:t>Who Will Buy Our Wine?</a:t>
            </a:r>
            <a:r>
              <a:rPr lang="en-US" b="1" dirty="0" smtClean="0"/>
              <a:t>	</a:t>
            </a:r>
            <a:endParaRPr lang="en-US" b="1" dirty="0"/>
          </a:p>
        </p:txBody>
      </p:sp>
      <p:sp>
        <p:nvSpPr>
          <p:cNvPr id="9" name="TextBox 1"/>
          <p:cNvSpPr txBox="1">
            <a:spLocks noChangeArrowheads="1"/>
          </p:cNvSpPr>
          <p:nvPr/>
        </p:nvSpPr>
        <p:spPr bwMode="auto">
          <a:xfrm>
            <a:off x="2043545" y="1318055"/>
            <a:ext cx="5514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a:t>
            </a:r>
            <a:r>
              <a:rPr lang="en-US" sz="1800" b="1" dirty="0" smtClean="0"/>
              <a:t>3: Competitor Wine Prices (percentile)</a:t>
            </a:r>
            <a:endParaRPr lang="en-US" sz="1800" b="1" dirty="0"/>
          </a:p>
        </p:txBody>
      </p:sp>
      <p:graphicFrame>
        <p:nvGraphicFramePr>
          <p:cNvPr id="7" name="Chart 6"/>
          <p:cNvGraphicFramePr/>
          <p:nvPr>
            <p:extLst>
              <p:ext uri="{D42A27DB-BD31-4B8C-83A1-F6EECF244321}">
                <p14:modId xmlns:p14="http://schemas.microsoft.com/office/powerpoint/2010/main" val="2533976505"/>
              </p:ext>
            </p:extLst>
          </p:nvPr>
        </p:nvGraphicFramePr>
        <p:xfrm>
          <a:off x="1463386" y="1939635"/>
          <a:ext cx="6622473" cy="4128655"/>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p:cNvSpPr/>
          <p:nvPr/>
        </p:nvSpPr>
        <p:spPr>
          <a:xfrm rot="16200000">
            <a:off x="974035" y="3429000"/>
            <a:ext cx="569387" cy="369332"/>
          </a:xfrm>
          <a:prstGeom prst="rect">
            <a:avLst/>
          </a:prstGeom>
        </p:spPr>
        <p:txBody>
          <a:bodyPr wrap="none">
            <a:spAutoFit/>
          </a:bodyPr>
          <a:lstStyle/>
          <a:p>
            <a:r>
              <a:rPr lang="it-IT" u="sng" dirty="0" smtClean="0"/>
              <a:t>Lari</a:t>
            </a:r>
            <a:endParaRPr lang="en-US" dirty="0"/>
          </a:p>
        </p:txBody>
      </p:sp>
      <p:sp>
        <p:nvSpPr>
          <p:cNvPr id="4" name="Slide Number Placeholder 3"/>
          <p:cNvSpPr>
            <a:spLocks noGrp="1"/>
          </p:cNvSpPr>
          <p:nvPr>
            <p:ph type="sldNum" sz="quarter" idx="11"/>
          </p:nvPr>
        </p:nvSpPr>
        <p:spPr/>
        <p:txBody>
          <a:bodyPr/>
          <a:lstStyle/>
          <a:p>
            <a:pPr>
              <a:defRPr/>
            </a:pPr>
            <a:fld id="{2E1E1E2A-88E9-4CB1-89D2-8ABF177DA4C4}" type="slidenum">
              <a:rPr lang="en-US" smtClean="0"/>
              <a:pPr>
                <a:defRPr/>
              </a:pPr>
              <a:t>61</a:t>
            </a:fld>
            <a:endParaRPr lang="en-US" dirty="0"/>
          </a:p>
        </p:txBody>
      </p:sp>
    </p:spTree>
    <p:extLst>
      <p:ext uri="{BB962C8B-B14F-4D97-AF65-F5344CB8AC3E}">
        <p14:creationId xmlns:p14="http://schemas.microsoft.com/office/powerpoint/2010/main" val="3592953194"/>
      </p:ext>
    </p:extLst>
  </p:cSld>
  <p:clrMapOvr>
    <a:masterClrMapping/>
  </p:clrMapOvr>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graphicFrame>
        <p:nvGraphicFramePr>
          <p:cNvPr id="12" name="Table 11"/>
          <p:cNvGraphicFramePr>
            <a:graphicFrameLocks noGrp="1"/>
          </p:cNvGraphicFramePr>
          <p:nvPr>
            <p:extLst>
              <p:ext uri="{D42A27DB-BD31-4B8C-83A1-F6EECF244321}">
                <p14:modId xmlns:p14="http://schemas.microsoft.com/office/powerpoint/2010/main" val="4138808966"/>
              </p:ext>
            </p:extLst>
          </p:nvPr>
        </p:nvGraphicFramePr>
        <p:xfrm>
          <a:off x="304800" y="1295400"/>
          <a:ext cx="8442158" cy="3027218"/>
        </p:xfrm>
        <a:graphic>
          <a:graphicData uri="http://schemas.openxmlformats.org/drawingml/2006/table">
            <a:tbl>
              <a:tblPr firstRow="1" bandRow="1">
                <a:tableStyleId>{616DA210-FB5B-4158-B5E0-FEB733F419BA}</a:tableStyleId>
              </a:tblPr>
              <a:tblGrid>
                <a:gridCol w="1582905"/>
                <a:gridCol w="6859253"/>
              </a:tblGrid>
              <a:tr h="30272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b="1" i="0" dirty="0" smtClean="0"/>
                        <a:t>Performance Evaluation</a:t>
                      </a:r>
                      <a:endParaRPr lang="en-US" sz="1000" i="0" dirty="0" smtClean="0"/>
                    </a:p>
                    <a:p>
                      <a:pPr algn="ctr"/>
                      <a:endParaRPr lang="en-US" b="1" baseline="0" dirty="0" smtClean="0"/>
                    </a:p>
                  </a:txBody>
                  <a:tcPr anchor="ctr"/>
                </a:tc>
                <a:tc>
                  <a:txBody>
                    <a:bodyPr/>
                    <a:lstStyle/>
                    <a:p>
                      <a:r>
                        <a:rPr lang="en-US" sz="1200" b="1" i="0" kern="1200" dirty="0" smtClean="0">
                          <a:solidFill>
                            <a:schemeClr val="tx1"/>
                          </a:solidFill>
                          <a:latin typeface="+mn-lt"/>
                          <a:ea typeface="+mn-ea"/>
                          <a:cs typeface="+mn-cs"/>
                        </a:rPr>
                        <a:t>Expected:</a:t>
                      </a:r>
                      <a:endParaRPr lang="en-US" sz="1200" b="1" i="0" kern="1200" baseline="0" dirty="0" smtClean="0">
                        <a:solidFill>
                          <a:schemeClr val="tx1"/>
                        </a:solidFill>
                        <a:latin typeface="+mn-lt"/>
                        <a:ea typeface="+mn-ea"/>
                        <a:cs typeface="+mn-cs"/>
                      </a:endParaRPr>
                    </a:p>
                    <a:p>
                      <a:pPr marL="171450" indent="-171450">
                        <a:buFont typeface="Arial" pitchFamily="34" charset="0"/>
                        <a:buChar char="•"/>
                      </a:pPr>
                      <a:r>
                        <a:rPr lang="en-US" sz="1200" b="0" i="0" kern="1200" baseline="0" dirty="0" smtClean="0">
                          <a:solidFill>
                            <a:schemeClr val="tx1"/>
                          </a:solidFill>
                          <a:latin typeface="+mn-lt"/>
                          <a:ea typeface="+mn-ea"/>
                          <a:cs typeface="+mn-cs"/>
                        </a:rPr>
                        <a:t>Completes all math accurately</a:t>
                      </a:r>
                    </a:p>
                    <a:p>
                      <a:pPr marL="171450" indent="-171450">
                        <a:buFont typeface="Arial" pitchFamily="34" charset="0"/>
                        <a:buChar char="•"/>
                      </a:pPr>
                      <a:r>
                        <a:rPr lang="en-US" sz="1200" b="0" i="0" kern="1200" baseline="0" dirty="0" smtClean="0">
                          <a:solidFill>
                            <a:schemeClr val="tx1"/>
                          </a:solidFill>
                          <a:latin typeface="+mn-lt"/>
                          <a:ea typeface="+mn-ea"/>
                          <a:cs typeface="+mn-cs"/>
                        </a:rPr>
                        <a:t>Proceeds through the process to the answer with some prompting</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Is able to drive the process forward, covering the necessary points with minimal prompting</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Walks the interviewer clearly through the math – also making the math simple</a:t>
                      </a:r>
                      <a:endParaRPr lang="en-US" sz="1200" b="1" i="0" kern="1200" baseline="0" dirty="0" smtClean="0">
                        <a:solidFill>
                          <a:schemeClr val="tx1"/>
                        </a:solidFill>
                        <a:latin typeface="+mn-lt"/>
                        <a:ea typeface="+mn-ea"/>
                        <a:cs typeface="+mn-cs"/>
                      </a:endParaRP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D</a:t>
                      </a:r>
                      <a:r>
                        <a:rPr lang="en-US" sz="1200" b="0" i="0" kern="1200" dirty="0" smtClean="0">
                          <a:solidFill>
                            <a:schemeClr val="tx1"/>
                          </a:solidFill>
                          <a:latin typeface="+mn-lt"/>
                          <a:ea typeface="+mn-ea"/>
                          <a:cs typeface="+mn-cs"/>
                        </a:rPr>
                        <a:t>rives the process forward while recognizing</a:t>
                      </a:r>
                      <a:r>
                        <a:rPr lang="en-US" sz="1200" b="0" i="0" kern="1200" baseline="0" dirty="0" smtClean="0">
                          <a:solidFill>
                            <a:schemeClr val="tx1"/>
                          </a:solidFill>
                          <a:latin typeface="+mn-lt"/>
                          <a:ea typeface="+mn-ea"/>
                          <a:cs typeface="+mn-cs"/>
                        </a:rPr>
                        <a:t> </a:t>
                      </a:r>
                      <a:r>
                        <a:rPr lang="en-US" sz="1200" b="0" i="0" kern="1200" dirty="0" smtClean="0">
                          <a:solidFill>
                            <a:schemeClr val="tx1"/>
                          </a:solidFill>
                          <a:latin typeface="+mn-lt"/>
                          <a:ea typeface="+mn-ea"/>
                          <a:cs typeface="+mn-cs"/>
                        </a:rPr>
                        <a:t>that they need to figure out the opportunity costs.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Able to drive to insights within the case without prompting</a:t>
                      </a:r>
                    </a:p>
                  </a:txBody>
                  <a:tcPr anchor="ctr"/>
                </a:tc>
              </a:tr>
            </a:tbl>
          </a:graphicData>
        </a:graphic>
      </p:graphicFrame>
      <p:sp>
        <p:nvSpPr>
          <p:cNvPr id="10"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7"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7</a:t>
            </a:r>
            <a:r>
              <a:rPr lang="en-US" b="1" dirty="0" smtClean="0"/>
              <a:t>: </a:t>
            </a:r>
            <a:r>
              <a:rPr lang="en-US" b="1" dirty="0"/>
              <a:t>Who Will Buy Our Wine?</a:t>
            </a:r>
            <a:r>
              <a:rPr lang="en-US" b="1" dirty="0" smtClean="0"/>
              <a:t>	</a:t>
            </a:r>
            <a:endParaRPr lang="en-US"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62</a:t>
            </a:fld>
            <a:endParaRPr lang="en-US" dirty="0"/>
          </a:p>
        </p:txBody>
      </p:sp>
    </p:spTree>
    <p:extLst>
      <p:ext uri="{BB962C8B-B14F-4D97-AF65-F5344CB8AC3E}">
        <p14:creationId xmlns:p14="http://schemas.microsoft.com/office/powerpoint/2010/main" val="958188185"/>
      </p:ext>
    </p:extLst>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63</a:t>
            </a:fld>
            <a:endParaRPr lang="en-US" dirty="0"/>
          </a:p>
        </p:txBody>
      </p:sp>
    </p:spTree>
    <p:extLst>
      <p:ext uri="{BB962C8B-B14F-4D97-AF65-F5344CB8AC3E}">
        <p14:creationId xmlns:p14="http://schemas.microsoft.com/office/powerpoint/2010/main" val="3621856408"/>
      </p:ext>
    </p:extLst>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graphicFrame>
        <p:nvGraphicFramePr>
          <p:cNvPr id="12" name="Table 11"/>
          <p:cNvGraphicFramePr>
            <a:graphicFrameLocks noGrp="1"/>
          </p:cNvGraphicFramePr>
          <p:nvPr>
            <p:extLst>
              <p:ext uri="{D42A27DB-BD31-4B8C-83A1-F6EECF244321}">
                <p14:modId xmlns:p14="http://schemas.microsoft.com/office/powerpoint/2010/main" val="3778666989"/>
              </p:ext>
            </p:extLst>
          </p:nvPr>
        </p:nvGraphicFramePr>
        <p:xfrm>
          <a:off x="304800" y="1295400"/>
          <a:ext cx="8534400" cy="5360323"/>
        </p:xfrm>
        <a:graphic>
          <a:graphicData uri="http://schemas.openxmlformats.org/drawingml/2006/table">
            <a:tbl>
              <a:tblPr firstRow="1" bandRow="1">
                <a:tableStyleId>{616DA210-FB5B-4158-B5E0-FEB733F419BA}</a:tableStyleId>
              </a:tblPr>
              <a:tblGrid>
                <a:gridCol w="1600200"/>
                <a:gridCol w="6934200"/>
              </a:tblGrid>
              <a:tr h="879764">
                <a:tc>
                  <a:txBody>
                    <a:bodyPr/>
                    <a:lstStyle/>
                    <a:p>
                      <a:pPr algn="ctr"/>
                      <a:r>
                        <a:rPr lang="en-US" dirty="0" smtClean="0"/>
                        <a:t>Prompt #1</a:t>
                      </a:r>
                      <a:endParaRPr lang="en-US" dirty="0"/>
                    </a:p>
                  </a:txBody>
                  <a:tcPr anchor="ctr"/>
                </a:tc>
                <a:tc>
                  <a:txBody>
                    <a:bodyPr/>
                    <a:lstStyle/>
                    <a:p>
                      <a:r>
                        <a:rPr lang="en-US" sz="1200" b="0" kern="1200" dirty="0" smtClean="0"/>
                        <a:t>Your</a:t>
                      </a:r>
                      <a:r>
                        <a:rPr lang="en-US" sz="1200" b="0" kern="1200" baseline="0" dirty="0" smtClean="0"/>
                        <a:t> client is a major pharmaceutical company who has recently acquired a small biotech company.  They have asked you to advise them on the merger, the structure of its sales force, and the potential risks going forward.  The CEO is coming to meet with us in about 30 minutes and would like to have a recommendation.  Please take a minute to think about the situation.  </a:t>
                      </a:r>
                    </a:p>
                  </a:txBody>
                  <a:tcPr anchor="ct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i="0" kern="1200" baseline="0" dirty="0" smtClean="0">
                          <a:solidFill>
                            <a:schemeClr val="tx1"/>
                          </a:solidFill>
                          <a:latin typeface="+mn-lt"/>
                          <a:ea typeface="+mn-ea"/>
                          <a:cs typeface="+mn-cs"/>
                        </a:rPr>
                        <a:t>This case requires the interviewer to be very engaged in order to properly evaluate the candidate.</a:t>
                      </a:r>
                    </a:p>
                    <a:p>
                      <a:endParaRPr lang="en-US" sz="1200" i="0" kern="1200" dirty="0" smtClean="0">
                        <a:solidFill>
                          <a:schemeClr val="tx1"/>
                        </a:solidFill>
                        <a:latin typeface="+mn-lt"/>
                        <a:ea typeface="+mn-ea"/>
                        <a:cs typeface="+mn-cs"/>
                      </a:endParaRPr>
                    </a:p>
                    <a:p>
                      <a:r>
                        <a:rPr lang="en-US" sz="1200" i="0" kern="1200" dirty="0" smtClean="0">
                          <a:solidFill>
                            <a:schemeClr val="tx1"/>
                          </a:solidFill>
                          <a:latin typeface="+mn-lt"/>
                          <a:ea typeface="+mn-ea"/>
                          <a:cs typeface="+mn-cs"/>
                        </a:rPr>
                        <a:t>This is a qualitative/strategy</a:t>
                      </a:r>
                      <a:r>
                        <a:rPr lang="en-US" sz="1200" i="0" kern="1200" baseline="0" dirty="0" smtClean="0">
                          <a:solidFill>
                            <a:schemeClr val="tx1"/>
                          </a:solidFill>
                          <a:latin typeface="+mn-lt"/>
                          <a:ea typeface="+mn-ea"/>
                          <a:cs typeface="+mn-cs"/>
                        </a:rPr>
                        <a:t> case where no numbers will be provided.  Instead the case tests how the candidate thinks</a:t>
                      </a:r>
                      <a:r>
                        <a:rPr lang="en-US" sz="1200" i="0" kern="1200" dirty="0" smtClean="0">
                          <a:solidFill>
                            <a:schemeClr val="tx1"/>
                          </a:solidFill>
                          <a:latin typeface="+mn-lt"/>
                          <a:ea typeface="+mn-ea"/>
                          <a:cs typeface="+mn-cs"/>
                        </a:rPr>
                        <a:t>.  It</a:t>
                      </a:r>
                      <a:r>
                        <a:rPr lang="en-US" sz="1200" i="0" kern="1200" baseline="0" dirty="0" smtClean="0">
                          <a:solidFill>
                            <a:schemeClr val="tx1"/>
                          </a:solidFill>
                          <a:latin typeface="+mn-lt"/>
                          <a:ea typeface="+mn-ea"/>
                          <a:cs typeface="+mn-cs"/>
                        </a:rPr>
                        <a:t> is acceptable for the candidate to make many assumptions, as long as you find them reasonable.  If the candidate asks for numbers to help with their analysis, clearly tell him/her that no numbers will be provided.  Strong candidates will quickly recognize this is a qualitative case.</a:t>
                      </a:r>
                    </a:p>
                    <a:p>
                      <a:endParaRPr lang="en-US" sz="1200" i="0" kern="1200" baseline="0" dirty="0" smtClean="0">
                        <a:solidFill>
                          <a:schemeClr val="tx1"/>
                        </a:solidFill>
                        <a:latin typeface="+mn-lt"/>
                        <a:ea typeface="+mn-ea"/>
                        <a:cs typeface="+mn-cs"/>
                      </a:endParaRPr>
                    </a:p>
                    <a:p>
                      <a:r>
                        <a:rPr lang="en-US" sz="1200" i="0" kern="1200" baseline="0" dirty="0" smtClean="0">
                          <a:solidFill>
                            <a:schemeClr val="tx1"/>
                          </a:solidFill>
                          <a:latin typeface="+mn-lt"/>
                          <a:ea typeface="+mn-ea"/>
                          <a:cs typeface="+mn-cs"/>
                        </a:rPr>
                        <a:t>Ask the candidate to walk you through his/her thought process for solving the problem. </a:t>
                      </a:r>
                    </a:p>
                    <a:p>
                      <a:endParaRPr lang="en-US" sz="120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kern="1200" baseline="0" dirty="0" smtClean="0">
                          <a:solidFill>
                            <a:schemeClr val="tx1"/>
                          </a:solidFill>
                          <a:latin typeface="+mn-lt"/>
                          <a:ea typeface="+mn-ea"/>
                          <a:cs typeface="+mn-cs"/>
                        </a:rPr>
                        <a:t>Provide the following information if requested.  Candidate should make reasonable assumptions.</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1" i="0" kern="1200" baseline="0" dirty="0" smtClean="0">
                          <a:solidFill>
                            <a:schemeClr val="tx1"/>
                          </a:solidFill>
                          <a:latin typeface="+mn-lt"/>
                          <a:ea typeface="+mn-ea"/>
                          <a:cs typeface="+mn-cs"/>
                        </a:rPr>
                        <a:t>Large pharmaceutical company: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Headquartered in Northeast United States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Currently sells cardiovascular, diabetes, and oncology drugs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In the process of developing additional drugs in these therapeutic areas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Large, experienced sales force</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1" i="0" kern="1200" baseline="0" dirty="0" smtClean="0">
                          <a:solidFill>
                            <a:schemeClr val="tx1"/>
                          </a:solidFill>
                          <a:latin typeface="+mn-lt"/>
                          <a:ea typeface="+mn-ea"/>
                          <a:cs typeface="+mn-cs"/>
                        </a:rPr>
                        <a:t>Small Biotech Company</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Located in California</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One Autoimmune drug was approved by the FDA last year while two more drugs are currently in early stages of drug development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Small, inexperienced sales force </a:t>
                      </a:r>
                      <a:endParaRPr lang="en-US" sz="1200" b="1" i="0" kern="1200" baseline="0" dirty="0" smtClean="0">
                        <a:solidFill>
                          <a:schemeClr val="tx1"/>
                        </a:solidFill>
                        <a:latin typeface="+mn-lt"/>
                        <a:ea typeface="+mn-ea"/>
                        <a:cs typeface="+mn-cs"/>
                      </a:endParaRPr>
                    </a:p>
                  </a:txBody>
                  <a:tcPr/>
                </a:tc>
              </a:tr>
            </a:tbl>
          </a:graphicData>
        </a:graphic>
      </p:graphicFrame>
      <p:sp>
        <p:nvSpPr>
          <p:cNvPr id="9" name="TextBox 6"/>
          <p:cNvSpPr txBox="1">
            <a:spLocks noChangeArrowheads="1"/>
          </p:cNvSpPr>
          <p:nvPr/>
        </p:nvSpPr>
        <p:spPr bwMode="auto">
          <a:xfrm>
            <a:off x="7543800" y="990600"/>
            <a:ext cx="1447800" cy="307777"/>
          </a:xfrm>
          <a:prstGeom prst="rect">
            <a:avLst/>
          </a:prstGeom>
          <a:noFill/>
          <a:ln w="9525">
            <a:noFill/>
            <a:miter lim="800000"/>
            <a:headEnd/>
            <a:tailEnd/>
          </a:ln>
        </p:spPr>
        <p:txBody>
          <a:bodyPr wrap="square">
            <a:spAutoFit/>
          </a:bodyPr>
          <a:lstStyle/>
          <a:p>
            <a:r>
              <a:rPr lang="en-US" sz="1400" i="1" dirty="0" smtClean="0"/>
              <a:t>First Round</a:t>
            </a:r>
            <a:endParaRPr lang="en-US" sz="1400" i="1" dirty="0"/>
          </a:p>
        </p:txBody>
      </p:sp>
      <p:sp>
        <p:nvSpPr>
          <p:cNvPr id="10"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8: Selling Drugs</a:t>
            </a:r>
            <a:endParaRPr lang="en-US" sz="2400"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64</a:t>
            </a:fld>
            <a:endParaRPr lang="en-US" dirty="0"/>
          </a:p>
        </p:txBody>
      </p:sp>
    </p:spTree>
    <p:extLst>
      <p:ext uri="{BB962C8B-B14F-4D97-AF65-F5344CB8AC3E}">
        <p14:creationId xmlns:p14="http://schemas.microsoft.com/office/powerpoint/2010/main" val="796300405"/>
      </p:ext>
    </p:extLst>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2461921068"/>
              </p:ext>
            </p:extLst>
          </p:nvPr>
        </p:nvGraphicFramePr>
        <p:xfrm>
          <a:off x="304800" y="1295400"/>
          <a:ext cx="8534400" cy="5029199"/>
        </p:xfrm>
        <a:graphic>
          <a:graphicData uri="http://schemas.openxmlformats.org/drawingml/2006/table">
            <a:tbl>
              <a:tblPr firstRow="1" bandRow="1">
                <a:tableStyleId>{616DA210-FB5B-4158-B5E0-FEB733F419BA}</a:tableStyleId>
              </a:tblPr>
              <a:tblGrid>
                <a:gridCol w="1600200"/>
                <a:gridCol w="6934200"/>
              </a:tblGrid>
              <a:tr h="159173">
                <a:tc>
                  <a:txBody>
                    <a:bodyPr/>
                    <a:lstStyle/>
                    <a:p>
                      <a:pPr algn="ctr"/>
                      <a:r>
                        <a:rPr lang="en-US" sz="1800" i="0" dirty="0" smtClean="0">
                          <a:latin typeface="+mj-lt"/>
                        </a:rPr>
                        <a:t>Guidance</a:t>
                      </a:r>
                      <a:endParaRPr lang="en-US" sz="1800" i="0" dirty="0">
                        <a:latin typeface="+mj-lt"/>
                      </a:endParaRPr>
                    </a:p>
                  </a:txBody>
                  <a:tcPr anchor="ctr">
                    <a:solidFill>
                      <a:schemeClr val="tx1">
                        <a:alpha val="20000"/>
                      </a:schemeClr>
                    </a:solidFill>
                  </a:tcPr>
                </a:tc>
                <a:tc>
                  <a:txBody>
                    <a:bodyPr/>
                    <a:lstStyle/>
                    <a:p>
                      <a:pPr marL="0" indent="0">
                        <a:buFont typeface="Arial" pitchFamily="34" charset="0"/>
                        <a:buNone/>
                      </a:pPr>
                      <a:r>
                        <a:rPr lang="en-US" sz="1200" b="0" i="0" kern="1200" dirty="0" smtClean="0">
                          <a:solidFill>
                            <a:schemeClr val="tx1"/>
                          </a:solidFill>
                          <a:latin typeface="+mj-lt"/>
                          <a:ea typeface="+mn-ea"/>
                          <a:cs typeface="+mn-cs"/>
                        </a:rPr>
                        <a:t>Here</a:t>
                      </a:r>
                      <a:r>
                        <a:rPr lang="en-US" sz="1200" b="0" i="0" kern="1200" baseline="0" dirty="0" smtClean="0">
                          <a:solidFill>
                            <a:schemeClr val="tx1"/>
                          </a:solidFill>
                          <a:latin typeface="+mj-lt"/>
                          <a:ea typeface="+mn-ea"/>
                          <a:cs typeface="+mn-cs"/>
                        </a:rPr>
                        <a:t> you should have the candidate talk through the implications of the merger and what sort of impact it will have on the corporation as a whole, as well as the sales force.</a:t>
                      </a:r>
                    </a:p>
                    <a:p>
                      <a:pPr marL="0" indent="0">
                        <a:buFont typeface="Arial" pitchFamily="34" charset="0"/>
                        <a:buNone/>
                      </a:pPr>
                      <a:endParaRPr lang="en-US" sz="1200" b="0" i="0" kern="1200" baseline="0" dirty="0" smtClean="0">
                        <a:solidFill>
                          <a:schemeClr val="tx1"/>
                        </a:solidFill>
                        <a:latin typeface="+mj-lt"/>
                        <a:ea typeface="+mn-ea"/>
                        <a:cs typeface="+mn-cs"/>
                      </a:endParaRPr>
                    </a:p>
                    <a:p>
                      <a:pPr marL="171450" indent="-171450">
                        <a:buFont typeface="Arial" pitchFamily="34" charset="0"/>
                        <a:buChar char="•"/>
                      </a:pPr>
                      <a:r>
                        <a:rPr lang="en-US" sz="1200" b="1" i="0" kern="1200" baseline="0" dirty="0" smtClean="0">
                          <a:solidFill>
                            <a:schemeClr val="tx1"/>
                          </a:solidFill>
                          <a:latin typeface="+mj-lt"/>
                          <a:ea typeface="+mn-ea"/>
                          <a:cs typeface="+mn-cs"/>
                        </a:rPr>
                        <a:t>Corporate considerations: </a:t>
                      </a:r>
                    </a:p>
                    <a:p>
                      <a:pPr marL="628650" lvl="1" indent="-171450">
                        <a:buFont typeface="Arial" pitchFamily="34" charset="0"/>
                        <a:buChar char="•"/>
                      </a:pPr>
                      <a:r>
                        <a:rPr lang="en-US" sz="1200" b="0" i="0" kern="1200" baseline="0" dirty="0" smtClean="0">
                          <a:solidFill>
                            <a:schemeClr val="tx1"/>
                          </a:solidFill>
                          <a:latin typeface="+mj-lt"/>
                          <a:ea typeface="+mn-ea"/>
                          <a:cs typeface="+mn-cs"/>
                        </a:rPr>
                        <a:t>Human resources</a:t>
                      </a:r>
                    </a:p>
                    <a:p>
                      <a:pPr marL="628650" lvl="1" indent="-171450">
                        <a:buFont typeface="Arial" pitchFamily="34" charset="0"/>
                        <a:buChar char="•"/>
                      </a:pPr>
                      <a:r>
                        <a:rPr lang="en-US" sz="1200" b="0" i="0" kern="1200" baseline="0" dirty="0" smtClean="0">
                          <a:solidFill>
                            <a:schemeClr val="tx1"/>
                          </a:solidFill>
                          <a:latin typeface="+mj-lt"/>
                          <a:ea typeface="+mn-ea"/>
                          <a:cs typeface="+mn-cs"/>
                        </a:rPr>
                        <a:t>Profitability of new and old business, expenses, etc…</a:t>
                      </a:r>
                    </a:p>
                    <a:p>
                      <a:pPr marL="628650" lvl="1" indent="-171450">
                        <a:buFont typeface="Arial" pitchFamily="34" charset="0"/>
                        <a:buChar char="•"/>
                      </a:pPr>
                      <a:r>
                        <a:rPr lang="en-US" sz="1200" b="0" i="0" kern="1200" baseline="0" dirty="0" smtClean="0">
                          <a:solidFill>
                            <a:schemeClr val="tx1"/>
                          </a:solidFill>
                          <a:latin typeface="+mj-lt"/>
                          <a:ea typeface="+mn-ea"/>
                          <a:cs typeface="+mn-cs"/>
                        </a:rPr>
                        <a:t>Efficiencies (or lack there of)</a:t>
                      </a:r>
                    </a:p>
                    <a:p>
                      <a:pPr marL="628650" lvl="1" indent="-171450">
                        <a:buFont typeface="Arial" pitchFamily="34" charset="0"/>
                        <a:buChar char="•"/>
                      </a:pPr>
                      <a:r>
                        <a:rPr lang="en-US" sz="1200" b="0" i="0" kern="1200" baseline="0" dirty="0" smtClean="0">
                          <a:solidFill>
                            <a:schemeClr val="tx1"/>
                          </a:solidFill>
                          <a:latin typeface="+mj-lt"/>
                          <a:ea typeface="+mn-ea"/>
                          <a:cs typeface="+mn-cs"/>
                        </a:rPr>
                        <a:t>Physical location of employees</a:t>
                      </a:r>
                    </a:p>
                    <a:p>
                      <a:pPr marL="628650" lvl="1" indent="-171450">
                        <a:buFont typeface="Arial" pitchFamily="34" charset="0"/>
                        <a:buChar char="•"/>
                      </a:pPr>
                      <a:r>
                        <a:rPr lang="en-US" sz="1200" b="0" i="0" kern="1200" baseline="0" dirty="0" smtClean="0">
                          <a:solidFill>
                            <a:schemeClr val="tx1"/>
                          </a:solidFill>
                          <a:latin typeface="+mj-lt"/>
                          <a:ea typeface="+mn-ea"/>
                          <a:cs typeface="+mn-cs"/>
                        </a:rPr>
                        <a:t>Manufacturing facilities, etc…</a:t>
                      </a:r>
                    </a:p>
                    <a:p>
                      <a:pPr marL="457200" lvl="1" indent="0">
                        <a:buFont typeface="Arial" pitchFamily="34" charset="0"/>
                        <a:buNone/>
                      </a:pPr>
                      <a:endParaRPr lang="en-US" sz="1200" b="0" i="0" kern="1200" baseline="0" dirty="0" smtClean="0">
                        <a:solidFill>
                          <a:schemeClr val="tx1"/>
                        </a:solidFill>
                        <a:latin typeface="+mj-lt"/>
                        <a:ea typeface="+mn-ea"/>
                        <a:cs typeface="+mn-cs"/>
                      </a:endParaRPr>
                    </a:p>
                    <a:p>
                      <a:pPr marL="171450" indent="-171450">
                        <a:buFont typeface="Arial" pitchFamily="34" charset="0"/>
                        <a:buChar char="•"/>
                      </a:pPr>
                      <a:r>
                        <a:rPr lang="en-US" sz="1200" b="1" i="0" kern="1200" baseline="0" dirty="0" smtClean="0">
                          <a:solidFill>
                            <a:schemeClr val="tx1"/>
                          </a:solidFill>
                          <a:latin typeface="+mj-lt"/>
                          <a:ea typeface="+mn-ea"/>
                          <a:cs typeface="+mn-cs"/>
                        </a:rPr>
                        <a:t>Sales force: </a:t>
                      </a:r>
                    </a:p>
                    <a:p>
                      <a:pPr marL="628650" lvl="1" indent="-171450">
                        <a:buFont typeface="Arial" pitchFamily="34" charset="0"/>
                        <a:buChar char="•"/>
                      </a:pPr>
                      <a:r>
                        <a:rPr lang="en-US" sz="1200" b="0" i="0" kern="1200" baseline="0" dirty="0" smtClean="0">
                          <a:solidFill>
                            <a:schemeClr val="tx1"/>
                          </a:solidFill>
                          <a:latin typeface="+mj-lt"/>
                          <a:ea typeface="+mn-ea"/>
                          <a:cs typeface="+mn-cs"/>
                        </a:rPr>
                        <a:t>Experienced vs. inexperienced sales reps</a:t>
                      </a:r>
                    </a:p>
                    <a:p>
                      <a:pPr marL="628650" lvl="1" indent="-171450">
                        <a:buFont typeface="Arial" pitchFamily="34" charset="0"/>
                        <a:buChar char="•"/>
                      </a:pPr>
                      <a:r>
                        <a:rPr lang="en-US" sz="1200" b="0" i="0" kern="1200" baseline="0" dirty="0" smtClean="0">
                          <a:solidFill>
                            <a:schemeClr val="tx1"/>
                          </a:solidFill>
                          <a:latin typeface="+mj-lt"/>
                          <a:ea typeface="+mn-ea"/>
                          <a:cs typeface="+mn-cs"/>
                        </a:rPr>
                        <a:t>Geographic location</a:t>
                      </a:r>
                    </a:p>
                    <a:p>
                      <a:pPr marL="628650" lvl="1" indent="-171450">
                        <a:buFont typeface="Arial" pitchFamily="34" charset="0"/>
                        <a:buChar char="•"/>
                      </a:pPr>
                      <a:r>
                        <a:rPr lang="en-US" sz="1200" b="0" i="0" kern="1200" baseline="0" dirty="0" smtClean="0">
                          <a:solidFill>
                            <a:schemeClr val="tx1"/>
                          </a:solidFill>
                          <a:latin typeface="+mj-lt"/>
                          <a:ea typeface="+mn-ea"/>
                          <a:cs typeface="+mn-cs"/>
                        </a:rPr>
                        <a:t>Impact on customers (physicians, payers, patients)</a:t>
                      </a:r>
                    </a:p>
                    <a:p>
                      <a:pPr marL="628650" lvl="1" indent="-171450">
                        <a:buFont typeface="Arial" pitchFamily="34" charset="0"/>
                        <a:buChar char="•"/>
                      </a:pPr>
                      <a:r>
                        <a:rPr lang="en-US" sz="1200" b="0" i="0" kern="1200" baseline="0" dirty="0" smtClean="0">
                          <a:solidFill>
                            <a:schemeClr val="tx1"/>
                          </a:solidFill>
                          <a:latin typeface="+mj-lt"/>
                          <a:ea typeface="+mn-ea"/>
                          <a:cs typeface="+mn-cs"/>
                        </a:rPr>
                        <a:t>Mix of products the current reps sell</a:t>
                      </a:r>
                    </a:p>
                    <a:p>
                      <a:pPr marL="628650" lvl="1" indent="-171450">
                        <a:buFont typeface="Arial" pitchFamily="34" charset="0"/>
                        <a:buChar char="•"/>
                      </a:pPr>
                      <a:r>
                        <a:rPr lang="en-US" sz="1200" b="0" i="0" kern="1200" baseline="0" dirty="0" smtClean="0">
                          <a:solidFill>
                            <a:schemeClr val="tx1"/>
                          </a:solidFill>
                          <a:latin typeface="+mj-lt"/>
                          <a:ea typeface="+mn-ea"/>
                          <a:cs typeface="+mn-cs"/>
                        </a:rPr>
                        <a:t>How should the sales force be organized going forward?</a:t>
                      </a:r>
                    </a:p>
                    <a:p>
                      <a:pPr marL="171450" lvl="0" indent="-171450">
                        <a:buFont typeface="Arial" pitchFamily="34" charset="0"/>
                        <a:buChar char="•"/>
                      </a:pPr>
                      <a:endParaRPr lang="en-US" sz="1200" b="0" i="0" kern="1200" baseline="0" dirty="0" smtClean="0">
                        <a:solidFill>
                          <a:schemeClr val="tx1"/>
                        </a:solidFill>
                        <a:latin typeface="+mj-lt"/>
                        <a:ea typeface="+mn-ea"/>
                        <a:cs typeface="+mn-cs"/>
                      </a:endParaRPr>
                    </a:p>
                    <a:p>
                      <a:pPr marL="171450" lvl="0" indent="-171450">
                        <a:buFont typeface="Arial" pitchFamily="34" charset="0"/>
                        <a:buChar char="•"/>
                      </a:pPr>
                      <a:r>
                        <a:rPr lang="en-US" sz="1200" b="1" i="0" kern="1200" baseline="0" dirty="0" smtClean="0">
                          <a:solidFill>
                            <a:schemeClr val="tx1"/>
                          </a:solidFill>
                          <a:latin typeface="+mj-lt"/>
                          <a:ea typeface="+mn-ea"/>
                          <a:cs typeface="+mn-cs"/>
                        </a:rPr>
                        <a:t>Risks:</a:t>
                      </a:r>
                    </a:p>
                    <a:p>
                      <a:pPr marL="628650" lvl="1" indent="-171450">
                        <a:buFont typeface="Arial" pitchFamily="34" charset="0"/>
                        <a:buChar char="•"/>
                      </a:pPr>
                      <a:r>
                        <a:rPr lang="en-US" sz="1200" b="0" i="0" kern="1200" baseline="0" dirty="0" smtClean="0">
                          <a:solidFill>
                            <a:schemeClr val="tx1"/>
                          </a:solidFill>
                          <a:latin typeface="+mj-lt"/>
                          <a:ea typeface="+mn-ea"/>
                          <a:cs typeface="+mn-cs"/>
                        </a:rPr>
                        <a:t>Inefficiencies due to bi-coastal merger</a:t>
                      </a:r>
                    </a:p>
                    <a:p>
                      <a:pPr marL="628650" lvl="1" indent="-171450">
                        <a:buFont typeface="Arial" pitchFamily="34" charset="0"/>
                        <a:buChar char="•"/>
                      </a:pPr>
                      <a:r>
                        <a:rPr lang="en-US" sz="1200" b="0" i="0" kern="1200" baseline="0" dirty="0" smtClean="0">
                          <a:solidFill>
                            <a:schemeClr val="tx1"/>
                          </a:solidFill>
                          <a:latin typeface="+mj-lt"/>
                          <a:ea typeface="+mn-ea"/>
                          <a:cs typeface="+mn-cs"/>
                        </a:rPr>
                        <a:t>High costs associated with employee relocation</a:t>
                      </a:r>
                    </a:p>
                    <a:p>
                      <a:pPr marL="628650" lvl="1" indent="-171450">
                        <a:buFont typeface="Arial" pitchFamily="34" charset="0"/>
                        <a:buChar char="•"/>
                      </a:pPr>
                      <a:r>
                        <a:rPr lang="en-US" sz="1200" b="0" i="0" kern="1200" baseline="0" dirty="0" smtClean="0">
                          <a:solidFill>
                            <a:schemeClr val="tx1"/>
                          </a:solidFill>
                          <a:latin typeface="+mj-lt"/>
                          <a:ea typeface="+mn-ea"/>
                          <a:cs typeface="+mn-cs"/>
                        </a:rPr>
                        <a:t>High employee turnover due to merger</a:t>
                      </a:r>
                    </a:p>
                    <a:p>
                      <a:pPr marL="628650" lvl="1" indent="-171450">
                        <a:buFont typeface="Arial" pitchFamily="34" charset="0"/>
                        <a:buChar char="•"/>
                      </a:pPr>
                      <a:r>
                        <a:rPr lang="en-US" sz="1200" b="0" i="0" kern="1200" baseline="0" dirty="0" smtClean="0">
                          <a:solidFill>
                            <a:schemeClr val="tx1"/>
                          </a:solidFill>
                          <a:latin typeface="+mj-lt"/>
                          <a:ea typeface="+mn-ea"/>
                          <a:cs typeface="+mn-cs"/>
                        </a:rPr>
                        <a:t>PR associated with merger/acquisition</a:t>
                      </a:r>
                    </a:p>
                    <a:p>
                      <a:pPr marL="628650" lvl="1" indent="-171450">
                        <a:buFont typeface="Arial" pitchFamily="34" charset="0"/>
                        <a:buChar char="•"/>
                      </a:pPr>
                      <a:r>
                        <a:rPr lang="en-US" sz="1200" b="0" i="0" kern="1200" baseline="0" dirty="0" smtClean="0">
                          <a:solidFill>
                            <a:schemeClr val="tx1"/>
                          </a:solidFill>
                          <a:latin typeface="+mj-lt"/>
                          <a:ea typeface="+mn-ea"/>
                          <a:cs typeface="+mn-cs"/>
                        </a:rPr>
                        <a:t>Regulatory risks associated with acquisitions, drug development, and drug sales</a:t>
                      </a:r>
                    </a:p>
                    <a:p>
                      <a:pPr marL="628650" lvl="1" indent="-171450">
                        <a:buFont typeface="Arial" pitchFamily="34" charset="0"/>
                        <a:buChar char="•"/>
                      </a:pPr>
                      <a:r>
                        <a:rPr lang="en-US" sz="1200" b="0" i="0" kern="1200" baseline="0" dirty="0" smtClean="0">
                          <a:solidFill>
                            <a:schemeClr val="tx1"/>
                          </a:solidFill>
                          <a:latin typeface="+mj-lt"/>
                          <a:ea typeface="+mn-ea"/>
                          <a:cs typeface="+mn-cs"/>
                        </a:rPr>
                        <a:t>Potential supply chain issues</a:t>
                      </a:r>
                    </a:p>
                    <a:p>
                      <a:pPr marL="628650" lvl="1" indent="-171450">
                        <a:buFont typeface="Arial" pitchFamily="34" charset="0"/>
                        <a:buChar char="•"/>
                      </a:pPr>
                      <a:r>
                        <a:rPr lang="en-US" sz="1200" b="0" i="0" kern="1200" baseline="0" dirty="0" smtClean="0">
                          <a:solidFill>
                            <a:schemeClr val="tx1"/>
                          </a:solidFill>
                          <a:latin typeface="+mj-lt"/>
                          <a:ea typeface="+mn-ea"/>
                          <a:cs typeface="+mn-cs"/>
                        </a:rPr>
                        <a:t>Selling issues due to sub-optimal sales force structure</a:t>
                      </a:r>
                    </a:p>
                    <a:p>
                      <a:pPr marL="0" lvl="0" indent="0">
                        <a:buFont typeface="Arial" pitchFamily="34" charset="0"/>
                        <a:buNone/>
                      </a:pPr>
                      <a:endParaRPr lang="en-US" sz="1200" b="1" i="0" kern="1200" baseline="0" dirty="0" smtClean="0">
                        <a:solidFill>
                          <a:schemeClr val="tx1"/>
                        </a:solidFill>
                        <a:latin typeface="+mj-lt"/>
                        <a:ea typeface="+mn-ea"/>
                        <a:cs typeface="+mn-cs"/>
                      </a:endParaRPr>
                    </a:p>
                    <a:p>
                      <a:pPr marL="0" lvl="0" indent="0">
                        <a:buFont typeface="Arial" pitchFamily="34" charset="0"/>
                        <a:buNone/>
                      </a:pPr>
                      <a:endParaRPr lang="en-US" sz="1200" b="1" i="0" u="sng" kern="1200" baseline="0" dirty="0" smtClean="0">
                        <a:solidFill>
                          <a:schemeClr val="tx1"/>
                        </a:solidFill>
                        <a:latin typeface="+mj-lt"/>
                        <a:ea typeface="+mn-ea"/>
                        <a:cs typeface="+mn-cs"/>
                      </a:endParaRPr>
                    </a:p>
                  </a:txBody>
                  <a:tcPr>
                    <a:solidFill>
                      <a:schemeClr val="tx1">
                        <a:alpha val="20000"/>
                      </a:schemeClr>
                    </a:solidFill>
                  </a:tcPr>
                </a:tc>
              </a:tr>
            </a:tbl>
          </a:graphicData>
        </a:graphic>
      </p:graphicFrame>
      <p:pic>
        <p:nvPicPr>
          <p:cNvPr id="49162"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1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8: Selling Drugs</a:t>
            </a:r>
            <a:endParaRPr lang="en-US" sz="2400" b="1" dirty="0"/>
          </a:p>
        </p:txBody>
      </p:sp>
      <p:sp>
        <p:nvSpPr>
          <p:cNvPr id="7" name="TextBox 6"/>
          <p:cNvSpPr txBox="1">
            <a:spLocks noChangeArrowheads="1"/>
          </p:cNvSpPr>
          <p:nvPr/>
        </p:nvSpPr>
        <p:spPr bwMode="auto">
          <a:xfrm>
            <a:off x="7543800" y="990600"/>
            <a:ext cx="1447800" cy="307777"/>
          </a:xfrm>
          <a:prstGeom prst="rect">
            <a:avLst/>
          </a:prstGeom>
          <a:noFill/>
          <a:ln w="9525">
            <a:noFill/>
            <a:miter lim="800000"/>
            <a:headEnd/>
            <a:tailEnd/>
          </a:ln>
        </p:spPr>
        <p:txBody>
          <a:bodyPr wrap="square">
            <a:spAutoFit/>
          </a:bodyPr>
          <a:lstStyle/>
          <a:p>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65</a:t>
            </a:fld>
            <a:endParaRPr lang="en-US" dirty="0"/>
          </a:p>
        </p:txBody>
      </p:sp>
    </p:spTree>
    <p:extLst>
      <p:ext uri="{BB962C8B-B14F-4D97-AF65-F5344CB8AC3E}">
        <p14:creationId xmlns:p14="http://schemas.microsoft.com/office/powerpoint/2010/main" val="339513612"/>
      </p:ext>
    </p:extLst>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graphicFrame>
        <p:nvGraphicFramePr>
          <p:cNvPr id="12" name="Table 11"/>
          <p:cNvGraphicFramePr>
            <a:graphicFrameLocks noGrp="1"/>
          </p:cNvGraphicFramePr>
          <p:nvPr>
            <p:extLst>
              <p:ext uri="{D42A27DB-BD31-4B8C-83A1-F6EECF244321}">
                <p14:modId xmlns:p14="http://schemas.microsoft.com/office/powerpoint/2010/main" val="288042346"/>
              </p:ext>
            </p:extLst>
          </p:nvPr>
        </p:nvGraphicFramePr>
        <p:xfrm>
          <a:off x="304800" y="1295400"/>
          <a:ext cx="8534400" cy="4519352"/>
        </p:xfrm>
        <a:graphic>
          <a:graphicData uri="http://schemas.openxmlformats.org/drawingml/2006/table">
            <a:tbl>
              <a:tblPr firstRow="1" bandRow="1">
                <a:tableStyleId>{616DA210-FB5B-4158-B5E0-FEB733F419BA}</a:tableStyleId>
              </a:tblPr>
              <a:tblGrid>
                <a:gridCol w="1600200"/>
                <a:gridCol w="6934200"/>
              </a:tblGrid>
              <a:tr h="1032164">
                <a:tc>
                  <a:txBody>
                    <a:bodyPr/>
                    <a:lstStyle/>
                    <a:p>
                      <a:pPr algn="ctr"/>
                      <a:r>
                        <a:rPr lang="en-US" dirty="0" smtClean="0"/>
                        <a:t>Prompt #2</a:t>
                      </a:r>
                      <a:endParaRPr lang="en-US" dirty="0"/>
                    </a:p>
                  </a:txBody>
                  <a:tcPr anchor="ctr"/>
                </a:tc>
                <a:tc>
                  <a:txBody>
                    <a:bodyPr/>
                    <a:lstStyle/>
                    <a:p>
                      <a:r>
                        <a:rPr lang="en-US" sz="1200" b="0" i="1" kern="1200" dirty="0" smtClean="0"/>
                        <a:t>Interviewer,</a:t>
                      </a:r>
                      <a:r>
                        <a:rPr lang="en-US" sz="1200" b="0" i="1" kern="1200" baseline="0" dirty="0" smtClean="0"/>
                        <a:t> if candidate has not thought about risks and strengths of the proposed merger, directly ask them to do so now.</a:t>
                      </a:r>
                    </a:p>
                    <a:p>
                      <a:endParaRPr lang="en-US" sz="1200" b="0" i="1" kern="1200" baseline="0" dirty="0" smtClean="0"/>
                    </a:p>
                    <a:p>
                      <a:r>
                        <a:rPr lang="en-US" sz="1200" b="0" i="0" kern="1200" baseline="0" dirty="0" smtClean="0"/>
                        <a:t>How can you maximize the strengths of the merger?</a:t>
                      </a:r>
                    </a:p>
                    <a:p>
                      <a:endParaRPr lang="en-US" sz="1200" b="0" i="0" kern="1200" baseline="0" dirty="0" smtClean="0"/>
                    </a:p>
                    <a:p>
                      <a:r>
                        <a:rPr lang="en-US" sz="1200" b="0" i="0" kern="1200" baseline="0" dirty="0" smtClean="0"/>
                        <a:t>How can you minimize the risks presented by the merger?</a:t>
                      </a:r>
                    </a:p>
                  </a:txBody>
                  <a:tcPr anchor="ctr"/>
                </a:tc>
              </a:tr>
              <a:tr h="159173">
                <a:tc>
                  <a:txBody>
                    <a:bodyPr/>
                    <a:lstStyle/>
                    <a:p>
                      <a:pPr algn="ctr"/>
                      <a:r>
                        <a:rPr lang="en-US" b="1" dirty="0" smtClean="0"/>
                        <a:t>Guidance</a:t>
                      </a:r>
                      <a:endParaRPr lang="en-US" b="1" baseline="0" dirty="0" smtClean="0"/>
                    </a:p>
                  </a:txBody>
                  <a:tcPr anchor="ctr"/>
                </a:tc>
                <a:tc>
                  <a:txBody>
                    <a:bodyPr/>
                    <a:lstStyle/>
                    <a:p>
                      <a:r>
                        <a:rPr lang="en-US" sz="1200" i="0" kern="1200" dirty="0" smtClean="0">
                          <a:solidFill>
                            <a:schemeClr val="tx1"/>
                          </a:solidFill>
                          <a:latin typeface="+mn-lt"/>
                          <a:ea typeface="+mn-ea"/>
                          <a:cs typeface="+mn-cs"/>
                        </a:rPr>
                        <a:t>Again, this is a purely</a:t>
                      </a:r>
                      <a:r>
                        <a:rPr lang="en-US" sz="1200" i="0" kern="1200" baseline="0" dirty="0" smtClean="0">
                          <a:solidFill>
                            <a:schemeClr val="tx1"/>
                          </a:solidFill>
                          <a:latin typeface="+mn-lt"/>
                          <a:ea typeface="+mn-ea"/>
                          <a:cs typeface="+mn-cs"/>
                        </a:rPr>
                        <a:t> qualitative response.  The answers to this prompt will vary greatly depending on what risks and strengths they listed in the previous prompt.</a:t>
                      </a:r>
                    </a:p>
                    <a:p>
                      <a:endParaRPr lang="en-US" sz="1200" b="1" i="0" kern="1200" baseline="0" dirty="0" smtClean="0">
                        <a:solidFill>
                          <a:schemeClr val="tx1"/>
                        </a:solidFill>
                        <a:latin typeface="+mn-lt"/>
                        <a:ea typeface="+mn-ea"/>
                        <a:cs typeface="+mn-cs"/>
                      </a:endParaRPr>
                    </a:p>
                    <a:p>
                      <a:r>
                        <a:rPr lang="en-US" sz="1200" b="0" i="0" kern="1200" baseline="0" dirty="0" smtClean="0">
                          <a:solidFill>
                            <a:schemeClr val="tx1"/>
                          </a:solidFill>
                          <a:latin typeface="+mn-lt"/>
                          <a:ea typeface="+mn-ea"/>
                          <a:cs typeface="+mn-cs"/>
                        </a:rPr>
                        <a:t>Push back on their reasoning often and to varying degrees of intensity.  “Why do you think that?”  “Are you sure?”  “I wouldn’t start there, but this is your case”, etc.</a:t>
                      </a:r>
                    </a:p>
                    <a:p>
                      <a:endParaRPr lang="en-US" sz="1200" b="0" i="0" kern="1200" baseline="0" dirty="0" smtClean="0">
                        <a:solidFill>
                          <a:schemeClr val="tx1"/>
                        </a:solidFill>
                        <a:latin typeface="+mn-lt"/>
                        <a:ea typeface="+mn-ea"/>
                        <a:cs typeface="+mn-cs"/>
                      </a:endParaRPr>
                    </a:p>
                    <a:p>
                      <a:r>
                        <a:rPr lang="en-US" sz="1200" b="0" i="0" kern="1200" baseline="0" dirty="0" smtClean="0">
                          <a:solidFill>
                            <a:schemeClr val="tx1"/>
                          </a:solidFill>
                          <a:latin typeface="+mn-lt"/>
                          <a:ea typeface="+mn-ea"/>
                          <a:cs typeface="+mn-cs"/>
                        </a:rPr>
                        <a:t>You are testing for poise, confidence, logic, and candidates being able to defend their position.</a:t>
                      </a:r>
                    </a:p>
                  </a:txBody>
                  <a:tcPr/>
                </a:tc>
              </a:tr>
              <a:tr h="979516">
                <a:tc>
                  <a:txBody>
                    <a:bodyPr/>
                    <a:lstStyle/>
                    <a:p>
                      <a:pPr algn="ctr"/>
                      <a:r>
                        <a:rPr lang="en-US" b="1" baseline="0" dirty="0" smtClean="0"/>
                        <a:t>Prompt #3</a:t>
                      </a:r>
                    </a:p>
                  </a:txBody>
                  <a:tcPr anchor="ctr"/>
                </a:tc>
                <a:tc>
                  <a:txBody>
                    <a:bodyPr/>
                    <a:lstStyle/>
                    <a:p>
                      <a:r>
                        <a:rPr lang="en-US" sz="1200" b="0" i="0" kern="1200" baseline="0" dirty="0" smtClean="0">
                          <a:solidFill>
                            <a:schemeClr val="tx1"/>
                          </a:solidFill>
                          <a:latin typeface="+mn-lt"/>
                          <a:ea typeface="+mn-ea"/>
                          <a:cs typeface="+mn-cs"/>
                        </a:rPr>
                        <a:t>The CEO is about to come in the room.  What are you going to recommend to them, and why?</a:t>
                      </a:r>
                    </a:p>
                  </a:txBody>
                  <a:tcPr anchor="ctr"/>
                </a:tc>
              </a:tr>
              <a:tr h="979516">
                <a:tc>
                  <a:txBody>
                    <a:bodyPr/>
                    <a:lstStyle/>
                    <a:p>
                      <a:pPr algn="ctr"/>
                      <a:r>
                        <a:rPr lang="en-US" b="1" baseline="0" dirty="0" smtClean="0"/>
                        <a:t>Guidance</a:t>
                      </a:r>
                    </a:p>
                  </a:txBody>
                  <a:tcPr anchor="ctr"/>
                </a:tc>
                <a:tc>
                  <a:txBody>
                    <a:bodyPr/>
                    <a:lstStyle/>
                    <a:p>
                      <a:r>
                        <a:rPr lang="en-US" sz="1200" b="0" i="0" kern="1200" baseline="0" dirty="0" smtClean="0">
                          <a:solidFill>
                            <a:schemeClr val="tx1"/>
                          </a:solidFill>
                          <a:latin typeface="+mn-lt"/>
                          <a:ea typeface="+mn-ea"/>
                          <a:cs typeface="+mn-cs"/>
                        </a:rPr>
                        <a:t>Give the candidate sufficient time to create a C-level recommendation. A few minutes are acceptable. </a:t>
                      </a:r>
                    </a:p>
                  </a:txBody>
                  <a:tcPr anchor="ctr"/>
                </a:tc>
              </a:tr>
            </a:tbl>
          </a:graphicData>
        </a:graphic>
      </p:graphicFrame>
      <p:sp>
        <p:nvSpPr>
          <p:cNvPr id="10"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8: Selling Drugs</a:t>
            </a:r>
            <a:endParaRPr lang="en-US" sz="2400" b="1" dirty="0"/>
          </a:p>
        </p:txBody>
      </p:sp>
      <p:sp>
        <p:nvSpPr>
          <p:cNvPr id="7" name="TextBox 6"/>
          <p:cNvSpPr txBox="1">
            <a:spLocks noChangeArrowheads="1"/>
          </p:cNvSpPr>
          <p:nvPr/>
        </p:nvSpPr>
        <p:spPr bwMode="auto">
          <a:xfrm>
            <a:off x="7543800" y="990600"/>
            <a:ext cx="1447800" cy="307777"/>
          </a:xfrm>
          <a:prstGeom prst="rect">
            <a:avLst/>
          </a:prstGeom>
          <a:noFill/>
          <a:ln w="9525">
            <a:noFill/>
            <a:miter lim="800000"/>
            <a:headEnd/>
            <a:tailEnd/>
          </a:ln>
        </p:spPr>
        <p:txBody>
          <a:bodyPr wrap="square">
            <a:spAutoFit/>
          </a:bodyPr>
          <a:lstStyle/>
          <a:p>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66</a:t>
            </a:fld>
            <a:endParaRPr lang="en-US" dirty="0"/>
          </a:p>
        </p:txBody>
      </p:sp>
    </p:spTree>
    <p:extLst>
      <p:ext uri="{BB962C8B-B14F-4D97-AF65-F5344CB8AC3E}">
        <p14:creationId xmlns:p14="http://schemas.microsoft.com/office/powerpoint/2010/main" val="475211069"/>
      </p:ext>
    </p:extLst>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2280104034"/>
              </p:ext>
            </p:extLst>
          </p:nvPr>
        </p:nvGraphicFramePr>
        <p:xfrm>
          <a:off x="304800" y="1295400"/>
          <a:ext cx="8534400" cy="2834639"/>
        </p:xfrm>
        <a:graphic>
          <a:graphicData uri="http://schemas.openxmlformats.org/drawingml/2006/table">
            <a:tbl>
              <a:tblPr firstRow="1" bandRow="1">
                <a:tableStyleId>{616DA210-FB5B-4158-B5E0-FEB733F419BA}</a:tableStyleId>
              </a:tblPr>
              <a:tblGrid>
                <a:gridCol w="1600200"/>
                <a:gridCol w="6934200"/>
              </a:tblGrid>
              <a:tr h="159173">
                <a:tc>
                  <a:txBody>
                    <a:bodyPr/>
                    <a:lstStyle/>
                    <a:p>
                      <a:pPr algn="ctr"/>
                      <a:r>
                        <a:rPr lang="en-US" b="1" i="0" dirty="0" smtClean="0">
                          <a:latin typeface="+mj-lt"/>
                        </a:rPr>
                        <a:t>Performance Evaluation</a:t>
                      </a:r>
                      <a:endParaRPr lang="en-US" sz="1000" i="0" dirty="0">
                        <a:latin typeface="+mj-lt"/>
                      </a:endParaRPr>
                    </a:p>
                  </a:txBody>
                  <a:tcPr anchor="ctr">
                    <a:noFill/>
                  </a:tcP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171450" indent="-171450">
                        <a:buFont typeface="Arial" pitchFamily="34" charset="0"/>
                        <a:buChar char="•"/>
                      </a:pPr>
                      <a:r>
                        <a:rPr lang="en-US" sz="1200" b="0" i="0" kern="1200" baseline="0" dirty="0" smtClean="0">
                          <a:solidFill>
                            <a:schemeClr val="tx1"/>
                          </a:solidFill>
                          <a:latin typeface="+mj-lt"/>
                          <a:ea typeface="+mn-ea"/>
                          <a:cs typeface="+mn-cs"/>
                        </a:rPr>
                        <a:t>Candidate will develop a structured approach to finding a solution.  </a:t>
                      </a:r>
                    </a:p>
                    <a:p>
                      <a:pPr marL="171450" indent="-171450">
                        <a:buFont typeface="Arial" pitchFamily="34" charset="0"/>
                        <a:buChar char="•"/>
                      </a:pPr>
                      <a:r>
                        <a:rPr lang="en-US" sz="1200" b="0" i="0" kern="1200" baseline="0" dirty="0" smtClean="0">
                          <a:solidFill>
                            <a:schemeClr val="tx1"/>
                          </a:solidFill>
                          <a:latin typeface="+mj-lt"/>
                          <a:ea typeface="+mn-ea"/>
                          <a:cs typeface="+mn-cs"/>
                        </a:rPr>
                        <a:t>Assumptions will be clarified and based on reasonable logic.</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Candidate will develop a structured approach as well as touch on many of the items listed on the previous slide.  A good candidate will clearly identify many of the corporate issues, sales force issues, as well as overall risks.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indent="-171450">
                        <a:buFont typeface="Arial" pitchFamily="34" charset="0"/>
                        <a:buChar char="•"/>
                      </a:pPr>
                      <a:r>
                        <a:rPr lang="en-US" sz="1200" b="0" i="0" kern="1200" baseline="0" dirty="0" smtClean="0">
                          <a:solidFill>
                            <a:schemeClr val="tx1"/>
                          </a:solidFill>
                          <a:latin typeface="+mj-lt"/>
                          <a:ea typeface="+mn-ea"/>
                          <a:cs typeface="+mn-cs"/>
                        </a:rPr>
                        <a:t>In addition to the above, the candidate will add his/her own insight and provide a clear, logical, and reasonable recommendation to the CEO.  </a:t>
                      </a:r>
                    </a:p>
                    <a:p>
                      <a:pPr marL="171450" indent="-171450">
                        <a:buFont typeface="Arial" pitchFamily="34" charset="0"/>
                        <a:buChar char="•"/>
                      </a:pPr>
                      <a:r>
                        <a:rPr lang="en-US" sz="1200" b="0" i="0" kern="1200" baseline="0" dirty="0" smtClean="0">
                          <a:solidFill>
                            <a:schemeClr val="tx1"/>
                          </a:solidFill>
                          <a:latin typeface="+mj-lt"/>
                          <a:ea typeface="+mn-ea"/>
                          <a:cs typeface="+mn-cs"/>
                        </a:rPr>
                        <a:t>An excellent candidate will be comfortable with the case even though there is a clear lack of structure and numbers</a:t>
                      </a:r>
                    </a:p>
                    <a:p>
                      <a:pPr marL="171450" indent="-171450">
                        <a:buFont typeface="Arial" pitchFamily="34" charset="0"/>
                        <a:buChar char="•"/>
                      </a:pPr>
                      <a:r>
                        <a:rPr lang="en-US" sz="1200" b="0" i="0" kern="1200" baseline="0" dirty="0" smtClean="0">
                          <a:solidFill>
                            <a:schemeClr val="tx1"/>
                          </a:solidFill>
                          <a:latin typeface="+mj-lt"/>
                          <a:ea typeface="+mn-ea"/>
                          <a:cs typeface="+mn-cs"/>
                        </a:rPr>
                        <a:t>Will maintain poise under pressure from the interviewer.  </a:t>
                      </a:r>
                      <a:endParaRPr lang="en-US" sz="1200" b="0" i="0" kern="1200" dirty="0" smtClean="0">
                        <a:solidFill>
                          <a:schemeClr val="tx1"/>
                        </a:solidFill>
                        <a:latin typeface="+mj-lt"/>
                        <a:ea typeface="+mn-ea"/>
                        <a:cs typeface="+mn-cs"/>
                      </a:endParaRPr>
                    </a:p>
                  </a:txBody>
                  <a:tcPr>
                    <a:noFill/>
                  </a:tcPr>
                </a:tc>
              </a:tr>
            </a:tbl>
          </a:graphicData>
        </a:graphic>
      </p:graphicFrame>
      <p:pic>
        <p:nvPicPr>
          <p:cNvPr id="49162"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1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8: Selling Drugs</a:t>
            </a:r>
            <a:endParaRPr lang="en-US" sz="2400" b="1" dirty="0"/>
          </a:p>
        </p:txBody>
      </p:sp>
      <p:sp>
        <p:nvSpPr>
          <p:cNvPr id="7" name="TextBox 6"/>
          <p:cNvSpPr txBox="1">
            <a:spLocks noChangeArrowheads="1"/>
          </p:cNvSpPr>
          <p:nvPr/>
        </p:nvSpPr>
        <p:spPr bwMode="auto">
          <a:xfrm>
            <a:off x="7543800" y="990600"/>
            <a:ext cx="1447800" cy="307777"/>
          </a:xfrm>
          <a:prstGeom prst="rect">
            <a:avLst/>
          </a:prstGeom>
          <a:noFill/>
          <a:ln w="9525">
            <a:noFill/>
            <a:miter lim="800000"/>
            <a:headEnd/>
            <a:tailEnd/>
          </a:ln>
        </p:spPr>
        <p:txBody>
          <a:bodyPr wrap="square">
            <a:spAutoFit/>
          </a:bodyPr>
          <a:lstStyle/>
          <a:p>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67</a:t>
            </a:fld>
            <a:endParaRPr lang="en-US" dirty="0"/>
          </a:p>
        </p:txBody>
      </p:sp>
    </p:spTree>
    <p:extLst>
      <p:ext uri="{BB962C8B-B14F-4D97-AF65-F5344CB8AC3E}">
        <p14:creationId xmlns:p14="http://schemas.microsoft.com/office/powerpoint/2010/main" val="644572223"/>
      </p:ext>
    </p:extLst>
  </p:cSld>
  <p:clrMapOvr>
    <a:masterClrMapping/>
  </p:clrMapOvr>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68</a:t>
            </a:fld>
            <a:endParaRPr lang="en-US" dirty="0"/>
          </a:p>
        </p:txBody>
      </p:sp>
    </p:spTree>
    <p:extLst>
      <p:ext uri="{BB962C8B-B14F-4D97-AF65-F5344CB8AC3E}">
        <p14:creationId xmlns:p14="http://schemas.microsoft.com/office/powerpoint/2010/main" val="2417750719"/>
      </p:ext>
    </p:extLst>
  </p:cSld>
  <p:clrMapOvr>
    <a:masterClrMapping/>
  </p:clrMapOvr>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3419097648"/>
              </p:ext>
            </p:extLst>
          </p:nvPr>
        </p:nvGraphicFramePr>
        <p:xfrm>
          <a:off x="304800" y="1295400"/>
          <a:ext cx="8534400" cy="5486455"/>
        </p:xfrm>
        <a:graphic>
          <a:graphicData uri="http://schemas.openxmlformats.org/drawingml/2006/table">
            <a:tbl>
              <a:tblPr firstRow="1" bandRow="1">
                <a:tableStyleId>{616DA210-FB5B-4158-B5E0-FEB733F419BA}</a:tableStyleId>
              </a:tblPr>
              <a:tblGrid>
                <a:gridCol w="1600200"/>
                <a:gridCol w="6934200"/>
              </a:tblGrid>
              <a:tr h="2468883">
                <a:tc>
                  <a:txBody>
                    <a:bodyPr/>
                    <a:lstStyle/>
                    <a:p>
                      <a:pPr algn="ctr"/>
                      <a:r>
                        <a:rPr lang="en-US" sz="1800" dirty="0" smtClean="0">
                          <a:latin typeface="+mn-lt"/>
                        </a:rPr>
                        <a:t>Prompt #1</a:t>
                      </a:r>
                      <a:endParaRPr lang="en-US" sz="1800" dirty="0">
                        <a:latin typeface="+mn-lt"/>
                      </a:endParaRPr>
                    </a:p>
                  </a:txBody>
                  <a:tcPr marT="45734" marB="45734" anchor="ctr"/>
                </a:tc>
                <a:tc>
                  <a:txBody>
                    <a:bodyPr/>
                    <a:lstStyle/>
                    <a:p>
                      <a:r>
                        <a:rPr lang="en-US" sz="1200" b="0" kern="1200" dirty="0" smtClean="0">
                          <a:latin typeface="+mn-lt"/>
                        </a:rPr>
                        <a:t>Our client,</a:t>
                      </a:r>
                      <a:r>
                        <a:rPr lang="en-US" sz="1200" b="0" kern="1200" baseline="0" dirty="0" smtClean="0">
                          <a:latin typeface="+mn-lt"/>
                        </a:rPr>
                        <a:t> Great Burger, is a chain of fast food restaurants. Great Burger (GB) is the fourth largest fast food chain in the world, measured in number of restaurants. They offer food and “combo” meals for breakfast, lunch, and dinner. GB owns some of its stores, but 85% are owned by franchisees who own and manage individual stores. Franchisees pay a franchise fee, and do not have any major decision rights in strategic decisions (menu, look and feel of store, etc.) </a:t>
                      </a:r>
                    </a:p>
                    <a:p>
                      <a:endParaRPr lang="en-US" sz="1200" b="0" i="1" kern="1200" baseline="0" dirty="0" smtClean="0">
                        <a:solidFill>
                          <a:schemeClr val="tx1"/>
                        </a:solidFill>
                        <a:latin typeface="+mn-lt"/>
                        <a:ea typeface="+mn-ea"/>
                        <a:cs typeface="+mn-cs"/>
                      </a:endParaRPr>
                    </a:p>
                    <a:p>
                      <a:r>
                        <a:rPr lang="en-US" sz="1200" b="0" i="0" kern="1200" baseline="0" dirty="0" smtClean="0">
                          <a:solidFill>
                            <a:schemeClr val="tx1"/>
                          </a:solidFill>
                          <a:latin typeface="+mn-lt"/>
                          <a:ea typeface="+mn-ea"/>
                          <a:cs typeface="+mn-cs"/>
                        </a:rPr>
                        <a:t>In looking at ways to become more profitable, GB began a search for acquisition targets; Heavenly Donuts looked promising, and is growing both in the US, and internationally. Like GB, Heavenly Donuts (HD) uses a franchise model, but the model is slightly different from that used by GB. HD franchisees operate in areas or regions, and a franchisee must agree to open a certain number of stores within that region. </a:t>
                      </a:r>
                    </a:p>
                    <a:p>
                      <a:endParaRPr lang="en-US" sz="1200" b="0"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How will you approach GB’s question of whether or not to acquire HD?</a:t>
                      </a:r>
                      <a:endParaRPr lang="en-US" sz="1200" b="1" i="0" kern="1200" dirty="0" smtClean="0">
                        <a:solidFill>
                          <a:schemeClr val="tx1"/>
                        </a:solidFill>
                        <a:latin typeface="+mn-lt"/>
                        <a:ea typeface="+mn-ea"/>
                        <a:cs typeface="+mn-cs"/>
                      </a:endParaRPr>
                    </a:p>
                  </a:txBody>
                  <a:tcPr marT="45734" marB="45734"/>
                </a:tc>
              </a:tr>
              <a:tr h="3017517">
                <a:tc>
                  <a:txBody>
                    <a:bodyPr/>
                    <a:lstStyle/>
                    <a:p>
                      <a:pPr algn="ctr"/>
                      <a:r>
                        <a:rPr lang="en-US" sz="1800" b="1" dirty="0" smtClean="0">
                          <a:latin typeface="+mn-lt"/>
                        </a:rPr>
                        <a:t>Guidance</a:t>
                      </a:r>
                      <a:endParaRPr lang="en-US" sz="1800" b="1" baseline="0" dirty="0" smtClean="0">
                        <a:latin typeface="+mn-lt"/>
                      </a:endParaRPr>
                    </a:p>
                  </a:txBody>
                  <a:tcPr marT="45734" marB="45734" anchor="ctr"/>
                </a:tc>
                <a:tc>
                  <a:txBody>
                    <a:bodyPr/>
                    <a:lstStyle/>
                    <a:p>
                      <a:r>
                        <a:rPr lang="en-US" sz="1200" i="0" kern="1200" dirty="0" smtClean="0">
                          <a:solidFill>
                            <a:schemeClr val="tx1"/>
                          </a:solidFill>
                          <a:latin typeface="+mn-lt"/>
                          <a:ea typeface="+mn-ea"/>
                          <a:cs typeface="+mn-cs"/>
                        </a:rPr>
                        <a:t>This</a:t>
                      </a:r>
                      <a:r>
                        <a:rPr lang="en-US" sz="1200" i="0" kern="1200" baseline="0" dirty="0" smtClean="0">
                          <a:solidFill>
                            <a:schemeClr val="tx1"/>
                          </a:solidFill>
                          <a:latin typeface="+mn-lt"/>
                          <a:ea typeface="+mn-ea"/>
                          <a:cs typeface="+mn-cs"/>
                        </a:rPr>
                        <a:t> is a profitability case, within the context of evaluating a potential acquisition target. As you will see, this case also focuses on synergies, especially in the brainstorming question.</a:t>
                      </a:r>
                    </a:p>
                    <a:p>
                      <a:endParaRPr lang="en-US" sz="1200" i="0" kern="1200" baseline="0" dirty="0" smtClean="0">
                        <a:solidFill>
                          <a:schemeClr val="tx1"/>
                        </a:solidFill>
                        <a:latin typeface="+mn-lt"/>
                        <a:ea typeface="+mn-ea"/>
                        <a:cs typeface="+mn-cs"/>
                      </a:endParaRPr>
                    </a:p>
                    <a:p>
                      <a:pPr marL="228600" indent="-228600">
                        <a:buFont typeface="+mj-lt"/>
                        <a:buAutoNum type="arabicPeriod"/>
                      </a:pPr>
                      <a:r>
                        <a:rPr lang="en-US" sz="1200" i="0" kern="1200" baseline="0" dirty="0" smtClean="0">
                          <a:solidFill>
                            <a:schemeClr val="tx1"/>
                          </a:solidFill>
                          <a:latin typeface="+mn-lt"/>
                          <a:ea typeface="+mn-ea"/>
                          <a:cs typeface="+mn-cs"/>
                        </a:rPr>
                        <a:t>Use your best judgment in answering clarifying questions about GB and HD. You can think of GB as being similar to Burger King or McDonalds, and HD as being similar to Dunkin Donuts. </a:t>
                      </a:r>
                    </a:p>
                    <a:p>
                      <a:pPr marL="228600" indent="-228600">
                        <a:buFont typeface="+mj-lt"/>
                        <a:buAutoNum type="arabicPeriod"/>
                      </a:pPr>
                      <a:r>
                        <a:rPr lang="en-US" sz="1200" i="0" kern="1200" baseline="0" dirty="0" smtClean="0">
                          <a:solidFill>
                            <a:schemeClr val="tx1"/>
                          </a:solidFill>
                          <a:latin typeface="+mn-lt"/>
                          <a:ea typeface="+mn-ea"/>
                          <a:cs typeface="+mn-cs"/>
                        </a:rPr>
                        <a:t>If the candidate asks to quantify GB’s objective (increased profitability), say that GB does not have a specific number in mind, and that they are open to your suggestions.</a:t>
                      </a:r>
                    </a:p>
                    <a:p>
                      <a:pPr marL="228600" indent="-228600">
                        <a:buFont typeface="+mj-lt"/>
                        <a:buAutoNum type="arabicPeriod"/>
                      </a:pPr>
                      <a:r>
                        <a:rPr lang="en-US" sz="1200" i="0" kern="1200" baseline="0" dirty="0" smtClean="0">
                          <a:solidFill>
                            <a:schemeClr val="tx1"/>
                          </a:solidFill>
                          <a:latin typeface="+mn-lt"/>
                          <a:ea typeface="+mn-ea"/>
                          <a:cs typeface="+mn-cs"/>
                        </a:rPr>
                        <a:t>The candidate will likely develop a framework that compares the purchase price for HD with the future profitability from acquiring HD. This is a good approach, but we will not end up getting into the details of purchase price. </a:t>
                      </a:r>
                      <a:r>
                        <a:rPr lang="en-US" sz="1200" b="1" i="0" kern="1200" baseline="0" dirty="0" smtClean="0">
                          <a:solidFill>
                            <a:schemeClr val="tx1"/>
                          </a:solidFill>
                          <a:latin typeface="+mn-lt"/>
                          <a:ea typeface="+mn-ea"/>
                          <a:cs typeface="+mn-cs"/>
                        </a:rPr>
                        <a:t>This is NOT a valuation case.</a:t>
                      </a:r>
                    </a:p>
                    <a:p>
                      <a:pPr marL="228600" indent="-228600">
                        <a:buFont typeface="+mj-lt"/>
                        <a:buAutoNum type="arabicPeriod"/>
                      </a:pPr>
                      <a:r>
                        <a:rPr lang="en-US" sz="1200" i="0" kern="1200" baseline="0" dirty="0" smtClean="0">
                          <a:solidFill>
                            <a:schemeClr val="tx1"/>
                          </a:solidFill>
                          <a:latin typeface="+mn-lt"/>
                          <a:ea typeface="+mn-ea"/>
                          <a:cs typeface="+mn-cs"/>
                        </a:rPr>
                        <a:t>If the candidate asks for numbers right away, tell him/her that we will get to the numbers eventually, but to build a framework without specific numbers (prices, volume, costs, etc.)</a:t>
                      </a:r>
                    </a:p>
                    <a:p>
                      <a:pPr marL="228600" indent="-228600">
                        <a:buFont typeface="+mj-lt"/>
                        <a:buAutoNum type="arabicPeriod"/>
                      </a:pPr>
                      <a:r>
                        <a:rPr lang="en-US" sz="1200" i="0" kern="1200" baseline="0" dirty="0" smtClean="0">
                          <a:solidFill>
                            <a:schemeClr val="tx1"/>
                          </a:solidFill>
                          <a:latin typeface="+mn-lt"/>
                          <a:ea typeface="+mn-ea"/>
                          <a:cs typeface="+mn-cs"/>
                        </a:rPr>
                        <a:t>Evaluate the candidate’s framework, and make sure he/she has included some form of a profit tree, with appropriate details for a fast food chain. </a:t>
                      </a:r>
                    </a:p>
                    <a:p>
                      <a:pPr marL="0" indent="0">
                        <a:buFont typeface="+mj-lt"/>
                        <a:buNone/>
                      </a:pPr>
                      <a:r>
                        <a:rPr lang="en-US" sz="1200" b="1" i="0" kern="1200" baseline="0" dirty="0" smtClean="0">
                          <a:solidFill>
                            <a:schemeClr val="tx1"/>
                          </a:solidFill>
                          <a:latin typeface="+mn-lt"/>
                          <a:ea typeface="+mn-ea"/>
                          <a:cs typeface="+mn-cs"/>
                        </a:rPr>
                        <a:t>If the candidate does not mention synergies, push him/her to include synergies in the “other” bucket; the first question will focus on potential synergies of this acquisition!</a:t>
                      </a:r>
                      <a:endParaRPr lang="en-US" sz="1200" i="0" kern="1200" dirty="0" smtClean="0">
                        <a:solidFill>
                          <a:schemeClr val="tx1"/>
                        </a:solidFill>
                        <a:latin typeface="+mn-lt"/>
                        <a:ea typeface="+mn-ea"/>
                        <a:cs typeface="+mn-cs"/>
                      </a:endParaRPr>
                    </a:p>
                  </a:txBody>
                  <a:tcPr marT="45734" marB="45734"/>
                </a:tc>
              </a:tr>
            </a:tbl>
          </a:graphicData>
        </a:graphic>
      </p:graphicFrame>
      <p:sp>
        <p:nvSpPr>
          <p:cNvPr id="8"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9: Great Burger</a:t>
            </a:r>
            <a:endParaRPr lang="en-US"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69</a:t>
            </a:fld>
            <a:endParaRPr lang="en-US" dirty="0"/>
          </a:p>
        </p:txBody>
      </p:sp>
    </p:spTree>
    <p:extLst>
      <p:ext uri="{BB962C8B-B14F-4D97-AF65-F5344CB8AC3E}">
        <p14:creationId xmlns:p14="http://schemas.microsoft.com/office/powerpoint/2010/main" val="4245078673"/>
      </p:ext>
    </p:extLst>
  </p:cSld>
  <p:clrMapOvr>
    <a:masterClrMapping/>
  </p:clrMapOvr>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101"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4246832714"/>
              </p:ext>
            </p:extLst>
          </p:nvPr>
        </p:nvGraphicFramePr>
        <p:xfrm>
          <a:off x="304800" y="1371600"/>
          <a:ext cx="8534400" cy="5121275"/>
        </p:xfrm>
        <a:graphic>
          <a:graphicData uri="http://schemas.openxmlformats.org/drawingml/2006/table">
            <a:tbl>
              <a:tblPr firstRow="1" bandRow="1">
                <a:tableStyleId>{616DA210-FB5B-4158-B5E0-FEB733F419BA}</a:tableStyleId>
              </a:tblPr>
              <a:tblGrid>
                <a:gridCol w="1600200"/>
                <a:gridCol w="6934200"/>
              </a:tblGrid>
              <a:tr h="1188882">
                <a:tc>
                  <a:txBody>
                    <a:bodyPr/>
                    <a:lstStyle/>
                    <a:p>
                      <a:pPr algn="ctr"/>
                      <a:r>
                        <a:rPr lang="en-US" sz="1800" dirty="0" smtClean="0">
                          <a:latin typeface="+mn-lt"/>
                        </a:rPr>
                        <a:t>Prompt</a:t>
                      </a:r>
                      <a:r>
                        <a:rPr lang="en-US" sz="1800" baseline="0" dirty="0" smtClean="0">
                          <a:latin typeface="+mn-lt"/>
                        </a:rPr>
                        <a:t> #2</a:t>
                      </a:r>
                      <a:endParaRPr lang="en-US" sz="1800" dirty="0">
                        <a:latin typeface="+mn-lt"/>
                      </a:endParaRPr>
                    </a:p>
                  </a:txBody>
                  <a:tcPr marT="45739" marB="45739" anchor="ctr"/>
                </a:tc>
                <a:tc>
                  <a:txBody>
                    <a:bodyPr/>
                    <a:lstStyle/>
                    <a:p>
                      <a:r>
                        <a:rPr lang="en-US" sz="1200" b="0" kern="1200" dirty="0" smtClean="0">
                          <a:latin typeface="+mn-lt"/>
                        </a:rPr>
                        <a:t>We started thinking about potential synergies that could be achieved by acquiring</a:t>
                      </a:r>
                      <a:r>
                        <a:rPr lang="en-US" sz="1200" b="0" kern="1200" baseline="0" dirty="0" smtClean="0">
                          <a:latin typeface="+mn-lt"/>
                        </a:rPr>
                        <a:t> HD. Here are some key facts. </a:t>
                      </a:r>
                    </a:p>
                    <a:p>
                      <a:endParaRPr lang="en-US" sz="1200" b="0" kern="1200" baseline="0" dirty="0" smtClean="0">
                        <a:latin typeface="+mn-lt"/>
                      </a:endParaRPr>
                    </a:p>
                    <a:p>
                      <a:r>
                        <a:rPr lang="en-US" sz="1200" b="1" i="1" kern="1200" baseline="0" dirty="0" smtClean="0">
                          <a:latin typeface="+mn-lt"/>
                        </a:rPr>
                        <a:t>Give candidate the Exhibit #1.</a:t>
                      </a:r>
                      <a:endParaRPr lang="en-US" sz="1200" b="1" i="1" kern="1200" baseline="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What are some potential synergies you can think of between GB and HD?</a:t>
                      </a:r>
                      <a:endParaRPr lang="en-US" sz="1200" b="1" i="0" kern="1200" dirty="0" smtClean="0">
                        <a:solidFill>
                          <a:schemeClr val="tx1"/>
                        </a:solidFill>
                        <a:latin typeface="+mn-lt"/>
                        <a:ea typeface="+mn-ea"/>
                        <a:cs typeface="+mn-cs"/>
                      </a:endParaRPr>
                    </a:p>
                  </a:txBody>
                  <a:tcPr marT="45739" marB="45739"/>
                </a:tc>
              </a:tr>
              <a:tr h="3932393">
                <a:tc>
                  <a:txBody>
                    <a:bodyPr/>
                    <a:lstStyle/>
                    <a:p>
                      <a:pPr algn="ctr"/>
                      <a:r>
                        <a:rPr lang="en-US" sz="1800" b="1" dirty="0" smtClean="0">
                          <a:latin typeface="+mn-lt"/>
                        </a:rPr>
                        <a:t>Guidance</a:t>
                      </a:r>
                      <a:endParaRPr lang="en-US" sz="1800" b="1" baseline="0" dirty="0" smtClean="0">
                        <a:latin typeface="+mn-lt"/>
                      </a:endParaRPr>
                    </a:p>
                  </a:txBody>
                  <a:tcPr marT="45739" marB="45739" anchor="ctr"/>
                </a:tc>
                <a:tc>
                  <a:txBody>
                    <a:bodyPr/>
                    <a:lstStyle/>
                    <a:p>
                      <a:r>
                        <a:rPr lang="en-US" sz="1200" i="0" kern="1200" dirty="0" smtClean="0">
                          <a:solidFill>
                            <a:schemeClr val="tx1"/>
                          </a:solidFill>
                          <a:latin typeface="+mn-lt"/>
                          <a:ea typeface="+mn-ea"/>
                          <a:cs typeface="+mn-cs"/>
                        </a:rPr>
                        <a:t>This is the brainstorming</a:t>
                      </a:r>
                      <a:r>
                        <a:rPr lang="en-US" sz="1200" i="0" kern="1200" baseline="0" dirty="0" smtClean="0">
                          <a:solidFill>
                            <a:schemeClr val="tx1"/>
                          </a:solidFill>
                          <a:latin typeface="+mn-lt"/>
                          <a:ea typeface="+mn-ea"/>
                          <a:cs typeface="+mn-cs"/>
                        </a:rPr>
                        <a:t> question. Ideally, the candidate will use his/her framework to evaluate the exhibit, and will place potential synergies in “buckets” associated with his/her framework. </a:t>
                      </a:r>
                    </a:p>
                    <a:p>
                      <a:endParaRPr lang="en-US" sz="1200" i="0" kern="1200" baseline="0" dirty="0" smtClean="0">
                        <a:solidFill>
                          <a:schemeClr val="tx1"/>
                        </a:solidFill>
                        <a:latin typeface="+mn-lt"/>
                        <a:ea typeface="+mn-ea"/>
                        <a:cs typeface="+mn-cs"/>
                      </a:endParaRPr>
                    </a:p>
                    <a:p>
                      <a:pPr marL="228600" indent="-228600">
                        <a:buFont typeface="+mj-lt"/>
                        <a:buAutoNum type="arabicPeriod"/>
                      </a:pPr>
                      <a:r>
                        <a:rPr lang="en-US" sz="1200" i="0" kern="1200" baseline="0" dirty="0" smtClean="0">
                          <a:solidFill>
                            <a:schemeClr val="tx1"/>
                          </a:solidFill>
                          <a:latin typeface="+mn-lt"/>
                          <a:ea typeface="+mn-ea"/>
                          <a:cs typeface="+mn-cs"/>
                        </a:rPr>
                        <a:t>If candidate is struggling initially, you can say that a synergy is an area where additional benefits can be captured, over and above the sum of the two companies, such as cost savings or additional revenue.</a:t>
                      </a:r>
                    </a:p>
                    <a:p>
                      <a:pPr marL="0" indent="0">
                        <a:buFont typeface="+mj-lt"/>
                        <a:buNone/>
                      </a:pPr>
                      <a:endParaRPr lang="en-US" sz="1200" i="0" kern="1200" baseline="0" dirty="0" smtClean="0">
                        <a:solidFill>
                          <a:schemeClr val="tx1"/>
                        </a:solidFill>
                        <a:latin typeface="+mn-lt"/>
                        <a:ea typeface="+mn-ea"/>
                        <a:cs typeface="+mn-cs"/>
                      </a:endParaRPr>
                    </a:p>
                    <a:p>
                      <a:pPr marL="228600" indent="-228600">
                        <a:buFont typeface="+mj-lt"/>
                        <a:buAutoNum type="arabicPeriod" startAt="2"/>
                      </a:pPr>
                      <a:r>
                        <a:rPr lang="en-US" sz="1200" i="0" kern="1200" baseline="0" dirty="0" smtClean="0">
                          <a:solidFill>
                            <a:schemeClr val="tx1"/>
                          </a:solidFill>
                          <a:latin typeface="+mn-lt"/>
                          <a:ea typeface="+mn-ea"/>
                          <a:cs typeface="+mn-cs"/>
                        </a:rPr>
                        <a:t>A good answer should include:</a:t>
                      </a:r>
                    </a:p>
                    <a:p>
                      <a:pPr marL="450850" indent="-228600">
                        <a:buAutoNum type="alphaLcParenR"/>
                      </a:pPr>
                      <a:r>
                        <a:rPr lang="en-US" sz="1200" i="0" kern="1200" baseline="0" dirty="0" smtClean="0">
                          <a:solidFill>
                            <a:schemeClr val="tx1"/>
                          </a:solidFill>
                          <a:latin typeface="+mn-lt"/>
                          <a:ea typeface="+mn-ea"/>
                          <a:cs typeface="+mn-cs"/>
                        </a:rPr>
                        <a:t>Increased bargaining power with suppliers (cost of sales)</a:t>
                      </a:r>
                    </a:p>
                    <a:p>
                      <a:pPr marL="450850" indent="-228600">
                        <a:buAutoNum type="alphaLcParenR"/>
                      </a:pPr>
                      <a:r>
                        <a:rPr lang="en-US" sz="1200" i="0" kern="1200" baseline="0" dirty="0" smtClean="0">
                          <a:solidFill>
                            <a:schemeClr val="tx1"/>
                          </a:solidFill>
                          <a:latin typeface="+mn-lt"/>
                          <a:ea typeface="+mn-ea"/>
                          <a:cs typeface="+mn-cs"/>
                        </a:rPr>
                        <a:t>Potential reduction in Corporate G&amp;A costs by integrating corporate management</a:t>
                      </a:r>
                    </a:p>
                    <a:p>
                      <a:pPr marL="450850" indent="-228600">
                        <a:buAutoNum type="alphaLcParenR"/>
                      </a:pPr>
                      <a:r>
                        <a:rPr lang="en-US" sz="1200" i="0" kern="1200" baseline="0" dirty="0" smtClean="0">
                          <a:solidFill>
                            <a:schemeClr val="tx1"/>
                          </a:solidFill>
                          <a:latin typeface="+mn-lt"/>
                          <a:ea typeface="+mn-ea"/>
                          <a:cs typeface="+mn-cs"/>
                        </a:rPr>
                        <a:t>Increased HD sales per store (GB seems to be better at identifying attractive locations for restaurants, as its sales per store are higher than the industry average)</a:t>
                      </a:r>
                    </a:p>
                    <a:p>
                      <a:pPr marL="450850" indent="-228600">
                        <a:buAutoNum type="alphaLcParenR"/>
                      </a:pPr>
                      <a:r>
                        <a:rPr lang="en-US" sz="1200" i="0" kern="1200" baseline="0" dirty="0" smtClean="0">
                          <a:solidFill>
                            <a:schemeClr val="tx1"/>
                          </a:solidFill>
                          <a:latin typeface="+mn-lt"/>
                          <a:ea typeface="+mn-ea"/>
                          <a:cs typeface="+mn-cs"/>
                        </a:rPr>
                        <a:t>Market entry in specific geographical areas (HD has limited presence in Europe, and no presence in Asia; GB could help them enter these markets)</a:t>
                      </a:r>
                    </a:p>
                    <a:p>
                      <a:pPr marL="450850" indent="-228600">
                        <a:buAutoNum type="alphaLcParenR"/>
                      </a:pPr>
                      <a:r>
                        <a:rPr lang="en-US" sz="1200" i="0" kern="1200" baseline="0" dirty="0" smtClean="0">
                          <a:solidFill>
                            <a:schemeClr val="tx1"/>
                          </a:solidFill>
                          <a:latin typeface="+mn-lt"/>
                          <a:ea typeface="+mn-ea"/>
                          <a:cs typeface="+mn-cs"/>
                        </a:rPr>
                        <a:t>Co-branding (similar to combination Pizza Hut and Taco Bell)</a:t>
                      </a:r>
                    </a:p>
                    <a:p>
                      <a:pPr marL="450850" indent="-228600">
                        <a:buAutoNum type="alphaLcParenR"/>
                      </a:pPr>
                      <a:r>
                        <a:rPr lang="en-US" sz="1200" i="0" kern="1200" baseline="0" dirty="0" smtClean="0">
                          <a:solidFill>
                            <a:schemeClr val="tx1"/>
                          </a:solidFill>
                          <a:latin typeface="+mn-lt"/>
                          <a:ea typeface="+mn-ea"/>
                          <a:cs typeface="+mn-cs"/>
                        </a:rPr>
                        <a:t>Opportunity to cross sell (for example, sell HD donuts in a GB restaurant)</a:t>
                      </a:r>
                    </a:p>
                    <a:p>
                      <a:pPr marL="228600" indent="-228600">
                        <a:buAutoNum type="alphaLcParenR"/>
                      </a:pPr>
                      <a:endParaRPr lang="en-US" sz="1200" i="0" kern="1200" baseline="0" dirty="0" smtClean="0">
                        <a:solidFill>
                          <a:schemeClr val="tx1"/>
                        </a:solidFill>
                        <a:latin typeface="+mn-lt"/>
                        <a:ea typeface="+mn-ea"/>
                        <a:cs typeface="+mn-cs"/>
                      </a:endParaRPr>
                    </a:p>
                    <a:p>
                      <a:pPr marL="0" indent="0">
                        <a:buNone/>
                      </a:pPr>
                      <a:r>
                        <a:rPr lang="en-US" sz="1200" i="0" kern="1200" baseline="0" dirty="0" smtClean="0">
                          <a:solidFill>
                            <a:schemeClr val="tx1"/>
                          </a:solidFill>
                          <a:latin typeface="+mn-lt"/>
                          <a:ea typeface="+mn-ea"/>
                          <a:cs typeface="+mn-cs"/>
                        </a:rPr>
                        <a:t>A strong candidate will come up with the majority of these on their own.  If not, coach him/her to come up with most of these answers before moving on to the next question.  “What else?” is a classic McKinsey interview question</a:t>
                      </a:r>
                    </a:p>
                    <a:p>
                      <a:endParaRPr lang="en-US" sz="1200" i="0" kern="1200" dirty="0" smtClean="0">
                        <a:solidFill>
                          <a:schemeClr val="tx1"/>
                        </a:solidFill>
                        <a:latin typeface="+mn-lt"/>
                        <a:ea typeface="+mn-ea"/>
                        <a:cs typeface="+mn-cs"/>
                      </a:endParaRPr>
                    </a:p>
                  </a:txBody>
                  <a:tcPr marT="45739" marB="45739"/>
                </a:tc>
              </a:tr>
            </a:tbl>
          </a:graphicData>
        </a:graphic>
      </p:graphicFrame>
      <p:sp>
        <p:nvSpPr>
          <p:cNvPr id="8"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9: Great Burger</a:t>
            </a:r>
            <a:endParaRPr lang="en-US"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70</a:t>
            </a:fld>
            <a:endParaRPr lang="en-US" dirty="0"/>
          </a:p>
        </p:txBody>
      </p:sp>
    </p:spTree>
    <p:extLst>
      <p:ext uri="{BB962C8B-B14F-4D97-AF65-F5344CB8AC3E}">
        <p14:creationId xmlns:p14="http://schemas.microsoft.com/office/powerpoint/2010/main" val="2815086386"/>
      </p:ext>
    </p:extLst>
  </p:cSld>
  <p:clrMapOvr>
    <a:masterClrMapping/>
  </p:clrMapOvr>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C:\Users\Dave\Desktop\Great burger.jpg"/>
          <p:cNvPicPr>
            <a:picLocks noChangeAspect="1" noChangeArrowheads="1"/>
          </p:cNvPicPr>
          <p:nvPr/>
        </p:nvPicPr>
        <p:blipFill>
          <a:blip r:embed="rId2">
            <a:extLst>
              <a:ext uri="{28A0092B-C50C-407E-A947-70E740481C1C}">
                <a14:useLocalDpi xmlns:a14="http://schemas.microsoft.com/office/drawing/2010/main" val="0"/>
              </a:ext>
            </a:extLst>
          </a:blip>
          <a:srcRect l="7578" t="17513" r="11684" b="29752"/>
          <a:stretch>
            <a:fillRect/>
          </a:stretch>
        </p:blipFill>
        <p:spPr bwMode="auto">
          <a:xfrm>
            <a:off x="1080655" y="914399"/>
            <a:ext cx="7017615" cy="540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
          <p:cNvSpPr txBox="1">
            <a:spLocks noChangeArrowheads="1"/>
          </p:cNvSpPr>
          <p:nvPr/>
        </p:nvSpPr>
        <p:spPr bwMode="auto">
          <a:xfrm>
            <a:off x="2043545" y="500610"/>
            <a:ext cx="5514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1</a:t>
            </a:r>
            <a:r>
              <a:rPr lang="en-US" sz="1800" b="1" dirty="0" smtClean="0"/>
              <a:t>: Financial Comparisons</a:t>
            </a:r>
            <a:endParaRPr lang="en-US" sz="1800"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71</a:t>
            </a:fld>
            <a:endParaRPr lang="en-US" dirty="0"/>
          </a:p>
        </p:txBody>
      </p:sp>
    </p:spTree>
    <p:extLst>
      <p:ext uri="{BB962C8B-B14F-4D97-AF65-F5344CB8AC3E}">
        <p14:creationId xmlns:p14="http://schemas.microsoft.com/office/powerpoint/2010/main" val="534990004"/>
      </p:ext>
    </p:extLst>
  </p:cSld>
  <p:clrMapOvr>
    <a:masterClrMapping/>
  </p:clrMapOvr>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14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819383359"/>
              </p:ext>
            </p:extLst>
          </p:nvPr>
        </p:nvGraphicFramePr>
        <p:xfrm>
          <a:off x="304800" y="1289050"/>
          <a:ext cx="8534400" cy="5208732"/>
        </p:xfrm>
        <a:graphic>
          <a:graphicData uri="http://schemas.openxmlformats.org/drawingml/2006/table">
            <a:tbl>
              <a:tblPr firstRow="1" bandRow="1">
                <a:tableStyleId>{616DA210-FB5B-4158-B5E0-FEB733F419BA}</a:tableStyleId>
              </a:tblPr>
              <a:tblGrid>
                <a:gridCol w="1600200"/>
                <a:gridCol w="6934200"/>
              </a:tblGrid>
              <a:tr h="1554492">
                <a:tc>
                  <a:txBody>
                    <a:bodyPr/>
                    <a:lstStyle/>
                    <a:p>
                      <a:pPr algn="ctr"/>
                      <a:r>
                        <a:rPr lang="en-US" sz="1800" dirty="0" smtClean="0">
                          <a:latin typeface="+mn-lt"/>
                        </a:rPr>
                        <a:t>Prompt</a:t>
                      </a:r>
                      <a:r>
                        <a:rPr lang="en-US" sz="1800" baseline="0" dirty="0" smtClean="0">
                          <a:latin typeface="+mn-lt"/>
                        </a:rPr>
                        <a:t> #3</a:t>
                      </a:r>
                      <a:endParaRPr lang="en-US" sz="1800" dirty="0">
                        <a:latin typeface="+mn-lt"/>
                      </a:endParaRPr>
                    </a:p>
                  </a:txBody>
                  <a:tcPr marT="45734" marB="45734" anchor="ctr"/>
                </a:tc>
                <a:tc>
                  <a:txBody>
                    <a:bodyPr/>
                    <a:lstStyle/>
                    <a:p>
                      <a:r>
                        <a:rPr lang="en-US" sz="1200" b="0" dirty="0" smtClean="0"/>
                        <a:t>The team thinks that with synergies, it should be possible to double HD’s North</a:t>
                      </a:r>
                      <a:r>
                        <a:rPr lang="en-US" sz="1200" b="0" baseline="0" dirty="0" smtClean="0"/>
                        <a:t> American</a:t>
                      </a:r>
                      <a:r>
                        <a:rPr lang="en-US" sz="1200" b="0" dirty="0" smtClean="0"/>
                        <a:t> market share in the next 5 years, and that GB’s access to capital will allow it to expand the number of HD stores by 150%. </a:t>
                      </a:r>
                      <a:r>
                        <a:rPr lang="en-US" sz="1200" b="1" dirty="0" smtClean="0"/>
                        <a:t>What sales per store will HD need in 5 years in order for GB to achieve these goals?</a:t>
                      </a:r>
                    </a:p>
                    <a:p>
                      <a:endParaRPr lang="en-US" sz="1200" b="0" dirty="0" smtClean="0"/>
                    </a:p>
                    <a:p>
                      <a:r>
                        <a:rPr lang="en-US" sz="1200" b="0" dirty="0" smtClean="0"/>
                        <a:t>You should note</a:t>
                      </a:r>
                      <a:r>
                        <a:rPr lang="en-US" sz="1200" b="0" baseline="0" dirty="0" smtClean="0"/>
                        <a:t> that current average N.A. consumption of donuts is $10.00 per person per year, and that in five years, this is expected to double to $20.00 per person per year.</a:t>
                      </a:r>
                    </a:p>
                    <a:p>
                      <a:endParaRPr lang="en-US" sz="1200" b="0" baseline="0" dirty="0" smtClean="0"/>
                    </a:p>
                    <a:p>
                      <a:r>
                        <a:rPr lang="en-US" sz="1200" b="0" baseline="0" dirty="0" smtClean="0"/>
                        <a:t>The candidate should assume the North American population is 350 million.</a:t>
                      </a:r>
                      <a:endParaRPr lang="en-US" sz="1200" b="0" dirty="0" smtClean="0"/>
                    </a:p>
                  </a:txBody>
                  <a:tcPr marT="45734" marB="45734"/>
                </a:tc>
              </a:tr>
              <a:tr h="3471344">
                <a:tc>
                  <a:txBody>
                    <a:bodyPr/>
                    <a:lstStyle/>
                    <a:p>
                      <a:pPr algn="ctr"/>
                      <a:r>
                        <a:rPr lang="en-US" sz="1800" b="1" dirty="0" smtClean="0">
                          <a:latin typeface="+mn-lt"/>
                        </a:rPr>
                        <a:t>Guidance</a:t>
                      </a:r>
                      <a:endParaRPr lang="en-US" sz="1800" b="1" baseline="0" dirty="0" smtClean="0">
                        <a:latin typeface="+mn-lt"/>
                      </a:endParaRPr>
                    </a:p>
                  </a:txBody>
                  <a:tcPr marT="45734" marB="45734" anchor="ctr"/>
                </a:tc>
                <a:tc>
                  <a:txBody>
                    <a:bodyPr/>
                    <a:lstStyle/>
                    <a:p>
                      <a:r>
                        <a:rPr lang="en-US" sz="1200" i="0" kern="1200" dirty="0" smtClean="0">
                          <a:solidFill>
                            <a:schemeClr val="tx1"/>
                          </a:solidFill>
                          <a:latin typeface="+mn-lt"/>
                          <a:ea typeface="+mn-ea"/>
                          <a:cs typeface="+mn-cs"/>
                        </a:rPr>
                        <a:t>This is a classic</a:t>
                      </a:r>
                      <a:r>
                        <a:rPr lang="en-US" sz="1200" i="0" kern="1200" baseline="0" dirty="0" smtClean="0">
                          <a:solidFill>
                            <a:schemeClr val="tx1"/>
                          </a:solidFill>
                          <a:latin typeface="+mn-lt"/>
                          <a:ea typeface="+mn-ea"/>
                          <a:cs typeface="+mn-cs"/>
                        </a:rPr>
                        <a:t> McKinsey style word problem, that forces the candidate to use numbers from the exhibit, and form an equation (for current sales and market share) and then make a second equation based on what the market will look like in 5 years. </a:t>
                      </a:r>
                    </a:p>
                    <a:p>
                      <a:endParaRPr lang="en-US" sz="1200" i="0" kern="1200" baseline="0" dirty="0" smtClean="0">
                        <a:solidFill>
                          <a:schemeClr val="tx1"/>
                        </a:solidFill>
                        <a:latin typeface="+mn-lt"/>
                        <a:ea typeface="+mn-ea"/>
                        <a:cs typeface="+mn-cs"/>
                      </a:endParaRPr>
                    </a:p>
                    <a:p>
                      <a:r>
                        <a:rPr lang="en-US" sz="1200" i="0" kern="1200" baseline="0" dirty="0" smtClean="0">
                          <a:solidFill>
                            <a:schemeClr val="tx1"/>
                          </a:solidFill>
                          <a:latin typeface="+mn-lt"/>
                          <a:ea typeface="+mn-ea"/>
                          <a:cs typeface="+mn-cs"/>
                        </a:rPr>
                        <a:t>If the candidate is absolutely lost, restate the question (in bold above) and ask the candidate how he or she would like to approach the problem.</a:t>
                      </a:r>
                    </a:p>
                    <a:p>
                      <a:endParaRPr lang="en-US" sz="1200" i="0" kern="1200" baseline="0" dirty="0" smtClean="0">
                        <a:solidFill>
                          <a:schemeClr val="tx1"/>
                        </a:solidFill>
                        <a:latin typeface="+mn-lt"/>
                        <a:ea typeface="+mn-ea"/>
                        <a:cs typeface="+mn-cs"/>
                      </a:endParaRPr>
                    </a:p>
                    <a:p>
                      <a:r>
                        <a:rPr lang="en-US" sz="1200" i="0" kern="1200" baseline="0" dirty="0" smtClean="0">
                          <a:solidFill>
                            <a:schemeClr val="tx1"/>
                          </a:solidFill>
                          <a:latin typeface="+mn-lt"/>
                          <a:ea typeface="+mn-ea"/>
                          <a:cs typeface="+mn-cs"/>
                        </a:rPr>
                        <a:t>It should look something like:</a:t>
                      </a:r>
                    </a:p>
                    <a:p>
                      <a:pPr marL="228600" indent="-228600">
                        <a:buAutoNum type="alphaLcParenR"/>
                      </a:pPr>
                      <a:r>
                        <a:rPr lang="en-US" sz="1200" i="0" kern="1200" baseline="0" dirty="0" smtClean="0">
                          <a:solidFill>
                            <a:schemeClr val="tx1"/>
                          </a:solidFill>
                          <a:latin typeface="+mn-lt"/>
                          <a:ea typeface="+mn-ea"/>
                          <a:cs typeface="+mn-cs"/>
                        </a:rPr>
                        <a:t>The current market is (350 million x $10.00) = $3.5 billion</a:t>
                      </a:r>
                    </a:p>
                    <a:p>
                      <a:pPr marL="228600" indent="-228600">
                        <a:buAutoNum type="alphaLcParenR"/>
                      </a:pPr>
                      <a:r>
                        <a:rPr lang="en-US" sz="1200" i="0" kern="1200" baseline="0" dirty="0" smtClean="0">
                          <a:solidFill>
                            <a:schemeClr val="tx1"/>
                          </a:solidFill>
                          <a:latin typeface="+mn-lt"/>
                          <a:ea typeface="+mn-ea"/>
                          <a:cs typeface="+mn-cs"/>
                        </a:rPr>
                        <a:t>HD’s average sales per store is $700,000, times 1000 stores = $700 million</a:t>
                      </a:r>
                    </a:p>
                    <a:p>
                      <a:pPr marL="228600" indent="-228600">
                        <a:buAutoNum type="alphaLcParenR"/>
                      </a:pPr>
                      <a:r>
                        <a:rPr lang="en-US" sz="1200" i="0" kern="1200" baseline="0" dirty="0" smtClean="0">
                          <a:solidFill>
                            <a:schemeClr val="tx1"/>
                          </a:solidFill>
                          <a:latin typeface="+mn-lt"/>
                          <a:ea typeface="+mn-ea"/>
                          <a:cs typeface="+mn-cs"/>
                        </a:rPr>
                        <a:t>By dividing 700 million by $3.5 billion, current market share is ROUGHLY 20%</a:t>
                      </a:r>
                    </a:p>
                    <a:p>
                      <a:pPr marL="228600" indent="-228600">
                        <a:buAutoNum type="alphaLcParenR"/>
                      </a:pPr>
                      <a:r>
                        <a:rPr lang="en-US" sz="1200" i="0" kern="1200" baseline="0" dirty="0" smtClean="0">
                          <a:solidFill>
                            <a:schemeClr val="tx1"/>
                          </a:solidFill>
                          <a:latin typeface="+mn-lt"/>
                          <a:ea typeface="+mn-ea"/>
                          <a:cs typeface="+mn-cs"/>
                        </a:rPr>
                        <a:t>If the market is expected to double, in 5 years the total U.S. market will be $7 billion</a:t>
                      </a:r>
                    </a:p>
                    <a:p>
                      <a:pPr marL="228600" indent="-228600">
                        <a:buAutoNum type="alphaLcParenR"/>
                      </a:pPr>
                      <a:r>
                        <a:rPr lang="en-US" sz="1200" i="0" kern="1200" baseline="0" dirty="0" smtClean="0">
                          <a:solidFill>
                            <a:schemeClr val="tx1"/>
                          </a:solidFill>
                          <a:latin typeface="+mn-lt"/>
                          <a:ea typeface="+mn-ea"/>
                          <a:cs typeface="+mn-cs"/>
                        </a:rPr>
                        <a:t>If GB is able to double HD’s market share, HD will have roughly 40% of the market ($3 billion)</a:t>
                      </a:r>
                    </a:p>
                    <a:p>
                      <a:pPr marL="228600" indent="-228600">
                        <a:buAutoNum type="alphaLcParenR"/>
                      </a:pPr>
                      <a:r>
                        <a:rPr lang="en-US" sz="1200" i="0" kern="1200" baseline="0" dirty="0" smtClean="0">
                          <a:solidFill>
                            <a:schemeClr val="tx1"/>
                          </a:solidFill>
                          <a:latin typeface="+mn-lt"/>
                          <a:ea typeface="+mn-ea"/>
                          <a:cs typeface="+mn-cs"/>
                        </a:rPr>
                        <a:t>If GB is able to grow the number of HD stores by 150%, in 5 years they will have 2500 stores</a:t>
                      </a:r>
                    </a:p>
                    <a:p>
                      <a:pPr marL="228600" indent="-228600">
                        <a:buAutoNum type="alphaLcParenR"/>
                      </a:pPr>
                      <a:r>
                        <a:rPr lang="en-US" sz="1200" i="0" kern="1200" baseline="0" dirty="0" smtClean="0">
                          <a:solidFill>
                            <a:schemeClr val="tx1"/>
                          </a:solidFill>
                          <a:latin typeface="+mn-lt"/>
                          <a:ea typeface="+mn-ea"/>
                          <a:cs typeface="+mn-cs"/>
                        </a:rPr>
                        <a:t>Dividing $3 billion by 2500 stores, average annual sales per store would be $1.2 million</a:t>
                      </a:r>
                    </a:p>
                    <a:p>
                      <a:pPr marL="228600" indent="-228600">
                        <a:buAutoNum type="alphaLcParenR"/>
                      </a:pPr>
                      <a:endParaRPr lang="en-US" sz="1200" i="0" kern="1200" baseline="0" dirty="0" smtClean="0">
                        <a:solidFill>
                          <a:schemeClr val="tx1"/>
                        </a:solidFill>
                        <a:latin typeface="+mn-lt"/>
                        <a:ea typeface="+mn-ea"/>
                        <a:cs typeface="+mn-cs"/>
                      </a:endParaRPr>
                    </a:p>
                    <a:p>
                      <a:pPr marL="0" indent="0">
                        <a:buNone/>
                      </a:pPr>
                      <a:r>
                        <a:rPr lang="en-US" sz="1200" i="0" kern="1200" baseline="0" dirty="0" smtClean="0">
                          <a:solidFill>
                            <a:schemeClr val="tx1"/>
                          </a:solidFill>
                          <a:latin typeface="+mn-lt"/>
                          <a:ea typeface="+mn-ea"/>
                          <a:cs typeface="+mn-cs"/>
                        </a:rPr>
                        <a:t>Prompt candidate to evaluate if number seems reasonable.  </a:t>
                      </a:r>
                      <a:r>
                        <a:rPr lang="en-US" sz="1200" i="0" kern="1200" dirty="0" smtClean="0">
                          <a:solidFill>
                            <a:schemeClr val="tx1"/>
                          </a:solidFill>
                          <a:latin typeface="+mn-lt"/>
                          <a:ea typeface="+mn-ea"/>
                          <a:cs typeface="+mn-cs"/>
                        </a:rPr>
                        <a:t>This number does seem reasonable, as per store sales</a:t>
                      </a:r>
                      <a:r>
                        <a:rPr lang="en-US" sz="1200" i="0" kern="1200" baseline="0" dirty="0" smtClean="0">
                          <a:solidFill>
                            <a:schemeClr val="tx1"/>
                          </a:solidFill>
                          <a:latin typeface="+mn-lt"/>
                          <a:ea typeface="+mn-ea"/>
                          <a:cs typeface="+mn-cs"/>
                        </a:rPr>
                        <a:t> are less than doubling, while per capita consumption is expected to double.</a:t>
                      </a:r>
                      <a:endParaRPr lang="en-US" sz="1200" i="0" kern="1200" dirty="0" smtClean="0">
                        <a:solidFill>
                          <a:schemeClr val="tx1"/>
                        </a:solidFill>
                        <a:latin typeface="+mn-lt"/>
                        <a:ea typeface="+mn-ea"/>
                        <a:cs typeface="+mn-cs"/>
                      </a:endParaRPr>
                    </a:p>
                  </a:txBody>
                  <a:tcPr marT="45734" marB="45734"/>
                </a:tc>
              </a:tr>
            </a:tbl>
          </a:graphicData>
        </a:graphic>
      </p:graphicFrame>
      <p:sp>
        <p:nvSpPr>
          <p:cNvPr id="10"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9: Great Burger</a:t>
            </a:r>
            <a:endParaRPr lang="en-US"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72</a:t>
            </a:fld>
            <a:endParaRPr lang="en-US" dirty="0"/>
          </a:p>
        </p:txBody>
      </p:sp>
    </p:spTree>
    <p:extLst>
      <p:ext uri="{BB962C8B-B14F-4D97-AF65-F5344CB8AC3E}">
        <p14:creationId xmlns:p14="http://schemas.microsoft.com/office/powerpoint/2010/main" val="1560954696"/>
      </p:ext>
    </p:extLst>
  </p:cSld>
  <p:clrMapOvr>
    <a:masterClrMapping/>
  </p:clrMapOvr>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173"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1551127961"/>
              </p:ext>
            </p:extLst>
          </p:nvPr>
        </p:nvGraphicFramePr>
        <p:xfrm>
          <a:off x="304800" y="1533525"/>
          <a:ext cx="8534400" cy="4135564"/>
        </p:xfrm>
        <a:graphic>
          <a:graphicData uri="http://schemas.openxmlformats.org/drawingml/2006/table">
            <a:tbl>
              <a:tblPr firstRow="1" bandRow="1">
                <a:tableStyleId>{616DA210-FB5B-4158-B5E0-FEB733F419BA}</a:tableStyleId>
              </a:tblPr>
              <a:tblGrid>
                <a:gridCol w="1600200"/>
                <a:gridCol w="6934200"/>
              </a:tblGrid>
              <a:tr h="1118011">
                <a:tc>
                  <a:txBody>
                    <a:bodyPr/>
                    <a:lstStyle/>
                    <a:p>
                      <a:pPr algn="ctr"/>
                      <a:r>
                        <a:rPr lang="en-US" sz="1800" dirty="0" smtClean="0">
                          <a:latin typeface="+mn-lt"/>
                        </a:rPr>
                        <a:t>Prompt</a:t>
                      </a:r>
                      <a:r>
                        <a:rPr lang="en-US" sz="1800" baseline="0" dirty="0" smtClean="0">
                          <a:latin typeface="+mn-lt"/>
                        </a:rPr>
                        <a:t> #4</a:t>
                      </a:r>
                      <a:endParaRPr lang="en-US" sz="1800" dirty="0">
                        <a:latin typeface="+mn-lt"/>
                      </a:endParaRPr>
                    </a:p>
                  </a:txBody>
                  <a:tcPr marT="45737" marB="45737" anchor="ctr"/>
                </a:tc>
                <a:tc>
                  <a:txBody>
                    <a:bodyPr/>
                    <a:lstStyle/>
                    <a:p>
                      <a:r>
                        <a:rPr lang="en-US" sz="1200" b="0" dirty="0" smtClean="0"/>
                        <a:t>Okay great,  let’s move on. One of the key synergies that the team wants</a:t>
                      </a:r>
                      <a:r>
                        <a:rPr lang="en-US" sz="1200" b="0" baseline="0" dirty="0" smtClean="0"/>
                        <a:t> to review is </a:t>
                      </a:r>
                      <a:r>
                        <a:rPr lang="en-US" sz="1200" b="0" dirty="0" smtClean="0"/>
                        <a:t>increasing the businesses’ overall profitability by cross-selling, or selling HD donuts in GB stores. </a:t>
                      </a:r>
                    </a:p>
                    <a:p>
                      <a:endParaRPr lang="en-US" sz="1200" b="0" dirty="0" smtClean="0"/>
                    </a:p>
                    <a:p>
                      <a:r>
                        <a:rPr lang="en-US" sz="1200" b="1" dirty="0" smtClean="0"/>
                        <a:t>How would you assess the profitability impact of this synergy?</a:t>
                      </a:r>
                      <a:r>
                        <a:rPr lang="en-US" sz="1200" b="0" dirty="0" smtClean="0"/>
                        <a:t> </a:t>
                      </a:r>
                    </a:p>
                  </a:txBody>
                  <a:tcPr marT="45737" marB="45737" anchor="ctr"/>
                </a:tc>
              </a:tr>
              <a:tr h="2834864">
                <a:tc>
                  <a:txBody>
                    <a:bodyPr/>
                    <a:lstStyle/>
                    <a:p>
                      <a:pPr algn="ctr"/>
                      <a:r>
                        <a:rPr lang="en-US" sz="1800" b="1" dirty="0" smtClean="0">
                          <a:latin typeface="+mn-lt"/>
                        </a:rPr>
                        <a:t>Guidance</a:t>
                      </a:r>
                      <a:endParaRPr lang="en-US" sz="1800" b="1" baseline="0" dirty="0" smtClean="0">
                        <a:latin typeface="+mn-lt"/>
                      </a:endParaRPr>
                    </a:p>
                  </a:txBody>
                  <a:tcPr marT="45737" marB="45737" anchor="ctr"/>
                </a:tc>
                <a:tc>
                  <a:txBody>
                    <a:bodyPr/>
                    <a:lstStyle/>
                    <a:p>
                      <a:r>
                        <a:rPr lang="en-US" sz="1200" i="0" kern="1200" dirty="0" smtClean="0">
                          <a:solidFill>
                            <a:schemeClr val="tx1"/>
                          </a:solidFill>
                          <a:latin typeface="+mn-lt"/>
                          <a:ea typeface="+mn-ea"/>
                          <a:cs typeface="+mn-cs"/>
                        </a:rPr>
                        <a:t>Here</a:t>
                      </a:r>
                      <a:r>
                        <a:rPr lang="en-US" sz="1200" i="0" kern="1200" baseline="0" dirty="0" smtClean="0">
                          <a:solidFill>
                            <a:schemeClr val="tx1"/>
                          </a:solidFill>
                          <a:latin typeface="+mn-lt"/>
                          <a:ea typeface="+mn-ea"/>
                          <a:cs typeface="+mn-cs"/>
                        </a:rPr>
                        <a:t> we are basically evaluating the ability of the candidate to come up with a “mini framework” off the cuff.  General brainstorming is okay, but encourage candidate to “be more structured in their thinking/analysis”.</a:t>
                      </a:r>
                    </a:p>
                    <a:p>
                      <a:endParaRPr lang="en-US" sz="1200" i="0" kern="1200" baseline="0" dirty="0" smtClean="0">
                        <a:solidFill>
                          <a:schemeClr val="tx1"/>
                        </a:solidFill>
                        <a:latin typeface="+mn-lt"/>
                        <a:ea typeface="+mn-ea"/>
                        <a:cs typeface="+mn-cs"/>
                      </a:endParaRPr>
                    </a:p>
                    <a:p>
                      <a:r>
                        <a:rPr lang="en-US" sz="1200" i="0" kern="1200" baseline="0" dirty="0" smtClean="0">
                          <a:solidFill>
                            <a:schemeClr val="tx1"/>
                          </a:solidFill>
                          <a:latin typeface="+mn-lt"/>
                          <a:ea typeface="+mn-ea"/>
                          <a:cs typeface="+mn-cs"/>
                        </a:rPr>
                        <a:t>A good answer should look something like:</a:t>
                      </a:r>
                    </a:p>
                    <a:p>
                      <a:pPr marL="228600" indent="-228600">
                        <a:buAutoNum type="alphaLcParenR"/>
                      </a:pPr>
                      <a:r>
                        <a:rPr lang="en-US" sz="1200" i="0" kern="1200" baseline="0" dirty="0" smtClean="0">
                          <a:solidFill>
                            <a:schemeClr val="tx1"/>
                          </a:solidFill>
                          <a:latin typeface="+mn-lt"/>
                          <a:ea typeface="+mn-ea"/>
                          <a:cs typeface="+mn-cs"/>
                        </a:rPr>
                        <a:t>Model the current profitability of GB stores (revenue = volume x price, costs = FC + volume x VC) or (current profit = revenue x margin) </a:t>
                      </a:r>
                    </a:p>
                    <a:p>
                      <a:pPr marL="228600" indent="-228600">
                        <a:buAutoNum type="alphaLcParenR"/>
                      </a:pPr>
                      <a:r>
                        <a:rPr lang="en-US" sz="1200" i="0" kern="1200" baseline="0" dirty="0" smtClean="0">
                          <a:solidFill>
                            <a:schemeClr val="tx1"/>
                          </a:solidFill>
                          <a:latin typeface="+mn-lt"/>
                          <a:ea typeface="+mn-ea"/>
                          <a:cs typeface="+mn-cs"/>
                        </a:rPr>
                        <a:t>Model the incremental profit per store by selling HD donuts (similar methods as used above)</a:t>
                      </a:r>
                    </a:p>
                    <a:p>
                      <a:pPr marL="228600" indent="-228600">
                        <a:buAutoNum type="alphaLcParenR"/>
                      </a:pPr>
                      <a:r>
                        <a:rPr lang="en-US" sz="1200" i="0" kern="1200" baseline="0" dirty="0" smtClean="0">
                          <a:solidFill>
                            <a:schemeClr val="tx1"/>
                          </a:solidFill>
                          <a:latin typeface="+mn-lt"/>
                          <a:ea typeface="+mn-ea"/>
                          <a:cs typeface="+mn-cs"/>
                        </a:rPr>
                        <a:t>The potential for cannibalization of current GB sales based on offering HD donuts</a:t>
                      </a:r>
                    </a:p>
                    <a:p>
                      <a:pPr marL="228600" indent="-228600">
                        <a:buAutoNum type="alphaLcParenR"/>
                      </a:pPr>
                      <a:endParaRPr lang="en-US" sz="1200" i="0" kern="1200" baseline="0" dirty="0" smtClean="0">
                        <a:solidFill>
                          <a:schemeClr val="tx1"/>
                        </a:solidFill>
                        <a:latin typeface="+mn-lt"/>
                        <a:ea typeface="+mn-ea"/>
                        <a:cs typeface="+mn-cs"/>
                      </a:endParaRPr>
                    </a:p>
                    <a:p>
                      <a:pPr marL="0" indent="0">
                        <a:buNone/>
                      </a:pPr>
                      <a:r>
                        <a:rPr lang="en-US" sz="1200" i="0" kern="1200" baseline="0" dirty="0" smtClean="0">
                          <a:solidFill>
                            <a:schemeClr val="tx1"/>
                          </a:solidFill>
                          <a:latin typeface="+mn-lt"/>
                          <a:ea typeface="+mn-ea"/>
                          <a:cs typeface="+mn-cs"/>
                        </a:rPr>
                        <a:t>A strong candidate should mention cannibalization of current GB sales (maybe someone buys a donut instead of a breakfast sandwich).  If not, prompt him/her with an open ended question like “Interesting, do you think that GB sales would change at all if they were also selling donuts?”</a:t>
                      </a:r>
                    </a:p>
                    <a:p>
                      <a:pPr marL="0" indent="0">
                        <a:buNone/>
                      </a:pPr>
                      <a:endParaRPr lang="en-US" sz="1200" i="0" kern="1200" baseline="0" dirty="0" smtClean="0">
                        <a:solidFill>
                          <a:schemeClr val="tx1"/>
                        </a:solidFill>
                        <a:latin typeface="+mn-lt"/>
                        <a:ea typeface="+mn-ea"/>
                        <a:cs typeface="+mn-cs"/>
                      </a:endParaRPr>
                    </a:p>
                    <a:p>
                      <a:pPr marL="0" indent="0">
                        <a:buNone/>
                      </a:pPr>
                      <a:r>
                        <a:rPr lang="en-US" sz="1200" i="0" kern="1200" baseline="0" dirty="0" smtClean="0">
                          <a:solidFill>
                            <a:schemeClr val="tx1"/>
                          </a:solidFill>
                          <a:latin typeface="+mn-lt"/>
                          <a:ea typeface="+mn-ea"/>
                          <a:cs typeface="+mn-cs"/>
                        </a:rPr>
                        <a:t>Once the candidate realizes that some degree of cannibalization would probably occur, move on to the next question.</a:t>
                      </a:r>
                    </a:p>
                  </a:txBody>
                  <a:tcPr marT="45737" marB="45737"/>
                </a:tc>
              </a:tr>
            </a:tbl>
          </a:graphicData>
        </a:graphic>
      </p:graphicFrame>
      <p:sp>
        <p:nvSpPr>
          <p:cNvPr id="9"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9: Great Burger</a:t>
            </a:r>
            <a:endParaRPr lang="en-US"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73</a:t>
            </a:fld>
            <a:endParaRPr lang="en-US" dirty="0"/>
          </a:p>
        </p:txBody>
      </p:sp>
    </p:spTree>
    <p:extLst>
      <p:ext uri="{BB962C8B-B14F-4D97-AF65-F5344CB8AC3E}">
        <p14:creationId xmlns:p14="http://schemas.microsoft.com/office/powerpoint/2010/main" val="2430240775"/>
      </p:ext>
    </p:extLst>
  </p:cSld>
  <p:clrMapOvr>
    <a:masterClrMapping/>
  </p:clrMapOvr>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19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2506909928"/>
              </p:ext>
            </p:extLst>
          </p:nvPr>
        </p:nvGraphicFramePr>
        <p:xfrm>
          <a:off x="304800" y="1533525"/>
          <a:ext cx="8534400" cy="4389438"/>
        </p:xfrm>
        <a:graphic>
          <a:graphicData uri="http://schemas.openxmlformats.org/drawingml/2006/table">
            <a:tbl>
              <a:tblPr firstRow="1" bandRow="1">
                <a:tableStyleId>{616DA210-FB5B-4158-B5E0-FEB733F419BA}</a:tableStyleId>
              </a:tblPr>
              <a:tblGrid>
                <a:gridCol w="1600200"/>
                <a:gridCol w="6934200"/>
              </a:tblGrid>
              <a:tr h="1920383">
                <a:tc>
                  <a:txBody>
                    <a:bodyPr/>
                    <a:lstStyle/>
                    <a:p>
                      <a:pPr algn="ctr"/>
                      <a:r>
                        <a:rPr lang="en-US" sz="1800" dirty="0" smtClean="0">
                          <a:latin typeface="+mn-lt"/>
                        </a:rPr>
                        <a:t>Prompt #5</a:t>
                      </a:r>
                      <a:endParaRPr lang="en-US" sz="1800" dirty="0">
                        <a:latin typeface="+mn-lt"/>
                      </a:endParaRPr>
                    </a:p>
                  </a:txBody>
                  <a:tcPr marT="45737" marB="45737" anchor="ctr"/>
                </a:tc>
                <a:tc>
                  <a:txBody>
                    <a:bodyPr/>
                    <a:lstStyle/>
                    <a:p>
                      <a:r>
                        <a:rPr lang="en-US" sz="1200" b="1" dirty="0" smtClean="0"/>
                        <a:t>What would be the incremental profit per store if we think GB will sell 50,000 donuts per store per</a:t>
                      </a:r>
                      <a:r>
                        <a:rPr lang="en-US" sz="1200" b="1" baseline="0" dirty="0" smtClean="0"/>
                        <a:t> year</a:t>
                      </a:r>
                      <a:r>
                        <a:rPr lang="en-US" sz="1200" b="1" dirty="0" smtClean="0"/>
                        <a:t> at a price of $2.00 per donut at a 60 percent margin, with a cannibalization rate of 10 percent of GB’s sales?</a:t>
                      </a:r>
                    </a:p>
                    <a:p>
                      <a:endParaRPr lang="en-US" sz="1200" b="0" dirty="0" smtClean="0"/>
                    </a:p>
                    <a:p>
                      <a:r>
                        <a:rPr lang="en-US" sz="1200" b="0" dirty="0" smtClean="0"/>
                        <a:t>Tell the candidate that</a:t>
                      </a:r>
                      <a:r>
                        <a:rPr lang="en-US" sz="1200" b="0" baseline="0" dirty="0" smtClean="0"/>
                        <a:t> </a:t>
                      </a:r>
                      <a:r>
                        <a:rPr lang="en-US" sz="1200" b="0" dirty="0" smtClean="0"/>
                        <a:t>GB currently sells 300,000 units per store, with an average price per unit of $3.00, and</a:t>
                      </a:r>
                      <a:r>
                        <a:rPr lang="en-US" sz="1200" b="0" baseline="0" dirty="0" smtClean="0"/>
                        <a:t> a 50 percent margin.</a:t>
                      </a:r>
                    </a:p>
                    <a:p>
                      <a:endParaRPr lang="en-US" sz="1200" b="0" baseline="0" dirty="0" smtClean="0"/>
                    </a:p>
                    <a:p>
                      <a:r>
                        <a:rPr lang="en-US" sz="1200" b="0" baseline="0" dirty="0" smtClean="0"/>
                        <a:t>If the candidate is confused with the terminology, explain that a unit could be a burger, or an order of fries, and that the average price of all units sold is $3.00. If this is still unclear, explain that if you bought a $5.00 burger and a $1.00 order of fries, the average unit price would be $3.00</a:t>
                      </a:r>
                      <a:endParaRPr lang="en-US" sz="1200" b="0" dirty="0" smtClean="0"/>
                    </a:p>
                  </a:txBody>
                  <a:tcPr marT="45737" marB="45737"/>
                </a:tc>
              </a:tr>
              <a:tr h="2469055">
                <a:tc>
                  <a:txBody>
                    <a:bodyPr/>
                    <a:lstStyle/>
                    <a:p>
                      <a:pPr algn="ctr"/>
                      <a:r>
                        <a:rPr lang="en-US" sz="1800" b="1" dirty="0" smtClean="0">
                          <a:latin typeface="+mn-lt"/>
                        </a:rPr>
                        <a:t>Guidance</a:t>
                      </a:r>
                      <a:endParaRPr lang="en-US" sz="1800" b="1" baseline="0" dirty="0" smtClean="0">
                        <a:latin typeface="+mn-lt"/>
                      </a:endParaRPr>
                    </a:p>
                  </a:txBody>
                  <a:tcPr marT="45737" marB="45737" anchor="ctr"/>
                </a:tc>
                <a:tc>
                  <a:txBody>
                    <a:bodyPr/>
                    <a:lstStyle/>
                    <a:p>
                      <a:r>
                        <a:rPr lang="en-US" sz="1200" i="0" kern="1200" dirty="0" smtClean="0">
                          <a:solidFill>
                            <a:schemeClr val="tx1"/>
                          </a:solidFill>
                          <a:latin typeface="+mn-lt"/>
                          <a:ea typeface="+mn-ea"/>
                          <a:cs typeface="+mn-cs"/>
                        </a:rPr>
                        <a:t>Compared to the last “word problem” question,</a:t>
                      </a:r>
                      <a:r>
                        <a:rPr lang="en-US" sz="1200" i="0" kern="1200" baseline="0" dirty="0" smtClean="0">
                          <a:solidFill>
                            <a:schemeClr val="tx1"/>
                          </a:solidFill>
                          <a:latin typeface="+mn-lt"/>
                          <a:ea typeface="+mn-ea"/>
                          <a:cs typeface="+mn-cs"/>
                        </a:rPr>
                        <a:t> this is relatively easy. </a:t>
                      </a:r>
                    </a:p>
                    <a:p>
                      <a:endParaRPr lang="en-US" sz="1200" i="0" kern="1200" baseline="0" dirty="0" smtClean="0">
                        <a:solidFill>
                          <a:schemeClr val="tx1"/>
                        </a:solidFill>
                        <a:latin typeface="+mn-lt"/>
                        <a:ea typeface="+mn-ea"/>
                        <a:cs typeface="+mn-cs"/>
                      </a:endParaRPr>
                    </a:p>
                    <a:p>
                      <a:r>
                        <a:rPr lang="en-US" sz="1200" i="0" kern="1200" baseline="0" dirty="0" smtClean="0">
                          <a:solidFill>
                            <a:schemeClr val="tx1"/>
                          </a:solidFill>
                          <a:latin typeface="+mn-lt"/>
                          <a:ea typeface="+mn-ea"/>
                          <a:cs typeface="+mn-cs"/>
                        </a:rPr>
                        <a:t>Calculations should look something like:</a:t>
                      </a:r>
                    </a:p>
                    <a:p>
                      <a:pPr marL="228600" indent="-228600">
                        <a:buAutoNum type="alphaLcParenR"/>
                      </a:pPr>
                      <a:r>
                        <a:rPr lang="en-US" sz="1200" i="0" kern="1200" baseline="0" dirty="0" smtClean="0">
                          <a:solidFill>
                            <a:schemeClr val="tx1"/>
                          </a:solidFill>
                          <a:latin typeface="+mn-lt"/>
                          <a:ea typeface="+mn-ea"/>
                          <a:cs typeface="+mn-cs"/>
                        </a:rPr>
                        <a:t>Current revenue is 300,000 units x $3.00 = $900,000</a:t>
                      </a:r>
                    </a:p>
                    <a:p>
                      <a:pPr marL="228600" indent="-228600">
                        <a:buAutoNum type="alphaLcParenR"/>
                      </a:pPr>
                      <a:r>
                        <a:rPr lang="en-US" sz="1200" i="0" kern="1200" baseline="0" dirty="0" smtClean="0">
                          <a:solidFill>
                            <a:schemeClr val="tx1"/>
                          </a:solidFill>
                          <a:latin typeface="+mn-lt"/>
                          <a:ea typeface="+mn-ea"/>
                          <a:cs typeface="+mn-cs"/>
                        </a:rPr>
                        <a:t>With a 50% margin, current profit is $450,000</a:t>
                      </a:r>
                    </a:p>
                    <a:p>
                      <a:pPr marL="228600" indent="-228600">
                        <a:buAutoNum type="alphaLcParenR"/>
                      </a:pPr>
                      <a:r>
                        <a:rPr lang="en-US" sz="1200" i="0" kern="1200" baseline="0" dirty="0" smtClean="0">
                          <a:solidFill>
                            <a:schemeClr val="tx1"/>
                          </a:solidFill>
                          <a:latin typeface="+mn-lt"/>
                          <a:ea typeface="+mn-ea"/>
                          <a:cs typeface="+mn-cs"/>
                        </a:rPr>
                        <a:t>Additional revenue (selling donuts) is 50,000 units x $2.00 = $100,000</a:t>
                      </a:r>
                    </a:p>
                    <a:p>
                      <a:pPr marL="228600" indent="-228600">
                        <a:buAutoNum type="alphaLcParenR"/>
                      </a:pPr>
                      <a:r>
                        <a:rPr lang="en-US" sz="1200" i="0" kern="1200" baseline="0" dirty="0" smtClean="0">
                          <a:solidFill>
                            <a:schemeClr val="tx1"/>
                          </a:solidFill>
                          <a:latin typeface="+mn-lt"/>
                          <a:ea typeface="+mn-ea"/>
                          <a:cs typeface="+mn-cs"/>
                        </a:rPr>
                        <a:t>With a 60% margin for donuts, additional profit is $60,000</a:t>
                      </a:r>
                    </a:p>
                    <a:p>
                      <a:pPr marL="228600" indent="-228600">
                        <a:buAutoNum type="alphaLcParenR"/>
                      </a:pPr>
                      <a:r>
                        <a:rPr lang="en-US" sz="1200" i="0" kern="1200" baseline="0" dirty="0" smtClean="0">
                          <a:solidFill>
                            <a:schemeClr val="tx1"/>
                          </a:solidFill>
                          <a:latin typeface="+mn-lt"/>
                          <a:ea typeface="+mn-ea"/>
                          <a:cs typeface="+mn-cs"/>
                        </a:rPr>
                        <a:t>We are cannibalizing 10% of current GB sales, so we need to subtract $45,000 of profit.</a:t>
                      </a:r>
                    </a:p>
                    <a:p>
                      <a:pPr marL="228600" indent="-228600">
                        <a:buAutoNum type="alphaLcParenR"/>
                      </a:pPr>
                      <a:r>
                        <a:rPr lang="en-US" sz="1200" i="0" kern="1200" baseline="0" dirty="0" smtClean="0">
                          <a:solidFill>
                            <a:schemeClr val="tx1"/>
                          </a:solidFill>
                          <a:latin typeface="+mn-lt"/>
                          <a:ea typeface="+mn-ea"/>
                          <a:cs typeface="+mn-cs"/>
                        </a:rPr>
                        <a:t>$450,000 + $60,000 – 45,000 = $465,000 profit per store</a:t>
                      </a:r>
                    </a:p>
                    <a:p>
                      <a:pPr marL="228600" indent="-228600">
                        <a:buAutoNum type="alphaLcParenR"/>
                      </a:pPr>
                      <a:r>
                        <a:rPr lang="en-US" sz="1200" i="0" kern="1200" baseline="0" dirty="0" smtClean="0">
                          <a:solidFill>
                            <a:schemeClr val="tx1"/>
                          </a:solidFill>
                          <a:latin typeface="+mn-lt"/>
                          <a:ea typeface="+mn-ea"/>
                          <a:cs typeface="+mn-cs"/>
                        </a:rPr>
                        <a:t>Incremental profit per store is $15,000</a:t>
                      </a:r>
                    </a:p>
                    <a:p>
                      <a:pPr marL="228600" indent="-228600">
                        <a:buAutoNum type="alphaLcParenR"/>
                      </a:pPr>
                      <a:endParaRPr lang="en-US" sz="1200" i="0" kern="1200" baseline="0" dirty="0" smtClean="0">
                        <a:solidFill>
                          <a:schemeClr val="tx1"/>
                        </a:solidFill>
                        <a:latin typeface="+mn-lt"/>
                        <a:ea typeface="+mn-ea"/>
                        <a:cs typeface="+mn-cs"/>
                      </a:endParaRPr>
                    </a:p>
                    <a:p>
                      <a:pPr marL="0" indent="0">
                        <a:buNone/>
                      </a:pPr>
                      <a:r>
                        <a:rPr lang="en-US" sz="1200" i="0" kern="1200" baseline="0" dirty="0" smtClean="0">
                          <a:solidFill>
                            <a:schemeClr val="tx1"/>
                          </a:solidFill>
                          <a:latin typeface="+mn-lt"/>
                          <a:ea typeface="+mn-ea"/>
                          <a:cs typeface="+mn-cs"/>
                        </a:rPr>
                        <a:t>The candidate should note that this is an increase in profit of 3%, which is really not that great. If he or she does not make this leap in logic, that is fine; move on.</a:t>
                      </a:r>
                    </a:p>
                  </a:txBody>
                  <a:tcPr marT="45737" marB="45737"/>
                </a:tc>
              </a:tr>
            </a:tbl>
          </a:graphicData>
        </a:graphic>
      </p:graphicFrame>
      <p:sp>
        <p:nvSpPr>
          <p:cNvPr id="9"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9: Great Burger</a:t>
            </a:r>
            <a:endParaRPr lang="en-US"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74</a:t>
            </a:fld>
            <a:endParaRPr lang="en-US" dirty="0"/>
          </a:p>
        </p:txBody>
      </p:sp>
    </p:spTree>
    <p:extLst>
      <p:ext uri="{BB962C8B-B14F-4D97-AF65-F5344CB8AC3E}">
        <p14:creationId xmlns:p14="http://schemas.microsoft.com/office/powerpoint/2010/main" val="1724665770"/>
      </p:ext>
    </p:extLst>
  </p:cSld>
  <p:clrMapOvr>
    <a:masterClrMapping/>
  </p:clrMapOvr>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221"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graphicFrame>
        <p:nvGraphicFramePr>
          <p:cNvPr id="12" name="Table 11"/>
          <p:cNvGraphicFramePr>
            <a:graphicFrameLocks noGrp="1"/>
          </p:cNvGraphicFramePr>
          <p:nvPr>
            <p:extLst>
              <p:ext uri="{D42A27DB-BD31-4B8C-83A1-F6EECF244321}">
                <p14:modId xmlns:p14="http://schemas.microsoft.com/office/powerpoint/2010/main" val="3941161001"/>
              </p:ext>
            </p:extLst>
          </p:nvPr>
        </p:nvGraphicFramePr>
        <p:xfrm>
          <a:off x="304800" y="1533525"/>
          <a:ext cx="8534400" cy="2306649"/>
        </p:xfrm>
        <a:graphic>
          <a:graphicData uri="http://schemas.openxmlformats.org/drawingml/2006/table">
            <a:tbl>
              <a:tblPr firstRow="1" bandRow="1">
                <a:tableStyleId>{616DA210-FB5B-4158-B5E0-FEB733F419BA}</a:tableStyleId>
              </a:tblPr>
              <a:tblGrid>
                <a:gridCol w="1600200"/>
                <a:gridCol w="6934200"/>
              </a:tblGrid>
              <a:tr h="1117903">
                <a:tc>
                  <a:txBody>
                    <a:bodyPr/>
                    <a:lstStyle/>
                    <a:p>
                      <a:pPr algn="ctr"/>
                      <a:r>
                        <a:rPr lang="en-US" sz="1800" dirty="0" smtClean="0">
                          <a:latin typeface="+mn-lt"/>
                        </a:rPr>
                        <a:t>Summary</a:t>
                      </a:r>
                      <a:endParaRPr lang="en-US" sz="1800" dirty="0">
                        <a:latin typeface="+mn-lt"/>
                      </a:endParaRPr>
                    </a:p>
                  </a:txBody>
                  <a:tcPr marT="45733" marB="45733" anchor="ctr"/>
                </a:tc>
                <a:tc>
                  <a:txBody>
                    <a:bodyPr/>
                    <a:lstStyle/>
                    <a:p>
                      <a:r>
                        <a:rPr lang="en-US" sz="1200" b="1" dirty="0" smtClean="0"/>
                        <a:t>We just ran into the Great Burger CEO, and she asks you to summarize our perspective</a:t>
                      </a:r>
                      <a:r>
                        <a:rPr lang="en-US" sz="1200" b="1" baseline="0" dirty="0" smtClean="0"/>
                        <a:t> on whether or not GB should acquire HD. What would you say?</a:t>
                      </a:r>
                      <a:endParaRPr lang="en-US" sz="1200" b="0" dirty="0" smtClean="0"/>
                    </a:p>
                  </a:txBody>
                  <a:tcPr marT="45733" marB="45733" anchor="ctr"/>
                </a:tc>
              </a:tr>
              <a:tr h="1188735">
                <a:tc>
                  <a:txBody>
                    <a:bodyPr/>
                    <a:lstStyle/>
                    <a:p>
                      <a:pPr algn="ctr"/>
                      <a:r>
                        <a:rPr lang="en-US" sz="1800" b="1" dirty="0" smtClean="0">
                          <a:latin typeface="+mn-lt"/>
                        </a:rPr>
                        <a:t>Guidance</a:t>
                      </a:r>
                      <a:endParaRPr lang="en-US" sz="1800" b="1" baseline="0" dirty="0" smtClean="0">
                        <a:latin typeface="+mn-lt"/>
                      </a:endParaRPr>
                    </a:p>
                  </a:txBody>
                  <a:tcPr marT="45733" marB="45733" anchor="ctr"/>
                </a:tc>
                <a:tc>
                  <a:txBody>
                    <a:bodyPr/>
                    <a:lstStyle/>
                    <a:p>
                      <a:r>
                        <a:rPr lang="en-US" sz="1200" i="0" kern="1200" dirty="0" smtClean="0">
                          <a:solidFill>
                            <a:schemeClr val="tx1"/>
                          </a:solidFill>
                          <a:latin typeface="+mn-lt"/>
                          <a:ea typeface="+mn-ea"/>
                          <a:cs typeface="+mn-cs"/>
                        </a:rPr>
                        <a:t>Answers may vary significantly.</a:t>
                      </a:r>
                      <a:r>
                        <a:rPr lang="en-US" sz="1200" i="0" kern="1200" baseline="0" dirty="0" smtClean="0">
                          <a:solidFill>
                            <a:schemeClr val="tx1"/>
                          </a:solidFill>
                          <a:latin typeface="+mn-lt"/>
                          <a:ea typeface="+mn-ea"/>
                          <a:cs typeface="+mn-cs"/>
                        </a:rPr>
                        <a:t> Use common sense in evaluating the candidate’s ability to summarize the key things he/she looked at:</a:t>
                      </a:r>
                    </a:p>
                    <a:p>
                      <a:pPr marL="228600" indent="-228600">
                        <a:buFont typeface="+mj-lt"/>
                        <a:buAutoNum type="arabicPeriod"/>
                      </a:pPr>
                      <a:r>
                        <a:rPr lang="en-US" sz="1200" i="0" kern="1200" baseline="0" dirty="0" smtClean="0">
                          <a:solidFill>
                            <a:schemeClr val="tx1"/>
                          </a:solidFill>
                          <a:latin typeface="+mn-lt"/>
                          <a:ea typeface="+mn-ea"/>
                          <a:cs typeface="+mn-cs"/>
                        </a:rPr>
                        <a:t>Synergies by acquiring HD</a:t>
                      </a:r>
                    </a:p>
                    <a:p>
                      <a:pPr marL="228600" indent="-228600">
                        <a:buFont typeface="+mj-lt"/>
                        <a:buAutoNum type="arabicPeriod"/>
                      </a:pPr>
                      <a:r>
                        <a:rPr lang="en-US" sz="1200" i="0" kern="1200" baseline="0" dirty="0" smtClean="0">
                          <a:solidFill>
                            <a:schemeClr val="tx1"/>
                          </a:solidFill>
                          <a:latin typeface="+mn-lt"/>
                          <a:ea typeface="+mn-ea"/>
                          <a:cs typeface="+mn-cs"/>
                        </a:rPr>
                        <a:t>Increased profit by growing the number of HD locations in the next 5 years</a:t>
                      </a:r>
                    </a:p>
                    <a:p>
                      <a:pPr marL="228600" indent="-228600">
                        <a:buFont typeface="+mj-lt"/>
                        <a:buAutoNum type="arabicPeriod"/>
                      </a:pPr>
                      <a:r>
                        <a:rPr lang="en-US" sz="1200" i="0" kern="1200" baseline="0" dirty="0" smtClean="0">
                          <a:solidFill>
                            <a:schemeClr val="tx1"/>
                          </a:solidFill>
                          <a:latin typeface="+mn-lt"/>
                          <a:ea typeface="+mn-ea"/>
                          <a:cs typeface="+mn-cs"/>
                        </a:rPr>
                        <a:t>Increased profit by selling HD donuts at GB locations</a:t>
                      </a:r>
                    </a:p>
                    <a:p>
                      <a:pPr marL="228600" indent="-228600">
                        <a:buFont typeface="+mj-lt"/>
                        <a:buAutoNum type="arabicPeriod"/>
                      </a:pPr>
                      <a:r>
                        <a:rPr lang="en-US" sz="1200" i="0" kern="1200" baseline="0" dirty="0" smtClean="0">
                          <a:solidFill>
                            <a:schemeClr val="tx1"/>
                          </a:solidFill>
                          <a:latin typeface="+mn-lt"/>
                          <a:ea typeface="+mn-ea"/>
                          <a:cs typeface="+mn-cs"/>
                        </a:rPr>
                        <a:t>Next steps: what would we be willing to pay for HD?</a:t>
                      </a:r>
                    </a:p>
                  </a:txBody>
                  <a:tcPr marT="45733" marB="45733"/>
                </a:tc>
              </a:tr>
            </a:tbl>
          </a:graphicData>
        </a:graphic>
      </p:graphicFrame>
      <p:sp>
        <p:nvSpPr>
          <p:cNvPr id="10"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9: Great Burger</a:t>
            </a:r>
            <a:endParaRPr lang="en-US"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75</a:t>
            </a:fld>
            <a:endParaRPr lang="en-US" dirty="0"/>
          </a:p>
        </p:txBody>
      </p:sp>
    </p:spTree>
    <p:extLst>
      <p:ext uri="{BB962C8B-B14F-4D97-AF65-F5344CB8AC3E}">
        <p14:creationId xmlns:p14="http://schemas.microsoft.com/office/powerpoint/2010/main" val="2972833516"/>
      </p:ext>
    </p:extLst>
  </p:cSld>
  <p:clrMapOvr>
    <a:masterClrMapping/>
  </p:clrMapOvr>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01347845"/>
              </p:ext>
            </p:extLst>
          </p:nvPr>
        </p:nvGraphicFramePr>
        <p:xfrm>
          <a:off x="228600" y="1447800"/>
          <a:ext cx="8534400" cy="5029200"/>
        </p:xfrm>
        <a:graphic>
          <a:graphicData uri="http://schemas.openxmlformats.org/drawingml/2006/table">
            <a:tbl>
              <a:tblPr firstRow="1" bandRow="1">
                <a:tableStyleId>{616DA210-FB5B-4158-B5E0-FEB733F419BA}</a:tableStyleId>
              </a:tblPr>
              <a:tblGrid>
                <a:gridCol w="1600200"/>
                <a:gridCol w="6934200"/>
              </a:tblGrid>
              <a:tr h="5029200">
                <a:tc>
                  <a:txBody>
                    <a:bodyPr/>
                    <a:lstStyle/>
                    <a:p>
                      <a:pPr algn="ctr"/>
                      <a:r>
                        <a:rPr lang="en-US" sz="1800" b="1" i="0" dirty="0" smtClean="0"/>
                        <a:t>Performance Evaluation</a:t>
                      </a:r>
                      <a:endParaRPr lang="en-US" sz="1000" i="0" dirty="0"/>
                    </a:p>
                  </a:txBody>
                  <a:tcPr marT="45712" marB="45712" anchor="ctr"/>
                </a:tc>
                <a:tc>
                  <a:txBody>
                    <a:bodyPr/>
                    <a:lstStyle/>
                    <a:p>
                      <a:r>
                        <a:rPr lang="en-US" sz="1200" b="1" i="0" kern="1200" dirty="0" smtClean="0">
                          <a:solidFill>
                            <a:schemeClr val="tx1"/>
                          </a:solidFill>
                          <a:latin typeface="+mj-lt"/>
                          <a:ea typeface="+mn-ea"/>
                          <a:cs typeface="+mn-cs"/>
                        </a:rPr>
                        <a:t>Expected:</a:t>
                      </a:r>
                    </a:p>
                    <a:p>
                      <a:pPr marL="171450" indent="-171450">
                        <a:buFont typeface="Arial" pitchFamily="34" charset="0"/>
                        <a:buChar char="•"/>
                      </a:pPr>
                      <a:r>
                        <a:rPr lang="en-US" sz="1200" b="0" i="0" kern="1200" baseline="0" dirty="0" smtClean="0">
                          <a:solidFill>
                            <a:schemeClr val="tx1"/>
                          </a:solidFill>
                          <a:latin typeface="+mj-lt"/>
                          <a:ea typeface="+mn-ea"/>
                          <a:cs typeface="+mn-cs"/>
                        </a:rPr>
                        <a:t>Creates a MECE framework</a:t>
                      </a:r>
                    </a:p>
                    <a:p>
                      <a:pPr marL="171450" indent="-171450">
                        <a:buFont typeface="Arial" pitchFamily="34" charset="0"/>
                        <a:buChar char="•"/>
                      </a:pPr>
                      <a:r>
                        <a:rPr lang="en-US" sz="1200" b="0" i="0" kern="1200" baseline="0" dirty="0" smtClean="0">
                          <a:solidFill>
                            <a:schemeClr val="tx1"/>
                          </a:solidFill>
                          <a:latin typeface="+mj-lt"/>
                          <a:ea typeface="+mn-ea"/>
                          <a:cs typeface="+mn-cs"/>
                        </a:rPr>
                        <a:t>Provides at least 3 synergies associated with acquiring HD</a:t>
                      </a:r>
                    </a:p>
                    <a:p>
                      <a:pPr marL="171450" indent="-171450">
                        <a:buFont typeface="Arial" pitchFamily="34" charset="0"/>
                        <a:buChar char="•"/>
                      </a:pPr>
                      <a:r>
                        <a:rPr lang="en-US" sz="1200" b="0" i="0" kern="1200" baseline="0" dirty="0" smtClean="0">
                          <a:solidFill>
                            <a:schemeClr val="tx1"/>
                          </a:solidFill>
                          <a:latin typeface="+mj-lt"/>
                          <a:ea typeface="+mn-ea"/>
                          <a:cs typeface="+mn-cs"/>
                        </a:rPr>
                        <a:t>Correctly calculates profit by increasing number of HD locations</a:t>
                      </a:r>
                    </a:p>
                    <a:p>
                      <a:pPr marL="171450" indent="-171450">
                        <a:buFont typeface="Arial" pitchFamily="34" charset="0"/>
                        <a:buChar char="•"/>
                      </a:pPr>
                      <a:r>
                        <a:rPr lang="en-US" sz="1200" b="0" i="0" kern="1200" baseline="0" dirty="0" smtClean="0">
                          <a:solidFill>
                            <a:schemeClr val="tx1"/>
                          </a:solidFill>
                          <a:latin typeface="+mj-lt"/>
                          <a:ea typeface="+mn-ea"/>
                          <a:cs typeface="+mn-cs"/>
                        </a:rPr>
                        <a:t>Correctly calculates profit by selling HD donuts in GB locations</a:t>
                      </a:r>
                    </a:p>
                    <a:p>
                      <a:pPr marL="171450" indent="-171450">
                        <a:buFont typeface="Arial" pitchFamily="34" charset="0"/>
                        <a:buChar char="•"/>
                      </a:pPr>
                      <a:r>
                        <a:rPr lang="en-US" sz="1200" b="0" i="0" kern="1200" baseline="0" dirty="0" smtClean="0">
                          <a:solidFill>
                            <a:schemeClr val="tx1"/>
                          </a:solidFill>
                          <a:latin typeface="+mj-lt"/>
                          <a:ea typeface="+mn-ea"/>
                          <a:cs typeface="+mn-cs"/>
                        </a:rPr>
                        <a:t>Provides an effective summary of findings to the CEO</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171450" indent="-171450">
                        <a:buFont typeface="Arial" pitchFamily="34" charset="0"/>
                        <a:buChar char="•"/>
                      </a:pPr>
                      <a:r>
                        <a:rPr lang="en-US" sz="1200" b="0" i="0" kern="1200" baseline="0" dirty="0" smtClean="0">
                          <a:solidFill>
                            <a:schemeClr val="tx1"/>
                          </a:solidFill>
                          <a:latin typeface="+mj-lt"/>
                          <a:ea typeface="+mn-ea"/>
                          <a:cs typeface="+mn-cs"/>
                        </a:rPr>
                        <a:t>Creates a framework that incorporates synergies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Provides 5 or more synergies associated with acquiring HD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Comfortable with the exhibit, does not need too much prompting or coaching in interpreting</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Calculates profit in “word questions” quickly and accurately</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Provides most corrective actions listed with minimal prompting from the interviewer</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Shows business judgment by reacting to the numbers he or she calculates (the “so what”)</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indent="-171450">
                        <a:buFont typeface="Arial" pitchFamily="34" charset="0"/>
                        <a:buChar char="•"/>
                      </a:pPr>
                      <a:r>
                        <a:rPr lang="en-US" sz="1200" b="0" i="0" kern="1200" baseline="0" dirty="0" smtClean="0">
                          <a:solidFill>
                            <a:schemeClr val="tx1"/>
                          </a:solidFill>
                          <a:latin typeface="+mj-lt"/>
                          <a:ea typeface="+mn-ea"/>
                          <a:cs typeface="+mn-cs"/>
                        </a:rPr>
                        <a:t>Framework addresses all subsequent questions in the case (at a top level)</a:t>
                      </a:r>
                    </a:p>
                    <a:p>
                      <a:pPr marL="171450" indent="-171450">
                        <a:buFont typeface="Arial" pitchFamily="34" charset="0"/>
                        <a:buChar char="•"/>
                      </a:pPr>
                      <a:r>
                        <a:rPr lang="en-US" sz="1200" b="0" i="0" kern="1200" baseline="0" dirty="0" smtClean="0">
                          <a:solidFill>
                            <a:schemeClr val="tx1"/>
                          </a:solidFill>
                          <a:latin typeface="+mj-lt"/>
                          <a:ea typeface="+mn-ea"/>
                          <a:cs typeface="+mn-cs"/>
                        </a:rPr>
                        <a:t>Lists nearly all potential synergies, and does so in a logical manner</a:t>
                      </a:r>
                    </a:p>
                    <a:p>
                      <a:pPr marL="171450" indent="-171450">
                        <a:buFont typeface="Arial" pitchFamily="34" charset="0"/>
                        <a:buChar char="•"/>
                      </a:pPr>
                      <a:r>
                        <a:rPr lang="en-US" sz="1200" b="0" i="0" kern="1200" baseline="0" dirty="0" smtClean="0">
                          <a:solidFill>
                            <a:schemeClr val="tx1"/>
                          </a:solidFill>
                          <a:latin typeface="+mj-lt"/>
                          <a:ea typeface="+mn-ea"/>
                          <a:cs typeface="+mn-cs"/>
                        </a:rPr>
                        <a:t>High speed and accuracy of computations</a:t>
                      </a:r>
                    </a:p>
                    <a:p>
                      <a:pPr marL="171450" indent="-171450">
                        <a:buFont typeface="Arial" pitchFamily="34" charset="0"/>
                        <a:buChar char="•"/>
                      </a:pPr>
                      <a:r>
                        <a:rPr lang="en-US" sz="1200" b="0" i="0" kern="1200" baseline="0" dirty="0" smtClean="0">
                          <a:solidFill>
                            <a:schemeClr val="tx1"/>
                          </a:solidFill>
                          <a:latin typeface="+mj-lt"/>
                          <a:ea typeface="+mn-ea"/>
                          <a:cs typeface="+mn-cs"/>
                        </a:rPr>
                        <a:t>Incorporates practical matters in framework (is GB management well positioned to make this acquisition happen?)</a:t>
                      </a:r>
                    </a:p>
                    <a:p>
                      <a:pPr marL="171450" indent="-171450">
                        <a:buFont typeface="Arial" pitchFamily="34" charset="0"/>
                        <a:buChar char="•"/>
                      </a:pPr>
                      <a:r>
                        <a:rPr lang="en-US" sz="1200" b="0" i="0" kern="1200" baseline="0" dirty="0" smtClean="0">
                          <a:solidFill>
                            <a:schemeClr val="tx1"/>
                          </a:solidFill>
                          <a:latin typeface="+mj-lt"/>
                          <a:ea typeface="+mn-ea"/>
                          <a:cs typeface="+mn-cs"/>
                        </a:rPr>
                        <a:t>Shows the business judgment to provide real world examples (Yum brands, KFC, Taco Bell, etc.)</a:t>
                      </a:r>
                    </a:p>
                    <a:p>
                      <a:pPr marL="171450" indent="-171450">
                        <a:buFont typeface="Arial" pitchFamily="34" charset="0"/>
                        <a:buChar char="•"/>
                      </a:pPr>
                      <a:r>
                        <a:rPr lang="en-US" sz="1200" b="0" i="0" kern="1200" baseline="0" dirty="0" smtClean="0">
                          <a:solidFill>
                            <a:schemeClr val="tx1"/>
                          </a:solidFill>
                          <a:latin typeface="+mj-lt"/>
                          <a:ea typeface="+mn-ea"/>
                          <a:cs typeface="+mn-cs"/>
                        </a:rPr>
                        <a:t>Remembers (from the prompt) that HD has a regional franchise model, and suggests that we take a closer look at why their model differs from GB, and see how this would impact an acquisition</a:t>
                      </a:r>
                    </a:p>
                    <a:p>
                      <a:pPr marL="171450" indent="-171450">
                        <a:buFont typeface="Arial" pitchFamily="34" charset="0"/>
                        <a:buChar char="•"/>
                      </a:pPr>
                      <a:r>
                        <a:rPr lang="en-US" sz="1200" b="0" i="0" kern="1200" baseline="0" dirty="0" smtClean="0">
                          <a:solidFill>
                            <a:schemeClr val="tx1"/>
                          </a:solidFill>
                          <a:latin typeface="+mj-lt"/>
                          <a:ea typeface="+mn-ea"/>
                          <a:cs typeface="+mn-cs"/>
                        </a:rPr>
                        <a:t>Realizes that we have not even discussed the purchase price for HD, and brings this up as a “next step” to the CEO</a:t>
                      </a:r>
                    </a:p>
                    <a:p>
                      <a:pPr marL="171450" indent="-171450">
                        <a:buFont typeface="Arial" pitchFamily="34" charset="0"/>
                        <a:buChar char="•"/>
                      </a:pPr>
                      <a:endParaRPr lang="en-US" sz="1200" b="0" i="0" kern="1200" dirty="0">
                        <a:solidFill>
                          <a:schemeClr val="tx1"/>
                        </a:solidFill>
                        <a:latin typeface="Calibri" pitchFamily="34" charset="0"/>
                        <a:ea typeface="+mn-ea"/>
                        <a:cs typeface="+mn-cs"/>
                      </a:endParaRPr>
                    </a:p>
                  </a:txBody>
                  <a:tcPr marT="45712" marB="45712"/>
                </a:tc>
              </a:tr>
            </a:tbl>
          </a:graphicData>
        </a:graphic>
      </p:graphicFrame>
      <p:pic>
        <p:nvPicPr>
          <p:cNvPr id="1025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255"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r" eaLnBrk="1" hangingPunct="1"/>
            <a:r>
              <a:rPr lang="en-US" sz="1400" i="1"/>
              <a:t>First Round</a:t>
            </a:r>
          </a:p>
        </p:txBody>
      </p:sp>
      <p:sp>
        <p:nvSpPr>
          <p:cNvPr id="10"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9: Great Burger</a:t>
            </a:r>
            <a:endParaRPr lang="en-US"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76</a:t>
            </a:fld>
            <a:endParaRPr lang="en-US" dirty="0"/>
          </a:p>
        </p:txBody>
      </p:sp>
    </p:spTree>
    <p:extLst>
      <p:ext uri="{BB962C8B-B14F-4D97-AF65-F5344CB8AC3E}">
        <p14:creationId xmlns:p14="http://schemas.microsoft.com/office/powerpoint/2010/main" val="4019965195"/>
      </p:ext>
    </p:extLst>
  </p:cSld>
  <p:clrMapOvr>
    <a:masterClrMapping/>
  </p:clrMapOvr>
  <p:timing>
    <p:tnLst>
      <p:par>
        <p:cTn xmlns:p14="http://schemas.microsoft.com/office/powerpoint/2010/mai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77</a:t>
            </a:fld>
            <a:endParaRPr lang="en-US" dirty="0"/>
          </a:p>
        </p:txBody>
      </p:sp>
    </p:spTree>
    <p:extLst>
      <p:ext uri="{BB962C8B-B14F-4D97-AF65-F5344CB8AC3E}">
        <p14:creationId xmlns:p14="http://schemas.microsoft.com/office/powerpoint/2010/main" val="98878351"/>
      </p:ext>
    </p:extLst>
  </p:cSld>
  <p:clrMapOvr>
    <a:masterClrMapping/>
  </p:clrMapOvr>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3" name="TextBox 6"/>
          <p:cNvSpPr txBox="1">
            <a:spLocks noChangeArrowheads="1"/>
          </p:cNvSpPr>
          <p:nvPr/>
        </p:nvSpPr>
        <p:spPr bwMode="auto">
          <a:xfrm>
            <a:off x="228600" y="990600"/>
            <a:ext cx="2362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endParaRPr lang="en-US" sz="1400" i="1"/>
          </a:p>
        </p:txBody>
      </p:sp>
      <p:sp>
        <p:nvSpPr>
          <p:cNvPr id="5124" name="TextBox 7"/>
          <p:cNvSpPr txBox="1">
            <a:spLocks noChangeArrowheads="1"/>
          </p:cNvSpPr>
          <p:nvPr/>
        </p:nvSpPr>
        <p:spPr bwMode="auto">
          <a:xfrm>
            <a:off x="38862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ctr" eaLnBrk="1" hangingPunct="1"/>
            <a:endParaRPr lang="en-US" sz="1400" i="1"/>
          </a:p>
        </p:txBody>
      </p:sp>
      <p:sp>
        <p:nvSpPr>
          <p:cNvPr id="5125"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512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smtClean="0"/>
              <a:t>Case 10: </a:t>
            </a:r>
            <a:r>
              <a:rPr lang="en-US" sz="2400" b="1" dirty="0"/>
              <a:t>Furberry</a:t>
            </a:r>
          </a:p>
        </p:txBody>
      </p:sp>
      <p:graphicFrame>
        <p:nvGraphicFramePr>
          <p:cNvPr id="12" name="Table 11"/>
          <p:cNvGraphicFramePr>
            <a:graphicFrameLocks noGrp="1"/>
          </p:cNvGraphicFramePr>
          <p:nvPr>
            <p:extLst>
              <p:ext uri="{D42A27DB-BD31-4B8C-83A1-F6EECF244321}">
                <p14:modId xmlns:p14="http://schemas.microsoft.com/office/powerpoint/2010/main" val="3156506516"/>
              </p:ext>
            </p:extLst>
          </p:nvPr>
        </p:nvGraphicFramePr>
        <p:xfrm>
          <a:off x="304800" y="1295400"/>
          <a:ext cx="8534400" cy="4066309"/>
        </p:xfrm>
        <a:graphic>
          <a:graphicData uri="http://schemas.openxmlformats.org/drawingml/2006/table">
            <a:tbl>
              <a:tblPr firstRow="1" bandRow="1">
                <a:tableStyleId>{616DA210-FB5B-4158-B5E0-FEB733F419BA}</a:tableStyleId>
              </a:tblPr>
              <a:tblGrid>
                <a:gridCol w="1600200"/>
                <a:gridCol w="6934200"/>
              </a:tblGrid>
              <a:tr h="1188737">
                <a:tc>
                  <a:txBody>
                    <a:bodyPr/>
                    <a:lstStyle/>
                    <a:p>
                      <a:pPr algn="ctr"/>
                      <a:r>
                        <a:rPr lang="en-US" sz="1800" dirty="0" smtClean="0"/>
                        <a:t>Prompt #1</a:t>
                      </a:r>
                      <a:endParaRPr lang="en-US" sz="1800" dirty="0"/>
                    </a:p>
                  </a:txBody>
                  <a:tcPr marT="45737" marB="45737" anchor="ctr"/>
                </a:tc>
                <a:tc>
                  <a:txBody>
                    <a:bodyPr/>
                    <a:lstStyle/>
                    <a:p>
                      <a:r>
                        <a:rPr lang="en-US" sz="1200" b="0" kern="1200" baseline="0" dirty="0" smtClean="0"/>
                        <a:t>Furberry is an iconic British luxury retailer. It’s distinctive plaid indicates taste, sophistication, and wealth. Within the past five years, Furberry launched an ambitious strategy-- taking the primarily European brand global. Investors haven't responded as positively as anticipated. The CEO has hired your firm to evaluate the growth strategy. </a:t>
                      </a:r>
                    </a:p>
                  </a:txBody>
                  <a:tcPr marT="45737" marB="45737" anchor="ctr"/>
                </a:tc>
              </a:tr>
              <a:tr h="2877572">
                <a:tc>
                  <a:txBody>
                    <a:bodyPr/>
                    <a:lstStyle/>
                    <a:p>
                      <a:pPr algn="ctr"/>
                      <a:r>
                        <a:rPr lang="en-US" sz="1800" b="1" dirty="0" smtClean="0"/>
                        <a:t>Guidance</a:t>
                      </a:r>
                      <a:endParaRPr lang="en-US" sz="1800" b="1" baseline="0" dirty="0" smtClean="0"/>
                    </a:p>
                  </a:txBody>
                  <a:tcPr marT="45737" marB="45737" anchor="ctr"/>
                </a:tc>
                <a:tc>
                  <a:txBody>
                    <a:bodyPr/>
                    <a:lstStyle/>
                    <a:p>
                      <a:r>
                        <a:rPr lang="en-US" sz="1200" i="0" kern="1200" baseline="0" dirty="0" smtClean="0">
                          <a:solidFill>
                            <a:schemeClr val="tx1"/>
                          </a:solidFill>
                          <a:latin typeface="+mj-lt"/>
                          <a:ea typeface="+mn-ea"/>
                          <a:cs typeface="+mn-cs"/>
                        </a:rPr>
                        <a:t>The prompt is intentionally vague. The candidate must </a:t>
                      </a:r>
                      <a:r>
                        <a:rPr lang="en-US" sz="1200" i="0" u="sng" kern="1200" baseline="0" dirty="0" smtClean="0">
                          <a:solidFill>
                            <a:schemeClr val="tx1"/>
                          </a:solidFill>
                          <a:latin typeface="+mj-lt"/>
                          <a:ea typeface="+mn-ea"/>
                          <a:cs typeface="+mn-cs"/>
                        </a:rPr>
                        <a:t>systematically</a:t>
                      </a:r>
                      <a:r>
                        <a:rPr lang="en-US" sz="1200" i="0" kern="1200" baseline="0" dirty="0" smtClean="0">
                          <a:solidFill>
                            <a:schemeClr val="tx1"/>
                          </a:solidFill>
                          <a:latin typeface="+mj-lt"/>
                          <a:ea typeface="+mn-ea"/>
                          <a:cs typeface="+mn-cs"/>
                        </a:rPr>
                        <a:t> “discover” the problem. The prompt clues the candidate to focus on growth but let the candidate take the case in any direction. Only clarify if the candidate is really lost/stuck. </a:t>
                      </a:r>
                      <a:r>
                        <a:rPr lang="en-US" sz="1200" i="1" kern="1200" baseline="0" dirty="0" smtClean="0">
                          <a:solidFill>
                            <a:schemeClr val="tx1"/>
                          </a:solidFill>
                          <a:latin typeface="+mj-lt"/>
                          <a:ea typeface="+mn-ea"/>
                          <a:cs typeface="+mn-cs"/>
                        </a:rPr>
                        <a:t>It’s very important for the interviewer to read the entire case before giving it. </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The candidate must identify why the client missed its revenue target. </a:t>
                      </a:r>
                      <a:endParaRPr lang="en-US" sz="1200" i="0" kern="1200" baseline="0" dirty="0" smtClean="0">
                        <a:solidFill>
                          <a:schemeClr val="tx1"/>
                        </a:solidFill>
                        <a:latin typeface="+mj-lt"/>
                        <a:ea typeface="+mn-ea"/>
                        <a:cs typeface="+mn-cs"/>
                      </a:endParaRPr>
                    </a:p>
                    <a:p>
                      <a:pPr marL="0" indent="0">
                        <a:buNone/>
                      </a:pPr>
                      <a:endParaRPr lang="en-US" sz="1200" i="0" kern="1200" baseline="0" dirty="0" smtClean="0">
                        <a:solidFill>
                          <a:schemeClr val="tx1"/>
                        </a:solidFill>
                        <a:latin typeface="+mj-lt"/>
                        <a:ea typeface="+mn-ea"/>
                        <a:cs typeface="+mn-cs"/>
                      </a:endParaRPr>
                    </a:p>
                    <a:p>
                      <a:pPr marL="0" indent="0">
                        <a:buNone/>
                      </a:pPr>
                      <a:r>
                        <a:rPr lang="en-US" sz="1200" i="0" kern="1200" baseline="0" dirty="0" smtClean="0">
                          <a:solidFill>
                            <a:schemeClr val="tx1"/>
                          </a:solidFill>
                          <a:latin typeface="+mj-lt"/>
                          <a:ea typeface="+mn-ea"/>
                          <a:cs typeface="+mn-cs"/>
                        </a:rPr>
                        <a:t>Provide the following information if asked (</a:t>
                      </a:r>
                      <a:r>
                        <a:rPr lang="en-US" sz="1200" b="1" i="0" kern="1200" baseline="0" dirty="0" smtClean="0">
                          <a:solidFill>
                            <a:schemeClr val="tx1"/>
                          </a:solidFill>
                          <a:latin typeface="+mj-lt"/>
                          <a:ea typeface="+mn-ea"/>
                          <a:cs typeface="+mn-cs"/>
                        </a:rPr>
                        <a:t>key facts are in bold</a:t>
                      </a:r>
                      <a:r>
                        <a:rPr lang="en-US" sz="1200" i="0" kern="1200" baseline="0" dirty="0" smtClean="0">
                          <a:solidFill>
                            <a:schemeClr val="tx1"/>
                          </a:solidFill>
                          <a:latin typeface="+mj-lt"/>
                          <a:ea typeface="+mn-ea"/>
                          <a:cs typeface="+mn-cs"/>
                        </a:rPr>
                        <a:t>)</a:t>
                      </a:r>
                    </a:p>
                    <a:p>
                      <a:pPr marL="171450" indent="-171450">
                        <a:buFont typeface="Wingdings" panose="05000000000000000000" pitchFamily="2" charset="2"/>
                        <a:buChar char="§"/>
                      </a:pPr>
                      <a:r>
                        <a:rPr lang="en-US" sz="1200" b="1" i="0" kern="1200" baseline="0" dirty="0" smtClean="0">
                          <a:solidFill>
                            <a:schemeClr val="tx1"/>
                          </a:solidFill>
                          <a:latin typeface="+mj-lt"/>
                          <a:ea typeface="+mn-ea"/>
                          <a:cs typeface="+mn-cs"/>
                        </a:rPr>
                        <a:t>Growth Strategy: 5% Annual growth achieved through entering the American, Asian, and Middle Eastern Markets. </a:t>
                      </a:r>
                    </a:p>
                    <a:p>
                      <a:pPr marL="171450" indent="-171450">
                        <a:buFont typeface="Wingdings" panose="05000000000000000000" pitchFamily="2" charset="2"/>
                        <a:buChar char="§"/>
                      </a:pPr>
                      <a:r>
                        <a:rPr lang="en-US" sz="1200" i="0" kern="1200" baseline="0" dirty="0" smtClean="0">
                          <a:solidFill>
                            <a:schemeClr val="tx1"/>
                          </a:solidFill>
                          <a:latin typeface="+mj-lt"/>
                          <a:ea typeface="+mn-ea"/>
                          <a:cs typeface="+mn-cs"/>
                        </a:rPr>
                        <a:t>Distribution: Luxury department stories, online, and retail stores</a:t>
                      </a:r>
                    </a:p>
                    <a:p>
                      <a:pPr marL="171450" indent="-171450">
                        <a:buFont typeface="Wingdings" panose="05000000000000000000" pitchFamily="2" charset="2"/>
                        <a:buChar char="§"/>
                      </a:pPr>
                      <a:r>
                        <a:rPr lang="en-US" sz="1200" i="0" kern="1200" baseline="0" dirty="0" smtClean="0">
                          <a:solidFill>
                            <a:schemeClr val="tx1"/>
                          </a:solidFill>
                          <a:latin typeface="+mj-lt"/>
                          <a:ea typeface="+mn-ea"/>
                          <a:cs typeface="+mn-cs"/>
                        </a:rPr>
                        <a:t>Product Divisions: Men’s, Women’s, and Accessories</a:t>
                      </a:r>
                    </a:p>
                    <a:p>
                      <a:pPr marL="171450" indent="-171450">
                        <a:buFont typeface="Wingdings" panose="05000000000000000000" pitchFamily="2" charset="2"/>
                        <a:buChar char="§"/>
                      </a:pPr>
                      <a:r>
                        <a:rPr lang="en-US" sz="1200" i="0" kern="1200" baseline="0" dirty="0" smtClean="0">
                          <a:solidFill>
                            <a:schemeClr val="tx1"/>
                          </a:solidFill>
                          <a:latin typeface="+mj-lt"/>
                          <a:ea typeface="+mn-ea"/>
                          <a:cs typeface="+mn-cs"/>
                        </a:rPr>
                        <a:t>Competitors: </a:t>
                      </a:r>
                      <a:r>
                        <a:rPr lang="en-US" sz="1200" i="0" kern="1200" baseline="0" dirty="0" err="1" smtClean="0">
                          <a:solidFill>
                            <a:schemeClr val="tx1"/>
                          </a:solidFill>
                          <a:latin typeface="+mj-lt"/>
                          <a:ea typeface="+mn-ea"/>
                          <a:cs typeface="+mn-cs"/>
                        </a:rPr>
                        <a:t>Mucchi</a:t>
                      </a:r>
                      <a:r>
                        <a:rPr lang="en-US" sz="1200" i="0" kern="1200" baseline="0" dirty="0" smtClean="0">
                          <a:solidFill>
                            <a:schemeClr val="tx1"/>
                          </a:solidFill>
                          <a:latin typeface="+mj-lt"/>
                          <a:ea typeface="+mn-ea"/>
                          <a:cs typeface="+mn-cs"/>
                        </a:rPr>
                        <a:t>, Poach, Lauren </a:t>
                      </a:r>
                      <a:r>
                        <a:rPr lang="en-US" sz="1200" i="0" kern="1200" baseline="0" dirty="0" err="1" smtClean="0">
                          <a:solidFill>
                            <a:schemeClr val="tx1"/>
                          </a:solidFill>
                          <a:latin typeface="+mj-lt"/>
                          <a:ea typeface="+mn-ea"/>
                          <a:cs typeface="+mn-cs"/>
                        </a:rPr>
                        <a:t>Lauren</a:t>
                      </a:r>
                      <a:r>
                        <a:rPr lang="en-US" sz="1200" i="0" kern="1200" baseline="0" dirty="0" smtClean="0">
                          <a:solidFill>
                            <a:schemeClr val="tx1"/>
                          </a:solidFill>
                          <a:latin typeface="+mj-lt"/>
                          <a:ea typeface="+mn-ea"/>
                          <a:cs typeface="+mn-cs"/>
                        </a:rPr>
                        <a:t>. Revenues up 3%, slight decrease in market share.</a:t>
                      </a:r>
                    </a:p>
                  </a:txBody>
                  <a:tcPr marT="45737" marB="45737" anchor="ctr"/>
                </a:tc>
              </a:tr>
            </a:tbl>
          </a:graphicData>
        </a:graphic>
      </p:graphicFrame>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78</a:t>
            </a:fld>
            <a:endParaRPr lang="en-US" dirty="0"/>
          </a:p>
        </p:txBody>
      </p:sp>
    </p:spTree>
    <p:extLst>
      <p:ext uri="{BB962C8B-B14F-4D97-AF65-F5344CB8AC3E}">
        <p14:creationId xmlns:p14="http://schemas.microsoft.com/office/powerpoint/2010/main" val="1189783125"/>
      </p:ext>
    </p:extLst>
  </p:cSld>
  <p:clrMapOvr>
    <a:masterClrMapping/>
  </p:clrMapOvr>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p:cNvGraphicFramePr>
            <a:graphicFrameLocks noGrp="1"/>
          </p:cNvGraphicFramePr>
          <p:nvPr>
            <p:extLst>
              <p:ext uri="{D42A27DB-BD31-4B8C-83A1-F6EECF244321}">
                <p14:modId xmlns:p14="http://schemas.microsoft.com/office/powerpoint/2010/main" val="2967143641"/>
              </p:ext>
            </p:extLst>
          </p:nvPr>
        </p:nvGraphicFramePr>
        <p:xfrm>
          <a:off x="279400" y="1409013"/>
          <a:ext cx="8534400" cy="3200377"/>
        </p:xfrm>
        <a:graphic>
          <a:graphicData uri="http://schemas.openxmlformats.org/drawingml/2006/table">
            <a:tbl>
              <a:tblPr firstRow="1" bandRow="1">
                <a:tableStyleId>{616DA210-FB5B-4158-B5E0-FEB733F419BA}</a:tableStyleId>
              </a:tblPr>
              <a:tblGrid>
                <a:gridCol w="1600200"/>
                <a:gridCol w="6934200"/>
              </a:tblGrid>
              <a:tr h="1554162">
                <a:tc>
                  <a:txBody>
                    <a:bodyPr/>
                    <a:lstStyle/>
                    <a:p>
                      <a:pPr algn="ctr"/>
                      <a:r>
                        <a:rPr lang="en-US" sz="1800" b="1" baseline="0" dirty="0" smtClean="0"/>
                        <a:t>Guidance</a:t>
                      </a:r>
                    </a:p>
                  </a:txBody>
                  <a:tcPr marT="45709" marB="45709"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1" kern="1200" baseline="0" dirty="0" smtClean="0">
                          <a:solidFill>
                            <a:schemeClr val="tx1"/>
                          </a:solidFill>
                          <a:latin typeface="+mj-lt"/>
                          <a:ea typeface="+mn-ea"/>
                          <a:cs typeface="+mn-cs"/>
                        </a:rPr>
                        <a:t>The candidate must specifically ask for the following pieces of information:</a:t>
                      </a:r>
                    </a:p>
                    <a:p>
                      <a:pPr marL="171450" marR="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b="0" i="0" kern="1200" baseline="0" dirty="0" smtClean="0">
                          <a:solidFill>
                            <a:schemeClr val="tx1"/>
                          </a:solidFill>
                          <a:latin typeface="+mj-lt"/>
                          <a:ea typeface="+mn-ea"/>
                          <a:cs typeface="+mn-cs"/>
                        </a:rPr>
                        <a:t>Actual Revenue by year and geography</a:t>
                      </a:r>
                    </a:p>
                    <a:p>
                      <a:pPr marL="171450" marR="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b="0" i="0" kern="1200" baseline="0" dirty="0" smtClean="0">
                          <a:solidFill>
                            <a:schemeClr val="tx1"/>
                          </a:solidFill>
                          <a:latin typeface="+mj-lt"/>
                          <a:ea typeface="+mn-ea"/>
                          <a:cs typeface="+mn-cs"/>
                        </a:rPr>
                        <a:t>Target Revenue by year and geography</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1" kern="1200" baseline="0" dirty="0" smtClean="0">
                          <a:solidFill>
                            <a:schemeClr val="tx1"/>
                          </a:solidFill>
                          <a:latin typeface="+mj-lt"/>
                          <a:ea typeface="+mn-ea"/>
                          <a:cs typeface="+mn-cs"/>
                        </a:rPr>
                        <a:t>Once the candidate asks for </a:t>
                      </a:r>
                      <a:r>
                        <a:rPr lang="en-US" sz="1200" b="0" i="1" u="sng" kern="1200" baseline="0" dirty="0" smtClean="0">
                          <a:solidFill>
                            <a:schemeClr val="tx1"/>
                          </a:solidFill>
                          <a:latin typeface="+mj-lt"/>
                          <a:ea typeface="+mn-ea"/>
                          <a:cs typeface="+mn-cs"/>
                        </a:rPr>
                        <a:t>all</a:t>
                      </a:r>
                      <a:r>
                        <a:rPr lang="en-US" sz="1200" b="0" i="1" u="none" kern="1200" baseline="0" dirty="0" smtClean="0">
                          <a:solidFill>
                            <a:schemeClr val="tx1"/>
                          </a:solidFill>
                          <a:latin typeface="+mj-lt"/>
                          <a:ea typeface="+mn-ea"/>
                          <a:cs typeface="+mn-cs"/>
                        </a:rPr>
                        <a:t> of the above, </a:t>
                      </a:r>
                      <a:r>
                        <a:rPr lang="en-US" sz="1200" b="1" i="1" u="none" kern="1200" baseline="0" dirty="0" smtClean="0">
                          <a:solidFill>
                            <a:schemeClr val="tx1"/>
                          </a:solidFill>
                          <a:latin typeface="+mj-lt"/>
                          <a:ea typeface="+mn-ea"/>
                          <a:cs typeface="+mn-cs"/>
                        </a:rPr>
                        <a:t>provide Exhibit 1</a:t>
                      </a:r>
                      <a:r>
                        <a:rPr lang="en-US" sz="1200" b="0" i="1" u="none" kern="1200" baseline="0" dirty="0" smtClean="0">
                          <a:solidFill>
                            <a:schemeClr val="tx1"/>
                          </a:solidFill>
                          <a:latin typeface="+mj-lt"/>
                          <a:ea typeface="+mn-ea"/>
                          <a:cs typeface="+mn-cs"/>
                        </a:rPr>
                        <a:t>. Otherwise, just read off </a:t>
                      </a:r>
                      <a:r>
                        <a:rPr lang="en-US" sz="1200" b="0" i="1" kern="1200" baseline="0" dirty="0" smtClean="0">
                          <a:solidFill>
                            <a:schemeClr val="tx1"/>
                          </a:solidFill>
                          <a:latin typeface="+mj-lt"/>
                          <a:ea typeface="+mn-ea"/>
                          <a:cs typeface="+mn-cs"/>
                        </a:rPr>
                        <a:t>the items requested.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smtClean="0">
                          <a:latin typeface="+mj-lt"/>
                        </a:rPr>
                        <a:t>Once the candidate has correctly identified the problem:</a:t>
                      </a:r>
                      <a:r>
                        <a:rPr lang="en-US" sz="1200" b="1" baseline="0" dirty="0" smtClean="0">
                          <a:latin typeface="+mj-lt"/>
                        </a:rPr>
                        <a:t> Tell him/her revenue in the UK has declined by 30% over 5 years.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p>
                      <a:pPr>
                        <a:defRPr/>
                      </a:pPr>
                      <a:r>
                        <a:rPr lang="en-US" sz="1200" dirty="0" smtClean="0"/>
                        <a:t>The candidate must combine two charts to create the view below and perform</a:t>
                      </a:r>
                      <a:r>
                        <a:rPr lang="en-US" sz="1200" baseline="0" dirty="0" smtClean="0"/>
                        <a:t> some basic math</a:t>
                      </a:r>
                      <a:r>
                        <a:rPr lang="en-US" sz="1200" dirty="0" smtClean="0"/>
                        <a:t>. </a:t>
                      </a:r>
                    </a:p>
                    <a:p>
                      <a:pPr>
                        <a:defRPr/>
                      </a:pPr>
                      <a:endParaRPr lang="en-US" sz="1200" dirty="0" smtClean="0"/>
                    </a:p>
                    <a:p>
                      <a:pPr>
                        <a:defRPr/>
                      </a:pPr>
                      <a:r>
                        <a:rPr lang="en-US" sz="1200" i="1" dirty="0" smtClean="0"/>
                        <a:t>Key takeaways:</a:t>
                      </a:r>
                    </a:p>
                    <a:p>
                      <a:pPr marL="171450" indent="-171450">
                        <a:buFont typeface="Arial" panose="020B0604020202020204" pitchFamily="34" charset="0"/>
                        <a:buChar char="•"/>
                        <a:defRPr/>
                      </a:pPr>
                      <a:r>
                        <a:rPr lang="en-US" sz="1200" b="0" dirty="0" smtClean="0"/>
                        <a:t>Europe is the problem region</a:t>
                      </a:r>
                    </a:p>
                    <a:p>
                      <a:pPr marL="171450" indent="-171450">
                        <a:buFont typeface="Arial" panose="020B0604020202020204" pitchFamily="34" charset="0"/>
                        <a:buChar char="•"/>
                        <a:defRPr/>
                      </a:pPr>
                      <a:r>
                        <a:rPr lang="en-US" sz="1200" b="0" dirty="0" smtClean="0"/>
                        <a:t>North America has strongest growth is helping conceal declining or sluggish growth in other markets</a:t>
                      </a:r>
                    </a:p>
                  </a:txBody>
                  <a:tcPr marT="45709" marB="45709"/>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293155784"/>
              </p:ext>
            </p:extLst>
          </p:nvPr>
        </p:nvGraphicFramePr>
        <p:xfrm>
          <a:off x="787109" y="5133218"/>
          <a:ext cx="8064500" cy="1428750"/>
        </p:xfrm>
        <a:graphic>
          <a:graphicData uri="http://schemas.openxmlformats.org/drawingml/2006/table">
            <a:tbl>
              <a:tblPr firstRow="1" bandRow="1">
                <a:tableStyleId>{5C22544A-7EE6-4342-B048-85BDC9FD1C3A}</a:tableStyleId>
              </a:tblPr>
              <a:tblGrid>
                <a:gridCol w="1294381"/>
                <a:gridCol w="599603"/>
                <a:gridCol w="561533"/>
                <a:gridCol w="520290"/>
                <a:gridCol w="609120"/>
                <a:gridCol w="875611"/>
                <a:gridCol w="609120"/>
                <a:gridCol w="875611"/>
                <a:gridCol w="609120"/>
                <a:gridCol w="875611"/>
                <a:gridCol w="634500"/>
              </a:tblGrid>
              <a:tr h="209550">
                <a:tc>
                  <a:txBody>
                    <a:bodyPr/>
                    <a:lstStyle/>
                    <a:p>
                      <a:pPr algn="ctr" fontAlgn="t"/>
                      <a:r>
                        <a:rPr lang="en-US" sz="1200" u="none" strike="noStrike" dirty="0">
                          <a:effectLst/>
                        </a:rPr>
                        <a:t> </a:t>
                      </a:r>
                      <a:endParaRPr lang="en-US" sz="1200" b="0" i="0" u="none" strike="noStrike" dirty="0">
                        <a:solidFill>
                          <a:srgbClr val="000000"/>
                        </a:solidFill>
                        <a:effectLst/>
                        <a:latin typeface="Arial" panose="020B0604020202020204" pitchFamily="34" charset="0"/>
                      </a:endParaRPr>
                    </a:p>
                  </a:txBody>
                  <a:tcPr marL="9525" marR="9525" marT="9525" marB="0"/>
                </a:tc>
                <a:tc gridSpan="2">
                  <a:txBody>
                    <a:bodyPr/>
                    <a:lstStyle/>
                    <a:p>
                      <a:pPr algn="ctr" rtl="0" fontAlgn="ctr"/>
                      <a:r>
                        <a:rPr lang="en-US" sz="1200" b="1" u="none" strike="noStrike" dirty="0">
                          <a:solidFill>
                            <a:schemeClr val="tx1"/>
                          </a:solidFill>
                          <a:effectLst/>
                        </a:rPr>
                        <a:t>2009</a:t>
                      </a:r>
                      <a:endParaRPr lang="en-US" sz="1200" b="1" i="0" u="none" strike="noStrike" dirty="0">
                        <a:solidFill>
                          <a:schemeClr val="tx1"/>
                        </a:solidFill>
                        <a:effectLst/>
                        <a:latin typeface="Arial" panose="020B0604020202020204" pitchFamily="34" charset="0"/>
                      </a:endParaRPr>
                    </a:p>
                  </a:txBody>
                  <a:tcPr marL="9525" marR="9525" marT="9525" marB="0" anchor="ctr"/>
                </a:tc>
                <a:tc hMerge="1">
                  <a:txBody>
                    <a:bodyPr/>
                    <a:lstStyle/>
                    <a:p>
                      <a:endParaRPr lang="en-US"/>
                    </a:p>
                  </a:txBody>
                  <a:tcPr/>
                </a:tc>
                <a:tc gridSpan="2">
                  <a:txBody>
                    <a:bodyPr/>
                    <a:lstStyle/>
                    <a:p>
                      <a:pPr algn="ctr" rtl="0" fontAlgn="ctr"/>
                      <a:r>
                        <a:rPr lang="en-US" sz="1200" b="1" u="none" strike="noStrike" dirty="0">
                          <a:solidFill>
                            <a:schemeClr val="tx1"/>
                          </a:solidFill>
                          <a:effectLst/>
                        </a:rPr>
                        <a:t>2010</a:t>
                      </a:r>
                      <a:endParaRPr lang="en-US" sz="1200" b="1" i="0" u="none" strike="noStrike" dirty="0">
                        <a:solidFill>
                          <a:schemeClr val="tx1"/>
                        </a:solidFill>
                        <a:effectLst/>
                        <a:latin typeface="Arial" panose="020B0604020202020204" pitchFamily="34" charset="0"/>
                      </a:endParaRPr>
                    </a:p>
                  </a:txBody>
                  <a:tcPr marL="9525" marR="9525" marT="9525" marB="0" anchor="ctr"/>
                </a:tc>
                <a:tc hMerge="1">
                  <a:txBody>
                    <a:bodyPr/>
                    <a:lstStyle/>
                    <a:p>
                      <a:endParaRPr lang="en-US"/>
                    </a:p>
                  </a:txBody>
                  <a:tcPr/>
                </a:tc>
                <a:tc gridSpan="2">
                  <a:txBody>
                    <a:bodyPr/>
                    <a:lstStyle/>
                    <a:p>
                      <a:pPr algn="ctr" rtl="0" fontAlgn="ctr"/>
                      <a:r>
                        <a:rPr lang="en-US" sz="1200" b="1" u="none" strike="noStrike" dirty="0">
                          <a:solidFill>
                            <a:schemeClr val="tx1"/>
                          </a:solidFill>
                          <a:effectLst/>
                        </a:rPr>
                        <a:t>2011</a:t>
                      </a:r>
                      <a:endParaRPr lang="en-US" sz="1200" b="1" i="0" u="none" strike="noStrike" dirty="0">
                        <a:solidFill>
                          <a:schemeClr val="tx1"/>
                        </a:solidFill>
                        <a:effectLst/>
                        <a:latin typeface="Arial" panose="020B0604020202020204" pitchFamily="34" charset="0"/>
                      </a:endParaRPr>
                    </a:p>
                  </a:txBody>
                  <a:tcPr marL="9525" marR="9525" marT="9525" marB="0" anchor="ctr"/>
                </a:tc>
                <a:tc hMerge="1">
                  <a:txBody>
                    <a:bodyPr/>
                    <a:lstStyle/>
                    <a:p>
                      <a:endParaRPr lang="en-US"/>
                    </a:p>
                  </a:txBody>
                  <a:tcPr/>
                </a:tc>
                <a:tc gridSpan="2">
                  <a:txBody>
                    <a:bodyPr/>
                    <a:lstStyle/>
                    <a:p>
                      <a:pPr algn="ctr" rtl="0" fontAlgn="ctr"/>
                      <a:r>
                        <a:rPr lang="en-US" sz="1200" b="1" u="none" strike="noStrike" dirty="0">
                          <a:solidFill>
                            <a:schemeClr val="tx1"/>
                          </a:solidFill>
                          <a:effectLst/>
                        </a:rPr>
                        <a:t>2012</a:t>
                      </a:r>
                      <a:endParaRPr lang="en-US" sz="1200" b="1" i="0" u="none" strike="noStrike" dirty="0">
                        <a:solidFill>
                          <a:schemeClr val="tx1"/>
                        </a:solidFill>
                        <a:effectLst/>
                        <a:latin typeface="Arial" panose="020B0604020202020204" pitchFamily="34" charset="0"/>
                      </a:endParaRPr>
                    </a:p>
                  </a:txBody>
                  <a:tcPr marL="9525" marR="9525" marT="9525" marB="0" anchor="ctr"/>
                </a:tc>
                <a:tc hMerge="1">
                  <a:txBody>
                    <a:bodyPr/>
                    <a:lstStyle/>
                    <a:p>
                      <a:endParaRPr lang="en-US"/>
                    </a:p>
                  </a:txBody>
                  <a:tcPr/>
                </a:tc>
                <a:tc gridSpan="2">
                  <a:txBody>
                    <a:bodyPr/>
                    <a:lstStyle/>
                    <a:p>
                      <a:pPr algn="ctr" rtl="0" fontAlgn="ctr"/>
                      <a:r>
                        <a:rPr lang="en-US" sz="1200" b="1" u="none" strike="noStrike" dirty="0">
                          <a:solidFill>
                            <a:schemeClr val="tx1"/>
                          </a:solidFill>
                          <a:effectLst/>
                        </a:rPr>
                        <a:t>2013</a:t>
                      </a:r>
                      <a:endParaRPr lang="en-US" sz="1200" b="1" i="0" u="none" strike="noStrike" dirty="0">
                        <a:solidFill>
                          <a:schemeClr val="tx1"/>
                        </a:solidFill>
                        <a:effectLst/>
                        <a:latin typeface="Arial" panose="020B0604020202020204" pitchFamily="34" charset="0"/>
                      </a:endParaRPr>
                    </a:p>
                  </a:txBody>
                  <a:tcPr marL="9525" marR="9525" marT="9525" marB="0" anchor="ctr"/>
                </a:tc>
                <a:tc hMerge="1">
                  <a:txBody>
                    <a:bodyPr/>
                    <a:lstStyle/>
                    <a:p>
                      <a:endParaRPr lang="en-US"/>
                    </a:p>
                  </a:txBody>
                  <a:tcPr/>
                </a:tc>
              </a:tr>
              <a:tr h="209550">
                <a:tc>
                  <a:txBody>
                    <a:bodyPr/>
                    <a:lstStyle/>
                    <a:p>
                      <a:pPr algn="ctr" fontAlgn="t"/>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9525" marR="9525" marT="9525" marB="0"/>
                </a:tc>
                <a:tc>
                  <a:txBody>
                    <a:bodyPr/>
                    <a:lstStyle/>
                    <a:p>
                      <a:pPr algn="ctr" rtl="0" fontAlgn="ctr"/>
                      <a:r>
                        <a:rPr lang="en-US" sz="1200" u="none" strike="noStrike" dirty="0">
                          <a:effectLst/>
                        </a:rPr>
                        <a:t>Target</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200" u="none" strike="noStrike" dirty="0">
                          <a:effectLst/>
                        </a:rPr>
                        <a:t>Actual</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200" u="none" strike="noStrike" dirty="0">
                          <a:effectLst/>
                        </a:rPr>
                        <a:t>Target</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200" u="none" strike="noStrike" dirty="0">
                          <a:effectLst/>
                        </a:rPr>
                        <a:t>Actual</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200" u="none" strike="noStrike" dirty="0">
                          <a:effectLst/>
                        </a:rPr>
                        <a:t>Target</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200" u="none" strike="noStrike" dirty="0">
                          <a:effectLst/>
                        </a:rPr>
                        <a:t>Actual</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200" u="none" strike="noStrike" dirty="0">
                          <a:effectLst/>
                        </a:rPr>
                        <a:t>Target</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200" u="none" strike="noStrike" dirty="0">
                          <a:effectLst/>
                        </a:rPr>
                        <a:t>Actual</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200" u="none" strike="noStrike" dirty="0">
                          <a:effectLst/>
                        </a:rPr>
                        <a:t>Target</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200" u="none" strike="noStrike" dirty="0">
                          <a:effectLst/>
                        </a:rPr>
                        <a:t>Actual</a:t>
                      </a:r>
                      <a:endParaRPr lang="en-US" sz="1200" b="0" i="0" u="none" strike="noStrike" dirty="0">
                        <a:solidFill>
                          <a:srgbClr val="000000"/>
                        </a:solidFill>
                        <a:effectLst/>
                        <a:latin typeface="Arial" panose="020B0604020202020204" pitchFamily="34" charset="0"/>
                      </a:endParaRPr>
                    </a:p>
                  </a:txBody>
                  <a:tcPr marL="9525" marR="9525" marT="9525" marB="0" anchor="ctr"/>
                </a:tc>
              </a:tr>
              <a:tr h="209550">
                <a:tc>
                  <a:txBody>
                    <a:bodyPr/>
                    <a:lstStyle/>
                    <a:p>
                      <a:pPr algn="ctr" rtl="0" fontAlgn="ctr"/>
                      <a:r>
                        <a:rPr lang="en-US" sz="1200" u="none" strike="noStrike">
                          <a:effectLst/>
                        </a:rPr>
                        <a:t>Asia</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13</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13</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14</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15</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14</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15</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15</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b="1" u="none" strike="noStrike" dirty="0">
                          <a:effectLst/>
                        </a:rPr>
                        <a:t>16</a:t>
                      </a:r>
                      <a:endParaRPr lang="en-US" sz="12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16</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dirty="0">
                          <a:effectLst/>
                        </a:rPr>
                        <a:t>17</a:t>
                      </a:r>
                      <a:endParaRPr lang="en-US" sz="1200" b="0" i="0" u="none" strike="noStrike" dirty="0">
                        <a:solidFill>
                          <a:srgbClr val="000000"/>
                        </a:solidFill>
                        <a:effectLst/>
                        <a:latin typeface="Arial" panose="020B0604020202020204" pitchFamily="34" charset="0"/>
                      </a:endParaRPr>
                    </a:p>
                  </a:txBody>
                  <a:tcPr marL="9525" marR="9525" marT="9525" marB="0" anchor="ctr"/>
                </a:tc>
              </a:tr>
              <a:tr h="200025">
                <a:tc>
                  <a:txBody>
                    <a:bodyPr/>
                    <a:lstStyle/>
                    <a:p>
                      <a:pPr algn="ctr" rtl="0" fontAlgn="ctr"/>
                      <a:r>
                        <a:rPr lang="en-US" sz="1200" u="none" strike="noStrike">
                          <a:effectLst/>
                        </a:rPr>
                        <a:t>Europe</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dirty="0">
                          <a:effectLst/>
                        </a:rPr>
                        <a:t>87</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88</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88</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89</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88</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88</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87</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86</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82</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80</a:t>
                      </a:r>
                      <a:endParaRPr lang="en-US" sz="1200" b="0" i="0" u="none" strike="noStrike">
                        <a:solidFill>
                          <a:srgbClr val="000000"/>
                        </a:solidFill>
                        <a:effectLst/>
                        <a:latin typeface="Arial" panose="020B0604020202020204" pitchFamily="34" charset="0"/>
                      </a:endParaRPr>
                    </a:p>
                  </a:txBody>
                  <a:tcPr marL="9525" marR="9525" marT="9525" marB="0" anchor="ctr"/>
                </a:tc>
              </a:tr>
              <a:tr h="200025">
                <a:tc>
                  <a:txBody>
                    <a:bodyPr/>
                    <a:lstStyle/>
                    <a:p>
                      <a:pPr algn="ctr" rtl="0" fontAlgn="ctr"/>
                      <a:r>
                        <a:rPr lang="en-US" sz="1200" u="none" strike="noStrike">
                          <a:effectLst/>
                        </a:rPr>
                        <a:t>Middle East</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b="1" u="none" strike="noStrike" dirty="0">
                          <a:effectLst/>
                        </a:rPr>
                        <a:t>23</a:t>
                      </a:r>
                      <a:endParaRPr lang="en-US" sz="12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23</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25</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24</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27</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30</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30</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30</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31</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32</a:t>
                      </a:r>
                      <a:endParaRPr lang="en-US" sz="1200" b="0" i="0" u="none" strike="noStrike">
                        <a:solidFill>
                          <a:srgbClr val="000000"/>
                        </a:solidFill>
                        <a:effectLst/>
                        <a:latin typeface="Arial" panose="020B0604020202020204" pitchFamily="34" charset="0"/>
                      </a:endParaRPr>
                    </a:p>
                  </a:txBody>
                  <a:tcPr marL="9525" marR="9525" marT="9525" marB="0" anchor="ctr"/>
                </a:tc>
              </a:tr>
              <a:tr h="200025">
                <a:tc>
                  <a:txBody>
                    <a:bodyPr/>
                    <a:lstStyle/>
                    <a:p>
                      <a:pPr algn="ctr" rtl="0" fontAlgn="ctr"/>
                      <a:r>
                        <a:rPr lang="en-US" sz="1200" u="none" strike="noStrike">
                          <a:effectLst/>
                        </a:rPr>
                        <a:t>North America</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57</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57</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dirty="0">
                          <a:effectLst/>
                        </a:rPr>
                        <a:t>63</a:t>
                      </a:r>
                      <a:endParaRPr lang="en-US" sz="12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63</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69</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70</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76</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78</a:t>
                      </a:r>
                      <a:endParaRPr lang="en-US"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b="1" u="none" strike="noStrike" dirty="0">
                          <a:effectLst/>
                        </a:rPr>
                        <a:t>89</a:t>
                      </a:r>
                      <a:endParaRPr lang="en-US" sz="12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1200" u="none" strike="noStrike">
                          <a:effectLst/>
                        </a:rPr>
                        <a:t>89</a:t>
                      </a:r>
                      <a:endParaRPr lang="en-US" sz="1200" b="0" i="0" u="none" strike="noStrike">
                        <a:solidFill>
                          <a:srgbClr val="000000"/>
                        </a:solidFill>
                        <a:effectLst/>
                        <a:latin typeface="Arial" panose="020B0604020202020204" pitchFamily="34" charset="0"/>
                      </a:endParaRPr>
                    </a:p>
                  </a:txBody>
                  <a:tcPr marL="9525" marR="9525" marT="9525" marB="0" anchor="ctr"/>
                </a:tc>
              </a:tr>
              <a:tr h="200025">
                <a:tc>
                  <a:txBody>
                    <a:bodyPr/>
                    <a:lstStyle/>
                    <a:p>
                      <a:pPr algn="ctr" fontAlgn="b"/>
                      <a:r>
                        <a:rPr lang="en-US" sz="1200" u="none" strike="noStrike">
                          <a:effectLst/>
                        </a:rPr>
                        <a:t>TOTAL</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180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181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189</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198</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203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208</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smtClean="0">
                          <a:effectLst/>
                        </a:rPr>
                        <a:t>210</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a:effectLst/>
                        </a:rPr>
                        <a:t>219</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200" u="none" strike="noStrike" dirty="0">
                          <a:effectLst/>
                        </a:rPr>
                        <a:t>218</a:t>
                      </a:r>
                      <a:endParaRPr lang="en-US" sz="1200" b="0" i="0" u="none" strike="noStrike" dirty="0">
                        <a:solidFill>
                          <a:srgbClr val="000000"/>
                        </a:solidFill>
                        <a:effectLst/>
                        <a:latin typeface="Calibri" panose="020F0502020204030204" pitchFamily="34" charset="0"/>
                      </a:endParaRPr>
                    </a:p>
                  </a:txBody>
                  <a:tcPr marL="9525" marR="9525" marT="9525" marB="0" anchor="b"/>
                </a:tc>
              </a:tr>
            </a:tbl>
          </a:graphicData>
        </a:graphic>
      </p:graphicFrame>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10" name="TextBox 9"/>
          <p:cNvSpPr txBox="1">
            <a:spLocks noChangeArrowheads="1"/>
          </p:cNvSpPr>
          <p:nvPr/>
        </p:nvSpPr>
        <p:spPr bwMode="auto">
          <a:xfrm>
            <a:off x="1828800" y="362383"/>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smtClean="0"/>
              <a:t>Case 10: </a:t>
            </a:r>
            <a:r>
              <a:rPr lang="en-US" sz="2400" b="1" dirty="0"/>
              <a:t>Furberry</a:t>
            </a:r>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79</a:t>
            </a:fld>
            <a:endParaRPr lang="en-US" dirty="0"/>
          </a:p>
        </p:txBody>
      </p:sp>
    </p:spTree>
    <p:extLst>
      <p:ext uri="{BB962C8B-B14F-4D97-AF65-F5344CB8AC3E}">
        <p14:creationId xmlns:p14="http://schemas.microsoft.com/office/powerpoint/2010/main" val="1517525631"/>
      </p:ext>
    </p:extLst>
  </p:cSld>
  <p:clrMapOvr>
    <a:masterClrMapping/>
  </p:clrMapOvr>
  <p:timing>
    <p:tnLst>
      <p:par>
        <p:cTn xmlns:p14="http://schemas.microsoft.com/office/powerpoint/2010/mai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6"/>
          <p:cNvSpPr txBox="1">
            <a:spLocks noChangeArrowheads="1"/>
          </p:cNvSpPr>
          <p:nvPr/>
        </p:nvSpPr>
        <p:spPr bwMode="auto">
          <a:xfrm>
            <a:off x="3733800" y="1752635"/>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r>
              <a:rPr lang="en-US"/>
              <a:t>Revenue Targets</a:t>
            </a:r>
          </a:p>
        </p:txBody>
      </p:sp>
      <p:graphicFrame>
        <p:nvGraphicFramePr>
          <p:cNvPr id="8" name="Table 7"/>
          <p:cNvGraphicFramePr>
            <a:graphicFrameLocks noGrp="1"/>
          </p:cNvGraphicFramePr>
          <p:nvPr>
            <p:extLst>
              <p:ext uri="{D42A27DB-BD31-4B8C-83A1-F6EECF244321}">
                <p14:modId xmlns:p14="http://schemas.microsoft.com/office/powerpoint/2010/main" val="946672538"/>
              </p:ext>
            </p:extLst>
          </p:nvPr>
        </p:nvGraphicFramePr>
        <p:xfrm>
          <a:off x="577850" y="2122523"/>
          <a:ext cx="8064500" cy="1457325"/>
        </p:xfrm>
        <a:graphic>
          <a:graphicData uri="http://schemas.openxmlformats.org/drawingml/2006/table">
            <a:tbl>
              <a:tblPr firstRow="1" bandRow="1"/>
              <a:tblGrid>
                <a:gridCol w="1294381"/>
                <a:gridCol w="599603"/>
                <a:gridCol w="561533"/>
                <a:gridCol w="520290"/>
                <a:gridCol w="609120"/>
                <a:gridCol w="875611"/>
                <a:gridCol w="609120"/>
                <a:gridCol w="875611"/>
                <a:gridCol w="609120"/>
                <a:gridCol w="875611"/>
                <a:gridCol w="634500"/>
              </a:tblGrid>
              <a:tr h="209550">
                <a:tc>
                  <a:txBody>
                    <a:bodyPr/>
                    <a:lstStyle/>
                    <a:p>
                      <a:pPr algn="ctr" fontAlgn="t"/>
                      <a:r>
                        <a:rPr lang="en-US" sz="1200" b="0" i="0" u="none" strike="noStrike" dirty="0">
                          <a:solidFill>
                            <a:srgbClr val="000000"/>
                          </a:solidFill>
                          <a:effectLst/>
                          <a:latin typeface="Arial" panose="020B0604020202020204" pitchFamily="34" charset="0"/>
                        </a:rPr>
                        <a:t> </a:t>
                      </a: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gridSpan="2">
                  <a:txBody>
                    <a:bodyPr/>
                    <a:lstStyle/>
                    <a:p>
                      <a:pPr algn="ctr" rtl="0" fontAlgn="ctr"/>
                      <a:r>
                        <a:rPr lang="en-US" sz="1200" b="1" i="0" u="none" strike="noStrike">
                          <a:solidFill>
                            <a:srgbClr val="000000"/>
                          </a:solidFill>
                          <a:effectLst/>
                          <a:latin typeface="Arial" panose="020B0604020202020204" pitchFamily="34" charset="0"/>
                        </a:rPr>
                        <a:t>2009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hMerge="1">
                  <a:txBody>
                    <a:bodyPr/>
                    <a:lstStyle/>
                    <a:p>
                      <a:endParaRPr lang="en-US"/>
                    </a:p>
                  </a:txBody>
                  <a:tcPr/>
                </a:tc>
                <a:tc gridSpan="2">
                  <a:txBody>
                    <a:bodyPr/>
                    <a:lstStyle/>
                    <a:p>
                      <a:pPr algn="ctr" rtl="0" fontAlgn="ctr"/>
                      <a:r>
                        <a:rPr lang="en-US" sz="1200" b="1" i="0" u="none" strike="noStrike">
                          <a:solidFill>
                            <a:srgbClr val="000000"/>
                          </a:solidFill>
                          <a:effectLst/>
                          <a:latin typeface="Arial" panose="020B0604020202020204" pitchFamily="34" charset="0"/>
                        </a:rPr>
                        <a:t>2010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hMerge="1">
                  <a:txBody>
                    <a:bodyPr/>
                    <a:lstStyle/>
                    <a:p>
                      <a:endParaRPr lang="en-US"/>
                    </a:p>
                  </a:txBody>
                  <a:tcPr/>
                </a:tc>
                <a:tc gridSpan="2">
                  <a:txBody>
                    <a:bodyPr/>
                    <a:lstStyle/>
                    <a:p>
                      <a:pPr algn="ctr" rtl="0" fontAlgn="ctr"/>
                      <a:r>
                        <a:rPr lang="en-US" sz="1200" b="1" i="0" u="none" strike="noStrike">
                          <a:solidFill>
                            <a:srgbClr val="000000"/>
                          </a:solidFill>
                          <a:effectLst/>
                          <a:latin typeface="Arial" panose="020B0604020202020204" pitchFamily="34" charset="0"/>
                        </a:rPr>
                        <a:t>2011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hMerge="1">
                  <a:txBody>
                    <a:bodyPr/>
                    <a:lstStyle/>
                    <a:p>
                      <a:endParaRPr lang="en-US"/>
                    </a:p>
                  </a:txBody>
                  <a:tcPr/>
                </a:tc>
                <a:tc gridSpan="2">
                  <a:txBody>
                    <a:bodyPr/>
                    <a:lstStyle/>
                    <a:p>
                      <a:pPr algn="ctr" rtl="0" fontAlgn="ctr"/>
                      <a:r>
                        <a:rPr lang="en-US" sz="1200" b="1" i="0" u="none" strike="noStrike">
                          <a:solidFill>
                            <a:srgbClr val="000000"/>
                          </a:solidFill>
                          <a:effectLst/>
                          <a:latin typeface="Arial" panose="020B0604020202020204" pitchFamily="34" charset="0"/>
                        </a:rPr>
                        <a:t>2012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hMerge="1">
                  <a:txBody>
                    <a:bodyPr/>
                    <a:lstStyle/>
                    <a:p>
                      <a:endParaRPr lang="en-US"/>
                    </a:p>
                  </a:txBody>
                  <a:tcPr/>
                </a:tc>
                <a:tc gridSpan="2">
                  <a:txBody>
                    <a:bodyPr/>
                    <a:lstStyle/>
                    <a:p>
                      <a:pPr algn="ctr" rtl="0" fontAlgn="ctr"/>
                      <a:r>
                        <a:rPr lang="en-US" sz="1200" b="1" i="0" u="none" strike="noStrike">
                          <a:solidFill>
                            <a:srgbClr val="000000"/>
                          </a:solidFill>
                          <a:effectLst/>
                          <a:latin typeface="Arial" panose="020B0604020202020204" pitchFamily="34" charset="0"/>
                        </a:rPr>
                        <a:t>2013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hMerge="1">
                  <a:txBody>
                    <a:bodyPr/>
                    <a:lstStyle/>
                    <a:p>
                      <a:endParaRPr lang="en-US"/>
                    </a:p>
                  </a:txBody>
                  <a:tcPr/>
                </a:tc>
              </a:tr>
              <a:tr h="219075">
                <a:tc>
                  <a:txBody>
                    <a:bodyPr/>
                    <a:lstStyle/>
                    <a:p>
                      <a:pPr algn="ctr" fontAlgn="t"/>
                      <a:r>
                        <a:rPr lang="en-US" sz="1200" b="0" i="0" u="none" strike="noStrike">
                          <a:solidFill>
                            <a:srgbClr val="000000"/>
                          </a:solidFill>
                          <a:effectLst/>
                          <a:latin typeface="Arial" panose="020B0604020202020204" pitchFamily="34" charset="0"/>
                        </a:rPr>
                        <a:t> </a:t>
                      </a: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Target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Actual</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Target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Actual</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Target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Actual</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Target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Actual</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Target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Actual</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r>
              <a:tr h="209550">
                <a:tc>
                  <a:txBody>
                    <a:bodyPr/>
                    <a:lstStyle/>
                    <a:p>
                      <a:pPr algn="ctr" rtl="0" fontAlgn="ctr"/>
                      <a:r>
                        <a:rPr lang="en-US" sz="1200" b="0" i="0" u="none" strike="noStrike">
                          <a:solidFill>
                            <a:srgbClr val="000000"/>
                          </a:solidFill>
                          <a:effectLst/>
                          <a:latin typeface="Arial" panose="020B0604020202020204" pitchFamily="34" charset="0"/>
                        </a:rPr>
                        <a:t>Asia</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000000"/>
                          </a:solidFill>
                          <a:effectLst/>
                          <a:latin typeface="Arial" panose="020B0604020202020204" pitchFamily="34" charset="0"/>
                        </a:rPr>
                        <a:t>13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dirty="0">
                          <a:solidFill>
                            <a:srgbClr val="FFFFFF"/>
                          </a:solidFill>
                          <a:effectLst/>
                          <a:latin typeface="Arial" panose="020B0604020202020204" pitchFamily="34" charset="0"/>
                        </a:rPr>
                        <a:t>13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14</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15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14</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15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15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16</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16</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17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00025">
                <a:tc>
                  <a:txBody>
                    <a:bodyPr/>
                    <a:lstStyle/>
                    <a:p>
                      <a:pPr algn="ctr" rtl="0" fontAlgn="ctr"/>
                      <a:r>
                        <a:rPr lang="en-US" sz="1200" b="0" i="0" u="none" strike="noStrike">
                          <a:solidFill>
                            <a:srgbClr val="000000"/>
                          </a:solidFill>
                          <a:effectLst/>
                          <a:latin typeface="Arial" panose="020B0604020202020204" pitchFamily="34" charset="0"/>
                        </a:rPr>
                        <a:t>Europe</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000000"/>
                          </a:solidFill>
                          <a:effectLst/>
                          <a:latin typeface="Arial" panose="020B0604020202020204" pitchFamily="34" charset="0"/>
                        </a:rPr>
                        <a:t>87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88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88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87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86</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dirty="0">
                          <a:solidFill>
                            <a:srgbClr val="000000"/>
                          </a:solidFill>
                          <a:effectLst/>
                          <a:latin typeface="Arial" panose="020B0604020202020204" pitchFamily="34" charset="0"/>
                        </a:rPr>
                        <a:t>82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00025">
                <a:tc>
                  <a:txBody>
                    <a:bodyPr/>
                    <a:lstStyle/>
                    <a:p>
                      <a:pPr algn="ctr" rtl="0" fontAlgn="ctr"/>
                      <a:r>
                        <a:rPr lang="en-US" sz="1200" b="0" i="0" u="none" strike="noStrike">
                          <a:solidFill>
                            <a:srgbClr val="000000"/>
                          </a:solidFill>
                          <a:effectLst/>
                          <a:latin typeface="Arial" panose="020B0604020202020204" pitchFamily="34" charset="0"/>
                        </a:rPr>
                        <a:t>Middle East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endParaRPr lang="en-US" sz="1200" b="0" i="0" u="none" strike="noStrike" dirty="0">
                        <a:solidFill>
                          <a:srgbClr val="000000"/>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23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25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24</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27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30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30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30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31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32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00025">
                <a:tc>
                  <a:txBody>
                    <a:bodyPr/>
                    <a:lstStyle/>
                    <a:p>
                      <a:pPr algn="ctr" rtl="0" fontAlgn="ctr"/>
                      <a:r>
                        <a:rPr lang="en-US" sz="1200" b="0" i="0" u="none" strike="noStrike">
                          <a:solidFill>
                            <a:srgbClr val="000000"/>
                          </a:solidFill>
                          <a:effectLst/>
                          <a:latin typeface="Arial" panose="020B0604020202020204" pitchFamily="34" charset="0"/>
                        </a:rPr>
                        <a:t>North America</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000000"/>
                          </a:solidFill>
                          <a:effectLst/>
                          <a:latin typeface="Arial" panose="020B0604020202020204" pitchFamily="34" charset="0"/>
                        </a:rPr>
                        <a:t>57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57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63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63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69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70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76</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78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endParaRPr lang="en-US" sz="1200" b="0" i="0" u="none" strike="noStrike" dirty="0">
                        <a:solidFill>
                          <a:srgbClr val="000000"/>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19075">
                <a:tc>
                  <a:txBody>
                    <a:bodyPr/>
                    <a:lstStyle/>
                    <a:p>
                      <a:pPr algn="ctr" fontAlgn="b"/>
                      <a:r>
                        <a:rPr lang="en-US" sz="1200" b="0" i="0" u="none" strike="noStrike">
                          <a:solidFill>
                            <a:srgbClr val="000000"/>
                          </a:solidFill>
                          <a:effectLst/>
                          <a:latin typeface="Calibri" panose="020F0502020204030204" pitchFamily="34" charset="0"/>
                        </a:rPr>
                        <a:t>TOTAL</a:t>
                      </a:r>
                    </a:p>
                  </a:txBody>
                  <a:tcPr marL="9525" marR="9525" marT="9525" marB="0" anchor="b">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tcPr>
                </a:tc>
                <a:tc>
                  <a:txBody>
                    <a:bodyPr/>
                    <a:lstStyle/>
                    <a:p>
                      <a:pPr algn="ctr" fontAlgn="ctr"/>
                      <a:r>
                        <a:rPr lang="en-US" sz="1200" b="0" i="0" u="none" strike="noStrike" dirty="0">
                          <a:solidFill>
                            <a:schemeClr val="tx1"/>
                          </a:solidFill>
                          <a:effectLst/>
                          <a:latin typeface="Arial" panose="020B0604020202020204" pitchFamily="34" charset="0"/>
                        </a:rPr>
                        <a:t>180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200" b="0" i="0" u="none" strike="noStrike">
                          <a:solidFill>
                            <a:srgbClr val="FFFFFF"/>
                          </a:solidFill>
                          <a:effectLst/>
                          <a:latin typeface="Calibri" panose="020F0502020204030204" pitchFamily="34" charset="0"/>
                        </a:rPr>
                        <a:t>181</a:t>
                      </a:r>
                    </a:p>
                  </a:txBody>
                  <a:tcPr marL="9525" marR="9525" marT="9525"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dirty="0">
                          <a:solidFill>
                            <a:srgbClr val="FFFFFF"/>
                          </a:solidFill>
                          <a:effectLst/>
                          <a:latin typeface="Arial" panose="020B0604020202020204" pitchFamily="34" charset="0"/>
                        </a:rPr>
                        <a:t>189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200" b="0" i="0" u="none" strike="noStrike">
                          <a:solidFill>
                            <a:srgbClr val="FFFFFF"/>
                          </a:solidFill>
                          <a:effectLst/>
                          <a:latin typeface="Calibri" panose="020F0502020204030204" pitchFamily="34" charset="0"/>
                        </a:rPr>
                        <a:t>191</a:t>
                      </a:r>
                    </a:p>
                  </a:txBody>
                  <a:tcPr marL="9525" marR="9525" marT="9525"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dirty="0">
                          <a:solidFill>
                            <a:srgbClr val="FFFFFF"/>
                          </a:solidFill>
                          <a:effectLst/>
                          <a:latin typeface="Arial" panose="020B0604020202020204" pitchFamily="34" charset="0"/>
                        </a:rPr>
                        <a:t>198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200" b="0" i="0" u="none" strike="noStrike">
                          <a:solidFill>
                            <a:srgbClr val="FFFFFF"/>
                          </a:solidFill>
                          <a:effectLst/>
                          <a:latin typeface="Calibri" panose="020F0502020204030204" pitchFamily="34" charset="0"/>
                        </a:rPr>
                        <a:t>203</a:t>
                      </a:r>
                    </a:p>
                  </a:txBody>
                  <a:tcPr marL="9525" marR="9525" marT="9525"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a:solidFill>
                            <a:srgbClr val="FFFFFF"/>
                          </a:solidFill>
                          <a:effectLst/>
                          <a:latin typeface="Arial" panose="020B0604020202020204" pitchFamily="34" charset="0"/>
                        </a:rPr>
                        <a:t>208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200" b="0" i="0" u="none" strike="noStrike">
                          <a:solidFill>
                            <a:srgbClr val="FFFFFF"/>
                          </a:solidFill>
                          <a:effectLst/>
                          <a:latin typeface="Calibri" panose="020F0502020204030204" pitchFamily="34" charset="0"/>
                        </a:rPr>
                        <a:t>210</a:t>
                      </a:r>
                    </a:p>
                  </a:txBody>
                  <a:tcPr marL="9525" marR="9525" marT="9525"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dirty="0">
                          <a:solidFill>
                            <a:schemeClr val="tx1"/>
                          </a:solidFill>
                          <a:effectLst/>
                          <a:latin typeface="Arial" panose="020B0604020202020204" pitchFamily="34" charset="0"/>
                        </a:rPr>
                        <a:t>219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200" b="0" i="0" u="none" strike="noStrike" dirty="0">
                          <a:solidFill>
                            <a:srgbClr val="FFFFFF"/>
                          </a:solidFill>
                          <a:effectLst/>
                          <a:latin typeface="Calibri" panose="020F0502020204030204" pitchFamily="34" charset="0"/>
                        </a:rPr>
                        <a:t>218</a:t>
                      </a:r>
                    </a:p>
                  </a:txBody>
                  <a:tcPr marL="9525" marR="9525" marT="9525" marB="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a:noFill/>
                    </a:lnB>
                    <a:solidFill>
                      <a:srgbClr val="FFFFFF"/>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803587495"/>
              </p:ext>
            </p:extLst>
          </p:nvPr>
        </p:nvGraphicFramePr>
        <p:xfrm>
          <a:off x="577850" y="4184085"/>
          <a:ext cx="8064500" cy="1476375"/>
        </p:xfrm>
        <a:graphic>
          <a:graphicData uri="http://schemas.openxmlformats.org/drawingml/2006/table">
            <a:tbl>
              <a:tblPr firstRow="1" bandRow="1"/>
              <a:tblGrid>
                <a:gridCol w="1294381"/>
                <a:gridCol w="599603"/>
                <a:gridCol w="561533"/>
                <a:gridCol w="520290"/>
                <a:gridCol w="609120"/>
                <a:gridCol w="875611"/>
                <a:gridCol w="609120"/>
                <a:gridCol w="875611"/>
                <a:gridCol w="609120"/>
                <a:gridCol w="875611"/>
                <a:gridCol w="634500"/>
              </a:tblGrid>
              <a:tr h="209550">
                <a:tc>
                  <a:txBody>
                    <a:bodyPr/>
                    <a:lstStyle/>
                    <a:p>
                      <a:pPr algn="ctr" fontAlgn="t"/>
                      <a:r>
                        <a:rPr lang="en-US" sz="1200" b="0" i="0" u="none" strike="noStrike" dirty="0">
                          <a:solidFill>
                            <a:srgbClr val="000000"/>
                          </a:solidFill>
                          <a:effectLst/>
                          <a:latin typeface="Arial" panose="020B0604020202020204" pitchFamily="34" charset="0"/>
                        </a:rPr>
                        <a:t> </a:t>
                      </a: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gridSpan="2">
                  <a:txBody>
                    <a:bodyPr/>
                    <a:lstStyle/>
                    <a:p>
                      <a:pPr algn="ctr" rtl="0" fontAlgn="ctr"/>
                      <a:r>
                        <a:rPr lang="en-US" sz="1200" b="1" i="0" u="none" strike="noStrike">
                          <a:solidFill>
                            <a:srgbClr val="000000"/>
                          </a:solidFill>
                          <a:effectLst/>
                          <a:latin typeface="Arial" panose="020B0604020202020204" pitchFamily="34" charset="0"/>
                        </a:rPr>
                        <a:t>2009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hMerge="1">
                  <a:txBody>
                    <a:bodyPr/>
                    <a:lstStyle/>
                    <a:p>
                      <a:endParaRPr lang="en-US"/>
                    </a:p>
                  </a:txBody>
                  <a:tcPr/>
                </a:tc>
                <a:tc gridSpan="2">
                  <a:txBody>
                    <a:bodyPr/>
                    <a:lstStyle/>
                    <a:p>
                      <a:pPr algn="ctr" rtl="0" fontAlgn="ctr"/>
                      <a:r>
                        <a:rPr lang="en-US" sz="1200" b="1" i="0" u="none" strike="noStrike">
                          <a:solidFill>
                            <a:srgbClr val="000000"/>
                          </a:solidFill>
                          <a:effectLst/>
                          <a:latin typeface="Arial" panose="020B0604020202020204" pitchFamily="34" charset="0"/>
                        </a:rPr>
                        <a:t>2010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hMerge="1">
                  <a:txBody>
                    <a:bodyPr/>
                    <a:lstStyle/>
                    <a:p>
                      <a:endParaRPr lang="en-US"/>
                    </a:p>
                  </a:txBody>
                  <a:tcPr/>
                </a:tc>
                <a:tc gridSpan="2">
                  <a:txBody>
                    <a:bodyPr/>
                    <a:lstStyle/>
                    <a:p>
                      <a:pPr algn="ctr" rtl="0" fontAlgn="ctr"/>
                      <a:r>
                        <a:rPr lang="en-US" sz="1200" b="1" i="0" u="none" strike="noStrike">
                          <a:solidFill>
                            <a:srgbClr val="000000"/>
                          </a:solidFill>
                          <a:effectLst/>
                          <a:latin typeface="Arial" panose="020B0604020202020204" pitchFamily="34" charset="0"/>
                        </a:rPr>
                        <a:t>2011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hMerge="1">
                  <a:txBody>
                    <a:bodyPr/>
                    <a:lstStyle/>
                    <a:p>
                      <a:endParaRPr lang="en-US"/>
                    </a:p>
                  </a:txBody>
                  <a:tcPr/>
                </a:tc>
                <a:tc gridSpan="2">
                  <a:txBody>
                    <a:bodyPr/>
                    <a:lstStyle/>
                    <a:p>
                      <a:pPr algn="ctr" rtl="0" fontAlgn="ctr"/>
                      <a:r>
                        <a:rPr lang="en-US" sz="1200" b="1" i="0" u="none" strike="noStrike">
                          <a:solidFill>
                            <a:srgbClr val="000000"/>
                          </a:solidFill>
                          <a:effectLst/>
                          <a:latin typeface="Arial" panose="020B0604020202020204" pitchFamily="34" charset="0"/>
                        </a:rPr>
                        <a:t>2012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hMerge="1">
                  <a:txBody>
                    <a:bodyPr/>
                    <a:lstStyle/>
                    <a:p>
                      <a:endParaRPr lang="en-US"/>
                    </a:p>
                  </a:txBody>
                  <a:tcPr/>
                </a:tc>
                <a:tc gridSpan="2">
                  <a:txBody>
                    <a:bodyPr/>
                    <a:lstStyle/>
                    <a:p>
                      <a:pPr algn="ctr" rtl="0" fontAlgn="ctr"/>
                      <a:r>
                        <a:rPr lang="en-US" sz="1200" b="1" i="0" u="none" strike="noStrike">
                          <a:solidFill>
                            <a:srgbClr val="000000"/>
                          </a:solidFill>
                          <a:effectLst/>
                          <a:latin typeface="Arial" panose="020B0604020202020204" pitchFamily="34" charset="0"/>
                        </a:rPr>
                        <a:t>2013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hMerge="1">
                  <a:txBody>
                    <a:bodyPr/>
                    <a:lstStyle/>
                    <a:p>
                      <a:endParaRPr lang="en-US"/>
                    </a:p>
                  </a:txBody>
                  <a:tcPr/>
                </a:tc>
              </a:tr>
              <a:tr h="209550">
                <a:tc>
                  <a:txBody>
                    <a:bodyPr/>
                    <a:lstStyle/>
                    <a:p>
                      <a:pPr algn="ctr" fontAlgn="t"/>
                      <a:r>
                        <a:rPr lang="en-US" sz="1200" b="0" i="0" u="none" strike="noStrike">
                          <a:solidFill>
                            <a:srgbClr val="000000"/>
                          </a:solidFill>
                          <a:effectLst/>
                          <a:latin typeface="Arial" panose="020B0604020202020204" pitchFamily="34" charset="0"/>
                        </a:rPr>
                        <a:t> </a:t>
                      </a: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Target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Actual</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Target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Actual</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Target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Actual</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Target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Actual</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Target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c>
                  <a:txBody>
                    <a:bodyPr/>
                    <a:lstStyle/>
                    <a:p>
                      <a:pPr algn="ctr" rtl="0" fontAlgn="ctr"/>
                      <a:r>
                        <a:rPr lang="en-US" sz="1200" b="0" i="0" u="none" strike="noStrike">
                          <a:solidFill>
                            <a:srgbClr val="000000"/>
                          </a:solidFill>
                          <a:effectLst/>
                          <a:latin typeface="Arial" panose="020B0604020202020204" pitchFamily="34" charset="0"/>
                        </a:rPr>
                        <a:t>Actual</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CCC"/>
                    </a:solidFill>
                  </a:tcPr>
                </a:tc>
              </a:tr>
              <a:tr h="209550">
                <a:tc>
                  <a:txBody>
                    <a:bodyPr/>
                    <a:lstStyle/>
                    <a:p>
                      <a:pPr algn="ctr" rtl="0" fontAlgn="ctr"/>
                      <a:r>
                        <a:rPr lang="en-US" sz="1200" b="0" i="0" u="none" strike="noStrike">
                          <a:solidFill>
                            <a:srgbClr val="000000"/>
                          </a:solidFill>
                          <a:effectLst/>
                          <a:latin typeface="Arial" panose="020B0604020202020204" pitchFamily="34" charset="0"/>
                        </a:rPr>
                        <a:t>Asia</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13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13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14</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15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14</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15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15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endParaRPr lang="en-US" sz="1200" b="0" i="0" u="none" strike="noStrike" dirty="0">
                        <a:solidFill>
                          <a:srgbClr val="000000"/>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16</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17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r>
              <a:tr h="209550">
                <a:tc>
                  <a:txBody>
                    <a:bodyPr/>
                    <a:lstStyle/>
                    <a:p>
                      <a:pPr algn="ctr" rtl="0" fontAlgn="ctr"/>
                      <a:r>
                        <a:rPr lang="en-US" sz="1200" b="0" i="0" u="none" strike="noStrike">
                          <a:solidFill>
                            <a:srgbClr val="000000"/>
                          </a:solidFill>
                          <a:effectLst/>
                          <a:latin typeface="Arial" panose="020B0604020202020204" pitchFamily="34" charset="0"/>
                        </a:rPr>
                        <a:t>Europe</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dirty="0">
                          <a:solidFill>
                            <a:srgbClr val="000000"/>
                          </a:solidFill>
                          <a:effectLst/>
                          <a:latin typeface="Arial" panose="020B0604020202020204" pitchFamily="34" charset="0"/>
                        </a:rPr>
                        <a:t>88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89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88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86</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80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r>
              <a:tr h="209550">
                <a:tc>
                  <a:txBody>
                    <a:bodyPr/>
                    <a:lstStyle/>
                    <a:p>
                      <a:pPr algn="ctr" rtl="0" fontAlgn="ctr"/>
                      <a:r>
                        <a:rPr lang="en-US" sz="1200" b="0" i="0" u="none" strike="noStrike">
                          <a:solidFill>
                            <a:srgbClr val="000000"/>
                          </a:solidFill>
                          <a:effectLst/>
                          <a:latin typeface="Arial" panose="020B0604020202020204" pitchFamily="34" charset="0"/>
                        </a:rPr>
                        <a:t>Middle East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23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23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25</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24</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27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30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30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30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c>
                  <a:txBody>
                    <a:bodyPr/>
                    <a:lstStyle/>
                    <a:p>
                      <a:pPr algn="ctr" fontAlgn="ctr"/>
                      <a:r>
                        <a:rPr lang="en-US" sz="1200" b="0" i="0" u="none" strike="noStrike">
                          <a:solidFill>
                            <a:srgbClr val="FFFFFF"/>
                          </a:solidFill>
                          <a:effectLst/>
                          <a:latin typeface="Arial" panose="020B0604020202020204" pitchFamily="34" charset="0"/>
                        </a:rPr>
                        <a:t>31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32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CEC"/>
                    </a:solidFill>
                  </a:tcPr>
                </a:tc>
              </a:tr>
              <a:tr h="209550">
                <a:tc>
                  <a:txBody>
                    <a:bodyPr/>
                    <a:lstStyle/>
                    <a:p>
                      <a:pPr algn="ctr" rtl="0" fontAlgn="ctr"/>
                      <a:r>
                        <a:rPr lang="en-US" sz="1200" b="0" i="0" u="none" strike="noStrike">
                          <a:solidFill>
                            <a:srgbClr val="000000"/>
                          </a:solidFill>
                          <a:effectLst/>
                          <a:latin typeface="Arial" panose="020B0604020202020204" pitchFamily="34" charset="0"/>
                        </a:rPr>
                        <a:t>North America</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57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57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63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63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dirty="0">
                          <a:solidFill>
                            <a:srgbClr val="FFFFFF"/>
                          </a:solidFill>
                          <a:effectLst/>
                          <a:latin typeface="Arial" panose="020B0604020202020204" pitchFamily="34" charset="0"/>
                        </a:rPr>
                        <a:t>69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70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76</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78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F6F6"/>
                    </a:solidFill>
                  </a:tcPr>
                </a:tc>
                <a:tc>
                  <a:txBody>
                    <a:bodyPr/>
                    <a:lstStyle/>
                    <a:p>
                      <a:pPr algn="ctr" fontAlgn="ctr"/>
                      <a:r>
                        <a:rPr lang="en-US" sz="1200" b="0" i="0" u="none" strike="noStrike">
                          <a:solidFill>
                            <a:srgbClr val="FFFFFF"/>
                          </a:solidFill>
                          <a:effectLst/>
                          <a:latin typeface="Arial" panose="020B0604020202020204" pitchFamily="34" charset="0"/>
                        </a:rPr>
                        <a:t>89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Arial" panose="020B0604020202020204" pitchFamily="34" charset="0"/>
                        </a:rPr>
                        <a:t>89</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F6F6"/>
                    </a:solidFill>
                  </a:tcPr>
                </a:tc>
              </a:tr>
              <a:tr h="219075">
                <a:tc>
                  <a:txBody>
                    <a:bodyPr/>
                    <a:lstStyle/>
                    <a:p>
                      <a:pPr algn="ctr" fontAlgn="b"/>
                      <a:r>
                        <a:rPr lang="en-US" sz="1200" b="0" i="0" u="none" strike="noStrike">
                          <a:solidFill>
                            <a:srgbClr val="000000"/>
                          </a:solidFill>
                          <a:effectLst/>
                          <a:latin typeface="Calibri" panose="020F0502020204030204" pitchFamily="34" charset="0"/>
                        </a:rPr>
                        <a:t>TOTAL</a:t>
                      </a:r>
                    </a:p>
                  </a:txBody>
                  <a:tcPr marL="9525" marR="9525" marT="9525" marB="0" anchor="b">
                    <a:lnL>
                      <a:noFill/>
                    </a:lnL>
                    <a:lnR>
                      <a:noFill/>
                    </a:lnR>
                    <a:lnT w="12700" cap="flat" cmpd="sng" algn="ctr">
                      <a:solidFill>
                        <a:srgbClr val="FFFFFF"/>
                      </a:solidFill>
                      <a:prstDash val="solid"/>
                      <a:round/>
                      <a:headEnd type="none" w="med" len="med"/>
                      <a:tailEnd type="none" w="med" len="med"/>
                    </a:lnT>
                    <a:lnB>
                      <a:noFill/>
                    </a:lnB>
                  </a:tcPr>
                </a:tc>
                <a:tc>
                  <a:txBody>
                    <a:bodyPr/>
                    <a:lstStyle/>
                    <a:p>
                      <a:pPr algn="ctr" fontAlgn="b"/>
                      <a:r>
                        <a:rPr lang="en-US" sz="1200" b="0" i="0" u="none" strike="noStrike">
                          <a:solidFill>
                            <a:srgbClr val="FFFFFF"/>
                          </a:solidFill>
                          <a:effectLst/>
                          <a:latin typeface="Calibri" panose="020F0502020204030204" pitchFamily="34" charset="0"/>
                        </a:rPr>
                        <a:t>180</a:t>
                      </a:r>
                    </a:p>
                  </a:txBody>
                  <a:tcPr marL="9525" marR="9525" marT="9525" marB="0" anchor="b">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dirty="0">
                          <a:solidFill>
                            <a:schemeClr val="tx1"/>
                          </a:solidFill>
                          <a:effectLst/>
                          <a:latin typeface="Arial" panose="020B0604020202020204" pitchFamily="34" charset="0"/>
                        </a:rPr>
                        <a:t>181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200" b="0" i="0" u="none" strike="noStrike">
                          <a:solidFill>
                            <a:srgbClr val="FFFFFF"/>
                          </a:solidFill>
                          <a:effectLst/>
                          <a:latin typeface="Calibri" panose="020F0502020204030204" pitchFamily="34" charset="0"/>
                        </a:rPr>
                        <a:t>189</a:t>
                      </a:r>
                    </a:p>
                  </a:txBody>
                  <a:tcPr marL="9525" marR="9525" marT="9525"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a:solidFill>
                            <a:srgbClr val="FFFFFF"/>
                          </a:solidFill>
                          <a:effectLst/>
                          <a:latin typeface="Arial" panose="020B0604020202020204" pitchFamily="34" charset="0"/>
                        </a:rPr>
                        <a:t>191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200" b="0" i="0" u="none" strike="noStrike">
                          <a:solidFill>
                            <a:srgbClr val="FFFFFF"/>
                          </a:solidFill>
                          <a:effectLst/>
                          <a:latin typeface="Calibri" panose="020F0502020204030204" pitchFamily="34" charset="0"/>
                        </a:rPr>
                        <a:t>198</a:t>
                      </a:r>
                    </a:p>
                  </a:txBody>
                  <a:tcPr marL="9525" marR="9525" marT="9525"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a:solidFill>
                            <a:srgbClr val="FFFFFF"/>
                          </a:solidFill>
                          <a:effectLst/>
                          <a:latin typeface="Arial" panose="020B0604020202020204" pitchFamily="34" charset="0"/>
                        </a:rPr>
                        <a:t>203</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200" b="0" i="0" u="none" strike="noStrike">
                          <a:solidFill>
                            <a:srgbClr val="FFFFFF"/>
                          </a:solidFill>
                          <a:effectLst/>
                          <a:latin typeface="Calibri" panose="020F0502020204030204" pitchFamily="34" charset="0"/>
                        </a:rPr>
                        <a:t>208</a:t>
                      </a:r>
                    </a:p>
                  </a:txBody>
                  <a:tcPr marL="9525" marR="9525" marT="9525"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dirty="0">
                          <a:solidFill>
                            <a:schemeClr val="tx1"/>
                          </a:solidFill>
                          <a:effectLst/>
                          <a:latin typeface="Arial" panose="020B0604020202020204" pitchFamily="34" charset="0"/>
                        </a:rPr>
                        <a:t>210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200" b="0" i="0" u="none" strike="noStrike">
                          <a:solidFill>
                            <a:srgbClr val="FFFFFF"/>
                          </a:solidFill>
                          <a:effectLst/>
                          <a:latin typeface="Calibri" panose="020F0502020204030204" pitchFamily="34" charset="0"/>
                        </a:rPr>
                        <a:t>219</a:t>
                      </a:r>
                    </a:p>
                  </a:txBody>
                  <a:tcPr marL="9525" marR="9525" marT="9525"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dirty="0">
                          <a:solidFill>
                            <a:srgbClr val="FFFFFF"/>
                          </a:solidFill>
                          <a:effectLst/>
                          <a:latin typeface="Arial" panose="020B0604020202020204" pitchFamily="34" charset="0"/>
                        </a:rPr>
                        <a:t>218</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433" name="TextBox 11"/>
          <p:cNvSpPr txBox="1">
            <a:spLocks noChangeArrowheads="1"/>
          </p:cNvSpPr>
          <p:nvPr/>
        </p:nvSpPr>
        <p:spPr bwMode="auto">
          <a:xfrm>
            <a:off x="3619500" y="3803085"/>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r>
              <a:rPr lang="en-US"/>
              <a:t>Actual Revenue</a:t>
            </a:r>
          </a:p>
        </p:txBody>
      </p:sp>
      <p:sp>
        <p:nvSpPr>
          <p:cNvPr id="7" name="TextBox 1"/>
          <p:cNvSpPr txBox="1">
            <a:spLocks noChangeArrowheads="1"/>
          </p:cNvSpPr>
          <p:nvPr/>
        </p:nvSpPr>
        <p:spPr bwMode="auto">
          <a:xfrm>
            <a:off x="2043545" y="1290345"/>
            <a:ext cx="5514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1</a:t>
            </a:r>
            <a:r>
              <a:rPr lang="en-US" sz="1800" b="1" dirty="0" smtClean="0"/>
              <a:t>: Target and Observed Revenues</a:t>
            </a:r>
            <a:endParaRPr lang="en-US" sz="1800" b="1" dirty="0"/>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12" name="TextBox 11"/>
          <p:cNvSpPr txBox="1">
            <a:spLocks noChangeArrowheads="1"/>
          </p:cNvSpPr>
          <p:nvPr/>
        </p:nvSpPr>
        <p:spPr bwMode="auto">
          <a:xfrm>
            <a:off x="1828800" y="362383"/>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smtClean="0"/>
              <a:t>Case 10: </a:t>
            </a:r>
            <a:r>
              <a:rPr lang="en-US" sz="2400" b="1" dirty="0"/>
              <a:t>Furberry</a:t>
            </a:r>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80</a:t>
            </a:fld>
            <a:endParaRPr lang="en-US" dirty="0"/>
          </a:p>
        </p:txBody>
      </p:sp>
    </p:spTree>
    <p:extLst>
      <p:ext uri="{BB962C8B-B14F-4D97-AF65-F5344CB8AC3E}">
        <p14:creationId xmlns:p14="http://schemas.microsoft.com/office/powerpoint/2010/main" val="1982664228"/>
      </p:ext>
    </p:extLst>
  </p:cSld>
  <p:clrMapOvr>
    <a:masterClrMapping/>
  </p:clrMapOvr>
  <p:timing>
    <p:tnLst>
      <p:par>
        <p:cTn xmlns:p14="http://schemas.microsoft.com/office/powerpoint/2010/mai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4"/>
          <p:cNvSpPr txBox="1">
            <a:spLocks noChangeArrowheads="1"/>
          </p:cNvSpPr>
          <p:nvPr/>
        </p:nvSpPr>
        <p:spPr bwMode="auto">
          <a:xfrm>
            <a:off x="2743200" y="1025270"/>
            <a:ext cx="373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algn="ctr" eaLnBrk="1" hangingPunct="1"/>
            <a:r>
              <a:rPr lang="en-US" b="1" dirty="0"/>
              <a:t>Exhibit 2: Guidance</a:t>
            </a:r>
          </a:p>
        </p:txBody>
      </p:sp>
      <p:graphicFrame>
        <p:nvGraphicFramePr>
          <p:cNvPr id="9" name="Table 8"/>
          <p:cNvGraphicFramePr>
            <a:graphicFrameLocks noGrp="1"/>
          </p:cNvGraphicFramePr>
          <p:nvPr>
            <p:extLst>
              <p:ext uri="{D42A27DB-BD31-4B8C-83A1-F6EECF244321}">
                <p14:modId xmlns:p14="http://schemas.microsoft.com/office/powerpoint/2010/main" val="2936864384"/>
              </p:ext>
            </p:extLst>
          </p:nvPr>
        </p:nvGraphicFramePr>
        <p:xfrm>
          <a:off x="279400" y="1395158"/>
          <a:ext cx="8534400" cy="2103136"/>
        </p:xfrm>
        <a:graphic>
          <a:graphicData uri="http://schemas.openxmlformats.org/drawingml/2006/table">
            <a:tbl>
              <a:tblPr firstRow="1" bandRow="1">
                <a:tableStyleId>{616DA210-FB5B-4158-B5E0-FEB733F419BA}</a:tableStyleId>
              </a:tblPr>
              <a:tblGrid>
                <a:gridCol w="1600200"/>
                <a:gridCol w="6934200"/>
              </a:tblGrid>
              <a:tr h="696912">
                <a:tc>
                  <a:txBody>
                    <a:bodyPr/>
                    <a:lstStyle/>
                    <a:p>
                      <a:pPr algn="ctr"/>
                      <a:r>
                        <a:rPr lang="en-US" sz="1800" b="1" baseline="0" dirty="0" smtClean="0"/>
                        <a:t>Guidance</a:t>
                      </a:r>
                    </a:p>
                  </a:txBody>
                  <a:tcPr marT="45728" marB="45728"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Ask the candidate</a:t>
                      </a:r>
                      <a:r>
                        <a:rPr lang="en-US" sz="1200" b="1" i="0" kern="1200" baseline="0" dirty="0" smtClean="0">
                          <a:solidFill>
                            <a:schemeClr val="tx1"/>
                          </a:solidFill>
                          <a:latin typeface="+mj-lt"/>
                          <a:ea typeface="+mn-ea"/>
                          <a:cs typeface="+mn-cs"/>
                        </a:rPr>
                        <a:t>: “Why do you think this has happened?” </a:t>
                      </a:r>
                      <a:r>
                        <a:rPr lang="en-US" sz="1200" b="0" i="0" kern="1200" baseline="0" dirty="0" smtClean="0">
                          <a:solidFill>
                            <a:schemeClr val="tx1"/>
                          </a:solidFill>
                          <a:latin typeface="+mj-lt"/>
                          <a:ea typeface="+mn-ea"/>
                          <a:cs typeface="+mn-cs"/>
                        </a:rPr>
                        <a:t>As the candidate is brainstorming, hand out Exhibit 2.</a:t>
                      </a:r>
                      <a:endParaRPr lang="en-US" sz="1200" b="1" i="1" kern="1200" baseline="0" dirty="0" smtClean="0">
                        <a:solidFill>
                          <a:schemeClr val="tx1"/>
                        </a:solidFill>
                        <a:latin typeface="Calibri" pitchFamily="34" charset="0"/>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Calibri" pitchFamily="34" charset="0"/>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candidate should layout several buckets/causes for the drop in Brand Perception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Guide the candidate to the following:</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Cheap counterfeit identical hats and scarves have flooded the UK market. Now </a:t>
                      </a:r>
                      <a:r>
                        <a:rPr lang="en-US" sz="1200" b="1" i="0" kern="1200" baseline="0" dirty="0" smtClean="0">
                          <a:solidFill>
                            <a:schemeClr val="tx1"/>
                          </a:solidFill>
                          <a:latin typeface="+mj-lt"/>
                          <a:ea typeface="+mn-ea"/>
                          <a:cs typeface="+mn-cs"/>
                        </a:rPr>
                        <a:t>low/middle consumers</a:t>
                      </a:r>
                      <a:r>
                        <a:rPr lang="en-US" sz="1200" b="0" i="0" kern="1200" baseline="0" dirty="0" smtClean="0">
                          <a:solidFill>
                            <a:schemeClr val="tx1"/>
                          </a:solidFill>
                          <a:latin typeface="+mj-lt"/>
                          <a:ea typeface="+mn-ea"/>
                          <a:cs typeface="+mn-cs"/>
                        </a:rPr>
                        <a:t> income are sporting </a:t>
                      </a:r>
                      <a:r>
                        <a:rPr lang="en-US" sz="1200" b="1" i="0" kern="1200" baseline="0" dirty="0" err="1" smtClean="0">
                          <a:solidFill>
                            <a:schemeClr val="tx1"/>
                          </a:solidFill>
                          <a:latin typeface="+mj-lt"/>
                          <a:ea typeface="+mn-ea"/>
                          <a:cs typeface="+mn-cs"/>
                        </a:rPr>
                        <a:t>Furberry’s</a:t>
                      </a:r>
                      <a:r>
                        <a:rPr lang="en-US" sz="1200" b="1" i="0" kern="1200" baseline="0" dirty="0" smtClean="0">
                          <a:solidFill>
                            <a:schemeClr val="tx1"/>
                          </a:solidFill>
                          <a:latin typeface="+mj-lt"/>
                          <a:ea typeface="+mn-ea"/>
                          <a:cs typeface="+mn-cs"/>
                        </a:rPr>
                        <a:t> signature plaid</a:t>
                      </a:r>
                      <a:r>
                        <a:rPr lang="en-US" sz="1200" b="0" i="0" kern="1200" baseline="0" dirty="0" smtClean="0">
                          <a:solidFill>
                            <a:schemeClr val="tx1"/>
                          </a:solidFill>
                          <a:latin typeface="+mj-lt"/>
                          <a:ea typeface="+mn-ea"/>
                          <a:cs typeface="+mn-cs"/>
                        </a:rPr>
                        <a:t>. Wealthy customers have fled the brand.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Ask “How would counterfeits impact the brand?” if the candidate is stuck</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marT="45728" marB="45728" anchor="ctr"/>
                </a:tc>
              </a:tr>
            </a:tbl>
          </a:graphicData>
        </a:graphic>
      </p:graphicFrame>
      <p:graphicFrame>
        <p:nvGraphicFramePr>
          <p:cNvPr id="5" name="Chart 4"/>
          <p:cNvGraphicFramePr/>
          <p:nvPr>
            <p:extLst>
              <p:ext uri="{D42A27DB-BD31-4B8C-83A1-F6EECF244321}">
                <p14:modId xmlns:p14="http://schemas.microsoft.com/office/powerpoint/2010/main" val="904104176"/>
              </p:ext>
            </p:extLst>
          </p:nvPr>
        </p:nvGraphicFramePr>
        <p:xfrm>
          <a:off x="1504950" y="3477490"/>
          <a:ext cx="5777345" cy="3313545"/>
        </p:xfrm>
        <a:graphic>
          <a:graphicData uri="http://schemas.openxmlformats.org/drawingml/2006/chart">
            <c:chart xmlns:c="http://schemas.openxmlformats.org/drawingml/2006/chart" xmlns:r="http://schemas.openxmlformats.org/officeDocument/2006/relationships" r:id="rId3"/>
          </a:graphicData>
        </a:graphic>
      </p:graphicFrame>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10" name="TextBox 9"/>
          <p:cNvSpPr txBox="1">
            <a:spLocks noChangeArrowheads="1"/>
          </p:cNvSpPr>
          <p:nvPr/>
        </p:nvSpPr>
        <p:spPr bwMode="auto">
          <a:xfrm>
            <a:off x="1828800" y="362383"/>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smtClean="0"/>
              <a:t>Case 10: </a:t>
            </a:r>
            <a:r>
              <a:rPr lang="en-US" sz="2400" b="1" dirty="0"/>
              <a:t>Furberry</a:t>
            </a:r>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81</a:t>
            </a:fld>
            <a:endParaRPr lang="en-US" dirty="0"/>
          </a:p>
        </p:txBody>
      </p:sp>
    </p:spTree>
    <p:extLst>
      <p:ext uri="{BB962C8B-B14F-4D97-AF65-F5344CB8AC3E}">
        <p14:creationId xmlns:p14="http://schemas.microsoft.com/office/powerpoint/2010/main" val="368363456"/>
      </p:ext>
    </p:extLst>
  </p:cSld>
  <p:clrMapOvr>
    <a:masterClrMapping/>
  </p:clrMapOvr>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p:cNvGraphicFramePr/>
          <p:nvPr>
            <p:extLst>
              <p:ext uri="{D42A27DB-BD31-4B8C-83A1-F6EECF244321}">
                <p14:modId xmlns:p14="http://schemas.microsoft.com/office/powerpoint/2010/main" val="2698753092"/>
              </p:ext>
            </p:extLst>
          </p:nvPr>
        </p:nvGraphicFramePr>
        <p:xfrm>
          <a:off x="1524000" y="1868054"/>
          <a:ext cx="6096000" cy="4064000"/>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7" name="TextBox 6"/>
          <p:cNvSpPr txBox="1">
            <a:spLocks noChangeArrowheads="1"/>
          </p:cNvSpPr>
          <p:nvPr/>
        </p:nvSpPr>
        <p:spPr bwMode="auto">
          <a:xfrm>
            <a:off x="1828800" y="362383"/>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smtClean="0"/>
              <a:t>Case 10: </a:t>
            </a:r>
            <a:r>
              <a:rPr lang="en-US" sz="2400" b="1" dirty="0"/>
              <a:t>Furberry</a:t>
            </a:r>
          </a:p>
        </p:txBody>
      </p:sp>
      <p:sp>
        <p:nvSpPr>
          <p:cNvPr id="8" name="TextBox 1"/>
          <p:cNvSpPr txBox="1">
            <a:spLocks noChangeArrowheads="1"/>
          </p:cNvSpPr>
          <p:nvPr/>
        </p:nvSpPr>
        <p:spPr bwMode="auto">
          <a:xfrm>
            <a:off x="2043545" y="1290345"/>
            <a:ext cx="5514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a:t>
            </a:r>
            <a:r>
              <a:rPr lang="en-US" sz="1800" b="1" dirty="0" smtClean="0"/>
              <a:t>2: Brand Perception</a:t>
            </a:r>
            <a:endParaRPr lang="en-US" sz="1800" b="1" dirty="0"/>
          </a:p>
        </p:txBody>
      </p:sp>
      <p:sp>
        <p:nvSpPr>
          <p:cNvPr id="2" name="TextBox 1"/>
          <p:cNvSpPr txBox="1"/>
          <p:nvPr/>
        </p:nvSpPr>
        <p:spPr>
          <a:xfrm>
            <a:off x="1067920" y="1798176"/>
            <a:ext cx="578224" cy="276999"/>
          </a:xfrm>
          <a:prstGeom prst="rect">
            <a:avLst/>
          </a:prstGeom>
          <a:noFill/>
        </p:spPr>
        <p:txBody>
          <a:bodyPr wrap="square" rtlCol="0">
            <a:spAutoFit/>
          </a:bodyPr>
          <a:lstStyle/>
          <a:p>
            <a:r>
              <a:rPr lang="en-US" sz="1200" dirty="0" smtClean="0"/>
              <a:t>Best</a:t>
            </a:r>
            <a:endParaRPr lang="en-US" sz="1200" dirty="0"/>
          </a:p>
        </p:txBody>
      </p:sp>
      <p:sp>
        <p:nvSpPr>
          <p:cNvPr id="9" name="TextBox 8"/>
          <p:cNvSpPr txBox="1"/>
          <p:nvPr/>
        </p:nvSpPr>
        <p:spPr>
          <a:xfrm>
            <a:off x="6831106" y="2075175"/>
            <a:ext cx="268941" cy="215444"/>
          </a:xfrm>
          <a:prstGeom prst="rect">
            <a:avLst/>
          </a:prstGeom>
          <a:noFill/>
        </p:spPr>
        <p:txBody>
          <a:bodyPr wrap="square" rtlCol="0">
            <a:spAutoFit/>
          </a:bodyPr>
          <a:lstStyle/>
          <a:p>
            <a:r>
              <a:rPr lang="en-US" sz="800" dirty="0"/>
              <a:t>M</a:t>
            </a:r>
          </a:p>
        </p:txBody>
      </p:sp>
      <p:sp>
        <p:nvSpPr>
          <p:cNvPr id="10" name="TextBox 9"/>
          <p:cNvSpPr txBox="1"/>
          <p:nvPr/>
        </p:nvSpPr>
        <p:spPr>
          <a:xfrm>
            <a:off x="6831106" y="2335297"/>
            <a:ext cx="268941" cy="215444"/>
          </a:xfrm>
          <a:prstGeom prst="rect">
            <a:avLst/>
          </a:prstGeom>
          <a:noFill/>
        </p:spPr>
        <p:txBody>
          <a:bodyPr wrap="square" rtlCol="0">
            <a:spAutoFit/>
          </a:bodyPr>
          <a:lstStyle/>
          <a:p>
            <a:r>
              <a:rPr lang="en-US" sz="800" dirty="0"/>
              <a:t>P</a:t>
            </a:r>
          </a:p>
        </p:txBody>
      </p:sp>
      <p:sp>
        <p:nvSpPr>
          <p:cNvPr id="11" name="Slide Number Placeholder 10"/>
          <p:cNvSpPr>
            <a:spLocks noGrp="1"/>
          </p:cNvSpPr>
          <p:nvPr>
            <p:ph type="sldNum" sz="quarter" idx="11"/>
          </p:nvPr>
        </p:nvSpPr>
        <p:spPr/>
        <p:txBody>
          <a:bodyPr/>
          <a:lstStyle/>
          <a:p>
            <a:pPr>
              <a:defRPr/>
            </a:pPr>
            <a:fld id="{2E1E1E2A-88E9-4CB1-89D2-8ABF177DA4C4}" type="slidenum">
              <a:rPr lang="en-US" smtClean="0"/>
              <a:pPr>
                <a:defRPr/>
              </a:pPr>
              <a:t>82</a:t>
            </a:fld>
            <a:endParaRPr lang="en-US" dirty="0"/>
          </a:p>
        </p:txBody>
      </p:sp>
    </p:spTree>
    <p:extLst>
      <p:ext uri="{BB962C8B-B14F-4D97-AF65-F5344CB8AC3E}">
        <p14:creationId xmlns:p14="http://schemas.microsoft.com/office/powerpoint/2010/main" val="3027834013"/>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328018056"/>
              </p:ext>
            </p:extLst>
          </p:nvPr>
        </p:nvGraphicFramePr>
        <p:xfrm>
          <a:off x="457200" y="1417638"/>
          <a:ext cx="8534400" cy="4480305"/>
        </p:xfrm>
        <a:graphic>
          <a:graphicData uri="http://schemas.openxmlformats.org/drawingml/2006/table">
            <a:tbl>
              <a:tblPr firstRow="1" bandRow="1">
                <a:tableStyleId>{616DA210-FB5B-4158-B5E0-FEB733F419BA}</a:tableStyleId>
              </a:tblPr>
              <a:tblGrid>
                <a:gridCol w="1600200"/>
                <a:gridCol w="6934200"/>
              </a:tblGrid>
              <a:tr h="640017">
                <a:tc>
                  <a:txBody>
                    <a:bodyPr/>
                    <a:lstStyle/>
                    <a:p>
                      <a:pPr algn="ctr"/>
                      <a:r>
                        <a:rPr lang="en-US" sz="1800" dirty="0" smtClean="0"/>
                        <a:t>Prompt #2</a:t>
                      </a:r>
                      <a:endParaRPr lang="en-US" sz="1800" dirty="0"/>
                    </a:p>
                  </a:txBody>
                  <a:tcPr marT="45722" marB="45722" anchor="ctr"/>
                </a:tc>
                <a:tc>
                  <a:txBody>
                    <a:bodyPr/>
                    <a:lstStyle/>
                    <a:p>
                      <a:r>
                        <a:rPr lang="en-US" sz="1200" b="0" i="0" kern="1200" baseline="0" dirty="0" smtClean="0">
                          <a:solidFill>
                            <a:schemeClr val="tx1"/>
                          </a:solidFill>
                          <a:latin typeface="+mj-lt"/>
                          <a:ea typeface="+mn-ea"/>
                          <a:cs typeface="+mn-cs"/>
                        </a:rPr>
                        <a:t>What should Furberry do?</a:t>
                      </a:r>
                    </a:p>
                  </a:txBody>
                  <a:tcPr marT="45722" marB="45722" anchor="ctr"/>
                </a:tc>
              </a:tr>
              <a:tr h="1295024">
                <a:tc>
                  <a:txBody>
                    <a:bodyPr/>
                    <a:lstStyle/>
                    <a:p>
                      <a:pPr algn="ctr"/>
                      <a:r>
                        <a:rPr lang="en-US" sz="1800" b="1" dirty="0" smtClean="0"/>
                        <a:t>Guidance</a:t>
                      </a:r>
                      <a:endParaRPr lang="en-US" sz="1800" b="1" baseline="0" dirty="0" smtClean="0"/>
                    </a:p>
                  </a:txBody>
                  <a:tcPr marT="45722" marB="45722"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j-lt"/>
                          <a:ea typeface="+mn-ea"/>
                          <a:cs typeface="+mn-cs"/>
                        </a:rPr>
                        <a:t>The candidate should outline several options.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j-lt"/>
                          <a:ea typeface="+mn-ea"/>
                          <a:cs typeface="+mn-cs"/>
                        </a:rPr>
                        <a:t>If the candidate asks for additional information, you can tell the candidate </a:t>
                      </a:r>
                      <a:r>
                        <a:rPr lang="en-US" sz="1200" b="1" i="0" kern="1200" baseline="0" dirty="0" smtClean="0">
                          <a:solidFill>
                            <a:schemeClr val="tx1"/>
                          </a:solidFill>
                          <a:latin typeface="+mj-lt"/>
                          <a:ea typeface="+mn-ea"/>
                          <a:cs typeface="+mn-cs"/>
                        </a:rPr>
                        <a:t>“I have no more information.”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If the candidate does not move towards a recommendation, say  </a:t>
                      </a:r>
                      <a:r>
                        <a:rPr lang="en-US" sz="1200" b="1" i="0" kern="1200" baseline="0" dirty="0" smtClean="0">
                          <a:solidFill>
                            <a:schemeClr val="tx1"/>
                          </a:solidFill>
                          <a:latin typeface="+mj-lt"/>
                          <a:ea typeface="+mn-ea"/>
                          <a:cs typeface="+mn-cs"/>
                        </a:rPr>
                        <a:t>“The client is about to walk in. I want you to update the CEO. “</a:t>
                      </a:r>
                      <a:endParaRPr lang="en-US" sz="1200" i="0" kern="1200" baseline="0" dirty="0" smtClean="0">
                        <a:solidFill>
                          <a:schemeClr val="tx1"/>
                        </a:solidFill>
                        <a:latin typeface="+mj-lt"/>
                        <a:ea typeface="+mn-ea"/>
                        <a:cs typeface="+mn-cs"/>
                      </a:endParaRPr>
                    </a:p>
                  </a:txBody>
                  <a:tcPr marT="45722" marB="45722" anchor="ctr"/>
                </a:tc>
              </a:tr>
              <a:tr h="2468684">
                <a:tc>
                  <a:txBody>
                    <a:bodyPr/>
                    <a:lstStyle/>
                    <a:p>
                      <a:pPr algn="ctr"/>
                      <a:r>
                        <a:rPr lang="en-US" sz="1800" b="1" i="0" dirty="0" smtClean="0"/>
                        <a:t>Performance Evaluation</a:t>
                      </a:r>
                      <a:endParaRPr lang="en-US" sz="1000" i="0" dirty="0"/>
                    </a:p>
                  </a:txBody>
                  <a:tcPr marT="45696" marB="45696"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The candidate outline a structured approach to identify the problem focusing on revenue</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The candidate syntheses the exhibits providing takeaways</a:t>
                      </a:r>
                    </a:p>
                    <a:p>
                      <a:pPr marL="171450" indent="-171450">
                        <a:buFont typeface="Arial" panose="020B0604020202020204" pitchFamily="34" charset="0"/>
                        <a:buChar char="•"/>
                      </a:pPr>
                      <a:endParaRPr lang="en-US" sz="1200" b="0" i="0" kern="1200" baseline="0" dirty="0" smtClean="0">
                        <a:solidFill>
                          <a:schemeClr val="tx1"/>
                        </a:solidFill>
                        <a:latin typeface="+mj-lt"/>
                        <a:ea typeface="+mn-ea"/>
                        <a:cs typeface="+mn-cs"/>
                      </a:endParaRP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The candidate prioritizes throughout the case and provides the “why”</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Candidate maintains composer especially when running into “dead ends”</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The candidate drives the case</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All parts of case demonstrate structured thinking  and are highly creative</a:t>
                      </a:r>
                    </a:p>
                  </a:txBody>
                  <a:tcPr marT="45696" marB="45696" anchor="ctr"/>
                </a:tc>
              </a:tr>
            </a:tbl>
          </a:graphicData>
        </a:graphic>
      </p:graphicFrame>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TextBox 8"/>
          <p:cNvSpPr txBox="1">
            <a:spLocks noChangeArrowheads="1"/>
          </p:cNvSpPr>
          <p:nvPr/>
        </p:nvSpPr>
        <p:spPr bwMode="auto">
          <a:xfrm>
            <a:off x="7481455" y="1091734"/>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8" name="TextBox 7"/>
          <p:cNvSpPr txBox="1">
            <a:spLocks noChangeArrowheads="1"/>
          </p:cNvSpPr>
          <p:nvPr/>
        </p:nvSpPr>
        <p:spPr bwMode="auto">
          <a:xfrm>
            <a:off x="1828800" y="362383"/>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smtClean="0"/>
              <a:t>Case 10: </a:t>
            </a:r>
            <a:r>
              <a:rPr lang="en-US" sz="2400" b="1" dirty="0"/>
              <a:t>Furberry</a:t>
            </a:r>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83</a:t>
            </a:fld>
            <a:endParaRPr lang="en-US" dirty="0"/>
          </a:p>
        </p:txBody>
      </p:sp>
    </p:spTree>
    <p:extLst>
      <p:ext uri="{BB962C8B-B14F-4D97-AF65-F5344CB8AC3E}">
        <p14:creationId xmlns:p14="http://schemas.microsoft.com/office/powerpoint/2010/main" val="2339604724"/>
      </p:ext>
    </p:extLst>
  </p:cSld>
  <p:clrMapOvr>
    <a:masterClrMapping/>
  </p:clrMapOvr>
  <p:timing>
    <p:tnLst>
      <p:par>
        <p:cTn xmlns:p14="http://schemas.microsoft.com/office/powerpoint/2010/mai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84</a:t>
            </a:fld>
            <a:endParaRPr lang="en-US" dirty="0"/>
          </a:p>
        </p:txBody>
      </p:sp>
    </p:spTree>
    <p:extLst>
      <p:ext uri="{BB962C8B-B14F-4D97-AF65-F5344CB8AC3E}">
        <p14:creationId xmlns:p14="http://schemas.microsoft.com/office/powerpoint/2010/main" val="3886480611"/>
      </p:ext>
    </p:extLst>
  </p:cSld>
  <p:clrMapOvr>
    <a:masterClrMapping/>
  </p:clrMapOvr>
  <p:timing>
    <p:tnLst>
      <p:par>
        <p:cTn xmlns:p14="http://schemas.microsoft.com/office/powerpoint/2010/mai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5"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512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11: What’s Next for Tony?</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187345252"/>
              </p:ext>
            </p:extLst>
          </p:nvPr>
        </p:nvGraphicFramePr>
        <p:xfrm>
          <a:off x="304800" y="1295400"/>
          <a:ext cx="8534400" cy="5415494"/>
        </p:xfrm>
        <a:graphic>
          <a:graphicData uri="http://schemas.openxmlformats.org/drawingml/2006/table">
            <a:tbl>
              <a:tblPr firstRow="1" bandRow="1">
                <a:tableStyleId>{616DA210-FB5B-4158-B5E0-FEB733F419BA}</a:tableStyleId>
              </a:tblPr>
              <a:tblGrid>
                <a:gridCol w="1600200"/>
                <a:gridCol w="6934200"/>
              </a:tblGrid>
              <a:tr h="1117797">
                <a:tc>
                  <a:txBody>
                    <a:bodyPr/>
                    <a:lstStyle/>
                    <a:p>
                      <a:pPr algn="ctr"/>
                      <a:r>
                        <a:rPr lang="en-US" sz="1800" dirty="0" smtClean="0"/>
                        <a:t>Prompt #1</a:t>
                      </a:r>
                      <a:endParaRPr lang="en-US" sz="1800" dirty="0"/>
                    </a:p>
                  </a:txBody>
                  <a:tcPr marT="45729" marB="45729" anchor="ctr"/>
                </a:tc>
                <a:tc>
                  <a:txBody>
                    <a:bodyPr/>
                    <a:lstStyle/>
                    <a:p>
                      <a:r>
                        <a:rPr lang="en-US" sz="1200" b="0" i="0" kern="1200" dirty="0" smtClean="0">
                          <a:solidFill>
                            <a:schemeClr val="tx1"/>
                          </a:solidFill>
                          <a:latin typeface="+mj-lt"/>
                          <a:ea typeface="+mn-ea"/>
                          <a:cs typeface="+mn-cs"/>
                        </a:rPr>
                        <a:t>Our</a:t>
                      </a:r>
                      <a:r>
                        <a:rPr lang="en-US" sz="1200" b="0" i="0" kern="1200" baseline="0" dirty="0" smtClean="0">
                          <a:solidFill>
                            <a:schemeClr val="tx1"/>
                          </a:solidFill>
                          <a:latin typeface="+mj-lt"/>
                          <a:ea typeface="+mn-ea"/>
                          <a:cs typeface="+mn-cs"/>
                        </a:rPr>
                        <a:t> client is a disgraced former congressman, Tony Politician, that resigned after numerous indecent text messages he sent surfaced in the media.  After congress, Tony is considering using his vast resources to purchase one of three companies.  Our job is to ensure he picks the right company that matches his interest and expertise, and is also profitable.</a:t>
                      </a:r>
                    </a:p>
                  </a:txBody>
                  <a:tcPr marT="45729" marB="45729" anchor="ctr"/>
                </a:tc>
              </a:tr>
              <a:tr h="4114603">
                <a:tc>
                  <a:txBody>
                    <a:bodyPr/>
                    <a:lstStyle/>
                    <a:p>
                      <a:pPr algn="ctr"/>
                      <a:r>
                        <a:rPr lang="en-US" sz="1800" b="1" dirty="0" smtClean="0"/>
                        <a:t>Guidance</a:t>
                      </a:r>
                      <a:endParaRPr lang="en-US" sz="1800" b="1" baseline="0" dirty="0" smtClean="0"/>
                    </a:p>
                  </a:txBody>
                  <a:tcPr marT="45729" marB="45729" anchor="ctr"/>
                </a:tc>
                <a:tc>
                  <a:txBody>
                    <a:bodyPr/>
                    <a:lstStyle/>
                    <a:p>
                      <a:r>
                        <a:rPr lang="en-US" sz="1200" i="0" kern="1200" baseline="0" dirty="0" smtClean="0">
                          <a:solidFill>
                            <a:schemeClr val="tx1"/>
                          </a:solidFill>
                          <a:latin typeface="+mj-lt"/>
                          <a:ea typeface="+mn-ea"/>
                          <a:cs typeface="+mn-cs"/>
                        </a:rPr>
                        <a:t>A good candidate will ask for more information about the three firms being considered, and hopefully background on the congressman.  If requested, provide the following:</a:t>
                      </a:r>
                    </a:p>
                    <a:p>
                      <a:endParaRPr lang="en-US" sz="1200" i="0" kern="1200" baseline="0" dirty="0" smtClean="0">
                        <a:solidFill>
                          <a:schemeClr val="tx1"/>
                        </a:solidFill>
                        <a:latin typeface="+mj-lt"/>
                        <a:ea typeface="+mn-ea"/>
                        <a:cs typeface="+mn-cs"/>
                      </a:endParaRPr>
                    </a:p>
                    <a:p>
                      <a:r>
                        <a:rPr lang="en-US" sz="1200" i="1" kern="1200" baseline="0" dirty="0" smtClean="0">
                          <a:solidFill>
                            <a:schemeClr val="tx1"/>
                          </a:solidFill>
                          <a:latin typeface="+mj-lt"/>
                          <a:ea typeface="+mn-ea"/>
                          <a:cs typeface="+mn-cs"/>
                        </a:rPr>
                        <a:t>Provide Exhibit #1 for Tony’s background</a:t>
                      </a:r>
                    </a:p>
                    <a:p>
                      <a:endParaRPr lang="en-US" sz="1200" i="0" kern="1200" baseline="0" dirty="0" smtClean="0">
                        <a:solidFill>
                          <a:schemeClr val="tx1"/>
                        </a:solidFill>
                        <a:latin typeface="+mj-lt"/>
                        <a:ea typeface="+mn-ea"/>
                        <a:cs typeface="+mn-cs"/>
                      </a:endParaRPr>
                    </a:p>
                    <a:p>
                      <a:r>
                        <a:rPr lang="en-US" sz="1200" b="1" i="0" u="sng" kern="1200" baseline="0" dirty="0" err="1" smtClean="0">
                          <a:solidFill>
                            <a:schemeClr val="tx1"/>
                          </a:solidFill>
                          <a:latin typeface="+mj-lt"/>
                          <a:ea typeface="+mn-ea"/>
                          <a:cs typeface="+mn-cs"/>
                        </a:rPr>
                        <a:t>PictSecure</a:t>
                      </a:r>
                      <a:endParaRPr lang="en-US" sz="1200" b="0" i="0" u="none"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err="1" smtClean="0">
                          <a:solidFill>
                            <a:schemeClr val="tx1"/>
                          </a:solidFill>
                          <a:latin typeface="+mn-lt"/>
                          <a:ea typeface="+mn-ea"/>
                          <a:cs typeface="+mn-cs"/>
                        </a:rPr>
                        <a:t>PictSecure</a:t>
                      </a:r>
                      <a:r>
                        <a:rPr lang="en-US" sz="1200" b="0" i="0" kern="1200" baseline="0" dirty="0" smtClean="0">
                          <a:solidFill>
                            <a:schemeClr val="tx1"/>
                          </a:solidFill>
                          <a:latin typeface="+mn-lt"/>
                          <a:ea typeface="+mn-ea"/>
                          <a:cs typeface="+mn-cs"/>
                        </a:rPr>
                        <a:t> is a picture sharing application that ensures pictures cannot be forwarded beyond the original recipient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Start up based in Santa Barbara, California</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Highly technical product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1" i="0" u="sng" kern="1200" baseline="0" dirty="0" smtClean="0">
                          <a:solidFill>
                            <a:schemeClr val="tx1"/>
                          </a:solidFill>
                          <a:latin typeface="+mn-lt"/>
                          <a:ea typeface="+mn-ea"/>
                          <a:cs typeface="+mn-cs"/>
                        </a:rPr>
                        <a:t>Doom Shelters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Builds and installs Dooms Day Shelters (bomb proof, </a:t>
                      </a:r>
                      <a:r>
                        <a:rPr lang="en-US" sz="1200" b="0" i="0" u="none" kern="1200" baseline="0" dirty="0" err="1" smtClean="0">
                          <a:solidFill>
                            <a:schemeClr val="tx1"/>
                          </a:solidFill>
                          <a:latin typeface="+mn-lt"/>
                          <a:ea typeface="+mn-ea"/>
                          <a:cs typeface="+mn-cs"/>
                        </a:rPr>
                        <a:t>haz</a:t>
                      </a:r>
                      <a:r>
                        <a:rPr lang="en-US" sz="1200" b="0" i="0" u="none" kern="1200" baseline="0" dirty="0" smtClean="0">
                          <a:solidFill>
                            <a:schemeClr val="tx1"/>
                          </a:solidFill>
                          <a:latin typeface="+mn-lt"/>
                          <a:ea typeface="+mn-ea"/>
                          <a:cs typeface="+mn-cs"/>
                        </a:rPr>
                        <a:t>-mat proof living quarters)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Mom and pop company located in Wichita, Kansas</a:t>
                      </a:r>
                    </a:p>
                    <a:p>
                      <a:pPr marL="171450" indent="-171450">
                        <a:buFont typeface="Arial" pitchFamily="34" charset="0"/>
                        <a:buChar char="•"/>
                      </a:pPr>
                      <a:r>
                        <a:rPr lang="en-US" sz="1200" b="0" i="0" u="none" kern="1200" dirty="0" smtClean="0">
                          <a:solidFill>
                            <a:schemeClr val="tx1"/>
                          </a:solidFill>
                          <a:latin typeface="+mj-lt"/>
                          <a:ea typeface="+mn-ea"/>
                          <a:cs typeface="+mn-cs"/>
                        </a:rPr>
                        <a:t>Construction</a:t>
                      </a:r>
                      <a:r>
                        <a:rPr lang="en-US" sz="1200" b="0" i="0" u="none" kern="1200" baseline="0" dirty="0" smtClean="0">
                          <a:solidFill>
                            <a:schemeClr val="tx1"/>
                          </a:solidFill>
                          <a:latin typeface="+mj-lt"/>
                          <a:ea typeface="+mn-ea"/>
                          <a:cs typeface="+mn-cs"/>
                        </a:rPr>
                        <a:t> focuses, with conspiracy theory driven customers</a:t>
                      </a:r>
                    </a:p>
                    <a:p>
                      <a:pPr marL="171450" indent="-171450">
                        <a:buFont typeface="Arial" pitchFamily="34" charset="0"/>
                        <a:buChar char="•"/>
                      </a:pPr>
                      <a:endParaRPr lang="en-US" sz="1200" b="0" i="0" u="none" kern="1200" baseline="0" dirty="0" smtClean="0">
                        <a:solidFill>
                          <a:schemeClr val="tx1"/>
                        </a:solidFill>
                        <a:latin typeface="+mj-lt"/>
                        <a:ea typeface="+mn-ea"/>
                        <a:cs typeface="+mn-cs"/>
                      </a:endParaRPr>
                    </a:p>
                    <a:p>
                      <a:pPr marL="0" indent="0">
                        <a:buFont typeface="Arial" pitchFamily="34" charset="0"/>
                        <a:buNone/>
                      </a:pPr>
                      <a:r>
                        <a:rPr lang="en-US" sz="1200" b="1" i="0" u="sng" kern="1200" baseline="0" dirty="0" smtClean="0">
                          <a:solidFill>
                            <a:schemeClr val="tx1"/>
                          </a:solidFill>
                          <a:latin typeface="+mj-lt"/>
                          <a:ea typeface="+mn-ea"/>
                          <a:cs typeface="+mn-cs"/>
                        </a:rPr>
                        <a:t>Bossy Pants Cakes</a:t>
                      </a:r>
                      <a:endParaRPr lang="en-US" sz="1200" b="0" i="0" u="none" kern="1200" baseline="0" dirty="0" smtClean="0">
                        <a:solidFill>
                          <a:schemeClr val="tx1"/>
                        </a:solidFill>
                        <a:latin typeface="+mj-lt"/>
                        <a:ea typeface="+mn-ea"/>
                        <a:cs typeface="+mn-cs"/>
                      </a:endParaRPr>
                    </a:p>
                    <a:p>
                      <a:pPr marL="171450" indent="-171450">
                        <a:buFont typeface="Arial" pitchFamily="34" charset="0"/>
                        <a:buChar char="•"/>
                      </a:pPr>
                      <a:r>
                        <a:rPr lang="en-US" sz="1200" b="0" i="0" u="none" kern="1200" baseline="0" dirty="0" smtClean="0">
                          <a:solidFill>
                            <a:schemeClr val="tx1"/>
                          </a:solidFill>
                          <a:latin typeface="+mj-lt"/>
                          <a:ea typeface="+mn-ea"/>
                          <a:cs typeface="+mn-cs"/>
                        </a:rPr>
                        <a:t>Gourmet cake company made famous by a reality show that highlights their provocatively themed baked goods</a:t>
                      </a:r>
                    </a:p>
                    <a:p>
                      <a:pPr marL="171450" indent="-171450">
                        <a:buFont typeface="Arial" pitchFamily="34" charset="0"/>
                        <a:buChar char="•"/>
                      </a:pPr>
                      <a:r>
                        <a:rPr lang="en-US" sz="1200" b="0" i="0" u="none" kern="1200" baseline="0" dirty="0" smtClean="0">
                          <a:solidFill>
                            <a:schemeClr val="tx1"/>
                          </a:solidFill>
                          <a:latin typeface="+mj-lt"/>
                          <a:ea typeface="+mn-ea"/>
                          <a:cs typeface="+mn-cs"/>
                        </a:rPr>
                        <a:t>Established bakery located in Brooklyn, New York</a:t>
                      </a:r>
                    </a:p>
                    <a:p>
                      <a:pPr marL="171450" indent="-171450">
                        <a:buFont typeface="Arial" pitchFamily="34" charset="0"/>
                        <a:buChar char="•"/>
                      </a:pPr>
                      <a:r>
                        <a:rPr lang="en-US" sz="1200" b="0" i="0" u="none" kern="1200" baseline="0" dirty="0" smtClean="0">
                          <a:solidFill>
                            <a:schemeClr val="tx1"/>
                          </a:solidFill>
                          <a:latin typeface="+mj-lt"/>
                          <a:ea typeface="+mn-ea"/>
                          <a:cs typeface="+mn-cs"/>
                        </a:rPr>
                        <a:t>Looking to establish online presence and expand to West Coast</a:t>
                      </a:r>
                    </a:p>
                    <a:p>
                      <a:pPr marL="0" indent="0">
                        <a:buFont typeface="Arial" pitchFamily="34" charset="0"/>
                        <a:buNone/>
                      </a:pPr>
                      <a:endParaRPr lang="en-US" sz="1200" b="1" i="0" u="none" kern="1200" baseline="0" dirty="0" smtClean="0">
                        <a:solidFill>
                          <a:schemeClr val="tx1"/>
                        </a:solidFill>
                        <a:latin typeface="+mj-lt"/>
                        <a:ea typeface="+mn-ea"/>
                        <a:cs typeface="+mn-cs"/>
                      </a:endParaRPr>
                    </a:p>
                    <a:p>
                      <a:pPr marL="0" indent="0">
                        <a:buFont typeface="Arial" pitchFamily="34" charset="0"/>
                        <a:buNone/>
                      </a:pPr>
                      <a:r>
                        <a:rPr lang="en-US" sz="1200" b="1" i="1" u="none" kern="1200" baseline="0" dirty="0" smtClean="0">
                          <a:solidFill>
                            <a:schemeClr val="tx1"/>
                          </a:solidFill>
                          <a:latin typeface="+mj-lt"/>
                          <a:ea typeface="+mn-ea"/>
                          <a:cs typeface="+mn-cs"/>
                        </a:rPr>
                        <a:t>Framework should evaluate the quantitative and qualitative arguments for each firm</a:t>
                      </a:r>
                      <a:endParaRPr lang="en-US" sz="1200" b="1" i="1" u="sng" kern="1200" dirty="0" smtClean="0">
                        <a:solidFill>
                          <a:schemeClr val="tx1"/>
                        </a:solidFill>
                        <a:latin typeface="+mj-lt"/>
                        <a:ea typeface="+mn-ea"/>
                        <a:cs typeface="+mn-cs"/>
                      </a:endParaRPr>
                    </a:p>
                  </a:txBody>
                  <a:tcPr marT="45729" marB="45729"/>
                </a:tc>
              </a:tr>
            </a:tbl>
          </a:graphicData>
        </a:graphic>
      </p:graphicFrame>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85</a:t>
            </a:fld>
            <a:endParaRPr lang="en-US" dirty="0"/>
          </a:p>
        </p:txBody>
      </p:sp>
    </p:spTree>
    <p:extLst>
      <p:ext uri="{BB962C8B-B14F-4D97-AF65-F5344CB8AC3E}">
        <p14:creationId xmlns:p14="http://schemas.microsoft.com/office/powerpoint/2010/main" val="2842597640"/>
      </p:ext>
    </p:extLst>
  </p:cSld>
  <p:clrMapOvr>
    <a:masterClrMapping/>
  </p:clrMapOvr>
  <p:timing>
    <p:tnLst>
      <p:par>
        <p:cTn xmlns:p14="http://schemas.microsoft.com/office/powerpoint/2010/mai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5"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512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11: What’s Next for Tony?</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479174678"/>
              </p:ext>
            </p:extLst>
          </p:nvPr>
        </p:nvGraphicFramePr>
        <p:xfrm>
          <a:off x="304800" y="1738760"/>
          <a:ext cx="8534400" cy="4471188"/>
        </p:xfrm>
        <a:graphic>
          <a:graphicData uri="http://schemas.openxmlformats.org/drawingml/2006/table">
            <a:tbl>
              <a:tblPr firstRow="1" bandRow="1">
                <a:tableStyleId>{616DA210-FB5B-4158-B5E0-FEB733F419BA}</a:tableStyleId>
              </a:tblPr>
              <a:tblGrid>
                <a:gridCol w="1600200"/>
                <a:gridCol w="6934200"/>
              </a:tblGrid>
              <a:tr h="1117797">
                <a:tc>
                  <a:txBody>
                    <a:bodyPr/>
                    <a:lstStyle/>
                    <a:p>
                      <a:pPr algn="ctr"/>
                      <a:r>
                        <a:rPr lang="en-US" sz="1800" dirty="0" smtClean="0"/>
                        <a:t>Background</a:t>
                      </a:r>
                      <a:endParaRPr lang="en-US" sz="1800" dirty="0"/>
                    </a:p>
                  </a:txBody>
                  <a:tcPr marT="45729" marB="45729" anchor="ctr"/>
                </a:tc>
                <a:tc>
                  <a:txBody>
                    <a:bodyPr/>
                    <a:lstStyle/>
                    <a:p>
                      <a:pPr marL="171450" indent="-171450">
                        <a:buFont typeface="Arial" pitchFamily="34" charset="0"/>
                        <a:buChar char="•"/>
                      </a:pPr>
                      <a:r>
                        <a:rPr lang="en-US" sz="1200" b="0" i="0" kern="1200" baseline="0" dirty="0" smtClean="0">
                          <a:solidFill>
                            <a:schemeClr val="tx1"/>
                          </a:solidFill>
                          <a:latin typeface="+mj-lt"/>
                          <a:ea typeface="+mn-ea"/>
                          <a:cs typeface="+mn-cs"/>
                        </a:rPr>
                        <a:t>Born in the Bronx in 1965</a:t>
                      </a:r>
                    </a:p>
                    <a:p>
                      <a:pPr marL="171450" indent="-171450">
                        <a:buFont typeface="Arial" pitchFamily="34" charset="0"/>
                        <a:buChar char="•"/>
                      </a:pPr>
                      <a:r>
                        <a:rPr lang="en-US" sz="1200" b="0" i="0" kern="1200" baseline="0" dirty="0" smtClean="0">
                          <a:solidFill>
                            <a:schemeClr val="tx1"/>
                          </a:solidFill>
                          <a:latin typeface="+mj-lt"/>
                          <a:ea typeface="+mn-ea"/>
                          <a:cs typeface="+mn-cs"/>
                        </a:rPr>
                        <a:t>First born of 13 kids</a:t>
                      </a:r>
                    </a:p>
                    <a:p>
                      <a:pPr marL="171450" indent="-171450">
                        <a:buFont typeface="Arial" pitchFamily="34" charset="0"/>
                        <a:buChar char="•"/>
                      </a:pPr>
                      <a:r>
                        <a:rPr lang="en-US" sz="1200" b="0" i="0" kern="1200" baseline="0" dirty="0" smtClean="0">
                          <a:solidFill>
                            <a:schemeClr val="tx1"/>
                          </a:solidFill>
                          <a:latin typeface="+mj-lt"/>
                          <a:ea typeface="+mn-ea"/>
                          <a:cs typeface="+mn-cs"/>
                        </a:rPr>
                        <a:t>Graduate of West Point Military Academy (top of class)</a:t>
                      </a:r>
                    </a:p>
                    <a:p>
                      <a:pPr marL="171450" indent="-171450">
                        <a:buFont typeface="Arial" pitchFamily="34" charset="0"/>
                        <a:buChar char="•"/>
                      </a:pPr>
                      <a:r>
                        <a:rPr lang="en-US" sz="1200" b="0" i="0" kern="1200" baseline="0" dirty="0" smtClean="0">
                          <a:solidFill>
                            <a:schemeClr val="tx1"/>
                          </a:solidFill>
                          <a:latin typeface="+mj-lt"/>
                          <a:ea typeface="+mn-ea"/>
                          <a:cs typeface="+mn-cs"/>
                        </a:rPr>
                        <a:t>Married (court proceedings eminent based on recent issues)</a:t>
                      </a:r>
                    </a:p>
                  </a:txBody>
                  <a:tcPr marT="45729" marB="45729" anchor="ctr"/>
                </a:tc>
              </a:tr>
              <a:tr h="1117797">
                <a:tc>
                  <a:txBody>
                    <a:bodyPr/>
                    <a:lstStyle/>
                    <a:p>
                      <a:pPr algn="ctr"/>
                      <a:r>
                        <a:rPr lang="en-US" sz="1800" b="1" dirty="0" smtClean="0"/>
                        <a:t>Work Experience</a:t>
                      </a:r>
                      <a:endParaRPr lang="en-US" sz="1800" b="1" dirty="0"/>
                    </a:p>
                  </a:txBody>
                  <a:tcPr marT="45729" marB="45729" anchor="ctr">
                    <a:noFill/>
                  </a:tcPr>
                </a:tc>
                <a:tc>
                  <a:txBody>
                    <a:bodyPr/>
                    <a:lstStyle/>
                    <a:p>
                      <a:pPr marL="171450" indent="-171450">
                        <a:buFont typeface="Arial" pitchFamily="34" charset="0"/>
                        <a:buChar char="•"/>
                      </a:pPr>
                      <a:r>
                        <a:rPr lang="en-US" sz="1200" b="0" i="0" kern="1200" baseline="0" dirty="0" smtClean="0">
                          <a:solidFill>
                            <a:schemeClr val="tx1"/>
                          </a:solidFill>
                          <a:latin typeface="+mj-lt"/>
                          <a:ea typeface="+mn-ea"/>
                          <a:cs typeface="+mn-cs"/>
                        </a:rPr>
                        <a:t>Worked at family deli through high school</a:t>
                      </a:r>
                    </a:p>
                    <a:p>
                      <a:pPr marL="171450" indent="-171450">
                        <a:buFont typeface="Arial" pitchFamily="34" charset="0"/>
                        <a:buChar char="•"/>
                      </a:pPr>
                      <a:r>
                        <a:rPr lang="en-US" sz="1200" b="0" i="0" kern="1200" baseline="0" dirty="0" smtClean="0">
                          <a:solidFill>
                            <a:schemeClr val="tx1"/>
                          </a:solidFill>
                          <a:latin typeface="+mj-lt"/>
                          <a:ea typeface="+mn-ea"/>
                          <a:cs typeface="+mn-cs"/>
                        </a:rPr>
                        <a:t>Served in the Army for 8 years prior to getting his MBA</a:t>
                      </a:r>
                    </a:p>
                    <a:p>
                      <a:pPr marL="171450" indent="-171450">
                        <a:buFont typeface="Arial" pitchFamily="34" charset="0"/>
                        <a:buChar char="•"/>
                      </a:pPr>
                      <a:r>
                        <a:rPr lang="en-US" sz="1200" b="0" i="0" kern="1200" baseline="0" dirty="0" smtClean="0">
                          <a:solidFill>
                            <a:schemeClr val="tx1"/>
                          </a:solidFill>
                          <a:latin typeface="+mj-lt"/>
                          <a:ea typeface="+mn-ea"/>
                          <a:cs typeface="+mn-cs"/>
                        </a:rPr>
                        <a:t>Worked at Apple for 18 months prior to being fired for “lack of creativity”</a:t>
                      </a:r>
                    </a:p>
                    <a:p>
                      <a:pPr marL="171450" indent="-171450">
                        <a:buFont typeface="Arial" pitchFamily="34" charset="0"/>
                        <a:buChar char="•"/>
                      </a:pPr>
                      <a:r>
                        <a:rPr lang="en-US" sz="1200" b="0" i="0" kern="1200" baseline="0" dirty="0" smtClean="0">
                          <a:solidFill>
                            <a:schemeClr val="tx1"/>
                          </a:solidFill>
                          <a:latin typeface="+mj-lt"/>
                          <a:ea typeface="+mn-ea"/>
                          <a:cs typeface="+mn-cs"/>
                        </a:rPr>
                        <a:t>Congress for NYC from 2006 to 2013</a:t>
                      </a:r>
                    </a:p>
                    <a:p>
                      <a:pPr marL="171450" indent="-171450">
                        <a:buFont typeface="Arial" pitchFamily="34" charset="0"/>
                        <a:buChar char="•"/>
                      </a:pPr>
                      <a:r>
                        <a:rPr lang="en-US" sz="1200" b="0" i="0" kern="1200" baseline="0" dirty="0" smtClean="0">
                          <a:solidFill>
                            <a:schemeClr val="tx1"/>
                          </a:solidFill>
                          <a:latin typeface="+mj-lt"/>
                          <a:ea typeface="+mn-ea"/>
                          <a:cs typeface="+mn-cs"/>
                        </a:rPr>
                        <a:t>Struck it rich by prospecting for oil and gas</a:t>
                      </a:r>
                    </a:p>
                  </a:txBody>
                  <a:tcPr marT="45729" marB="45729" anchor="ctr">
                    <a:noFill/>
                  </a:tcPr>
                </a:tc>
              </a:tr>
              <a:tr h="1117797">
                <a:tc>
                  <a:txBody>
                    <a:bodyPr/>
                    <a:lstStyle/>
                    <a:p>
                      <a:pPr algn="ctr"/>
                      <a:r>
                        <a:rPr lang="en-US" sz="1800" b="1" dirty="0" smtClean="0"/>
                        <a:t>Community Service</a:t>
                      </a:r>
                      <a:endParaRPr lang="en-US" sz="1800" b="1" dirty="0"/>
                    </a:p>
                  </a:txBody>
                  <a:tcPr marT="45729" marB="45729" anchor="ctr"/>
                </a:tc>
                <a:tc>
                  <a:txBody>
                    <a:bodyPr/>
                    <a:lstStyle/>
                    <a:p>
                      <a:pPr marL="171450" indent="-171450">
                        <a:buFont typeface="Arial" pitchFamily="34" charset="0"/>
                        <a:buChar char="•"/>
                      </a:pPr>
                      <a:r>
                        <a:rPr lang="en-US" sz="1200" b="0" i="0" kern="1200" baseline="0" dirty="0" smtClean="0">
                          <a:solidFill>
                            <a:schemeClr val="tx1"/>
                          </a:solidFill>
                          <a:latin typeface="+mj-lt"/>
                          <a:ea typeface="+mn-ea"/>
                          <a:cs typeface="+mn-cs"/>
                        </a:rPr>
                        <a:t>N/A</a:t>
                      </a:r>
                    </a:p>
                  </a:txBody>
                  <a:tcPr marT="45729" marB="45729" anchor="ctr"/>
                </a:tc>
              </a:tr>
              <a:tr h="1117797">
                <a:tc>
                  <a:txBody>
                    <a:bodyPr/>
                    <a:lstStyle/>
                    <a:p>
                      <a:pPr algn="ctr"/>
                      <a:r>
                        <a:rPr lang="en-US" sz="1800" b="1" dirty="0" smtClean="0"/>
                        <a:t>Personal</a:t>
                      </a:r>
                      <a:r>
                        <a:rPr lang="en-US" sz="1800" b="1" baseline="0" dirty="0" smtClean="0"/>
                        <a:t> Interests</a:t>
                      </a:r>
                      <a:endParaRPr lang="en-US" sz="1800" b="1" dirty="0"/>
                    </a:p>
                  </a:txBody>
                  <a:tcPr marT="45729" marB="45729" anchor="ctr">
                    <a:noFill/>
                  </a:tcPr>
                </a:tc>
                <a:tc>
                  <a:txBody>
                    <a:bodyPr/>
                    <a:lstStyle/>
                    <a:p>
                      <a:pPr marL="171450" indent="-171450">
                        <a:buFont typeface="Arial" pitchFamily="34" charset="0"/>
                        <a:buChar char="•"/>
                      </a:pPr>
                      <a:r>
                        <a:rPr lang="en-US" sz="1200" b="0" i="0" kern="1200" baseline="0" dirty="0" smtClean="0">
                          <a:solidFill>
                            <a:schemeClr val="tx1"/>
                          </a:solidFill>
                          <a:latin typeface="+mj-lt"/>
                          <a:ea typeface="+mn-ea"/>
                          <a:cs typeface="+mn-cs"/>
                        </a:rPr>
                        <a:t>Technology, particularly around the “much needed” security for mobile phones</a:t>
                      </a:r>
                    </a:p>
                    <a:p>
                      <a:pPr marL="171450" indent="-171450">
                        <a:buFont typeface="Arial" pitchFamily="34" charset="0"/>
                        <a:buChar char="•"/>
                      </a:pPr>
                      <a:r>
                        <a:rPr lang="en-US" sz="1200" b="0" i="0" kern="1200" baseline="0" dirty="0" smtClean="0">
                          <a:solidFill>
                            <a:schemeClr val="tx1"/>
                          </a:solidFill>
                          <a:latin typeface="+mj-lt"/>
                          <a:ea typeface="+mn-ea"/>
                          <a:cs typeface="+mn-cs"/>
                        </a:rPr>
                        <a:t>Wants to leave a legacy</a:t>
                      </a:r>
                    </a:p>
                    <a:p>
                      <a:pPr marL="171450" indent="-171450">
                        <a:buFont typeface="Arial" pitchFamily="34" charset="0"/>
                        <a:buChar char="•"/>
                      </a:pPr>
                      <a:r>
                        <a:rPr lang="en-US" sz="1200" b="0" i="0" kern="1200" baseline="0" dirty="0" smtClean="0">
                          <a:solidFill>
                            <a:schemeClr val="tx1"/>
                          </a:solidFill>
                          <a:latin typeface="+mj-lt"/>
                          <a:ea typeface="+mn-ea"/>
                          <a:cs typeface="+mn-cs"/>
                        </a:rPr>
                        <a:t>Loves conspiracy theory movies</a:t>
                      </a:r>
                    </a:p>
                    <a:p>
                      <a:pPr marL="171450" indent="-171450">
                        <a:buFont typeface="Arial" pitchFamily="34" charset="0"/>
                        <a:buChar char="•"/>
                      </a:pPr>
                      <a:r>
                        <a:rPr lang="en-US" sz="1200" b="0" i="0" kern="1200" baseline="0" dirty="0" smtClean="0">
                          <a:solidFill>
                            <a:schemeClr val="tx1"/>
                          </a:solidFill>
                          <a:latin typeface="+mj-lt"/>
                          <a:ea typeface="+mn-ea"/>
                          <a:cs typeface="+mn-cs"/>
                        </a:rPr>
                        <a:t>Hates the Midwest, particularly Kansas</a:t>
                      </a:r>
                    </a:p>
                  </a:txBody>
                  <a:tcPr marT="45729" marB="45729" anchor="ctr">
                    <a:noFill/>
                  </a:tcPr>
                </a:tc>
              </a:tr>
            </a:tbl>
          </a:graphicData>
        </a:graphic>
      </p:graphicFrame>
      <p:sp>
        <p:nvSpPr>
          <p:cNvPr id="7" name="TextBox 1"/>
          <p:cNvSpPr txBox="1">
            <a:spLocks noChangeArrowheads="1"/>
          </p:cNvSpPr>
          <p:nvPr/>
        </p:nvSpPr>
        <p:spPr bwMode="auto">
          <a:xfrm>
            <a:off x="1364672" y="1243155"/>
            <a:ext cx="68718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a:t>
            </a:r>
            <a:r>
              <a:rPr lang="en-US" sz="1800" b="1" dirty="0" smtClean="0"/>
              <a:t>1:  Background for Tony Politician</a:t>
            </a:r>
            <a:endParaRPr lang="en-US" sz="1800" b="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86</a:t>
            </a:fld>
            <a:endParaRPr lang="en-US" dirty="0"/>
          </a:p>
        </p:txBody>
      </p:sp>
    </p:spTree>
    <p:extLst>
      <p:ext uri="{BB962C8B-B14F-4D97-AF65-F5344CB8AC3E}">
        <p14:creationId xmlns:p14="http://schemas.microsoft.com/office/powerpoint/2010/main" val="3041560154"/>
      </p:ext>
    </p:extLst>
  </p:cSld>
  <p:clrMapOvr>
    <a:masterClrMapping/>
  </p:clrMapOvr>
  <p:timing>
    <p:tnLst>
      <p:par>
        <p:cTn xmlns:p14="http://schemas.microsoft.com/office/powerpoint/2010/mai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5"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512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11: What’s Next for Tony?</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1198268496"/>
              </p:ext>
            </p:extLst>
          </p:nvPr>
        </p:nvGraphicFramePr>
        <p:xfrm>
          <a:off x="304800" y="1295400"/>
          <a:ext cx="8534400" cy="5354782"/>
        </p:xfrm>
        <a:graphic>
          <a:graphicData uri="http://schemas.openxmlformats.org/drawingml/2006/table">
            <a:tbl>
              <a:tblPr firstRow="1" bandRow="1">
                <a:tableStyleId>{616DA210-FB5B-4158-B5E0-FEB733F419BA}</a:tableStyleId>
              </a:tblPr>
              <a:tblGrid>
                <a:gridCol w="1600200"/>
                <a:gridCol w="6934200"/>
              </a:tblGrid>
              <a:tr h="1046018">
                <a:tc>
                  <a:txBody>
                    <a:bodyPr/>
                    <a:lstStyle/>
                    <a:p>
                      <a:pPr algn="ctr"/>
                      <a:r>
                        <a:rPr lang="en-US" sz="1800" dirty="0" smtClean="0"/>
                        <a:t>Prompt #2</a:t>
                      </a:r>
                      <a:endParaRPr lang="en-US" sz="1800" dirty="0"/>
                    </a:p>
                  </a:txBody>
                  <a:tcPr marT="45729" marB="45729" anchor="ctr"/>
                </a:tc>
                <a:tc>
                  <a:txBody>
                    <a:bodyPr/>
                    <a:lstStyle/>
                    <a:p>
                      <a:r>
                        <a:rPr lang="en-US" sz="1200" b="0" i="1" kern="1200" dirty="0" smtClean="0">
                          <a:solidFill>
                            <a:schemeClr val="tx1"/>
                          </a:solidFill>
                          <a:latin typeface="+mj-lt"/>
                          <a:ea typeface="+mn-ea"/>
                          <a:cs typeface="+mn-cs"/>
                        </a:rPr>
                        <a:t>Provide</a:t>
                      </a:r>
                      <a:r>
                        <a:rPr lang="en-US" sz="1200" b="0" i="1" kern="1200" baseline="0" dirty="0" smtClean="0">
                          <a:solidFill>
                            <a:schemeClr val="tx1"/>
                          </a:solidFill>
                          <a:latin typeface="+mj-lt"/>
                          <a:ea typeface="+mn-ea"/>
                          <a:cs typeface="+mn-cs"/>
                        </a:rPr>
                        <a:t> Exhibit #2</a:t>
                      </a:r>
                      <a:endParaRPr lang="en-US" sz="1200" b="0" i="1" kern="1200" dirty="0" smtClean="0">
                        <a:solidFill>
                          <a:schemeClr val="tx1"/>
                        </a:solidFill>
                        <a:latin typeface="+mj-lt"/>
                        <a:ea typeface="+mn-ea"/>
                        <a:cs typeface="+mn-cs"/>
                      </a:endParaRPr>
                    </a:p>
                    <a:p>
                      <a:endParaRPr lang="en-US" sz="1200" b="0" i="0" kern="1200" dirty="0" smtClean="0">
                        <a:solidFill>
                          <a:schemeClr val="tx1"/>
                        </a:solidFill>
                        <a:latin typeface="+mj-lt"/>
                        <a:ea typeface="+mn-ea"/>
                        <a:cs typeface="+mn-cs"/>
                      </a:endParaRPr>
                    </a:p>
                    <a:p>
                      <a:r>
                        <a:rPr lang="en-US" sz="1200" b="0" i="0" kern="1200" dirty="0" smtClean="0">
                          <a:solidFill>
                            <a:schemeClr val="tx1"/>
                          </a:solidFill>
                          <a:latin typeface="+mj-lt"/>
                          <a:ea typeface="+mn-ea"/>
                          <a:cs typeface="+mn-cs"/>
                        </a:rPr>
                        <a:t>I think you have a lot of great ideas for how to evaluate</a:t>
                      </a:r>
                      <a:r>
                        <a:rPr lang="en-US" sz="1200" b="0" i="0" kern="1200" baseline="0" dirty="0" smtClean="0">
                          <a:solidFill>
                            <a:schemeClr val="tx1"/>
                          </a:solidFill>
                          <a:latin typeface="+mj-lt"/>
                          <a:ea typeface="+mn-ea"/>
                          <a:cs typeface="+mn-cs"/>
                        </a:rPr>
                        <a:t> the options for Tony.  Here are some financials for each of the companies.  Please focus on 2013.  How would you evaluate these?</a:t>
                      </a:r>
                    </a:p>
                  </a:txBody>
                  <a:tcPr marT="45729" marB="45729" anchor="ctr"/>
                </a:tc>
              </a:tr>
              <a:tr h="4308764">
                <a:tc>
                  <a:txBody>
                    <a:bodyPr/>
                    <a:lstStyle/>
                    <a:p>
                      <a:pPr algn="ctr"/>
                      <a:r>
                        <a:rPr lang="en-US" sz="1800" b="1" dirty="0" smtClean="0"/>
                        <a:t>Guidance</a:t>
                      </a:r>
                      <a:endParaRPr lang="en-US" sz="1800" b="1" baseline="0" dirty="0" smtClean="0"/>
                    </a:p>
                  </a:txBody>
                  <a:tcPr marT="45729" marB="45729" anchor="ctr"/>
                </a:tc>
                <a:tc>
                  <a:txBody>
                    <a:bodyPr/>
                    <a:lstStyle/>
                    <a:p>
                      <a:r>
                        <a:rPr lang="en-US" sz="1200" b="0" i="0" u="none" kern="1200" dirty="0" smtClean="0">
                          <a:solidFill>
                            <a:schemeClr val="tx1"/>
                          </a:solidFill>
                          <a:latin typeface="+mj-lt"/>
                          <a:ea typeface="+mn-ea"/>
                          <a:cs typeface="+mn-cs"/>
                        </a:rPr>
                        <a:t>The candidate is going to be calculating NPV for the</a:t>
                      </a:r>
                      <a:r>
                        <a:rPr lang="en-US" sz="1200" b="0" i="0" u="none" kern="1200" baseline="0" dirty="0" smtClean="0">
                          <a:solidFill>
                            <a:schemeClr val="tx1"/>
                          </a:solidFill>
                          <a:latin typeface="+mj-lt"/>
                          <a:ea typeface="+mn-ea"/>
                          <a:cs typeface="+mn-cs"/>
                        </a:rPr>
                        <a:t> three different firms for 2013.  The calculation is essentially </a:t>
                      </a:r>
                      <a:r>
                        <a:rPr lang="en-US" sz="1200" b="0" i="0" u="none" kern="1200" dirty="0" smtClean="0">
                          <a:solidFill>
                            <a:schemeClr val="tx1"/>
                          </a:solidFill>
                          <a:latin typeface="+mj-lt"/>
                          <a:ea typeface="+mn-ea"/>
                          <a:cs typeface="+mn-cs"/>
                        </a:rPr>
                        <a:t>  .</a:t>
                      </a:r>
                      <a:r>
                        <a:rPr lang="en-US" sz="1200" b="0" i="0" u="none" kern="1200" baseline="0" dirty="0" smtClean="0">
                          <a:solidFill>
                            <a:schemeClr val="tx1"/>
                          </a:solidFill>
                          <a:latin typeface="+mj-lt"/>
                          <a:ea typeface="+mn-ea"/>
                          <a:cs typeface="+mn-cs"/>
                        </a:rPr>
                        <a:t>    </a:t>
                      </a:r>
                      <a:r>
                        <a:rPr lang="en-US" sz="1200" b="0" i="0" u="none" kern="1200" dirty="0" smtClean="0">
                          <a:solidFill>
                            <a:schemeClr val="tx1"/>
                          </a:solidFill>
                          <a:latin typeface="+mj-lt"/>
                          <a:ea typeface="+mn-ea"/>
                          <a:cs typeface="+mn-cs"/>
                        </a:rPr>
                        <a:t>FCF</a:t>
                      </a:r>
                      <a:r>
                        <a:rPr lang="en-US" sz="1200" b="0" i="0" u="none" kern="1200" baseline="0" dirty="0" smtClean="0">
                          <a:solidFill>
                            <a:schemeClr val="tx1"/>
                          </a:solidFill>
                          <a:latin typeface="+mj-lt"/>
                          <a:ea typeface="+mn-ea"/>
                          <a:cs typeface="+mn-cs"/>
                        </a:rPr>
                        <a:t> is calculated by Sales - (COGS+SG&amp;A) – Taxes + </a:t>
                      </a:r>
                      <a:r>
                        <a:rPr lang="en-US" sz="1200" b="0" i="0" u="none" kern="1200" baseline="0" dirty="0" err="1" smtClean="0">
                          <a:solidFill>
                            <a:schemeClr val="tx1"/>
                          </a:solidFill>
                          <a:latin typeface="+mj-lt"/>
                          <a:ea typeface="+mn-ea"/>
                          <a:cs typeface="+mn-cs"/>
                        </a:rPr>
                        <a:t>Dep</a:t>
                      </a:r>
                      <a:r>
                        <a:rPr lang="en-US" sz="1200" b="0" i="0" u="none" kern="1200" baseline="0" dirty="0" smtClean="0">
                          <a:solidFill>
                            <a:schemeClr val="tx1"/>
                          </a:solidFill>
                          <a:latin typeface="+mj-lt"/>
                          <a:ea typeface="+mn-ea"/>
                          <a:cs typeface="+mn-cs"/>
                        </a:rPr>
                        <a:t> – </a:t>
                      </a:r>
                      <a:r>
                        <a:rPr lang="en-US" sz="1200" b="0" i="0" u="none" kern="1200" baseline="0" dirty="0" err="1" smtClean="0">
                          <a:solidFill>
                            <a:schemeClr val="tx1"/>
                          </a:solidFill>
                          <a:latin typeface="+mj-lt"/>
                          <a:ea typeface="+mn-ea"/>
                          <a:cs typeface="+mn-cs"/>
                        </a:rPr>
                        <a:t>CapEx</a:t>
                      </a:r>
                      <a:endParaRPr lang="en-US" sz="1200" b="0" i="0" u="none" kern="1200" baseline="0" dirty="0" smtClean="0">
                        <a:solidFill>
                          <a:schemeClr val="tx1"/>
                        </a:solidFill>
                        <a:latin typeface="+mj-lt"/>
                        <a:ea typeface="+mn-ea"/>
                        <a:cs typeface="+mn-cs"/>
                      </a:endParaRPr>
                    </a:p>
                    <a:p>
                      <a:endParaRPr lang="en-US" sz="1200" b="0" i="0" u="none" kern="1200" baseline="0" dirty="0" smtClean="0">
                        <a:solidFill>
                          <a:schemeClr val="tx1"/>
                        </a:solidFill>
                        <a:latin typeface="+mj-lt"/>
                        <a:ea typeface="+mn-ea"/>
                        <a:cs typeface="+mn-cs"/>
                      </a:endParaRPr>
                    </a:p>
                    <a:p>
                      <a:r>
                        <a:rPr lang="en-US" sz="1200" b="1" i="1" u="none" kern="1200" baseline="0" dirty="0" smtClean="0">
                          <a:solidFill>
                            <a:schemeClr val="tx1"/>
                          </a:solidFill>
                          <a:latin typeface="+mj-lt"/>
                          <a:ea typeface="+mn-ea"/>
                          <a:cs typeface="+mn-cs"/>
                        </a:rPr>
                        <a:t>Below are the completed calculations.  Do not give this to the candidate.  Exhibit 2 has unnecessary info.  This is intended to throw off candidates.</a:t>
                      </a:r>
                      <a:endParaRPr lang="en-US" sz="1200" b="1" i="1" u="none" kern="1200" dirty="0" smtClean="0">
                        <a:solidFill>
                          <a:schemeClr val="tx1"/>
                        </a:solidFill>
                        <a:latin typeface="+mj-lt"/>
                        <a:ea typeface="+mn-ea"/>
                        <a:cs typeface="+mn-cs"/>
                      </a:endParaRPr>
                    </a:p>
                  </a:txBody>
                  <a:tcPr marT="45729" marB="45729"/>
                </a:tc>
              </a:tr>
            </a:tbl>
          </a:graphicData>
        </a:graphic>
      </p:graphicFrame>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7344" y="3583243"/>
            <a:ext cx="6788732" cy="297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87</a:t>
            </a:fld>
            <a:endParaRPr lang="en-US" dirty="0"/>
          </a:p>
        </p:txBody>
      </p:sp>
    </p:spTree>
    <p:extLst>
      <p:ext uri="{BB962C8B-B14F-4D97-AF65-F5344CB8AC3E}">
        <p14:creationId xmlns:p14="http://schemas.microsoft.com/office/powerpoint/2010/main" val="3860411321"/>
      </p:ext>
    </p:extLst>
  </p:cSld>
  <p:clrMapOvr>
    <a:masterClrMapping/>
  </p:clrMapOvr>
  <p:timing>
    <p:tnLst>
      <p:par>
        <p:cTn xmlns:p14="http://schemas.microsoft.com/office/powerpoint/2010/mai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5"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512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11: What’s Next for Tony?</a:t>
            </a:r>
            <a:endParaRPr lang="en-US" sz="2400" b="1" dirty="0"/>
          </a:p>
        </p:txBody>
      </p:sp>
      <p:sp>
        <p:nvSpPr>
          <p:cNvPr id="10" name="TextBox 1"/>
          <p:cNvSpPr txBox="1">
            <a:spLocks noChangeArrowheads="1"/>
          </p:cNvSpPr>
          <p:nvPr/>
        </p:nvSpPr>
        <p:spPr bwMode="auto">
          <a:xfrm>
            <a:off x="1364672" y="1243155"/>
            <a:ext cx="68718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2</a:t>
            </a:r>
            <a:r>
              <a:rPr lang="en-US" sz="1800" b="1" dirty="0" smtClean="0"/>
              <a:t>:  Information for Each Firm</a:t>
            </a:r>
            <a:endParaRPr lang="en-US" sz="1800" b="1"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1684643"/>
            <a:ext cx="904875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88</a:t>
            </a:fld>
            <a:endParaRPr lang="en-US" dirty="0"/>
          </a:p>
        </p:txBody>
      </p:sp>
    </p:spTree>
    <p:extLst>
      <p:ext uri="{BB962C8B-B14F-4D97-AF65-F5344CB8AC3E}">
        <p14:creationId xmlns:p14="http://schemas.microsoft.com/office/powerpoint/2010/main" val="83874548"/>
      </p:ext>
    </p:extLst>
  </p:cSld>
  <p:clrMapOvr>
    <a:masterClrMapping/>
  </p:clrMapOvr>
  <p:timing>
    <p:tnLst>
      <p:par>
        <p:cTn xmlns:p14="http://schemas.microsoft.com/office/powerpoint/2010/mai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5"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512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11: What’s Next for Tony?</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732169372"/>
              </p:ext>
            </p:extLst>
          </p:nvPr>
        </p:nvGraphicFramePr>
        <p:xfrm>
          <a:off x="304800" y="1295400"/>
          <a:ext cx="8534400" cy="5457323"/>
        </p:xfrm>
        <a:graphic>
          <a:graphicData uri="http://schemas.openxmlformats.org/drawingml/2006/table">
            <a:tbl>
              <a:tblPr firstRow="1" bandRow="1">
                <a:tableStyleId>{616DA210-FB5B-4158-B5E0-FEB733F419BA}</a:tableStyleId>
              </a:tblPr>
              <a:tblGrid>
                <a:gridCol w="1600200"/>
                <a:gridCol w="6934200"/>
              </a:tblGrid>
              <a:tr h="1117797">
                <a:tc>
                  <a:txBody>
                    <a:bodyPr/>
                    <a:lstStyle/>
                    <a:p>
                      <a:pPr algn="ctr"/>
                      <a:r>
                        <a:rPr lang="en-US" sz="1800" dirty="0" smtClean="0"/>
                        <a:t>Prompt #3</a:t>
                      </a:r>
                      <a:endParaRPr lang="en-US" sz="1800" dirty="0"/>
                    </a:p>
                  </a:txBody>
                  <a:tcPr marT="45729" marB="45729" anchor="ctr"/>
                </a:tc>
                <a:tc>
                  <a:txBody>
                    <a:bodyPr/>
                    <a:lstStyle/>
                    <a:p>
                      <a:r>
                        <a:rPr lang="en-US" sz="1200" b="0" i="0" kern="1200" dirty="0" smtClean="0">
                          <a:solidFill>
                            <a:schemeClr val="tx1"/>
                          </a:solidFill>
                          <a:latin typeface="+mj-lt"/>
                          <a:ea typeface="+mn-ea"/>
                          <a:cs typeface="+mn-cs"/>
                        </a:rPr>
                        <a:t>After reviewing the all</a:t>
                      </a:r>
                      <a:r>
                        <a:rPr lang="en-US" sz="1200" b="0" i="0" kern="1200" baseline="0" dirty="0" smtClean="0">
                          <a:solidFill>
                            <a:schemeClr val="tx1"/>
                          </a:solidFill>
                          <a:latin typeface="+mj-lt"/>
                          <a:ea typeface="+mn-ea"/>
                          <a:cs typeface="+mn-cs"/>
                        </a:rPr>
                        <a:t> the information thus far, which company should Tony pursue purchasing?  What are the risks that he faces in trying to purchase it?</a:t>
                      </a:r>
                    </a:p>
                  </a:txBody>
                  <a:tcPr marT="45729" marB="45729" anchor="ctr"/>
                </a:tc>
              </a:tr>
              <a:tr h="1563058">
                <a:tc>
                  <a:txBody>
                    <a:bodyPr/>
                    <a:lstStyle/>
                    <a:p>
                      <a:pPr algn="ctr"/>
                      <a:r>
                        <a:rPr lang="en-US" sz="1800" b="1" dirty="0" smtClean="0"/>
                        <a:t>Guidance</a:t>
                      </a:r>
                      <a:endParaRPr lang="en-US" sz="1800" b="1" baseline="0" dirty="0" smtClean="0"/>
                    </a:p>
                  </a:txBody>
                  <a:tcPr marT="45729" marB="45729" anchor="ctr"/>
                </a:tc>
                <a:tc>
                  <a:txBody>
                    <a:bodyPr/>
                    <a:lstStyle/>
                    <a:p>
                      <a:r>
                        <a:rPr lang="en-US" sz="1200" b="0" i="0" u="none" kern="1200" dirty="0" smtClean="0">
                          <a:solidFill>
                            <a:schemeClr val="tx1"/>
                          </a:solidFill>
                          <a:latin typeface="+mj-lt"/>
                          <a:ea typeface="+mn-ea"/>
                          <a:cs typeface="+mn-cs"/>
                        </a:rPr>
                        <a:t>The</a:t>
                      </a:r>
                      <a:r>
                        <a:rPr lang="en-US" sz="1200" b="0" i="0" u="none" kern="1200" baseline="0" dirty="0" smtClean="0">
                          <a:solidFill>
                            <a:schemeClr val="tx1"/>
                          </a:solidFill>
                          <a:latin typeface="+mj-lt"/>
                          <a:ea typeface="+mn-ea"/>
                          <a:cs typeface="+mn-cs"/>
                        </a:rPr>
                        <a:t> case clearly points to </a:t>
                      </a:r>
                      <a:r>
                        <a:rPr lang="en-US" sz="1200" b="0" i="0" u="none" kern="1200" baseline="0" dirty="0" err="1" smtClean="0">
                          <a:solidFill>
                            <a:schemeClr val="tx1"/>
                          </a:solidFill>
                          <a:latin typeface="+mj-lt"/>
                          <a:ea typeface="+mn-ea"/>
                          <a:cs typeface="+mn-cs"/>
                        </a:rPr>
                        <a:t>PictSecure</a:t>
                      </a:r>
                      <a:r>
                        <a:rPr lang="en-US" sz="1200" b="0" i="0" u="none" kern="1200" baseline="0" dirty="0" smtClean="0">
                          <a:solidFill>
                            <a:schemeClr val="tx1"/>
                          </a:solidFill>
                          <a:latin typeface="+mj-lt"/>
                          <a:ea typeface="+mn-ea"/>
                          <a:cs typeface="+mn-cs"/>
                        </a:rPr>
                        <a:t>.  It meets Tony’s desire to work on Technology, as well as his knowledge about the lack of picture security.  His ability to use his scandal as a selling point for the product would also work.</a:t>
                      </a:r>
                    </a:p>
                    <a:p>
                      <a:endParaRPr lang="en-US" sz="1200" b="0" i="0" u="none" kern="1200" baseline="0" dirty="0" smtClean="0">
                        <a:solidFill>
                          <a:schemeClr val="tx1"/>
                        </a:solidFill>
                        <a:latin typeface="+mj-lt"/>
                        <a:ea typeface="+mn-ea"/>
                        <a:cs typeface="+mn-cs"/>
                      </a:endParaRPr>
                    </a:p>
                    <a:p>
                      <a:r>
                        <a:rPr lang="en-US" sz="1200" b="0" i="0" u="none" kern="1200" baseline="0" dirty="0" smtClean="0">
                          <a:solidFill>
                            <a:schemeClr val="tx1"/>
                          </a:solidFill>
                          <a:latin typeface="+mj-lt"/>
                          <a:ea typeface="+mn-ea"/>
                          <a:cs typeface="+mn-cs"/>
                        </a:rPr>
                        <a:t>Risks include the high growth rate…what if it doesn’t turn out?  What if he sucks at business, etc. </a:t>
                      </a:r>
                      <a:endParaRPr lang="en-US" sz="1200" b="0" i="0" u="none" kern="1200" dirty="0" smtClean="0">
                        <a:solidFill>
                          <a:schemeClr val="tx1"/>
                        </a:solidFill>
                        <a:latin typeface="+mj-lt"/>
                        <a:ea typeface="+mn-ea"/>
                        <a:cs typeface="+mn-cs"/>
                      </a:endParaRPr>
                    </a:p>
                  </a:txBody>
                  <a:tcPr marT="45729" marB="45729" anchor="ctr"/>
                </a:tc>
              </a:tr>
              <a:tr h="1039090">
                <a:tc>
                  <a:txBody>
                    <a:bodyPr/>
                    <a:lstStyle/>
                    <a:p>
                      <a:pPr algn="ctr"/>
                      <a:r>
                        <a:rPr lang="en-US" sz="1800" b="1" baseline="0" dirty="0" smtClean="0"/>
                        <a:t>Prompt #4</a:t>
                      </a:r>
                    </a:p>
                  </a:txBody>
                  <a:tcPr marT="45729" marB="45729" anchor="ctr"/>
                </a:tc>
                <a:tc>
                  <a:txBody>
                    <a:bodyPr/>
                    <a:lstStyle/>
                    <a:p>
                      <a:r>
                        <a:rPr lang="en-US" sz="1200" b="0" i="0" u="none" kern="1200" dirty="0" smtClean="0">
                          <a:solidFill>
                            <a:schemeClr val="tx1"/>
                          </a:solidFill>
                          <a:latin typeface="+mj-lt"/>
                          <a:ea typeface="+mn-ea"/>
                          <a:cs typeface="+mn-cs"/>
                        </a:rPr>
                        <a:t>Prices for the firms</a:t>
                      </a:r>
                      <a:r>
                        <a:rPr lang="en-US" sz="1200" b="0" i="0" u="none" kern="1200" baseline="0" dirty="0" smtClean="0">
                          <a:solidFill>
                            <a:schemeClr val="tx1"/>
                          </a:solidFill>
                          <a:latin typeface="+mj-lt"/>
                          <a:ea typeface="+mn-ea"/>
                          <a:cs typeface="+mn-cs"/>
                        </a:rPr>
                        <a:t> are as follows:  </a:t>
                      </a:r>
                      <a:r>
                        <a:rPr lang="en-US" sz="1200" b="0" i="0" u="none" kern="1200" baseline="0" dirty="0" err="1" smtClean="0">
                          <a:solidFill>
                            <a:schemeClr val="tx1"/>
                          </a:solidFill>
                          <a:latin typeface="+mj-lt"/>
                          <a:ea typeface="+mn-ea"/>
                          <a:cs typeface="+mn-cs"/>
                        </a:rPr>
                        <a:t>PictSecure</a:t>
                      </a:r>
                      <a:r>
                        <a:rPr lang="en-US" sz="1200" b="0" i="0" u="none" kern="1200" baseline="0" dirty="0" smtClean="0">
                          <a:solidFill>
                            <a:schemeClr val="tx1"/>
                          </a:solidFill>
                          <a:latin typeface="+mj-lt"/>
                          <a:ea typeface="+mn-ea"/>
                          <a:cs typeface="+mn-cs"/>
                        </a:rPr>
                        <a:t> - $62M    Doom Shelters - $33M     </a:t>
                      </a:r>
                      <a:r>
                        <a:rPr lang="en-US" sz="1200" b="0" i="0" u="none" kern="1200" baseline="0" dirty="0" err="1" smtClean="0">
                          <a:solidFill>
                            <a:schemeClr val="tx1"/>
                          </a:solidFill>
                          <a:latin typeface="+mj-lt"/>
                          <a:ea typeface="+mn-ea"/>
                          <a:cs typeface="+mn-cs"/>
                        </a:rPr>
                        <a:t>BPCakes</a:t>
                      </a:r>
                      <a:r>
                        <a:rPr lang="en-US" sz="1200" b="0" i="0" u="none" kern="1200" baseline="0" dirty="0" smtClean="0">
                          <a:solidFill>
                            <a:schemeClr val="tx1"/>
                          </a:solidFill>
                          <a:latin typeface="+mj-lt"/>
                          <a:ea typeface="+mn-ea"/>
                          <a:cs typeface="+mn-cs"/>
                        </a:rPr>
                        <a:t> - $49M</a:t>
                      </a:r>
                    </a:p>
                    <a:p>
                      <a:endParaRPr lang="en-US" sz="1200" b="0" i="0" u="none" kern="1200" baseline="0" dirty="0" smtClean="0">
                        <a:solidFill>
                          <a:schemeClr val="tx1"/>
                        </a:solidFill>
                        <a:latin typeface="+mj-lt"/>
                        <a:ea typeface="+mn-ea"/>
                        <a:cs typeface="+mn-cs"/>
                      </a:endParaRPr>
                    </a:p>
                    <a:p>
                      <a:r>
                        <a:rPr lang="en-US" sz="1200" b="0" i="0" u="none" kern="1200" baseline="0" dirty="0" smtClean="0">
                          <a:solidFill>
                            <a:schemeClr val="tx1"/>
                          </a:solidFill>
                          <a:latin typeface="+mj-lt"/>
                          <a:ea typeface="+mn-ea"/>
                          <a:cs typeface="+mn-cs"/>
                        </a:rPr>
                        <a:t>Does this change your recommendation, why or why not?</a:t>
                      </a:r>
                      <a:endParaRPr lang="en-US" sz="1200" b="0" i="0" u="none" kern="1200" dirty="0" smtClean="0">
                        <a:solidFill>
                          <a:schemeClr val="tx1"/>
                        </a:solidFill>
                        <a:latin typeface="+mj-lt"/>
                        <a:ea typeface="+mn-ea"/>
                        <a:cs typeface="+mn-cs"/>
                      </a:endParaRPr>
                    </a:p>
                  </a:txBody>
                  <a:tcPr marT="45729" marB="45729" anchor="ctr"/>
                </a:tc>
              </a:tr>
              <a:tr h="1563058">
                <a:tc>
                  <a:txBody>
                    <a:bodyPr/>
                    <a:lstStyle/>
                    <a:p>
                      <a:pPr algn="ctr"/>
                      <a:r>
                        <a:rPr lang="en-US" sz="1800" b="1" baseline="0" dirty="0" smtClean="0"/>
                        <a:t>Guidance</a:t>
                      </a:r>
                    </a:p>
                  </a:txBody>
                  <a:tcPr marT="45729" marB="45729" anchor="ctr"/>
                </a:tc>
                <a:tc>
                  <a:txBody>
                    <a:bodyPr/>
                    <a:lstStyle/>
                    <a:p>
                      <a:r>
                        <a:rPr lang="en-US" sz="1200" b="0" i="0" u="none" kern="1200" dirty="0" smtClean="0">
                          <a:solidFill>
                            <a:schemeClr val="tx1"/>
                          </a:solidFill>
                          <a:latin typeface="+mj-lt"/>
                          <a:ea typeface="+mn-ea"/>
                          <a:cs typeface="+mn-cs"/>
                        </a:rPr>
                        <a:t>Candidate is taking NPV</a:t>
                      </a:r>
                      <a:r>
                        <a:rPr lang="en-US" sz="1200" b="0" i="0" u="none" kern="1200" baseline="0" dirty="0" smtClean="0">
                          <a:solidFill>
                            <a:schemeClr val="tx1"/>
                          </a:solidFill>
                          <a:latin typeface="+mj-lt"/>
                          <a:ea typeface="+mn-ea"/>
                          <a:cs typeface="+mn-cs"/>
                        </a:rPr>
                        <a:t> – Asking Price of Firm to get expected value for Tony:</a:t>
                      </a:r>
                    </a:p>
                    <a:p>
                      <a:endParaRPr lang="en-US" sz="1200" b="0" i="0" u="none" kern="1200" baseline="0" dirty="0" smtClean="0">
                        <a:solidFill>
                          <a:schemeClr val="tx1"/>
                        </a:solidFill>
                        <a:latin typeface="+mj-lt"/>
                        <a:ea typeface="+mn-ea"/>
                        <a:cs typeface="+mn-cs"/>
                      </a:endParaRPr>
                    </a:p>
                    <a:p>
                      <a:pPr marL="171450" indent="-171450">
                        <a:buFont typeface="Arial" pitchFamily="34" charset="0"/>
                        <a:buChar char="•"/>
                      </a:pPr>
                      <a:r>
                        <a:rPr lang="en-US" sz="1200" b="0" i="0" u="none" kern="1200" baseline="0" dirty="0" err="1" smtClean="0">
                          <a:solidFill>
                            <a:schemeClr val="tx1"/>
                          </a:solidFill>
                          <a:latin typeface="+mj-lt"/>
                          <a:ea typeface="+mn-ea"/>
                          <a:cs typeface="+mn-cs"/>
                        </a:rPr>
                        <a:t>PictSecure</a:t>
                      </a:r>
                      <a:r>
                        <a:rPr lang="en-US" sz="1200" b="0" i="0" u="none" kern="1200" baseline="0" dirty="0" smtClean="0">
                          <a:solidFill>
                            <a:schemeClr val="tx1"/>
                          </a:solidFill>
                          <a:latin typeface="+mj-lt"/>
                          <a:ea typeface="+mn-ea"/>
                          <a:cs typeface="+mn-cs"/>
                        </a:rPr>
                        <a:t> - $80M - $62M = $18M</a:t>
                      </a:r>
                    </a:p>
                    <a:p>
                      <a:pPr marL="171450" indent="-171450">
                        <a:buFont typeface="Arial" pitchFamily="34" charset="0"/>
                        <a:buChar char="•"/>
                      </a:pPr>
                      <a:r>
                        <a:rPr lang="en-US" sz="1200" b="0" i="0" u="none" kern="1200" baseline="0" dirty="0" smtClean="0">
                          <a:solidFill>
                            <a:schemeClr val="tx1"/>
                          </a:solidFill>
                          <a:latin typeface="+mj-lt"/>
                          <a:ea typeface="+mn-ea"/>
                          <a:cs typeface="+mn-cs"/>
                        </a:rPr>
                        <a:t>Doom Shelters - $55M - $33M = $22M</a:t>
                      </a:r>
                    </a:p>
                    <a:p>
                      <a:pPr marL="171450" indent="-171450">
                        <a:buFont typeface="Arial" pitchFamily="34" charset="0"/>
                        <a:buChar char="•"/>
                      </a:pPr>
                      <a:r>
                        <a:rPr lang="en-US" sz="1200" b="0" i="0" u="none" kern="1200" dirty="0" smtClean="0">
                          <a:solidFill>
                            <a:schemeClr val="tx1"/>
                          </a:solidFill>
                          <a:latin typeface="+mj-lt"/>
                          <a:ea typeface="+mn-ea"/>
                          <a:cs typeface="+mn-cs"/>
                        </a:rPr>
                        <a:t>Bossy Pants</a:t>
                      </a:r>
                      <a:r>
                        <a:rPr lang="en-US" sz="1200" b="0" i="0" u="none" kern="1200" baseline="0" dirty="0" smtClean="0">
                          <a:solidFill>
                            <a:schemeClr val="tx1"/>
                          </a:solidFill>
                          <a:latin typeface="+mj-lt"/>
                          <a:ea typeface="+mn-ea"/>
                          <a:cs typeface="+mn-cs"/>
                        </a:rPr>
                        <a:t> Cakes - $70M - $49M = $21M</a:t>
                      </a:r>
                    </a:p>
                    <a:p>
                      <a:pPr marL="171450" indent="-171450">
                        <a:buFont typeface="Arial" pitchFamily="34" charset="0"/>
                        <a:buChar char="•"/>
                      </a:pPr>
                      <a:endParaRPr lang="en-US" sz="1200" b="0" i="0" u="none" kern="1200" baseline="0" dirty="0" smtClean="0">
                        <a:solidFill>
                          <a:schemeClr val="tx1"/>
                        </a:solidFill>
                        <a:latin typeface="+mj-lt"/>
                        <a:ea typeface="+mn-ea"/>
                        <a:cs typeface="+mn-cs"/>
                      </a:endParaRPr>
                    </a:p>
                    <a:p>
                      <a:pPr marL="0" indent="0">
                        <a:buFont typeface="Arial" pitchFamily="34" charset="0"/>
                        <a:buNone/>
                      </a:pPr>
                      <a:r>
                        <a:rPr lang="en-US" sz="1200" b="0" i="0" u="none" kern="1200" baseline="0" dirty="0" smtClean="0">
                          <a:solidFill>
                            <a:schemeClr val="tx1"/>
                          </a:solidFill>
                          <a:latin typeface="+mj-lt"/>
                          <a:ea typeface="+mn-ea"/>
                          <a:cs typeface="+mn-cs"/>
                        </a:rPr>
                        <a:t>This muddies the waters.  Tony has a clear financial advantage to Doom Shelter, but his personal reasons should deter him from buying it.  This is ambiguous and should test candidates thought process and ability to defend their position.</a:t>
                      </a:r>
                      <a:endParaRPr lang="en-US" sz="1200" b="0" i="0" u="none" kern="1200" dirty="0" smtClean="0">
                        <a:solidFill>
                          <a:schemeClr val="tx1"/>
                        </a:solidFill>
                        <a:latin typeface="+mj-lt"/>
                        <a:ea typeface="+mn-ea"/>
                        <a:cs typeface="+mn-cs"/>
                      </a:endParaRPr>
                    </a:p>
                  </a:txBody>
                  <a:tcPr marT="45729" marB="45729" anchor="ctr"/>
                </a:tc>
              </a:tr>
            </a:tbl>
          </a:graphicData>
        </a:graphic>
      </p:graphicFrame>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89</a:t>
            </a:fld>
            <a:endParaRPr lang="en-US" dirty="0"/>
          </a:p>
        </p:txBody>
      </p:sp>
    </p:spTree>
    <p:extLst>
      <p:ext uri="{BB962C8B-B14F-4D97-AF65-F5344CB8AC3E}">
        <p14:creationId xmlns:p14="http://schemas.microsoft.com/office/powerpoint/2010/main" val="1647021680"/>
      </p:ext>
    </p:extLst>
  </p:cSld>
  <p:clrMapOvr>
    <a:masterClrMapping/>
  </p:clrMapOvr>
  <p:timing>
    <p:tnLst>
      <p:par>
        <p:cTn xmlns:p14="http://schemas.microsoft.com/office/powerpoint/2010/mai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graphicFrame>
        <p:nvGraphicFramePr>
          <p:cNvPr id="12" name="Table 11"/>
          <p:cNvGraphicFramePr>
            <a:graphicFrameLocks noGrp="1"/>
          </p:cNvGraphicFramePr>
          <p:nvPr>
            <p:extLst>
              <p:ext uri="{D42A27DB-BD31-4B8C-83A1-F6EECF244321}">
                <p14:modId xmlns:p14="http://schemas.microsoft.com/office/powerpoint/2010/main" val="3268153335"/>
              </p:ext>
            </p:extLst>
          </p:nvPr>
        </p:nvGraphicFramePr>
        <p:xfrm>
          <a:off x="304800" y="1295400"/>
          <a:ext cx="8442158" cy="3027218"/>
        </p:xfrm>
        <a:graphic>
          <a:graphicData uri="http://schemas.openxmlformats.org/drawingml/2006/table">
            <a:tbl>
              <a:tblPr firstRow="1" bandRow="1">
                <a:tableStyleId>{616DA210-FB5B-4158-B5E0-FEB733F419BA}</a:tableStyleId>
              </a:tblPr>
              <a:tblGrid>
                <a:gridCol w="1582905"/>
                <a:gridCol w="6859253"/>
              </a:tblGrid>
              <a:tr h="30272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b="1" i="0" dirty="0" smtClean="0"/>
                        <a:t>Performance Evaluation</a:t>
                      </a:r>
                      <a:endParaRPr lang="en-US" sz="1000" i="0" dirty="0" smtClean="0"/>
                    </a:p>
                    <a:p>
                      <a:pPr algn="ctr"/>
                      <a:endParaRPr lang="en-US" b="1" baseline="0" dirty="0" smtClean="0"/>
                    </a:p>
                  </a:txBody>
                  <a:tcPr anchor="ctr"/>
                </a:tc>
                <a:tc>
                  <a:txBody>
                    <a:bodyPr/>
                    <a:lstStyle/>
                    <a:p>
                      <a:r>
                        <a:rPr lang="en-US" sz="1200" b="1" i="0" kern="1200" dirty="0" smtClean="0">
                          <a:solidFill>
                            <a:schemeClr val="tx1"/>
                          </a:solidFill>
                          <a:latin typeface="+mn-lt"/>
                          <a:ea typeface="+mn-ea"/>
                          <a:cs typeface="+mn-cs"/>
                        </a:rPr>
                        <a:t>Expected:</a:t>
                      </a:r>
                      <a:endParaRPr lang="en-US" sz="1200" b="1" i="0" kern="1200" baseline="0" dirty="0" smtClean="0">
                        <a:solidFill>
                          <a:schemeClr val="tx1"/>
                        </a:solidFill>
                        <a:latin typeface="+mn-lt"/>
                        <a:ea typeface="+mn-ea"/>
                        <a:cs typeface="+mn-cs"/>
                      </a:endParaRPr>
                    </a:p>
                    <a:p>
                      <a:pPr marL="171450" indent="-171450">
                        <a:buFont typeface="Arial" pitchFamily="34" charset="0"/>
                        <a:buChar char="•"/>
                      </a:pPr>
                      <a:r>
                        <a:rPr lang="en-US" sz="1200" b="0" i="0" kern="1200" baseline="0" dirty="0" smtClean="0">
                          <a:solidFill>
                            <a:schemeClr val="tx1"/>
                          </a:solidFill>
                          <a:latin typeface="+mn-lt"/>
                          <a:ea typeface="+mn-ea"/>
                          <a:cs typeface="+mn-cs"/>
                        </a:rPr>
                        <a:t>Completes all math accurately</a:t>
                      </a:r>
                    </a:p>
                    <a:p>
                      <a:pPr marL="171450" indent="-171450">
                        <a:buFont typeface="Arial" pitchFamily="34" charset="0"/>
                        <a:buChar char="•"/>
                      </a:pPr>
                      <a:r>
                        <a:rPr lang="en-US" sz="1200" b="0" i="0" kern="1200" baseline="0" dirty="0" smtClean="0">
                          <a:solidFill>
                            <a:schemeClr val="tx1"/>
                          </a:solidFill>
                          <a:latin typeface="+mn-lt"/>
                          <a:ea typeface="+mn-ea"/>
                          <a:cs typeface="+mn-cs"/>
                        </a:rPr>
                        <a:t>Proceeds through the process to the answer with some prompting</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Is able to drive the process forward, covering the necessary points with minimal prompting</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Walks the interviewer clearly through the math – also making the math simple</a:t>
                      </a:r>
                      <a:endParaRPr lang="en-US" sz="1200" b="1" i="0" kern="1200" baseline="0" dirty="0" smtClean="0">
                        <a:solidFill>
                          <a:schemeClr val="tx1"/>
                        </a:solidFill>
                        <a:latin typeface="+mn-lt"/>
                        <a:ea typeface="+mn-ea"/>
                        <a:cs typeface="+mn-cs"/>
                      </a:endParaRP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Disregards unnecessary information quickly and easily</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Performs all calculations with no prompting or errors</a:t>
                      </a:r>
                      <a:endParaRPr lang="en-US" sz="1200" b="0" i="0" kern="1200" dirty="0" smtClean="0">
                        <a:solidFill>
                          <a:schemeClr val="tx1"/>
                        </a:solidFill>
                        <a:latin typeface="+mn-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latin typeface="+mn-lt"/>
                          <a:ea typeface="+mn-ea"/>
                          <a:cs typeface="+mn-cs"/>
                        </a:rPr>
                        <a:t>Provides</a:t>
                      </a:r>
                      <a:r>
                        <a:rPr lang="en-US" sz="1200" b="0" i="0" kern="1200" baseline="0" dirty="0" smtClean="0">
                          <a:solidFill>
                            <a:schemeClr val="tx1"/>
                          </a:solidFill>
                          <a:latin typeface="+mn-lt"/>
                          <a:ea typeface="+mn-ea"/>
                          <a:cs typeface="+mn-cs"/>
                        </a:rPr>
                        <a:t> clear logic for overall recommendation, noting risks and how to mitigate them</a:t>
                      </a:r>
                    </a:p>
                  </a:txBody>
                  <a:tcPr anchor="ctr"/>
                </a:tc>
              </a:tr>
            </a:tbl>
          </a:graphicData>
        </a:graphic>
      </p:graphicFrame>
      <p:sp>
        <p:nvSpPr>
          <p:cNvPr id="10"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First Round</a:t>
            </a:r>
            <a:endParaRPr lang="en-US" sz="1400" i="1" dirty="0"/>
          </a:p>
        </p:txBody>
      </p:sp>
      <p:sp>
        <p:nvSpPr>
          <p:cNvPr id="7"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11: What’s Next for Tony?</a:t>
            </a:r>
            <a:endParaRPr lang="en-US" sz="2400"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90</a:t>
            </a:fld>
            <a:endParaRPr lang="en-US" dirty="0"/>
          </a:p>
        </p:txBody>
      </p:sp>
    </p:spTree>
    <p:extLst>
      <p:ext uri="{BB962C8B-B14F-4D97-AF65-F5344CB8AC3E}">
        <p14:creationId xmlns:p14="http://schemas.microsoft.com/office/powerpoint/2010/main" val="143976643"/>
      </p:ext>
    </p:extLst>
  </p:cSld>
  <p:clrMapOvr>
    <a:masterClrMapping/>
  </p:clrMapOvr>
  <p:timing>
    <p:tnLst>
      <p:par>
        <p:cTn xmlns:p14="http://schemas.microsoft.com/office/powerpoint/2010/mai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91</a:t>
            </a:fld>
            <a:endParaRPr lang="en-US" dirty="0"/>
          </a:p>
        </p:txBody>
      </p:sp>
    </p:spTree>
    <p:extLst>
      <p:ext uri="{BB962C8B-B14F-4D97-AF65-F5344CB8AC3E}">
        <p14:creationId xmlns:p14="http://schemas.microsoft.com/office/powerpoint/2010/main" val="572981937"/>
      </p:ext>
    </p:extLst>
  </p:cSld>
  <p:clrMapOvr>
    <a:masterClrMapping/>
  </p:clrMapOvr>
  <p:timing>
    <p:tnLst>
      <p:par>
        <p:cTn xmlns:p14="http://schemas.microsoft.com/office/powerpoint/2010/mai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12: Old McDonald </a:t>
            </a:r>
            <a:r>
              <a:rPr lang="en-US" b="1" dirty="0"/>
              <a:t>h</a:t>
            </a:r>
            <a:r>
              <a:rPr lang="en-US" b="1" dirty="0" smtClean="0"/>
              <a:t>ad a…?</a:t>
            </a:r>
            <a:endParaRPr lang="en-US" b="1" dirty="0"/>
          </a:p>
        </p:txBody>
      </p:sp>
      <p:graphicFrame>
        <p:nvGraphicFramePr>
          <p:cNvPr id="12" name="Table 11"/>
          <p:cNvGraphicFramePr>
            <a:graphicFrameLocks noGrp="1"/>
          </p:cNvGraphicFramePr>
          <p:nvPr>
            <p:extLst/>
          </p:nvPr>
        </p:nvGraphicFramePr>
        <p:xfrm>
          <a:off x="304800" y="1676400"/>
          <a:ext cx="8534400" cy="4373907"/>
        </p:xfrm>
        <a:graphic>
          <a:graphicData uri="http://schemas.openxmlformats.org/drawingml/2006/table">
            <a:tbl>
              <a:tblPr/>
              <a:tblGrid>
                <a:gridCol w="1600200"/>
                <a:gridCol w="6934200"/>
              </a:tblGrid>
              <a:tr h="9906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#1</a:t>
                      </a:r>
                    </a:p>
                  </a:txBody>
                  <a:tcPr marT="45734" marB="457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itchFamily="34" charset="0"/>
                          <a:ea typeface="ＭＳ Ｐゴシック" pitchFamily="34" charset="-128"/>
                        </a:rPr>
                        <a:t>Your client specializes in manufacturing and leasing specialized agricultural equipment to small-to-medium farms.  Your client experienced rapid revenue growth in recent years, but growth has plateaued in the past year, and the Board is worried.  The CEO wants to know what might be causing this decline in growth rate and what to focus on as part of a growth strategy going forward.</a:t>
                      </a:r>
                      <a:endParaRPr kumimoji="0" lang="en-US" sz="1200" b="0" i="1" u="none" strike="noStrike" cap="none" normalizeH="0" baseline="0" dirty="0" smtClean="0">
                        <a:ln>
                          <a:noFill/>
                        </a:ln>
                        <a:solidFill>
                          <a:schemeClr val="tx1"/>
                        </a:solidFill>
                        <a:effectLst/>
                        <a:latin typeface="Calibri" pitchFamily="34" charset="0"/>
                        <a:ea typeface="ＭＳ Ｐゴシック" pitchFamily="34" charset="-128"/>
                      </a:endParaRPr>
                    </a:p>
                  </a:txBody>
                  <a:tcPr marT="45734" marB="457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22860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ea typeface="ＭＳ Ｐゴシック" pitchFamily="34" charset="-128"/>
                        </a:rPr>
                        <a:t>Guidance</a:t>
                      </a:r>
                    </a:p>
                  </a:txBody>
                  <a:tcPr marT="45734" marB="457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When asked, you should share that </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farmers </a:t>
                      </a:r>
                      <a:r>
                        <a:rPr kumimoji="0" lang="en-US" sz="1200" b="0" i="0" u="none" strike="noStrike" cap="none" normalizeH="0" baseline="0" dirty="0" smtClean="0">
                          <a:ln>
                            <a:noFill/>
                          </a:ln>
                          <a:solidFill>
                            <a:schemeClr val="tx1"/>
                          </a:solidFill>
                          <a:effectLst/>
                          <a:latin typeface="+mj-lt"/>
                          <a:ea typeface="ＭＳ Ｐゴシック" pitchFamily="34" charset="-128"/>
                        </a:rPr>
                        <a:t>turn to our client to lease equipment (think tractors, harvesters) to increase capacity during peak times (harvest season).  Historically, our client has been the high-end player, offering high-performance products at a premium – in many ways, the </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Lexus</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 of the industry.  </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The client serves primarily US farms and offers 3 primary types of products (essentially specialized tractors). Customers sign short-term leases and pay weekly, often renewing their contracts year-over-year.</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There are two primary goals in this case:</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To identify the cause behind the decline in growth</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To ultimately provide a viable recommendation for a growth strategy by selecting which product on which to focus</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A quality framework will be MECE and will explore external and internal factors for the decline in growth with an emphasis on looking at the breakdown of products and the market potential for each.  Student should recognize that the case is not about costs.  Student does not need a detailed understanding of the industry or the machines to crack the case.  </a:t>
                      </a:r>
                    </a:p>
                  </a:txBody>
                  <a:tcPr marT="45734" marB="457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sp>
        <p:nvSpPr>
          <p:cNvPr id="8"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92</a:t>
            </a:fld>
            <a:endParaRPr lang="en-US" dirty="0"/>
          </a:p>
        </p:txBody>
      </p:sp>
    </p:spTree>
    <p:extLst>
      <p:ext uri="{BB962C8B-B14F-4D97-AF65-F5344CB8AC3E}">
        <p14:creationId xmlns:p14="http://schemas.microsoft.com/office/powerpoint/2010/main" val="2249550468"/>
      </p:ext>
    </p:extLst>
  </p:cSld>
  <p:clrMapOvr>
    <a:masterClrMapping/>
  </p:clrMapOvr>
  <p:timing>
    <p:tnLst>
      <p:par>
        <p:cTn xmlns:p14="http://schemas.microsoft.com/office/powerpoint/2010/mai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nvPr>
        </p:nvGraphicFramePr>
        <p:xfrm>
          <a:off x="304800" y="1471613"/>
          <a:ext cx="8610600" cy="4427831"/>
        </p:xfrm>
        <a:graphic>
          <a:graphicData uri="http://schemas.openxmlformats.org/drawingml/2006/table">
            <a:tbl>
              <a:tblPr/>
              <a:tblGrid>
                <a:gridCol w="1614488"/>
                <a:gridCol w="6996112"/>
              </a:tblGrid>
              <a:tr h="1423988">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#2</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dirty="0" smtClean="0">
                          <a:ln>
                            <a:noFill/>
                          </a:ln>
                          <a:solidFill>
                            <a:schemeClr val="tx1"/>
                          </a:solidFill>
                          <a:effectLst/>
                          <a:latin typeface="+mj-lt"/>
                          <a:ea typeface="ＭＳ Ｐゴシック" pitchFamily="34" charset="-128"/>
                        </a:rPr>
                        <a:t>When student asks about how revenue breaks down by product, show </a:t>
                      </a:r>
                      <a:r>
                        <a:rPr kumimoji="0" lang="en-US" altLang="en-US" sz="1200" b="0" i="1" u="none" strike="noStrike" cap="none" normalizeH="0" baseline="0" dirty="0" smtClean="0">
                          <a:ln>
                            <a:noFill/>
                          </a:ln>
                          <a:solidFill>
                            <a:schemeClr val="tx1"/>
                          </a:solidFill>
                          <a:effectLst/>
                          <a:latin typeface="+mj-lt"/>
                          <a:ea typeface="ＭＳ Ｐゴシック" pitchFamily="34" charset="-128"/>
                        </a:rPr>
                        <a:t>“</a:t>
                      </a:r>
                      <a:r>
                        <a:rPr kumimoji="0" lang="en-US" sz="1200" b="0" i="1" u="none" strike="noStrike" cap="none" normalizeH="0" baseline="0" dirty="0" smtClean="0">
                          <a:ln>
                            <a:noFill/>
                          </a:ln>
                          <a:solidFill>
                            <a:schemeClr val="tx1"/>
                          </a:solidFill>
                          <a:effectLst/>
                          <a:latin typeface="+mj-lt"/>
                          <a:ea typeface="ＭＳ Ｐゴシック" pitchFamily="34" charset="-128"/>
                        </a:rPr>
                        <a:t>Exhibit 1</a:t>
                      </a:r>
                      <a:r>
                        <a:rPr kumimoji="0" lang="en-US" altLang="en-US" sz="1200" b="0" i="1" u="none" strike="noStrike" cap="none" normalizeH="0" baseline="0" dirty="0" smtClean="0">
                          <a:ln>
                            <a:noFill/>
                          </a:ln>
                          <a:solidFill>
                            <a:schemeClr val="tx1"/>
                          </a:solidFill>
                          <a:effectLst/>
                          <a:latin typeface="+mj-lt"/>
                          <a:ea typeface="ＭＳ Ｐゴシック" pitchFamily="34" charset="-128"/>
                        </a:rPr>
                        <a:t>”.  If they don’t ask about revenue, prompt them to think about  it.</a:t>
                      </a:r>
                      <a:endParaRPr kumimoji="0" lang="en-US" sz="1200" b="0" i="1"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Review exhibit #1 and:</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Identify key takeaways</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Brainstorm reasons why growth has slowed in Product 1 revenues</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Develop a hypothesis around why growth has slowed and brainstorm ways to test this hypothesis.</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287337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Guidance</a:t>
                      </a:r>
                      <a:endParaRPr kumimoji="0" lang="en-US" sz="1000" b="0" i="0" u="none" strike="noStrike" cap="none" normalizeH="0" baseline="0" dirty="0" smtClean="0">
                        <a:ln>
                          <a:noFill/>
                        </a:ln>
                        <a:solidFill>
                          <a:schemeClr val="tx1"/>
                        </a:solidFill>
                        <a:effectLst/>
                        <a:latin typeface="Arial" pitchFamily="34" charset="0"/>
                        <a:ea typeface="ＭＳ Ｐゴシック" pitchFamily="34"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Takeaways: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Candidate should recognize that historically &gt;90% of client</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s revenues have come from Product 1.</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Product 2 is growing, but is not a sizeable part of the business.</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Product 3 is a recent addition, appearing first in 2013 and expected to grow quickly.</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Reasons growth slowed for Product 1</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Customer switch to competitor (change in customer perceptions of quality, competitor winning on price); </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Customer switch to a substitute (overall decline in market, prevalence of new technologies); </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Shift in distribution areas/processes; shift in marketing/force tactics and effectiveness</a:t>
                      </a:r>
                    </a:p>
                    <a:p>
                      <a:pPr marL="0" marR="0" lvl="0" indent="0" algn="l" defTabSz="457200" rtl="0" eaLnBrk="1" fontAlgn="base" latinLnBrk="0" hangingPunct="1">
                        <a:lnSpc>
                          <a:spcPct val="100000"/>
                        </a:lnSpc>
                        <a:spcBef>
                          <a:spcPct val="0"/>
                        </a:spcBef>
                        <a:spcAft>
                          <a:spcPct val="0"/>
                        </a:spcAft>
                        <a:buClrTx/>
                        <a:buSzTx/>
                        <a:buFont typeface="Arial" pitchFamily="34" charset="0"/>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 typeface="Arial" pitchFamily="34" charset="0"/>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Hypothesis and Testing</a:t>
                      </a:r>
                    </a:p>
                    <a:p>
                      <a:pPr marL="0" marR="0" lvl="0" indent="0" algn="l" defTabSz="457200" rtl="0" eaLnBrk="1" fontAlgn="base" latinLnBrk="0" hangingPunct="1">
                        <a:lnSpc>
                          <a:spcPct val="100000"/>
                        </a:lnSpc>
                        <a:spcBef>
                          <a:spcPct val="0"/>
                        </a:spcBef>
                        <a:spcAft>
                          <a:spcPct val="0"/>
                        </a:spcAft>
                        <a:buClrTx/>
                        <a:buSzTx/>
                        <a:buFont typeface="Arial" pitchFamily="34" charset="0"/>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Candidate should identify a hypothesis.  Ways to test it include: customer interviews, market/industry surveys, competitor research</a:t>
                      </a:r>
                    </a:p>
                    <a:p>
                      <a:pPr marL="0" marR="0" lvl="0" indent="0" algn="l" defTabSz="457200" rtl="0" eaLnBrk="1" fontAlgn="base" latinLnBrk="0" hangingPunct="1">
                        <a:lnSpc>
                          <a:spcPct val="100000"/>
                        </a:lnSpc>
                        <a:spcBef>
                          <a:spcPct val="0"/>
                        </a:spcBef>
                        <a:spcAft>
                          <a:spcPct val="0"/>
                        </a:spcAft>
                        <a:buClrTx/>
                        <a:buSzTx/>
                        <a:buFont typeface="Arial" pitchFamily="34" charset="0"/>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pic>
        <p:nvPicPr>
          <p:cNvPr id="1742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2"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12: Old McDonald had a…?</a:t>
            </a:r>
            <a:endParaRPr lang="en-US" b="1" dirty="0"/>
          </a:p>
        </p:txBody>
      </p:sp>
      <p:sp>
        <p:nvSpPr>
          <p:cNvPr id="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93</a:t>
            </a:fld>
            <a:endParaRPr lang="en-US" dirty="0"/>
          </a:p>
        </p:txBody>
      </p:sp>
    </p:spTree>
    <p:extLst>
      <p:ext uri="{BB962C8B-B14F-4D97-AF65-F5344CB8AC3E}">
        <p14:creationId xmlns:p14="http://schemas.microsoft.com/office/powerpoint/2010/main" val="517199861"/>
      </p:ext>
    </p:extLst>
  </p:cSld>
  <p:clrMapOvr>
    <a:masterClrMapping/>
  </p:clrMapOvr>
  <p:timing>
    <p:tnLst>
      <p:par>
        <p:cTn xmlns:p14="http://schemas.microsoft.com/office/powerpoint/2010/mai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Chart 7"/>
          <p:cNvGraphicFramePr>
            <a:graphicFrameLocks/>
          </p:cNvGraphicFramePr>
          <p:nvPr>
            <p:extLst/>
          </p:nvPr>
        </p:nvGraphicFramePr>
        <p:xfrm>
          <a:off x="784225" y="1452770"/>
          <a:ext cx="7510463" cy="4327525"/>
        </p:xfrm>
        <a:graphic>
          <a:graphicData uri="http://schemas.openxmlformats.org/presentationml/2006/ole">
            <mc:AlternateContent xmlns:mc="http://schemas.openxmlformats.org/markup-compatibility/2006">
              <mc:Choice xmlns:v="urn:schemas-microsoft-com:vml" Requires="v">
                <p:oleObj spid="_x0000_s4148" name="Worksheet" r:id="rId4" imgW="7115151" imgH="3857621" progId="Excel.Sheet.8">
                  <p:embed/>
                </p:oleObj>
              </mc:Choice>
              <mc:Fallback>
                <p:oleObj name="Worksheet" r:id="rId4" imgW="7115151" imgH="3857621" progId="Excel.Sheet.8">
                  <p:embed/>
                  <p:pic>
                    <p:nvPicPr>
                      <p:cNvPr id="0" name=""/>
                      <p:cNvPicPr>
                        <a:picLocks noChangeArrowheads="1"/>
                      </p:cNvPicPr>
                      <p:nvPr/>
                    </p:nvPicPr>
                    <p:blipFill>
                      <a:blip r:embed="rId5"/>
                      <a:srcRect/>
                      <a:stretch>
                        <a:fillRect/>
                      </a:stretch>
                    </p:blipFill>
                    <p:spPr bwMode="auto">
                      <a:xfrm>
                        <a:off x="784225" y="1452770"/>
                        <a:ext cx="7510463" cy="4327525"/>
                      </a:xfrm>
                      <a:prstGeom prst="rect">
                        <a:avLst/>
                      </a:prstGeom>
                      <a:noFill/>
                    </p:spPr>
                  </p:pic>
                </p:oleObj>
              </mc:Fallback>
            </mc:AlternateContent>
          </a:graphicData>
        </a:graphic>
      </p:graphicFrame>
      <p:pic>
        <p:nvPicPr>
          <p:cNvPr id="1843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smtClean="0"/>
              <a:t>Case 12: Old McDonald had a…?</a:t>
            </a:r>
            <a:endParaRPr lang="en-US" b="1" dirty="0"/>
          </a:p>
        </p:txBody>
      </p:sp>
      <p:sp>
        <p:nvSpPr>
          <p:cNvPr id="6" name="TextBox 1"/>
          <p:cNvSpPr txBox="1">
            <a:spLocks noChangeArrowheads="1"/>
          </p:cNvSpPr>
          <p:nvPr/>
        </p:nvSpPr>
        <p:spPr bwMode="auto">
          <a:xfrm>
            <a:off x="609747" y="1001254"/>
            <a:ext cx="7987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1: </a:t>
            </a:r>
            <a:r>
              <a:rPr lang="en-US" sz="1800" b="1" dirty="0" smtClean="0"/>
              <a:t>Overall Company Revenue Breakdown by Product ($M)</a:t>
            </a:r>
            <a:endParaRPr lang="en-US" sz="1800" b="1" dirty="0"/>
          </a:p>
        </p:txBody>
      </p:sp>
      <p:sp>
        <p:nvSpPr>
          <p:cNvPr id="2" name="Slide Number Placeholder 1"/>
          <p:cNvSpPr>
            <a:spLocks noGrp="1"/>
          </p:cNvSpPr>
          <p:nvPr>
            <p:ph type="sldNum" sz="quarter" idx="11"/>
          </p:nvPr>
        </p:nvSpPr>
        <p:spPr/>
        <p:txBody>
          <a:bodyPr/>
          <a:lstStyle/>
          <a:p>
            <a:pPr>
              <a:defRPr/>
            </a:pPr>
            <a:fld id="{10901BB4-5089-4320-8756-C6A8E09E0B36}" type="slidenum">
              <a:rPr lang="en-US" smtClean="0"/>
              <a:pPr>
                <a:defRPr/>
              </a:pPr>
              <a:t>94</a:t>
            </a:fld>
            <a:endParaRPr lang="en-US" dirty="0"/>
          </a:p>
        </p:txBody>
      </p:sp>
    </p:spTree>
    <p:extLst>
      <p:ext uri="{BB962C8B-B14F-4D97-AF65-F5344CB8AC3E}">
        <p14:creationId xmlns:p14="http://schemas.microsoft.com/office/powerpoint/2010/main" val="2936201354"/>
      </p:ext>
    </p:extLst>
  </p:cSld>
  <p:clrMapOvr>
    <a:masterClrMapping/>
  </p:clrMapOvr>
  <p:timing>
    <p:tnLst>
      <p:par>
        <p:cTn xmlns:p14="http://schemas.microsoft.com/office/powerpoint/2010/mai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nvPr>
        </p:nvGraphicFramePr>
        <p:xfrm>
          <a:off x="304800" y="1471614"/>
          <a:ext cx="8610600" cy="2879147"/>
        </p:xfrm>
        <a:graphic>
          <a:graphicData uri="http://schemas.openxmlformats.org/drawingml/2006/table">
            <a:tbl>
              <a:tblPr/>
              <a:tblGrid>
                <a:gridCol w="1614488"/>
                <a:gridCol w="6996112"/>
              </a:tblGrid>
              <a:tr h="129771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#3</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 typeface="Arial" pitchFamily="34" charset="0"/>
                        <a:buNone/>
                        <a:tabLst/>
                      </a:pP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Your teammates have surveyed the market and identified that the key issue is that farmers are moving away from the technology that Product 1 provides, and farmers are increasingly turning towards other products (such as Products 2 and 3) to meet their agricultural needs. </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158143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Guidance</a:t>
                      </a:r>
                      <a:endParaRPr kumimoji="0" lang="en-US" sz="1000" b="0" i="0" u="none" strike="noStrike" cap="none" normalizeH="0" baseline="0" dirty="0" smtClean="0">
                        <a:ln>
                          <a:noFill/>
                        </a:ln>
                        <a:solidFill>
                          <a:schemeClr val="tx1"/>
                        </a:solidFill>
                        <a:effectLst/>
                        <a:latin typeface="Arial" pitchFamily="34" charset="0"/>
                        <a:ea typeface="ＭＳ Ｐゴシック" pitchFamily="34"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Student should then recognize that it is important to investigate growth potential for Products 2 and 3.  If they don’t, prompt them to review those two areas for additional insights.</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kern="1200" cap="none" normalizeH="0" baseline="0" dirty="0" smtClean="0">
                        <a:ln>
                          <a:noFill/>
                        </a:ln>
                        <a:solidFill>
                          <a:schemeClr val="tx1"/>
                        </a:solidFill>
                        <a:effectLst/>
                        <a:latin typeface="+mn-lt"/>
                        <a:ea typeface="ＭＳ Ｐゴシック" pitchFamily="34" charset="-128"/>
                        <a:cs typeface="+mn-cs"/>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This is designed to be a brainstorming section of the case.  Once they have exhibited good brainstorming (along with enough “what else” prodding from the interviewer), </a:t>
                      </a:r>
                      <a:r>
                        <a:rPr kumimoji="0" lang="en-US" sz="1200" b="1" i="0" u="none" strike="noStrike" kern="1200" cap="none" normalizeH="0" baseline="0" dirty="0" smtClean="0">
                          <a:ln>
                            <a:noFill/>
                          </a:ln>
                          <a:solidFill>
                            <a:schemeClr val="tx1"/>
                          </a:solidFill>
                          <a:effectLst/>
                          <a:latin typeface="+mn-lt"/>
                          <a:ea typeface="ＭＳ Ｐゴシック" pitchFamily="34" charset="-128"/>
                          <a:cs typeface="+mn-cs"/>
                        </a:rPr>
                        <a:t>prompt the candidate to think about competitive landscape</a:t>
                      </a: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  A strong candidate will not need prompting.</a:t>
                      </a:r>
                      <a:endParaRPr kumimoji="0" lang="en-US" sz="1200" b="0" i="0" u="none" strike="noStrike" cap="none" normalizeH="0" baseline="0" dirty="0" smtClean="0">
                        <a:ln>
                          <a:noFill/>
                        </a:ln>
                        <a:solidFill>
                          <a:schemeClr val="tx1"/>
                        </a:solidFill>
                        <a:effectLst/>
                        <a:latin typeface="+mj-lt"/>
                        <a:ea typeface="ＭＳ Ｐゴシック" pitchFamily="34"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pic>
        <p:nvPicPr>
          <p:cNvPr id="1742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2"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12: Old McDonald had a…?</a:t>
            </a:r>
            <a:endParaRPr lang="en-US" b="1" dirty="0"/>
          </a:p>
        </p:txBody>
      </p:sp>
      <p:sp>
        <p:nvSpPr>
          <p:cNvPr id="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95</a:t>
            </a:fld>
            <a:endParaRPr lang="en-US" dirty="0"/>
          </a:p>
        </p:txBody>
      </p:sp>
    </p:spTree>
    <p:extLst>
      <p:ext uri="{BB962C8B-B14F-4D97-AF65-F5344CB8AC3E}">
        <p14:creationId xmlns:p14="http://schemas.microsoft.com/office/powerpoint/2010/main" val="3142177763"/>
      </p:ext>
    </p:extLst>
  </p:cSld>
  <p:clrMapOvr>
    <a:masterClrMapping/>
  </p:clrMapOvr>
  <p:timing>
    <p:tnLst>
      <p:par>
        <p:cTn xmlns:p14="http://schemas.microsoft.com/office/powerpoint/2010/mai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nvPr>
        </p:nvGraphicFramePr>
        <p:xfrm>
          <a:off x="117760" y="1364670"/>
          <a:ext cx="8915400" cy="4754855"/>
        </p:xfrm>
        <a:graphic>
          <a:graphicData uri="http://schemas.openxmlformats.org/drawingml/2006/table">
            <a:tbl>
              <a:tblPr/>
              <a:tblGrid>
                <a:gridCol w="1671638"/>
                <a:gridCol w="7243762"/>
              </a:tblGrid>
              <a:tr h="9906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#4</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dirty="0" smtClean="0">
                          <a:ln>
                            <a:noFill/>
                          </a:ln>
                          <a:solidFill>
                            <a:schemeClr val="tx1"/>
                          </a:solidFill>
                          <a:effectLst/>
                          <a:latin typeface="+mj-lt"/>
                          <a:ea typeface="ＭＳ Ｐゴシック" pitchFamily="34" charset="-128"/>
                        </a:rPr>
                        <a:t>Hand candidate Exhibit #2</a:t>
                      </a:r>
                    </a:p>
                    <a:p>
                      <a:pPr marL="0" marR="0" lvl="0" indent="0" algn="l" defTabSz="457200" rtl="0" eaLnBrk="1" fontAlgn="base" latinLnBrk="0" hangingPunct="1">
                        <a:lnSpc>
                          <a:spcPct val="100000"/>
                        </a:lnSpc>
                        <a:spcBef>
                          <a:spcPct val="0"/>
                        </a:spcBef>
                        <a:spcAft>
                          <a:spcPct val="0"/>
                        </a:spcAft>
                        <a:buClrTx/>
                        <a:buSzTx/>
                        <a:buFontTx/>
                        <a:buChar char="-"/>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Talk through context for Product 2 and Product 3, identifying key insights from chart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Highlight key insights from </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Product Info</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 table</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Develop hypotheses about which product client should focus growth strategy on</a:t>
                      </a:r>
                    </a:p>
                    <a:p>
                      <a:pPr marL="0" marR="0" lvl="0" indent="0" algn="l" defTabSz="457200" rtl="0" eaLnBrk="1" fontAlgn="base" latinLnBrk="0" hangingPunct="1">
                        <a:lnSpc>
                          <a:spcPct val="100000"/>
                        </a:lnSpc>
                        <a:spcBef>
                          <a:spcPct val="0"/>
                        </a:spcBef>
                        <a:spcAft>
                          <a:spcPct val="0"/>
                        </a:spcAft>
                        <a:buClrTx/>
                        <a:buSzTx/>
                        <a:buFont typeface="Arial" pitchFamily="34" charset="0"/>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155257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ea typeface="ＭＳ Ｐゴシック" pitchFamily="34" charset="-128"/>
                        </a:rPr>
                        <a:t>Guidance</a:t>
                      </a:r>
                      <a:endParaRPr kumimoji="0" lang="en-US" sz="1000" b="0" i="0" u="none" strike="noStrike" cap="none" normalizeH="0" baseline="0" smtClean="0">
                        <a:ln>
                          <a:noFill/>
                        </a:ln>
                        <a:solidFill>
                          <a:schemeClr val="tx1"/>
                        </a:solidFill>
                        <a:effectLst/>
                        <a:latin typeface="Arial" pitchFamily="34" charset="0"/>
                        <a:ea typeface="ＭＳ Ｐゴシック" pitchFamily="34" charset="-128"/>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Takeaways</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Our client is the market leader in Product 1.  </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Student should synthesize findings from previous page,  and focus Client’s attention on reviewing potential for Products 2 and 3</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Client is not the key player in Product 2.  Could be an attractive industry, but client has little share and largest player has over half the current market.</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1" u="none" strike="noStrike" cap="none" normalizeH="0" baseline="0" dirty="0" smtClean="0">
                          <a:ln>
                            <a:noFill/>
                          </a:ln>
                          <a:solidFill>
                            <a:schemeClr val="tx1"/>
                          </a:solidFill>
                          <a:effectLst/>
                          <a:latin typeface="+mj-lt"/>
                          <a:ea typeface="ＭＳ Ｐゴシック" pitchFamily="34" charset="-128"/>
                        </a:rPr>
                        <a:t>If asked, share Product 2 is a more basic version of Product 1- less versatile, but gets the job done.  Customers of Product 2 tend to value low-cost.  </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When asked, Competitor 1 has differentiated itself as the low-cost player, the </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Ford</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 of the Product 2 market.  Competitor 1 has massive advantages of scale</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Candidate should recognize that it will be difficult to compete with Competitor 1 in Product 2 and/or a growth strategy focused on Product 2 does not align with client</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s value proposition</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Client has majority market share and only 1 competitor in Product 3.</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1" u="none" strike="noStrike" cap="none" normalizeH="0" baseline="0" dirty="0" smtClean="0">
                          <a:ln>
                            <a:noFill/>
                          </a:ln>
                          <a:solidFill>
                            <a:schemeClr val="tx1"/>
                          </a:solidFill>
                          <a:effectLst/>
                          <a:latin typeface="+mj-lt"/>
                          <a:ea typeface="ＭＳ Ｐゴシック" pitchFamily="34" charset="-128"/>
                        </a:rPr>
                        <a:t>If asked, share that that Product 3 is proprietary technology our customer developed that fuses </a:t>
                      </a:r>
                      <a:r>
                        <a:rPr kumimoji="0" lang="en-US" sz="1200" b="0" i="0" u="none" strike="noStrike" cap="none" normalizeH="0" baseline="0" dirty="0" smtClean="0">
                          <a:ln>
                            <a:noFill/>
                          </a:ln>
                          <a:solidFill>
                            <a:schemeClr val="tx1"/>
                          </a:solidFill>
                          <a:effectLst/>
                          <a:latin typeface="+mj-lt"/>
                          <a:ea typeface="ＭＳ Ｐゴシック" pitchFamily="34" charset="-128"/>
                        </a:rPr>
                        <a:t>the specialization offered by Product 1 with some of the cost-savings of Product 2.  </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Candidate should remember that Product 3 is a very small, but growing part of client</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s revenue.</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1" i="0" u="none" strike="noStrike" cap="none" normalizeH="0" baseline="0" dirty="0" smtClean="0">
                          <a:ln>
                            <a:noFill/>
                          </a:ln>
                          <a:solidFill>
                            <a:schemeClr val="tx1"/>
                          </a:solidFill>
                          <a:effectLst/>
                          <a:latin typeface="+mj-lt"/>
                          <a:ea typeface="ＭＳ Ｐゴシック" pitchFamily="34" charset="-128"/>
                        </a:rPr>
                        <a:t>Candidate should ask about the size of the potential market for Product 3.</a:t>
                      </a:r>
                      <a:r>
                        <a:rPr kumimoji="0" lang="en-US" sz="1200" b="0" i="0" u="none" strike="noStrike" cap="none" normalizeH="0" baseline="0" dirty="0" smtClean="0">
                          <a:ln>
                            <a:noFill/>
                          </a:ln>
                          <a:solidFill>
                            <a:schemeClr val="tx1"/>
                          </a:solidFill>
                          <a:effectLst/>
                          <a:latin typeface="+mj-lt"/>
                          <a:ea typeface="ＭＳ Ｐゴシック" pitchFamily="34" charset="-128"/>
                        </a:rPr>
                        <a:t> </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SUMMARY – High Profit  and Growth in Product 3…clear product to focus on.</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pic>
        <p:nvPicPr>
          <p:cNvPr id="1946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0"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12: Old McDonald had a…?</a:t>
            </a:r>
            <a:endParaRPr lang="en-US" b="1" dirty="0"/>
          </a:p>
        </p:txBody>
      </p:sp>
      <p:sp>
        <p:nvSpPr>
          <p:cNvPr id="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96</a:t>
            </a:fld>
            <a:endParaRPr lang="en-US" dirty="0"/>
          </a:p>
        </p:txBody>
      </p:sp>
    </p:spTree>
    <p:extLst>
      <p:ext uri="{BB962C8B-B14F-4D97-AF65-F5344CB8AC3E}">
        <p14:creationId xmlns:p14="http://schemas.microsoft.com/office/powerpoint/2010/main" val="3523136445"/>
      </p:ext>
    </p:extLst>
  </p:cSld>
  <p:clrMapOvr>
    <a:masterClrMapping/>
  </p:clrMapOvr>
  <p:timing>
    <p:tnLst>
      <p:par>
        <p:cTn xmlns:p14="http://schemas.microsoft.com/office/powerpoint/2010/mai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5"/>
          <p:cNvGraphicFramePr>
            <a:graphicFrameLocks/>
          </p:cNvGraphicFramePr>
          <p:nvPr>
            <p:extLst/>
          </p:nvPr>
        </p:nvGraphicFramePr>
        <p:xfrm>
          <a:off x="522513" y="1271738"/>
          <a:ext cx="8095014" cy="307166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Table 1"/>
          <p:cNvGraphicFramePr>
            <a:graphicFrameLocks noGrp="1"/>
          </p:cNvGraphicFramePr>
          <p:nvPr>
            <p:extLst/>
          </p:nvPr>
        </p:nvGraphicFramePr>
        <p:xfrm>
          <a:off x="825870" y="4392716"/>
          <a:ext cx="7254441" cy="2245145"/>
        </p:xfrm>
        <a:graphic>
          <a:graphicData uri="http://schemas.openxmlformats.org/drawingml/2006/table">
            <a:tbl>
              <a:tblPr firstRow="1" bandRow="1">
                <a:tableStyleId>{5C22544A-7EE6-4342-B048-85BDC9FD1C3A}</a:tableStyleId>
              </a:tblPr>
              <a:tblGrid>
                <a:gridCol w="1164374"/>
                <a:gridCol w="916359"/>
                <a:gridCol w="1293427"/>
                <a:gridCol w="1293427"/>
                <a:gridCol w="1293427"/>
                <a:gridCol w="1293427"/>
              </a:tblGrid>
              <a:tr h="731765">
                <a:tc>
                  <a:txBody>
                    <a:bodyPr/>
                    <a:lstStyle/>
                    <a:p>
                      <a:pPr algn="ctr"/>
                      <a:r>
                        <a:rPr lang="en-US" sz="1400" dirty="0" smtClean="0">
                          <a:solidFill>
                            <a:schemeClr val="tx1"/>
                          </a:solidFill>
                        </a:rPr>
                        <a:t>Client Products</a:t>
                      </a:r>
                      <a:endParaRPr lang="en-US" sz="1400" dirty="0">
                        <a:solidFill>
                          <a:schemeClr val="tx1"/>
                        </a:solidFill>
                      </a:endParaRPr>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aseline="0" dirty="0" smtClean="0">
                          <a:solidFill>
                            <a:schemeClr val="tx1"/>
                          </a:solidFill>
                        </a:rPr>
                        <a:t>Retail Price</a:t>
                      </a:r>
                    </a:p>
                    <a:p>
                      <a:pPr algn="ctr"/>
                      <a:r>
                        <a:rPr lang="en-US" sz="1400" baseline="0" dirty="0" smtClean="0">
                          <a:solidFill>
                            <a:schemeClr val="tx1"/>
                          </a:solidFill>
                        </a:rPr>
                        <a:t>(per week)</a:t>
                      </a:r>
                      <a:endParaRPr lang="en-US" sz="1400" dirty="0">
                        <a:solidFill>
                          <a:schemeClr val="tx1"/>
                        </a:solidFill>
                      </a:endParaRPr>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smtClean="0">
                          <a:solidFill>
                            <a:schemeClr val="tx1"/>
                          </a:solidFill>
                        </a:rPr>
                        <a:t>Expected Industry Growth</a:t>
                      </a:r>
                      <a:r>
                        <a:rPr lang="en-US" sz="1400" baseline="0" dirty="0" smtClean="0">
                          <a:solidFill>
                            <a:schemeClr val="tx1"/>
                          </a:solidFill>
                        </a:rPr>
                        <a:t> Rate</a:t>
                      </a:r>
                      <a:r>
                        <a:rPr lang="en-US" sz="1400" dirty="0" smtClean="0">
                          <a:solidFill>
                            <a:schemeClr val="tx1"/>
                          </a:solidFill>
                        </a:rPr>
                        <a:t> (2013)</a:t>
                      </a:r>
                      <a:endParaRPr lang="en-US" sz="1400" dirty="0">
                        <a:solidFill>
                          <a:schemeClr val="tx1"/>
                        </a:solidFill>
                      </a:endParaRPr>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smtClean="0">
                          <a:solidFill>
                            <a:schemeClr val="tx1"/>
                          </a:solidFill>
                        </a:rPr>
                        <a:t>Expected Industry Growth</a:t>
                      </a:r>
                      <a:r>
                        <a:rPr lang="en-US" sz="1400" baseline="0" dirty="0" smtClean="0">
                          <a:solidFill>
                            <a:schemeClr val="tx1"/>
                          </a:solidFill>
                        </a:rPr>
                        <a:t> Rate</a:t>
                      </a:r>
                      <a:r>
                        <a:rPr lang="en-US" sz="1400" dirty="0" smtClean="0">
                          <a:solidFill>
                            <a:schemeClr val="tx1"/>
                          </a:solidFill>
                        </a:rPr>
                        <a:t> (2014)</a:t>
                      </a:r>
                      <a:endParaRPr lang="en-US" sz="1400" dirty="0">
                        <a:solidFill>
                          <a:schemeClr val="tx1"/>
                        </a:solidFill>
                      </a:endParaRPr>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smtClean="0">
                          <a:solidFill>
                            <a:schemeClr val="tx1"/>
                          </a:solidFill>
                        </a:rPr>
                        <a:t>Expected Industry Growth</a:t>
                      </a:r>
                      <a:r>
                        <a:rPr lang="en-US" sz="1400" baseline="0" dirty="0" smtClean="0">
                          <a:solidFill>
                            <a:schemeClr val="tx1"/>
                          </a:solidFill>
                        </a:rPr>
                        <a:t> Rate</a:t>
                      </a:r>
                      <a:r>
                        <a:rPr lang="en-US" sz="1400" dirty="0" smtClean="0">
                          <a:solidFill>
                            <a:schemeClr val="tx1"/>
                          </a:solidFill>
                        </a:rPr>
                        <a:t> (2015)</a:t>
                      </a:r>
                      <a:endParaRPr lang="en-US" sz="1400" dirty="0">
                        <a:solidFill>
                          <a:schemeClr val="tx1"/>
                        </a:solidFill>
                      </a:endParaRPr>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smtClean="0">
                          <a:solidFill>
                            <a:schemeClr val="tx1"/>
                          </a:solidFill>
                        </a:rPr>
                        <a:t>Expected Industry Growth</a:t>
                      </a:r>
                      <a:r>
                        <a:rPr lang="en-US" sz="1400" baseline="0" dirty="0" smtClean="0">
                          <a:solidFill>
                            <a:schemeClr val="tx1"/>
                          </a:solidFill>
                        </a:rPr>
                        <a:t> Rate</a:t>
                      </a:r>
                      <a:r>
                        <a:rPr lang="en-US" sz="1400" dirty="0" smtClean="0">
                          <a:solidFill>
                            <a:schemeClr val="tx1"/>
                          </a:solidFill>
                        </a:rPr>
                        <a:t> (2016)</a:t>
                      </a:r>
                      <a:endParaRPr lang="en-US" sz="1400" dirty="0">
                        <a:solidFill>
                          <a:schemeClr val="tx1"/>
                        </a:solidFill>
                      </a:endParaRPr>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33412">
                <a:tc>
                  <a:txBody>
                    <a:bodyPr/>
                    <a:lstStyle/>
                    <a:p>
                      <a:r>
                        <a:rPr lang="en-US" sz="1400" dirty="0" smtClean="0"/>
                        <a:t>Product 1</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$800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10%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10%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10%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10%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33412">
                <a:tc>
                  <a:txBody>
                    <a:bodyPr/>
                    <a:lstStyle/>
                    <a:p>
                      <a:r>
                        <a:rPr lang="en-US" sz="1400" dirty="0" smtClean="0"/>
                        <a:t>Product 2</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$200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20%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20%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20%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20%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33412">
                <a:tc>
                  <a:txBody>
                    <a:bodyPr/>
                    <a:lstStyle/>
                    <a:p>
                      <a:r>
                        <a:rPr lang="en-US" sz="1400" dirty="0" smtClean="0"/>
                        <a:t>Product 3</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$500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200%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50%</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33%</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t>16.7%</a:t>
                      </a:r>
                      <a:endParaRPr lang="en-US" sz="1400" dirty="0"/>
                    </a:p>
                  </a:txBody>
                  <a:tcPr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205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6"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12: Old McDonald had a…?</a:t>
            </a:r>
            <a:endParaRPr lang="en-US" b="1" dirty="0"/>
          </a:p>
        </p:txBody>
      </p:sp>
      <p:sp>
        <p:nvSpPr>
          <p:cNvPr id="7" name="TextBox 1"/>
          <p:cNvSpPr txBox="1">
            <a:spLocks noChangeArrowheads="1"/>
          </p:cNvSpPr>
          <p:nvPr/>
        </p:nvSpPr>
        <p:spPr bwMode="auto">
          <a:xfrm>
            <a:off x="1932705" y="957825"/>
            <a:ext cx="5514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a:t>
            </a:r>
            <a:r>
              <a:rPr lang="en-US" sz="1800" b="1" dirty="0" smtClean="0"/>
              <a:t>2: Client Market Share by Product</a:t>
            </a:r>
            <a:endParaRPr lang="en-US" sz="1800" b="1" dirty="0"/>
          </a:p>
        </p:txBody>
      </p:sp>
      <p:sp>
        <p:nvSpPr>
          <p:cNvPr id="4" name="Slide Number Placeholder 3"/>
          <p:cNvSpPr>
            <a:spLocks noGrp="1"/>
          </p:cNvSpPr>
          <p:nvPr>
            <p:ph type="sldNum" sz="quarter" idx="11"/>
          </p:nvPr>
        </p:nvSpPr>
        <p:spPr/>
        <p:txBody>
          <a:bodyPr/>
          <a:lstStyle/>
          <a:p>
            <a:pPr>
              <a:defRPr/>
            </a:pPr>
            <a:fld id="{10901BB4-5089-4320-8756-C6A8E09E0B36}" type="slidenum">
              <a:rPr lang="en-US" smtClean="0"/>
              <a:pPr>
                <a:defRPr/>
              </a:pPr>
              <a:t>97</a:t>
            </a:fld>
            <a:endParaRPr lang="en-US" dirty="0"/>
          </a:p>
        </p:txBody>
      </p:sp>
    </p:spTree>
    <p:extLst>
      <p:ext uri="{BB962C8B-B14F-4D97-AF65-F5344CB8AC3E}">
        <p14:creationId xmlns:p14="http://schemas.microsoft.com/office/powerpoint/2010/main" val="3747392429"/>
      </p:ext>
    </p:extLst>
  </p:cSld>
  <p:clrMapOvr>
    <a:masterClrMapping/>
  </p:clrMapOvr>
  <p:timing>
    <p:tnLst>
      <p:par>
        <p:cTn xmlns:p14="http://schemas.microsoft.com/office/powerpoint/2010/mai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nvPr>
        </p:nvGraphicFramePr>
        <p:xfrm>
          <a:off x="228600" y="1323105"/>
          <a:ext cx="8534400" cy="5426829"/>
        </p:xfrm>
        <a:graphic>
          <a:graphicData uri="http://schemas.openxmlformats.org/drawingml/2006/table">
            <a:tbl>
              <a:tblPr/>
              <a:tblGrid>
                <a:gridCol w="1600200"/>
                <a:gridCol w="6934200"/>
              </a:tblGrid>
              <a:tr h="1059877">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#5</a:t>
                      </a: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The market hasn’t caught on to Product 3 yet, but the client believes there is significant potential for Product 3 and would like you to estimate the size of the opportunity through 2016.   </a:t>
                      </a: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1177636">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Guidance</a:t>
                      </a: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Candidate should use chart on previous page to estimate size of the opportunity:</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$100M in 2013 * 200% growth = 300M in 2014 * 50% growth = 450M in 2015 * 33% growth = </a:t>
                      </a:r>
                      <a:r>
                        <a:rPr kumimoji="0" lang="en-US" sz="1200" b="1" i="0" u="none" strike="noStrike" kern="1200" cap="none" normalizeH="0" baseline="0" dirty="0" smtClean="0">
                          <a:ln>
                            <a:noFill/>
                          </a:ln>
                          <a:solidFill>
                            <a:schemeClr val="tx1"/>
                          </a:solidFill>
                          <a:effectLst/>
                          <a:latin typeface="+mn-lt"/>
                          <a:ea typeface="ＭＳ Ｐゴシック" pitchFamily="34" charset="-128"/>
                          <a:cs typeface="+mn-cs"/>
                        </a:rPr>
                        <a:t>600M in 2016</a:t>
                      </a:r>
                      <a:endParaRPr kumimoji="0" lang="en-US" sz="1200" b="1" i="1" u="none" strike="noStrike" kern="1200" cap="none" normalizeH="0" baseline="0" dirty="0" smtClean="0">
                        <a:ln>
                          <a:noFill/>
                        </a:ln>
                        <a:solidFill>
                          <a:schemeClr val="tx1"/>
                        </a:solidFill>
                        <a:effectLst/>
                        <a:latin typeface="+mn-lt"/>
                        <a:ea typeface="ＭＳ Ｐゴシック" pitchFamily="34" charset="-128"/>
                        <a:cs typeface="+mn-cs"/>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r h="1086218">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#6</a:t>
                      </a: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mn-lt"/>
                          <a:ea typeface="ＭＳ Ｐゴシック" pitchFamily="34" charset="-128"/>
                          <a:cs typeface="+mn-cs"/>
                        </a:rPr>
                        <a:t>What factors may impact this estimate? How might the emergence of a competitor in Product 3 change the size of the opportunity?  What if the market doesn</a:t>
                      </a:r>
                      <a:r>
                        <a:rPr kumimoji="0" lang="en-US" altLang="en-US" sz="1200" b="0" i="0" u="none" strike="noStrike" kern="1200" cap="none" spc="0" normalizeH="0" baseline="0" noProof="0" dirty="0" smtClean="0">
                          <a:ln>
                            <a:noFill/>
                          </a:ln>
                          <a:solidFill>
                            <a:srgbClr val="000000"/>
                          </a:solidFill>
                          <a:effectLst/>
                          <a:uLnTx/>
                          <a:uFillTx/>
                          <a:latin typeface="+mn-lt"/>
                          <a:ea typeface="ＭＳ Ｐゴシック" pitchFamily="34" charset="-128"/>
                          <a:cs typeface="+mn-cs"/>
                        </a:rPr>
                        <a:t>’</a:t>
                      </a:r>
                      <a:r>
                        <a:rPr kumimoji="0" lang="en-US" sz="1200" b="0" i="0" u="none" strike="noStrike" kern="1200" cap="none" spc="0" normalizeH="0" baseline="0" noProof="0" dirty="0" smtClean="0">
                          <a:ln>
                            <a:noFill/>
                          </a:ln>
                          <a:solidFill>
                            <a:srgbClr val="000000"/>
                          </a:solidFill>
                          <a:effectLst/>
                          <a:uLnTx/>
                          <a:uFillTx/>
                          <a:latin typeface="+mn-lt"/>
                          <a:ea typeface="ＭＳ Ｐゴシック" pitchFamily="34" charset="-128"/>
                          <a:cs typeface="+mn-cs"/>
                        </a:rPr>
                        <a:t>t grow at the expected rate? </a:t>
                      </a: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155416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Guidance</a:t>
                      </a: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Candidate should estimate confidence bands around the size of the opportunity based on sensitivity around industry growth rate and client</a:t>
                      </a:r>
                      <a:r>
                        <a:rPr kumimoji="0" lang="en-US" altLang="en-US" sz="1200" b="0" i="0" u="none" strike="noStrike" kern="1200" cap="none" normalizeH="0" baseline="0" dirty="0" smtClean="0">
                          <a:ln>
                            <a:noFill/>
                          </a:ln>
                          <a:solidFill>
                            <a:schemeClr val="tx1"/>
                          </a:solidFill>
                          <a:effectLst/>
                          <a:latin typeface="+mn-lt"/>
                          <a:ea typeface="ＭＳ Ｐゴシック" pitchFamily="34" charset="-128"/>
                          <a:cs typeface="+mn-cs"/>
                        </a:rPr>
                        <a:t>’</a:t>
                      </a: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s percentage of market share.   If time permits, encourage candidate to perform some quantitative valuation to form these bands (ex. size of opportunity if client secures 60%-90% of market).  Otherwise, have a qualitative discussion.</a:t>
                      </a:r>
                    </a:p>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mn-lt"/>
                        <a:ea typeface="ＭＳ Ｐゴシック" pitchFamily="34" charset="-128"/>
                        <a:cs typeface="+mn-cs"/>
                      </a:endParaRP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200" b="1" i="0" u="sng" strike="noStrike" kern="1200" cap="none" normalizeH="0" baseline="0" dirty="0" smtClean="0">
                          <a:ln>
                            <a:noFill/>
                          </a:ln>
                          <a:solidFill>
                            <a:schemeClr val="tx1"/>
                          </a:solidFill>
                          <a:effectLst/>
                          <a:latin typeface="+mn-lt"/>
                          <a:ea typeface="ＭＳ Ｐゴシック" pitchFamily="34" charset="-128"/>
                          <a:cs typeface="+mn-cs"/>
                        </a:rPr>
                        <a:t>Final Recommendation: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defRPr/>
                      </a:pP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Student should identify that the evolution of the market away from Product 1, our client’s core offering, along with the presence of a large competitor in Product 2’s space, are root causes behind why growth has slowed for our client.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defRPr/>
                      </a:pP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Growth strategy should focus on investing in new customers for Product 3, while seeking to preserve customer base in Product 1.</a:t>
                      </a: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pic>
        <p:nvPicPr>
          <p:cNvPr id="2254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2"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12: Old McDonald had a…?</a:t>
            </a:r>
            <a:endParaRPr lang="en-US" b="1" dirty="0"/>
          </a:p>
        </p:txBody>
      </p:sp>
      <p:sp>
        <p:nvSpPr>
          <p:cNvPr id="10"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98</a:t>
            </a:fld>
            <a:endParaRPr lang="en-US" dirty="0"/>
          </a:p>
        </p:txBody>
      </p:sp>
    </p:spTree>
    <p:extLst>
      <p:ext uri="{BB962C8B-B14F-4D97-AF65-F5344CB8AC3E}">
        <p14:creationId xmlns:p14="http://schemas.microsoft.com/office/powerpoint/2010/main" val="2235184623"/>
      </p:ext>
    </p:extLst>
  </p:cSld>
  <p:clrMapOvr>
    <a:masterClrMapping/>
  </p:clrMapOvr>
  <p:timing>
    <p:tnLst>
      <p:par>
        <p:cTn xmlns:p14="http://schemas.microsoft.com/office/powerpoint/2010/mai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nvPr>
        </p:nvGraphicFramePr>
        <p:xfrm>
          <a:off x="228600" y="1323105"/>
          <a:ext cx="8534400" cy="3383257"/>
        </p:xfrm>
        <a:graphic>
          <a:graphicData uri="http://schemas.openxmlformats.org/drawingml/2006/table">
            <a:tbl>
              <a:tblPr/>
              <a:tblGrid>
                <a:gridCol w="1600200"/>
                <a:gridCol w="6934200"/>
              </a:tblGrid>
              <a:tr h="155416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Performance Evaluation</a:t>
                      </a:r>
                      <a:endParaRPr kumimoji="0" lang="en-US" sz="1000" b="0" i="0" u="none" strike="noStrike" cap="none" normalizeH="0" baseline="0" dirty="0" smtClean="0">
                        <a:ln>
                          <a:noFill/>
                        </a:ln>
                        <a:solidFill>
                          <a:schemeClr val="tx1"/>
                        </a:solidFill>
                        <a:effectLst/>
                        <a:latin typeface="Arial" pitchFamily="34" charset="0"/>
                        <a:ea typeface="ＭＳ Ｐゴシック" pitchFamily="34" charset="-128"/>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Expected: </a:t>
                      </a: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MECE framework</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Complete all calculations with limited help and errors</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Identify causes behind the decline in growth rate.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Identify a product to focus on as growth strategy going forward, and provide supporting evidence</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Good: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Drive the case to each prompt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Perform calculations with no help or errors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Identify that Product 3 should be an integral part of growth strategy,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Identify key risks in focusing on Product 3 (ex. market may evolve in different direction; shifting focus away from core may cause churn in Product 1 customers)</a:t>
                      </a:r>
                      <a:endParaRPr kumimoji="0" lang="en-US" sz="1200" b="1"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Excellent: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Perceive nuance that market is moving away from client</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s core (Product 1),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Candidate determines that client can</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t compete in Product 2, and that Product 3 potential is largely unknown.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Question long-term potential and whether CEO should sell the business and get out altogether.</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2254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2"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12: Old McDonald had a…?</a:t>
            </a:r>
            <a:endParaRPr lang="en-US" b="1" dirty="0"/>
          </a:p>
        </p:txBody>
      </p:sp>
      <p:sp>
        <p:nvSpPr>
          <p:cNvPr id="9"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99</a:t>
            </a:fld>
            <a:endParaRPr lang="en-US" dirty="0"/>
          </a:p>
        </p:txBody>
      </p:sp>
    </p:spTree>
    <p:extLst>
      <p:ext uri="{BB962C8B-B14F-4D97-AF65-F5344CB8AC3E}">
        <p14:creationId xmlns:p14="http://schemas.microsoft.com/office/powerpoint/2010/main" val="329351405"/>
      </p:ext>
    </p:extLst>
  </p:cSld>
  <p:clrMapOvr>
    <a:masterClrMapping/>
  </p:clrMapOvr>
  <p:timing>
    <p:tnLst>
      <p:par>
        <p:cTn xmlns:p14="http://schemas.microsoft.com/office/powerpoint/2010/mai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100</a:t>
            </a:fld>
            <a:endParaRPr lang="en-US" dirty="0"/>
          </a:p>
        </p:txBody>
      </p:sp>
    </p:spTree>
    <p:extLst>
      <p:ext uri="{BB962C8B-B14F-4D97-AF65-F5344CB8AC3E}">
        <p14:creationId xmlns:p14="http://schemas.microsoft.com/office/powerpoint/2010/main" val="24756138"/>
      </p:ext>
    </p:extLst>
  </p:cSld>
  <p:clrMapOvr>
    <a:masterClrMapping/>
  </p:clrMapOvr>
  <p:timing>
    <p:tnLst>
      <p:par>
        <p:cTn xmlns:p14="http://schemas.microsoft.com/office/powerpoint/2010/mai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5"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512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13: </a:t>
            </a:r>
            <a:r>
              <a:rPr lang="en-US" sz="2400" b="1" dirty="0"/>
              <a:t>Parks and Recreation</a:t>
            </a:r>
          </a:p>
        </p:txBody>
      </p:sp>
      <p:graphicFrame>
        <p:nvGraphicFramePr>
          <p:cNvPr id="12" name="Table 11"/>
          <p:cNvGraphicFramePr>
            <a:graphicFrameLocks noGrp="1"/>
          </p:cNvGraphicFramePr>
          <p:nvPr>
            <p:extLst>
              <p:ext uri="{D42A27DB-BD31-4B8C-83A1-F6EECF244321}">
                <p14:modId xmlns:p14="http://schemas.microsoft.com/office/powerpoint/2010/main" val="299138512"/>
              </p:ext>
            </p:extLst>
          </p:nvPr>
        </p:nvGraphicFramePr>
        <p:xfrm>
          <a:off x="304800" y="1295400"/>
          <a:ext cx="8534400" cy="4027823"/>
        </p:xfrm>
        <a:graphic>
          <a:graphicData uri="http://schemas.openxmlformats.org/drawingml/2006/table">
            <a:tbl>
              <a:tblPr firstRow="1" bandRow="1">
                <a:tableStyleId>{616DA210-FB5B-4158-B5E0-FEB733F419BA}</a:tableStyleId>
              </a:tblPr>
              <a:tblGrid>
                <a:gridCol w="1600200"/>
                <a:gridCol w="6934200"/>
              </a:tblGrid>
              <a:tr h="1558636">
                <a:tc>
                  <a:txBody>
                    <a:bodyPr/>
                    <a:lstStyle/>
                    <a:p>
                      <a:pPr algn="ctr"/>
                      <a:r>
                        <a:rPr lang="en-US" sz="1800" dirty="0" smtClean="0"/>
                        <a:t>Prompt #1</a:t>
                      </a:r>
                      <a:endParaRPr lang="en-US" sz="1800" dirty="0"/>
                    </a:p>
                  </a:txBody>
                  <a:tcPr marT="45739" marB="45739" anchor="ctr"/>
                </a:tc>
                <a:tc>
                  <a:txBody>
                    <a:bodyPr/>
                    <a:lstStyle/>
                    <a:p>
                      <a:r>
                        <a:rPr lang="en-US" sz="1200" b="0" i="0" kern="1200" baseline="0" dirty="0" smtClean="0">
                          <a:latin typeface="+mj-lt"/>
                        </a:rPr>
                        <a:t>Leslie </a:t>
                      </a:r>
                      <a:r>
                        <a:rPr lang="en-US" sz="1200" b="0" i="0" kern="1200" baseline="0" dirty="0" err="1" smtClean="0">
                          <a:latin typeface="+mj-lt"/>
                        </a:rPr>
                        <a:t>Knope</a:t>
                      </a:r>
                      <a:r>
                        <a:rPr lang="en-US" sz="1200" b="0" i="0" kern="1200" baseline="0" dirty="0" smtClean="0">
                          <a:latin typeface="+mj-lt"/>
                        </a:rPr>
                        <a:t> has been recently elected to the Town Council of Pawnee, Indiana. During her campaign, she promised the citizens of Pawnee that she would build a beautiful new park. The towns’ budget, however, does not have the funding to fulfill Leslie’s ambitious promise. </a:t>
                      </a: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Leslie wants your advice on how to proceed and determine if and how it’s possible to build her park.</a:t>
                      </a:r>
                    </a:p>
                    <a:p>
                      <a:pPr marL="0" indent="0">
                        <a:buNone/>
                      </a:pPr>
                      <a:endParaRPr lang="en-US" sz="1200" b="0" i="0" kern="1200" baseline="0" dirty="0" smtClean="0">
                        <a:solidFill>
                          <a:schemeClr val="tx1"/>
                        </a:solidFill>
                        <a:latin typeface="+mj-lt"/>
                        <a:ea typeface="+mn-ea"/>
                        <a:cs typeface="+mn-cs"/>
                      </a:endParaRPr>
                    </a:p>
                  </a:txBody>
                  <a:tcPr marT="45739" marB="45739" anchor="ctr"/>
                </a:tc>
              </a:tr>
              <a:tr h="2469187">
                <a:tc>
                  <a:txBody>
                    <a:bodyPr/>
                    <a:lstStyle/>
                    <a:p>
                      <a:pPr algn="ctr"/>
                      <a:r>
                        <a:rPr lang="en-US" sz="1800" b="1" dirty="0" smtClean="0"/>
                        <a:t>Guidance</a:t>
                      </a:r>
                      <a:endParaRPr lang="en-US" sz="1800" b="1" baseline="0" dirty="0" smtClean="0"/>
                    </a:p>
                  </a:txBody>
                  <a:tcPr marT="45739" marB="45739" anchor="ctr"/>
                </a:tc>
                <a:tc>
                  <a:txBody>
                    <a:bodyPr/>
                    <a:lstStyle/>
                    <a:p>
                      <a:pPr marL="171450" indent="-171450">
                        <a:buFont typeface="Arial" pitchFamily="34" charset="0"/>
                        <a:buChar char="•"/>
                      </a:pPr>
                      <a:r>
                        <a:rPr lang="en-US" sz="1200" b="0" i="0" kern="1200" baseline="0" dirty="0" smtClean="0">
                          <a:solidFill>
                            <a:schemeClr val="tx1"/>
                          </a:solidFill>
                          <a:latin typeface="+mn-lt"/>
                          <a:ea typeface="+mn-ea"/>
                          <a:cs typeface="+mn-cs"/>
                        </a:rPr>
                        <a:t>Ask the candidate to walk you his/her thinking.</a:t>
                      </a:r>
                    </a:p>
                    <a:p>
                      <a:pPr marL="171450" indent="-171450">
                        <a:buFont typeface="Arial" pitchFamily="34" charset="0"/>
                        <a:buChar char="•"/>
                      </a:pPr>
                      <a:r>
                        <a:rPr lang="en-US" sz="1200" b="0" i="0" kern="1200" baseline="0" dirty="0" smtClean="0">
                          <a:solidFill>
                            <a:schemeClr val="tx1"/>
                          </a:solidFill>
                          <a:latin typeface="+mn-lt"/>
                          <a:ea typeface="+mn-ea"/>
                          <a:cs typeface="+mn-cs"/>
                        </a:rPr>
                        <a:t>Ask the candidate to pick the two most important areas/points</a:t>
                      </a:r>
                    </a:p>
                    <a:p>
                      <a:pPr marL="171450" indent="-171450">
                        <a:buFont typeface="Arial" pitchFamily="34" charset="0"/>
                        <a:buChar char="•"/>
                      </a:pPr>
                      <a:r>
                        <a:rPr lang="en-US" sz="1200" b="0" i="0" kern="1200" baseline="0" dirty="0" smtClean="0">
                          <a:solidFill>
                            <a:schemeClr val="tx1"/>
                          </a:solidFill>
                          <a:latin typeface="+mn-lt"/>
                          <a:ea typeface="+mn-ea"/>
                          <a:cs typeface="+mn-cs"/>
                        </a:rPr>
                        <a:t>Once it seems you are satisfied, the candidate should proceed to dive into the first area. STOP and move to the next section.</a:t>
                      </a:r>
                      <a:endParaRPr lang="en-US" sz="1200" i="0" kern="1200" baseline="0" dirty="0" smtClean="0">
                        <a:solidFill>
                          <a:schemeClr val="tx1"/>
                        </a:solidFill>
                        <a:latin typeface="+mj-lt"/>
                        <a:ea typeface="+mn-ea"/>
                        <a:cs typeface="+mn-cs"/>
                      </a:endParaRPr>
                    </a:p>
                    <a:p>
                      <a:endParaRPr lang="en-US" sz="1200" i="0" kern="1200" baseline="0" dirty="0" smtClean="0">
                        <a:solidFill>
                          <a:schemeClr val="tx1"/>
                        </a:solidFill>
                        <a:latin typeface="+mj-lt"/>
                        <a:ea typeface="+mn-ea"/>
                        <a:cs typeface="+mn-cs"/>
                      </a:endParaRPr>
                    </a:p>
                    <a:p>
                      <a:r>
                        <a:rPr lang="en-US" sz="1200" i="0" kern="1200" baseline="0" dirty="0" smtClean="0">
                          <a:solidFill>
                            <a:schemeClr val="tx1"/>
                          </a:solidFill>
                          <a:latin typeface="+mj-lt"/>
                          <a:ea typeface="+mn-ea"/>
                          <a:cs typeface="+mn-cs"/>
                        </a:rPr>
                        <a:t>Provide the following information if asked: </a:t>
                      </a:r>
                    </a:p>
                    <a:p>
                      <a:pPr marL="228600" indent="-228600">
                        <a:buAutoNum type="arabicParenR"/>
                      </a:pPr>
                      <a:r>
                        <a:rPr lang="en-US" sz="1200" i="0" kern="1200" baseline="0" dirty="0" smtClean="0">
                          <a:solidFill>
                            <a:schemeClr val="tx1"/>
                          </a:solidFill>
                          <a:latin typeface="+mj-lt"/>
                          <a:ea typeface="+mn-ea"/>
                          <a:cs typeface="+mn-cs"/>
                        </a:rPr>
                        <a:t>The park costs approximately $750,000</a:t>
                      </a:r>
                    </a:p>
                    <a:p>
                      <a:pPr marL="228600" indent="-228600">
                        <a:buAutoNum type="arabicParenR"/>
                      </a:pPr>
                      <a:r>
                        <a:rPr lang="en-US" sz="1200" b="1" i="0" kern="1200" baseline="0" dirty="0" smtClean="0">
                          <a:solidFill>
                            <a:schemeClr val="tx1"/>
                          </a:solidFill>
                          <a:latin typeface="+mj-lt"/>
                          <a:ea typeface="+mn-ea"/>
                          <a:cs typeface="+mn-cs"/>
                        </a:rPr>
                        <a:t>The Park’s Department annual budget is a approximately  $5 Million dollars. Make sure the candidate knows this before moving forward.</a:t>
                      </a:r>
                    </a:p>
                    <a:p>
                      <a:pPr marL="228600" indent="-228600">
                        <a:buAutoNum type="arabicParenR"/>
                      </a:pPr>
                      <a:r>
                        <a:rPr lang="en-US" sz="1200" i="0" kern="1200" baseline="0" dirty="0" smtClean="0">
                          <a:solidFill>
                            <a:schemeClr val="tx1"/>
                          </a:solidFill>
                          <a:latin typeface="+mj-lt"/>
                          <a:ea typeface="+mn-ea"/>
                          <a:cs typeface="+mn-cs"/>
                        </a:rPr>
                        <a:t>There are no other relevant campaign promises</a:t>
                      </a:r>
                    </a:p>
                    <a:p>
                      <a:pPr marL="228600" indent="-228600">
                        <a:buAutoNum type="arabicParenR"/>
                      </a:pPr>
                      <a:r>
                        <a:rPr lang="en-US" sz="1200" i="0" kern="1200" baseline="0" dirty="0" smtClean="0">
                          <a:solidFill>
                            <a:schemeClr val="tx1"/>
                          </a:solidFill>
                          <a:latin typeface="+mj-lt"/>
                          <a:ea typeface="+mn-ea"/>
                          <a:cs typeface="+mn-cs"/>
                        </a:rPr>
                        <a:t>The town is not allowed to run a budget deficit and typically returns surplus funds to tax payers. Leslie doesn’t know the status of other departments’ budget.</a:t>
                      </a:r>
                    </a:p>
                    <a:p>
                      <a:pPr marL="228600" indent="-228600">
                        <a:buAutoNum type="arabicParenR"/>
                      </a:pPr>
                      <a:endParaRPr lang="en-US" sz="1200" i="0" kern="1200" baseline="0" dirty="0" smtClean="0">
                        <a:solidFill>
                          <a:schemeClr val="tx1"/>
                        </a:solidFill>
                        <a:latin typeface="+mj-lt"/>
                        <a:ea typeface="+mn-ea"/>
                        <a:cs typeface="+mn-cs"/>
                      </a:endParaRPr>
                    </a:p>
                  </a:txBody>
                  <a:tcPr marT="45739" marB="45739" anchor="ctr"/>
                </a:tc>
              </a:tr>
            </a:tbl>
          </a:graphicData>
        </a:graphic>
      </p:graphicFrame>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101</a:t>
            </a:fld>
            <a:endParaRPr lang="en-US" dirty="0"/>
          </a:p>
        </p:txBody>
      </p:sp>
    </p:spTree>
    <p:extLst>
      <p:ext uri="{BB962C8B-B14F-4D97-AF65-F5344CB8AC3E}">
        <p14:creationId xmlns:p14="http://schemas.microsoft.com/office/powerpoint/2010/main" val="1296540043"/>
      </p:ext>
    </p:extLst>
  </p:cSld>
  <p:clrMapOvr>
    <a:masterClrMapping/>
  </p:clrMapOvr>
  <p:timing>
    <p:tnLst>
      <p:par>
        <p:cTn xmlns:p14="http://schemas.microsoft.com/office/powerpoint/2010/mai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435254237"/>
              </p:ext>
            </p:extLst>
          </p:nvPr>
        </p:nvGraphicFramePr>
        <p:xfrm>
          <a:off x="228600" y="1323105"/>
          <a:ext cx="8534400" cy="2469026"/>
        </p:xfrm>
        <a:graphic>
          <a:graphicData uri="http://schemas.openxmlformats.org/drawingml/2006/table">
            <a:tbl>
              <a:tblPr firstRow="1" bandRow="1">
                <a:tableStyleId>{616DA210-FB5B-4158-B5E0-FEB733F419BA}</a:tableStyleId>
              </a:tblPr>
              <a:tblGrid>
                <a:gridCol w="1600200"/>
                <a:gridCol w="6934200"/>
              </a:tblGrid>
              <a:tr h="2469026">
                <a:tc>
                  <a:txBody>
                    <a:bodyPr/>
                    <a:lstStyle/>
                    <a:p>
                      <a:pPr algn="ctr"/>
                      <a:r>
                        <a:rPr lang="en-US" sz="1800" dirty="0" smtClean="0"/>
                        <a:t>Analysis</a:t>
                      </a:r>
                      <a:endParaRPr lang="en-US" sz="1800" dirty="0"/>
                    </a:p>
                  </a:txBody>
                  <a:tcPr marT="45711" marB="45711" anchor="ctr"/>
                </a:tc>
                <a:tc>
                  <a:txBody>
                    <a:bodyPr/>
                    <a:lstStyle/>
                    <a:p>
                      <a:pPr marL="0" indent="0">
                        <a:buNone/>
                      </a:pPr>
                      <a:r>
                        <a:rPr lang="en-US" sz="1200" i="0" kern="1200" baseline="0" dirty="0" smtClean="0">
                          <a:solidFill>
                            <a:schemeClr val="tx1"/>
                          </a:solidFill>
                          <a:latin typeface="+mj-lt"/>
                          <a:ea typeface="+mn-ea"/>
                          <a:cs typeface="+mn-cs"/>
                        </a:rPr>
                        <a:t>Sample for your reference and in case the candidate gets stuck: </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Profitability </a:t>
                      </a:r>
                    </a:p>
                    <a:p>
                      <a:pPr marL="628650" lvl="1" indent="-171450">
                        <a:buFont typeface="Arial" panose="020B0604020202020204" pitchFamily="34" charset="0"/>
                        <a:buChar char="•"/>
                      </a:pPr>
                      <a:r>
                        <a:rPr lang="en-US" sz="1200" b="0" i="0" kern="1200" baseline="0" dirty="0" smtClean="0">
                          <a:solidFill>
                            <a:schemeClr val="tx1"/>
                          </a:solidFill>
                          <a:latin typeface="+mj-lt"/>
                          <a:ea typeface="+mn-ea"/>
                          <a:cs typeface="+mn-cs"/>
                        </a:rPr>
                        <a:t>Revenues</a:t>
                      </a:r>
                    </a:p>
                    <a:p>
                      <a:pPr marL="1085850" lvl="2" indent="-171450">
                        <a:buFont typeface="Arial" panose="020B0604020202020204" pitchFamily="34" charset="0"/>
                        <a:buChar char="•"/>
                      </a:pPr>
                      <a:r>
                        <a:rPr lang="en-US" sz="1200" b="0" i="0" kern="1200" baseline="0" dirty="0" smtClean="0">
                          <a:solidFill>
                            <a:schemeClr val="tx1"/>
                          </a:solidFill>
                          <a:latin typeface="+mj-lt"/>
                          <a:ea typeface="+mn-ea"/>
                          <a:cs typeface="+mn-cs"/>
                        </a:rPr>
                        <a:t>Taxes, Fees, State/Federal Grants, donations. </a:t>
                      </a:r>
                    </a:p>
                    <a:p>
                      <a:pPr marL="628650" lvl="1" indent="-171450">
                        <a:buFont typeface="Arial" panose="020B0604020202020204" pitchFamily="34" charset="0"/>
                        <a:buChar char="•"/>
                      </a:pPr>
                      <a:r>
                        <a:rPr lang="en-US" sz="1200" b="0" i="0" kern="1200" baseline="0" dirty="0" smtClean="0">
                          <a:solidFill>
                            <a:schemeClr val="tx1"/>
                          </a:solidFill>
                          <a:latin typeface="+mj-lt"/>
                          <a:ea typeface="+mn-ea"/>
                          <a:cs typeface="+mn-cs"/>
                        </a:rPr>
                        <a:t>Expenditures</a:t>
                      </a:r>
                    </a:p>
                    <a:p>
                      <a:pPr marL="1085850" lvl="2" indent="-171450">
                        <a:buFont typeface="Arial" panose="020B0604020202020204" pitchFamily="34" charset="0"/>
                        <a:buChar char="•"/>
                      </a:pPr>
                      <a:r>
                        <a:rPr lang="en-US" sz="1200" b="0" i="0" kern="1200" baseline="0" dirty="0" smtClean="0">
                          <a:solidFill>
                            <a:schemeClr val="tx1"/>
                          </a:solidFill>
                          <a:latin typeface="+mj-lt"/>
                          <a:ea typeface="+mn-ea"/>
                          <a:cs typeface="+mn-cs"/>
                        </a:rPr>
                        <a:t>Some type of logical grouping (department, personnel/equipment)</a:t>
                      </a:r>
                    </a:p>
                    <a:p>
                      <a:pPr marL="171450" lvl="0" indent="-171450">
                        <a:buFont typeface="Arial" panose="020B0604020202020204" pitchFamily="34" charset="0"/>
                        <a:buChar char="•"/>
                      </a:pPr>
                      <a:r>
                        <a:rPr lang="en-US" sz="1200" b="0" i="0" kern="1200" baseline="0" dirty="0" smtClean="0">
                          <a:solidFill>
                            <a:schemeClr val="tx1"/>
                          </a:solidFill>
                          <a:latin typeface="+mj-lt"/>
                          <a:ea typeface="+mn-ea"/>
                          <a:cs typeface="+mn-cs"/>
                        </a:rPr>
                        <a:t>Analysis of Alternatives</a:t>
                      </a:r>
                    </a:p>
                    <a:p>
                      <a:pPr marL="628650" lvl="1" indent="-171450">
                        <a:buFont typeface="Arial" panose="020B0604020202020204" pitchFamily="34" charset="0"/>
                        <a:buChar char="•"/>
                      </a:pPr>
                      <a:r>
                        <a:rPr lang="en-US" sz="1200" b="0" i="0" kern="1200" baseline="0" dirty="0" smtClean="0">
                          <a:solidFill>
                            <a:schemeClr val="tx1"/>
                          </a:solidFill>
                          <a:latin typeface="+mj-lt"/>
                          <a:ea typeface="+mn-ea"/>
                          <a:cs typeface="+mn-cs"/>
                        </a:rPr>
                        <a:t>Build something different- smaller park, shade garden. </a:t>
                      </a:r>
                    </a:p>
                    <a:p>
                      <a:pPr marL="628650" lvl="1" indent="-171450">
                        <a:buFont typeface="Arial" panose="020B0604020202020204" pitchFamily="34" charset="0"/>
                        <a:buChar char="•"/>
                      </a:pPr>
                      <a:r>
                        <a:rPr lang="en-US" sz="1200" b="0" i="0" kern="1200" baseline="0" dirty="0" smtClean="0">
                          <a:solidFill>
                            <a:schemeClr val="tx1"/>
                          </a:solidFill>
                          <a:latin typeface="+mj-lt"/>
                          <a:ea typeface="+mn-ea"/>
                          <a:cs typeface="+mn-cs"/>
                        </a:rPr>
                        <a:t>Improving current parks</a:t>
                      </a:r>
                    </a:p>
                    <a:p>
                      <a:pPr marL="628650" lvl="1" indent="-171450">
                        <a:buFont typeface="Arial" panose="020B0604020202020204" pitchFamily="34" charset="0"/>
                        <a:buChar char="•"/>
                      </a:pPr>
                      <a:r>
                        <a:rPr lang="en-US" sz="1200" b="0" i="0" kern="1200" baseline="0" dirty="0" smtClean="0">
                          <a:solidFill>
                            <a:schemeClr val="tx1"/>
                          </a:solidFill>
                          <a:latin typeface="+mj-lt"/>
                          <a:ea typeface="+mn-ea"/>
                          <a:cs typeface="+mn-cs"/>
                        </a:rPr>
                        <a:t>Etc.</a:t>
                      </a:r>
                    </a:p>
                    <a:p>
                      <a:pPr marL="171450" lvl="0" indent="-171450">
                        <a:buFont typeface="Arial" panose="020B0604020202020204" pitchFamily="34" charset="0"/>
                        <a:buChar char="•"/>
                      </a:pPr>
                      <a:r>
                        <a:rPr lang="en-US" sz="1200" b="0" i="0" kern="1200" baseline="0" dirty="0" smtClean="0">
                          <a:solidFill>
                            <a:schemeClr val="tx1"/>
                          </a:solidFill>
                          <a:latin typeface="+mj-lt"/>
                          <a:ea typeface="+mn-ea"/>
                          <a:cs typeface="+mn-cs"/>
                        </a:rPr>
                        <a:t>Other considerations</a:t>
                      </a:r>
                    </a:p>
                    <a:p>
                      <a:pPr marL="628650" lvl="1" indent="-171450">
                        <a:buFont typeface="Arial" panose="020B0604020202020204" pitchFamily="34" charset="0"/>
                        <a:buChar char="•"/>
                      </a:pPr>
                      <a:r>
                        <a:rPr lang="en-US" sz="1200" b="0" i="0" kern="1200" baseline="0" dirty="0" smtClean="0">
                          <a:solidFill>
                            <a:schemeClr val="tx1"/>
                          </a:solidFill>
                          <a:latin typeface="+mj-lt"/>
                          <a:ea typeface="+mn-ea"/>
                          <a:cs typeface="+mn-cs"/>
                        </a:rPr>
                        <a:t>Timeline</a:t>
                      </a:r>
                    </a:p>
                    <a:p>
                      <a:pPr marL="628650" lvl="1" indent="-171450">
                        <a:buFont typeface="Arial" panose="020B0604020202020204" pitchFamily="34" charset="0"/>
                        <a:buChar char="•"/>
                      </a:pPr>
                      <a:r>
                        <a:rPr lang="en-US" sz="1200" b="0" i="0" kern="1200" baseline="0" dirty="0" smtClean="0">
                          <a:solidFill>
                            <a:schemeClr val="tx1"/>
                          </a:solidFill>
                          <a:latin typeface="+mj-lt"/>
                          <a:ea typeface="+mn-ea"/>
                          <a:cs typeface="+mn-cs"/>
                        </a:rPr>
                        <a:t>Impact of failure to deliver</a:t>
                      </a:r>
                    </a:p>
                  </a:txBody>
                  <a:tcPr marT="45711" marB="45711"/>
                </a:tc>
              </a:tr>
            </a:tbl>
          </a:graphicData>
        </a:graphic>
      </p:graphicFrame>
      <p:pic>
        <p:nvPicPr>
          <p:cNvPr id="61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2"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13: </a:t>
            </a:r>
            <a:r>
              <a:rPr lang="en-US" sz="2400" b="1" dirty="0"/>
              <a:t>Parks and Recreation</a:t>
            </a:r>
          </a:p>
        </p:txBody>
      </p:sp>
      <p:sp>
        <p:nvSpPr>
          <p:cNvPr id="13"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102</a:t>
            </a:fld>
            <a:endParaRPr lang="en-US" dirty="0"/>
          </a:p>
        </p:txBody>
      </p:sp>
    </p:spTree>
    <p:extLst>
      <p:ext uri="{BB962C8B-B14F-4D97-AF65-F5344CB8AC3E}">
        <p14:creationId xmlns:p14="http://schemas.microsoft.com/office/powerpoint/2010/main" val="3180308903"/>
      </p:ext>
    </p:extLst>
  </p:cSld>
  <p:clrMapOvr>
    <a:masterClrMapping/>
  </p:clrMapOvr>
  <p:timing>
    <p:tnLst>
      <p:par>
        <p:cTn xmlns:p14="http://schemas.microsoft.com/office/powerpoint/2010/mai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4217562616"/>
              </p:ext>
            </p:extLst>
          </p:nvPr>
        </p:nvGraphicFramePr>
        <p:xfrm>
          <a:off x="457200" y="1431925"/>
          <a:ext cx="8534400" cy="3383433"/>
        </p:xfrm>
        <a:graphic>
          <a:graphicData uri="http://schemas.openxmlformats.org/drawingml/2006/table">
            <a:tbl>
              <a:tblPr firstRow="1" bandRow="1">
                <a:tableStyleId>{616DA210-FB5B-4158-B5E0-FEB733F419BA}</a:tableStyleId>
              </a:tblPr>
              <a:tblGrid>
                <a:gridCol w="1600200"/>
                <a:gridCol w="6934200"/>
              </a:tblGrid>
              <a:tr h="914513">
                <a:tc>
                  <a:txBody>
                    <a:bodyPr/>
                    <a:lstStyle/>
                    <a:p>
                      <a:pPr algn="ctr"/>
                      <a:r>
                        <a:rPr lang="en-US" sz="1800" dirty="0" smtClean="0"/>
                        <a:t>Prompt #2</a:t>
                      </a:r>
                      <a:endParaRPr lang="en-US" sz="1800" dirty="0"/>
                    </a:p>
                  </a:txBody>
                  <a:tcPr marT="45740" marB="45740" anchor="ctr"/>
                </a:tc>
                <a:tc>
                  <a:txBody>
                    <a:bodyPr/>
                    <a:lstStyle/>
                    <a:p>
                      <a:r>
                        <a:rPr lang="en-US" sz="1200" b="0" i="0" kern="1200" baseline="0" dirty="0" smtClean="0">
                          <a:latin typeface="+mj-lt"/>
                        </a:rPr>
                        <a:t>Great idea; however, the client has asked us to focus on town expenditures. What do you think are some categories and types of expenses and how can Pawnee reduce them?</a:t>
                      </a:r>
                    </a:p>
                  </a:txBody>
                  <a:tcPr marT="45740" marB="45740" anchor="ctr"/>
                </a:tc>
              </a:tr>
              <a:tr h="1737602">
                <a:tc>
                  <a:txBody>
                    <a:bodyPr/>
                    <a:lstStyle/>
                    <a:p>
                      <a:pPr algn="ctr"/>
                      <a:r>
                        <a:rPr lang="en-US" sz="1800" b="1" dirty="0" smtClean="0"/>
                        <a:t>Guidance</a:t>
                      </a:r>
                      <a:endParaRPr lang="en-US" sz="1800" b="1" baseline="0" dirty="0" smtClean="0"/>
                    </a:p>
                  </a:txBody>
                  <a:tcPr marT="45740" marB="4574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i="0" kern="1200" baseline="0" dirty="0" smtClean="0">
                          <a:solidFill>
                            <a:schemeClr val="tx1"/>
                          </a:solidFill>
                          <a:latin typeface="+mn-lt"/>
                          <a:ea typeface="+mn-ea"/>
                          <a:cs typeface="+mn-cs"/>
                        </a:rPr>
                        <a:t>See the exhibit 1 for possible solutions. There are no wrong expenditures/ categories. The best responses are creative yet plausible and highly structured. This is pure brainstorming.</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j-lt"/>
                          <a:ea typeface="+mn-ea"/>
                          <a:cs typeface="+mn-cs"/>
                        </a:rPr>
                        <a:t>If the candidate begins to ask questions for more information, encourage them to think about the town they grew up in.  </a:t>
                      </a:r>
                      <a:r>
                        <a:rPr lang="en-US" sz="1200" b="0" i="0" kern="1200" baseline="0" dirty="0" smtClean="0">
                          <a:solidFill>
                            <a:schemeClr val="tx1"/>
                          </a:solidFill>
                          <a:latin typeface="+mn-lt"/>
                          <a:ea typeface="+mn-ea"/>
                          <a:cs typeface="+mn-cs"/>
                        </a:rPr>
                        <a:t>After the candidate has outlined several buckets, push them and ask “What else?”</a:t>
                      </a:r>
                      <a:endParaRPr lang="en-US" sz="1200" i="0" kern="1200" baseline="0" dirty="0" smtClean="0">
                        <a:solidFill>
                          <a:schemeClr val="tx1"/>
                        </a:solidFill>
                        <a:latin typeface="+mj-lt"/>
                        <a:ea typeface="+mn-ea"/>
                        <a:cs typeface="+mn-cs"/>
                      </a:endParaRPr>
                    </a:p>
                    <a:p>
                      <a:pPr marL="228600" indent="-228600">
                        <a:buAutoNum type="arabicParenR"/>
                      </a:pPr>
                      <a:endParaRPr lang="en-US" sz="1200" i="0" kern="1200" baseline="0" dirty="0" smtClean="0">
                        <a:solidFill>
                          <a:schemeClr val="tx1"/>
                        </a:solidFill>
                        <a:latin typeface="+mj-lt"/>
                        <a:ea typeface="+mn-ea"/>
                        <a:cs typeface="+mn-cs"/>
                      </a:endParaRPr>
                    </a:p>
                    <a:p>
                      <a:pPr marL="0" indent="0">
                        <a:buNone/>
                      </a:pPr>
                      <a:r>
                        <a:rPr lang="en-US" sz="1200" b="0" i="0" kern="1200" baseline="0" dirty="0" smtClean="0">
                          <a:solidFill>
                            <a:schemeClr val="tx1"/>
                          </a:solidFill>
                          <a:latin typeface="+mj-lt"/>
                          <a:ea typeface="+mn-ea"/>
                          <a:cs typeface="+mn-cs"/>
                        </a:rPr>
                        <a:t>Test the candidate’s confidence by continuing to ask “What else?” </a:t>
                      </a:r>
                    </a:p>
                    <a:p>
                      <a:pPr marL="0" indent="0">
                        <a:buNone/>
                      </a:pPr>
                      <a:endParaRPr lang="en-US" sz="1200" b="0" i="0" kern="1200" baseline="0" dirty="0" smtClean="0">
                        <a:solidFill>
                          <a:schemeClr val="tx1"/>
                        </a:solidFill>
                        <a:latin typeface="+mj-lt"/>
                        <a:ea typeface="+mn-ea"/>
                        <a:cs typeface="+mn-cs"/>
                      </a:endParaRPr>
                    </a:p>
                    <a:p>
                      <a:pPr marL="0" indent="0">
                        <a:buNone/>
                      </a:pPr>
                      <a:r>
                        <a:rPr lang="en-US" sz="1200" b="0" i="0" kern="1200" baseline="0" dirty="0" smtClean="0">
                          <a:solidFill>
                            <a:schemeClr val="tx1"/>
                          </a:solidFill>
                          <a:latin typeface="+mj-lt"/>
                          <a:ea typeface="+mn-ea"/>
                          <a:cs typeface="+mn-cs"/>
                        </a:rPr>
                        <a:t>Successful candidates will work though several iterations of what else by adding breadth or depth and upon exhausting their imagination propose to explore one area in detail. </a:t>
                      </a:r>
                    </a:p>
                    <a:p>
                      <a:pPr marL="0" indent="0">
                        <a:buNone/>
                      </a:pPr>
                      <a:endParaRPr lang="en-US" sz="1200" b="0" i="0" kern="1200" baseline="0" dirty="0" smtClean="0">
                        <a:solidFill>
                          <a:schemeClr val="tx1"/>
                        </a:solidFill>
                        <a:latin typeface="+mj-lt"/>
                        <a:ea typeface="+mn-ea"/>
                        <a:cs typeface="+mn-cs"/>
                      </a:endParaRPr>
                    </a:p>
                    <a:p>
                      <a:pPr marL="0" indent="0">
                        <a:buNone/>
                      </a:pPr>
                      <a:r>
                        <a:rPr lang="en-US" sz="1200" b="1" i="0" kern="1200" baseline="0" dirty="0" smtClean="0">
                          <a:solidFill>
                            <a:schemeClr val="tx1"/>
                          </a:solidFill>
                          <a:latin typeface="+mj-lt"/>
                          <a:ea typeface="+mn-ea"/>
                          <a:cs typeface="+mn-cs"/>
                        </a:rPr>
                        <a:t>STOP and move to the next section</a:t>
                      </a:r>
                    </a:p>
                  </a:txBody>
                  <a:tcPr marT="45740" marB="45740"/>
                </a:tc>
              </a:tr>
            </a:tbl>
          </a:graphicData>
        </a:graphic>
      </p:graphicFrame>
      <p:sp>
        <p:nvSpPr>
          <p:cNvPr id="9"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13: </a:t>
            </a:r>
            <a:r>
              <a:rPr lang="en-US" sz="2400" b="1" dirty="0"/>
              <a:t>Parks and Recreation</a:t>
            </a: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103</a:t>
            </a:fld>
            <a:endParaRPr lang="en-US" dirty="0"/>
          </a:p>
        </p:txBody>
      </p:sp>
    </p:spTree>
    <p:extLst>
      <p:ext uri="{BB962C8B-B14F-4D97-AF65-F5344CB8AC3E}">
        <p14:creationId xmlns:p14="http://schemas.microsoft.com/office/powerpoint/2010/main" val="2589071512"/>
      </p:ext>
    </p:extLst>
  </p:cSld>
  <p:clrMapOvr>
    <a:masterClrMapping/>
  </p:clrMapOvr>
  <p:timing>
    <p:tnLst>
      <p:par>
        <p:cTn xmlns:p14="http://schemas.microsoft.com/office/powerpoint/2010/mai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4244300816"/>
              </p:ext>
            </p:extLst>
          </p:nvPr>
        </p:nvGraphicFramePr>
        <p:xfrm>
          <a:off x="457200" y="1417638"/>
          <a:ext cx="8534400" cy="4389127"/>
        </p:xfrm>
        <a:graphic>
          <a:graphicData uri="http://schemas.openxmlformats.org/drawingml/2006/table">
            <a:tbl>
              <a:tblPr firstRow="1" bandRow="1">
                <a:tableStyleId>{616DA210-FB5B-4158-B5E0-FEB733F419BA}</a:tableStyleId>
              </a:tblPr>
              <a:tblGrid>
                <a:gridCol w="1600200"/>
                <a:gridCol w="6934200"/>
              </a:tblGrid>
              <a:tr h="640065">
                <a:tc>
                  <a:txBody>
                    <a:bodyPr/>
                    <a:lstStyle/>
                    <a:p>
                      <a:pPr algn="ctr"/>
                      <a:r>
                        <a:rPr lang="en-US" sz="1800" dirty="0" smtClean="0"/>
                        <a:t>Prompt #3</a:t>
                      </a:r>
                      <a:endParaRPr lang="en-US" sz="1800" dirty="0"/>
                    </a:p>
                  </a:txBody>
                  <a:tcPr marT="45731" marB="45731" anchor="ctr"/>
                </a:tc>
                <a:tc>
                  <a:txBody>
                    <a:bodyPr/>
                    <a:lstStyle/>
                    <a:p>
                      <a:r>
                        <a:rPr lang="en-US" sz="1200" b="0" kern="1200" baseline="0" dirty="0" smtClean="0">
                          <a:latin typeface="+mj-lt"/>
                        </a:rPr>
                        <a:t>Those are all great ideas, so why don’t you take a look at this. </a:t>
                      </a:r>
                      <a:r>
                        <a:rPr lang="en-US" sz="1200" b="1" i="1" kern="1200" baseline="0" dirty="0" smtClean="0">
                          <a:solidFill>
                            <a:schemeClr val="tx1"/>
                          </a:solidFill>
                          <a:latin typeface="+mj-lt"/>
                          <a:ea typeface="+mn-ea"/>
                          <a:cs typeface="+mn-cs"/>
                        </a:rPr>
                        <a:t>Hand the candidate Exhibit 1. </a:t>
                      </a:r>
                    </a:p>
                  </a:txBody>
                  <a:tcPr marT="45731" marB="45731" anchor="ctr"/>
                </a:tc>
              </a:tr>
              <a:tr h="2103007">
                <a:tc>
                  <a:txBody>
                    <a:bodyPr/>
                    <a:lstStyle/>
                    <a:p>
                      <a:pPr algn="ctr"/>
                      <a:r>
                        <a:rPr lang="en-US" sz="1800" b="1" dirty="0" smtClean="0"/>
                        <a:t>Guidance</a:t>
                      </a:r>
                      <a:endParaRPr lang="en-US" sz="1800" b="1" baseline="0" dirty="0" smtClean="0"/>
                    </a:p>
                  </a:txBody>
                  <a:tcPr marT="45731" marB="45731"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i="1" kern="1200" baseline="0" dirty="0" smtClean="0">
                          <a:solidFill>
                            <a:schemeClr val="tx1"/>
                          </a:solidFill>
                          <a:latin typeface="+mj-lt"/>
                          <a:ea typeface="+mn-ea"/>
                          <a:cs typeface="+mn-cs"/>
                        </a:rPr>
                        <a:t>The candidate should take time to analyze the charts and may ask questions. </a:t>
                      </a:r>
                      <a:r>
                        <a:rPr lang="en-US" sz="1200" b="0" i="1" kern="1200" baseline="0" dirty="0" smtClean="0">
                          <a:solidFill>
                            <a:schemeClr val="tx1"/>
                          </a:solidFill>
                          <a:latin typeface="+mj-lt"/>
                          <a:ea typeface="+mn-ea"/>
                          <a:cs typeface="+mn-cs"/>
                        </a:rPr>
                        <a:t>If the candidate gets stuck or lost in the charts. Ask them what is important to know and suggest to work though each chart. </a:t>
                      </a:r>
                    </a:p>
                    <a:p>
                      <a:pPr marL="0" indent="0">
                        <a:buNone/>
                      </a:pPr>
                      <a:endParaRPr lang="en-US" sz="1200" i="1" kern="1200" baseline="0" dirty="0" smtClean="0">
                        <a:solidFill>
                          <a:schemeClr val="tx1"/>
                        </a:solidFill>
                        <a:latin typeface="+mj-lt"/>
                        <a:ea typeface="+mn-ea"/>
                        <a:cs typeface="+mn-cs"/>
                      </a:endParaRPr>
                    </a:p>
                    <a:p>
                      <a:pPr marL="0" indent="0">
                        <a:buNone/>
                      </a:pPr>
                      <a:r>
                        <a:rPr lang="en-US" sz="1200" i="1" kern="1200" baseline="0" dirty="0" smtClean="0">
                          <a:solidFill>
                            <a:schemeClr val="tx1"/>
                          </a:solidFill>
                          <a:latin typeface="+mj-lt"/>
                          <a:ea typeface="+mn-ea"/>
                          <a:cs typeface="+mn-cs"/>
                        </a:rPr>
                        <a:t>IMPORTANT: Data for 2009 does not include personnel expense. Personnel expenses equal 50% of the listed amounts in Exhibit 2 (2009 only). The candidate should multiple the amounts by 1.5.</a:t>
                      </a:r>
                    </a:p>
                    <a:p>
                      <a:pPr marL="0" indent="0">
                        <a:buNone/>
                      </a:pPr>
                      <a:endParaRPr lang="en-US" sz="1200" b="0" i="1" kern="1200" baseline="0" dirty="0" smtClean="0">
                        <a:solidFill>
                          <a:schemeClr val="tx1"/>
                        </a:solidFill>
                        <a:latin typeface="+mj-lt"/>
                        <a:ea typeface="+mn-ea"/>
                        <a:cs typeface="+mn-cs"/>
                      </a:endParaRPr>
                    </a:p>
                    <a:p>
                      <a:pPr marL="0" indent="0">
                        <a:buNone/>
                      </a:pPr>
                      <a:r>
                        <a:rPr lang="en-US" sz="1200" b="0" i="1" kern="1200" baseline="0" dirty="0" smtClean="0">
                          <a:solidFill>
                            <a:schemeClr val="tx1"/>
                          </a:solidFill>
                          <a:latin typeface="+mj-lt"/>
                          <a:ea typeface="+mn-ea"/>
                          <a:cs typeface="+mn-cs"/>
                        </a:rPr>
                        <a:t>Key Takeaways: </a:t>
                      </a:r>
                    </a:p>
                    <a:p>
                      <a:pPr marL="171450" indent="-171450">
                        <a:buFont typeface="Arial" panose="020B0604020202020204" pitchFamily="34" charset="0"/>
                        <a:buChar char="•"/>
                      </a:pPr>
                      <a:r>
                        <a:rPr lang="en-US" sz="1200" b="0" i="1" kern="1200" baseline="0" dirty="0" smtClean="0">
                          <a:solidFill>
                            <a:schemeClr val="tx1"/>
                          </a:solidFill>
                          <a:latin typeface="+mj-lt"/>
                          <a:ea typeface="+mn-ea"/>
                          <a:cs typeface="+mn-cs"/>
                        </a:rPr>
                        <a:t>The utilities budget has doubled, while all the other departments have stayed around the same</a:t>
                      </a:r>
                    </a:p>
                    <a:p>
                      <a:pPr marL="171450" indent="-171450">
                        <a:buFont typeface="Arial" panose="020B0604020202020204" pitchFamily="34" charset="0"/>
                        <a:buChar char="•"/>
                      </a:pPr>
                      <a:r>
                        <a:rPr lang="en-US" sz="1200" b="0" i="1" kern="1200" baseline="0" dirty="0" smtClean="0">
                          <a:solidFill>
                            <a:schemeClr val="tx1"/>
                          </a:solidFill>
                          <a:latin typeface="+mj-lt"/>
                          <a:ea typeface="+mn-ea"/>
                          <a:cs typeface="+mn-cs"/>
                        </a:rPr>
                        <a:t>Pawnee’s budget has decreased by 20%. Suggest other problems beyond the clients immediate question.</a:t>
                      </a:r>
                    </a:p>
                    <a:p>
                      <a:pPr marL="0" indent="0">
                        <a:buFont typeface="Arial" panose="020B0604020202020204" pitchFamily="34" charset="0"/>
                        <a:buNone/>
                      </a:pPr>
                      <a:endParaRPr lang="en-US" sz="1200" b="0" i="1" kern="1200" baseline="0" dirty="0" smtClean="0">
                        <a:solidFill>
                          <a:schemeClr val="tx1"/>
                        </a:solidFill>
                        <a:latin typeface="+mj-lt"/>
                        <a:ea typeface="+mn-ea"/>
                        <a:cs typeface="+mn-cs"/>
                      </a:endParaRPr>
                    </a:p>
                    <a:p>
                      <a:pPr marL="0" indent="0">
                        <a:buFont typeface="Arial" panose="020B0604020202020204" pitchFamily="34" charset="0"/>
                        <a:buNone/>
                      </a:pPr>
                      <a:r>
                        <a:rPr lang="en-US" sz="1200" b="0" i="1" kern="1200" baseline="0" dirty="0" smtClean="0">
                          <a:solidFill>
                            <a:schemeClr val="tx1"/>
                          </a:solidFill>
                          <a:latin typeface="+mj-lt"/>
                          <a:ea typeface="+mn-ea"/>
                          <a:cs typeface="+mn-cs"/>
                        </a:rPr>
                        <a:t>Math Solutions: </a:t>
                      </a:r>
                    </a:p>
                    <a:p>
                      <a:pPr marL="171450" indent="-171450">
                        <a:buFont typeface="Arial" panose="020B0604020202020204" pitchFamily="34" charset="0"/>
                        <a:buChar char="•"/>
                      </a:pPr>
                      <a:r>
                        <a:rPr lang="en-US" sz="1200" b="0" i="1" kern="1200" baseline="0" dirty="0" smtClean="0">
                          <a:solidFill>
                            <a:schemeClr val="tx1"/>
                          </a:solidFill>
                          <a:latin typeface="+mj-lt"/>
                          <a:ea typeface="+mn-ea"/>
                          <a:cs typeface="+mn-cs"/>
                        </a:rPr>
                        <a:t>2013</a:t>
                      </a:r>
                    </a:p>
                    <a:p>
                      <a:pPr marL="628650" lvl="1" indent="-171450">
                        <a:buFont typeface="Arial" panose="020B0604020202020204" pitchFamily="34" charset="0"/>
                        <a:buChar char="•"/>
                      </a:pPr>
                      <a:r>
                        <a:rPr lang="en-US" sz="1200" b="0" i="1" kern="1200" baseline="0" dirty="0" smtClean="0">
                          <a:solidFill>
                            <a:schemeClr val="tx1"/>
                          </a:solidFill>
                          <a:latin typeface="+mj-lt"/>
                          <a:ea typeface="+mn-ea"/>
                          <a:cs typeface="+mn-cs"/>
                        </a:rPr>
                        <a:t>Parks = $5MM (The candidate should remember this from clarifying questions)</a:t>
                      </a:r>
                    </a:p>
                    <a:p>
                      <a:pPr marL="628650" lvl="1" indent="-171450">
                        <a:buFont typeface="Arial" panose="020B0604020202020204" pitchFamily="34" charset="0"/>
                        <a:buChar char="•"/>
                      </a:pPr>
                      <a:r>
                        <a:rPr lang="en-US" sz="1200" b="0" i="1" kern="1200" baseline="0" dirty="0" smtClean="0">
                          <a:solidFill>
                            <a:schemeClr val="tx1"/>
                          </a:solidFill>
                          <a:latin typeface="+mj-lt"/>
                          <a:ea typeface="+mn-ea"/>
                          <a:cs typeface="+mn-cs"/>
                        </a:rPr>
                        <a:t>Public Works = $4.25MM</a:t>
                      </a:r>
                    </a:p>
                    <a:p>
                      <a:pPr marL="171450" indent="-171450">
                        <a:buFont typeface="Arial" panose="020B0604020202020204" pitchFamily="34" charset="0"/>
                        <a:buChar char="•"/>
                      </a:pPr>
                      <a:r>
                        <a:rPr lang="en-US" sz="1200" b="0" i="1" kern="1200" baseline="0" dirty="0" smtClean="0">
                          <a:solidFill>
                            <a:schemeClr val="tx1"/>
                          </a:solidFill>
                          <a:latin typeface="+mj-lt"/>
                          <a:ea typeface="+mn-ea"/>
                          <a:cs typeface="+mn-cs"/>
                        </a:rPr>
                        <a:t>2009</a:t>
                      </a:r>
                    </a:p>
                    <a:p>
                      <a:pPr marL="628650" lvl="1" indent="-171450">
                        <a:buFont typeface="Arial" panose="020B0604020202020204" pitchFamily="34" charset="0"/>
                        <a:buChar char="•"/>
                      </a:pPr>
                      <a:r>
                        <a:rPr lang="en-US" sz="1200" b="0" i="1" kern="1200" baseline="0" dirty="0" smtClean="0">
                          <a:solidFill>
                            <a:schemeClr val="tx1"/>
                          </a:solidFill>
                          <a:latin typeface="+mj-lt"/>
                          <a:ea typeface="+mn-ea"/>
                          <a:cs typeface="+mn-cs"/>
                        </a:rPr>
                        <a:t>Utilities = $3MM (includes personnel expenses)</a:t>
                      </a:r>
                    </a:p>
                    <a:p>
                      <a:pPr marL="0" indent="0">
                        <a:buNone/>
                      </a:pPr>
                      <a:endParaRPr lang="en-US" sz="1200" b="0" i="1" kern="1200" baseline="0" dirty="0" smtClean="0">
                        <a:solidFill>
                          <a:schemeClr val="tx1"/>
                        </a:solidFill>
                        <a:latin typeface="+mj-lt"/>
                        <a:ea typeface="+mn-ea"/>
                        <a:cs typeface="+mn-cs"/>
                      </a:endParaRPr>
                    </a:p>
                    <a:p>
                      <a:pPr marL="0" indent="0">
                        <a:buNone/>
                      </a:pPr>
                      <a:r>
                        <a:rPr lang="en-US" sz="1200" b="0" i="1" kern="1200" baseline="0" dirty="0" smtClean="0">
                          <a:solidFill>
                            <a:schemeClr val="tx1"/>
                          </a:solidFill>
                          <a:latin typeface="+mj-lt"/>
                          <a:ea typeface="+mn-ea"/>
                          <a:cs typeface="+mn-cs"/>
                        </a:rPr>
                        <a:t>STOP and move to the next section</a:t>
                      </a:r>
                      <a:endParaRPr lang="en-US" sz="1200" i="1" kern="1200" baseline="0" dirty="0" smtClean="0">
                        <a:solidFill>
                          <a:schemeClr val="tx1"/>
                        </a:solidFill>
                        <a:latin typeface="+mj-lt"/>
                        <a:ea typeface="+mn-ea"/>
                        <a:cs typeface="+mn-cs"/>
                      </a:endParaRPr>
                    </a:p>
                  </a:txBody>
                  <a:tcPr marT="45731" marB="45731"/>
                </a:tc>
              </a:tr>
            </a:tbl>
          </a:graphicData>
        </a:graphic>
      </p:graphicFrame>
      <p:sp>
        <p:nvSpPr>
          <p:cNvPr id="9"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13: </a:t>
            </a:r>
            <a:r>
              <a:rPr lang="en-US" sz="2400" b="1" dirty="0"/>
              <a:t>Parks and Recreation</a:t>
            </a: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104</a:t>
            </a:fld>
            <a:endParaRPr lang="en-US" dirty="0"/>
          </a:p>
        </p:txBody>
      </p:sp>
    </p:spTree>
    <p:extLst>
      <p:ext uri="{BB962C8B-B14F-4D97-AF65-F5344CB8AC3E}">
        <p14:creationId xmlns:p14="http://schemas.microsoft.com/office/powerpoint/2010/main" val="2690167469"/>
      </p:ext>
    </p:extLst>
  </p:cSld>
  <p:clrMapOvr>
    <a:masterClrMapping/>
  </p:clrMapOvr>
  <p:timing>
    <p:tnLst>
      <p:par>
        <p:cTn xmlns:p14="http://schemas.microsoft.com/office/powerpoint/2010/mai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hart 9"/>
          <p:cNvGraphicFramePr>
            <a:graphicFrameLocks/>
          </p:cNvGraphicFramePr>
          <p:nvPr/>
        </p:nvGraphicFramePr>
        <p:xfrm>
          <a:off x="304800" y="609600"/>
          <a:ext cx="5781675" cy="285035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a:graphicFrameLocks/>
          </p:cNvGraphicFramePr>
          <p:nvPr>
            <p:extLst>
              <p:ext uri="{D42A27DB-BD31-4B8C-83A1-F6EECF244321}">
                <p14:modId xmlns:p14="http://schemas.microsoft.com/office/powerpoint/2010/main" val="2243632233"/>
              </p:ext>
            </p:extLst>
          </p:nvPr>
        </p:nvGraphicFramePr>
        <p:xfrm>
          <a:off x="914400" y="36576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9222" name="TextBox 11"/>
          <p:cNvSpPr txBox="1">
            <a:spLocks noChangeArrowheads="1"/>
          </p:cNvSpPr>
          <p:nvPr/>
        </p:nvSpPr>
        <p:spPr bwMode="auto">
          <a:xfrm>
            <a:off x="6629400" y="4495800"/>
            <a:ext cx="259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eaLnBrk="1" hangingPunct="1"/>
            <a:r>
              <a:rPr lang="en-US"/>
              <a:t>Total: $85M</a:t>
            </a:r>
          </a:p>
        </p:txBody>
      </p:sp>
      <p:sp>
        <p:nvSpPr>
          <p:cNvPr id="9223" name="TextBox 12"/>
          <p:cNvSpPr txBox="1">
            <a:spLocks noChangeArrowheads="1"/>
          </p:cNvSpPr>
          <p:nvPr/>
        </p:nvSpPr>
        <p:spPr bwMode="auto">
          <a:xfrm>
            <a:off x="6553200" y="1987550"/>
            <a:ext cx="2590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65" charset="-128"/>
              </a:defRPr>
            </a:lvl1pPr>
            <a:lvl2pPr marL="742950" indent="-285750">
              <a:defRPr>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a:solidFill>
                  <a:schemeClr val="tx1"/>
                </a:solidFill>
                <a:latin typeface="Arial" charset="0"/>
                <a:ea typeface="ＭＳ Ｐゴシック" pitchFamily="-65" charset="-128"/>
              </a:defRPr>
            </a:lvl4pPr>
            <a:lvl5pPr marL="2057400" indent="-22860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eaLnBrk="1" hangingPunct="1"/>
            <a:r>
              <a:rPr lang="en-US"/>
              <a:t>Total: $100M</a:t>
            </a:r>
          </a:p>
        </p:txBody>
      </p:sp>
      <p:sp>
        <p:nvSpPr>
          <p:cNvPr id="8" name="TextBox 1"/>
          <p:cNvSpPr txBox="1">
            <a:spLocks noChangeArrowheads="1"/>
          </p:cNvSpPr>
          <p:nvPr/>
        </p:nvSpPr>
        <p:spPr bwMode="auto">
          <a:xfrm>
            <a:off x="2043545" y="334350"/>
            <a:ext cx="5514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1: </a:t>
            </a:r>
            <a:r>
              <a:rPr lang="en-US" sz="1800" b="1" dirty="0" smtClean="0"/>
              <a:t>2009 and 2013 Budgets</a:t>
            </a:r>
            <a:endParaRPr lang="en-US" sz="1800"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105</a:t>
            </a:fld>
            <a:endParaRPr lang="en-US" dirty="0"/>
          </a:p>
        </p:txBody>
      </p:sp>
    </p:spTree>
    <p:extLst>
      <p:ext uri="{BB962C8B-B14F-4D97-AF65-F5344CB8AC3E}">
        <p14:creationId xmlns:p14="http://schemas.microsoft.com/office/powerpoint/2010/main" val="3507439901"/>
      </p:ext>
    </p:extLst>
  </p:cSld>
  <p:clrMapOvr>
    <a:masterClrMapping/>
  </p:clrMapOvr>
  <p:timing>
    <p:tnLst>
      <p:par>
        <p:cTn xmlns:p14="http://schemas.microsoft.com/office/powerpoint/2010/mai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410057311"/>
              </p:ext>
            </p:extLst>
          </p:nvPr>
        </p:nvGraphicFramePr>
        <p:xfrm>
          <a:off x="304800" y="1253850"/>
          <a:ext cx="8534400" cy="3925007"/>
        </p:xfrm>
        <a:graphic>
          <a:graphicData uri="http://schemas.openxmlformats.org/drawingml/2006/table">
            <a:tbl>
              <a:tblPr firstRow="1" bandRow="1">
                <a:tableStyleId>{616DA210-FB5B-4158-B5E0-FEB733F419BA}</a:tableStyleId>
              </a:tblPr>
              <a:tblGrid>
                <a:gridCol w="1600200"/>
                <a:gridCol w="6934200"/>
              </a:tblGrid>
              <a:tr h="1821859">
                <a:tc>
                  <a:txBody>
                    <a:bodyPr/>
                    <a:lstStyle/>
                    <a:p>
                      <a:pPr algn="ctr"/>
                      <a:r>
                        <a:rPr lang="en-US" sz="1800" i="0" dirty="0" smtClean="0">
                          <a:latin typeface="+mj-lt"/>
                        </a:rPr>
                        <a:t>Prompt #4</a:t>
                      </a:r>
                      <a:endParaRPr lang="en-US" sz="1800" i="0" dirty="0">
                        <a:latin typeface="+mj-lt"/>
                      </a:endParaRPr>
                    </a:p>
                  </a:txBody>
                  <a:tcPr marT="45734" marB="45734" anchor="ctr"/>
                </a:tc>
                <a:tc>
                  <a:txBody>
                    <a:bodyPr/>
                    <a:lstStyle/>
                    <a:p>
                      <a:r>
                        <a:rPr lang="en-US" sz="1200" b="0" i="0" kern="1200" baseline="0" dirty="0" smtClean="0">
                          <a:latin typeface="+mj-lt"/>
                        </a:rPr>
                        <a:t>Since 2009, Pawnee has replaced its old light bulbs with </a:t>
                      </a:r>
                      <a:r>
                        <a:rPr lang="en-US" sz="1200" b="0" i="0" kern="1200" baseline="0" dirty="0" err="1" smtClean="0">
                          <a:latin typeface="+mj-lt"/>
                        </a:rPr>
                        <a:t>SuperNova</a:t>
                      </a:r>
                      <a:r>
                        <a:rPr lang="en-US" sz="1200" b="0" i="0" kern="1200" baseline="0" dirty="0" smtClean="0">
                          <a:latin typeface="+mj-lt"/>
                        </a:rPr>
                        <a:t> bulbs. These bulbs have not reduced electricity as marketed, and Pawnee is considering replacing the bulbs. Evaluate whether Pawnee should proceed with this plan.</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Electricity represents 2/3 of the utilities budget. </a:t>
                      </a:r>
                    </a:p>
                    <a:p>
                      <a:r>
                        <a:rPr lang="en-US" sz="1200" b="0" i="0" kern="1200" baseline="0" dirty="0" smtClean="0">
                          <a:solidFill>
                            <a:schemeClr val="tx1"/>
                          </a:solidFill>
                          <a:latin typeface="+mj-lt"/>
                          <a:ea typeface="+mn-ea"/>
                          <a:cs typeface="+mn-cs"/>
                        </a:rPr>
                        <a:t>Pawnee wants to keep </a:t>
                      </a:r>
                      <a:r>
                        <a:rPr lang="en-US" sz="1200" b="0" i="0" kern="1200" baseline="0" dirty="0" err="1" smtClean="0">
                          <a:solidFill>
                            <a:schemeClr val="tx1"/>
                          </a:solidFill>
                          <a:latin typeface="+mj-lt"/>
                          <a:ea typeface="+mn-ea"/>
                          <a:cs typeface="+mn-cs"/>
                        </a:rPr>
                        <a:t>SuperNovas</a:t>
                      </a:r>
                      <a:r>
                        <a:rPr lang="en-US" sz="1200" b="0" i="0" kern="1200" baseline="0" dirty="0" smtClean="0">
                          <a:solidFill>
                            <a:schemeClr val="tx1"/>
                          </a:solidFill>
                          <a:latin typeface="+mj-lt"/>
                          <a:ea typeface="+mn-ea"/>
                          <a:cs typeface="+mn-cs"/>
                        </a:rPr>
                        <a:t> in street lights. These represent 50% of all public lights.</a:t>
                      </a:r>
                    </a:p>
                    <a:p>
                      <a:r>
                        <a:rPr lang="en-US" sz="1200" b="0" i="0" kern="1200" baseline="0" dirty="0" smtClean="0">
                          <a:solidFill>
                            <a:schemeClr val="tx1"/>
                          </a:solidFill>
                          <a:latin typeface="+mj-lt"/>
                          <a:ea typeface="+mn-ea"/>
                          <a:cs typeface="+mn-cs"/>
                        </a:rPr>
                        <a:t>Eco lights will replace the other bulbs and consume 40% of the electricity of a </a:t>
                      </a:r>
                      <a:r>
                        <a:rPr lang="en-US" sz="1200" b="0" i="0" kern="1200" baseline="0" dirty="0" err="1" smtClean="0">
                          <a:solidFill>
                            <a:schemeClr val="tx1"/>
                          </a:solidFill>
                          <a:latin typeface="+mj-lt"/>
                          <a:ea typeface="+mn-ea"/>
                          <a:cs typeface="+mn-cs"/>
                        </a:rPr>
                        <a:t>SuperNova</a:t>
                      </a:r>
                      <a:r>
                        <a:rPr lang="en-US" sz="1200" b="0" i="0" kern="1200" baseline="0" dirty="0" smtClean="0">
                          <a:solidFill>
                            <a:schemeClr val="tx1"/>
                          </a:solidFill>
                          <a:latin typeface="+mj-lt"/>
                          <a:ea typeface="+mn-ea"/>
                          <a:cs typeface="+mn-cs"/>
                        </a:rPr>
                        <a:t> bulb.</a:t>
                      </a:r>
                    </a:p>
                    <a:p>
                      <a:r>
                        <a:rPr lang="en-US" sz="1200" b="0" i="0" kern="1200" baseline="0" dirty="0" smtClean="0">
                          <a:solidFill>
                            <a:schemeClr val="tx1"/>
                          </a:solidFill>
                          <a:latin typeface="+mj-lt"/>
                          <a:ea typeface="+mn-ea"/>
                          <a:cs typeface="+mn-cs"/>
                        </a:rPr>
                        <a:t>The cost to buy and change the bulbs is approximately 0.5% of the TOTAL 2013 budget (one time cost; minor future costs)</a:t>
                      </a:r>
                    </a:p>
                  </a:txBody>
                  <a:tcPr marT="45734" marB="45734" anchor="ctr"/>
                </a:tc>
              </a:tr>
              <a:tr h="2103137">
                <a:tc>
                  <a:txBody>
                    <a:bodyPr/>
                    <a:lstStyle/>
                    <a:p>
                      <a:pPr algn="ctr"/>
                      <a:r>
                        <a:rPr lang="en-US" sz="1800" b="1" i="0" dirty="0" smtClean="0">
                          <a:latin typeface="+mj-lt"/>
                        </a:rPr>
                        <a:t>Guidance</a:t>
                      </a:r>
                      <a:endParaRPr lang="en-US" sz="1800" b="1" i="0" baseline="0" dirty="0" smtClean="0">
                        <a:latin typeface="+mj-lt"/>
                      </a:endParaRPr>
                    </a:p>
                  </a:txBody>
                  <a:tcPr marT="45734" marB="45734"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j-lt"/>
                          <a:ea typeface="+mn-ea"/>
                          <a:cs typeface="+mn-cs"/>
                        </a:rPr>
                        <a:t>The candidate can quickly multiply the fractions together to eliminate several intermediate math steps.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j-lt"/>
                          <a:ea typeface="+mn-ea"/>
                          <a:cs typeface="+mn-cs"/>
                        </a:rPr>
                        <a:t>2/3 x 1/2 x (1-.4 = 3/5) =  6/30 x $6MM= 6/5 or $1.2M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j-lt"/>
                          <a:ea typeface="+mn-ea"/>
                          <a:cs typeface="+mn-cs"/>
                        </a:rPr>
                        <a:t>$1.2M- $500k= $700k savings</a:t>
                      </a:r>
                    </a:p>
                    <a:p>
                      <a:pPr marL="0" indent="0">
                        <a:buNone/>
                      </a:pPr>
                      <a:endParaRPr lang="en-US" sz="1200" b="0" i="0" kern="1200" baseline="0" dirty="0" smtClean="0">
                        <a:solidFill>
                          <a:schemeClr val="tx1"/>
                        </a:solidFill>
                        <a:latin typeface="+mj-lt"/>
                        <a:ea typeface="+mn-ea"/>
                        <a:cs typeface="+mn-cs"/>
                      </a:endParaRPr>
                    </a:p>
                    <a:p>
                      <a:pPr marL="0" indent="0">
                        <a:buNone/>
                      </a:pPr>
                      <a:r>
                        <a:rPr lang="en-US" sz="1200" b="0" i="0" kern="1200" baseline="0" dirty="0" smtClean="0">
                          <a:solidFill>
                            <a:schemeClr val="tx1"/>
                          </a:solidFill>
                          <a:latin typeface="+mj-lt"/>
                          <a:ea typeface="+mn-ea"/>
                          <a:cs typeface="+mn-cs"/>
                        </a:rPr>
                        <a:t>To challenge an exceptional candidates ask “Are you sure?” to test confidence.</a:t>
                      </a:r>
                    </a:p>
                    <a:p>
                      <a:pPr marL="0" indent="0">
                        <a:buNone/>
                      </a:pPr>
                      <a:endParaRPr lang="en-US" sz="1200" b="0" i="0" kern="1200" baseline="0" dirty="0" smtClean="0">
                        <a:solidFill>
                          <a:schemeClr val="tx1"/>
                        </a:solidFill>
                        <a:latin typeface="+mj-lt"/>
                        <a:ea typeface="+mn-ea"/>
                        <a:cs typeface="+mn-cs"/>
                      </a:endParaRPr>
                    </a:p>
                    <a:p>
                      <a:pPr marL="0" indent="0">
                        <a:buNone/>
                      </a:pPr>
                      <a:r>
                        <a:rPr lang="en-US" sz="1200" b="0" i="0" kern="1200" baseline="0" dirty="0" smtClean="0">
                          <a:solidFill>
                            <a:schemeClr val="tx1"/>
                          </a:solidFill>
                          <a:latin typeface="+mj-lt"/>
                          <a:ea typeface="+mn-ea"/>
                          <a:cs typeface="+mn-cs"/>
                        </a:rPr>
                        <a:t>Key Takeaways (strong candidates always make connection to these without being prompted): </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Yes, Pawnee should move forward with the plan.</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The savings is almost enough to build the park</a:t>
                      </a:r>
                    </a:p>
                  </a:txBody>
                  <a:tcPr marT="45734" marB="45734"/>
                </a:tc>
              </a:tr>
            </a:tbl>
          </a:graphicData>
        </a:graphic>
      </p:graphicFrame>
      <p:sp>
        <p:nvSpPr>
          <p:cNvPr id="8" name="TextBox 9"/>
          <p:cNvSpPr txBox="1">
            <a:spLocks noChangeArrowheads="1"/>
          </p:cNvSpPr>
          <p:nvPr/>
        </p:nvSpPr>
        <p:spPr bwMode="auto">
          <a:xfrm>
            <a:off x="1828800" y="279253"/>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13: </a:t>
            </a:r>
            <a:r>
              <a:rPr lang="en-US" sz="2400" b="1" dirty="0"/>
              <a:t>Parks and Recreation</a:t>
            </a: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106</a:t>
            </a:fld>
            <a:endParaRPr lang="en-US" dirty="0"/>
          </a:p>
        </p:txBody>
      </p:sp>
    </p:spTree>
    <p:extLst>
      <p:ext uri="{BB962C8B-B14F-4D97-AF65-F5344CB8AC3E}">
        <p14:creationId xmlns:p14="http://schemas.microsoft.com/office/powerpoint/2010/main" val="2479446019"/>
      </p:ext>
    </p:extLst>
  </p:cSld>
  <p:clrMapOvr>
    <a:masterClrMapping/>
  </p:clrMapOvr>
  <p:timing>
    <p:tnLst>
      <p:par>
        <p:cTn xmlns:p14="http://schemas.microsoft.com/office/powerpoint/2010/mai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984461045"/>
              </p:ext>
            </p:extLst>
          </p:nvPr>
        </p:nvGraphicFramePr>
        <p:xfrm>
          <a:off x="304800" y="1239995"/>
          <a:ext cx="8534400" cy="3931896"/>
        </p:xfrm>
        <a:graphic>
          <a:graphicData uri="http://schemas.openxmlformats.org/drawingml/2006/table">
            <a:tbl>
              <a:tblPr firstRow="1" bandRow="1">
                <a:tableStyleId>{616DA210-FB5B-4158-B5E0-FEB733F419BA}</a:tableStyleId>
              </a:tblPr>
              <a:tblGrid>
                <a:gridCol w="1600200"/>
                <a:gridCol w="6934200"/>
              </a:tblGrid>
              <a:tr h="2285964">
                <a:tc>
                  <a:txBody>
                    <a:bodyPr/>
                    <a:lstStyle/>
                    <a:p>
                      <a:pPr algn="ctr"/>
                      <a:r>
                        <a:rPr lang="en-US" sz="1800" b="1" i="0" dirty="0" smtClean="0"/>
                        <a:t>Performance Evaluation</a:t>
                      </a:r>
                      <a:endParaRPr lang="en-US" sz="1000" i="0" dirty="0"/>
                    </a:p>
                  </a:txBody>
                  <a:tcPr marT="45708" marB="45708" anchor="ctr"/>
                </a:tc>
                <a:tc>
                  <a:txBody>
                    <a:bodyPr/>
                    <a:lstStyle/>
                    <a:p>
                      <a:r>
                        <a:rPr lang="en-US" sz="1200" b="1" i="0" kern="1200" dirty="0" smtClean="0">
                          <a:solidFill>
                            <a:schemeClr val="tx1"/>
                          </a:solidFill>
                          <a:latin typeface="+mj-lt"/>
                          <a:ea typeface="+mn-ea"/>
                          <a:cs typeface="+mn-cs"/>
                        </a:rPr>
                        <a:t>Expected:</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The candidate’s approach is MECE and logically grouped</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The candidate provided thoughtful answers to the brainstorming sessions (3 costs)</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The candidate demonstrates </a:t>
                      </a:r>
                      <a:r>
                        <a:rPr lang="en-US" sz="1200" b="1" i="0" u="sng" kern="1200" baseline="0" dirty="0" smtClean="0">
                          <a:solidFill>
                            <a:schemeClr val="tx1"/>
                          </a:solidFill>
                          <a:latin typeface="+mj-lt"/>
                          <a:ea typeface="+mn-ea"/>
                          <a:cs typeface="+mn-cs"/>
                        </a:rPr>
                        <a:t>both</a:t>
                      </a:r>
                      <a:r>
                        <a:rPr lang="en-US" sz="1200" b="0" i="0" kern="1200" baseline="0" dirty="0" smtClean="0">
                          <a:solidFill>
                            <a:schemeClr val="tx1"/>
                          </a:solidFill>
                          <a:latin typeface="+mj-lt"/>
                          <a:ea typeface="+mn-ea"/>
                          <a:cs typeface="+mn-cs"/>
                        </a:rPr>
                        <a:t> horizontal and vertical logic. Flows from most to least important.</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Candidate performs math without errors.</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Without prompting, the candidate tells you the first/most important area to investigate and </a:t>
                      </a:r>
                      <a:r>
                        <a:rPr lang="en-US" sz="1200" b="1" i="0" u="sng" kern="1200" baseline="0" dirty="0" smtClean="0">
                          <a:solidFill>
                            <a:schemeClr val="tx1"/>
                          </a:solidFill>
                          <a:latin typeface="+mj-lt"/>
                          <a:ea typeface="+mn-ea"/>
                          <a:cs typeface="+mn-cs"/>
                        </a:rPr>
                        <a:t>why</a:t>
                      </a:r>
                    </a:p>
                    <a:p>
                      <a:pPr marL="171450" indent="-171450">
                        <a:buFont typeface="Arial" panose="020B0604020202020204" pitchFamily="34" charset="0"/>
                        <a:buChar char="•"/>
                      </a:pPr>
                      <a:r>
                        <a:rPr lang="en-US" sz="1200" b="0" i="0" u="none" kern="1200" baseline="0" dirty="0" smtClean="0">
                          <a:solidFill>
                            <a:schemeClr val="tx1"/>
                          </a:solidFill>
                          <a:latin typeface="+mj-lt"/>
                          <a:ea typeface="+mn-ea"/>
                          <a:cs typeface="+mn-cs"/>
                        </a:rPr>
                        <a:t>The candidate drives the case until you interrupt them and redirect</a:t>
                      </a:r>
                    </a:p>
                    <a:p>
                      <a:pPr marL="171450" indent="-171450">
                        <a:buFont typeface="Arial" panose="020B0604020202020204" pitchFamily="34" charset="0"/>
                        <a:buChar char="•"/>
                      </a:pPr>
                      <a:r>
                        <a:rPr lang="en-US" sz="1200" b="0" i="0" u="none" kern="1200" baseline="0" dirty="0" smtClean="0">
                          <a:solidFill>
                            <a:schemeClr val="tx1"/>
                          </a:solidFill>
                          <a:latin typeface="+mj-lt"/>
                          <a:ea typeface="+mn-ea"/>
                          <a:cs typeface="+mn-cs"/>
                        </a:rPr>
                        <a:t>Candidate should excel at brainstorming sessions (4 or 5 costs to cut)</a:t>
                      </a:r>
                    </a:p>
                    <a:p>
                      <a:pPr marL="171450" indent="-171450">
                        <a:buFont typeface="Arial" panose="020B0604020202020204" pitchFamily="34" charset="0"/>
                        <a:buChar char="•"/>
                      </a:pPr>
                      <a:r>
                        <a:rPr lang="en-US" sz="1200" b="0" i="0" u="none" kern="1200" baseline="0" dirty="0" smtClean="0">
                          <a:solidFill>
                            <a:schemeClr val="tx1"/>
                          </a:solidFill>
                          <a:latin typeface="+mj-lt"/>
                          <a:ea typeface="+mn-ea"/>
                          <a:cs typeface="+mn-cs"/>
                        </a:rPr>
                        <a:t>Candidate sees some of the “so what” of each of the sections and how they tie back into the whole case</a:t>
                      </a:r>
                    </a:p>
                    <a:p>
                      <a:pPr marL="171450" indent="-171450">
                        <a:buFont typeface="Arial" panose="020B0604020202020204" pitchFamily="34" charset="0"/>
                        <a:buChar char="•"/>
                      </a:pPr>
                      <a:r>
                        <a:rPr lang="en-US" sz="1200" b="0" i="0" u="none" kern="1200" baseline="0" dirty="0" smtClean="0">
                          <a:solidFill>
                            <a:schemeClr val="tx1"/>
                          </a:solidFill>
                          <a:latin typeface="+mj-lt"/>
                          <a:ea typeface="+mn-ea"/>
                          <a:cs typeface="+mn-cs"/>
                        </a:rPr>
                        <a:t>Additionally, the candidate will either confidently respond or gracefully recover when challenged</a:t>
                      </a:r>
                    </a:p>
                    <a:p>
                      <a:pPr marL="171450" indent="-171450">
                        <a:buFont typeface="Arial" panose="020B0604020202020204" pitchFamily="34" charset="0"/>
                        <a:buChar char="•"/>
                      </a:pPr>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The candidate challenges the given facts of the problem as needed</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Candidate suggests a few ways to increase the savings so that the client can build the park.</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Candidate nails brainstorming with new valuable ideas each time you ask “what else”</a:t>
                      </a:r>
                    </a:p>
                    <a:p>
                      <a:pPr marL="171450" indent="-171450">
                        <a:buFont typeface="Arial" panose="020B0604020202020204" pitchFamily="34" charset="0"/>
                        <a:buChar char="•"/>
                      </a:pPr>
                      <a:r>
                        <a:rPr lang="en-US" sz="1200" b="0" i="0" u="none" kern="1200" baseline="0" dirty="0" smtClean="0">
                          <a:solidFill>
                            <a:schemeClr val="tx1"/>
                          </a:solidFill>
                          <a:latin typeface="+mn-lt"/>
                          <a:ea typeface="+mn-ea"/>
                          <a:cs typeface="+mn-cs"/>
                        </a:rPr>
                        <a:t>Candidate suggests all of the “so what” of each of the sections and how they tie back into the whole case</a:t>
                      </a:r>
                    </a:p>
                  </a:txBody>
                  <a:tcPr marT="45708" marB="45708"/>
                </a:tc>
              </a:tr>
            </a:tbl>
          </a:graphicData>
        </a:graphic>
      </p:graphicFrame>
      <p:sp>
        <p:nvSpPr>
          <p:cNvPr id="8" name="TextBox 9"/>
          <p:cNvSpPr txBox="1">
            <a:spLocks noChangeArrowheads="1"/>
          </p:cNvSpPr>
          <p:nvPr/>
        </p:nvSpPr>
        <p:spPr bwMode="auto">
          <a:xfrm>
            <a:off x="1828800" y="279253"/>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13: </a:t>
            </a:r>
            <a:r>
              <a:rPr lang="en-US" sz="2400" b="1" dirty="0"/>
              <a:t>Parks and Recreation</a:t>
            </a:r>
          </a:p>
        </p:txBody>
      </p:sp>
      <p:sp>
        <p:nvSpPr>
          <p:cNvPr id="9" name="TextBox 8"/>
          <p:cNvSpPr txBox="1">
            <a:spLocks noChangeArrowheads="1"/>
          </p:cNvSpPr>
          <p:nvPr/>
        </p:nvSpPr>
        <p:spPr bwMode="auto">
          <a:xfrm>
            <a:off x="7467600" y="93518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107</a:t>
            </a:fld>
            <a:endParaRPr lang="en-US" dirty="0"/>
          </a:p>
        </p:txBody>
      </p:sp>
    </p:spTree>
    <p:extLst>
      <p:ext uri="{BB962C8B-B14F-4D97-AF65-F5344CB8AC3E}">
        <p14:creationId xmlns:p14="http://schemas.microsoft.com/office/powerpoint/2010/main" val="350400262"/>
      </p:ext>
    </p:extLst>
  </p:cSld>
  <p:clrMapOvr>
    <a:masterClrMapping/>
  </p:clrMapOvr>
  <p:timing>
    <p:tnLst>
      <p:par>
        <p:cTn xmlns:p14="http://schemas.microsoft.com/office/powerpoint/2010/mai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108</a:t>
            </a:fld>
            <a:endParaRPr lang="en-US" dirty="0"/>
          </a:p>
        </p:txBody>
      </p:sp>
    </p:spTree>
    <p:extLst>
      <p:ext uri="{BB962C8B-B14F-4D97-AF65-F5344CB8AC3E}">
        <p14:creationId xmlns:p14="http://schemas.microsoft.com/office/powerpoint/2010/main" val="2573350008"/>
      </p:ext>
    </p:extLst>
  </p:cSld>
  <p:clrMapOvr>
    <a:masterClrMapping/>
  </p:clrMapOvr>
  <p:timing>
    <p:tnLst>
      <p:par>
        <p:cTn xmlns:p14="http://schemas.microsoft.com/office/powerpoint/2010/mai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14: </a:t>
            </a:r>
            <a:r>
              <a:rPr lang="en-US" b="1" dirty="0" err="1"/>
              <a:t>SatCo</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2467340816"/>
              </p:ext>
            </p:extLst>
          </p:nvPr>
        </p:nvGraphicFramePr>
        <p:xfrm>
          <a:off x="304800" y="1295400"/>
          <a:ext cx="8534400" cy="5119255"/>
        </p:xfrm>
        <a:graphic>
          <a:graphicData uri="http://schemas.openxmlformats.org/drawingml/2006/table">
            <a:tbl>
              <a:tblPr/>
              <a:tblGrid>
                <a:gridCol w="1600200"/>
                <a:gridCol w="6934200"/>
              </a:tblGrid>
              <a:tr h="191885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itchFamily="34" charset="0"/>
                          <a:ea typeface="ＭＳ Ｐゴシック" pitchFamily="34" charset="-128"/>
                        </a:rPr>
                        <a:t>Your client is a satellite television service provider.  Recently, the client has been experiencing declining revenues and market share because of increased competition from cable based television providers. Cable based providers offer a range of services including phone, internet and television (commonly called a </a:t>
                      </a:r>
                      <a:r>
                        <a:rPr kumimoji="0" lang="en-US" altLang="en-US" sz="1200" b="0" i="0" u="none" strike="noStrike" cap="none" normalizeH="0" baseline="0" dirty="0" smtClean="0">
                          <a:ln>
                            <a:noFill/>
                          </a:ln>
                          <a:solidFill>
                            <a:schemeClr val="tx1"/>
                          </a:solidFill>
                          <a:effectLst/>
                          <a:latin typeface="Arial" pitchFamily="34" charset="0"/>
                          <a:ea typeface="ＭＳ Ｐゴシック" pitchFamily="34" charset="-128"/>
                        </a:rPr>
                        <a:t>“</a:t>
                      </a:r>
                      <a:r>
                        <a:rPr kumimoji="0" lang="en-US" sz="1200" b="0" i="0" u="none" strike="noStrike" cap="none" normalizeH="0" baseline="0" dirty="0" smtClean="0">
                          <a:ln>
                            <a:noFill/>
                          </a:ln>
                          <a:solidFill>
                            <a:schemeClr val="tx1"/>
                          </a:solidFill>
                          <a:effectLst/>
                          <a:latin typeface="Arial" pitchFamily="34" charset="0"/>
                          <a:ea typeface="ＭＳ Ｐゴシック" pitchFamily="34" charset="-128"/>
                        </a:rPr>
                        <a:t>triple play</a:t>
                      </a:r>
                      <a:r>
                        <a:rPr kumimoji="0" lang="en-US" altLang="en-US" sz="1200" b="0" i="0" u="none" strike="noStrike" cap="none" normalizeH="0" baseline="0" dirty="0" smtClean="0">
                          <a:ln>
                            <a:noFill/>
                          </a:ln>
                          <a:solidFill>
                            <a:schemeClr val="tx1"/>
                          </a:solidFill>
                          <a:effectLst/>
                          <a:latin typeface="Arial" pitchFamily="34" charset="0"/>
                          <a:ea typeface="ＭＳ Ｐゴシック" pitchFamily="34" charset="-128"/>
                        </a:rPr>
                        <a:t>”</a:t>
                      </a:r>
                      <a:r>
                        <a:rPr kumimoji="0" lang="en-US" sz="1200" b="0" i="0" u="none" strike="noStrike" cap="none" normalizeH="0" baseline="0" dirty="0" smtClean="0">
                          <a:ln>
                            <a:noFill/>
                          </a:ln>
                          <a:solidFill>
                            <a:schemeClr val="tx1"/>
                          </a:solidFill>
                          <a:effectLst/>
                          <a:latin typeface="Arial" pitchFamily="34" charset="0"/>
                          <a:ea typeface="ＭＳ Ｐゴシック" pitchFamily="34" charset="-128"/>
                        </a:rPr>
                        <a:t>). Our client currently only offers television services and has been losing customers to competitors offering triple play services. </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Arial" pitchFamily="34" charset="0"/>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itchFamily="34" charset="0"/>
                          <a:ea typeface="ＭＳ Ｐゴシック" pitchFamily="34" charset="-128"/>
                        </a:rPr>
                        <a:t>Our client is exploring the possibility of expanding services to include a bundled phone and internet package.  You are here today to help the client determine if they should expand service offerings or not.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2604654">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Guidance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 typeface="Arial" pitchFamily="34" charset="0"/>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Know the details of the case prior to giving.  This should be candidate driven, and they may not follow the exact order of the case.  This is what strong candidates should do.  Weaker candidates will need lots of direction and prompting to get through all sections.</a:t>
                      </a:r>
                    </a:p>
                    <a:p>
                      <a:pPr marL="0" marR="0" lvl="0" indent="0" algn="l" defTabSz="457200" rtl="0" eaLnBrk="1" fontAlgn="base" latinLnBrk="0" hangingPunct="1">
                        <a:lnSpc>
                          <a:spcPct val="100000"/>
                        </a:lnSpc>
                        <a:spcBef>
                          <a:spcPct val="0"/>
                        </a:spcBef>
                        <a:spcAft>
                          <a:spcPct val="0"/>
                        </a:spcAft>
                        <a:buClrTx/>
                        <a:buSzTx/>
                        <a:buFont typeface="Arial" pitchFamily="34" charset="0"/>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 typeface="Arial" pitchFamily="34" charset="0"/>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This is a classic profitability and market entry case. The candidate is welcome to brainstorm a list of competitive responses, but guide them to a discussion of the revenues and costs associated with entering the </a:t>
                      </a:r>
                      <a:r>
                        <a:rPr kumimoji="0" lang="ja-JP"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altLang="ja-JP" sz="1200" b="0" i="0" u="none" strike="noStrike" cap="none" normalizeH="0" baseline="0" dirty="0" smtClean="0">
                          <a:ln>
                            <a:noFill/>
                          </a:ln>
                          <a:solidFill>
                            <a:schemeClr val="tx1"/>
                          </a:solidFill>
                          <a:effectLst/>
                          <a:latin typeface="+mj-lt"/>
                          <a:ea typeface="ＭＳ Ｐゴシック" pitchFamily="34" charset="-128"/>
                        </a:rPr>
                        <a:t>triple play</a:t>
                      </a:r>
                      <a:r>
                        <a:rPr kumimoji="0" lang="ja-JP"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altLang="ja-JP" sz="1200" b="0" i="0" u="none" strike="noStrike" cap="none" normalizeH="0" baseline="0" dirty="0" smtClean="0">
                          <a:ln>
                            <a:noFill/>
                          </a:ln>
                          <a:solidFill>
                            <a:schemeClr val="tx1"/>
                          </a:solidFill>
                          <a:effectLst/>
                          <a:latin typeface="+mj-lt"/>
                          <a:ea typeface="ＭＳ Ｐゴシック" pitchFamily="34" charset="-128"/>
                        </a:rPr>
                        <a:t> market.</a:t>
                      </a:r>
                    </a:p>
                    <a:p>
                      <a:pPr marL="228600" marR="0" lvl="0" indent="-228600" algn="l" defTabSz="457200" rtl="0" eaLnBrk="1" fontAlgn="base" latinLnBrk="0" hangingPunct="1">
                        <a:lnSpc>
                          <a:spcPct val="100000"/>
                        </a:lnSpc>
                        <a:spcBef>
                          <a:spcPct val="0"/>
                        </a:spcBef>
                        <a:spcAft>
                          <a:spcPct val="0"/>
                        </a:spcAft>
                        <a:buClrTx/>
                        <a:buSzTx/>
                        <a:buFont typeface="Arial" pitchFamily="34" charset="0"/>
                        <a:buAutoNum type="arabicPeriod"/>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 typeface="Arial" pitchFamily="34" charset="0"/>
                        <a:buNone/>
                        <a:tabLst/>
                      </a:pPr>
                      <a:r>
                        <a:rPr kumimoji="0" lang="en-US" sz="1200" b="1" i="0" u="sng" strike="noStrike" cap="none" normalizeH="0" baseline="0" dirty="0" smtClean="0">
                          <a:ln>
                            <a:noFill/>
                          </a:ln>
                          <a:solidFill>
                            <a:schemeClr val="tx1"/>
                          </a:solidFill>
                          <a:effectLst/>
                          <a:latin typeface="+mj-lt"/>
                          <a:ea typeface="ＭＳ Ｐゴシック" pitchFamily="34" charset="-128"/>
                        </a:rPr>
                        <a:t>Background data that the candidate may request</a:t>
                      </a:r>
                    </a:p>
                    <a:p>
                      <a:pPr marL="395288" marR="0" lvl="0" indent="-22860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Satellite television broadcast and business will stay unchanged for the client</a:t>
                      </a:r>
                    </a:p>
                    <a:p>
                      <a:pPr marL="395288" marR="0" lvl="0" indent="-22860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Phone service will be conducted via voice over IP (VOIP) requiring access to broadband towers</a:t>
                      </a:r>
                    </a:p>
                    <a:p>
                      <a:pPr marL="395288" marR="0" lvl="0" indent="-22860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Each individual customer will need one receiver box to power television (which current customers already have) and a separate box to run the phone and internet</a:t>
                      </a:r>
                    </a:p>
                    <a:p>
                      <a:pPr marL="395288" marR="0" lvl="0" indent="-22860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There are only three major players in the television market and we are #3 with 20% market share and market cap of $3Bn</a:t>
                      </a:r>
                    </a:p>
                    <a:p>
                      <a:pPr marL="395288" marR="0" lvl="0" indent="-22860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1" i="0" u="none" strike="noStrike" cap="none" normalizeH="0" baseline="0" dirty="0" smtClean="0">
                          <a:ln>
                            <a:noFill/>
                          </a:ln>
                          <a:solidFill>
                            <a:schemeClr val="tx1"/>
                          </a:solidFill>
                          <a:effectLst/>
                          <a:latin typeface="+mj-lt"/>
                          <a:ea typeface="ＭＳ Ｐゴシック" pitchFamily="34" charset="-128"/>
                        </a:rPr>
                        <a:t>Provide Exhibit 1 </a:t>
                      </a:r>
                      <a:r>
                        <a:rPr kumimoji="0" lang="en-US" sz="1200" b="0" i="0" u="none" strike="noStrike" cap="none" normalizeH="0" baseline="0" dirty="0" smtClean="0">
                          <a:ln>
                            <a:noFill/>
                          </a:ln>
                          <a:solidFill>
                            <a:schemeClr val="tx1"/>
                          </a:solidFill>
                          <a:effectLst/>
                          <a:latin typeface="+mj-lt"/>
                          <a:ea typeface="ＭＳ Ｐゴシック" pitchFamily="34" charset="-128"/>
                        </a:rPr>
                        <a:t>if the candidate is unsure of the infrastructure required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sp>
        <p:nvSpPr>
          <p:cNvPr id="8" name="TextBox 8"/>
          <p:cNvSpPr txBox="1">
            <a:spLocks noChangeArrowheads="1"/>
          </p:cNvSpPr>
          <p:nvPr/>
        </p:nvSpPr>
        <p:spPr bwMode="auto">
          <a:xfrm>
            <a:off x="7467600" y="96289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109</a:t>
            </a:fld>
            <a:endParaRPr lang="en-US" dirty="0"/>
          </a:p>
        </p:txBody>
      </p:sp>
    </p:spTree>
    <p:extLst>
      <p:ext uri="{BB962C8B-B14F-4D97-AF65-F5344CB8AC3E}">
        <p14:creationId xmlns:p14="http://schemas.microsoft.com/office/powerpoint/2010/main" val="4023035703"/>
      </p:ext>
    </p:extLst>
  </p:cSld>
  <p:clrMapOvr>
    <a:masterClrMapping/>
  </p:clrMapOvr>
  <p:timing>
    <p:tnLst>
      <p:par>
        <p:cTn xmlns:p14="http://schemas.microsoft.com/office/powerpoint/2010/mai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14: </a:t>
            </a:r>
            <a:r>
              <a:rPr lang="en-US" b="1" dirty="0" err="1"/>
              <a:t>SatCo</a:t>
            </a:r>
            <a:endParaRPr lang="en-US" b="1" dirty="0"/>
          </a:p>
        </p:txBody>
      </p:sp>
      <p:pic>
        <p:nvPicPr>
          <p:cNvPr id="2355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4813" y="2209800"/>
            <a:ext cx="5870575" cy="426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TextBox 1"/>
          <p:cNvSpPr txBox="1">
            <a:spLocks noChangeArrowheads="1"/>
          </p:cNvSpPr>
          <p:nvPr/>
        </p:nvSpPr>
        <p:spPr bwMode="auto">
          <a:xfrm>
            <a:off x="2043545" y="1415040"/>
            <a:ext cx="5514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1: Internet and Phone Infrastructure</a:t>
            </a:r>
          </a:p>
        </p:txBody>
      </p:sp>
      <p:sp>
        <p:nvSpPr>
          <p:cNvPr id="10" name="TextBox 8"/>
          <p:cNvSpPr txBox="1">
            <a:spLocks noChangeArrowheads="1"/>
          </p:cNvSpPr>
          <p:nvPr/>
        </p:nvSpPr>
        <p:spPr bwMode="auto">
          <a:xfrm>
            <a:off x="7467600" y="96289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110</a:t>
            </a:fld>
            <a:endParaRPr lang="en-US" dirty="0"/>
          </a:p>
        </p:txBody>
      </p:sp>
    </p:spTree>
    <p:extLst>
      <p:ext uri="{BB962C8B-B14F-4D97-AF65-F5344CB8AC3E}">
        <p14:creationId xmlns:p14="http://schemas.microsoft.com/office/powerpoint/2010/main" val="297217257"/>
      </p:ext>
    </p:extLst>
  </p:cSld>
  <p:clrMapOvr>
    <a:masterClrMapping/>
  </p:clrMapOvr>
  <p:timing>
    <p:tnLst>
      <p:par>
        <p:cTn xmlns:p14="http://schemas.microsoft.com/office/powerpoint/2010/mai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14: </a:t>
            </a:r>
            <a:r>
              <a:rPr lang="en-US" b="1" dirty="0" err="1"/>
              <a:t>SatCo</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2041060165"/>
              </p:ext>
            </p:extLst>
          </p:nvPr>
        </p:nvGraphicFramePr>
        <p:xfrm>
          <a:off x="304800" y="1295400"/>
          <a:ext cx="8534400" cy="4010347"/>
        </p:xfrm>
        <a:graphic>
          <a:graphicData uri="http://schemas.openxmlformats.org/drawingml/2006/table">
            <a:tbl>
              <a:tblPr/>
              <a:tblGrid>
                <a:gridCol w="1600200"/>
                <a:gridCol w="6934200"/>
              </a:tblGrid>
              <a:tr h="810491">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ea typeface="ＭＳ Ｐゴシック" charset="0"/>
                          <a:cs typeface="ＭＳ Ｐゴシック" charset="0"/>
                        </a:rPr>
                        <a:t>Prompt #2</a:t>
                      </a:r>
                      <a:endPar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697" marB="456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ea typeface="ＭＳ Ｐゴシック" charset="0"/>
                          <a:cs typeface="ＭＳ Ｐゴシック" charset="0"/>
                        </a:rPr>
                        <a:t>Determine the potential market size for the additional phone and internet bundled service.</a:t>
                      </a:r>
                    </a:p>
                  </a:txBody>
                  <a:tcPr marT="45697" marB="456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3199856">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rPr>
                        <a:t>Guidance</a:t>
                      </a:r>
                    </a:p>
                  </a:txBody>
                  <a:tcPr marT="45697" marB="456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 typeface="+mj-lt"/>
                        <a:buNone/>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Assumptions:</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100M Households in the US</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50% have cable</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40% of cable customers have triple play currently</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Client expects to capture 10% of the existing triple play market</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In addition, client expects to convert 40% of their existing customers to triple play</a:t>
                      </a:r>
                    </a:p>
                    <a:p>
                      <a:pPr marL="171450" marR="0" lvl="0" indent="-171450" algn="l" defTabSz="457200" rtl="0" eaLnBrk="1" fontAlgn="base" latinLnBrk="0" hangingPunct="1">
                        <a:lnSpc>
                          <a:spcPct val="100000"/>
                        </a:lnSpc>
                        <a:spcBef>
                          <a:spcPct val="0"/>
                        </a:spcBef>
                        <a:spcAft>
                          <a:spcPct val="0"/>
                        </a:spcAft>
                        <a:buClrTx/>
                        <a:buSzTx/>
                        <a:buFontTx/>
                        <a:buChar char="-"/>
                        <a:tabLst/>
                      </a:pPr>
                      <a:endPar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Calculations:</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Total Existing Triple Play Market</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100M Households x 50% Cable x 40% Triple Play = 20M Households</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Client expects to capture 10% existing = 2.0M</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Converting Existing Customers</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50M Cable Subscribers x 20% Market Share x 40% conversion = 4.0M Households</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Total Market = 2M + 4M Households = 6.0M Households</a:t>
                      </a:r>
                    </a:p>
                  </a:txBody>
                  <a:tcPr marT="45697" marB="456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sp>
        <p:nvSpPr>
          <p:cNvPr id="8" name="TextBox 8"/>
          <p:cNvSpPr txBox="1">
            <a:spLocks noChangeArrowheads="1"/>
          </p:cNvSpPr>
          <p:nvPr/>
        </p:nvSpPr>
        <p:spPr bwMode="auto">
          <a:xfrm>
            <a:off x="7467600" y="96289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111</a:t>
            </a:fld>
            <a:endParaRPr lang="en-US" dirty="0"/>
          </a:p>
        </p:txBody>
      </p:sp>
    </p:spTree>
    <p:extLst>
      <p:ext uri="{BB962C8B-B14F-4D97-AF65-F5344CB8AC3E}">
        <p14:creationId xmlns:p14="http://schemas.microsoft.com/office/powerpoint/2010/main" val="159187061"/>
      </p:ext>
    </p:extLst>
  </p:cSld>
  <p:clrMapOvr>
    <a:masterClrMapping/>
  </p:clrMapOvr>
  <p:timing>
    <p:tnLst>
      <p:par>
        <p:cTn xmlns:p14="http://schemas.microsoft.com/office/powerpoint/2010/mai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14: </a:t>
            </a:r>
            <a:r>
              <a:rPr lang="en-US" b="1" dirty="0" err="1"/>
              <a:t>SatCo</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3274175773"/>
              </p:ext>
            </p:extLst>
          </p:nvPr>
        </p:nvGraphicFramePr>
        <p:xfrm>
          <a:off x="304800" y="1295400"/>
          <a:ext cx="8534400" cy="2365485"/>
        </p:xfrm>
        <a:graphic>
          <a:graphicData uri="http://schemas.openxmlformats.org/drawingml/2006/table">
            <a:tbl>
              <a:tblPr/>
              <a:tblGrid>
                <a:gridCol w="1600200"/>
                <a:gridCol w="6934200"/>
              </a:tblGrid>
              <a:tr h="810491">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ea typeface="ＭＳ Ｐゴシック" charset="0"/>
                          <a:cs typeface="ＭＳ Ｐゴシック" charset="0"/>
                        </a:rPr>
                        <a:t>Prompt #3</a:t>
                      </a:r>
                      <a:endPar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ea typeface="ＭＳ Ｐゴシック" charset="0"/>
                          <a:cs typeface="ＭＳ Ｐゴシック" charset="0"/>
                        </a:rPr>
                        <a:t>Determine the annual revenues for the additional phone and internet bundled service.</a:t>
                      </a:r>
                    </a:p>
                  </a:txBody>
                  <a:tcPr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1554994">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rPr>
                        <a:t>Guidance</a:t>
                      </a:r>
                    </a:p>
                  </a:txBody>
                  <a:tcPr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 typeface="+mj-lt"/>
                        <a:buNone/>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Assumptions:</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Average price per month $20</a:t>
                      </a:r>
                    </a:p>
                    <a:p>
                      <a:pPr marL="171450" marR="0" lvl="0" indent="-171450" algn="l" defTabSz="457200" rtl="0" eaLnBrk="1" fontAlgn="base" latinLnBrk="0" hangingPunct="1">
                        <a:lnSpc>
                          <a:spcPct val="100000"/>
                        </a:lnSpc>
                        <a:spcBef>
                          <a:spcPct val="0"/>
                        </a:spcBef>
                        <a:spcAft>
                          <a:spcPct val="0"/>
                        </a:spcAft>
                        <a:buClrTx/>
                        <a:buSzTx/>
                        <a:buFontTx/>
                        <a:buChar char="-"/>
                        <a:tabLst/>
                      </a:pPr>
                      <a:endPar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Calculations:</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6.0M Households x 12 Months x $20/Month = $1.440B per year</a:t>
                      </a:r>
                    </a:p>
                  </a:txBody>
                  <a:tcPr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sp>
        <p:nvSpPr>
          <p:cNvPr id="8" name="TextBox 8"/>
          <p:cNvSpPr txBox="1">
            <a:spLocks noChangeArrowheads="1"/>
          </p:cNvSpPr>
          <p:nvPr/>
        </p:nvSpPr>
        <p:spPr bwMode="auto">
          <a:xfrm>
            <a:off x="7467600" y="96289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112</a:t>
            </a:fld>
            <a:endParaRPr lang="en-US" dirty="0"/>
          </a:p>
        </p:txBody>
      </p:sp>
    </p:spTree>
    <p:extLst>
      <p:ext uri="{BB962C8B-B14F-4D97-AF65-F5344CB8AC3E}">
        <p14:creationId xmlns:p14="http://schemas.microsoft.com/office/powerpoint/2010/main" val="3795705812"/>
      </p:ext>
    </p:extLst>
  </p:cSld>
  <p:clrMapOvr>
    <a:masterClrMapping/>
  </p:clrMapOvr>
  <p:timing>
    <p:tnLst>
      <p:par>
        <p:cTn xmlns:p14="http://schemas.microsoft.com/office/powerpoint/2010/mai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14: </a:t>
            </a:r>
            <a:r>
              <a:rPr lang="en-US" b="1" dirty="0" err="1"/>
              <a:t>SatCo</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907717678"/>
              </p:ext>
            </p:extLst>
          </p:nvPr>
        </p:nvGraphicFramePr>
        <p:xfrm>
          <a:off x="304800" y="1295400"/>
          <a:ext cx="8534400" cy="5435138"/>
        </p:xfrm>
        <a:graphic>
          <a:graphicData uri="http://schemas.openxmlformats.org/drawingml/2006/table">
            <a:tbl>
              <a:tblPr/>
              <a:tblGrid>
                <a:gridCol w="1600200"/>
                <a:gridCol w="6934200"/>
              </a:tblGrid>
              <a:tr h="588818">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itchFamily="34" charset="0"/>
                          <a:ea typeface="ＭＳ Ｐゴシック" pitchFamily="34" charset="-128"/>
                        </a:rPr>
                        <a:t>Determine the annual costs for the additional phone and internet bundled service.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15875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Guidance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 typeface="+mj-lt" charset="0"/>
                        <a:buNone/>
                        <a:tabLst/>
                      </a:pPr>
                      <a:r>
                        <a:rPr kumimoji="0" lang="en-US" sz="1200" b="1" i="0" u="sng" strike="noStrike" cap="none" normalizeH="0" baseline="0" dirty="0" smtClean="0">
                          <a:ln>
                            <a:noFill/>
                          </a:ln>
                          <a:solidFill>
                            <a:schemeClr val="tx1"/>
                          </a:solidFill>
                          <a:effectLst/>
                          <a:latin typeface="+mj-lt"/>
                          <a:ea typeface="ＭＳ Ｐゴシック" pitchFamily="34" charset="-128"/>
                        </a:rPr>
                        <a:t>Background information</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There are three key inputs required for phone and internet broadcast </a:t>
                      </a:r>
                    </a:p>
                    <a:p>
                      <a:pPr marL="685800" marR="0" lvl="1" indent="-228600" algn="l" defTabSz="457200" rtl="0" eaLnBrk="1" fontAlgn="base" latinLnBrk="0" hangingPunct="1">
                        <a:lnSpc>
                          <a:spcPct val="100000"/>
                        </a:lnSpc>
                        <a:spcBef>
                          <a:spcPct val="0"/>
                        </a:spcBef>
                        <a:spcAft>
                          <a:spcPct val="0"/>
                        </a:spcAft>
                        <a:buClrTx/>
                        <a:buSzTx/>
                        <a:buFont typeface="Arial" pitchFamily="34" charset="0"/>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Towers</a:t>
                      </a:r>
                    </a:p>
                    <a:p>
                      <a:pPr marL="685800" marR="0" lvl="1" indent="-228600" algn="l" defTabSz="457200" rtl="0" eaLnBrk="1" fontAlgn="base" latinLnBrk="0" hangingPunct="1">
                        <a:lnSpc>
                          <a:spcPct val="100000"/>
                        </a:lnSpc>
                        <a:spcBef>
                          <a:spcPct val="0"/>
                        </a:spcBef>
                        <a:spcAft>
                          <a:spcPct val="0"/>
                        </a:spcAft>
                        <a:buClrTx/>
                        <a:buSzTx/>
                        <a:buFont typeface="Arial" pitchFamily="34" charset="0"/>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Spectrum</a:t>
                      </a:r>
                    </a:p>
                    <a:p>
                      <a:pPr marL="685800" marR="0" lvl="1" indent="-228600" algn="l" defTabSz="457200" rtl="0" eaLnBrk="1" fontAlgn="base" latinLnBrk="0" hangingPunct="1">
                        <a:lnSpc>
                          <a:spcPct val="100000"/>
                        </a:lnSpc>
                        <a:spcBef>
                          <a:spcPct val="0"/>
                        </a:spcBef>
                        <a:spcAft>
                          <a:spcPct val="0"/>
                        </a:spcAft>
                        <a:buClrTx/>
                        <a:buSzTx/>
                        <a:buFont typeface="Arial" pitchFamily="34" charset="0"/>
                        <a:buAutoNum type="arabicPeriod"/>
                        <a:tabLst/>
                      </a:pPr>
                      <a:r>
                        <a:rPr kumimoji="0" lang="en-US" sz="1200" b="0" i="0" u="none" strike="noStrike" cap="none" normalizeH="0" baseline="0" dirty="0" smtClean="0">
                          <a:ln>
                            <a:noFill/>
                          </a:ln>
                          <a:solidFill>
                            <a:schemeClr val="tx1"/>
                          </a:solidFill>
                          <a:effectLst/>
                          <a:latin typeface="+mj-lt"/>
                          <a:ea typeface="ＭＳ Ｐゴシック" pitchFamily="34" charset="-128"/>
                        </a:rPr>
                        <a:t>In-home box (also called CPE or </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Client Premise Equipment</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 Client estimates that 200 towers are required across the country to satisfy demand</a:t>
                      </a:r>
                    </a:p>
                    <a:p>
                      <a:pPr marL="0" marR="0" lvl="0" indent="0" algn="l" defTabSz="457200" rtl="0" eaLnBrk="1" fontAlgn="base" latinLnBrk="0" hangingPunct="1">
                        <a:lnSpc>
                          <a:spcPct val="100000"/>
                        </a:lnSpc>
                        <a:spcBef>
                          <a:spcPct val="0"/>
                        </a:spcBef>
                        <a:spcAft>
                          <a:spcPct val="0"/>
                        </a:spcAft>
                        <a:buClrTx/>
                        <a:buSzTx/>
                        <a:buFont typeface="+mj-lt" charset="0"/>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 typeface="+mj-lt" charset="0"/>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Assumptions:</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defRPr/>
                      </a:pPr>
                      <a:r>
                        <a:rPr kumimoji="0" lang="en-US" sz="1200" b="1" i="0" u="none" strike="noStrike" kern="1200" cap="none" normalizeH="0" baseline="0" dirty="0" smtClean="0">
                          <a:ln>
                            <a:noFill/>
                          </a:ln>
                          <a:solidFill>
                            <a:schemeClr val="tx1"/>
                          </a:solidFill>
                          <a:effectLst/>
                          <a:latin typeface="+mn-lt"/>
                          <a:ea typeface="ＭＳ Ｐゴシック" pitchFamily="34" charset="-128"/>
                          <a:cs typeface="+mn-cs"/>
                        </a:rPr>
                        <a:t>Provide candidate Exhibit 2</a:t>
                      </a:r>
                      <a:r>
                        <a:rPr kumimoji="0" lang="en-US" sz="1200" b="0" i="0" u="none" strike="noStrike" kern="1200" cap="none" normalizeH="0" baseline="0" dirty="0" smtClean="0">
                          <a:ln>
                            <a:noFill/>
                          </a:ln>
                          <a:solidFill>
                            <a:schemeClr val="tx1"/>
                          </a:solidFill>
                          <a:effectLst/>
                          <a:latin typeface="+mn-lt"/>
                          <a:ea typeface="ＭＳ Ｐゴシック" pitchFamily="34" charset="-128"/>
                          <a:cs typeface="+mn-cs"/>
                        </a:rPr>
                        <a:t> (Spectrum Price Chart) to determine spectrum pricing. Candidate should use average price of $500M as a basis, but strong candidates will point out the volatility in the auctions and may also go into auction theory.</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Towers can be bought outright or leased.</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Purchase price is $15M/tower and requires $0.2M/year per tower  to maintain</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Lease price is $2.2M/year per tower and includes all maintenance and installation fees</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CPE cost is $20 per box</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sng" strike="noStrike" cap="none" normalizeH="0" baseline="0" dirty="0" smtClean="0">
                          <a:ln>
                            <a:noFill/>
                          </a:ln>
                          <a:solidFill>
                            <a:schemeClr val="tx1"/>
                          </a:solidFill>
                          <a:effectLst/>
                          <a:latin typeface="+mj-lt"/>
                          <a:ea typeface="ＭＳ Ｐゴシック" pitchFamily="34" charset="-128"/>
                        </a:rPr>
                        <a:t>Calculations</a:t>
                      </a:r>
                      <a:r>
                        <a:rPr kumimoji="0" lang="en-US" sz="1200" b="0" i="0" u="none" strike="noStrike" cap="none" normalizeH="0" baseline="0" dirty="0" smtClean="0">
                          <a:ln>
                            <a:noFill/>
                          </a:ln>
                          <a:solidFill>
                            <a:schemeClr val="tx1"/>
                          </a:solidFill>
                          <a:effectLst/>
                          <a:latin typeface="+mj-lt"/>
                          <a:ea typeface="ＭＳ Ｐゴシック" pitchFamily="34" charset="-128"/>
                        </a:rPr>
                        <a: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Tower calculations</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Purchase: $15M x 200 + $0.2M x 200 = $3.0B + $40M annual maintenance = $3.08B</a:t>
                      </a:r>
                    </a:p>
                    <a:p>
                      <a:pPr marL="914400" marR="0" lvl="2"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1" i="0" u="none" strike="noStrike" cap="none" normalizeH="0" baseline="0" dirty="0" smtClean="0">
                          <a:ln>
                            <a:noFill/>
                          </a:ln>
                          <a:solidFill>
                            <a:schemeClr val="tx1"/>
                          </a:solidFill>
                          <a:effectLst/>
                          <a:latin typeface="+mj-lt"/>
                          <a:ea typeface="ＭＳ Ｐゴシック" pitchFamily="34" charset="-128"/>
                        </a:rPr>
                        <a:t>Strong candidates should notice that this is a HUGE capital outlay</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Lease: $2.2M x 200 = $440M</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Spectrum Purchase = $500M</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CPE = 6.0M Households x $20/house = $120M</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Total</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Purchase Towers = $3,000M + $40M + $500M + $120M = $3.7B</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Lease Towers = $500M +$120M = $620M </a:t>
                      </a:r>
                      <a:r>
                        <a:rPr kumimoji="0" lang="en-US" sz="1200" b="0" i="0" u="none" strike="noStrike" cap="none" normalizeH="0" baseline="0" dirty="0" err="1" smtClean="0">
                          <a:ln>
                            <a:noFill/>
                          </a:ln>
                          <a:solidFill>
                            <a:schemeClr val="tx1"/>
                          </a:solidFill>
                          <a:effectLst/>
                          <a:latin typeface="+mj-lt"/>
                          <a:ea typeface="ＭＳ Ｐゴシック" pitchFamily="34" charset="-128"/>
                        </a:rPr>
                        <a:t>Capex</a:t>
                      </a:r>
                      <a:r>
                        <a:rPr kumimoji="0" lang="en-US" sz="1200" b="0" i="0" u="none" strike="noStrike" cap="none" normalizeH="0" baseline="0" dirty="0" smtClean="0">
                          <a:ln>
                            <a:noFill/>
                          </a:ln>
                          <a:solidFill>
                            <a:schemeClr val="tx1"/>
                          </a:solidFill>
                          <a:effectLst/>
                          <a:latin typeface="+mj-lt"/>
                          <a:ea typeface="ＭＳ Ｐゴシック" pitchFamily="34" charset="-128"/>
                        </a:rPr>
                        <a:t> + $440M </a:t>
                      </a:r>
                      <a:r>
                        <a:rPr kumimoji="0" lang="en-US" sz="1200" b="0" i="0" u="none" strike="noStrike" cap="none" normalizeH="0" baseline="0" dirty="0" err="1" smtClean="0">
                          <a:ln>
                            <a:noFill/>
                          </a:ln>
                          <a:solidFill>
                            <a:schemeClr val="tx1"/>
                          </a:solidFill>
                          <a:effectLst/>
                          <a:latin typeface="+mj-lt"/>
                          <a:ea typeface="ＭＳ Ｐゴシック" pitchFamily="34" charset="-128"/>
                        </a:rPr>
                        <a:t>Opex</a:t>
                      </a:r>
                      <a:r>
                        <a:rPr kumimoji="0" lang="en-US" sz="1200" b="0" i="0" u="none" strike="noStrike" cap="none" normalizeH="0" baseline="0" dirty="0" smtClean="0">
                          <a:ln>
                            <a:noFill/>
                          </a:ln>
                          <a:solidFill>
                            <a:schemeClr val="tx1"/>
                          </a:solidFill>
                          <a:effectLst/>
                          <a:latin typeface="+mj-lt"/>
                          <a:ea typeface="ＭＳ Ｐゴシック" pitchFamily="34" charset="-128"/>
                        </a:rPr>
                        <a:t> = $1.06B in year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sp>
        <p:nvSpPr>
          <p:cNvPr id="8" name="TextBox 8"/>
          <p:cNvSpPr txBox="1">
            <a:spLocks noChangeArrowheads="1"/>
          </p:cNvSpPr>
          <p:nvPr/>
        </p:nvSpPr>
        <p:spPr bwMode="auto">
          <a:xfrm>
            <a:off x="7467600" y="96289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113</a:t>
            </a:fld>
            <a:endParaRPr lang="en-US" dirty="0"/>
          </a:p>
        </p:txBody>
      </p:sp>
    </p:spTree>
    <p:extLst>
      <p:ext uri="{BB962C8B-B14F-4D97-AF65-F5344CB8AC3E}">
        <p14:creationId xmlns:p14="http://schemas.microsoft.com/office/powerpoint/2010/main" val="3748261397"/>
      </p:ext>
    </p:extLst>
  </p:cSld>
  <p:clrMapOvr>
    <a:masterClrMapping/>
  </p:clrMapOvr>
  <p:timing>
    <p:tnLst>
      <p:par>
        <p:cTn xmlns:p14="http://schemas.microsoft.com/office/powerpoint/2010/mai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14: </a:t>
            </a:r>
            <a:r>
              <a:rPr lang="en-US" b="1" dirty="0" err="1"/>
              <a:t>SatCo</a:t>
            </a:r>
            <a:endParaRPr lang="en-US" b="1" dirty="0"/>
          </a:p>
        </p:txBody>
      </p:sp>
      <p:graphicFrame>
        <p:nvGraphicFramePr>
          <p:cNvPr id="11" name="Chart 10"/>
          <p:cNvGraphicFramePr>
            <a:graphicFrameLocks/>
          </p:cNvGraphicFramePr>
          <p:nvPr>
            <p:extLst>
              <p:ext uri="{D42A27DB-BD31-4B8C-83A1-F6EECF244321}">
                <p14:modId xmlns:p14="http://schemas.microsoft.com/office/powerpoint/2010/main" val="2335476445"/>
              </p:ext>
            </p:extLst>
          </p:nvPr>
        </p:nvGraphicFramePr>
        <p:xfrm>
          <a:off x="990600" y="2209800"/>
          <a:ext cx="7289800" cy="3721100"/>
        </p:xfrm>
        <a:graphic>
          <a:graphicData uri="http://schemas.openxmlformats.org/drawingml/2006/chart">
            <c:chart xmlns:c="http://schemas.openxmlformats.org/drawingml/2006/chart" xmlns:r="http://schemas.openxmlformats.org/officeDocument/2006/relationships" r:id="rId3"/>
          </a:graphicData>
        </a:graphic>
      </p:graphicFrame>
      <p:sp>
        <p:nvSpPr>
          <p:cNvPr id="24581" name="TextBox 2"/>
          <p:cNvSpPr txBox="1">
            <a:spLocks noChangeArrowheads="1"/>
          </p:cNvSpPr>
          <p:nvPr/>
        </p:nvSpPr>
        <p:spPr bwMode="auto">
          <a:xfrm>
            <a:off x="3429000" y="5867400"/>
            <a:ext cx="2590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400"/>
              <a:t>Auction Number</a:t>
            </a:r>
          </a:p>
        </p:txBody>
      </p:sp>
      <p:cxnSp>
        <p:nvCxnSpPr>
          <p:cNvPr id="14" name="Straight Connector 13"/>
          <p:cNvCxnSpPr>
            <a:cxnSpLocks noChangeShapeType="1"/>
          </p:cNvCxnSpPr>
          <p:nvPr/>
        </p:nvCxnSpPr>
        <p:spPr bwMode="auto">
          <a:xfrm>
            <a:off x="1447800" y="4591050"/>
            <a:ext cx="6858000" cy="1588"/>
          </a:xfrm>
          <a:prstGeom prst="line">
            <a:avLst/>
          </a:prstGeom>
          <a:noFill/>
          <a:ln w="25400">
            <a:solidFill>
              <a:schemeClr val="tx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24583" name="TextBox 14"/>
          <p:cNvSpPr txBox="1">
            <a:spLocks noChangeArrowheads="1"/>
          </p:cNvSpPr>
          <p:nvPr/>
        </p:nvSpPr>
        <p:spPr bwMode="auto">
          <a:xfrm>
            <a:off x="7391400" y="4343400"/>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a:t>Average: $500M</a:t>
            </a:r>
          </a:p>
        </p:txBody>
      </p:sp>
      <p:sp>
        <p:nvSpPr>
          <p:cNvPr id="24587" name="TextBox 16"/>
          <p:cNvSpPr txBox="1">
            <a:spLocks noChangeArrowheads="1"/>
          </p:cNvSpPr>
          <p:nvPr/>
        </p:nvSpPr>
        <p:spPr bwMode="auto">
          <a:xfrm>
            <a:off x="2247900" y="1399599"/>
            <a:ext cx="472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2: Auction Price Spectrum</a:t>
            </a:r>
          </a:p>
        </p:txBody>
      </p:sp>
      <p:sp>
        <p:nvSpPr>
          <p:cNvPr id="13" name="TextBox 8"/>
          <p:cNvSpPr txBox="1">
            <a:spLocks noChangeArrowheads="1"/>
          </p:cNvSpPr>
          <p:nvPr/>
        </p:nvSpPr>
        <p:spPr bwMode="auto">
          <a:xfrm>
            <a:off x="7467600" y="96289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114</a:t>
            </a:fld>
            <a:endParaRPr lang="en-US" dirty="0"/>
          </a:p>
        </p:txBody>
      </p:sp>
    </p:spTree>
    <p:extLst>
      <p:ext uri="{BB962C8B-B14F-4D97-AF65-F5344CB8AC3E}">
        <p14:creationId xmlns:p14="http://schemas.microsoft.com/office/powerpoint/2010/main" val="3359932491"/>
      </p:ext>
    </p:extLst>
  </p:cSld>
  <p:clrMapOvr>
    <a:masterClrMapping/>
  </p:clrMapOvr>
  <p:timing>
    <p:tnLst>
      <p:par>
        <p:cTn xmlns:p14="http://schemas.microsoft.com/office/powerpoint/2010/mai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14: </a:t>
            </a:r>
            <a:r>
              <a:rPr lang="en-US" b="1" dirty="0" err="1"/>
              <a:t>SatCo</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1810643815"/>
              </p:ext>
            </p:extLst>
          </p:nvPr>
        </p:nvGraphicFramePr>
        <p:xfrm>
          <a:off x="304800" y="1295400"/>
          <a:ext cx="8534400" cy="3758462"/>
        </p:xfrm>
        <a:graphic>
          <a:graphicData uri="http://schemas.openxmlformats.org/drawingml/2006/table">
            <a:tbl>
              <a:tblPr/>
              <a:tblGrid>
                <a:gridCol w="1600200"/>
                <a:gridCol w="6934200"/>
              </a:tblGrid>
              <a:tr h="741218">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#5</a:t>
                      </a: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itchFamily="34" charset="0"/>
                          <a:ea typeface="ＭＳ Ｐゴシック" pitchFamily="34" charset="-128"/>
                        </a:rPr>
                        <a:t>What factors should the client consider when determining whether to lease or buy?</a:t>
                      </a: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3017244">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Guidance</a:t>
                      </a: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 typeface="+mj-lt" charset="0"/>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Guidance:</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Excellent answers will include a pro/con list similar to the one below</a:t>
                      </a: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Lease:</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Pros</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Low capital outlay up front</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Easy to exit if not profitable</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No need to create tower maintenance and operations expertise</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Cons</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Subject to rising prices</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Less control over service levels</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Ultimately less profitable</a:t>
                      </a:r>
                    </a:p>
                    <a:p>
                      <a:pPr marL="0" marR="0" lvl="0" indent="-171450" algn="l" defTabSz="457200" rtl="0" eaLnBrk="1" fontAlgn="base" latinLnBrk="0" hangingPunct="1">
                        <a:lnSpc>
                          <a:spcPct val="100000"/>
                        </a:lnSpc>
                        <a:spcBef>
                          <a:spcPct val="0"/>
                        </a:spcBef>
                        <a:spcAft>
                          <a:spcPct val="0"/>
                        </a:spcAft>
                        <a:buClrTx/>
                        <a:buSzTx/>
                        <a:buFontTx/>
                        <a:buNone/>
                        <a:tabLst/>
                      </a:pPr>
                      <a:endParaRPr kumimoji="0" lang="en-US" sz="1200" b="0" i="0" u="none" strike="noStrike" kern="1200" cap="none" normalizeH="0" baseline="0" dirty="0" smtClean="0">
                        <a:ln>
                          <a:noFill/>
                        </a:ln>
                        <a:solidFill>
                          <a:schemeClr val="tx1"/>
                        </a:solidFill>
                        <a:effectLst/>
                        <a:latin typeface="+mj-lt"/>
                        <a:ea typeface="ＭＳ Ｐゴシック" pitchFamily="34" charset="-128"/>
                        <a:cs typeface="+mn-cs"/>
                      </a:endParaRPr>
                    </a:p>
                    <a:p>
                      <a:pPr marL="0" marR="0" lvl="0" indent="-171450" algn="l" defTabSz="457200" rtl="0" eaLnBrk="1" fontAlgn="base" latinLnBrk="0" hangingPunct="1">
                        <a:lnSpc>
                          <a:spcPct val="100000"/>
                        </a:lnSpc>
                        <a:spcBef>
                          <a:spcPct val="0"/>
                        </a:spcBef>
                        <a:spcAft>
                          <a:spcPct val="0"/>
                        </a:spcAft>
                        <a:buClrTx/>
                        <a:buSzTx/>
                        <a:buFontTx/>
                        <a:buNone/>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Buy: Many of the reverse statements above will be applicable</a:t>
                      </a:r>
                    </a:p>
                    <a:p>
                      <a:pPr marL="285750" marR="0" lvl="1" indent="0" algn="l" defTabSz="457200" rtl="0" eaLnBrk="1" fontAlgn="base" latinLnBrk="0" hangingPunct="1">
                        <a:lnSpc>
                          <a:spcPct val="100000"/>
                        </a:lnSpc>
                        <a:spcBef>
                          <a:spcPct val="0"/>
                        </a:spcBef>
                        <a:spcAft>
                          <a:spcPct val="0"/>
                        </a:spcAft>
                        <a:buClrTx/>
                        <a:buSzTx/>
                        <a:buFontTx/>
                        <a:buNone/>
                        <a:tabLst/>
                      </a:pPr>
                      <a:endParaRPr kumimoji="0" lang="en-US" sz="1200" b="0" i="1" u="none" strike="noStrike" cap="none" normalizeH="0" baseline="0" dirty="0" smtClean="0">
                        <a:ln>
                          <a:noFill/>
                        </a:ln>
                        <a:solidFill>
                          <a:schemeClr val="tx1"/>
                        </a:solidFill>
                        <a:effectLst/>
                        <a:latin typeface="Calibri" pitchFamily="34" charset="0"/>
                        <a:ea typeface="ＭＳ Ｐゴシック"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sp>
        <p:nvSpPr>
          <p:cNvPr id="8" name="TextBox 8"/>
          <p:cNvSpPr txBox="1">
            <a:spLocks noChangeArrowheads="1"/>
          </p:cNvSpPr>
          <p:nvPr/>
        </p:nvSpPr>
        <p:spPr bwMode="auto">
          <a:xfrm>
            <a:off x="7467600" y="96289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115</a:t>
            </a:fld>
            <a:endParaRPr lang="en-US" dirty="0"/>
          </a:p>
        </p:txBody>
      </p:sp>
    </p:spTree>
    <p:extLst>
      <p:ext uri="{BB962C8B-B14F-4D97-AF65-F5344CB8AC3E}">
        <p14:creationId xmlns:p14="http://schemas.microsoft.com/office/powerpoint/2010/main" val="3432082341"/>
      </p:ext>
    </p:extLst>
  </p:cSld>
  <p:clrMapOvr>
    <a:masterClrMapping/>
  </p:clrMapOvr>
  <p:timing>
    <p:tnLst>
      <p:par>
        <p:cTn xmlns:p14="http://schemas.microsoft.com/office/powerpoint/2010/mai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14: </a:t>
            </a:r>
            <a:r>
              <a:rPr lang="en-US" b="1" dirty="0" err="1"/>
              <a:t>SatCo</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3978332286"/>
              </p:ext>
            </p:extLst>
          </p:nvPr>
        </p:nvGraphicFramePr>
        <p:xfrm>
          <a:off x="304800" y="1295399"/>
          <a:ext cx="8534400" cy="4274127"/>
        </p:xfrm>
        <a:graphic>
          <a:graphicData uri="http://schemas.openxmlformats.org/drawingml/2006/table">
            <a:tbl>
              <a:tblPr/>
              <a:tblGrid>
                <a:gridCol w="1600200"/>
                <a:gridCol w="6934200"/>
              </a:tblGrid>
              <a:tr h="732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#6</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itchFamily="34" charset="0"/>
                          <a:ea typeface="ＭＳ Ｐゴシック" pitchFamily="34" charset="-128"/>
                        </a:rPr>
                        <a:t>Determine the profitability of the two scenarios.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354181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ea typeface="ＭＳ Ｐゴシック" pitchFamily="34" charset="-128"/>
                        </a:rPr>
                        <a:t>Guidance</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 typeface="+mj-lt" charset="0"/>
                        <a:buNone/>
                        <a:tabLst/>
                      </a:pPr>
                      <a:r>
                        <a:rPr kumimoji="0" lang="en-US" sz="1200" b="1" i="0" u="sng" strike="noStrike" cap="none" normalizeH="0" baseline="0" dirty="0" smtClean="0">
                          <a:ln>
                            <a:noFill/>
                          </a:ln>
                          <a:solidFill>
                            <a:schemeClr val="tx1"/>
                          </a:solidFill>
                          <a:effectLst/>
                          <a:latin typeface="+mj-lt"/>
                          <a:ea typeface="ＭＳ Ｐゴシック" pitchFamily="34" charset="-128"/>
                        </a:rPr>
                        <a:t>Background information</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Client discount rate is 15%</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Growth rate is 5%</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CAPEX is equal to depreciation every year.  No new working capital is introduced</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Tax rate is 34%</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Depreciation is $20M annually into perpetuity</a:t>
                      </a:r>
                    </a:p>
                    <a:p>
                      <a:pPr marL="0" marR="0" lvl="0" indent="0" algn="l" defTabSz="457200" rtl="0" eaLnBrk="1" fontAlgn="base" latinLnBrk="0" hangingPunct="1">
                        <a:lnSpc>
                          <a:spcPct val="100000"/>
                        </a:lnSpc>
                        <a:spcBef>
                          <a:spcPct val="0"/>
                        </a:spcBef>
                        <a:spcAft>
                          <a:spcPct val="0"/>
                        </a:spcAft>
                        <a:buClrTx/>
                        <a:buSzTx/>
                        <a:buFontTx/>
                        <a:buChar char="-"/>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sng" strike="noStrike" cap="none" normalizeH="0" baseline="0" dirty="0" smtClean="0">
                          <a:ln>
                            <a:noFill/>
                          </a:ln>
                          <a:solidFill>
                            <a:schemeClr val="tx1"/>
                          </a:solidFill>
                          <a:effectLst/>
                          <a:latin typeface="+mj-lt"/>
                          <a:ea typeface="ＭＳ Ｐゴシック" pitchFamily="34" charset="-128"/>
                        </a:rPr>
                        <a:t>Calculations:</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Purchase towers</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Investment: $3,000 Tower Purchase + $500M Spectrum Purchase + $120M CPE = $3,620M</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Annual Free Cash Flows = ($1,440M  - $40M Maintenance Costs - $20M Depreciation) x 66% = $910M</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NPV = -$3,620M + $924M/(.15 - .05) = $5,488M</a:t>
                      </a:r>
                    </a:p>
                    <a:p>
                      <a:pPr marL="282575"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charset="0"/>
                          <a:cs typeface="ＭＳ Ｐゴシック" charset="0"/>
                        </a:rPr>
                        <a:t>Lease Towers</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Investment: $500M Spectrum Purchase + $120M CPE Purchase = $620M</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Annual Free Cash Flows = ($1,440- $440M) x 66% = $660M</a:t>
                      </a:r>
                    </a:p>
                    <a:p>
                      <a:pPr marL="45720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mj-lt"/>
                          <a:ea typeface="ＭＳ Ｐゴシック" pitchFamily="34" charset="-128"/>
                          <a:cs typeface="+mn-cs"/>
                        </a:rPr>
                        <a:t>NPV = -$620M + $660M/(.15 - .05) = $5,980M</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sp>
        <p:nvSpPr>
          <p:cNvPr id="8" name="TextBox 8"/>
          <p:cNvSpPr txBox="1">
            <a:spLocks noChangeArrowheads="1"/>
          </p:cNvSpPr>
          <p:nvPr/>
        </p:nvSpPr>
        <p:spPr bwMode="auto">
          <a:xfrm>
            <a:off x="7467600" y="96289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116</a:t>
            </a:fld>
            <a:endParaRPr lang="en-US" dirty="0"/>
          </a:p>
        </p:txBody>
      </p:sp>
    </p:spTree>
    <p:extLst>
      <p:ext uri="{BB962C8B-B14F-4D97-AF65-F5344CB8AC3E}">
        <p14:creationId xmlns:p14="http://schemas.microsoft.com/office/powerpoint/2010/main" val="1979722884"/>
      </p:ext>
    </p:extLst>
  </p:cSld>
  <p:clrMapOvr>
    <a:masterClrMapping/>
  </p:clrMapOvr>
  <p:timing>
    <p:tnLst>
      <p:par>
        <p:cTn xmlns:p14="http://schemas.microsoft.com/office/powerpoint/2010/mai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14: </a:t>
            </a:r>
            <a:r>
              <a:rPr lang="en-US" b="1" dirty="0" err="1"/>
              <a:t>SatCo</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3041918163"/>
              </p:ext>
            </p:extLst>
          </p:nvPr>
        </p:nvGraphicFramePr>
        <p:xfrm>
          <a:off x="304800" y="1295400"/>
          <a:ext cx="8534400" cy="4027516"/>
        </p:xfrm>
        <a:graphic>
          <a:graphicData uri="http://schemas.openxmlformats.org/drawingml/2006/table">
            <a:tbl>
              <a:tblPr/>
              <a:tblGrid>
                <a:gridCol w="1600200"/>
                <a:gridCol w="6934200"/>
              </a:tblGrid>
              <a:tr h="644236">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itchFamily="34" charset="0"/>
                          <a:ea typeface="ＭＳ Ｐゴシック" pitchFamily="34" charset="-128"/>
                        </a:rPr>
                        <a:t>The COO has just stepped into the room and will be briefing the CEO on the decision in 15 minutes. What is your recommendation?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15875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Performance Evaluation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 typeface="+mj-lt" charset="0"/>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Expected</a:t>
                      </a:r>
                      <a:r>
                        <a:rPr kumimoji="0" lang="en-US" sz="1200" b="0" i="0" u="none" strike="noStrike" cap="none" normalizeH="0" baseline="0" dirty="0" smtClean="0">
                          <a:ln>
                            <a:noFill/>
                          </a:ln>
                          <a:solidFill>
                            <a:schemeClr val="tx1"/>
                          </a:solidFill>
                          <a:effectLst/>
                          <a:latin typeface="+mj-lt"/>
                          <a:ea typeface="ＭＳ Ｐゴシック" pitchFamily="34" charset="-128"/>
                        </a:rPr>
                        <a: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Concise recommendation with supporting information</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Performs calculations with little help</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Builds MECE profitability framework</a:t>
                      </a:r>
                    </a:p>
                    <a:p>
                      <a:pPr marL="0" marR="0" lvl="0" indent="0" algn="l" defTabSz="457200" rtl="0" eaLnBrk="1" fontAlgn="base" latinLnBrk="0" hangingPunct="1">
                        <a:lnSpc>
                          <a:spcPct val="100000"/>
                        </a:lnSpc>
                        <a:spcBef>
                          <a:spcPct val="0"/>
                        </a:spcBef>
                        <a:spcAft>
                          <a:spcPct val="0"/>
                        </a:spcAft>
                        <a:buClrTx/>
                        <a:buSzTx/>
                        <a:buFontTx/>
                        <a:buChar char="-"/>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Good</a:t>
                      </a:r>
                      <a:r>
                        <a:rPr kumimoji="0" lang="en-US" sz="1200" b="0" i="0" u="none" strike="noStrike" cap="none" normalizeH="0" baseline="0" dirty="0" smtClean="0">
                          <a:ln>
                            <a:noFill/>
                          </a:ln>
                          <a:solidFill>
                            <a:schemeClr val="tx1"/>
                          </a:solidFill>
                          <a:effectLst/>
                          <a:latin typeface="+mj-lt"/>
                          <a:ea typeface="ＭＳ Ｐゴシック" pitchFamily="34" charset="-128"/>
                        </a:rPr>
                        <a: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Mentions of the tradeoffs between leasing and buying</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Performs calculations with no help</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Needs little prompting to go to the next section</a:t>
                      </a:r>
                    </a:p>
                    <a:p>
                      <a:pPr marL="0" marR="0" lvl="0" indent="0" algn="l" defTabSz="457200" rtl="0" eaLnBrk="1" fontAlgn="base" latinLnBrk="0" hangingPunct="1">
                        <a:lnSpc>
                          <a:spcPct val="100000"/>
                        </a:lnSpc>
                        <a:spcBef>
                          <a:spcPct val="0"/>
                        </a:spcBef>
                        <a:spcAft>
                          <a:spcPct val="0"/>
                        </a:spcAft>
                        <a:buClrTx/>
                        <a:buSzTx/>
                        <a:buFontTx/>
                        <a:buChar char="-"/>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Excellent</a:t>
                      </a:r>
                      <a:r>
                        <a:rPr kumimoji="0" lang="en-US" sz="1200" b="0" i="0" u="none" strike="noStrike" cap="none" normalizeH="0" baseline="0" dirty="0" smtClean="0">
                          <a:ln>
                            <a:noFill/>
                          </a:ln>
                          <a:solidFill>
                            <a:schemeClr val="tx1"/>
                          </a:solidFill>
                          <a:effectLst/>
                          <a:latin typeface="+mj-lt"/>
                          <a:ea typeface="ＭＳ Ｐゴシック" pitchFamily="34" charset="-128"/>
                        </a:rPr>
                        <a: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Discusses pricing sensitivity</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Performs calculations quickly with no help</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Recommends that client buy towers</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If candidate recommends leasing the towers, the discuss ways to mitigate risks</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Clear points for not entering the market if recommending no-go</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34" charset="-128"/>
                        </a:rPr>
                        <a:t>Drives case, and looks for the “so what” of each section</a:t>
                      </a:r>
                    </a:p>
                    <a:p>
                      <a:pPr marL="285750" marR="0" lvl="1"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TextBox 8"/>
          <p:cNvSpPr txBox="1">
            <a:spLocks noChangeArrowheads="1"/>
          </p:cNvSpPr>
          <p:nvPr/>
        </p:nvSpPr>
        <p:spPr bwMode="auto">
          <a:xfrm>
            <a:off x="7467600" y="96289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First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117</a:t>
            </a:fld>
            <a:endParaRPr lang="en-US" dirty="0"/>
          </a:p>
        </p:txBody>
      </p:sp>
    </p:spTree>
    <p:extLst>
      <p:ext uri="{BB962C8B-B14F-4D97-AF65-F5344CB8AC3E}">
        <p14:creationId xmlns:p14="http://schemas.microsoft.com/office/powerpoint/2010/main" val="2458995601"/>
      </p:ext>
    </p:extLst>
  </p:cSld>
  <p:clrMapOvr>
    <a:masterClrMapping/>
  </p:clrMapOvr>
  <p:timing>
    <p:tnLst>
      <p:par>
        <p:cTn xmlns:p14="http://schemas.microsoft.com/office/powerpoint/2010/mai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118</a:t>
            </a:fld>
            <a:endParaRPr lang="en-US" dirty="0"/>
          </a:p>
        </p:txBody>
      </p:sp>
    </p:spTree>
    <p:extLst>
      <p:ext uri="{BB962C8B-B14F-4D97-AF65-F5344CB8AC3E}">
        <p14:creationId xmlns:p14="http://schemas.microsoft.com/office/powerpoint/2010/main" val="3607765539"/>
      </p:ext>
    </p:extLst>
  </p:cSld>
  <p:clrMapOvr>
    <a:masterClrMapping/>
  </p:clrMapOvr>
  <p:timing>
    <p:tnLst>
      <p:par>
        <p:cTn xmlns:p14="http://schemas.microsoft.com/office/powerpoint/2010/mai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15: Alpha Software, Inc. </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533429772"/>
              </p:ext>
            </p:extLst>
          </p:nvPr>
        </p:nvGraphicFramePr>
        <p:xfrm>
          <a:off x="304800" y="1381125"/>
          <a:ext cx="8534400" cy="3800475"/>
        </p:xfrm>
        <a:graphic>
          <a:graphicData uri="http://schemas.openxmlformats.org/drawingml/2006/table">
            <a:tbl>
              <a:tblPr firstRow="1" bandRow="1">
                <a:tableStyleId>{616DA210-FB5B-4158-B5E0-FEB733F419BA}</a:tableStyleId>
              </a:tblPr>
              <a:tblGrid>
                <a:gridCol w="1600200"/>
                <a:gridCol w="6934200"/>
              </a:tblGrid>
              <a:tr h="1500620">
                <a:tc>
                  <a:txBody>
                    <a:bodyPr/>
                    <a:lstStyle/>
                    <a:p>
                      <a:pPr algn="ctr"/>
                      <a:r>
                        <a:rPr lang="en-US" dirty="0" smtClean="0"/>
                        <a:t>Prompt #1</a:t>
                      </a:r>
                      <a:endParaRPr lang="en-US" dirty="0"/>
                    </a:p>
                  </a:txBody>
                  <a:tcPr anchor="ctr"/>
                </a:tc>
                <a:tc>
                  <a:txBody>
                    <a:bodyPr/>
                    <a:lstStyle/>
                    <a:p>
                      <a:r>
                        <a:rPr lang="en-US" sz="1200" b="0" i="0" kern="1200" dirty="0" smtClean="0">
                          <a:solidFill>
                            <a:schemeClr val="tx1"/>
                          </a:solidFill>
                          <a:latin typeface="+mj-lt"/>
                          <a:ea typeface="+mn-ea"/>
                          <a:cs typeface="+mn-cs"/>
                        </a:rPr>
                        <a:t>Our client,</a:t>
                      </a:r>
                      <a:r>
                        <a:rPr lang="en-US" sz="1200" b="0" i="0" kern="1200" baseline="0" dirty="0" smtClean="0">
                          <a:solidFill>
                            <a:schemeClr val="tx1"/>
                          </a:solidFill>
                          <a:latin typeface="+mj-lt"/>
                          <a:ea typeface="+mn-ea"/>
                          <a:cs typeface="+mn-cs"/>
                        </a:rPr>
                        <a:t> Alpha Software, provides technology software to pharmacies. Alpha product is a highly customizable inventory tracking system. Because of the necessary customization, the time from sale to delivery is on average 12 months. </a:t>
                      </a:r>
                      <a:r>
                        <a:rPr lang="en-US" sz="1200" b="0" i="0" kern="1200" baseline="0" dirty="0" smtClean="0">
                          <a:solidFill>
                            <a:schemeClr val="tx1"/>
                          </a:solidFill>
                          <a:latin typeface="+mn-lt"/>
                          <a:ea typeface="+mn-ea"/>
                          <a:cs typeface="+mn-cs"/>
                        </a:rPr>
                        <a:t>Alpha is considering buying a competitor, Bravo Software. Bravo also sells an inventory tracking products to pharmacies, however its product is less customizable. The average time from sale to delivery is 3 months. </a:t>
                      </a:r>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Should Alpha buy Bravo?</a:t>
                      </a:r>
                    </a:p>
                  </a:txBody>
                  <a:tcPr anchor="ctr"/>
                </a:tc>
              </a:tr>
              <a:tr h="2299855">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i="0" u="sng" kern="1200" baseline="0" dirty="0" smtClean="0">
                          <a:solidFill>
                            <a:schemeClr val="tx1"/>
                          </a:solidFill>
                          <a:latin typeface="+mj-lt"/>
                          <a:ea typeface="+mn-ea"/>
                          <a:cs typeface="+mn-cs"/>
                        </a:rPr>
                        <a:t>Provide the following information on request: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The client’s business process is as follows: </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u="none" kern="1200" baseline="0" dirty="0" smtClean="0">
                          <a:solidFill>
                            <a:schemeClr val="tx1"/>
                          </a:solidFill>
                          <a:latin typeface="+mj-lt"/>
                          <a:ea typeface="+mn-ea"/>
                          <a:cs typeface="+mn-cs"/>
                        </a:rPr>
                        <a:t>      1. A sales person sells the software to a pharmacy. </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u="none" kern="1200" baseline="0" dirty="0" smtClean="0">
                          <a:solidFill>
                            <a:schemeClr val="tx1"/>
                          </a:solidFill>
                          <a:latin typeface="+mj-lt"/>
                          <a:ea typeface="+mn-ea"/>
                          <a:cs typeface="+mn-cs"/>
                        </a:rPr>
                        <a:t>      2. The customization team customizes the product and delivers it to the client. </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u="none" kern="1200" baseline="0" dirty="0" smtClean="0">
                          <a:solidFill>
                            <a:schemeClr val="tx1"/>
                          </a:solidFill>
                          <a:latin typeface="+mj-lt"/>
                          <a:ea typeface="+mn-ea"/>
                          <a:cs typeface="+mn-cs"/>
                        </a:rPr>
                        <a:t>      3. The service team handles customer service requests and coordinates maintenance.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The candidate should use an</a:t>
                      </a:r>
                      <a:r>
                        <a:rPr lang="en-US" sz="1200" b="0" i="0" kern="1200" baseline="0" dirty="0" smtClean="0">
                          <a:solidFill>
                            <a:schemeClr val="tx1"/>
                          </a:solidFill>
                          <a:latin typeface="+mn-lt"/>
                          <a:ea typeface="+mn-ea"/>
                          <a:cs typeface="+mn-cs"/>
                        </a:rPr>
                        <a:t> M&amp;A framework, walking through the potential pros/cons of the acquisition. Guide the candidate to hypothesize that Alpha can increase their revenue and reduce costs through consolidating the duplicative cost centers of the merged company.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txBody>
                  <a:tcPr anchor="ctr"/>
                </a:tc>
              </a:tr>
            </a:tbl>
          </a:graphicData>
        </a:graphic>
      </p:graphicFrame>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119</a:t>
            </a:fld>
            <a:endParaRPr lang="en-US" dirty="0"/>
          </a:p>
        </p:txBody>
      </p:sp>
    </p:spTree>
    <p:extLst>
      <p:ext uri="{BB962C8B-B14F-4D97-AF65-F5344CB8AC3E}">
        <p14:creationId xmlns:p14="http://schemas.microsoft.com/office/powerpoint/2010/main" val="313919982"/>
      </p:ext>
    </p:extLst>
  </p:cSld>
  <p:clrMapOvr>
    <a:masterClrMapping/>
  </p:clrMapOvr>
  <p:timing>
    <p:tnLst>
      <p:par>
        <p:cTn xmlns:p14="http://schemas.microsoft.com/office/powerpoint/2010/mai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15: Alpha Software, Inc. </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284983955"/>
              </p:ext>
            </p:extLst>
          </p:nvPr>
        </p:nvGraphicFramePr>
        <p:xfrm>
          <a:off x="304800" y="1381125"/>
          <a:ext cx="8534400" cy="4485047"/>
        </p:xfrm>
        <a:graphic>
          <a:graphicData uri="http://schemas.openxmlformats.org/drawingml/2006/table">
            <a:tbl>
              <a:tblPr firstRow="1" bandRow="1">
                <a:tableStyleId>{616DA210-FB5B-4158-B5E0-FEB733F419BA}</a:tableStyleId>
              </a:tblPr>
              <a:tblGrid>
                <a:gridCol w="1600200"/>
                <a:gridCol w="6934200"/>
              </a:tblGrid>
              <a:tr h="1159926">
                <a:tc>
                  <a:txBody>
                    <a:bodyPr/>
                    <a:lstStyle/>
                    <a:p>
                      <a:pPr algn="ctr"/>
                      <a:r>
                        <a:rPr lang="en-US" dirty="0" smtClean="0"/>
                        <a:t>Prompt #2</a:t>
                      </a:r>
                      <a:endParaRPr lang="en-US" dirty="0"/>
                    </a:p>
                  </a:txBody>
                  <a:tcPr anchor="ctr"/>
                </a:tc>
                <a:tc>
                  <a:txBody>
                    <a:bodyPr/>
                    <a:lstStyle/>
                    <a:p>
                      <a:r>
                        <a:rPr lang="en-US" sz="1200" b="0" i="0" kern="1200" dirty="0" smtClean="0">
                          <a:solidFill>
                            <a:schemeClr val="tx1"/>
                          </a:solidFill>
                          <a:latin typeface="+mj-lt"/>
                          <a:ea typeface="+mn-ea"/>
                          <a:cs typeface="+mn-cs"/>
                        </a:rPr>
                        <a:t>What are some costs centers for the two companies?</a:t>
                      </a:r>
                      <a:endParaRPr lang="en-US" sz="1200" b="1" i="0" kern="1200" baseline="0" dirty="0" smtClean="0">
                        <a:solidFill>
                          <a:schemeClr val="tx1"/>
                        </a:solidFill>
                        <a:latin typeface="+mj-lt"/>
                        <a:ea typeface="+mn-ea"/>
                        <a:cs typeface="+mn-cs"/>
                      </a:endParaRPr>
                    </a:p>
                  </a:txBody>
                  <a:tcPr anchor="ctr"/>
                </a:tc>
              </a:tr>
              <a:tr h="3325121">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i="0" u="sng" kern="1200" baseline="0" dirty="0" smtClean="0">
                          <a:solidFill>
                            <a:schemeClr val="tx1"/>
                          </a:solidFill>
                          <a:latin typeface="+mn-lt"/>
                          <a:ea typeface="+mn-ea"/>
                          <a:cs typeface="+mn-cs"/>
                        </a:rPr>
                        <a:t>Cost Centers for Businesses (a strong candidate should included in their framework)</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Executive salaries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Legal, HR, support function staff</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Advertising and Marketing</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Sales team</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Technology customization team</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Customer service &amp; maintenance support team</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Overhead (office space, insurance, etc.)</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It is appropriate</a:t>
                      </a:r>
                      <a:r>
                        <a:rPr lang="en-US" sz="1200" b="0" i="0" kern="1200" baseline="0" dirty="0" smtClean="0">
                          <a:solidFill>
                            <a:schemeClr val="tx1"/>
                          </a:solidFill>
                          <a:latin typeface="+mn-lt"/>
                          <a:ea typeface="+mn-ea"/>
                          <a:cs typeface="+mn-cs"/>
                        </a:rPr>
                        <a:t> to break out the labor by function because consolidation will impact each of these cost centers differently.  The candidate may also identify production and distribution of the software as cost.  This cost is minimal in the case of Alpha and can be disregarded.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txBody>
                  <a:tcPr anchor="ctr"/>
                </a:tc>
              </a:tr>
            </a:tbl>
          </a:graphicData>
        </a:graphic>
      </p:graphicFrame>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120</a:t>
            </a:fld>
            <a:endParaRPr lang="en-US" dirty="0"/>
          </a:p>
        </p:txBody>
      </p:sp>
    </p:spTree>
    <p:extLst>
      <p:ext uri="{BB962C8B-B14F-4D97-AF65-F5344CB8AC3E}">
        <p14:creationId xmlns:p14="http://schemas.microsoft.com/office/powerpoint/2010/main" val="3073218724"/>
      </p:ext>
    </p:extLst>
  </p:cSld>
  <p:clrMapOvr>
    <a:masterClrMapping/>
  </p:clrMapOvr>
  <p:timing>
    <p:tnLst>
      <p:par>
        <p:cTn xmlns:p14="http://schemas.microsoft.com/office/powerpoint/2010/mai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924949087"/>
              </p:ext>
            </p:extLst>
          </p:nvPr>
        </p:nvGraphicFramePr>
        <p:xfrm>
          <a:off x="304800" y="1295400"/>
          <a:ext cx="8686800" cy="265176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Once</a:t>
                      </a:r>
                      <a:r>
                        <a:rPr lang="en-US" sz="1200" b="0" i="0" kern="1200" baseline="0" dirty="0" smtClean="0">
                          <a:solidFill>
                            <a:schemeClr val="tx1"/>
                          </a:solidFill>
                          <a:latin typeface="+mj-lt"/>
                          <a:ea typeface="+mn-ea"/>
                          <a:cs typeface="+mn-cs"/>
                        </a:rPr>
                        <a:t> the candidate has brainstormed potential costs, provide Exhibit 1.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i="0" u="sng" kern="1200" baseline="0" dirty="0" smtClean="0">
                          <a:solidFill>
                            <a:schemeClr val="tx1"/>
                          </a:solidFill>
                          <a:latin typeface="+mj-lt"/>
                          <a:ea typeface="+mn-ea"/>
                          <a:cs typeface="+mn-cs"/>
                        </a:rPr>
                        <a:t>Provide them with the following info upon request:</a:t>
                      </a: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Revenue:</a:t>
                      </a:r>
                      <a:r>
                        <a:rPr lang="en-US" sz="1200" b="0" kern="1200" baseline="0" dirty="0" smtClean="0">
                          <a:solidFill>
                            <a:schemeClr val="tx1"/>
                          </a:solidFill>
                          <a:latin typeface="+mn-lt"/>
                          <a:ea typeface="+mn-ea"/>
                          <a:cs typeface="+mn-cs"/>
                        </a:rPr>
                        <a:t> Alpha- 450M. Bravo- 350M. </a:t>
                      </a: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The candidate should calculate </a:t>
                      </a:r>
                      <a:r>
                        <a:rPr lang="en-US" sz="1200" b="1" kern="1200" dirty="0" smtClean="0">
                          <a:solidFill>
                            <a:schemeClr val="tx1"/>
                          </a:solidFill>
                          <a:latin typeface="+mn-lt"/>
                          <a:ea typeface="+mn-ea"/>
                          <a:cs typeface="+mn-cs"/>
                        </a:rPr>
                        <a:t>profit margin</a:t>
                      </a:r>
                      <a:r>
                        <a:rPr lang="en-US" sz="1200" b="0" kern="1200" dirty="0" smtClean="0">
                          <a:solidFill>
                            <a:schemeClr val="tx1"/>
                          </a:solidFill>
                          <a:latin typeface="+mn-lt"/>
                          <a:ea typeface="+mn-ea"/>
                          <a:cs typeface="+mn-cs"/>
                        </a:rPr>
                        <a:t> for both Alpha and Bravo</a:t>
                      </a:r>
                      <a:r>
                        <a:rPr lang="en-US" sz="1200" b="0" kern="1200" baseline="0" dirty="0" smtClean="0">
                          <a:solidFill>
                            <a:schemeClr val="tx1"/>
                          </a:solidFill>
                          <a:latin typeface="+mn-lt"/>
                          <a:ea typeface="+mn-ea"/>
                          <a:cs typeface="+mn-cs"/>
                        </a:rPr>
                        <a:t>.  If they don’t prompt them:</a:t>
                      </a:r>
                      <a:endParaRPr lang="en-US" sz="1200" b="0" kern="1200" dirty="0" smtClean="0">
                        <a:solidFill>
                          <a:schemeClr val="tx1"/>
                        </a:solidFill>
                        <a:latin typeface="+mn-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sym typeface="Wingdings"/>
                        </a:rPr>
                        <a:t>Alpha</a:t>
                      </a:r>
                      <a:r>
                        <a:rPr lang="en-US" sz="1200" b="0" kern="1200" baseline="0" dirty="0" smtClean="0">
                          <a:solidFill>
                            <a:schemeClr val="tx1"/>
                          </a:solidFill>
                          <a:latin typeface="+mn-lt"/>
                          <a:ea typeface="+mn-ea"/>
                          <a:cs typeface="+mn-cs"/>
                          <a:sym typeface="Wingdings"/>
                        </a:rPr>
                        <a:t> Profit Margin= (Revenue-Costs)/Revenue= (450-300)/450= 33%</a:t>
                      </a:r>
                      <a:endParaRPr lang="en-US" sz="1200" b="0" kern="1200" dirty="0" smtClean="0">
                        <a:solidFill>
                          <a:schemeClr val="tx1"/>
                        </a:solidFill>
                        <a:latin typeface="+mn-lt"/>
                        <a:ea typeface="+mn-ea"/>
                        <a:cs typeface="+mn-cs"/>
                        <a:sym typeface="Wingdings"/>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sym typeface="Wingdings"/>
                        </a:rPr>
                        <a:t>Bravo</a:t>
                      </a:r>
                      <a:r>
                        <a:rPr lang="en-US" sz="1200" b="0" kern="1200" baseline="0" dirty="0" smtClean="0">
                          <a:solidFill>
                            <a:schemeClr val="tx1"/>
                          </a:solidFill>
                          <a:latin typeface="+mn-lt"/>
                          <a:ea typeface="+mn-ea"/>
                          <a:cs typeface="+mn-cs"/>
                          <a:sym typeface="Wingdings"/>
                        </a:rPr>
                        <a:t> Profit Margin= (Revenue-Costs)/Revenue= (350-210)/350= 40%</a:t>
                      </a:r>
                      <a:endParaRPr lang="en-US" sz="1200" b="0" kern="1200" dirty="0" smtClean="0">
                        <a:solidFill>
                          <a:schemeClr val="tx1"/>
                        </a:solidFill>
                        <a:latin typeface="+mn-lt"/>
                        <a:ea typeface="+mn-ea"/>
                        <a:cs typeface="+mn-cs"/>
                        <a:sym typeface="Wingding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The candidate should note Bravo’s higher profit margin. This indicates Bravo has better control of its costs than Alpha. This suggests Bravo could be a good buy for Alpha.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Guide the candidate</a:t>
                      </a:r>
                      <a:r>
                        <a:rPr lang="en-US" sz="1200" b="0" kern="1200" baseline="0" dirty="0" smtClean="0">
                          <a:solidFill>
                            <a:schemeClr val="tx1"/>
                          </a:solidFill>
                          <a:latin typeface="+mn-lt"/>
                          <a:ea typeface="+mn-ea"/>
                          <a:cs typeface="+mn-cs"/>
                        </a:rPr>
                        <a:t> to calculating the profit margin for the merged company.  A strong candidate should not need this prompting</a:t>
                      </a: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15: </a:t>
            </a:r>
            <a:r>
              <a:rPr lang="en-US" sz="2400" b="1" dirty="0"/>
              <a:t>Alpha Software, Inc. </a:t>
            </a:r>
          </a:p>
        </p:txBody>
      </p:sp>
      <p:sp>
        <p:nvSpPr>
          <p:cNvPr id="8" name="TextBox 7"/>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121</a:t>
            </a:fld>
            <a:endParaRPr lang="en-US" dirty="0"/>
          </a:p>
        </p:txBody>
      </p:sp>
    </p:spTree>
    <p:extLst>
      <p:ext uri="{BB962C8B-B14F-4D97-AF65-F5344CB8AC3E}">
        <p14:creationId xmlns:p14="http://schemas.microsoft.com/office/powerpoint/2010/main" val="158344439"/>
      </p:ext>
    </p:extLst>
  </p:cSld>
  <p:clrMapOvr>
    <a:masterClrMapping/>
  </p:clrMapOvr>
  <p:timing>
    <p:tnLst>
      <p:par>
        <p:cTn xmlns:p14="http://schemas.microsoft.com/office/powerpoint/2010/mai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15: </a:t>
            </a:r>
            <a:r>
              <a:rPr lang="en-US" sz="2400" b="1" dirty="0"/>
              <a:t>Alpha Software, Inc. </a:t>
            </a:r>
          </a:p>
        </p:txBody>
      </p:sp>
      <p:graphicFrame>
        <p:nvGraphicFramePr>
          <p:cNvPr id="9" name="Table 8"/>
          <p:cNvGraphicFramePr>
            <a:graphicFrameLocks noGrp="1"/>
          </p:cNvGraphicFramePr>
          <p:nvPr>
            <p:extLst>
              <p:ext uri="{D42A27DB-BD31-4B8C-83A1-F6EECF244321}">
                <p14:modId xmlns:p14="http://schemas.microsoft.com/office/powerpoint/2010/main" val="3114709243"/>
              </p:ext>
            </p:extLst>
          </p:nvPr>
        </p:nvGraphicFramePr>
        <p:xfrm>
          <a:off x="1260765" y="2036128"/>
          <a:ext cx="6719445" cy="3865916"/>
        </p:xfrm>
        <a:graphic>
          <a:graphicData uri="http://schemas.openxmlformats.org/drawingml/2006/table">
            <a:tbl>
              <a:tblPr firstRow="1" bandRow="1">
                <a:tableStyleId>{5C22544A-7EE6-4342-B048-85BDC9FD1C3A}</a:tableStyleId>
              </a:tblPr>
              <a:tblGrid>
                <a:gridCol w="2239815"/>
                <a:gridCol w="2239815"/>
                <a:gridCol w="2239815"/>
              </a:tblGrid>
              <a:tr h="504250">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Alpha (millions)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Bravo (millions)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0425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Executive/Legal/HR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100</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76</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4041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Advertising &amp; Marketing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27</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16</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0425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Sales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56</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34</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0425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Customization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49</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22</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04250">
                <a:tc>
                  <a:txBody>
                    <a:bodyPr/>
                    <a:lstStyle/>
                    <a:p>
                      <a:r>
                        <a:rPr lang="en-US" sz="1600" dirty="0" smtClean="0"/>
                        <a:t>Customer Service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48</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33</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04250">
                <a:tc>
                  <a:txBody>
                    <a:bodyPr/>
                    <a:lstStyle/>
                    <a:p>
                      <a:r>
                        <a:rPr lang="en-US" sz="1600" dirty="0" smtClean="0"/>
                        <a:t>Overhead</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20</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29</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TextBox 10"/>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12" name="TextBox 16"/>
          <p:cNvSpPr txBox="1">
            <a:spLocks noChangeArrowheads="1"/>
          </p:cNvSpPr>
          <p:nvPr/>
        </p:nvSpPr>
        <p:spPr bwMode="auto">
          <a:xfrm>
            <a:off x="1653859" y="1399599"/>
            <a:ext cx="58293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a:t>
            </a:r>
            <a:r>
              <a:rPr lang="en-US" sz="1800" b="1" dirty="0" smtClean="0"/>
              <a:t>1: Cost Comparisons for Alpha and Bravo</a:t>
            </a:r>
            <a:endParaRPr lang="en-US" sz="1800"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122</a:t>
            </a:fld>
            <a:endParaRPr lang="en-US" dirty="0"/>
          </a:p>
        </p:txBody>
      </p:sp>
    </p:spTree>
    <p:extLst>
      <p:ext uri="{BB962C8B-B14F-4D97-AF65-F5344CB8AC3E}">
        <p14:creationId xmlns:p14="http://schemas.microsoft.com/office/powerpoint/2010/main" val="2354434613"/>
      </p:ext>
    </p:extLst>
  </p:cSld>
  <p:clrMapOvr>
    <a:masterClrMapping/>
  </p:clrMapOvr>
  <p:timing>
    <p:tnLst>
      <p:par>
        <p:cTn xmlns:p14="http://schemas.microsoft.com/office/powerpoint/2010/mai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222810818"/>
              </p:ext>
            </p:extLst>
          </p:nvPr>
        </p:nvGraphicFramePr>
        <p:xfrm>
          <a:off x="304800" y="1295400"/>
          <a:ext cx="8686800" cy="544068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Prompt #3</a:t>
                      </a:r>
                    </a:p>
                  </a:txBody>
                  <a:tcPr anchor="c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After reviewing the cost centers, what amount of savings can the merged Alpha and Bravo company expect for each cost center?  Justify your answer with reasoning.</a:t>
                      </a:r>
                    </a:p>
                  </a:txBody>
                  <a:tcPr>
                    <a:noFill/>
                  </a:tcPr>
                </a:tc>
              </a:tr>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There is no correct numerical answer; look for the candidate’s logical thinking.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Once the candidate has answered provide Exhibit #2 and have them calculate the overall savings. </a:t>
                      </a:r>
                      <a:r>
                        <a:rPr lang="en-US" sz="1200" b="1" u="sng" kern="1200" baseline="0" dirty="0" smtClean="0">
                          <a:solidFill>
                            <a:schemeClr val="tx1"/>
                          </a:solidFill>
                          <a:latin typeface="+mn-lt"/>
                          <a:ea typeface="+mn-ea"/>
                          <a:cs typeface="+mn-cs"/>
                        </a:rPr>
                        <a:t>NOTE: There are two version of Exhibit #2.  One that requires calculating the cost per cost center.  USE THIS FOR STRONG CANDIDATES, OR ONES THAT NEED WORK ON QUANT.</a:t>
                      </a:r>
                      <a:endParaRPr lang="en-US" sz="1200" b="1" i="0" u="sng"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600" b="1" i="0" u="sng"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Candidate should calculate the costs for the merged company (unless using easier</a:t>
                      </a:r>
                      <a:r>
                        <a:rPr lang="en-US" sz="1200" b="0" kern="1200" baseline="0" dirty="0" smtClean="0">
                          <a:solidFill>
                            <a:schemeClr val="tx1"/>
                          </a:solidFill>
                          <a:latin typeface="+mn-lt"/>
                          <a:ea typeface="+mn-ea"/>
                          <a:cs typeface="+mn-cs"/>
                        </a:rPr>
                        <a:t> Exhibit 2)</a:t>
                      </a:r>
                      <a:r>
                        <a:rPr lang="en-US" sz="1200" b="0" kern="1200" dirty="0" smtClean="0">
                          <a:solidFill>
                            <a:schemeClr val="tx1"/>
                          </a:solidFill>
                          <a:latin typeface="+mn-lt"/>
                          <a:ea typeface="+mn-ea"/>
                          <a:cs typeface="+mn-cs"/>
                        </a:rPr>
                        <a:t>, then</a:t>
                      </a:r>
                      <a:r>
                        <a:rPr lang="en-US" sz="1200" b="0" kern="1200" baseline="0" dirty="0" smtClean="0">
                          <a:solidFill>
                            <a:schemeClr val="tx1"/>
                          </a:solidFill>
                          <a:latin typeface="+mn-lt"/>
                          <a:ea typeface="+mn-ea"/>
                          <a:cs typeface="+mn-cs"/>
                        </a:rPr>
                        <a:t> the profit margin. Candidate can assume that revenues from the merged company would be equal to the combined revenues from individual companies. </a:t>
                      </a:r>
                      <a:r>
                        <a:rPr lang="en-US" sz="1200" b="1" u="sng" kern="1200" baseline="0" dirty="0" smtClean="0">
                          <a:solidFill>
                            <a:schemeClr val="tx1"/>
                          </a:solidFill>
                          <a:latin typeface="+mn-lt"/>
                          <a:ea typeface="+mn-ea"/>
                          <a:cs typeface="+mn-cs"/>
                        </a:rPr>
                        <a:t>If they don’t do this automatically, prompt them..</a:t>
                      </a: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u="sng" kern="1200" dirty="0" smtClean="0">
                          <a:solidFill>
                            <a:schemeClr val="tx1"/>
                          </a:solidFill>
                          <a:latin typeface="+mn-lt"/>
                          <a:ea typeface="+mn-ea"/>
                          <a:cs typeface="+mn-cs"/>
                          <a:sym typeface="Wingdings"/>
                        </a:rPr>
                        <a:t>Alpha 2.0</a:t>
                      </a:r>
                      <a:r>
                        <a:rPr lang="en-US" sz="1200" b="1" u="sng" kern="1200" baseline="0" dirty="0" smtClean="0">
                          <a:solidFill>
                            <a:schemeClr val="tx1"/>
                          </a:solidFill>
                          <a:latin typeface="+mn-lt"/>
                          <a:ea typeface="+mn-ea"/>
                          <a:cs typeface="+mn-cs"/>
                          <a:sym typeface="Wingdings"/>
                        </a:rPr>
                        <a:t> Profit Margin</a:t>
                      </a:r>
                      <a:r>
                        <a:rPr lang="en-US" sz="1200" b="1" u="none" kern="1200" baseline="0" dirty="0" smtClean="0">
                          <a:solidFill>
                            <a:schemeClr val="tx1"/>
                          </a:solidFill>
                          <a:latin typeface="+mn-lt"/>
                          <a:ea typeface="+mn-ea"/>
                          <a:cs typeface="+mn-cs"/>
                          <a:sym typeface="Wingdings"/>
                        </a:rPr>
                        <a:t> </a:t>
                      </a:r>
                      <a:r>
                        <a:rPr lang="en-US" sz="1200" b="0" kern="1200" baseline="0" dirty="0" smtClean="0">
                          <a:solidFill>
                            <a:schemeClr val="tx1"/>
                          </a:solidFill>
                          <a:latin typeface="+mn-lt"/>
                          <a:ea typeface="+mn-ea"/>
                          <a:cs typeface="+mn-cs"/>
                          <a:sym typeface="Wingdings"/>
                        </a:rPr>
                        <a:t>= (Revenue-Costs)/Revenue ~ ($800-$350)/$800 ~ 55%</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The candidate should note Alpha 2.0’s higher profit margin. The candidate should come to the conclusion that based upon a comparison of profit margins, Alpha should buy Bravo, assuming the price is right. </a:t>
                      </a: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15: </a:t>
            </a:r>
            <a:r>
              <a:rPr lang="en-US" sz="2400" b="1" dirty="0"/>
              <a:t>Alpha Software, Inc. </a:t>
            </a:r>
          </a:p>
        </p:txBody>
      </p:sp>
      <p:graphicFrame>
        <p:nvGraphicFramePr>
          <p:cNvPr id="10" name="Table 9"/>
          <p:cNvGraphicFramePr>
            <a:graphicFrameLocks noGrp="1"/>
          </p:cNvGraphicFramePr>
          <p:nvPr>
            <p:extLst>
              <p:ext uri="{D42A27DB-BD31-4B8C-83A1-F6EECF244321}">
                <p14:modId xmlns:p14="http://schemas.microsoft.com/office/powerpoint/2010/main" val="2039839269"/>
              </p:ext>
            </p:extLst>
          </p:nvPr>
        </p:nvGraphicFramePr>
        <p:xfrm>
          <a:off x="1898069" y="2775117"/>
          <a:ext cx="6996549" cy="2286000"/>
        </p:xfrm>
        <a:graphic>
          <a:graphicData uri="http://schemas.openxmlformats.org/drawingml/2006/table">
            <a:tbl>
              <a:tblPr firstRow="1" bandRow="1">
                <a:tableStyleId>{5C22544A-7EE6-4342-B048-85BDC9FD1C3A}</a:tableStyleId>
              </a:tblPr>
              <a:tblGrid>
                <a:gridCol w="1828800"/>
                <a:gridCol w="1482436"/>
                <a:gridCol w="3685313"/>
              </a:tblGrid>
              <a:tr h="346022">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rPr>
                        <a:t>%</a:t>
                      </a:r>
                      <a:r>
                        <a:rPr lang="en-US" sz="1200" baseline="0" dirty="0" smtClean="0">
                          <a:solidFill>
                            <a:schemeClr val="tx1"/>
                          </a:solidFill>
                        </a:rPr>
                        <a:t> Decrease </a:t>
                      </a:r>
                    </a:p>
                    <a:p>
                      <a:pPr marL="0" marR="0" indent="0" algn="ctr" defTabSz="457200" rtl="0" eaLnBrk="1" fontAlgn="auto" latinLnBrk="0" hangingPunct="1">
                        <a:lnSpc>
                          <a:spcPct val="100000"/>
                        </a:lnSpc>
                        <a:spcBef>
                          <a:spcPts val="0"/>
                        </a:spcBef>
                        <a:spcAft>
                          <a:spcPts val="0"/>
                        </a:spcAft>
                        <a:buClrTx/>
                        <a:buSzTx/>
                        <a:buFontTx/>
                        <a:buNone/>
                        <a:tabLst/>
                        <a:defRPr/>
                      </a:pPr>
                      <a:r>
                        <a:rPr lang="en-US" sz="1200" baseline="0" dirty="0" smtClean="0">
                          <a:solidFill>
                            <a:schemeClr val="tx1"/>
                          </a:solidFill>
                        </a:rPr>
                        <a:t>(New Amount)</a:t>
                      </a:r>
                      <a:endParaRPr lang="en-US" sz="12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rPr>
                        <a:t>Reason for</a:t>
                      </a:r>
                      <a:r>
                        <a:rPr lang="en-US" sz="1200" baseline="0" dirty="0" smtClean="0">
                          <a:solidFill>
                            <a:schemeClr val="tx1"/>
                          </a:solidFill>
                        </a:rPr>
                        <a:t> decrease</a:t>
                      </a:r>
                      <a:endParaRPr lang="en-US" sz="12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5187">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rPr>
                        <a:t>Executive/Legal/HR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35% (114)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Fewer</a:t>
                      </a:r>
                      <a:r>
                        <a:rPr lang="en-US" sz="1200" baseline="0" dirty="0" smtClean="0"/>
                        <a:t> employees needed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024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rPr>
                        <a:t>Advertising &amp; Marketing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50% (21)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Market</a:t>
                      </a:r>
                      <a:r>
                        <a:rPr lang="en-US" sz="1200" baseline="0" dirty="0" smtClean="0"/>
                        <a:t> both products in current channels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911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rPr>
                        <a:t>Sales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10% (81)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Minimal</a:t>
                      </a:r>
                      <a:r>
                        <a:rPr lang="en-US" sz="1200" baseline="0" dirty="0" smtClean="0"/>
                        <a:t> impact- different clients </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90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rPr>
                        <a:t>Customization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15% (60)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Minimal impact- product</a:t>
                      </a:r>
                      <a:r>
                        <a:rPr lang="en-US" sz="1200" baseline="0" dirty="0" smtClean="0"/>
                        <a:t> customization requires different skills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7613">
                <a:tc>
                  <a:txBody>
                    <a:bodyPr/>
                    <a:lstStyle/>
                    <a:p>
                      <a:r>
                        <a:rPr lang="en-US" sz="1200" dirty="0" smtClean="0"/>
                        <a:t>Customer Service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35% (52)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Similarly</a:t>
                      </a:r>
                      <a:r>
                        <a:rPr lang="en-US" sz="1200" baseline="0" dirty="0" smtClean="0"/>
                        <a:t> skilled labor force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7613">
                <a:tc>
                  <a:txBody>
                    <a:bodyPr/>
                    <a:lstStyle/>
                    <a:p>
                      <a:r>
                        <a:rPr lang="en-US" sz="1200" dirty="0" smtClean="0"/>
                        <a:t>Overhead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60%  (20)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Office,</a:t>
                      </a:r>
                      <a:r>
                        <a:rPr lang="en-US" sz="1200" baseline="0" dirty="0" smtClean="0"/>
                        <a:t> insurance will decrease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123</a:t>
            </a:fld>
            <a:endParaRPr lang="en-US" dirty="0"/>
          </a:p>
        </p:txBody>
      </p:sp>
    </p:spTree>
    <p:extLst>
      <p:ext uri="{BB962C8B-B14F-4D97-AF65-F5344CB8AC3E}">
        <p14:creationId xmlns:p14="http://schemas.microsoft.com/office/powerpoint/2010/main" val="1033839102"/>
      </p:ext>
    </p:extLst>
  </p:cSld>
  <p:clrMapOvr>
    <a:masterClrMapping/>
  </p:clrMapOvr>
  <p:timing>
    <p:tnLst>
      <p:par>
        <p:cTn xmlns:p14="http://schemas.microsoft.com/office/powerpoint/2010/mai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15: </a:t>
            </a:r>
            <a:r>
              <a:rPr lang="en-US" sz="2400" b="1" dirty="0"/>
              <a:t>Alpha Software, Inc. </a:t>
            </a:r>
          </a:p>
        </p:txBody>
      </p:sp>
      <p:graphicFrame>
        <p:nvGraphicFramePr>
          <p:cNvPr id="11" name="Table 10"/>
          <p:cNvGraphicFramePr>
            <a:graphicFrameLocks noGrp="1"/>
          </p:cNvGraphicFramePr>
          <p:nvPr>
            <p:extLst>
              <p:ext uri="{D42A27DB-BD31-4B8C-83A1-F6EECF244321}">
                <p14:modId xmlns:p14="http://schemas.microsoft.com/office/powerpoint/2010/main" val="3578123237"/>
              </p:ext>
            </p:extLst>
          </p:nvPr>
        </p:nvGraphicFramePr>
        <p:xfrm>
          <a:off x="651164" y="2137798"/>
          <a:ext cx="7844393" cy="4013618"/>
        </p:xfrm>
        <a:graphic>
          <a:graphicData uri="http://schemas.openxmlformats.org/drawingml/2006/table">
            <a:tbl>
              <a:tblPr firstRow="1" bandRow="1">
                <a:tableStyleId>{5C22544A-7EE6-4342-B048-85BDC9FD1C3A}</a:tableStyleId>
              </a:tblPr>
              <a:tblGrid>
                <a:gridCol w="2402551"/>
                <a:gridCol w="1864649"/>
                <a:gridCol w="3577193"/>
              </a:tblGrid>
              <a:tr h="415202">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a:t>
                      </a:r>
                      <a:r>
                        <a:rPr lang="en-US" sz="1600" baseline="0" dirty="0" smtClean="0">
                          <a:solidFill>
                            <a:schemeClr val="tx1"/>
                          </a:solidFill>
                        </a:rPr>
                        <a:t> Decrease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Reason for</a:t>
                      </a:r>
                      <a:r>
                        <a:rPr lang="en-US" sz="1600" baseline="0" dirty="0" smtClean="0">
                          <a:solidFill>
                            <a:schemeClr val="tx1"/>
                          </a:solidFill>
                        </a:rPr>
                        <a:t> decrease</a:t>
                      </a:r>
                      <a:endParaRPr 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52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Executive/Legal/HR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35%</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Fewer</a:t>
                      </a:r>
                      <a:r>
                        <a:rPr lang="en-US" sz="1600" baseline="0" dirty="0" smtClean="0"/>
                        <a:t> employees needed</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9200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Advertising &amp; Marketing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50%</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Market</a:t>
                      </a:r>
                      <a:r>
                        <a:rPr lang="en-US" sz="1600" baseline="0" dirty="0" smtClean="0"/>
                        <a:t> both products in current channels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9200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Sales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10%</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Minimal</a:t>
                      </a:r>
                      <a:r>
                        <a:rPr lang="en-US" sz="1600" baseline="0" dirty="0" smtClean="0"/>
                        <a:t> impact- different clients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6880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Customization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15%</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Minimal impact- product</a:t>
                      </a:r>
                      <a:r>
                        <a:rPr lang="en-US" sz="1600" baseline="0" dirty="0" smtClean="0"/>
                        <a:t> customization requires different skills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5202">
                <a:tc>
                  <a:txBody>
                    <a:bodyPr/>
                    <a:lstStyle/>
                    <a:p>
                      <a:r>
                        <a:rPr lang="en-US" sz="1600" dirty="0" smtClean="0"/>
                        <a:t>Customer Service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35%</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Similarly</a:t>
                      </a:r>
                      <a:r>
                        <a:rPr lang="en-US" sz="1600" baseline="0" dirty="0" smtClean="0"/>
                        <a:t> skilled labor force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5202">
                <a:tc>
                  <a:txBody>
                    <a:bodyPr/>
                    <a:lstStyle/>
                    <a:p>
                      <a:r>
                        <a:rPr lang="en-US" sz="1600" dirty="0" smtClean="0"/>
                        <a:t>Overhead</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60%</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Office,</a:t>
                      </a:r>
                      <a:r>
                        <a:rPr lang="en-US" sz="1600" baseline="0" dirty="0" smtClean="0"/>
                        <a:t> insurance will decrease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12" name="TextBox 16"/>
          <p:cNvSpPr txBox="1">
            <a:spLocks noChangeArrowheads="1"/>
          </p:cNvSpPr>
          <p:nvPr/>
        </p:nvSpPr>
        <p:spPr bwMode="auto">
          <a:xfrm>
            <a:off x="732532" y="1288759"/>
            <a:ext cx="7699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2: </a:t>
            </a:r>
            <a:r>
              <a:rPr lang="en-US" sz="1800" b="1" dirty="0" smtClean="0"/>
              <a:t>Cost Comparisons for Combined Alpha and Bravo</a:t>
            </a:r>
            <a:endParaRPr lang="en-US" sz="1800"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124</a:t>
            </a:fld>
            <a:endParaRPr lang="en-US" dirty="0"/>
          </a:p>
        </p:txBody>
      </p:sp>
    </p:spTree>
    <p:extLst>
      <p:ext uri="{BB962C8B-B14F-4D97-AF65-F5344CB8AC3E}">
        <p14:creationId xmlns:p14="http://schemas.microsoft.com/office/powerpoint/2010/main" val="2156057022"/>
      </p:ext>
    </p:extLst>
  </p:cSld>
  <p:clrMapOvr>
    <a:masterClrMapping/>
  </p:clrMapOvr>
  <p:timing>
    <p:tnLst>
      <p:par>
        <p:cTn xmlns:p14="http://schemas.microsoft.com/office/powerpoint/2010/mai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15: </a:t>
            </a:r>
            <a:r>
              <a:rPr lang="en-US" sz="2400" b="1" dirty="0"/>
              <a:t>Alpha Software, Inc. </a:t>
            </a:r>
          </a:p>
        </p:txBody>
      </p:sp>
      <p:graphicFrame>
        <p:nvGraphicFramePr>
          <p:cNvPr id="11" name="Table 10"/>
          <p:cNvGraphicFramePr>
            <a:graphicFrameLocks noGrp="1"/>
          </p:cNvGraphicFramePr>
          <p:nvPr>
            <p:extLst>
              <p:ext uri="{D42A27DB-BD31-4B8C-83A1-F6EECF244321}">
                <p14:modId xmlns:p14="http://schemas.microsoft.com/office/powerpoint/2010/main" val="3904520051"/>
              </p:ext>
            </p:extLst>
          </p:nvPr>
        </p:nvGraphicFramePr>
        <p:xfrm>
          <a:off x="651164" y="2137798"/>
          <a:ext cx="7844393" cy="4177536"/>
        </p:xfrm>
        <a:graphic>
          <a:graphicData uri="http://schemas.openxmlformats.org/drawingml/2006/table">
            <a:tbl>
              <a:tblPr firstRow="1" bandRow="1">
                <a:tableStyleId>{5C22544A-7EE6-4342-B048-85BDC9FD1C3A}</a:tableStyleId>
              </a:tblPr>
              <a:tblGrid>
                <a:gridCol w="2402551"/>
                <a:gridCol w="1864649"/>
                <a:gridCol w="3577193"/>
              </a:tblGrid>
              <a:tr h="415202">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a:t>
                      </a:r>
                      <a:r>
                        <a:rPr lang="en-US" sz="1600" baseline="0" dirty="0" smtClean="0">
                          <a:solidFill>
                            <a:schemeClr val="tx1"/>
                          </a:solidFill>
                        </a:rPr>
                        <a:t> Decrease </a:t>
                      </a:r>
                    </a:p>
                    <a:p>
                      <a:pPr marL="0" marR="0" indent="0" algn="ctr" defTabSz="457200" rtl="0" eaLnBrk="1" fontAlgn="auto" latinLnBrk="0" hangingPunct="1">
                        <a:lnSpc>
                          <a:spcPct val="100000"/>
                        </a:lnSpc>
                        <a:spcBef>
                          <a:spcPts val="0"/>
                        </a:spcBef>
                        <a:spcAft>
                          <a:spcPts val="0"/>
                        </a:spcAft>
                        <a:buClrTx/>
                        <a:buSzTx/>
                        <a:buFontTx/>
                        <a:buNone/>
                        <a:tabLst/>
                        <a:defRPr/>
                      </a:pPr>
                      <a:r>
                        <a:rPr lang="en-US" sz="1600" baseline="0" dirty="0" smtClean="0">
                          <a:solidFill>
                            <a:schemeClr val="tx1"/>
                          </a:solidFill>
                        </a:rPr>
                        <a:t>(New Amount)</a:t>
                      </a:r>
                      <a:endParaRPr 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Reason for</a:t>
                      </a:r>
                      <a:r>
                        <a:rPr lang="en-US" sz="1600" baseline="0" dirty="0" smtClean="0">
                          <a:solidFill>
                            <a:schemeClr val="tx1"/>
                          </a:solidFill>
                        </a:rPr>
                        <a:t> decrease</a:t>
                      </a:r>
                      <a:endParaRPr 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52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Executive/Legal/HR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35% (114)</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Fewer</a:t>
                      </a:r>
                      <a:r>
                        <a:rPr lang="en-US" sz="1600" baseline="0" dirty="0" smtClean="0"/>
                        <a:t> employees needed</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9200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Advertising &amp; Marketing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50% (21)</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Market</a:t>
                      </a:r>
                      <a:r>
                        <a:rPr lang="en-US" sz="1600" baseline="0" dirty="0" smtClean="0"/>
                        <a:t> both products in current channels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9200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Sales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10% (81)</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Minimal</a:t>
                      </a:r>
                      <a:r>
                        <a:rPr lang="en-US" sz="1600" baseline="0" dirty="0" smtClean="0"/>
                        <a:t> impact- different clients </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6880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Customization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15% (60)</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Minimal impact- product</a:t>
                      </a:r>
                      <a:r>
                        <a:rPr lang="en-US" sz="1600" baseline="0" dirty="0" smtClean="0"/>
                        <a:t> customization requires different skills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5202">
                <a:tc>
                  <a:txBody>
                    <a:bodyPr/>
                    <a:lstStyle/>
                    <a:p>
                      <a:r>
                        <a:rPr lang="en-US" sz="1600" dirty="0" smtClean="0"/>
                        <a:t>Customer Service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35% (52)</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Similarly</a:t>
                      </a:r>
                      <a:r>
                        <a:rPr lang="en-US" sz="1600" baseline="0" dirty="0" smtClean="0"/>
                        <a:t> skilled labor force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5202">
                <a:tc>
                  <a:txBody>
                    <a:bodyPr/>
                    <a:lstStyle/>
                    <a:p>
                      <a:r>
                        <a:rPr lang="en-US" sz="1600" dirty="0" smtClean="0"/>
                        <a:t>Overhead</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t>60%  (20)</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t>Office,</a:t>
                      </a:r>
                      <a:r>
                        <a:rPr lang="en-US" sz="1600" baseline="0" dirty="0" smtClean="0"/>
                        <a:t> insurance will decrease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12" name="TextBox 16"/>
          <p:cNvSpPr txBox="1">
            <a:spLocks noChangeArrowheads="1"/>
          </p:cNvSpPr>
          <p:nvPr/>
        </p:nvSpPr>
        <p:spPr bwMode="auto">
          <a:xfrm>
            <a:off x="732532" y="1302614"/>
            <a:ext cx="7699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b="1" dirty="0"/>
              <a:t>Exhibit 2: </a:t>
            </a:r>
            <a:r>
              <a:rPr lang="en-US" sz="1800" b="1" dirty="0" smtClean="0"/>
              <a:t>Cost Comparisons for Combined Alpha and Bravo</a:t>
            </a:r>
            <a:endParaRPr lang="en-US" sz="1800"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125</a:t>
            </a:fld>
            <a:endParaRPr lang="en-US" dirty="0"/>
          </a:p>
        </p:txBody>
      </p:sp>
    </p:spTree>
    <p:extLst>
      <p:ext uri="{BB962C8B-B14F-4D97-AF65-F5344CB8AC3E}">
        <p14:creationId xmlns:p14="http://schemas.microsoft.com/office/powerpoint/2010/main" val="828573961"/>
      </p:ext>
    </p:extLst>
  </p:cSld>
  <p:clrMapOvr>
    <a:masterClrMapping/>
  </p:clrMapOvr>
  <p:timing>
    <p:tnLst>
      <p:par>
        <p:cTn xmlns:p14="http://schemas.microsoft.com/office/powerpoint/2010/mai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15: </a:t>
            </a:r>
            <a:r>
              <a:rPr lang="en-US" sz="2400" b="1" dirty="0"/>
              <a:t>Alpha Software, Inc. </a:t>
            </a:r>
          </a:p>
        </p:txBody>
      </p:sp>
      <p:graphicFrame>
        <p:nvGraphicFramePr>
          <p:cNvPr id="12" name="Table 11"/>
          <p:cNvGraphicFramePr>
            <a:graphicFrameLocks noGrp="1"/>
          </p:cNvGraphicFramePr>
          <p:nvPr>
            <p:extLst>
              <p:ext uri="{D42A27DB-BD31-4B8C-83A1-F6EECF244321}">
                <p14:modId xmlns:p14="http://schemas.microsoft.com/office/powerpoint/2010/main" val="275697027"/>
              </p:ext>
            </p:extLst>
          </p:nvPr>
        </p:nvGraphicFramePr>
        <p:xfrm>
          <a:off x="304800" y="1381125"/>
          <a:ext cx="8534400" cy="2755842"/>
        </p:xfrm>
        <a:graphic>
          <a:graphicData uri="http://schemas.openxmlformats.org/drawingml/2006/table">
            <a:tbl>
              <a:tblPr firstRow="1" bandRow="1">
                <a:tableStyleId>{616DA210-FB5B-4158-B5E0-FEB733F419BA}</a:tableStyleId>
              </a:tblPr>
              <a:tblGrid>
                <a:gridCol w="1600200"/>
                <a:gridCol w="6934200"/>
              </a:tblGrid>
              <a:tr h="835602">
                <a:tc>
                  <a:txBody>
                    <a:bodyPr/>
                    <a:lstStyle/>
                    <a:p>
                      <a:pPr algn="ctr"/>
                      <a:r>
                        <a:rPr lang="en-US" dirty="0" smtClean="0"/>
                        <a:t>Prompt #4</a:t>
                      </a:r>
                      <a:endParaRPr lang="en-US" dirty="0"/>
                    </a:p>
                  </a:txBody>
                  <a:tcPr anchor="ctr"/>
                </a:tc>
                <a:tc>
                  <a:txBody>
                    <a:bodyPr/>
                    <a:lstStyle/>
                    <a:p>
                      <a:r>
                        <a:rPr lang="en-US" sz="1200" b="1" i="0" kern="1200" baseline="0" dirty="0" smtClean="0">
                          <a:solidFill>
                            <a:schemeClr val="tx1"/>
                          </a:solidFill>
                          <a:latin typeface="+mj-lt"/>
                          <a:ea typeface="+mn-ea"/>
                          <a:cs typeface="+mn-cs"/>
                        </a:rPr>
                        <a:t>If Alpha were to move forward with the purchase, how would you determine what price would they pay for Bravo?</a:t>
                      </a:r>
                    </a:p>
                  </a:txBody>
                  <a:tcPr anchor="ct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candidate does not need to calculate a numerical value. The candidate can suggest (among other things) that Alpha: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Look to comparable sales,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An NPV calculation using predicted future,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Using an EBITDA multiple.  </a:t>
                      </a:r>
                      <a:r>
                        <a:rPr lang="en-US" sz="1200" b="0" i="1" kern="1200" baseline="0" dirty="0" smtClean="0">
                          <a:solidFill>
                            <a:schemeClr val="tx1"/>
                          </a:solidFill>
                          <a:latin typeface="+mj-lt"/>
                          <a:ea typeface="+mn-ea"/>
                          <a:cs typeface="+mn-cs"/>
                        </a:rPr>
                        <a:t>If the candidate suggests an EBITDA multiple, the multiple should be low (10-20) instead of high (60-70) because the pharmaceutical software industry is low growth.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purchase will also depend on Alpha’s current outstanding debt, and its ability to obtain financing. The candidate can also highlight some additional considerations that will impact the merger such as human capital or technology integration. </a:t>
                      </a:r>
                    </a:p>
                  </a:txBody>
                  <a:tcPr/>
                </a:tc>
              </a:tr>
            </a:tbl>
          </a:graphicData>
        </a:graphic>
      </p:graphicFrame>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126</a:t>
            </a:fld>
            <a:endParaRPr lang="en-US" dirty="0"/>
          </a:p>
        </p:txBody>
      </p:sp>
    </p:spTree>
    <p:extLst>
      <p:ext uri="{BB962C8B-B14F-4D97-AF65-F5344CB8AC3E}">
        <p14:creationId xmlns:p14="http://schemas.microsoft.com/office/powerpoint/2010/main" val="1532217846"/>
      </p:ext>
    </p:extLst>
  </p:cSld>
  <p:clrMapOvr>
    <a:masterClrMapping/>
  </p:clrMapOvr>
  <p:timing>
    <p:tnLst>
      <p:par>
        <p:cTn xmlns:p14="http://schemas.microsoft.com/office/powerpoint/2010/mai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225138509"/>
              </p:ext>
            </p:extLst>
          </p:nvPr>
        </p:nvGraphicFramePr>
        <p:xfrm>
          <a:off x="304800" y="1371600"/>
          <a:ext cx="8534400" cy="356616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b="1" i="0" dirty="0" smtClean="0">
                          <a:latin typeface="+mj-lt"/>
                        </a:rPr>
                        <a:t>Performance Evaluation</a:t>
                      </a:r>
                      <a:endParaRPr lang="en-US" sz="1800" i="0" dirty="0">
                        <a:latin typeface="+mj-lt"/>
                      </a:endParaRPr>
                    </a:p>
                  </a:txBody>
                  <a:tcPr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225425" indent="-225425">
                        <a:buFont typeface="Arial" pitchFamily="34" charset="0"/>
                        <a:buChar char="•"/>
                      </a:pPr>
                      <a:r>
                        <a:rPr lang="en-US" sz="1200" b="0" i="0" kern="1200" baseline="0" dirty="0" smtClean="0">
                          <a:solidFill>
                            <a:schemeClr val="tx1"/>
                          </a:solidFill>
                          <a:latin typeface="+mj-lt"/>
                          <a:ea typeface="+mn-ea"/>
                          <a:cs typeface="+mn-cs"/>
                        </a:rPr>
                        <a:t>Provides a MECE framework</a:t>
                      </a:r>
                    </a:p>
                    <a:p>
                      <a:pPr marL="225425" indent="-225425">
                        <a:buFont typeface="Arial" pitchFamily="34" charset="0"/>
                        <a:buChar char="•"/>
                      </a:pPr>
                      <a:r>
                        <a:rPr lang="en-US" sz="1200" b="0" i="0" kern="1200" baseline="0" dirty="0" smtClean="0">
                          <a:solidFill>
                            <a:schemeClr val="tx1"/>
                          </a:solidFill>
                          <a:latin typeface="+mj-lt"/>
                          <a:ea typeface="+mn-ea"/>
                          <a:cs typeface="+mn-cs"/>
                        </a:rPr>
                        <a:t>Correctly calculates profit margins</a:t>
                      </a:r>
                    </a:p>
                    <a:p>
                      <a:pPr marL="225425" indent="-225425">
                        <a:buFont typeface="Arial" pitchFamily="34" charset="0"/>
                        <a:buChar char="•"/>
                      </a:pPr>
                      <a:r>
                        <a:rPr lang="en-US" sz="1200" b="0" i="0" kern="1200" baseline="0" dirty="0" smtClean="0">
                          <a:solidFill>
                            <a:schemeClr val="tx1"/>
                          </a:solidFill>
                          <a:latin typeface="+mj-lt"/>
                          <a:ea typeface="+mn-ea"/>
                          <a:cs typeface="+mn-cs"/>
                        </a:rPr>
                        <a:t>Lists some cost centers</a:t>
                      </a:r>
                    </a:p>
                    <a:p>
                      <a:pPr marL="225425" indent="-225425">
                        <a:buFont typeface="Arial" pitchFamily="34" charset="0"/>
                        <a:buChar char="•"/>
                      </a:pPr>
                      <a:r>
                        <a:rPr lang="en-US" sz="1200" b="0" i="0" kern="1200" baseline="0" dirty="0" smtClean="0">
                          <a:solidFill>
                            <a:schemeClr val="tx1"/>
                          </a:solidFill>
                          <a:latin typeface="+mj-lt"/>
                          <a:ea typeface="+mn-ea"/>
                          <a:cs typeface="+mn-cs"/>
                        </a:rPr>
                        <a:t>Provides at least two ways to value the target company</a:t>
                      </a:r>
                    </a:p>
                    <a:p>
                      <a:pPr marL="225425" indent="-225425">
                        <a:buFont typeface="Arial" pitchFamily="34" charset="0"/>
                        <a:buChar char="•"/>
                      </a:pPr>
                      <a:r>
                        <a:rPr lang="en-US" sz="1200" b="0" i="0" kern="1200" baseline="0" dirty="0" smtClean="0">
                          <a:solidFill>
                            <a:schemeClr val="tx1"/>
                          </a:solidFill>
                          <a:latin typeface="+mj-lt"/>
                          <a:ea typeface="+mn-ea"/>
                          <a:cs typeface="+mn-cs"/>
                        </a:rPr>
                        <a:t>Able to articulate reasons for cost savings through consolidation</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225425" indent="-225425">
                        <a:buFont typeface="Arial" pitchFamily="34" charset="0"/>
                        <a:buChar char="•"/>
                      </a:pPr>
                      <a:r>
                        <a:rPr lang="en-US" sz="1200" b="0" i="0" kern="1200" baseline="0" dirty="0" smtClean="0">
                          <a:solidFill>
                            <a:schemeClr val="tx1"/>
                          </a:solidFill>
                          <a:latin typeface="+mj-lt"/>
                          <a:ea typeface="+mn-ea"/>
                          <a:cs typeface="+mn-cs"/>
                        </a:rPr>
                        <a:t>Before prompted, moves to calculate profit margin of merged company</a:t>
                      </a:r>
                    </a:p>
                    <a:p>
                      <a:pPr marL="225425" indent="-225425">
                        <a:buFont typeface="Arial" pitchFamily="34" charset="0"/>
                        <a:buChar char="•"/>
                      </a:pPr>
                      <a:r>
                        <a:rPr lang="en-US" sz="1200" b="0" i="0" kern="1200" baseline="0" dirty="0" smtClean="0">
                          <a:solidFill>
                            <a:schemeClr val="tx1"/>
                          </a:solidFill>
                          <a:latin typeface="+mj-lt"/>
                          <a:ea typeface="+mn-ea"/>
                          <a:cs typeface="+mn-cs"/>
                        </a:rPr>
                        <a:t>Breaks out labor into specific business processes, recognizing that consolidation will impact each labor force differently</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225425" indent="-225425">
                        <a:buFont typeface="Arial" pitchFamily="34" charset="0"/>
                        <a:buChar char="•"/>
                      </a:pPr>
                      <a:r>
                        <a:rPr lang="en-US" sz="1200" b="0" i="0" kern="1200" baseline="0" dirty="0" smtClean="0">
                          <a:solidFill>
                            <a:schemeClr val="tx1"/>
                          </a:solidFill>
                          <a:latin typeface="+mn-lt"/>
                          <a:ea typeface="+mn-ea"/>
                          <a:cs typeface="+mn-cs"/>
                        </a:rPr>
                        <a:t>Probes expected revenue of merged company and identifies the buyout as an opportunity for a competitor to target both companies current customers, with a potential for decreased revenue for merged company</a:t>
                      </a:r>
                    </a:p>
                    <a:p>
                      <a:pPr marL="225425" indent="-225425">
                        <a:buFont typeface="Arial" pitchFamily="34" charset="0"/>
                        <a:buChar char="•"/>
                      </a:pPr>
                      <a:r>
                        <a:rPr lang="en-US" sz="1200" b="0" i="0" kern="1200" baseline="0" dirty="0" smtClean="0">
                          <a:solidFill>
                            <a:schemeClr val="tx1"/>
                          </a:solidFill>
                          <a:latin typeface="+mj-lt"/>
                          <a:ea typeface="+mn-ea"/>
                          <a:cs typeface="+mn-cs"/>
                        </a:rPr>
                        <a:t>Suggests some alternative considerations beyond profit margin and financing to consider in the purchase</a:t>
                      </a:r>
                    </a:p>
                    <a:p>
                      <a:pPr marL="0" indent="0">
                        <a:buFont typeface="Arial" pitchFamily="34" charset="0"/>
                        <a:buNone/>
                      </a:pPr>
                      <a:endParaRPr lang="en-US" sz="1200" b="0" i="0" kern="1200" baseline="0" dirty="0" smtClean="0">
                        <a:solidFill>
                          <a:schemeClr val="tx1"/>
                        </a:solidFill>
                        <a:latin typeface="+mj-lt"/>
                        <a:ea typeface="+mn-ea"/>
                        <a:cs typeface="+mn-cs"/>
                      </a:endParaRPr>
                    </a:p>
                  </a:txBody>
                  <a:tcPr/>
                </a:tc>
              </a:tr>
            </a:tbl>
          </a:graphicData>
        </a:graphic>
      </p:graphicFrame>
      <p:pic>
        <p:nvPicPr>
          <p:cNvPr id="40971"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097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15: </a:t>
            </a:r>
            <a:r>
              <a:rPr lang="en-US" sz="2400" b="1" dirty="0"/>
              <a:t>Alpha Software, Inc. </a:t>
            </a:r>
          </a:p>
        </p:txBody>
      </p:sp>
      <p:sp>
        <p:nvSpPr>
          <p:cNvPr id="8" name="TextBox 7"/>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127</a:t>
            </a:fld>
            <a:endParaRPr lang="en-US" dirty="0"/>
          </a:p>
        </p:txBody>
      </p:sp>
    </p:spTree>
    <p:extLst>
      <p:ext uri="{BB962C8B-B14F-4D97-AF65-F5344CB8AC3E}">
        <p14:creationId xmlns:p14="http://schemas.microsoft.com/office/powerpoint/2010/main" val="1407068199"/>
      </p:ext>
    </p:extLst>
  </p:cSld>
  <p:clrMapOvr>
    <a:masterClrMapping/>
  </p:clrMapOvr>
  <p:timing>
    <p:tnLst>
      <p:par>
        <p:cTn xmlns:p14="http://schemas.microsoft.com/office/powerpoint/2010/mai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128</a:t>
            </a:fld>
            <a:endParaRPr lang="en-US" dirty="0"/>
          </a:p>
        </p:txBody>
      </p:sp>
    </p:spTree>
    <p:extLst>
      <p:ext uri="{BB962C8B-B14F-4D97-AF65-F5344CB8AC3E}">
        <p14:creationId xmlns:p14="http://schemas.microsoft.com/office/powerpoint/2010/main" val="625994765"/>
      </p:ext>
    </p:extLst>
  </p:cSld>
  <p:clrMapOvr>
    <a:masterClrMapping/>
  </p:clrMapOvr>
  <p:timing>
    <p:tnLst>
      <p:par>
        <p:cTn xmlns:p14="http://schemas.microsoft.com/office/powerpoint/2010/mai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8" name="TextBox 9"/>
          <p:cNvSpPr txBox="1">
            <a:spLocks noChangeArrowheads="1"/>
          </p:cNvSpPr>
          <p:nvPr/>
        </p:nvSpPr>
        <p:spPr bwMode="auto">
          <a:xfrm>
            <a:off x="1828799" y="376238"/>
            <a:ext cx="63627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400" b="1" dirty="0"/>
              <a:t>Case </a:t>
            </a:r>
            <a:r>
              <a:rPr lang="en-US" sz="2400" b="1" dirty="0" smtClean="0"/>
              <a:t>16: NY </a:t>
            </a:r>
            <a:r>
              <a:rPr lang="en-US" sz="2400" b="1" dirty="0"/>
              <a:t>Economic Development </a:t>
            </a:r>
            <a:r>
              <a:rPr lang="en-US" sz="2400" b="1" dirty="0" smtClean="0"/>
              <a:t>Corp.</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815821312"/>
              </p:ext>
            </p:extLst>
          </p:nvPr>
        </p:nvGraphicFramePr>
        <p:xfrm>
          <a:off x="131614" y="1309255"/>
          <a:ext cx="8869363" cy="5303549"/>
        </p:xfrm>
        <a:graphic>
          <a:graphicData uri="http://schemas.openxmlformats.org/drawingml/2006/table">
            <a:tbl>
              <a:tblPr firstRow="1" bandRow="1">
                <a:tableStyleId>{616DA210-FB5B-4158-B5E0-FEB733F419BA}</a:tableStyleId>
              </a:tblPr>
              <a:tblGrid>
                <a:gridCol w="1475510"/>
                <a:gridCol w="7393853"/>
              </a:tblGrid>
              <a:tr h="2639291">
                <a:tc>
                  <a:txBody>
                    <a:bodyPr/>
                    <a:lstStyle/>
                    <a:p>
                      <a:pPr algn="ctr"/>
                      <a:r>
                        <a:rPr lang="en-US" sz="1800" dirty="0" smtClean="0">
                          <a:latin typeface="+mn-lt"/>
                        </a:rPr>
                        <a:t>Prompt #1</a:t>
                      </a:r>
                      <a:endParaRPr lang="en-US" sz="1800" dirty="0">
                        <a:latin typeface="+mn-lt"/>
                      </a:endParaRPr>
                    </a:p>
                  </a:txBody>
                  <a:tcPr marT="45734" marB="45734" anchor="ctr"/>
                </a:tc>
                <a:tc>
                  <a:txBody>
                    <a:bodyPr/>
                    <a:lstStyle/>
                    <a:p>
                      <a:r>
                        <a:rPr lang="en-US" sz="1200" b="1" kern="1200" dirty="0" smtClean="0">
                          <a:latin typeface="+mn-lt"/>
                        </a:rPr>
                        <a:t>Note – this is a</a:t>
                      </a:r>
                      <a:r>
                        <a:rPr lang="en-US" sz="1200" b="1" kern="1200" baseline="0" dirty="0" smtClean="0">
                          <a:latin typeface="+mn-lt"/>
                        </a:rPr>
                        <a:t> very open-ended case, and will be driven mostly by the candidate. To make this a quality mock interview, the interviewer needs to be very familiar with the details of the case, and know when to (and when not to) give the candidate information. Please take the time to read the case IN DETAIL before giving it. </a:t>
                      </a:r>
                    </a:p>
                    <a:p>
                      <a:endParaRPr lang="en-US" sz="1200" b="1" kern="1200" dirty="0" smtClean="0">
                        <a:latin typeface="+mn-lt"/>
                      </a:endParaRPr>
                    </a:p>
                    <a:p>
                      <a:r>
                        <a:rPr lang="en-US" sz="1200" b="0" kern="1200" dirty="0" smtClean="0">
                          <a:latin typeface="+mn-lt"/>
                        </a:rPr>
                        <a:t>It is </a:t>
                      </a:r>
                      <a:r>
                        <a:rPr lang="en-US" sz="1200" b="0" kern="1200" baseline="0" dirty="0" smtClean="0">
                          <a:latin typeface="+mn-lt"/>
                        </a:rPr>
                        <a:t>October 2001, and o</a:t>
                      </a:r>
                      <a:r>
                        <a:rPr lang="en-US" sz="1200" b="0" kern="1200" dirty="0" smtClean="0">
                          <a:latin typeface="+mn-lt"/>
                        </a:rPr>
                        <a:t>ur client is the New York City Economic Development</a:t>
                      </a:r>
                      <a:r>
                        <a:rPr lang="en-US" sz="1200" b="0" kern="1200" baseline="0" dirty="0" smtClean="0">
                          <a:latin typeface="+mn-lt"/>
                        </a:rPr>
                        <a:t> Corporation (EDC). The EDC partners with a variety of governmental and non-governmental firms, serving as an engine for economic development.  The EDC is charged with leveraging the city’s assets to drive growth, create jobs and improve quality of life. Like a Chamber of Commerce, the EDC shapes policy for local business interests. The EDC is requesting our help in looking at the city’s hotel industry in the wake of the September 11</a:t>
                      </a:r>
                      <a:r>
                        <a:rPr lang="en-US" sz="1200" b="0" kern="1200" baseline="30000" dirty="0" smtClean="0">
                          <a:latin typeface="+mn-lt"/>
                        </a:rPr>
                        <a:t>th</a:t>
                      </a:r>
                      <a:r>
                        <a:rPr lang="en-US" sz="1200" b="0" kern="1200" baseline="0" dirty="0" smtClean="0">
                          <a:latin typeface="+mn-lt"/>
                        </a:rPr>
                        <a:t> attacks. The EDC would like to know:</a:t>
                      </a:r>
                    </a:p>
                    <a:p>
                      <a:endParaRPr lang="en-US" sz="1200" b="0" kern="1200" baseline="0" dirty="0" smtClean="0">
                        <a:latin typeface="+mn-lt"/>
                      </a:endParaRPr>
                    </a:p>
                    <a:p>
                      <a:pPr marL="228600" indent="-228600">
                        <a:buFont typeface="+mj-lt"/>
                        <a:buAutoNum type="arabicPeriod"/>
                      </a:pPr>
                      <a:r>
                        <a:rPr lang="en-US" sz="1200" b="1" kern="1200" baseline="0" dirty="0" smtClean="0">
                          <a:latin typeface="+mn-lt"/>
                        </a:rPr>
                        <a:t>Can we quantify the expected impact of 9/11 on the New York City hotel industry?</a:t>
                      </a:r>
                    </a:p>
                    <a:p>
                      <a:pPr marL="228600" indent="-228600">
                        <a:buFont typeface="+mj-lt"/>
                        <a:buAutoNum type="arabicPeriod"/>
                      </a:pPr>
                      <a:r>
                        <a:rPr lang="en-US" sz="1200" b="1" kern="1200" baseline="0" dirty="0" smtClean="0">
                          <a:latin typeface="+mn-lt"/>
                        </a:rPr>
                        <a:t>Will the New York City hotel industry need government assistance?</a:t>
                      </a:r>
                    </a:p>
                  </a:txBody>
                  <a:tcPr marT="45734" marB="45734" anchor="ctr"/>
                </a:tc>
              </a:tr>
              <a:tr h="2651761">
                <a:tc>
                  <a:txBody>
                    <a:bodyPr/>
                    <a:lstStyle/>
                    <a:p>
                      <a:pPr algn="ctr"/>
                      <a:r>
                        <a:rPr lang="en-US" sz="1800" b="1" i="0" dirty="0" smtClean="0">
                          <a:latin typeface="+mn-lt"/>
                        </a:rPr>
                        <a:t>Guidance</a:t>
                      </a:r>
                      <a:endParaRPr lang="en-US" sz="1800" b="1" i="0" baseline="0" dirty="0" smtClean="0">
                        <a:latin typeface="+mn-lt"/>
                      </a:endParaRPr>
                    </a:p>
                  </a:txBody>
                  <a:tcPr marT="45734" marB="45734" anchor="ctr"/>
                </a:tc>
                <a:tc>
                  <a:txBody>
                    <a:bodyPr/>
                    <a:lstStyle/>
                    <a:p>
                      <a:r>
                        <a:rPr lang="en-US" sz="1200" i="0" kern="1200" dirty="0" smtClean="0">
                          <a:solidFill>
                            <a:schemeClr val="tx1"/>
                          </a:solidFill>
                          <a:latin typeface="+mn-lt"/>
                          <a:ea typeface="+mn-ea"/>
                          <a:cs typeface="+mn-cs"/>
                        </a:rPr>
                        <a:t>Ultimately,</a:t>
                      </a:r>
                      <a:r>
                        <a:rPr lang="en-US" sz="1200" i="0" kern="1200" baseline="0" dirty="0" smtClean="0">
                          <a:solidFill>
                            <a:schemeClr val="tx1"/>
                          </a:solidFill>
                          <a:latin typeface="+mn-lt"/>
                          <a:ea typeface="+mn-ea"/>
                          <a:cs typeface="+mn-cs"/>
                        </a:rPr>
                        <a:t> </a:t>
                      </a:r>
                      <a:r>
                        <a:rPr lang="en-US" sz="1200" i="0" kern="1200" dirty="0" smtClean="0">
                          <a:solidFill>
                            <a:schemeClr val="tx1"/>
                          </a:solidFill>
                          <a:latin typeface="+mn-lt"/>
                          <a:ea typeface="+mn-ea"/>
                          <a:cs typeface="+mn-cs"/>
                        </a:rPr>
                        <a:t>This</a:t>
                      </a:r>
                      <a:r>
                        <a:rPr lang="en-US" sz="1200" i="0" kern="1200" baseline="0" dirty="0" smtClean="0">
                          <a:solidFill>
                            <a:schemeClr val="tx1"/>
                          </a:solidFill>
                          <a:latin typeface="+mn-lt"/>
                          <a:ea typeface="+mn-ea"/>
                          <a:cs typeface="+mn-cs"/>
                        </a:rPr>
                        <a:t> is a profitability case. It requires (like some final round cases) a two part framework. First, the candidate should build a basic profit tree to take a look at the profitability of the NYC hotel industry prior to 9/11. Then, he/she should frame out (based on some assumptions) how 9/11 is expected to affect the industry’s future profitability.</a:t>
                      </a:r>
                    </a:p>
                    <a:p>
                      <a:endParaRPr lang="en-US" sz="1200" i="0" kern="1200" baseline="0" dirty="0" smtClean="0">
                        <a:solidFill>
                          <a:schemeClr val="tx1"/>
                        </a:solidFill>
                        <a:latin typeface="+mn-lt"/>
                        <a:ea typeface="+mn-ea"/>
                        <a:cs typeface="+mn-cs"/>
                      </a:endParaRPr>
                    </a:p>
                    <a:p>
                      <a:pPr marL="228600" indent="-228600">
                        <a:buFont typeface="+mj-lt"/>
                        <a:buAutoNum type="arabicPeriod"/>
                      </a:pPr>
                      <a:r>
                        <a:rPr lang="en-US" sz="1200" i="0" kern="1200" baseline="0" dirty="0" smtClean="0">
                          <a:solidFill>
                            <a:schemeClr val="tx1"/>
                          </a:solidFill>
                          <a:latin typeface="+mn-lt"/>
                          <a:ea typeface="+mn-ea"/>
                          <a:cs typeface="+mn-cs"/>
                        </a:rPr>
                        <a:t>Hopefully will not ask about cost structure of revenue before building a framework. If he/she does ask these detailed questions, simply say “we will get there later” and advise that he/she build a framework.</a:t>
                      </a:r>
                    </a:p>
                    <a:p>
                      <a:pPr marL="228600" indent="-228600">
                        <a:buFont typeface="+mj-lt"/>
                        <a:buAutoNum type="arabicPeriod"/>
                      </a:pPr>
                      <a:r>
                        <a:rPr lang="en-US" sz="1200" i="0" kern="1200" baseline="0" dirty="0" smtClean="0">
                          <a:solidFill>
                            <a:schemeClr val="tx1"/>
                          </a:solidFill>
                          <a:latin typeface="+mn-lt"/>
                          <a:ea typeface="+mn-ea"/>
                          <a:cs typeface="+mn-cs"/>
                        </a:rPr>
                        <a:t>If the candidate asks what kind of assistance the EDC provides, or what kind of policies they try to influence, turn the question around and ask him or her what they think the EDC could do to advance local business interests. If the candidate is totally lost, give an example of lobbying for tax changes to stimulate purchases from local businesses.</a:t>
                      </a:r>
                    </a:p>
                    <a:p>
                      <a:pPr marL="228600" indent="-228600">
                        <a:buFont typeface="+mj-lt"/>
                        <a:buAutoNum type="arabicPeriod"/>
                      </a:pPr>
                      <a:r>
                        <a:rPr lang="en-US" sz="1200" i="0" kern="1200" baseline="0" dirty="0" smtClean="0">
                          <a:solidFill>
                            <a:schemeClr val="tx1"/>
                          </a:solidFill>
                          <a:latin typeface="+mn-lt"/>
                          <a:ea typeface="+mn-ea"/>
                          <a:cs typeface="+mn-cs"/>
                        </a:rPr>
                        <a:t>If the candidate asks if we are talking about all of New York City or just Manhattan, say that we are considering all five boroughs. (This will matter later in terms of number of hotels, etc.)</a:t>
                      </a:r>
                    </a:p>
                  </a:txBody>
                  <a:tcPr marT="45734" marB="45734" anchor="ctr"/>
                </a:tc>
              </a:tr>
            </a:tbl>
          </a:graphicData>
        </a:graphic>
      </p:graphicFrame>
      <p:sp>
        <p:nvSpPr>
          <p:cNvPr id="8" name="TextBox 7"/>
          <p:cNvSpPr txBox="1">
            <a:spLocks noChangeArrowheads="1"/>
          </p:cNvSpPr>
          <p:nvPr/>
        </p:nvSpPr>
        <p:spPr bwMode="auto">
          <a:xfrm>
            <a:off x="7553177" y="100128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129</a:t>
            </a:fld>
            <a:endParaRPr lang="en-US" dirty="0"/>
          </a:p>
        </p:txBody>
      </p:sp>
    </p:spTree>
    <p:extLst>
      <p:ext uri="{BB962C8B-B14F-4D97-AF65-F5344CB8AC3E}">
        <p14:creationId xmlns:p14="http://schemas.microsoft.com/office/powerpoint/2010/main" val="3584095450"/>
      </p:ext>
    </p:extLst>
  </p:cSld>
  <p:clrMapOvr>
    <a:masterClrMapping/>
  </p:clrMapOvr>
  <p:timing>
    <p:tnLst>
      <p:par>
        <p:cTn xmlns:p14="http://schemas.microsoft.com/office/powerpoint/2010/mai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12" name="Table 11"/>
          <p:cNvGraphicFramePr>
            <a:graphicFrameLocks noGrp="1"/>
          </p:cNvGraphicFramePr>
          <p:nvPr>
            <p:extLst>
              <p:ext uri="{D42A27DB-BD31-4B8C-83A1-F6EECF244321}">
                <p14:modId xmlns:p14="http://schemas.microsoft.com/office/powerpoint/2010/main" val="2255037053"/>
              </p:ext>
            </p:extLst>
          </p:nvPr>
        </p:nvGraphicFramePr>
        <p:xfrm>
          <a:off x="30163" y="1336965"/>
          <a:ext cx="9067800" cy="5212108"/>
        </p:xfrm>
        <a:graphic>
          <a:graphicData uri="http://schemas.openxmlformats.org/drawingml/2006/table">
            <a:tbl>
              <a:tblPr firstRow="1" bandRow="1">
                <a:tableStyleId>{616DA210-FB5B-4158-B5E0-FEB733F419BA}</a:tableStyleId>
              </a:tblPr>
              <a:tblGrid>
                <a:gridCol w="1700212"/>
                <a:gridCol w="7367588"/>
              </a:tblGrid>
              <a:tr h="3931908">
                <a:tc>
                  <a:txBody>
                    <a:bodyPr/>
                    <a:lstStyle/>
                    <a:p>
                      <a:pPr algn="ctr"/>
                      <a:r>
                        <a:rPr lang="en-US" sz="1800" b="1" i="0" dirty="0" smtClean="0">
                          <a:latin typeface="+mn-lt"/>
                        </a:rPr>
                        <a:t>Guidance</a:t>
                      </a:r>
                      <a:endParaRPr lang="en-US" sz="1800" b="1" i="0" baseline="0" dirty="0" smtClean="0">
                        <a:latin typeface="+mn-lt"/>
                      </a:endParaRPr>
                    </a:p>
                  </a:txBody>
                  <a:tcPr marT="45734" marB="45734" anchor="ctr">
                    <a:solidFill>
                      <a:schemeClr val="tx1">
                        <a:alpha val="20000"/>
                      </a:schemeClr>
                    </a:solidFill>
                  </a:tcPr>
                </a:tc>
                <a:tc>
                  <a:txBody>
                    <a:bodyPr/>
                    <a:lstStyle/>
                    <a:p>
                      <a:r>
                        <a:rPr lang="en-US" sz="1200" b="0" i="1" kern="1200" baseline="0" dirty="0" smtClean="0">
                          <a:latin typeface="+mn-lt"/>
                        </a:rPr>
                        <a:t>As the candidate builds a framework, try to follow along to make sure he or she is not going off track, If so, this will become a pretty painful case. You may even have to prompt the candidate to focus on profitability, if he or she is completely lost.  This is “choose your own adventure.”</a:t>
                      </a:r>
                    </a:p>
                    <a:p>
                      <a:endParaRPr lang="en-US" sz="1200" b="0" kern="1200" baseline="0" dirty="0" smtClean="0">
                        <a:latin typeface="+mn-lt"/>
                      </a:endParaRPr>
                    </a:p>
                    <a:p>
                      <a:r>
                        <a:rPr lang="en-US" sz="1200" b="0" kern="1200" baseline="0" dirty="0" smtClean="0">
                          <a:latin typeface="+mn-lt"/>
                        </a:rPr>
                        <a:t>Once the candidate is finished with a framework, ask smart questions and push the candidate to improve his/her framework (if required) to progress through the case toward the goal.</a:t>
                      </a:r>
                      <a:endParaRPr lang="en-US" sz="1200" i="0" kern="1200" dirty="0" smtClean="0">
                        <a:solidFill>
                          <a:schemeClr val="tx1"/>
                        </a:solidFill>
                        <a:latin typeface="+mn-lt"/>
                        <a:ea typeface="+mn-ea"/>
                        <a:cs typeface="+mn-cs"/>
                      </a:endParaRPr>
                    </a:p>
                    <a:p>
                      <a:endParaRPr lang="en-US" sz="1200" i="0" kern="1200" dirty="0" smtClean="0">
                        <a:solidFill>
                          <a:schemeClr val="tx1"/>
                        </a:solidFill>
                        <a:latin typeface="+mn-lt"/>
                        <a:ea typeface="+mn-ea"/>
                        <a:cs typeface="+mn-cs"/>
                      </a:endParaRPr>
                    </a:p>
                    <a:p>
                      <a:r>
                        <a:rPr lang="en-US" sz="1200" i="0" kern="1200" dirty="0" smtClean="0">
                          <a:solidFill>
                            <a:schemeClr val="tx1"/>
                          </a:solidFill>
                          <a:latin typeface="+mn-lt"/>
                          <a:ea typeface="+mn-ea"/>
                          <a:cs typeface="+mn-cs"/>
                        </a:rPr>
                        <a:t>The candidate’s framework should address:</a:t>
                      </a:r>
                    </a:p>
                    <a:p>
                      <a:endParaRPr lang="en-US" sz="1200" i="0" kern="1200" baseline="0" dirty="0" smtClean="0">
                        <a:solidFill>
                          <a:schemeClr val="tx1"/>
                        </a:solidFill>
                        <a:latin typeface="+mn-lt"/>
                        <a:ea typeface="+mn-ea"/>
                        <a:cs typeface="+mn-cs"/>
                      </a:endParaRPr>
                    </a:p>
                    <a:p>
                      <a:r>
                        <a:rPr lang="en-US" sz="1200" b="0" i="0" u="sng" kern="1200" baseline="0" dirty="0" smtClean="0">
                          <a:solidFill>
                            <a:schemeClr val="tx1"/>
                          </a:solidFill>
                          <a:latin typeface="+mn-lt"/>
                          <a:ea typeface="+mn-ea"/>
                          <a:cs typeface="+mn-cs"/>
                        </a:rPr>
                        <a:t>Profitability of the NYC hotel industry before 9/11</a:t>
                      </a:r>
                    </a:p>
                    <a:p>
                      <a:pPr marL="228600" indent="-228600">
                        <a:buAutoNum type="alphaLcParenR"/>
                      </a:pPr>
                      <a:r>
                        <a:rPr lang="en-US" sz="1200" b="0" i="0" kern="1200" baseline="0" dirty="0" smtClean="0">
                          <a:solidFill>
                            <a:schemeClr val="tx1"/>
                          </a:solidFill>
                          <a:latin typeface="+mn-lt"/>
                          <a:ea typeface="+mn-ea"/>
                          <a:cs typeface="+mn-cs"/>
                        </a:rPr>
                        <a:t>Revenue is a function of number of rooms, occupancy rates, and average rate charged. The candidate may point out that some guests are travelling for business, while some are traveling for leisure. This is a great insight, and will matter later in the case.</a:t>
                      </a:r>
                    </a:p>
                    <a:p>
                      <a:pPr marL="228600" indent="-228600">
                        <a:buAutoNum type="alphaLcParenR"/>
                      </a:pPr>
                      <a:r>
                        <a:rPr lang="en-US" sz="1200" b="0" i="0" kern="1200" baseline="0" dirty="0" smtClean="0">
                          <a:solidFill>
                            <a:schemeClr val="tx1"/>
                          </a:solidFill>
                          <a:latin typeface="+mn-lt"/>
                          <a:ea typeface="+mn-ea"/>
                          <a:cs typeface="+mn-cs"/>
                        </a:rPr>
                        <a:t>Costs consist of FC, in the form of property, wages and salaries (almost all fixed in the hotel industry), insurance, and utilities, and VC (which includes items like room service, laundry, etc.). </a:t>
                      </a:r>
                    </a:p>
                    <a:p>
                      <a:pPr marL="228600" indent="-228600">
                        <a:buAutoNum type="alphaLcParenR"/>
                      </a:pPr>
                      <a:r>
                        <a:rPr lang="en-US" sz="1200" b="0" i="0" kern="1200" baseline="0" dirty="0" smtClean="0">
                          <a:solidFill>
                            <a:schemeClr val="tx1"/>
                          </a:solidFill>
                          <a:latin typeface="+mn-lt"/>
                          <a:ea typeface="+mn-ea"/>
                          <a:cs typeface="+mn-cs"/>
                        </a:rPr>
                        <a:t>The candidate may key in on the fact that many hotels in NYC also generate revenue from restaurants and bars. While this is a great point, advise the candidate that to simplify the case, we will focus only on revenue generated by providing rooms to guests.</a:t>
                      </a:r>
                      <a:endParaRPr lang="en-US" sz="1200" b="0" i="0" u="sng" kern="1200" baseline="0" dirty="0" smtClean="0">
                        <a:solidFill>
                          <a:schemeClr val="tx1"/>
                        </a:solidFill>
                        <a:latin typeface="+mn-lt"/>
                        <a:ea typeface="+mn-ea"/>
                        <a:cs typeface="+mn-cs"/>
                      </a:endParaRPr>
                    </a:p>
                    <a:p>
                      <a:pPr marL="0" indent="0">
                        <a:buNone/>
                      </a:pPr>
                      <a:r>
                        <a:rPr lang="en-US" sz="1200" b="0" i="0" u="sng" kern="1200" baseline="0" dirty="0" smtClean="0">
                          <a:solidFill>
                            <a:schemeClr val="tx1"/>
                          </a:solidFill>
                          <a:latin typeface="+mn-lt"/>
                          <a:ea typeface="+mn-ea"/>
                          <a:cs typeface="+mn-cs"/>
                        </a:rPr>
                        <a:t>Modeled profitability of the NYC hotel industry after 9/11</a:t>
                      </a:r>
                    </a:p>
                    <a:p>
                      <a:pPr marL="228600" indent="-228600">
                        <a:buAutoNum type="alphaLcParenR"/>
                      </a:pPr>
                      <a:r>
                        <a:rPr lang="en-US" sz="1200" b="0" i="0" kern="1200" baseline="0" dirty="0" smtClean="0">
                          <a:solidFill>
                            <a:schemeClr val="tx1"/>
                          </a:solidFill>
                          <a:latin typeface="+mn-lt"/>
                          <a:ea typeface="+mn-ea"/>
                          <a:cs typeface="+mn-cs"/>
                        </a:rPr>
                        <a:t>This should be very similar to the first framework, with some modifications based on changes to occupancy, maybe changing room rates, etc.</a:t>
                      </a:r>
                    </a:p>
                    <a:p>
                      <a:pPr marL="0" indent="0">
                        <a:buNone/>
                      </a:pPr>
                      <a:r>
                        <a:rPr lang="en-US" sz="1200" b="0" i="0" u="sng" kern="1200" baseline="0" dirty="0" smtClean="0">
                          <a:solidFill>
                            <a:schemeClr val="tx1"/>
                          </a:solidFill>
                          <a:latin typeface="+mn-lt"/>
                          <a:ea typeface="+mn-ea"/>
                          <a:cs typeface="+mn-cs"/>
                        </a:rPr>
                        <a:t>Given the analysis of the change in profitability (based on 9/11) the candidate can then make a recommendation of whether or not the industry will need assistance.</a:t>
                      </a:r>
                    </a:p>
                    <a:p>
                      <a:pPr marL="0" indent="0">
                        <a:buNone/>
                      </a:pPr>
                      <a:endParaRPr lang="en-US" sz="1200" b="0" i="0" u="sng" kern="1200" baseline="0" dirty="0" smtClean="0">
                        <a:solidFill>
                          <a:schemeClr val="tx1"/>
                        </a:solidFill>
                        <a:latin typeface="+mn-lt"/>
                        <a:ea typeface="+mn-ea"/>
                        <a:cs typeface="+mn-cs"/>
                      </a:endParaRPr>
                    </a:p>
                    <a:p>
                      <a:pPr marL="0" indent="0">
                        <a:buNone/>
                      </a:pPr>
                      <a:r>
                        <a:rPr lang="en-US" sz="1200" b="0" i="0" u="sng" kern="1200" baseline="0" dirty="0" smtClean="0">
                          <a:solidFill>
                            <a:schemeClr val="tx1"/>
                          </a:solidFill>
                          <a:latin typeface="+mn-lt"/>
                          <a:ea typeface="+mn-ea"/>
                          <a:cs typeface="+mn-cs"/>
                        </a:rPr>
                        <a:t>The candidate should have a strong hypothesis. A good example would be:</a:t>
                      </a:r>
                    </a:p>
                    <a:p>
                      <a:pPr marL="0" indent="0">
                        <a:buNone/>
                      </a:pPr>
                      <a:r>
                        <a:rPr lang="en-US" sz="1200" i="0" kern="1200" baseline="0" dirty="0" smtClean="0">
                          <a:solidFill>
                            <a:schemeClr val="tx1"/>
                          </a:solidFill>
                          <a:latin typeface="+mn-lt"/>
                          <a:ea typeface="+mn-ea"/>
                          <a:cs typeface="+mn-cs"/>
                        </a:rPr>
                        <a:t>“Yes, we can quantify the impact of 9/11 on the industry, by looking at profitability before and after 9/11. We can then make a determination of whether or not assistance is needed by looking at the magnitude of the change in profitability, given the current financial health of the hotel industry.”</a:t>
                      </a:r>
                    </a:p>
                  </a:txBody>
                  <a:tcPr marT="45734" marB="45734">
                    <a:solidFill>
                      <a:schemeClr val="tx1">
                        <a:alpha val="20000"/>
                      </a:schemeClr>
                    </a:solidFill>
                  </a:tcPr>
                </a:tc>
              </a:tr>
            </a:tbl>
          </a:graphicData>
        </a:graphic>
      </p:graphicFrame>
      <p:sp>
        <p:nvSpPr>
          <p:cNvPr id="8" name="TextBox 9"/>
          <p:cNvSpPr txBox="1">
            <a:spLocks noChangeArrowheads="1"/>
          </p:cNvSpPr>
          <p:nvPr/>
        </p:nvSpPr>
        <p:spPr bwMode="auto">
          <a:xfrm>
            <a:off x="1828799" y="376238"/>
            <a:ext cx="63627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400" b="1" dirty="0"/>
              <a:t>Case </a:t>
            </a:r>
            <a:r>
              <a:rPr lang="en-US" sz="2400" b="1" dirty="0" smtClean="0"/>
              <a:t>16: NY </a:t>
            </a:r>
            <a:r>
              <a:rPr lang="en-US" sz="2400" b="1" dirty="0"/>
              <a:t>Economic Development </a:t>
            </a:r>
            <a:r>
              <a:rPr lang="en-US" sz="2400" b="1" dirty="0" smtClean="0"/>
              <a:t>Corp.</a:t>
            </a:r>
            <a:endParaRPr lang="en-US" sz="2400" b="1" dirty="0"/>
          </a:p>
        </p:txBody>
      </p:sp>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130</a:t>
            </a:fld>
            <a:endParaRPr lang="en-US" dirty="0"/>
          </a:p>
        </p:txBody>
      </p:sp>
    </p:spTree>
    <p:extLst>
      <p:ext uri="{BB962C8B-B14F-4D97-AF65-F5344CB8AC3E}">
        <p14:creationId xmlns:p14="http://schemas.microsoft.com/office/powerpoint/2010/main" val="4150987930"/>
      </p:ext>
    </p:extLst>
  </p:cSld>
  <p:clrMapOvr>
    <a:masterClrMapping/>
  </p:clrMapOvr>
  <p:timing>
    <p:tnLst>
      <p:par>
        <p:cTn xmlns:p14="http://schemas.microsoft.com/office/powerpoint/2010/mai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12" name="Table 11"/>
          <p:cNvGraphicFramePr>
            <a:graphicFrameLocks noGrp="1"/>
          </p:cNvGraphicFramePr>
          <p:nvPr>
            <p:extLst>
              <p:ext uri="{D42A27DB-BD31-4B8C-83A1-F6EECF244321}">
                <p14:modId xmlns:p14="http://schemas.microsoft.com/office/powerpoint/2010/main" val="2351703597"/>
              </p:ext>
            </p:extLst>
          </p:nvPr>
        </p:nvGraphicFramePr>
        <p:xfrm>
          <a:off x="30163" y="1295401"/>
          <a:ext cx="9067800" cy="5394988"/>
        </p:xfrm>
        <a:graphic>
          <a:graphicData uri="http://schemas.openxmlformats.org/drawingml/2006/table">
            <a:tbl>
              <a:tblPr firstRow="1" bandRow="1">
                <a:tableStyleId>{616DA210-FB5B-4158-B5E0-FEB733F419BA}</a:tableStyleId>
              </a:tblPr>
              <a:tblGrid>
                <a:gridCol w="1700212"/>
                <a:gridCol w="7367588"/>
              </a:tblGrid>
              <a:tr h="5029205">
                <a:tc>
                  <a:txBody>
                    <a:bodyPr/>
                    <a:lstStyle/>
                    <a:p>
                      <a:pPr algn="ctr"/>
                      <a:r>
                        <a:rPr lang="en-US" sz="1800" b="1" i="0" dirty="0" smtClean="0">
                          <a:latin typeface="+mn-lt"/>
                        </a:rPr>
                        <a:t>Guidance</a:t>
                      </a:r>
                      <a:endParaRPr lang="en-US" sz="1800" b="1" i="0" baseline="0" dirty="0" smtClean="0">
                        <a:latin typeface="+mn-lt"/>
                      </a:endParaRPr>
                    </a:p>
                  </a:txBody>
                  <a:tcPr marT="45734" marB="45734" anchor="ctr">
                    <a:solidFill>
                      <a:schemeClr val="tx1">
                        <a:alpha val="20000"/>
                      </a:schemeClr>
                    </a:solidFill>
                  </a:tcPr>
                </a:tc>
                <a:tc>
                  <a:txBody>
                    <a:bodyPr/>
                    <a:lstStyle/>
                    <a:p>
                      <a:r>
                        <a:rPr lang="en-US" sz="1200" b="0" i="0" kern="1200" dirty="0" smtClean="0">
                          <a:solidFill>
                            <a:schemeClr val="tx1"/>
                          </a:solidFill>
                          <a:latin typeface="+mn-lt"/>
                          <a:ea typeface="+mn-ea"/>
                          <a:cs typeface="+mn-cs"/>
                        </a:rPr>
                        <a:t>The candidate</a:t>
                      </a:r>
                      <a:r>
                        <a:rPr lang="en-US" sz="1200" b="0" i="0" kern="1200" baseline="0" dirty="0" smtClean="0">
                          <a:solidFill>
                            <a:schemeClr val="tx1"/>
                          </a:solidFill>
                          <a:latin typeface="+mn-lt"/>
                          <a:ea typeface="+mn-ea"/>
                          <a:cs typeface="+mn-cs"/>
                        </a:rPr>
                        <a:t> should focus on profitability next.  If not, prompt them in this direction after a bit.</a:t>
                      </a:r>
                      <a:endParaRPr lang="en-US" sz="1200" b="0"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The candidate</a:t>
                      </a:r>
                      <a:r>
                        <a:rPr lang="en-US" sz="1200" b="0" i="0" kern="1200" baseline="0" dirty="0" smtClean="0">
                          <a:solidFill>
                            <a:schemeClr val="tx1"/>
                          </a:solidFill>
                          <a:latin typeface="+mn-lt"/>
                          <a:ea typeface="+mn-ea"/>
                          <a:cs typeface="+mn-cs"/>
                        </a:rPr>
                        <a:t> will likely ask about revenue and costs. Force him/her to be specific in these questions, and only provide the following information. If the candidate is uncomfortable making assumptions, you may have to say something like “we are in the early stages of working with the client, and just don’t have that much information.” If the candidate continues to push, you can suggest making some assumptions.</a:t>
                      </a:r>
                      <a:endParaRPr lang="en-US" sz="1200" b="0" i="0" kern="1200" dirty="0" smtClean="0">
                        <a:solidFill>
                          <a:schemeClr val="tx1"/>
                        </a:solidFill>
                        <a:latin typeface="+mn-lt"/>
                        <a:ea typeface="+mn-ea"/>
                        <a:cs typeface="+mn-cs"/>
                      </a:endParaRPr>
                    </a:p>
                    <a:p>
                      <a:endParaRPr lang="en-US" sz="1200" b="0" i="0" kern="1200" baseline="0" dirty="0" smtClean="0">
                        <a:solidFill>
                          <a:schemeClr val="tx1"/>
                        </a:solidFill>
                        <a:latin typeface="+mn-lt"/>
                        <a:ea typeface="+mn-ea"/>
                        <a:cs typeface="+mn-cs"/>
                      </a:endParaRPr>
                    </a:p>
                    <a:p>
                      <a:r>
                        <a:rPr lang="en-US" sz="1200" b="0" i="0" u="sng" kern="1200" baseline="0" dirty="0" smtClean="0">
                          <a:solidFill>
                            <a:schemeClr val="tx1"/>
                          </a:solidFill>
                          <a:latin typeface="+mn-lt"/>
                          <a:ea typeface="+mn-ea"/>
                          <a:cs typeface="+mn-cs"/>
                        </a:rPr>
                        <a:t>Revenue</a:t>
                      </a:r>
                    </a:p>
                    <a:p>
                      <a:pPr marL="228600" indent="-228600">
                        <a:buAutoNum type="alphaLcParenR"/>
                      </a:pPr>
                      <a:r>
                        <a:rPr lang="en-US" sz="1200" b="0" i="0" kern="1200" baseline="0" dirty="0" smtClean="0">
                          <a:solidFill>
                            <a:schemeClr val="tx1"/>
                          </a:solidFill>
                          <a:latin typeface="+mn-lt"/>
                          <a:ea typeface="+mn-ea"/>
                          <a:cs typeface="+mn-cs"/>
                        </a:rPr>
                        <a:t>There are 300 hotels in New York City</a:t>
                      </a:r>
                    </a:p>
                    <a:p>
                      <a:pPr marL="228600" indent="-228600">
                        <a:buAutoNum type="alphaLcParenR"/>
                      </a:pPr>
                      <a:r>
                        <a:rPr lang="en-US" sz="1200" b="0" i="0" kern="1200" baseline="0" dirty="0" smtClean="0">
                          <a:solidFill>
                            <a:schemeClr val="tx1"/>
                          </a:solidFill>
                          <a:latin typeface="+mn-lt"/>
                          <a:ea typeface="+mn-ea"/>
                          <a:cs typeface="+mn-cs"/>
                        </a:rPr>
                        <a:t>On average, each hotel has 250 rooms</a:t>
                      </a:r>
                    </a:p>
                    <a:p>
                      <a:pPr marL="228600" indent="-228600">
                        <a:buAutoNum type="alphaLcParenR"/>
                      </a:pPr>
                      <a:r>
                        <a:rPr lang="en-US" sz="1200" b="0" i="0" kern="1200" baseline="0" dirty="0" smtClean="0">
                          <a:solidFill>
                            <a:schemeClr val="tx1"/>
                          </a:solidFill>
                          <a:latin typeface="+mn-lt"/>
                          <a:ea typeface="+mn-ea"/>
                          <a:cs typeface="+mn-cs"/>
                        </a:rPr>
                        <a:t>The average nightly room rate is $300.00</a:t>
                      </a:r>
                    </a:p>
                    <a:p>
                      <a:pPr marL="228600" indent="-228600">
                        <a:buAutoNum type="alphaLcParenR"/>
                      </a:pPr>
                      <a:r>
                        <a:rPr lang="en-US" sz="1200" b="0" i="0" kern="1200" baseline="0" dirty="0" smtClean="0">
                          <a:solidFill>
                            <a:schemeClr val="tx1"/>
                          </a:solidFill>
                          <a:latin typeface="+mn-lt"/>
                          <a:ea typeface="+mn-ea"/>
                          <a:cs typeface="+mn-cs"/>
                        </a:rPr>
                        <a:t>Average nightly occupancy is 80%</a:t>
                      </a:r>
                    </a:p>
                    <a:p>
                      <a:pPr marL="0" indent="0">
                        <a:buNone/>
                      </a:pPr>
                      <a:endParaRPr lang="en-US" sz="1200" b="0" i="0" kern="1200" baseline="0" dirty="0" smtClean="0">
                        <a:solidFill>
                          <a:schemeClr val="tx1"/>
                        </a:solidFill>
                        <a:latin typeface="+mn-lt"/>
                        <a:ea typeface="+mn-ea"/>
                        <a:cs typeface="+mn-cs"/>
                      </a:endParaRPr>
                    </a:p>
                    <a:p>
                      <a:pPr marL="0" indent="0">
                        <a:buNone/>
                      </a:pPr>
                      <a:r>
                        <a:rPr lang="en-US" sz="1200" b="1" i="0" kern="1200" baseline="0" dirty="0" smtClean="0">
                          <a:solidFill>
                            <a:schemeClr val="tx1"/>
                          </a:solidFill>
                          <a:latin typeface="+mn-lt"/>
                          <a:ea typeface="+mn-ea"/>
                          <a:cs typeface="+mn-cs"/>
                        </a:rPr>
                        <a:t>Candidate to calculate nightly revenue of $18M for all NYC hotels</a:t>
                      </a:r>
                    </a:p>
                    <a:p>
                      <a:pPr marL="0" indent="0">
                        <a:buNone/>
                      </a:pPr>
                      <a:endParaRPr lang="en-US" sz="1200" b="0" i="0" kern="1200" baseline="0" dirty="0" smtClean="0">
                        <a:solidFill>
                          <a:schemeClr val="tx1"/>
                        </a:solidFill>
                        <a:latin typeface="+mn-lt"/>
                        <a:ea typeface="+mn-ea"/>
                        <a:cs typeface="+mn-cs"/>
                      </a:endParaRPr>
                    </a:p>
                    <a:p>
                      <a:pPr marL="0" indent="0">
                        <a:buNone/>
                      </a:pPr>
                      <a:r>
                        <a:rPr lang="en-US" sz="1200" b="0" i="0" u="sng" kern="1200" baseline="0" dirty="0" smtClean="0">
                          <a:solidFill>
                            <a:schemeClr val="tx1"/>
                          </a:solidFill>
                          <a:latin typeface="+mn-lt"/>
                          <a:ea typeface="+mn-ea"/>
                          <a:cs typeface="+mn-cs"/>
                        </a:rPr>
                        <a:t>Costs</a:t>
                      </a:r>
                      <a:r>
                        <a:rPr lang="en-US" sz="1200" b="0" i="0" u="none" kern="1200" baseline="0" dirty="0" smtClean="0">
                          <a:solidFill>
                            <a:schemeClr val="tx1"/>
                          </a:solidFill>
                          <a:latin typeface="+mn-lt"/>
                          <a:ea typeface="+mn-ea"/>
                          <a:cs typeface="+mn-cs"/>
                        </a:rPr>
                        <a:t> - We</a:t>
                      </a:r>
                      <a:r>
                        <a:rPr lang="en-US" sz="1200" b="0" i="0" kern="1200" baseline="0" dirty="0" smtClean="0">
                          <a:solidFill>
                            <a:schemeClr val="tx1"/>
                          </a:solidFill>
                          <a:latin typeface="+mn-lt"/>
                          <a:ea typeface="+mn-ea"/>
                          <a:cs typeface="+mn-cs"/>
                        </a:rPr>
                        <a:t> don’t know anything about the NYC hotel industry’s cost structure. Ask the candidate to make some assumptions. </a:t>
                      </a:r>
                    </a:p>
                    <a:p>
                      <a:pPr marL="228600" indent="-228600">
                        <a:buAutoNum type="alphaLcParenR"/>
                      </a:pPr>
                      <a:r>
                        <a:rPr lang="en-US" sz="1200" b="0" i="0" kern="1200" baseline="0" dirty="0" smtClean="0">
                          <a:solidFill>
                            <a:schemeClr val="tx1"/>
                          </a:solidFill>
                          <a:latin typeface="+mn-lt"/>
                          <a:ea typeface="+mn-ea"/>
                          <a:cs typeface="+mn-cs"/>
                        </a:rPr>
                        <a:t>Steer the candidate towards a 10% margin</a:t>
                      </a:r>
                    </a:p>
                    <a:p>
                      <a:pPr marL="228600" indent="-228600">
                        <a:buAutoNum type="alphaLcParenR"/>
                      </a:pPr>
                      <a:r>
                        <a:rPr lang="en-US" sz="1200" b="0" i="0" kern="1200" baseline="0" dirty="0" smtClean="0">
                          <a:solidFill>
                            <a:schemeClr val="tx1"/>
                          </a:solidFill>
                          <a:latin typeface="+mn-lt"/>
                          <a:ea typeface="+mn-ea"/>
                          <a:cs typeface="+mn-cs"/>
                        </a:rPr>
                        <a:t>The breakdown between FC and VC is also going to have to be an assumption. Keep in mind that the hotel industry has high fixed costs, and if necessary, point this out to the candidate.</a:t>
                      </a:r>
                    </a:p>
                    <a:p>
                      <a:pPr marL="0" indent="0">
                        <a:buNone/>
                      </a:pPr>
                      <a:endParaRPr lang="en-US" sz="1200" b="0" i="0" kern="1200" baseline="0" dirty="0" smtClean="0">
                        <a:solidFill>
                          <a:schemeClr val="tx1"/>
                        </a:solidFill>
                        <a:latin typeface="+mn-lt"/>
                        <a:ea typeface="+mn-ea"/>
                        <a:cs typeface="+mn-cs"/>
                      </a:endParaRPr>
                    </a:p>
                    <a:p>
                      <a:pPr marL="0" indent="0">
                        <a:buNone/>
                      </a:pPr>
                      <a:r>
                        <a:rPr lang="en-US" sz="1200" b="0" i="0" kern="1200" baseline="0" dirty="0" smtClean="0">
                          <a:solidFill>
                            <a:schemeClr val="tx1"/>
                          </a:solidFill>
                          <a:latin typeface="+mn-lt"/>
                          <a:ea typeface="+mn-ea"/>
                          <a:cs typeface="+mn-cs"/>
                        </a:rPr>
                        <a:t>For example, if the candidate assumes a 10% margin, nightly costs would be $16.2M</a:t>
                      </a:r>
                    </a:p>
                    <a:p>
                      <a:pPr marL="0" indent="0">
                        <a:buNone/>
                      </a:pPr>
                      <a:r>
                        <a:rPr lang="en-US" sz="1200" b="0" i="0" kern="1200" baseline="0" dirty="0" smtClean="0">
                          <a:solidFill>
                            <a:schemeClr val="tx1"/>
                          </a:solidFill>
                          <a:latin typeface="+mn-lt"/>
                          <a:ea typeface="+mn-ea"/>
                          <a:cs typeface="+mn-cs"/>
                        </a:rPr>
                        <a:t>If the candidate assumes 80% of costs are FC, then nightly FC are roughly $13M, and nightly VC are roughly $3.2M</a:t>
                      </a:r>
                    </a:p>
                    <a:p>
                      <a:pPr marL="0" indent="0">
                        <a:buNone/>
                      </a:pPr>
                      <a:endParaRPr lang="en-US" sz="1200" b="0" i="0" kern="1200" baseline="0" dirty="0" smtClean="0">
                        <a:solidFill>
                          <a:schemeClr val="tx1"/>
                        </a:solidFill>
                        <a:latin typeface="+mn-lt"/>
                        <a:ea typeface="+mn-ea"/>
                        <a:cs typeface="+mn-cs"/>
                      </a:endParaRPr>
                    </a:p>
                    <a:p>
                      <a:pPr marL="0" indent="0">
                        <a:buNone/>
                      </a:pPr>
                      <a:r>
                        <a:rPr lang="en-US" sz="1200" b="1" i="0" kern="1200" baseline="0" dirty="0" smtClean="0">
                          <a:solidFill>
                            <a:schemeClr val="tx1"/>
                          </a:solidFill>
                          <a:latin typeface="+mn-lt"/>
                          <a:ea typeface="+mn-ea"/>
                          <a:cs typeface="+mn-cs"/>
                        </a:rPr>
                        <a:t>Candidate calculates nightly profit is $1.8M for the industry before 9/11</a:t>
                      </a:r>
                    </a:p>
                    <a:p>
                      <a:pPr marL="0" indent="0">
                        <a:buNone/>
                      </a:pPr>
                      <a:endParaRPr lang="en-US" sz="1200" b="0" i="0" kern="1200" baseline="0" dirty="0" smtClean="0">
                        <a:solidFill>
                          <a:schemeClr val="tx1"/>
                        </a:solidFill>
                        <a:latin typeface="+mn-lt"/>
                        <a:ea typeface="+mn-ea"/>
                        <a:cs typeface="+mn-cs"/>
                      </a:endParaRPr>
                    </a:p>
                    <a:p>
                      <a:pPr marL="0" indent="0">
                        <a:buNone/>
                      </a:pPr>
                      <a:r>
                        <a:rPr lang="en-US" sz="1200" b="0" i="0" kern="1200" baseline="0" dirty="0" smtClean="0">
                          <a:solidFill>
                            <a:schemeClr val="tx1"/>
                          </a:solidFill>
                          <a:latin typeface="+mn-lt"/>
                          <a:ea typeface="+mn-ea"/>
                          <a:cs typeface="+mn-cs"/>
                        </a:rPr>
                        <a:t>Note: The candidate should realizes that he or she will need the FC / VC breakdown in the next step. If the candidate jumps right to profit, let him or her continue, as costs will come up later…</a:t>
                      </a:r>
                    </a:p>
                  </a:txBody>
                  <a:tcPr marT="45734" marB="45734">
                    <a:solidFill>
                      <a:schemeClr val="tx1">
                        <a:alpha val="20000"/>
                      </a:schemeClr>
                    </a:solidFill>
                  </a:tcPr>
                </a:tc>
              </a:tr>
            </a:tbl>
          </a:graphicData>
        </a:graphic>
      </p:graphicFrame>
      <p:sp>
        <p:nvSpPr>
          <p:cNvPr id="8" name="TextBox 9"/>
          <p:cNvSpPr txBox="1">
            <a:spLocks noChangeArrowheads="1"/>
          </p:cNvSpPr>
          <p:nvPr/>
        </p:nvSpPr>
        <p:spPr bwMode="auto">
          <a:xfrm>
            <a:off x="1828799" y="376238"/>
            <a:ext cx="63627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400" b="1" dirty="0"/>
              <a:t>Case </a:t>
            </a:r>
            <a:r>
              <a:rPr lang="en-US" sz="2400" b="1" dirty="0" smtClean="0"/>
              <a:t>16: NY </a:t>
            </a:r>
            <a:r>
              <a:rPr lang="en-US" sz="2400" b="1" dirty="0"/>
              <a:t>Economic Development </a:t>
            </a:r>
            <a:r>
              <a:rPr lang="en-US" sz="2400" b="1" dirty="0" smtClean="0"/>
              <a:t>Corp.</a:t>
            </a:r>
            <a:endParaRPr lang="en-US" sz="2400" b="1" dirty="0"/>
          </a:p>
        </p:txBody>
      </p:sp>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131</a:t>
            </a:fld>
            <a:endParaRPr lang="en-US" dirty="0"/>
          </a:p>
        </p:txBody>
      </p:sp>
    </p:spTree>
    <p:extLst>
      <p:ext uri="{BB962C8B-B14F-4D97-AF65-F5344CB8AC3E}">
        <p14:creationId xmlns:p14="http://schemas.microsoft.com/office/powerpoint/2010/main" val="1926889723"/>
      </p:ext>
    </p:extLst>
  </p:cSld>
  <p:clrMapOvr>
    <a:masterClrMapping/>
  </p:clrMapOvr>
  <p:timing>
    <p:tnLst>
      <p:par>
        <p:cTn xmlns:p14="http://schemas.microsoft.com/office/powerpoint/2010/mai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12" name="Table 11"/>
          <p:cNvGraphicFramePr>
            <a:graphicFrameLocks noGrp="1"/>
          </p:cNvGraphicFramePr>
          <p:nvPr>
            <p:extLst>
              <p:ext uri="{D42A27DB-BD31-4B8C-83A1-F6EECF244321}">
                <p14:modId xmlns:p14="http://schemas.microsoft.com/office/powerpoint/2010/main" val="1531768813"/>
              </p:ext>
            </p:extLst>
          </p:nvPr>
        </p:nvGraphicFramePr>
        <p:xfrm>
          <a:off x="30163" y="1295400"/>
          <a:ext cx="9067800" cy="5121275"/>
        </p:xfrm>
        <a:graphic>
          <a:graphicData uri="http://schemas.openxmlformats.org/drawingml/2006/table">
            <a:tbl>
              <a:tblPr firstRow="1" bandRow="1">
                <a:tableStyleId>{616DA210-FB5B-4158-B5E0-FEB733F419BA}</a:tableStyleId>
              </a:tblPr>
              <a:tblGrid>
                <a:gridCol w="1700212"/>
                <a:gridCol w="7367588"/>
              </a:tblGrid>
              <a:tr h="823081">
                <a:tc>
                  <a:txBody>
                    <a:bodyPr/>
                    <a:lstStyle/>
                    <a:p>
                      <a:pPr algn="ctr"/>
                      <a:r>
                        <a:rPr lang="en-US" sz="1800" dirty="0" smtClean="0">
                          <a:latin typeface="+mn-lt"/>
                        </a:rPr>
                        <a:t>Next Step</a:t>
                      </a:r>
                      <a:endParaRPr lang="en-US" sz="1800" dirty="0">
                        <a:latin typeface="+mn-lt"/>
                      </a:endParaRPr>
                    </a:p>
                  </a:txBody>
                  <a:tcPr marT="45739" marB="45739" anchor="ctr"/>
                </a:tc>
                <a:tc>
                  <a:txBody>
                    <a:bodyPr/>
                    <a:lstStyle/>
                    <a:p>
                      <a:r>
                        <a:rPr lang="en-US" sz="1200" b="0" kern="1200" dirty="0" smtClean="0">
                          <a:latin typeface="+mn-lt"/>
                        </a:rPr>
                        <a:t>Now</a:t>
                      </a:r>
                      <a:r>
                        <a:rPr lang="en-US" sz="1200" b="0" kern="1200" baseline="0" dirty="0" smtClean="0">
                          <a:latin typeface="+mn-lt"/>
                        </a:rPr>
                        <a:t> </a:t>
                      </a:r>
                      <a:r>
                        <a:rPr lang="en-US" sz="1200" b="0" kern="1200" dirty="0" smtClean="0">
                          <a:latin typeface="+mn-lt"/>
                        </a:rPr>
                        <a:t>the candidate should be moving on to a model</a:t>
                      </a:r>
                      <a:r>
                        <a:rPr lang="en-US" sz="1200" b="0" kern="1200" baseline="0" dirty="0" smtClean="0">
                          <a:latin typeface="+mn-lt"/>
                        </a:rPr>
                        <a:t> that will show how profitability will change based on 9/11. In this case, we have no information, and you should let the candidate make assumptions. Use your best judgment (and the example below) to guide whether or not the candidate is making reasonable assumptions. </a:t>
                      </a:r>
                    </a:p>
                  </a:txBody>
                  <a:tcPr marT="45739" marB="45739"/>
                </a:tc>
              </a:tr>
              <a:tr h="4298194">
                <a:tc>
                  <a:txBody>
                    <a:bodyPr/>
                    <a:lstStyle/>
                    <a:p>
                      <a:pPr algn="ctr"/>
                      <a:r>
                        <a:rPr lang="en-US" sz="1800" b="1" i="0" dirty="0" smtClean="0">
                          <a:latin typeface="+mn-lt"/>
                        </a:rPr>
                        <a:t>Guidance</a:t>
                      </a:r>
                      <a:endParaRPr lang="en-US" sz="1800" b="1" i="0" baseline="0" dirty="0" smtClean="0">
                        <a:latin typeface="+mn-lt"/>
                      </a:endParaRPr>
                    </a:p>
                  </a:txBody>
                  <a:tcPr marT="45739" marB="45739" anchor="ctr"/>
                </a:tc>
                <a:tc>
                  <a:txBody>
                    <a:bodyPr/>
                    <a:lstStyle/>
                    <a:p>
                      <a:r>
                        <a:rPr lang="en-US" sz="1200" i="0" kern="1200" dirty="0" smtClean="0">
                          <a:solidFill>
                            <a:schemeClr val="tx1"/>
                          </a:solidFill>
                          <a:latin typeface="+mn-lt"/>
                          <a:ea typeface="+mn-ea"/>
                          <a:cs typeface="+mn-cs"/>
                        </a:rPr>
                        <a:t>Obviously 9/11 had a significant impact on New York City, and effectively destroyed the local economy</a:t>
                      </a:r>
                      <a:r>
                        <a:rPr lang="en-US" sz="1200" i="0" kern="1200" baseline="0" dirty="0" smtClean="0">
                          <a:solidFill>
                            <a:schemeClr val="tx1"/>
                          </a:solidFill>
                          <a:latin typeface="+mn-lt"/>
                          <a:ea typeface="+mn-ea"/>
                          <a:cs typeface="+mn-cs"/>
                        </a:rPr>
                        <a:t> in the short term. The following example shows one way that the candidate could model the swing in profitability for the hotel industry:</a:t>
                      </a:r>
                      <a:endParaRPr lang="en-US" sz="1200" i="0" kern="120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r>
                        <a:rPr lang="en-US" sz="1200" i="0" u="sng" kern="1200" baseline="0" dirty="0" smtClean="0">
                          <a:solidFill>
                            <a:schemeClr val="tx1"/>
                          </a:solidFill>
                          <a:latin typeface="+mn-lt"/>
                          <a:ea typeface="+mn-ea"/>
                          <a:cs typeface="+mn-cs"/>
                        </a:rPr>
                        <a:t>Revenue</a:t>
                      </a:r>
                    </a:p>
                    <a:p>
                      <a:pPr marL="228600" indent="-228600">
                        <a:buAutoNum type="alphaLcParenR"/>
                      </a:pPr>
                      <a:r>
                        <a:rPr lang="en-US" sz="1200" i="0" kern="1200" baseline="0" dirty="0" smtClean="0">
                          <a:solidFill>
                            <a:schemeClr val="tx1"/>
                          </a:solidFill>
                          <a:latin typeface="+mn-lt"/>
                          <a:ea typeface="+mn-ea"/>
                          <a:cs typeface="+mn-cs"/>
                        </a:rPr>
                        <a:t>Assume a 50/50 split between business and leisure travelers looking for hotel rooms.</a:t>
                      </a:r>
                    </a:p>
                    <a:p>
                      <a:pPr marL="228600" indent="-228600">
                        <a:buAutoNum type="alphaLcParenR"/>
                      </a:pPr>
                      <a:r>
                        <a:rPr lang="en-US" sz="1200" i="0" kern="1200" baseline="0" dirty="0" smtClean="0">
                          <a:solidFill>
                            <a:schemeClr val="tx1"/>
                          </a:solidFill>
                          <a:latin typeface="+mn-lt"/>
                          <a:ea typeface="+mn-ea"/>
                          <a:cs typeface="+mn-cs"/>
                        </a:rPr>
                        <a:t>Assume that leisure travelers will simply chose not to come to NYC in the short term.</a:t>
                      </a:r>
                    </a:p>
                    <a:p>
                      <a:pPr marL="228600" indent="-228600">
                        <a:buAutoNum type="alphaLcParenR"/>
                      </a:pPr>
                      <a:r>
                        <a:rPr lang="en-US" sz="1200" i="0" kern="1200" baseline="0" dirty="0" smtClean="0">
                          <a:solidFill>
                            <a:schemeClr val="tx1"/>
                          </a:solidFill>
                          <a:latin typeface="+mn-lt"/>
                          <a:ea typeface="+mn-ea"/>
                          <a:cs typeface="+mn-cs"/>
                        </a:rPr>
                        <a:t>Assume that 50% of business travelers will still need a room, and the other 50% will cancel their trips.</a:t>
                      </a:r>
                    </a:p>
                    <a:p>
                      <a:pPr marL="228600" indent="-228600">
                        <a:buAutoNum type="alphaLcParenR"/>
                      </a:pPr>
                      <a:r>
                        <a:rPr lang="en-US" sz="1200" i="0" kern="1200" baseline="0" dirty="0" smtClean="0">
                          <a:solidFill>
                            <a:schemeClr val="tx1"/>
                          </a:solidFill>
                          <a:latin typeface="+mn-lt"/>
                          <a:ea typeface="+mn-ea"/>
                          <a:cs typeface="+mn-cs"/>
                        </a:rPr>
                        <a:t>Assume that average room rates will NOT change in the short term, and will stay at $300.00 per night.</a:t>
                      </a:r>
                    </a:p>
                    <a:p>
                      <a:pPr marL="228600" indent="-228600">
                        <a:buAutoNum type="alphaLcParenR"/>
                      </a:pPr>
                      <a:endParaRPr lang="en-US" sz="1200" i="0" kern="1200" baseline="0" dirty="0" smtClean="0">
                        <a:solidFill>
                          <a:schemeClr val="tx1"/>
                        </a:solidFill>
                        <a:latin typeface="+mn-lt"/>
                        <a:ea typeface="+mn-ea"/>
                        <a:cs typeface="+mn-cs"/>
                      </a:endParaRPr>
                    </a:p>
                    <a:p>
                      <a:pPr marL="0" indent="0">
                        <a:buNone/>
                      </a:pPr>
                      <a:r>
                        <a:rPr lang="en-US" sz="1200" i="0" kern="1200" baseline="0" dirty="0" smtClean="0">
                          <a:solidFill>
                            <a:schemeClr val="tx1"/>
                          </a:solidFill>
                          <a:latin typeface="+mn-lt"/>
                          <a:ea typeface="+mn-ea"/>
                          <a:cs typeface="+mn-cs"/>
                        </a:rPr>
                        <a:t>This would result in $4.5M of nightly revenue from business travelers, and $0 of nightly revenue from leisure travelers, for a total of $4.5M per night.</a:t>
                      </a:r>
                    </a:p>
                    <a:p>
                      <a:pPr marL="0" indent="0">
                        <a:buNone/>
                      </a:pPr>
                      <a:endParaRPr lang="en-US" sz="1200" i="0" kern="1200" baseline="0" dirty="0" smtClean="0">
                        <a:solidFill>
                          <a:schemeClr val="tx1"/>
                        </a:solidFill>
                        <a:latin typeface="+mn-lt"/>
                        <a:ea typeface="+mn-ea"/>
                        <a:cs typeface="+mn-cs"/>
                      </a:endParaRPr>
                    </a:p>
                    <a:p>
                      <a:pPr marL="0" indent="0">
                        <a:buNone/>
                      </a:pPr>
                      <a:r>
                        <a:rPr lang="en-US" sz="1200" i="0" u="sng" kern="1200" baseline="0" dirty="0" smtClean="0">
                          <a:solidFill>
                            <a:schemeClr val="tx1"/>
                          </a:solidFill>
                          <a:latin typeface="+mn-lt"/>
                          <a:ea typeface="+mn-ea"/>
                          <a:cs typeface="+mn-cs"/>
                        </a:rPr>
                        <a:t>Costs</a:t>
                      </a:r>
                    </a:p>
                    <a:p>
                      <a:pPr marL="228600" indent="-228600">
                        <a:buAutoNum type="alphaLcParenR"/>
                      </a:pPr>
                      <a:r>
                        <a:rPr lang="en-US" sz="1200" i="0" kern="1200" baseline="0" dirty="0" smtClean="0">
                          <a:solidFill>
                            <a:schemeClr val="tx1"/>
                          </a:solidFill>
                          <a:latin typeface="+mn-lt"/>
                          <a:ea typeface="+mn-ea"/>
                          <a:cs typeface="+mn-cs"/>
                        </a:rPr>
                        <a:t>Assuming that cost structures remain constant (from the last page) we have FC of $13M per night</a:t>
                      </a:r>
                    </a:p>
                    <a:p>
                      <a:pPr marL="228600" indent="-228600">
                        <a:buAutoNum type="alphaLcParenR"/>
                      </a:pPr>
                      <a:r>
                        <a:rPr lang="en-US" sz="1200" i="0" kern="1200" baseline="0" dirty="0" smtClean="0">
                          <a:solidFill>
                            <a:schemeClr val="tx1"/>
                          </a:solidFill>
                          <a:latin typeface="+mn-lt"/>
                          <a:ea typeface="+mn-ea"/>
                          <a:cs typeface="+mn-cs"/>
                        </a:rPr>
                        <a:t>VC are now $3.2M divided by 4 (based on the above assumptions), for updated VC of $800,000 per night.</a:t>
                      </a:r>
                    </a:p>
                    <a:p>
                      <a:pPr marL="228600" indent="-228600">
                        <a:buAutoNum type="alphaLcParenR"/>
                      </a:pPr>
                      <a:r>
                        <a:rPr lang="en-US" sz="1200" i="0" kern="1200" baseline="0" dirty="0" smtClean="0">
                          <a:solidFill>
                            <a:schemeClr val="tx1"/>
                          </a:solidFill>
                          <a:latin typeface="+mn-lt"/>
                          <a:ea typeface="+mn-ea"/>
                          <a:cs typeface="+mn-cs"/>
                        </a:rPr>
                        <a:t>Total costs are now 13.8M per night, and the industry is losing $9.3M every night.</a:t>
                      </a:r>
                    </a:p>
                    <a:p>
                      <a:pPr marL="228600" indent="-228600">
                        <a:buAutoNum type="alphaLcParenR"/>
                      </a:pPr>
                      <a:endParaRPr lang="en-US" sz="1200" i="0" kern="1200" baseline="0" dirty="0" smtClean="0">
                        <a:solidFill>
                          <a:schemeClr val="tx1"/>
                        </a:solidFill>
                        <a:latin typeface="+mn-lt"/>
                        <a:ea typeface="+mn-ea"/>
                        <a:cs typeface="+mn-cs"/>
                      </a:endParaRPr>
                    </a:p>
                    <a:p>
                      <a:pPr marL="0" indent="0">
                        <a:buNone/>
                      </a:pPr>
                      <a:r>
                        <a:rPr lang="en-US" sz="1200" i="0" kern="1200" baseline="0" dirty="0" smtClean="0">
                          <a:solidFill>
                            <a:schemeClr val="tx1"/>
                          </a:solidFill>
                          <a:latin typeface="+mn-lt"/>
                          <a:ea typeface="+mn-ea"/>
                          <a:cs typeface="+mn-cs"/>
                        </a:rPr>
                        <a:t>The candidate should come up with a number between ($5M) and ($12M) for nightly profitability. Of course, the answer will change based on the assumptions the candidate makes. If his or her assumptions are even close to reasonable, the candidate should conclude that the industry is bleeding money, and badly needs help.</a:t>
                      </a:r>
                    </a:p>
                  </a:txBody>
                  <a:tcPr marT="45739" marB="45739"/>
                </a:tc>
              </a:tr>
            </a:tbl>
          </a:graphicData>
        </a:graphic>
      </p:graphicFrame>
      <p:sp>
        <p:nvSpPr>
          <p:cNvPr id="8" name="TextBox 9"/>
          <p:cNvSpPr txBox="1">
            <a:spLocks noChangeArrowheads="1"/>
          </p:cNvSpPr>
          <p:nvPr/>
        </p:nvSpPr>
        <p:spPr bwMode="auto">
          <a:xfrm>
            <a:off x="1828799" y="376238"/>
            <a:ext cx="63627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400" b="1" dirty="0"/>
              <a:t>Case </a:t>
            </a:r>
            <a:r>
              <a:rPr lang="en-US" sz="2400" b="1" dirty="0" smtClean="0"/>
              <a:t>16: NY </a:t>
            </a:r>
            <a:r>
              <a:rPr lang="en-US" sz="2400" b="1" dirty="0"/>
              <a:t>Economic Development </a:t>
            </a:r>
            <a:r>
              <a:rPr lang="en-US" sz="2400" b="1" dirty="0" smtClean="0"/>
              <a:t>Corp.</a:t>
            </a:r>
            <a:endParaRPr lang="en-US" sz="2400" b="1" dirty="0"/>
          </a:p>
        </p:txBody>
      </p:sp>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132</a:t>
            </a:fld>
            <a:endParaRPr lang="en-US" dirty="0"/>
          </a:p>
        </p:txBody>
      </p:sp>
    </p:spTree>
    <p:extLst>
      <p:ext uri="{BB962C8B-B14F-4D97-AF65-F5344CB8AC3E}">
        <p14:creationId xmlns:p14="http://schemas.microsoft.com/office/powerpoint/2010/main" val="711651165"/>
      </p:ext>
    </p:extLst>
  </p:cSld>
  <p:clrMapOvr>
    <a:masterClrMapping/>
  </p:clrMapOvr>
  <p:timing>
    <p:tnLst>
      <p:par>
        <p:cTn xmlns:p14="http://schemas.microsoft.com/office/powerpoint/2010/mai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12" name="Table 11"/>
          <p:cNvGraphicFramePr>
            <a:graphicFrameLocks noGrp="1"/>
          </p:cNvGraphicFramePr>
          <p:nvPr>
            <p:extLst>
              <p:ext uri="{D42A27DB-BD31-4B8C-83A1-F6EECF244321}">
                <p14:modId xmlns:p14="http://schemas.microsoft.com/office/powerpoint/2010/main" val="2024441873"/>
              </p:ext>
            </p:extLst>
          </p:nvPr>
        </p:nvGraphicFramePr>
        <p:xfrm>
          <a:off x="30163" y="1404938"/>
          <a:ext cx="9067800" cy="5120660"/>
        </p:xfrm>
        <a:graphic>
          <a:graphicData uri="http://schemas.openxmlformats.org/drawingml/2006/table">
            <a:tbl>
              <a:tblPr firstRow="1" bandRow="1">
                <a:tableStyleId>{616DA210-FB5B-4158-B5E0-FEB733F419BA}</a:tableStyleId>
              </a:tblPr>
              <a:tblGrid>
                <a:gridCol w="1700212"/>
                <a:gridCol w="7367588"/>
              </a:tblGrid>
              <a:tr h="639982">
                <a:tc>
                  <a:txBody>
                    <a:bodyPr/>
                    <a:lstStyle/>
                    <a:p>
                      <a:pPr algn="ctr"/>
                      <a:r>
                        <a:rPr lang="en-US" sz="1800" dirty="0" smtClean="0">
                          <a:latin typeface="+mn-lt"/>
                        </a:rPr>
                        <a:t>Next Step</a:t>
                      </a:r>
                      <a:endParaRPr lang="en-US" sz="1800" dirty="0">
                        <a:latin typeface="+mn-lt"/>
                      </a:endParaRPr>
                    </a:p>
                  </a:txBody>
                  <a:tcPr marT="45725" marB="45725" anchor="ctr"/>
                </a:tc>
                <a:tc>
                  <a:txBody>
                    <a:bodyPr/>
                    <a:lstStyle/>
                    <a:p>
                      <a:r>
                        <a:rPr lang="en-US" sz="1200" b="0" kern="1200" dirty="0" smtClean="0">
                          <a:latin typeface="+mn-lt"/>
                        </a:rPr>
                        <a:t>Hopefully, now that the candidate has modeled the change in profitability for the industry, he or she is</a:t>
                      </a:r>
                      <a:r>
                        <a:rPr lang="en-US" sz="1200" b="0" kern="1200" baseline="0" dirty="0" smtClean="0">
                          <a:latin typeface="+mn-lt"/>
                        </a:rPr>
                        <a:t> ready to move on to the second question. Here the candidate should be looking at the fact that the industry badly needs help, and should be thinking of ways the EDC (and government) can help.</a:t>
                      </a:r>
                    </a:p>
                  </a:txBody>
                  <a:tcPr marT="45725" marB="45725"/>
                </a:tc>
              </a:tr>
              <a:tr h="4479705">
                <a:tc>
                  <a:txBody>
                    <a:bodyPr/>
                    <a:lstStyle/>
                    <a:p>
                      <a:pPr algn="ctr"/>
                      <a:r>
                        <a:rPr lang="en-US" sz="1800" b="1" i="0" dirty="0" smtClean="0">
                          <a:latin typeface="+mn-lt"/>
                        </a:rPr>
                        <a:t>Guidance</a:t>
                      </a:r>
                      <a:endParaRPr lang="en-US" sz="1800" b="1" i="0" baseline="0" dirty="0" smtClean="0">
                        <a:latin typeface="+mn-lt"/>
                      </a:endParaRPr>
                    </a:p>
                  </a:txBody>
                  <a:tcPr marT="45725" marB="45725" anchor="ctr"/>
                </a:tc>
                <a:tc>
                  <a:txBody>
                    <a:bodyPr/>
                    <a:lstStyle/>
                    <a:p>
                      <a:r>
                        <a:rPr lang="en-US" sz="1200" i="0" kern="1200" dirty="0" smtClean="0">
                          <a:solidFill>
                            <a:schemeClr val="tx1"/>
                          </a:solidFill>
                          <a:latin typeface="+mn-lt"/>
                          <a:ea typeface="+mn-ea"/>
                          <a:cs typeface="+mn-cs"/>
                        </a:rPr>
                        <a:t>The candidate should show sound</a:t>
                      </a:r>
                      <a:r>
                        <a:rPr lang="en-US" sz="1200" i="0" kern="1200" baseline="0" dirty="0" smtClean="0">
                          <a:solidFill>
                            <a:schemeClr val="tx1"/>
                          </a:solidFill>
                          <a:latin typeface="+mn-lt"/>
                          <a:ea typeface="+mn-ea"/>
                          <a:cs typeface="+mn-cs"/>
                        </a:rPr>
                        <a:t> business judgment and realize that this swing in profitability is HUGE, and that the industry is bleeding money. The next step is how the EDC can help.</a:t>
                      </a:r>
                    </a:p>
                    <a:p>
                      <a:endParaRPr lang="en-US" sz="1200" i="0" kern="1200" baseline="0" dirty="0" smtClean="0">
                        <a:solidFill>
                          <a:schemeClr val="tx1"/>
                        </a:solidFill>
                        <a:latin typeface="+mn-lt"/>
                        <a:ea typeface="+mn-ea"/>
                        <a:cs typeface="+mn-cs"/>
                      </a:endParaRPr>
                    </a:p>
                    <a:p>
                      <a:r>
                        <a:rPr lang="en-US" sz="1200" i="0" kern="1200" baseline="0" dirty="0" smtClean="0">
                          <a:solidFill>
                            <a:schemeClr val="tx1"/>
                          </a:solidFill>
                          <a:latin typeface="+mn-lt"/>
                          <a:ea typeface="+mn-ea"/>
                          <a:cs typeface="+mn-cs"/>
                        </a:rPr>
                        <a:t>To help in guiding the discussion that will follow:</a:t>
                      </a:r>
                    </a:p>
                    <a:p>
                      <a:endParaRPr lang="en-US" sz="1200" i="0" kern="1200" baseline="0" dirty="0" smtClean="0">
                        <a:solidFill>
                          <a:schemeClr val="tx1"/>
                        </a:solidFill>
                        <a:latin typeface="+mn-lt"/>
                        <a:ea typeface="+mn-ea"/>
                        <a:cs typeface="+mn-cs"/>
                      </a:endParaRPr>
                    </a:p>
                    <a:p>
                      <a:pPr marL="228600" indent="-228600">
                        <a:buFont typeface="+mj-lt"/>
                        <a:buAutoNum type="arabicPeriod"/>
                      </a:pPr>
                      <a:r>
                        <a:rPr lang="en-US" sz="1200" i="0" kern="1200" baseline="0" dirty="0" smtClean="0">
                          <a:solidFill>
                            <a:schemeClr val="tx1"/>
                          </a:solidFill>
                          <a:latin typeface="+mn-lt"/>
                          <a:ea typeface="+mn-ea"/>
                          <a:cs typeface="+mn-cs"/>
                        </a:rPr>
                        <a:t>If the candidate is stuck, or asks for direction, ask him/her “how do you think the EDC could help?” This should generate a discussion, and you are mostly applying common sense to the suggestions that the candidate will provide.</a:t>
                      </a:r>
                    </a:p>
                    <a:p>
                      <a:pPr marL="228600" indent="-228600">
                        <a:buFont typeface="+mj-lt"/>
                        <a:buAutoNum type="arabicPeriod"/>
                      </a:pPr>
                      <a:r>
                        <a:rPr lang="en-US" sz="1200" i="0" kern="1200" baseline="0" dirty="0" smtClean="0">
                          <a:solidFill>
                            <a:schemeClr val="tx1"/>
                          </a:solidFill>
                          <a:latin typeface="+mn-lt"/>
                          <a:ea typeface="+mn-ea"/>
                          <a:cs typeface="+mn-cs"/>
                        </a:rPr>
                        <a:t>If the candidate asks about the current financial health of the industry, turn the question around and ask the same of him/her. The candidate may come up with:</a:t>
                      </a:r>
                    </a:p>
                    <a:p>
                      <a:pPr marL="506413" indent="-228600">
                        <a:buAutoNum type="alphaLcParenR"/>
                      </a:pPr>
                      <a:r>
                        <a:rPr lang="en-US" sz="1200" i="0" kern="1200" baseline="0" dirty="0" smtClean="0">
                          <a:solidFill>
                            <a:schemeClr val="tx1"/>
                          </a:solidFill>
                          <a:latin typeface="+mn-lt"/>
                          <a:ea typeface="+mn-ea"/>
                          <a:cs typeface="+mn-cs"/>
                        </a:rPr>
                        <a:t>There is a huge difference between an individual hotel and a chain (ability to sustain losses) because the chain will continue to generate revenue from its other locations</a:t>
                      </a:r>
                    </a:p>
                    <a:p>
                      <a:pPr marL="506413" indent="-228600">
                        <a:buAutoNum type="alphaLcParenR"/>
                      </a:pPr>
                      <a:r>
                        <a:rPr lang="en-US" sz="1200" i="0" kern="1200" baseline="0" dirty="0" smtClean="0">
                          <a:solidFill>
                            <a:schemeClr val="tx1"/>
                          </a:solidFill>
                          <a:latin typeface="+mn-lt"/>
                          <a:ea typeface="+mn-ea"/>
                          <a:cs typeface="+mn-cs"/>
                        </a:rPr>
                        <a:t>Certain areas will be hit harder, based on geographic proximity to the Twin Towers and the Financial District.</a:t>
                      </a:r>
                    </a:p>
                    <a:p>
                      <a:pPr marL="506413" indent="-228600">
                        <a:buAutoNum type="alphaLcParenR"/>
                      </a:pPr>
                      <a:r>
                        <a:rPr lang="en-US" sz="1200" i="0" kern="1200" baseline="0" dirty="0" smtClean="0">
                          <a:solidFill>
                            <a:schemeClr val="tx1"/>
                          </a:solidFill>
                          <a:latin typeface="+mn-lt"/>
                          <a:ea typeface="+mn-ea"/>
                          <a:cs typeface="+mn-cs"/>
                        </a:rPr>
                        <a:t>Some hotels may be uninhabitable in the short term.</a:t>
                      </a:r>
                    </a:p>
                    <a:p>
                      <a:pPr marL="285750" indent="-285750">
                        <a:buFont typeface="+mj-lt"/>
                        <a:buAutoNum type="arabicPeriod" startAt="3"/>
                      </a:pPr>
                      <a:r>
                        <a:rPr lang="en-US" sz="1200" i="0" kern="1200" baseline="0" dirty="0" smtClean="0">
                          <a:solidFill>
                            <a:schemeClr val="tx1"/>
                          </a:solidFill>
                          <a:latin typeface="+mn-lt"/>
                          <a:ea typeface="+mn-ea"/>
                          <a:cs typeface="+mn-cs"/>
                        </a:rPr>
                        <a:t>How can the EDC help?</a:t>
                      </a:r>
                    </a:p>
                    <a:p>
                      <a:pPr marL="506413" indent="-228600">
                        <a:buAutoNum type="alphaLcParenR"/>
                      </a:pPr>
                      <a:r>
                        <a:rPr lang="en-US" sz="1200" i="0" kern="1200" baseline="0" dirty="0" smtClean="0">
                          <a:solidFill>
                            <a:schemeClr val="tx1"/>
                          </a:solidFill>
                          <a:latin typeface="+mn-lt"/>
                          <a:ea typeface="+mn-ea"/>
                          <a:cs typeface="+mn-cs"/>
                        </a:rPr>
                        <a:t>It may be helpful to ask the candidate about the different levels of government (Federal, State, local) and how they could help the industry. </a:t>
                      </a:r>
                    </a:p>
                    <a:p>
                      <a:pPr marL="506413" indent="-228600">
                        <a:buAutoNum type="alphaLcParenR"/>
                      </a:pPr>
                      <a:r>
                        <a:rPr lang="en-US" sz="1200" i="0" kern="1200" baseline="0" dirty="0" smtClean="0">
                          <a:solidFill>
                            <a:schemeClr val="tx1"/>
                          </a:solidFill>
                          <a:latin typeface="+mn-lt"/>
                          <a:ea typeface="+mn-ea"/>
                          <a:cs typeface="+mn-cs"/>
                        </a:rPr>
                        <a:t>Examples could be tax breaks, federal funding direct to individual hotels, a PR blitz to incentivize tourism, etc.</a:t>
                      </a:r>
                    </a:p>
                    <a:p>
                      <a:pPr marL="506413" indent="-228600">
                        <a:buAutoNum type="alphaLcParenR"/>
                      </a:pPr>
                      <a:r>
                        <a:rPr lang="en-US" sz="1200" i="0" kern="1200" baseline="0" dirty="0" smtClean="0">
                          <a:solidFill>
                            <a:schemeClr val="tx1"/>
                          </a:solidFill>
                          <a:latin typeface="+mn-lt"/>
                          <a:ea typeface="+mn-ea"/>
                          <a:cs typeface="+mn-cs"/>
                        </a:rPr>
                        <a:t>A strong candidate will bring up risks and other potential downsides associated with each strategy.</a:t>
                      </a:r>
                    </a:p>
                    <a:p>
                      <a:pPr marL="506413" indent="-228600">
                        <a:buAutoNum type="alphaLcParenR"/>
                      </a:pPr>
                      <a:r>
                        <a:rPr lang="en-US" sz="1200" i="0" kern="1200" baseline="0" dirty="0" smtClean="0">
                          <a:solidFill>
                            <a:schemeClr val="tx1"/>
                          </a:solidFill>
                          <a:latin typeface="+mn-lt"/>
                          <a:ea typeface="+mn-ea"/>
                          <a:cs typeface="+mn-cs"/>
                        </a:rPr>
                        <a:t>At this point, you are assessing the candidate’s creativity and business judgment. Keep the conversation moving until he or she is out of ideas.</a:t>
                      </a:r>
                    </a:p>
                    <a:p>
                      <a:pPr marL="228600" indent="-228600">
                        <a:buAutoNum type="alphaLcParenR"/>
                      </a:pPr>
                      <a:endParaRPr lang="en-US" sz="1200" i="0" kern="1200" baseline="0" dirty="0" smtClean="0">
                        <a:solidFill>
                          <a:schemeClr val="tx1"/>
                        </a:solidFill>
                        <a:latin typeface="+mn-lt"/>
                        <a:ea typeface="+mn-ea"/>
                        <a:cs typeface="+mn-cs"/>
                      </a:endParaRPr>
                    </a:p>
                  </a:txBody>
                  <a:tcPr marT="45725" marB="45725"/>
                </a:tc>
              </a:tr>
            </a:tbl>
          </a:graphicData>
        </a:graphic>
      </p:graphicFrame>
      <p:sp>
        <p:nvSpPr>
          <p:cNvPr id="8" name="TextBox 9"/>
          <p:cNvSpPr txBox="1">
            <a:spLocks noChangeArrowheads="1"/>
          </p:cNvSpPr>
          <p:nvPr/>
        </p:nvSpPr>
        <p:spPr bwMode="auto">
          <a:xfrm>
            <a:off x="1828799" y="376238"/>
            <a:ext cx="63627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400" b="1" dirty="0"/>
              <a:t>Case </a:t>
            </a:r>
            <a:r>
              <a:rPr lang="en-US" sz="2400" b="1" dirty="0" smtClean="0"/>
              <a:t>16: NY </a:t>
            </a:r>
            <a:r>
              <a:rPr lang="en-US" sz="2400" b="1" dirty="0"/>
              <a:t>Economic Development </a:t>
            </a:r>
            <a:r>
              <a:rPr lang="en-US" sz="2400" b="1" dirty="0" smtClean="0"/>
              <a:t>Corp.</a:t>
            </a:r>
            <a:endParaRPr lang="en-US" sz="2400" b="1" dirty="0"/>
          </a:p>
        </p:txBody>
      </p:sp>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133</a:t>
            </a:fld>
            <a:endParaRPr lang="en-US" dirty="0"/>
          </a:p>
        </p:txBody>
      </p:sp>
    </p:spTree>
    <p:extLst>
      <p:ext uri="{BB962C8B-B14F-4D97-AF65-F5344CB8AC3E}">
        <p14:creationId xmlns:p14="http://schemas.microsoft.com/office/powerpoint/2010/main" val="659205535"/>
      </p:ext>
    </p:extLst>
  </p:cSld>
  <p:clrMapOvr>
    <a:masterClrMapping/>
  </p:clrMapOvr>
  <p:timing>
    <p:tnLst>
      <p:par>
        <p:cTn xmlns:p14="http://schemas.microsoft.com/office/powerpoint/2010/mai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12" name="Table 11"/>
          <p:cNvGraphicFramePr>
            <a:graphicFrameLocks noGrp="1"/>
          </p:cNvGraphicFramePr>
          <p:nvPr>
            <p:extLst>
              <p:ext uri="{D42A27DB-BD31-4B8C-83A1-F6EECF244321}">
                <p14:modId xmlns:p14="http://schemas.microsoft.com/office/powerpoint/2010/main" val="1160333279"/>
              </p:ext>
            </p:extLst>
          </p:nvPr>
        </p:nvGraphicFramePr>
        <p:xfrm>
          <a:off x="304800" y="1533525"/>
          <a:ext cx="8534400" cy="2306644"/>
        </p:xfrm>
        <a:graphic>
          <a:graphicData uri="http://schemas.openxmlformats.org/drawingml/2006/table">
            <a:tbl>
              <a:tblPr firstRow="1" bandRow="1">
                <a:tableStyleId>{616DA210-FB5B-4158-B5E0-FEB733F419BA}</a:tableStyleId>
              </a:tblPr>
              <a:tblGrid>
                <a:gridCol w="1600200"/>
                <a:gridCol w="6934200"/>
              </a:tblGrid>
              <a:tr h="1117898">
                <a:tc>
                  <a:txBody>
                    <a:bodyPr/>
                    <a:lstStyle/>
                    <a:p>
                      <a:pPr algn="ctr"/>
                      <a:r>
                        <a:rPr lang="en-US" sz="1800" dirty="0" smtClean="0">
                          <a:latin typeface="+mn-lt"/>
                        </a:rPr>
                        <a:t>Summary</a:t>
                      </a:r>
                      <a:endParaRPr lang="en-US" sz="1800" dirty="0">
                        <a:latin typeface="+mn-lt"/>
                      </a:endParaRPr>
                    </a:p>
                  </a:txBody>
                  <a:tcPr marT="45733" marB="45733" anchor="ctr"/>
                </a:tc>
                <a:tc>
                  <a:txBody>
                    <a:bodyPr/>
                    <a:lstStyle/>
                    <a:p>
                      <a:r>
                        <a:rPr lang="en-US" sz="1200" b="1" dirty="0" smtClean="0"/>
                        <a:t>Okay, great.  We just ran into the President of the EDC, and he would like an update on our progress.</a:t>
                      </a:r>
                      <a:r>
                        <a:rPr lang="en-US" sz="1200" b="1" baseline="0" dirty="0" smtClean="0"/>
                        <a:t>  What would you say?</a:t>
                      </a:r>
                      <a:endParaRPr lang="en-US" sz="1200" b="0" dirty="0" smtClean="0"/>
                    </a:p>
                  </a:txBody>
                  <a:tcPr marT="45733" marB="45733" anchor="ctr"/>
                </a:tc>
              </a:tr>
              <a:tr h="1188740">
                <a:tc>
                  <a:txBody>
                    <a:bodyPr/>
                    <a:lstStyle/>
                    <a:p>
                      <a:pPr algn="ctr"/>
                      <a:r>
                        <a:rPr lang="en-US" sz="1800" b="1" dirty="0" smtClean="0">
                          <a:latin typeface="+mn-lt"/>
                        </a:rPr>
                        <a:t>Guidance</a:t>
                      </a:r>
                      <a:endParaRPr lang="en-US" sz="1800" b="1" baseline="0" dirty="0" smtClean="0">
                        <a:latin typeface="+mn-lt"/>
                      </a:endParaRPr>
                    </a:p>
                  </a:txBody>
                  <a:tcPr marT="45733" marB="45733" anchor="ctr"/>
                </a:tc>
                <a:tc>
                  <a:txBody>
                    <a:bodyPr/>
                    <a:lstStyle/>
                    <a:p>
                      <a:r>
                        <a:rPr lang="en-US" sz="1200" i="0" kern="1200" dirty="0" smtClean="0">
                          <a:solidFill>
                            <a:schemeClr val="tx1"/>
                          </a:solidFill>
                          <a:latin typeface="+mn-lt"/>
                          <a:ea typeface="+mn-ea"/>
                          <a:cs typeface="+mn-cs"/>
                        </a:rPr>
                        <a:t>Answers may vary significantly.</a:t>
                      </a:r>
                      <a:r>
                        <a:rPr lang="en-US" sz="1200" i="0" kern="1200" baseline="0" dirty="0" smtClean="0">
                          <a:solidFill>
                            <a:schemeClr val="tx1"/>
                          </a:solidFill>
                          <a:latin typeface="+mn-lt"/>
                          <a:ea typeface="+mn-ea"/>
                          <a:cs typeface="+mn-cs"/>
                        </a:rPr>
                        <a:t> Use common sense in evaluating the candidate’s ability to summarize the key things he or she looked at:</a:t>
                      </a:r>
                    </a:p>
                    <a:p>
                      <a:pPr marL="228600" indent="-228600">
                        <a:buFont typeface="+mj-lt"/>
                        <a:buAutoNum type="arabicPeriod"/>
                      </a:pPr>
                      <a:r>
                        <a:rPr lang="en-US" sz="1200" i="0" kern="1200" baseline="0" dirty="0" smtClean="0">
                          <a:solidFill>
                            <a:schemeClr val="tx1"/>
                          </a:solidFill>
                          <a:latin typeface="+mn-lt"/>
                          <a:ea typeface="+mn-ea"/>
                          <a:cs typeface="+mn-cs"/>
                        </a:rPr>
                        <a:t>Profitability before 9/11</a:t>
                      </a:r>
                    </a:p>
                    <a:p>
                      <a:pPr marL="228600" indent="-228600">
                        <a:buFont typeface="+mj-lt"/>
                        <a:buAutoNum type="arabicPeriod"/>
                      </a:pPr>
                      <a:r>
                        <a:rPr lang="en-US" sz="1200" i="0" kern="1200" baseline="0" dirty="0" smtClean="0">
                          <a:solidFill>
                            <a:schemeClr val="tx1"/>
                          </a:solidFill>
                          <a:latin typeface="+mn-lt"/>
                          <a:ea typeface="+mn-ea"/>
                          <a:cs typeface="+mn-cs"/>
                        </a:rPr>
                        <a:t>How we modeled profit after 9/11 (assumptions, </a:t>
                      </a:r>
                      <a:r>
                        <a:rPr lang="en-US" sz="1200" i="0" kern="1200" baseline="0" dirty="0" err="1" smtClean="0">
                          <a:solidFill>
                            <a:schemeClr val="tx1"/>
                          </a:solidFill>
                          <a:latin typeface="+mn-lt"/>
                          <a:ea typeface="+mn-ea"/>
                          <a:cs typeface="+mn-cs"/>
                        </a:rPr>
                        <a:t>etc</a:t>
                      </a:r>
                      <a:r>
                        <a:rPr lang="en-US" sz="1200" i="0" kern="1200" baseline="0" dirty="0" smtClean="0">
                          <a:solidFill>
                            <a:schemeClr val="tx1"/>
                          </a:solidFill>
                          <a:latin typeface="+mn-lt"/>
                          <a:ea typeface="+mn-ea"/>
                          <a:cs typeface="+mn-cs"/>
                        </a:rPr>
                        <a:t>) and what we learned</a:t>
                      </a:r>
                    </a:p>
                    <a:p>
                      <a:pPr marL="228600" indent="-228600">
                        <a:buFont typeface="+mj-lt"/>
                        <a:buAutoNum type="arabicPeriod"/>
                      </a:pPr>
                      <a:r>
                        <a:rPr lang="en-US" sz="1200" i="0" kern="1200" baseline="0" dirty="0" smtClean="0">
                          <a:solidFill>
                            <a:schemeClr val="tx1"/>
                          </a:solidFill>
                          <a:latin typeface="+mn-lt"/>
                          <a:ea typeface="+mn-ea"/>
                          <a:cs typeface="+mn-cs"/>
                        </a:rPr>
                        <a:t>Does the industry need help? What kind of help should the EDC recommend?</a:t>
                      </a:r>
                    </a:p>
                    <a:p>
                      <a:pPr marL="228600" indent="-228600">
                        <a:buFont typeface="+mj-lt"/>
                        <a:buAutoNum type="arabicPeriod"/>
                      </a:pPr>
                      <a:r>
                        <a:rPr lang="en-US" sz="1200" i="0" kern="1200" baseline="0" dirty="0" smtClean="0">
                          <a:solidFill>
                            <a:schemeClr val="tx1"/>
                          </a:solidFill>
                          <a:latin typeface="+mn-lt"/>
                          <a:ea typeface="+mn-ea"/>
                          <a:cs typeface="+mn-cs"/>
                        </a:rPr>
                        <a:t>Next steps: what would we look at if we had more time?</a:t>
                      </a:r>
                    </a:p>
                  </a:txBody>
                  <a:tcPr marT="45733" marB="45733"/>
                </a:tc>
              </a:tr>
            </a:tbl>
          </a:graphicData>
        </a:graphic>
      </p:graphicFrame>
      <p:sp>
        <p:nvSpPr>
          <p:cNvPr id="8" name="TextBox 9"/>
          <p:cNvSpPr txBox="1">
            <a:spLocks noChangeArrowheads="1"/>
          </p:cNvSpPr>
          <p:nvPr/>
        </p:nvSpPr>
        <p:spPr bwMode="auto">
          <a:xfrm>
            <a:off x="1828799" y="376238"/>
            <a:ext cx="63627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400" b="1" dirty="0"/>
              <a:t>Case </a:t>
            </a:r>
            <a:r>
              <a:rPr lang="en-US" sz="2400" b="1" dirty="0" smtClean="0"/>
              <a:t>16: NY </a:t>
            </a:r>
            <a:r>
              <a:rPr lang="en-US" sz="2400" b="1" dirty="0"/>
              <a:t>Economic Development </a:t>
            </a:r>
            <a:r>
              <a:rPr lang="en-US" sz="2400" b="1" dirty="0" smtClean="0"/>
              <a:t>Corp.</a:t>
            </a:r>
            <a:endParaRPr lang="en-US" sz="2400" b="1" dirty="0"/>
          </a:p>
        </p:txBody>
      </p:sp>
      <p:sp>
        <p:nvSpPr>
          <p:cNvPr id="9" name="TextBox 8"/>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134</a:t>
            </a:fld>
            <a:endParaRPr lang="en-US" dirty="0"/>
          </a:p>
        </p:txBody>
      </p:sp>
    </p:spTree>
    <p:extLst>
      <p:ext uri="{BB962C8B-B14F-4D97-AF65-F5344CB8AC3E}">
        <p14:creationId xmlns:p14="http://schemas.microsoft.com/office/powerpoint/2010/main" val="195371361"/>
      </p:ext>
    </p:extLst>
  </p:cSld>
  <p:clrMapOvr>
    <a:masterClrMapping/>
  </p:clrMapOvr>
  <p:timing>
    <p:tnLst>
      <p:par>
        <p:cTn xmlns:p14="http://schemas.microsoft.com/office/powerpoint/2010/mai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9" name="Table 8"/>
          <p:cNvGraphicFramePr>
            <a:graphicFrameLocks noGrp="1"/>
          </p:cNvGraphicFramePr>
          <p:nvPr>
            <p:extLst>
              <p:ext uri="{D42A27DB-BD31-4B8C-83A1-F6EECF244321}">
                <p14:modId xmlns:p14="http://schemas.microsoft.com/office/powerpoint/2010/main" val="1303256004"/>
              </p:ext>
            </p:extLst>
          </p:nvPr>
        </p:nvGraphicFramePr>
        <p:xfrm>
          <a:off x="228600" y="1447800"/>
          <a:ext cx="8534400" cy="5212062"/>
        </p:xfrm>
        <a:graphic>
          <a:graphicData uri="http://schemas.openxmlformats.org/drawingml/2006/table">
            <a:tbl>
              <a:tblPr firstRow="1" bandRow="1">
                <a:tableStyleId>{616DA210-FB5B-4158-B5E0-FEB733F419BA}</a:tableStyleId>
              </a:tblPr>
              <a:tblGrid>
                <a:gridCol w="1600200"/>
                <a:gridCol w="6934200"/>
              </a:tblGrid>
              <a:tr h="5029200">
                <a:tc>
                  <a:txBody>
                    <a:bodyPr/>
                    <a:lstStyle/>
                    <a:p>
                      <a:pPr algn="ctr"/>
                      <a:r>
                        <a:rPr lang="en-US" sz="1800" b="1" i="0" dirty="0" smtClean="0"/>
                        <a:t>Performance Evaluation</a:t>
                      </a:r>
                      <a:endParaRPr lang="en-US" sz="1000" i="0" dirty="0"/>
                    </a:p>
                  </a:txBody>
                  <a:tcPr marT="45712" marB="45712" anchor="ctr"/>
                </a:tc>
                <a:tc>
                  <a:txBody>
                    <a:bodyPr/>
                    <a:lstStyle/>
                    <a:p>
                      <a:r>
                        <a:rPr lang="en-US" sz="1200" b="1" i="0" kern="1200" dirty="0" smtClean="0">
                          <a:solidFill>
                            <a:schemeClr val="tx1"/>
                          </a:solidFill>
                          <a:latin typeface="+mn-lt"/>
                          <a:ea typeface="+mn-ea"/>
                          <a:cs typeface="+mn-cs"/>
                        </a:rPr>
                        <a:t>Expected:</a:t>
                      </a:r>
                    </a:p>
                    <a:p>
                      <a:pPr marL="171450" indent="-171450">
                        <a:buFont typeface="Arial" pitchFamily="34" charset="0"/>
                        <a:buChar char="•"/>
                      </a:pPr>
                      <a:r>
                        <a:rPr lang="en-US" sz="1200" b="0" i="0" kern="1200" baseline="0" dirty="0" smtClean="0">
                          <a:solidFill>
                            <a:schemeClr val="tx1"/>
                          </a:solidFill>
                          <a:latin typeface="+mn-lt"/>
                          <a:ea typeface="+mn-ea"/>
                          <a:cs typeface="+mn-cs"/>
                        </a:rPr>
                        <a:t>Creates a MECE framework</a:t>
                      </a:r>
                    </a:p>
                    <a:p>
                      <a:pPr marL="171450" indent="-171450">
                        <a:buFont typeface="Arial" pitchFamily="34" charset="0"/>
                        <a:buChar char="•"/>
                      </a:pPr>
                      <a:r>
                        <a:rPr lang="en-US" sz="1200" b="0" i="0" kern="1200" baseline="0" dirty="0" smtClean="0">
                          <a:solidFill>
                            <a:schemeClr val="tx1"/>
                          </a:solidFill>
                          <a:latin typeface="+mn-lt"/>
                          <a:ea typeface="+mn-ea"/>
                          <a:cs typeface="+mn-cs"/>
                        </a:rPr>
                        <a:t>Asks intelligent questions about revenue and costs, to arrive at a solid estimate of profitability</a:t>
                      </a:r>
                    </a:p>
                    <a:p>
                      <a:pPr marL="171450" indent="-171450">
                        <a:buFont typeface="Arial" pitchFamily="34" charset="0"/>
                        <a:buChar char="•"/>
                      </a:pPr>
                      <a:r>
                        <a:rPr lang="en-US" sz="1200" b="0" i="0" kern="1200" baseline="0" dirty="0" smtClean="0">
                          <a:solidFill>
                            <a:schemeClr val="tx1"/>
                          </a:solidFill>
                          <a:latin typeface="+mn-lt"/>
                          <a:ea typeface="+mn-ea"/>
                          <a:cs typeface="+mn-cs"/>
                        </a:rPr>
                        <a:t>Correctly calculates profit pre-9/11</a:t>
                      </a:r>
                    </a:p>
                    <a:p>
                      <a:pPr marL="171450" indent="-171450">
                        <a:buFont typeface="Arial" pitchFamily="34" charset="0"/>
                        <a:buChar char="•"/>
                      </a:pPr>
                      <a:r>
                        <a:rPr lang="en-US" sz="1200" b="0" i="0" kern="1200" baseline="0" dirty="0" smtClean="0">
                          <a:solidFill>
                            <a:schemeClr val="tx1"/>
                          </a:solidFill>
                          <a:latin typeface="+mn-lt"/>
                          <a:ea typeface="+mn-ea"/>
                          <a:cs typeface="+mn-cs"/>
                        </a:rPr>
                        <a:t>Makes assumptions, and correctly models post-9/11 profits</a:t>
                      </a:r>
                    </a:p>
                    <a:p>
                      <a:pPr marL="171450" indent="-171450">
                        <a:buFont typeface="Arial" pitchFamily="34" charset="0"/>
                        <a:buChar char="•"/>
                      </a:pPr>
                      <a:r>
                        <a:rPr lang="en-US" sz="1200" b="0" i="0" kern="1200" baseline="0" dirty="0" smtClean="0">
                          <a:solidFill>
                            <a:schemeClr val="tx1"/>
                          </a:solidFill>
                          <a:latin typeface="+mn-lt"/>
                          <a:ea typeface="+mn-ea"/>
                          <a:cs typeface="+mn-cs"/>
                        </a:rPr>
                        <a:t>Comes up with 2 good ideas of how the EDC can help the industry</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171450" indent="-171450">
                        <a:buFont typeface="Arial" pitchFamily="34" charset="0"/>
                        <a:buChar char="•"/>
                      </a:pPr>
                      <a:r>
                        <a:rPr lang="en-US" sz="1200" b="0" i="0" kern="1200" baseline="0" dirty="0" smtClean="0">
                          <a:solidFill>
                            <a:schemeClr val="tx1"/>
                          </a:solidFill>
                          <a:latin typeface="+mn-lt"/>
                          <a:ea typeface="+mn-ea"/>
                          <a:cs typeface="+mn-cs"/>
                        </a:rPr>
                        <a:t>Creates a framework that incorporates business and leisure travelers</a:t>
                      </a:r>
                    </a:p>
                    <a:p>
                      <a:pPr marL="171450" indent="-171450">
                        <a:buFont typeface="Arial" pitchFamily="34" charset="0"/>
                        <a:buChar char="•"/>
                      </a:pPr>
                      <a:r>
                        <a:rPr lang="en-US" sz="1200" b="0" i="0" kern="1200" baseline="0" dirty="0" smtClean="0">
                          <a:solidFill>
                            <a:schemeClr val="tx1"/>
                          </a:solidFill>
                          <a:latin typeface="+mn-lt"/>
                          <a:ea typeface="+mn-ea"/>
                          <a:cs typeface="+mn-cs"/>
                        </a:rPr>
                        <a:t>Is comfortable making assumptions, and makes logical assumptions that show solid business judgment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Calculates profit quickly and accurately</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Provides most corrective actions listed with minimal prompting from the interviewer</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Shows business judgment by reacting to the numbers he or she calculates (the “so what”)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Comes up with 4 or more good ideas of how the EDC can help the industry</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171450" indent="-171450">
                        <a:buFont typeface="Arial" pitchFamily="34" charset="0"/>
                        <a:buChar char="•"/>
                      </a:pPr>
                      <a:r>
                        <a:rPr lang="en-US" sz="1200" b="0" i="0" kern="1200" baseline="0" dirty="0" smtClean="0">
                          <a:solidFill>
                            <a:schemeClr val="tx1"/>
                          </a:solidFill>
                          <a:latin typeface="+mn-lt"/>
                          <a:ea typeface="+mn-ea"/>
                          <a:cs typeface="+mn-cs"/>
                        </a:rPr>
                        <a:t>Framework addresses all subsequent questions in the case (at a top level)</a:t>
                      </a:r>
                    </a:p>
                    <a:p>
                      <a:pPr marL="171450" indent="-171450">
                        <a:buFont typeface="Arial" pitchFamily="34" charset="0"/>
                        <a:buChar char="•"/>
                      </a:pPr>
                      <a:r>
                        <a:rPr lang="en-US" sz="1200" b="0" i="0" kern="1200" baseline="0" dirty="0" smtClean="0">
                          <a:solidFill>
                            <a:schemeClr val="tx1"/>
                          </a:solidFill>
                          <a:latin typeface="+mn-lt"/>
                          <a:ea typeface="+mn-ea"/>
                          <a:cs typeface="+mn-cs"/>
                        </a:rPr>
                        <a:t>Very comfortable with making assumptions, “drives” the case even in the absence of information</a:t>
                      </a:r>
                    </a:p>
                    <a:p>
                      <a:pPr marL="171450" indent="-171450">
                        <a:buFont typeface="Arial" pitchFamily="34" charset="0"/>
                        <a:buChar char="•"/>
                      </a:pPr>
                      <a:r>
                        <a:rPr lang="en-US" sz="1200" b="0" i="0" kern="1200" baseline="0" dirty="0" smtClean="0">
                          <a:solidFill>
                            <a:schemeClr val="tx1"/>
                          </a:solidFill>
                          <a:latin typeface="+mn-lt"/>
                          <a:ea typeface="+mn-ea"/>
                          <a:cs typeface="+mn-cs"/>
                        </a:rPr>
                        <a:t>Speed and accuracy of computations</a:t>
                      </a:r>
                    </a:p>
                    <a:p>
                      <a:pPr marL="171450" indent="-171450">
                        <a:buFont typeface="Arial" pitchFamily="34" charset="0"/>
                        <a:buChar char="•"/>
                      </a:pPr>
                      <a:r>
                        <a:rPr lang="en-US" sz="1200" b="0" i="0" kern="1200" baseline="0" dirty="0" smtClean="0">
                          <a:solidFill>
                            <a:schemeClr val="tx1"/>
                          </a:solidFill>
                          <a:latin typeface="+mn-lt"/>
                          <a:ea typeface="+mn-ea"/>
                          <a:cs typeface="+mn-cs"/>
                        </a:rPr>
                        <a:t>Realizes that there is a difference between  individual hotels and chains, with regard to ability to sustain losses based on short term decreases in revenue</a:t>
                      </a:r>
                    </a:p>
                    <a:p>
                      <a:pPr marL="171450" indent="-171450">
                        <a:buFont typeface="Arial" pitchFamily="34" charset="0"/>
                        <a:buChar char="•"/>
                      </a:pPr>
                      <a:r>
                        <a:rPr lang="en-US" sz="1200" b="0" i="0" kern="1200" baseline="0" dirty="0" smtClean="0">
                          <a:solidFill>
                            <a:schemeClr val="tx1"/>
                          </a:solidFill>
                          <a:latin typeface="+mn-lt"/>
                          <a:ea typeface="+mn-ea"/>
                          <a:cs typeface="+mn-cs"/>
                        </a:rPr>
                        <a:t>Realizes that the hotel industry has high fixed costs, and sees the second order impact of this cost structure</a:t>
                      </a:r>
                    </a:p>
                    <a:p>
                      <a:pPr marL="171450" indent="-171450">
                        <a:buFont typeface="Arial" pitchFamily="34" charset="0"/>
                        <a:buChar char="•"/>
                      </a:pPr>
                      <a:r>
                        <a:rPr lang="en-US" sz="1200" b="0" i="0" kern="1200" baseline="0" dirty="0" smtClean="0">
                          <a:solidFill>
                            <a:schemeClr val="tx1"/>
                          </a:solidFill>
                          <a:latin typeface="+mn-lt"/>
                          <a:ea typeface="+mn-ea"/>
                          <a:cs typeface="+mn-cs"/>
                        </a:rPr>
                        <a:t>Thinks about governmental policies that could actually solve this problem, and lists them in a logical, MECE manner</a:t>
                      </a:r>
                    </a:p>
                    <a:p>
                      <a:pPr marL="171450" indent="-171450">
                        <a:buFont typeface="Arial" pitchFamily="34" charset="0"/>
                        <a:buChar char="•"/>
                      </a:pPr>
                      <a:r>
                        <a:rPr lang="en-US" sz="1200" b="0" i="0" kern="1200" baseline="0" dirty="0" smtClean="0">
                          <a:solidFill>
                            <a:schemeClr val="tx1"/>
                          </a:solidFill>
                          <a:latin typeface="+mn-lt"/>
                          <a:ea typeface="+mn-ea"/>
                          <a:cs typeface="+mn-cs"/>
                        </a:rPr>
                        <a:t>Comes up with “outside the box” ideas like using hotel rooms to house first responders who are working at the Twin Towers</a:t>
                      </a:r>
                    </a:p>
                  </a:txBody>
                  <a:tcPr marT="45712" marB="45712"/>
                </a:tc>
              </a:tr>
            </a:tbl>
          </a:graphicData>
        </a:graphic>
      </p:graphicFrame>
      <p:sp>
        <p:nvSpPr>
          <p:cNvPr id="10" name="TextBox 9"/>
          <p:cNvSpPr txBox="1">
            <a:spLocks noChangeArrowheads="1"/>
          </p:cNvSpPr>
          <p:nvPr/>
        </p:nvSpPr>
        <p:spPr bwMode="auto">
          <a:xfrm>
            <a:off x="1828799" y="376238"/>
            <a:ext cx="636270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400" b="1" dirty="0"/>
              <a:t>Case </a:t>
            </a:r>
            <a:r>
              <a:rPr lang="en-US" sz="2400" b="1" dirty="0" smtClean="0"/>
              <a:t>16: NY </a:t>
            </a:r>
            <a:r>
              <a:rPr lang="en-US" sz="2400" b="1" dirty="0"/>
              <a:t>Economic Development </a:t>
            </a:r>
            <a:r>
              <a:rPr lang="en-US" sz="2400" b="1" dirty="0" smtClean="0"/>
              <a:t>Corp.`</a:t>
            </a:r>
            <a:endParaRPr lang="en-US" sz="2400" b="1" dirty="0"/>
          </a:p>
        </p:txBody>
      </p:sp>
      <p:sp>
        <p:nvSpPr>
          <p:cNvPr id="11" name="TextBox 10"/>
          <p:cNvSpPr txBox="1">
            <a:spLocks noChangeArrowheads="1"/>
          </p:cNvSpPr>
          <p:nvPr/>
        </p:nvSpPr>
        <p:spPr bwMode="auto">
          <a:xfrm>
            <a:off x="7467600" y="921325"/>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algn="r" eaLnBrk="1" hangingPunct="1"/>
            <a:r>
              <a:rPr lang="en-US" sz="1400" i="1" dirty="0" smtClean="0"/>
              <a:t>Decision Round</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135</a:t>
            </a:fld>
            <a:endParaRPr lang="en-US" dirty="0"/>
          </a:p>
        </p:txBody>
      </p:sp>
    </p:spTree>
    <p:extLst>
      <p:ext uri="{BB962C8B-B14F-4D97-AF65-F5344CB8AC3E}">
        <p14:creationId xmlns:p14="http://schemas.microsoft.com/office/powerpoint/2010/main" val="1220169345"/>
      </p:ext>
    </p:extLst>
  </p:cSld>
  <p:clrMapOvr>
    <a:masterClrMapping/>
  </p:clrMapOvr>
  <p:timing>
    <p:tnLst>
      <p:par>
        <p:cTn xmlns:p14="http://schemas.microsoft.com/office/powerpoint/2010/mai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136</a:t>
            </a:fld>
            <a:endParaRPr lang="en-US" dirty="0"/>
          </a:p>
        </p:txBody>
      </p:sp>
    </p:spTree>
    <p:extLst>
      <p:ext uri="{BB962C8B-B14F-4D97-AF65-F5344CB8AC3E}">
        <p14:creationId xmlns:p14="http://schemas.microsoft.com/office/powerpoint/2010/main" val="535360896"/>
      </p:ext>
    </p:extLst>
  </p:cSld>
  <p:clrMapOvr>
    <a:masterClrMapping/>
  </p:clrMapOvr>
  <p:timing>
    <p:tnLst>
      <p:par>
        <p:cTn xmlns:p14="http://schemas.microsoft.com/office/powerpoint/2010/mai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19: Agency Overrun</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4038954718"/>
              </p:ext>
            </p:extLst>
          </p:nvPr>
        </p:nvGraphicFramePr>
        <p:xfrm>
          <a:off x="304800" y="1295400"/>
          <a:ext cx="8534400" cy="5120667"/>
        </p:xfrm>
        <a:graphic>
          <a:graphicData uri="http://schemas.openxmlformats.org/drawingml/2006/table">
            <a:tbl>
              <a:tblPr/>
              <a:tblGrid>
                <a:gridCol w="1600200"/>
                <a:gridCol w="6934200"/>
              </a:tblGrid>
              <a:tr h="11176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#1</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pitchFamily="34" charset="0"/>
                          <a:ea typeface="ＭＳ Ｐゴシック" pitchFamily="34" charset="-128"/>
                        </a:rPr>
                        <a:t>A federal agency has 160 offices and stores inventory in 40 warehouses across the country. Each office has it</a:t>
                      </a:r>
                      <a:r>
                        <a:rPr kumimoji="0" lang="en-US" altLang="en-US" sz="1200" b="1" i="0" u="none" strike="noStrike" cap="none" normalizeH="0" baseline="0" dirty="0" smtClean="0">
                          <a:ln>
                            <a:noFill/>
                          </a:ln>
                          <a:solidFill>
                            <a:schemeClr val="tx1"/>
                          </a:solidFill>
                          <a:effectLst/>
                          <a:latin typeface="Arial" pitchFamily="34" charset="0"/>
                          <a:ea typeface="ＭＳ Ｐゴシック" pitchFamily="34" charset="-128"/>
                        </a:rPr>
                        <a:t>’</a:t>
                      </a:r>
                      <a:r>
                        <a:rPr kumimoji="0" lang="en-US" sz="1200" b="1" i="0" u="none" strike="noStrike" cap="none" normalizeH="0" baseline="0" dirty="0" smtClean="0">
                          <a:ln>
                            <a:noFill/>
                          </a:ln>
                          <a:solidFill>
                            <a:schemeClr val="tx1"/>
                          </a:solidFill>
                          <a:effectLst/>
                          <a:latin typeface="Arial" pitchFamily="34" charset="0"/>
                          <a:ea typeface="ＭＳ Ｐゴシック" pitchFamily="34" charset="-128"/>
                        </a:rPr>
                        <a:t>s own property management and inventory processes, allowing the offices to access inventory from any of the 40 warehouses.  The agency has difficulty tracking assets, and estimates that only 10% of all assets are tracked in it’s tracking system.  The agency also estimates that 2% of all assets are now permanently lost.  </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Arial" pitchFamily="34" charset="0"/>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pitchFamily="34" charset="0"/>
                          <a:ea typeface="ＭＳ Ｐゴシック" pitchFamily="34" charset="-128"/>
                        </a:rPr>
                        <a:t>What is a long-term strategy to improve the asset management process? </a:t>
                      </a:r>
                      <a:endParaRPr kumimoji="0" lang="en-US" sz="1200" b="1" i="0" u="none" strike="noStrike" cap="none" normalizeH="0" baseline="0" dirty="0" smtClean="0">
                        <a:ln>
                          <a:noFill/>
                        </a:ln>
                        <a:solidFill>
                          <a:schemeClr val="tx1"/>
                        </a:solidFill>
                        <a:effectLst/>
                        <a:latin typeface="Calibri" pitchFamily="34" charset="0"/>
                        <a:ea typeface="ＭＳ Ｐゴシック" pitchFamily="34" charset="-128"/>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283527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Guidance</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Candidate should ask clarifying questions about the issues and then form a framework to attack the problem, including systems, offices and warehouses.</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Information to be given upon request:</a:t>
                      </a:r>
                    </a:p>
                    <a:p>
                      <a:pPr marL="234950" marR="0" lvl="0" indent="-23495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Inventory consists of assets such as cars, other motor vehicles, laptops, printers, and other office equipment.</a:t>
                      </a:r>
                    </a:p>
                    <a:p>
                      <a:pPr marL="234950" marR="0" lvl="0" indent="-23495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Property management IT systems vary across offices, and project management systems are inconsistently used from office to office</a:t>
                      </a:r>
                    </a:p>
                    <a:p>
                      <a:pPr marL="234950" marR="0" lvl="0" indent="-23495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Property management IT systems are inconsistent across warehouses</a:t>
                      </a:r>
                    </a:p>
                    <a:p>
                      <a:pPr marL="234950" marR="0" lvl="0" indent="-23495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There is no barcoding of assets (no tracking number is assigned to any assets that enter the system). Assets are associated with an employee</a:t>
                      </a:r>
                      <a:r>
                        <a:rPr kumimoji="0" lang="en-US" altLang="en-US" sz="1200" b="0" i="0" u="none" strike="noStrike" cap="none" normalizeH="0" baseline="0" dirty="0" smtClean="0">
                          <a:ln>
                            <a:noFill/>
                          </a:ln>
                          <a:solidFill>
                            <a:schemeClr val="tx1"/>
                          </a:solidFill>
                          <a:effectLst/>
                          <a:latin typeface="+mj-lt"/>
                          <a:ea typeface="ＭＳ Ｐゴシック" pitchFamily="34" charset="-128"/>
                        </a:rPr>
                        <a:t>’</a:t>
                      </a:r>
                      <a:r>
                        <a:rPr kumimoji="0" lang="en-US" sz="1200" b="0" i="0" u="none" strike="noStrike" cap="none" normalizeH="0" baseline="0" dirty="0" smtClean="0">
                          <a:ln>
                            <a:noFill/>
                          </a:ln>
                          <a:solidFill>
                            <a:schemeClr val="tx1"/>
                          </a:solidFill>
                          <a:effectLst/>
                          <a:latin typeface="+mj-lt"/>
                          <a:ea typeface="ＭＳ Ｐゴシック" pitchFamily="34" charset="-128"/>
                        </a:rPr>
                        <a:t>s name and have no other identifiable marking</a:t>
                      </a:r>
                    </a:p>
                    <a:p>
                      <a:pPr marL="234950" marR="0" lvl="0" indent="-23495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Assets that are not currently in use are rarely entered into the property management system, making it likely that an office will order a brand new assets when there are unused assets elsewhere in the agency</a:t>
                      </a:r>
                    </a:p>
                    <a:p>
                      <a:pPr marL="234950" marR="0" lvl="0" indent="-23495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Equipment is occasionally traded and leased between offices.  It is unclear which office owns the equipment (for accounting purposes) and which office currently has possession of the assets</a:t>
                      </a:r>
                    </a:p>
                    <a:p>
                      <a:pPr marL="234950" marR="0" lvl="0" indent="-23495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An individual office can order from any of the 40 warehouses regardless of whether it is the most cost effective.</a:t>
                      </a:r>
                    </a:p>
                    <a:p>
                      <a:pPr marL="234950" marR="0" lvl="0" indent="-23495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Many warehouses are small in size and were created with little thought to the cost effectiveness of the warehouse. Approximately 10 large warehouses exist and the remaining 30 are small</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sp>
        <p:nvSpPr>
          <p:cNvPr id="8"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Specialty </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137</a:t>
            </a:fld>
            <a:endParaRPr lang="en-US" dirty="0"/>
          </a:p>
        </p:txBody>
      </p:sp>
    </p:spTree>
    <p:extLst>
      <p:ext uri="{BB962C8B-B14F-4D97-AF65-F5344CB8AC3E}">
        <p14:creationId xmlns:p14="http://schemas.microsoft.com/office/powerpoint/2010/main" val="4247986131"/>
      </p:ext>
    </p:extLst>
  </p:cSld>
  <p:clrMapOvr>
    <a:masterClrMapping/>
  </p:clrMapOvr>
  <p:timing>
    <p:tnLst>
      <p:par>
        <p:cTn xmlns:p14="http://schemas.microsoft.com/office/powerpoint/2010/mai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19: Agency Overrun</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4100733964"/>
              </p:ext>
            </p:extLst>
          </p:nvPr>
        </p:nvGraphicFramePr>
        <p:xfrm>
          <a:off x="304800" y="1295400"/>
          <a:ext cx="8534400" cy="5486399"/>
        </p:xfrm>
        <a:graphic>
          <a:graphicData uri="http://schemas.openxmlformats.org/drawingml/2006/table">
            <a:tbl>
              <a:tblPr/>
              <a:tblGrid>
                <a:gridCol w="1600200"/>
                <a:gridCol w="6934200"/>
              </a:tblGrid>
              <a:tr h="4572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pitchFamily="34" charset="0"/>
                          <a:ea typeface="ＭＳ Ｐゴシック" pitchFamily="34" charset="-128"/>
                        </a:rPr>
                        <a:t>What information do you want to gather to understand and analyze the current organizational issues? </a:t>
                      </a:r>
                      <a:endParaRPr kumimoji="0" lang="en-US" sz="1200" b="1" i="1" u="none" strike="noStrike" cap="none" normalizeH="0" baseline="0" dirty="0" smtClean="0">
                        <a:ln>
                          <a:noFill/>
                        </a:ln>
                        <a:solidFill>
                          <a:schemeClr val="tx1"/>
                        </a:solidFill>
                        <a:effectLst/>
                        <a:latin typeface="Calibri"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15875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ea typeface="ＭＳ Ｐゴシック" pitchFamily="34" charset="-128"/>
                        </a:rPr>
                        <a:t>Guidance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n-lt"/>
                          <a:ea typeface="ＭＳ Ｐゴシック" pitchFamily="34" charset="-128"/>
                        </a:rPr>
                        <a:t>Candidate should come up what information to seek (underlined), &amp; interview provides italicized info:</a:t>
                      </a:r>
                    </a:p>
                    <a:p>
                      <a:pPr marL="0" marR="0" lvl="0" indent="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n-lt"/>
                          <a:ea typeface="ＭＳ Ｐゴシック" pitchFamily="34" charset="-128"/>
                        </a:rPr>
                        <a:t> </a:t>
                      </a:r>
                      <a:r>
                        <a:rPr kumimoji="0" lang="en-US" sz="1200" b="0" i="0" u="sng" strike="noStrike" cap="none" normalizeH="0" baseline="0" dirty="0" smtClean="0">
                          <a:ln>
                            <a:noFill/>
                          </a:ln>
                          <a:solidFill>
                            <a:schemeClr val="tx1"/>
                          </a:solidFill>
                          <a:effectLst/>
                          <a:latin typeface="+mn-lt"/>
                          <a:ea typeface="ＭＳ Ｐゴシック" pitchFamily="34" charset="-128"/>
                        </a:rPr>
                        <a:t>Who has procurement authority</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n-lt"/>
                          <a:ea typeface="ＭＳ Ｐゴシック" pitchFamily="34" charset="-128"/>
                        </a:rPr>
                        <a:t>Procurement authority varies by office. Offices exist in silos and there is little communication between offices. </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n-lt"/>
                          <a:ea typeface="ＭＳ Ｐゴシック" pitchFamily="34" charset="-128"/>
                        </a:rPr>
                        <a:t>Offices have grown over the years, and many offices now have overlapping procurement responsibilities. For example, one office has a designated Head of Procurement, but many supervisors bypass the Head of Procurement</a:t>
                      </a:r>
                    </a:p>
                    <a:p>
                      <a:pPr marL="0" marR="0" lvl="0" indent="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n-lt"/>
                          <a:ea typeface="ＭＳ Ｐゴシック" pitchFamily="34" charset="-128"/>
                        </a:rPr>
                        <a:t> </a:t>
                      </a:r>
                      <a:r>
                        <a:rPr kumimoji="0" lang="en-US" sz="1200" b="0" i="0" u="sng" strike="noStrike" cap="none" normalizeH="0" baseline="0" dirty="0" smtClean="0">
                          <a:ln>
                            <a:noFill/>
                          </a:ln>
                          <a:solidFill>
                            <a:schemeClr val="tx1"/>
                          </a:solidFill>
                          <a:effectLst/>
                          <a:latin typeface="+mn-lt"/>
                          <a:ea typeface="ＭＳ Ｐゴシック" pitchFamily="34" charset="-128"/>
                        </a:rPr>
                        <a:t>What are current processes in place to obtain and track assets</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n-lt"/>
                          <a:ea typeface="ＭＳ Ｐゴシック" pitchFamily="34" charset="-128"/>
                        </a:rPr>
                        <a:t>The employee fills out a purchase order (in hard copy) and hands the it to the office</a:t>
                      </a:r>
                      <a:r>
                        <a:rPr kumimoji="0" lang="en-US" altLang="en-US" sz="1200" b="0" i="0" u="none" strike="noStrike" cap="none" normalizeH="0" baseline="0" dirty="0" smtClean="0">
                          <a:ln>
                            <a:noFill/>
                          </a:ln>
                          <a:solidFill>
                            <a:schemeClr val="tx1"/>
                          </a:solidFill>
                          <a:effectLst/>
                          <a:latin typeface="+mn-lt"/>
                          <a:ea typeface="ＭＳ Ｐゴシック" pitchFamily="34" charset="-128"/>
                        </a:rPr>
                        <a:t>’</a:t>
                      </a:r>
                      <a:r>
                        <a:rPr kumimoji="0" lang="en-US" sz="1200" b="0" i="0" u="none" strike="noStrike" cap="none" normalizeH="0" baseline="0" dirty="0" smtClean="0">
                          <a:ln>
                            <a:noFill/>
                          </a:ln>
                          <a:solidFill>
                            <a:schemeClr val="tx1"/>
                          </a:solidFill>
                          <a:effectLst/>
                          <a:latin typeface="+mn-lt"/>
                          <a:ea typeface="ＭＳ Ｐゴシック" pitchFamily="34" charset="-128"/>
                        </a:rPr>
                        <a:t>s designated Head of Procurement or to their immediate supervisor.  </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n-lt"/>
                          <a:ea typeface="ＭＳ Ｐゴシック" pitchFamily="34" charset="-128"/>
                        </a:rPr>
                        <a:t>The purchase order is almost always approved for purchase and is rarely checked against existing inventory.  When the asset arrives, it generally goes directly to the person who ordered it without being entered into the office</a:t>
                      </a:r>
                      <a:r>
                        <a:rPr kumimoji="0" lang="en-US" altLang="en-US" sz="1200" b="0" i="0" u="none" strike="noStrike" cap="none" normalizeH="0" baseline="0" dirty="0" smtClean="0">
                          <a:ln>
                            <a:noFill/>
                          </a:ln>
                          <a:solidFill>
                            <a:schemeClr val="tx1"/>
                          </a:solidFill>
                          <a:effectLst/>
                          <a:latin typeface="+mn-lt"/>
                          <a:ea typeface="ＭＳ Ｐゴシック" pitchFamily="34" charset="-128"/>
                        </a:rPr>
                        <a:t>’</a:t>
                      </a:r>
                      <a:r>
                        <a:rPr kumimoji="0" lang="en-US" sz="1200" b="0" i="0" u="none" strike="noStrike" cap="none" normalizeH="0" baseline="0" dirty="0" smtClean="0">
                          <a:ln>
                            <a:noFill/>
                          </a:ln>
                          <a:solidFill>
                            <a:schemeClr val="tx1"/>
                          </a:solidFill>
                          <a:effectLst/>
                          <a:latin typeface="+mn-lt"/>
                          <a:ea typeface="ＭＳ Ｐゴシック" pitchFamily="34" charset="-128"/>
                        </a:rPr>
                        <a:t>s system by the Head of Procurement.  </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n-lt"/>
                          <a:ea typeface="ＭＳ Ｐゴシック" pitchFamily="34" charset="-128"/>
                        </a:rPr>
                        <a:t>Once the asset is delivered to the employee, it is rarely tracked and employees are not held accountable for these assets when they leave the agency</a:t>
                      </a:r>
                    </a:p>
                    <a:p>
                      <a:pPr marL="0" marR="0" lvl="0" indent="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n-lt"/>
                          <a:ea typeface="ＭＳ Ｐゴシック" pitchFamily="34" charset="-128"/>
                        </a:rPr>
                        <a:t> </a:t>
                      </a:r>
                      <a:r>
                        <a:rPr kumimoji="0" lang="en-US" sz="1200" b="0" i="0" u="sng" strike="noStrike" cap="none" normalizeH="0" baseline="0" dirty="0" smtClean="0">
                          <a:ln>
                            <a:noFill/>
                          </a:ln>
                          <a:solidFill>
                            <a:schemeClr val="tx1"/>
                          </a:solidFill>
                          <a:effectLst/>
                          <a:latin typeface="+mn-lt"/>
                          <a:ea typeface="ＭＳ Ｐゴシック" pitchFamily="34" charset="-128"/>
                        </a:rPr>
                        <a:t>Process to trade assets within offices</a:t>
                      </a:r>
                    </a:p>
                    <a:p>
                      <a:pPr marL="457200" marR="0" lvl="1"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n-lt"/>
                          <a:ea typeface="ＭＳ Ｐゴシック" pitchFamily="34" charset="-128"/>
                        </a:rPr>
                        <a:t>No process is in place and no guidelines exist</a:t>
                      </a:r>
                    </a:p>
                    <a:p>
                      <a:pPr marL="0" marR="0" lvl="0" indent="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n-lt"/>
                          <a:ea typeface="ＭＳ Ｐゴシック" pitchFamily="34" charset="-128"/>
                        </a:rPr>
                        <a:t> </a:t>
                      </a:r>
                      <a:r>
                        <a:rPr kumimoji="0" lang="en-US" sz="1200" b="0" i="0" u="sng" strike="noStrike" cap="none" normalizeH="0" baseline="0" dirty="0" smtClean="0">
                          <a:ln>
                            <a:noFill/>
                          </a:ln>
                          <a:solidFill>
                            <a:schemeClr val="tx1"/>
                          </a:solidFill>
                          <a:effectLst/>
                          <a:latin typeface="+mn-lt"/>
                          <a:ea typeface="ＭＳ Ｐゴシック" pitchFamily="34" charset="-128"/>
                        </a:rPr>
                        <a:t>Current IT systems in place across the different offices and warehouses to track the assets</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n-lt"/>
                          <a:ea typeface="ＭＳ Ｐゴシック" pitchFamily="34" charset="-128"/>
                        </a:rPr>
                        <a:t>The agency does not have a top-down communication system to coordinate the purchase and tracking of assets throughout the agency</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n-lt"/>
                          <a:ea typeface="ＭＳ Ｐゴシック" pitchFamily="34" charset="-128"/>
                        </a:rPr>
                        <a:t>Some offices use a homegrown database to track assets</a:t>
                      </a:r>
                    </a:p>
                    <a:p>
                      <a:pPr marL="0" marR="0" lvl="0" indent="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n-lt"/>
                          <a:ea typeface="ＭＳ Ｐゴシック" pitchFamily="34" charset="-128"/>
                        </a:rPr>
                        <a:t> </a:t>
                      </a:r>
                      <a:r>
                        <a:rPr kumimoji="0" lang="en-US" sz="1200" b="0" i="0" u="sng" strike="noStrike" cap="none" normalizeH="0" baseline="0" dirty="0" smtClean="0">
                          <a:ln>
                            <a:noFill/>
                          </a:ln>
                          <a:solidFill>
                            <a:schemeClr val="tx1"/>
                          </a:solidFill>
                          <a:effectLst/>
                          <a:latin typeface="+mn-lt"/>
                          <a:ea typeface="ＭＳ Ｐゴシック" pitchFamily="34" charset="-128"/>
                        </a:rPr>
                        <a:t>Who has the ability to champion this project within the agency</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n-lt"/>
                          <a:ea typeface="ＭＳ Ｐゴシック" pitchFamily="34" charset="-128"/>
                        </a:rPr>
                        <a:t>The Chief of Procurement who resides at the agency level</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n-lt"/>
                          <a:ea typeface="ＭＳ Ｐゴシック" pitchFamily="34" charset="-128"/>
                        </a:rPr>
                        <a:t>Within individual offices, the champion and affect change varies</a:t>
                      </a:r>
                    </a:p>
                    <a:p>
                      <a:pPr marL="0" marR="0" lvl="0" indent="0"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n-lt"/>
                          <a:ea typeface="ＭＳ Ｐゴシック" pitchFamily="34" charset="-128"/>
                        </a:rPr>
                        <a:t> </a:t>
                      </a:r>
                      <a:r>
                        <a:rPr kumimoji="0" lang="en-US" sz="1200" b="0" i="0" u="sng" strike="noStrike" cap="none" normalizeH="0" baseline="0" dirty="0" smtClean="0">
                          <a:ln>
                            <a:noFill/>
                          </a:ln>
                          <a:solidFill>
                            <a:schemeClr val="tx1"/>
                          </a:solidFill>
                          <a:effectLst/>
                          <a:latin typeface="+mn-lt"/>
                          <a:ea typeface="ＭＳ Ｐゴシック" pitchFamily="34" charset="-128"/>
                        </a:rPr>
                        <a:t>Location of current records so the assets currently in use can be moved to an automated system</a:t>
                      </a:r>
                    </a:p>
                    <a:p>
                      <a:pPr marL="628650" marR="0" lvl="1"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n-lt"/>
                          <a:ea typeface="ＭＳ Ｐゴシック" pitchFamily="34" charset="-128"/>
                        </a:rPr>
                        <a:t>Varies by office and they will be difficult to locate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sp>
        <p:nvSpPr>
          <p:cNvPr id="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Specialty </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138</a:t>
            </a:fld>
            <a:endParaRPr lang="en-US" dirty="0"/>
          </a:p>
        </p:txBody>
      </p:sp>
    </p:spTree>
    <p:extLst>
      <p:ext uri="{BB962C8B-B14F-4D97-AF65-F5344CB8AC3E}">
        <p14:creationId xmlns:p14="http://schemas.microsoft.com/office/powerpoint/2010/main" val="2032859561"/>
      </p:ext>
    </p:extLst>
  </p:cSld>
  <p:clrMapOvr>
    <a:masterClrMapping/>
  </p:clrMapOvr>
  <p:timing>
    <p:tnLst>
      <p:par>
        <p:cTn xmlns:p14="http://schemas.microsoft.com/office/powerpoint/2010/mai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19: Agency Overrun</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2033642726"/>
              </p:ext>
            </p:extLst>
          </p:nvPr>
        </p:nvGraphicFramePr>
        <p:xfrm>
          <a:off x="304800" y="1295400"/>
          <a:ext cx="8534400" cy="2651784"/>
        </p:xfrm>
        <a:graphic>
          <a:graphicData uri="http://schemas.openxmlformats.org/drawingml/2006/table">
            <a:tbl>
              <a:tblPr/>
              <a:tblGrid>
                <a:gridCol w="1600200"/>
                <a:gridCol w="6934200"/>
              </a:tblGrid>
              <a:tr h="36512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#3</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pitchFamily="34" charset="0"/>
                          <a:ea typeface="ＭＳ Ｐゴシック" pitchFamily="34" charset="-128"/>
                        </a:rPr>
                        <a:t>How would you obtain the information you just outlined? </a:t>
                      </a:r>
                      <a:endParaRPr kumimoji="0" lang="en-US" sz="1200" b="1" i="1" u="none" strike="noStrike" cap="none" normalizeH="0" baseline="0" dirty="0" smtClean="0">
                        <a:ln>
                          <a:noFill/>
                        </a:ln>
                        <a:solidFill>
                          <a:schemeClr val="tx1"/>
                        </a:solidFill>
                        <a:effectLst/>
                        <a:latin typeface="Calibri" pitchFamily="34" charset="0"/>
                        <a:ea typeface="ＭＳ Ｐゴシック" pitchFamily="34" charset="-128"/>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2103438">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Guidance</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Possible answers include: </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Review the existing procurement policy </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Obtain an organizational chart to understand who has  procurement authority at the overall agency level and within the individual offices</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Interview key stakeholders to understand their perspective of the process and the current challenges the agency faces with the existing process</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Interview Head of Procurement within several offices to understand how process varies by office (should also talk to employees who complete purchase orders and stakeholder in the warehouse)</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Review existing purchase orders to understand redundancies in equipment ordered and to understand which warehouse locations offices are receiving the assets from</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Review existing system with IT champion</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CCCCCC"/>
                    </a:solidFill>
                  </a:tcPr>
                </a:tc>
              </a:tr>
            </a:tbl>
          </a:graphicData>
        </a:graphic>
      </p:graphicFrame>
      <p:sp>
        <p:nvSpPr>
          <p:cNvPr id="6"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Specialty </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139</a:t>
            </a:fld>
            <a:endParaRPr lang="en-US" dirty="0"/>
          </a:p>
        </p:txBody>
      </p:sp>
    </p:spTree>
    <p:extLst>
      <p:ext uri="{BB962C8B-B14F-4D97-AF65-F5344CB8AC3E}">
        <p14:creationId xmlns:p14="http://schemas.microsoft.com/office/powerpoint/2010/main" val="2117802015"/>
      </p:ext>
    </p:extLst>
  </p:cSld>
  <p:clrMapOvr>
    <a:masterClrMapping/>
  </p:clrMapOvr>
  <p:timing>
    <p:tnLst>
      <p:par>
        <p:cTn xmlns:p14="http://schemas.microsoft.com/office/powerpoint/2010/mai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19: Agency Overrun</a:t>
            </a:r>
            <a:endParaRPr lang="en-US" b="1" dirty="0"/>
          </a:p>
        </p:txBody>
      </p:sp>
      <p:graphicFrame>
        <p:nvGraphicFramePr>
          <p:cNvPr id="12" name="Table 11"/>
          <p:cNvGraphicFramePr>
            <a:graphicFrameLocks noGrp="1"/>
          </p:cNvGraphicFramePr>
          <p:nvPr>
            <p:extLst>
              <p:ext uri="{D42A27DB-BD31-4B8C-83A1-F6EECF244321}">
                <p14:modId xmlns:p14="http://schemas.microsoft.com/office/powerpoint/2010/main" val="2987404820"/>
              </p:ext>
            </p:extLst>
          </p:nvPr>
        </p:nvGraphicFramePr>
        <p:xfrm>
          <a:off x="304800" y="1295400"/>
          <a:ext cx="8534400" cy="3749063"/>
        </p:xfrm>
        <a:graphic>
          <a:graphicData uri="http://schemas.openxmlformats.org/drawingml/2006/table">
            <a:tbl>
              <a:tblPr/>
              <a:tblGrid>
                <a:gridCol w="1600200"/>
                <a:gridCol w="6934200"/>
              </a:tblGrid>
              <a:tr h="36512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Prompt #4</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34" charset="-128"/>
                        </a:rPr>
                        <a:t>What is your recommendation? </a:t>
                      </a:r>
                      <a:endParaRPr kumimoji="0" lang="en-US" sz="1200" b="1" i="1" u="none" strike="noStrike" cap="none" normalizeH="0" baseline="0" dirty="0" smtClean="0">
                        <a:ln>
                          <a:noFill/>
                        </a:ln>
                        <a:solidFill>
                          <a:schemeClr val="tx1"/>
                        </a:solidFill>
                        <a:effectLst/>
                        <a:latin typeface="+mj-lt"/>
                        <a:ea typeface="ＭＳ Ｐゴシック" pitchFamily="34" charset="-128"/>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r h="22860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itchFamily="34" charset="0"/>
                          <a:ea typeface="ＭＳ Ｐゴシック" pitchFamily="34" charset="-128"/>
                        </a:rPr>
                        <a:t>Guidance</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34" charset="-128"/>
                        </a:rPr>
                        <a:t>Candidate should come up with one or two options (short term and long term).  Possible answers include:</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Centralize purchase authority</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Improve coordination among offices and warehouses to reduce redundancies in personnel and assets</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Revamp procurement guidelines and enforce those guidelines to track equipment throughout agency</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Implement policy that equipment must be returned to procurement pool before it is loaned or leased </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Implement database that spans offices and warehouses so there is real time information regarding inventory levels and asset location within agency</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Centralize the warehouses and reduce number of  warehouses from 40 to a more reasonable number. Start by closing some of the 30 smaller warehouses and consolidating to the 10 main warehouses. Understand which warehouses are centrally located and close any that are redundant (based on location)</a:t>
                      </a:r>
                    </a:p>
                    <a:p>
                      <a:pPr marL="234950" marR="0" lvl="0" indent="-166688" algn="l" defTabSz="457200" rtl="0" eaLnBrk="1" fontAlgn="base" latinLnBrk="0" hangingPunct="1">
                        <a:lnSpc>
                          <a:spcPct val="100000"/>
                        </a:lnSpc>
                        <a:spcBef>
                          <a:spcPct val="0"/>
                        </a:spcBef>
                        <a:spcAft>
                          <a:spcPct val="0"/>
                        </a:spcAft>
                        <a:buClrTx/>
                        <a:buSzTx/>
                        <a:buFontTx/>
                        <a:buAutoNum type="arabicParenR"/>
                        <a:tabLst/>
                      </a:pPr>
                      <a:r>
                        <a:rPr kumimoji="0" lang="en-US" sz="1200" b="0" i="0" u="none" strike="noStrike" cap="none" normalizeH="0" baseline="0" dirty="0" smtClean="0">
                          <a:ln>
                            <a:noFill/>
                          </a:ln>
                          <a:solidFill>
                            <a:schemeClr val="tx1"/>
                          </a:solidFill>
                          <a:effectLst/>
                          <a:latin typeface="+mj-lt"/>
                          <a:ea typeface="ＭＳ Ｐゴシック" pitchFamily="34" charset="-128"/>
                        </a:rPr>
                        <a:t>Outsource procurement to a private entity to close warehouses altogether. If this is recommended, candidate should mention that a centralized approval and tracking system is still needed within the agency</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bl>
          </a:graphicData>
        </a:graphic>
      </p:graphicFrame>
      <p:sp>
        <p:nvSpPr>
          <p:cNvPr id="6"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Specialty </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140</a:t>
            </a:fld>
            <a:endParaRPr lang="en-US" dirty="0"/>
          </a:p>
        </p:txBody>
      </p:sp>
    </p:spTree>
    <p:extLst>
      <p:ext uri="{BB962C8B-B14F-4D97-AF65-F5344CB8AC3E}">
        <p14:creationId xmlns:p14="http://schemas.microsoft.com/office/powerpoint/2010/main" val="3596116259"/>
      </p:ext>
    </p:extLst>
  </p:cSld>
  <p:clrMapOvr>
    <a:masterClrMapping/>
  </p:clrMapOvr>
  <p:timing>
    <p:tnLst>
      <p:par>
        <p:cTn xmlns:p14="http://schemas.microsoft.com/office/powerpoint/2010/mai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712975669"/>
              </p:ext>
            </p:extLst>
          </p:nvPr>
        </p:nvGraphicFramePr>
        <p:xfrm>
          <a:off x="228600" y="1447800"/>
          <a:ext cx="8534400" cy="3017495"/>
        </p:xfrm>
        <a:graphic>
          <a:graphicData uri="http://schemas.openxmlformats.org/drawingml/2006/table">
            <a:tbl>
              <a:tblPr/>
              <a:tblGrid>
                <a:gridCol w="1600200"/>
                <a:gridCol w="6934200"/>
              </a:tblGrid>
              <a:tr h="246856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rPr>
                        <a:t>Performance Evaluation</a:t>
                      </a:r>
                      <a:endParaRPr kumimoji="0" lang="en-US" sz="10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mj-lt"/>
                          <a:ea typeface="ＭＳ Ｐゴシック" charset="0"/>
                          <a:cs typeface="ＭＳ Ｐゴシック" charset="0"/>
                        </a:rPr>
                        <a:t>Expected:</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Candidate will ask about the current procurement process and the loaning of equipment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Candidate will quickly identify that the procurement process is done on a largely ad-hoc basis and recommend structuring this process</a:t>
                      </a:r>
                      <a:endParaRPr kumimoji="0" lang="en-US" sz="1200" b="0" i="0" u="none" strike="noStrike" cap="none" normalizeH="0" baseline="0" dirty="0">
                        <a:ln>
                          <a:noFill/>
                        </a:ln>
                        <a:solidFill>
                          <a:schemeClr val="tx1"/>
                        </a:solidFill>
                        <a:effectLst/>
                        <a:latin typeface="+mj-lt"/>
                        <a:ea typeface="ＭＳ Ｐゴシック" charset="0"/>
                        <a:cs typeface="ＭＳ Ｐゴシック" charset="0"/>
                      </a:endParaRP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mj-lt"/>
                        <a:ea typeface="ＭＳ Ｐゴシック" charset="0"/>
                        <a:cs typeface="ＭＳ Ｐゴシック" charset="0"/>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mj-lt"/>
                          <a:ea typeface="ＭＳ Ｐゴシック" charset="0"/>
                          <a:cs typeface="ＭＳ Ｐゴシック" charset="0"/>
                        </a:rPr>
                        <a:t>Good:</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defRPr/>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Candidate will consider not just the process and technology involved, but also the human capital aspects and </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defRPr/>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Candidate will understand that getting agency buy-in is key to executing a strategy within the federal government. </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charset="0"/>
                          <a:cs typeface="ＭＳ Ｐゴシック" charset="0"/>
                        </a:rPr>
                        <a:t>Excellent</a:t>
                      </a:r>
                      <a:r>
                        <a:rPr kumimoji="0" lang="en-US" sz="1200" b="1" i="0" u="none" strike="noStrike" cap="none" normalizeH="0" baseline="0" dirty="0">
                          <a:ln>
                            <a:noFill/>
                          </a:ln>
                          <a:solidFill>
                            <a:schemeClr val="tx1"/>
                          </a:solidFill>
                          <a:effectLst/>
                          <a:latin typeface="+mj-lt"/>
                          <a:ea typeface="ＭＳ Ｐゴシック" charset="0"/>
                          <a:cs typeface="ＭＳ Ｐゴシック" charset="0"/>
                        </a:rPr>
                        <a: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Candidate may explore ideas involving the centralization of the warehouses to eliminate redundancies.</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charset="0"/>
                          <a:cs typeface="ＭＳ Ｐゴシック" charset="0"/>
                        </a:rPr>
                        <a:t>Candidate may explore ideas involving the recovery of existing assets  and how to enter and track those in the system. </a:t>
                      </a:r>
                      <a:endParaRPr kumimoji="0" lang="en-US" sz="1200" b="0" i="0" u="none" strike="noStrike" cap="none" normalizeH="0" baseline="0" dirty="0">
                        <a:ln>
                          <a:noFill/>
                        </a:ln>
                        <a:solidFill>
                          <a:schemeClr val="tx1"/>
                        </a:solidFill>
                        <a:effectLst/>
                        <a:latin typeface="+mj-lt"/>
                        <a:ea typeface="ＭＳ Ｐゴシック" charset="0"/>
                        <a:cs typeface="ＭＳ Ｐゴシック" charset="0"/>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94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7"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b="1" dirty="0"/>
              <a:t>Case </a:t>
            </a:r>
            <a:r>
              <a:rPr lang="en-US" b="1" dirty="0" smtClean="0"/>
              <a:t>19: Agency Overrun</a:t>
            </a:r>
            <a:endParaRPr lang="en-US" b="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141</a:t>
            </a:fld>
            <a:endParaRPr lang="en-US" dirty="0"/>
          </a:p>
        </p:txBody>
      </p:sp>
    </p:spTree>
    <p:extLst>
      <p:ext uri="{BB962C8B-B14F-4D97-AF65-F5344CB8AC3E}">
        <p14:creationId xmlns:p14="http://schemas.microsoft.com/office/powerpoint/2010/main" val="4023137085"/>
      </p:ext>
    </p:extLst>
  </p:cSld>
  <p:clrMapOvr>
    <a:masterClrMapping/>
  </p:clrMapOvr>
  <p:timing>
    <p:tnLst>
      <p:par>
        <p:cTn xmlns:p14="http://schemas.microsoft.com/office/powerpoint/2010/mai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142</a:t>
            </a:fld>
            <a:endParaRPr lang="en-US" dirty="0"/>
          </a:p>
        </p:txBody>
      </p:sp>
    </p:spTree>
    <p:extLst>
      <p:ext uri="{BB962C8B-B14F-4D97-AF65-F5344CB8AC3E}">
        <p14:creationId xmlns:p14="http://schemas.microsoft.com/office/powerpoint/2010/main" val="1153173855"/>
      </p:ext>
    </p:extLst>
  </p:cSld>
  <p:clrMapOvr>
    <a:masterClrMapping/>
  </p:clrMapOvr>
  <p:timing>
    <p:tnLst>
      <p:par>
        <p:cTn xmlns:p14="http://schemas.microsoft.com/office/powerpoint/2010/mai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20: </a:t>
            </a:r>
            <a:r>
              <a:rPr lang="en-US" sz="2400" b="1" dirty="0"/>
              <a:t>Bravo Insurance</a:t>
            </a:r>
          </a:p>
        </p:txBody>
      </p:sp>
      <p:graphicFrame>
        <p:nvGraphicFramePr>
          <p:cNvPr id="12" name="Table 11"/>
          <p:cNvGraphicFramePr>
            <a:graphicFrameLocks noGrp="1"/>
          </p:cNvGraphicFramePr>
          <p:nvPr>
            <p:extLst>
              <p:ext uri="{D42A27DB-BD31-4B8C-83A1-F6EECF244321}">
                <p14:modId xmlns:p14="http://schemas.microsoft.com/office/powerpoint/2010/main" val="1274395031"/>
              </p:ext>
            </p:extLst>
          </p:nvPr>
        </p:nvGraphicFramePr>
        <p:xfrm>
          <a:off x="304800" y="1295400"/>
          <a:ext cx="8534400" cy="5174672"/>
        </p:xfrm>
        <a:graphic>
          <a:graphicData uri="http://schemas.openxmlformats.org/drawingml/2006/table">
            <a:tbl>
              <a:tblPr firstRow="1" bandRow="1">
                <a:tableStyleId>{616DA210-FB5B-4158-B5E0-FEB733F419BA}</a:tableStyleId>
              </a:tblPr>
              <a:tblGrid>
                <a:gridCol w="1600200"/>
                <a:gridCol w="6934200"/>
              </a:tblGrid>
              <a:tr h="2468563">
                <a:tc>
                  <a:txBody>
                    <a:bodyPr/>
                    <a:lstStyle/>
                    <a:p>
                      <a:pPr algn="ctr"/>
                      <a:r>
                        <a:rPr lang="en-US" sz="1800" dirty="0" smtClean="0"/>
                        <a:t>Prompt #1</a:t>
                      </a:r>
                      <a:endParaRPr lang="en-US" sz="1800" dirty="0"/>
                    </a:p>
                  </a:txBody>
                  <a:tcPr marT="45728" marB="45728" anchor="ctr"/>
                </a:tc>
                <a:tc>
                  <a:txBody>
                    <a:bodyPr/>
                    <a:lstStyle/>
                    <a:p>
                      <a:r>
                        <a:rPr lang="en-US" sz="1200" b="0" i="0" kern="1200" baseline="0" dirty="0" smtClean="0">
                          <a:solidFill>
                            <a:schemeClr val="tx1"/>
                          </a:solidFill>
                          <a:latin typeface="+mj-lt"/>
                          <a:ea typeface="+mn-ea"/>
                          <a:cs typeface="+mn-cs"/>
                        </a:rPr>
                        <a:t>Your client, Bravo Insurance, is an insurance provider in the US.  Over the last five years, Bravo has grown through acquisitions of four small regional insurance companies.  It has recently completed an integration of a medium sized competitor which was acquired two years earlier.  Due to these acquisitions and growth, Bravo’s market share has increased at a rate of 8% per year.  Furthermore, the product portfolio has been recently optimized and rationalized through a consulting engagement. Finally, extensive research has been done for a new pricing strategy, which has been successfully introduced three months ago.  Profits have been flat the last five years across the industry, however, Bravo profits have decreased over the same period by 4% per annum.  Recent regulatory reform and public attitude towards insurance providers has added increased pressure on the executive team to transform the organization and turn the company around.</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The CEO had asked the CIO of Bravo to put together a roadmap to identify key areas of transformation.  The CIO has hired you to lead the planning and road-mapping exercise for his technology organization.  What project plan or roadmap would you propose for this engagement to sell to the CIO?</a:t>
                      </a:r>
                    </a:p>
                  </a:txBody>
                  <a:tcPr marT="45728" marB="45728"/>
                </a:tc>
              </a:tr>
              <a:tr h="2340017">
                <a:tc>
                  <a:txBody>
                    <a:bodyPr/>
                    <a:lstStyle/>
                    <a:p>
                      <a:pPr algn="ctr"/>
                      <a:r>
                        <a:rPr lang="en-US" sz="1800" b="1" dirty="0" smtClean="0"/>
                        <a:t>Guidance</a:t>
                      </a:r>
                      <a:endParaRPr lang="en-US" sz="1800" b="1" baseline="0" dirty="0" smtClean="0"/>
                    </a:p>
                  </a:txBody>
                  <a:tcPr marT="45728" marB="45728" anchor="ctr"/>
                </a:tc>
                <a:tc>
                  <a:txBody>
                    <a:bodyPr/>
                    <a:lstStyle/>
                    <a:p>
                      <a:r>
                        <a:rPr lang="en-US" sz="1200" i="0" kern="1200" dirty="0" smtClean="0">
                          <a:solidFill>
                            <a:schemeClr val="tx1"/>
                          </a:solidFill>
                          <a:latin typeface="+mj-lt"/>
                          <a:ea typeface="+mn-ea"/>
                          <a:cs typeface="+mn-cs"/>
                        </a:rPr>
                        <a:t>There is</a:t>
                      </a:r>
                      <a:r>
                        <a:rPr lang="en-US" sz="1200" i="0" kern="1200" baseline="0" dirty="0" smtClean="0">
                          <a:solidFill>
                            <a:schemeClr val="tx1"/>
                          </a:solidFill>
                          <a:latin typeface="+mj-lt"/>
                          <a:ea typeface="+mn-ea"/>
                          <a:cs typeface="+mn-cs"/>
                        </a:rPr>
                        <a:t> no additional data that is required for this case.</a:t>
                      </a:r>
                    </a:p>
                    <a:p>
                      <a:endParaRPr lang="en-US" sz="1200" i="0" kern="1200" baseline="0" dirty="0" smtClean="0">
                        <a:solidFill>
                          <a:schemeClr val="tx1"/>
                        </a:solidFill>
                        <a:latin typeface="+mj-lt"/>
                        <a:ea typeface="+mn-ea"/>
                        <a:cs typeface="+mn-cs"/>
                      </a:endParaRPr>
                    </a:p>
                    <a:p>
                      <a:r>
                        <a:rPr lang="en-US" sz="1200" i="0" kern="1200" baseline="0" dirty="0" smtClean="0">
                          <a:solidFill>
                            <a:schemeClr val="tx1"/>
                          </a:solidFill>
                          <a:latin typeface="+mj-lt"/>
                          <a:ea typeface="+mn-ea"/>
                          <a:cs typeface="+mn-cs"/>
                        </a:rPr>
                        <a:t>Most (if not all) of the data/information in the prompt is superfluous and is meant to overwhelm the candidate as the final prompt asks for a “roadmap…to sell to the CIO,” which is different from a typical case where the candidate will jump head first into a “framework.”  The most important aspect of the case is to identify the “ask” correctly.  The ask is for a “roadmap” or “project plan,” not a typical “framework.”</a:t>
                      </a:r>
                    </a:p>
                    <a:p>
                      <a:endParaRPr lang="en-US" sz="1200" i="0" kern="1200" baseline="0" dirty="0" smtClean="0">
                        <a:solidFill>
                          <a:schemeClr val="tx1"/>
                        </a:solidFill>
                        <a:latin typeface="+mj-lt"/>
                        <a:ea typeface="+mn-ea"/>
                        <a:cs typeface="+mn-cs"/>
                      </a:endParaRPr>
                    </a:p>
                    <a:p>
                      <a:r>
                        <a:rPr lang="en-US" sz="1200" i="0" kern="1200" baseline="0" dirty="0" smtClean="0">
                          <a:solidFill>
                            <a:schemeClr val="tx1"/>
                          </a:solidFill>
                          <a:latin typeface="+mj-lt"/>
                          <a:ea typeface="+mn-ea"/>
                          <a:cs typeface="+mn-cs"/>
                        </a:rPr>
                        <a:t>Hints:</a:t>
                      </a:r>
                    </a:p>
                    <a:p>
                      <a:pPr marL="171450" indent="-171450">
                        <a:buFont typeface="Arial" panose="020B0604020202020204" pitchFamily="34" charset="0"/>
                        <a:buChar char="•"/>
                      </a:pPr>
                      <a:r>
                        <a:rPr lang="en-US" sz="1200" i="0" kern="1200" baseline="0" dirty="0" smtClean="0">
                          <a:solidFill>
                            <a:schemeClr val="tx1"/>
                          </a:solidFill>
                          <a:latin typeface="+mj-lt"/>
                          <a:ea typeface="+mn-ea"/>
                          <a:cs typeface="+mn-cs"/>
                        </a:rPr>
                        <a:t>If the candidate jumps into a typical “framework,” stop him/her and restate that your client is looking for a “roadmap, phases, project plan”; tell the candidate that a “cost framework” may be useful later, but not now</a:t>
                      </a:r>
                    </a:p>
                  </a:txBody>
                  <a:tcPr marT="45728" marB="45728"/>
                </a:tc>
              </a:tr>
            </a:tbl>
          </a:graphicData>
        </a:graphic>
      </p:graphicFrame>
      <p:sp>
        <p:nvSpPr>
          <p:cNvPr id="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Specialty </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143</a:t>
            </a:fld>
            <a:endParaRPr lang="en-US" dirty="0"/>
          </a:p>
        </p:txBody>
      </p:sp>
    </p:spTree>
    <p:extLst>
      <p:ext uri="{BB962C8B-B14F-4D97-AF65-F5344CB8AC3E}">
        <p14:creationId xmlns:p14="http://schemas.microsoft.com/office/powerpoint/2010/main" val="3056478069"/>
      </p:ext>
    </p:extLst>
  </p:cSld>
  <p:clrMapOvr>
    <a:masterClrMapping/>
  </p:clrMapOvr>
  <p:timing>
    <p:tnLst>
      <p:par>
        <p:cTn xmlns:p14="http://schemas.microsoft.com/office/powerpoint/2010/mai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989368438"/>
              </p:ext>
            </p:extLst>
          </p:nvPr>
        </p:nvGraphicFramePr>
        <p:xfrm>
          <a:off x="228600" y="1447800"/>
          <a:ext cx="8534400" cy="4571971"/>
        </p:xfrm>
        <a:graphic>
          <a:graphicData uri="http://schemas.openxmlformats.org/drawingml/2006/table">
            <a:tbl>
              <a:tblPr/>
              <a:tblGrid>
                <a:gridCol w="1600200"/>
                <a:gridCol w="6934200"/>
              </a:tblGrid>
              <a:tr h="5334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ea typeface="ＭＳ Ｐゴシック" pitchFamily="-65" charset="-128"/>
                        </a:rPr>
                        <a:t>Guidance</a:t>
                      </a: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sng" strike="noStrike" cap="none" normalizeH="0" baseline="0" dirty="0" smtClean="0">
                          <a:ln>
                            <a:noFill/>
                          </a:ln>
                          <a:solidFill>
                            <a:schemeClr val="tx1"/>
                          </a:solidFill>
                          <a:effectLst/>
                          <a:latin typeface="+mj-lt"/>
                          <a:ea typeface="ＭＳ Ｐゴシック" pitchFamily="-65" charset="-128"/>
                        </a:rPr>
                        <a:t>Candidate should develop something along these lines:</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65" charset="-128"/>
                      </a:endParaRPr>
                    </a:p>
                    <a:p>
                      <a:pPr marL="228600" marR="0" lvl="0" indent="-228600" algn="l" defTabSz="457200" rtl="0" eaLnBrk="1" fontAlgn="base" latinLnBrk="0" hangingPunct="1">
                        <a:lnSpc>
                          <a:spcPct val="100000"/>
                        </a:lnSpc>
                        <a:spcBef>
                          <a:spcPct val="0"/>
                        </a:spcBef>
                        <a:spcAft>
                          <a:spcPct val="0"/>
                        </a:spcAft>
                        <a:buClrTx/>
                        <a:buSzTx/>
                        <a:buFont typeface="+mj-lt"/>
                        <a:buAutoNum type="arabicPeriod"/>
                        <a:tabLst/>
                      </a:pPr>
                      <a:r>
                        <a:rPr kumimoji="0" lang="en-US" sz="1200" b="0" i="1" u="none" strike="noStrike" cap="none" normalizeH="0" baseline="0" dirty="0" smtClean="0">
                          <a:ln>
                            <a:noFill/>
                          </a:ln>
                          <a:solidFill>
                            <a:schemeClr val="tx1"/>
                          </a:solidFill>
                          <a:effectLst/>
                          <a:latin typeface="+mj-lt"/>
                          <a:ea typeface="ＭＳ Ｐゴシック" pitchFamily="-65" charset="-128"/>
                        </a:rPr>
                        <a:t>Stakeholder Analysis (on both business and technology side)</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a:tabLst/>
                      </a:pPr>
                      <a:r>
                        <a:rPr kumimoji="0" lang="en-US" sz="1200" b="0" i="1" u="none" strike="noStrike" cap="none" normalizeH="0" baseline="0" dirty="0" smtClean="0">
                          <a:ln>
                            <a:noFill/>
                          </a:ln>
                          <a:solidFill>
                            <a:schemeClr val="tx1"/>
                          </a:solidFill>
                          <a:effectLst/>
                          <a:latin typeface="+mj-lt"/>
                          <a:ea typeface="ＭＳ Ｐゴシック" pitchFamily="-65" charset="-128"/>
                        </a:rPr>
                        <a:t>Business Strategy and Technology Strategy Alignment </a:t>
                      </a:r>
                    </a:p>
                    <a:p>
                      <a:pPr marL="0" marR="0" lvl="0" indent="0" algn="l" defTabSz="457200" rtl="0" eaLnBrk="1" fontAlgn="base" latinLnBrk="0" hangingPunct="1">
                        <a:lnSpc>
                          <a:spcPct val="100000"/>
                        </a:lnSpc>
                        <a:spcBef>
                          <a:spcPct val="0"/>
                        </a:spcBef>
                        <a:spcAft>
                          <a:spcPct val="0"/>
                        </a:spcAft>
                        <a:buClrTx/>
                        <a:buSzTx/>
                        <a:buFont typeface="+mj-lt"/>
                        <a:buNone/>
                        <a:tabLst/>
                      </a:pPr>
                      <a:r>
                        <a:rPr kumimoji="0" lang="en-US" sz="1200" b="0" i="1" u="none" strike="noStrike" cap="none" normalizeH="0" baseline="0" dirty="0" smtClean="0">
                          <a:ln>
                            <a:noFill/>
                          </a:ln>
                          <a:solidFill>
                            <a:schemeClr val="tx1"/>
                          </a:solidFill>
                          <a:effectLst/>
                          <a:latin typeface="+mj-lt"/>
                          <a:ea typeface="ＭＳ Ｐゴシック" pitchFamily="-65" charset="-128"/>
                        </a:rPr>
                        <a:t>	[the following are for the CIO and the technology organization]</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startAt="3"/>
                        <a:tabLst/>
                      </a:pPr>
                      <a:r>
                        <a:rPr kumimoji="0" lang="en-US" sz="1200" b="0" i="1" u="none" strike="noStrike" cap="none" normalizeH="0" baseline="0" dirty="0" smtClean="0">
                          <a:ln>
                            <a:noFill/>
                          </a:ln>
                          <a:solidFill>
                            <a:schemeClr val="tx1"/>
                          </a:solidFill>
                          <a:effectLst/>
                          <a:latin typeface="+mj-lt"/>
                          <a:ea typeface="ＭＳ Ｐゴシック" pitchFamily="-65" charset="-128"/>
                        </a:rPr>
                        <a:t>Current State Capability Assessment (CSA)</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startAt="3"/>
                        <a:tabLst/>
                      </a:pPr>
                      <a:r>
                        <a:rPr kumimoji="0" lang="en-US" sz="1200" b="0" i="1" u="none" strike="noStrike" cap="none" normalizeH="0" baseline="0" dirty="0" smtClean="0">
                          <a:ln>
                            <a:noFill/>
                          </a:ln>
                          <a:solidFill>
                            <a:schemeClr val="tx1"/>
                          </a:solidFill>
                          <a:effectLst/>
                          <a:latin typeface="+mj-lt"/>
                          <a:ea typeface="ＭＳ Ｐゴシック" pitchFamily="-65" charset="-128"/>
                        </a:rPr>
                        <a:t>Future State Capability Assessment (FSA)</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startAt="3"/>
                        <a:tabLst/>
                      </a:pPr>
                      <a:r>
                        <a:rPr kumimoji="0" lang="en-US" sz="1200" b="0" i="1" u="none" strike="noStrike" cap="none" normalizeH="0" baseline="0" dirty="0" smtClean="0">
                          <a:ln>
                            <a:noFill/>
                          </a:ln>
                          <a:solidFill>
                            <a:schemeClr val="tx1"/>
                          </a:solidFill>
                          <a:effectLst/>
                          <a:latin typeface="+mj-lt"/>
                          <a:ea typeface="ＭＳ Ｐゴシック" pitchFamily="-65" charset="-128"/>
                        </a:rPr>
                        <a:t>Gap Analysis</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startAt="3"/>
                        <a:tabLst/>
                      </a:pPr>
                      <a:r>
                        <a:rPr kumimoji="0" lang="en-US" sz="1200" b="0" i="1" u="none" strike="noStrike" cap="none" normalizeH="0" baseline="0" dirty="0" smtClean="0">
                          <a:ln>
                            <a:noFill/>
                          </a:ln>
                          <a:solidFill>
                            <a:schemeClr val="tx1"/>
                          </a:solidFill>
                          <a:effectLst/>
                          <a:latin typeface="+mj-lt"/>
                          <a:ea typeface="ＭＳ Ｐゴシック" pitchFamily="-65" charset="-128"/>
                        </a:rPr>
                        <a:t>Project Identification</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startAt="3"/>
                        <a:tabLst/>
                      </a:pPr>
                      <a:r>
                        <a:rPr kumimoji="0" lang="en-US" sz="1200" b="0" i="1" u="none" strike="noStrike" cap="none" normalizeH="0" baseline="0" dirty="0" smtClean="0">
                          <a:ln>
                            <a:noFill/>
                          </a:ln>
                          <a:solidFill>
                            <a:schemeClr val="tx1"/>
                          </a:solidFill>
                          <a:effectLst/>
                          <a:latin typeface="+mj-lt"/>
                          <a:ea typeface="ＭＳ Ｐゴシック" pitchFamily="-65" charset="-128"/>
                        </a:rPr>
                        <a:t>Project Prioritization</a:t>
                      </a:r>
                    </a:p>
                    <a:p>
                      <a:pPr marL="228600" marR="0" lvl="0" indent="-228600" algn="l" defTabSz="457200" rtl="0" eaLnBrk="1" fontAlgn="base" latinLnBrk="0" hangingPunct="1">
                        <a:lnSpc>
                          <a:spcPct val="100000"/>
                        </a:lnSpc>
                        <a:spcBef>
                          <a:spcPct val="0"/>
                        </a:spcBef>
                        <a:spcAft>
                          <a:spcPct val="0"/>
                        </a:spcAft>
                        <a:buClrTx/>
                        <a:buSzTx/>
                        <a:buFont typeface="+mj-lt"/>
                        <a:buAutoNum type="arabicPeriod" startAt="3"/>
                        <a:tabLst/>
                      </a:pPr>
                      <a:r>
                        <a:rPr kumimoji="0" lang="en-US" sz="1200" b="0" i="1" u="none" strike="noStrike" cap="none" normalizeH="0" baseline="0" dirty="0" smtClean="0">
                          <a:ln>
                            <a:noFill/>
                          </a:ln>
                          <a:solidFill>
                            <a:schemeClr val="tx1"/>
                          </a:solidFill>
                          <a:effectLst/>
                          <a:latin typeface="+mj-lt"/>
                          <a:ea typeface="ＭＳ Ｐゴシック" pitchFamily="-65" charset="-128"/>
                        </a:rPr>
                        <a:t>High Level Project Plan/Timelines</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mj-lt"/>
                        <a:ea typeface="ＭＳ Ｐゴシック" pitchFamily="-65"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mj-lt"/>
                          <a:ea typeface="ＭＳ Ｐゴシック" pitchFamily="-65" charset="-128"/>
                        </a:rPr>
                        <a:t>One or two examples or comments about what each of the above mean are expected.</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tx1">
                        <a:alpha val="20000"/>
                      </a:schemeClr>
                    </a:solidFill>
                  </a:tcPr>
                </a:tc>
              </a:tr>
              <a:tr h="155416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ea typeface="ＭＳ Ｐゴシック" pitchFamily="-65" charset="-128"/>
                        </a:rPr>
                        <a:t>Performance Evaluation</a:t>
                      </a:r>
                      <a:endParaRPr kumimoji="0" lang="en-US" sz="1000" b="0" i="0" u="none" strike="noStrike" cap="none" normalizeH="0" baseline="0" dirty="0" smtClean="0">
                        <a:ln>
                          <a:noFill/>
                        </a:ln>
                        <a:solidFill>
                          <a:schemeClr val="tx1"/>
                        </a:solidFill>
                        <a:effectLst/>
                        <a:latin typeface="Arial" charset="0"/>
                        <a:ea typeface="ＭＳ Ｐゴシック" pitchFamily="-65" charset="-128"/>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20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65" charset="-128"/>
                        </a:rPr>
                        <a:t>Expected:</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65" charset="-128"/>
                        </a:rPr>
                        <a:t>Correctly identify the ask as a “roadmap” and not a typical “framework”</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mj-lt"/>
                        <a:ea typeface="ＭＳ Ｐゴシック" pitchFamily="-65"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65" charset="-128"/>
                        </a:rPr>
                        <a:t>Good:</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65" charset="-128"/>
                        </a:rPr>
                        <a:t>Current State Capability Assessment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65" charset="-128"/>
                        </a:rPr>
                        <a:t>Future State Capability Assessment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65" charset="-128"/>
                        </a:rPr>
                        <a:t>Gap Analysis</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mj-lt"/>
                        <a:ea typeface="ＭＳ Ｐゴシック" pitchFamily="-65"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j-lt"/>
                          <a:ea typeface="ＭＳ Ｐゴシック" pitchFamily="-65" charset="-128"/>
                        </a:rPr>
                        <a:t>Excellent:</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mj-lt"/>
                          <a:ea typeface="ＭＳ Ｐゴシック" pitchFamily="-65" charset="-128"/>
                        </a:rPr>
                        <a:t>Candidate asking if he/she can do a deep dive to investigate if there are any savings opportunities in the IT organization.</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20000"/>
                      </a:schemeClr>
                    </a:solidFill>
                  </a:tcPr>
                </a:tc>
              </a:tr>
            </a:tbl>
          </a:graphicData>
        </a:graphic>
      </p:graphicFrame>
      <p:pic>
        <p:nvPicPr>
          <p:cNvPr id="61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159"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20: </a:t>
            </a:r>
            <a:r>
              <a:rPr lang="en-US" sz="2400" b="1" dirty="0"/>
              <a:t>Bravo Insurance</a:t>
            </a:r>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144</a:t>
            </a:fld>
            <a:endParaRPr lang="en-US" dirty="0"/>
          </a:p>
        </p:txBody>
      </p:sp>
    </p:spTree>
    <p:extLst>
      <p:ext uri="{BB962C8B-B14F-4D97-AF65-F5344CB8AC3E}">
        <p14:creationId xmlns:p14="http://schemas.microsoft.com/office/powerpoint/2010/main" val="3304966132"/>
      </p:ext>
    </p:extLst>
  </p:cSld>
  <p:clrMapOvr>
    <a:masterClrMapping/>
  </p:clrMapOvr>
  <p:timing>
    <p:tnLst>
      <p:par>
        <p:cTn xmlns:p14="http://schemas.microsoft.com/office/powerpoint/2010/mai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174"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20: </a:t>
            </a:r>
            <a:r>
              <a:rPr lang="en-US" sz="2400" b="1" dirty="0"/>
              <a:t>Bravo Insurance</a:t>
            </a:r>
          </a:p>
        </p:txBody>
      </p:sp>
      <p:graphicFrame>
        <p:nvGraphicFramePr>
          <p:cNvPr id="12" name="Table 11"/>
          <p:cNvGraphicFramePr>
            <a:graphicFrameLocks noGrp="1"/>
          </p:cNvGraphicFramePr>
          <p:nvPr>
            <p:extLst>
              <p:ext uri="{D42A27DB-BD31-4B8C-83A1-F6EECF244321}">
                <p14:modId xmlns:p14="http://schemas.microsoft.com/office/powerpoint/2010/main" val="3209211393"/>
              </p:ext>
            </p:extLst>
          </p:nvPr>
        </p:nvGraphicFramePr>
        <p:xfrm>
          <a:off x="285750" y="1301750"/>
          <a:ext cx="8534400" cy="5209886"/>
        </p:xfrm>
        <a:graphic>
          <a:graphicData uri="http://schemas.openxmlformats.org/drawingml/2006/table">
            <a:tbl>
              <a:tblPr firstRow="1" bandRow="1">
                <a:tableStyleId>{616DA210-FB5B-4158-B5E0-FEB733F419BA}</a:tableStyleId>
              </a:tblPr>
              <a:tblGrid>
                <a:gridCol w="1600200"/>
                <a:gridCol w="6934200"/>
              </a:tblGrid>
              <a:tr h="1458141">
                <a:tc>
                  <a:txBody>
                    <a:bodyPr/>
                    <a:lstStyle/>
                    <a:p>
                      <a:pPr algn="ctr"/>
                      <a:r>
                        <a:rPr lang="en-US" sz="1800" dirty="0" smtClean="0"/>
                        <a:t>Prompt #2</a:t>
                      </a:r>
                      <a:endParaRPr lang="en-US" sz="1800" dirty="0"/>
                    </a:p>
                  </a:txBody>
                  <a:tcPr marT="45745" marB="45745" anchor="ctr"/>
                </a:tc>
                <a:tc>
                  <a:txBody>
                    <a:bodyPr/>
                    <a:lstStyle/>
                    <a:p>
                      <a:r>
                        <a:rPr lang="en-US" sz="1200" b="0" i="0" kern="1200" baseline="0" dirty="0" smtClean="0">
                          <a:solidFill>
                            <a:schemeClr val="tx1"/>
                          </a:solidFill>
                          <a:latin typeface="+mj-lt"/>
                          <a:ea typeface="+mn-ea"/>
                          <a:cs typeface="+mn-cs"/>
                        </a:rPr>
                        <a:t>You have identified a hypothesis that will explain some of the key issues the CIO is facing.  Due to Bravo’s growth through acquisitions, the IT infrastructure is fragmented, resulting in increasing costs, redundancies, and inefficiencies, impacting the bottom line.</a:t>
                      </a:r>
                    </a:p>
                    <a:p>
                      <a:pPr marL="171450" indent="-171450">
                        <a:buFont typeface="Arial" panose="020B0604020202020204" pitchFamily="34" charset="0"/>
                        <a:buChar char="•"/>
                      </a:pPr>
                      <a:endParaRPr lang="en-US" sz="1200" b="0" i="0" kern="1200" baseline="0" dirty="0" smtClean="0">
                        <a:solidFill>
                          <a:schemeClr val="tx1"/>
                        </a:solidFill>
                        <a:latin typeface="+mj-lt"/>
                        <a:ea typeface="+mn-ea"/>
                        <a:cs typeface="+mn-cs"/>
                      </a:endParaRPr>
                    </a:p>
                    <a:p>
                      <a:pPr marL="0" indent="0">
                        <a:buFont typeface="Arial" panose="020B0604020202020204" pitchFamily="34" charset="0"/>
                        <a:buNone/>
                      </a:pPr>
                      <a:r>
                        <a:rPr lang="en-US" sz="1200" b="0" i="0" kern="1200" baseline="0" dirty="0" smtClean="0">
                          <a:solidFill>
                            <a:schemeClr val="tx1"/>
                          </a:solidFill>
                          <a:latin typeface="+mj-lt"/>
                          <a:ea typeface="+mn-ea"/>
                          <a:cs typeface="+mn-cs"/>
                        </a:rPr>
                        <a:t>What are some of the key issues that the CIO should highlight to his senior management team as opportunities for savings?</a:t>
                      </a:r>
                    </a:p>
                  </a:txBody>
                  <a:tcPr marT="45745" marB="45745" anchor="ctr"/>
                </a:tc>
              </a:tr>
              <a:tr h="3751745">
                <a:tc>
                  <a:txBody>
                    <a:bodyPr/>
                    <a:lstStyle/>
                    <a:p>
                      <a:pPr algn="ctr"/>
                      <a:r>
                        <a:rPr lang="en-US" sz="1800" b="1" dirty="0" smtClean="0"/>
                        <a:t>Guidance</a:t>
                      </a:r>
                      <a:endParaRPr lang="en-US" sz="1800" b="1" baseline="0" dirty="0" smtClean="0"/>
                    </a:p>
                  </a:txBody>
                  <a:tcPr marT="45745" marB="45745" anchor="ctr"/>
                </a:tc>
                <a:tc>
                  <a:txBody>
                    <a:bodyPr/>
                    <a:lstStyle/>
                    <a:p>
                      <a:pPr marL="171450" indent="-171450">
                        <a:buFont typeface="Arial" panose="020B0604020202020204" pitchFamily="34" charset="0"/>
                        <a:buChar char="•"/>
                      </a:pPr>
                      <a:r>
                        <a:rPr lang="en-US" sz="1200" b="0" i="1" kern="1200" baseline="0" dirty="0" smtClean="0">
                          <a:solidFill>
                            <a:schemeClr val="tx1"/>
                          </a:solidFill>
                          <a:latin typeface="+mj-lt"/>
                          <a:ea typeface="+mn-ea"/>
                          <a:cs typeface="+mn-cs"/>
                        </a:rPr>
                        <a:t>This is a qualitative assessment, not quantitative; no additional data is required.</a:t>
                      </a:r>
                    </a:p>
                    <a:p>
                      <a:pPr marL="171450" indent="-171450">
                        <a:buFont typeface="Arial" panose="020B0604020202020204" pitchFamily="34" charset="0"/>
                        <a:buChar char="•"/>
                      </a:pPr>
                      <a:r>
                        <a:rPr lang="en-US" sz="1200" b="0" i="1" kern="1200" baseline="0" dirty="0" smtClean="0">
                          <a:solidFill>
                            <a:schemeClr val="tx1"/>
                          </a:solidFill>
                          <a:latin typeface="+mj-lt"/>
                          <a:ea typeface="+mn-ea"/>
                          <a:cs typeface="+mn-cs"/>
                        </a:rPr>
                        <a:t>This is asking to drill down into the Gap Analysis step.  A “typical” cost framework can be used.</a:t>
                      </a:r>
                    </a:p>
                    <a:p>
                      <a:pPr marL="171450" indent="-171450">
                        <a:buFont typeface="Arial" panose="020B0604020202020204" pitchFamily="34" charset="0"/>
                        <a:buChar char="•"/>
                      </a:pPr>
                      <a:endParaRPr lang="en-US" sz="1200" b="0" i="0" kern="1200" baseline="0" dirty="0" smtClean="0">
                        <a:solidFill>
                          <a:schemeClr val="tx1"/>
                        </a:solidFill>
                        <a:latin typeface="+mj-lt"/>
                        <a:ea typeface="+mn-ea"/>
                        <a:cs typeface="+mn-cs"/>
                      </a:endParaRPr>
                    </a:p>
                    <a:p>
                      <a:pPr marL="0" indent="0">
                        <a:buFont typeface="Arial" panose="020B0604020202020204" pitchFamily="34" charset="0"/>
                        <a:buNone/>
                      </a:pPr>
                      <a:r>
                        <a:rPr lang="en-US" sz="1200" b="1" i="0" kern="1200" baseline="0" dirty="0" smtClean="0">
                          <a:solidFill>
                            <a:schemeClr val="tx1"/>
                          </a:solidFill>
                          <a:latin typeface="+mn-lt"/>
                          <a:ea typeface="+mn-ea"/>
                          <a:cs typeface="+mn-cs"/>
                        </a:rPr>
                        <a:t>Answers will vary greatly, but they should be structured.  </a:t>
                      </a:r>
                      <a:r>
                        <a:rPr lang="en-US" sz="1200" b="0" i="1" kern="1200" baseline="0" dirty="0" smtClean="0">
                          <a:solidFill>
                            <a:schemeClr val="tx1"/>
                          </a:solidFill>
                          <a:latin typeface="+mn-lt"/>
                          <a:ea typeface="+mn-ea"/>
                          <a:cs typeface="+mn-cs"/>
                        </a:rPr>
                        <a:t>People and systems are good buckets to encourage them  to evaluate if they need help.</a:t>
                      </a:r>
                    </a:p>
                    <a:p>
                      <a:pPr marL="0" indent="0">
                        <a:buFont typeface="Arial" panose="020B0604020202020204" pitchFamily="34" charset="0"/>
                        <a:buNone/>
                      </a:pPr>
                      <a:endParaRPr lang="en-US" sz="1200" b="1" i="0" kern="1200" baseline="0" dirty="0" smtClean="0">
                        <a:solidFill>
                          <a:schemeClr val="tx1"/>
                        </a:solidFill>
                        <a:latin typeface="+mn-lt"/>
                        <a:ea typeface="+mn-ea"/>
                        <a:cs typeface="+mn-cs"/>
                      </a:endParaRPr>
                    </a:p>
                    <a:p>
                      <a:pPr marL="0" indent="0">
                        <a:buFont typeface="Arial" panose="020B0604020202020204" pitchFamily="34" charset="0"/>
                        <a:buNone/>
                      </a:pPr>
                      <a:r>
                        <a:rPr lang="en-US" sz="1200" b="1" i="0" kern="1200" baseline="0" dirty="0" smtClean="0">
                          <a:solidFill>
                            <a:schemeClr val="tx1"/>
                          </a:solidFill>
                          <a:latin typeface="+mn-lt"/>
                          <a:ea typeface="+mn-ea"/>
                          <a:cs typeface="+mn-cs"/>
                        </a:rPr>
                        <a:t>Impact on People:</a:t>
                      </a:r>
                    </a:p>
                    <a:p>
                      <a:pPr marL="171450" indent="-171450">
                        <a:buFont typeface="Arial" panose="020B0604020202020204" pitchFamily="34" charset="0"/>
                        <a:buChar char="•"/>
                      </a:pPr>
                      <a:r>
                        <a:rPr lang="en-US" sz="1200" b="0" i="0" kern="1200" baseline="0" dirty="0" smtClean="0">
                          <a:solidFill>
                            <a:schemeClr val="tx1"/>
                          </a:solidFill>
                          <a:latin typeface="+mn-lt"/>
                          <a:ea typeface="+mn-ea"/>
                          <a:cs typeface="+mn-cs"/>
                        </a:rPr>
                        <a:t>Change organizational structure to eliminate redundancies</a:t>
                      </a:r>
                    </a:p>
                    <a:p>
                      <a:pPr marL="171450" indent="-171450">
                        <a:buFont typeface="Arial" panose="020B0604020202020204" pitchFamily="34" charset="0"/>
                        <a:buChar char="•"/>
                      </a:pPr>
                      <a:r>
                        <a:rPr lang="en-US" sz="1200" b="0" i="0" kern="1200" baseline="0" dirty="0" smtClean="0">
                          <a:solidFill>
                            <a:schemeClr val="tx1"/>
                          </a:solidFill>
                          <a:latin typeface="+mn-lt"/>
                          <a:ea typeface="+mn-ea"/>
                          <a:cs typeface="+mn-cs"/>
                        </a:rPr>
                        <a:t>Change/Update job mandates (e.g. right people doing right jobs)</a:t>
                      </a:r>
                    </a:p>
                    <a:p>
                      <a:pPr marL="171450" indent="-171450">
                        <a:buFont typeface="Arial" panose="020B0604020202020204" pitchFamily="34" charset="0"/>
                        <a:buChar char="•"/>
                      </a:pPr>
                      <a:r>
                        <a:rPr lang="en-US" sz="1200" b="0" i="0" kern="1200" baseline="0" dirty="0" smtClean="0">
                          <a:solidFill>
                            <a:schemeClr val="tx1"/>
                          </a:solidFill>
                          <a:latin typeface="+mn-lt"/>
                          <a:ea typeface="+mn-ea"/>
                          <a:cs typeface="+mn-cs"/>
                        </a:rPr>
                        <a:t>Upgrade people skills (e.g. people doing jobs right)</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n-lt"/>
                          <a:ea typeface="+mn-ea"/>
                          <a:cs typeface="+mn-cs"/>
                        </a:rPr>
                        <a:t>Outsourcing vs. Insourcing</a:t>
                      </a:r>
                    </a:p>
                    <a:p>
                      <a:pPr marL="171450" indent="-171450">
                        <a:buFont typeface="Arial" panose="020B0604020202020204" pitchFamily="34" charset="0"/>
                        <a:buChar char="•"/>
                      </a:pPr>
                      <a:endParaRPr lang="en-US" sz="1200" b="0" i="0" kern="1200" baseline="0" dirty="0" smtClean="0">
                        <a:solidFill>
                          <a:schemeClr val="tx1"/>
                        </a:solidFill>
                        <a:latin typeface="+mn-lt"/>
                        <a:ea typeface="+mn-ea"/>
                        <a:cs typeface="+mn-cs"/>
                      </a:endParaRPr>
                    </a:p>
                    <a:p>
                      <a:pPr marL="0" indent="0">
                        <a:buFont typeface="Arial" panose="020B0604020202020204" pitchFamily="34" charset="0"/>
                        <a:buNone/>
                      </a:pPr>
                      <a:r>
                        <a:rPr lang="en-US" sz="1200" b="1" i="0" kern="1200" baseline="0" dirty="0" smtClean="0">
                          <a:solidFill>
                            <a:schemeClr val="tx1"/>
                          </a:solidFill>
                          <a:latin typeface="+mn-lt"/>
                          <a:ea typeface="+mn-ea"/>
                          <a:cs typeface="+mn-cs"/>
                        </a:rPr>
                        <a:t>Impact on Systems and Processes: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n-lt"/>
                          <a:ea typeface="+mn-ea"/>
                          <a:cs typeface="+mn-cs"/>
                        </a:rPr>
                        <a:t>Outsourcing vs. Insourcing</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n-lt"/>
                          <a:ea typeface="+mn-ea"/>
                          <a:cs typeface="+mn-cs"/>
                        </a:rPr>
                        <a:t>Benchmark system costs to competitors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n-lt"/>
                          <a:ea typeface="+mn-ea"/>
                          <a:cs typeface="+mn-cs"/>
                        </a:rPr>
                        <a:t>Upgrade systems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n-lt"/>
                          <a:ea typeface="+mn-ea"/>
                          <a:cs typeface="+mn-cs"/>
                        </a:rPr>
                        <a:t>Retire/merge/consolidate systems (to eliminate redundancies)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n-lt"/>
                          <a:ea typeface="+mn-ea"/>
                          <a:cs typeface="+mn-cs"/>
                        </a:rPr>
                        <a:t>Consolidate data centers (to eliminate redundancies)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n-lt"/>
                          <a:ea typeface="+mn-ea"/>
                          <a:cs typeface="+mn-cs"/>
                        </a:rPr>
                        <a:t>Inefficient processes that can be streamlines and reengineered</a:t>
                      </a:r>
                    </a:p>
                  </a:txBody>
                  <a:tcPr marT="45745" marB="45745" anchor="ctr"/>
                </a:tc>
              </a:tr>
            </a:tbl>
          </a:graphicData>
        </a:graphic>
      </p:graphicFrame>
      <p:sp>
        <p:nvSpPr>
          <p:cNvPr id="6"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Specialty </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145</a:t>
            </a:fld>
            <a:endParaRPr lang="en-US" dirty="0"/>
          </a:p>
        </p:txBody>
      </p:sp>
    </p:spTree>
    <p:extLst>
      <p:ext uri="{BB962C8B-B14F-4D97-AF65-F5344CB8AC3E}">
        <p14:creationId xmlns:p14="http://schemas.microsoft.com/office/powerpoint/2010/main" val="199272666"/>
      </p:ext>
    </p:extLst>
  </p:cSld>
  <p:clrMapOvr>
    <a:masterClrMapping/>
  </p:clrMapOvr>
  <p:timing>
    <p:tnLst>
      <p:par>
        <p:cTn xmlns:p14="http://schemas.microsoft.com/office/powerpoint/2010/mai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210194364"/>
              </p:ext>
            </p:extLst>
          </p:nvPr>
        </p:nvGraphicFramePr>
        <p:xfrm>
          <a:off x="228600" y="1447800"/>
          <a:ext cx="8534400" cy="3383259"/>
        </p:xfrm>
        <a:graphic>
          <a:graphicData uri="http://schemas.openxmlformats.org/drawingml/2006/table">
            <a:tbl>
              <a:tblPr firstRow="1" bandRow="1">
                <a:tableStyleId>{616DA210-FB5B-4158-B5E0-FEB733F419BA}</a:tableStyleId>
              </a:tblPr>
              <a:tblGrid>
                <a:gridCol w="1600200"/>
                <a:gridCol w="6934200"/>
              </a:tblGrid>
              <a:tr h="2834454">
                <a:tc>
                  <a:txBody>
                    <a:bodyPr/>
                    <a:lstStyle/>
                    <a:p>
                      <a:pPr algn="ctr"/>
                      <a:r>
                        <a:rPr lang="en-US" sz="1800" i="0" dirty="0" smtClean="0">
                          <a:latin typeface="+mj-lt"/>
                        </a:rPr>
                        <a:t>Guidance</a:t>
                      </a:r>
                      <a:endParaRPr lang="en-US" sz="1000" i="0" dirty="0">
                        <a:latin typeface="+mj-lt"/>
                      </a:endParaRPr>
                    </a:p>
                  </a:txBody>
                  <a:tcPr marT="45710" marB="45710" anchor="ctr">
                    <a:solidFill>
                      <a:schemeClr val="tx1">
                        <a:alpha val="20000"/>
                      </a:schemeClr>
                    </a:solidFill>
                  </a:tcPr>
                </a:tc>
                <a:tc>
                  <a:txBody>
                    <a:bodyPr/>
                    <a:lstStyle/>
                    <a:p>
                      <a:pPr marL="0" indent="0">
                        <a:buFont typeface="Arial" panose="020B0604020202020204" pitchFamily="34" charset="0"/>
                        <a:buNone/>
                      </a:pPr>
                      <a:r>
                        <a:rPr lang="en-US" sz="1200" b="1" i="0" kern="1200" baseline="0" dirty="0" smtClean="0">
                          <a:solidFill>
                            <a:schemeClr val="tx1"/>
                          </a:solidFill>
                          <a:latin typeface="+mj-lt"/>
                          <a:ea typeface="+mn-ea"/>
                          <a:cs typeface="+mn-cs"/>
                        </a:rPr>
                        <a:t>Answers will vary greatly, but they should be structured.  </a:t>
                      </a:r>
                      <a:r>
                        <a:rPr lang="en-US" sz="1200" b="0" i="1" kern="1200" baseline="0" dirty="0" smtClean="0">
                          <a:solidFill>
                            <a:schemeClr val="tx1"/>
                          </a:solidFill>
                          <a:latin typeface="+mj-lt"/>
                          <a:ea typeface="+mn-ea"/>
                          <a:cs typeface="+mn-cs"/>
                        </a:rPr>
                        <a:t>People and systems are good buckets to encourage them  to evaluate if they need help.</a:t>
                      </a:r>
                    </a:p>
                    <a:p>
                      <a:pPr marL="0" indent="0">
                        <a:buFont typeface="Arial" panose="020B0604020202020204" pitchFamily="34" charset="0"/>
                        <a:buNone/>
                      </a:pPr>
                      <a:endParaRPr lang="en-US" sz="1200" b="1" i="0" kern="1200" baseline="0" dirty="0" smtClean="0">
                        <a:solidFill>
                          <a:schemeClr val="tx1"/>
                        </a:solidFill>
                        <a:latin typeface="+mj-lt"/>
                        <a:ea typeface="+mn-ea"/>
                        <a:cs typeface="+mn-cs"/>
                      </a:endParaRPr>
                    </a:p>
                    <a:p>
                      <a:pPr marL="0" indent="0">
                        <a:buFont typeface="Arial" panose="020B0604020202020204" pitchFamily="34" charset="0"/>
                        <a:buNone/>
                      </a:pPr>
                      <a:r>
                        <a:rPr lang="en-US" sz="1200" b="1" i="0" kern="1200" baseline="0" dirty="0" smtClean="0">
                          <a:solidFill>
                            <a:schemeClr val="tx1"/>
                          </a:solidFill>
                          <a:latin typeface="+mj-lt"/>
                          <a:ea typeface="+mn-ea"/>
                          <a:cs typeface="+mn-cs"/>
                        </a:rPr>
                        <a:t>Impact on People:</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Change organizational structure to eliminate redundancies</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Change/Update job mandates (e.g. right people doing right jobs)</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Upgrade people skills (e.g. people doing jobs right)</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Outsourcing vs. Insourcing</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Etc.</a:t>
                      </a:r>
                    </a:p>
                    <a:p>
                      <a:pPr marL="171450" indent="-171450">
                        <a:buFont typeface="Arial" panose="020B0604020202020204" pitchFamily="34" charset="0"/>
                        <a:buChar char="•"/>
                      </a:pPr>
                      <a:endParaRPr lang="en-US" sz="1200" b="0" i="0" kern="1200" baseline="0" dirty="0" smtClean="0">
                        <a:solidFill>
                          <a:schemeClr val="tx1"/>
                        </a:solidFill>
                        <a:latin typeface="+mj-lt"/>
                        <a:ea typeface="+mn-ea"/>
                        <a:cs typeface="+mn-cs"/>
                      </a:endParaRPr>
                    </a:p>
                    <a:p>
                      <a:pPr marL="0" indent="0">
                        <a:buFont typeface="Arial" panose="020B0604020202020204" pitchFamily="34" charset="0"/>
                        <a:buNone/>
                      </a:pPr>
                      <a:r>
                        <a:rPr lang="en-US" sz="1200" b="1" i="0" kern="1200" baseline="0" dirty="0" smtClean="0">
                          <a:solidFill>
                            <a:schemeClr val="tx1"/>
                          </a:solidFill>
                          <a:latin typeface="+mj-lt"/>
                          <a:ea typeface="+mn-ea"/>
                          <a:cs typeface="+mn-cs"/>
                        </a:rPr>
                        <a:t>Impact on Systems and Processes: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Outsourcing vs. Insourcing</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Benchmark system costs to competitors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Upgrade systems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Retire/merge/consolidate systems (to eliminate redundancies)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Consolidate data centers (to eliminate redundancies)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Inefficient processes that can be streamlines and reengineered</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Etc.</a:t>
                      </a:r>
                    </a:p>
                  </a:txBody>
                  <a:tcPr marT="45710" marB="45710">
                    <a:solidFill>
                      <a:schemeClr val="tx1">
                        <a:alpha val="20000"/>
                      </a:schemeClr>
                    </a:solidFill>
                  </a:tcPr>
                </a:tc>
              </a:tr>
            </a:tbl>
          </a:graphicData>
        </a:graphic>
      </p:graphicFrame>
      <p:pic>
        <p:nvPicPr>
          <p:cNvPr id="82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207"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20: </a:t>
            </a:r>
            <a:r>
              <a:rPr lang="en-US" sz="2400" b="1" dirty="0"/>
              <a:t>Bravo Insurance</a:t>
            </a:r>
          </a:p>
        </p:txBody>
      </p:sp>
      <p:sp>
        <p:nvSpPr>
          <p:cNvPr id="7"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Specialty </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146</a:t>
            </a:fld>
            <a:endParaRPr lang="en-US" dirty="0"/>
          </a:p>
        </p:txBody>
      </p:sp>
    </p:spTree>
    <p:extLst>
      <p:ext uri="{BB962C8B-B14F-4D97-AF65-F5344CB8AC3E}">
        <p14:creationId xmlns:p14="http://schemas.microsoft.com/office/powerpoint/2010/main" val="838195718"/>
      </p:ext>
    </p:extLst>
  </p:cSld>
  <p:clrMapOvr>
    <a:masterClrMapping/>
  </p:clrMapOvr>
  <p:timing>
    <p:tnLst>
      <p:par>
        <p:cTn xmlns:p14="http://schemas.microsoft.com/office/powerpoint/2010/mai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221"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20: </a:t>
            </a:r>
            <a:r>
              <a:rPr lang="en-US" sz="2400" b="1" dirty="0"/>
              <a:t>Bravo Insurance</a:t>
            </a:r>
          </a:p>
        </p:txBody>
      </p:sp>
      <p:graphicFrame>
        <p:nvGraphicFramePr>
          <p:cNvPr id="12" name="Table 11"/>
          <p:cNvGraphicFramePr>
            <a:graphicFrameLocks noGrp="1"/>
          </p:cNvGraphicFramePr>
          <p:nvPr>
            <p:extLst>
              <p:ext uri="{D42A27DB-BD31-4B8C-83A1-F6EECF244321}">
                <p14:modId xmlns:p14="http://schemas.microsoft.com/office/powerpoint/2010/main" val="3731176131"/>
              </p:ext>
            </p:extLst>
          </p:nvPr>
        </p:nvGraphicFramePr>
        <p:xfrm>
          <a:off x="285750" y="1301750"/>
          <a:ext cx="8534400" cy="4135304"/>
        </p:xfrm>
        <a:graphic>
          <a:graphicData uri="http://schemas.openxmlformats.org/drawingml/2006/table">
            <a:tbl>
              <a:tblPr firstRow="1" bandRow="1">
                <a:tableStyleId>{616DA210-FB5B-4158-B5E0-FEB733F419BA}</a:tableStyleId>
              </a:tblPr>
              <a:tblGrid>
                <a:gridCol w="1600200"/>
                <a:gridCol w="6934200"/>
              </a:tblGrid>
              <a:tr h="1117771">
                <a:tc>
                  <a:txBody>
                    <a:bodyPr/>
                    <a:lstStyle/>
                    <a:p>
                      <a:pPr algn="ctr"/>
                      <a:r>
                        <a:rPr lang="en-US" sz="1800" dirty="0" smtClean="0"/>
                        <a:t>Prompt #3</a:t>
                      </a:r>
                      <a:endParaRPr lang="en-US" sz="1800" dirty="0"/>
                    </a:p>
                  </a:txBody>
                  <a:tcPr marT="45727" marB="45727" anchor="ctr"/>
                </a:tc>
                <a:tc>
                  <a:txBody>
                    <a:bodyPr/>
                    <a:lstStyle/>
                    <a:p>
                      <a:r>
                        <a:rPr lang="en-US" sz="1200" b="0" i="0" kern="1200" baseline="0" dirty="0" smtClean="0">
                          <a:solidFill>
                            <a:schemeClr val="tx1"/>
                          </a:solidFill>
                          <a:latin typeface="+mj-lt"/>
                          <a:ea typeface="+mn-ea"/>
                          <a:cs typeface="+mn-cs"/>
                        </a:rPr>
                        <a:t>The CIO is on his way to meet with you.  What is your summary of your strategy to solve this issue?</a:t>
                      </a:r>
                    </a:p>
                  </a:txBody>
                  <a:tcPr marT="45727" marB="45727" anchor="ctr"/>
                </a:tc>
              </a:tr>
              <a:tr h="1371429">
                <a:tc>
                  <a:txBody>
                    <a:bodyPr/>
                    <a:lstStyle/>
                    <a:p>
                      <a:pPr algn="ctr"/>
                      <a:r>
                        <a:rPr lang="en-US" sz="1800" b="1" dirty="0" smtClean="0"/>
                        <a:t>Guidance</a:t>
                      </a:r>
                      <a:endParaRPr lang="en-US" sz="1800" b="1" baseline="0" dirty="0" smtClean="0"/>
                    </a:p>
                  </a:txBody>
                  <a:tcPr marT="45727" marB="45727" anchor="ctr"/>
                </a:tc>
                <a:tc>
                  <a:txBody>
                    <a:bodyPr/>
                    <a:lstStyle/>
                    <a:p>
                      <a:r>
                        <a:rPr lang="en-US" sz="1200" i="0" kern="1200" dirty="0" smtClean="0">
                          <a:solidFill>
                            <a:schemeClr val="tx1"/>
                          </a:solidFill>
                          <a:latin typeface="+mj-lt"/>
                          <a:ea typeface="+mn-ea"/>
                          <a:cs typeface="+mn-cs"/>
                        </a:rPr>
                        <a:t>The candidate should</a:t>
                      </a:r>
                      <a:r>
                        <a:rPr lang="en-US" sz="1200" i="0" kern="1200" baseline="0" dirty="0" smtClean="0">
                          <a:solidFill>
                            <a:schemeClr val="tx1"/>
                          </a:solidFill>
                          <a:latin typeface="+mj-lt"/>
                          <a:ea typeface="+mn-ea"/>
                          <a:cs typeface="+mn-cs"/>
                        </a:rPr>
                        <a:t> re-use his/her roadmap that was created earlier, followed by a specific recommendation about key cost saving opportunities.</a:t>
                      </a:r>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pPr marL="171450" indent="-171450">
                        <a:buFont typeface="Arial" panose="020B0604020202020204" pitchFamily="34" charset="0"/>
                        <a:buChar char="•"/>
                      </a:pPr>
                      <a:r>
                        <a:rPr lang="en-US" sz="1200" b="0" i="1" kern="1200" baseline="0" dirty="0" smtClean="0">
                          <a:solidFill>
                            <a:schemeClr val="tx1"/>
                          </a:solidFill>
                          <a:latin typeface="+mj-lt"/>
                          <a:ea typeface="+mn-ea"/>
                          <a:cs typeface="+mn-cs"/>
                        </a:rPr>
                        <a:t>Tell the candidate to take a minute.</a:t>
                      </a:r>
                    </a:p>
                    <a:p>
                      <a:pPr marL="171450" indent="-171450">
                        <a:buFont typeface="Arial" panose="020B0604020202020204" pitchFamily="34" charset="0"/>
                        <a:buChar char="•"/>
                      </a:pPr>
                      <a:r>
                        <a:rPr lang="en-US" sz="1200" b="0" i="1" kern="1200" baseline="0" dirty="0" smtClean="0">
                          <a:solidFill>
                            <a:schemeClr val="tx1"/>
                          </a:solidFill>
                          <a:latin typeface="+mj-lt"/>
                          <a:ea typeface="+mn-ea"/>
                          <a:cs typeface="+mn-cs"/>
                        </a:rPr>
                        <a:t>A “Recommendation” and “Risks” are appropriate.  The “roadmap” that was created earlier can be used for “Next Steps”</a:t>
                      </a:r>
                    </a:p>
                    <a:p>
                      <a:pPr marL="171450" indent="-171450">
                        <a:buFont typeface="Arial" panose="020B0604020202020204" pitchFamily="34" charset="0"/>
                        <a:buChar char="•"/>
                      </a:pPr>
                      <a:endParaRPr lang="en-US" sz="1200" b="0" i="0" kern="1200" baseline="0" dirty="0" smtClean="0">
                        <a:solidFill>
                          <a:schemeClr val="tx1"/>
                        </a:solidFill>
                        <a:latin typeface="+mj-lt"/>
                        <a:ea typeface="+mn-ea"/>
                        <a:cs typeface="+mn-cs"/>
                      </a:endParaRPr>
                    </a:p>
                    <a:p>
                      <a:pPr marL="0" indent="0">
                        <a:buFont typeface="Arial" panose="020B0604020202020204" pitchFamily="34" charset="0"/>
                        <a:buNone/>
                      </a:pPr>
                      <a:r>
                        <a:rPr lang="en-US" sz="1200" b="1" i="0" u="sng" kern="1200" baseline="0" dirty="0" smtClean="0">
                          <a:solidFill>
                            <a:schemeClr val="tx1"/>
                          </a:solidFill>
                          <a:latin typeface="+mj-lt"/>
                          <a:ea typeface="+mn-ea"/>
                          <a:cs typeface="+mn-cs"/>
                        </a:rPr>
                        <a:t>Good summary</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Restate the key hypothesis:  Fragmentation due to acquisitions, resulting in increased costs</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Recommendation:  Focus on people, process, and system redundancies to turn around the 4% per annum decrease in profits</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Risks:  People change management, business continuity, hidden costs</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Show the roadmap and highlight the first two steps, “Stakeholder Analysis,” and “Business Strategy and Technology Strategy Alignment” (no need to go over the full roadmap, but rather highlight the kick off and strategy alignment steps)</a:t>
                      </a:r>
                    </a:p>
                    <a:p>
                      <a:pPr marL="171450" indent="-171450">
                        <a:buFont typeface="Arial" panose="020B0604020202020204" pitchFamily="34" charset="0"/>
                        <a:buChar char="•"/>
                      </a:pPr>
                      <a:endParaRPr lang="en-US" sz="1200" b="0" i="0" kern="1200" dirty="0" smtClean="0">
                        <a:solidFill>
                          <a:schemeClr val="tx1"/>
                        </a:solidFill>
                        <a:latin typeface="+mj-lt"/>
                        <a:ea typeface="+mn-ea"/>
                        <a:cs typeface="+mn-cs"/>
                      </a:endParaRPr>
                    </a:p>
                  </a:txBody>
                  <a:tcPr marT="45727" marB="45727"/>
                </a:tc>
              </a:tr>
            </a:tbl>
          </a:graphicData>
        </a:graphic>
      </p:graphicFrame>
      <p:sp>
        <p:nvSpPr>
          <p:cNvPr id="6"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Specialty </a:t>
            </a:r>
            <a:endParaRPr lang="en-US" sz="1400" i="1" dirty="0"/>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147</a:t>
            </a:fld>
            <a:endParaRPr lang="en-US" dirty="0"/>
          </a:p>
        </p:txBody>
      </p:sp>
    </p:spTree>
    <p:extLst>
      <p:ext uri="{BB962C8B-B14F-4D97-AF65-F5344CB8AC3E}">
        <p14:creationId xmlns:p14="http://schemas.microsoft.com/office/powerpoint/2010/main" val="3865932387"/>
      </p:ext>
    </p:extLst>
  </p:cSld>
  <p:clrMapOvr>
    <a:masterClrMapping/>
  </p:clrMapOvr>
  <p:timing>
    <p:tnLst>
      <p:par>
        <p:cTn xmlns:p14="http://schemas.microsoft.com/office/powerpoint/2010/mai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806410381"/>
              </p:ext>
            </p:extLst>
          </p:nvPr>
        </p:nvGraphicFramePr>
        <p:xfrm>
          <a:off x="228600" y="1447800"/>
          <a:ext cx="8534400" cy="2468851"/>
        </p:xfrm>
        <a:graphic>
          <a:graphicData uri="http://schemas.openxmlformats.org/drawingml/2006/table">
            <a:tbl>
              <a:tblPr firstRow="1" bandRow="1">
                <a:tableStyleId>{616DA210-FB5B-4158-B5E0-FEB733F419BA}</a:tableStyleId>
              </a:tblPr>
              <a:tblGrid>
                <a:gridCol w="1600200"/>
                <a:gridCol w="6934200"/>
              </a:tblGrid>
              <a:tr h="2468494">
                <a:tc>
                  <a:txBody>
                    <a:bodyPr/>
                    <a:lstStyle/>
                    <a:p>
                      <a:pPr algn="ctr"/>
                      <a:r>
                        <a:rPr lang="en-US" sz="1800" b="1" i="0" dirty="0" smtClean="0">
                          <a:latin typeface="+mj-lt"/>
                        </a:rPr>
                        <a:t>Performance Evaluation</a:t>
                      </a:r>
                      <a:endParaRPr lang="en-US" sz="1000" i="0" dirty="0">
                        <a:latin typeface="+mj-lt"/>
                      </a:endParaRPr>
                    </a:p>
                  </a:txBody>
                  <a:tcPr marT="45706" marB="45706"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Ability to complete without getting thrown off by pure strategy nature of case</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Completes all section with logical recommendations for each</a:t>
                      </a:r>
                    </a:p>
                    <a:p>
                      <a:pPr marL="0" indent="0">
                        <a:buFont typeface="Arial" panose="020B0604020202020204" pitchFamily="34" charset="0"/>
                        <a:buNone/>
                      </a:pPr>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Develops roadmap and framework when appropriate, and determines how the two tie into one another</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baseline="0" dirty="0" smtClean="0">
                          <a:solidFill>
                            <a:schemeClr val="tx1"/>
                          </a:solidFill>
                          <a:latin typeface="+mj-lt"/>
                          <a:ea typeface="+mn-ea"/>
                          <a:cs typeface="+mn-cs"/>
                        </a:rPr>
                        <a:t>Comes up with good and structured areas for improving the IT infrastructure, particularly reviewing people and systems</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indent="-171450">
                        <a:buFont typeface="Arial" panose="020B0604020202020204" pitchFamily="34" charset="0"/>
                        <a:buChar char="•"/>
                      </a:pPr>
                      <a:r>
                        <a:rPr lang="en-US" sz="1200" b="0" i="0" kern="1200" baseline="0" dirty="0" smtClean="0">
                          <a:solidFill>
                            <a:schemeClr val="tx1"/>
                          </a:solidFill>
                          <a:latin typeface="+mj-lt"/>
                          <a:ea typeface="+mn-ea"/>
                          <a:cs typeface="+mn-cs"/>
                        </a:rPr>
                        <a:t>Complete all areas seamlessly without hesitating, and incorporating the roadmap and framework into the CIO recommendation</a:t>
                      </a:r>
                      <a:endParaRPr lang="en-US" sz="1200" b="0" i="0" kern="1200" dirty="0">
                        <a:solidFill>
                          <a:schemeClr val="tx1"/>
                        </a:solidFill>
                        <a:latin typeface="+mj-lt"/>
                        <a:ea typeface="+mn-ea"/>
                        <a:cs typeface="+mn-cs"/>
                      </a:endParaRPr>
                    </a:p>
                  </a:txBody>
                  <a:tcPr marT="45706" marB="45706"/>
                </a:tc>
              </a:tr>
            </a:tbl>
          </a:graphicData>
        </a:graphic>
      </p:graphicFrame>
      <p:pic>
        <p:nvPicPr>
          <p:cNvPr id="102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255" name="TextBox 10"/>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Arial" charset="0"/>
                <a:ea typeface="ＭＳ Ｐゴシック" pitchFamily="-65" charset="-128"/>
              </a:defRPr>
            </a:lvl1pPr>
            <a:lvl2pPr marL="742950" indent="-285750">
              <a:defRPr sz="2400">
                <a:solidFill>
                  <a:schemeClr val="tx1"/>
                </a:solidFill>
                <a:latin typeface="Arial" charset="0"/>
                <a:ea typeface="ＭＳ Ｐゴシック" pitchFamily="-65" charset="-128"/>
              </a:defRPr>
            </a:lvl2pPr>
            <a:lvl3pPr marL="1143000" indent="-228600">
              <a:defRPr>
                <a:solidFill>
                  <a:schemeClr val="tx1"/>
                </a:solidFill>
                <a:latin typeface="Arial" charset="0"/>
                <a:ea typeface="ＭＳ Ｐゴシック" pitchFamily="-65" charset="-128"/>
              </a:defRPr>
            </a:lvl3pPr>
            <a:lvl4pPr marL="1600200" indent="-228600">
              <a:defRPr sz="1600">
                <a:solidFill>
                  <a:schemeClr val="tx1"/>
                </a:solidFill>
                <a:latin typeface="Arial" charset="0"/>
                <a:ea typeface="ＭＳ Ｐゴシック" pitchFamily="-65" charset="-128"/>
              </a:defRPr>
            </a:lvl4pPr>
            <a:lvl5pPr>
              <a:defRPr sz="2000">
                <a:solidFill>
                  <a:schemeClr val="tx1"/>
                </a:solidFill>
                <a:latin typeface="Arial" charset="0"/>
                <a:ea typeface="ＭＳ Ｐゴシック" pitchFamily="-65" charset="-128"/>
              </a:defRPr>
            </a:lvl5pPr>
            <a:lvl6pPr eaLnBrk="0" hangingPunct="0">
              <a:defRPr sz="2000">
                <a:solidFill>
                  <a:schemeClr val="tx1"/>
                </a:solidFill>
                <a:latin typeface="Arial" charset="0"/>
                <a:ea typeface="ＭＳ Ｐゴシック" pitchFamily="-65" charset="-128"/>
              </a:defRPr>
            </a:lvl6pPr>
            <a:lvl7pPr eaLnBrk="0" hangingPunct="0">
              <a:defRPr sz="2000">
                <a:solidFill>
                  <a:schemeClr val="tx1"/>
                </a:solidFill>
                <a:latin typeface="Arial" charset="0"/>
                <a:ea typeface="ＭＳ Ｐゴシック" pitchFamily="-65" charset="-128"/>
              </a:defRPr>
            </a:lvl7pPr>
            <a:lvl8pPr eaLnBrk="0" hangingPunct="0">
              <a:defRPr sz="2000">
                <a:solidFill>
                  <a:schemeClr val="tx1"/>
                </a:solidFill>
                <a:latin typeface="Arial" charset="0"/>
                <a:ea typeface="ＭＳ Ｐゴシック" pitchFamily="-65" charset="-128"/>
              </a:defRPr>
            </a:lvl8pPr>
            <a:lvl9pPr eaLnBrk="0" hangingPunct="0">
              <a:defRPr sz="2000">
                <a:solidFill>
                  <a:schemeClr val="tx1"/>
                </a:solidFill>
                <a:latin typeface="Arial" charset="0"/>
                <a:ea typeface="ＭＳ Ｐゴシック" pitchFamily="-65" charset="-128"/>
              </a:defRPr>
            </a:lvl9pPr>
          </a:lstStyle>
          <a:p>
            <a:pPr eaLnBrk="1" hangingPunct="1"/>
            <a:r>
              <a:rPr lang="en-US" sz="2400" b="1" dirty="0"/>
              <a:t>Case </a:t>
            </a:r>
            <a:r>
              <a:rPr lang="en-US" sz="2400" b="1" dirty="0" smtClean="0"/>
              <a:t>20: </a:t>
            </a:r>
            <a:r>
              <a:rPr lang="en-US" sz="2400" b="1" dirty="0"/>
              <a:t>Bravo Insurance</a:t>
            </a:r>
          </a:p>
        </p:txBody>
      </p:sp>
      <p:sp>
        <p:nvSpPr>
          <p:cNvPr id="7" name="TextBox 8"/>
          <p:cNvSpPr txBox="1">
            <a:spLocks noChangeArrowheads="1"/>
          </p:cNvSpPr>
          <p:nvPr/>
        </p:nvSpPr>
        <p:spPr bwMode="auto">
          <a:xfrm>
            <a:off x="7467600" y="1007533"/>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sz="1400" i="1" dirty="0" smtClean="0"/>
              <a:t>Specialty </a:t>
            </a:r>
            <a:endParaRPr lang="en-US" sz="1400" i="1" dirty="0"/>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148</a:t>
            </a:fld>
            <a:endParaRPr lang="en-US" dirty="0"/>
          </a:p>
        </p:txBody>
      </p:sp>
    </p:spTree>
    <p:extLst>
      <p:ext uri="{BB962C8B-B14F-4D97-AF65-F5344CB8AC3E}">
        <p14:creationId xmlns:p14="http://schemas.microsoft.com/office/powerpoint/2010/main" val="477303741"/>
      </p:ext>
    </p:extLst>
  </p:cSld>
  <p:clrMapOvr>
    <a:masterClrMapping/>
  </p:clrMapOvr>
  <p:timing>
    <p:tnLst>
      <p:par>
        <p:cTn xmlns:p14="http://schemas.microsoft.com/office/powerpoint/2010/mai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 name="Slide Number Placeholder 1"/>
          <p:cNvSpPr>
            <a:spLocks noGrp="1"/>
          </p:cNvSpPr>
          <p:nvPr>
            <p:ph type="sldNum" sz="quarter" idx="10"/>
          </p:nvPr>
        </p:nvSpPr>
        <p:spPr/>
        <p:txBody>
          <a:bodyPr/>
          <a:lstStyle/>
          <a:p>
            <a:pPr>
              <a:defRPr/>
            </a:pPr>
            <a:fld id="{2C3620DA-591A-47C1-BA9B-670AF3E2C382}" type="slidenum">
              <a:rPr lang="en-US" smtClean="0"/>
              <a:pPr>
                <a:defRPr/>
              </a:pPr>
              <a:t>149</a:t>
            </a:fld>
            <a:endParaRPr lang="en-US" dirty="0"/>
          </a:p>
        </p:txBody>
      </p:sp>
    </p:spTree>
    <p:extLst>
      <p:ext uri="{BB962C8B-B14F-4D97-AF65-F5344CB8AC3E}">
        <p14:creationId xmlns:p14="http://schemas.microsoft.com/office/powerpoint/2010/main" val="663932151"/>
      </p:ext>
    </p:extLst>
  </p:cSld>
  <p:clrMapOvr>
    <a:masterClrMapping/>
  </p:clrMapOvr>
  <p:timing>
    <p:tnLst>
      <p:par>
        <p:cTn xmlns:p14="http://schemas.microsoft.com/office/powerpoint/2010/mai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TextBox 6"/>
          <p:cNvSpPr txBox="1">
            <a:spLocks noChangeArrowheads="1"/>
          </p:cNvSpPr>
          <p:nvPr/>
        </p:nvSpPr>
        <p:spPr bwMode="auto">
          <a:xfrm>
            <a:off x="228600" y="990600"/>
            <a:ext cx="2362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sz="1400" i="1"/>
          </a:p>
        </p:txBody>
      </p:sp>
      <p:sp>
        <p:nvSpPr>
          <p:cNvPr id="16387" name="TextBox 7"/>
          <p:cNvSpPr txBox="1">
            <a:spLocks noChangeArrowheads="1"/>
          </p:cNvSpPr>
          <p:nvPr/>
        </p:nvSpPr>
        <p:spPr bwMode="auto">
          <a:xfrm>
            <a:off x="38862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sz="1400" i="1"/>
          </a:p>
        </p:txBody>
      </p:sp>
      <p:sp>
        <p:nvSpPr>
          <p:cNvPr id="16388" name="TextBox 8"/>
          <p:cNvSpPr txBox="1">
            <a:spLocks noChangeArrowheads="1"/>
          </p:cNvSpPr>
          <p:nvPr/>
        </p:nvSpPr>
        <p:spPr bwMode="auto">
          <a:xfrm>
            <a:off x="7467600" y="990600"/>
            <a:ext cx="144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r>
              <a:rPr lang="en-US" sz="1400" i="1"/>
              <a:t>Round 1</a:t>
            </a:r>
          </a:p>
        </p:txBody>
      </p:sp>
      <p:sp>
        <p:nvSpPr>
          <p:cNvPr id="16389"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b="1" dirty="0"/>
              <a:t>Case </a:t>
            </a:r>
            <a:r>
              <a:rPr lang="en-US" b="1" dirty="0" smtClean="0"/>
              <a:t>21: </a:t>
            </a:r>
            <a:r>
              <a:rPr lang="en-US" b="1" dirty="0"/>
              <a:t>RDTC</a:t>
            </a:r>
          </a:p>
        </p:txBody>
      </p:sp>
      <p:graphicFrame>
        <p:nvGraphicFramePr>
          <p:cNvPr id="8" name="Table 7"/>
          <p:cNvGraphicFramePr>
            <a:graphicFrameLocks noGrp="1"/>
          </p:cNvGraphicFramePr>
          <p:nvPr/>
        </p:nvGraphicFramePr>
        <p:xfrm>
          <a:off x="228600" y="1252538"/>
          <a:ext cx="8534400" cy="5364517"/>
        </p:xfrm>
        <a:graphic>
          <a:graphicData uri="http://schemas.openxmlformats.org/drawingml/2006/table">
            <a:tbl>
              <a:tblPr/>
              <a:tblGrid>
                <a:gridCol w="1600200"/>
                <a:gridCol w="6934200"/>
              </a:tblGrid>
              <a:tr h="1189038">
                <a:tc>
                  <a:txBody>
                    <a:bodyPr/>
                    <a:lstStyle>
                      <a:lvl1pPr defTabSz="457200">
                        <a:spcBef>
                          <a:spcPct val="20000"/>
                        </a:spcBef>
                        <a:buClr>
                          <a:schemeClr val="tx1"/>
                        </a:buClr>
                        <a:defRPr sz="22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20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6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tx1"/>
                        </a:buClr>
                        <a:buFont typeface="Arial" panose="020B0604020202020204" pitchFamily="34" charset="0"/>
                        <a:defRPr sz="1400">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Prompt</a:t>
                      </a:r>
                    </a:p>
                  </a:txBody>
                  <a:tcPr marT="45738" marB="457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20000"/>
                        </a:spcBef>
                        <a:buClr>
                          <a:schemeClr val="tx1"/>
                        </a:buClr>
                        <a:defRPr sz="22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20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6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tx1"/>
                        </a:buClr>
                        <a:buFont typeface="Arial" panose="020B0604020202020204" pitchFamily="34" charset="0"/>
                        <a:defRPr sz="1400">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RDTC is a large public accounting firm with over $3B in revenues and over 8,000 employees. Over the past three years the firm has been working to overcome challenges identified in their practice through an organization-wide change initiative. There are two key components of this change initiative—a brand new technology called LCS and a suite of tools, resources, and methodologies to ensure streamlined processes called RDTC Project Management.  RDTC Project Management (RDTC PM) is the driving force behind the new RDTC Methodology to performing audits while LCS is simply the new software that will allow auditors to successfully execute this new methodology.  This is also the first time in the history of the organization that project management has been emphasized and used to evaluate performance of staff. </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RDTC is entering the third year of this change initiative and is at a critical inflection point with both LCS and RDTC PM. LCS has rolled out to all of the small and medium project teams but is now set to deploy to all large accounts. These large accounts bring in the most revenue for RDTC, have the largest teams, require the most staff hours, and have most senior audit partners leading them. </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Deployment of RDTC PM has had several challenges. One of the most important aspects has been the role creation and hiring of 50 new, full-time project managers to enhance RDTC</a:t>
                      </a:r>
                      <a:r>
                        <a:rPr kumimoji="0" lang="en-US" altLang="en-US" sz="11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a:t>
                      </a:r>
                      <a:r>
                        <a:rPr kumimoji="0" lang="en-US" sz="11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s project management capabilities; thereby ensuring a consistent methodology for performing audits.  RDTC forecasted that the 50 new project managers would be assigned to the 70 largest project teams by this year. So far only 20 have been hired and assigned to 30 project teams teams. In addition, the existing project managers have met resistance from the account teams who are not accustomed to having project management oversight. </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The adoption of this change initiative is essential to ensuring that RDTC stays competitive in the market and avoids penalties from the oversight board. They want you to develop a plan for the next year of their change initiative. They want these questions and considerations addressed in your plan:</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How do we prioritize the challenges that their change initiative is facing?</a:t>
                      </a: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What should they consider as LCS prepares to deploy to large engagements?</a:t>
                      </a: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How can we attract new project managers and focus on ensuring success of the ones?</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Possible 2</a:t>
                      </a:r>
                      <a:r>
                        <a:rPr kumimoji="0" lang="en-US" sz="1100" b="0" i="0" u="none" strike="noStrike" cap="none" normalizeH="0" baseline="3000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nd</a:t>
                      </a:r>
                      <a:r>
                        <a:rPr kumimoji="0" lang="en-US" sz="11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 level question if candidate brings up issue: The other 30 project teams have started assigning project management responsibilities to people within their team instead of waiting on a trained project manager. What are the potential risks associated with this approach? How would you address this problem?</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150</a:t>
            </a:fld>
            <a:endParaRPr lang="en-US" dirty="0"/>
          </a:p>
        </p:txBody>
      </p:sp>
    </p:spTree>
    <p:extLst>
      <p:ext uri="{BB962C8B-B14F-4D97-AF65-F5344CB8AC3E}">
        <p14:creationId xmlns:p14="http://schemas.microsoft.com/office/powerpoint/2010/main" val="1738624621"/>
      </p:ext>
    </p:extLst>
  </p:cSld>
  <p:clrMapOvr>
    <a:masterClrMapping/>
  </p:clrMapOvr>
  <p:timing>
    <p:tnLst>
      <p:par>
        <p:cTn xmlns:p14="http://schemas.microsoft.com/office/powerpoint/2010/mai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p:cNvGraphicFramePr>
            <a:graphicFrameLocks noGrp="1"/>
          </p:cNvGraphicFramePr>
          <p:nvPr>
            <p:extLst>
              <p:ext uri="{D42A27DB-BD31-4B8C-83A1-F6EECF244321}">
                <p14:modId xmlns:p14="http://schemas.microsoft.com/office/powerpoint/2010/main" val="1258816751"/>
              </p:ext>
            </p:extLst>
          </p:nvPr>
        </p:nvGraphicFramePr>
        <p:xfrm>
          <a:off x="279400" y="966788"/>
          <a:ext cx="8534400" cy="5815684"/>
        </p:xfrm>
        <a:graphic>
          <a:graphicData uri="http://schemas.openxmlformats.org/drawingml/2006/table">
            <a:tbl>
              <a:tblPr/>
              <a:tblGrid>
                <a:gridCol w="1473200"/>
                <a:gridCol w="7061200"/>
              </a:tblGrid>
              <a:tr h="5815684">
                <a:tc>
                  <a:txBody>
                    <a:bodyPr/>
                    <a:lstStyle>
                      <a:lvl1pPr defTabSz="457200">
                        <a:spcBef>
                          <a:spcPct val="20000"/>
                        </a:spcBef>
                        <a:buClr>
                          <a:schemeClr val="tx1"/>
                        </a:buClr>
                        <a:defRPr sz="22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20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6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tx1"/>
                        </a:buClr>
                        <a:buFont typeface="Arial" panose="020B0604020202020204" pitchFamily="34" charset="0"/>
                        <a:defRPr sz="1400">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ea typeface="ＭＳ Ｐゴシック" panose="020B0600070205080204" pitchFamily="34" charset="-128"/>
                        </a:rPr>
                        <a:t>Guidance</a:t>
                      </a:r>
                    </a:p>
                  </a:txBody>
                  <a:tcPr marT="45738" marB="457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3">
                        <a:lumMod val="85000"/>
                      </a:schemeClr>
                    </a:solidFill>
                  </a:tcPr>
                </a:tc>
                <a:tc>
                  <a:txBody>
                    <a:bodyPr/>
                    <a:lstStyle>
                      <a:lvl1pPr defTabSz="457200">
                        <a:spcBef>
                          <a:spcPct val="20000"/>
                        </a:spcBef>
                        <a:buClr>
                          <a:schemeClr val="tx1"/>
                        </a:buClr>
                        <a:defRPr sz="22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20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6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tx1"/>
                        </a:buClr>
                        <a:buFont typeface="Arial" panose="020B0604020202020204" pitchFamily="34" charset="0"/>
                        <a:defRPr sz="1400">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1"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Guiding Questions: </a:t>
                      </a: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1"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When was the last time RDTC updated its software?</a:t>
                      </a: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They have been operating on their legacy system for the past 15-20 years, so not recently.</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1"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How successful was the LCS roll out to small and medium engagements?</a:t>
                      </a: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It was met with a lot of resistance from audit personnel. To convert to LCS, engagement teams are supposed to submit software conversion requests. Teams consistently missed deadlines to submit conversion requests</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1"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How is RDTC organized?</a:t>
                      </a: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They are organized in regional divisions—East, West, and Central. Each region has the same leadership structure with one regional president, VP, and office leads. The project teams’ clients are all within their region. Project Managers are supposed to be assigned to project teams within their region, but because there is a shortage many have had to work with teams outside of their region.</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1"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What slowed the hiring of new project managers? (If they ask this question—ask them to brainstorm ideas first.)</a:t>
                      </a: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Several things have slowed progress. </a:t>
                      </a:r>
                    </a:p>
                    <a:p>
                      <a:pPr marL="0" marR="0" lvl="0" indent="0" algn="l" defTabSz="457200" rtl="0" eaLnBrk="1" fontAlgn="base" latinLnBrk="0" hangingPunct="1">
                        <a:lnSpc>
                          <a:spcPct val="100000"/>
                        </a:lnSpc>
                        <a:spcBef>
                          <a:spcPct val="0"/>
                        </a:spcBef>
                        <a:spcAft>
                          <a:spcPct val="0"/>
                        </a:spcAft>
                        <a:buClrTx/>
                        <a:buSzTx/>
                        <a:buFont typeface="Calibri" panose="020F0502020204030204" pitchFamily="34" charset="0"/>
                        <a:buChar char="1"/>
                        <a:tabLst/>
                      </a:pPr>
                      <a:r>
                        <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 The career path for new project managers is not fully established thereby reducing the attractiveness of the option</a:t>
                      </a:r>
                    </a:p>
                    <a:p>
                      <a:pPr marL="0" marR="0" lvl="0" indent="0" algn="l" defTabSz="457200" rtl="0" eaLnBrk="1" fontAlgn="base" latinLnBrk="0" hangingPunct="1">
                        <a:lnSpc>
                          <a:spcPct val="100000"/>
                        </a:lnSpc>
                        <a:spcBef>
                          <a:spcPct val="0"/>
                        </a:spcBef>
                        <a:spcAft>
                          <a:spcPct val="0"/>
                        </a:spcAft>
                        <a:buClrTx/>
                        <a:buSzTx/>
                        <a:buFont typeface="Calibri" panose="020F0502020204030204" pitchFamily="34" charset="0"/>
                        <a:buChar char="2"/>
                        <a:tabLst/>
                      </a:pPr>
                      <a:r>
                        <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 The training has not been fully developed so leadership does not feel comfortable with hiring additional project managers</a:t>
                      </a:r>
                    </a:p>
                    <a:p>
                      <a:pPr marL="0" marR="0" lvl="0" indent="0" algn="l" defTabSz="457200" rtl="0" eaLnBrk="1" fontAlgn="base" latinLnBrk="0" hangingPunct="1">
                        <a:lnSpc>
                          <a:spcPct val="100000"/>
                        </a:lnSpc>
                        <a:spcBef>
                          <a:spcPct val="0"/>
                        </a:spcBef>
                        <a:spcAft>
                          <a:spcPct val="0"/>
                        </a:spcAft>
                        <a:buClrTx/>
                        <a:buSzTx/>
                        <a:buFont typeface="Calibri" panose="020F0502020204030204" pitchFamily="34" charset="0"/>
                        <a:buChar char="3"/>
                        <a:tabLst/>
                      </a:pPr>
                      <a:r>
                        <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 The opportunity has not been communicated across the organization</a:t>
                      </a:r>
                    </a:p>
                    <a:p>
                      <a:pPr marL="0" marR="0" lvl="0" indent="0" algn="l" defTabSz="457200" rtl="0" eaLnBrk="1" fontAlgn="base" latinLnBrk="0" hangingPunct="1">
                        <a:lnSpc>
                          <a:spcPct val="100000"/>
                        </a:lnSpc>
                        <a:spcBef>
                          <a:spcPct val="0"/>
                        </a:spcBef>
                        <a:spcAft>
                          <a:spcPct val="0"/>
                        </a:spcAft>
                        <a:buClrTx/>
                        <a:buSzTx/>
                        <a:buFont typeface="Calibri" panose="020F0502020204030204" pitchFamily="34" charset="0"/>
                        <a:buChar char="4"/>
                        <a:tabLst/>
                      </a:pPr>
                      <a:r>
                        <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 Right now they are only recruiting internally at experienced auditors who desire a career change, but could be open to considering outside candidates</a:t>
                      </a:r>
                    </a:p>
                    <a:p>
                      <a:pPr marL="0" marR="0" lvl="0" indent="0" algn="l" defTabSz="457200" rtl="0" eaLnBrk="1" fontAlgn="base" latinLnBrk="0" hangingPunct="1">
                        <a:lnSpc>
                          <a:spcPct val="100000"/>
                        </a:lnSpc>
                        <a:spcBef>
                          <a:spcPct val="0"/>
                        </a:spcBef>
                        <a:spcAft>
                          <a:spcPct val="0"/>
                        </a:spcAft>
                        <a:buClrTx/>
                        <a:buSzTx/>
                        <a:buFont typeface="Calibri" panose="020F0502020204030204" pitchFamily="34" charset="0"/>
                        <a:buNone/>
                        <a:tabLst/>
                      </a:pPr>
                      <a:endPar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1"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Is there anything preventing them from hiring new project managers?</a:t>
                      </a: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Right now, they are waiting until the end of busy season to hire additional project managers. They will not be able to hire anymore for six months.</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1"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Is engagement team leadership bought in to this initiative?</a:t>
                      </a:r>
                    </a:p>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ja-JP" sz="1100" b="0" i="1" u="none" strike="noStrike" cap="none" normalizeH="0" baseline="0" dirty="0" smtClean="0">
                          <a:ln>
                            <a:noFill/>
                          </a:ln>
                          <a:solidFill>
                            <a:schemeClr val="tx1"/>
                          </a:solidFill>
                          <a:effectLst/>
                          <a:latin typeface="Calibri" panose="020F0502020204030204" pitchFamily="34" charset="0"/>
                          <a:ea typeface="MS Mincho" panose="02020609040205080304" pitchFamily="49" charset="-128"/>
                        </a:rPr>
                        <a:t>Because senior managers, partners, and directors are accustomed to the legacy technology, many have not submitted request to convert to LCS and are reluctant to do so. Many of them also do not understand the benefits of project management and do not understand the purpose of project managers. There are a few champions within the organization however, but everyone is not aligned on what this change means</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3">
                        <a:lumMod val="85000"/>
                      </a:schemeClr>
                    </a:solidFill>
                  </a:tcPr>
                </a:tc>
              </a:tr>
            </a:tbl>
          </a:graphicData>
        </a:graphic>
      </p:graphicFrame>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b="1" dirty="0"/>
              <a:t>Case </a:t>
            </a:r>
            <a:r>
              <a:rPr lang="en-US" b="1" dirty="0" smtClean="0"/>
              <a:t>21: </a:t>
            </a:r>
            <a:r>
              <a:rPr lang="en-US" b="1" dirty="0"/>
              <a:t>RDTC</a:t>
            </a:r>
          </a:p>
        </p:txBody>
      </p:sp>
      <p:sp>
        <p:nvSpPr>
          <p:cNvPr id="3" name="Slide Number Placeholder 2"/>
          <p:cNvSpPr>
            <a:spLocks noGrp="1"/>
          </p:cNvSpPr>
          <p:nvPr>
            <p:ph type="sldNum" sz="quarter" idx="11"/>
          </p:nvPr>
        </p:nvSpPr>
        <p:spPr/>
        <p:txBody>
          <a:bodyPr/>
          <a:lstStyle/>
          <a:p>
            <a:pPr>
              <a:defRPr/>
            </a:pPr>
            <a:fld id="{2E1E1E2A-88E9-4CB1-89D2-8ABF177DA4C4}" type="slidenum">
              <a:rPr lang="en-US" smtClean="0"/>
              <a:pPr>
                <a:defRPr/>
              </a:pPr>
              <a:t>151</a:t>
            </a:fld>
            <a:endParaRPr lang="en-US" dirty="0"/>
          </a:p>
        </p:txBody>
      </p:sp>
    </p:spTree>
    <p:extLst>
      <p:ext uri="{BB962C8B-B14F-4D97-AF65-F5344CB8AC3E}">
        <p14:creationId xmlns:p14="http://schemas.microsoft.com/office/powerpoint/2010/main" val="2608401915"/>
      </p:ext>
    </p:extLst>
  </p:cSld>
  <p:clrMapOvr>
    <a:masterClrMapping/>
  </p:clrMapOvr>
  <p:timing>
    <p:tnLst>
      <p:par>
        <p:cTn xmlns:p14="http://schemas.microsoft.com/office/powerpoint/2010/mai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228600" y="838200"/>
          <a:ext cx="8534400" cy="5623519"/>
        </p:xfrm>
        <a:graphic>
          <a:graphicData uri="http://schemas.openxmlformats.org/drawingml/2006/table">
            <a:tbl>
              <a:tblPr/>
              <a:tblGrid>
                <a:gridCol w="1600200"/>
                <a:gridCol w="6934200"/>
              </a:tblGrid>
              <a:tr h="2468563">
                <a:tc>
                  <a:txBody>
                    <a:bodyPr/>
                    <a:lstStyle>
                      <a:lvl1pPr defTabSz="457200">
                        <a:spcBef>
                          <a:spcPct val="20000"/>
                        </a:spcBef>
                        <a:buClr>
                          <a:schemeClr val="tx1"/>
                        </a:buClr>
                        <a:defRPr sz="22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20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6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tx1"/>
                        </a:buClr>
                        <a:buFont typeface="Arial" panose="020B0604020202020204" pitchFamily="34" charset="0"/>
                        <a:defRPr sz="1400">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Performance Evaluation</a:t>
                      </a:r>
                      <a:endParaRPr kumimoji="0" 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endParaRPr>
                    </a:p>
                  </a:txBody>
                  <a:tcPr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20000"/>
                        </a:spcBef>
                        <a:buClr>
                          <a:schemeClr val="tx1"/>
                        </a:buClr>
                        <a:defRPr sz="22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20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6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tx1"/>
                        </a:buClr>
                        <a:buFont typeface="Arial" panose="020B0604020202020204" pitchFamily="34" charset="0"/>
                        <a:defRPr sz="1400">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Candidates have the opportunity be creative in their approach and framework, but should clearly create and communicate their structure and plan. Feel free to ask probing questions in any of these areas to push the candidate to think further on these topics. A good framework should include these elements and considerations. </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The candidate should avoid discussing what competitors are doing and should think more broadly than a tech adoption case.</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An exceptional candidate will also consider </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PEOPLE</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Leadership alignment</a:t>
                      </a:r>
                      <a:r>
                        <a:rPr kumimoji="0" lang="en-US" sz="1100" b="1"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Importance of change coming from leadership</a:t>
                      </a:r>
                      <a:r>
                        <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How to ensure key stakeholders are aware of benefits and are communicating that to direct reports; How do we get all of leadership bought in to change initiative </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Candidate could discuss a change curve to prioritize who is most important and how to encourage adoption of initiative</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1"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Learning: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Onboarding training program for new project managers is critical as the organization is creating a new role</a:t>
                      </a:r>
                      <a:r>
                        <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Develop tools and resources for engagement teams who do not have a project manager yet</a:t>
                      </a:r>
                      <a:r>
                        <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What type of learning should be developed for project teams that are unfamiliar with project management oversight</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Possible development of a Center of Excellence for both areas of change initiative</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Key Stakeholders</a:t>
                      </a:r>
                      <a:r>
                        <a:rPr kumimoji="0" lang="en-US" sz="1100" b="1"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Audit personnel; Engagement teams</a:t>
                      </a:r>
                      <a:r>
                        <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Leadership</a:t>
                      </a:r>
                      <a:r>
                        <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Clients</a:t>
                      </a:r>
                      <a:r>
                        <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Current project managers and potential candidates</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PROCESSES</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Communications</a:t>
                      </a:r>
                      <a:r>
                        <a:rPr kumimoji="0" lang="en-US" sz="1100" b="1"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How is RDTC communicating the availability of the project manager role?</a:t>
                      </a:r>
                      <a:r>
                        <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Use of strategic communications to announce technology change and benefits of change initiative to engagement teams</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Project Management</a:t>
                      </a:r>
                      <a:r>
                        <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How to handle engagement teams who have not been assigned a project manager</a:t>
                      </a:r>
                      <a:r>
                        <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How to utilize existing project managers so they are not too stretched</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TECHNOLOGY</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LCS adoption</a:t>
                      </a:r>
                      <a:r>
                        <a:rPr kumimoji="0" lang="en-US" sz="1100" b="1"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Perform a pilot and phased roll out</a:t>
                      </a:r>
                      <a:r>
                        <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Identify </a:t>
                      </a:r>
                      <a:r>
                        <a:rPr kumimoji="0" lang="en-US" alt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Super Users</a:t>
                      </a:r>
                      <a:r>
                        <a:rPr kumimoji="0" lang="en-US" alt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or utilize </a:t>
                      </a:r>
                      <a:r>
                        <a:rPr kumimoji="0" lang="en-US" alt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Train the trainer</a:t>
                      </a:r>
                      <a:r>
                        <a:rPr kumimoji="0" lang="en-US" alt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a:t>
                      </a:r>
                      <a:r>
                        <a:rPr kumimoji="0" lang="en-US" sz="1100" b="0" i="1"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rPr>
                        <a:t> philosophy to help auditors understand and use new technology </a:t>
                      </a:r>
                      <a:endParaRPr kumimoji="0" lang="en-US" sz="11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34" charset="-128"/>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9"/>
          <p:cNvSpPr txBox="1">
            <a:spLocks noChangeArrowheads="1"/>
          </p:cNvSpPr>
          <p:nvPr/>
        </p:nvSpPr>
        <p:spPr bwMode="auto">
          <a:xfrm>
            <a:off x="1828800" y="376238"/>
            <a:ext cx="594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b="1" dirty="0"/>
              <a:t>Case </a:t>
            </a:r>
            <a:r>
              <a:rPr lang="en-US" b="1" dirty="0" smtClean="0"/>
              <a:t>21: </a:t>
            </a:r>
            <a:r>
              <a:rPr lang="en-US" b="1" dirty="0"/>
              <a:t>RDTC</a:t>
            </a:r>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152</a:t>
            </a:fld>
            <a:endParaRPr lang="en-US" dirty="0"/>
          </a:p>
        </p:txBody>
      </p:sp>
    </p:spTree>
    <p:extLst>
      <p:ext uri="{BB962C8B-B14F-4D97-AF65-F5344CB8AC3E}">
        <p14:creationId xmlns:p14="http://schemas.microsoft.com/office/powerpoint/2010/main" val="3815431695"/>
      </p:ext>
    </p:extLst>
  </p:cSld>
  <p:clrMapOvr>
    <a:masterClrMapping/>
  </p:clrMapOvr>
  <p:timing>
    <p:tnLst>
      <p:par>
        <p:cTn xmlns:p14="http://schemas.microsoft.com/office/powerpoint/2010/mai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9" descr="layersvert"/>
          <p:cNvPicPr>
            <a:picLocks noChangeAspect="1" noChangeArrowheads="1"/>
          </p:cNvPicPr>
          <p:nvPr/>
        </p:nvPicPr>
        <p:blipFill>
          <a:blip r:embed="rId2">
            <a:lum bright="60000" contrast="-60000"/>
          </a:blip>
          <a:srcRect/>
          <a:stretch>
            <a:fillRect/>
          </a:stretch>
        </p:blipFill>
        <p:spPr bwMode="auto">
          <a:xfrm>
            <a:off x="0" y="3962400"/>
            <a:ext cx="9144000" cy="2908300"/>
          </a:xfrm>
          <a:prstGeom prst="rect">
            <a:avLst/>
          </a:prstGeom>
          <a:noFill/>
          <a:ln w="9525">
            <a:noFill/>
            <a:miter lim="800000"/>
            <a:headEnd/>
            <a:tailEnd/>
          </a:ln>
        </p:spPr>
      </p:pic>
      <p:sp>
        <p:nvSpPr>
          <p:cNvPr id="6" name="Title 1"/>
          <p:cNvSpPr>
            <a:spLocks noGrp="1"/>
          </p:cNvSpPr>
          <p:nvPr>
            <p:ph type="ctrTitle"/>
          </p:nvPr>
        </p:nvSpPr>
        <p:spPr>
          <a:xfrm>
            <a:off x="685800" y="2130425"/>
            <a:ext cx="7772400" cy="1470025"/>
          </a:xfrm>
        </p:spPr>
        <p:txBody>
          <a:bodyPr anchor="ctr"/>
          <a:lstStyle/>
          <a:p>
            <a:pPr algn="ctr"/>
            <a:r>
              <a:rPr lang="en-US" dirty="0" smtClean="0">
                <a:ea typeface="ＭＳ Ｐゴシック" pitchFamily="34" charset="-128"/>
              </a:rPr>
              <a:t>Deloitte Cases</a:t>
            </a:r>
            <a:br>
              <a:rPr lang="en-US" dirty="0" smtClean="0">
                <a:ea typeface="ＭＳ Ｐゴシック" pitchFamily="34" charset="-128"/>
              </a:rPr>
            </a:br>
            <a:r>
              <a:rPr lang="en-US" dirty="0" smtClean="0">
                <a:ea typeface="ＭＳ Ｐゴシック" pitchFamily="34" charset="-128"/>
              </a:rPr>
              <a:t/>
            </a:r>
            <a:br>
              <a:rPr lang="en-US" dirty="0" smtClean="0">
                <a:ea typeface="ＭＳ Ｐゴシック" pitchFamily="34" charset="-128"/>
              </a:rPr>
            </a:br>
            <a:r>
              <a:rPr lang="en-US" sz="1400" dirty="0" smtClean="0">
                <a:ea typeface="ＭＳ Ｐゴシック" pitchFamily="34" charset="-128"/>
              </a:rPr>
              <a:t>The  following cases are real Deloitte cases. To get the most out of these cases, save them for once you have mastered the basics. </a:t>
            </a:r>
            <a:endParaRPr lang="en-US" dirty="0" smtClean="0">
              <a:ea typeface="ＭＳ Ｐゴシック" pitchFamily="34" charset="-128"/>
            </a:endParaRPr>
          </a:p>
        </p:txBody>
      </p:sp>
      <p:sp>
        <p:nvSpPr>
          <p:cNvPr id="2" name="Rectangle 1"/>
          <p:cNvSpPr/>
          <p:nvPr/>
        </p:nvSpPr>
        <p:spPr>
          <a:xfrm>
            <a:off x="174812" y="6501679"/>
            <a:ext cx="8794375" cy="307777"/>
          </a:xfrm>
          <a:prstGeom prst="rect">
            <a:avLst/>
          </a:prstGeom>
        </p:spPr>
        <p:txBody>
          <a:bodyPr wrap="square">
            <a:spAutoFit/>
          </a:bodyPr>
          <a:lstStyle/>
          <a:p>
            <a:pPr algn="ctr"/>
            <a:r>
              <a:rPr lang="en-US" sz="1400" b="1" dirty="0" smtClean="0">
                <a:solidFill>
                  <a:srgbClr val="113C9B"/>
                </a:solidFill>
                <a:latin typeface="+mj-lt"/>
                <a:cs typeface="ＭＳ Ｐゴシック" charset="-128"/>
              </a:rPr>
              <a:t>DMCC is thankful for Deloitte Consulting LLP’s support and contributions to the 2013-2014 Casebook </a:t>
            </a:r>
            <a:endParaRPr lang="en-US" sz="1400" b="1" dirty="0">
              <a:solidFill>
                <a:srgbClr val="113C9B"/>
              </a:solidFill>
              <a:latin typeface="+mj-lt"/>
              <a:cs typeface="ＭＳ Ｐゴシック" charset="-128"/>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8600"/>
            <a:ext cx="12001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lide Number Placeholder 7"/>
          <p:cNvSpPr>
            <a:spLocks noGrp="1"/>
          </p:cNvSpPr>
          <p:nvPr>
            <p:ph type="sldNum" sz="quarter" idx="11"/>
          </p:nvPr>
        </p:nvSpPr>
        <p:spPr/>
        <p:txBody>
          <a:bodyPr/>
          <a:lstStyle/>
          <a:p>
            <a:pPr>
              <a:defRPr/>
            </a:pPr>
            <a:fld id="{D27468C5-B7D7-4747-8C9A-D2E8B4FA8FD8}" type="slidenum">
              <a:rPr lang="en-US" smtClean="0"/>
              <a:pPr>
                <a:defRPr/>
              </a:pPr>
              <a:t>153</a:t>
            </a:fld>
            <a:endParaRPr lang="en-US" dirty="0"/>
          </a:p>
        </p:txBody>
      </p:sp>
    </p:spTree>
    <p:extLst>
      <p:ext uri="{BB962C8B-B14F-4D97-AF65-F5344CB8AC3E}">
        <p14:creationId xmlns:p14="http://schemas.microsoft.com/office/powerpoint/2010/main" val="10471449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gray">
          <a:xfrm>
            <a:off x="585788" y="774700"/>
            <a:ext cx="7972425" cy="4795838"/>
          </a:xfrm>
          <a:prstGeom prst="rect">
            <a:avLst/>
          </a:prstGeom>
          <a:solidFill>
            <a:schemeClr val="bg1"/>
          </a:solidFill>
          <a:ln w="12700" algn="ctr">
            <a:solidFill>
              <a:schemeClr val="accent1"/>
            </a:solidFill>
            <a:miter lim="800000"/>
            <a:headEnd/>
            <a:tailEnd/>
          </a:ln>
        </p:spPr>
        <p:txBody>
          <a:bodyPr lIns="90000" tIns="90000" rIns="90000" bIns="90000" anchor="ctr"/>
          <a:lstStyle/>
          <a:p>
            <a:pPr marL="119063" indent="-119063" eaLnBrk="0" hangingPunct="0">
              <a:spcBef>
                <a:spcPct val="50000"/>
              </a:spcBef>
            </a:pPr>
            <a:endParaRPr lang="en-US" sz="1100" b="1" dirty="0">
              <a:solidFill>
                <a:srgbClr val="000000"/>
              </a:solidFill>
              <a:latin typeface="Arial"/>
              <a:cs typeface="Arial" pitchFamily="34" charset="0"/>
            </a:endParaRPr>
          </a:p>
        </p:txBody>
      </p:sp>
      <p:sp>
        <p:nvSpPr>
          <p:cNvPr id="106499" name="Text Box 3"/>
          <p:cNvSpPr txBox="1">
            <a:spLocks noChangeArrowheads="1"/>
          </p:cNvSpPr>
          <p:nvPr/>
        </p:nvSpPr>
        <p:spPr bwMode="gray">
          <a:xfrm>
            <a:off x="892175" y="4756150"/>
            <a:ext cx="1581150" cy="201613"/>
          </a:xfrm>
          <a:prstGeom prst="rect">
            <a:avLst/>
          </a:prstGeom>
          <a:noFill/>
          <a:ln w="12700" cap="rnd" algn="ctr">
            <a:noFill/>
            <a:miter lim="800000"/>
            <a:headEnd/>
            <a:tailEnd/>
          </a:ln>
        </p:spPr>
        <p:txBody>
          <a:bodyPr wrap="none" lIns="0" tIns="0" rIns="0" bIns="0">
            <a:spAutoFit/>
          </a:bodyPr>
          <a:lstStyle/>
          <a:p>
            <a:pPr eaLnBrk="0" hangingPunct="0">
              <a:lnSpc>
                <a:spcPct val="110000"/>
              </a:lnSpc>
            </a:pPr>
            <a:r>
              <a:rPr lang="en-US" sz="1200" dirty="0">
                <a:solidFill>
                  <a:srgbClr val="000000"/>
                </a:solidFill>
                <a:latin typeface="Arial"/>
                <a:cs typeface="Arial" pitchFamily="34" charset="0"/>
              </a:rPr>
              <a:t>Deloitte Consulting LLP</a:t>
            </a:r>
          </a:p>
        </p:txBody>
      </p:sp>
      <p:sp>
        <p:nvSpPr>
          <p:cNvPr id="106500" name="Rectangle 5"/>
          <p:cNvSpPr>
            <a:spLocks noGrp="1" noChangeArrowheads="1"/>
          </p:cNvSpPr>
          <p:nvPr>
            <p:ph type="ctrTitle" sz="quarter"/>
          </p:nvPr>
        </p:nvSpPr>
        <p:spPr>
          <a:xfrm>
            <a:off x="892175" y="2867025"/>
            <a:ext cx="6581775" cy="263525"/>
          </a:xfrm>
        </p:spPr>
        <p:txBody>
          <a:bodyPr/>
          <a:lstStyle/>
          <a:p>
            <a:pPr eaLnBrk="1" hangingPunct="1"/>
            <a:r>
              <a:rPr lang="en-US" dirty="0" smtClean="0"/>
              <a:t>MBA Case Interviews</a:t>
            </a:r>
          </a:p>
        </p:txBody>
      </p:sp>
      <p:sp>
        <p:nvSpPr>
          <p:cNvPr id="106501" name="Rectangle 6"/>
          <p:cNvSpPr>
            <a:spLocks noGrp="1" noChangeArrowheads="1"/>
          </p:cNvSpPr>
          <p:nvPr>
            <p:ph type="subTitle" sz="quarter" idx="1"/>
          </p:nvPr>
        </p:nvSpPr>
        <p:spPr/>
        <p:txBody>
          <a:bodyPr/>
          <a:lstStyle/>
          <a:p>
            <a:pPr marL="0" indent="0" eaLnBrk="1" hangingPunct="1">
              <a:buFont typeface="Wingdings" pitchFamily="2" charset="2"/>
              <a:buNone/>
            </a:pPr>
            <a:r>
              <a:rPr lang="en-US" dirty="0" smtClean="0"/>
              <a:t>FY12 Winter Case Library </a:t>
            </a:r>
          </a:p>
        </p:txBody>
      </p:sp>
      <p:pic>
        <p:nvPicPr>
          <p:cNvPr id="106502" name="Picture 7" descr="LLP logo with big space copy"/>
          <p:cNvPicPr>
            <a:picLocks noChangeAspect="1" noChangeArrowheads="1"/>
          </p:cNvPicPr>
          <p:nvPr/>
        </p:nvPicPr>
        <p:blipFill>
          <a:blip r:embed="rId3" cstate="print">
            <a:clrChange>
              <a:clrFrom>
                <a:srgbClr val="FFFFFF"/>
              </a:clrFrom>
              <a:clrTo>
                <a:srgbClr val="FFFFFF">
                  <a:alpha val="0"/>
                </a:srgbClr>
              </a:clrTo>
            </a:clrChange>
          </a:blip>
          <a:srcRect l="995" t="1778" b="59770"/>
          <a:stretch>
            <a:fillRect/>
          </a:stretch>
        </p:blipFill>
        <p:spPr bwMode="gray">
          <a:xfrm>
            <a:off x="892175" y="1997075"/>
            <a:ext cx="1444625" cy="274638"/>
          </a:xfrm>
          <a:prstGeom prst="rect">
            <a:avLst/>
          </a:prstGeom>
          <a:noFill/>
          <a:ln w="9525">
            <a:noFill/>
            <a:miter lim="800000"/>
            <a:headEnd/>
            <a:tailEnd/>
          </a:ln>
        </p:spPr>
      </p:pic>
    </p:spTree>
    <p:extLst>
      <p:ext uri="{BB962C8B-B14F-4D97-AF65-F5344CB8AC3E}">
        <p14:creationId xmlns:p14="http://schemas.microsoft.com/office/powerpoint/2010/main" val="3994646862"/>
      </p:ext>
    </p:extLst>
  </p:cSld>
  <p:clrMapOvr>
    <a:masterClrMapping/>
  </p:clrMapOvr>
  <p:timing>
    <p:tnLst>
      <p:par>
        <p:cTn xmlns:p14="http://schemas.microsoft.com/office/powerpoint/2010/mai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Line 2"/>
          <p:cNvSpPr>
            <a:spLocks noChangeShapeType="1"/>
          </p:cNvSpPr>
          <p:nvPr/>
        </p:nvSpPr>
        <p:spPr bwMode="gray">
          <a:xfrm>
            <a:off x="1466850" y="3209925"/>
            <a:ext cx="6076950"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charset="0"/>
            </a:endParaRPr>
          </a:p>
        </p:txBody>
      </p:sp>
      <p:sp>
        <p:nvSpPr>
          <p:cNvPr id="47107" name="Rectangle 3"/>
          <p:cNvSpPr>
            <a:spLocks noChangeArrowheads="1"/>
          </p:cNvSpPr>
          <p:nvPr/>
        </p:nvSpPr>
        <p:spPr bwMode="gray">
          <a:xfrm>
            <a:off x="3266876" y="2948601"/>
            <a:ext cx="2657312" cy="488147"/>
          </a:xfrm>
          <a:prstGeom prst="rect">
            <a:avLst/>
          </a:prstGeom>
          <a:solidFill>
            <a:schemeClr val="bg1"/>
          </a:solidFill>
          <a:ln w="12700" cap="rnd" algn="ctr">
            <a:noFill/>
            <a:miter lim="800000"/>
            <a:headEnd/>
            <a:tailEnd/>
          </a:ln>
        </p:spPr>
        <p:txBody>
          <a:bodyPr wrap="none" lIns="72000" tIns="0" rIns="72000" bIns="0">
            <a:spAutoFit/>
          </a:bodyPr>
          <a:lstStyle/>
          <a:p>
            <a:pPr algn="ctr">
              <a:lnSpc>
                <a:spcPct val="110000"/>
              </a:lnSpc>
              <a:spcBef>
                <a:spcPts val="0"/>
              </a:spcBef>
              <a:buClr>
                <a:srgbClr val="000000"/>
              </a:buClr>
              <a:buSzPct val="80000"/>
            </a:pPr>
            <a:r>
              <a:rPr lang="en-US" sz="1500" b="1" dirty="0" smtClean="0">
                <a:solidFill>
                  <a:srgbClr val="000000"/>
                </a:solidFill>
                <a:latin typeface="Arial"/>
                <a:cs typeface="Arial" charset="0"/>
              </a:rPr>
              <a:t>1</a:t>
            </a:r>
            <a:r>
              <a:rPr lang="en-US" sz="1500" b="1" baseline="30000" dirty="0" smtClean="0">
                <a:solidFill>
                  <a:srgbClr val="000000"/>
                </a:solidFill>
                <a:latin typeface="Arial"/>
                <a:cs typeface="Arial" charset="0"/>
              </a:rPr>
              <a:t>st</a:t>
            </a:r>
            <a:r>
              <a:rPr lang="en-US" sz="1500" b="1" dirty="0" smtClean="0">
                <a:solidFill>
                  <a:srgbClr val="000000"/>
                </a:solidFill>
                <a:latin typeface="Arial"/>
                <a:cs typeface="Arial" charset="0"/>
              </a:rPr>
              <a:t> Round Analytical Case</a:t>
            </a:r>
          </a:p>
          <a:p>
            <a:pPr algn="ctr">
              <a:lnSpc>
                <a:spcPct val="110000"/>
              </a:lnSpc>
              <a:spcBef>
                <a:spcPts val="0"/>
              </a:spcBef>
              <a:buClr>
                <a:srgbClr val="000000"/>
              </a:buClr>
              <a:buSzPct val="80000"/>
            </a:pPr>
            <a:r>
              <a:rPr lang="en-US" sz="1500" b="1" dirty="0" smtClean="0">
                <a:solidFill>
                  <a:srgbClr val="000000"/>
                </a:solidFill>
                <a:latin typeface="Arial"/>
                <a:cs typeface="Arial" pitchFamily="34" charset="0"/>
              </a:rPr>
              <a:t>Apparel – Brand Carve Out </a:t>
            </a:r>
          </a:p>
        </p:txBody>
      </p:sp>
      <p:sp>
        <p:nvSpPr>
          <p:cNvPr id="7" name="Slide Number Placeholder 1"/>
          <p:cNvSpPr txBox="1">
            <a:spLocks/>
          </p:cNvSpPr>
          <p:nvPr/>
        </p:nvSpPr>
        <p:spPr bwMode="auto">
          <a:xfrm>
            <a:off x="8458200" y="6540500"/>
            <a:ext cx="381000" cy="2286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r" rtl="0" eaLnBrk="0" fontAlgn="base" hangingPunct="0">
              <a:spcBef>
                <a:spcPct val="0"/>
              </a:spcBef>
              <a:spcAft>
                <a:spcPct val="0"/>
              </a:spcAft>
              <a:defRPr sz="1200" kern="1200">
                <a:solidFill>
                  <a:schemeClr val="tx1"/>
                </a:solidFill>
                <a:latin typeface="Arial" charset="0"/>
                <a:ea typeface="ＭＳ Ｐゴシック" pitchFamily="-65"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Arial" charset="0"/>
                <a:ea typeface="ＭＳ Ｐゴシック" pitchFamily="-65" charset="-128"/>
              </a:rPr>
              <a:t>176</a:t>
            </a:r>
            <a:endParaRPr kumimoji="0" lang="en-US" sz="1200" b="0" i="0" u="none" strike="noStrike" kern="1200" cap="none" spc="0" normalizeH="0" baseline="0" noProof="0" dirty="0">
              <a:ln>
                <a:noFill/>
              </a:ln>
              <a:solidFill>
                <a:srgbClr val="000000"/>
              </a:solidFill>
              <a:effectLst/>
              <a:uLnTx/>
              <a:uFillTx/>
              <a:latin typeface="Arial" charset="0"/>
              <a:ea typeface="ＭＳ Ｐゴシック" pitchFamily="-65" charset="-128"/>
            </a:endParaRPr>
          </a:p>
        </p:txBody>
      </p:sp>
    </p:spTree>
    <p:extLst>
      <p:ext uri="{BB962C8B-B14F-4D97-AF65-F5344CB8AC3E}">
        <p14:creationId xmlns:p14="http://schemas.microsoft.com/office/powerpoint/2010/main" val="197242202"/>
      </p:ext>
    </p:extLst>
  </p:cSld>
  <p:clrMapOvr>
    <a:masterClrMapping/>
  </p:clrMapOvr>
  <p:timing>
    <p:tnLst>
      <p:par>
        <p:cTn xmlns:p14="http://schemas.microsoft.com/office/powerpoint/2010/mai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01638" y="512144"/>
            <a:ext cx="8345487" cy="260969"/>
          </a:xfrm>
        </p:spPr>
        <p:txBody>
          <a:bodyPr/>
          <a:lstStyle/>
          <a:p>
            <a:pPr eaLnBrk="1" hangingPunct="1"/>
            <a:r>
              <a:rPr lang="en-US" dirty="0" smtClean="0"/>
              <a:t>Brand Carve Out – Case Overview</a:t>
            </a:r>
          </a:p>
        </p:txBody>
      </p:sp>
      <p:graphicFrame>
        <p:nvGraphicFramePr>
          <p:cNvPr id="4058115" name="Group 3"/>
          <p:cNvGraphicFramePr>
            <a:graphicFrameLocks noGrp="1"/>
          </p:cNvGraphicFramePr>
          <p:nvPr>
            <p:ph sz="half" idx="1"/>
            <p:extLst/>
          </p:nvPr>
        </p:nvGraphicFramePr>
        <p:xfrm>
          <a:off x="396875" y="926592"/>
          <a:ext cx="8366125" cy="3550158"/>
        </p:xfrm>
        <a:graphic>
          <a:graphicData uri="http://schemas.openxmlformats.org/drawingml/2006/table">
            <a:tbl>
              <a:tblPr/>
              <a:tblGrid>
                <a:gridCol w="8366125"/>
              </a:tblGrid>
              <a:tr h="280709">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Business Situation</a:t>
                      </a:r>
                    </a:p>
                  </a:txBody>
                  <a:tcPr marL="73152" marR="73152"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2412021">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175" b="0" i="0" u="none" strike="noStrike" cap="none" normalizeH="0" baseline="0" dirty="0" smtClean="0">
                          <a:ln>
                            <a:noFill/>
                          </a:ln>
                          <a:solidFill>
                            <a:schemeClr val="tx1"/>
                          </a:solidFill>
                          <a:effectLst/>
                          <a:latin typeface="Arial" charset="0"/>
                        </a:rPr>
                        <a:t>Deloitte has been asked to help the client, Coffee, evaluate the hold or sell decision. </a:t>
                      </a:r>
                      <a:r>
                        <a:rPr kumimoji="0" lang="en-US" sz="1175" b="0" i="0" u="none" strike="noStrike" cap="none" normalizeH="0" baseline="0" dirty="0" smtClean="0">
                          <a:ln>
                            <a:noFill/>
                          </a:ln>
                          <a:solidFill>
                            <a:sysClr val="windowText" lastClr="000000"/>
                          </a:solidFill>
                          <a:effectLst/>
                          <a:latin typeface="Arial" charset="0"/>
                        </a:rPr>
                        <a:t>Coffee is a large multinational woman’s clothing retailer with worldwide revenues of over $3B in 2011. They sell sports, formal and casual apparel. The company as a whole has been performing strongly and has emerged out of the financial crisis with strong sales growth and many investment opportunities. Despite the company’s strong performance overall, its American operation has an underperforming brand that they have put up for review and have also closed some of the brand’s associated stores.</a:t>
                      </a:r>
                    </a:p>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175" b="0" i="0" u="none" strike="noStrike" cap="none" normalizeH="0" baseline="0" dirty="0" smtClean="0">
                          <a:ln>
                            <a:noFill/>
                          </a:ln>
                          <a:solidFill>
                            <a:sysClr val="windowText" lastClr="000000"/>
                          </a:solidFill>
                          <a:effectLst/>
                          <a:latin typeface="Arial" charset="0"/>
                        </a:rPr>
                        <a:t>The American operation has two major umbrella brands: a formal wear brand bearing the same name as the company, “Coffee,” and a casual wear brand named “Tea.” The brands are sold through the following channels:</a:t>
                      </a:r>
                    </a:p>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175" b="0" i="0" u="none" strike="noStrike" cap="none" normalizeH="0" baseline="0" dirty="0" smtClean="0">
                        <a:ln>
                          <a:noFill/>
                        </a:ln>
                        <a:solidFill>
                          <a:sysClr val="windowText" lastClr="000000"/>
                        </a:solidFill>
                        <a:effectLst/>
                        <a:latin typeface="Arial" charset="0"/>
                      </a:endParaRPr>
                    </a:p>
                    <a:p>
                      <a:pPr marL="573088" marR="0" lvl="1" indent="-115888" algn="l" defTabSz="914400" rtl="0" eaLnBrk="1" fontAlgn="base" latinLnBrk="0" hangingPunct="1">
                        <a:lnSpc>
                          <a:spcPct val="100000"/>
                        </a:lnSpc>
                        <a:spcBef>
                          <a:spcPct val="0"/>
                        </a:spcBef>
                        <a:spcAft>
                          <a:spcPct val="0"/>
                        </a:spcAft>
                        <a:buClr>
                          <a:srgbClr val="000000"/>
                        </a:buClr>
                        <a:buSzPct val="80000"/>
                        <a:buFont typeface="Arial" pitchFamily="34" charset="0"/>
                        <a:buChar char="•"/>
                        <a:tabLst/>
                        <a:defRPr/>
                      </a:pPr>
                      <a:r>
                        <a:rPr kumimoji="0" lang="en-US" sz="1175" b="1" i="0" u="none" strike="noStrike" kern="1200" cap="none" spc="0" normalizeH="0" baseline="0" noProof="0" dirty="0" smtClean="0">
                          <a:ln>
                            <a:noFill/>
                          </a:ln>
                          <a:solidFill>
                            <a:sysClr val="windowText" lastClr="000000"/>
                          </a:solidFill>
                          <a:effectLst/>
                          <a:uLnTx/>
                          <a:uFillTx/>
                          <a:latin typeface="Arial" charset="0"/>
                          <a:ea typeface="+mn-ea"/>
                          <a:cs typeface="+mn-cs"/>
                        </a:rPr>
                        <a:t>Coffee branded retail stores:</a:t>
                      </a:r>
                      <a:r>
                        <a:rPr kumimoji="0" lang="en-US" sz="1175" b="0" i="0" u="none" strike="noStrike" kern="1200" cap="none" spc="0" normalizeH="0" baseline="0" noProof="0" dirty="0" smtClean="0">
                          <a:ln>
                            <a:noFill/>
                          </a:ln>
                          <a:solidFill>
                            <a:sysClr val="windowText" lastClr="000000"/>
                          </a:solidFill>
                          <a:effectLst/>
                          <a:uLnTx/>
                          <a:uFillTx/>
                          <a:latin typeface="Arial" charset="0"/>
                          <a:ea typeface="+mn-ea"/>
                          <a:cs typeface="+mn-cs"/>
                        </a:rPr>
                        <a:t> $200M in annual revenues</a:t>
                      </a:r>
                    </a:p>
                    <a:p>
                      <a:pPr marL="573088" marR="0" lvl="1" indent="-115888" algn="l" defTabSz="914400" rtl="0" eaLnBrk="1" fontAlgn="base" latinLnBrk="0" hangingPunct="1">
                        <a:lnSpc>
                          <a:spcPct val="100000"/>
                        </a:lnSpc>
                        <a:spcBef>
                          <a:spcPct val="0"/>
                        </a:spcBef>
                        <a:spcAft>
                          <a:spcPct val="0"/>
                        </a:spcAft>
                        <a:buClr>
                          <a:srgbClr val="000000"/>
                        </a:buClr>
                        <a:buSzPct val="80000"/>
                        <a:buFont typeface="Arial" pitchFamily="34" charset="0"/>
                        <a:buChar char="•"/>
                        <a:tabLst/>
                        <a:defRPr/>
                      </a:pPr>
                      <a:r>
                        <a:rPr kumimoji="0" lang="en-US" sz="1175" b="1" i="0" u="none" strike="noStrike" kern="1200" cap="none" spc="0" normalizeH="0" baseline="0" noProof="0" dirty="0" smtClean="0">
                          <a:ln>
                            <a:noFill/>
                          </a:ln>
                          <a:solidFill>
                            <a:sysClr val="windowText" lastClr="000000"/>
                          </a:solidFill>
                          <a:effectLst/>
                          <a:uLnTx/>
                          <a:uFillTx/>
                          <a:latin typeface="Arial" charset="0"/>
                          <a:ea typeface="+mn-ea"/>
                          <a:cs typeface="+mn-cs"/>
                        </a:rPr>
                        <a:t>Tea branded retail stores: </a:t>
                      </a:r>
                      <a:r>
                        <a:rPr kumimoji="0" lang="en-US" sz="1175" b="0" i="0" u="none" strike="noStrike" kern="1200" cap="none" spc="0" normalizeH="0" baseline="0" noProof="0" dirty="0" smtClean="0">
                          <a:ln>
                            <a:noFill/>
                          </a:ln>
                          <a:solidFill>
                            <a:sysClr val="windowText" lastClr="000000"/>
                          </a:solidFill>
                          <a:effectLst/>
                          <a:uLnTx/>
                          <a:uFillTx/>
                          <a:latin typeface="Arial" charset="0"/>
                          <a:ea typeface="+mn-ea"/>
                          <a:cs typeface="+mn-cs"/>
                        </a:rPr>
                        <a:t>$20M in annual revenues</a:t>
                      </a:r>
                    </a:p>
                    <a:p>
                      <a:pPr marL="573088" marR="0" lvl="1" indent="-115888" algn="l" defTabSz="914400" rtl="0" eaLnBrk="1" fontAlgn="base" latinLnBrk="0" hangingPunct="1">
                        <a:lnSpc>
                          <a:spcPct val="100000"/>
                        </a:lnSpc>
                        <a:spcBef>
                          <a:spcPct val="0"/>
                        </a:spcBef>
                        <a:spcAft>
                          <a:spcPct val="0"/>
                        </a:spcAft>
                        <a:buClr>
                          <a:srgbClr val="000000"/>
                        </a:buClr>
                        <a:buSzPct val="80000"/>
                        <a:buFont typeface="Arial" pitchFamily="34" charset="0"/>
                        <a:buChar char="•"/>
                        <a:tabLst/>
                        <a:defRPr/>
                      </a:pPr>
                      <a:r>
                        <a:rPr kumimoji="0" lang="en-US" sz="1175" b="1" i="0" u="none" strike="noStrike" kern="1200" cap="none" spc="0" normalizeH="0" baseline="0" noProof="0" dirty="0" smtClean="0">
                          <a:ln>
                            <a:noFill/>
                          </a:ln>
                          <a:solidFill>
                            <a:sysClr val="windowText" lastClr="000000"/>
                          </a:solidFill>
                          <a:effectLst/>
                          <a:uLnTx/>
                          <a:uFillTx/>
                          <a:latin typeface="Arial" charset="0"/>
                          <a:ea typeface="+mn-ea"/>
                          <a:cs typeface="+mn-cs"/>
                        </a:rPr>
                        <a:t>Coffee branded outlet stores: </a:t>
                      </a:r>
                      <a:r>
                        <a:rPr kumimoji="0" lang="en-US" sz="1175" b="0" i="0" u="none" strike="noStrike" kern="1200" cap="none" spc="0" normalizeH="0" baseline="0" noProof="0" dirty="0" smtClean="0">
                          <a:ln>
                            <a:noFill/>
                          </a:ln>
                          <a:solidFill>
                            <a:sysClr val="windowText" lastClr="000000"/>
                          </a:solidFill>
                          <a:effectLst/>
                          <a:uLnTx/>
                          <a:uFillTx/>
                          <a:latin typeface="Arial" charset="0"/>
                          <a:ea typeface="+mn-ea"/>
                          <a:cs typeface="+mn-cs"/>
                        </a:rPr>
                        <a:t>$150M in annual revenues</a:t>
                      </a:r>
                      <a:endParaRPr kumimoji="0" lang="en-US" sz="1175" b="1" i="0" u="none" strike="noStrike" kern="1200" cap="none" spc="0" normalizeH="0" baseline="0" noProof="0" dirty="0" smtClean="0">
                        <a:ln>
                          <a:noFill/>
                        </a:ln>
                        <a:solidFill>
                          <a:sysClr val="windowText" lastClr="000000"/>
                        </a:solidFill>
                        <a:effectLst/>
                        <a:uLnTx/>
                        <a:uFillTx/>
                        <a:latin typeface="Arial" charset="0"/>
                        <a:ea typeface="+mn-ea"/>
                        <a:cs typeface="+mn-cs"/>
                      </a:endParaRPr>
                    </a:p>
                    <a:p>
                      <a:pPr marL="573088" marR="0" lvl="1" indent="-115888" algn="l" defTabSz="914400" rtl="0" eaLnBrk="1" fontAlgn="base" latinLnBrk="0" hangingPunct="1">
                        <a:lnSpc>
                          <a:spcPct val="100000"/>
                        </a:lnSpc>
                        <a:spcBef>
                          <a:spcPct val="0"/>
                        </a:spcBef>
                        <a:spcAft>
                          <a:spcPct val="0"/>
                        </a:spcAft>
                        <a:buClr>
                          <a:srgbClr val="000000"/>
                        </a:buClr>
                        <a:buSzPct val="80000"/>
                        <a:buFont typeface="Arial" pitchFamily="34" charset="0"/>
                        <a:buChar char="•"/>
                        <a:tabLst/>
                        <a:defRPr/>
                      </a:pPr>
                      <a:r>
                        <a:rPr kumimoji="0" lang="en-US" sz="1175" b="1" i="0" u="none" strike="noStrike" kern="1200" cap="none" spc="0" normalizeH="0" baseline="0" noProof="0" dirty="0" smtClean="0">
                          <a:ln>
                            <a:noFill/>
                          </a:ln>
                          <a:solidFill>
                            <a:sysClr val="windowText" lastClr="000000"/>
                          </a:solidFill>
                          <a:effectLst/>
                          <a:uLnTx/>
                          <a:uFillTx/>
                          <a:latin typeface="Arial" charset="0"/>
                          <a:ea typeface="+mn-ea"/>
                          <a:cs typeface="+mn-cs"/>
                        </a:rPr>
                        <a:t>Wholesale sales to major retail chains (e.g., Macy’s): </a:t>
                      </a:r>
                      <a:r>
                        <a:rPr kumimoji="0" lang="en-US" sz="1175" b="0" i="0" u="none" strike="noStrike" kern="1200" cap="none" spc="0" normalizeH="0" baseline="0" noProof="0" dirty="0" smtClean="0">
                          <a:ln>
                            <a:noFill/>
                          </a:ln>
                          <a:solidFill>
                            <a:sysClr val="windowText" lastClr="000000"/>
                          </a:solidFill>
                          <a:effectLst/>
                          <a:uLnTx/>
                          <a:uFillTx/>
                          <a:latin typeface="Arial" charset="0"/>
                          <a:ea typeface="+mn-ea"/>
                          <a:cs typeface="+mn-cs"/>
                        </a:rPr>
                        <a:t>$600M in annual revenues</a:t>
                      </a:r>
                    </a:p>
                    <a:p>
                      <a:pPr marL="573088" marR="0" lvl="1" indent="-115888" algn="l" defTabSz="914400" rtl="0" eaLnBrk="1" fontAlgn="base" latinLnBrk="0" hangingPunct="1">
                        <a:lnSpc>
                          <a:spcPct val="100000"/>
                        </a:lnSpc>
                        <a:spcBef>
                          <a:spcPct val="0"/>
                        </a:spcBef>
                        <a:spcAft>
                          <a:spcPct val="0"/>
                        </a:spcAft>
                        <a:buClr>
                          <a:srgbClr val="000000"/>
                        </a:buClr>
                        <a:buSzPct val="80000"/>
                        <a:buFont typeface="Arial" pitchFamily="34" charset="0"/>
                        <a:buChar char="•"/>
                        <a:tabLst/>
                        <a:defRPr/>
                      </a:pPr>
                      <a:endParaRPr kumimoji="0" lang="en-US" sz="1175" b="0" i="0" u="none" strike="noStrike" cap="none" normalizeH="0" baseline="0" dirty="0" smtClean="0">
                        <a:ln>
                          <a:noFill/>
                        </a:ln>
                        <a:solidFill>
                          <a:sysClr val="windowText" lastClr="000000"/>
                        </a:solidFill>
                        <a:effectLst/>
                        <a:latin typeface="Arial" charset="0"/>
                      </a:endParaRPr>
                    </a:p>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175" b="0" i="0" u="none" strike="noStrike" cap="none" normalizeH="0" baseline="0" dirty="0" smtClean="0">
                          <a:ln>
                            <a:noFill/>
                          </a:ln>
                          <a:solidFill>
                            <a:sysClr val="windowText" lastClr="000000"/>
                          </a:solidFill>
                          <a:effectLst/>
                          <a:latin typeface="Arial" charset="0"/>
                        </a:rPr>
                        <a:t>The Tea brand has historically been neglected because management has focused its resources on the core business – the Coffee brand. Nonetheless, the Tea brand has consistently put up a profit with minimal management attention and capital re-investment. Essentially, Coffee wishes to understand whether they are better served by divesting the Tea brand and refocusing their attention on their core Coffee brand business or holding the Tea business and simply “milking the cash cow.”</a:t>
                      </a:r>
                    </a:p>
                  </a:txBody>
                  <a:tcPr marL="73152" marR="73152" marT="73152" marB="731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058123" name="Group 11"/>
          <p:cNvGraphicFramePr>
            <a:graphicFrameLocks noGrp="1"/>
          </p:cNvGraphicFramePr>
          <p:nvPr>
            <p:extLst/>
          </p:nvPr>
        </p:nvGraphicFramePr>
        <p:xfrm>
          <a:off x="396875" y="4648200"/>
          <a:ext cx="8366125" cy="1953768"/>
        </p:xfrm>
        <a:graphic>
          <a:graphicData uri="http://schemas.openxmlformats.org/drawingml/2006/table">
            <a:tbl>
              <a:tblPr/>
              <a:tblGrid>
                <a:gridCol w="8366125"/>
              </a:tblGrid>
              <a:tr h="333033">
                <a:tc>
                  <a:txBody>
                    <a:bodyPr/>
                    <a:lstStyle/>
                    <a:p>
                      <a:pPr marL="0" marR="0" lvl="0" indent="0" algn="l" defTabSz="914400" rtl="0" eaLnBrk="1" fontAlgn="base" latinLnBrk="0" hangingPunct="1">
                        <a:lnSpc>
                          <a:spcPct val="100000"/>
                        </a:lnSpc>
                        <a:spcBef>
                          <a:spcPct val="8000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Problem Statement</a:t>
                      </a:r>
                    </a:p>
                  </a:txBody>
                  <a:tcPr marL="73152" marR="73152"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1267167">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defRPr/>
                      </a:pPr>
                      <a:r>
                        <a:rPr kumimoji="0" lang="en-US" sz="1100" b="1" i="1" u="none" strike="noStrike" cap="none" normalizeH="0" baseline="0" dirty="0" smtClean="0">
                          <a:ln>
                            <a:noFill/>
                          </a:ln>
                          <a:solidFill>
                            <a:sysClr val="windowText" lastClr="000000"/>
                          </a:solidFill>
                          <a:effectLst/>
                          <a:latin typeface="Arial" charset="0"/>
                        </a:rPr>
                        <a:t>Deloitte Consulting has been approached by Coffee to assess whether Coffee should hold or sell the Tea brand. </a:t>
                      </a:r>
                      <a:endParaRPr kumimoji="0" lang="en-US" sz="1400" b="0" i="0" u="none" strike="noStrike" cap="none" normalizeH="0" baseline="0" dirty="0" smtClean="0">
                        <a:ln>
                          <a:noFill/>
                        </a:ln>
                        <a:solidFill>
                          <a:sysClr val="windowText" lastClr="000000"/>
                        </a:solidFill>
                        <a:effectLst/>
                        <a:latin typeface="Arial" charset="0"/>
                      </a:endParaRPr>
                    </a:p>
                    <a:p>
                      <a:pPr marL="400050" marR="0" lvl="2" indent="-228600" algn="l" defTabSz="914400" rtl="0" eaLnBrk="1" fontAlgn="base" latinLnBrk="0" hangingPunct="1">
                        <a:lnSpc>
                          <a:spcPct val="100000"/>
                        </a:lnSpc>
                        <a:spcBef>
                          <a:spcPct val="0"/>
                        </a:spcBef>
                        <a:spcAft>
                          <a:spcPct val="0"/>
                        </a:spcAft>
                        <a:buClr>
                          <a:schemeClr val="tx1"/>
                        </a:buClr>
                        <a:buSzTx/>
                        <a:buFont typeface="+mj-lt"/>
                        <a:buAutoNum type="arabicPeriod"/>
                        <a:tabLst/>
                      </a:pPr>
                      <a:r>
                        <a:rPr kumimoji="0" lang="en-US" sz="1200" b="0" i="0" u="none" strike="noStrike" cap="none" normalizeH="0" baseline="0" dirty="0" smtClean="0">
                          <a:ln>
                            <a:noFill/>
                          </a:ln>
                          <a:solidFill>
                            <a:sysClr val="windowText" lastClr="000000"/>
                          </a:solidFill>
                          <a:effectLst/>
                          <a:latin typeface="Arial" charset="0"/>
                        </a:rPr>
                        <a:t>Using the “terms of the sale” from the data sheet, find the associated revenues for 2012 that the buyer would receive from buying Tea and compare that to the associated revenue that Coffee could maintain by not selling Tea? </a:t>
                      </a:r>
                    </a:p>
                    <a:p>
                      <a:pPr marL="400050" marR="0" lvl="2" indent="-228600" algn="l" defTabSz="914400" rtl="0" eaLnBrk="1" fontAlgn="base" latinLnBrk="0" hangingPunct="1">
                        <a:lnSpc>
                          <a:spcPct val="100000"/>
                        </a:lnSpc>
                        <a:spcBef>
                          <a:spcPct val="0"/>
                        </a:spcBef>
                        <a:spcAft>
                          <a:spcPct val="0"/>
                        </a:spcAft>
                        <a:buClr>
                          <a:schemeClr val="tx1"/>
                        </a:buClr>
                        <a:buSzTx/>
                        <a:buFont typeface="+mj-lt"/>
                        <a:buAutoNum type="arabicPeriod"/>
                        <a:tabLst/>
                      </a:pPr>
                      <a:r>
                        <a:rPr kumimoji="0" lang="en-US" sz="1200" b="0" i="0" u="none" strike="noStrike" cap="none" normalizeH="0" baseline="0" dirty="0" smtClean="0">
                          <a:ln>
                            <a:noFill/>
                          </a:ln>
                          <a:solidFill>
                            <a:sysClr val="windowText" lastClr="000000"/>
                          </a:solidFill>
                          <a:effectLst/>
                          <a:latin typeface="Arial" charset="0"/>
                        </a:rPr>
                        <a:t>How would you value the sale scenario and hold scenario? Present your findings.</a:t>
                      </a:r>
                    </a:p>
                    <a:p>
                      <a:pPr marL="400050" marR="0" lvl="2" indent="-228600" algn="l" defTabSz="914400" rtl="0" eaLnBrk="1" fontAlgn="base" latinLnBrk="0" hangingPunct="1">
                        <a:lnSpc>
                          <a:spcPct val="100000"/>
                        </a:lnSpc>
                        <a:spcBef>
                          <a:spcPct val="0"/>
                        </a:spcBef>
                        <a:spcAft>
                          <a:spcPct val="0"/>
                        </a:spcAft>
                        <a:buClr>
                          <a:schemeClr val="tx1"/>
                        </a:buClr>
                        <a:buSzTx/>
                        <a:buFont typeface="+mj-lt"/>
                        <a:buAutoNum type="arabicPeriod"/>
                        <a:tabLst/>
                      </a:pPr>
                      <a:r>
                        <a:rPr kumimoji="0" lang="en-US" sz="1200" b="0" i="0" u="none" strike="noStrike" cap="none" normalizeH="0" baseline="0" dirty="0" smtClean="0">
                          <a:ln>
                            <a:noFill/>
                          </a:ln>
                          <a:solidFill>
                            <a:sysClr val="windowText" lastClr="000000"/>
                          </a:solidFill>
                          <a:effectLst/>
                          <a:latin typeface="Arial" charset="0"/>
                        </a:rPr>
                        <a:t>If Coffee decides to hold the Tea brand, how long will it take for the cash flow from Tea to equal the amount of money that Coffee would have received through selling Tea? Note: Please use $50M as the sales price.</a:t>
                      </a:r>
                    </a:p>
                    <a:p>
                      <a:pPr marL="400050" marR="0" lvl="2" indent="-228600" algn="l" defTabSz="914400" rtl="0" eaLnBrk="1" fontAlgn="base" latinLnBrk="0" hangingPunct="1">
                        <a:lnSpc>
                          <a:spcPct val="100000"/>
                        </a:lnSpc>
                        <a:spcBef>
                          <a:spcPct val="0"/>
                        </a:spcBef>
                        <a:spcAft>
                          <a:spcPct val="0"/>
                        </a:spcAft>
                        <a:buClr>
                          <a:schemeClr val="tx1"/>
                        </a:buClr>
                        <a:buSzTx/>
                        <a:buFont typeface="+mj-lt"/>
                        <a:buAutoNum type="arabicPeriod"/>
                        <a:tabLst/>
                      </a:pPr>
                      <a:r>
                        <a:rPr kumimoji="0" lang="en-US" sz="1200" b="0" i="0" u="none" strike="noStrike" cap="none" normalizeH="0" baseline="0" dirty="0" smtClean="0">
                          <a:ln>
                            <a:noFill/>
                          </a:ln>
                          <a:solidFill>
                            <a:sysClr val="windowText" lastClr="000000"/>
                          </a:solidFill>
                          <a:effectLst/>
                          <a:latin typeface="Arial" charset="0"/>
                        </a:rPr>
                        <a:t>Based on your analysis, what would you recommend to Coffee?</a:t>
                      </a:r>
                    </a:p>
                    <a:p>
                      <a:pPr marL="400050" marR="0" lvl="2" indent="-228600" algn="l" defTabSz="914400" rtl="0" eaLnBrk="1" fontAlgn="base" latinLnBrk="0" hangingPunct="1">
                        <a:lnSpc>
                          <a:spcPct val="100000"/>
                        </a:lnSpc>
                        <a:spcBef>
                          <a:spcPct val="0"/>
                        </a:spcBef>
                        <a:spcAft>
                          <a:spcPct val="0"/>
                        </a:spcAft>
                        <a:buClr>
                          <a:schemeClr val="tx1"/>
                        </a:buClr>
                        <a:buSzTx/>
                        <a:buFont typeface="+mj-lt"/>
                        <a:buAutoNum type="arabicPeriod"/>
                        <a:tabLst/>
                      </a:pPr>
                      <a:r>
                        <a:rPr kumimoji="0" lang="en-US" sz="1200" b="0" i="0" u="none" strike="noStrike" cap="none" normalizeH="0" baseline="0" dirty="0" smtClean="0">
                          <a:ln>
                            <a:noFill/>
                          </a:ln>
                          <a:solidFill>
                            <a:sysClr val="windowText" lastClr="000000"/>
                          </a:solidFill>
                          <a:effectLst/>
                          <a:latin typeface="Arial" charset="0"/>
                        </a:rPr>
                        <a:t>Are there any other relevant issues that may affect the valuation or the divestment decision?</a:t>
                      </a:r>
                    </a:p>
                  </a:txBody>
                  <a:tcPr marL="73152" marR="73152" marT="73152" marB="731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4291430264"/>
      </p:ext>
    </p:extLst>
  </p:cSld>
  <p:clrMapOvr>
    <a:masterClrMapping/>
  </p:clrMapOvr>
  <p:timing>
    <p:tnLst>
      <p:par>
        <p:cTn xmlns:p14="http://schemas.microsoft.com/office/powerpoint/2010/mai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4"/>
          <p:cNvSpPr>
            <a:spLocks noGrp="1" noChangeArrowheads="1"/>
          </p:cNvSpPr>
          <p:nvPr>
            <p:ph type="title" idx="4294967295"/>
          </p:nvPr>
        </p:nvSpPr>
        <p:spPr>
          <a:xfrm>
            <a:off x="401638" y="512144"/>
            <a:ext cx="8345487" cy="260969"/>
          </a:xfrm>
        </p:spPr>
        <p:txBody>
          <a:bodyPr/>
          <a:lstStyle/>
          <a:p>
            <a:r>
              <a:rPr lang="en-US" dirty="0" smtClean="0"/>
              <a:t>Brand Carve Out – Data Sheet</a:t>
            </a:r>
          </a:p>
        </p:txBody>
      </p:sp>
      <p:grpSp>
        <p:nvGrpSpPr>
          <p:cNvPr id="2" name="Group 20"/>
          <p:cNvGrpSpPr>
            <a:grpSpLocks/>
          </p:cNvGrpSpPr>
          <p:nvPr/>
        </p:nvGrpSpPr>
        <p:grpSpPr bwMode="auto">
          <a:xfrm>
            <a:off x="582614" y="4642194"/>
            <a:ext cx="3829050" cy="179408"/>
            <a:chOff x="476250" y="4019575"/>
            <a:chExt cx="3935413" cy="179232"/>
          </a:xfrm>
        </p:grpSpPr>
        <p:sp>
          <p:nvSpPr>
            <p:cNvPr id="50343" name="Line 47"/>
            <p:cNvSpPr>
              <a:spLocks noChangeShapeType="1"/>
            </p:cNvSpPr>
            <p:nvPr/>
          </p:nvSpPr>
          <p:spPr bwMode="gray">
            <a:xfrm>
              <a:off x="476250" y="4105275"/>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charset="0"/>
              </a:endParaRPr>
            </a:p>
          </p:txBody>
        </p:sp>
        <p:sp>
          <p:nvSpPr>
            <p:cNvPr id="50344" name="Rectangle 25"/>
            <p:cNvSpPr>
              <a:spLocks noChangeArrowheads="1"/>
            </p:cNvSpPr>
            <p:nvPr/>
          </p:nvSpPr>
          <p:spPr bwMode="gray">
            <a:xfrm>
              <a:off x="1530185" y="4019575"/>
              <a:ext cx="1840952" cy="179232"/>
            </a:xfrm>
            <a:prstGeom prst="rect">
              <a:avLst/>
            </a:prstGeom>
            <a:solidFill>
              <a:schemeClr val="bg1"/>
            </a:solidFill>
            <a:ln w="9525" algn="ctr">
              <a:noFill/>
              <a:miter lim="800000"/>
              <a:headEnd/>
              <a:tailEnd/>
            </a:ln>
          </p:spPr>
          <p:txBody>
            <a:bodyPr wrap="none" lIns="91440" tIns="0" rIns="91440" bIns="0">
              <a:spAutoFit/>
            </a:bodyPr>
            <a:lstStyle/>
            <a:p>
              <a:pPr marL="169863" lvl="1" indent="-168275" algn="ctr" eaLnBrk="0" hangingPunct="0">
                <a:lnSpc>
                  <a:spcPct val="106000"/>
                </a:lnSpc>
                <a:buClr>
                  <a:srgbClr val="000000"/>
                </a:buClr>
                <a:buFont typeface="Wingdings 2" pitchFamily="18" charset="2"/>
                <a:buNone/>
              </a:pPr>
              <a:r>
                <a:rPr lang="en-US" sz="1100" b="1" dirty="0">
                  <a:solidFill>
                    <a:srgbClr val="000000"/>
                  </a:solidFill>
                  <a:latin typeface="Arial"/>
                  <a:cs typeface="Arial" charset="0"/>
                </a:rPr>
                <a:t>Number of Retail Stores</a:t>
              </a:r>
              <a:endParaRPr lang="en-US" sz="1000" b="1" dirty="0">
                <a:solidFill>
                  <a:srgbClr val="000000"/>
                </a:solidFill>
                <a:latin typeface="Arial"/>
                <a:cs typeface="Arial" charset="0"/>
              </a:endParaRPr>
            </a:p>
          </p:txBody>
        </p:sp>
      </p:grpSp>
      <p:graphicFrame>
        <p:nvGraphicFramePr>
          <p:cNvPr id="29" name="Group 46"/>
          <p:cNvGraphicFramePr>
            <a:graphicFrameLocks/>
          </p:cNvGraphicFramePr>
          <p:nvPr>
            <p:extLst/>
          </p:nvPr>
        </p:nvGraphicFramePr>
        <p:xfrm>
          <a:off x="582610" y="4851641"/>
          <a:ext cx="3829053" cy="1253824"/>
        </p:xfrm>
        <a:graphic>
          <a:graphicData uri="http://schemas.openxmlformats.org/drawingml/2006/table">
            <a:tbl>
              <a:tblPr/>
              <a:tblGrid>
                <a:gridCol w="664299"/>
                <a:gridCol w="1054918"/>
                <a:gridCol w="1054918"/>
                <a:gridCol w="1054918"/>
              </a:tblGrid>
              <a:tr h="308335">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endParaRPr kumimoji="0" lang="en-US" sz="1000" b="1" i="0" u="none" strike="noStrike" cap="none" normalizeH="0" baseline="0" dirty="0" smtClean="0">
                        <a:ln>
                          <a:noFill/>
                        </a:ln>
                        <a:solidFill>
                          <a:schemeClr val="tx1"/>
                        </a:solidFill>
                        <a:effectLst/>
                        <a:latin typeface="Arial" charset="0"/>
                      </a:endParaRPr>
                    </a:p>
                  </a:txBody>
                  <a:tcPr marL="73152" marR="18288" marT="73152" marB="73152"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Start of 2010</a:t>
                      </a:r>
                    </a:p>
                  </a:txBody>
                  <a:tcPr marL="73152" marR="18288"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Start of 2011</a:t>
                      </a:r>
                    </a:p>
                  </a:txBody>
                  <a:tcPr marL="73152" marR="18288"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Start of 2012</a:t>
                      </a:r>
                    </a:p>
                  </a:txBody>
                  <a:tcPr marL="73152" marR="73152"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066B2"/>
                    </a:solidFill>
                  </a:tcPr>
                </a:tc>
              </a:tr>
              <a:tr h="463203">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Coffee branded stores</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200" b="0" i="0" u="none" strike="noStrike" dirty="0" smtClean="0">
                          <a:solidFill>
                            <a:srgbClr val="000000"/>
                          </a:solidFill>
                          <a:latin typeface="Calibri"/>
                        </a:rPr>
                        <a:t>100</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200" b="0" i="0" u="none" strike="noStrike" dirty="0" smtClean="0">
                          <a:solidFill>
                            <a:srgbClr val="000000"/>
                          </a:solidFill>
                          <a:latin typeface="Calibri"/>
                        </a:rPr>
                        <a:t>125</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200" b="0" i="0" u="none" strike="noStrike" dirty="0" smtClean="0">
                          <a:solidFill>
                            <a:srgbClr val="000000"/>
                          </a:solidFill>
                          <a:latin typeface="Calibri"/>
                        </a:rPr>
                        <a:t>150</a:t>
                      </a:r>
                      <a:endParaRPr lang="en-US" sz="1200" b="0"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463203">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Tea branded stores</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200" b="0" i="0" u="none" strike="noStrike" dirty="0" smtClean="0">
                          <a:solidFill>
                            <a:srgbClr val="000000"/>
                          </a:solidFill>
                          <a:latin typeface="Calibri"/>
                        </a:rPr>
                        <a:t>45</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200" b="0" i="0" u="none" strike="noStrike" dirty="0" smtClean="0">
                          <a:solidFill>
                            <a:srgbClr val="000000"/>
                          </a:solidFill>
                          <a:latin typeface="Calibri"/>
                        </a:rPr>
                        <a:t>32</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200" b="0" i="0" u="none" strike="noStrike" dirty="0" smtClean="0">
                          <a:solidFill>
                            <a:srgbClr val="000000"/>
                          </a:solidFill>
                          <a:latin typeface="Calibri"/>
                        </a:rPr>
                        <a:t>20</a:t>
                      </a:r>
                      <a:endParaRPr lang="en-US" sz="1200" b="0"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bl>
          </a:graphicData>
        </a:graphic>
      </p:graphicFrame>
      <p:grpSp>
        <p:nvGrpSpPr>
          <p:cNvPr id="3" name="Group 24"/>
          <p:cNvGrpSpPr/>
          <p:nvPr/>
        </p:nvGrpSpPr>
        <p:grpSpPr>
          <a:xfrm>
            <a:off x="4732614" y="914400"/>
            <a:ext cx="3935413" cy="2292591"/>
            <a:chOff x="4732614" y="3657600"/>
            <a:chExt cx="3935413" cy="2292591"/>
          </a:xfrm>
        </p:grpSpPr>
        <p:grpSp>
          <p:nvGrpSpPr>
            <p:cNvPr id="4" name="Group 20"/>
            <p:cNvGrpSpPr>
              <a:grpSpLocks/>
            </p:cNvGrpSpPr>
            <p:nvPr/>
          </p:nvGrpSpPr>
          <p:grpSpPr bwMode="auto">
            <a:xfrm>
              <a:off x="4732614" y="3657600"/>
              <a:ext cx="3935413" cy="346120"/>
              <a:chOff x="476250" y="3918099"/>
              <a:chExt cx="3935413" cy="345626"/>
            </a:xfrm>
          </p:grpSpPr>
          <p:sp>
            <p:nvSpPr>
              <p:cNvPr id="50339" name="Line 47"/>
              <p:cNvSpPr>
                <a:spLocks noChangeShapeType="1"/>
              </p:cNvSpPr>
              <p:nvPr/>
            </p:nvSpPr>
            <p:spPr bwMode="gray">
              <a:xfrm>
                <a:off x="476250" y="4105275"/>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charset="0"/>
                </a:endParaRPr>
              </a:p>
            </p:txBody>
          </p:sp>
          <p:sp>
            <p:nvSpPr>
              <p:cNvPr id="50340" name="Rectangle 25"/>
              <p:cNvSpPr>
                <a:spLocks noChangeArrowheads="1"/>
              </p:cNvSpPr>
              <p:nvPr/>
            </p:nvSpPr>
            <p:spPr bwMode="gray">
              <a:xfrm>
                <a:off x="1140166" y="3918099"/>
                <a:ext cx="2595583" cy="345626"/>
              </a:xfrm>
              <a:prstGeom prst="rect">
                <a:avLst/>
              </a:prstGeom>
              <a:solidFill>
                <a:schemeClr val="bg1"/>
              </a:solidFill>
              <a:ln w="9525" algn="ctr">
                <a:noFill/>
                <a:miter lim="800000"/>
                <a:headEnd/>
                <a:tailEnd/>
              </a:ln>
            </p:spPr>
            <p:txBody>
              <a:bodyPr wrap="none" lIns="0" tIns="0" rIns="0" bIns="0">
                <a:spAutoFit/>
              </a:bodyPr>
              <a:lstStyle/>
              <a:p>
                <a:pPr marL="169863" lvl="1" indent="-168275" algn="ctr" eaLnBrk="0" hangingPunct="0">
                  <a:lnSpc>
                    <a:spcPct val="106000"/>
                  </a:lnSpc>
                  <a:buClr>
                    <a:srgbClr val="000000"/>
                  </a:buClr>
                  <a:buFont typeface="Wingdings 2" pitchFamily="18" charset="2"/>
                  <a:buNone/>
                </a:pPr>
                <a:r>
                  <a:rPr lang="en-US" sz="1100" b="1" dirty="0">
                    <a:solidFill>
                      <a:srgbClr val="000000"/>
                    </a:solidFill>
                    <a:latin typeface="Arial"/>
                    <a:cs typeface="Arial" charset="0"/>
                  </a:rPr>
                  <a:t>Revenue Multiples: Consumer Product</a:t>
                </a:r>
              </a:p>
              <a:p>
                <a:pPr marL="169863" lvl="1" indent="-168275" algn="ctr" eaLnBrk="0" hangingPunct="0">
                  <a:lnSpc>
                    <a:spcPct val="106000"/>
                  </a:lnSpc>
                  <a:buClr>
                    <a:srgbClr val="000000"/>
                  </a:buClr>
                  <a:buFont typeface="Wingdings 2" pitchFamily="18" charset="2"/>
                  <a:buNone/>
                </a:pPr>
                <a:r>
                  <a:rPr lang="en-US" sz="1100" b="1" dirty="0">
                    <a:solidFill>
                      <a:srgbClr val="000000"/>
                    </a:solidFill>
                    <a:latin typeface="Arial"/>
                    <a:cs typeface="Arial" charset="0"/>
                  </a:rPr>
                  <a:t>Transactions in the U.S.</a:t>
                </a:r>
              </a:p>
            </p:txBody>
          </p:sp>
        </p:grpSp>
        <p:graphicFrame>
          <p:nvGraphicFramePr>
            <p:cNvPr id="31" name="Group 46"/>
            <p:cNvGraphicFramePr>
              <a:graphicFrameLocks/>
            </p:cNvGraphicFramePr>
            <p:nvPr/>
          </p:nvGraphicFramePr>
          <p:xfrm>
            <a:off x="4745314" y="4266359"/>
            <a:ext cx="3817661" cy="1683832"/>
          </p:xfrm>
          <a:graphic>
            <a:graphicData uri="http://schemas.openxmlformats.org/drawingml/2006/table">
              <a:tbl>
                <a:tblPr/>
                <a:tblGrid>
                  <a:gridCol w="923386"/>
                  <a:gridCol w="858741"/>
                  <a:gridCol w="858741"/>
                  <a:gridCol w="1176793"/>
                </a:tblGrid>
                <a:tr h="41275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endParaRPr kumimoji="0" lang="en-US" sz="1000" b="1" i="0" u="none" strike="noStrike" cap="none" normalizeH="0" baseline="0" dirty="0" smtClean="0">
                          <a:ln>
                            <a:noFill/>
                          </a:ln>
                          <a:solidFill>
                            <a:schemeClr val="tx1"/>
                          </a:solidFill>
                          <a:effectLst/>
                          <a:latin typeface="Arial" charset="0"/>
                        </a:endParaRPr>
                      </a:p>
                    </a:txBody>
                    <a:tcPr marL="73152" marR="18288" marT="73152" marB="7315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Revenue multiple</a:t>
                        </a:r>
                      </a:p>
                    </a:txBody>
                    <a:tcPr marL="73152" marR="18288"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Deal size ($M)</a:t>
                        </a:r>
                      </a:p>
                    </a:txBody>
                    <a:tcPr marL="73152" marR="18288"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Deal date</a:t>
                        </a:r>
                      </a:p>
                    </a:txBody>
                    <a:tcPr marL="73152" marR="18288"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Transaction A</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200" b="0" i="0" u="none" strike="noStrike" dirty="0" smtClean="0">
                            <a:solidFill>
                              <a:srgbClr val="000000"/>
                            </a:solidFill>
                            <a:latin typeface="Calibri"/>
                          </a:rPr>
                          <a:t>0.6</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200" b="0" i="0" u="none" strike="noStrike" dirty="0" smtClean="0">
                            <a:solidFill>
                              <a:srgbClr val="000000"/>
                            </a:solidFill>
                            <a:latin typeface="Calibri"/>
                          </a:rPr>
                          <a:t>147</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fontAlgn="b"/>
                        <a:r>
                          <a:rPr lang="en-US" sz="1200" b="0" i="0" u="none" strike="noStrike" dirty="0" smtClean="0">
                            <a:solidFill>
                              <a:srgbClr val="000000"/>
                            </a:solidFill>
                            <a:latin typeface="Calibri"/>
                          </a:rPr>
                          <a:t>January 2011</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Transaction B</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200" b="0" i="0" u="none" strike="noStrike" dirty="0" smtClean="0">
                            <a:solidFill>
                              <a:srgbClr val="000000"/>
                            </a:solidFill>
                            <a:latin typeface="Calibri"/>
                          </a:rPr>
                          <a:t>0.7</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200" b="0" i="0" u="none" strike="noStrike" dirty="0" smtClean="0">
                            <a:solidFill>
                              <a:srgbClr val="000000"/>
                            </a:solidFill>
                            <a:latin typeface="Calibri"/>
                          </a:rPr>
                          <a:t>300</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fontAlgn="b"/>
                        <a:r>
                          <a:rPr lang="en-US" sz="1200" b="0" i="0" u="none" strike="noStrike" dirty="0" smtClean="0">
                            <a:solidFill>
                              <a:srgbClr val="000000"/>
                            </a:solidFill>
                            <a:latin typeface="Calibri"/>
                          </a:rPr>
                          <a:t>March 2011</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Transaction C</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200" b="0" i="0" u="none" strike="noStrike" dirty="0" smtClean="0">
                            <a:solidFill>
                              <a:srgbClr val="000000"/>
                            </a:solidFill>
                            <a:latin typeface="Calibri"/>
                          </a:rPr>
                          <a:t>0.9</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200" b="0" i="0" u="none" strike="noStrike" dirty="0" smtClean="0">
                            <a:solidFill>
                              <a:srgbClr val="000000"/>
                            </a:solidFill>
                            <a:latin typeface="Calibri"/>
                          </a:rPr>
                          <a:t>180</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fontAlgn="b"/>
                        <a:r>
                          <a:rPr lang="en-US" sz="1200" b="0" i="0" u="none" strike="noStrike" dirty="0" smtClean="0">
                            <a:solidFill>
                              <a:srgbClr val="000000"/>
                            </a:solidFill>
                            <a:latin typeface="Calibri"/>
                          </a:rPr>
                          <a:t>April 2010</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Transaction D</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200" b="0" i="0" u="none" strike="noStrike" dirty="0" smtClean="0">
                            <a:solidFill>
                              <a:srgbClr val="000000"/>
                            </a:solidFill>
                            <a:latin typeface="Calibri"/>
                          </a:rPr>
                          <a:t>0.6</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200" b="0" i="0" u="none" strike="noStrike" dirty="0" smtClean="0">
                            <a:solidFill>
                              <a:srgbClr val="000000"/>
                            </a:solidFill>
                            <a:latin typeface="Calibri"/>
                          </a:rPr>
                          <a:t>70</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fontAlgn="b"/>
                        <a:r>
                          <a:rPr lang="en-US" sz="1200" b="0" i="0" u="none" strike="noStrike" dirty="0" smtClean="0">
                            <a:solidFill>
                              <a:srgbClr val="000000"/>
                            </a:solidFill>
                            <a:latin typeface="Calibri"/>
                          </a:rPr>
                          <a:t>October 2010</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Transaction E</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200" b="0" i="0" u="none" strike="noStrike" dirty="0" smtClean="0">
                            <a:solidFill>
                              <a:srgbClr val="000000"/>
                            </a:solidFill>
                            <a:latin typeface="Calibri"/>
                          </a:rPr>
                          <a:t>1.9</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200" b="0" i="0" u="none" strike="noStrike" dirty="0" smtClean="0">
                            <a:solidFill>
                              <a:srgbClr val="000000"/>
                            </a:solidFill>
                            <a:latin typeface="Calibri"/>
                          </a:rPr>
                          <a:t>5</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fontAlgn="b"/>
                        <a:r>
                          <a:rPr lang="en-US" sz="1200" b="0" i="0" u="none" strike="noStrike" dirty="0" smtClean="0">
                            <a:solidFill>
                              <a:srgbClr val="000000"/>
                            </a:solidFill>
                            <a:latin typeface="Calibri"/>
                          </a:rPr>
                          <a:t>November 2007</a:t>
                        </a:r>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bl>
            </a:graphicData>
          </a:graphic>
        </p:graphicFrame>
      </p:grpSp>
      <p:grpSp>
        <p:nvGrpSpPr>
          <p:cNvPr id="5" name="Group 20"/>
          <p:cNvGrpSpPr>
            <a:grpSpLocks/>
          </p:cNvGrpSpPr>
          <p:nvPr/>
        </p:nvGrpSpPr>
        <p:grpSpPr bwMode="auto">
          <a:xfrm>
            <a:off x="582614" y="914400"/>
            <a:ext cx="3829050" cy="166712"/>
            <a:chOff x="476250" y="4019553"/>
            <a:chExt cx="3935413" cy="166548"/>
          </a:xfrm>
        </p:grpSpPr>
        <p:sp>
          <p:nvSpPr>
            <p:cNvPr id="33" name="Line 47"/>
            <p:cNvSpPr>
              <a:spLocks noChangeShapeType="1"/>
            </p:cNvSpPr>
            <p:nvPr/>
          </p:nvSpPr>
          <p:spPr bwMode="gray">
            <a:xfrm>
              <a:off x="476250" y="4105275"/>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charset="0"/>
              </a:endParaRPr>
            </a:p>
          </p:txBody>
        </p:sp>
        <p:sp>
          <p:nvSpPr>
            <p:cNvPr id="34" name="Rectangle 25"/>
            <p:cNvSpPr>
              <a:spLocks noChangeArrowheads="1"/>
            </p:cNvSpPr>
            <p:nvPr/>
          </p:nvSpPr>
          <p:spPr bwMode="gray">
            <a:xfrm>
              <a:off x="1667752" y="4019553"/>
              <a:ext cx="1565815" cy="166548"/>
            </a:xfrm>
            <a:prstGeom prst="rect">
              <a:avLst/>
            </a:prstGeom>
            <a:solidFill>
              <a:schemeClr val="bg1"/>
            </a:solidFill>
            <a:ln w="9525" algn="ctr">
              <a:noFill/>
              <a:miter lim="800000"/>
              <a:headEnd/>
              <a:tailEnd/>
            </a:ln>
          </p:spPr>
          <p:txBody>
            <a:bodyPr wrap="none" lIns="91440" tIns="0" rIns="91440" bIns="0">
              <a:spAutoFit/>
            </a:bodyPr>
            <a:lstStyle/>
            <a:p>
              <a:pPr marL="169863" lvl="1" indent="-168275" algn="ctr" eaLnBrk="0" hangingPunct="0">
                <a:lnSpc>
                  <a:spcPct val="106000"/>
                </a:lnSpc>
                <a:buClr>
                  <a:srgbClr val="000000"/>
                </a:buClr>
                <a:buFont typeface="Wingdings 2" pitchFamily="18" charset="2"/>
                <a:buNone/>
              </a:pPr>
              <a:r>
                <a:rPr lang="en-US" sz="1100" b="1" dirty="0">
                  <a:solidFill>
                    <a:srgbClr val="000000"/>
                  </a:solidFill>
                  <a:latin typeface="Arial"/>
                  <a:cs typeface="Arial" charset="0"/>
                </a:rPr>
                <a:t>General Information</a:t>
              </a:r>
              <a:endParaRPr lang="en-US" sz="1000" b="1" dirty="0">
                <a:solidFill>
                  <a:srgbClr val="000000"/>
                </a:solidFill>
                <a:latin typeface="Arial"/>
                <a:cs typeface="Arial" charset="0"/>
              </a:endParaRPr>
            </a:p>
          </p:txBody>
        </p:sp>
      </p:grpSp>
      <p:sp>
        <p:nvSpPr>
          <p:cNvPr id="40" name="Rectangle 39"/>
          <p:cNvSpPr/>
          <p:nvPr/>
        </p:nvSpPr>
        <p:spPr>
          <a:xfrm>
            <a:off x="582613" y="1066800"/>
            <a:ext cx="3829050" cy="1354217"/>
          </a:xfrm>
          <a:prstGeom prst="rect">
            <a:avLst/>
          </a:prstGeom>
        </p:spPr>
        <p:txBody>
          <a:bodyPr wrap="square">
            <a:spAutoFit/>
          </a:bodyPr>
          <a:lstStyle/>
          <a:p>
            <a:pPr marL="119063" indent="-119063">
              <a:spcAft>
                <a:spcPts val="300"/>
              </a:spcAft>
              <a:buFont typeface="Arial" pitchFamily="34" charset="0"/>
              <a:buChar char="•"/>
            </a:pPr>
            <a:r>
              <a:rPr lang="en-US" sz="1100" dirty="0">
                <a:solidFill>
                  <a:sysClr val="windowText" lastClr="000000"/>
                </a:solidFill>
                <a:latin typeface="Arial"/>
                <a:cs typeface="Arial" charset="0"/>
              </a:rPr>
              <a:t>Management has decided that the terms of the sale will be as follows:</a:t>
            </a:r>
          </a:p>
          <a:p>
            <a:pPr marL="285750" lvl="1" indent="-166688">
              <a:spcAft>
                <a:spcPts val="300"/>
              </a:spcAft>
              <a:buFont typeface="Arial" pitchFamily="34" charset="0"/>
              <a:buChar char="‒"/>
            </a:pPr>
            <a:r>
              <a:rPr lang="en-US" sz="1100" dirty="0">
                <a:solidFill>
                  <a:sysClr val="windowText" lastClr="000000"/>
                </a:solidFill>
                <a:latin typeface="Arial"/>
                <a:cs typeface="Arial" charset="0"/>
              </a:rPr>
              <a:t>Sale of </a:t>
            </a:r>
            <a:r>
              <a:rPr lang="en-US" sz="1100" dirty="0" smtClean="0">
                <a:solidFill>
                  <a:sysClr val="windowText" lastClr="000000"/>
                </a:solidFill>
                <a:latin typeface="Arial"/>
                <a:cs typeface="Arial" charset="0"/>
              </a:rPr>
              <a:t>Tea brand </a:t>
            </a:r>
            <a:r>
              <a:rPr lang="en-US" sz="1100" dirty="0">
                <a:solidFill>
                  <a:sysClr val="windowText" lastClr="000000"/>
                </a:solidFill>
                <a:latin typeface="Arial"/>
                <a:cs typeface="Arial" charset="0"/>
              </a:rPr>
              <a:t>will </a:t>
            </a:r>
            <a:r>
              <a:rPr lang="en-US" sz="1100" dirty="0" smtClean="0">
                <a:solidFill>
                  <a:sysClr val="windowText" lastClr="000000"/>
                </a:solidFill>
                <a:latin typeface="Arial"/>
                <a:cs typeface="Arial" charset="0"/>
              </a:rPr>
              <a:t>include only Tea’s branded product sales in Tea’s </a:t>
            </a:r>
            <a:r>
              <a:rPr lang="en-US" sz="1100" dirty="0">
                <a:solidFill>
                  <a:sysClr val="windowText" lastClr="000000"/>
                </a:solidFill>
                <a:latin typeface="Arial"/>
                <a:cs typeface="Arial" charset="0"/>
              </a:rPr>
              <a:t>retail channel and </a:t>
            </a:r>
            <a:r>
              <a:rPr lang="en-US" sz="1100" dirty="0" smtClean="0">
                <a:solidFill>
                  <a:sysClr val="windowText" lastClr="000000"/>
                </a:solidFill>
                <a:latin typeface="Arial"/>
                <a:cs typeface="Arial" charset="0"/>
              </a:rPr>
              <a:t>Tea’s </a:t>
            </a:r>
            <a:r>
              <a:rPr lang="en-US" sz="1100" dirty="0">
                <a:solidFill>
                  <a:sysClr val="windowText" lastClr="000000"/>
                </a:solidFill>
                <a:latin typeface="Arial"/>
                <a:cs typeface="Arial" charset="0"/>
              </a:rPr>
              <a:t>wholesale business</a:t>
            </a:r>
          </a:p>
          <a:p>
            <a:pPr marL="285750" lvl="1" indent="-166688">
              <a:spcAft>
                <a:spcPts val="300"/>
              </a:spcAft>
              <a:buFont typeface="Arial" pitchFamily="34" charset="0"/>
              <a:buChar char="‒"/>
            </a:pPr>
            <a:r>
              <a:rPr lang="en-US" sz="1100" dirty="0">
                <a:solidFill>
                  <a:sysClr val="windowText" lastClr="000000"/>
                </a:solidFill>
                <a:latin typeface="Arial"/>
                <a:cs typeface="Arial" charset="0"/>
              </a:rPr>
              <a:t>Buyer will not have access to Coffee’s Outlet stores or Coffee branded retail stores for </a:t>
            </a:r>
            <a:r>
              <a:rPr lang="en-US" sz="1100" dirty="0" smtClean="0">
                <a:solidFill>
                  <a:sysClr val="windowText" lastClr="000000"/>
                </a:solidFill>
                <a:latin typeface="Arial"/>
                <a:cs typeface="Arial" charset="0"/>
              </a:rPr>
              <a:t>distribution</a:t>
            </a:r>
          </a:p>
        </p:txBody>
      </p:sp>
      <p:sp>
        <p:nvSpPr>
          <p:cNvPr id="50345" name="Line 47"/>
          <p:cNvSpPr>
            <a:spLocks noChangeShapeType="1"/>
          </p:cNvSpPr>
          <p:nvPr/>
        </p:nvSpPr>
        <p:spPr bwMode="gray">
          <a:xfrm>
            <a:off x="4732338" y="3582616"/>
            <a:ext cx="384016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charset="0"/>
            </a:endParaRPr>
          </a:p>
        </p:txBody>
      </p:sp>
      <p:sp>
        <p:nvSpPr>
          <p:cNvPr id="50346" name="Rectangle 25"/>
          <p:cNvSpPr>
            <a:spLocks noChangeArrowheads="1"/>
          </p:cNvSpPr>
          <p:nvPr/>
        </p:nvSpPr>
        <p:spPr bwMode="gray">
          <a:xfrm>
            <a:off x="5143659" y="3514500"/>
            <a:ext cx="3017520" cy="133431"/>
          </a:xfrm>
          <a:prstGeom prst="rect">
            <a:avLst/>
          </a:prstGeom>
          <a:solidFill>
            <a:schemeClr val="bg1"/>
          </a:solidFill>
          <a:ln w="9525" algn="ctr">
            <a:noFill/>
            <a:miter lim="800000"/>
            <a:headEnd/>
            <a:tailEnd/>
          </a:ln>
        </p:spPr>
        <p:txBody>
          <a:bodyPr lIns="0" tIns="0" rIns="0" bIns="0"/>
          <a:lstStyle/>
          <a:p>
            <a:pPr marL="0" lvl="1" indent="1588" algn="ctr" eaLnBrk="0" hangingPunct="0">
              <a:lnSpc>
                <a:spcPct val="106000"/>
              </a:lnSpc>
              <a:buClr>
                <a:srgbClr val="000000"/>
              </a:buClr>
              <a:buFont typeface="Wingdings 2" pitchFamily="18" charset="2"/>
              <a:buNone/>
            </a:pPr>
            <a:r>
              <a:rPr lang="en-US" sz="1100" b="1" dirty="0" smtClean="0">
                <a:solidFill>
                  <a:srgbClr val="000000"/>
                </a:solidFill>
                <a:latin typeface="Arial"/>
                <a:cs typeface="Arial" charset="0"/>
              </a:rPr>
              <a:t>Tea Brand </a:t>
            </a:r>
            <a:r>
              <a:rPr lang="en-US" sz="1100" b="1" dirty="0">
                <a:solidFill>
                  <a:srgbClr val="000000"/>
                </a:solidFill>
                <a:latin typeface="Arial"/>
                <a:cs typeface="Arial" charset="0"/>
              </a:rPr>
              <a:t>Business </a:t>
            </a:r>
            <a:r>
              <a:rPr lang="en-US" sz="1100" b="1" dirty="0" smtClean="0">
                <a:solidFill>
                  <a:srgbClr val="000000"/>
                </a:solidFill>
                <a:latin typeface="Arial"/>
                <a:cs typeface="Arial" charset="0"/>
              </a:rPr>
              <a:t>Historical Performance</a:t>
            </a:r>
            <a:endParaRPr lang="en-US" sz="1000" b="1" dirty="0">
              <a:solidFill>
                <a:srgbClr val="000000"/>
              </a:solidFill>
              <a:latin typeface="Arial"/>
              <a:cs typeface="Arial" charset="0"/>
            </a:endParaRPr>
          </a:p>
        </p:txBody>
      </p:sp>
      <p:graphicFrame>
        <p:nvGraphicFramePr>
          <p:cNvPr id="24" name="Group 46"/>
          <p:cNvGraphicFramePr>
            <a:graphicFrameLocks/>
          </p:cNvGraphicFramePr>
          <p:nvPr>
            <p:extLst/>
          </p:nvPr>
        </p:nvGraphicFramePr>
        <p:xfrm>
          <a:off x="4743452" y="4108242"/>
          <a:ext cx="3819525" cy="1714508"/>
        </p:xfrm>
        <a:graphic>
          <a:graphicData uri="http://schemas.openxmlformats.org/drawingml/2006/table">
            <a:tbl>
              <a:tblPr/>
              <a:tblGrid>
                <a:gridCol w="944829"/>
                <a:gridCol w="958232"/>
                <a:gridCol w="958232"/>
                <a:gridCol w="958232"/>
              </a:tblGrid>
              <a:tr h="311358">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tx1"/>
                          </a:solidFill>
                          <a:effectLst/>
                          <a:latin typeface="Arial" charset="0"/>
                        </a:rPr>
                        <a:t>(% of sales)</a:t>
                      </a:r>
                    </a:p>
                  </a:txBody>
                  <a:tcPr marL="73152" marR="73152" marT="73152" marB="7315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2009</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2010</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2011</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066B2"/>
                    </a:solidFill>
                  </a:tcPr>
                </a:tc>
              </a:tr>
              <a:tr h="28063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Revenues</a:t>
                      </a:r>
                    </a:p>
                  </a:txBody>
                  <a:tcPr marL="18288"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rtl="0" fontAlgn="b"/>
                      <a:r>
                        <a:rPr lang="en-US" sz="1200" b="0" i="0" u="none" strike="noStrike" dirty="0" smtClean="0">
                          <a:solidFill>
                            <a:srgbClr val="000000"/>
                          </a:solidFill>
                          <a:latin typeface="Calibri"/>
                        </a:rPr>
                        <a:t>100%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100%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100%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8063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Gross Profit</a:t>
                      </a:r>
                    </a:p>
                  </a:txBody>
                  <a:tcPr marL="18288"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rtl="0" fontAlgn="b"/>
                      <a:r>
                        <a:rPr lang="en-US" sz="1200" b="0" i="0" u="none" strike="noStrike" dirty="0" smtClean="0">
                          <a:solidFill>
                            <a:srgbClr val="000000"/>
                          </a:solidFill>
                          <a:latin typeface="Calibri"/>
                        </a:rPr>
                        <a:t>23%</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23%</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22%</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8063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EBIT</a:t>
                      </a:r>
                    </a:p>
                  </a:txBody>
                  <a:tcPr marL="18288"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rtl="0" fontAlgn="b"/>
                      <a:r>
                        <a:rPr lang="en-US" sz="1200" b="0" i="0" u="none" strike="noStrike" dirty="0" smtClean="0">
                          <a:solidFill>
                            <a:srgbClr val="000000"/>
                          </a:solidFill>
                          <a:latin typeface="Calibri"/>
                        </a:rPr>
                        <a:t>12%</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11%</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10%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8063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SG&amp;A</a:t>
                      </a:r>
                    </a:p>
                  </a:txBody>
                  <a:tcPr marL="18288"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rtl="0" fontAlgn="b"/>
                      <a:r>
                        <a:rPr lang="en-US" sz="1200" b="0" i="0" u="none" strike="noStrike" dirty="0" smtClean="0">
                          <a:solidFill>
                            <a:srgbClr val="000000"/>
                          </a:solidFill>
                          <a:latin typeface="Calibri"/>
                        </a:rPr>
                        <a:t>5%</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6%</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6%</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8063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COGS</a:t>
                      </a:r>
                    </a:p>
                  </a:txBody>
                  <a:tcPr marL="18288"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rtl="0" fontAlgn="b"/>
                      <a:r>
                        <a:rPr lang="en-US" sz="1200" b="0" i="0" u="none" strike="noStrike" dirty="0" smtClean="0">
                          <a:solidFill>
                            <a:srgbClr val="000000"/>
                          </a:solidFill>
                          <a:latin typeface="Calibri"/>
                        </a:rPr>
                        <a:t>77%</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77%</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78%</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bl>
          </a:graphicData>
        </a:graphic>
      </p:graphicFrame>
      <p:sp>
        <p:nvSpPr>
          <p:cNvPr id="41" name="Rectangle 40"/>
          <p:cNvSpPr/>
          <p:nvPr/>
        </p:nvSpPr>
        <p:spPr>
          <a:xfrm>
            <a:off x="4888930" y="5964588"/>
            <a:ext cx="3033203" cy="246221"/>
          </a:xfrm>
          <a:prstGeom prst="rect">
            <a:avLst/>
          </a:prstGeom>
        </p:spPr>
        <p:txBody>
          <a:bodyPr wrap="none">
            <a:spAutoFit/>
          </a:bodyPr>
          <a:lstStyle/>
          <a:p>
            <a:r>
              <a:rPr lang="en-US" sz="1000" b="1" dirty="0">
                <a:solidFill>
                  <a:srgbClr val="000000"/>
                </a:solidFill>
                <a:latin typeface="Arial"/>
                <a:cs typeface="Arial" charset="0"/>
              </a:rPr>
              <a:t>Note: Contains all sales </a:t>
            </a:r>
            <a:r>
              <a:rPr lang="en-US" sz="1000" b="1" dirty="0" smtClean="0">
                <a:solidFill>
                  <a:srgbClr val="000000"/>
                </a:solidFill>
                <a:latin typeface="Arial"/>
                <a:cs typeface="Arial" charset="0"/>
              </a:rPr>
              <a:t>of Tea Brand Products</a:t>
            </a:r>
            <a:endParaRPr lang="en-US" sz="1000" b="1" dirty="0">
              <a:solidFill>
                <a:srgbClr val="000000"/>
              </a:solidFill>
              <a:latin typeface="Arial"/>
              <a:cs typeface="Arial" charset="0"/>
            </a:endParaRPr>
          </a:p>
        </p:txBody>
      </p:sp>
      <p:grpSp>
        <p:nvGrpSpPr>
          <p:cNvPr id="6" name="Group 20"/>
          <p:cNvGrpSpPr>
            <a:grpSpLocks/>
          </p:cNvGrpSpPr>
          <p:nvPr/>
        </p:nvGrpSpPr>
        <p:grpSpPr bwMode="auto">
          <a:xfrm>
            <a:off x="571498" y="2438400"/>
            <a:ext cx="3840163" cy="200025"/>
            <a:chOff x="476250" y="4019117"/>
            <a:chExt cx="3935413" cy="200025"/>
          </a:xfrm>
        </p:grpSpPr>
        <p:sp>
          <p:nvSpPr>
            <p:cNvPr id="44" name="Line 47"/>
            <p:cNvSpPr>
              <a:spLocks noChangeShapeType="1"/>
            </p:cNvSpPr>
            <p:nvPr/>
          </p:nvSpPr>
          <p:spPr bwMode="gray">
            <a:xfrm>
              <a:off x="476250" y="4105275"/>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charset="0"/>
              </a:endParaRPr>
            </a:p>
          </p:txBody>
        </p:sp>
        <p:sp>
          <p:nvSpPr>
            <p:cNvPr id="45" name="Rectangle 25"/>
            <p:cNvSpPr>
              <a:spLocks noChangeArrowheads="1"/>
            </p:cNvSpPr>
            <p:nvPr/>
          </p:nvSpPr>
          <p:spPr bwMode="gray">
            <a:xfrm>
              <a:off x="1310709" y="4019117"/>
              <a:ext cx="2250100" cy="200025"/>
            </a:xfrm>
            <a:prstGeom prst="rect">
              <a:avLst/>
            </a:prstGeom>
            <a:solidFill>
              <a:schemeClr val="bg1"/>
            </a:solidFill>
            <a:ln w="9525" algn="ctr">
              <a:noFill/>
              <a:miter lim="800000"/>
              <a:headEnd/>
              <a:tailEnd/>
            </a:ln>
          </p:spPr>
          <p:txBody>
            <a:bodyPr lIns="0" tIns="0" rIns="0" bIns="0"/>
            <a:lstStyle/>
            <a:p>
              <a:pPr marL="0" lvl="1" indent="1588" algn="ctr" eaLnBrk="0" hangingPunct="0">
                <a:lnSpc>
                  <a:spcPct val="106000"/>
                </a:lnSpc>
                <a:buClr>
                  <a:srgbClr val="000000"/>
                </a:buClr>
                <a:buFont typeface="Wingdings 2" pitchFamily="18" charset="2"/>
                <a:buNone/>
              </a:pPr>
              <a:r>
                <a:rPr lang="en-US" sz="1100" b="1" dirty="0">
                  <a:solidFill>
                    <a:srgbClr val="000000"/>
                  </a:solidFill>
                  <a:latin typeface="Arial"/>
                  <a:cs typeface="Arial" charset="0"/>
                </a:rPr>
                <a:t>Brand vs. Channel Sales </a:t>
              </a:r>
              <a:r>
                <a:rPr lang="en-US" sz="1100" b="1" dirty="0" smtClean="0">
                  <a:solidFill>
                    <a:srgbClr val="000000"/>
                  </a:solidFill>
                  <a:latin typeface="Arial"/>
                  <a:cs typeface="Arial" charset="0"/>
                </a:rPr>
                <a:t>CY2011</a:t>
              </a:r>
              <a:endParaRPr lang="en-US" sz="1100" b="1" dirty="0">
                <a:solidFill>
                  <a:srgbClr val="000000"/>
                </a:solidFill>
                <a:latin typeface="Arial"/>
                <a:cs typeface="Arial" charset="0"/>
              </a:endParaRPr>
            </a:p>
            <a:p>
              <a:pPr marL="169863" lvl="1" indent="-168275" algn="ctr" eaLnBrk="0" hangingPunct="0">
                <a:lnSpc>
                  <a:spcPct val="106000"/>
                </a:lnSpc>
                <a:buClr>
                  <a:srgbClr val="000000"/>
                </a:buClr>
                <a:buFont typeface="Wingdings 2" pitchFamily="18" charset="2"/>
                <a:buNone/>
              </a:pPr>
              <a:endParaRPr lang="en-US" sz="1000" b="1" dirty="0">
                <a:solidFill>
                  <a:srgbClr val="000000"/>
                </a:solidFill>
                <a:latin typeface="Arial"/>
                <a:cs typeface="Arial" charset="0"/>
              </a:endParaRPr>
            </a:p>
          </p:txBody>
        </p:sp>
      </p:grpSp>
      <p:graphicFrame>
        <p:nvGraphicFramePr>
          <p:cNvPr id="46" name="Group 46"/>
          <p:cNvGraphicFramePr>
            <a:graphicFrameLocks/>
          </p:cNvGraphicFramePr>
          <p:nvPr>
            <p:extLst/>
          </p:nvPr>
        </p:nvGraphicFramePr>
        <p:xfrm>
          <a:off x="582612" y="2735216"/>
          <a:ext cx="3829051" cy="1388474"/>
        </p:xfrm>
        <a:graphic>
          <a:graphicData uri="http://schemas.openxmlformats.org/drawingml/2006/table">
            <a:tbl>
              <a:tblPr/>
              <a:tblGrid>
                <a:gridCol w="681643"/>
                <a:gridCol w="832883"/>
                <a:gridCol w="832883"/>
                <a:gridCol w="740821"/>
                <a:gridCol w="740821"/>
              </a:tblGrid>
              <a:tr h="434896">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tx1"/>
                          </a:solidFill>
                          <a:effectLst/>
                          <a:latin typeface="Arial" charset="0"/>
                        </a:rPr>
                        <a:t>($M)</a:t>
                      </a:r>
                    </a:p>
                  </a:txBody>
                  <a:tcPr marL="73152" marR="73152" marT="73152" marB="7315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Coffee branded  retail stores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066B2"/>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Tea branded retail stores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066B2"/>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Coffee branded outlets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Wholesale</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r>
              <a:tr h="394522">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ysClr val="windowText" lastClr="000000"/>
                          </a:solidFill>
                          <a:effectLst/>
                          <a:latin typeface="Arial" charset="0"/>
                        </a:rPr>
                        <a:t>Coffee Brand products</a:t>
                      </a:r>
                    </a:p>
                  </a:txBody>
                  <a:tcPr marL="18288"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rtl="0" fontAlgn="b"/>
                      <a:r>
                        <a:rPr lang="en-US" sz="1200" b="0" i="0" u="none" strike="noStrike" dirty="0" smtClean="0">
                          <a:solidFill>
                            <a:srgbClr val="000000"/>
                          </a:solidFill>
                          <a:latin typeface="Calibri"/>
                        </a:rPr>
                        <a:t>180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rtl="0" fontAlgn="b"/>
                      <a:r>
                        <a:rPr lang="en-US" sz="1200" b="0" i="0" u="none" strike="noStrike" dirty="0" smtClean="0">
                          <a:solidFill>
                            <a:srgbClr val="000000"/>
                          </a:solidFill>
                          <a:latin typeface="Calibri"/>
                        </a:rPr>
                        <a:t>10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120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540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394522">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ysClr val="windowText" lastClr="000000"/>
                          </a:solidFill>
                          <a:effectLst/>
                          <a:latin typeface="Arial" charset="0"/>
                        </a:rPr>
                        <a:t>Tea Brand products</a:t>
                      </a:r>
                    </a:p>
                  </a:txBody>
                  <a:tcPr marL="18288"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rtl="0" fontAlgn="b"/>
                      <a:r>
                        <a:rPr lang="en-US" sz="1200" b="0" i="0" u="none" strike="noStrike" dirty="0" smtClean="0">
                          <a:solidFill>
                            <a:srgbClr val="000000"/>
                          </a:solidFill>
                          <a:latin typeface="Calibri"/>
                        </a:rPr>
                        <a:t>20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rtl="0" fontAlgn="b"/>
                      <a:r>
                        <a:rPr lang="en-US" sz="1200" b="0" i="0" u="none" strike="noStrike" dirty="0" smtClean="0">
                          <a:solidFill>
                            <a:srgbClr val="000000"/>
                          </a:solidFill>
                          <a:latin typeface="Calibri"/>
                        </a:rPr>
                        <a:t>10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a:solidFill>
                            <a:srgbClr val="000000"/>
                          </a:solidFill>
                          <a:latin typeface="Calibri"/>
                        </a:rPr>
                        <a:t>30</a:t>
                      </a: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200" b="0" i="0" u="none" strike="noStrike" dirty="0" smtClean="0">
                          <a:solidFill>
                            <a:srgbClr val="000000"/>
                          </a:solidFill>
                          <a:latin typeface="Calibri"/>
                        </a:rPr>
                        <a:t>60</a:t>
                      </a:r>
                      <a:endParaRPr lang="en-US" sz="12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bl>
          </a:graphicData>
        </a:graphic>
      </p:graphicFrame>
      <p:sp>
        <p:nvSpPr>
          <p:cNvPr id="47" name="Rectangle 46"/>
          <p:cNvSpPr/>
          <p:nvPr/>
        </p:nvSpPr>
        <p:spPr>
          <a:xfrm>
            <a:off x="596576" y="6153090"/>
            <a:ext cx="3899224" cy="400110"/>
          </a:xfrm>
          <a:prstGeom prst="rect">
            <a:avLst/>
          </a:prstGeom>
        </p:spPr>
        <p:txBody>
          <a:bodyPr wrap="square">
            <a:spAutoFit/>
          </a:bodyPr>
          <a:lstStyle/>
          <a:p>
            <a:pPr>
              <a:tabLst>
                <a:tab pos="344488" algn="l"/>
              </a:tabLst>
            </a:pPr>
            <a:r>
              <a:rPr lang="en-US" sz="1000" b="1" dirty="0" smtClean="0">
                <a:solidFill>
                  <a:srgbClr val="000000"/>
                </a:solidFill>
                <a:latin typeface="Arial"/>
                <a:cs typeface="Arial" charset="0"/>
              </a:rPr>
              <a:t>Note: All </a:t>
            </a:r>
            <a:r>
              <a:rPr lang="en-US" sz="1000" b="1" dirty="0">
                <a:solidFill>
                  <a:srgbClr val="000000"/>
                </a:solidFill>
                <a:latin typeface="Arial"/>
                <a:cs typeface="Arial" charset="0"/>
              </a:rPr>
              <a:t>store closings </a:t>
            </a:r>
            <a:r>
              <a:rPr lang="en-US" sz="1000" b="1" dirty="0" smtClean="0">
                <a:solidFill>
                  <a:srgbClr val="000000"/>
                </a:solidFill>
                <a:latin typeface="Arial"/>
                <a:cs typeface="Arial" charset="0"/>
              </a:rPr>
              <a:t>and openings occur </a:t>
            </a:r>
            <a:r>
              <a:rPr lang="en-US" sz="1000" b="1" dirty="0">
                <a:solidFill>
                  <a:srgbClr val="000000"/>
                </a:solidFill>
                <a:latin typeface="Arial"/>
                <a:cs typeface="Arial" charset="0"/>
              </a:rPr>
              <a:t>at the </a:t>
            </a:r>
            <a:r>
              <a:rPr lang="en-US" sz="1000" b="1" dirty="0" smtClean="0">
                <a:solidFill>
                  <a:srgbClr val="000000"/>
                </a:solidFill>
                <a:latin typeface="Arial"/>
                <a:cs typeface="Arial" charset="0"/>
              </a:rPr>
              <a:t>start of </a:t>
            </a:r>
            <a:r>
              <a:rPr lang="en-US" sz="1000" b="1" dirty="0">
                <a:solidFill>
                  <a:srgbClr val="000000"/>
                </a:solidFill>
                <a:latin typeface="Arial"/>
                <a:cs typeface="Arial" charset="0"/>
              </a:rPr>
              <a:t>the </a:t>
            </a:r>
            <a:r>
              <a:rPr lang="en-US" sz="1000" b="1" dirty="0" smtClean="0">
                <a:solidFill>
                  <a:srgbClr val="000000"/>
                </a:solidFill>
                <a:latin typeface="Arial"/>
                <a:cs typeface="Arial" charset="0"/>
              </a:rPr>
              <a:t>calendar year. Number </a:t>
            </a:r>
            <a:r>
              <a:rPr lang="en-US" sz="1000" b="1" dirty="0">
                <a:solidFill>
                  <a:srgbClr val="000000"/>
                </a:solidFill>
                <a:latin typeface="Arial"/>
                <a:cs typeface="Arial" charset="0"/>
              </a:rPr>
              <a:t>of outlet stores remains constant</a:t>
            </a:r>
          </a:p>
        </p:txBody>
      </p:sp>
      <p:sp>
        <p:nvSpPr>
          <p:cNvPr id="28" name="Rectangle 27"/>
          <p:cNvSpPr/>
          <p:nvPr/>
        </p:nvSpPr>
        <p:spPr>
          <a:xfrm>
            <a:off x="612503" y="4191000"/>
            <a:ext cx="3799157" cy="400110"/>
          </a:xfrm>
          <a:prstGeom prst="rect">
            <a:avLst/>
          </a:prstGeom>
        </p:spPr>
        <p:txBody>
          <a:bodyPr wrap="square">
            <a:spAutoFit/>
          </a:bodyPr>
          <a:lstStyle/>
          <a:p>
            <a:pPr>
              <a:tabLst>
                <a:tab pos="344488" algn="l"/>
              </a:tabLst>
            </a:pPr>
            <a:r>
              <a:rPr lang="en-US" sz="1000" b="1" dirty="0">
                <a:solidFill>
                  <a:srgbClr val="000000"/>
                </a:solidFill>
                <a:latin typeface="Arial"/>
                <a:cs typeface="Arial" charset="0"/>
              </a:rPr>
              <a:t>Note: </a:t>
            </a:r>
            <a:r>
              <a:rPr lang="en-US" sz="1000" b="1" dirty="0" smtClean="0">
                <a:solidFill>
                  <a:srgbClr val="000000"/>
                </a:solidFill>
                <a:latin typeface="Arial"/>
                <a:cs typeface="Arial" charset="0"/>
              </a:rPr>
              <a:t>Sales in the Wholesale channel are expected to remain unchanged in CY2012</a:t>
            </a:r>
            <a:endParaRPr lang="en-US" sz="1000" b="1" dirty="0">
              <a:solidFill>
                <a:srgbClr val="000000"/>
              </a:solidFill>
              <a:latin typeface="Arial"/>
              <a:cs typeface="Arial" charset="0"/>
            </a:endParaRPr>
          </a:p>
        </p:txBody>
      </p:sp>
    </p:spTree>
    <p:extLst>
      <p:ext uri="{BB962C8B-B14F-4D97-AF65-F5344CB8AC3E}">
        <p14:creationId xmlns:p14="http://schemas.microsoft.com/office/powerpoint/2010/main" val="3818444033"/>
      </p:ext>
    </p:extLst>
  </p:cSld>
  <p:clrMapOvr>
    <a:masterClrMapping/>
  </p:clrMapOvr>
  <p:timing>
    <p:tnLst>
      <p:par>
        <p:cTn xmlns:p14="http://schemas.microsoft.com/office/powerpoint/2010/mai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99" name="Group 15"/>
          <p:cNvGraphicFramePr>
            <a:graphicFrameLocks noGrp="1"/>
          </p:cNvGraphicFramePr>
          <p:nvPr>
            <p:ph sz="half" idx="1"/>
            <p:extLst/>
          </p:nvPr>
        </p:nvGraphicFramePr>
        <p:xfrm>
          <a:off x="396875" y="901699"/>
          <a:ext cx="8340725" cy="4950461"/>
        </p:xfrm>
        <a:graphic>
          <a:graphicData uri="http://schemas.openxmlformats.org/drawingml/2006/table">
            <a:tbl>
              <a:tblPr/>
              <a:tblGrid>
                <a:gridCol w="8340725"/>
              </a:tblGrid>
              <a:tr h="321437">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600" b="1" i="0" u="none" strike="noStrike" cap="none" normalizeH="0" baseline="0" dirty="0" smtClean="0">
                          <a:ln>
                            <a:noFill/>
                          </a:ln>
                          <a:solidFill>
                            <a:schemeClr val="tx1"/>
                          </a:solidFill>
                          <a:effectLst/>
                          <a:latin typeface="Arial" charset="0"/>
                        </a:rPr>
                        <a:t>Prompt Questions and Responses </a:t>
                      </a:r>
                      <a:r>
                        <a:rPr kumimoji="0" lang="en-US" sz="1100" b="1" i="0" u="none" strike="noStrike" cap="none" normalizeH="0" baseline="0" dirty="0" smtClean="0">
                          <a:ln>
                            <a:noFill/>
                          </a:ln>
                          <a:solidFill>
                            <a:schemeClr val="tx1"/>
                          </a:solidFill>
                          <a:effectLst/>
                          <a:latin typeface="Arial" charset="0"/>
                        </a:rPr>
                        <a:t>(For interviewer reference ONLY)</a:t>
                      </a:r>
                      <a:r>
                        <a:rPr kumimoji="0" lang="en-US" sz="1600" b="1" i="0" u="none" strike="noStrike" cap="none" normalizeH="0" baseline="0" dirty="0" smtClean="0">
                          <a:ln>
                            <a:noFill/>
                          </a:ln>
                          <a:solidFill>
                            <a:schemeClr val="tx1"/>
                          </a:solidFill>
                          <a:effectLst/>
                          <a:latin typeface="Arial" charset="0"/>
                        </a:rPr>
                        <a:t>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4560317">
                <a:tc>
                  <a:txBody>
                    <a:bodyPr/>
                    <a:lstStyle/>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1a. Using the terms of the sale from the data sheet, find the associated revenues for 2012 that the buyer would receive from buying Tea? </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1" u="none" strike="noStrike" cap="none" normalizeH="0" baseline="0" dirty="0" smtClean="0">
                          <a:ln>
                            <a:noFill/>
                          </a:ln>
                          <a:solidFill>
                            <a:schemeClr val="tx1"/>
                          </a:solidFill>
                          <a:effectLst/>
                          <a:latin typeface="Arial" charset="0"/>
                        </a:rPr>
                        <a:t>(Note to interviewer: Please provide candidate with data sheet)</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400" b="1"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General Approach: </a:t>
                      </a:r>
                      <a:r>
                        <a:rPr kumimoji="0" lang="en-US" sz="1400" b="1" i="1" u="none" strike="noStrike" cap="none" normalizeH="0" baseline="0" dirty="0" smtClean="0">
                          <a:ln>
                            <a:noFill/>
                          </a:ln>
                          <a:solidFill>
                            <a:schemeClr val="tx1"/>
                          </a:solidFill>
                          <a:effectLst/>
                          <a:latin typeface="Arial" charset="0"/>
                        </a:rPr>
                        <a:t>(Interviewer can mention that the terms of the sale are available on the data sheet given their importance)</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40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Candidate should do the following:</a:t>
                      </a:r>
                    </a:p>
                    <a:p>
                      <a:pPr marL="466725" marR="0" lvl="0" indent="-228600" algn="l" defTabSz="914400" rtl="0" eaLnBrk="1" fontAlgn="base" latinLnBrk="0" hangingPunct="1">
                        <a:lnSpc>
                          <a:spcPct val="100000"/>
                        </a:lnSpc>
                        <a:spcBef>
                          <a:spcPct val="0"/>
                        </a:spcBef>
                        <a:spcAft>
                          <a:spcPct val="0"/>
                        </a:spcAft>
                        <a:buClr>
                          <a:schemeClr val="tx1"/>
                        </a:buClr>
                        <a:buSzPct val="80000"/>
                        <a:buFont typeface="+mj-lt"/>
                        <a:buAutoNum type="arabicPeriod"/>
                        <a:tabLst/>
                      </a:pPr>
                      <a:r>
                        <a:rPr kumimoji="0" lang="en-US" sz="1400" b="0" i="0" u="none" strike="noStrike" cap="none" normalizeH="0" baseline="0" dirty="0" smtClean="0">
                          <a:ln>
                            <a:noFill/>
                          </a:ln>
                          <a:solidFill>
                            <a:schemeClr val="tx1"/>
                          </a:solidFill>
                          <a:effectLst/>
                          <a:latin typeface="Arial" charset="0"/>
                        </a:rPr>
                        <a:t>Isolate the revenues of the part of the business being put up for sale</a:t>
                      </a:r>
                    </a:p>
                    <a:p>
                      <a:pPr marL="466725" marR="0" lvl="0" indent="-228600" algn="l" defTabSz="914400" rtl="0" eaLnBrk="1" fontAlgn="base" latinLnBrk="0" hangingPunct="1">
                        <a:lnSpc>
                          <a:spcPct val="100000"/>
                        </a:lnSpc>
                        <a:spcBef>
                          <a:spcPct val="0"/>
                        </a:spcBef>
                        <a:spcAft>
                          <a:spcPct val="0"/>
                        </a:spcAft>
                        <a:buClr>
                          <a:schemeClr val="tx1"/>
                        </a:buClr>
                        <a:buSzPct val="80000"/>
                        <a:buFont typeface="+mj-lt"/>
                        <a:buAutoNum type="arabicPeriod"/>
                        <a:tabLst/>
                      </a:pPr>
                      <a:r>
                        <a:rPr kumimoji="0" lang="en-US" sz="1400" b="0" i="0" u="none" strike="noStrike" cap="none" normalizeH="0" baseline="0" dirty="0" smtClean="0">
                          <a:ln>
                            <a:noFill/>
                          </a:ln>
                          <a:solidFill>
                            <a:schemeClr val="tx1"/>
                          </a:solidFill>
                          <a:effectLst/>
                          <a:latin typeface="Arial" charset="0"/>
                        </a:rPr>
                        <a:t>Scale the Tea retail revenues by the proportion of stores that will remain open at the beginning of 2011 (20/32 = 0.625)</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400" b="0" i="0" u="none" strike="noStrike" cap="none" normalizeH="0" baseline="0" dirty="0" smtClean="0">
                        <a:ln>
                          <a:noFill/>
                        </a:ln>
                        <a:solidFill>
                          <a:schemeClr val="tx1"/>
                        </a:solidFill>
                        <a:effectLst/>
                        <a:latin typeface="Arial" charset="0"/>
                      </a:endParaRPr>
                    </a:p>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A </a:t>
                      </a:r>
                      <a:r>
                        <a:rPr kumimoji="0" lang="en-US" sz="1400" b="1" i="0" u="none" strike="noStrike" cap="none" normalizeH="0" baseline="0" dirty="0" smtClean="0">
                          <a:ln>
                            <a:noFill/>
                          </a:ln>
                          <a:solidFill>
                            <a:schemeClr val="tx1"/>
                          </a:solidFill>
                          <a:effectLst/>
                          <a:latin typeface="Arial" charset="0"/>
                        </a:rPr>
                        <a:t>good answer</a:t>
                      </a:r>
                      <a:r>
                        <a:rPr kumimoji="0" lang="en-US" sz="1400" b="0" i="0" u="none" strike="noStrike" cap="none" normalizeH="0" baseline="0" dirty="0" smtClean="0">
                          <a:ln>
                            <a:noFill/>
                          </a:ln>
                          <a:solidFill>
                            <a:schemeClr val="tx1"/>
                          </a:solidFill>
                          <a:effectLst/>
                          <a:latin typeface="Arial" charset="0"/>
                        </a:rPr>
                        <a:t> will isolate the likely revenues based on the terms of business for sale and scale the retail stores by the amount of stores open at the beginning of 2012:</a:t>
                      </a:r>
                    </a:p>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9162" name="Rectangle 2"/>
          <p:cNvSpPr>
            <a:spLocks noGrp="1" noChangeArrowheads="1"/>
          </p:cNvSpPr>
          <p:nvPr>
            <p:ph type="title"/>
          </p:nvPr>
        </p:nvSpPr>
        <p:spPr>
          <a:xfrm>
            <a:off x="401638" y="512144"/>
            <a:ext cx="8345487" cy="260969"/>
          </a:xfrm>
        </p:spPr>
        <p:txBody>
          <a:bodyPr/>
          <a:lstStyle/>
          <a:p>
            <a:pPr eaLnBrk="1" hangingPunct="1"/>
            <a:r>
              <a:rPr lang="en-US" dirty="0" smtClean="0"/>
              <a:t>Brand Carve Out – Isolate Revenues for Sell &amp; Hold Scenarios</a:t>
            </a:r>
          </a:p>
        </p:txBody>
      </p:sp>
      <p:graphicFrame>
        <p:nvGraphicFramePr>
          <p:cNvPr id="7" name="Group 46"/>
          <p:cNvGraphicFramePr>
            <a:graphicFrameLocks/>
          </p:cNvGraphicFramePr>
          <p:nvPr>
            <p:extLst/>
          </p:nvPr>
        </p:nvGraphicFramePr>
        <p:xfrm>
          <a:off x="1295400" y="4724400"/>
          <a:ext cx="6267451" cy="769620"/>
        </p:xfrm>
        <a:graphic>
          <a:graphicData uri="http://schemas.openxmlformats.org/drawingml/2006/table">
            <a:tbl>
              <a:tblPr/>
              <a:tblGrid>
                <a:gridCol w="925531"/>
                <a:gridCol w="1068384"/>
                <a:gridCol w="1068384"/>
                <a:gridCol w="1068384"/>
                <a:gridCol w="1068384"/>
                <a:gridCol w="1068384"/>
              </a:tblGrid>
              <a:tr h="17839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tx1"/>
                          </a:solidFill>
                          <a:effectLst/>
                          <a:latin typeface="Arial" charset="0"/>
                        </a:rPr>
                        <a:t>($M)</a:t>
                      </a:r>
                    </a:p>
                  </a:txBody>
                  <a:tcPr marL="73152" marR="73152" marT="73152" marB="7315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Coffee branded  retail stores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066B2"/>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Tea branded retail stores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066B2"/>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Coffee branded outlets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Wholesale</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bg1"/>
                          </a:solidFill>
                          <a:effectLst/>
                          <a:latin typeface="Arial" charset="0"/>
                        </a:rPr>
                        <a:t>Total Revenues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r>
              <a:tr h="20261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tx1"/>
                          </a:solidFill>
                          <a:effectLst/>
                          <a:latin typeface="Arial" charset="0"/>
                        </a:rPr>
                        <a:t>Tea Revenues</a:t>
                      </a:r>
                    </a:p>
                  </a:txBody>
                  <a:tcPr marL="18288"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rtl="0" fontAlgn="b"/>
                      <a:r>
                        <a:rPr lang="en-US" sz="1400" b="0" i="0" u="none" strike="noStrike" dirty="0" smtClean="0">
                          <a:solidFill>
                            <a:schemeClr val="tx1"/>
                          </a:solidFill>
                          <a:latin typeface="Calibri"/>
                        </a:rPr>
                        <a:t>-</a:t>
                      </a:r>
                      <a:endParaRPr lang="en-US" sz="1400" b="0" i="0" u="none" strike="noStrike" dirty="0">
                        <a:solidFill>
                          <a:schemeClr val="tx1"/>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rtl="0" fontAlgn="b"/>
                      <a:r>
                        <a:rPr lang="en-US" sz="1400" b="0" i="0" u="none" strike="noStrike" dirty="0" smtClean="0">
                          <a:solidFill>
                            <a:schemeClr val="tx1"/>
                          </a:solidFill>
                          <a:latin typeface="Calibri"/>
                        </a:rPr>
                        <a:t>6.25</a:t>
                      </a:r>
                    </a:p>
                    <a:p>
                      <a:pPr algn="ctr" rtl="0" fontAlgn="b"/>
                      <a:r>
                        <a:rPr lang="en-US" sz="1050" b="0" i="0" u="none" strike="noStrike" dirty="0" smtClean="0">
                          <a:solidFill>
                            <a:schemeClr val="tx1"/>
                          </a:solidFill>
                          <a:latin typeface="Calibri"/>
                        </a:rPr>
                        <a:t>(10 x 0.625)</a:t>
                      </a:r>
                      <a:endParaRPr lang="en-US" sz="1050" b="0" i="0" u="none" strike="noStrike" dirty="0">
                        <a:solidFill>
                          <a:schemeClr val="tx1"/>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400" b="0" i="0" u="none" strike="noStrike" dirty="0" smtClean="0">
                          <a:solidFill>
                            <a:schemeClr val="tx1"/>
                          </a:solidFill>
                          <a:latin typeface="Calibri"/>
                        </a:rPr>
                        <a:t>-</a:t>
                      </a:r>
                      <a:endParaRPr lang="en-US" sz="1400" b="0" i="0" u="none" strike="noStrike" dirty="0">
                        <a:solidFill>
                          <a:schemeClr val="tx1"/>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400" b="0" i="0" u="none" strike="noStrike" dirty="0" smtClean="0">
                          <a:solidFill>
                            <a:schemeClr val="tx1"/>
                          </a:solidFill>
                          <a:latin typeface="Calibri"/>
                        </a:rPr>
                        <a:t>60</a:t>
                      </a:r>
                      <a:endParaRPr lang="en-US" sz="1400" b="0" i="0" u="none" strike="noStrike" dirty="0">
                        <a:solidFill>
                          <a:schemeClr val="tx1"/>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400" b="1" i="0" u="none" strike="noStrike" dirty="0" smtClean="0">
                          <a:solidFill>
                            <a:schemeClr val="tx1"/>
                          </a:solidFill>
                          <a:latin typeface="Calibri"/>
                        </a:rPr>
                        <a:t>66.25</a:t>
                      </a:r>
                      <a:endParaRPr lang="en-US" sz="1400" b="1" i="0" u="none" strike="noStrike" dirty="0">
                        <a:solidFill>
                          <a:schemeClr val="tx1"/>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bl>
          </a:graphicData>
        </a:graphic>
      </p:graphicFrame>
    </p:spTree>
    <p:extLst>
      <p:ext uri="{BB962C8B-B14F-4D97-AF65-F5344CB8AC3E}">
        <p14:creationId xmlns:p14="http://schemas.microsoft.com/office/powerpoint/2010/main" val="2855417181"/>
      </p:ext>
    </p:extLst>
  </p:cSld>
  <p:clrMapOvr>
    <a:masterClrMapping/>
  </p:clrMapOvr>
  <p:timing>
    <p:tnLst>
      <p:par>
        <p:cTn xmlns:p14="http://schemas.microsoft.com/office/powerpoint/2010/mai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99" name="Group 15"/>
          <p:cNvGraphicFramePr>
            <a:graphicFrameLocks noGrp="1"/>
          </p:cNvGraphicFramePr>
          <p:nvPr>
            <p:ph sz="half" idx="1"/>
            <p:extLst/>
          </p:nvPr>
        </p:nvGraphicFramePr>
        <p:xfrm>
          <a:off x="396875" y="901699"/>
          <a:ext cx="8340725" cy="3594101"/>
        </p:xfrm>
        <a:graphic>
          <a:graphicData uri="http://schemas.openxmlformats.org/drawingml/2006/table">
            <a:tbl>
              <a:tblPr/>
              <a:tblGrid>
                <a:gridCol w="8340725"/>
              </a:tblGrid>
              <a:tr h="321437">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600" b="1" i="0" u="none" strike="noStrike" cap="none" normalizeH="0" baseline="0" dirty="0" smtClean="0">
                          <a:ln>
                            <a:noFill/>
                          </a:ln>
                          <a:solidFill>
                            <a:schemeClr val="tx1"/>
                          </a:solidFill>
                          <a:effectLst/>
                          <a:latin typeface="Arial" charset="0"/>
                        </a:rPr>
                        <a:t>Prompt Questions and Responses </a:t>
                      </a:r>
                      <a:r>
                        <a:rPr kumimoji="0" lang="en-US" sz="1100" b="1" i="0" u="none" strike="noStrike" cap="none" normalizeH="0" baseline="0" dirty="0" smtClean="0">
                          <a:ln>
                            <a:noFill/>
                          </a:ln>
                          <a:solidFill>
                            <a:schemeClr val="tx1"/>
                          </a:solidFill>
                          <a:effectLst/>
                          <a:latin typeface="Arial" charset="0"/>
                        </a:rPr>
                        <a:t>(For interviewer reference ONLY)</a:t>
                      </a:r>
                      <a:r>
                        <a:rPr kumimoji="0" lang="en-US" sz="1600" b="1" i="0" u="none" strike="noStrike" cap="none" normalizeH="0" baseline="0" dirty="0" smtClean="0">
                          <a:ln>
                            <a:noFill/>
                          </a:ln>
                          <a:solidFill>
                            <a:schemeClr val="tx1"/>
                          </a:solidFill>
                          <a:effectLst/>
                          <a:latin typeface="Arial" charset="0"/>
                        </a:rPr>
                        <a:t>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3203957">
                <a:tc>
                  <a:txBody>
                    <a:bodyPr/>
                    <a:lstStyle/>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1b. Using the terms of the sale from the data sheet, find the associated 2012 revenue that Coffee could maintain by not selling Tea? </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400" b="1"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General Approach:</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Candidate should do the following:</a:t>
                      </a:r>
                    </a:p>
                    <a:p>
                      <a:pPr marL="466725" marR="0" lvl="0" indent="-228600" algn="l" defTabSz="914400" rtl="0" eaLnBrk="1" fontAlgn="base" latinLnBrk="0" hangingPunct="1">
                        <a:lnSpc>
                          <a:spcPct val="100000"/>
                        </a:lnSpc>
                        <a:spcBef>
                          <a:spcPct val="0"/>
                        </a:spcBef>
                        <a:spcAft>
                          <a:spcPct val="0"/>
                        </a:spcAft>
                        <a:buClr>
                          <a:schemeClr val="tx1"/>
                        </a:buClr>
                        <a:buSzPct val="80000"/>
                        <a:buFont typeface="+mj-lt"/>
                        <a:buAutoNum type="arabicPeriod"/>
                        <a:tabLst/>
                      </a:pPr>
                      <a:r>
                        <a:rPr kumimoji="0" lang="en-US" sz="1400" b="0" i="0" u="none" strike="noStrike" cap="none" normalizeH="0" baseline="0" dirty="0" smtClean="0">
                          <a:ln>
                            <a:noFill/>
                          </a:ln>
                          <a:solidFill>
                            <a:schemeClr val="tx1"/>
                          </a:solidFill>
                          <a:effectLst/>
                          <a:latin typeface="Arial" charset="0"/>
                        </a:rPr>
                        <a:t>Isolate the revenues of Tea sales through all channels</a:t>
                      </a:r>
                    </a:p>
                    <a:p>
                      <a:pPr marL="466725" marR="0" lvl="0" indent="-228600" algn="l" defTabSz="914400" rtl="0" eaLnBrk="1" fontAlgn="base" latinLnBrk="0" hangingPunct="1">
                        <a:lnSpc>
                          <a:spcPct val="100000"/>
                        </a:lnSpc>
                        <a:spcBef>
                          <a:spcPct val="0"/>
                        </a:spcBef>
                        <a:spcAft>
                          <a:spcPct val="0"/>
                        </a:spcAft>
                        <a:buClr>
                          <a:schemeClr val="tx1"/>
                        </a:buClr>
                        <a:buSzPct val="80000"/>
                        <a:buFont typeface="+mj-lt"/>
                        <a:buAutoNum type="arabicPeriod"/>
                        <a:tabLst/>
                      </a:pPr>
                      <a:r>
                        <a:rPr kumimoji="0" lang="en-US" sz="1400" b="0" i="0" u="none" strike="noStrike" cap="none" normalizeH="0" baseline="0" dirty="0" smtClean="0">
                          <a:ln>
                            <a:noFill/>
                          </a:ln>
                          <a:solidFill>
                            <a:schemeClr val="tx1"/>
                          </a:solidFill>
                          <a:effectLst/>
                          <a:latin typeface="Arial" charset="0"/>
                        </a:rPr>
                        <a:t>Scale the retail revenues by the proportion of stores open at beginning of the year: number of Tea retail stores goes down (20/32 = 0.625); number of Coffee retail stores goes up (150/125 = 1.2)</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9162" name="Rectangle 2"/>
          <p:cNvSpPr>
            <a:spLocks noGrp="1" noChangeArrowheads="1"/>
          </p:cNvSpPr>
          <p:nvPr>
            <p:ph type="title"/>
          </p:nvPr>
        </p:nvSpPr>
        <p:spPr>
          <a:xfrm>
            <a:off x="401638" y="512144"/>
            <a:ext cx="8345487" cy="260969"/>
          </a:xfrm>
        </p:spPr>
        <p:txBody>
          <a:bodyPr/>
          <a:lstStyle/>
          <a:p>
            <a:pPr eaLnBrk="1" hangingPunct="1"/>
            <a:r>
              <a:rPr lang="en-US" dirty="0" smtClean="0"/>
              <a:t>Brand Carve Out – Isolate Revenues for Sell &amp; Hold Scenarios</a:t>
            </a:r>
          </a:p>
        </p:txBody>
      </p:sp>
      <p:graphicFrame>
        <p:nvGraphicFramePr>
          <p:cNvPr id="6" name="Group 46"/>
          <p:cNvGraphicFramePr>
            <a:graphicFrameLocks/>
          </p:cNvGraphicFramePr>
          <p:nvPr>
            <p:extLst/>
          </p:nvPr>
        </p:nvGraphicFramePr>
        <p:xfrm>
          <a:off x="1219200" y="3352800"/>
          <a:ext cx="6324600" cy="777240"/>
        </p:xfrm>
        <a:graphic>
          <a:graphicData uri="http://schemas.openxmlformats.org/drawingml/2006/table">
            <a:tbl>
              <a:tblPr/>
              <a:tblGrid>
                <a:gridCol w="933970"/>
                <a:gridCol w="1078126"/>
                <a:gridCol w="1078126"/>
                <a:gridCol w="1078126"/>
                <a:gridCol w="1078126"/>
                <a:gridCol w="1078126"/>
              </a:tblGrid>
              <a:tr h="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tx1"/>
                          </a:solidFill>
                          <a:effectLst/>
                          <a:latin typeface="Arial" charset="0"/>
                        </a:rPr>
                        <a:t>($M)</a:t>
                      </a:r>
                    </a:p>
                  </a:txBody>
                  <a:tcPr marL="73152" marR="73152" marT="73152" marB="7315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Coffee branded  retail stores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066B2"/>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Tea branded retail stores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066B2"/>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Coffee branded outlets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Wholesale</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bg1"/>
                          </a:solidFill>
                          <a:effectLst/>
                          <a:latin typeface="Arial" charset="0"/>
                        </a:rPr>
                        <a:t>Total Revenues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r>
              <a:tr h="12272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tx1"/>
                          </a:solidFill>
                          <a:effectLst/>
                          <a:latin typeface="Arial" charset="0"/>
                        </a:rPr>
                        <a:t>Tea Revenues</a:t>
                      </a:r>
                    </a:p>
                  </a:txBody>
                  <a:tcPr marL="18288"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rtl="0" fontAlgn="b"/>
                      <a:r>
                        <a:rPr lang="en-US" sz="1400" b="0" i="0" u="none" strike="noStrike" dirty="0" smtClean="0">
                          <a:solidFill>
                            <a:srgbClr val="000000"/>
                          </a:solidFill>
                          <a:latin typeface="Calibri"/>
                        </a:rPr>
                        <a:t>24</a:t>
                      </a:r>
                    </a:p>
                    <a:p>
                      <a:pPr algn="ctr" rtl="0" fontAlgn="b"/>
                      <a:r>
                        <a:rPr lang="en-US" sz="1100" b="0" i="0" u="none" strike="noStrike" dirty="0" smtClean="0">
                          <a:solidFill>
                            <a:srgbClr val="000000"/>
                          </a:solidFill>
                          <a:latin typeface="Calibri"/>
                        </a:rPr>
                        <a:t>(1.2 x 20)</a:t>
                      </a:r>
                      <a:endParaRPr lang="en-US" sz="11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rtl="0" fontAlgn="b"/>
                      <a:r>
                        <a:rPr lang="en-US" sz="1400" b="0" i="0" u="none" strike="noStrike" dirty="0" smtClean="0">
                          <a:solidFill>
                            <a:srgbClr val="000000"/>
                          </a:solidFill>
                          <a:latin typeface="Calibri"/>
                        </a:rPr>
                        <a:t>6.25</a:t>
                      </a:r>
                    </a:p>
                    <a:p>
                      <a:pPr algn="ctr" rtl="0" fontAlgn="b"/>
                      <a:r>
                        <a:rPr lang="en-US" sz="1050" b="0" i="0" u="none" strike="noStrike" dirty="0" smtClean="0">
                          <a:solidFill>
                            <a:srgbClr val="000000"/>
                          </a:solidFill>
                          <a:latin typeface="Calibri"/>
                        </a:rPr>
                        <a:t>(0.625 x 10)</a:t>
                      </a:r>
                      <a:endParaRPr lang="en-US" sz="105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400" b="0" i="0" u="none" strike="noStrike" dirty="0" smtClean="0">
                          <a:solidFill>
                            <a:srgbClr val="000000"/>
                          </a:solidFill>
                          <a:latin typeface="Calibri"/>
                        </a:rPr>
                        <a:t>30</a:t>
                      </a:r>
                      <a:endParaRPr lang="en-US" sz="14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400" b="0" i="0" u="none" strike="noStrike" dirty="0" smtClean="0">
                          <a:solidFill>
                            <a:srgbClr val="000000"/>
                          </a:solidFill>
                          <a:latin typeface="Calibri"/>
                        </a:rPr>
                        <a:t>60</a:t>
                      </a:r>
                      <a:endParaRPr lang="en-US" sz="1400" b="0"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rtl="0" fontAlgn="b"/>
                      <a:r>
                        <a:rPr lang="en-US" sz="1400" b="1" i="0" u="none" strike="noStrike" dirty="0" smtClean="0">
                          <a:solidFill>
                            <a:srgbClr val="000000"/>
                          </a:solidFill>
                          <a:latin typeface="Calibri"/>
                        </a:rPr>
                        <a:t>120.25</a:t>
                      </a:r>
                      <a:endParaRPr lang="en-US" sz="1400" b="1"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bl>
          </a:graphicData>
        </a:graphic>
      </p:graphicFrame>
    </p:spTree>
    <p:extLst>
      <p:ext uri="{BB962C8B-B14F-4D97-AF65-F5344CB8AC3E}">
        <p14:creationId xmlns:p14="http://schemas.microsoft.com/office/powerpoint/2010/main" val="1439483729"/>
      </p:ext>
    </p:extLst>
  </p:cSld>
  <p:clrMapOvr>
    <a:masterClrMapping/>
  </p:clrMapOvr>
  <p:timing>
    <p:tnLst>
      <p:par>
        <p:cTn xmlns:p14="http://schemas.microsoft.com/office/powerpoint/2010/mai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99" name="Group 15"/>
          <p:cNvGraphicFramePr>
            <a:graphicFrameLocks noGrp="1"/>
          </p:cNvGraphicFramePr>
          <p:nvPr>
            <p:ph sz="half" idx="1"/>
            <p:extLst/>
          </p:nvPr>
        </p:nvGraphicFramePr>
        <p:xfrm>
          <a:off x="396875" y="901700"/>
          <a:ext cx="8289925" cy="5560060"/>
        </p:xfrm>
        <a:graphic>
          <a:graphicData uri="http://schemas.openxmlformats.org/drawingml/2006/table">
            <a:tbl>
              <a:tblPr/>
              <a:tblGrid>
                <a:gridCol w="8289925"/>
              </a:tblGrid>
              <a:tr h="312375">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600" b="1" i="0" u="none" strike="noStrike" cap="none" normalizeH="0" baseline="0" dirty="0" smtClean="0">
                          <a:ln>
                            <a:noFill/>
                          </a:ln>
                          <a:solidFill>
                            <a:schemeClr val="tx1"/>
                          </a:solidFill>
                          <a:effectLst/>
                          <a:latin typeface="Arial" charset="0"/>
                        </a:rPr>
                        <a:t>Prompt Questions and Responses </a:t>
                      </a:r>
                      <a:r>
                        <a:rPr kumimoji="0" lang="en-US" sz="1100" b="1" i="0" u="none" strike="noStrike" cap="none" normalizeH="0" baseline="0" dirty="0" smtClean="0">
                          <a:ln>
                            <a:noFill/>
                          </a:ln>
                          <a:solidFill>
                            <a:schemeClr val="tx1"/>
                          </a:solidFill>
                          <a:effectLst/>
                          <a:latin typeface="Arial" charset="0"/>
                        </a:rPr>
                        <a:t>(For interviewer reference ONLY)</a:t>
                      </a:r>
                      <a:r>
                        <a:rPr kumimoji="0" lang="en-US" sz="1600" b="1" i="0" u="none" strike="noStrike" cap="none" normalizeH="0" baseline="0" dirty="0" smtClean="0">
                          <a:ln>
                            <a:noFill/>
                          </a:ln>
                          <a:solidFill>
                            <a:schemeClr val="tx1"/>
                          </a:solidFill>
                          <a:effectLst/>
                          <a:latin typeface="Arial" charset="0"/>
                        </a:rPr>
                        <a:t>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169916">
                <a:tc>
                  <a:txBody>
                    <a:bodyPr/>
                    <a:lstStyle/>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2.   How would you value the sale scenario and hold scenario?  Please use available data to support your argument</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      </a:t>
                      </a:r>
                      <a:r>
                        <a:rPr kumimoji="0" lang="en-US" sz="1400" b="1" i="1" u="none" strike="noStrike" cap="none" normalizeH="0" baseline="0" dirty="0" smtClean="0">
                          <a:ln>
                            <a:noFill/>
                          </a:ln>
                          <a:solidFill>
                            <a:schemeClr val="tx1"/>
                          </a:solidFill>
                          <a:effectLst/>
                          <a:latin typeface="Arial" charset="0"/>
                        </a:rPr>
                        <a:t>(Note to interviewer: Please provide candidate with data sheet)</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AutoNum type="arabicPeriod"/>
                        <a:tabLst/>
                      </a:pPr>
                      <a:endParaRPr kumimoji="0" lang="en-US" sz="1050" b="1"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General Approach:</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Candidate should do the following:</a:t>
                      </a:r>
                    </a:p>
                    <a:p>
                      <a:pPr marL="466725" marR="0" lvl="0" indent="-228600" algn="l" defTabSz="914400" rtl="0" eaLnBrk="1" fontAlgn="base" latinLnBrk="0" hangingPunct="1">
                        <a:lnSpc>
                          <a:spcPct val="100000"/>
                        </a:lnSpc>
                        <a:spcBef>
                          <a:spcPct val="0"/>
                        </a:spcBef>
                        <a:spcAft>
                          <a:spcPct val="0"/>
                        </a:spcAft>
                        <a:buClr>
                          <a:schemeClr val="tx1"/>
                        </a:buClr>
                        <a:buSzPct val="80000"/>
                        <a:buFont typeface="+mj-lt"/>
                        <a:buAutoNum type="arabicPeriod"/>
                        <a:tabLst/>
                      </a:pPr>
                      <a:r>
                        <a:rPr kumimoji="0" lang="en-US" sz="1400" b="0" i="0" u="none" strike="noStrike" cap="none" normalizeH="0" baseline="0" dirty="0" smtClean="0">
                          <a:ln>
                            <a:noFill/>
                          </a:ln>
                          <a:solidFill>
                            <a:schemeClr val="tx1"/>
                          </a:solidFill>
                          <a:effectLst/>
                          <a:latin typeface="Arial" charset="0"/>
                        </a:rPr>
                        <a:t>Take revenues calculated from previous question</a:t>
                      </a:r>
                    </a:p>
                    <a:p>
                      <a:pPr marL="466725" marR="0" lvl="0" indent="-228600" algn="l" defTabSz="914400" rtl="0" eaLnBrk="1" fontAlgn="base" latinLnBrk="0" hangingPunct="1">
                        <a:lnSpc>
                          <a:spcPct val="100000"/>
                        </a:lnSpc>
                        <a:spcBef>
                          <a:spcPct val="0"/>
                        </a:spcBef>
                        <a:spcAft>
                          <a:spcPct val="0"/>
                        </a:spcAft>
                        <a:buClr>
                          <a:schemeClr val="tx1"/>
                        </a:buClr>
                        <a:buSzPct val="80000"/>
                        <a:buFont typeface="+mj-lt"/>
                        <a:buAutoNum type="arabicPeriod"/>
                        <a:tabLst/>
                      </a:pPr>
                      <a:r>
                        <a:rPr kumimoji="0" lang="en-US" sz="1400" b="0" i="0" u="none" strike="noStrike" cap="none" normalizeH="0" baseline="0" dirty="0" smtClean="0">
                          <a:ln>
                            <a:noFill/>
                          </a:ln>
                          <a:solidFill>
                            <a:schemeClr val="tx1"/>
                          </a:solidFill>
                          <a:effectLst/>
                          <a:latin typeface="Arial" charset="0"/>
                        </a:rPr>
                        <a:t>Refine revenue multiple to adjust for outliers and dated information</a:t>
                      </a:r>
                    </a:p>
                    <a:p>
                      <a:pPr marL="466725" marR="0" lvl="0" indent="-228600" algn="l" defTabSz="914400" rtl="0" eaLnBrk="1" fontAlgn="base" latinLnBrk="0" hangingPunct="1">
                        <a:lnSpc>
                          <a:spcPct val="100000"/>
                        </a:lnSpc>
                        <a:spcBef>
                          <a:spcPct val="0"/>
                        </a:spcBef>
                        <a:spcAft>
                          <a:spcPct val="0"/>
                        </a:spcAft>
                        <a:buClr>
                          <a:schemeClr val="tx1"/>
                        </a:buClr>
                        <a:buSzPct val="80000"/>
                        <a:buFont typeface="+mj-lt"/>
                        <a:buAutoNum type="arabicPeriod"/>
                        <a:tabLst/>
                      </a:pPr>
                      <a:r>
                        <a:rPr kumimoji="0" lang="en-US" sz="1400" b="0" i="0" u="none" strike="noStrike" cap="none" normalizeH="0" baseline="0" dirty="0" smtClean="0">
                          <a:ln>
                            <a:noFill/>
                          </a:ln>
                          <a:solidFill>
                            <a:schemeClr val="tx1"/>
                          </a:solidFill>
                          <a:effectLst/>
                          <a:latin typeface="Arial" charset="0"/>
                        </a:rPr>
                        <a:t>Apply revenue multiples to value the two scenarios</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50" b="0" i="0" u="none" strike="noStrike" cap="none" normalizeH="0" baseline="0" dirty="0" smtClean="0">
                        <a:ln>
                          <a:noFill/>
                        </a:ln>
                        <a:solidFill>
                          <a:schemeClr val="tx1"/>
                        </a:solidFill>
                        <a:effectLst/>
                        <a:latin typeface="Arial" charset="0"/>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9162" name="Rectangle 2"/>
          <p:cNvSpPr>
            <a:spLocks noGrp="1" noChangeArrowheads="1"/>
          </p:cNvSpPr>
          <p:nvPr>
            <p:ph type="title"/>
          </p:nvPr>
        </p:nvSpPr>
        <p:spPr>
          <a:xfrm>
            <a:off x="401638" y="512144"/>
            <a:ext cx="8345487" cy="260969"/>
          </a:xfrm>
        </p:spPr>
        <p:txBody>
          <a:bodyPr/>
          <a:lstStyle/>
          <a:p>
            <a:pPr eaLnBrk="1" hangingPunct="1"/>
            <a:r>
              <a:rPr lang="en-US" dirty="0" smtClean="0"/>
              <a:t>Brand Carve Out – Value Hold &amp; Sale Scenario</a:t>
            </a:r>
          </a:p>
        </p:txBody>
      </p:sp>
      <p:graphicFrame>
        <p:nvGraphicFramePr>
          <p:cNvPr id="7" name="Group 46"/>
          <p:cNvGraphicFramePr>
            <a:graphicFrameLocks/>
          </p:cNvGraphicFramePr>
          <p:nvPr>
            <p:extLst/>
          </p:nvPr>
        </p:nvGraphicFramePr>
        <p:xfrm>
          <a:off x="685800" y="4191000"/>
          <a:ext cx="3074988" cy="730605"/>
        </p:xfrm>
        <a:graphic>
          <a:graphicData uri="http://schemas.openxmlformats.org/drawingml/2006/table">
            <a:tbl>
              <a:tblPr/>
              <a:tblGrid>
                <a:gridCol w="1604193"/>
                <a:gridCol w="1470795"/>
              </a:tblGrid>
              <a:tr h="20320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kern="1200" cap="none" normalizeH="0" baseline="0" dirty="0" smtClean="0">
                          <a:ln>
                            <a:noFill/>
                          </a:ln>
                          <a:solidFill>
                            <a:schemeClr val="bg1"/>
                          </a:solidFill>
                          <a:effectLst/>
                          <a:latin typeface="Arial" charset="0"/>
                          <a:ea typeface="+mn-ea"/>
                          <a:cs typeface="+mn-cs"/>
                        </a:rPr>
                        <a:t>Scenario</a:t>
                      </a:r>
                    </a:p>
                  </a:txBody>
                  <a:tcPr marL="73152" marR="73152"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Total Revenues</a:t>
                      </a:r>
                    </a:p>
                  </a:txBody>
                  <a:tcPr marL="18288" marR="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r>
              <a:tr h="20320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Tea Sale Scenario</a:t>
                      </a:r>
                    </a:p>
                  </a:txBody>
                  <a:tcPr marL="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b"/>
                      <a:r>
                        <a:rPr lang="en-US" sz="1200" b="1" i="0" u="none" strike="noStrike" dirty="0" smtClean="0">
                          <a:solidFill>
                            <a:srgbClr val="000000"/>
                          </a:solidFill>
                          <a:latin typeface="Calibri"/>
                        </a:rPr>
                        <a:t>66.25</a:t>
                      </a:r>
                      <a:endParaRPr lang="en-US" sz="1200" b="1" i="0" u="none" strike="noStrike" dirty="0">
                        <a:solidFill>
                          <a:srgbClr val="000000"/>
                        </a:solidFill>
                        <a:latin typeface="Calibri"/>
                      </a:endParaRP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0320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Arial" charset="0"/>
                        </a:rPr>
                        <a:t>Tea Hold Scenario</a:t>
                      </a:r>
                    </a:p>
                  </a:txBody>
                  <a:tcPr marL="18288" marT="18288" marB="182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200" b="1" i="0" u="none" strike="noStrike" dirty="0" smtClean="0">
                          <a:solidFill>
                            <a:srgbClr val="000000"/>
                          </a:solidFill>
                          <a:latin typeface="Calibri"/>
                        </a:rPr>
                        <a:t>120.25</a:t>
                      </a:r>
                    </a:p>
                  </a:txBody>
                  <a:tcPr marL="18288" marR="18288"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bl>
          </a:graphicData>
        </a:graphic>
      </p:graphicFrame>
      <p:grpSp>
        <p:nvGrpSpPr>
          <p:cNvPr id="2" name="Group 11"/>
          <p:cNvGrpSpPr/>
          <p:nvPr/>
        </p:nvGrpSpPr>
        <p:grpSpPr>
          <a:xfrm>
            <a:off x="4191000" y="3810000"/>
            <a:ext cx="4274822" cy="2514625"/>
            <a:chOff x="5105399" y="1295400"/>
            <a:chExt cx="3467102" cy="2514625"/>
          </a:xfrm>
        </p:grpSpPr>
        <p:graphicFrame>
          <p:nvGraphicFramePr>
            <p:cNvPr id="9" name="Group 46"/>
            <p:cNvGraphicFramePr>
              <a:graphicFrameLocks/>
            </p:cNvGraphicFramePr>
            <p:nvPr>
              <p:extLst/>
            </p:nvPr>
          </p:nvGraphicFramePr>
          <p:xfrm>
            <a:off x="5105399" y="1490726"/>
            <a:ext cx="3467101" cy="2319299"/>
          </p:xfrm>
          <a:graphic>
            <a:graphicData uri="http://schemas.openxmlformats.org/drawingml/2006/table">
              <a:tbl>
                <a:tblPr/>
                <a:tblGrid>
                  <a:gridCol w="1082804"/>
                  <a:gridCol w="947454"/>
                  <a:gridCol w="947454"/>
                  <a:gridCol w="1297109"/>
                </a:tblGrid>
                <a:tr h="413951">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endParaRPr kumimoji="0" lang="en-US" sz="1050" b="1" i="0" u="none" strike="noStrike" cap="none" normalizeH="0" baseline="0" dirty="0" smtClean="0">
                          <a:ln>
                            <a:noFill/>
                          </a:ln>
                          <a:solidFill>
                            <a:schemeClr val="tx1"/>
                          </a:solidFill>
                          <a:effectLst/>
                          <a:latin typeface="Arial" charset="0"/>
                        </a:endParaRPr>
                      </a:p>
                    </a:txBody>
                    <a:tcPr marL="73152" marR="18288" marT="73152" marB="7315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bg1"/>
                            </a:solidFill>
                            <a:effectLst/>
                            <a:latin typeface="Arial" charset="0"/>
                          </a:rPr>
                          <a:t>Revenue Multiple</a:t>
                        </a:r>
                      </a:p>
                    </a:txBody>
                    <a:tcPr marL="73152" marR="18288"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bg1"/>
                            </a:solidFill>
                            <a:effectLst/>
                            <a:latin typeface="Arial" charset="0"/>
                          </a:rPr>
                          <a:t>Deal Size ($M)</a:t>
                        </a:r>
                      </a:p>
                    </a:txBody>
                    <a:tcPr marL="73152" marR="18288"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bg1"/>
                            </a:solidFill>
                            <a:effectLst/>
                            <a:latin typeface="Arial" charset="0"/>
                          </a:rPr>
                          <a:t>Deal Date</a:t>
                        </a:r>
                      </a:p>
                    </a:txBody>
                    <a:tcPr marL="73152" marR="18288" marT="73152" marB="7315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r>
                <a:tr h="214200">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0" i="0" u="none" strike="noStrike" cap="none" normalizeH="0" baseline="0" dirty="0" smtClean="0">
                            <a:ln>
                              <a:noFill/>
                            </a:ln>
                            <a:solidFill>
                              <a:schemeClr val="tx1"/>
                            </a:solidFill>
                            <a:effectLst/>
                            <a:latin typeface="Arial" charset="0"/>
                          </a:rPr>
                          <a:t>Transaction A</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400" b="0" i="0" u="none" strike="noStrike" dirty="0" smtClean="0">
                            <a:solidFill>
                              <a:srgbClr val="000000"/>
                            </a:solidFill>
                            <a:latin typeface="Calibri"/>
                          </a:rPr>
                          <a:t>0.6</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400" b="0" i="0" u="none" strike="noStrike" dirty="0" smtClean="0">
                            <a:solidFill>
                              <a:srgbClr val="000000"/>
                            </a:solidFill>
                            <a:latin typeface="Calibri"/>
                          </a:rPr>
                          <a:t>147</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fontAlgn="b"/>
                        <a:r>
                          <a:rPr lang="en-US" sz="1400" b="0" i="0" u="none" strike="noStrike" dirty="0" smtClean="0">
                            <a:solidFill>
                              <a:srgbClr val="000000"/>
                            </a:solidFill>
                            <a:latin typeface="Calibri"/>
                          </a:rPr>
                          <a:t>January 2011</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14200">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0" i="0" u="none" strike="noStrike" cap="none" normalizeH="0" baseline="0" dirty="0" smtClean="0">
                            <a:ln>
                              <a:noFill/>
                            </a:ln>
                            <a:solidFill>
                              <a:schemeClr val="tx1"/>
                            </a:solidFill>
                            <a:effectLst/>
                            <a:latin typeface="Arial" charset="0"/>
                          </a:rPr>
                          <a:t>Transaction B</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400" b="0" i="0" u="none" strike="noStrike" dirty="0" smtClean="0">
                            <a:solidFill>
                              <a:srgbClr val="000000"/>
                            </a:solidFill>
                            <a:latin typeface="Calibri"/>
                          </a:rPr>
                          <a:t>0.7</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400" b="0" i="0" u="none" strike="noStrike" dirty="0" smtClean="0">
                            <a:solidFill>
                              <a:srgbClr val="000000"/>
                            </a:solidFill>
                            <a:latin typeface="Calibri"/>
                          </a:rPr>
                          <a:t>300</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fontAlgn="b"/>
                        <a:r>
                          <a:rPr lang="en-US" sz="1400" b="0" i="0" u="none" strike="noStrike" dirty="0" smtClean="0">
                            <a:solidFill>
                              <a:srgbClr val="000000"/>
                            </a:solidFill>
                            <a:latin typeface="Calibri"/>
                          </a:rPr>
                          <a:t>March 2011</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14200">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0" i="0" u="none" strike="noStrike" cap="none" normalizeH="0" baseline="0" dirty="0" smtClean="0">
                            <a:ln>
                              <a:noFill/>
                            </a:ln>
                            <a:solidFill>
                              <a:schemeClr val="tx1"/>
                            </a:solidFill>
                            <a:effectLst/>
                            <a:latin typeface="Arial" charset="0"/>
                          </a:rPr>
                          <a:t>Transaction C</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400" b="0" i="0" u="none" strike="noStrike" dirty="0" smtClean="0">
                            <a:solidFill>
                              <a:srgbClr val="000000"/>
                            </a:solidFill>
                            <a:latin typeface="Calibri"/>
                          </a:rPr>
                          <a:t>0.9</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400" b="0" i="0" u="none" strike="noStrike" dirty="0" smtClean="0">
                            <a:solidFill>
                              <a:srgbClr val="000000"/>
                            </a:solidFill>
                            <a:latin typeface="Calibri"/>
                          </a:rPr>
                          <a:t>180</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fontAlgn="b"/>
                        <a:r>
                          <a:rPr lang="en-US" sz="1400" b="0" i="0" u="none" strike="noStrike" dirty="0" smtClean="0">
                            <a:solidFill>
                              <a:srgbClr val="000000"/>
                            </a:solidFill>
                            <a:latin typeface="Calibri"/>
                          </a:rPr>
                          <a:t>April 2010</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14200">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0" i="0" u="none" strike="noStrike" cap="none" normalizeH="0" baseline="0" dirty="0" smtClean="0">
                            <a:ln>
                              <a:noFill/>
                            </a:ln>
                            <a:solidFill>
                              <a:schemeClr val="tx1"/>
                            </a:solidFill>
                            <a:effectLst/>
                            <a:latin typeface="Arial" charset="0"/>
                          </a:rPr>
                          <a:t>Transaction D</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400" b="0" i="0" u="none" strike="noStrike" dirty="0" smtClean="0">
                            <a:solidFill>
                              <a:srgbClr val="000000"/>
                            </a:solidFill>
                            <a:latin typeface="Calibri"/>
                          </a:rPr>
                          <a:t>0.6</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400" b="0" i="0" u="none" strike="noStrike" dirty="0" smtClean="0">
                            <a:solidFill>
                              <a:srgbClr val="000000"/>
                            </a:solidFill>
                            <a:latin typeface="Calibri"/>
                          </a:rPr>
                          <a:t>70</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algn="ctr" fontAlgn="b"/>
                        <a:r>
                          <a:rPr lang="en-US" sz="1400" b="0" i="0" u="none" strike="noStrike" dirty="0" smtClean="0">
                            <a:solidFill>
                              <a:srgbClr val="000000"/>
                            </a:solidFill>
                            <a:latin typeface="Calibri"/>
                          </a:rPr>
                          <a:t>October 2010</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214200">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0" i="0" u="none" strike="noStrike" cap="none" normalizeH="0" baseline="0" dirty="0" smtClean="0">
                            <a:ln>
                              <a:noFill/>
                            </a:ln>
                            <a:solidFill>
                              <a:schemeClr val="tx1"/>
                            </a:solidFill>
                            <a:effectLst/>
                            <a:latin typeface="Arial" charset="0"/>
                          </a:rPr>
                          <a:t>Transaction E</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algn="ctr" fontAlgn="b"/>
                        <a:r>
                          <a:rPr lang="en-US" sz="1400" b="0" i="0" u="none" strike="noStrike" dirty="0" smtClean="0">
                            <a:solidFill>
                              <a:srgbClr val="000000"/>
                            </a:solidFill>
                            <a:latin typeface="Calibri"/>
                          </a:rPr>
                          <a:t>1.9</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algn="ctr" fontAlgn="b"/>
                        <a:r>
                          <a:rPr lang="en-US" sz="1400" b="0" i="0" u="none" strike="noStrike" dirty="0" smtClean="0">
                            <a:solidFill>
                              <a:srgbClr val="000000"/>
                            </a:solidFill>
                            <a:latin typeface="Calibri"/>
                          </a:rPr>
                          <a:t>5</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algn="ctr" fontAlgn="b"/>
                        <a:r>
                          <a:rPr lang="en-US" sz="1400" b="0" i="0" u="none" strike="noStrike" dirty="0" smtClean="0">
                            <a:solidFill>
                              <a:srgbClr val="000000"/>
                            </a:solidFill>
                            <a:latin typeface="Calibri"/>
                          </a:rPr>
                          <a:t>November 2007</a:t>
                        </a:r>
                        <a:endParaRPr lang="en-US" sz="14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88735">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tx1"/>
                            </a:solidFill>
                            <a:effectLst/>
                            <a:latin typeface="Arial" charset="0"/>
                          </a:rPr>
                          <a:t>Unadjusted Average</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3">
                    <a:txBody>
                      <a:bodyPr/>
                      <a:lstStyle/>
                      <a:p>
                        <a:pPr algn="ctr" fontAlgn="b"/>
                        <a:r>
                          <a:rPr lang="en-US" sz="1400" b="1" i="0" u="none" strike="noStrike" dirty="0" smtClean="0">
                            <a:solidFill>
                              <a:srgbClr val="000000"/>
                            </a:solidFill>
                            <a:latin typeface="Calibri"/>
                          </a:rPr>
                          <a:t>0.9</a:t>
                        </a:r>
                        <a:endParaRPr lang="en-US" sz="1400" b="1"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algn="ctr" fontAlgn="b"/>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alpha val="50000"/>
                        </a:schemeClr>
                      </a:solidFill>
                    </a:tcPr>
                  </a:tc>
                  <a:tc hMerge="1">
                    <a:txBody>
                      <a:bodyPr/>
                      <a:lstStyle/>
                      <a:p>
                        <a:pPr algn="ctr" fontAlgn="b"/>
                        <a:endParaRPr lang="en-US" sz="1200" b="0" i="0" u="none" strike="noStrike" dirty="0">
                          <a:solidFill>
                            <a:srgbClr val="000000"/>
                          </a:solidFill>
                          <a:latin typeface="Calibri"/>
                        </a:endParaRPr>
                      </a:p>
                    </a:txBody>
                    <a:tcPr marL="9525" marR="18288"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alpha val="50000"/>
                        </a:schemeClr>
                      </a:solidFill>
                    </a:tcPr>
                  </a:tc>
                </a:tr>
                <a:tr h="288735">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tx1"/>
                            </a:solidFill>
                            <a:effectLst/>
                            <a:latin typeface="Arial" charset="0"/>
                          </a:rPr>
                          <a:t>Adjusted Average</a:t>
                        </a:r>
                      </a:p>
                    </a:txBody>
                    <a:tcPr marL="45720" marT="18288" marB="18288"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3">
                    <a:txBody>
                      <a:bodyPr/>
                      <a:lstStyle/>
                      <a:p>
                        <a:pPr algn="ctr" fontAlgn="b"/>
                        <a:r>
                          <a:rPr lang="en-US" sz="1400" b="1" i="0" u="none" strike="noStrike" dirty="0" smtClean="0">
                            <a:solidFill>
                              <a:srgbClr val="000000"/>
                            </a:solidFill>
                            <a:latin typeface="Calibri"/>
                          </a:rPr>
                          <a:t>0.7</a:t>
                        </a:r>
                        <a:endParaRPr lang="en-US" sz="1400" b="1"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algn="ctr" fontAlgn="b"/>
                        <a:endParaRPr lang="en-US" sz="1200" b="0" i="0" u="none" strike="noStrike" dirty="0">
                          <a:solidFill>
                            <a:srgbClr val="000000"/>
                          </a:solidFill>
                          <a:latin typeface="Calibri"/>
                        </a:endParaRPr>
                      </a:p>
                    </a:txBody>
                    <a:tcPr marL="9525" marR="18288"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alpha val="50000"/>
                        </a:schemeClr>
                      </a:solidFill>
                    </a:tcPr>
                  </a:tc>
                  <a:tc hMerge="1">
                    <a:txBody>
                      <a:bodyPr/>
                      <a:lstStyle/>
                      <a:p>
                        <a:pPr algn="ctr" fontAlgn="b"/>
                        <a:endParaRPr lang="en-US" sz="1200" b="0" i="0" u="none" strike="noStrike" dirty="0">
                          <a:solidFill>
                            <a:srgbClr val="000000"/>
                          </a:solidFill>
                          <a:latin typeface="Calibri"/>
                        </a:endParaRPr>
                      </a:p>
                    </a:txBody>
                    <a:tcPr marL="9525" marR="18288"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alpha val="50000"/>
                        </a:schemeClr>
                      </a:solidFill>
                    </a:tcPr>
                  </a:tc>
                </a:tr>
              </a:tbl>
            </a:graphicData>
          </a:graphic>
        </p:graphicFrame>
        <p:grpSp>
          <p:nvGrpSpPr>
            <p:cNvPr id="3" name="Group 20"/>
            <p:cNvGrpSpPr>
              <a:grpSpLocks/>
            </p:cNvGrpSpPr>
            <p:nvPr/>
          </p:nvGrpSpPr>
          <p:grpSpPr bwMode="auto">
            <a:xfrm>
              <a:off x="5181600" y="1295400"/>
              <a:ext cx="3390901" cy="200025"/>
              <a:chOff x="476250" y="4000419"/>
              <a:chExt cx="3935413" cy="200025"/>
            </a:xfrm>
          </p:grpSpPr>
          <p:sp>
            <p:nvSpPr>
              <p:cNvPr id="8" name="Line 47"/>
              <p:cNvSpPr>
                <a:spLocks noChangeShapeType="1"/>
              </p:cNvSpPr>
              <p:nvPr/>
            </p:nvSpPr>
            <p:spPr bwMode="gray">
              <a:xfrm>
                <a:off x="476250" y="4105275"/>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charset="0"/>
                </a:endParaRPr>
              </a:p>
            </p:txBody>
          </p:sp>
          <p:sp>
            <p:nvSpPr>
              <p:cNvPr id="10" name="Rectangle 25"/>
              <p:cNvSpPr>
                <a:spLocks noChangeArrowheads="1"/>
              </p:cNvSpPr>
              <p:nvPr/>
            </p:nvSpPr>
            <p:spPr bwMode="gray">
              <a:xfrm>
                <a:off x="1108550" y="4000419"/>
                <a:ext cx="2654418" cy="200025"/>
              </a:xfrm>
              <a:prstGeom prst="rect">
                <a:avLst/>
              </a:prstGeom>
              <a:solidFill>
                <a:schemeClr val="bg1"/>
              </a:solidFill>
              <a:ln w="9525" algn="ctr">
                <a:noFill/>
                <a:miter lim="800000"/>
                <a:headEnd/>
                <a:tailEnd/>
              </a:ln>
            </p:spPr>
            <p:txBody>
              <a:bodyPr lIns="0" tIns="0" rIns="0" bIns="0"/>
              <a:lstStyle/>
              <a:p>
                <a:pPr marL="0" lvl="1" indent="1588" algn="ctr" eaLnBrk="0" hangingPunct="0">
                  <a:lnSpc>
                    <a:spcPct val="106000"/>
                  </a:lnSpc>
                  <a:buClr>
                    <a:srgbClr val="000000"/>
                  </a:buClr>
                  <a:buFont typeface="Wingdings 2" pitchFamily="18" charset="2"/>
                  <a:buNone/>
                </a:pPr>
                <a:r>
                  <a:rPr lang="en-US" sz="1100" b="1" dirty="0">
                    <a:solidFill>
                      <a:srgbClr val="000000"/>
                    </a:solidFill>
                    <a:latin typeface="Arial"/>
                    <a:cs typeface="Arial" charset="0"/>
                  </a:rPr>
                  <a:t>Revenue Multiples Calculation</a:t>
                </a:r>
                <a:endParaRPr lang="en-US" sz="1000" b="1" dirty="0">
                  <a:solidFill>
                    <a:srgbClr val="000000"/>
                  </a:solidFill>
                  <a:latin typeface="Arial"/>
                  <a:cs typeface="Arial" charset="0"/>
                </a:endParaRPr>
              </a:p>
            </p:txBody>
          </p:sp>
        </p:grpSp>
      </p:grpSp>
    </p:spTree>
    <p:extLst>
      <p:ext uri="{BB962C8B-B14F-4D97-AF65-F5344CB8AC3E}">
        <p14:creationId xmlns:p14="http://schemas.microsoft.com/office/powerpoint/2010/main" val="2039999008"/>
      </p:ext>
    </p:extLst>
  </p:cSld>
  <p:clrMapOvr>
    <a:masterClrMapping/>
  </p:clrMapOvr>
  <p:timing>
    <p:tnLst>
      <p:par>
        <p:cTn xmlns:p14="http://schemas.microsoft.com/office/powerpoint/2010/mai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99" name="Group 15"/>
          <p:cNvGraphicFramePr>
            <a:graphicFrameLocks noGrp="1"/>
          </p:cNvGraphicFramePr>
          <p:nvPr>
            <p:ph sz="half" idx="1"/>
            <p:extLst/>
          </p:nvPr>
        </p:nvGraphicFramePr>
        <p:xfrm>
          <a:off x="396875" y="901700"/>
          <a:ext cx="8289925" cy="5588617"/>
        </p:xfrm>
        <a:graphic>
          <a:graphicData uri="http://schemas.openxmlformats.org/drawingml/2006/table">
            <a:tbl>
              <a:tblPr/>
              <a:tblGrid>
                <a:gridCol w="8289925"/>
              </a:tblGrid>
              <a:tr h="376827">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600" b="1" i="0" u="none" strike="noStrike" cap="none" normalizeH="0" baseline="0" dirty="0" smtClean="0">
                          <a:ln>
                            <a:noFill/>
                          </a:ln>
                          <a:solidFill>
                            <a:schemeClr val="tx1"/>
                          </a:solidFill>
                          <a:effectLst/>
                          <a:latin typeface="Arial" charset="0"/>
                        </a:rPr>
                        <a:t>Prompt Questions and Responses </a:t>
                      </a:r>
                      <a:r>
                        <a:rPr kumimoji="0" lang="en-US" sz="1100" b="1" i="0" u="none" strike="noStrike" cap="none" normalizeH="0" baseline="0" dirty="0" smtClean="0">
                          <a:ln>
                            <a:noFill/>
                          </a:ln>
                          <a:solidFill>
                            <a:schemeClr val="tx1"/>
                          </a:solidFill>
                          <a:effectLst/>
                          <a:latin typeface="Arial" charset="0"/>
                        </a:rPr>
                        <a:t>(For interviewer reference ONLY)</a:t>
                      </a:r>
                      <a:r>
                        <a:rPr kumimoji="0" lang="en-US" sz="1600" b="1" i="0" u="none" strike="noStrike" cap="none" normalizeH="0" baseline="0" dirty="0" smtClean="0">
                          <a:ln>
                            <a:noFill/>
                          </a:ln>
                          <a:solidFill>
                            <a:schemeClr val="tx1"/>
                          </a:solidFill>
                          <a:effectLst/>
                          <a:latin typeface="Arial" charset="0"/>
                        </a:rPr>
                        <a:t>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198473">
                <a:tc>
                  <a:txBody>
                    <a:bodyPr/>
                    <a:lstStyle/>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tab pos="227013" algn="l"/>
                        </a:tabLst>
                      </a:pPr>
                      <a:r>
                        <a:rPr kumimoji="0" lang="en-US" sz="1400" b="1" i="0" u="none" strike="noStrike" cap="none" normalizeH="0" baseline="0" dirty="0" smtClean="0">
                          <a:ln>
                            <a:noFill/>
                          </a:ln>
                          <a:solidFill>
                            <a:schemeClr val="tx1"/>
                          </a:solidFill>
                          <a:effectLst/>
                          <a:latin typeface="Arial" charset="0"/>
                        </a:rPr>
                        <a:t>2.  How would you value the sale scenario and hold scenario?  Please use available data to support your argument    </a:t>
                      </a:r>
                      <a:r>
                        <a:rPr kumimoji="0" lang="en-US" sz="1400" b="1" i="1" u="none" strike="noStrike" cap="none" normalizeH="0" baseline="0" dirty="0" smtClean="0">
                          <a:ln>
                            <a:noFill/>
                          </a:ln>
                          <a:solidFill>
                            <a:schemeClr val="tx1"/>
                          </a:solidFill>
                          <a:effectLst/>
                          <a:latin typeface="Arial" charset="0"/>
                        </a:rPr>
                        <a:t>(Note to interviewer: Please provide candidate with data sheet)</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AutoNum type="arabicPeriod"/>
                        <a:tabLst/>
                      </a:pPr>
                      <a:endParaRPr kumimoji="0" lang="en-US" sz="1200" b="1"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200" b="1" i="0" u="none" strike="noStrike" cap="none" normalizeH="0" baseline="0" dirty="0" smtClean="0">
                          <a:ln>
                            <a:noFill/>
                          </a:ln>
                          <a:solidFill>
                            <a:schemeClr val="tx1"/>
                          </a:solidFill>
                          <a:effectLst/>
                          <a:latin typeface="Arial" charset="0"/>
                        </a:rPr>
                        <a:t>Valuation:</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200" b="1" i="0" u="none" strike="noStrike" cap="none" normalizeH="0" baseline="0" dirty="0" smtClean="0">
                          <a:ln>
                            <a:noFill/>
                          </a:ln>
                          <a:solidFill>
                            <a:schemeClr val="tx1"/>
                          </a:solidFill>
                          <a:effectLst/>
                          <a:latin typeface="Arial" charset="0"/>
                        </a:rPr>
                        <a:t>Good Answer:</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defRPr/>
                      </a:pPr>
                      <a:r>
                        <a:rPr kumimoji="0" lang="en-US" sz="1200" b="0" i="0" u="none" strike="noStrike" cap="none" normalizeH="0" baseline="0" dirty="0" smtClean="0">
                          <a:ln>
                            <a:noFill/>
                          </a:ln>
                          <a:solidFill>
                            <a:schemeClr val="tx1"/>
                          </a:solidFill>
                          <a:effectLst/>
                          <a:latin typeface="Arial" charset="0"/>
                        </a:rPr>
                        <a:t>Sale Scenario – Take $66.25M and capitalize by revenue multiple of 0.9 to value the company for sale at </a:t>
                      </a:r>
                      <a:r>
                        <a:rPr kumimoji="0" lang="en-US" sz="1200" b="1" i="0" u="sng" strike="noStrike" cap="none" normalizeH="0" baseline="0" dirty="0" smtClean="0">
                          <a:ln>
                            <a:noFill/>
                          </a:ln>
                          <a:solidFill>
                            <a:schemeClr val="tx1"/>
                          </a:solidFill>
                          <a:effectLst/>
                          <a:latin typeface="Arial" charset="0"/>
                        </a:rPr>
                        <a:t>~$60M</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pPr>
                      <a:r>
                        <a:rPr kumimoji="0" lang="en-US" sz="1200" b="0" i="0" u="none" strike="noStrike" cap="none" normalizeH="0" baseline="0" dirty="0" smtClean="0">
                          <a:ln>
                            <a:noFill/>
                          </a:ln>
                          <a:solidFill>
                            <a:schemeClr val="tx1"/>
                          </a:solidFill>
                          <a:effectLst/>
                          <a:latin typeface="Arial" charset="0"/>
                        </a:rPr>
                        <a:t>Hold Scenario – Take $120.25M and capitalize by revenue multiple of 0.9 to value the company for sale at </a:t>
                      </a:r>
                      <a:r>
                        <a:rPr kumimoji="0" lang="en-US" sz="1200" b="1" i="0" u="sng" strike="noStrike" cap="none" normalizeH="0" baseline="0" dirty="0" smtClean="0">
                          <a:ln>
                            <a:noFill/>
                          </a:ln>
                          <a:solidFill>
                            <a:schemeClr val="tx1"/>
                          </a:solidFill>
                          <a:effectLst/>
                          <a:latin typeface="Arial" charset="0"/>
                        </a:rPr>
                        <a:t>~$108M</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200" b="1"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200" b="1" i="0" u="none" strike="noStrike" cap="none" normalizeH="0" baseline="0" dirty="0" smtClean="0">
                          <a:ln>
                            <a:noFill/>
                          </a:ln>
                          <a:solidFill>
                            <a:schemeClr val="tx1"/>
                          </a:solidFill>
                          <a:effectLst/>
                          <a:latin typeface="Arial" charset="0"/>
                        </a:rPr>
                        <a:t>Better Answer: </a:t>
                      </a:r>
                      <a:r>
                        <a:rPr kumimoji="0" lang="en-US" sz="1200" b="0" i="0" u="none" strike="noStrike" cap="none" normalizeH="0" baseline="0" dirty="0" smtClean="0">
                          <a:ln>
                            <a:noFill/>
                          </a:ln>
                          <a:solidFill>
                            <a:schemeClr val="tx1"/>
                          </a:solidFill>
                          <a:effectLst/>
                          <a:latin typeface="Arial" charset="0"/>
                        </a:rPr>
                        <a:t>Candidate suggests Transaction E be removed because it is dated and reflects inflated, pre-crash asset prices</a:t>
                      </a:r>
                      <a:endParaRPr kumimoji="0" lang="en-US" sz="1200" b="1"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defRPr/>
                      </a:pPr>
                      <a:r>
                        <a:rPr kumimoji="0" lang="en-US" sz="1200" b="0" i="0" u="none" strike="noStrike" cap="none" normalizeH="0" baseline="0" dirty="0" smtClean="0">
                          <a:ln>
                            <a:noFill/>
                          </a:ln>
                          <a:solidFill>
                            <a:schemeClr val="tx1"/>
                          </a:solidFill>
                          <a:effectLst/>
                          <a:latin typeface="Arial" charset="0"/>
                        </a:rPr>
                        <a:t>Sale Scenario – Take $66.25M and capitalize by revenue multiple of 0.7 to value the company for sale at </a:t>
                      </a:r>
                      <a:r>
                        <a:rPr kumimoji="0" lang="en-US" sz="1200" b="1" i="0" u="sng" strike="noStrike" cap="none" normalizeH="0" baseline="0" dirty="0" smtClean="0">
                          <a:ln>
                            <a:noFill/>
                          </a:ln>
                          <a:solidFill>
                            <a:schemeClr val="tx1"/>
                          </a:solidFill>
                          <a:effectLst/>
                          <a:latin typeface="Arial" charset="0"/>
                        </a:rPr>
                        <a:t>~$46M</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pPr>
                      <a:r>
                        <a:rPr kumimoji="0" lang="en-US" sz="1200" b="0" i="0" u="none" strike="noStrike" cap="none" normalizeH="0" baseline="0" dirty="0" smtClean="0">
                          <a:ln>
                            <a:noFill/>
                          </a:ln>
                          <a:solidFill>
                            <a:schemeClr val="tx1"/>
                          </a:solidFill>
                          <a:effectLst/>
                          <a:latin typeface="Arial" charset="0"/>
                        </a:rPr>
                        <a:t>Hold Scenario – Take $120.25M and capitalize by revenue multiple of 0.7 to value the company for sale at </a:t>
                      </a:r>
                      <a:r>
                        <a:rPr kumimoji="0" lang="en-US" sz="1200" b="1" i="0" u="sng" strike="noStrike" cap="none" normalizeH="0" baseline="0" dirty="0" smtClean="0">
                          <a:ln>
                            <a:noFill/>
                          </a:ln>
                          <a:solidFill>
                            <a:schemeClr val="tx1"/>
                          </a:solidFill>
                          <a:effectLst/>
                          <a:latin typeface="Arial" charset="0"/>
                        </a:rPr>
                        <a:t>~$84M</a:t>
                      </a:r>
                    </a:p>
                    <a:p>
                      <a:pPr marL="0" marR="0" lvl="0" indent="0" algn="l" defTabSz="914400" rtl="0" eaLnBrk="1" fontAlgn="base" latinLnBrk="0" hangingPunct="1">
                        <a:lnSpc>
                          <a:spcPct val="100000"/>
                        </a:lnSpc>
                        <a:spcBef>
                          <a:spcPct val="0"/>
                        </a:spcBef>
                        <a:spcAft>
                          <a:spcPct val="0"/>
                        </a:spcAft>
                        <a:buClr>
                          <a:schemeClr val="tx1"/>
                        </a:buClr>
                        <a:buSzPct val="80000"/>
                        <a:buFont typeface="Arial" pitchFamily="34" charset="0"/>
                        <a:buNone/>
                        <a:tabLst/>
                        <a:defRPr/>
                      </a:pPr>
                      <a:endParaRPr kumimoji="0" lang="en-US" sz="1200" b="1" i="0" u="none" strike="noStrike" cap="none" normalizeH="0" baseline="0" dirty="0" smtClean="0">
                        <a:ln>
                          <a:noFill/>
                        </a:ln>
                        <a:solidFill>
                          <a:schemeClr val="tx1"/>
                        </a:solidFill>
                        <a:effectLst/>
                        <a:latin typeface="Arial" charset="0"/>
                      </a:endParaRPr>
                    </a:p>
                    <a:p>
                      <a:pPr marL="0" marR="0" lvl="0" indent="0" algn="l" defTabSz="914400" rtl="0" eaLnBrk="1" fontAlgn="base" latinLnBrk="0" hangingPunct="1">
                        <a:lnSpc>
                          <a:spcPct val="100000"/>
                        </a:lnSpc>
                        <a:spcBef>
                          <a:spcPct val="0"/>
                        </a:spcBef>
                        <a:spcAft>
                          <a:spcPct val="0"/>
                        </a:spcAft>
                        <a:buClr>
                          <a:schemeClr val="tx1"/>
                        </a:buClr>
                        <a:buSzPct val="80000"/>
                        <a:buFont typeface="Arial" pitchFamily="34" charset="0"/>
                        <a:buNone/>
                        <a:tabLst/>
                        <a:defRPr/>
                      </a:pPr>
                      <a:r>
                        <a:rPr kumimoji="0" lang="en-US" sz="1200" b="1" i="0" u="none" strike="noStrike" cap="none" normalizeH="0" baseline="0" dirty="0" smtClean="0">
                          <a:ln>
                            <a:noFill/>
                          </a:ln>
                          <a:solidFill>
                            <a:schemeClr val="tx1"/>
                          </a:solidFill>
                          <a:effectLst/>
                          <a:latin typeface="Arial" charset="0"/>
                        </a:rPr>
                        <a:t>Great Answer: </a:t>
                      </a:r>
                      <a:r>
                        <a:rPr kumimoji="0" lang="en-US" sz="1200" b="0" i="0" u="none" strike="noStrike" cap="none" normalizeH="0" baseline="0" dirty="0" smtClean="0">
                          <a:ln>
                            <a:noFill/>
                          </a:ln>
                          <a:solidFill>
                            <a:schemeClr val="tx1"/>
                          </a:solidFill>
                          <a:effectLst/>
                          <a:latin typeface="Arial" charset="0"/>
                        </a:rPr>
                        <a:t>will include the above, but the candidate would also mention the following points and how each may affect the valuation:</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None/>
                        <a:tabLst/>
                        <a:defRPr/>
                      </a:pPr>
                      <a:r>
                        <a:rPr kumimoji="0" lang="en-US" sz="1200" b="0" i="0" u="none" strike="noStrike" cap="none" normalizeH="0" baseline="0" dirty="0" smtClean="0">
                          <a:ln>
                            <a:noFill/>
                          </a:ln>
                          <a:solidFill>
                            <a:schemeClr val="tx1"/>
                          </a:solidFill>
                          <a:effectLst/>
                          <a:latin typeface="Arial" charset="0"/>
                        </a:rPr>
                        <a:t>Sale Scenario:</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defRPr/>
                      </a:pPr>
                      <a:r>
                        <a:rPr kumimoji="0" lang="en-US" sz="1200" b="0" i="0" u="none" strike="noStrike" cap="none" normalizeH="0" baseline="0" dirty="0" smtClean="0">
                          <a:ln>
                            <a:noFill/>
                          </a:ln>
                          <a:solidFill>
                            <a:schemeClr val="tx1"/>
                          </a:solidFill>
                          <a:effectLst/>
                          <a:latin typeface="Arial" charset="0"/>
                        </a:rPr>
                        <a:t>The ability to capture some of the existing demand for the Tea brand currently satisfied through Coffee branded retail stores and coffee branded outlets (i.e., a portion of each of the $20M and the $30M)</a:t>
                      </a:r>
                    </a:p>
                    <a:p>
                      <a:pPr marL="685800" marR="0" lvl="1"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defRPr/>
                      </a:pPr>
                      <a:r>
                        <a:rPr kumimoji="0" lang="en-US" sz="1200" b="0" i="0" u="none" strike="noStrike" cap="none" normalizeH="0" baseline="0" dirty="0" smtClean="0">
                          <a:ln>
                            <a:noFill/>
                          </a:ln>
                          <a:solidFill>
                            <a:schemeClr val="tx1"/>
                          </a:solidFill>
                          <a:effectLst/>
                          <a:latin typeface="Arial" charset="0"/>
                        </a:rPr>
                        <a:t>Buyer may have existing channels that can satisfy the dormant demand; or buyer can build channels from scratch</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defRPr/>
                      </a:pPr>
                      <a:r>
                        <a:rPr kumimoji="0" lang="en-US" sz="1200" b="0" i="0" u="none" strike="noStrike" cap="none" normalizeH="0" baseline="0" dirty="0" smtClean="0">
                          <a:ln>
                            <a:noFill/>
                          </a:ln>
                          <a:solidFill>
                            <a:schemeClr val="tx1"/>
                          </a:solidFill>
                          <a:effectLst/>
                          <a:latin typeface="Arial" charset="0"/>
                        </a:rPr>
                        <a:t>Buyer is also purchasing the remaining store leases as part of its purchase price, so ability to fill up space in Tea stores currently filled by Coffee branded products may also attract a slight premium</a:t>
                      </a:r>
                    </a:p>
                    <a:p>
                      <a:pPr marL="228600" marR="0" lvl="0" indent="-228600" algn="l" defTabSz="914400" rtl="0" eaLnBrk="1" fontAlgn="base" latinLnBrk="0" hangingPunct="1">
                        <a:lnSpc>
                          <a:spcPct val="100000"/>
                        </a:lnSpc>
                        <a:spcBef>
                          <a:spcPct val="0"/>
                        </a:spcBef>
                        <a:spcAft>
                          <a:spcPct val="0"/>
                        </a:spcAft>
                        <a:buClr>
                          <a:srgbClr val="000000"/>
                        </a:buClr>
                        <a:buSzPct val="80000"/>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Coffee’s ability to replace the lost revenue streams associated with the sale will improve the attractiveness of the sell scenario but should be wary of the buyer seeking a discount for having to replace the lost revenue streams</a:t>
                      </a:r>
                      <a:endParaRPr kumimoji="0" lang="en-US" sz="120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None/>
                        <a:tabLst/>
                        <a:defRPr/>
                      </a:pPr>
                      <a:r>
                        <a:rPr kumimoji="0" lang="en-US" sz="1200" b="0" i="0" u="none" strike="noStrike" cap="none" normalizeH="0" baseline="0" dirty="0" smtClean="0">
                          <a:ln>
                            <a:noFill/>
                          </a:ln>
                          <a:solidFill>
                            <a:schemeClr val="tx1"/>
                          </a:solidFill>
                          <a:effectLst/>
                          <a:latin typeface="Arial" charset="0"/>
                        </a:rPr>
                        <a:t>Hold Scenario:</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defRPr/>
                      </a:pPr>
                      <a:r>
                        <a:rPr kumimoji="0" lang="en-US" sz="1200" b="0" i="0" u="none" strike="noStrike" cap="none" normalizeH="0" baseline="0" dirty="0" smtClean="0">
                          <a:ln>
                            <a:noFill/>
                          </a:ln>
                          <a:solidFill>
                            <a:schemeClr val="tx1"/>
                          </a:solidFill>
                          <a:effectLst/>
                          <a:latin typeface="Arial" charset="0"/>
                        </a:rPr>
                        <a:t>Candidate should compare Coffee’s return on investment to Tea’s to determine if there is any merit in investing money into Tea to turn it around.</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9162" name="Rectangle 2"/>
          <p:cNvSpPr>
            <a:spLocks noGrp="1" noChangeArrowheads="1"/>
          </p:cNvSpPr>
          <p:nvPr>
            <p:ph type="title"/>
          </p:nvPr>
        </p:nvSpPr>
        <p:spPr>
          <a:xfrm>
            <a:off x="401638" y="512144"/>
            <a:ext cx="8345487" cy="260969"/>
          </a:xfrm>
        </p:spPr>
        <p:txBody>
          <a:bodyPr/>
          <a:lstStyle/>
          <a:p>
            <a:pPr eaLnBrk="1" hangingPunct="1"/>
            <a:r>
              <a:rPr lang="en-US" dirty="0" smtClean="0"/>
              <a:t>Brand Carve Out – Value Hold &amp; Sale Scenario</a:t>
            </a:r>
          </a:p>
        </p:txBody>
      </p:sp>
    </p:spTree>
    <p:extLst>
      <p:ext uri="{BB962C8B-B14F-4D97-AF65-F5344CB8AC3E}">
        <p14:creationId xmlns:p14="http://schemas.microsoft.com/office/powerpoint/2010/main" val="2740441891"/>
      </p:ext>
    </p:extLst>
  </p:cSld>
  <p:clrMapOvr>
    <a:masterClrMapping/>
  </p:clrMapOvr>
  <p:timing>
    <p:tnLst>
      <p:par>
        <p:cTn xmlns:p14="http://schemas.microsoft.com/office/powerpoint/2010/mai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99" name="Group 15"/>
          <p:cNvGraphicFramePr>
            <a:graphicFrameLocks noGrp="1"/>
          </p:cNvGraphicFramePr>
          <p:nvPr>
            <p:ph sz="half" idx="1"/>
            <p:extLst/>
          </p:nvPr>
        </p:nvGraphicFramePr>
        <p:xfrm>
          <a:off x="396875" y="901701"/>
          <a:ext cx="8289925" cy="3804219"/>
        </p:xfrm>
        <a:graphic>
          <a:graphicData uri="http://schemas.openxmlformats.org/drawingml/2006/table">
            <a:tbl>
              <a:tblPr/>
              <a:tblGrid>
                <a:gridCol w="8289925"/>
              </a:tblGrid>
              <a:tr h="256225">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600" b="1" i="0" u="none" strike="noStrike" cap="none" normalizeH="0" baseline="0" dirty="0" smtClean="0">
                          <a:ln>
                            <a:noFill/>
                          </a:ln>
                          <a:solidFill>
                            <a:schemeClr val="tx1"/>
                          </a:solidFill>
                          <a:effectLst/>
                          <a:latin typeface="Arial" charset="0"/>
                        </a:rPr>
                        <a:t>Prompt Questions and Responses </a:t>
                      </a:r>
                      <a:r>
                        <a:rPr kumimoji="0" lang="en-US" sz="1100" b="1" i="0" u="none" strike="noStrike" cap="none" normalizeH="0" baseline="0" dirty="0" smtClean="0">
                          <a:ln>
                            <a:noFill/>
                          </a:ln>
                          <a:solidFill>
                            <a:schemeClr val="tx1"/>
                          </a:solidFill>
                          <a:effectLst/>
                          <a:latin typeface="Arial" charset="0"/>
                        </a:rPr>
                        <a:t>(For interviewer reference ONLY)</a:t>
                      </a:r>
                      <a:r>
                        <a:rPr kumimoji="0" lang="en-US" sz="1600" b="1" i="0" u="none" strike="noStrike" cap="none" normalizeH="0" baseline="0" dirty="0" smtClean="0">
                          <a:ln>
                            <a:noFill/>
                          </a:ln>
                          <a:solidFill>
                            <a:schemeClr val="tx1"/>
                          </a:solidFill>
                          <a:effectLst/>
                          <a:latin typeface="Arial" charset="0"/>
                        </a:rPr>
                        <a:t>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3414075">
                <a:tc>
                  <a:txBody>
                    <a:bodyPr/>
                    <a:lstStyle/>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3. If Coffee decides to hold the Tea brand, how long will it take for the cash flow from Tea to equal the amount of money that Coffee would have received through selling Tea? </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Note: Please use $50M as the sales price in the calculation, ignore time value of money</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AutoNum type="arabicPeriod"/>
                        <a:tabLst/>
                      </a:pPr>
                      <a:endParaRPr kumimoji="0" lang="en-US" sz="1400" b="1"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Good Answer:</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pPr>
                      <a:r>
                        <a:rPr kumimoji="0" lang="en-US" sz="1400" b="0" i="0" u="none" strike="noStrike" cap="none" normalizeH="0" baseline="0" dirty="0" smtClean="0">
                          <a:ln>
                            <a:noFill/>
                          </a:ln>
                          <a:solidFill>
                            <a:schemeClr val="tx1"/>
                          </a:solidFill>
                          <a:effectLst/>
                          <a:latin typeface="Arial" charset="0"/>
                        </a:rPr>
                        <a:t>Using $120.25M of revenue from question 1b, candidate will need to use the 10% EBIT margin.  </a:t>
                      </a:r>
                    </a:p>
                    <a:p>
                      <a:pPr marL="685800" marR="0" lvl="1"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pPr>
                      <a:r>
                        <a:rPr kumimoji="0" lang="en-US" sz="1400" b="0" i="0" u="none" strike="noStrike" cap="none" normalizeH="0" baseline="0" dirty="0" smtClean="0">
                          <a:ln>
                            <a:noFill/>
                          </a:ln>
                          <a:solidFill>
                            <a:schemeClr val="tx1"/>
                          </a:solidFill>
                          <a:effectLst/>
                          <a:latin typeface="Arial" charset="0"/>
                        </a:rPr>
                        <a:t>10% * 120.25M = $12M per year</a:t>
                      </a:r>
                    </a:p>
                    <a:p>
                      <a:pPr marL="685800" marR="0" lvl="1"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pPr>
                      <a:r>
                        <a:rPr kumimoji="0" lang="en-US" sz="1400" b="0" i="0" u="none" strike="noStrike" cap="none" normalizeH="0" baseline="0" dirty="0" smtClean="0">
                          <a:ln>
                            <a:noFill/>
                          </a:ln>
                          <a:solidFill>
                            <a:schemeClr val="tx1"/>
                          </a:solidFill>
                          <a:effectLst/>
                          <a:latin typeface="Arial" charset="0"/>
                        </a:rPr>
                        <a:t>Breakeven would occur $50M/$12M or slightly past 4 years </a:t>
                      </a:r>
                      <a:endParaRPr kumimoji="0" lang="en-US" sz="1400" b="1" i="0" u="sng"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400" b="1"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Better Answer:</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defRPr/>
                      </a:pPr>
                      <a:r>
                        <a:rPr kumimoji="0" lang="en-US" sz="1400" b="0" i="0" u="none" strike="noStrike" cap="none" normalizeH="0" baseline="0" dirty="0" smtClean="0">
                          <a:ln>
                            <a:noFill/>
                          </a:ln>
                          <a:solidFill>
                            <a:schemeClr val="tx1"/>
                          </a:solidFill>
                          <a:effectLst/>
                          <a:latin typeface="Arial" charset="0"/>
                        </a:rPr>
                        <a:t>Candidate should realize that EBIT is not the true cash flow and should take taxes out</a:t>
                      </a:r>
                    </a:p>
                    <a:p>
                      <a:pPr marL="685800" marR="0" lvl="1"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defRPr/>
                      </a:pPr>
                      <a:r>
                        <a:rPr kumimoji="0" lang="en-US" sz="1400" b="0" i="0" u="none" strike="noStrike" cap="none" normalizeH="0" baseline="0" dirty="0" smtClean="0">
                          <a:ln>
                            <a:noFill/>
                          </a:ln>
                          <a:solidFill>
                            <a:schemeClr val="tx1"/>
                          </a:solidFill>
                          <a:effectLst/>
                          <a:latin typeface="Arial" charset="0"/>
                        </a:rPr>
                        <a:t>Assuming 40% tax rate, net earnings % would be 6%</a:t>
                      </a:r>
                    </a:p>
                    <a:p>
                      <a:pPr marL="1143000" marR="0" lvl="2"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defRPr/>
                      </a:pPr>
                      <a:r>
                        <a:rPr kumimoji="0" lang="en-US" sz="1400" b="0" i="0" u="none" strike="noStrike" cap="none" normalizeH="0" baseline="0" dirty="0" smtClean="0">
                          <a:ln>
                            <a:noFill/>
                          </a:ln>
                          <a:solidFill>
                            <a:schemeClr val="tx1"/>
                          </a:solidFill>
                          <a:effectLst/>
                          <a:latin typeface="Arial" charset="0"/>
                        </a:rPr>
                        <a:t>6% * 120.25 = $7.2M  per year</a:t>
                      </a:r>
                    </a:p>
                    <a:p>
                      <a:pPr marL="1143000" marR="0" lvl="2" indent="-228600" algn="l" defTabSz="914400" rtl="0" eaLnBrk="1" fontAlgn="base" latinLnBrk="0" hangingPunct="1">
                        <a:lnSpc>
                          <a:spcPct val="100000"/>
                        </a:lnSpc>
                        <a:spcBef>
                          <a:spcPct val="0"/>
                        </a:spcBef>
                        <a:spcAft>
                          <a:spcPct val="0"/>
                        </a:spcAft>
                        <a:buClr>
                          <a:schemeClr val="tx1"/>
                        </a:buClr>
                        <a:buSzPct val="80000"/>
                        <a:buFont typeface="Arial" pitchFamily="34" charset="0"/>
                        <a:buChar char="•"/>
                        <a:tabLst/>
                        <a:defRPr/>
                      </a:pPr>
                      <a:r>
                        <a:rPr kumimoji="0" lang="en-US" sz="1400" b="0" i="0" u="none" strike="noStrike" cap="none" normalizeH="0" baseline="0" dirty="0" smtClean="0">
                          <a:ln>
                            <a:noFill/>
                          </a:ln>
                          <a:solidFill>
                            <a:schemeClr val="tx1"/>
                          </a:solidFill>
                          <a:effectLst/>
                          <a:latin typeface="Arial" charset="0"/>
                        </a:rPr>
                        <a:t>Breakeven would occur $50M/$7.2M or about 7 years </a:t>
                      </a:r>
                    </a:p>
                    <a:p>
                      <a:pPr marL="0" marR="0" lvl="0" indent="0" algn="l" defTabSz="914400" rtl="0" eaLnBrk="1" fontAlgn="base" latinLnBrk="0" hangingPunct="1">
                        <a:lnSpc>
                          <a:spcPct val="100000"/>
                        </a:lnSpc>
                        <a:spcBef>
                          <a:spcPct val="0"/>
                        </a:spcBef>
                        <a:spcAft>
                          <a:spcPct val="0"/>
                        </a:spcAft>
                        <a:buClr>
                          <a:schemeClr val="tx1"/>
                        </a:buClr>
                        <a:buSzPct val="80000"/>
                        <a:buFont typeface="Arial" pitchFamily="34" charset="0"/>
                        <a:buNone/>
                        <a:tabLst/>
                        <a:defRPr/>
                      </a:pPr>
                      <a:endParaRPr kumimoji="0" lang="en-US" sz="1200" b="1" i="0" u="none" strike="noStrike" cap="none" normalizeH="0" baseline="0" dirty="0" smtClean="0">
                        <a:ln>
                          <a:noFill/>
                        </a:ln>
                        <a:solidFill>
                          <a:schemeClr val="tx1"/>
                        </a:solidFill>
                        <a:effectLst/>
                        <a:latin typeface="Arial" charset="0"/>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9162" name="Rectangle 2"/>
          <p:cNvSpPr>
            <a:spLocks noGrp="1" noChangeArrowheads="1"/>
          </p:cNvSpPr>
          <p:nvPr>
            <p:ph type="title"/>
          </p:nvPr>
        </p:nvSpPr>
        <p:spPr>
          <a:xfrm>
            <a:off x="401638" y="530674"/>
            <a:ext cx="8345487" cy="242439"/>
          </a:xfrm>
        </p:spPr>
        <p:txBody>
          <a:bodyPr/>
          <a:lstStyle/>
          <a:p>
            <a:pPr eaLnBrk="1" hangingPunct="1"/>
            <a:r>
              <a:rPr lang="en-US" dirty="0" smtClean="0"/>
              <a:t>Brand Carve Out – Value Hold &amp; Sale Scenario</a:t>
            </a:r>
          </a:p>
        </p:txBody>
      </p:sp>
    </p:spTree>
    <p:extLst>
      <p:ext uri="{BB962C8B-B14F-4D97-AF65-F5344CB8AC3E}">
        <p14:creationId xmlns:p14="http://schemas.microsoft.com/office/powerpoint/2010/main" val="2125221261"/>
      </p:ext>
    </p:extLst>
  </p:cSld>
  <p:clrMapOvr>
    <a:masterClrMapping/>
  </p:clrMapOvr>
  <p:timing>
    <p:tnLst>
      <p:par>
        <p:cTn xmlns:p14="http://schemas.microsoft.com/office/powerpoint/2010/mai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99" name="Group 15"/>
          <p:cNvGraphicFramePr>
            <a:graphicFrameLocks noGrp="1"/>
          </p:cNvGraphicFramePr>
          <p:nvPr>
            <p:ph sz="half" idx="1"/>
            <p:extLst/>
          </p:nvPr>
        </p:nvGraphicFramePr>
        <p:xfrm>
          <a:off x="396875" y="798577"/>
          <a:ext cx="8289925" cy="5679440"/>
        </p:xfrm>
        <a:graphic>
          <a:graphicData uri="http://schemas.openxmlformats.org/drawingml/2006/table">
            <a:tbl>
              <a:tblPr/>
              <a:tblGrid>
                <a:gridCol w="8289925"/>
              </a:tblGrid>
              <a:tr h="284794">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600" b="1" i="0" u="none" strike="noStrike" cap="none" normalizeH="0" baseline="0" dirty="0" smtClean="0">
                          <a:ln>
                            <a:noFill/>
                          </a:ln>
                          <a:solidFill>
                            <a:schemeClr val="tx1"/>
                          </a:solidFill>
                          <a:effectLst/>
                          <a:latin typeface="Arial" charset="0"/>
                        </a:rPr>
                        <a:t>Prompt Questions and Responses </a:t>
                      </a:r>
                      <a:r>
                        <a:rPr kumimoji="0" lang="en-US" sz="1100" b="1" i="0" u="none" strike="noStrike" cap="none" normalizeH="0" baseline="0" dirty="0" smtClean="0">
                          <a:ln>
                            <a:noFill/>
                          </a:ln>
                          <a:solidFill>
                            <a:schemeClr val="tx1"/>
                          </a:solidFill>
                          <a:effectLst/>
                          <a:latin typeface="Arial" charset="0"/>
                        </a:rPr>
                        <a:t>(For interviewer reference ONLY)</a:t>
                      </a:r>
                      <a:r>
                        <a:rPr kumimoji="0" lang="en-US" sz="1600" b="1" i="0" u="none" strike="noStrike" cap="none" normalizeH="0" baseline="0" dirty="0" smtClean="0">
                          <a:ln>
                            <a:noFill/>
                          </a:ln>
                          <a:solidFill>
                            <a:schemeClr val="tx1"/>
                          </a:solidFill>
                          <a:effectLst/>
                          <a:latin typeface="Arial" charset="0"/>
                        </a:rPr>
                        <a:t>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3036316">
                <a:tc>
                  <a:txBody>
                    <a:bodyPr/>
                    <a:lstStyle/>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tx1"/>
                          </a:solidFill>
                          <a:effectLst/>
                          <a:latin typeface="Arial" charset="0"/>
                        </a:rPr>
                        <a:t>4. Based on your analysis, what would you recommend Coffee do?</a:t>
                      </a:r>
                      <a:endParaRPr kumimoji="0" lang="en-US" sz="1600" b="1" i="0" u="none" strike="noStrike" cap="none" normalizeH="0" baseline="0" dirty="0" smtClean="0">
                        <a:ln>
                          <a:noFill/>
                        </a:ln>
                        <a:solidFill>
                          <a:schemeClr val="tx1"/>
                        </a:solidFill>
                        <a:effectLst/>
                        <a:latin typeface="Arial" charset="0"/>
                      </a:endParaRPr>
                    </a:p>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The candidate should compare the value of the sale scenario (~$46M) to the hold scenario (~84M). Based on the analysis, the conclusion should be to hold onto the Tea brand. The candidate should at minimum recommend that Coffee pursue the scenario with the higher valuation.</a:t>
                      </a:r>
                    </a:p>
                    <a:p>
                      <a:pPr marL="228600" marR="0" lvl="0" indent="-22860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endParaRPr kumimoji="0" lang="en-US" sz="1000" b="1" i="0" u="none" strike="noStrike" cap="none" normalizeH="0" baseline="0" dirty="0" smtClean="0">
                        <a:ln>
                          <a:noFill/>
                        </a:ln>
                        <a:solidFill>
                          <a:schemeClr val="tx1"/>
                        </a:solidFill>
                        <a:effectLst/>
                        <a:latin typeface="Arial" charset="0"/>
                      </a:endParaRPr>
                    </a:p>
                    <a:p>
                      <a:pPr marL="192088" marR="0" lvl="1" indent="-190500" algn="l" defTabSz="914400" rtl="0" eaLnBrk="1" fontAlgn="base" latinLnBrk="0" hangingPunct="1">
                        <a:lnSpc>
                          <a:spcPct val="90000"/>
                        </a:lnSpc>
                        <a:spcBef>
                          <a:spcPct val="0"/>
                        </a:spcBef>
                        <a:spcAft>
                          <a:spcPct val="0"/>
                        </a:spcAft>
                        <a:buClr>
                          <a:schemeClr val="tx1"/>
                        </a:buClr>
                        <a:buSzTx/>
                        <a:buFont typeface="Wingdings" pitchFamily="2" charset="2"/>
                        <a:buNone/>
                        <a:tabLst/>
                      </a:pPr>
                      <a:r>
                        <a:rPr kumimoji="0" lang="en-US" sz="1600" b="1" i="1" u="none" strike="noStrike" cap="none" normalizeH="0" baseline="0" dirty="0" smtClean="0">
                          <a:ln>
                            <a:noFill/>
                          </a:ln>
                          <a:solidFill>
                            <a:schemeClr val="tx1"/>
                          </a:solidFill>
                          <a:effectLst/>
                          <a:latin typeface="Arial" charset="0"/>
                        </a:rPr>
                        <a:t>A good answer </a:t>
                      </a:r>
                      <a:r>
                        <a:rPr kumimoji="0" lang="en-US" sz="1600" b="0" i="0" u="none" strike="noStrike" cap="none" normalizeH="0" baseline="0" dirty="0" smtClean="0">
                          <a:ln>
                            <a:noFill/>
                          </a:ln>
                          <a:solidFill>
                            <a:schemeClr val="tx1"/>
                          </a:solidFill>
                          <a:effectLst/>
                          <a:latin typeface="Arial" charset="0"/>
                        </a:rPr>
                        <a:t>will draw the following conclusions from the data provided:  </a:t>
                      </a:r>
                    </a:p>
                    <a:p>
                      <a:pPr marL="192088" marR="0" lvl="1" indent="-190500" algn="l" defTabSz="914400" rtl="0" eaLnBrk="1" fontAlgn="base" latinLnBrk="0" hangingPunct="1">
                        <a:lnSpc>
                          <a:spcPct val="90000"/>
                        </a:lnSpc>
                        <a:spcBef>
                          <a:spcPct val="0"/>
                        </a:spcBef>
                        <a:spcAft>
                          <a:spcPct val="0"/>
                        </a:spcAft>
                        <a:buClr>
                          <a:schemeClr val="tx1"/>
                        </a:buClr>
                        <a:buSzTx/>
                        <a:buFont typeface="Wingdings" pitchFamily="2" charset="2"/>
                        <a:buNone/>
                        <a:tabLst/>
                      </a:pPr>
                      <a:endParaRPr kumimoji="0" lang="en-US" sz="1000" b="0" i="0" u="sng" strike="noStrike" cap="none" normalizeH="0" baseline="0" dirty="0" smtClean="0">
                        <a:ln>
                          <a:noFill/>
                        </a:ln>
                        <a:solidFill>
                          <a:schemeClr val="tx1"/>
                        </a:solidFill>
                        <a:effectLst/>
                        <a:latin typeface="Arial" charset="0"/>
                      </a:endParaRPr>
                    </a:p>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None/>
                        <a:tabLst/>
                        <a:defRPr/>
                      </a:pPr>
                      <a:r>
                        <a:rPr kumimoji="0" lang="en-US" sz="1400" b="0" i="0" u="none" strike="noStrike" cap="none" normalizeH="0" baseline="0" dirty="0" smtClean="0">
                          <a:ln>
                            <a:noFill/>
                          </a:ln>
                          <a:solidFill>
                            <a:schemeClr val="tx1"/>
                          </a:solidFill>
                          <a:effectLst/>
                          <a:latin typeface="Arial" charset="0"/>
                        </a:rPr>
                        <a:t>If candidate chooses to hold Tea, the candidate should mention:</a:t>
                      </a:r>
                    </a:p>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defRPr/>
                      </a:pPr>
                      <a:r>
                        <a:rPr lang="en-US" sz="1400" b="0" dirty="0" smtClean="0"/>
                        <a:t>Its value to </a:t>
                      </a:r>
                      <a:r>
                        <a:rPr lang="en-US" sz="1400" b="0" dirty="0" smtClean="0">
                          <a:solidFill>
                            <a:schemeClr val="tx1"/>
                          </a:solidFill>
                        </a:rPr>
                        <a:t>Coffee</a:t>
                      </a:r>
                      <a:r>
                        <a:rPr lang="en-US" sz="1400" b="0" baseline="0" dirty="0" smtClean="0"/>
                        <a:t> exceeds the sell case</a:t>
                      </a:r>
                    </a:p>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defRPr/>
                      </a:pPr>
                      <a:r>
                        <a:rPr lang="en-US" sz="1400" b="0" baseline="0" dirty="0" smtClean="0"/>
                        <a:t>There may be an opportunity to improve the performance of Tea that may require extra investment:</a:t>
                      </a:r>
                    </a:p>
                    <a:p>
                      <a:pPr marL="649288" marR="0" lvl="2"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defRPr/>
                      </a:pPr>
                      <a:r>
                        <a:rPr lang="en-US" sz="1400" b="0" dirty="0" smtClean="0"/>
                        <a:t>Open</a:t>
                      </a:r>
                      <a:r>
                        <a:rPr lang="en-US" sz="1400" b="0" baseline="0" dirty="0" smtClean="0"/>
                        <a:t> more Tea retail stores</a:t>
                      </a:r>
                    </a:p>
                    <a:p>
                      <a:pPr marL="649288" marR="0" lvl="2"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defRPr/>
                      </a:pPr>
                      <a:r>
                        <a:rPr lang="en-US" sz="1400" b="0" baseline="0" dirty="0" smtClean="0"/>
                        <a:t>Enterprise cost reduction program</a:t>
                      </a:r>
                    </a:p>
                    <a:p>
                      <a:pPr marL="649288" marR="0" lvl="2"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defRPr/>
                      </a:pPr>
                      <a:r>
                        <a:rPr lang="en-US" sz="1400" b="0" baseline="0" dirty="0" smtClean="0">
                          <a:solidFill>
                            <a:schemeClr val="tx1"/>
                          </a:solidFill>
                        </a:rPr>
                        <a:t>Take brand international</a:t>
                      </a:r>
                    </a:p>
                    <a:p>
                      <a:pPr marL="649288" marR="0" lvl="2"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defRPr/>
                      </a:pPr>
                      <a:r>
                        <a:rPr lang="en-US" sz="1400" b="0" baseline="0" dirty="0" smtClean="0">
                          <a:solidFill>
                            <a:schemeClr val="tx1"/>
                          </a:solidFill>
                        </a:rPr>
                        <a:t>Take brand to a broader range of potential wholesale clients (e.g. independent retailers)</a:t>
                      </a:r>
                      <a:endParaRPr lang="en-US" sz="1400" b="0" dirty="0" smtClean="0">
                        <a:solidFill>
                          <a:schemeClr val="tx1"/>
                        </a:solidFill>
                      </a:endParaRPr>
                    </a:p>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defRPr/>
                      </a:pPr>
                      <a:r>
                        <a:rPr lang="en-US" sz="1400" b="0" dirty="0" smtClean="0">
                          <a:solidFill>
                            <a:schemeClr val="tx1"/>
                          </a:solidFill>
                        </a:rPr>
                        <a:t>Holding</a:t>
                      </a:r>
                      <a:r>
                        <a:rPr lang="en-US" sz="1400" b="0" baseline="0" dirty="0" smtClean="0">
                          <a:solidFill>
                            <a:schemeClr val="tx1"/>
                          </a:solidFill>
                        </a:rPr>
                        <a:t> </a:t>
                      </a:r>
                      <a:r>
                        <a:rPr lang="en-US" sz="1400" b="0" baseline="0" dirty="0" smtClean="0"/>
                        <a:t>Tea </a:t>
                      </a:r>
                      <a:r>
                        <a:rPr lang="en-US" sz="1400" b="0" baseline="0" dirty="0" smtClean="0">
                          <a:solidFill>
                            <a:schemeClr val="tx1"/>
                          </a:solidFill>
                        </a:rPr>
                        <a:t>could </a:t>
                      </a:r>
                      <a:r>
                        <a:rPr lang="en-US" sz="1400" b="0" baseline="0" dirty="0" smtClean="0"/>
                        <a:t>allow the retail business to continue to leak value. The combined effects of store closures and steady decline in EBIT margin (12% in 2009 to 10% in 2011)  has resulted in a significant reduction in Tea’s retail profits. The bulk of Tea’s value increasingly lies with the wholesale business</a:t>
                      </a:r>
                    </a:p>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defRPr/>
                      </a:pPr>
                      <a:r>
                        <a:rPr lang="en-US" sz="1400" b="0" baseline="0" dirty="0" smtClean="0"/>
                        <a:t>Mention the declining trend in the Tea retail outlets and have Coffee assess whether that is potentially harmful to the overall business </a:t>
                      </a:r>
                      <a:endParaRPr lang="en-US" sz="1400" b="0" dirty="0" smtClean="0"/>
                    </a:p>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None/>
                        <a:tabLst/>
                        <a:defRPr/>
                      </a:pPr>
                      <a:endParaRPr lang="en-US" sz="1000" b="0" baseline="0" dirty="0" smtClean="0"/>
                    </a:p>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None/>
                        <a:tabLst/>
                      </a:pPr>
                      <a:r>
                        <a:rPr kumimoji="0" lang="en-US" sz="1400" b="0" i="0" u="none" strike="noStrike" cap="none" normalizeH="0" baseline="0" dirty="0" smtClean="0">
                          <a:ln>
                            <a:noFill/>
                          </a:ln>
                          <a:solidFill>
                            <a:schemeClr val="tx1"/>
                          </a:solidFill>
                          <a:effectLst/>
                          <a:latin typeface="Arial" charset="0"/>
                        </a:rPr>
                        <a:t>If candidate chooses to sell Tea, the candidate should mention:</a:t>
                      </a:r>
                    </a:p>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pPr>
                      <a:r>
                        <a:rPr kumimoji="0" lang="en-US" sz="1400" b="0" i="0" u="none" strike="noStrike" cap="none" normalizeH="0" baseline="0" dirty="0" smtClean="0">
                          <a:ln>
                            <a:noFill/>
                          </a:ln>
                          <a:solidFill>
                            <a:schemeClr val="tx1"/>
                          </a:solidFill>
                          <a:effectLst/>
                          <a:latin typeface="Arial" charset="0"/>
                        </a:rPr>
                        <a:t>Some revenue streams from Tea branded goods are likely to be readily replaced by Coffee’s operations</a:t>
                      </a:r>
                    </a:p>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pPr>
                      <a:r>
                        <a:rPr kumimoji="0" lang="en-US" sz="1400" b="0" i="0" u="none" strike="noStrike" cap="none" normalizeH="0" baseline="0" dirty="0" smtClean="0">
                          <a:ln>
                            <a:noFill/>
                          </a:ln>
                          <a:solidFill>
                            <a:schemeClr val="tx1"/>
                          </a:solidFill>
                          <a:effectLst/>
                          <a:latin typeface="Arial" charset="0"/>
                        </a:rPr>
                        <a:t>Allows Coffee to gain as much as possible for the Tea retail business before it loses more value</a:t>
                      </a:r>
                    </a:p>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pPr>
                      <a:r>
                        <a:rPr kumimoji="0" lang="en-US" sz="1400" b="0" i="0" u="none" strike="noStrike" cap="none" normalizeH="0" baseline="0" dirty="0" smtClean="0">
                          <a:ln>
                            <a:noFill/>
                          </a:ln>
                          <a:solidFill>
                            <a:schemeClr val="tx1"/>
                          </a:solidFill>
                          <a:effectLst/>
                          <a:latin typeface="Arial" charset="0"/>
                        </a:rPr>
                        <a:t>Mention the fact that as long as the trend continues to close the Tea stores, the valuation for Tea may go down</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1210" name="Rectangle 2"/>
          <p:cNvSpPr>
            <a:spLocks noGrp="1" noChangeArrowheads="1"/>
          </p:cNvSpPr>
          <p:nvPr>
            <p:ph type="title"/>
          </p:nvPr>
        </p:nvSpPr>
        <p:spPr>
          <a:xfrm>
            <a:off x="401638" y="512144"/>
            <a:ext cx="8345487" cy="260969"/>
          </a:xfrm>
        </p:spPr>
        <p:txBody>
          <a:bodyPr/>
          <a:lstStyle/>
          <a:p>
            <a:pPr eaLnBrk="1" hangingPunct="1"/>
            <a:r>
              <a:rPr lang="en-US" dirty="0" smtClean="0"/>
              <a:t>Brand Carve Out – Recommendation &amp; Other Issues</a:t>
            </a:r>
          </a:p>
        </p:txBody>
      </p:sp>
    </p:spTree>
    <p:extLst>
      <p:ext uri="{BB962C8B-B14F-4D97-AF65-F5344CB8AC3E}">
        <p14:creationId xmlns:p14="http://schemas.microsoft.com/office/powerpoint/2010/main" val="230296613"/>
      </p:ext>
    </p:extLst>
  </p:cSld>
  <p:clrMapOvr>
    <a:masterClrMapping/>
  </p:clrMapOvr>
  <p:timing>
    <p:tnLst>
      <p:par>
        <p:cTn xmlns:p14="http://schemas.microsoft.com/office/powerpoint/2010/mai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99" name="Group 15"/>
          <p:cNvGraphicFramePr>
            <a:graphicFrameLocks noGrp="1"/>
          </p:cNvGraphicFramePr>
          <p:nvPr>
            <p:ph sz="half" idx="1"/>
            <p:extLst/>
          </p:nvPr>
        </p:nvGraphicFramePr>
        <p:xfrm>
          <a:off x="396875" y="901700"/>
          <a:ext cx="8289925" cy="5147250"/>
        </p:xfrm>
        <a:graphic>
          <a:graphicData uri="http://schemas.openxmlformats.org/drawingml/2006/table">
            <a:tbl>
              <a:tblPr/>
              <a:tblGrid>
                <a:gridCol w="8289925"/>
              </a:tblGrid>
              <a:tr h="284794">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600" b="1" i="0" u="none" strike="noStrike" cap="none" normalizeH="0" baseline="0" dirty="0" smtClean="0">
                          <a:ln>
                            <a:noFill/>
                          </a:ln>
                          <a:solidFill>
                            <a:schemeClr val="tx1"/>
                          </a:solidFill>
                          <a:effectLst/>
                          <a:latin typeface="Arial" charset="0"/>
                        </a:rPr>
                        <a:t>Prompt Questions and Responses </a:t>
                      </a:r>
                      <a:r>
                        <a:rPr kumimoji="0" lang="en-US" sz="1100" b="1" i="0" u="none" strike="noStrike" cap="none" normalizeH="0" baseline="0" dirty="0" smtClean="0">
                          <a:ln>
                            <a:noFill/>
                          </a:ln>
                          <a:solidFill>
                            <a:schemeClr val="tx1"/>
                          </a:solidFill>
                          <a:effectLst/>
                          <a:latin typeface="Arial" charset="0"/>
                        </a:rPr>
                        <a:t>(For interviewer reference ONLY)</a:t>
                      </a:r>
                      <a:r>
                        <a:rPr kumimoji="0" lang="en-US" sz="1600" b="1" i="0" u="none" strike="noStrike" cap="none" normalizeH="0" baseline="0" dirty="0" smtClean="0">
                          <a:ln>
                            <a:noFill/>
                          </a:ln>
                          <a:solidFill>
                            <a:schemeClr val="tx1"/>
                          </a:solidFill>
                          <a:effectLst/>
                          <a:latin typeface="Arial" charset="0"/>
                        </a:rPr>
                        <a:t>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4757106">
                <a:tc>
                  <a:txBody>
                    <a:bodyPr/>
                    <a:lstStyle/>
                    <a:p>
                      <a:pPr marL="192088" marR="0" lvl="1"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pPr>
                      <a:endParaRPr kumimoji="0" lang="en-US" sz="1400" b="0" i="0" u="none" strike="noStrike" cap="none" normalizeH="0" baseline="0" dirty="0" smtClean="0">
                        <a:ln>
                          <a:noFill/>
                        </a:ln>
                        <a:solidFill>
                          <a:schemeClr val="tx1"/>
                        </a:solidFill>
                        <a:effectLst/>
                        <a:latin typeface="Arial" charset="0"/>
                      </a:endParaRPr>
                    </a:p>
                    <a:p>
                      <a:pPr marL="192088" marR="0" lvl="1" indent="-190500" algn="l" defTabSz="914400" rtl="0" eaLnBrk="1" fontAlgn="base" latinLnBrk="0" hangingPunct="1">
                        <a:lnSpc>
                          <a:spcPct val="90000"/>
                        </a:lnSpc>
                        <a:spcBef>
                          <a:spcPct val="0"/>
                        </a:spcBef>
                        <a:spcAft>
                          <a:spcPct val="0"/>
                        </a:spcAft>
                        <a:buClr>
                          <a:schemeClr val="tx1"/>
                        </a:buClr>
                        <a:buSzTx/>
                        <a:buFont typeface="Wingdings" pitchFamily="2" charset="2"/>
                        <a:buNone/>
                        <a:tabLst/>
                        <a:defRPr/>
                      </a:pPr>
                      <a:r>
                        <a:rPr kumimoji="0" lang="en-US" sz="1400" b="1" i="0" u="none" strike="noStrike" cap="none" normalizeH="0" baseline="0" dirty="0" smtClean="0">
                          <a:ln>
                            <a:noFill/>
                          </a:ln>
                          <a:solidFill>
                            <a:schemeClr val="tx1"/>
                          </a:solidFill>
                          <a:effectLst/>
                          <a:latin typeface="Arial" charset="0"/>
                        </a:rPr>
                        <a:t>5. Are there any other relevant issues that may affect the valuation or divestment decision?</a:t>
                      </a:r>
                    </a:p>
                    <a:p>
                      <a:pPr marL="192088" marR="0" lvl="1" indent="-190500" algn="l" defTabSz="914400" rtl="0" eaLnBrk="1" fontAlgn="base" latinLnBrk="0" hangingPunct="1">
                        <a:lnSpc>
                          <a:spcPct val="90000"/>
                        </a:lnSpc>
                        <a:spcBef>
                          <a:spcPct val="0"/>
                        </a:spcBef>
                        <a:spcAft>
                          <a:spcPct val="0"/>
                        </a:spcAft>
                        <a:buClr>
                          <a:schemeClr val="tx1"/>
                        </a:buClr>
                        <a:buSzTx/>
                        <a:buFont typeface="Wingdings" pitchFamily="2" charset="2"/>
                        <a:buNone/>
                        <a:tabLst/>
                        <a:defRPr/>
                      </a:pPr>
                      <a:endParaRPr kumimoji="0" lang="en-US" sz="1400" b="0" i="0" u="none" strike="noStrike" cap="none" normalizeH="0" baseline="0" dirty="0" smtClean="0">
                        <a:ln>
                          <a:noFill/>
                        </a:ln>
                        <a:solidFill>
                          <a:schemeClr val="tx1"/>
                        </a:solidFill>
                        <a:effectLst/>
                        <a:latin typeface="Arial" charset="0"/>
                      </a:endParaRPr>
                    </a:p>
                    <a:p>
                      <a:pPr marL="192088" marR="0" lvl="1" indent="-190500" algn="l" defTabSz="914400" rtl="0" eaLnBrk="1" fontAlgn="base" latinLnBrk="0" hangingPunct="1">
                        <a:lnSpc>
                          <a:spcPct val="90000"/>
                        </a:lnSpc>
                        <a:spcBef>
                          <a:spcPct val="0"/>
                        </a:spcBef>
                        <a:spcAft>
                          <a:spcPct val="0"/>
                        </a:spcAft>
                        <a:buClr>
                          <a:schemeClr val="tx1"/>
                        </a:buClr>
                        <a:buSzTx/>
                        <a:buFont typeface="Wingdings" pitchFamily="2" charset="2"/>
                        <a:buNone/>
                        <a:tabLst/>
                      </a:pPr>
                      <a:r>
                        <a:rPr kumimoji="0" lang="en-US" sz="1600" b="1" i="1" u="none" strike="noStrike" cap="none" normalizeH="0" baseline="0" dirty="0" smtClean="0">
                          <a:ln>
                            <a:noFill/>
                          </a:ln>
                          <a:solidFill>
                            <a:schemeClr val="tx1"/>
                          </a:solidFill>
                          <a:effectLst/>
                          <a:latin typeface="Arial" charset="0"/>
                        </a:rPr>
                        <a:t>A good answer </a:t>
                      </a:r>
                      <a:r>
                        <a:rPr kumimoji="0" lang="en-US" sz="1600" b="0" i="0" u="none" strike="noStrike" cap="none" normalizeH="0" baseline="0" dirty="0" smtClean="0">
                          <a:ln>
                            <a:noFill/>
                          </a:ln>
                          <a:solidFill>
                            <a:schemeClr val="tx1"/>
                          </a:solidFill>
                          <a:effectLst/>
                          <a:latin typeface="Arial" charset="0"/>
                        </a:rPr>
                        <a:t>will be logically structured to address various business considerations including:</a:t>
                      </a:r>
                      <a:endParaRPr kumimoji="0" lang="en-US" sz="1600" b="0" i="0" u="sng" strike="noStrike" cap="none" normalizeH="0" baseline="0" dirty="0" smtClean="0">
                        <a:ln>
                          <a:noFill/>
                        </a:ln>
                        <a:solidFill>
                          <a:schemeClr val="tx1"/>
                        </a:solidFill>
                        <a:effectLst/>
                        <a:latin typeface="Arial" charset="0"/>
                      </a:endParaRPr>
                    </a:p>
                    <a:p>
                      <a:pPr marL="400050" marR="0" lvl="2"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pPr>
                      <a:r>
                        <a:rPr kumimoji="0" lang="en-US" sz="1400" b="0" i="0" u="sng" strike="noStrike" cap="none" normalizeH="0" baseline="0" dirty="0" smtClean="0">
                          <a:ln>
                            <a:noFill/>
                          </a:ln>
                          <a:solidFill>
                            <a:schemeClr val="tx1"/>
                          </a:solidFill>
                          <a:effectLst/>
                          <a:latin typeface="Arial" charset="0"/>
                        </a:rPr>
                        <a:t>Overall business strategy for woman’s apparel</a:t>
                      </a:r>
                      <a:r>
                        <a:rPr kumimoji="0" lang="en-US" sz="1400" b="0" i="0" u="none" strike="noStrike" cap="none" normalizeH="0" baseline="0" dirty="0" smtClean="0">
                          <a:ln>
                            <a:noFill/>
                          </a:ln>
                          <a:solidFill>
                            <a:schemeClr val="tx1"/>
                          </a:solidFill>
                          <a:effectLst/>
                          <a:latin typeface="Arial" charset="0"/>
                        </a:rPr>
                        <a:t>:</a:t>
                      </a:r>
                      <a:r>
                        <a:rPr kumimoji="0" lang="en-US" sz="1400" b="1" i="0" u="none" strike="noStrike" cap="none" normalizeH="0" baseline="0" dirty="0" smtClean="0">
                          <a:ln>
                            <a:noFill/>
                          </a:ln>
                          <a:solidFill>
                            <a:schemeClr val="tx1"/>
                          </a:solidFill>
                          <a:effectLst/>
                          <a:latin typeface="Arial" charset="0"/>
                        </a:rPr>
                        <a:t> </a:t>
                      </a:r>
                      <a:r>
                        <a:rPr kumimoji="0" lang="en-US" sz="1400" b="0" i="0" u="none" strike="noStrike" cap="none" normalizeH="0" baseline="0" dirty="0" smtClean="0">
                          <a:ln>
                            <a:noFill/>
                          </a:ln>
                          <a:solidFill>
                            <a:schemeClr val="tx1"/>
                          </a:solidFill>
                          <a:effectLst/>
                          <a:latin typeface="Arial" charset="0"/>
                        </a:rPr>
                        <a:t>Does Tea’s brand, product mix, and styling fit within the overall strategy of Coffee’s vision? This is potentially an overriding factor in the decision to buy or hold the business</a:t>
                      </a:r>
                      <a:endParaRPr kumimoji="0" lang="en-US" sz="1400" b="0" i="0" u="sng" strike="noStrike" cap="none" normalizeH="0" baseline="0" dirty="0" smtClean="0">
                        <a:ln>
                          <a:noFill/>
                        </a:ln>
                        <a:solidFill>
                          <a:schemeClr val="tx1"/>
                        </a:solidFill>
                        <a:effectLst/>
                        <a:latin typeface="Arial" charset="0"/>
                      </a:endParaRPr>
                    </a:p>
                    <a:p>
                      <a:pPr marL="400050" marR="0" lvl="2"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pPr>
                      <a:r>
                        <a:rPr kumimoji="0" lang="en-US" sz="1400" b="0" i="0" u="sng" strike="noStrike" cap="none" normalizeH="0" baseline="0" dirty="0" smtClean="0">
                          <a:ln>
                            <a:noFill/>
                          </a:ln>
                          <a:solidFill>
                            <a:schemeClr val="tx1"/>
                          </a:solidFill>
                          <a:effectLst/>
                          <a:latin typeface="Arial" charset="0"/>
                        </a:rPr>
                        <a:t>Ability to Change</a:t>
                      </a:r>
                      <a:r>
                        <a:rPr kumimoji="0" lang="en-US" sz="1400" b="0" i="0" u="none" strike="noStrike" cap="none" normalizeH="0" baseline="0" dirty="0" smtClean="0">
                          <a:ln>
                            <a:noFill/>
                          </a:ln>
                          <a:solidFill>
                            <a:schemeClr val="tx1"/>
                          </a:solidFill>
                          <a:effectLst/>
                          <a:latin typeface="Arial" charset="0"/>
                        </a:rPr>
                        <a:t>: In a hold scenario, does Coffee have the appetite to fully implement the changes required to halt the slide of Tea?</a:t>
                      </a:r>
                    </a:p>
                    <a:p>
                      <a:pPr marL="400050" marR="0" lvl="2"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pPr>
                      <a:r>
                        <a:rPr kumimoji="0" lang="en-US" sz="1400" b="0" i="0" u="sng" strike="noStrike" cap="none" normalizeH="0" baseline="0" dirty="0" smtClean="0">
                          <a:ln>
                            <a:noFill/>
                          </a:ln>
                          <a:solidFill>
                            <a:schemeClr val="tx1"/>
                          </a:solidFill>
                          <a:effectLst/>
                          <a:latin typeface="Arial" charset="0"/>
                        </a:rPr>
                        <a:t>Impact to Remaining Revenue Streams</a:t>
                      </a:r>
                      <a:r>
                        <a:rPr kumimoji="0" lang="en-US" sz="1400" b="0" i="0" u="none" strike="noStrike" cap="none" normalizeH="0" baseline="0" dirty="0" smtClean="0">
                          <a:ln>
                            <a:noFill/>
                          </a:ln>
                          <a:solidFill>
                            <a:schemeClr val="tx1"/>
                          </a:solidFill>
                          <a:effectLst/>
                          <a:latin typeface="Arial" charset="0"/>
                        </a:rPr>
                        <a:t>: Candidate should explore the impact that a divested business unit will have on the portions of the business that remain </a:t>
                      </a:r>
                    </a:p>
                    <a:p>
                      <a:pPr marL="400050" marR="0" lvl="2"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pPr>
                      <a:r>
                        <a:rPr kumimoji="0" lang="en-US" sz="1400" b="0" i="0" u="sng" strike="noStrike" cap="none" normalizeH="0" baseline="0" dirty="0" smtClean="0">
                          <a:ln>
                            <a:noFill/>
                          </a:ln>
                          <a:solidFill>
                            <a:schemeClr val="tx1"/>
                          </a:solidFill>
                          <a:effectLst/>
                          <a:latin typeface="Arial" charset="0"/>
                        </a:rPr>
                        <a:t>Potential Buyers</a:t>
                      </a:r>
                      <a:r>
                        <a:rPr kumimoji="0" lang="en-US" sz="1400" b="0" i="0" u="none" strike="noStrike" cap="none" normalizeH="0" baseline="0" dirty="0" smtClean="0">
                          <a:ln>
                            <a:noFill/>
                          </a:ln>
                          <a:solidFill>
                            <a:schemeClr val="tx1"/>
                          </a:solidFill>
                          <a:effectLst/>
                          <a:latin typeface="Arial" charset="0"/>
                        </a:rPr>
                        <a:t>: Who are the prospective buyers for the business, and what are the potential issues with making a deal with each one? E.g., Private Equity: Potential carve out experience, but unlikely to overpay for asset.  If they do not have other similar businesses in their portfolio, will need to set up their own back office functions. Strategic buyer: May take brand up or down market; an existing retail buyer may want to close the rest of the Tea retail stores; lack of back office will make it difficult for some buyers to do a “bolt-on” business.</a:t>
                      </a:r>
                    </a:p>
                    <a:p>
                      <a:pPr marL="400050" marR="0" lvl="2"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pPr>
                      <a:r>
                        <a:rPr kumimoji="0" lang="en-US" sz="1400" b="0" i="0" u="sng" strike="noStrike" cap="none" normalizeH="0" baseline="0" dirty="0" smtClean="0">
                          <a:ln>
                            <a:noFill/>
                          </a:ln>
                          <a:solidFill>
                            <a:schemeClr val="tx1"/>
                          </a:solidFill>
                          <a:effectLst/>
                          <a:latin typeface="Arial" charset="0"/>
                        </a:rPr>
                        <a:t>Transaction Costs:</a:t>
                      </a:r>
                      <a:r>
                        <a:rPr kumimoji="0" lang="en-US" sz="1400" b="0" i="0" u="none" strike="noStrike" cap="none" normalizeH="0" baseline="0" dirty="0" smtClean="0">
                          <a:ln>
                            <a:noFill/>
                          </a:ln>
                          <a:solidFill>
                            <a:schemeClr val="tx1"/>
                          </a:solidFill>
                          <a:effectLst/>
                          <a:latin typeface="Arial" charset="0"/>
                        </a:rPr>
                        <a:t>Banker costs and potential loss of management focus on the core business during deal will make sale scenario less attractive </a:t>
                      </a:r>
                    </a:p>
                    <a:p>
                      <a:pPr marL="400050" marR="0" lvl="2" indent="-190500" algn="l" defTabSz="914400" rtl="0" eaLnBrk="1" fontAlgn="base" latinLnBrk="0" hangingPunct="1">
                        <a:lnSpc>
                          <a:spcPct val="90000"/>
                        </a:lnSpc>
                        <a:spcBef>
                          <a:spcPct val="0"/>
                        </a:spcBef>
                        <a:spcAft>
                          <a:spcPct val="0"/>
                        </a:spcAft>
                        <a:buClr>
                          <a:schemeClr val="tx1"/>
                        </a:buClr>
                        <a:buSzTx/>
                        <a:buFont typeface="Arial" pitchFamily="34" charset="0"/>
                        <a:buChar char="•"/>
                        <a:tabLst/>
                      </a:pPr>
                      <a:r>
                        <a:rPr kumimoji="0" lang="en-US" sz="1400" b="0" i="0" u="sng" strike="noStrike" cap="none" normalizeH="0" baseline="0" dirty="0" smtClean="0">
                          <a:ln>
                            <a:noFill/>
                          </a:ln>
                          <a:solidFill>
                            <a:schemeClr val="tx1"/>
                          </a:solidFill>
                          <a:effectLst/>
                          <a:latin typeface="Arial" charset="0"/>
                        </a:rPr>
                        <a:t>Stranded Costs</a:t>
                      </a:r>
                      <a:r>
                        <a:rPr kumimoji="0" lang="en-US" sz="1400" b="0" i="0" u="none" strike="noStrike" cap="none" normalizeH="0" baseline="0" dirty="0" smtClean="0">
                          <a:ln>
                            <a:noFill/>
                          </a:ln>
                          <a:solidFill>
                            <a:schemeClr val="tx1"/>
                          </a:solidFill>
                          <a:effectLst/>
                          <a:latin typeface="Arial" charset="0"/>
                        </a:rPr>
                        <a:t>: there may be services across the two brands that are shared and may be stranded upon sale</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1210" name="Rectangle 2"/>
          <p:cNvSpPr>
            <a:spLocks noGrp="1" noChangeArrowheads="1"/>
          </p:cNvSpPr>
          <p:nvPr>
            <p:ph type="title"/>
          </p:nvPr>
        </p:nvSpPr>
        <p:spPr>
          <a:xfrm>
            <a:off x="401638" y="512144"/>
            <a:ext cx="8345487" cy="260969"/>
          </a:xfrm>
        </p:spPr>
        <p:txBody>
          <a:bodyPr/>
          <a:lstStyle/>
          <a:p>
            <a:pPr eaLnBrk="1" hangingPunct="1"/>
            <a:r>
              <a:rPr lang="en-US" dirty="0" smtClean="0"/>
              <a:t>Brand Carve Out – Recommendation &amp; Other Issues</a:t>
            </a:r>
          </a:p>
        </p:txBody>
      </p:sp>
    </p:spTree>
    <p:extLst>
      <p:ext uri="{BB962C8B-B14F-4D97-AF65-F5344CB8AC3E}">
        <p14:creationId xmlns:p14="http://schemas.microsoft.com/office/powerpoint/2010/main" val="1999007390"/>
      </p:ext>
    </p:extLst>
  </p:cSld>
  <p:clrMapOvr>
    <a:masterClrMapping/>
  </p:clrMapOvr>
  <p:timing>
    <p:tnLst>
      <p:par>
        <p:cTn xmlns:p14="http://schemas.microsoft.com/office/powerpoint/2010/mai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01638" y="530225"/>
            <a:ext cx="8345487" cy="242888"/>
          </a:xfrm>
        </p:spPr>
        <p:txBody>
          <a:bodyPr/>
          <a:lstStyle/>
          <a:p>
            <a:pPr eaLnBrk="1" hangingPunct="1"/>
            <a:r>
              <a:rPr lang="en-US" dirty="0" smtClean="0"/>
              <a:t>Brand Carve Out</a:t>
            </a:r>
          </a:p>
        </p:txBody>
      </p:sp>
      <p:graphicFrame>
        <p:nvGraphicFramePr>
          <p:cNvPr id="14392" name="Group 56"/>
          <p:cNvGraphicFramePr>
            <a:graphicFrameLocks noGrp="1"/>
          </p:cNvGraphicFramePr>
          <p:nvPr>
            <p:ph sz="half" idx="1"/>
            <p:extLst/>
          </p:nvPr>
        </p:nvGraphicFramePr>
        <p:xfrm>
          <a:off x="457200" y="914400"/>
          <a:ext cx="8305800" cy="4229735"/>
        </p:xfrm>
        <a:graphic>
          <a:graphicData uri="http://schemas.openxmlformats.org/drawingml/2006/table">
            <a:tbl>
              <a:tblPr/>
              <a:tblGrid>
                <a:gridCol w="8305800"/>
              </a:tblGrid>
              <a:tr h="180149">
                <a:tc>
                  <a:txBody>
                    <a:bodyPr/>
                    <a:lstStyle/>
                    <a:p>
                      <a:pPr marL="0" marR="0" lvl="0" indent="0" algn="l"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600" b="1" i="0" u="none" strike="noStrike" cap="none" normalizeH="0" baseline="0" dirty="0" smtClean="0">
                          <a:ln>
                            <a:noFill/>
                          </a:ln>
                          <a:solidFill>
                            <a:schemeClr val="tx1"/>
                          </a:solidFill>
                          <a:effectLst/>
                          <a:latin typeface="Arial" charset="0"/>
                        </a:rPr>
                        <a:t>Wrap Up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2093151">
                <a:tc>
                  <a:txBody>
                    <a:bodyPr/>
                    <a:lstStyle/>
                    <a:p>
                      <a:pPr marL="176213" marR="0" lvl="0" indent="-176213" algn="l" defTabSz="914400" rtl="0" eaLnBrk="1" fontAlgn="base" latinLnBrk="0" hangingPunct="1">
                        <a:lnSpc>
                          <a:spcPct val="106000"/>
                        </a:lnSpc>
                        <a:spcBef>
                          <a:spcPct val="80000"/>
                        </a:spcBef>
                        <a:spcAft>
                          <a:spcPct val="0"/>
                        </a:spcAft>
                        <a:buClr>
                          <a:schemeClr val="tx1"/>
                        </a:buClr>
                        <a:buSzPct val="80000"/>
                        <a:buFont typeface="Wingdings 2" pitchFamily="18" charset="2"/>
                        <a:buChar char="¡"/>
                        <a:tabLst/>
                      </a:pPr>
                      <a:r>
                        <a:rPr kumimoji="0" lang="en-US" sz="1400" b="0" i="0" u="none" strike="noStrike" cap="none" normalizeH="0" baseline="0" dirty="0" smtClean="0">
                          <a:ln>
                            <a:noFill/>
                          </a:ln>
                          <a:solidFill>
                            <a:schemeClr val="tx1"/>
                          </a:solidFill>
                          <a:effectLst/>
                          <a:latin typeface="Arial" charset="0"/>
                        </a:rPr>
                        <a:t>Divestitures are often an effective tool for a business to sharpen its focus on its core activities and free up proceeds to invest in areas of high growth. The client needed to understand whether the decision to sell a brand was a good idea, which required a thorough understanding of what a sell scenario or hold scenario would look like financially</a:t>
                      </a:r>
                    </a:p>
                    <a:p>
                      <a:pPr marL="176213" marR="0" lvl="0" indent="-176213" algn="l" defTabSz="914400" rtl="0" eaLnBrk="1" fontAlgn="base" latinLnBrk="0" hangingPunct="1">
                        <a:lnSpc>
                          <a:spcPct val="106000"/>
                        </a:lnSpc>
                        <a:spcBef>
                          <a:spcPct val="80000"/>
                        </a:spcBef>
                        <a:spcAft>
                          <a:spcPct val="0"/>
                        </a:spcAft>
                        <a:buClr>
                          <a:schemeClr val="tx1"/>
                        </a:buClr>
                        <a:buSzPct val="80000"/>
                        <a:buFont typeface="Wingdings 2" pitchFamily="18" charset="2"/>
                        <a:buChar char="¡"/>
                        <a:tabLst/>
                      </a:pPr>
                      <a:r>
                        <a:rPr kumimoji="0" lang="en-US" sz="1400" b="0" i="0" u="none" strike="noStrike" cap="none" normalizeH="0" baseline="0" dirty="0" smtClean="0">
                          <a:ln>
                            <a:noFill/>
                          </a:ln>
                          <a:solidFill>
                            <a:schemeClr val="tx1"/>
                          </a:solidFill>
                          <a:effectLst/>
                          <a:latin typeface="Arial" charset="0"/>
                        </a:rPr>
                        <a:t>In this situation, Deloitte was brought in to help the client to evaluate the hold or sell decision</a:t>
                      </a:r>
                    </a:p>
                    <a:p>
                      <a:pPr marL="176213" marR="0" lvl="0" indent="-176213" algn="l" defTabSz="914400" rtl="0" eaLnBrk="1" fontAlgn="base" latinLnBrk="0" hangingPunct="1">
                        <a:lnSpc>
                          <a:spcPct val="106000"/>
                        </a:lnSpc>
                        <a:spcBef>
                          <a:spcPct val="80000"/>
                        </a:spcBef>
                        <a:spcAft>
                          <a:spcPct val="0"/>
                        </a:spcAft>
                        <a:buClr>
                          <a:schemeClr val="tx1"/>
                        </a:buClr>
                        <a:buSzPct val="80000"/>
                        <a:buFont typeface="Wingdings 2" pitchFamily="18" charset="2"/>
                        <a:buChar char="¡"/>
                        <a:tabLst/>
                      </a:pPr>
                      <a:r>
                        <a:rPr lang="en-US" sz="1400" dirty="0" smtClean="0"/>
                        <a:t>The Deloitte team</a:t>
                      </a:r>
                      <a:r>
                        <a:rPr lang="en-US" sz="1400" baseline="0" dirty="0" smtClean="0"/>
                        <a:t> assisted the client by:</a:t>
                      </a:r>
                      <a:endParaRPr lang="en-US" sz="1400" dirty="0" smtClean="0"/>
                    </a:p>
                    <a:p>
                      <a:pPr marL="633413" marR="0" lvl="1" indent="-176213" algn="l" defTabSz="914400" rtl="0" eaLnBrk="1" fontAlgn="base" latinLnBrk="0" hangingPunct="1">
                        <a:lnSpc>
                          <a:spcPct val="106000"/>
                        </a:lnSpc>
                        <a:spcBef>
                          <a:spcPts val="0"/>
                        </a:spcBef>
                        <a:spcAft>
                          <a:spcPct val="0"/>
                        </a:spcAft>
                        <a:buClr>
                          <a:schemeClr val="tx1"/>
                        </a:buClr>
                        <a:buSzPct val="100000"/>
                        <a:buFont typeface="Arial Unicode MS" pitchFamily="34" charset="-128"/>
                        <a:buChar char="–"/>
                        <a:tabLst/>
                      </a:pPr>
                      <a:r>
                        <a:rPr lang="en-US" sz="1400" dirty="0" smtClean="0"/>
                        <a:t>Carving</a:t>
                      </a:r>
                      <a:r>
                        <a:rPr lang="en-US" sz="1400" baseline="0" dirty="0" smtClean="0"/>
                        <a:t> out the brand and determining the value of the brand to the company in both the hold and sell scenarios</a:t>
                      </a:r>
                      <a:endParaRPr lang="en-US" sz="1400" dirty="0" smtClean="0"/>
                    </a:p>
                    <a:p>
                      <a:pPr marL="633413" marR="0" lvl="1" indent="-176213" algn="l" defTabSz="914400" rtl="0" eaLnBrk="1" fontAlgn="base" latinLnBrk="0" hangingPunct="1">
                        <a:lnSpc>
                          <a:spcPct val="106000"/>
                        </a:lnSpc>
                        <a:spcBef>
                          <a:spcPts val="0"/>
                        </a:spcBef>
                        <a:spcAft>
                          <a:spcPct val="0"/>
                        </a:spcAft>
                        <a:buClr>
                          <a:schemeClr val="tx1"/>
                        </a:buClr>
                        <a:buSzPct val="100000"/>
                        <a:buFont typeface="Arial Unicode MS" pitchFamily="34" charset="-128"/>
                        <a:buChar char="–"/>
                        <a:tabLst/>
                      </a:pPr>
                      <a:r>
                        <a:rPr lang="en-US" sz="1400" kern="1200" baseline="0" dirty="0" smtClean="0">
                          <a:solidFill>
                            <a:schemeClr val="tx1"/>
                          </a:solidFill>
                          <a:latin typeface="+mn-lt"/>
                          <a:ea typeface="+mn-ea"/>
                          <a:cs typeface="+mn-cs"/>
                        </a:rPr>
                        <a:t>Conducting commercial diligence to maximize the value of the sale for the client</a:t>
                      </a:r>
                    </a:p>
                    <a:p>
                      <a:pPr marL="633413" marR="0" lvl="1" indent="-176213" algn="l" defTabSz="914400" rtl="0" eaLnBrk="1" fontAlgn="base" latinLnBrk="0" hangingPunct="1">
                        <a:lnSpc>
                          <a:spcPct val="106000"/>
                        </a:lnSpc>
                        <a:spcBef>
                          <a:spcPts val="0"/>
                        </a:spcBef>
                        <a:spcAft>
                          <a:spcPct val="0"/>
                        </a:spcAft>
                        <a:buClr>
                          <a:schemeClr val="tx1"/>
                        </a:buClr>
                        <a:buSzPct val="100000"/>
                        <a:buFont typeface="Arial Unicode MS" pitchFamily="34" charset="-128"/>
                        <a:buChar char="–"/>
                        <a:tabLst/>
                      </a:pPr>
                      <a:r>
                        <a:rPr lang="en-US" sz="1400" kern="1200" baseline="0" dirty="0" smtClean="0">
                          <a:solidFill>
                            <a:schemeClr val="tx1"/>
                          </a:solidFill>
                          <a:latin typeface="+mn-lt"/>
                          <a:ea typeface="+mn-ea"/>
                          <a:cs typeface="+mn-cs"/>
                        </a:rPr>
                        <a:t>Working with Deloitte’s Financial Advisory Services Practice to conduct sell side transaction advisory and execution services</a:t>
                      </a:r>
                    </a:p>
                    <a:p>
                      <a:pPr marL="633413" marR="0" lvl="1" indent="-176213" algn="l" defTabSz="914400" rtl="0" eaLnBrk="1" fontAlgn="base" latinLnBrk="0" hangingPunct="1">
                        <a:lnSpc>
                          <a:spcPct val="106000"/>
                        </a:lnSpc>
                        <a:spcBef>
                          <a:spcPts val="0"/>
                        </a:spcBef>
                        <a:spcAft>
                          <a:spcPct val="0"/>
                        </a:spcAft>
                        <a:buClr>
                          <a:schemeClr val="tx1"/>
                        </a:buClr>
                        <a:buSzPct val="100000"/>
                        <a:buFont typeface="Arial Unicode MS" pitchFamily="34" charset="-128"/>
                        <a:buChar char="–"/>
                        <a:tabLst/>
                      </a:pPr>
                      <a:r>
                        <a:rPr lang="en-US" sz="1400" kern="1200" baseline="0" dirty="0" smtClean="0">
                          <a:solidFill>
                            <a:schemeClr val="tx1"/>
                          </a:solidFill>
                          <a:latin typeface="+mn-lt"/>
                          <a:ea typeface="+mn-ea"/>
                          <a:cs typeface="+mn-cs"/>
                        </a:rPr>
                        <a:t>Implementation planning to minimize any stranded costs left with sell-side post -transaction</a:t>
                      </a:r>
                    </a:p>
                    <a:p>
                      <a:pPr marL="176213" marR="0" lvl="0" indent="-176213" algn="l" defTabSz="914400" rtl="0" eaLnBrk="1" fontAlgn="base" latinLnBrk="0" hangingPunct="1">
                        <a:lnSpc>
                          <a:spcPct val="106000"/>
                        </a:lnSpc>
                        <a:spcBef>
                          <a:spcPct val="80000"/>
                        </a:spcBef>
                        <a:spcAft>
                          <a:spcPct val="0"/>
                        </a:spcAft>
                        <a:buClr>
                          <a:schemeClr val="tx1"/>
                        </a:buClr>
                        <a:buSzPct val="80000"/>
                        <a:buFont typeface="Wingdings 2" pitchFamily="18" charset="2"/>
                        <a:buChar char="¡"/>
                        <a:tabLst/>
                      </a:pPr>
                      <a:r>
                        <a:rPr kumimoji="0" lang="en-US" sz="1400" b="0" i="0" u="none" strike="noStrike" cap="none" normalizeH="0" baseline="0" dirty="0" smtClean="0">
                          <a:ln>
                            <a:noFill/>
                          </a:ln>
                          <a:solidFill>
                            <a:schemeClr val="tx1"/>
                          </a:solidFill>
                          <a:effectLst/>
                          <a:latin typeface="Arial" charset="0"/>
                        </a:rPr>
                        <a:t>Deloitte is viewed as a trusted M&amp;A strategy advisor to the client and has conducted numerous projects to execute the transaction</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068102424"/>
      </p:ext>
    </p:extLst>
  </p:cSld>
  <p:clrMapOvr>
    <a:masterClrMapping/>
  </p:clrMapOvr>
  <p:timing>
    <p:tnLst>
      <p:par>
        <p:cTn xmlns:p14="http://schemas.microsoft.com/office/powerpoint/2010/mai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Line 2"/>
          <p:cNvSpPr>
            <a:spLocks noChangeShapeType="1"/>
          </p:cNvSpPr>
          <p:nvPr/>
        </p:nvSpPr>
        <p:spPr bwMode="gray">
          <a:xfrm>
            <a:off x="1466850" y="3209925"/>
            <a:ext cx="6076950"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charset="0"/>
            </a:endParaRPr>
          </a:p>
        </p:txBody>
      </p:sp>
      <p:sp>
        <p:nvSpPr>
          <p:cNvPr id="47107" name="Rectangle 3"/>
          <p:cNvSpPr>
            <a:spLocks noChangeArrowheads="1"/>
          </p:cNvSpPr>
          <p:nvPr/>
        </p:nvSpPr>
        <p:spPr bwMode="gray">
          <a:xfrm>
            <a:off x="3338209" y="2948601"/>
            <a:ext cx="2514645" cy="507831"/>
          </a:xfrm>
          <a:prstGeom prst="rect">
            <a:avLst/>
          </a:prstGeom>
          <a:solidFill>
            <a:schemeClr val="bg1"/>
          </a:solidFill>
          <a:ln w="12700" cap="rnd" algn="ctr">
            <a:noFill/>
            <a:miter lim="800000"/>
            <a:headEnd/>
            <a:tailEnd/>
          </a:ln>
        </p:spPr>
        <p:txBody>
          <a:bodyPr wrap="none" lIns="72000" tIns="0" rIns="72000" bIns="0">
            <a:spAutoFit/>
          </a:bodyPr>
          <a:lstStyle/>
          <a:p>
            <a:pPr algn="ctr">
              <a:lnSpc>
                <a:spcPct val="110000"/>
              </a:lnSpc>
              <a:spcBef>
                <a:spcPts val="0"/>
              </a:spcBef>
              <a:buClr>
                <a:srgbClr val="000000"/>
              </a:buClr>
              <a:buSzPct val="80000"/>
            </a:pPr>
            <a:r>
              <a:rPr lang="en-US" sz="1500" b="1" dirty="0" smtClean="0">
                <a:solidFill>
                  <a:srgbClr val="000000"/>
                </a:solidFill>
                <a:latin typeface="Arial"/>
                <a:cs typeface="Arial" charset="0"/>
              </a:rPr>
              <a:t>2</a:t>
            </a:r>
            <a:r>
              <a:rPr lang="en-US" sz="1500" b="1" baseline="30000" dirty="0" smtClean="0">
                <a:solidFill>
                  <a:srgbClr val="000000"/>
                </a:solidFill>
                <a:latin typeface="Arial"/>
                <a:cs typeface="Arial" charset="0"/>
              </a:rPr>
              <a:t>nd</a:t>
            </a:r>
            <a:r>
              <a:rPr lang="en-US" sz="1500" b="1" dirty="0" smtClean="0">
                <a:solidFill>
                  <a:srgbClr val="000000"/>
                </a:solidFill>
                <a:latin typeface="Arial"/>
                <a:cs typeface="Arial" charset="0"/>
              </a:rPr>
              <a:t> Round Strategic Case</a:t>
            </a:r>
          </a:p>
          <a:p>
            <a:pPr algn="ctr">
              <a:lnSpc>
                <a:spcPct val="110000"/>
              </a:lnSpc>
              <a:spcBef>
                <a:spcPts val="0"/>
              </a:spcBef>
              <a:buClr>
                <a:srgbClr val="000000"/>
              </a:buClr>
              <a:buSzPct val="80000"/>
            </a:pPr>
            <a:r>
              <a:rPr lang="en-US" sz="1500" b="1" dirty="0" smtClean="0">
                <a:solidFill>
                  <a:srgbClr val="000000"/>
                </a:solidFill>
                <a:latin typeface="Arial"/>
                <a:cs typeface="Arial" charset="0"/>
              </a:rPr>
              <a:t>Student Health Insurance</a:t>
            </a:r>
          </a:p>
        </p:txBody>
      </p:sp>
      <p:sp>
        <p:nvSpPr>
          <p:cNvPr id="5" name="Slide Number Placeholder 1"/>
          <p:cNvSpPr txBox="1">
            <a:spLocks/>
          </p:cNvSpPr>
          <p:nvPr/>
        </p:nvSpPr>
        <p:spPr bwMode="auto">
          <a:xfrm>
            <a:off x="8458200" y="6540500"/>
            <a:ext cx="381000" cy="2286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r" rtl="0" eaLnBrk="0" fontAlgn="base" hangingPunct="0">
              <a:spcBef>
                <a:spcPct val="0"/>
              </a:spcBef>
              <a:spcAft>
                <a:spcPct val="0"/>
              </a:spcAft>
              <a:defRPr sz="1200" kern="1200">
                <a:solidFill>
                  <a:schemeClr val="tx1"/>
                </a:solidFill>
                <a:latin typeface="Arial" charset="0"/>
                <a:ea typeface="ＭＳ Ｐゴシック" pitchFamily="-65"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Arial" charset="0"/>
                <a:ea typeface="ＭＳ Ｐゴシック" pitchFamily="-65" charset="-128"/>
              </a:rPr>
              <a:t>187</a:t>
            </a:r>
            <a:endParaRPr kumimoji="0" lang="en-US" sz="1200" b="0" i="0" u="none" strike="noStrike" kern="1200" cap="none" spc="0" normalizeH="0" baseline="0" noProof="0" dirty="0">
              <a:ln>
                <a:noFill/>
              </a:ln>
              <a:solidFill>
                <a:srgbClr val="000000"/>
              </a:solidFill>
              <a:effectLst/>
              <a:uLnTx/>
              <a:uFillTx/>
              <a:latin typeface="Arial" charset="0"/>
              <a:ea typeface="ＭＳ Ｐゴシック" pitchFamily="-65" charset="-128"/>
            </a:endParaRPr>
          </a:p>
        </p:txBody>
      </p:sp>
    </p:spTree>
    <p:extLst>
      <p:ext uri="{BB962C8B-B14F-4D97-AF65-F5344CB8AC3E}">
        <p14:creationId xmlns:p14="http://schemas.microsoft.com/office/powerpoint/2010/main" val="2768494942"/>
      </p:ext>
    </p:extLst>
  </p:cSld>
  <p:clrMapOvr>
    <a:masterClrMapping/>
  </p:clrMapOvr>
  <p:timing>
    <p:tnLst>
      <p:par>
        <p:cTn xmlns:p14="http://schemas.microsoft.com/office/powerpoint/2010/mai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a:xfrm>
            <a:off x="401638" y="496269"/>
            <a:ext cx="8345487" cy="260969"/>
          </a:xfrm>
        </p:spPr>
        <p:txBody>
          <a:bodyPr/>
          <a:lstStyle/>
          <a:p>
            <a:pPr eaLnBrk="1" hangingPunct="1"/>
            <a:r>
              <a:rPr lang="en-US" dirty="0" smtClean="0"/>
              <a:t>Profitable Growth Strategy: Business Unit of National Health Insurance Company</a:t>
            </a:r>
          </a:p>
        </p:txBody>
      </p:sp>
      <p:graphicFrame>
        <p:nvGraphicFramePr>
          <p:cNvPr id="5145" name="Group 25"/>
          <p:cNvGraphicFramePr>
            <a:graphicFrameLocks noGrp="1"/>
          </p:cNvGraphicFramePr>
          <p:nvPr>
            <p:ph sz="half" idx="4294967295"/>
          </p:nvPr>
        </p:nvGraphicFramePr>
        <p:xfrm>
          <a:off x="427038" y="850900"/>
          <a:ext cx="8289925" cy="5654040"/>
        </p:xfrm>
        <a:graphic>
          <a:graphicData uri="http://schemas.openxmlformats.org/drawingml/2006/table">
            <a:tbl>
              <a:tblPr/>
              <a:tblGrid>
                <a:gridCol w="8289925"/>
              </a:tblGrid>
              <a:tr h="272881">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bg1"/>
                          </a:solidFill>
                          <a:effectLst/>
                          <a:latin typeface="Arial" charset="0"/>
                        </a:rPr>
                        <a:t>Business Situation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4376">
                <a:tc>
                  <a:txBody>
                    <a:bodyPr/>
                    <a:lstStyle/>
                    <a:p>
                      <a:pPr marL="0" marR="0" lvl="0" indent="0" algn="l" defTabSz="914400" rtl="0" eaLnBrk="1" fontAlgn="base" latinLnBrk="0" hangingPunct="1">
                        <a:lnSpc>
                          <a:spcPct val="95000"/>
                        </a:lnSpc>
                        <a:spcBef>
                          <a:spcPts val="600"/>
                        </a:spcBef>
                        <a:spcAft>
                          <a:spcPct val="0"/>
                        </a:spcAft>
                        <a:buClr>
                          <a:schemeClr val="tx1"/>
                        </a:buClr>
                        <a:buSzPct val="80000"/>
                        <a:buFont typeface="Wingdings" pitchFamily="2" charset="2"/>
                        <a:buNone/>
                        <a:tabLst/>
                      </a:pPr>
                      <a:r>
                        <a:rPr kumimoji="0" lang="en-US" sz="1200" b="0" i="0" u="none" strike="noStrike" cap="none" normalizeH="0" baseline="0" dirty="0" smtClean="0">
                          <a:ln>
                            <a:noFill/>
                          </a:ln>
                          <a:solidFill>
                            <a:schemeClr val="tx1"/>
                          </a:solidFill>
                          <a:effectLst/>
                          <a:latin typeface="Arial" charset="0"/>
                        </a:rPr>
                        <a:t>Our client is a business unit within a large national health insurance company. The client focuses primarily on the higher-education student health insurance market, selling medical insurance, prescription drug insurance and dental insurance to students at large universities. The client is the market leader, both in terms of customers (~500,000) and revenue (~$500M). The overall market for higher-education student health insurance is estimated at 2.5M potential customers and $2.2B in potential revenue.</a:t>
                      </a:r>
                    </a:p>
                    <a:p>
                      <a:pPr marL="0" marR="0" lvl="0" indent="0" algn="l" defTabSz="914400" rtl="0" eaLnBrk="1" fontAlgn="base" latinLnBrk="0" hangingPunct="1">
                        <a:lnSpc>
                          <a:spcPct val="95000"/>
                        </a:lnSpc>
                        <a:spcBef>
                          <a:spcPts val="600"/>
                        </a:spcBef>
                        <a:spcAft>
                          <a:spcPct val="0"/>
                        </a:spcAft>
                        <a:buClr>
                          <a:schemeClr val="tx1"/>
                        </a:buClr>
                        <a:buSzPct val="80000"/>
                        <a:buFont typeface="Wingdings" pitchFamily="2" charset="2"/>
                        <a:buNone/>
                        <a:tabLst/>
                      </a:pPr>
                      <a:endParaRPr kumimoji="0" lang="en-US" sz="1200" b="0" i="0" u="none" strike="noStrike" cap="none" normalizeH="0" baseline="0" dirty="0" smtClean="0">
                        <a:ln>
                          <a:noFill/>
                        </a:ln>
                        <a:solidFill>
                          <a:schemeClr val="tx1"/>
                        </a:solidFill>
                        <a:effectLst/>
                        <a:latin typeface="Arial" charset="0"/>
                      </a:endParaRPr>
                    </a:p>
                    <a:p>
                      <a:pPr marL="0" marR="0" lvl="0" indent="0" algn="l" defTabSz="914400" rtl="0" eaLnBrk="1" fontAlgn="base" latinLnBrk="0" hangingPunct="1">
                        <a:lnSpc>
                          <a:spcPct val="95000"/>
                        </a:lnSpc>
                        <a:spcBef>
                          <a:spcPts val="600"/>
                        </a:spcBef>
                        <a:spcAft>
                          <a:spcPct val="0"/>
                        </a:spcAft>
                        <a:buClr>
                          <a:schemeClr val="tx1"/>
                        </a:buClr>
                        <a:buSzPct val="80000"/>
                        <a:buFont typeface="Wingdings" pitchFamily="2" charset="2"/>
                        <a:buNone/>
                        <a:tabLst/>
                      </a:pPr>
                      <a:r>
                        <a:rPr kumimoji="0" lang="en-US" sz="1200" b="0" i="0" u="none" strike="noStrike" cap="none" normalizeH="0" baseline="0" dirty="0" smtClean="0">
                          <a:ln>
                            <a:noFill/>
                          </a:ln>
                          <a:solidFill>
                            <a:schemeClr val="tx1"/>
                          </a:solidFill>
                          <a:effectLst/>
                          <a:latin typeface="Arial" charset="0"/>
                        </a:rPr>
                        <a:t>This market requires a unique, two-staged sales model. The “first sale” is often made to the on-campus student health center to gain access to the student population. The “second sale” is to the students, who are the ultimate consumers and purchasers of the insurance products. In certain segments of the market, a broker may also act as an intermediary to the school.</a:t>
                      </a:r>
                    </a:p>
                    <a:p>
                      <a:pPr marL="0" marR="0" lvl="0" indent="0" algn="l" defTabSz="914400" rtl="0" eaLnBrk="1" fontAlgn="base" latinLnBrk="0" hangingPunct="1">
                        <a:lnSpc>
                          <a:spcPct val="95000"/>
                        </a:lnSpc>
                        <a:spcBef>
                          <a:spcPts val="600"/>
                        </a:spcBef>
                        <a:spcAft>
                          <a:spcPct val="0"/>
                        </a:spcAft>
                        <a:buClr>
                          <a:schemeClr val="tx1"/>
                        </a:buClr>
                        <a:buSzPct val="80000"/>
                        <a:buFont typeface="Wingdings" pitchFamily="2" charset="2"/>
                        <a:buNone/>
                        <a:tabLst/>
                      </a:pPr>
                      <a:endParaRPr kumimoji="0" lang="en-US" sz="1200" b="0" i="0" u="none" strike="noStrike" cap="none" normalizeH="0" baseline="0" dirty="0" smtClean="0">
                        <a:ln>
                          <a:noFill/>
                        </a:ln>
                        <a:solidFill>
                          <a:schemeClr val="tx1"/>
                        </a:solidFill>
                        <a:effectLst/>
                        <a:latin typeface="Arial" charset="0"/>
                      </a:endParaRPr>
                    </a:p>
                    <a:p>
                      <a:pPr marL="0" marR="0" lvl="0" indent="0" algn="l" defTabSz="914400" rtl="0" eaLnBrk="1" fontAlgn="base" latinLnBrk="0" hangingPunct="1">
                        <a:lnSpc>
                          <a:spcPct val="95000"/>
                        </a:lnSpc>
                        <a:spcBef>
                          <a:spcPts val="600"/>
                        </a:spcBef>
                        <a:spcAft>
                          <a:spcPct val="0"/>
                        </a:spcAft>
                        <a:buClr>
                          <a:schemeClr val="tx1"/>
                        </a:buClr>
                        <a:buSzPct val="80000"/>
                        <a:buFont typeface="Wingdings" pitchFamily="2" charset="2"/>
                        <a:buNone/>
                        <a:tabLst/>
                      </a:pPr>
                      <a:r>
                        <a:rPr kumimoji="0" lang="en-US" sz="1200" b="0" i="0" u="none" strike="noStrike" cap="none" normalizeH="0" baseline="0" dirty="0" smtClean="0">
                          <a:ln>
                            <a:noFill/>
                          </a:ln>
                          <a:solidFill>
                            <a:schemeClr val="tx1"/>
                          </a:solidFill>
                          <a:effectLst/>
                          <a:latin typeface="Arial" charset="0"/>
                        </a:rPr>
                        <a:t>The client’s operating margins have declined significantly in the face of aggressive competition and shrinking higher education budgets. Additionally, Health Care Reform presents a potential risk for future growth and profitability – notably, students age 26 and under can remain on their parents’ health insurance (versus having to buy student health insurance) and health insurers will be required to spend 80% of all revenue on medical expenses. The client’s current operating margins are 9%, down from 25% five years ago.</a:t>
                      </a:r>
                    </a:p>
                    <a:p>
                      <a:pPr marL="0" marR="0" lvl="0" indent="0" algn="l" defTabSz="914400" rtl="0" eaLnBrk="1" fontAlgn="base" latinLnBrk="0" hangingPunct="1">
                        <a:lnSpc>
                          <a:spcPct val="95000"/>
                        </a:lnSpc>
                        <a:spcBef>
                          <a:spcPts val="600"/>
                        </a:spcBef>
                        <a:spcAft>
                          <a:spcPct val="0"/>
                        </a:spcAft>
                        <a:buClr>
                          <a:schemeClr val="tx1"/>
                        </a:buClr>
                        <a:buSzPct val="80000"/>
                        <a:buFont typeface="Wingdings" pitchFamily="2" charset="2"/>
                        <a:buNone/>
                        <a:tabLst/>
                      </a:pPr>
                      <a:endParaRPr kumimoji="0" lang="en-US" sz="1200" b="0" i="0" u="none" strike="noStrike" cap="none" normalizeH="0" baseline="0" dirty="0" smtClean="0">
                        <a:ln>
                          <a:noFill/>
                        </a:ln>
                        <a:solidFill>
                          <a:schemeClr val="tx1"/>
                        </a:solidFill>
                        <a:effectLst/>
                        <a:latin typeface="Arial" charset="0"/>
                      </a:endParaRPr>
                    </a:p>
                    <a:p>
                      <a:pPr marL="0" marR="0" lvl="0" indent="0" algn="l" defTabSz="914400" rtl="0" eaLnBrk="1" fontAlgn="base" latinLnBrk="0" hangingPunct="1">
                        <a:lnSpc>
                          <a:spcPct val="95000"/>
                        </a:lnSpc>
                        <a:spcBef>
                          <a:spcPts val="600"/>
                        </a:spcBef>
                        <a:spcAft>
                          <a:spcPct val="0"/>
                        </a:spcAft>
                        <a:buClr>
                          <a:schemeClr val="tx1"/>
                        </a:buClr>
                        <a:buSzPct val="80000"/>
                        <a:buFont typeface="Wingdings" pitchFamily="2" charset="2"/>
                        <a:buNone/>
                        <a:tabLst/>
                      </a:pPr>
                      <a:r>
                        <a:rPr kumimoji="0" lang="en-US" sz="1200" b="0" i="0" u="none" strike="noStrike" cap="none" normalizeH="0" baseline="0" dirty="0" smtClean="0">
                          <a:ln>
                            <a:noFill/>
                          </a:ln>
                          <a:solidFill>
                            <a:schemeClr val="tx1"/>
                          </a:solidFill>
                          <a:effectLst/>
                          <a:latin typeface="Arial" charset="0"/>
                        </a:rPr>
                        <a:t>Deloitte Consulting has been engaged to identify profitable avenues of growth for the client as a part of the client’s three-year growth strategy. Additionally, we have been asked to deliver prioritized recommendations on potential growth strategies.</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val="1861160173"/>
      </p:ext>
    </p:extLst>
  </p:cSld>
  <p:clrMapOvr>
    <a:masterClrMapping/>
  </p:clrMapOvr>
  <p:timing>
    <p:tnLst>
      <p:par>
        <p:cTn xmlns:p14="http://schemas.microsoft.com/office/powerpoint/2010/mai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401638" y="514799"/>
            <a:ext cx="8345487" cy="242439"/>
          </a:xfrm>
        </p:spPr>
        <p:txBody>
          <a:bodyPr/>
          <a:lstStyle/>
          <a:p>
            <a:pPr eaLnBrk="1" hangingPunct="1"/>
            <a:r>
              <a:rPr lang="en-US" dirty="0" smtClean="0"/>
              <a:t>Profitable Growth Strategy: Business Unit of National Health Insurance Company</a:t>
            </a:r>
          </a:p>
        </p:txBody>
      </p:sp>
      <p:graphicFrame>
        <p:nvGraphicFramePr>
          <p:cNvPr id="5145" name="Group 25"/>
          <p:cNvGraphicFramePr>
            <a:graphicFrameLocks noGrp="1"/>
          </p:cNvGraphicFramePr>
          <p:nvPr>
            <p:ph sz="half" idx="4294967295"/>
          </p:nvPr>
        </p:nvGraphicFramePr>
        <p:xfrm>
          <a:off x="427038" y="850900"/>
          <a:ext cx="8289925" cy="5654040"/>
        </p:xfrm>
        <a:graphic>
          <a:graphicData uri="http://schemas.openxmlformats.org/drawingml/2006/table">
            <a:tbl>
              <a:tblPr/>
              <a:tblGrid>
                <a:gridCol w="8289925"/>
              </a:tblGrid>
              <a:tr h="272881">
                <a:tc>
                  <a:txBody>
                    <a:bodyPr/>
                    <a:lstStyle/>
                    <a:p>
                      <a:pPr marL="0" marR="0" lvl="0" indent="0" algn="l" defTabSz="914400" rtl="0" eaLnBrk="1" fontAlgn="base" latinLnBrk="0" hangingPunct="1">
                        <a:lnSpc>
                          <a:spcPct val="100000"/>
                        </a:lnSpc>
                        <a:spcBef>
                          <a:spcPct val="8000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bg1"/>
                          </a:solidFill>
                          <a:effectLst/>
                          <a:latin typeface="Arial" charset="0"/>
                        </a:rPr>
                        <a:t>Questions</a:t>
                      </a:r>
                      <a:endParaRPr kumimoji="0" lang="en-US" sz="1200" b="1" i="0" u="none" strike="noStrike" cap="none" normalizeH="0" baseline="0" dirty="0" smtClean="0">
                        <a:ln>
                          <a:noFill/>
                        </a:ln>
                        <a:solidFill>
                          <a:schemeClr val="bg1"/>
                        </a:solidFill>
                        <a:effectLst/>
                        <a:latin typeface="Arial" charset="0"/>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4376">
                <a:tc>
                  <a:txBody>
                    <a:bodyPr/>
                    <a:lstStyle/>
                    <a:p>
                      <a:pPr marL="0" marR="0" lvl="0" indent="0" algn="l" defTabSz="914400" rtl="0" eaLnBrk="1" fontAlgn="base" latinLnBrk="0" hangingPunct="1">
                        <a:lnSpc>
                          <a:spcPct val="105000"/>
                        </a:lnSpc>
                        <a:spcBef>
                          <a:spcPct val="0"/>
                        </a:spcBef>
                        <a:spcAft>
                          <a:spcPct val="0"/>
                        </a:spcAft>
                        <a:buClr>
                          <a:schemeClr val="tx1"/>
                        </a:buClr>
                        <a:buSzPct val="80000"/>
                        <a:buFont typeface="+mj-lt"/>
                        <a:buNone/>
                        <a:tabLst/>
                        <a:defRPr/>
                      </a:pPr>
                      <a:r>
                        <a:rPr kumimoji="0" lang="en-US" sz="1200" b="1" i="0" u="none" strike="noStrike" kern="1200" cap="none" normalizeH="0" baseline="0" dirty="0" smtClean="0">
                          <a:ln>
                            <a:noFill/>
                          </a:ln>
                          <a:solidFill>
                            <a:schemeClr val="tx1"/>
                          </a:solidFill>
                          <a:effectLst/>
                          <a:latin typeface="Arial" charset="0"/>
                          <a:ea typeface="+mn-ea"/>
                          <a:cs typeface="+mn-cs"/>
                        </a:rPr>
                        <a:t>[Note to interviewer: Reveal one question at a time to the interviewee (do not share all questions with interviewee up front) as each question resets the case for the interviewee]</a:t>
                      </a:r>
                    </a:p>
                    <a:p>
                      <a:pPr marL="228600" marR="0" lvl="0" indent="-228600" algn="l" defTabSz="914400" rtl="0" eaLnBrk="1" fontAlgn="base" latinLnBrk="0" hangingPunct="1">
                        <a:lnSpc>
                          <a:spcPct val="105000"/>
                        </a:lnSpc>
                        <a:spcBef>
                          <a:spcPct val="0"/>
                        </a:spcBef>
                        <a:spcAft>
                          <a:spcPct val="0"/>
                        </a:spcAft>
                        <a:buClr>
                          <a:schemeClr val="tx1"/>
                        </a:buClr>
                        <a:buSzPct val="80000"/>
                        <a:buFont typeface="+mj-lt"/>
                        <a:buNone/>
                        <a:tabLst/>
                      </a:pPr>
                      <a:endParaRPr kumimoji="0" lang="en-US" sz="120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5000"/>
                        </a:lnSpc>
                        <a:spcBef>
                          <a:spcPct val="0"/>
                        </a:spcBef>
                        <a:spcAft>
                          <a:spcPct val="0"/>
                        </a:spcAft>
                        <a:buClr>
                          <a:schemeClr val="tx1"/>
                        </a:buClr>
                        <a:buSzPct val="80000"/>
                        <a:buFont typeface="+mj-lt"/>
                        <a:buAutoNum type="arabicPeriod"/>
                        <a:tabLst/>
                      </a:pPr>
                      <a:r>
                        <a:rPr kumimoji="0" lang="en-US" sz="1200" b="0" i="0" u="none" strike="noStrike" cap="none" normalizeH="0" baseline="0" dirty="0" smtClean="0">
                          <a:ln>
                            <a:noFill/>
                          </a:ln>
                          <a:solidFill>
                            <a:schemeClr val="tx1"/>
                          </a:solidFill>
                          <a:effectLst/>
                          <a:latin typeface="Arial" charset="0"/>
                        </a:rPr>
                        <a:t>What are the potential avenues of growth for the student health insurance company?</a:t>
                      </a:r>
                    </a:p>
                    <a:p>
                      <a:pPr marL="228600" marR="0" lvl="0" indent="-228600" algn="l" defTabSz="914400" rtl="0" eaLnBrk="1" fontAlgn="base" latinLnBrk="0" hangingPunct="1">
                        <a:lnSpc>
                          <a:spcPct val="105000"/>
                        </a:lnSpc>
                        <a:spcBef>
                          <a:spcPct val="0"/>
                        </a:spcBef>
                        <a:spcAft>
                          <a:spcPct val="0"/>
                        </a:spcAft>
                        <a:buClr>
                          <a:schemeClr val="tx1"/>
                        </a:buClr>
                        <a:buSzPct val="80000"/>
                        <a:buFont typeface="+mj-lt"/>
                        <a:buAutoNum type="arabicPeriod"/>
                        <a:tabLst/>
                      </a:pPr>
                      <a:endParaRPr kumimoji="0" lang="en-US" sz="120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5000"/>
                        </a:lnSpc>
                        <a:spcBef>
                          <a:spcPct val="0"/>
                        </a:spcBef>
                        <a:spcAft>
                          <a:spcPct val="0"/>
                        </a:spcAft>
                        <a:buClr>
                          <a:schemeClr val="tx1"/>
                        </a:buClr>
                        <a:buSzPct val="80000"/>
                        <a:buFont typeface="+mj-lt"/>
                        <a:buAutoNum type="arabicPeriod"/>
                        <a:tabLst/>
                      </a:pPr>
                      <a:r>
                        <a:rPr kumimoji="0" lang="en-US" sz="1200" b="0" i="0" u="none" strike="noStrike" kern="1200" cap="none" normalizeH="0" baseline="0" dirty="0" smtClean="0">
                          <a:ln>
                            <a:noFill/>
                          </a:ln>
                          <a:solidFill>
                            <a:schemeClr val="tx1"/>
                          </a:solidFill>
                          <a:effectLst/>
                          <a:latin typeface="Arial" charset="0"/>
                          <a:ea typeface="+mn-ea"/>
                          <a:cs typeface="+mn-cs"/>
                        </a:rPr>
                        <a:t>Our client felt a large part of the addressable market was not being addressed (the small school market). They specifically wanted a strategy for moving “down market” and going after smaller schools. At a high level, what qualitative and quantitative criteria should the client consider when assessing this market? </a:t>
                      </a:r>
                    </a:p>
                    <a:p>
                      <a:pPr marL="228600" marR="0" lvl="0" indent="-228600" algn="l" defTabSz="914400" rtl="0" eaLnBrk="1" fontAlgn="base" latinLnBrk="0" hangingPunct="1">
                        <a:lnSpc>
                          <a:spcPct val="105000"/>
                        </a:lnSpc>
                        <a:spcBef>
                          <a:spcPct val="0"/>
                        </a:spcBef>
                        <a:spcAft>
                          <a:spcPct val="0"/>
                        </a:spcAft>
                        <a:buClr>
                          <a:schemeClr val="tx1"/>
                        </a:buClr>
                        <a:buSzPct val="80000"/>
                        <a:buFont typeface="+mj-lt"/>
                        <a:buAutoNum type="arabicPeriod"/>
                        <a:tabLst/>
                      </a:pPr>
                      <a:endParaRPr kumimoji="0" lang="en-US" sz="1200" b="0" i="0" u="none" strike="noStrike" kern="1200" cap="none" normalizeH="0" baseline="0" dirty="0" smtClean="0">
                        <a:ln>
                          <a:noFill/>
                        </a:ln>
                        <a:solidFill>
                          <a:schemeClr val="tx1"/>
                        </a:solidFill>
                        <a:effectLst/>
                        <a:latin typeface="+mn-lt"/>
                        <a:ea typeface="+mn-ea"/>
                        <a:cs typeface="+mn-cs"/>
                      </a:endParaRPr>
                    </a:p>
                    <a:p>
                      <a:pPr marL="228600" marR="0" lvl="0" indent="-228600" algn="l" defTabSz="914400" rtl="0" eaLnBrk="1" fontAlgn="base" latinLnBrk="0" hangingPunct="1">
                        <a:lnSpc>
                          <a:spcPct val="105000"/>
                        </a:lnSpc>
                        <a:spcBef>
                          <a:spcPct val="0"/>
                        </a:spcBef>
                        <a:spcAft>
                          <a:spcPct val="0"/>
                        </a:spcAft>
                        <a:buClr>
                          <a:schemeClr val="tx1"/>
                        </a:buClr>
                        <a:buSzPct val="80000"/>
                        <a:buFont typeface="+mj-lt"/>
                        <a:buAutoNum type="arabicPeriod"/>
                        <a:tabLst/>
                        <a:defRPr/>
                      </a:pPr>
                      <a:r>
                        <a:rPr kumimoji="0" lang="en-US" sz="1200" b="0" i="0" u="none" strike="noStrike" kern="1200" cap="none" normalizeH="0" baseline="0" dirty="0" smtClean="0">
                          <a:ln>
                            <a:noFill/>
                          </a:ln>
                          <a:solidFill>
                            <a:schemeClr val="tx1"/>
                          </a:solidFill>
                          <a:effectLst/>
                          <a:latin typeface="Arial" charset="0"/>
                          <a:ea typeface="+mn-ea"/>
                          <a:cs typeface="+mn-cs"/>
                        </a:rPr>
                        <a:t>(Quantitative problem) In developing the “down market” small school analysis, our primary concern related to the attractiveness of this segment was whether healthy operating margins could be achieved. What type of information would you need to calculate operating margin percentage for this segment? What is the operating margin percentage for each of the four product/customer scenarios? </a:t>
                      </a:r>
                    </a:p>
                    <a:p>
                      <a:pPr marL="228600" marR="0" lvl="0" indent="-228600" algn="l" defTabSz="914400" rtl="0" eaLnBrk="1" fontAlgn="base" latinLnBrk="0" hangingPunct="1">
                        <a:lnSpc>
                          <a:spcPct val="105000"/>
                        </a:lnSpc>
                        <a:spcBef>
                          <a:spcPct val="0"/>
                        </a:spcBef>
                        <a:spcAft>
                          <a:spcPct val="0"/>
                        </a:spcAft>
                        <a:buClr>
                          <a:schemeClr val="tx1"/>
                        </a:buClr>
                        <a:buSzPct val="80000"/>
                        <a:buFont typeface="+mj-lt"/>
                        <a:buAutoNum type="arabicPeriod"/>
                        <a:tabLst/>
                        <a:defRPr/>
                      </a:pPr>
                      <a:endParaRPr kumimoji="0" lang="en-US" sz="1200" b="0" i="0" u="none" strike="noStrike" kern="1200" cap="none" normalizeH="0" baseline="0" dirty="0" smtClean="0">
                        <a:ln>
                          <a:noFill/>
                        </a:ln>
                        <a:solidFill>
                          <a:schemeClr val="tx1"/>
                        </a:solidFill>
                        <a:effectLst/>
                        <a:latin typeface="Arial" charset="0"/>
                        <a:ea typeface="+mn-ea"/>
                        <a:cs typeface="+mn-cs"/>
                      </a:endParaRPr>
                    </a:p>
                    <a:p>
                      <a:pPr marL="228600" marR="0" lvl="0" indent="-228600" algn="l" defTabSz="914400" rtl="0" eaLnBrk="1" fontAlgn="base" latinLnBrk="0" hangingPunct="1">
                        <a:lnSpc>
                          <a:spcPct val="105000"/>
                        </a:lnSpc>
                        <a:spcBef>
                          <a:spcPct val="0"/>
                        </a:spcBef>
                        <a:spcAft>
                          <a:spcPct val="0"/>
                        </a:spcAft>
                        <a:buClr>
                          <a:schemeClr val="tx1"/>
                        </a:buClr>
                        <a:buSzPct val="80000"/>
                        <a:buFont typeface="+mj-lt"/>
                        <a:buAutoNum type="arabicPeriod"/>
                        <a:tabLst/>
                        <a:defRPr/>
                      </a:pPr>
                      <a:r>
                        <a:rPr kumimoji="0" lang="en-US" sz="1200" b="0" i="0" u="none" strike="noStrike" kern="1200" cap="none" normalizeH="0" baseline="0" dirty="0" smtClean="0">
                          <a:ln>
                            <a:noFill/>
                          </a:ln>
                          <a:solidFill>
                            <a:schemeClr val="tx1"/>
                          </a:solidFill>
                          <a:effectLst/>
                          <a:latin typeface="Arial" charset="0"/>
                          <a:ea typeface="+mn-ea"/>
                          <a:cs typeface="+mn-cs"/>
                        </a:rPr>
                        <a:t>Given the outcome of your previous operating margin analysis, what recommendations would you develop for the client in terms of pursuing the small school market?</a:t>
                      </a:r>
                    </a:p>
                    <a:p>
                      <a:pPr marL="228600" marR="0" lvl="0" indent="-228600" algn="l" defTabSz="914400" rtl="0" eaLnBrk="1" fontAlgn="base" latinLnBrk="0" hangingPunct="1">
                        <a:lnSpc>
                          <a:spcPct val="105000"/>
                        </a:lnSpc>
                        <a:spcBef>
                          <a:spcPct val="0"/>
                        </a:spcBef>
                        <a:spcAft>
                          <a:spcPct val="0"/>
                        </a:spcAft>
                        <a:buClr>
                          <a:schemeClr val="tx1"/>
                        </a:buClr>
                        <a:buSzPct val="80000"/>
                        <a:buFont typeface="+mj-lt"/>
                        <a:buAutoNum type="arabicPeriod"/>
                        <a:tabLst/>
                      </a:pPr>
                      <a:endParaRPr kumimoji="0" lang="en-US" sz="1200" b="0" i="0" u="none" strike="noStrike" cap="none" normalizeH="0" baseline="0" dirty="0" smtClean="0">
                        <a:ln>
                          <a:noFill/>
                        </a:ln>
                        <a:solidFill>
                          <a:schemeClr val="tx1"/>
                        </a:solidFill>
                        <a:effectLst/>
                        <a:latin typeface="Arial" charset="0"/>
                      </a:endParaRPr>
                    </a:p>
                    <a:p>
                      <a:pPr marL="228600" marR="0" lvl="0" indent="-228600" algn="l" defTabSz="914400" rtl="0" eaLnBrk="1" fontAlgn="base" latinLnBrk="0" hangingPunct="1">
                        <a:lnSpc>
                          <a:spcPct val="105000"/>
                        </a:lnSpc>
                        <a:spcBef>
                          <a:spcPct val="0"/>
                        </a:spcBef>
                        <a:spcAft>
                          <a:spcPct val="0"/>
                        </a:spcAft>
                        <a:buClr>
                          <a:schemeClr val="tx1"/>
                        </a:buClr>
                        <a:buSzPct val="80000"/>
                        <a:buFont typeface="+mj-lt"/>
                        <a:buAutoNum type="arabicPeriod"/>
                        <a:tabLst/>
                        <a:defRPr/>
                      </a:pPr>
                      <a:r>
                        <a:rPr kumimoji="0" lang="en-US" sz="1200" b="0" i="0" u="none" strike="noStrike" kern="1200" cap="none" normalizeH="0" baseline="0" dirty="0" smtClean="0">
                          <a:ln>
                            <a:noFill/>
                          </a:ln>
                          <a:solidFill>
                            <a:schemeClr val="tx1"/>
                          </a:solidFill>
                          <a:effectLst/>
                          <a:latin typeface="Arial" charset="0"/>
                          <a:ea typeface="+mn-ea"/>
                          <a:cs typeface="+mn-cs"/>
                        </a:rPr>
                        <a:t>Ultimately, multiple opportunities were identified for the client to grow, including increasing share in the core market, pursuing small schools and selling new products to schools and to students – how would you evaluate the opportunities and prioritize them?</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val="4155472777"/>
      </p:ext>
    </p:extLst>
  </p:cSld>
  <p:clrMapOvr>
    <a:masterClrMapping/>
  </p:clrMapOvr>
  <p:timing>
    <p:tnLst>
      <p:par>
        <p:cTn xmlns:p14="http://schemas.microsoft.com/office/powerpoint/2010/mai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 name="Group 2"/>
          <p:cNvGraphicFramePr>
            <a:graphicFrameLocks/>
          </p:cNvGraphicFramePr>
          <p:nvPr/>
        </p:nvGraphicFramePr>
        <p:xfrm>
          <a:off x="427038" y="850900"/>
          <a:ext cx="8289925" cy="5650802"/>
        </p:xfrm>
        <a:graphic>
          <a:graphicData uri="http://schemas.openxmlformats.org/drawingml/2006/table">
            <a:tbl>
              <a:tblPr/>
              <a:tblGrid>
                <a:gridCol w="8289925"/>
              </a:tblGrid>
              <a:tr h="354013">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bg1"/>
                          </a:solidFill>
                          <a:effectLst/>
                          <a:latin typeface="Arial" charset="0"/>
                        </a:rPr>
                        <a:t>Data Sheet – Question 1</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1138">
                <a:tc>
                  <a:txBody>
                    <a:bodyPr/>
                    <a:lstStyle/>
                    <a:p>
                      <a:pPr marL="114300" marR="0" lvl="0" indent="-1143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27" name="Rectangle 24"/>
          <p:cNvSpPr>
            <a:spLocks noGrp="1" noChangeArrowheads="1"/>
          </p:cNvSpPr>
          <p:nvPr>
            <p:ph type="title" idx="4294967295"/>
          </p:nvPr>
        </p:nvSpPr>
        <p:spPr>
          <a:xfrm>
            <a:off x="401638" y="530225"/>
            <a:ext cx="8345487" cy="242888"/>
          </a:xfrm>
        </p:spPr>
        <p:txBody>
          <a:bodyPr/>
          <a:lstStyle/>
          <a:p>
            <a:r>
              <a:rPr lang="en-US" dirty="0" smtClean="0"/>
              <a:t>Profitable Growth Strategy: Business Unit of National Health Insurance Company</a:t>
            </a:r>
          </a:p>
        </p:txBody>
      </p:sp>
      <p:sp>
        <p:nvSpPr>
          <p:cNvPr id="1146" name="Line 47"/>
          <p:cNvSpPr>
            <a:spLocks noChangeShapeType="1"/>
          </p:cNvSpPr>
          <p:nvPr/>
        </p:nvSpPr>
        <p:spPr bwMode="gray">
          <a:xfrm>
            <a:off x="571500" y="1369555"/>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pitchFamily="34" charset="0"/>
            </a:endParaRPr>
          </a:p>
        </p:txBody>
      </p:sp>
      <p:sp>
        <p:nvSpPr>
          <p:cNvPr id="1147" name="Rectangle 25"/>
          <p:cNvSpPr>
            <a:spLocks noChangeArrowheads="1"/>
          </p:cNvSpPr>
          <p:nvPr/>
        </p:nvSpPr>
        <p:spPr bwMode="gray">
          <a:xfrm>
            <a:off x="1588305" y="1279851"/>
            <a:ext cx="1901803" cy="179408"/>
          </a:xfrm>
          <a:prstGeom prst="rect">
            <a:avLst/>
          </a:prstGeom>
          <a:solidFill>
            <a:schemeClr val="bg1"/>
          </a:solidFill>
          <a:ln w="9525" algn="ctr">
            <a:noFill/>
            <a:miter lim="800000"/>
            <a:headEnd/>
            <a:tailEnd/>
          </a:ln>
        </p:spPr>
        <p:txBody>
          <a:bodyPr wrap="none" lIns="91440" tIns="0" rIns="91440" bIns="0" anchor="ctr">
            <a:spAutoFit/>
          </a:bodyPr>
          <a:lstStyle/>
          <a:p>
            <a:pPr marL="169863" lvl="1" indent="-168275" algn="ctr" eaLnBrk="0" hangingPunct="0">
              <a:lnSpc>
                <a:spcPct val="106000"/>
              </a:lnSpc>
              <a:buClr>
                <a:srgbClr val="000000"/>
              </a:buClr>
              <a:buFont typeface="Wingdings 2" pitchFamily="18" charset="2"/>
              <a:buNone/>
            </a:pPr>
            <a:r>
              <a:rPr lang="en-US" sz="1100" dirty="0">
                <a:solidFill>
                  <a:srgbClr val="000000"/>
                </a:solidFill>
                <a:latin typeface="Arial"/>
                <a:cs typeface="Arial" pitchFamily="34" charset="0"/>
              </a:rPr>
              <a:t>Student Health Market Size</a:t>
            </a:r>
            <a:endParaRPr lang="en-US" sz="1000" dirty="0">
              <a:solidFill>
                <a:srgbClr val="000000"/>
              </a:solidFill>
              <a:latin typeface="Arial"/>
              <a:cs typeface="Arial" pitchFamily="34" charset="0"/>
            </a:endParaRPr>
          </a:p>
        </p:txBody>
      </p:sp>
      <p:grpSp>
        <p:nvGrpSpPr>
          <p:cNvPr id="2" name="Group 72"/>
          <p:cNvGrpSpPr>
            <a:grpSpLocks/>
          </p:cNvGrpSpPr>
          <p:nvPr/>
        </p:nvGrpSpPr>
        <p:grpSpPr bwMode="auto">
          <a:xfrm>
            <a:off x="4648200" y="3774200"/>
            <a:ext cx="4089400" cy="160338"/>
            <a:chOff x="247" y="723"/>
            <a:chExt cx="2528" cy="106"/>
          </a:xfrm>
        </p:grpSpPr>
        <p:sp>
          <p:nvSpPr>
            <p:cNvPr id="1144" name="Line 73"/>
            <p:cNvSpPr>
              <a:spLocks noChangeShapeType="1"/>
            </p:cNvSpPr>
            <p:nvPr/>
          </p:nvSpPr>
          <p:spPr bwMode="gray">
            <a:xfrm>
              <a:off x="247" y="778"/>
              <a:ext cx="2528"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pitchFamily="34" charset="0"/>
              </a:endParaRPr>
            </a:p>
          </p:txBody>
        </p:sp>
        <p:sp>
          <p:nvSpPr>
            <p:cNvPr id="1145" name="Rectangle 74"/>
            <p:cNvSpPr>
              <a:spLocks noChangeArrowheads="1"/>
            </p:cNvSpPr>
            <p:nvPr/>
          </p:nvSpPr>
          <p:spPr bwMode="gray">
            <a:xfrm>
              <a:off x="949" y="723"/>
              <a:ext cx="1126" cy="106"/>
            </a:xfrm>
            <a:prstGeom prst="rect">
              <a:avLst/>
            </a:prstGeom>
            <a:solidFill>
              <a:schemeClr val="bg1"/>
            </a:solidFill>
            <a:ln w="12700" cap="rnd" algn="ctr">
              <a:noFill/>
              <a:miter lim="800000"/>
              <a:headEnd/>
              <a:tailEnd/>
            </a:ln>
          </p:spPr>
          <p:txBody>
            <a:bodyPr wrap="none" lIns="72000" tIns="0" rIns="72000" bIns="0" anchor="b" anchorCtr="1">
              <a:spAutoFit/>
            </a:bodyPr>
            <a:lstStyle/>
            <a:p>
              <a:pPr algn="ctr" eaLnBrk="0" hangingPunct="0">
                <a:lnSpc>
                  <a:spcPct val="95000"/>
                </a:lnSpc>
              </a:pPr>
              <a:r>
                <a:rPr lang="en-US" sz="1100" dirty="0">
                  <a:solidFill>
                    <a:srgbClr val="000000"/>
                  </a:solidFill>
                  <a:latin typeface="Arial"/>
                  <a:cs typeface="Arial" pitchFamily="34" charset="0"/>
                </a:rPr>
                <a:t>Select Product Penetration</a:t>
              </a:r>
            </a:p>
          </p:txBody>
        </p:sp>
      </p:grpSp>
      <p:sp>
        <p:nvSpPr>
          <p:cNvPr id="1079" name="Oval 39"/>
          <p:cNvSpPr>
            <a:spLocks noChangeArrowheads="1"/>
          </p:cNvSpPr>
          <p:nvPr/>
        </p:nvSpPr>
        <p:spPr bwMode="gray">
          <a:xfrm>
            <a:off x="500063" y="1250493"/>
            <a:ext cx="228600" cy="22860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1</a:t>
            </a:r>
          </a:p>
        </p:txBody>
      </p:sp>
      <p:sp>
        <p:nvSpPr>
          <p:cNvPr id="1080" name="Oval 41"/>
          <p:cNvSpPr>
            <a:spLocks noChangeArrowheads="1"/>
          </p:cNvSpPr>
          <p:nvPr/>
        </p:nvSpPr>
        <p:spPr bwMode="gray">
          <a:xfrm>
            <a:off x="4629150" y="3724988"/>
            <a:ext cx="228600" cy="228600"/>
          </a:xfrm>
          <a:prstGeom prst="ellipse">
            <a:avLst/>
          </a:prstGeom>
          <a:solidFill>
            <a:schemeClr val="accent2"/>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4</a:t>
            </a:r>
          </a:p>
        </p:txBody>
      </p:sp>
      <p:grpSp>
        <p:nvGrpSpPr>
          <p:cNvPr id="3" name="Group 26"/>
          <p:cNvGrpSpPr>
            <a:grpSpLocks/>
          </p:cNvGrpSpPr>
          <p:nvPr/>
        </p:nvGrpSpPr>
        <p:grpSpPr bwMode="auto">
          <a:xfrm>
            <a:off x="571500" y="3768962"/>
            <a:ext cx="3932238" cy="160813"/>
            <a:chOff x="4648200" y="1515106"/>
            <a:chExt cx="4098925" cy="161290"/>
          </a:xfrm>
        </p:grpSpPr>
        <p:sp>
          <p:nvSpPr>
            <p:cNvPr id="1140" name="Line 47"/>
            <p:cNvSpPr>
              <a:spLocks noChangeShapeType="1"/>
            </p:cNvSpPr>
            <p:nvPr/>
          </p:nvSpPr>
          <p:spPr bwMode="gray">
            <a:xfrm>
              <a:off x="4648200" y="1609725"/>
              <a:ext cx="4098925"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pitchFamily="34" charset="0"/>
              </a:endParaRPr>
            </a:p>
          </p:txBody>
        </p:sp>
        <p:sp>
          <p:nvSpPr>
            <p:cNvPr id="1141" name="Rectangle 48"/>
            <p:cNvSpPr>
              <a:spLocks noChangeArrowheads="1"/>
            </p:cNvSpPr>
            <p:nvPr/>
          </p:nvSpPr>
          <p:spPr bwMode="gray">
            <a:xfrm>
              <a:off x="5636881" y="1515106"/>
              <a:ext cx="2121625" cy="161290"/>
            </a:xfrm>
            <a:prstGeom prst="rect">
              <a:avLst/>
            </a:prstGeom>
            <a:solidFill>
              <a:schemeClr val="bg1"/>
            </a:solidFill>
            <a:ln w="12700" cap="rnd" algn="ctr">
              <a:noFill/>
              <a:miter lim="800000"/>
              <a:headEnd/>
              <a:tailEnd/>
            </a:ln>
          </p:spPr>
          <p:txBody>
            <a:bodyPr wrap="none" lIns="72000" tIns="0" rIns="72000" bIns="0" anchor="b" anchorCtr="1">
              <a:spAutoFit/>
            </a:bodyPr>
            <a:lstStyle/>
            <a:p>
              <a:pPr algn="ctr" eaLnBrk="0" hangingPunct="0">
                <a:lnSpc>
                  <a:spcPct val="95000"/>
                </a:lnSpc>
              </a:pPr>
              <a:r>
                <a:rPr lang="en-US" sz="1100" dirty="0">
                  <a:solidFill>
                    <a:srgbClr val="000000"/>
                  </a:solidFill>
                  <a:latin typeface="Arial"/>
                  <a:cs typeface="Arial" pitchFamily="34" charset="0"/>
                </a:rPr>
                <a:t>Product Revenue Contribution</a:t>
              </a:r>
            </a:p>
          </p:txBody>
        </p:sp>
      </p:grpSp>
      <p:sp>
        <p:nvSpPr>
          <p:cNvPr id="1139" name="Oval 48"/>
          <p:cNvSpPr>
            <a:spLocks noChangeArrowheads="1"/>
          </p:cNvSpPr>
          <p:nvPr/>
        </p:nvSpPr>
        <p:spPr bwMode="gray">
          <a:xfrm>
            <a:off x="500063" y="3743090"/>
            <a:ext cx="228600" cy="228600"/>
          </a:xfrm>
          <a:prstGeom prst="ellipse">
            <a:avLst/>
          </a:prstGeom>
          <a:solidFill>
            <a:schemeClr val="accent2"/>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3</a:t>
            </a:r>
          </a:p>
        </p:txBody>
      </p:sp>
      <p:graphicFrame>
        <p:nvGraphicFramePr>
          <p:cNvPr id="24" name="Chart 23"/>
          <p:cNvGraphicFramePr/>
          <p:nvPr/>
        </p:nvGraphicFramePr>
        <p:xfrm>
          <a:off x="599058" y="3892855"/>
          <a:ext cx="4053385" cy="17745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9" name="Chart 28"/>
          <p:cNvGraphicFramePr/>
          <p:nvPr/>
        </p:nvGraphicFramePr>
        <p:xfrm>
          <a:off x="4957560" y="1485263"/>
          <a:ext cx="2379411" cy="2049761"/>
        </p:xfrm>
        <a:graphic>
          <a:graphicData uri="http://schemas.openxmlformats.org/drawingml/2006/chart">
            <c:chart xmlns:c="http://schemas.openxmlformats.org/drawingml/2006/chart" xmlns:r="http://schemas.openxmlformats.org/officeDocument/2006/relationships" r:id="rId4"/>
          </a:graphicData>
        </a:graphic>
      </p:graphicFrame>
      <p:sp>
        <p:nvSpPr>
          <p:cNvPr id="30" name="TextBox 29"/>
          <p:cNvSpPr txBox="1"/>
          <p:nvPr/>
        </p:nvSpPr>
        <p:spPr>
          <a:xfrm>
            <a:off x="4882820" y="3372321"/>
            <a:ext cx="3782208" cy="246221"/>
          </a:xfrm>
          <a:prstGeom prst="rect">
            <a:avLst/>
          </a:prstGeom>
          <a:noFill/>
        </p:spPr>
        <p:txBody>
          <a:bodyPr wrap="square" rtlCol="0">
            <a:spAutoFit/>
          </a:bodyPr>
          <a:lstStyle/>
          <a:p>
            <a:r>
              <a:rPr lang="en-US" sz="1000" b="1" i="1" dirty="0">
                <a:solidFill>
                  <a:srgbClr val="000000"/>
                </a:solidFill>
                <a:latin typeface="Arial"/>
                <a:cs typeface="Arial" charset="0"/>
              </a:rPr>
              <a:t>Note </a:t>
            </a:r>
            <a:r>
              <a:rPr lang="en-US" sz="1000" dirty="0">
                <a:solidFill>
                  <a:srgbClr val="000000"/>
                </a:solidFill>
                <a:latin typeface="Arial"/>
                <a:cs typeface="Arial" charset="0"/>
              </a:rPr>
              <a:t>: 90% of the client’s “Large Schools” have &gt;10K students</a:t>
            </a:r>
          </a:p>
        </p:txBody>
      </p:sp>
      <p:sp>
        <p:nvSpPr>
          <p:cNvPr id="31" name="TextBox 30"/>
          <p:cNvSpPr txBox="1"/>
          <p:nvPr/>
        </p:nvSpPr>
        <p:spPr>
          <a:xfrm>
            <a:off x="515082" y="5747027"/>
            <a:ext cx="3866874" cy="707886"/>
          </a:xfrm>
          <a:prstGeom prst="rect">
            <a:avLst/>
          </a:prstGeom>
          <a:noFill/>
        </p:spPr>
        <p:txBody>
          <a:bodyPr wrap="square" rtlCol="0">
            <a:spAutoFit/>
          </a:bodyPr>
          <a:lstStyle/>
          <a:p>
            <a:r>
              <a:rPr lang="en-US" sz="1000" b="1" dirty="0">
                <a:solidFill>
                  <a:srgbClr val="000000"/>
                </a:solidFill>
                <a:latin typeface="Arial"/>
                <a:cs typeface="Arial" charset="0"/>
              </a:rPr>
              <a:t>Discount Cards</a:t>
            </a:r>
            <a:r>
              <a:rPr lang="en-US" sz="1000" dirty="0">
                <a:solidFill>
                  <a:srgbClr val="000000"/>
                </a:solidFill>
                <a:latin typeface="Arial"/>
                <a:cs typeface="Arial" charset="0"/>
              </a:rPr>
              <a:t>: Cards that provide discounts on prescriptions, dental services, gym memberships, etc.</a:t>
            </a:r>
          </a:p>
          <a:p>
            <a:r>
              <a:rPr lang="en-US" sz="1000" b="1" dirty="0">
                <a:solidFill>
                  <a:srgbClr val="000000"/>
                </a:solidFill>
                <a:latin typeface="Arial"/>
                <a:cs typeface="Arial" charset="0"/>
              </a:rPr>
              <a:t>Student Assistance Program</a:t>
            </a:r>
            <a:r>
              <a:rPr lang="en-US" sz="1000" dirty="0">
                <a:solidFill>
                  <a:srgbClr val="000000"/>
                </a:solidFill>
                <a:latin typeface="Arial"/>
                <a:cs typeface="Arial" charset="0"/>
              </a:rPr>
              <a:t>: Remote counseling services for students</a:t>
            </a:r>
          </a:p>
        </p:txBody>
      </p:sp>
      <p:graphicFrame>
        <p:nvGraphicFramePr>
          <p:cNvPr id="33" name="Chart 32"/>
          <p:cNvGraphicFramePr/>
          <p:nvPr/>
        </p:nvGraphicFramePr>
        <p:xfrm>
          <a:off x="4854701" y="3892855"/>
          <a:ext cx="3880507" cy="2006224"/>
        </p:xfrm>
        <a:graphic>
          <a:graphicData uri="http://schemas.openxmlformats.org/drawingml/2006/chart">
            <c:chart xmlns:c="http://schemas.openxmlformats.org/drawingml/2006/chart" xmlns:r="http://schemas.openxmlformats.org/officeDocument/2006/relationships" r:id="rId5"/>
          </a:graphicData>
        </a:graphic>
      </p:graphicFrame>
      <p:sp>
        <p:nvSpPr>
          <p:cNvPr id="34" name="TextBox 33"/>
          <p:cNvSpPr txBox="1"/>
          <p:nvPr/>
        </p:nvSpPr>
        <p:spPr>
          <a:xfrm>
            <a:off x="4804839" y="5747027"/>
            <a:ext cx="3718675" cy="707886"/>
          </a:xfrm>
          <a:prstGeom prst="rect">
            <a:avLst/>
          </a:prstGeom>
          <a:noFill/>
        </p:spPr>
        <p:txBody>
          <a:bodyPr wrap="square" rtlCol="0">
            <a:spAutoFit/>
          </a:bodyPr>
          <a:lstStyle/>
          <a:p>
            <a:r>
              <a:rPr lang="en-US" sz="1000" b="1" dirty="0">
                <a:solidFill>
                  <a:srgbClr val="000000"/>
                </a:solidFill>
                <a:latin typeface="Arial"/>
                <a:cs typeface="Arial" charset="0"/>
              </a:rPr>
              <a:t>School</a:t>
            </a:r>
            <a:r>
              <a:rPr lang="en-US" sz="1000" dirty="0">
                <a:solidFill>
                  <a:srgbClr val="000000"/>
                </a:solidFill>
                <a:latin typeface="Arial"/>
                <a:cs typeface="Arial" charset="0"/>
              </a:rPr>
              <a:t> Penetration = # schools offering product / total school customers</a:t>
            </a:r>
          </a:p>
          <a:p>
            <a:r>
              <a:rPr lang="en-US" sz="1000" b="1" dirty="0">
                <a:solidFill>
                  <a:srgbClr val="000000"/>
                </a:solidFill>
                <a:latin typeface="Arial"/>
                <a:cs typeface="Arial" charset="0"/>
              </a:rPr>
              <a:t>Student</a:t>
            </a:r>
            <a:r>
              <a:rPr lang="en-US" sz="1000" dirty="0">
                <a:solidFill>
                  <a:srgbClr val="000000"/>
                </a:solidFill>
                <a:latin typeface="Arial"/>
                <a:cs typeface="Arial" charset="0"/>
              </a:rPr>
              <a:t> Penetration = # students with specified product / # students with medical insurance </a:t>
            </a:r>
          </a:p>
        </p:txBody>
      </p:sp>
      <p:graphicFrame>
        <p:nvGraphicFramePr>
          <p:cNvPr id="35" name="Chart 34"/>
          <p:cNvGraphicFramePr/>
          <p:nvPr/>
        </p:nvGraphicFramePr>
        <p:xfrm>
          <a:off x="750576" y="1504530"/>
          <a:ext cx="3722146" cy="2268098"/>
        </p:xfrm>
        <a:graphic>
          <a:graphicData uri="http://schemas.openxmlformats.org/drawingml/2006/chart">
            <c:chart xmlns:c="http://schemas.openxmlformats.org/drawingml/2006/chart" xmlns:r="http://schemas.openxmlformats.org/officeDocument/2006/relationships" r:id="rId6"/>
          </a:graphicData>
        </a:graphic>
      </p:graphicFrame>
      <p:sp>
        <p:nvSpPr>
          <p:cNvPr id="41" name="Down Arrow Callout 40"/>
          <p:cNvSpPr/>
          <p:nvPr/>
        </p:nvSpPr>
        <p:spPr bwMode="auto">
          <a:xfrm>
            <a:off x="1552432" y="2408174"/>
            <a:ext cx="538162" cy="437113"/>
          </a:xfrm>
          <a:prstGeom prst="downArrowCallout">
            <a:avLst>
              <a:gd name="adj1" fmla="val 41966"/>
              <a:gd name="adj2" fmla="val 20983"/>
              <a:gd name="adj3" fmla="val 33570"/>
              <a:gd name="adj4" fmla="val 66430"/>
            </a:avLst>
          </a:prstGeom>
          <a:solidFill>
            <a:schemeClr val="bg1"/>
          </a:solidFill>
          <a:ln w="9525" cap="flat" cmpd="sng" algn="ctr">
            <a:solidFill>
              <a:schemeClr val="accent2"/>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algn="ctr"/>
            <a:r>
              <a:rPr lang="en-US" sz="900" b="1" dirty="0">
                <a:solidFill>
                  <a:srgbClr val="000000"/>
                </a:solidFill>
                <a:latin typeface="Arial"/>
                <a:cs typeface="Arial" charset="0"/>
              </a:rPr>
              <a:t>% of all</a:t>
            </a:r>
          </a:p>
          <a:p>
            <a:pPr algn="ctr"/>
            <a:r>
              <a:rPr lang="en-US" sz="900" b="1" dirty="0">
                <a:solidFill>
                  <a:srgbClr val="000000"/>
                </a:solidFill>
                <a:latin typeface="Arial"/>
                <a:cs typeface="Arial" charset="0"/>
              </a:rPr>
              <a:t>students</a:t>
            </a:r>
          </a:p>
        </p:txBody>
      </p:sp>
      <p:sp>
        <p:nvSpPr>
          <p:cNvPr id="36" name="Rectangle 35"/>
          <p:cNvSpPr/>
          <p:nvPr/>
        </p:nvSpPr>
        <p:spPr bwMode="auto">
          <a:xfrm>
            <a:off x="1612503" y="2872601"/>
            <a:ext cx="318976" cy="182880"/>
          </a:xfrm>
          <a:prstGeom prst="rect">
            <a:avLst/>
          </a:prstGeom>
          <a:solidFill>
            <a:schemeClr val="bg1"/>
          </a:solidFill>
          <a:ln w="9525" cap="flat" cmpd="sng" algn="ctr">
            <a:solidFill>
              <a:schemeClr val="accent2"/>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r>
              <a:rPr lang="en-US" sz="1000" b="1" dirty="0">
                <a:solidFill>
                  <a:srgbClr val="000000"/>
                </a:solidFill>
                <a:latin typeface="Arial"/>
                <a:cs typeface="Arial" charset="0"/>
              </a:rPr>
              <a:t>32%</a:t>
            </a:r>
          </a:p>
        </p:txBody>
      </p:sp>
      <p:sp>
        <p:nvSpPr>
          <p:cNvPr id="37" name="Rectangle 36"/>
          <p:cNvSpPr/>
          <p:nvPr/>
        </p:nvSpPr>
        <p:spPr bwMode="auto">
          <a:xfrm>
            <a:off x="2201895" y="2745775"/>
            <a:ext cx="318976" cy="182880"/>
          </a:xfrm>
          <a:prstGeom prst="rect">
            <a:avLst/>
          </a:prstGeom>
          <a:solidFill>
            <a:schemeClr val="bg1"/>
          </a:solidFill>
          <a:ln w="9525" cap="flat" cmpd="sng" algn="ctr">
            <a:solidFill>
              <a:schemeClr val="accent2"/>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r>
              <a:rPr lang="en-US" sz="1000" b="1" dirty="0">
                <a:solidFill>
                  <a:srgbClr val="000000"/>
                </a:solidFill>
                <a:latin typeface="Arial"/>
                <a:cs typeface="Arial" charset="0"/>
              </a:rPr>
              <a:t>26%</a:t>
            </a:r>
          </a:p>
        </p:txBody>
      </p:sp>
      <p:sp>
        <p:nvSpPr>
          <p:cNvPr id="38" name="Rectangle 37"/>
          <p:cNvSpPr/>
          <p:nvPr/>
        </p:nvSpPr>
        <p:spPr bwMode="auto">
          <a:xfrm>
            <a:off x="2783671" y="2588986"/>
            <a:ext cx="318976" cy="182880"/>
          </a:xfrm>
          <a:prstGeom prst="rect">
            <a:avLst/>
          </a:prstGeom>
          <a:solidFill>
            <a:schemeClr val="bg1"/>
          </a:solidFill>
          <a:ln w="9525" cap="flat" cmpd="sng" algn="ctr">
            <a:solidFill>
              <a:schemeClr val="accent2"/>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r>
              <a:rPr lang="en-US" sz="1000" b="1" dirty="0">
                <a:solidFill>
                  <a:srgbClr val="000000"/>
                </a:solidFill>
                <a:latin typeface="Arial"/>
                <a:cs typeface="Arial" charset="0"/>
              </a:rPr>
              <a:t>20%</a:t>
            </a:r>
          </a:p>
        </p:txBody>
      </p:sp>
      <p:sp>
        <p:nvSpPr>
          <p:cNvPr id="39" name="Rectangle 38"/>
          <p:cNvSpPr/>
          <p:nvPr/>
        </p:nvSpPr>
        <p:spPr bwMode="auto">
          <a:xfrm>
            <a:off x="3348783" y="1672889"/>
            <a:ext cx="318976" cy="182880"/>
          </a:xfrm>
          <a:prstGeom prst="rect">
            <a:avLst/>
          </a:prstGeom>
          <a:solidFill>
            <a:schemeClr val="bg1"/>
          </a:solidFill>
          <a:ln w="9525" cap="flat" cmpd="sng" algn="ctr">
            <a:solidFill>
              <a:schemeClr val="accent2"/>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r>
              <a:rPr lang="en-US" sz="1000" b="1" dirty="0">
                <a:solidFill>
                  <a:srgbClr val="000000"/>
                </a:solidFill>
                <a:latin typeface="Arial"/>
                <a:cs typeface="Arial" charset="0"/>
              </a:rPr>
              <a:t>20%</a:t>
            </a:r>
          </a:p>
        </p:txBody>
      </p:sp>
      <p:sp>
        <p:nvSpPr>
          <p:cNvPr id="40" name="Rectangle 39"/>
          <p:cNvSpPr/>
          <p:nvPr/>
        </p:nvSpPr>
        <p:spPr bwMode="auto">
          <a:xfrm>
            <a:off x="3930559" y="1406858"/>
            <a:ext cx="318976" cy="182880"/>
          </a:xfrm>
          <a:prstGeom prst="rect">
            <a:avLst/>
          </a:prstGeom>
          <a:solidFill>
            <a:schemeClr val="bg1"/>
          </a:solidFill>
          <a:ln w="9525" cap="flat" cmpd="sng" algn="ctr">
            <a:solidFill>
              <a:schemeClr val="accent2"/>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r>
              <a:rPr lang="en-US" sz="1000" b="1" dirty="0">
                <a:solidFill>
                  <a:srgbClr val="000000"/>
                </a:solidFill>
                <a:latin typeface="Arial"/>
                <a:cs typeface="Arial" charset="0"/>
              </a:rPr>
              <a:t>2%</a:t>
            </a:r>
          </a:p>
        </p:txBody>
      </p:sp>
      <p:sp>
        <p:nvSpPr>
          <p:cNvPr id="44" name="Line 47"/>
          <p:cNvSpPr>
            <a:spLocks noChangeShapeType="1"/>
          </p:cNvSpPr>
          <p:nvPr/>
        </p:nvSpPr>
        <p:spPr bwMode="gray">
          <a:xfrm>
            <a:off x="4648200" y="1369555"/>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pitchFamily="34" charset="0"/>
            </a:endParaRPr>
          </a:p>
        </p:txBody>
      </p:sp>
      <p:sp>
        <p:nvSpPr>
          <p:cNvPr id="1143" name="Rectangle 25"/>
          <p:cNvSpPr>
            <a:spLocks noChangeArrowheads="1"/>
          </p:cNvSpPr>
          <p:nvPr/>
        </p:nvSpPr>
        <p:spPr bwMode="gray">
          <a:xfrm>
            <a:off x="5244306" y="1281449"/>
            <a:ext cx="2743200" cy="176212"/>
          </a:xfrm>
          <a:prstGeom prst="rect">
            <a:avLst/>
          </a:prstGeom>
          <a:solidFill>
            <a:schemeClr val="bg1"/>
          </a:solidFill>
          <a:ln w="9525" algn="ctr">
            <a:noFill/>
            <a:miter lim="800000"/>
            <a:headEnd/>
            <a:tailEnd/>
          </a:ln>
        </p:spPr>
        <p:txBody>
          <a:bodyPr lIns="0" tIns="0" rIns="0" bIns="0"/>
          <a:lstStyle/>
          <a:p>
            <a:pPr algn="ctr" eaLnBrk="0" hangingPunct="0">
              <a:lnSpc>
                <a:spcPct val="95000"/>
              </a:lnSpc>
            </a:pPr>
            <a:r>
              <a:rPr lang="en-US" sz="1100" dirty="0">
                <a:solidFill>
                  <a:srgbClr val="000000"/>
                </a:solidFill>
                <a:latin typeface="Arial"/>
                <a:cs typeface="Arial" pitchFamily="34" charset="0"/>
              </a:rPr>
              <a:t>Revenue Composition by Customer Size</a:t>
            </a:r>
          </a:p>
        </p:txBody>
      </p:sp>
      <p:sp>
        <p:nvSpPr>
          <p:cNvPr id="1109" name="Oval 40"/>
          <p:cNvSpPr>
            <a:spLocks noChangeArrowheads="1"/>
          </p:cNvSpPr>
          <p:nvPr/>
        </p:nvSpPr>
        <p:spPr bwMode="gray">
          <a:xfrm>
            <a:off x="4629150" y="1250493"/>
            <a:ext cx="228600" cy="22860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2</a:t>
            </a:r>
          </a:p>
        </p:txBody>
      </p:sp>
      <p:sp>
        <p:nvSpPr>
          <p:cNvPr id="45" name="Isosceles Triangle 44"/>
          <p:cNvSpPr/>
          <p:nvPr/>
        </p:nvSpPr>
        <p:spPr bwMode="auto">
          <a:xfrm rot="5400000">
            <a:off x="4098664" y="2397417"/>
            <a:ext cx="1344706" cy="193637"/>
          </a:xfrm>
          <a:prstGeom prst="triangle">
            <a:avLst/>
          </a:prstGeom>
          <a:solidFill>
            <a:schemeClr val="bg1">
              <a:lumMod val="95000"/>
            </a:schemeClr>
          </a:solidFill>
          <a:ln w="12700" cap="flat" cmpd="sng" algn="ctr">
            <a:noFill/>
            <a:prstDash val="solid"/>
            <a:round/>
            <a:headEnd type="none" w="med" len="med"/>
            <a:tailEnd type="none" w="med" len="med"/>
          </a:ln>
          <a:effectLst/>
        </p:spPr>
        <p:txBody>
          <a:bodyPr vert="horz" wrap="square" lIns="73152" tIns="73152" rIns="73152" bIns="73152" numCol="1" rtlCol="0" anchor="ctr" anchorCtr="1" compatLnSpc="1">
            <a:prstTxWarp prst="textNoShape">
              <a:avLst/>
            </a:prstTxWarp>
          </a:bodyPr>
          <a:lstStyle/>
          <a:p>
            <a:pPr algn="ctr" eaLnBrk="0" hangingPunct="0">
              <a:lnSpc>
                <a:spcPct val="106000"/>
              </a:lnSpc>
            </a:pPr>
            <a:endParaRPr lang="en-US" sz="1100" b="1" dirty="0">
              <a:solidFill>
                <a:srgbClr val="000000"/>
              </a:solidFill>
              <a:latin typeface="Arial"/>
              <a:cs typeface="Arial" charset="0"/>
            </a:endParaRPr>
          </a:p>
        </p:txBody>
      </p:sp>
      <p:sp>
        <p:nvSpPr>
          <p:cNvPr id="46" name="Isosceles Triangle 45"/>
          <p:cNvSpPr/>
          <p:nvPr/>
        </p:nvSpPr>
        <p:spPr bwMode="auto">
          <a:xfrm rot="5400000">
            <a:off x="4098664" y="4989498"/>
            <a:ext cx="1344706" cy="193637"/>
          </a:xfrm>
          <a:prstGeom prst="triangle">
            <a:avLst/>
          </a:prstGeom>
          <a:solidFill>
            <a:schemeClr val="bg1">
              <a:lumMod val="95000"/>
            </a:schemeClr>
          </a:solidFill>
          <a:ln w="12700" cap="flat" cmpd="sng" algn="ctr">
            <a:noFill/>
            <a:prstDash val="solid"/>
            <a:round/>
            <a:headEnd type="none" w="med" len="med"/>
            <a:tailEnd type="none" w="med" len="med"/>
          </a:ln>
          <a:effectLst/>
        </p:spPr>
        <p:txBody>
          <a:bodyPr vert="horz" wrap="square" lIns="73152" tIns="73152" rIns="73152" bIns="73152" numCol="1" rtlCol="0" anchor="ctr" anchorCtr="1" compatLnSpc="1">
            <a:prstTxWarp prst="textNoShape">
              <a:avLst/>
            </a:prstTxWarp>
          </a:bodyPr>
          <a:lstStyle/>
          <a:p>
            <a:pPr algn="ctr" eaLnBrk="0" hangingPunct="0">
              <a:lnSpc>
                <a:spcPct val="106000"/>
              </a:lnSpc>
            </a:pPr>
            <a:endParaRPr lang="en-US" sz="1100" b="1" dirty="0">
              <a:solidFill>
                <a:srgbClr val="000000"/>
              </a:solidFill>
              <a:latin typeface="Arial"/>
              <a:cs typeface="Arial" charset="0"/>
            </a:endParaRPr>
          </a:p>
        </p:txBody>
      </p:sp>
      <p:sp>
        <p:nvSpPr>
          <p:cNvPr id="43" name="Rectangle 42"/>
          <p:cNvSpPr/>
          <p:nvPr/>
        </p:nvSpPr>
        <p:spPr bwMode="auto">
          <a:xfrm>
            <a:off x="7217230" y="2569025"/>
            <a:ext cx="174172" cy="174172"/>
          </a:xfrm>
          <a:prstGeom prst="rect">
            <a:avLst/>
          </a:prstGeom>
          <a:solidFill>
            <a:schemeClr val="accent2"/>
          </a:solidFill>
          <a:ln w="12700" cap="flat" cmpd="sng" algn="ctr">
            <a:noFill/>
            <a:prstDash val="solid"/>
            <a:round/>
            <a:headEnd type="none" w="med" len="med"/>
            <a:tailEnd type="none" w="med" len="med"/>
          </a:ln>
          <a:effectLst/>
        </p:spPr>
        <p:txBody>
          <a:bodyPr vert="horz" wrap="none" lIns="1554480" tIns="73152" rIns="73152" bIns="73152" numCol="1" rtlCol="0" anchor="ctr" anchorCtr="1" compatLnSpc="1">
            <a:prstTxWarp prst="textNoShape">
              <a:avLst/>
            </a:prstTxWarp>
          </a:bodyPr>
          <a:lstStyle/>
          <a:p>
            <a:pPr eaLnBrk="0" hangingPunct="0">
              <a:lnSpc>
                <a:spcPct val="106000"/>
              </a:lnSpc>
            </a:pPr>
            <a:r>
              <a:rPr lang="en-US" sz="900" dirty="0">
                <a:solidFill>
                  <a:srgbClr val="000000"/>
                </a:solidFill>
                <a:latin typeface="Arial"/>
                <a:cs typeface="Arial" charset="0"/>
              </a:rPr>
              <a:t>Small Schools </a:t>
            </a:r>
          </a:p>
          <a:p>
            <a:pPr eaLnBrk="0" hangingPunct="0">
              <a:lnSpc>
                <a:spcPct val="106000"/>
              </a:lnSpc>
            </a:pPr>
            <a:r>
              <a:rPr lang="en-US" sz="900" dirty="0">
                <a:solidFill>
                  <a:srgbClr val="000000"/>
                </a:solidFill>
                <a:latin typeface="Arial"/>
                <a:cs typeface="Arial" charset="0"/>
              </a:rPr>
              <a:t>(&lt;$1M annual revenue)</a:t>
            </a:r>
          </a:p>
        </p:txBody>
      </p:sp>
      <p:sp>
        <p:nvSpPr>
          <p:cNvPr id="47" name="Rectangle 46"/>
          <p:cNvSpPr/>
          <p:nvPr/>
        </p:nvSpPr>
        <p:spPr bwMode="auto">
          <a:xfrm>
            <a:off x="7217230" y="2166254"/>
            <a:ext cx="174172" cy="174172"/>
          </a:xfrm>
          <a:prstGeom prst="rect">
            <a:avLst/>
          </a:prstGeom>
          <a:solidFill>
            <a:schemeClr val="accent1"/>
          </a:solidFill>
          <a:ln w="12700" cap="flat" cmpd="sng" algn="ctr">
            <a:noFill/>
            <a:prstDash val="solid"/>
            <a:round/>
            <a:headEnd type="none" w="med" len="med"/>
            <a:tailEnd type="none" w="med" len="med"/>
          </a:ln>
          <a:effectLst/>
        </p:spPr>
        <p:txBody>
          <a:bodyPr vert="horz" wrap="none" lIns="1554480" tIns="73152" rIns="73152" bIns="73152" numCol="1" rtlCol="0" anchor="ctr" anchorCtr="1" compatLnSpc="1">
            <a:prstTxWarp prst="textNoShape">
              <a:avLst/>
            </a:prstTxWarp>
          </a:bodyPr>
          <a:lstStyle/>
          <a:p>
            <a:pPr eaLnBrk="0" hangingPunct="0">
              <a:lnSpc>
                <a:spcPct val="106000"/>
              </a:lnSpc>
            </a:pPr>
            <a:r>
              <a:rPr lang="en-US" sz="900" dirty="0">
                <a:solidFill>
                  <a:srgbClr val="000000"/>
                </a:solidFill>
                <a:latin typeface="Arial"/>
                <a:cs typeface="Arial" charset="0"/>
              </a:rPr>
              <a:t>Large Schools </a:t>
            </a:r>
          </a:p>
          <a:p>
            <a:pPr eaLnBrk="0" hangingPunct="0">
              <a:lnSpc>
                <a:spcPct val="106000"/>
              </a:lnSpc>
            </a:pPr>
            <a:r>
              <a:rPr lang="en-US" sz="900" dirty="0">
                <a:solidFill>
                  <a:srgbClr val="000000"/>
                </a:solidFill>
                <a:latin typeface="Arial"/>
                <a:cs typeface="Arial" charset="0"/>
              </a:rPr>
              <a:t>(&gt;$1M annual revenue)</a:t>
            </a:r>
          </a:p>
        </p:txBody>
      </p:sp>
    </p:spTree>
    <p:extLst>
      <p:ext uri="{BB962C8B-B14F-4D97-AF65-F5344CB8AC3E}">
        <p14:creationId xmlns:p14="http://schemas.microsoft.com/office/powerpoint/2010/main" val="2078167405"/>
      </p:ext>
    </p:extLst>
  </p:cSld>
  <p:clrMapOvr>
    <a:masterClrMapping/>
  </p:clrMapOvr>
  <p:timing>
    <p:tnLst>
      <p:par>
        <p:cTn xmlns:p14="http://schemas.microsoft.com/office/powerpoint/2010/mai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Group 2"/>
          <p:cNvGraphicFramePr>
            <a:graphicFrameLocks/>
          </p:cNvGraphicFramePr>
          <p:nvPr/>
        </p:nvGraphicFramePr>
        <p:xfrm>
          <a:off x="427038" y="850900"/>
          <a:ext cx="8289925" cy="5650802"/>
        </p:xfrm>
        <a:graphic>
          <a:graphicData uri="http://schemas.openxmlformats.org/drawingml/2006/table">
            <a:tbl>
              <a:tblPr/>
              <a:tblGrid>
                <a:gridCol w="8289925"/>
              </a:tblGrid>
              <a:tr h="354013">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400" b="1" i="0" u="none" strike="noStrike" cap="none" normalizeH="0" baseline="0" dirty="0" smtClean="0">
                          <a:ln>
                            <a:noFill/>
                          </a:ln>
                          <a:solidFill>
                            <a:schemeClr val="bg1"/>
                          </a:solidFill>
                          <a:effectLst/>
                          <a:latin typeface="Arial" charset="0"/>
                        </a:rPr>
                        <a:t>Data Sheet – Question 3</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1138">
                <a:tc>
                  <a:txBody>
                    <a:bodyPr/>
                    <a:lstStyle/>
                    <a:p>
                      <a:pPr marL="114300" marR="0" lvl="0" indent="-1143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9" name="Group 46"/>
          <p:cNvGraphicFramePr>
            <a:graphicFrameLocks/>
          </p:cNvGraphicFramePr>
          <p:nvPr/>
        </p:nvGraphicFramePr>
        <p:xfrm>
          <a:off x="4724400" y="1752600"/>
          <a:ext cx="3886199" cy="1864848"/>
        </p:xfrm>
        <a:graphic>
          <a:graphicData uri="http://schemas.openxmlformats.org/drawingml/2006/table">
            <a:tbl>
              <a:tblPr/>
              <a:tblGrid>
                <a:gridCol w="304800"/>
                <a:gridCol w="1524000"/>
                <a:gridCol w="762000"/>
                <a:gridCol w="1295399"/>
              </a:tblGrid>
              <a:tr h="419742">
                <a:tc gridSpan="2">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900" b="1" i="0" u="none" strike="noStrike" cap="none" normalizeH="0" baseline="0" dirty="0" smtClean="0">
                          <a:ln>
                            <a:noFill/>
                          </a:ln>
                          <a:solidFill>
                            <a:schemeClr val="tx1"/>
                          </a:solidFill>
                          <a:effectLst/>
                          <a:latin typeface="+mj-lt"/>
                        </a:rPr>
                        <a:t>Option</a:t>
                      </a:r>
                    </a:p>
                  </a:txBody>
                  <a:tcPr marL="73152" marR="73152" marT="73152" marB="73152" anchor="b" horzOverflow="overflow">
                    <a:lnL>
                      <a:noFill/>
                    </a:lnL>
                    <a:lnR>
                      <a:noFill/>
                    </a:lnR>
                    <a:lnT>
                      <a:noFill/>
                    </a:lnT>
                    <a:lnB>
                      <a:noFill/>
                    </a:lnB>
                    <a:lnTlToBr>
                      <a:noFill/>
                    </a:lnTlToBr>
                    <a:lnBlToTr>
                      <a:noFill/>
                    </a:lnBlToTr>
                    <a:noFill/>
                  </a:tcPr>
                </a:tc>
                <a:tc hMerge="1">
                  <a:txBody>
                    <a:bodyPr/>
                    <a:lstStyle/>
                    <a:p>
                      <a:pPr marL="0" marR="0" lvl="0" indent="0" algn="ctr" defTabSz="914400" rtl="0" eaLnBrk="1" fontAlgn="base" latinLnBrk="0" hangingPunct="1">
                        <a:lnSpc>
                          <a:spcPct val="106000"/>
                        </a:lnSpc>
                        <a:spcBef>
                          <a:spcPts val="0"/>
                        </a:spcBef>
                        <a:spcAft>
                          <a:spcPct val="0"/>
                        </a:spcAft>
                        <a:buClr>
                          <a:schemeClr val="tx1"/>
                        </a:buClr>
                        <a:buSzPct val="80000"/>
                        <a:buFont typeface="Wingdings" pitchFamily="2" charset="2"/>
                        <a:buNone/>
                        <a:tabLst/>
                      </a:pPr>
                      <a:endParaRPr kumimoji="0" lang="en-US" sz="1000" b="1" i="0" u="none" strike="noStrike" cap="none" normalizeH="0" baseline="0" dirty="0" smtClean="0">
                        <a:ln>
                          <a:noFill/>
                        </a:ln>
                        <a:solidFill>
                          <a:schemeClr val="bg1"/>
                        </a:solidFill>
                        <a:effectLst/>
                        <a:latin typeface="+mj-lt"/>
                      </a:endParaRPr>
                    </a:p>
                  </a:txBody>
                  <a:tcPr marL="73152" marR="73152" marT="73152" marB="73152" anchor="ctr" horzOverflow="overflow">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ts val="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mj-lt"/>
                        </a:rPr>
                        <a:t>Insurance Plan Sold</a:t>
                      </a:r>
                    </a:p>
                    <a:p>
                      <a:pPr marL="0" marR="0" lvl="0" indent="0" algn="ctr" defTabSz="914400" rtl="0" eaLnBrk="1" fontAlgn="base" latinLnBrk="0" hangingPunct="1">
                        <a:lnSpc>
                          <a:spcPct val="106000"/>
                        </a:lnSpc>
                        <a:spcBef>
                          <a:spcPts val="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mj-lt"/>
                        </a:rPr>
                        <a:t>(Product)</a:t>
                      </a:r>
                    </a:p>
                  </a:txBody>
                  <a:tcPr marL="73152" marR="73152" marT="73152" marB="73152" anchor="ctr" horzOverflow="overflow">
                    <a:lnL>
                      <a:noFill/>
                    </a:lnL>
                    <a:lnR w="12700" cap="flat" cmpd="sng" algn="ctr">
                      <a:solidFill>
                        <a:schemeClr val="bg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ts val="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mj-lt"/>
                        </a:rPr>
                        <a:t>Average Annual Premium Revenue per School</a:t>
                      </a:r>
                    </a:p>
                    <a:p>
                      <a:pPr marL="0" marR="0" lvl="0" indent="0" algn="ctr" defTabSz="914400" rtl="0" eaLnBrk="1" fontAlgn="base" latinLnBrk="0" hangingPunct="1">
                        <a:lnSpc>
                          <a:spcPct val="106000"/>
                        </a:lnSpc>
                        <a:spcBef>
                          <a:spcPts val="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mj-lt"/>
                        </a:rPr>
                        <a:t>(Customer Type)</a:t>
                      </a:r>
                    </a:p>
                  </a:txBody>
                  <a:tcPr marL="73152" marR="73152" marT="73152" marB="7315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268092">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endParaRPr kumimoji="0" lang="en-US" sz="900" b="1" i="0" u="none" strike="noStrike" cap="none" normalizeH="0" baseline="0" dirty="0" smtClean="0">
                        <a:ln>
                          <a:noFill/>
                        </a:ln>
                        <a:solidFill>
                          <a:schemeClr val="tx1"/>
                        </a:solidFill>
                        <a:effectLst/>
                        <a:latin typeface="+mj-lt"/>
                      </a:endParaRPr>
                    </a:p>
                  </a:txBody>
                  <a:tcPr marL="45720" marR="45720" marT="18288" marB="18288" anchor="ctr" horzOverflow="overflow">
                    <a:lnL>
                      <a:noFill/>
                    </a:lnL>
                    <a:lnR>
                      <a:noFill/>
                    </a:lnR>
                    <a:lnT>
                      <a:noFill/>
                    </a:lnT>
                    <a:lnB>
                      <a:noFill/>
                    </a:lnB>
                    <a:lnTlToBr>
                      <a:noFill/>
                    </a:lnTlToBr>
                    <a:lnBlToTr>
                      <a:noFill/>
                    </a:lnBlToTr>
                    <a:noFill/>
                  </a:tcPr>
                </a:tc>
                <a:tc>
                  <a:txBody>
                    <a:bodyPr/>
                    <a:lstStyle/>
                    <a:p>
                      <a:pPr algn="l" fontAlgn="b"/>
                      <a:r>
                        <a:rPr lang="en-US" sz="1000" b="0" i="0" u="none" strike="noStrike" dirty="0" smtClean="0">
                          <a:solidFill>
                            <a:srgbClr val="000000"/>
                          </a:solidFill>
                          <a:latin typeface="+mj-lt"/>
                        </a:rPr>
                        <a:t>Plus – Large</a:t>
                      </a:r>
                      <a:r>
                        <a:rPr lang="en-US" sz="1000" b="0" i="0" u="none" strike="noStrike" baseline="0" dirty="0" smtClean="0">
                          <a:solidFill>
                            <a:srgbClr val="000000"/>
                          </a:solidFill>
                          <a:latin typeface="+mj-lt"/>
                        </a:rPr>
                        <a:t> School</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fontAlgn="b"/>
                      <a:r>
                        <a:rPr lang="en-US" sz="1000" b="0" i="0" u="none" strike="noStrike" dirty="0" smtClean="0">
                          <a:solidFill>
                            <a:srgbClr val="000000"/>
                          </a:solidFill>
                          <a:latin typeface="+mj-lt"/>
                        </a:rPr>
                        <a:t>Plus</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000" b="0" i="0" u="none" strike="noStrike" dirty="0" smtClean="0">
                          <a:solidFill>
                            <a:srgbClr val="000000"/>
                          </a:solidFill>
                          <a:latin typeface="+mj-lt"/>
                        </a:rPr>
                        <a:t>$1,000,000</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68092">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endParaRPr kumimoji="0" lang="en-US" sz="900" b="1" i="0" u="none" strike="noStrike" cap="none" normalizeH="0" baseline="0" dirty="0" smtClean="0">
                        <a:ln>
                          <a:noFill/>
                        </a:ln>
                        <a:solidFill>
                          <a:schemeClr val="tx1"/>
                        </a:solidFill>
                        <a:effectLst/>
                        <a:latin typeface="+mj-lt"/>
                      </a:endParaRPr>
                    </a:p>
                  </a:txBody>
                  <a:tcPr marL="45720" marR="45720" marT="18288" marB="18288" anchor="ctr" horzOverflow="overflow">
                    <a:lnL>
                      <a:noFill/>
                    </a:lnL>
                    <a:lnR>
                      <a:noFill/>
                    </a:lnR>
                    <a:lnT>
                      <a:noFill/>
                    </a:lnT>
                    <a:lnB>
                      <a:noFill/>
                    </a:lnB>
                    <a:lnTlToBr>
                      <a:noFill/>
                    </a:lnTlToBr>
                    <a:lnBlToTr>
                      <a:noFill/>
                    </a:lnBlToTr>
                    <a:noFill/>
                  </a:tcPr>
                </a:tc>
                <a:tc>
                  <a:txBody>
                    <a:bodyPr/>
                    <a:lstStyle/>
                    <a:p>
                      <a:pPr algn="l" fontAlgn="b"/>
                      <a:r>
                        <a:rPr lang="en-US" sz="1000" b="0" i="0" u="none" strike="noStrike" dirty="0" smtClean="0">
                          <a:solidFill>
                            <a:srgbClr val="000000"/>
                          </a:solidFill>
                          <a:latin typeface="+mj-lt"/>
                        </a:rPr>
                        <a:t>Standard – Large School</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fontAlgn="b"/>
                      <a:r>
                        <a:rPr lang="en-US" sz="1000" b="0" i="0" u="none" strike="noStrike" dirty="0" smtClean="0">
                          <a:solidFill>
                            <a:srgbClr val="000000"/>
                          </a:solidFill>
                          <a:latin typeface="+mj-lt"/>
                        </a:rPr>
                        <a:t>Standard</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000" b="0" i="0" u="none" strike="noStrike" dirty="0" smtClean="0">
                          <a:solidFill>
                            <a:srgbClr val="000000"/>
                          </a:solidFill>
                          <a:latin typeface="+mj-lt"/>
                        </a:rPr>
                        <a:t>$1,000,000</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68092">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endParaRPr kumimoji="0" lang="en-US" sz="900" b="1" i="0" u="none" strike="noStrike" cap="none" normalizeH="0" baseline="0" dirty="0" smtClean="0">
                        <a:ln>
                          <a:noFill/>
                        </a:ln>
                        <a:solidFill>
                          <a:schemeClr val="tx1"/>
                        </a:solidFill>
                        <a:effectLst/>
                        <a:latin typeface="+mj-lt"/>
                      </a:endParaRPr>
                    </a:p>
                  </a:txBody>
                  <a:tcPr marL="45720" marR="45720" marT="18288" marB="18288" anchor="ctr" horzOverflow="overflow">
                    <a:lnL>
                      <a:noFill/>
                    </a:lnL>
                    <a:lnR>
                      <a:noFill/>
                    </a:lnR>
                    <a:lnT>
                      <a:noFill/>
                    </a:lnT>
                    <a:lnB>
                      <a:noFill/>
                    </a:lnB>
                    <a:lnTlToBr>
                      <a:noFill/>
                    </a:lnTlToBr>
                    <a:lnBlToTr>
                      <a:noFill/>
                    </a:lnBlToTr>
                    <a:noFill/>
                  </a:tcPr>
                </a:tc>
                <a:tc>
                  <a:txBody>
                    <a:bodyPr/>
                    <a:lstStyle/>
                    <a:p>
                      <a:pPr algn="l" fontAlgn="b"/>
                      <a:r>
                        <a:rPr lang="en-US" sz="1000" b="0" i="0" u="none" strike="noStrike" dirty="0" smtClean="0">
                          <a:solidFill>
                            <a:srgbClr val="000000"/>
                          </a:solidFill>
                          <a:latin typeface="+mj-lt"/>
                        </a:rPr>
                        <a:t>Plus – Small</a:t>
                      </a:r>
                      <a:r>
                        <a:rPr lang="en-US" sz="1000" b="0" i="0" u="none" strike="noStrike" baseline="0" dirty="0" smtClean="0">
                          <a:solidFill>
                            <a:srgbClr val="000000"/>
                          </a:solidFill>
                          <a:latin typeface="+mj-lt"/>
                        </a:rPr>
                        <a:t> School</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fontAlgn="b"/>
                      <a:r>
                        <a:rPr lang="en-US" sz="1000" b="0" i="0" u="none" strike="noStrike" dirty="0" smtClean="0">
                          <a:solidFill>
                            <a:srgbClr val="000000"/>
                          </a:solidFill>
                          <a:latin typeface="+mj-lt"/>
                        </a:rPr>
                        <a:t>Plus</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000" b="0" i="0" u="none" strike="noStrike" dirty="0" smtClean="0">
                          <a:solidFill>
                            <a:srgbClr val="000000"/>
                          </a:solidFill>
                          <a:latin typeface="+mj-lt"/>
                        </a:rPr>
                        <a:t>$500,000</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68092">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endParaRPr kumimoji="0" lang="en-US" sz="900" b="1" i="0" u="none" strike="noStrike" cap="none" normalizeH="0" baseline="0" dirty="0" smtClean="0">
                        <a:ln>
                          <a:noFill/>
                        </a:ln>
                        <a:solidFill>
                          <a:schemeClr val="tx1"/>
                        </a:solidFill>
                        <a:effectLst/>
                        <a:latin typeface="+mj-lt"/>
                      </a:endParaRPr>
                    </a:p>
                  </a:txBody>
                  <a:tcPr marL="45720" marR="45720" marT="18288" marB="18288" anchor="ctr" horzOverflow="overflow">
                    <a:lnL>
                      <a:noFill/>
                    </a:lnL>
                    <a:lnR>
                      <a:noFill/>
                    </a:lnR>
                    <a:lnT>
                      <a:noFill/>
                    </a:lnT>
                    <a:lnB>
                      <a:noFill/>
                    </a:lnB>
                    <a:lnTlToBr>
                      <a:noFill/>
                    </a:lnTlToBr>
                    <a:lnBlToTr>
                      <a:noFill/>
                    </a:lnBlToTr>
                    <a:noFill/>
                  </a:tcPr>
                </a:tc>
                <a:tc>
                  <a:txBody>
                    <a:bodyPr/>
                    <a:lstStyle/>
                    <a:p>
                      <a:pPr algn="l" fontAlgn="b"/>
                      <a:r>
                        <a:rPr lang="en-US" sz="1000" b="0" i="0" u="none" strike="noStrike" dirty="0" smtClean="0">
                          <a:solidFill>
                            <a:srgbClr val="000000"/>
                          </a:solidFill>
                          <a:latin typeface="+mj-lt"/>
                        </a:rPr>
                        <a:t>Standard – Small School</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fontAlgn="b"/>
                      <a:r>
                        <a:rPr lang="en-US" sz="1000" b="0" i="0" u="none" strike="noStrike" dirty="0" smtClean="0">
                          <a:solidFill>
                            <a:srgbClr val="000000"/>
                          </a:solidFill>
                          <a:latin typeface="+mj-lt"/>
                        </a:rPr>
                        <a:t>Standard</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000" b="0" i="0" u="none" strike="noStrike" dirty="0" smtClean="0">
                          <a:solidFill>
                            <a:srgbClr val="000000"/>
                          </a:solidFill>
                          <a:latin typeface="+mj-lt"/>
                        </a:rPr>
                        <a:t>$500,000</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2062" name="Rectangle 24"/>
          <p:cNvSpPr>
            <a:spLocks noGrp="1" noChangeArrowheads="1"/>
          </p:cNvSpPr>
          <p:nvPr>
            <p:ph type="title" idx="4294967295"/>
          </p:nvPr>
        </p:nvSpPr>
        <p:spPr>
          <a:xfrm>
            <a:off x="401638" y="530674"/>
            <a:ext cx="8345487" cy="242439"/>
          </a:xfrm>
        </p:spPr>
        <p:txBody>
          <a:bodyPr/>
          <a:lstStyle/>
          <a:p>
            <a:r>
              <a:rPr lang="en-US" dirty="0" smtClean="0"/>
              <a:t>Profitable Growth Strategy: Business Unit of National Health Insurance Company</a:t>
            </a:r>
          </a:p>
        </p:txBody>
      </p:sp>
      <p:graphicFrame>
        <p:nvGraphicFramePr>
          <p:cNvPr id="25" name="Group 46"/>
          <p:cNvGraphicFramePr>
            <a:graphicFrameLocks/>
          </p:cNvGraphicFramePr>
          <p:nvPr/>
        </p:nvGraphicFramePr>
        <p:xfrm>
          <a:off x="938151" y="4427680"/>
          <a:ext cx="3182587" cy="898526"/>
        </p:xfrm>
        <a:graphic>
          <a:graphicData uri="http://schemas.openxmlformats.org/drawingml/2006/table">
            <a:tbl>
              <a:tblPr/>
              <a:tblGrid>
                <a:gridCol w="1347849"/>
                <a:gridCol w="1834738"/>
              </a:tblGrid>
              <a:tr h="412750">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tx1"/>
                          </a:solidFill>
                          <a:effectLst/>
                          <a:latin typeface="+mj-lt"/>
                        </a:rPr>
                        <a:t>Insurance Plan</a:t>
                      </a:r>
                    </a:p>
                  </a:txBody>
                  <a:tcPr marL="73152" marR="73152" marT="73152" marB="73152"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mj-lt"/>
                        </a:rPr>
                        <a:t>Price Per Student Per Year</a:t>
                      </a:r>
                    </a:p>
                  </a:txBody>
                  <a:tcPr marL="73152" marR="73152" marT="73152" marB="73152" anchor="ctr" horzOverflow="overflow">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tx1"/>
                          </a:solidFill>
                          <a:effectLst/>
                          <a:latin typeface="+mj-lt"/>
                        </a:rPr>
                        <a:t>Plus Insurance </a:t>
                      </a:r>
                    </a:p>
                  </a:txBody>
                  <a:tcPr marL="45720" marR="45720" marT="18288" marB="18288" anchor="ctr" horzOverflow="overflow">
                    <a:lnL>
                      <a:noFill/>
                    </a:lnL>
                    <a:lnR>
                      <a:noFill/>
                    </a:lnR>
                    <a:lnT>
                      <a:noFill/>
                    </a:lnT>
                    <a:lnB>
                      <a:noFill/>
                    </a:lnB>
                    <a:lnTlToBr>
                      <a:noFill/>
                    </a:lnTlToBr>
                    <a:lnBlToTr>
                      <a:noFill/>
                    </a:lnBlToTr>
                    <a:noFill/>
                  </a:tcPr>
                </a:tc>
                <a:tc>
                  <a:txBody>
                    <a:bodyPr/>
                    <a:lstStyle/>
                    <a:p>
                      <a:pPr algn="ctr" fontAlgn="b"/>
                      <a:r>
                        <a:rPr lang="en-US" sz="1000" b="0" i="0" u="none" strike="noStrike" dirty="0" smtClean="0">
                          <a:solidFill>
                            <a:srgbClr val="000000"/>
                          </a:solidFill>
                          <a:latin typeface="+mj-lt"/>
                        </a:rPr>
                        <a:t>$2,000</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tx1"/>
                          </a:solidFill>
                          <a:effectLst/>
                          <a:latin typeface="+mj-lt"/>
                        </a:rPr>
                        <a:t>Standard Insurance</a:t>
                      </a:r>
                    </a:p>
                  </a:txBody>
                  <a:tcPr marL="45720" marR="45720" marT="18288" marB="18288" anchor="ctr" horzOverflow="overflow">
                    <a:lnL>
                      <a:noFill/>
                    </a:lnL>
                    <a:lnR>
                      <a:noFill/>
                    </a:lnR>
                    <a:lnT>
                      <a:noFill/>
                    </a:lnT>
                    <a:lnB>
                      <a:noFill/>
                    </a:lnB>
                    <a:lnTlToBr>
                      <a:noFill/>
                    </a:lnTlToBr>
                    <a:lnBlToTr>
                      <a:noFill/>
                    </a:lnBlToTr>
                    <a:noFill/>
                  </a:tcPr>
                </a:tc>
                <a:tc>
                  <a:txBody>
                    <a:bodyPr/>
                    <a:lstStyle/>
                    <a:p>
                      <a:pPr algn="ctr" fontAlgn="b"/>
                      <a:r>
                        <a:rPr lang="en-US" sz="1000" b="0" i="0" u="none" strike="noStrike" dirty="0" smtClean="0">
                          <a:solidFill>
                            <a:srgbClr val="000000"/>
                          </a:solidFill>
                          <a:latin typeface="+mj-lt"/>
                        </a:rPr>
                        <a:t>$1,000</a:t>
                      </a:r>
                      <a:endParaRPr lang="en-US" sz="10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26" name="Group 46"/>
          <p:cNvGraphicFramePr>
            <a:graphicFrameLocks/>
          </p:cNvGraphicFramePr>
          <p:nvPr/>
        </p:nvGraphicFramePr>
        <p:xfrm>
          <a:off x="4865235" y="4342761"/>
          <a:ext cx="3569179" cy="1440944"/>
        </p:xfrm>
        <a:graphic>
          <a:graphicData uri="http://schemas.openxmlformats.org/drawingml/2006/table">
            <a:tbl>
              <a:tblPr/>
              <a:tblGrid>
                <a:gridCol w="1280160"/>
                <a:gridCol w="2289019"/>
              </a:tblGrid>
              <a:tr h="412750">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tx1"/>
                          </a:solidFill>
                          <a:effectLst/>
                          <a:latin typeface="Arial" charset="0"/>
                        </a:rPr>
                        <a:t>Cost Structure Component</a:t>
                      </a:r>
                    </a:p>
                  </a:txBody>
                  <a:tcPr marL="73152" marR="73152" marT="73152" marB="73152"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1" i="0" u="none" strike="noStrike" cap="none" normalizeH="0" baseline="0" dirty="0" smtClean="0">
                          <a:ln>
                            <a:noFill/>
                          </a:ln>
                          <a:solidFill>
                            <a:schemeClr val="bg1"/>
                          </a:solidFill>
                          <a:effectLst/>
                          <a:latin typeface="Arial" charset="0"/>
                        </a:rPr>
                        <a:t>Cost Amount</a:t>
                      </a:r>
                    </a:p>
                  </a:txBody>
                  <a:tcPr marL="73152" marR="73152" marT="73152" marB="73152" anchor="ctr" horzOverflow="overflow">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0" i="0" u="none" strike="noStrike" cap="none" normalizeH="0" baseline="0" dirty="0" smtClean="0">
                          <a:ln>
                            <a:noFill/>
                          </a:ln>
                          <a:solidFill>
                            <a:schemeClr val="tx1"/>
                          </a:solidFill>
                          <a:effectLst/>
                          <a:latin typeface="Arial" charset="0"/>
                        </a:rPr>
                        <a:t>Selling Expenses</a:t>
                      </a:r>
                    </a:p>
                  </a:txBody>
                  <a:tcPr marL="45720" marR="45720" marT="18288" marB="18288" anchor="ctr" horzOverflow="overflow">
                    <a:lnL>
                      <a:noFill/>
                    </a:lnL>
                    <a:lnR>
                      <a:noFill/>
                    </a:lnR>
                    <a:lnT>
                      <a:noFill/>
                    </a:lnT>
                    <a:lnB>
                      <a:noFill/>
                    </a:lnB>
                    <a:lnTlToBr>
                      <a:noFill/>
                    </a:lnTlToBr>
                    <a:lnBlToTr>
                      <a:noFill/>
                    </a:lnBlToTr>
                    <a:noFill/>
                  </a:tcPr>
                </a:tc>
                <a:tc>
                  <a:txBody>
                    <a:bodyPr/>
                    <a:lstStyle/>
                    <a:p>
                      <a:pPr algn="ctr" fontAlgn="b"/>
                      <a:r>
                        <a:rPr lang="en-US" sz="1050" b="0" i="0" u="none" strike="noStrike" dirty="0" smtClean="0">
                          <a:solidFill>
                            <a:srgbClr val="000000"/>
                          </a:solidFill>
                          <a:latin typeface="Calibri"/>
                        </a:rPr>
                        <a:t>7% of Premium Revenue</a:t>
                      </a:r>
                      <a:endParaRPr lang="en-US" sz="1050" b="0" i="0" u="none" strike="noStrike" dirty="0">
                        <a:solidFill>
                          <a:srgbClr val="000000"/>
                        </a:solidFill>
                        <a:latin typeface="Calibri"/>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0" i="0" u="none" strike="noStrike" cap="none" normalizeH="0" baseline="0" dirty="0" smtClean="0">
                          <a:ln>
                            <a:noFill/>
                          </a:ln>
                          <a:solidFill>
                            <a:schemeClr val="tx1"/>
                          </a:solidFill>
                          <a:effectLst/>
                          <a:latin typeface="Arial" charset="0"/>
                        </a:rPr>
                        <a:t>Setup Costs</a:t>
                      </a:r>
                    </a:p>
                  </a:txBody>
                  <a:tcPr marL="45720" marR="45720" marT="18288" marB="18288" anchor="ctr" horzOverflow="overflow">
                    <a:lnL>
                      <a:noFill/>
                    </a:lnL>
                    <a:lnR>
                      <a:noFill/>
                    </a:lnR>
                    <a:lnT>
                      <a:noFill/>
                    </a:lnT>
                    <a:lnB>
                      <a:noFill/>
                    </a:lnB>
                    <a:lnTlToBr>
                      <a:noFill/>
                    </a:lnTlToBr>
                    <a:lnBlToTr>
                      <a:noFill/>
                    </a:lnBlToTr>
                    <a:noFill/>
                  </a:tcPr>
                </a:tc>
                <a:tc>
                  <a:txBody>
                    <a:bodyPr/>
                    <a:lstStyle/>
                    <a:p>
                      <a:pPr algn="ctr" fontAlgn="b"/>
                      <a:r>
                        <a:rPr lang="en-US" sz="1050" b="0" i="0" u="none" strike="noStrike" dirty="0" smtClean="0">
                          <a:solidFill>
                            <a:srgbClr val="000000"/>
                          </a:solidFill>
                          <a:latin typeface="Calibri"/>
                        </a:rPr>
                        <a:t>$50,000 Per School</a:t>
                      </a:r>
                      <a:endParaRPr lang="en-US" sz="1050" b="0" i="0" u="none" strike="noStrike" dirty="0">
                        <a:solidFill>
                          <a:srgbClr val="000000"/>
                        </a:solidFill>
                        <a:latin typeface="Calibri"/>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0" i="0" u="none" strike="noStrike" cap="none" normalizeH="0" baseline="0" dirty="0" smtClean="0">
                          <a:ln>
                            <a:noFill/>
                          </a:ln>
                          <a:solidFill>
                            <a:schemeClr val="tx1"/>
                          </a:solidFill>
                          <a:effectLst/>
                          <a:latin typeface="Arial" charset="0"/>
                        </a:rPr>
                        <a:t>Administration Costs</a:t>
                      </a:r>
                    </a:p>
                  </a:txBody>
                  <a:tcPr marL="45720" marR="45720" marT="18288" marB="18288" anchor="ctr" horzOverflow="overflow">
                    <a:lnL>
                      <a:noFill/>
                    </a:lnL>
                    <a:lnR>
                      <a:noFill/>
                    </a:lnR>
                    <a:lnT>
                      <a:noFill/>
                    </a:lnT>
                    <a:lnB>
                      <a:noFill/>
                    </a:lnB>
                    <a:lnTlToBr>
                      <a:noFill/>
                    </a:lnTlToBr>
                    <a:lnBlToTr>
                      <a:noFill/>
                    </a:lnBlToTr>
                    <a:noFill/>
                  </a:tcPr>
                </a:tc>
                <a:tc>
                  <a:txBody>
                    <a:bodyPr/>
                    <a:lstStyle/>
                    <a:p>
                      <a:pPr algn="ctr" fontAlgn="b"/>
                      <a:r>
                        <a:rPr lang="en-US" sz="1050" b="0" i="0" u="none" strike="noStrike" dirty="0" smtClean="0">
                          <a:solidFill>
                            <a:srgbClr val="000000"/>
                          </a:solidFill>
                          <a:latin typeface="Calibri"/>
                        </a:rPr>
                        <a:t>$50 Per Student</a:t>
                      </a:r>
                      <a:endParaRPr lang="en-US" sz="1050" b="0" i="0" u="none" strike="noStrike" dirty="0">
                        <a:solidFill>
                          <a:srgbClr val="000000"/>
                        </a:solidFill>
                        <a:latin typeface="Calibri"/>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2888">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00" b="0" i="0" u="none" strike="noStrike" cap="none" normalizeH="0" baseline="0" dirty="0" smtClean="0">
                          <a:ln>
                            <a:noFill/>
                          </a:ln>
                          <a:solidFill>
                            <a:schemeClr val="tx1"/>
                          </a:solidFill>
                          <a:effectLst/>
                          <a:latin typeface="Arial" charset="0"/>
                        </a:rPr>
                        <a:t>Medical Costs</a:t>
                      </a:r>
                    </a:p>
                  </a:txBody>
                  <a:tcPr marL="45720" marR="45720" marT="18288" marB="18288" anchor="ctr" horzOverflow="overflow">
                    <a:lnL>
                      <a:noFill/>
                    </a:lnL>
                    <a:lnR>
                      <a:noFill/>
                    </a:lnR>
                    <a:lnT>
                      <a:noFill/>
                    </a:lnT>
                    <a:lnB>
                      <a:noFill/>
                    </a:lnB>
                    <a:lnTlToBr>
                      <a:noFill/>
                    </a:lnTlToBr>
                    <a:lnBlToTr>
                      <a:noFill/>
                    </a:lnBlToTr>
                    <a:noFill/>
                  </a:tcPr>
                </a:tc>
                <a:tc>
                  <a:txBody>
                    <a:bodyPr/>
                    <a:lstStyle/>
                    <a:p>
                      <a:pPr algn="ctr" fontAlgn="b"/>
                      <a:r>
                        <a:rPr lang="en-US" sz="1050" b="0" i="0" u="none" strike="noStrike" dirty="0" smtClean="0">
                          <a:solidFill>
                            <a:srgbClr val="000000"/>
                          </a:solidFill>
                          <a:latin typeface="Calibri"/>
                        </a:rPr>
                        <a:t>80% of Premium</a:t>
                      </a:r>
                      <a:r>
                        <a:rPr lang="en-US" sz="1050" b="0" i="0" u="none" strike="noStrike" baseline="0" dirty="0" smtClean="0">
                          <a:solidFill>
                            <a:srgbClr val="000000"/>
                          </a:solidFill>
                          <a:latin typeface="Calibri"/>
                        </a:rPr>
                        <a:t> Revenue</a:t>
                      </a:r>
                      <a:endParaRPr lang="en-US" sz="1050" b="0" i="0" u="none" strike="noStrike" dirty="0">
                        <a:solidFill>
                          <a:srgbClr val="000000"/>
                        </a:solidFill>
                        <a:latin typeface="Calibri"/>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28" name="TextBox 27"/>
          <p:cNvSpPr txBox="1"/>
          <p:nvPr/>
        </p:nvSpPr>
        <p:spPr>
          <a:xfrm>
            <a:off x="5094516" y="5892325"/>
            <a:ext cx="3158836" cy="553998"/>
          </a:xfrm>
          <a:prstGeom prst="rect">
            <a:avLst/>
          </a:prstGeom>
          <a:noFill/>
        </p:spPr>
        <p:txBody>
          <a:bodyPr wrap="square" rtlCol="0">
            <a:spAutoFit/>
          </a:bodyPr>
          <a:lstStyle/>
          <a:p>
            <a:r>
              <a:rPr lang="en-US" sz="1000" i="1" dirty="0">
                <a:solidFill>
                  <a:srgbClr val="000000"/>
                </a:solidFill>
                <a:latin typeface="Arial"/>
                <a:cs typeface="Arial" charset="0"/>
              </a:rPr>
              <a:t>Note: Under recently passed Health Care Reform laws, insurance companies are required to spend 80% of all premium revenue on medical expenses</a:t>
            </a:r>
          </a:p>
        </p:txBody>
      </p:sp>
      <p:grpSp>
        <p:nvGrpSpPr>
          <p:cNvPr id="2" name="Group 20"/>
          <p:cNvGrpSpPr>
            <a:grpSpLocks/>
          </p:cNvGrpSpPr>
          <p:nvPr/>
        </p:nvGrpSpPr>
        <p:grpSpPr bwMode="auto">
          <a:xfrm>
            <a:off x="4644736" y="4104389"/>
            <a:ext cx="3935413" cy="139059"/>
            <a:chOff x="476250" y="4019540"/>
            <a:chExt cx="3935413" cy="139682"/>
          </a:xfrm>
        </p:grpSpPr>
        <p:sp>
          <p:nvSpPr>
            <p:cNvPr id="30" name="Line 47"/>
            <p:cNvSpPr>
              <a:spLocks noChangeShapeType="1"/>
            </p:cNvSpPr>
            <p:nvPr/>
          </p:nvSpPr>
          <p:spPr bwMode="gray">
            <a:xfrm>
              <a:off x="476250" y="4105264"/>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pitchFamily="34" charset="0"/>
              </a:endParaRPr>
            </a:p>
          </p:txBody>
        </p:sp>
        <p:sp>
          <p:nvSpPr>
            <p:cNvPr id="31" name="Rectangle 25"/>
            <p:cNvSpPr>
              <a:spLocks noChangeArrowheads="1"/>
            </p:cNvSpPr>
            <p:nvPr/>
          </p:nvSpPr>
          <p:spPr bwMode="gray">
            <a:xfrm>
              <a:off x="1030793" y="4019540"/>
              <a:ext cx="2826327" cy="139682"/>
            </a:xfrm>
            <a:prstGeom prst="rect">
              <a:avLst/>
            </a:prstGeom>
            <a:solidFill>
              <a:schemeClr val="bg1"/>
            </a:solidFill>
            <a:ln w="9525" algn="ctr">
              <a:noFill/>
              <a:miter lim="800000"/>
              <a:headEnd/>
              <a:tailEnd/>
            </a:ln>
          </p:spPr>
          <p:txBody>
            <a:bodyPr lIns="0" tIns="0" rIns="0" bIns="0"/>
            <a:lstStyle/>
            <a:p>
              <a:pPr marL="169863" lvl="1" indent="-168275" algn="ctr" eaLnBrk="0" hangingPunct="0">
                <a:lnSpc>
                  <a:spcPct val="106000"/>
                </a:lnSpc>
                <a:buClr>
                  <a:srgbClr val="000000"/>
                </a:buClr>
                <a:buFont typeface="Wingdings 2" pitchFamily="18" charset="2"/>
                <a:buNone/>
              </a:pPr>
              <a:r>
                <a:rPr lang="en-US" sz="1100" dirty="0">
                  <a:solidFill>
                    <a:srgbClr val="000000"/>
                  </a:solidFill>
                  <a:latin typeface="Arial"/>
                  <a:cs typeface="Arial" pitchFamily="34" charset="0"/>
                </a:rPr>
                <a:t>Client-Specific Small School Cost Structure</a:t>
              </a:r>
            </a:p>
            <a:p>
              <a:pPr marL="169863" lvl="1" indent="-168275" algn="ctr" eaLnBrk="0" hangingPunct="0">
                <a:lnSpc>
                  <a:spcPct val="106000"/>
                </a:lnSpc>
                <a:buClr>
                  <a:srgbClr val="000000"/>
                </a:buClr>
                <a:buFont typeface="Wingdings 2" pitchFamily="18" charset="2"/>
                <a:buNone/>
              </a:pPr>
              <a:endParaRPr lang="en-US" sz="1000" dirty="0">
                <a:solidFill>
                  <a:srgbClr val="000000"/>
                </a:solidFill>
                <a:latin typeface="Arial"/>
                <a:cs typeface="Arial" pitchFamily="34" charset="0"/>
              </a:endParaRPr>
            </a:p>
          </p:txBody>
        </p:sp>
      </p:grpSp>
      <p:grpSp>
        <p:nvGrpSpPr>
          <p:cNvPr id="3" name="Group 18"/>
          <p:cNvGrpSpPr>
            <a:grpSpLocks/>
          </p:cNvGrpSpPr>
          <p:nvPr/>
        </p:nvGrpSpPr>
        <p:grpSpPr bwMode="auto">
          <a:xfrm>
            <a:off x="565048" y="4093545"/>
            <a:ext cx="3935412" cy="166712"/>
            <a:chOff x="476250" y="1524000"/>
            <a:chExt cx="3935413" cy="167655"/>
          </a:xfrm>
        </p:grpSpPr>
        <p:sp>
          <p:nvSpPr>
            <p:cNvPr id="34" name="Line 47"/>
            <p:cNvSpPr>
              <a:spLocks noChangeShapeType="1"/>
            </p:cNvSpPr>
            <p:nvPr/>
          </p:nvSpPr>
          <p:spPr bwMode="gray">
            <a:xfrm>
              <a:off x="476250" y="1609725"/>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pitchFamily="34" charset="0"/>
              </a:endParaRPr>
            </a:p>
          </p:txBody>
        </p:sp>
        <p:sp>
          <p:nvSpPr>
            <p:cNvPr id="35" name="Rectangle 25"/>
            <p:cNvSpPr>
              <a:spLocks noChangeArrowheads="1"/>
            </p:cNvSpPr>
            <p:nvPr/>
          </p:nvSpPr>
          <p:spPr bwMode="gray">
            <a:xfrm>
              <a:off x="1168605" y="1524000"/>
              <a:ext cx="2541401" cy="167655"/>
            </a:xfrm>
            <a:prstGeom prst="rect">
              <a:avLst/>
            </a:prstGeom>
            <a:solidFill>
              <a:schemeClr val="bg1"/>
            </a:solidFill>
            <a:ln w="9525" algn="ctr">
              <a:noFill/>
              <a:miter lim="800000"/>
              <a:headEnd/>
              <a:tailEnd/>
            </a:ln>
          </p:spPr>
          <p:txBody>
            <a:bodyPr wrap="none" lIns="91440" tIns="0" rIns="91440" bIns="0">
              <a:spAutoFit/>
            </a:bodyPr>
            <a:lstStyle/>
            <a:p>
              <a:pPr marL="169863" lvl="1" indent="-168275" algn="ctr" eaLnBrk="0" hangingPunct="0">
                <a:lnSpc>
                  <a:spcPct val="106000"/>
                </a:lnSpc>
                <a:buClr>
                  <a:srgbClr val="000000"/>
                </a:buClr>
                <a:buFont typeface="Wingdings 2" pitchFamily="18" charset="2"/>
                <a:buNone/>
              </a:pPr>
              <a:r>
                <a:rPr lang="en-US" sz="1100" dirty="0">
                  <a:solidFill>
                    <a:srgbClr val="000000"/>
                  </a:solidFill>
                  <a:latin typeface="Arial"/>
                  <a:cs typeface="Arial" pitchFamily="34" charset="0"/>
                </a:rPr>
                <a:t>Client-Specific Insurance Plan </a:t>
              </a:r>
              <a:r>
                <a:rPr lang="en-US" sz="1100" dirty="0" smtClean="0">
                  <a:solidFill>
                    <a:srgbClr val="000000"/>
                  </a:solidFill>
                  <a:latin typeface="Arial"/>
                  <a:cs typeface="Arial" pitchFamily="34" charset="0"/>
                </a:rPr>
                <a:t>Pricing</a:t>
              </a:r>
              <a:endParaRPr lang="en-US" sz="1100" dirty="0">
                <a:solidFill>
                  <a:srgbClr val="000000"/>
                </a:solidFill>
                <a:latin typeface="Arial"/>
                <a:cs typeface="Arial" pitchFamily="34" charset="0"/>
              </a:endParaRPr>
            </a:p>
          </p:txBody>
        </p:sp>
      </p:grpSp>
      <p:grpSp>
        <p:nvGrpSpPr>
          <p:cNvPr id="4" name="Group 18"/>
          <p:cNvGrpSpPr>
            <a:grpSpLocks/>
          </p:cNvGrpSpPr>
          <p:nvPr/>
        </p:nvGrpSpPr>
        <p:grpSpPr bwMode="auto">
          <a:xfrm>
            <a:off x="4662323" y="1406525"/>
            <a:ext cx="3935412" cy="179408"/>
            <a:chOff x="476250" y="1524000"/>
            <a:chExt cx="3935413" cy="180423"/>
          </a:xfrm>
        </p:grpSpPr>
        <p:sp>
          <p:nvSpPr>
            <p:cNvPr id="38" name="Line 47"/>
            <p:cNvSpPr>
              <a:spLocks noChangeShapeType="1"/>
            </p:cNvSpPr>
            <p:nvPr/>
          </p:nvSpPr>
          <p:spPr bwMode="gray">
            <a:xfrm>
              <a:off x="476250" y="1609725"/>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pitchFamily="34" charset="0"/>
              </a:endParaRPr>
            </a:p>
          </p:txBody>
        </p:sp>
        <p:sp>
          <p:nvSpPr>
            <p:cNvPr id="39" name="Rectangle 25"/>
            <p:cNvSpPr>
              <a:spLocks noChangeArrowheads="1"/>
            </p:cNvSpPr>
            <p:nvPr/>
          </p:nvSpPr>
          <p:spPr bwMode="gray">
            <a:xfrm>
              <a:off x="1327301" y="1524000"/>
              <a:ext cx="2224008" cy="180423"/>
            </a:xfrm>
            <a:prstGeom prst="rect">
              <a:avLst/>
            </a:prstGeom>
            <a:solidFill>
              <a:schemeClr val="bg1"/>
            </a:solidFill>
            <a:ln w="9525" algn="ctr">
              <a:noFill/>
              <a:miter lim="800000"/>
              <a:headEnd/>
              <a:tailEnd/>
            </a:ln>
          </p:spPr>
          <p:txBody>
            <a:bodyPr wrap="none" lIns="91440" tIns="0" rIns="91440" bIns="0">
              <a:spAutoFit/>
            </a:bodyPr>
            <a:lstStyle/>
            <a:p>
              <a:pPr marL="169863" lvl="1" indent="-168275" algn="ctr" eaLnBrk="0" hangingPunct="0">
                <a:lnSpc>
                  <a:spcPct val="106000"/>
                </a:lnSpc>
                <a:buClr>
                  <a:srgbClr val="000000"/>
                </a:buClr>
                <a:buFont typeface="Wingdings 2" pitchFamily="18" charset="2"/>
                <a:buNone/>
              </a:pPr>
              <a:r>
                <a:rPr lang="en-US" sz="1100" dirty="0" smtClean="0">
                  <a:solidFill>
                    <a:srgbClr val="000000"/>
                  </a:solidFill>
                  <a:latin typeface="Arial"/>
                  <a:cs typeface="Arial" pitchFamily="34" charset="0"/>
                </a:rPr>
                <a:t>Product/Customer Combinations</a:t>
              </a:r>
            </a:p>
          </p:txBody>
        </p:sp>
      </p:grpSp>
      <p:grpSp>
        <p:nvGrpSpPr>
          <p:cNvPr id="5" name="Group 20"/>
          <p:cNvGrpSpPr>
            <a:grpSpLocks/>
          </p:cNvGrpSpPr>
          <p:nvPr/>
        </p:nvGrpSpPr>
        <p:grpSpPr bwMode="auto">
          <a:xfrm>
            <a:off x="512123" y="1406527"/>
            <a:ext cx="3935413" cy="166712"/>
            <a:chOff x="476250" y="4019545"/>
            <a:chExt cx="3935413" cy="167459"/>
          </a:xfrm>
        </p:grpSpPr>
        <p:sp>
          <p:nvSpPr>
            <p:cNvPr id="46" name="Line 47"/>
            <p:cNvSpPr>
              <a:spLocks noChangeShapeType="1"/>
            </p:cNvSpPr>
            <p:nvPr/>
          </p:nvSpPr>
          <p:spPr bwMode="gray">
            <a:xfrm>
              <a:off x="476250" y="4105275"/>
              <a:ext cx="3935413" cy="0"/>
            </a:xfrm>
            <a:prstGeom prst="line">
              <a:avLst/>
            </a:prstGeom>
            <a:noFill/>
            <a:ln w="12700" cap="rnd">
              <a:solidFill>
                <a:schemeClr val="accent1"/>
              </a:solidFill>
              <a:round/>
              <a:headEnd/>
              <a:tailEnd/>
            </a:ln>
          </p:spPr>
          <p:txBody>
            <a:bodyPr wrap="none" anchor="ctr"/>
            <a:lstStyle/>
            <a:p>
              <a:endParaRPr lang="en-US" sz="1100" b="1" dirty="0">
                <a:solidFill>
                  <a:srgbClr val="000000"/>
                </a:solidFill>
                <a:latin typeface="Arial"/>
                <a:cs typeface="Arial" pitchFamily="34" charset="0"/>
              </a:endParaRPr>
            </a:p>
          </p:txBody>
        </p:sp>
        <p:sp>
          <p:nvSpPr>
            <p:cNvPr id="47" name="Rectangle 25"/>
            <p:cNvSpPr>
              <a:spLocks noChangeArrowheads="1"/>
            </p:cNvSpPr>
            <p:nvPr/>
          </p:nvSpPr>
          <p:spPr bwMode="gray">
            <a:xfrm>
              <a:off x="1521107" y="4019545"/>
              <a:ext cx="1845697" cy="167459"/>
            </a:xfrm>
            <a:prstGeom prst="rect">
              <a:avLst/>
            </a:prstGeom>
            <a:solidFill>
              <a:schemeClr val="bg1"/>
            </a:solidFill>
            <a:ln w="9525" algn="ctr">
              <a:noFill/>
              <a:miter lim="800000"/>
              <a:headEnd/>
              <a:tailEnd/>
            </a:ln>
          </p:spPr>
          <p:txBody>
            <a:bodyPr wrap="none" lIns="91440" tIns="0" rIns="91440" bIns="0">
              <a:spAutoFit/>
            </a:bodyPr>
            <a:lstStyle/>
            <a:p>
              <a:pPr marL="169863" lvl="1" indent="-168275" algn="ctr" eaLnBrk="0" hangingPunct="0">
                <a:lnSpc>
                  <a:spcPct val="106000"/>
                </a:lnSpc>
                <a:buClr>
                  <a:srgbClr val="000000"/>
                </a:buClr>
                <a:buFont typeface="Wingdings 2" pitchFamily="18" charset="2"/>
                <a:buNone/>
              </a:pPr>
              <a:r>
                <a:rPr lang="en-US" sz="1100" dirty="0">
                  <a:solidFill>
                    <a:srgbClr val="000000"/>
                  </a:solidFill>
                  <a:latin typeface="Arial"/>
                  <a:cs typeface="Arial" pitchFamily="34" charset="0"/>
                </a:rPr>
                <a:t>Client Historical </a:t>
              </a:r>
              <a:r>
                <a:rPr lang="en-US" sz="1100" dirty="0" smtClean="0">
                  <a:solidFill>
                    <a:srgbClr val="000000"/>
                  </a:solidFill>
                  <a:latin typeface="Arial"/>
                  <a:cs typeface="Arial" pitchFamily="34" charset="0"/>
                </a:rPr>
                <a:t>Financials</a:t>
              </a:r>
              <a:endParaRPr lang="en-US" sz="1100" dirty="0">
                <a:solidFill>
                  <a:srgbClr val="000000"/>
                </a:solidFill>
                <a:latin typeface="Arial"/>
                <a:cs typeface="Arial" pitchFamily="34" charset="0"/>
              </a:endParaRPr>
            </a:p>
          </p:txBody>
        </p:sp>
      </p:grpSp>
      <p:graphicFrame>
        <p:nvGraphicFramePr>
          <p:cNvPr id="48" name="Chart 47"/>
          <p:cNvGraphicFramePr/>
          <p:nvPr/>
        </p:nvGraphicFramePr>
        <p:xfrm>
          <a:off x="714809" y="1659000"/>
          <a:ext cx="3714687" cy="2188606"/>
        </p:xfrm>
        <a:graphic>
          <a:graphicData uri="http://schemas.openxmlformats.org/drawingml/2006/chart">
            <c:chart xmlns:c="http://schemas.openxmlformats.org/drawingml/2006/chart" xmlns:r="http://schemas.openxmlformats.org/officeDocument/2006/relationships" r:id="rId3"/>
          </a:graphicData>
        </a:graphic>
      </p:graphicFrame>
      <p:sp>
        <p:nvSpPr>
          <p:cNvPr id="49" name="Rectangle 48"/>
          <p:cNvSpPr/>
          <p:nvPr/>
        </p:nvSpPr>
        <p:spPr bwMode="auto">
          <a:xfrm>
            <a:off x="2228377" y="3843185"/>
            <a:ext cx="145141" cy="145141"/>
          </a:xfrm>
          <a:prstGeom prst="rect">
            <a:avLst/>
          </a:prstGeom>
          <a:solidFill>
            <a:schemeClr val="accent1"/>
          </a:solidFill>
          <a:ln w="9525" cap="flat" cmpd="sng" algn="ctr">
            <a:noFill/>
            <a:prstDash val="solid"/>
            <a:round/>
            <a:headEnd type="none" w="med" len="med"/>
            <a:tailEnd type="none" w="med" len="med"/>
          </a:ln>
          <a:effectLst/>
        </p:spPr>
        <p:txBody>
          <a:bodyPr vert="horz" wrap="none" lIns="365760" tIns="45720" rIns="91440" bIns="45720" numCol="1" rtlCol="0" anchor="ctr" anchorCtr="0" compatLnSpc="1">
            <a:prstTxWarp prst="textNoShape">
              <a:avLst/>
            </a:prstTxWarp>
          </a:bodyPr>
          <a:lstStyle/>
          <a:p>
            <a:r>
              <a:rPr lang="en-US" sz="1000" dirty="0">
                <a:solidFill>
                  <a:srgbClr val="000000"/>
                </a:solidFill>
                <a:latin typeface="Arial"/>
                <a:cs typeface="Arial" charset="0"/>
              </a:rPr>
              <a:t>Pretax Operating Income ($M)</a:t>
            </a:r>
          </a:p>
        </p:txBody>
      </p:sp>
      <p:sp>
        <p:nvSpPr>
          <p:cNvPr id="50" name="Rectangle 49"/>
          <p:cNvSpPr/>
          <p:nvPr/>
        </p:nvSpPr>
        <p:spPr bwMode="auto">
          <a:xfrm>
            <a:off x="1123941" y="3843185"/>
            <a:ext cx="145141" cy="145141"/>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none" lIns="365760" tIns="45720" rIns="91440" bIns="45720" numCol="1" rtlCol="0" anchor="ctr" anchorCtr="0" compatLnSpc="1">
            <a:prstTxWarp prst="textNoShape">
              <a:avLst/>
            </a:prstTxWarp>
          </a:bodyPr>
          <a:lstStyle/>
          <a:p>
            <a:r>
              <a:rPr lang="en-US" sz="1000" dirty="0">
                <a:solidFill>
                  <a:srgbClr val="000000"/>
                </a:solidFill>
                <a:latin typeface="Arial"/>
                <a:cs typeface="Arial" charset="0"/>
              </a:rPr>
              <a:t>Revenue ($M)</a:t>
            </a:r>
          </a:p>
        </p:txBody>
      </p:sp>
      <p:sp>
        <p:nvSpPr>
          <p:cNvPr id="27" name="Oval 39"/>
          <p:cNvSpPr>
            <a:spLocks noChangeArrowheads="1"/>
          </p:cNvSpPr>
          <p:nvPr/>
        </p:nvSpPr>
        <p:spPr bwMode="gray">
          <a:xfrm>
            <a:off x="4768732" y="2533402"/>
            <a:ext cx="228600" cy="22860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smtClean="0">
                <a:solidFill>
                  <a:srgbClr val="FFFFFF"/>
                </a:solidFill>
                <a:latin typeface="Arial"/>
                <a:cs typeface="Arial" pitchFamily="34" charset="0"/>
              </a:rPr>
              <a:t>A</a:t>
            </a:r>
            <a:endParaRPr lang="en-US" sz="900" b="1" dirty="0">
              <a:solidFill>
                <a:srgbClr val="FFFFFF"/>
              </a:solidFill>
              <a:latin typeface="Arial"/>
              <a:cs typeface="Arial" pitchFamily="34" charset="0"/>
            </a:endParaRPr>
          </a:p>
        </p:txBody>
      </p:sp>
      <p:sp>
        <p:nvSpPr>
          <p:cNvPr id="33" name="Oval 39"/>
          <p:cNvSpPr>
            <a:spLocks noChangeArrowheads="1"/>
          </p:cNvSpPr>
          <p:nvPr/>
        </p:nvSpPr>
        <p:spPr bwMode="gray">
          <a:xfrm>
            <a:off x="4768732" y="2806535"/>
            <a:ext cx="228600" cy="22860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smtClean="0">
                <a:solidFill>
                  <a:srgbClr val="FFFFFF"/>
                </a:solidFill>
                <a:latin typeface="Arial"/>
                <a:cs typeface="Arial" pitchFamily="34" charset="0"/>
              </a:rPr>
              <a:t>B</a:t>
            </a:r>
            <a:endParaRPr lang="en-US" sz="900" b="1" dirty="0">
              <a:solidFill>
                <a:srgbClr val="FFFFFF"/>
              </a:solidFill>
              <a:latin typeface="Arial"/>
              <a:cs typeface="Arial" pitchFamily="34" charset="0"/>
            </a:endParaRPr>
          </a:p>
        </p:txBody>
      </p:sp>
      <p:sp>
        <p:nvSpPr>
          <p:cNvPr id="37" name="Oval 39"/>
          <p:cNvSpPr>
            <a:spLocks noChangeArrowheads="1"/>
          </p:cNvSpPr>
          <p:nvPr/>
        </p:nvSpPr>
        <p:spPr bwMode="gray">
          <a:xfrm>
            <a:off x="4768732" y="3079667"/>
            <a:ext cx="228600" cy="22860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smtClean="0">
                <a:solidFill>
                  <a:srgbClr val="FFFFFF"/>
                </a:solidFill>
                <a:latin typeface="Arial"/>
                <a:cs typeface="Arial" pitchFamily="34" charset="0"/>
              </a:rPr>
              <a:t>C</a:t>
            </a:r>
            <a:endParaRPr lang="en-US" sz="900" b="1" dirty="0">
              <a:solidFill>
                <a:srgbClr val="FFFFFF"/>
              </a:solidFill>
              <a:latin typeface="Arial"/>
              <a:cs typeface="Arial" pitchFamily="34" charset="0"/>
            </a:endParaRPr>
          </a:p>
        </p:txBody>
      </p:sp>
      <p:sp>
        <p:nvSpPr>
          <p:cNvPr id="40" name="Oval 39"/>
          <p:cNvSpPr>
            <a:spLocks noChangeArrowheads="1"/>
          </p:cNvSpPr>
          <p:nvPr/>
        </p:nvSpPr>
        <p:spPr bwMode="gray">
          <a:xfrm>
            <a:off x="4768732" y="3352800"/>
            <a:ext cx="228600" cy="22860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smtClean="0">
                <a:solidFill>
                  <a:srgbClr val="FFFFFF"/>
                </a:solidFill>
                <a:latin typeface="Arial"/>
                <a:cs typeface="Arial" pitchFamily="34" charset="0"/>
              </a:rPr>
              <a:t>D</a:t>
            </a:r>
            <a:endParaRPr lang="en-US" sz="900" b="1" dirty="0">
              <a:solidFill>
                <a:srgbClr val="FFFFFF"/>
              </a:solidFill>
              <a:latin typeface="Arial"/>
              <a:cs typeface="Arial" pitchFamily="34" charset="0"/>
            </a:endParaRPr>
          </a:p>
        </p:txBody>
      </p:sp>
    </p:spTree>
    <p:extLst>
      <p:ext uri="{BB962C8B-B14F-4D97-AF65-F5344CB8AC3E}">
        <p14:creationId xmlns:p14="http://schemas.microsoft.com/office/powerpoint/2010/main" val="724253971"/>
      </p:ext>
    </p:extLst>
  </p:cSld>
  <p:clrMapOvr>
    <a:masterClrMapping/>
  </p:clrMapOvr>
  <p:timing>
    <p:tnLst>
      <p:par>
        <p:cTn xmlns:p14="http://schemas.microsoft.com/office/powerpoint/2010/mai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Group 2"/>
          <p:cNvGraphicFramePr>
            <a:graphicFrameLocks noGrp="1"/>
          </p:cNvGraphicFramePr>
          <p:nvPr>
            <p:ph sz="half" idx="4294967295"/>
          </p:nvPr>
        </p:nvGraphicFramePr>
        <p:xfrm>
          <a:off x="427038" y="850900"/>
          <a:ext cx="8289925" cy="5645151"/>
        </p:xfrm>
        <a:graphic>
          <a:graphicData uri="http://schemas.openxmlformats.org/drawingml/2006/table">
            <a:tbl>
              <a:tblPr/>
              <a:tblGrid>
                <a:gridCol w="8289925"/>
              </a:tblGrid>
              <a:tr h="354013">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200" b="1" i="0" u="none" strike="noStrike" cap="none" normalizeH="0" baseline="0" dirty="0" smtClean="0">
                          <a:ln>
                            <a:noFill/>
                          </a:ln>
                          <a:solidFill>
                            <a:schemeClr val="bg1"/>
                          </a:solidFill>
                          <a:effectLst/>
                          <a:latin typeface="Arial" charset="0"/>
                        </a:rPr>
                        <a:t>Prompt Questions &amp; Responses (For interviewer reference ONLY)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1138">
                <a:tc>
                  <a:txBody>
                    <a:bodyPr/>
                    <a:lstStyle/>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tx1"/>
                          </a:solidFill>
                          <a:effectLst/>
                          <a:latin typeface="Arial" charset="0"/>
                        </a:rPr>
                        <a:t>1a. </a:t>
                      </a:r>
                      <a:r>
                        <a:rPr kumimoji="0" lang="en-US" sz="1100" b="1" i="0" u="none" strike="noStrike" kern="1200" cap="none" normalizeH="0" baseline="0" dirty="0" smtClean="0">
                          <a:ln>
                            <a:noFill/>
                          </a:ln>
                          <a:solidFill>
                            <a:schemeClr val="tx1"/>
                          </a:solidFill>
                          <a:effectLst/>
                          <a:latin typeface="Arial" charset="0"/>
                          <a:ea typeface="+mn-ea"/>
                          <a:cs typeface="+mn-cs"/>
                        </a:rPr>
                        <a:t>What are the potential avenues of growth for the student health insurance company?</a:t>
                      </a:r>
                    </a:p>
                    <a:p>
                      <a:pPr marL="0" marR="0" lvl="0" indent="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100" b="0" i="1" u="none" strike="noStrike" kern="1200" cap="none" normalizeH="0" baseline="0" dirty="0" smtClean="0">
                        <a:ln>
                          <a:noFill/>
                        </a:ln>
                        <a:solidFill>
                          <a:schemeClr val="tx1"/>
                        </a:solidFill>
                        <a:effectLst/>
                        <a:latin typeface="Arial" charset="0"/>
                        <a:ea typeface="+mn-ea"/>
                        <a:cs typeface="+mn-cs"/>
                      </a:endParaRPr>
                    </a:p>
                    <a:p>
                      <a:pPr marL="0" marR="0" lvl="0" indent="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r>
                        <a:rPr kumimoji="0" lang="en-US" sz="1100" b="0" i="1" u="none" strike="noStrike" kern="1200" cap="none" normalizeH="0" baseline="0" dirty="0" smtClean="0">
                          <a:ln>
                            <a:noFill/>
                          </a:ln>
                          <a:solidFill>
                            <a:schemeClr val="tx1"/>
                          </a:solidFill>
                          <a:effectLst/>
                          <a:latin typeface="Arial" charset="0"/>
                          <a:ea typeface="+mn-ea"/>
                          <a:cs typeface="+mn-cs"/>
                        </a:rPr>
                        <a:t>[Note to interviewer: Look for the candidate to provide structure in assessing the growth opportunity. If the interviewee starts listing random opportunities, ask how they would structure an approach to devising ideas. This question was intentionally developed to assess the candidate’s ability to deal with ambiguity and provide a variety of solutions based on his/her academic and professional experience. The framework and comments below are NOT exhaustive. ]</a:t>
                      </a: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0"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0906" name="Rectangle 24"/>
          <p:cNvSpPr>
            <a:spLocks noGrp="1" noChangeArrowheads="1"/>
          </p:cNvSpPr>
          <p:nvPr>
            <p:ph type="title" idx="4294967295"/>
          </p:nvPr>
        </p:nvSpPr>
        <p:spPr>
          <a:xfrm>
            <a:off x="401638" y="530674"/>
            <a:ext cx="8345487" cy="242439"/>
          </a:xfrm>
        </p:spPr>
        <p:txBody>
          <a:bodyPr/>
          <a:lstStyle/>
          <a:p>
            <a:pPr eaLnBrk="1" hangingPunct="1"/>
            <a:r>
              <a:rPr lang="en-US" dirty="0" smtClean="0"/>
              <a:t>Profitable Growth Strategy: Business Unit of National Health Insurance Company</a:t>
            </a:r>
          </a:p>
        </p:txBody>
      </p:sp>
      <p:graphicFrame>
        <p:nvGraphicFramePr>
          <p:cNvPr id="5" name="Group 46"/>
          <p:cNvGraphicFramePr>
            <a:graphicFrameLocks/>
          </p:cNvGraphicFramePr>
          <p:nvPr/>
        </p:nvGraphicFramePr>
        <p:xfrm>
          <a:off x="795978" y="2514600"/>
          <a:ext cx="7386168" cy="3530346"/>
        </p:xfrm>
        <a:graphic>
          <a:graphicData uri="http://schemas.openxmlformats.org/drawingml/2006/table">
            <a:tbl>
              <a:tblPr/>
              <a:tblGrid>
                <a:gridCol w="347022"/>
                <a:gridCol w="3402018"/>
                <a:gridCol w="3637128"/>
              </a:tblGrid>
              <a:tr h="30861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endParaRPr kumimoji="0" lang="en-US" sz="1100" b="1" i="0" u="none" strike="noStrike" cap="none" normalizeH="0" baseline="0" dirty="0" smtClean="0">
                        <a:ln>
                          <a:noFill/>
                        </a:ln>
                        <a:solidFill>
                          <a:schemeClr val="bg1"/>
                        </a:solidFill>
                        <a:effectLst/>
                        <a:latin typeface="+mj-lt"/>
                      </a:endParaRPr>
                    </a:p>
                  </a:txBody>
                  <a:tcPr marL="73152" marR="73152"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Existing</a:t>
                      </a:r>
                    </a:p>
                  </a:txBody>
                  <a:tcPr marL="73152" marR="73152" marT="0" marB="0" anchor="ctr"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New</a:t>
                      </a:r>
                    </a:p>
                  </a:txBody>
                  <a:tcPr marL="73152" marR="73152" marT="0" marB="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1"/>
                    </a:solidFill>
                  </a:tcPr>
                </a:tc>
              </a:tr>
              <a:tr h="1520190">
                <a:tc>
                  <a:txBody>
                    <a:bodyPr/>
                    <a:lstStyle/>
                    <a:p>
                      <a:pPr marL="0" marR="0" lvl="1" indent="0" algn="ctr">
                        <a:lnSpc>
                          <a:spcPct val="105000"/>
                        </a:lnSpc>
                        <a:spcBef>
                          <a:spcPts val="0"/>
                        </a:spcBef>
                        <a:spcAft>
                          <a:spcPts val="0"/>
                        </a:spcAft>
                        <a:buFont typeface="Courier New" pitchFamily="49" charset="0"/>
                        <a:buNone/>
                      </a:pPr>
                      <a:r>
                        <a:rPr lang="en-US" sz="1100" b="1" dirty="0" smtClean="0">
                          <a:solidFill>
                            <a:schemeClr val="bg1"/>
                          </a:solidFill>
                          <a:latin typeface="+mj-lt"/>
                          <a:ea typeface="Calibri"/>
                          <a:cs typeface="Times New Roman"/>
                        </a:rPr>
                        <a:t>New</a:t>
                      </a:r>
                    </a:p>
                  </a:txBody>
                  <a:tcPr marL="68580" marR="6858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j-lt"/>
                          <a:ea typeface="Calibri"/>
                          <a:cs typeface="Times New Roman"/>
                        </a:rPr>
                        <a:t>Identify new segments/channels</a:t>
                      </a:r>
                      <a:r>
                        <a:rPr lang="en-US" sz="1100" kern="1200" baseline="0" dirty="0" smtClean="0">
                          <a:solidFill>
                            <a:schemeClr val="tx1"/>
                          </a:solidFill>
                          <a:latin typeface="+mj-lt"/>
                          <a:ea typeface="Calibri"/>
                          <a:cs typeface="Times New Roman"/>
                        </a:rPr>
                        <a:t> to sell existing products</a:t>
                      </a:r>
                      <a:endParaRPr lang="en-US" sz="1100" kern="1200" dirty="0" smtClean="0">
                        <a:solidFill>
                          <a:schemeClr val="tx1"/>
                        </a:solidFill>
                        <a:latin typeface="+mj-lt"/>
                        <a:ea typeface="Calibri"/>
                        <a:cs typeface="Times New Roman"/>
                      </a:endParaRPr>
                    </a:p>
                    <a:p>
                      <a:pPr marL="236538" marR="0" lvl="0" indent="-114300" algn="l" defTabSz="914400" rtl="0" eaLnBrk="1" latinLnBrk="0" hangingPunct="1">
                        <a:lnSpc>
                          <a:spcPct val="100000"/>
                        </a:lnSpc>
                        <a:spcBef>
                          <a:spcPts val="0"/>
                        </a:spcBef>
                        <a:spcAft>
                          <a:spcPts val="0"/>
                        </a:spcAft>
                        <a:buFont typeface="Arial" pitchFamily="34" charset="0"/>
                        <a:buChar char="۔"/>
                      </a:pPr>
                      <a:r>
                        <a:rPr lang="en-US" sz="1100" kern="1200" dirty="0" smtClean="0">
                          <a:solidFill>
                            <a:schemeClr val="tx1"/>
                          </a:solidFill>
                          <a:latin typeface="+mj-lt"/>
                          <a:ea typeface="Calibri"/>
                          <a:cs typeface="Times New Roman"/>
                        </a:rPr>
                        <a:t>Pursue</a:t>
                      </a:r>
                      <a:r>
                        <a:rPr lang="en-US" sz="1100" kern="1200" baseline="0" dirty="0" smtClean="0">
                          <a:solidFill>
                            <a:schemeClr val="tx1"/>
                          </a:solidFill>
                          <a:latin typeface="+mj-lt"/>
                          <a:ea typeface="Calibri"/>
                          <a:cs typeface="Times New Roman"/>
                        </a:rPr>
                        <a:t> small school segment (universities)</a:t>
                      </a:r>
                    </a:p>
                    <a:p>
                      <a:pPr marL="236538" marR="0" lvl="0" indent="-114300" algn="l" defTabSz="914400" rtl="0" eaLnBrk="1" latinLnBrk="0" hangingPunct="1">
                        <a:lnSpc>
                          <a:spcPct val="100000"/>
                        </a:lnSpc>
                        <a:spcBef>
                          <a:spcPts val="0"/>
                        </a:spcBef>
                        <a:spcAft>
                          <a:spcPts val="0"/>
                        </a:spcAft>
                        <a:buFont typeface="Arial" pitchFamily="34" charset="0"/>
                        <a:buChar char="۔"/>
                      </a:pPr>
                      <a:r>
                        <a:rPr lang="en-US" sz="1100" kern="1200" baseline="0" dirty="0" smtClean="0">
                          <a:solidFill>
                            <a:schemeClr val="tx1"/>
                          </a:solidFill>
                          <a:latin typeface="+mj-lt"/>
                          <a:ea typeface="Calibri"/>
                          <a:cs typeface="Times New Roman"/>
                        </a:rPr>
                        <a:t>Pursue secondary schools (private / charter schools)</a:t>
                      </a:r>
                    </a:p>
                    <a:p>
                      <a:pPr marL="236538" marR="0" lvl="0" indent="-114300" algn="l" defTabSz="914400" rtl="0" eaLnBrk="1" latinLnBrk="0" hangingPunct="1">
                        <a:lnSpc>
                          <a:spcPct val="100000"/>
                        </a:lnSpc>
                        <a:spcBef>
                          <a:spcPts val="0"/>
                        </a:spcBef>
                        <a:spcAft>
                          <a:spcPts val="0"/>
                        </a:spcAft>
                        <a:buFont typeface="Arial" pitchFamily="34" charset="0"/>
                        <a:buChar char="۔"/>
                      </a:pPr>
                      <a:r>
                        <a:rPr lang="en-US" sz="1100" kern="1200" baseline="0" dirty="0" smtClean="0">
                          <a:solidFill>
                            <a:schemeClr val="tx1"/>
                          </a:solidFill>
                          <a:latin typeface="+mj-lt"/>
                          <a:ea typeface="Calibri"/>
                          <a:cs typeface="Times New Roman"/>
                        </a:rPr>
                        <a:t>Pursue individual students where schools do not offer insurance</a:t>
                      </a: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baseline="0" dirty="0" smtClean="0">
                          <a:solidFill>
                            <a:schemeClr val="tx1"/>
                          </a:solidFill>
                          <a:latin typeface="+mj-lt"/>
                          <a:ea typeface="Calibri"/>
                          <a:cs typeface="Times New Roman"/>
                        </a:rPr>
                        <a:t>Target non-consumers (uninsured)</a:t>
                      </a:r>
                    </a:p>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baseline="0" dirty="0" smtClean="0">
                          <a:solidFill>
                            <a:schemeClr val="tx1"/>
                          </a:solidFill>
                          <a:latin typeface="+mj-lt"/>
                          <a:ea typeface="Calibri"/>
                          <a:cs typeface="Times New Roman"/>
                        </a:rPr>
                        <a:t>Offer new products to new customers</a:t>
                      </a:r>
                      <a:endParaRPr lang="en-US" sz="1100" kern="1200" dirty="0">
                        <a:solidFill>
                          <a:schemeClr val="tx1"/>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r h="836808">
                <a:tc>
                  <a:txBody>
                    <a:bodyPr/>
                    <a:lstStyle/>
                    <a:p>
                      <a:pPr marL="0" marR="0" lvl="1" indent="0" algn="ctr">
                        <a:lnSpc>
                          <a:spcPct val="105000"/>
                        </a:lnSpc>
                        <a:spcBef>
                          <a:spcPts val="0"/>
                        </a:spcBef>
                        <a:spcAft>
                          <a:spcPts val="0"/>
                        </a:spcAft>
                        <a:buFont typeface="Courier New" pitchFamily="49" charset="0"/>
                        <a:buNone/>
                      </a:pPr>
                      <a:r>
                        <a:rPr lang="en-US" sz="1100" b="1" dirty="0" smtClean="0">
                          <a:solidFill>
                            <a:schemeClr val="bg1"/>
                          </a:solidFill>
                          <a:latin typeface="+mj-lt"/>
                          <a:ea typeface="Calibri"/>
                          <a:cs typeface="Times New Roman"/>
                        </a:rPr>
                        <a:t>Existing</a:t>
                      </a:r>
                    </a:p>
                  </a:txBody>
                  <a:tcPr marL="68580" marR="6858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1"/>
                    </a:solidFill>
                  </a:tcPr>
                </a:tc>
                <a:tc>
                  <a:txBody>
                    <a:bodyPr/>
                    <a:lstStyle/>
                    <a:p>
                      <a:pPr marL="114300" marR="0" lvl="0" indent="-114300">
                        <a:lnSpc>
                          <a:spcPct val="105000"/>
                        </a:lnSpc>
                        <a:spcBef>
                          <a:spcPts val="0"/>
                        </a:spcBef>
                        <a:spcAft>
                          <a:spcPts val="0"/>
                        </a:spcAft>
                        <a:buFont typeface="Arial" pitchFamily="34" charset="0"/>
                        <a:buChar char="•"/>
                      </a:pPr>
                      <a:r>
                        <a:rPr lang="en-US" sz="1100" dirty="0" smtClean="0">
                          <a:solidFill>
                            <a:schemeClr val="tx1"/>
                          </a:solidFill>
                          <a:latin typeface="+mj-lt"/>
                          <a:ea typeface="Calibri"/>
                          <a:cs typeface="Times New Roman"/>
                        </a:rPr>
                        <a:t>Defend and grow</a:t>
                      </a:r>
                      <a:r>
                        <a:rPr lang="en-US" sz="1100" baseline="0" dirty="0" smtClean="0">
                          <a:solidFill>
                            <a:schemeClr val="tx1"/>
                          </a:solidFill>
                          <a:latin typeface="+mj-lt"/>
                          <a:ea typeface="Calibri"/>
                          <a:cs typeface="Times New Roman"/>
                        </a:rPr>
                        <a:t> the core business</a:t>
                      </a:r>
                    </a:p>
                    <a:p>
                      <a:pPr marL="236538" marR="0" lvl="0" indent="-114300">
                        <a:lnSpc>
                          <a:spcPct val="100000"/>
                        </a:lnSpc>
                        <a:spcBef>
                          <a:spcPts val="0"/>
                        </a:spcBef>
                        <a:spcAft>
                          <a:spcPts val="0"/>
                        </a:spcAft>
                        <a:buFont typeface="Arial" pitchFamily="34" charset="0"/>
                        <a:buChar char="۔"/>
                      </a:pPr>
                      <a:r>
                        <a:rPr lang="en-US" sz="1100" baseline="0" dirty="0" smtClean="0">
                          <a:solidFill>
                            <a:schemeClr val="tx1"/>
                          </a:solidFill>
                          <a:latin typeface="+mj-lt"/>
                          <a:ea typeface="Calibri"/>
                          <a:cs typeface="Times New Roman"/>
                        </a:rPr>
                        <a:t>Optimize or increase price</a:t>
                      </a:r>
                    </a:p>
                    <a:p>
                      <a:pPr marL="236538" marR="0" lvl="0" indent="-1143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kern="1200" dirty="0" smtClean="0">
                          <a:solidFill>
                            <a:schemeClr val="tx1"/>
                          </a:solidFill>
                          <a:latin typeface="+mn-lt"/>
                          <a:ea typeface="Calibri"/>
                          <a:cs typeface="Times New Roman"/>
                        </a:rPr>
                        <a:t>Enhance </a:t>
                      </a:r>
                      <a:r>
                        <a:rPr lang="en-US" sz="1100" kern="1200" baseline="0" dirty="0" smtClean="0">
                          <a:solidFill>
                            <a:schemeClr val="tx1"/>
                          </a:solidFill>
                          <a:latin typeface="+mn-lt"/>
                          <a:ea typeface="Calibri"/>
                          <a:cs typeface="Times New Roman"/>
                        </a:rPr>
                        <a:t>marketing and sales force effectiveness to increase penetration of existing product offerings</a:t>
                      </a:r>
                      <a:endParaRPr lang="en-US" sz="1100" kern="1200" dirty="0" smtClean="0">
                        <a:solidFill>
                          <a:schemeClr val="tx1"/>
                        </a:solidFill>
                        <a:latin typeface="+mn-lt"/>
                        <a:ea typeface="Calibri"/>
                        <a:cs typeface="Times New Roman"/>
                      </a:endParaRPr>
                    </a:p>
                    <a:p>
                      <a:pPr marL="236538" marR="0" lvl="0" indent="-1143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kern="1200" dirty="0" smtClean="0">
                          <a:solidFill>
                            <a:schemeClr val="tx1"/>
                          </a:solidFill>
                          <a:latin typeface="+mn-lt"/>
                          <a:ea typeface="Calibri"/>
                          <a:cs typeface="Times New Roman"/>
                        </a:rPr>
                        <a:t>Steal share in the large school market </a:t>
                      </a:r>
                    </a:p>
                    <a:p>
                      <a:pPr marL="236538" marR="0" lvl="0" indent="-114300">
                        <a:lnSpc>
                          <a:spcPct val="100000"/>
                        </a:lnSpc>
                        <a:spcBef>
                          <a:spcPts val="0"/>
                        </a:spcBef>
                        <a:spcAft>
                          <a:spcPts val="0"/>
                        </a:spcAft>
                        <a:buFont typeface="Arial" pitchFamily="34" charset="0"/>
                        <a:buChar char="۔"/>
                      </a:pPr>
                      <a:r>
                        <a:rPr lang="en-US" sz="1100" baseline="0" dirty="0" smtClean="0">
                          <a:solidFill>
                            <a:schemeClr val="tx1"/>
                          </a:solidFill>
                          <a:latin typeface="+mj-lt"/>
                          <a:ea typeface="Calibri"/>
                          <a:cs typeface="Times New Roman"/>
                        </a:rPr>
                        <a:t>Develop additional areas of differentiation (functionality, reliability, convenience)</a:t>
                      </a:r>
                    </a:p>
                    <a:p>
                      <a:pPr marL="236538" marR="0" lvl="0" indent="-114300">
                        <a:lnSpc>
                          <a:spcPct val="100000"/>
                        </a:lnSpc>
                        <a:spcBef>
                          <a:spcPts val="0"/>
                        </a:spcBef>
                        <a:spcAft>
                          <a:spcPts val="0"/>
                        </a:spcAft>
                        <a:buFont typeface="Arial" pitchFamily="34" charset="0"/>
                        <a:buChar char="۔"/>
                      </a:pPr>
                      <a:r>
                        <a:rPr lang="en-US" sz="1100" baseline="0" dirty="0" smtClean="0">
                          <a:solidFill>
                            <a:schemeClr val="tx1"/>
                          </a:solidFill>
                          <a:latin typeface="+mj-lt"/>
                          <a:ea typeface="Calibri"/>
                          <a:cs typeface="Times New Roman"/>
                        </a:rPr>
                        <a:t>Establish cost leadership and set prices accordingly</a:t>
                      </a: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j-lt"/>
                          <a:ea typeface="Calibri"/>
                          <a:cs typeface="Times New Roman"/>
                        </a:rPr>
                        <a:t>Develop new products that can be offered to the current customers (customer</a:t>
                      </a:r>
                      <a:r>
                        <a:rPr lang="en-US" sz="1100" kern="1200" baseline="0" dirty="0" smtClean="0">
                          <a:solidFill>
                            <a:schemeClr val="tx1"/>
                          </a:solidFill>
                          <a:latin typeface="+mj-lt"/>
                          <a:ea typeface="Calibri"/>
                          <a:cs typeface="Times New Roman"/>
                        </a:rPr>
                        <a:t> are both </a:t>
                      </a:r>
                      <a:r>
                        <a:rPr lang="en-US" sz="1100" kern="1200" dirty="0" smtClean="0">
                          <a:solidFill>
                            <a:schemeClr val="tx1"/>
                          </a:solidFill>
                          <a:latin typeface="+mj-lt"/>
                          <a:ea typeface="Calibri"/>
                          <a:cs typeface="Times New Roman"/>
                        </a:rPr>
                        <a:t>students AND schools)</a:t>
                      </a:r>
                    </a:p>
                    <a:p>
                      <a:pPr marL="236538" marR="0" lvl="0" indent="-114300" algn="l" defTabSz="914400" rtl="0" eaLnBrk="1" latinLnBrk="0" hangingPunct="1">
                        <a:lnSpc>
                          <a:spcPct val="100000"/>
                        </a:lnSpc>
                        <a:spcBef>
                          <a:spcPts val="0"/>
                        </a:spcBef>
                        <a:spcAft>
                          <a:spcPts val="0"/>
                        </a:spcAft>
                        <a:buFont typeface="Arial" pitchFamily="34" charset="0"/>
                        <a:buChar char="۔"/>
                      </a:pPr>
                      <a:r>
                        <a:rPr lang="en-US" sz="1100" kern="1200" dirty="0" smtClean="0">
                          <a:solidFill>
                            <a:schemeClr val="tx1"/>
                          </a:solidFill>
                          <a:latin typeface="+mj-lt"/>
                          <a:ea typeface="Calibri"/>
                          <a:cs typeface="Times New Roman"/>
                        </a:rPr>
                        <a:t>Capture student wallet share for adjacent insurance products (tuition insurance, electronics insurance, auto insurance, renters insurance, etc.)</a:t>
                      </a:r>
                    </a:p>
                    <a:p>
                      <a:pPr marL="236538" marR="0" lvl="0" indent="-114300" algn="l" defTabSz="914400" rtl="0" eaLnBrk="1" latinLnBrk="0" hangingPunct="1">
                        <a:lnSpc>
                          <a:spcPct val="100000"/>
                        </a:lnSpc>
                        <a:spcBef>
                          <a:spcPts val="0"/>
                        </a:spcBef>
                        <a:spcAft>
                          <a:spcPts val="0"/>
                        </a:spcAft>
                        <a:buFont typeface="Arial" pitchFamily="34" charset="0"/>
                        <a:buChar char="۔"/>
                      </a:pPr>
                      <a:r>
                        <a:rPr lang="en-US" sz="1100" kern="1200" dirty="0" smtClean="0">
                          <a:solidFill>
                            <a:schemeClr val="tx1"/>
                          </a:solidFill>
                          <a:latin typeface="+mj-lt"/>
                          <a:ea typeface="Calibri"/>
                          <a:cs typeface="Times New Roman"/>
                        </a:rPr>
                        <a:t>Consider adjacent health services for</a:t>
                      </a:r>
                      <a:r>
                        <a:rPr lang="en-US" sz="1100" kern="1200" baseline="0" dirty="0" smtClean="0">
                          <a:solidFill>
                            <a:schemeClr val="tx1"/>
                          </a:solidFill>
                          <a:latin typeface="+mj-lt"/>
                          <a:ea typeface="Calibri"/>
                          <a:cs typeface="Times New Roman"/>
                        </a:rPr>
                        <a:t> current students (mental health, wellness)</a:t>
                      </a:r>
                      <a:endParaRPr lang="en-US" sz="1100" kern="1200" dirty="0" smtClean="0">
                        <a:solidFill>
                          <a:schemeClr val="tx1"/>
                        </a:solidFill>
                        <a:latin typeface="+mj-lt"/>
                        <a:ea typeface="Calibri"/>
                        <a:cs typeface="Times New Roman"/>
                      </a:endParaRPr>
                    </a:p>
                    <a:p>
                      <a:pPr marL="236538" marR="0" lvl="0" indent="-114300" algn="l" defTabSz="914400" rtl="0" eaLnBrk="1" latinLnBrk="0" hangingPunct="1">
                        <a:lnSpc>
                          <a:spcPct val="100000"/>
                        </a:lnSpc>
                        <a:spcBef>
                          <a:spcPts val="0"/>
                        </a:spcBef>
                        <a:spcAft>
                          <a:spcPts val="0"/>
                        </a:spcAft>
                        <a:buFont typeface="Arial" pitchFamily="34" charset="0"/>
                        <a:buChar char="۔"/>
                      </a:pPr>
                      <a:r>
                        <a:rPr lang="en-US" sz="1100" kern="1200" dirty="0" smtClean="0">
                          <a:solidFill>
                            <a:schemeClr val="tx1"/>
                          </a:solidFill>
                          <a:latin typeface="+mj-lt"/>
                          <a:ea typeface="Calibri"/>
                          <a:cs typeface="Times New Roman"/>
                        </a:rPr>
                        <a:t>Consider adjacent services for health centers (billing)</a:t>
                      </a:r>
                      <a:endParaRPr lang="en-US" sz="1100" kern="1200" baseline="0" dirty="0" smtClean="0">
                        <a:solidFill>
                          <a:schemeClr val="tx1"/>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bl>
          </a:graphicData>
        </a:graphic>
      </p:graphicFrame>
      <p:sp>
        <p:nvSpPr>
          <p:cNvPr id="17" name="TextBox 16"/>
          <p:cNvSpPr txBox="1"/>
          <p:nvPr/>
        </p:nvSpPr>
        <p:spPr>
          <a:xfrm rot="16200000">
            <a:off x="-76199" y="4138411"/>
            <a:ext cx="1492716" cy="261610"/>
          </a:xfrm>
          <a:prstGeom prst="rect">
            <a:avLst/>
          </a:prstGeom>
          <a:noFill/>
        </p:spPr>
        <p:txBody>
          <a:bodyPr wrap="none" rtlCol="0">
            <a:spAutoFit/>
          </a:bodyPr>
          <a:lstStyle/>
          <a:p>
            <a:r>
              <a:rPr lang="en-US" sz="1100" b="1" dirty="0">
                <a:solidFill>
                  <a:srgbClr val="000000"/>
                </a:solidFill>
                <a:latin typeface="Arial"/>
                <a:cs typeface="Arial" charset="0"/>
              </a:rPr>
              <a:t>Customers/Markets</a:t>
            </a:r>
          </a:p>
        </p:txBody>
      </p:sp>
      <p:sp>
        <p:nvSpPr>
          <p:cNvPr id="18" name="TextBox 17"/>
          <p:cNvSpPr txBox="1"/>
          <p:nvPr/>
        </p:nvSpPr>
        <p:spPr>
          <a:xfrm>
            <a:off x="3635822" y="2261664"/>
            <a:ext cx="1988045" cy="261610"/>
          </a:xfrm>
          <a:prstGeom prst="rect">
            <a:avLst/>
          </a:prstGeom>
          <a:noFill/>
        </p:spPr>
        <p:txBody>
          <a:bodyPr wrap="none" rtlCol="0">
            <a:spAutoFit/>
          </a:bodyPr>
          <a:lstStyle/>
          <a:p>
            <a:r>
              <a:rPr lang="en-US" sz="1100" b="1" dirty="0">
                <a:solidFill>
                  <a:srgbClr val="000000"/>
                </a:solidFill>
                <a:latin typeface="Arial"/>
                <a:cs typeface="Arial" charset="0"/>
              </a:rPr>
              <a:t>Products/Business Models</a:t>
            </a:r>
          </a:p>
        </p:txBody>
      </p:sp>
    </p:spTree>
    <p:extLst>
      <p:ext uri="{BB962C8B-B14F-4D97-AF65-F5344CB8AC3E}">
        <p14:creationId xmlns:p14="http://schemas.microsoft.com/office/powerpoint/2010/main" val="662951280"/>
      </p:ext>
    </p:extLst>
  </p:cSld>
  <p:clrMapOvr>
    <a:masterClrMapping/>
  </p:clrMapOvr>
  <p:timing>
    <p:tnLst>
      <p:par>
        <p:cTn xmlns:p14="http://schemas.microsoft.com/office/powerpoint/2010/mai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Group 2"/>
          <p:cNvGraphicFramePr>
            <a:graphicFrameLocks noGrp="1"/>
          </p:cNvGraphicFramePr>
          <p:nvPr>
            <p:ph sz="half" idx="4294967295"/>
            <p:extLst/>
          </p:nvPr>
        </p:nvGraphicFramePr>
        <p:xfrm>
          <a:off x="427038" y="850900"/>
          <a:ext cx="8289925" cy="5645151"/>
        </p:xfrm>
        <a:graphic>
          <a:graphicData uri="http://schemas.openxmlformats.org/drawingml/2006/table">
            <a:tbl>
              <a:tblPr/>
              <a:tblGrid>
                <a:gridCol w="8289925"/>
              </a:tblGrid>
              <a:tr h="354013">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200" b="1" i="0" u="none" strike="noStrike" cap="none" normalizeH="0" baseline="0" dirty="0" smtClean="0">
                          <a:ln>
                            <a:noFill/>
                          </a:ln>
                          <a:solidFill>
                            <a:schemeClr val="bg1"/>
                          </a:solidFill>
                          <a:effectLst/>
                          <a:latin typeface="Arial" charset="0"/>
                        </a:rPr>
                        <a:t>Prompt Questions &amp; Responses (For interviewer reference ONLY)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1138">
                <a:tc>
                  <a:txBody>
                    <a:bodyPr/>
                    <a:lstStyle/>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tx1"/>
                          </a:solidFill>
                          <a:effectLst/>
                          <a:latin typeface="Arial" charset="0"/>
                        </a:rPr>
                        <a:t>1b. Based on the data sheet, w</a:t>
                      </a:r>
                      <a:r>
                        <a:rPr kumimoji="0" lang="en-US" sz="1100" b="1" i="0" u="none" strike="noStrike" kern="1200" cap="none" normalizeH="0" baseline="0" dirty="0" smtClean="0">
                          <a:ln>
                            <a:noFill/>
                          </a:ln>
                          <a:solidFill>
                            <a:schemeClr val="tx1"/>
                          </a:solidFill>
                          <a:effectLst/>
                          <a:latin typeface="Arial" charset="0"/>
                          <a:ea typeface="+mn-ea"/>
                          <a:cs typeface="+mn-cs"/>
                        </a:rPr>
                        <a:t>hat are the potential avenues of growth for the student health insurance company? </a:t>
                      </a: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0"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0906" name="Rectangle 24"/>
          <p:cNvSpPr>
            <a:spLocks noGrp="1" noChangeArrowheads="1"/>
          </p:cNvSpPr>
          <p:nvPr>
            <p:ph type="title" idx="4294967295"/>
          </p:nvPr>
        </p:nvSpPr>
        <p:spPr>
          <a:xfrm>
            <a:off x="401638" y="530674"/>
            <a:ext cx="8345487" cy="242439"/>
          </a:xfrm>
        </p:spPr>
        <p:txBody>
          <a:bodyPr/>
          <a:lstStyle/>
          <a:p>
            <a:pPr eaLnBrk="1" hangingPunct="1"/>
            <a:r>
              <a:rPr lang="en-US" dirty="0" smtClean="0"/>
              <a:t>Profitable Growth Strategy: Business Unit of National Health Insurance Company</a:t>
            </a:r>
          </a:p>
        </p:txBody>
      </p:sp>
      <p:graphicFrame>
        <p:nvGraphicFramePr>
          <p:cNvPr id="6" name="Group 46"/>
          <p:cNvGraphicFramePr>
            <a:graphicFrameLocks/>
          </p:cNvGraphicFramePr>
          <p:nvPr/>
        </p:nvGraphicFramePr>
        <p:xfrm>
          <a:off x="795978" y="2688054"/>
          <a:ext cx="7400965" cy="2188746"/>
        </p:xfrm>
        <a:graphic>
          <a:graphicData uri="http://schemas.openxmlformats.org/drawingml/2006/table">
            <a:tbl>
              <a:tblPr/>
              <a:tblGrid>
                <a:gridCol w="7400965"/>
              </a:tblGrid>
              <a:tr h="207699">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Key Trends</a:t>
                      </a:r>
                    </a:p>
                  </a:txBody>
                  <a:tcPr marL="73152" marR="73152"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1"/>
                    </a:solidFill>
                  </a:tcPr>
                </a:tc>
              </a:tr>
              <a:tr h="1981047">
                <a:tc>
                  <a:txBody>
                    <a:bodyPr/>
                    <a:lstStyle/>
                    <a:p>
                      <a:pPr marL="114300" marR="0" lvl="0" indent="-114300">
                        <a:lnSpc>
                          <a:spcPct val="115000"/>
                        </a:lnSpc>
                        <a:spcBef>
                          <a:spcPts val="0"/>
                        </a:spcBef>
                        <a:spcAft>
                          <a:spcPts val="600"/>
                        </a:spcAft>
                        <a:buFont typeface="+mj-lt"/>
                        <a:buNone/>
                      </a:pPr>
                      <a:r>
                        <a:rPr lang="en-US" sz="1100" dirty="0" smtClean="0">
                          <a:latin typeface="+mj-lt"/>
                          <a:ea typeface="Calibri"/>
                          <a:cs typeface="Times New Roman"/>
                        </a:rPr>
                        <a:t>Lower enrollment schools (&lt;10K students) have a significant portion of students (42%) fragmented</a:t>
                      </a:r>
                      <a:r>
                        <a:rPr lang="en-US" sz="1100" baseline="0" dirty="0" smtClean="0">
                          <a:latin typeface="+mj-lt"/>
                          <a:ea typeface="Calibri"/>
                          <a:cs typeface="Times New Roman"/>
                        </a:rPr>
                        <a:t> across thousands of schools </a:t>
                      </a:r>
                    </a:p>
                    <a:p>
                      <a:pPr marL="465138" marR="0" lvl="0" indent="-465138" algn="l" defTabSz="914400" rtl="0" eaLnBrk="1" fontAlgn="auto" latinLnBrk="0" hangingPunct="1">
                        <a:lnSpc>
                          <a:spcPct val="115000"/>
                        </a:lnSpc>
                        <a:spcBef>
                          <a:spcPts val="0"/>
                        </a:spcBef>
                        <a:spcAft>
                          <a:spcPts val="600"/>
                        </a:spcAft>
                        <a:buClrTx/>
                        <a:buSzTx/>
                        <a:buFont typeface="+mj-lt"/>
                        <a:buNone/>
                        <a:tabLst/>
                        <a:defRPr/>
                      </a:pPr>
                      <a:r>
                        <a:rPr lang="en-US" sz="1100" kern="1200" baseline="0" dirty="0" smtClean="0">
                          <a:solidFill>
                            <a:schemeClr val="tx1"/>
                          </a:solidFill>
                          <a:latin typeface="+mn-lt"/>
                          <a:ea typeface="Calibri"/>
                          <a:cs typeface="Times New Roman"/>
                        </a:rPr>
                        <a:t>The client earns a significant portion of its revenue from schools with more than 10K students</a:t>
                      </a:r>
                    </a:p>
                    <a:p>
                      <a:pPr marL="119063" marR="0" lvl="0" indent="-119063" algn="l" defTabSz="914400" rtl="0" eaLnBrk="1" fontAlgn="auto" latinLnBrk="0" hangingPunct="1">
                        <a:lnSpc>
                          <a:spcPct val="115000"/>
                        </a:lnSpc>
                        <a:spcBef>
                          <a:spcPts val="0"/>
                        </a:spcBef>
                        <a:spcAft>
                          <a:spcPts val="600"/>
                        </a:spcAft>
                        <a:buClrTx/>
                        <a:buSzTx/>
                        <a:buFont typeface="+mj-lt"/>
                        <a:buNone/>
                        <a:tabLst/>
                        <a:defRPr/>
                      </a:pPr>
                      <a:r>
                        <a:rPr lang="en-US" sz="1100" kern="1200" baseline="0" dirty="0" smtClean="0">
                          <a:solidFill>
                            <a:schemeClr val="tx1"/>
                          </a:solidFill>
                          <a:latin typeface="+mn-lt"/>
                          <a:ea typeface="Calibri"/>
                          <a:cs typeface="Times New Roman"/>
                        </a:rPr>
                        <a:t>There is an opportunity for the client to diversify its current revenue base by pursuing the small school market, which is comprised of almost 90% of all schools</a:t>
                      </a:r>
                    </a:p>
                    <a:p>
                      <a:pPr marL="465138" marR="0" lvl="0" indent="-465138" algn="l" defTabSz="914400" rtl="0" eaLnBrk="1" fontAlgn="auto" latinLnBrk="0" hangingPunct="1">
                        <a:lnSpc>
                          <a:spcPct val="115000"/>
                        </a:lnSpc>
                        <a:spcBef>
                          <a:spcPts val="0"/>
                        </a:spcBef>
                        <a:spcAft>
                          <a:spcPts val="600"/>
                        </a:spcAft>
                        <a:buClrTx/>
                        <a:buSzTx/>
                        <a:buFont typeface="+mj-lt"/>
                        <a:buNone/>
                        <a:tabLst/>
                        <a:defRPr/>
                      </a:pPr>
                      <a:r>
                        <a:rPr lang="en-US" sz="1100" baseline="0" dirty="0" smtClean="0">
                          <a:latin typeface="+mj-lt"/>
                          <a:ea typeface="Calibri"/>
                          <a:cs typeface="Times New Roman"/>
                        </a:rPr>
                        <a:t>The client is not well diversified in terms of number of products offered</a:t>
                      </a:r>
                    </a:p>
                    <a:p>
                      <a:pPr marL="465138" marR="0" lvl="0" indent="-465138" algn="l" defTabSz="914400" rtl="0" eaLnBrk="1" fontAlgn="auto" latinLnBrk="0" hangingPunct="1">
                        <a:lnSpc>
                          <a:spcPct val="115000"/>
                        </a:lnSpc>
                        <a:spcBef>
                          <a:spcPts val="0"/>
                        </a:spcBef>
                        <a:spcAft>
                          <a:spcPts val="600"/>
                        </a:spcAft>
                        <a:buClrTx/>
                        <a:buSzTx/>
                        <a:buFont typeface="+mj-lt"/>
                        <a:buNone/>
                        <a:tabLst/>
                        <a:defRPr/>
                      </a:pPr>
                      <a:r>
                        <a:rPr lang="en-US" sz="1100" baseline="0" dirty="0" smtClean="0">
                          <a:latin typeface="+mj-lt"/>
                          <a:ea typeface="Calibri"/>
                          <a:cs typeface="Times New Roman"/>
                        </a:rPr>
                        <a:t>The client has difficulty selling its ancillary products to both students and schools that purchase the medical product</a:t>
                      </a:r>
                    </a:p>
                    <a:p>
                      <a:pPr marL="465138" marR="0" lvl="0" indent="-465138">
                        <a:lnSpc>
                          <a:spcPct val="115000"/>
                        </a:lnSpc>
                        <a:spcBef>
                          <a:spcPts val="0"/>
                        </a:spcBef>
                        <a:spcAft>
                          <a:spcPts val="600"/>
                        </a:spcAft>
                        <a:buFont typeface="+mj-lt"/>
                        <a:buNone/>
                      </a:pPr>
                      <a:r>
                        <a:rPr lang="en-US" sz="1100" baseline="0" dirty="0" smtClean="0">
                          <a:latin typeface="+mj-lt"/>
                          <a:ea typeface="Calibri"/>
                          <a:cs typeface="Times New Roman"/>
                        </a:rPr>
                        <a:t>There is a significant opportunity to grow revenue by increasing the penetration of non-core products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bl>
          </a:graphicData>
        </a:graphic>
      </p:graphicFrame>
      <p:sp>
        <p:nvSpPr>
          <p:cNvPr id="11" name="Rectangle 10"/>
          <p:cNvSpPr/>
          <p:nvPr/>
        </p:nvSpPr>
        <p:spPr>
          <a:xfrm>
            <a:off x="419547" y="1600200"/>
            <a:ext cx="8261873" cy="701731"/>
          </a:xfrm>
          <a:prstGeom prst="rect">
            <a:avLst/>
          </a:prstGeom>
        </p:spPr>
        <p:txBody>
          <a:bodyPr wrap="square">
            <a:spAutoFit/>
          </a:bodyPr>
          <a:lstStyle/>
          <a:p>
            <a:pPr>
              <a:lnSpc>
                <a:spcPct val="90000"/>
              </a:lnSpc>
              <a:buClr>
                <a:srgbClr val="000000"/>
              </a:buClr>
              <a:buSzPct val="80000"/>
            </a:pPr>
            <a:r>
              <a:rPr lang="en-US" sz="1100" i="1" dirty="0" smtClean="0">
                <a:solidFill>
                  <a:srgbClr val="000000"/>
                </a:solidFill>
                <a:latin typeface="Arial"/>
                <a:cs typeface="Arial" charset="0"/>
              </a:rPr>
              <a:t>[Note to Interviewer:  Provide </a:t>
            </a:r>
            <a:r>
              <a:rPr lang="en-US" sz="1100" i="1" dirty="0">
                <a:solidFill>
                  <a:srgbClr val="000000"/>
                </a:solidFill>
                <a:latin typeface="Arial"/>
                <a:cs typeface="Arial" charset="0"/>
              </a:rPr>
              <a:t>the candidate with the data sheet after he/she provides an approach. Ask the candidate to synthesize the comments and provide additional recommendations. The numbers below correspond with the numbers on the accompanying data sheet. (Note that both 1 &amp; 2 can be analyzed as a pair, as can 3 &amp; 4. These trends below correlate with the charts on the data sheet</a:t>
            </a:r>
            <a:r>
              <a:rPr lang="en-US" sz="1100" i="1" dirty="0" smtClean="0">
                <a:solidFill>
                  <a:srgbClr val="000000"/>
                </a:solidFill>
                <a:latin typeface="Arial"/>
                <a:cs typeface="Arial" charset="0"/>
              </a:rPr>
              <a:t>.]</a:t>
            </a:r>
            <a:endParaRPr lang="en-US" sz="1100" i="1" dirty="0">
              <a:solidFill>
                <a:srgbClr val="000000"/>
              </a:solidFill>
              <a:latin typeface="Arial"/>
              <a:cs typeface="Arial" charset="0"/>
            </a:endParaRPr>
          </a:p>
        </p:txBody>
      </p:sp>
      <p:grpSp>
        <p:nvGrpSpPr>
          <p:cNvPr id="2" name="Group 18"/>
          <p:cNvGrpSpPr/>
          <p:nvPr/>
        </p:nvGrpSpPr>
        <p:grpSpPr>
          <a:xfrm>
            <a:off x="504111" y="2920284"/>
            <a:ext cx="266256" cy="1865076"/>
            <a:chOff x="504111" y="2920284"/>
            <a:chExt cx="266256" cy="1865076"/>
          </a:xfrm>
        </p:grpSpPr>
        <p:sp>
          <p:nvSpPr>
            <p:cNvPr id="80941" name="Oval 6"/>
            <p:cNvSpPr>
              <a:spLocks noChangeArrowheads="1"/>
            </p:cNvSpPr>
            <p:nvPr/>
          </p:nvSpPr>
          <p:spPr bwMode="gray">
            <a:xfrm>
              <a:off x="579417" y="2920284"/>
              <a:ext cx="137160" cy="13716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1</a:t>
              </a:r>
            </a:p>
          </p:txBody>
        </p:sp>
        <p:sp>
          <p:nvSpPr>
            <p:cNvPr id="80942" name="Oval 7"/>
            <p:cNvSpPr>
              <a:spLocks noChangeArrowheads="1"/>
            </p:cNvSpPr>
            <p:nvPr/>
          </p:nvSpPr>
          <p:spPr bwMode="gray">
            <a:xfrm>
              <a:off x="579417" y="3368040"/>
              <a:ext cx="137160" cy="13716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2</a:t>
              </a:r>
            </a:p>
          </p:txBody>
        </p:sp>
        <p:sp>
          <p:nvSpPr>
            <p:cNvPr id="12" name="Oval 7"/>
            <p:cNvSpPr>
              <a:spLocks noChangeArrowheads="1"/>
            </p:cNvSpPr>
            <p:nvPr/>
          </p:nvSpPr>
          <p:spPr bwMode="gray">
            <a:xfrm>
              <a:off x="633207" y="3634740"/>
              <a:ext cx="137160" cy="13716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2</a:t>
              </a:r>
            </a:p>
          </p:txBody>
        </p:sp>
        <p:sp>
          <p:nvSpPr>
            <p:cNvPr id="13" name="Oval 6"/>
            <p:cNvSpPr>
              <a:spLocks noChangeArrowheads="1"/>
            </p:cNvSpPr>
            <p:nvPr/>
          </p:nvSpPr>
          <p:spPr bwMode="gray">
            <a:xfrm>
              <a:off x="504111" y="3634740"/>
              <a:ext cx="137160" cy="13716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1</a:t>
              </a:r>
            </a:p>
          </p:txBody>
        </p:sp>
        <p:sp>
          <p:nvSpPr>
            <p:cNvPr id="80943" name="Oval 8"/>
            <p:cNvSpPr>
              <a:spLocks noChangeArrowheads="1"/>
            </p:cNvSpPr>
            <p:nvPr/>
          </p:nvSpPr>
          <p:spPr bwMode="gray">
            <a:xfrm>
              <a:off x="579417" y="4111180"/>
              <a:ext cx="137160" cy="137160"/>
            </a:xfrm>
            <a:prstGeom prst="ellipse">
              <a:avLst/>
            </a:prstGeom>
            <a:solidFill>
              <a:schemeClr val="accent2"/>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3</a:t>
              </a:r>
            </a:p>
          </p:txBody>
        </p:sp>
        <p:sp>
          <p:nvSpPr>
            <p:cNvPr id="80944" name="Oval 9"/>
            <p:cNvSpPr>
              <a:spLocks noChangeArrowheads="1"/>
            </p:cNvSpPr>
            <p:nvPr/>
          </p:nvSpPr>
          <p:spPr bwMode="gray">
            <a:xfrm>
              <a:off x="579417" y="4366260"/>
              <a:ext cx="137160" cy="137160"/>
            </a:xfrm>
            <a:prstGeom prst="ellipse">
              <a:avLst/>
            </a:prstGeom>
            <a:solidFill>
              <a:schemeClr val="accent2"/>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4</a:t>
              </a:r>
            </a:p>
          </p:txBody>
        </p:sp>
        <p:sp>
          <p:nvSpPr>
            <p:cNvPr id="14" name="Oval 9"/>
            <p:cNvSpPr>
              <a:spLocks noChangeArrowheads="1"/>
            </p:cNvSpPr>
            <p:nvPr/>
          </p:nvSpPr>
          <p:spPr bwMode="gray">
            <a:xfrm>
              <a:off x="633207" y="4648200"/>
              <a:ext cx="137160" cy="137160"/>
            </a:xfrm>
            <a:prstGeom prst="ellipse">
              <a:avLst/>
            </a:prstGeom>
            <a:solidFill>
              <a:schemeClr val="accent2"/>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4</a:t>
              </a:r>
            </a:p>
          </p:txBody>
        </p:sp>
        <p:sp>
          <p:nvSpPr>
            <p:cNvPr id="15" name="Oval 8"/>
            <p:cNvSpPr>
              <a:spLocks noChangeArrowheads="1"/>
            </p:cNvSpPr>
            <p:nvPr/>
          </p:nvSpPr>
          <p:spPr bwMode="gray">
            <a:xfrm>
              <a:off x="504111" y="4648200"/>
              <a:ext cx="137160" cy="137160"/>
            </a:xfrm>
            <a:prstGeom prst="ellipse">
              <a:avLst/>
            </a:prstGeom>
            <a:solidFill>
              <a:schemeClr val="accent2"/>
            </a:solidFill>
            <a:ln w="12700" cap="rnd" algn="ctr">
              <a:noFill/>
              <a:miter lim="800000"/>
              <a:headEnd/>
              <a:tailEnd/>
            </a:ln>
          </p:spPr>
          <p:txBody>
            <a:bodyPr lIns="0" rIns="0" anchor="ctr" anchorCtr="1"/>
            <a:lstStyle/>
            <a:p>
              <a:pPr algn="ctr" eaLnBrk="0" hangingPunct="0">
                <a:lnSpc>
                  <a:spcPct val="106000"/>
                </a:lnSpc>
              </a:pPr>
              <a:r>
                <a:rPr lang="en-US" sz="900" b="1" dirty="0">
                  <a:solidFill>
                    <a:srgbClr val="FFFFFF"/>
                  </a:solidFill>
                  <a:latin typeface="Arial"/>
                  <a:cs typeface="Arial" pitchFamily="34" charset="0"/>
                </a:rPr>
                <a:t>3</a:t>
              </a:r>
            </a:p>
          </p:txBody>
        </p:sp>
      </p:grpSp>
    </p:spTree>
    <p:extLst>
      <p:ext uri="{BB962C8B-B14F-4D97-AF65-F5344CB8AC3E}">
        <p14:creationId xmlns:p14="http://schemas.microsoft.com/office/powerpoint/2010/main" val="184002216"/>
      </p:ext>
    </p:extLst>
  </p:cSld>
  <p:clrMapOvr>
    <a:masterClrMapping/>
  </p:clrMapOvr>
  <p:timing>
    <p:tnLst>
      <p:par>
        <p:cTn xmlns:p14="http://schemas.microsoft.com/office/powerpoint/2010/mai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Group 2"/>
          <p:cNvGraphicFramePr>
            <a:graphicFrameLocks noGrp="1"/>
          </p:cNvGraphicFramePr>
          <p:nvPr>
            <p:ph sz="half" idx="4294967295"/>
          </p:nvPr>
        </p:nvGraphicFramePr>
        <p:xfrm>
          <a:off x="427038" y="850900"/>
          <a:ext cx="8289925" cy="5645151"/>
        </p:xfrm>
        <a:graphic>
          <a:graphicData uri="http://schemas.openxmlformats.org/drawingml/2006/table">
            <a:tbl>
              <a:tblPr/>
              <a:tblGrid>
                <a:gridCol w="8289925"/>
              </a:tblGrid>
              <a:tr h="354013">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200" b="1" i="0" u="none" strike="noStrike" cap="none" normalizeH="0" baseline="0" dirty="0" smtClean="0">
                          <a:ln>
                            <a:noFill/>
                          </a:ln>
                          <a:solidFill>
                            <a:schemeClr val="bg1"/>
                          </a:solidFill>
                          <a:effectLst/>
                          <a:latin typeface="Arial" charset="0"/>
                        </a:rPr>
                        <a:t>Prompt Questions &amp; Responses (For interviewer reference ONLY)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1138">
                <a:tc>
                  <a:txBody>
                    <a:bodyPr/>
                    <a:lstStyle/>
                    <a:p>
                      <a:pPr marL="119063" marR="0" lvl="0" indent="-119063"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tx1"/>
                          </a:solidFill>
                          <a:effectLst/>
                          <a:latin typeface="Arial" charset="0"/>
                        </a:rPr>
                        <a:t>2. </a:t>
                      </a:r>
                      <a:r>
                        <a:rPr kumimoji="0" lang="en-US" sz="1100" b="1" i="0" u="none" strike="noStrike" kern="1200" cap="none" normalizeH="0" baseline="0" dirty="0" smtClean="0">
                          <a:ln>
                            <a:noFill/>
                          </a:ln>
                          <a:solidFill>
                            <a:schemeClr val="tx1"/>
                          </a:solidFill>
                          <a:effectLst/>
                          <a:latin typeface="Arial" charset="0"/>
                          <a:ea typeface="+mn-ea"/>
                          <a:cs typeface="+mn-cs"/>
                        </a:rPr>
                        <a:t>Our client felt a large part of the addressable market was not being addressed (the small school market). They specifically wanted a strategy for moving “down market” and going after smaller schools. At a high level, what qualitative and quantitative criteria should the client consider when assessing this market? </a:t>
                      </a:r>
                    </a:p>
                    <a:p>
                      <a:pPr marL="0" marR="0" lvl="0" indent="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endParaRPr kumimoji="0" lang="en-US" sz="1100" b="0" i="1" u="none" strike="noStrike" kern="1200" cap="none" normalizeH="0" baseline="0" dirty="0" smtClean="0">
                        <a:ln>
                          <a:noFill/>
                        </a:ln>
                        <a:solidFill>
                          <a:schemeClr val="tx1"/>
                        </a:solidFill>
                        <a:effectLst/>
                        <a:latin typeface="Arial" charset="0"/>
                        <a:ea typeface="+mn-ea"/>
                        <a:cs typeface="+mn-cs"/>
                      </a:endParaRPr>
                    </a:p>
                    <a:p>
                      <a:pPr marL="0" marR="0" lvl="0" indent="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r>
                        <a:rPr kumimoji="0" lang="en-US" sz="1100" b="0" i="1" u="none" strike="noStrike" kern="1200" cap="none" normalizeH="0" baseline="0" dirty="0" smtClean="0">
                          <a:ln>
                            <a:noFill/>
                          </a:ln>
                          <a:solidFill>
                            <a:schemeClr val="tx1"/>
                          </a:solidFill>
                          <a:effectLst/>
                          <a:latin typeface="Arial" charset="0"/>
                          <a:ea typeface="+mn-ea"/>
                          <a:cs typeface="+mn-cs"/>
                        </a:rPr>
                        <a:t>[Note to interviewer: Interviewee should recognize this is a market attractiveness question and provide relevant criteria for assessment. The market attractiveness criteria and corresponding comments provided below are NOT exhaustive. Look for the candidate to touch on many of these areas, and possibly offer other areas for investigation.]</a:t>
                      </a: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1930" name="Rectangle 24"/>
          <p:cNvSpPr>
            <a:spLocks noGrp="1" noChangeArrowheads="1"/>
          </p:cNvSpPr>
          <p:nvPr>
            <p:ph type="title" idx="4294967295"/>
          </p:nvPr>
        </p:nvSpPr>
        <p:spPr>
          <a:xfrm>
            <a:off x="401638" y="530674"/>
            <a:ext cx="8345487" cy="242439"/>
          </a:xfrm>
        </p:spPr>
        <p:txBody>
          <a:bodyPr/>
          <a:lstStyle/>
          <a:p>
            <a:pPr eaLnBrk="1" hangingPunct="1"/>
            <a:r>
              <a:rPr lang="en-US" dirty="0" smtClean="0"/>
              <a:t>Profitable Growth Strategy: Business Unit of National Health Insurance Company</a:t>
            </a:r>
          </a:p>
        </p:txBody>
      </p:sp>
      <p:graphicFrame>
        <p:nvGraphicFramePr>
          <p:cNvPr id="7" name="Group 46"/>
          <p:cNvGraphicFramePr>
            <a:graphicFrameLocks/>
          </p:cNvGraphicFramePr>
          <p:nvPr/>
        </p:nvGraphicFramePr>
        <p:xfrm>
          <a:off x="525150" y="2419350"/>
          <a:ext cx="8085450" cy="3944159"/>
        </p:xfrm>
        <a:graphic>
          <a:graphicData uri="http://schemas.openxmlformats.org/drawingml/2006/table">
            <a:tbl>
              <a:tblPr/>
              <a:tblGrid>
                <a:gridCol w="1303650"/>
                <a:gridCol w="3390900"/>
                <a:gridCol w="3390900"/>
              </a:tblGrid>
              <a:tr h="0">
                <a:tc>
                  <a:txBody>
                    <a:bodyPr/>
                    <a:lstStyle/>
                    <a:p>
                      <a:pPr marL="0" marR="0" lvl="0" indent="0" algn="ctr" defTabSz="914400" rtl="0" eaLnBrk="1" fontAlgn="base" latinLnBrk="0" hangingPunct="1">
                        <a:lnSpc>
                          <a:spcPct val="105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Criteria</a:t>
                      </a:r>
                    </a:p>
                  </a:txBody>
                  <a:tcPr marL="73152" marR="73152" marT="0" marB="0" anchor="ctr"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5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Qualitative</a:t>
                      </a:r>
                    </a:p>
                  </a:txBody>
                  <a:tcPr marL="73152" marR="7315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5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Quantitative</a:t>
                      </a:r>
                    </a:p>
                  </a:txBody>
                  <a:tcPr marL="73152" marR="73152" marT="0" marB="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1"/>
                    </a:solidFill>
                  </a:tcPr>
                </a:tc>
              </a:tr>
              <a:tr h="404405">
                <a:tc>
                  <a:txBody>
                    <a:bodyPr/>
                    <a:lstStyle/>
                    <a:p>
                      <a:pPr marL="0" marR="0" lvl="0" indent="0">
                        <a:lnSpc>
                          <a:spcPct val="105000"/>
                        </a:lnSpc>
                        <a:spcBef>
                          <a:spcPts val="0"/>
                        </a:spcBef>
                        <a:spcAft>
                          <a:spcPts val="0"/>
                        </a:spcAft>
                        <a:buFont typeface="Arial" pitchFamily="34" charset="0"/>
                        <a:buNone/>
                      </a:pPr>
                      <a:r>
                        <a:rPr lang="en-US" sz="1100" dirty="0" smtClean="0">
                          <a:latin typeface="+mj-lt"/>
                          <a:ea typeface="Calibri"/>
                          <a:cs typeface="Times New Roman"/>
                        </a:rPr>
                        <a:t>Market size</a:t>
                      </a:r>
                      <a:endParaRPr lang="en-US" sz="11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fontAlgn="auto" latinLnBrk="0" hangingPunct="1">
                        <a:lnSpc>
                          <a:spcPct val="105000"/>
                        </a:lnSpc>
                        <a:spcBef>
                          <a:spcPts val="0"/>
                        </a:spcBef>
                        <a:spcAft>
                          <a:spcPts val="0"/>
                        </a:spcAft>
                        <a:buClrTx/>
                        <a:buSzTx/>
                        <a:buFont typeface="Arial" pitchFamily="34" charset="0"/>
                        <a:buChar char="•"/>
                        <a:tabLst/>
                        <a:defRPr/>
                      </a:pPr>
                      <a:r>
                        <a:rPr lang="en-US" sz="1100" kern="1200" dirty="0" smtClean="0">
                          <a:solidFill>
                            <a:schemeClr val="tx1"/>
                          </a:solidFill>
                          <a:latin typeface="+mn-lt"/>
                          <a:ea typeface="Calibri"/>
                          <a:cs typeface="Times New Roman"/>
                        </a:rPr>
                        <a:t>Segment </a:t>
                      </a:r>
                      <a:r>
                        <a:rPr lang="en-US" sz="1100" kern="1200" baseline="0" dirty="0" smtClean="0">
                          <a:solidFill>
                            <a:schemeClr val="tx1"/>
                          </a:solidFill>
                          <a:latin typeface="+mn-lt"/>
                          <a:ea typeface="Calibri"/>
                          <a:cs typeface="Times New Roman"/>
                        </a:rPr>
                        <a:t>the market to understand potential customer behavior</a:t>
                      </a:r>
                    </a:p>
                    <a:p>
                      <a:pPr marL="114300" marR="0" lvl="0" indent="-114300" algn="l" defTabSz="914400" rtl="0" eaLnBrk="1" fontAlgn="auto" latinLnBrk="0" hangingPunct="1">
                        <a:lnSpc>
                          <a:spcPct val="105000"/>
                        </a:lnSpc>
                        <a:spcBef>
                          <a:spcPts val="0"/>
                        </a:spcBef>
                        <a:spcAft>
                          <a:spcPts val="0"/>
                        </a:spcAft>
                        <a:buClrTx/>
                        <a:buSzTx/>
                        <a:buFont typeface="Arial" pitchFamily="34" charset="0"/>
                        <a:buChar char="•"/>
                        <a:tabLst/>
                        <a:defRPr/>
                      </a:pPr>
                      <a:r>
                        <a:rPr lang="en-US" sz="1100" kern="1200" baseline="0" dirty="0" smtClean="0">
                          <a:solidFill>
                            <a:schemeClr val="tx1"/>
                          </a:solidFill>
                          <a:latin typeface="+mn-lt"/>
                          <a:ea typeface="Calibri"/>
                          <a:cs typeface="Times New Roman"/>
                        </a:rPr>
                        <a:t>Consider key factors in insurance buying behavior</a:t>
                      </a:r>
                      <a:endParaRPr lang="en-US" sz="1100" kern="1200" dirty="0" smtClean="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fontAlgn="auto" latinLnBrk="0" hangingPunct="1">
                        <a:lnSpc>
                          <a:spcPct val="105000"/>
                        </a:lnSpc>
                        <a:spcBef>
                          <a:spcPts val="0"/>
                        </a:spcBef>
                        <a:spcAft>
                          <a:spcPts val="0"/>
                        </a:spcAft>
                        <a:buClrTx/>
                        <a:buSzTx/>
                        <a:buFont typeface="Arial" pitchFamily="34" charset="0"/>
                        <a:buChar char="•"/>
                        <a:tabLst/>
                        <a:defRPr/>
                      </a:pPr>
                      <a:r>
                        <a:rPr lang="en-US" sz="1100" kern="1200" dirty="0" smtClean="0">
                          <a:solidFill>
                            <a:schemeClr val="tx1"/>
                          </a:solidFill>
                          <a:latin typeface="+mn-lt"/>
                          <a:ea typeface="Calibri"/>
                          <a:cs typeface="Times New Roman"/>
                        </a:rPr>
                        <a:t>Quantify revenue</a:t>
                      </a:r>
                      <a:r>
                        <a:rPr lang="en-US" sz="1100" kern="1200" baseline="0" dirty="0" smtClean="0">
                          <a:solidFill>
                            <a:schemeClr val="tx1"/>
                          </a:solidFill>
                          <a:latin typeface="+mn-lt"/>
                          <a:ea typeface="Calibri"/>
                          <a:cs typeface="Times New Roman"/>
                        </a:rPr>
                        <a:t> potential by considering </a:t>
                      </a:r>
                      <a:r>
                        <a:rPr lang="en-US" sz="1100" kern="1200" dirty="0" smtClean="0">
                          <a:solidFill>
                            <a:schemeClr val="tx1"/>
                          </a:solidFill>
                          <a:latin typeface="+mn-lt"/>
                          <a:ea typeface="Calibri"/>
                          <a:cs typeface="Times New Roman"/>
                        </a:rPr>
                        <a:t># of schools, # of students,</a:t>
                      </a:r>
                      <a:r>
                        <a:rPr lang="en-US" sz="1100" kern="1200" baseline="0" dirty="0" smtClean="0">
                          <a:solidFill>
                            <a:schemeClr val="tx1"/>
                          </a:solidFill>
                          <a:latin typeface="+mn-lt"/>
                          <a:ea typeface="Calibri"/>
                          <a:cs typeface="Times New Roman"/>
                        </a:rPr>
                        <a:t> insurance requirements, and premium projections by segments developed</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266409">
                <a:tc>
                  <a:txBody>
                    <a:bodyPr/>
                    <a:lstStyle/>
                    <a:p>
                      <a:pPr marL="0" marR="0" lvl="0" indent="0">
                        <a:lnSpc>
                          <a:spcPct val="105000"/>
                        </a:lnSpc>
                        <a:spcBef>
                          <a:spcPts val="0"/>
                        </a:spcBef>
                        <a:spcAft>
                          <a:spcPts val="0"/>
                        </a:spcAft>
                        <a:buFont typeface="Arial" pitchFamily="34" charset="0"/>
                        <a:buNone/>
                      </a:pPr>
                      <a:r>
                        <a:rPr lang="en-US" sz="1100" dirty="0" smtClean="0">
                          <a:latin typeface="+mj-lt"/>
                          <a:ea typeface="Calibri"/>
                          <a:cs typeface="Times New Roman"/>
                        </a:rPr>
                        <a:t>Market growth</a:t>
                      </a:r>
                      <a:endParaRPr lang="en-US" sz="11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nSpc>
                          <a:spcPct val="105000"/>
                        </a:lnSpc>
                        <a:spcBef>
                          <a:spcPts val="0"/>
                        </a:spcBef>
                        <a:spcAft>
                          <a:spcPts val="0"/>
                        </a:spcAft>
                        <a:buFont typeface="Arial" pitchFamily="34" charset="0"/>
                        <a:buChar char="•"/>
                      </a:pPr>
                      <a:r>
                        <a:rPr lang="en-US" sz="1100" dirty="0" smtClean="0">
                          <a:latin typeface="+mj-lt"/>
                          <a:ea typeface="Calibri"/>
                          <a:cs typeface="Times New Roman"/>
                        </a:rPr>
                        <a:t>Assess maturity</a:t>
                      </a:r>
                      <a:r>
                        <a:rPr lang="en-US" sz="1100" baseline="0" dirty="0" smtClean="0">
                          <a:latin typeface="+mj-lt"/>
                          <a:ea typeface="Calibri"/>
                          <a:cs typeface="Times New Roman"/>
                        </a:rPr>
                        <a:t> of the market</a:t>
                      </a:r>
                    </a:p>
                    <a:p>
                      <a:pPr marL="114300" marR="0" lvl="0" indent="-114300">
                        <a:lnSpc>
                          <a:spcPct val="105000"/>
                        </a:lnSpc>
                        <a:spcBef>
                          <a:spcPts val="0"/>
                        </a:spcBef>
                        <a:spcAft>
                          <a:spcPts val="0"/>
                        </a:spcAft>
                        <a:buFont typeface="Arial" pitchFamily="34" charset="0"/>
                        <a:buChar char="•"/>
                      </a:pPr>
                      <a:r>
                        <a:rPr lang="en-US" sz="1100" dirty="0" smtClean="0">
                          <a:latin typeface="+mj-lt"/>
                          <a:ea typeface="Calibri"/>
                          <a:cs typeface="Times New Roman"/>
                        </a:rPr>
                        <a:t>Consider</a:t>
                      </a:r>
                      <a:r>
                        <a:rPr lang="en-US" sz="1100" baseline="0" dirty="0" smtClean="0">
                          <a:latin typeface="+mj-lt"/>
                          <a:ea typeface="Calibri"/>
                          <a:cs typeface="Times New Roman"/>
                        </a:rPr>
                        <a:t> </a:t>
                      </a:r>
                      <a:r>
                        <a:rPr lang="en-US" sz="1100" dirty="0" smtClean="0">
                          <a:latin typeface="+mj-lt"/>
                          <a:ea typeface="Calibri"/>
                          <a:cs typeface="Times New Roman"/>
                        </a:rPr>
                        <a:t>market trends and healthcare reform</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j-lt"/>
                          <a:ea typeface="Calibri"/>
                          <a:cs typeface="Times New Roman"/>
                        </a:rPr>
                        <a:t>Historic market growth rates</a:t>
                      </a:r>
                    </a:p>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j-lt"/>
                          <a:ea typeface="Calibri"/>
                          <a:cs typeface="Times New Roman"/>
                        </a:rPr>
                        <a:t>Model projected</a:t>
                      </a:r>
                      <a:r>
                        <a:rPr lang="en-US" sz="1100" kern="1200" baseline="0" dirty="0" smtClean="0">
                          <a:solidFill>
                            <a:schemeClr val="tx1"/>
                          </a:solidFill>
                          <a:latin typeface="+mj-lt"/>
                          <a:ea typeface="Calibri"/>
                          <a:cs typeface="Times New Roman"/>
                        </a:rPr>
                        <a:t> number of schools currently in the market and likelihood to join</a:t>
                      </a:r>
                      <a:endParaRPr lang="en-US" sz="1100" kern="1200" dirty="0">
                        <a:solidFill>
                          <a:schemeClr val="tx1"/>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542401">
                <a:tc>
                  <a:txBody>
                    <a:bodyPr/>
                    <a:lstStyle/>
                    <a:p>
                      <a:pPr marL="0" marR="0" lvl="0" indent="0">
                        <a:lnSpc>
                          <a:spcPct val="105000"/>
                        </a:lnSpc>
                        <a:spcBef>
                          <a:spcPts val="0"/>
                        </a:spcBef>
                        <a:spcAft>
                          <a:spcPts val="0"/>
                        </a:spcAft>
                        <a:buFont typeface="Courier New" pitchFamily="49" charset="0"/>
                        <a:buNone/>
                      </a:pPr>
                      <a:r>
                        <a:rPr lang="en-US" sz="1100" dirty="0" smtClean="0">
                          <a:latin typeface="+mj-lt"/>
                          <a:ea typeface="Calibri"/>
                          <a:cs typeface="Times New Roman"/>
                        </a:rPr>
                        <a:t>Competitive intensity</a:t>
                      </a:r>
                      <a:endParaRPr lang="en-US" sz="11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fontAlgn="auto" latinLnBrk="0" hangingPunct="1">
                        <a:lnSpc>
                          <a:spcPct val="105000"/>
                        </a:lnSpc>
                        <a:spcBef>
                          <a:spcPts val="0"/>
                        </a:spcBef>
                        <a:spcAft>
                          <a:spcPts val="0"/>
                        </a:spcAft>
                        <a:buClrTx/>
                        <a:buSzTx/>
                        <a:buFont typeface="Arial" pitchFamily="34" charset="0"/>
                        <a:buChar char="•"/>
                        <a:tabLst/>
                        <a:defRPr/>
                      </a:pPr>
                      <a:r>
                        <a:rPr lang="en-US" sz="1100" kern="1200" dirty="0" smtClean="0">
                          <a:solidFill>
                            <a:schemeClr val="tx1"/>
                          </a:solidFill>
                          <a:latin typeface="+mn-lt"/>
                          <a:ea typeface="Calibri"/>
                          <a:cs typeface="Times New Roman"/>
                        </a:rPr>
                        <a:t>Conduct</a:t>
                      </a:r>
                      <a:r>
                        <a:rPr lang="en-US" sz="1100" kern="1200" baseline="0" dirty="0" smtClean="0">
                          <a:solidFill>
                            <a:schemeClr val="tx1"/>
                          </a:solidFill>
                          <a:latin typeface="+mn-lt"/>
                          <a:ea typeface="Calibri"/>
                          <a:cs typeface="Times New Roman"/>
                        </a:rPr>
                        <a:t> customer interviews, focus groups, voice of the customer analysis</a:t>
                      </a:r>
                    </a:p>
                    <a:p>
                      <a:pPr marL="114300" marR="0" lvl="0" indent="-114300" algn="l" defTabSz="914400" rtl="0" eaLnBrk="1" fontAlgn="auto" latinLnBrk="0" hangingPunct="1">
                        <a:lnSpc>
                          <a:spcPct val="105000"/>
                        </a:lnSpc>
                        <a:spcBef>
                          <a:spcPts val="0"/>
                        </a:spcBef>
                        <a:spcAft>
                          <a:spcPts val="0"/>
                        </a:spcAft>
                        <a:buClrTx/>
                        <a:buSzTx/>
                        <a:buFont typeface="Arial" pitchFamily="34" charset="0"/>
                        <a:buChar char="•"/>
                        <a:tabLst/>
                        <a:defRPr/>
                      </a:pPr>
                      <a:r>
                        <a:rPr lang="en-US" sz="1100" kern="1200" baseline="0" dirty="0" smtClean="0">
                          <a:solidFill>
                            <a:schemeClr val="tx1"/>
                          </a:solidFill>
                          <a:latin typeface="+mn-lt"/>
                          <a:ea typeface="Calibri"/>
                          <a:cs typeface="Times New Roman"/>
                        </a:rPr>
                        <a:t>Conduct competitor assessment</a:t>
                      </a:r>
                      <a:endParaRPr lang="en-US" sz="1100" kern="1200" dirty="0" smtClean="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n-lt"/>
                          <a:ea typeface="Calibri"/>
                          <a:cs typeface="Times New Roman"/>
                        </a:rPr>
                        <a:t>Market share analysis</a:t>
                      </a:r>
                    </a:p>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n-lt"/>
                          <a:ea typeface="Calibri"/>
                          <a:cs typeface="Times New Roman"/>
                        </a:rPr>
                        <a:t>Win/loss rates</a:t>
                      </a:r>
                      <a:r>
                        <a:rPr lang="en-US" sz="1100" kern="1200" baseline="0" dirty="0" smtClean="0">
                          <a:solidFill>
                            <a:schemeClr val="tx1"/>
                          </a:solidFill>
                          <a:latin typeface="+mn-lt"/>
                          <a:ea typeface="Calibri"/>
                          <a:cs typeface="Times New Roman"/>
                        </a:rPr>
                        <a:t> for sales</a:t>
                      </a:r>
                      <a:endParaRPr lang="en-US" sz="1100" kern="1200" dirty="0" smtClean="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542401">
                <a:tc>
                  <a:txBody>
                    <a:bodyPr/>
                    <a:lstStyle/>
                    <a:p>
                      <a:pPr marL="0" marR="0" lvl="0" indent="0">
                        <a:lnSpc>
                          <a:spcPct val="105000"/>
                        </a:lnSpc>
                        <a:spcBef>
                          <a:spcPts val="0"/>
                        </a:spcBef>
                        <a:spcAft>
                          <a:spcPts val="0"/>
                        </a:spcAft>
                        <a:buFont typeface="Courier New" pitchFamily="49" charset="0"/>
                        <a:buNone/>
                      </a:pPr>
                      <a:r>
                        <a:rPr lang="en-US" sz="1100" dirty="0" smtClean="0">
                          <a:latin typeface="+mj-lt"/>
                          <a:ea typeface="Calibri"/>
                          <a:cs typeface="Times New Roman"/>
                        </a:rPr>
                        <a:t>Strategic fit</a:t>
                      </a:r>
                      <a:endParaRPr lang="en-US" sz="11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fontAlgn="auto" latinLnBrk="0" hangingPunct="1">
                        <a:lnSpc>
                          <a:spcPct val="105000"/>
                        </a:lnSpc>
                        <a:spcBef>
                          <a:spcPts val="0"/>
                        </a:spcBef>
                        <a:spcAft>
                          <a:spcPts val="0"/>
                        </a:spcAft>
                        <a:buClrTx/>
                        <a:buSzTx/>
                        <a:buFont typeface="Arial" pitchFamily="34" charset="0"/>
                        <a:buChar char="•"/>
                        <a:tabLst/>
                        <a:defRPr/>
                      </a:pPr>
                      <a:r>
                        <a:rPr lang="en-US" sz="1100" kern="1200" dirty="0" smtClean="0">
                          <a:solidFill>
                            <a:schemeClr val="tx1"/>
                          </a:solidFill>
                          <a:latin typeface="+mn-lt"/>
                          <a:ea typeface="Calibri"/>
                          <a:cs typeface="Times New Roman"/>
                        </a:rPr>
                        <a:t>Determine how strategy required to win in new segment (cost versus differentiation) aligns with existing business strategy</a:t>
                      </a:r>
                      <a:endParaRPr lang="en-US" sz="1100" kern="1200" baseline="0" dirty="0" smtClean="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n-lt"/>
                          <a:ea typeface="Calibri"/>
                          <a:cs typeface="Times New Roman"/>
                        </a:rPr>
                        <a:t>N/A</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542401">
                <a:tc>
                  <a:txBody>
                    <a:bodyPr/>
                    <a:lstStyle/>
                    <a:p>
                      <a:pPr marL="0" marR="0" lvl="0" indent="0">
                        <a:lnSpc>
                          <a:spcPct val="105000"/>
                        </a:lnSpc>
                        <a:spcBef>
                          <a:spcPts val="0"/>
                        </a:spcBef>
                        <a:spcAft>
                          <a:spcPts val="0"/>
                        </a:spcAft>
                        <a:buFont typeface="Courier New" pitchFamily="49" charset="0"/>
                        <a:buNone/>
                      </a:pPr>
                      <a:r>
                        <a:rPr lang="en-US" sz="1100" dirty="0" smtClean="0">
                          <a:latin typeface="+mj-lt"/>
                          <a:ea typeface="Calibri"/>
                          <a:cs typeface="Times New Roman"/>
                        </a:rPr>
                        <a:t>Capability needs</a:t>
                      </a:r>
                      <a:endParaRPr lang="en-US" sz="11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fontAlgn="auto" latinLnBrk="0" hangingPunct="1">
                        <a:lnSpc>
                          <a:spcPct val="105000"/>
                        </a:lnSpc>
                        <a:spcBef>
                          <a:spcPts val="0"/>
                        </a:spcBef>
                        <a:spcAft>
                          <a:spcPts val="0"/>
                        </a:spcAft>
                        <a:buClrTx/>
                        <a:buSzTx/>
                        <a:buFont typeface="Arial" pitchFamily="34" charset="0"/>
                        <a:buChar char="•"/>
                        <a:tabLst/>
                        <a:defRPr/>
                      </a:pPr>
                      <a:r>
                        <a:rPr lang="en-US" sz="1100" kern="1200" dirty="0" smtClean="0">
                          <a:solidFill>
                            <a:schemeClr val="tx1"/>
                          </a:solidFill>
                          <a:latin typeface="+mn-lt"/>
                          <a:ea typeface="Calibri"/>
                          <a:cs typeface="Times New Roman"/>
                        </a:rPr>
                        <a:t>Understand</a:t>
                      </a:r>
                      <a:r>
                        <a:rPr lang="en-US" sz="1100" kern="1200" baseline="0" dirty="0" smtClean="0">
                          <a:solidFill>
                            <a:schemeClr val="tx1"/>
                          </a:solidFill>
                          <a:latin typeface="+mn-lt"/>
                          <a:ea typeface="Calibri"/>
                          <a:cs typeface="Times New Roman"/>
                        </a:rPr>
                        <a:t> future state capability needs from the new market</a:t>
                      </a:r>
                    </a:p>
                    <a:p>
                      <a:pPr marL="114300" marR="0" lvl="0" indent="-114300" algn="l" defTabSz="914400" rtl="0" eaLnBrk="1" fontAlgn="auto" latinLnBrk="0" hangingPunct="1">
                        <a:lnSpc>
                          <a:spcPct val="105000"/>
                        </a:lnSpc>
                        <a:spcBef>
                          <a:spcPts val="0"/>
                        </a:spcBef>
                        <a:spcAft>
                          <a:spcPts val="0"/>
                        </a:spcAft>
                        <a:buClrTx/>
                        <a:buSzTx/>
                        <a:buFont typeface="Arial" pitchFamily="34" charset="0"/>
                        <a:buChar char="•"/>
                        <a:tabLst/>
                        <a:defRPr/>
                      </a:pPr>
                      <a:r>
                        <a:rPr lang="en-US" sz="1100" kern="1200" baseline="0" dirty="0" smtClean="0">
                          <a:solidFill>
                            <a:schemeClr val="tx1"/>
                          </a:solidFill>
                          <a:latin typeface="+mn-lt"/>
                          <a:ea typeface="Calibri"/>
                          <a:cs typeface="Times New Roman"/>
                        </a:rPr>
                        <a:t>Conduct gap analysis</a:t>
                      </a:r>
                      <a:endParaRPr lang="en-US" sz="1100" kern="1200" dirty="0" smtClean="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n-lt"/>
                          <a:ea typeface="Calibri"/>
                          <a:cs typeface="Times New Roman"/>
                        </a:rPr>
                        <a:t>Requisite investments (capital expenditures) to enter the</a:t>
                      </a:r>
                      <a:r>
                        <a:rPr lang="en-US" sz="1100" kern="1200" baseline="0" dirty="0" smtClean="0">
                          <a:solidFill>
                            <a:schemeClr val="tx1"/>
                          </a:solidFill>
                          <a:latin typeface="+mn-lt"/>
                          <a:ea typeface="Calibri"/>
                          <a:cs typeface="Times New Roman"/>
                        </a:rPr>
                        <a:t> new market</a:t>
                      </a:r>
                      <a:endParaRPr lang="en-US" sz="1100" kern="1200" dirty="0" smtClean="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542401">
                <a:tc>
                  <a:txBody>
                    <a:bodyPr/>
                    <a:lstStyle/>
                    <a:p>
                      <a:pPr marL="0" marR="0" lvl="0" indent="0">
                        <a:lnSpc>
                          <a:spcPct val="105000"/>
                        </a:lnSpc>
                        <a:spcBef>
                          <a:spcPts val="0"/>
                        </a:spcBef>
                        <a:spcAft>
                          <a:spcPts val="0"/>
                        </a:spcAft>
                        <a:buFont typeface="Courier New" pitchFamily="49" charset="0"/>
                        <a:buNone/>
                      </a:pPr>
                      <a:r>
                        <a:rPr lang="en-US" sz="1100" dirty="0" smtClean="0">
                          <a:latin typeface="+mj-lt"/>
                          <a:ea typeface="Calibri"/>
                          <a:cs typeface="Times New Roman"/>
                        </a:rPr>
                        <a:t>Profitability</a:t>
                      </a:r>
                      <a:endParaRPr lang="en-US" sz="11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fontAlgn="auto" latinLnBrk="0" hangingPunct="1">
                        <a:lnSpc>
                          <a:spcPct val="105000"/>
                        </a:lnSpc>
                        <a:spcBef>
                          <a:spcPts val="0"/>
                        </a:spcBef>
                        <a:spcAft>
                          <a:spcPts val="0"/>
                        </a:spcAft>
                        <a:buClrTx/>
                        <a:buSzTx/>
                        <a:buFont typeface="Arial" pitchFamily="34" charset="0"/>
                        <a:buChar char="•"/>
                        <a:tabLst/>
                        <a:defRPr/>
                      </a:pPr>
                      <a:r>
                        <a:rPr lang="en-US" sz="1100" kern="1200" dirty="0" smtClean="0">
                          <a:solidFill>
                            <a:schemeClr val="tx1"/>
                          </a:solidFill>
                          <a:latin typeface="+mn-lt"/>
                          <a:ea typeface="Calibri"/>
                          <a:cs typeface="Times New Roman"/>
                        </a:rPr>
                        <a:t>Interview potential</a:t>
                      </a:r>
                      <a:r>
                        <a:rPr lang="en-US" sz="1100" kern="1200" baseline="0" dirty="0" smtClean="0">
                          <a:solidFill>
                            <a:schemeClr val="tx1"/>
                          </a:solidFill>
                          <a:latin typeface="+mn-lt"/>
                          <a:ea typeface="Calibri"/>
                          <a:cs typeface="Times New Roman"/>
                        </a:rPr>
                        <a:t> clients to develop understanding of revenue and cost assumptions</a:t>
                      </a:r>
                      <a:endParaRPr lang="en-US" sz="1100" kern="1200" dirty="0" smtClean="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n-lt"/>
                          <a:ea typeface="Calibri"/>
                          <a:cs typeface="Times New Roman"/>
                        </a:rPr>
                        <a:t>Model</a:t>
                      </a:r>
                      <a:r>
                        <a:rPr lang="en-US" sz="1100" kern="1200" baseline="0" dirty="0" smtClean="0">
                          <a:solidFill>
                            <a:schemeClr val="tx1"/>
                          </a:solidFill>
                          <a:latin typeface="+mn-lt"/>
                          <a:ea typeface="Calibri"/>
                          <a:cs typeface="Times New Roman"/>
                        </a:rPr>
                        <a:t> potential margin scenarios based on various revenue, market size and cost structure assumptions</a:t>
                      </a:r>
                      <a:endParaRPr lang="en-US" sz="1100" kern="1200" dirty="0" smtClean="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542401">
                <a:tc>
                  <a:txBody>
                    <a:bodyPr/>
                    <a:lstStyle/>
                    <a:p>
                      <a:pPr marL="0" marR="0" lvl="0" indent="0">
                        <a:lnSpc>
                          <a:spcPct val="105000"/>
                        </a:lnSpc>
                        <a:spcBef>
                          <a:spcPts val="0"/>
                        </a:spcBef>
                        <a:spcAft>
                          <a:spcPts val="0"/>
                        </a:spcAft>
                        <a:buFont typeface="Courier New" pitchFamily="49" charset="0"/>
                        <a:buNone/>
                      </a:pPr>
                      <a:r>
                        <a:rPr lang="en-US" sz="1100" dirty="0" smtClean="0">
                          <a:latin typeface="+mj-lt"/>
                          <a:ea typeface="Calibri"/>
                          <a:cs typeface="Times New Roman"/>
                        </a:rPr>
                        <a:t>Likely penetration / market capture (share)</a:t>
                      </a:r>
                      <a:endParaRPr lang="en-US" sz="11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n-lt"/>
                          <a:ea typeface="Calibri"/>
                          <a:cs typeface="Times New Roman"/>
                        </a:rPr>
                        <a:t>Assess</a:t>
                      </a:r>
                      <a:r>
                        <a:rPr lang="en-US" sz="1100" kern="1200" baseline="0" dirty="0" smtClean="0">
                          <a:solidFill>
                            <a:schemeClr val="tx1"/>
                          </a:solidFill>
                          <a:latin typeface="+mn-lt"/>
                          <a:ea typeface="Calibri"/>
                          <a:cs typeface="Times New Roman"/>
                        </a:rPr>
                        <a:t> customer needs in the market</a:t>
                      </a:r>
                    </a:p>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n-lt"/>
                          <a:ea typeface="Calibri"/>
                          <a:cs typeface="Times New Roman"/>
                        </a:rPr>
                        <a:t>Consider</a:t>
                      </a:r>
                      <a:r>
                        <a:rPr lang="en-US" sz="1100" kern="1200" baseline="0" dirty="0" smtClean="0">
                          <a:solidFill>
                            <a:schemeClr val="tx1"/>
                          </a:solidFill>
                          <a:latin typeface="+mn-lt"/>
                          <a:ea typeface="Calibri"/>
                          <a:cs typeface="Times New Roman"/>
                        </a:rPr>
                        <a:t> client’s current share in other segments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114300" marR="0" lvl="0" indent="-114300" algn="l" defTabSz="914400" rtl="0" eaLnBrk="1" latinLnBrk="0" hangingPunct="1">
                        <a:lnSpc>
                          <a:spcPct val="105000"/>
                        </a:lnSpc>
                        <a:spcBef>
                          <a:spcPts val="0"/>
                        </a:spcBef>
                        <a:spcAft>
                          <a:spcPts val="0"/>
                        </a:spcAft>
                        <a:buFont typeface="Arial" pitchFamily="34" charset="0"/>
                        <a:buChar char="•"/>
                      </a:pPr>
                      <a:r>
                        <a:rPr lang="en-US" sz="1100" kern="1200" dirty="0" smtClean="0">
                          <a:solidFill>
                            <a:schemeClr val="tx1"/>
                          </a:solidFill>
                          <a:latin typeface="+mn-lt"/>
                          <a:ea typeface="Calibri"/>
                          <a:cs typeface="Times New Roman"/>
                        </a:rPr>
                        <a:t>Model sensitivity</a:t>
                      </a:r>
                      <a:r>
                        <a:rPr lang="en-US" sz="1100" kern="1200" baseline="0" dirty="0" smtClean="0">
                          <a:solidFill>
                            <a:schemeClr val="tx1"/>
                          </a:solidFill>
                          <a:latin typeface="+mn-lt"/>
                          <a:ea typeface="Calibri"/>
                          <a:cs typeface="Times New Roman"/>
                        </a:rPr>
                        <a:t> analysis based on market growth, competitive intensity, margin and pricing requirements</a:t>
                      </a:r>
                      <a:endParaRPr lang="en-US" sz="1100" kern="1200" dirty="0" smtClean="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spTree>
    <p:extLst>
      <p:ext uri="{BB962C8B-B14F-4D97-AF65-F5344CB8AC3E}">
        <p14:creationId xmlns:p14="http://schemas.microsoft.com/office/powerpoint/2010/main" val="498224192"/>
      </p:ext>
    </p:extLst>
  </p:cSld>
  <p:clrMapOvr>
    <a:masterClrMapping/>
  </p:clrMapOvr>
  <p:timing>
    <p:tnLst>
      <p:par>
        <p:cTn xmlns:p14="http://schemas.microsoft.com/office/powerpoint/2010/mai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Group 2"/>
          <p:cNvGraphicFramePr>
            <a:graphicFrameLocks noGrp="1"/>
          </p:cNvGraphicFramePr>
          <p:nvPr>
            <p:ph sz="half" idx="4294967295"/>
          </p:nvPr>
        </p:nvGraphicFramePr>
        <p:xfrm>
          <a:off x="427038" y="850900"/>
          <a:ext cx="8289925" cy="5645151"/>
        </p:xfrm>
        <a:graphic>
          <a:graphicData uri="http://schemas.openxmlformats.org/drawingml/2006/table">
            <a:tbl>
              <a:tblPr/>
              <a:tblGrid>
                <a:gridCol w="8289925"/>
              </a:tblGrid>
              <a:tr h="354013">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200" b="1" i="0" u="none" strike="noStrike" cap="none" normalizeH="0" baseline="0" dirty="0" smtClean="0">
                          <a:ln>
                            <a:noFill/>
                          </a:ln>
                          <a:solidFill>
                            <a:schemeClr val="bg1"/>
                          </a:solidFill>
                          <a:effectLst/>
                          <a:latin typeface="Arial" charset="0"/>
                        </a:rPr>
                        <a:t>Prompt Questions &amp; Responses (For interviewer reference ONLY)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1138">
                <a:tc>
                  <a:txBody>
                    <a:bodyPr/>
                    <a:lstStyle/>
                    <a:p>
                      <a:pPr marL="228600" marR="0" lvl="0" indent="-2286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r>
                        <a:rPr kumimoji="0" lang="en-US" sz="1100" b="1" i="0" u="none" strike="noStrike" cap="none" normalizeH="0" baseline="0" dirty="0" smtClean="0">
                          <a:ln>
                            <a:noFill/>
                          </a:ln>
                          <a:solidFill>
                            <a:schemeClr val="tx1"/>
                          </a:solidFill>
                          <a:effectLst/>
                          <a:latin typeface="Arial" charset="0"/>
                        </a:rPr>
                        <a:t>3a. Our primary concern related to the attractiveness of this segment was whether healthy operating margins could be  achieved.  What type of information would you need to calculate operating margin percentage for this segment?</a:t>
                      </a:r>
                      <a:r>
                        <a:rPr kumimoji="0" lang="en-US" sz="1100" b="0" i="1" u="none" strike="noStrike" cap="none" normalizeH="0" baseline="0" dirty="0" smtClean="0">
                          <a:ln>
                            <a:noFill/>
                          </a:ln>
                          <a:solidFill>
                            <a:schemeClr val="tx1"/>
                          </a:solidFill>
                          <a:effectLst/>
                          <a:latin typeface="Arial" charset="0"/>
                        </a:rPr>
                        <a:t>  </a:t>
                      </a:r>
                    </a:p>
                    <a:p>
                      <a:pPr marL="171450" marR="0" lvl="0" indent="-17145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endParaRPr kumimoji="0" lang="en-US" sz="1100" b="0" i="1" u="none" strike="noStrike" cap="none" normalizeH="0" baseline="0" dirty="0" smtClean="0">
                        <a:ln>
                          <a:noFill/>
                        </a:ln>
                        <a:solidFill>
                          <a:schemeClr val="tx1"/>
                        </a:solidFill>
                        <a:effectLst/>
                        <a:latin typeface="Arial" charset="0"/>
                      </a:endParaRPr>
                    </a:p>
                    <a:p>
                      <a:pPr marL="171450" marR="0" lvl="0" indent="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r>
                        <a:rPr kumimoji="0" lang="en-US" sz="1100" b="0" i="1" u="none" strike="noStrike" cap="none" normalizeH="0" baseline="0" dirty="0" smtClean="0">
                          <a:ln>
                            <a:noFill/>
                          </a:ln>
                          <a:solidFill>
                            <a:schemeClr val="tx1"/>
                          </a:solidFill>
                          <a:effectLst/>
                          <a:latin typeface="Arial" charset="0"/>
                        </a:rPr>
                        <a:t>[Note to interviewer: After the candidate indicates what data he/she would need, provide the data sheet and ask him/her to calculate the operating margin for the four scenarios.]</a:t>
                      </a:r>
                    </a:p>
                    <a:p>
                      <a:pPr marL="0" marR="0" lvl="0" indent="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endParaRPr kumimoji="0" lang="en-US" sz="1100" b="0" i="1" u="none" strike="noStrike" cap="none" normalizeH="0" baseline="0" dirty="0" smtClean="0">
                        <a:ln>
                          <a:noFill/>
                        </a:ln>
                        <a:solidFill>
                          <a:schemeClr val="tx1"/>
                        </a:solidFill>
                        <a:effectLst/>
                        <a:latin typeface="Arial" charset="0"/>
                      </a:endParaRPr>
                    </a:p>
                    <a:p>
                      <a:pPr marL="0" marR="0" lvl="0" indent="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endParaRPr kumimoji="0" lang="en-US" sz="1100" b="0" i="1" u="none" strike="noStrike" cap="none" normalizeH="0" baseline="0" dirty="0" smtClean="0">
                        <a:ln>
                          <a:noFill/>
                        </a:ln>
                        <a:solidFill>
                          <a:schemeClr val="tx1"/>
                        </a:solidFill>
                        <a:effectLst/>
                        <a:latin typeface="Arial" charset="0"/>
                      </a:endParaRPr>
                    </a:p>
                    <a:p>
                      <a:pPr marL="171450" marR="0" lvl="0" indent="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r>
                        <a:rPr lang="en-US" sz="1100" b="0" dirty="0" smtClean="0"/>
                        <a:t>Interviewee should ask for information about the cost structure of the company (fixed versus variable) as well as the product pricing, penetration (number of customers) or total revenue.</a:t>
                      </a:r>
                    </a:p>
                    <a:p>
                      <a:pPr marL="119063" marR="0" lvl="0" indent="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endParaRPr kumimoji="0" lang="en-US" sz="1000" b="1" i="0" u="none" strike="noStrike" cap="none" normalizeH="0" baseline="0" dirty="0" smtClean="0">
                        <a:ln>
                          <a:noFill/>
                        </a:ln>
                        <a:solidFill>
                          <a:schemeClr val="tx1"/>
                        </a:solidFill>
                        <a:effectLst/>
                        <a:latin typeface="Arial" charset="0"/>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2954" name="Rectangle 24"/>
          <p:cNvSpPr>
            <a:spLocks noGrp="1" noChangeArrowheads="1"/>
          </p:cNvSpPr>
          <p:nvPr>
            <p:ph type="title" idx="4294967295"/>
          </p:nvPr>
        </p:nvSpPr>
        <p:spPr>
          <a:xfrm>
            <a:off x="401638" y="530674"/>
            <a:ext cx="8345487" cy="242439"/>
          </a:xfrm>
        </p:spPr>
        <p:txBody>
          <a:bodyPr/>
          <a:lstStyle/>
          <a:p>
            <a:pPr eaLnBrk="1" hangingPunct="1"/>
            <a:r>
              <a:rPr lang="en-US" dirty="0" smtClean="0"/>
              <a:t>Profitable Growth Strategy: Business Unit of National Health Insurance Company</a:t>
            </a:r>
          </a:p>
        </p:txBody>
      </p:sp>
    </p:spTree>
    <p:extLst>
      <p:ext uri="{BB962C8B-B14F-4D97-AF65-F5344CB8AC3E}">
        <p14:creationId xmlns:p14="http://schemas.microsoft.com/office/powerpoint/2010/main" val="3438282593"/>
      </p:ext>
    </p:extLst>
  </p:cSld>
  <p:clrMapOvr>
    <a:masterClrMapping/>
  </p:clrMapOvr>
  <p:timing>
    <p:tnLst>
      <p:par>
        <p:cTn xmlns:p14="http://schemas.microsoft.com/office/powerpoint/2010/mai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Group 2"/>
          <p:cNvGraphicFramePr>
            <a:graphicFrameLocks noGrp="1"/>
          </p:cNvGraphicFramePr>
          <p:nvPr>
            <p:ph sz="half" idx="4294967295"/>
          </p:nvPr>
        </p:nvGraphicFramePr>
        <p:xfrm>
          <a:off x="427038" y="850900"/>
          <a:ext cx="8289925" cy="5645151"/>
        </p:xfrm>
        <a:graphic>
          <a:graphicData uri="http://schemas.openxmlformats.org/drawingml/2006/table">
            <a:tbl>
              <a:tblPr/>
              <a:tblGrid>
                <a:gridCol w="8289925"/>
              </a:tblGrid>
              <a:tr h="354013">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200" b="1" i="0" u="none" strike="noStrike" cap="none" normalizeH="0" baseline="0" dirty="0" smtClean="0">
                          <a:ln>
                            <a:noFill/>
                          </a:ln>
                          <a:solidFill>
                            <a:schemeClr val="bg1"/>
                          </a:solidFill>
                          <a:effectLst/>
                          <a:latin typeface="Arial" charset="0"/>
                        </a:rPr>
                        <a:t>Prompt Questions &amp; Responses (For interviewer reference ONLY)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1138">
                <a:tc>
                  <a:txBody>
                    <a:bodyPr/>
                    <a:lstStyle/>
                    <a:p>
                      <a:pPr marL="228600" marR="0" lvl="0" indent="-2286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r>
                        <a:rPr kumimoji="0" lang="en-US" sz="1100" b="1" i="0" u="none" strike="noStrike" cap="none" normalizeH="0" baseline="0" dirty="0" smtClean="0">
                          <a:ln>
                            <a:noFill/>
                          </a:ln>
                          <a:solidFill>
                            <a:schemeClr val="tx1"/>
                          </a:solidFill>
                          <a:effectLst/>
                          <a:latin typeface="Arial" charset="0"/>
                        </a:rPr>
                        <a:t>3b. What is the operating margin percentage for each of the four product/customer scenarios?  Each scenario presents a different mix between the product sold and the size (in terms of revenue) for the customer.</a:t>
                      </a:r>
                    </a:p>
                    <a:p>
                      <a:pPr marL="114300" marR="0" lvl="0" indent="-1143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endParaRPr kumimoji="0" lang="en-US" sz="1100" b="1" i="0" u="none" strike="noStrike" cap="none" normalizeH="0" baseline="0" dirty="0" smtClean="0">
                        <a:ln>
                          <a:noFill/>
                        </a:ln>
                        <a:solidFill>
                          <a:schemeClr val="tx1"/>
                        </a:solidFill>
                        <a:effectLst/>
                        <a:latin typeface="Arial" charset="0"/>
                      </a:endParaRPr>
                    </a:p>
                    <a:p>
                      <a:pPr marL="0" marR="0" lvl="0" indent="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r>
                        <a:rPr lang="en-US" sz="1100" b="0" dirty="0" smtClean="0"/>
                        <a:t>Using the data sheet, the interviewee should calculate the expected costs under each of the four scenarios and then calculate the operating margin percentage. They will need to calculate the number of customers in each scenario and apply the fixed and variable costs.</a:t>
                      </a:r>
                      <a:endParaRPr kumimoji="0" lang="en-US" sz="1100" b="0"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2954" name="Rectangle 24"/>
          <p:cNvSpPr>
            <a:spLocks noGrp="1" noChangeArrowheads="1"/>
          </p:cNvSpPr>
          <p:nvPr>
            <p:ph type="title" idx="4294967295"/>
          </p:nvPr>
        </p:nvSpPr>
        <p:spPr>
          <a:xfrm>
            <a:off x="401638" y="530674"/>
            <a:ext cx="8345487" cy="242439"/>
          </a:xfrm>
        </p:spPr>
        <p:txBody>
          <a:bodyPr/>
          <a:lstStyle/>
          <a:p>
            <a:pPr eaLnBrk="1" hangingPunct="1"/>
            <a:r>
              <a:rPr lang="en-US" dirty="0" smtClean="0"/>
              <a:t>Profitable Growth Strategy: Business Unit of National Health Insurance Company</a:t>
            </a:r>
          </a:p>
        </p:txBody>
      </p:sp>
      <p:graphicFrame>
        <p:nvGraphicFramePr>
          <p:cNvPr id="6" name="Group 46"/>
          <p:cNvGraphicFramePr>
            <a:graphicFrameLocks/>
          </p:cNvGraphicFramePr>
          <p:nvPr/>
        </p:nvGraphicFramePr>
        <p:xfrm>
          <a:off x="593758" y="2455291"/>
          <a:ext cx="7825844" cy="2497709"/>
        </p:xfrm>
        <a:graphic>
          <a:graphicData uri="http://schemas.openxmlformats.org/drawingml/2006/table">
            <a:tbl>
              <a:tblPr/>
              <a:tblGrid>
                <a:gridCol w="301893"/>
                <a:gridCol w="701352"/>
                <a:gridCol w="917597"/>
                <a:gridCol w="914400"/>
                <a:gridCol w="831767"/>
                <a:gridCol w="831767"/>
                <a:gridCol w="831767"/>
                <a:gridCol w="831767"/>
                <a:gridCol w="831767"/>
                <a:gridCol w="831767"/>
              </a:tblGrid>
              <a:tr h="41275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0" i="0" u="none" strike="noStrike" cap="none" normalizeH="0" baseline="0" dirty="0" smtClean="0">
                          <a:ln>
                            <a:noFill/>
                          </a:ln>
                          <a:solidFill>
                            <a:schemeClr val="tx1"/>
                          </a:solidFill>
                          <a:effectLst/>
                          <a:latin typeface="+mj-lt"/>
                        </a:rPr>
                        <a:t>Option</a:t>
                      </a:r>
                    </a:p>
                  </a:txBody>
                  <a:tcPr marL="73152" marR="73152" marT="73152" marB="73152" vert="vert270"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Product Sold</a:t>
                      </a:r>
                    </a:p>
                  </a:txBody>
                  <a:tcPr marL="73152" marR="73152" marT="73152" marB="73152" anchor="ctr" horzOverflow="overflow">
                    <a:lnL>
                      <a:noFill/>
                    </a:lnL>
                    <a:lnR w="12700" cap="flat" cmpd="sng" algn="ctr">
                      <a:solidFill>
                        <a:schemeClr val="bg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ts val="0"/>
                        </a:spcBef>
                        <a:spcAft>
                          <a:spcPct val="0"/>
                        </a:spcAft>
                        <a:buClr>
                          <a:schemeClr val="tx1"/>
                        </a:buClr>
                        <a:buSzPct val="80000"/>
                        <a:buFont typeface="Wingdings" pitchFamily="2" charset="2"/>
                        <a:buNone/>
                        <a:tabLst/>
                      </a:pPr>
                      <a:r>
                        <a:rPr kumimoji="0" lang="en-US" sz="1100" b="1" i="0" u="none" strike="noStrike" kern="1200" cap="none" normalizeH="0" baseline="0" dirty="0" smtClean="0">
                          <a:ln>
                            <a:noFill/>
                          </a:ln>
                          <a:solidFill>
                            <a:schemeClr val="bg1"/>
                          </a:solidFill>
                          <a:effectLst/>
                          <a:latin typeface="+mn-lt"/>
                          <a:ea typeface="+mn-ea"/>
                          <a:cs typeface="+mn-cs"/>
                        </a:rPr>
                        <a:t>Avg. </a:t>
                      </a:r>
                      <a:r>
                        <a:rPr kumimoji="0" lang="en-US" sz="1100" b="1" i="0" u="none" strike="noStrike" cap="none" normalizeH="0" baseline="0" dirty="0" smtClean="0">
                          <a:ln>
                            <a:noFill/>
                          </a:ln>
                          <a:solidFill>
                            <a:schemeClr val="bg1"/>
                          </a:solidFill>
                          <a:effectLst/>
                          <a:latin typeface="+mj-lt"/>
                        </a:rPr>
                        <a:t>Annual Premium Revenue </a:t>
                      </a:r>
                    </a:p>
                    <a:p>
                      <a:pPr marL="0" marR="0" lvl="0" indent="0" algn="ctr" defTabSz="914400" rtl="0" eaLnBrk="1" fontAlgn="base" latinLnBrk="0" hangingPunct="1">
                        <a:lnSpc>
                          <a:spcPct val="106000"/>
                        </a:lnSpc>
                        <a:spcBef>
                          <a:spcPts val="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per School</a:t>
                      </a:r>
                    </a:p>
                  </a:txBody>
                  <a:tcPr marL="73152" marR="73152" marT="73152" marB="7315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ts val="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Customers</a:t>
                      </a:r>
                    </a:p>
                    <a:p>
                      <a:pPr marL="0" marR="0" lvl="0" indent="0" algn="ctr" defTabSz="914400" rtl="0" eaLnBrk="1" fontAlgn="base" latinLnBrk="0" hangingPunct="1">
                        <a:lnSpc>
                          <a:spcPct val="106000"/>
                        </a:lnSpc>
                        <a:spcBef>
                          <a:spcPts val="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(Students per school)</a:t>
                      </a:r>
                    </a:p>
                  </a:txBody>
                  <a:tcPr marL="73152" marR="73152" marT="73152" marB="7315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Medical Expenses</a:t>
                      </a:r>
                    </a:p>
                  </a:txBody>
                  <a:tcPr marL="73152" marR="73152" marT="73152" marB="7315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Selling Expenses</a:t>
                      </a:r>
                    </a:p>
                  </a:txBody>
                  <a:tcPr marL="73152" marR="73152" marT="73152" marB="7315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Setup Costs</a:t>
                      </a:r>
                    </a:p>
                  </a:txBody>
                  <a:tcPr marL="73152" marR="73152" marT="73152" marB="7315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Admin-istrative Costs</a:t>
                      </a:r>
                    </a:p>
                  </a:txBody>
                  <a:tcPr marL="73152" marR="73152" marT="73152" marB="7315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Total Costs</a:t>
                      </a:r>
                    </a:p>
                  </a:txBody>
                  <a:tcPr marL="73152" marR="73152" marT="73152" marB="7315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Operating Margin %</a:t>
                      </a:r>
                    </a:p>
                  </a:txBody>
                  <a:tcPr marL="73152" marR="73152" marT="73152" marB="73152"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36576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tx1"/>
                          </a:solidFill>
                          <a:effectLst/>
                          <a:latin typeface="+mj-lt"/>
                        </a:rPr>
                        <a:t>1</a:t>
                      </a:r>
                    </a:p>
                  </a:txBody>
                  <a:tcPr marL="45720" marR="45720" marT="18288" marB="18288" anchor="ctr" horzOverflow="overflow">
                    <a:lnL>
                      <a:noFill/>
                    </a:lnL>
                    <a:lnR>
                      <a:noFill/>
                    </a:lnR>
                    <a:lnT>
                      <a:noFill/>
                    </a:lnT>
                    <a:lnB>
                      <a:noFill/>
                    </a:lnB>
                    <a:lnTlToBr>
                      <a:noFill/>
                    </a:lnTlToBr>
                    <a:lnBlToTr>
                      <a:noFill/>
                    </a:lnBlToTr>
                    <a:noFill/>
                  </a:tcPr>
                </a:tc>
                <a:tc>
                  <a:txBody>
                    <a:bodyPr/>
                    <a:lstStyle/>
                    <a:p>
                      <a:pPr algn="ctr" fontAlgn="b"/>
                      <a:r>
                        <a:rPr lang="en-US" sz="1100" b="0" i="0" u="none" strike="noStrike" dirty="0" smtClean="0">
                          <a:solidFill>
                            <a:srgbClr val="000000"/>
                          </a:solidFill>
                          <a:latin typeface="+mj-lt"/>
                        </a:rPr>
                        <a:t>Plus</a:t>
                      </a:r>
                    </a:p>
                    <a:p>
                      <a:pPr algn="ctr" fontAlgn="b"/>
                      <a:r>
                        <a:rPr lang="en-US" sz="1100" b="0" i="0" u="none" strike="noStrike" dirty="0" smtClean="0">
                          <a:solidFill>
                            <a:srgbClr val="000000"/>
                          </a:solidFill>
                          <a:latin typeface="+mj-lt"/>
                        </a:rPr>
                        <a:t>($2,000)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$1,000,000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500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80%</a:t>
                      </a:r>
                    </a:p>
                    <a:p>
                      <a:pPr algn="ctr" fontAlgn="b"/>
                      <a:r>
                        <a:rPr lang="en-US" sz="1100" b="0" i="0" u="none" strike="noStrike" dirty="0" smtClean="0">
                          <a:solidFill>
                            <a:srgbClr val="000000"/>
                          </a:solidFill>
                          <a:latin typeface="+mj-lt"/>
                        </a:rPr>
                        <a:t> ($800K)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7%</a:t>
                      </a:r>
                      <a:r>
                        <a:rPr lang="en-US" sz="1100" b="0" i="0" u="none" strike="noStrike" baseline="0" dirty="0" smtClean="0">
                          <a:solidFill>
                            <a:srgbClr val="000000"/>
                          </a:solidFill>
                          <a:latin typeface="+mj-lt"/>
                        </a:rPr>
                        <a:t> </a:t>
                      </a:r>
                    </a:p>
                    <a:p>
                      <a:pPr algn="ctr" fontAlgn="b"/>
                      <a:r>
                        <a:rPr lang="en-US" sz="1100" b="0" i="0" u="none" strike="noStrike" baseline="0" dirty="0" smtClean="0">
                          <a:solidFill>
                            <a:srgbClr val="000000"/>
                          </a:solidFill>
                          <a:latin typeface="+mj-lt"/>
                        </a:rPr>
                        <a:t>($70K)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5% </a:t>
                      </a:r>
                    </a:p>
                    <a:p>
                      <a:pPr algn="ctr" fontAlgn="b"/>
                      <a:r>
                        <a:rPr lang="en-US" sz="1100" b="0" i="0" u="none" strike="noStrike" dirty="0" smtClean="0">
                          <a:solidFill>
                            <a:srgbClr val="000000"/>
                          </a:solidFill>
                          <a:latin typeface="+mj-lt"/>
                        </a:rPr>
                        <a:t>($50K)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2.5%</a:t>
                      </a:r>
                    </a:p>
                    <a:p>
                      <a:pPr algn="ctr" fontAlgn="b"/>
                      <a:r>
                        <a:rPr lang="en-US" sz="1100" b="0" i="0" u="none" strike="noStrike" dirty="0" smtClean="0">
                          <a:solidFill>
                            <a:srgbClr val="000000"/>
                          </a:solidFill>
                          <a:latin typeface="+mj-lt"/>
                        </a:rPr>
                        <a:t> ($25K)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94.5%</a:t>
                      </a:r>
                      <a:r>
                        <a:rPr lang="en-US" sz="1100" b="0" i="0" u="none" strike="noStrike" baseline="0" dirty="0" smtClean="0">
                          <a:solidFill>
                            <a:srgbClr val="000000"/>
                          </a:solidFill>
                          <a:latin typeface="+mj-lt"/>
                        </a:rPr>
                        <a:t> ($945K)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1" i="0" u="none" strike="noStrike" dirty="0" smtClean="0">
                          <a:solidFill>
                            <a:srgbClr val="000000"/>
                          </a:solidFill>
                          <a:latin typeface="+mj-lt"/>
                        </a:rPr>
                        <a:t>5.5%</a:t>
                      </a:r>
                      <a:endParaRPr lang="en-US" sz="1100" b="1"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r>
              <a:tr h="36576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tx1"/>
                          </a:solidFill>
                          <a:effectLst/>
                          <a:latin typeface="+mj-lt"/>
                        </a:rPr>
                        <a:t>2</a:t>
                      </a:r>
                    </a:p>
                  </a:txBody>
                  <a:tcPr marL="45720" marR="45720" marT="18288" marB="18288" anchor="ctr" horzOverflow="overflow">
                    <a:lnL>
                      <a:noFill/>
                    </a:lnL>
                    <a:lnR>
                      <a:noFill/>
                    </a:lnR>
                    <a:lnT>
                      <a:noFill/>
                    </a:lnT>
                    <a:lnB>
                      <a:noFill/>
                    </a:lnB>
                    <a:lnTlToBr>
                      <a:noFill/>
                    </a:lnTlToBr>
                    <a:lnBlToTr>
                      <a:noFill/>
                    </a:lnBlToTr>
                    <a:noFill/>
                  </a:tcPr>
                </a:tc>
                <a:tc>
                  <a:txBody>
                    <a:bodyPr/>
                    <a:lstStyle/>
                    <a:p>
                      <a:pPr algn="ctr" fontAlgn="b"/>
                      <a:r>
                        <a:rPr lang="en-US" sz="1100" b="0" i="0" u="none" strike="noStrike" dirty="0" smtClean="0">
                          <a:solidFill>
                            <a:srgbClr val="000000"/>
                          </a:solidFill>
                          <a:latin typeface="+mj-lt"/>
                        </a:rPr>
                        <a:t>Standard ($1,000)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$1,000,000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1000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80% </a:t>
                      </a:r>
                    </a:p>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($800K)</a:t>
                      </a: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7%</a:t>
                      </a:r>
                      <a:r>
                        <a:rPr lang="en-US" sz="1100" b="0" i="0" u="none" strike="noStrike" baseline="0" dirty="0" smtClean="0">
                          <a:solidFill>
                            <a:srgbClr val="000000"/>
                          </a:solidFill>
                          <a:latin typeface="+mj-lt"/>
                        </a:rPr>
                        <a:t> </a:t>
                      </a:r>
                    </a:p>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baseline="0" dirty="0" smtClean="0">
                          <a:solidFill>
                            <a:srgbClr val="000000"/>
                          </a:solidFill>
                          <a:latin typeface="+mj-lt"/>
                        </a:rPr>
                        <a:t>($70K)</a:t>
                      </a:r>
                      <a:endParaRPr lang="en-US" sz="1100" b="0" i="0" u="none" strike="noStrike" dirty="0" smtClean="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5% </a:t>
                      </a:r>
                    </a:p>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($50K)</a:t>
                      </a: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5% </a:t>
                      </a:r>
                    </a:p>
                    <a:p>
                      <a:pPr algn="ctr" fontAlgn="b"/>
                      <a:r>
                        <a:rPr lang="en-US" sz="1100" b="0" i="0" u="none" strike="noStrike" dirty="0" smtClean="0">
                          <a:solidFill>
                            <a:srgbClr val="000000"/>
                          </a:solidFill>
                          <a:latin typeface="+mj-lt"/>
                        </a:rPr>
                        <a:t>($50K)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97% </a:t>
                      </a:r>
                    </a:p>
                    <a:p>
                      <a:pPr algn="ctr" fontAlgn="b"/>
                      <a:r>
                        <a:rPr lang="en-US" sz="1100" b="0" i="0" u="none" strike="noStrike" dirty="0" smtClean="0">
                          <a:solidFill>
                            <a:srgbClr val="000000"/>
                          </a:solidFill>
                          <a:latin typeface="+mj-lt"/>
                        </a:rPr>
                        <a:t>($970K)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1" i="0" u="none" strike="noStrike" dirty="0" smtClean="0">
                          <a:solidFill>
                            <a:srgbClr val="000000"/>
                          </a:solidFill>
                          <a:latin typeface="+mj-lt"/>
                        </a:rPr>
                        <a:t>3.0%</a:t>
                      </a:r>
                      <a:endParaRPr lang="en-US" sz="1100" b="1"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r>
              <a:tr h="36576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tx1"/>
                          </a:solidFill>
                          <a:effectLst/>
                          <a:latin typeface="+mj-lt"/>
                        </a:rPr>
                        <a:t>3</a:t>
                      </a:r>
                    </a:p>
                  </a:txBody>
                  <a:tcPr marL="45720" marR="45720" marT="18288" marB="18288" anchor="ctr" horzOverflow="overflow">
                    <a:lnL>
                      <a:noFill/>
                    </a:lnL>
                    <a:lnR>
                      <a:noFill/>
                    </a:lnR>
                    <a:lnT>
                      <a:noFill/>
                    </a:lnT>
                    <a:lnB>
                      <a:noFill/>
                    </a:lnB>
                    <a:lnTlToBr>
                      <a:noFill/>
                    </a:lnTlToBr>
                    <a:lnBlToTr>
                      <a:noFill/>
                    </a:lnBlToTr>
                    <a:noFill/>
                  </a:tcPr>
                </a:tc>
                <a:tc>
                  <a:txBody>
                    <a:bodyPr/>
                    <a:lstStyle/>
                    <a:p>
                      <a:pPr algn="ctr" fontAlgn="b"/>
                      <a:r>
                        <a:rPr lang="en-US" sz="1100" b="0" i="0" u="none" strike="noStrike" dirty="0" smtClean="0">
                          <a:solidFill>
                            <a:srgbClr val="000000"/>
                          </a:solidFill>
                          <a:latin typeface="+mj-lt"/>
                        </a:rPr>
                        <a:t>Plus</a:t>
                      </a:r>
                    </a:p>
                    <a:p>
                      <a:pPr algn="ctr" fontAlgn="b"/>
                      <a:r>
                        <a:rPr lang="en-US" sz="1100" b="0" i="0" u="none" strike="noStrike" dirty="0" smtClean="0">
                          <a:solidFill>
                            <a:srgbClr val="000000"/>
                          </a:solidFill>
                          <a:latin typeface="+mj-lt"/>
                        </a:rPr>
                        <a:t>($2,000)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$500,000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250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80% </a:t>
                      </a:r>
                    </a:p>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($400K)</a:t>
                      </a: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7%</a:t>
                      </a:r>
                      <a:r>
                        <a:rPr lang="en-US" sz="1100" b="0" i="0" u="none" strike="noStrike" baseline="0" dirty="0" smtClean="0">
                          <a:solidFill>
                            <a:srgbClr val="000000"/>
                          </a:solidFill>
                          <a:latin typeface="+mj-lt"/>
                        </a:rPr>
                        <a:t> </a:t>
                      </a:r>
                    </a:p>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baseline="0" dirty="0" smtClean="0">
                          <a:solidFill>
                            <a:srgbClr val="000000"/>
                          </a:solidFill>
                          <a:latin typeface="+mj-lt"/>
                        </a:rPr>
                        <a:t>($35K)</a:t>
                      </a:r>
                      <a:endParaRPr lang="en-US" sz="1100" b="0" i="0" u="none" strike="noStrike" dirty="0" smtClean="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10%</a:t>
                      </a:r>
                      <a:r>
                        <a:rPr lang="en-US" sz="1100" b="0" i="0" u="none" strike="noStrike" baseline="0" dirty="0" smtClean="0">
                          <a:solidFill>
                            <a:srgbClr val="000000"/>
                          </a:solidFill>
                          <a:latin typeface="+mj-lt"/>
                        </a:rPr>
                        <a:t> </a:t>
                      </a:r>
                    </a:p>
                    <a:p>
                      <a:pPr algn="ctr" fontAlgn="b"/>
                      <a:r>
                        <a:rPr lang="en-US" sz="1100" b="0" i="0" u="none" strike="noStrike" baseline="0" dirty="0" smtClean="0">
                          <a:solidFill>
                            <a:srgbClr val="000000"/>
                          </a:solidFill>
                          <a:latin typeface="+mj-lt"/>
                        </a:rPr>
                        <a:t>($50K)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2.5% ($12.5K)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99.5% ($498K)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1" i="0" u="none" strike="noStrike" dirty="0" smtClean="0">
                          <a:solidFill>
                            <a:srgbClr val="000000"/>
                          </a:solidFill>
                          <a:latin typeface="+mj-lt"/>
                        </a:rPr>
                        <a:t>0.5%</a:t>
                      </a:r>
                      <a:endParaRPr lang="en-US" sz="1100" b="1"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r>
              <a:tr h="36576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050" b="1" i="0" u="none" strike="noStrike" cap="none" normalizeH="0" baseline="0" dirty="0" smtClean="0">
                          <a:ln>
                            <a:noFill/>
                          </a:ln>
                          <a:solidFill>
                            <a:schemeClr val="tx1"/>
                          </a:solidFill>
                          <a:effectLst/>
                          <a:latin typeface="+mj-lt"/>
                        </a:rPr>
                        <a:t>4</a:t>
                      </a:r>
                    </a:p>
                  </a:txBody>
                  <a:tcPr marL="45720" marR="45720" marT="18288" marB="18288" anchor="ctr" horzOverflow="overflow">
                    <a:lnL>
                      <a:noFill/>
                    </a:lnL>
                    <a:lnR>
                      <a:noFill/>
                    </a:lnR>
                    <a:lnT>
                      <a:noFill/>
                    </a:lnT>
                    <a:lnB>
                      <a:noFill/>
                    </a:lnB>
                    <a:lnTlToBr>
                      <a:noFill/>
                    </a:lnTlToBr>
                    <a:lnBlToTr>
                      <a:noFill/>
                    </a:lnBlToTr>
                    <a:noFill/>
                  </a:tcPr>
                </a:tc>
                <a:tc>
                  <a:txBody>
                    <a:bodyPr/>
                    <a:lstStyle/>
                    <a:p>
                      <a:pPr algn="ctr" fontAlgn="b"/>
                      <a:r>
                        <a:rPr lang="en-US" sz="1100" b="0" i="0" u="none" strike="noStrike" dirty="0" smtClean="0">
                          <a:solidFill>
                            <a:srgbClr val="000000"/>
                          </a:solidFill>
                          <a:latin typeface="+mj-lt"/>
                        </a:rPr>
                        <a:t>Standard ($1,000)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$500,000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500</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80% </a:t>
                      </a:r>
                    </a:p>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($400K)</a:t>
                      </a: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7%</a:t>
                      </a:r>
                      <a:r>
                        <a:rPr lang="en-US" sz="1100" b="0" i="0" u="none" strike="noStrike" baseline="0" dirty="0" smtClean="0">
                          <a:solidFill>
                            <a:srgbClr val="000000"/>
                          </a:solidFill>
                          <a:latin typeface="+mj-lt"/>
                        </a:rPr>
                        <a:t> </a:t>
                      </a:r>
                    </a:p>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baseline="0" dirty="0" smtClean="0">
                          <a:solidFill>
                            <a:srgbClr val="000000"/>
                          </a:solidFill>
                          <a:latin typeface="+mj-lt"/>
                        </a:rPr>
                        <a:t>($35K)</a:t>
                      </a:r>
                      <a:endParaRPr lang="en-US" sz="1100" b="0" i="0" u="none" strike="noStrike" dirty="0" smtClean="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latin typeface="+mj-lt"/>
                        </a:rPr>
                        <a:t>10%</a:t>
                      </a:r>
                      <a:r>
                        <a:rPr lang="en-US" sz="1100" b="0" i="0" u="none" strike="noStrike" baseline="0" dirty="0" smtClean="0">
                          <a:solidFill>
                            <a:srgbClr val="000000"/>
                          </a:solidFill>
                          <a:latin typeface="+mj-lt"/>
                        </a:rPr>
                        <a:t> </a:t>
                      </a:r>
                    </a:p>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baseline="0" dirty="0" smtClean="0">
                          <a:solidFill>
                            <a:srgbClr val="000000"/>
                          </a:solidFill>
                          <a:latin typeface="+mj-lt"/>
                        </a:rPr>
                        <a:t>($50K)</a:t>
                      </a:r>
                      <a:endParaRPr lang="en-US" sz="1100" b="0" i="0" u="none" strike="noStrike" dirty="0" smtClean="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5% </a:t>
                      </a:r>
                    </a:p>
                    <a:p>
                      <a:pPr algn="ctr" fontAlgn="b"/>
                      <a:r>
                        <a:rPr lang="en-US" sz="1100" b="0" i="0" u="none" strike="noStrike" dirty="0" smtClean="0">
                          <a:solidFill>
                            <a:srgbClr val="000000"/>
                          </a:solidFill>
                          <a:latin typeface="+mj-lt"/>
                        </a:rPr>
                        <a:t>($25K)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0" i="0" u="none" strike="noStrike" dirty="0" smtClean="0">
                          <a:solidFill>
                            <a:srgbClr val="000000"/>
                          </a:solidFill>
                          <a:latin typeface="+mj-lt"/>
                        </a:rPr>
                        <a:t>102% ($510K)</a:t>
                      </a:r>
                      <a:endParaRPr lang="en-US" sz="1100" b="0"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b"/>
                      <a:r>
                        <a:rPr lang="en-US" sz="1100" b="1" i="0" u="none" strike="noStrike" dirty="0" smtClean="0">
                          <a:solidFill>
                            <a:srgbClr val="000000"/>
                          </a:solidFill>
                          <a:latin typeface="+mj-lt"/>
                        </a:rPr>
                        <a:t>(2.0%)</a:t>
                      </a:r>
                      <a:endParaRPr lang="en-US" sz="1100" b="1" i="0" u="none" strike="noStrike" dirty="0">
                        <a:solidFill>
                          <a:srgbClr val="000000"/>
                        </a:solidFill>
                        <a:latin typeface="+mj-lt"/>
                      </a:endParaRP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r>
            </a:tbl>
          </a:graphicData>
        </a:graphic>
      </p:graphicFrame>
      <p:sp>
        <p:nvSpPr>
          <p:cNvPr id="8" name="Rectangle 7"/>
          <p:cNvSpPr/>
          <p:nvPr/>
        </p:nvSpPr>
        <p:spPr>
          <a:xfrm>
            <a:off x="579051" y="5487311"/>
            <a:ext cx="4243469" cy="701731"/>
          </a:xfrm>
          <a:prstGeom prst="rect">
            <a:avLst/>
          </a:prstGeom>
        </p:spPr>
        <p:txBody>
          <a:bodyPr wrap="none">
            <a:spAutoFit/>
          </a:bodyPr>
          <a:lstStyle/>
          <a:p>
            <a:pPr marL="190500" indent="-190500">
              <a:lnSpc>
                <a:spcPct val="90000"/>
              </a:lnSpc>
              <a:buClr>
                <a:srgbClr val="000000"/>
              </a:buClr>
              <a:buSzPct val="80000"/>
            </a:pPr>
            <a:r>
              <a:rPr lang="en-US" sz="1100" b="1" dirty="0">
                <a:solidFill>
                  <a:srgbClr val="000000"/>
                </a:solidFill>
                <a:latin typeface="Arial"/>
                <a:cs typeface="Arial" charset="0"/>
              </a:rPr>
              <a:t>Follow-Up Prompt Questions After Analysis is Completed</a:t>
            </a:r>
            <a:r>
              <a:rPr lang="en-US" sz="1100" b="1" dirty="0" smtClean="0">
                <a:solidFill>
                  <a:srgbClr val="000000"/>
                </a:solidFill>
                <a:latin typeface="Arial"/>
                <a:cs typeface="Arial" charset="0"/>
              </a:rPr>
              <a:t>:</a:t>
            </a:r>
          </a:p>
          <a:p>
            <a:pPr marL="190500" indent="-190500">
              <a:lnSpc>
                <a:spcPct val="90000"/>
              </a:lnSpc>
              <a:buClr>
                <a:srgbClr val="000000"/>
              </a:buClr>
              <a:buSzPct val="80000"/>
            </a:pPr>
            <a:endParaRPr lang="en-US" sz="1100" b="1" dirty="0" smtClean="0">
              <a:solidFill>
                <a:srgbClr val="000000"/>
              </a:solidFill>
              <a:latin typeface="Arial"/>
              <a:cs typeface="Arial" charset="0"/>
            </a:endParaRPr>
          </a:p>
          <a:p>
            <a:pPr marL="190500" indent="-190500">
              <a:lnSpc>
                <a:spcPct val="90000"/>
              </a:lnSpc>
              <a:buClr>
                <a:srgbClr val="000000"/>
              </a:buClr>
              <a:buSzPct val="80000"/>
            </a:pPr>
            <a:r>
              <a:rPr lang="en-US" sz="1100" dirty="0" smtClean="0">
                <a:solidFill>
                  <a:srgbClr val="000000"/>
                </a:solidFill>
                <a:latin typeface="Arial"/>
                <a:cs typeface="Arial" charset="0"/>
              </a:rPr>
              <a:t>What observations/trends do you notice about the cost structure?</a:t>
            </a:r>
          </a:p>
          <a:p>
            <a:pPr marL="190500" indent="-190500">
              <a:lnSpc>
                <a:spcPct val="90000"/>
              </a:lnSpc>
              <a:buClr>
                <a:srgbClr val="000000"/>
              </a:buClr>
              <a:buSzPct val="80000"/>
            </a:pPr>
            <a:endParaRPr lang="en-US" sz="1100" b="1" dirty="0">
              <a:solidFill>
                <a:srgbClr val="000000"/>
              </a:solidFill>
              <a:latin typeface="Arial"/>
              <a:cs typeface="Arial" charset="0"/>
            </a:endParaRPr>
          </a:p>
        </p:txBody>
      </p:sp>
      <p:sp>
        <p:nvSpPr>
          <p:cNvPr id="13" name="Oval 39"/>
          <p:cNvSpPr>
            <a:spLocks noChangeArrowheads="1"/>
          </p:cNvSpPr>
          <p:nvPr/>
        </p:nvSpPr>
        <p:spPr bwMode="gray">
          <a:xfrm>
            <a:off x="609600" y="3598291"/>
            <a:ext cx="228600" cy="22860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smtClean="0">
                <a:solidFill>
                  <a:srgbClr val="FFFFFF"/>
                </a:solidFill>
                <a:latin typeface="Arial"/>
                <a:cs typeface="Arial" pitchFamily="34" charset="0"/>
              </a:rPr>
              <a:t>A</a:t>
            </a:r>
            <a:endParaRPr lang="en-US" sz="900" b="1" dirty="0">
              <a:solidFill>
                <a:srgbClr val="FFFFFF"/>
              </a:solidFill>
              <a:latin typeface="Arial"/>
              <a:cs typeface="Arial" pitchFamily="34" charset="0"/>
            </a:endParaRPr>
          </a:p>
        </p:txBody>
      </p:sp>
      <p:sp>
        <p:nvSpPr>
          <p:cNvPr id="14" name="Oval 39"/>
          <p:cNvSpPr>
            <a:spLocks noChangeArrowheads="1"/>
          </p:cNvSpPr>
          <p:nvPr/>
        </p:nvSpPr>
        <p:spPr bwMode="gray">
          <a:xfrm>
            <a:off x="609600" y="3942674"/>
            <a:ext cx="228600" cy="22860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smtClean="0">
                <a:solidFill>
                  <a:srgbClr val="FFFFFF"/>
                </a:solidFill>
                <a:latin typeface="Arial"/>
                <a:cs typeface="Arial" pitchFamily="34" charset="0"/>
              </a:rPr>
              <a:t>B</a:t>
            </a:r>
            <a:endParaRPr lang="en-US" sz="900" b="1" dirty="0">
              <a:solidFill>
                <a:srgbClr val="FFFFFF"/>
              </a:solidFill>
              <a:latin typeface="Arial"/>
              <a:cs typeface="Arial" pitchFamily="34" charset="0"/>
            </a:endParaRPr>
          </a:p>
        </p:txBody>
      </p:sp>
      <p:sp>
        <p:nvSpPr>
          <p:cNvPr id="15" name="Oval 39"/>
          <p:cNvSpPr>
            <a:spLocks noChangeArrowheads="1"/>
          </p:cNvSpPr>
          <p:nvPr/>
        </p:nvSpPr>
        <p:spPr bwMode="gray">
          <a:xfrm>
            <a:off x="609600" y="4310806"/>
            <a:ext cx="228600" cy="22860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smtClean="0">
                <a:solidFill>
                  <a:srgbClr val="FFFFFF"/>
                </a:solidFill>
                <a:latin typeface="Arial"/>
                <a:cs typeface="Arial" pitchFamily="34" charset="0"/>
              </a:rPr>
              <a:t>C</a:t>
            </a:r>
            <a:endParaRPr lang="en-US" sz="900" b="1" dirty="0">
              <a:solidFill>
                <a:srgbClr val="FFFFFF"/>
              </a:solidFill>
              <a:latin typeface="Arial"/>
              <a:cs typeface="Arial" pitchFamily="34" charset="0"/>
            </a:endParaRPr>
          </a:p>
        </p:txBody>
      </p:sp>
      <p:sp>
        <p:nvSpPr>
          <p:cNvPr id="16" name="Oval 39"/>
          <p:cNvSpPr>
            <a:spLocks noChangeArrowheads="1"/>
          </p:cNvSpPr>
          <p:nvPr/>
        </p:nvSpPr>
        <p:spPr bwMode="gray">
          <a:xfrm>
            <a:off x="609600" y="4667064"/>
            <a:ext cx="228600" cy="228600"/>
          </a:xfrm>
          <a:prstGeom prst="ellipse">
            <a:avLst/>
          </a:prstGeom>
          <a:solidFill>
            <a:schemeClr val="accent1"/>
          </a:solidFill>
          <a:ln w="12700" cap="rnd" algn="ctr">
            <a:noFill/>
            <a:miter lim="800000"/>
            <a:headEnd/>
            <a:tailEnd/>
          </a:ln>
        </p:spPr>
        <p:txBody>
          <a:bodyPr lIns="0" rIns="0" anchor="ctr" anchorCtr="1"/>
          <a:lstStyle/>
          <a:p>
            <a:pPr algn="ctr" eaLnBrk="0" hangingPunct="0">
              <a:lnSpc>
                <a:spcPct val="106000"/>
              </a:lnSpc>
            </a:pPr>
            <a:r>
              <a:rPr lang="en-US" sz="900" b="1" dirty="0" smtClean="0">
                <a:solidFill>
                  <a:srgbClr val="FFFFFF"/>
                </a:solidFill>
                <a:latin typeface="Arial"/>
                <a:cs typeface="Arial" pitchFamily="34" charset="0"/>
              </a:rPr>
              <a:t>D</a:t>
            </a:r>
            <a:endParaRPr lang="en-US" sz="900" b="1" dirty="0">
              <a:solidFill>
                <a:srgbClr val="FFFFFF"/>
              </a:solidFill>
              <a:latin typeface="Arial"/>
              <a:cs typeface="Arial" pitchFamily="34" charset="0"/>
            </a:endParaRPr>
          </a:p>
        </p:txBody>
      </p:sp>
      <p:graphicFrame>
        <p:nvGraphicFramePr>
          <p:cNvPr id="19" name="Group 46"/>
          <p:cNvGraphicFramePr>
            <a:graphicFrameLocks/>
          </p:cNvGraphicFramePr>
          <p:nvPr/>
        </p:nvGraphicFramePr>
        <p:xfrm>
          <a:off x="4927271" y="5243312"/>
          <a:ext cx="3607129" cy="1075192"/>
        </p:xfrm>
        <a:graphic>
          <a:graphicData uri="http://schemas.openxmlformats.org/drawingml/2006/table">
            <a:tbl>
              <a:tblPr/>
              <a:tblGrid>
                <a:gridCol w="3607129"/>
              </a:tblGrid>
              <a:tr h="227848">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Key Trends</a:t>
                      </a:r>
                    </a:p>
                  </a:txBody>
                  <a:tcPr marL="73152" marR="73152"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1"/>
                    </a:solidFill>
                  </a:tcPr>
                </a:tc>
              </a:tr>
              <a:tr h="653678">
                <a:tc>
                  <a:txBody>
                    <a:bodyPr/>
                    <a:lstStyle/>
                    <a:p>
                      <a:pPr marL="228600" marR="0" lvl="0" indent="-228600">
                        <a:lnSpc>
                          <a:spcPct val="115000"/>
                        </a:lnSpc>
                        <a:spcBef>
                          <a:spcPts val="300"/>
                        </a:spcBef>
                        <a:spcAft>
                          <a:spcPts val="0"/>
                        </a:spcAft>
                        <a:buFont typeface="Arial" pitchFamily="34" charset="0"/>
                        <a:buChar char="•"/>
                      </a:pPr>
                      <a:r>
                        <a:rPr lang="en-US" sz="1100" dirty="0" smtClean="0">
                          <a:latin typeface="+mj-lt"/>
                          <a:ea typeface="Calibri"/>
                          <a:cs typeface="Times New Roman"/>
                        </a:rPr>
                        <a:t>Fixed costs are more</a:t>
                      </a:r>
                      <a:r>
                        <a:rPr lang="en-US" sz="1100" baseline="0" dirty="0" smtClean="0">
                          <a:latin typeface="+mj-lt"/>
                          <a:ea typeface="Calibri"/>
                          <a:cs typeface="Times New Roman"/>
                        </a:rPr>
                        <a:t> tenable with larger customers</a:t>
                      </a:r>
                    </a:p>
                    <a:p>
                      <a:pPr marL="228600" marR="0" lvl="0" indent="-228600">
                        <a:lnSpc>
                          <a:spcPct val="115000"/>
                        </a:lnSpc>
                        <a:spcBef>
                          <a:spcPts val="300"/>
                        </a:spcBef>
                        <a:spcAft>
                          <a:spcPts val="0"/>
                        </a:spcAft>
                        <a:buFont typeface="Arial" pitchFamily="34" charset="0"/>
                        <a:buChar char="•"/>
                      </a:pPr>
                      <a:r>
                        <a:rPr lang="en-US" sz="1100" baseline="0" dirty="0" smtClean="0">
                          <a:latin typeface="+mj-lt"/>
                          <a:ea typeface="Calibri"/>
                          <a:cs typeface="Times New Roman"/>
                        </a:rPr>
                        <a:t>Higher priced product cuts variable costs in half</a:t>
                      </a:r>
                    </a:p>
                    <a:p>
                      <a:pPr marL="228600" marR="0" lvl="0" indent="-228600">
                        <a:lnSpc>
                          <a:spcPct val="115000"/>
                        </a:lnSpc>
                        <a:spcBef>
                          <a:spcPts val="300"/>
                        </a:spcBef>
                        <a:spcAft>
                          <a:spcPts val="0"/>
                        </a:spcAft>
                        <a:buFont typeface="Arial" pitchFamily="34" charset="0"/>
                        <a:buChar char="•"/>
                      </a:pPr>
                      <a:r>
                        <a:rPr lang="en-US" sz="1100" baseline="0" dirty="0" smtClean="0">
                          <a:latin typeface="+mj-lt"/>
                          <a:ea typeface="Calibri"/>
                          <a:cs typeface="Times New Roman"/>
                        </a:rPr>
                        <a:t>Medical expenses and selling expenses are fixed regardless of the school size or product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r>
            </a:tbl>
          </a:graphicData>
        </a:graphic>
      </p:graphicFrame>
    </p:spTree>
    <p:extLst>
      <p:ext uri="{BB962C8B-B14F-4D97-AF65-F5344CB8AC3E}">
        <p14:creationId xmlns:p14="http://schemas.microsoft.com/office/powerpoint/2010/main" val="3489200835"/>
      </p:ext>
    </p:extLst>
  </p:cSld>
  <p:clrMapOvr>
    <a:masterClrMapping/>
  </p:clrMapOvr>
  <p:timing>
    <p:tnLst>
      <p:par>
        <p:cTn xmlns:p14="http://schemas.microsoft.com/office/powerpoint/2010/mai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Group 2"/>
          <p:cNvGraphicFramePr>
            <a:graphicFrameLocks noGrp="1"/>
          </p:cNvGraphicFramePr>
          <p:nvPr>
            <p:ph sz="half" idx="4294967295"/>
          </p:nvPr>
        </p:nvGraphicFramePr>
        <p:xfrm>
          <a:off x="427038" y="850900"/>
          <a:ext cx="8289925" cy="5645151"/>
        </p:xfrm>
        <a:graphic>
          <a:graphicData uri="http://schemas.openxmlformats.org/drawingml/2006/table">
            <a:tbl>
              <a:tblPr/>
              <a:tblGrid>
                <a:gridCol w="8289925"/>
              </a:tblGrid>
              <a:tr h="354013">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200" b="1" i="0" u="none" strike="noStrike" cap="none" normalizeH="0" baseline="0" dirty="0" smtClean="0">
                          <a:ln>
                            <a:noFill/>
                          </a:ln>
                          <a:solidFill>
                            <a:schemeClr val="bg1"/>
                          </a:solidFill>
                          <a:effectLst/>
                          <a:latin typeface="Arial" charset="0"/>
                        </a:rPr>
                        <a:t>Prompt Questions &amp; Responses (For interviewer reference ONLY)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1138">
                <a:tc>
                  <a:txBody>
                    <a:bodyPr/>
                    <a:lstStyle/>
                    <a:p>
                      <a:pPr marL="114300" marR="0" lvl="0" indent="-1143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r>
                        <a:rPr kumimoji="0" lang="en-US" sz="1100" b="1" i="0" u="none" strike="noStrike" cap="none" normalizeH="0" baseline="0" dirty="0" smtClean="0">
                          <a:ln>
                            <a:noFill/>
                          </a:ln>
                          <a:solidFill>
                            <a:schemeClr val="tx1"/>
                          </a:solidFill>
                          <a:effectLst/>
                          <a:latin typeface="Arial" charset="0"/>
                        </a:rPr>
                        <a:t>4. Given the outcome of your previous operating margin analysis, what recommendations would you develop for the client in terms of pursuing the small school market? </a:t>
                      </a:r>
                      <a:r>
                        <a:rPr kumimoji="0" lang="en-US" sz="1100" b="0" i="1" u="none" strike="noStrike" cap="none" normalizeH="0" baseline="0" dirty="0" smtClean="0">
                          <a:ln>
                            <a:noFill/>
                          </a:ln>
                          <a:solidFill>
                            <a:schemeClr val="tx1"/>
                          </a:solidFill>
                          <a:effectLst/>
                          <a:latin typeface="Arial" charset="0"/>
                        </a:rPr>
                        <a:t>[Note to interviewer: Interviewee likely will not give a simple yes or no answer in terms of pursuit – they should identify scenarios under which it would make sense to potentially pursue the market – use the prompt questions as necessary if they are not able to move beyond the “OK answer”]</a:t>
                      </a:r>
                      <a:endParaRPr kumimoji="0" lang="en-US" sz="1100" b="1" i="0" u="none" strike="noStrike" cap="none" normalizeH="0" baseline="0" dirty="0" smtClean="0">
                        <a:ln>
                          <a:noFill/>
                        </a:ln>
                        <a:solidFill>
                          <a:schemeClr val="tx1"/>
                        </a:solidFill>
                        <a:effectLst/>
                        <a:latin typeface="Arial" charset="0"/>
                      </a:endParaRPr>
                    </a:p>
                    <a:p>
                      <a:pPr marL="114300" marR="0" lvl="0" indent="-1143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endParaRPr kumimoji="0" lang="en-US" sz="1100" b="1" i="0" u="none" strike="noStrike" kern="1200" cap="none" normalizeH="0" baseline="0" dirty="0" smtClean="0">
                        <a:ln>
                          <a:noFill/>
                        </a:ln>
                        <a:solidFill>
                          <a:schemeClr val="tx1"/>
                        </a:solidFill>
                        <a:effectLst/>
                        <a:latin typeface="Arial" charset="0"/>
                        <a:ea typeface="+mn-ea"/>
                        <a:cs typeface="+mn-cs"/>
                      </a:endParaRPr>
                    </a:p>
                    <a:p>
                      <a:r>
                        <a:rPr lang="en-US" sz="1100" b="0" dirty="0" smtClean="0"/>
                        <a:t>Interviewee should recognize that under the provided cost structure, none of the scenarios led to an operating margin that was in line with the current, overall operating margin</a:t>
                      </a:r>
                      <a:r>
                        <a:rPr lang="en-US" sz="1100" b="0" baseline="0" dirty="0" smtClean="0"/>
                        <a:t> (</a:t>
                      </a:r>
                      <a:r>
                        <a:rPr lang="en-US" sz="1100" b="0" dirty="0" smtClean="0"/>
                        <a:t>provided in the background section); better answers will center on finding ways to make the market viable</a:t>
                      </a:r>
                      <a:r>
                        <a:rPr lang="en-US" sz="1100" b="0" baseline="0" dirty="0" smtClean="0"/>
                        <a:t> (by applying levers to improve profitability or inventing a new business model)</a:t>
                      </a:r>
                      <a:endParaRPr lang="en-US" sz="1100" b="1" baseline="0" dirty="0" smtClean="0"/>
                    </a:p>
                    <a:p>
                      <a:endParaRPr lang="en-US" sz="1000" b="1"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pPr lvl="0"/>
                      <a:endParaRPr lang="en-US" sz="1000" b="0" i="1" dirty="0" smtClean="0"/>
                    </a:p>
                    <a:p>
                      <a:pPr lvl="0"/>
                      <a:endParaRPr lang="en-US" sz="1000" b="0" i="1" dirty="0" smtClean="0"/>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2954" name="Rectangle 24"/>
          <p:cNvSpPr>
            <a:spLocks noGrp="1" noChangeArrowheads="1"/>
          </p:cNvSpPr>
          <p:nvPr>
            <p:ph type="title" idx="4294967295"/>
          </p:nvPr>
        </p:nvSpPr>
        <p:spPr>
          <a:xfrm>
            <a:off x="401638" y="530674"/>
            <a:ext cx="8345487" cy="242439"/>
          </a:xfrm>
        </p:spPr>
        <p:txBody>
          <a:bodyPr/>
          <a:lstStyle/>
          <a:p>
            <a:pPr eaLnBrk="1" hangingPunct="1"/>
            <a:r>
              <a:rPr lang="en-US" dirty="0" smtClean="0"/>
              <a:t>Profitable Growth Strategy: Business Unit of National Health Insurance Company</a:t>
            </a:r>
          </a:p>
        </p:txBody>
      </p:sp>
      <p:graphicFrame>
        <p:nvGraphicFramePr>
          <p:cNvPr id="6" name="Group 46"/>
          <p:cNvGraphicFramePr>
            <a:graphicFrameLocks/>
          </p:cNvGraphicFramePr>
          <p:nvPr/>
        </p:nvGraphicFramePr>
        <p:xfrm>
          <a:off x="593757" y="2743200"/>
          <a:ext cx="7863840" cy="3625850"/>
        </p:xfrm>
        <a:graphic>
          <a:graphicData uri="http://schemas.openxmlformats.org/drawingml/2006/table">
            <a:tbl>
              <a:tblPr/>
              <a:tblGrid>
                <a:gridCol w="1005840"/>
                <a:gridCol w="2134203"/>
                <a:gridCol w="2986437"/>
                <a:gridCol w="1737360"/>
              </a:tblGrid>
              <a:tr h="412750">
                <a:tc>
                  <a:txBody>
                    <a:bodyPr/>
                    <a:lstStyle/>
                    <a:p>
                      <a:pPr marL="0" marR="0" lvl="0" indent="0" algn="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endParaRPr kumimoji="0" lang="en-US" sz="1100" b="1" i="0" u="none" strike="noStrike" cap="none" normalizeH="0" baseline="0" dirty="0" smtClean="0">
                        <a:ln>
                          <a:noFill/>
                        </a:ln>
                        <a:solidFill>
                          <a:schemeClr val="tx1"/>
                        </a:solidFill>
                        <a:effectLst/>
                        <a:latin typeface="+mj-lt"/>
                      </a:endParaRPr>
                    </a:p>
                  </a:txBody>
                  <a:tcPr marL="73152" marR="73152" marT="73152" marB="73152"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Whether to pursue</a:t>
                      </a:r>
                    </a:p>
                  </a:txBody>
                  <a:tcPr marL="73152" marR="73152" marT="73152" marB="73152" anchor="b" horzOverflow="overflow">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How to pursue</a:t>
                      </a:r>
                    </a:p>
                  </a:txBody>
                  <a:tcPr marL="73152" marR="73152" marT="73152" marB="73152" anchor="b" horzOverflow="overflow">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mj-lt"/>
                        </a:rPr>
                        <a:t>Prompt Questions (if required)</a:t>
                      </a:r>
                    </a:p>
                  </a:txBody>
                  <a:tcPr marL="73152" marR="73152" marT="73152" marB="73152" anchor="b" horzOverflow="overflow">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36576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tx1"/>
                          </a:solidFill>
                          <a:effectLst/>
                          <a:latin typeface="+mj-lt"/>
                        </a:rPr>
                        <a:t>OK Answer</a:t>
                      </a:r>
                    </a:p>
                  </a:txBody>
                  <a:tcPr marL="45720" marR="45720" marT="18288" marB="18288" anchor="ctr" horzOverflow="overflow">
                    <a:lnL>
                      <a:noFill/>
                    </a:lnL>
                    <a:lnR>
                      <a:noFill/>
                    </a:lnR>
                    <a:lnT>
                      <a:noFill/>
                    </a:lnT>
                    <a:lnB>
                      <a:noFill/>
                    </a:lnB>
                    <a:lnTlToBr>
                      <a:noFill/>
                    </a:lnTlToBr>
                    <a:lnBlToTr>
                      <a:noFill/>
                    </a:lnBlToTr>
                    <a:no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Client should not pursue the segment</a:t>
                      </a:r>
                      <a:r>
                        <a:rPr lang="en-US" sz="1100" b="0" i="0" u="none" strike="noStrike" baseline="0" dirty="0" smtClean="0">
                          <a:solidFill>
                            <a:srgbClr val="000000"/>
                          </a:solidFill>
                          <a:latin typeface="+mj-lt"/>
                        </a:rPr>
                        <a:t> </a:t>
                      </a:r>
                      <a:r>
                        <a:rPr lang="en-US" sz="1100" b="0" i="0" u="none" strike="noStrike" dirty="0" smtClean="0">
                          <a:solidFill>
                            <a:srgbClr val="000000"/>
                          </a:solidFill>
                          <a:latin typeface="+mj-lt"/>
                        </a:rPr>
                        <a:t>because it is not profitable enough</a:t>
                      </a:r>
                      <a:endParaRPr lang="en-US" sz="1100" b="0" i="0" u="none" strike="noStrike" dirty="0">
                        <a:solidFill>
                          <a:srgbClr val="000000"/>
                        </a:solidFill>
                        <a:latin typeface="+mj-lt"/>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N/A</a:t>
                      </a:r>
                      <a:endParaRPr lang="en-US" sz="1100" b="0" i="0" u="none" strike="noStrike" dirty="0">
                        <a:solidFill>
                          <a:srgbClr val="000000"/>
                        </a:solidFill>
                        <a:latin typeface="+mj-lt"/>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Should the client pursue the small school market?</a:t>
                      </a:r>
                      <a:endParaRPr lang="en-US" sz="1100" b="0" i="0" u="none" strike="noStrike" dirty="0">
                        <a:solidFill>
                          <a:srgbClr val="000000"/>
                        </a:solidFill>
                        <a:latin typeface="+mj-lt"/>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576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tx1"/>
                          </a:solidFill>
                          <a:effectLst/>
                          <a:latin typeface="+mj-lt"/>
                        </a:rPr>
                        <a:t>Good Answer</a:t>
                      </a:r>
                    </a:p>
                  </a:txBody>
                  <a:tcPr marL="45720" marR="45720" marT="18288" marB="18288" anchor="ctr" horzOverflow="overflow">
                    <a:lnL>
                      <a:noFill/>
                    </a:lnL>
                    <a:lnR>
                      <a:noFill/>
                    </a:lnR>
                    <a:lnT>
                      <a:noFill/>
                    </a:lnT>
                    <a:lnB>
                      <a:noFill/>
                    </a:lnB>
                    <a:lnTlToBr>
                      <a:noFill/>
                    </a:lnTlToBr>
                    <a:lnBlToTr>
                      <a:noFill/>
                    </a:lnBlToTr>
                    <a:no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Client should pursue the market if they can apply different levers to make it more profitable</a:t>
                      </a:r>
                      <a:endParaRPr lang="en-US" sz="1100" b="0" i="0" u="none" strike="noStrike" dirty="0">
                        <a:solidFill>
                          <a:srgbClr val="000000"/>
                        </a:solidFill>
                        <a:latin typeface="+mj-lt"/>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Reduce SG&amp;A or selling costs through standard</a:t>
                      </a:r>
                      <a:r>
                        <a:rPr lang="en-US" sz="1100" b="0" i="0" u="none" strike="noStrike" baseline="0" dirty="0" smtClean="0">
                          <a:solidFill>
                            <a:srgbClr val="000000"/>
                          </a:solidFill>
                          <a:latin typeface="+mj-lt"/>
                        </a:rPr>
                        <a:t> cost reduction methods (business process redesign, contract renegotiation, etc.)</a:t>
                      </a:r>
                    </a:p>
                    <a:p>
                      <a:pPr marL="119063" indent="-119063" algn="l" fontAlgn="b">
                        <a:buSzPct val="80000"/>
                        <a:buFont typeface="Arial" pitchFamily="34" charset="0"/>
                        <a:buChar char="•"/>
                      </a:pPr>
                      <a:r>
                        <a:rPr lang="en-US" sz="1100" b="0" i="0" u="none" strike="noStrike" baseline="0" dirty="0" smtClean="0">
                          <a:solidFill>
                            <a:srgbClr val="000000"/>
                          </a:solidFill>
                          <a:latin typeface="+mj-lt"/>
                        </a:rPr>
                        <a:t>The interviewee may suggest price increases or reducing medical costs, but it’s important to note that neither is possible under Health Care Reform</a:t>
                      </a:r>
                      <a:endParaRPr lang="en-US" sz="1100" b="0" i="0" u="none" strike="noStrike" dirty="0">
                        <a:solidFill>
                          <a:srgbClr val="000000"/>
                        </a:solidFill>
                        <a:latin typeface="+mj-lt"/>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Is there anything they could do to make the unprofitable</a:t>
                      </a:r>
                      <a:r>
                        <a:rPr lang="en-US" sz="1100" b="0" i="0" u="none" strike="noStrike" baseline="0" dirty="0" smtClean="0">
                          <a:solidFill>
                            <a:srgbClr val="000000"/>
                          </a:solidFill>
                          <a:latin typeface="+mj-lt"/>
                        </a:rPr>
                        <a:t> small market segment more attractive?</a:t>
                      </a:r>
                      <a:endParaRPr lang="en-US" sz="1100" b="0" i="0" u="none" strike="noStrike" dirty="0">
                        <a:solidFill>
                          <a:srgbClr val="000000"/>
                        </a:solidFill>
                        <a:latin typeface="+mj-lt"/>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576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tx1"/>
                          </a:solidFill>
                          <a:effectLst/>
                          <a:latin typeface="+mj-lt"/>
                        </a:rPr>
                        <a:t>Best Answer</a:t>
                      </a:r>
                    </a:p>
                  </a:txBody>
                  <a:tcPr marL="45720" marR="45720" marT="18288" marB="18288" anchor="ctr" horzOverflow="overflow">
                    <a:lnL>
                      <a:noFill/>
                    </a:lnL>
                    <a:lnR>
                      <a:noFill/>
                    </a:lnR>
                    <a:lnT>
                      <a:noFill/>
                    </a:lnT>
                    <a:lnB>
                      <a:noFill/>
                    </a:lnB>
                    <a:lnTlToBr>
                      <a:noFill/>
                    </a:lnTlToBr>
                    <a:lnBlToTr>
                      <a:noFill/>
                    </a:lnBlToTr>
                    <a:no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Client should pursue the</a:t>
                      </a:r>
                      <a:r>
                        <a:rPr lang="en-US" sz="1100" b="0" i="0" u="none" strike="noStrike" baseline="0" dirty="0" smtClean="0">
                          <a:solidFill>
                            <a:srgbClr val="000000"/>
                          </a:solidFill>
                          <a:latin typeface="+mj-lt"/>
                        </a:rPr>
                        <a:t> market with a different business model</a:t>
                      </a:r>
                      <a:endParaRPr lang="en-US" sz="1100" b="0" i="0" u="none" strike="noStrike" dirty="0">
                        <a:solidFill>
                          <a:srgbClr val="000000"/>
                        </a:solidFill>
                        <a:latin typeface="+mj-lt"/>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Create an</a:t>
                      </a:r>
                      <a:r>
                        <a:rPr lang="en-US" sz="1100" b="0" i="0" u="none" strike="noStrike" baseline="0" dirty="0" smtClean="0">
                          <a:solidFill>
                            <a:srgbClr val="000000"/>
                          </a:solidFill>
                          <a:latin typeface="+mj-lt"/>
                        </a:rPr>
                        <a:t> online </a:t>
                      </a:r>
                      <a:r>
                        <a:rPr lang="en-US" sz="1100" b="0" i="0" u="none" strike="noStrike" dirty="0" smtClean="0">
                          <a:solidFill>
                            <a:srgbClr val="000000"/>
                          </a:solidFill>
                          <a:latin typeface="+mj-lt"/>
                        </a:rPr>
                        <a:t>B2C model that sells</a:t>
                      </a:r>
                      <a:r>
                        <a:rPr lang="en-US" sz="1100" b="0" i="0" u="none" strike="noStrike" baseline="0" dirty="0" smtClean="0">
                          <a:solidFill>
                            <a:srgbClr val="000000"/>
                          </a:solidFill>
                          <a:latin typeface="+mj-lt"/>
                        </a:rPr>
                        <a:t> directly to students and bypasses the two intermediaries (brokers and schools) – similar to other industries that have transitioned into direct, online distribution (e.g. books, airplane tickets, etc.)</a:t>
                      </a:r>
                      <a:endParaRPr lang="en-US" sz="1100" b="0" i="0" u="none" strike="noStrike" dirty="0">
                        <a:solidFill>
                          <a:srgbClr val="000000"/>
                        </a:solidFill>
                        <a:latin typeface="+mj-lt"/>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Would</a:t>
                      </a:r>
                      <a:r>
                        <a:rPr lang="en-US" sz="1100" b="0" i="0" u="none" strike="noStrike" baseline="0" dirty="0" smtClean="0">
                          <a:solidFill>
                            <a:srgbClr val="000000"/>
                          </a:solidFill>
                          <a:latin typeface="+mj-lt"/>
                        </a:rPr>
                        <a:t> a different business model be appropriate for this market? </a:t>
                      </a:r>
                      <a:endParaRPr lang="en-US" sz="1100" b="0" i="0" u="none" strike="noStrike" dirty="0">
                        <a:solidFill>
                          <a:srgbClr val="000000"/>
                        </a:solidFill>
                        <a:latin typeface="+mj-lt"/>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val="2985726931"/>
      </p:ext>
    </p:extLst>
  </p:cSld>
  <p:clrMapOvr>
    <a:masterClrMapping/>
  </p:clrMapOvr>
  <p:timing>
    <p:tnLst>
      <p:par>
        <p:cTn xmlns:p14="http://schemas.microsoft.com/office/powerpoint/2010/mai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Group 2"/>
          <p:cNvGraphicFramePr>
            <a:graphicFrameLocks noGrp="1"/>
          </p:cNvGraphicFramePr>
          <p:nvPr>
            <p:ph sz="half" idx="4294967295"/>
          </p:nvPr>
        </p:nvGraphicFramePr>
        <p:xfrm>
          <a:off x="427038" y="850900"/>
          <a:ext cx="8289925" cy="5645151"/>
        </p:xfrm>
        <a:graphic>
          <a:graphicData uri="http://schemas.openxmlformats.org/drawingml/2006/table">
            <a:tbl>
              <a:tblPr/>
              <a:tblGrid>
                <a:gridCol w="8289925"/>
              </a:tblGrid>
              <a:tr h="354013">
                <a:tc>
                  <a:txBody>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itchFamily="2" charset="2"/>
                        <a:buNone/>
                        <a:tabLst/>
                      </a:pPr>
                      <a:r>
                        <a:rPr kumimoji="0" lang="en-US" sz="1200" b="1" i="0" u="none" strike="noStrike" cap="none" normalizeH="0" baseline="0" dirty="0" smtClean="0">
                          <a:ln>
                            <a:noFill/>
                          </a:ln>
                          <a:solidFill>
                            <a:schemeClr val="bg1"/>
                          </a:solidFill>
                          <a:effectLst/>
                          <a:latin typeface="Arial" charset="0"/>
                        </a:rPr>
                        <a:t>Prompt Questions &amp; Responses (For interviewer reference ONLY) </a:t>
                      </a: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99CC"/>
                    </a:solidFill>
                  </a:tcPr>
                </a:tc>
              </a:tr>
              <a:tr h="5291138">
                <a:tc>
                  <a:txBody>
                    <a:bodyPr/>
                    <a:lstStyle/>
                    <a:p>
                      <a:pPr marL="114300" marR="0" lvl="0" indent="-1143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r>
                        <a:rPr kumimoji="0" lang="en-US" sz="1100" b="1" i="0" u="none" strike="noStrike" cap="none" normalizeH="0" baseline="0" dirty="0" smtClean="0">
                          <a:ln>
                            <a:noFill/>
                          </a:ln>
                          <a:solidFill>
                            <a:schemeClr val="tx1"/>
                          </a:solidFill>
                          <a:effectLst/>
                          <a:latin typeface="Arial" charset="0"/>
                        </a:rPr>
                        <a:t>5. Ultimately, multiple opportunities were identified for the client to grow, including increasing share in the core market, pursuing small schools and selling new products to schools and to students – how would you evaluate the opportunities and prioritize them?</a:t>
                      </a:r>
                    </a:p>
                    <a:p>
                      <a:pPr marL="114300" marR="0" lvl="0" indent="-1143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defRPr/>
                      </a:pPr>
                      <a:endParaRPr kumimoji="0" lang="en-US" sz="1100" b="1" i="0" u="none" strike="noStrike" kern="1200" cap="none" normalizeH="0" baseline="0" dirty="0" smtClean="0">
                        <a:ln>
                          <a:noFill/>
                        </a:ln>
                        <a:solidFill>
                          <a:schemeClr val="tx1"/>
                        </a:solidFill>
                        <a:effectLst/>
                        <a:latin typeface="Arial" charset="0"/>
                        <a:ea typeface="+mn-ea"/>
                        <a:cs typeface="+mn-cs"/>
                      </a:endParaRPr>
                    </a:p>
                    <a:p>
                      <a:r>
                        <a:rPr lang="en-US" sz="1100" b="0" dirty="0" smtClean="0"/>
                        <a:t>Interviewee should establish a framework for screening</a:t>
                      </a:r>
                      <a:r>
                        <a:rPr lang="en-US" sz="1100" b="0" baseline="0" dirty="0" smtClean="0"/>
                        <a:t> or prioritizing multiple opportunities. Good components would include:</a:t>
                      </a:r>
                    </a:p>
                    <a:p>
                      <a:endParaRPr kumimoji="0" lang="en-US" sz="1000" b="1" i="0" u="none" strike="noStrike" kern="1200" cap="none" normalizeH="0" baseline="0" dirty="0" smtClean="0">
                        <a:ln>
                          <a:noFill/>
                        </a:ln>
                        <a:solidFill>
                          <a:schemeClr val="tx1"/>
                        </a:solidFill>
                        <a:effectLst/>
                        <a:latin typeface="Arial" charset="0"/>
                        <a:ea typeface="+mn-ea"/>
                        <a:cs typeface="+mn-cs"/>
                      </a:endParaRPr>
                    </a:p>
                    <a:p>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p>
                      <a:pPr marL="190500" marR="0" lvl="0" indent="-190500" algn="l" defTabSz="914400" rtl="0" eaLnBrk="1" fontAlgn="base" latinLnBrk="0" hangingPunct="1">
                        <a:lnSpc>
                          <a:spcPct val="90000"/>
                        </a:lnSpc>
                        <a:spcBef>
                          <a:spcPct val="0"/>
                        </a:spcBef>
                        <a:spcAft>
                          <a:spcPct val="0"/>
                        </a:spcAft>
                        <a:buClr>
                          <a:schemeClr val="tx1"/>
                        </a:buClr>
                        <a:buSzPct val="80000"/>
                        <a:buFont typeface="Wingdings" pitchFamily="2" charset="2"/>
                        <a:buNone/>
                        <a:tabLst/>
                      </a:pPr>
                      <a:endParaRPr kumimoji="0" lang="en-US" sz="1000" b="1" i="0" u="none" strike="noStrike" kern="1200" cap="none" normalizeH="0" baseline="0" dirty="0" smtClean="0">
                        <a:ln>
                          <a:noFill/>
                        </a:ln>
                        <a:solidFill>
                          <a:schemeClr val="tx1"/>
                        </a:solidFill>
                        <a:effectLst/>
                        <a:latin typeface="Arial" charset="0"/>
                        <a:ea typeface="+mn-ea"/>
                        <a:cs typeface="+mn-cs"/>
                      </a:endParaRPr>
                    </a:p>
                  </a:txBody>
                  <a:tcPr marL="73152" marR="73152" marT="73152" marB="7315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2954" name="Rectangle 24"/>
          <p:cNvSpPr>
            <a:spLocks noGrp="1" noChangeArrowheads="1"/>
          </p:cNvSpPr>
          <p:nvPr>
            <p:ph type="title" idx="4294967295"/>
          </p:nvPr>
        </p:nvSpPr>
        <p:spPr>
          <a:xfrm>
            <a:off x="401638" y="530674"/>
            <a:ext cx="8345487" cy="242439"/>
          </a:xfrm>
        </p:spPr>
        <p:txBody>
          <a:bodyPr/>
          <a:lstStyle/>
          <a:p>
            <a:pPr eaLnBrk="1" hangingPunct="1"/>
            <a:r>
              <a:rPr lang="en-US" dirty="0" smtClean="0"/>
              <a:t>Profitable Growth Strategy: Business Unit of National Health Insurance Company</a:t>
            </a:r>
          </a:p>
        </p:txBody>
      </p:sp>
      <p:graphicFrame>
        <p:nvGraphicFramePr>
          <p:cNvPr id="5" name="Group 46"/>
          <p:cNvGraphicFramePr>
            <a:graphicFrameLocks/>
          </p:cNvGraphicFramePr>
          <p:nvPr/>
        </p:nvGraphicFramePr>
        <p:xfrm>
          <a:off x="593757" y="2296541"/>
          <a:ext cx="7790224" cy="2187575"/>
        </p:xfrm>
        <a:graphic>
          <a:graphicData uri="http://schemas.openxmlformats.org/drawingml/2006/table">
            <a:tbl>
              <a:tblPr/>
              <a:tblGrid>
                <a:gridCol w="1947556"/>
                <a:gridCol w="1947556"/>
                <a:gridCol w="1947556"/>
                <a:gridCol w="1947556"/>
              </a:tblGrid>
              <a:tr h="412750">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Arial" charset="0"/>
                        </a:rPr>
                        <a:t>Strategic Impact and Fit</a:t>
                      </a:r>
                    </a:p>
                  </a:txBody>
                  <a:tcPr marL="73152" marR="73152" marT="73152" marB="73152" horzOverflow="overflow">
                    <a:lnL>
                      <a:noFill/>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Arial" charset="0"/>
                        </a:rPr>
                        <a:t>Financial Impact</a:t>
                      </a:r>
                    </a:p>
                  </a:txBody>
                  <a:tcPr marL="73152" marR="73152" marT="73152" marB="731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Arial" charset="0"/>
                        </a:rPr>
                        <a:t>Cost to Achieve</a:t>
                      </a:r>
                    </a:p>
                  </a:txBody>
                  <a:tcPr marL="73152" marR="73152" marT="73152" marB="731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80000"/>
                        </a:spcBef>
                        <a:spcAft>
                          <a:spcPct val="0"/>
                        </a:spcAft>
                        <a:buClr>
                          <a:schemeClr val="tx1"/>
                        </a:buClr>
                        <a:buSzPct val="80000"/>
                        <a:buFont typeface="Wingdings" pitchFamily="2" charset="2"/>
                        <a:buNone/>
                        <a:tabLst/>
                      </a:pPr>
                      <a:r>
                        <a:rPr kumimoji="0" lang="en-US" sz="1100" b="1" i="0" u="none" strike="noStrike" cap="none" normalizeH="0" baseline="0" dirty="0" smtClean="0">
                          <a:ln>
                            <a:noFill/>
                          </a:ln>
                          <a:solidFill>
                            <a:schemeClr val="bg1"/>
                          </a:solidFill>
                          <a:effectLst/>
                          <a:latin typeface="Arial" charset="0"/>
                        </a:rPr>
                        <a:t>Time to Implement / Ease of Implementation</a:t>
                      </a:r>
                    </a:p>
                  </a:txBody>
                  <a:tcPr marL="73152" marR="73152" marT="73152" marB="73152"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solidFill>
                      <a:schemeClr val="accent1"/>
                    </a:solidFill>
                  </a:tcPr>
                </a:tc>
              </a:tr>
              <a:tr h="365760">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Competitive</a:t>
                      </a:r>
                      <a:r>
                        <a:rPr lang="en-US" sz="1100" b="0" i="0" u="none" strike="noStrike" baseline="0" dirty="0" smtClean="0">
                          <a:solidFill>
                            <a:srgbClr val="000000"/>
                          </a:solidFill>
                          <a:latin typeface="+mj-lt"/>
                        </a:rPr>
                        <a:t> differentiation</a:t>
                      </a:r>
                    </a:p>
                    <a:p>
                      <a:pPr marL="119063" indent="-119063" algn="l" fontAlgn="b">
                        <a:buSzPct val="80000"/>
                        <a:buFont typeface="Arial" pitchFamily="34" charset="0"/>
                        <a:buChar char="•"/>
                      </a:pPr>
                      <a:r>
                        <a:rPr lang="en-US" sz="1100" b="0" i="0" u="none" strike="noStrike" baseline="0" dirty="0" smtClean="0">
                          <a:solidFill>
                            <a:srgbClr val="000000"/>
                          </a:solidFill>
                          <a:latin typeface="+mj-lt"/>
                        </a:rPr>
                        <a:t>White space / new market opportunity</a:t>
                      </a:r>
                    </a:p>
                    <a:p>
                      <a:pPr marL="119063" indent="-119063" algn="l" fontAlgn="b">
                        <a:buSzPct val="80000"/>
                        <a:buFont typeface="Arial" pitchFamily="34" charset="0"/>
                        <a:buChar char="•"/>
                      </a:pPr>
                      <a:r>
                        <a:rPr lang="en-US" sz="1100" b="0" i="0" u="none" strike="noStrike" baseline="0" dirty="0" smtClean="0">
                          <a:solidFill>
                            <a:srgbClr val="000000"/>
                          </a:solidFill>
                          <a:latin typeface="+mj-lt"/>
                        </a:rPr>
                        <a:t>Disruptive potential (low cost)</a:t>
                      </a:r>
                    </a:p>
                    <a:p>
                      <a:pPr marL="119063" indent="-119063" algn="l" fontAlgn="b">
                        <a:buSzPct val="80000"/>
                        <a:buFont typeface="Arial" pitchFamily="34" charset="0"/>
                        <a:buChar char="•"/>
                      </a:pPr>
                      <a:r>
                        <a:rPr lang="en-US" sz="1100" b="0" i="0" u="none" strike="noStrike" baseline="0" dirty="0" smtClean="0">
                          <a:solidFill>
                            <a:srgbClr val="000000"/>
                          </a:solidFill>
                          <a:latin typeface="+mj-lt"/>
                        </a:rPr>
                        <a:t>Address unmet marketplace needs</a:t>
                      </a:r>
                    </a:p>
                    <a:p>
                      <a:pPr marL="119063" indent="-119063" algn="l" fontAlgn="b">
                        <a:buSzPct val="80000"/>
                        <a:buFont typeface="Arial" pitchFamily="34" charset="0"/>
                        <a:buChar char="•"/>
                      </a:pPr>
                      <a:r>
                        <a:rPr lang="en-US" sz="1100" b="0" i="0" u="none" strike="noStrike" baseline="0" dirty="0" smtClean="0">
                          <a:solidFill>
                            <a:srgbClr val="000000"/>
                          </a:solidFill>
                          <a:latin typeface="+mj-lt"/>
                        </a:rPr>
                        <a:t>Alignment with current business unit and corporate strategy</a:t>
                      </a:r>
                      <a:endParaRPr lang="en-US" sz="1100" b="0" i="0" u="none" strike="noStrike" dirty="0">
                        <a:solidFill>
                          <a:srgbClr val="000000"/>
                        </a:solidFill>
                        <a:latin typeface="+mj-lt"/>
                      </a:endParaRPr>
                    </a:p>
                  </a:txBody>
                  <a:tcPr marL="9525" marR="9525" marT="9525" marB="0">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Revenue potential (market size)</a:t>
                      </a:r>
                    </a:p>
                    <a:p>
                      <a:pPr marL="119063" indent="-119063" algn="l" fontAlgn="b">
                        <a:buSzPct val="80000"/>
                        <a:buFont typeface="Arial" pitchFamily="34" charset="0"/>
                        <a:buChar char="•"/>
                      </a:pPr>
                      <a:r>
                        <a:rPr lang="en-US" sz="1100" b="0" i="0" u="none" strike="noStrike" dirty="0" smtClean="0">
                          <a:solidFill>
                            <a:srgbClr val="000000"/>
                          </a:solidFill>
                          <a:latin typeface="+mj-lt"/>
                        </a:rPr>
                        <a:t>Income / margin</a:t>
                      </a:r>
                    </a:p>
                    <a:p>
                      <a:pPr marL="119063" indent="-119063" algn="l" fontAlgn="b">
                        <a:buSzPct val="80000"/>
                        <a:buFont typeface="Arial" pitchFamily="34" charset="0"/>
                        <a:buChar char="•"/>
                      </a:pPr>
                      <a:r>
                        <a:rPr lang="en-US" sz="1100" b="0" i="0" u="none" strike="noStrike" dirty="0" smtClean="0">
                          <a:solidFill>
                            <a:srgbClr val="000000"/>
                          </a:solidFill>
                          <a:latin typeface="+mj-lt"/>
                        </a:rPr>
                        <a:t>Administrative cost reduction</a:t>
                      </a:r>
                    </a:p>
                    <a:p>
                      <a:pPr marL="119063" indent="-119063" algn="l" fontAlgn="b">
                        <a:buSzPct val="80000"/>
                        <a:buFont typeface="Arial" pitchFamily="34" charset="0"/>
                        <a:buChar char="•"/>
                      </a:pPr>
                      <a:r>
                        <a:rPr lang="en-US" sz="1100" b="0" i="0" u="none" strike="noStrike" dirty="0" smtClean="0">
                          <a:solidFill>
                            <a:srgbClr val="000000"/>
                          </a:solidFill>
                          <a:latin typeface="+mj-lt"/>
                        </a:rPr>
                        <a:t>Future cost avoidance</a:t>
                      </a:r>
                      <a:endParaRPr lang="en-US" sz="1100" b="0" i="0" u="none" strike="noStrike" dirty="0">
                        <a:solidFill>
                          <a:srgbClr val="000000"/>
                        </a:solidFill>
                        <a:latin typeface="+mj-lt"/>
                      </a:endParaRPr>
                    </a:p>
                  </a:txBody>
                  <a:tcPr marL="9525" marR="9525" marT="9525" marB="0">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Investment (capital) costs</a:t>
                      </a:r>
                    </a:p>
                    <a:p>
                      <a:pPr marL="119063" indent="-119063" algn="l" fontAlgn="b">
                        <a:buSzPct val="80000"/>
                        <a:buFont typeface="Arial" pitchFamily="34" charset="0"/>
                        <a:buChar char="•"/>
                      </a:pPr>
                      <a:r>
                        <a:rPr lang="en-US" sz="1100" b="0" i="0" u="none" strike="noStrike" dirty="0" smtClean="0">
                          <a:solidFill>
                            <a:srgbClr val="000000"/>
                          </a:solidFill>
                          <a:latin typeface="+mj-lt"/>
                        </a:rPr>
                        <a:t>Ongoing operating</a:t>
                      </a:r>
                      <a:r>
                        <a:rPr lang="en-US" sz="1100" b="0" i="0" u="none" strike="noStrike" baseline="0" dirty="0" smtClean="0">
                          <a:solidFill>
                            <a:srgbClr val="000000"/>
                          </a:solidFill>
                          <a:latin typeface="+mj-lt"/>
                        </a:rPr>
                        <a:t> costs</a:t>
                      </a:r>
                      <a:endParaRPr lang="en-US" sz="1100" b="0" i="0" u="none" strike="noStrike" dirty="0">
                        <a:solidFill>
                          <a:srgbClr val="000000"/>
                        </a:solidFill>
                        <a:latin typeface="+mj-lt"/>
                      </a:endParaRPr>
                    </a:p>
                  </a:txBody>
                  <a:tcPr marL="9525" marR="9525" marT="9525" marB="0">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119063" indent="-119063" algn="l" fontAlgn="b">
                        <a:buSzPct val="80000"/>
                        <a:buFont typeface="Arial" pitchFamily="34" charset="0"/>
                        <a:buChar char="•"/>
                      </a:pPr>
                      <a:r>
                        <a:rPr lang="en-US" sz="1100" b="0" i="0" u="none" strike="noStrike" dirty="0" smtClean="0">
                          <a:solidFill>
                            <a:srgbClr val="000000"/>
                          </a:solidFill>
                          <a:latin typeface="+mj-lt"/>
                        </a:rPr>
                        <a:t>Alignment with existing</a:t>
                      </a:r>
                      <a:r>
                        <a:rPr lang="en-US" sz="1100" b="0" i="0" u="none" strike="noStrike" baseline="0" dirty="0" smtClean="0">
                          <a:solidFill>
                            <a:srgbClr val="000000"/>
                          </a:solidFill>
                          <a:latin typeface="+mj-lt"/>
                        </a:rPr>
                        <a:t> capabilities</a:t>
                      </a:r>
                    </a:p>
                    <a:p>
                      <a:pPr marL="119063" indent="-119063" algn="l" fontAlgn="b">
                        <a:buSzPct val="80000"/>
                        <a:buFont typeface="Arial" pitchFamily="34" charset="0"/>
                        <a:buChar char="•"/>
                      </a:pPr>
                      <a:r>
                        <a:rPr lang="en-US" sz="1100" b="0" i="0" u="none" strike="noStrike" baseline="0" dirty="0" smtClean="0">
                          <a:solidFill>
                            <a:srgbClr val="000000"/>
                          </a:solidFill>
                          <a:latin typeface="+mj-lt"/>
                        </a:rPr>
                        <a:t>Innovation complexity</a:t>
                      </a:r>
                    </a:p>
                    <a:p>
                      <a:pPr marL="119063" indent="-119063" algn="l" fontAlgn="b">
                        <a:buSzPct val="80000"/>
                        <a:buFont typeface="Arial" pitchFamily="34" charset="0"/>
                        <a:buChar char="•"/>
                      </a:pPr>
                      <a:r>
                        <a:rPr lang="en-US" sz="1100" b="0" i="0" u="none" strike="noStrike" baseline="0" dirty="0" smtClean="0">
                          <a:solidFill>
                            <a:srgbClr val="000000"/>
                          </a:solidFill>
                          <a:latin typeface="+mj-lt"/>
                        </a:rPr>
                        <a:t>Availability of partners or acquisition targets</a:t>
                      </a:r>
                      <a:endParaRPr lang="en-US" sz="1100" b="0" i="0" u="none" strike="noStrike" dirty="0">
                        <a:solidFill>
                          <a:srgbClr val="000000"/>
                        </a:solidFill>
                        <a:latin typeface="+mj-lt"/>
                      </a:endParaRPr>
                    </a:p>
                  </a:txBody>
                  <a:tcPr marL="9525" marR="9525" marT="9525" marB="0">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val="3502753864"/>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Duke MBA - Rethinking Boundaries">
  <a:themeElements>
    <a:clrScheme name="Duke MBA - Rethinking Boundaries 14">
      <a:dk1>
        <a:srgbClr val="000000"/>
      </a:dk1>
      <a:lt1>
        <a:srgbClr val="FFFFFF"/>
      </a:lt1>
      <a:dk2>
        <a:srgbClr val="000099"/>
      </a:dk2>
      <a:lt2>
        <a:srgbClr val="666666"/>
      </a:lt2>
      <a:accent1>
        <a:srgbClr val="CCCCCC"/>
      </a:accent1>
      <a:accent2>
        <a:srgbClr val="FFFF00"/>
      </a:accent2>
      <a:accent3>
        <a:srgbClr val="FFFFFF"/>
      </a:accent3>
      <a:accent4>
        <a:srgbClr val="000000"/>
      </a:accent4>
      <a:accent5>
        <a:srgbClr val="E2E2E2"/>
      </a:accent5>
      <a:accent6>
        <a:srgbClr val="E7E700"/>
      </a:accent6>
      <a:hlink>
        <a:srgbClr val="3A4AA0"/>
      </a:hlink>
      <a:folHlink>
        <a:srgbClr val="929BC5"/>
      </a:folHlink>
    </a:clrScheme>
    <a:fontScheme name="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new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ew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ew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ew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ew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ew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ew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ew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ew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ew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ew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ew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uke MBA - Rethinking Boundari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uke MBA - Rethinking Boundari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uke MBA - Rethinking Boundari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uke MBA - Rethinking Boundari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uke MBA - Rethinking Boundari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uke MBA - Rethinking Boundari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uke MBA - Rethinking Boundari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uke MBA - Rethinking Boundari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uke MBA - Rethinking Boundari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uke MBA - Rethinking Boundari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uke MBA - Rethinking Boundari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uke MBA - Rethinking Boundari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uke MBA - Rethinking Boundaries 13">
        <a:dk1>
          <a:srgbClr val="000000"/>
        </a:dk1>
        <a:lt1>
          <a:srgbClr val="FFFFFF"/>
        </a:lt1>
        <a:dk2>
          <a:srgbClr val="000099"/>
        </a:dk2>
        <a:lt2>
          <a:srgbClr val="999999"/>
        </a:lt2>
        <a:accent1>
          <a:srgbClr val="6979B9"/>
        </a:accent1>
        <a:accent2>
          <a:srgbClr val="FFFF00"/>
        </a:accent2>
        <a:accent3>
          <a:srgbClr val="FFFFFF"/>
        </a:accent3>
        <a:accent4>
          <a:srgbClr val="000000"/>
        </a:accent4>
        <a:accent5>
          <a:srgbClr val="B9BED9"/>
        </a:accent5>
        <a:accent6>
          <a:srgbClr val="E7E700"/>
        </a:accent6>
        <a:hlink>
          <a:srgbClr val="000099"/>
        </a:hlink>
        <a:folHlink>
          <a:srgbClr val="000099"/>
        </a:folHlink>
      </a:clrScheme>
      <a:clrMap bg1="lt1" tx1="dk1" bg2="lt2" tx2="dk2" accent1="accent1" accent2="accent2" accent3="accent3" accent4="accent4" accent5="accent5" accent6="accent6" hlink="hlink" folHlink="folHlink"/>
    </a:extraClrScheme>
    <a:extraClrScheme>
      <a:clrScheme name="Duke MBA - Rethinking Boundaries 14">
        <a:dk1>
          <a:srgbClr val="000000"/>
        </a:dk1>
        <a:lt1>
          <a:srgbClr val="FFFFFF"/>
        </a:lt1>
        <a:dk2>
          <a:srgbClr val="000099"/>
        </a:dk2>
        <a:lt2>
          <a:srgbClr val="666666"/>
        </a:lt2>
        <a:accent1>
          <a:srgbClr val="CCCCCC"/>
        </a:accent1>
        <a:accent2>
          <a:srgbClr val="FFFF00"/>
        </a:accent2>
        <a:accent3>
          <a:srgbClr val="FFFFFF"/>
        </a:accent3>
        <a:accent4>
          <a:srgbClr val="000000"/>
        </a:accent4>
        <a:accent5>
          <a:srgbClr val="E2E2E2"/>
        </a:accent5>
        <a:accent6>
          <a:srgbClr val="E7E700"/>
        </a:accent6>
        <a:hlink>
          <a:srgbClr val="3A4AA0"/>
        </a:hlink>
        <a:folHlink>
          <a:srgbClr val="929BC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4_U.S. Consulting Report Template_022307">
  <a:themeElements>
    <a:clrScheme name="">
      <a:dk1>
        <a:srgbClr val="000000"/>
      </a:dk1>
      <a:lt1>
        <a:srgbClr val="FFFFFF"/>
      </a:lt1>
      <a:dk2>
        <a:srgbClr val="99CC00"/>
      </a:dk2>
      <a:lt2>
        <a:srgbClr val="009999"/>
      </a:lt2>
      <a:accent1>
        <a:srgbClr val="003399"/>
      </a:accent1>
      <a:accent2>
        <a:srgbClr val="8099CC"/>
      </a:accent2>
      <a:accent3>
        <a:srgbClr val="FFFFFF"/>
      </a:accent3>
      <a:accent4>
        <a:srgbClr val="000000"/>
      </a:accent4>
      <a:accent5>
        <a:srgbClr val="AAADCA"/>
      </a:accent5>
      <a:accent6>
        <a:srgbClr val="738AB9"/>
      </a:accent6>
      <a:hlink>
        <a:srgbClr val="80CCCC"/>
      </a:hlink>
      <a:folHlink>
        <a:srgbClr val="4066B2"/>
      </a:folHlink>
    </a:clrScheme>
    <a:fontScheme name="U.S. Consulting Report Template_022307">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12700" cap="flat" cmpd="sng" algn="ctr">
          <a:noFill/>
          <a:prstDash val="solid"/>
          <a:round/>
          <a:headEnd type="none" w="med" len="med"/>
          <a:tailEnd type="none" w="med" len="med"/>
        </a:ln>
        <a:effectLst/>
      </a:spPr>
      <a:bodyPr vert="horz" wrap="square" lIns="73152" tIns="73152" rIns="73152" bIns="73152" numCol="1" anchor="ctr" anchorCtr="1" compatLnSpc="1">
        <a:prstTxWarp prst="textNoShape">
          <a:avLst/>
        </a:prstTxWarp>
      </a:bodyPr>
      <a:lstStyle>
        <a:defPPr marL="0" marR="0" indent="0" algn="ctr" defTabSz="914400" rtl="0" eaLnBrk="0" fontAlgn="base" latinLnBrk="0" hangingPunct="0">
          <a:lnSpc>
            <a:spcPct val="106000"/>
          </a:lnSpc>
          <a:spcBef>
            <a:spcPct val="0"/>
          </a:spcBef>
          <a:spcAft>
            <a:spcPct val="0"/>
          </a:spcAft>
          <a:buClrTx/>
          <a:buSzTx/>
          <a:buFontTx/>
          <a:buNone/>
          <a:tabLst/>
          <a:defRPr kumimoji="0" lang="en-US" sz="1100" b="1" i="0" u="none" strike="noStrike" cap="none" normalizeH="0" baseline="0" smtClean="0">
            <a:ln>
              <a:noFill/>
            </a:ln>
            <a:solidFill>
              <a:schemeClr val="tx1"/>
            </a:solidFill>
            <a:effectLst/>
            <a:latin typeface="Arial" charset="0"/>
          </a:defRPr>
        </a:defPPr>
      </a:lstStyle>
    </a:spDef>
    <a:lnDef>
      <a:spPr bwMode="auto">
        <a:solidFill>
          <a:schemeClr val="accent2"/>
        </a:solidFill>
        <a:ln w="12700" cap="flat" cmpd="sng" algn="ctr">
          <a:solidFill>
            <a:srgbClr val="FF0000"/>
          </a:solidFill>
          <a:prstDash val="solid"/>
          <a:round/>
          <a:headEnd type="none" w="med" len="med"/>
          <a:tailEnd type="none" w="med" len="med"/>
        </a:ln>
        <a:effectLst/>
      </a:spPr>
      <a:bodyPr/>
      <a:lstStyle/>
    </a:lnDef>
  </a:objectDefaults>
  <a:extraClrSchemeLst>
    <a:extraClrScheme>
      <a:clrScheme name="U.S. Consulting Report Template_0223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S. Consulting Report Template_0223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S. Consulting Report Template_0223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S. Consulting Report Template_0223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 Consulting Report Template_0223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S. Consulting Report Template_0223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S. Consulting Report Template_0223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U.S. Consulting Report Template_022307 8">
        <a:dk1>
          <a:srgbClr val="000000"/>
        </a:dk1>
        <a:lt1>
          <a:srgbClr val="FFFFFF"/>
        </a:lt1>
        <a:dk2>
          <a:srgbClr val="B2CADB"/>
        </a:dk2>
        <a:lt2>
          <a:srgbClr val="1D3A6A"/>
        </a:lt2>
        <a:accent1>
          <a:srgbClr val="DED3B6"/>
        </a:accent1>
        <a:accent2>
          <a:srgbClr val="EAB58E"/>
        </a:accent2>
        <a:accent3>
          <a:srgbClr val="FFFFFF"/>
        </a:accent3>
        <a:accent4>
          <a:srgbClr val="000000"/>
        </a:accent4>
        <a:accent5>
          <a:srgbClr val="ECE6D7"/>
        </a:accent5>
        <a:accent6>
          <a:srgbClr val="D4A480"/>
        </a:accent6>
        <a:hlink>
          <a:srgbClr val="F5DDCB"/>
        </a:hlink>
        <a:folHlink>
          <a:srgbClr val="FEF2D2"/>
        </a:folHlink>
      </a:clrScheme>
      <a:clrMap bg1="lt1" tx1="dk1" bg2="lt2" tx2="dk2" accent1="accent1" accent2="accent2" accent3="accent3" accent4="accent4" accent5="accent5" accent6="accent6" hlink="hlink" folHlink="folHlink"/>
    </a:extraClrScheme>
    <a:extraClrScheme>
      <a:clrScheme name="U.S. Consulting Report Template_022307 9">
        <a:dk1>
          <a:srgbClr val="000000"/>
        </a:dk1>
        <a:lt1>
          <a:srgbClr val="FFFFFF"/>
        </a:lt1>
        <a:dk2>
          <a:srgbClr val="FEF2D2"/>
        </a:dk2>
        <a:lt2>
          <a:srgbClr val="1D3A6A"/>
        </a:lt2>
        <a:accent1>
          <a:srgbClr val="B2CADB"/>
        </a:accent1>
        <a:accent2>
          <a:srgbClr val="DED3B6"/>
        </a:accent2>
        <a:accent3>
          <a:srgbClr val="FFFFFF"/>
        </a:accent3>
        <a:accent4>
          <a:srgbClr val="000000"/>
        </a:accent4>
        <a:accent5>
          <a:srgbClr val="D5E1EA"/>
        </a:accent5>
        <a:accent6>
          <a:srgbClr val="C9BFA5"/>
        </a:accent6>
        <a:hlink>
          <a:srgbClr val="EAB58E"/>
        </a:hlink>
        <a:folHlink>
          <a:srgbClr val="F5DDCB"/>
        </a:folHlink>
      </a:clrScheme>
      <a:clrMap bg1="lt1" tx1="dk1" bg2="lt2" tx2="dk2" accent1="accent1" accent2="accent2" accent3="accent3" accent4="accent4" accent5="accent5" accent6="accent6" hlink="hlink" folHlink="folHlink"/>
    </a:extraClrScheme>
    <a:extraClrScheme>
      <a:clrScheme name="U.S. Consulting Report Template_022307 10">
        <a:dk1>
          <a:srgbClr val="000000"/>
        </a:dk1>
        <a:lt1>
          <a:srgbClr val="FFFFFF"/>
        </a:lt1>
        <a:dk2>
          <a:srgbClr val="F1EDE1"/>
        </a:dk2>
        <a:lt2>
          <a:srgbClr val="091D5D"/>
        </a:lt2>
        <a:accent1>
          <a:srgbClr val="9DA5BE"/>
        </a:accent1>
        <a:accent2>
          <a:srgbClr val="85C2FE"/>
        </a:accent2>
        <a:accent3>
          <a:srgbClr val="FFFFFF"/>
        </a:accent3>
        <a:accent4>
          <a:srgbClr val="000000"/>
        </a:accent4>
        <a:accent5>
          <a:srgbClr val="CCCFDB"/>
        </a:accent5>
        <a:accent6>
          <a:srgbClr val="78B0E6"/>
        </a:accent6>
        <a:hlink>
          <a:srgbClr val="ADD6FF"/>
        </a:hlink>
        <a:folHlink>
          <a:srgbClr val="D6EBFF"/>
        </a:folHlink>
      </a:clrScheme>
      <a:clrMap bg1="lt1" tx1="dk1" bg2="lt2" tx2="dk2" accent1="accent1" accent2="accent2" accent3="accent3" accent4="accent4" accent5="accent5" accent6="accent6" hlink="hlink" folHlink="folHlink"/>
    </a:extraClrScheme>
    <a:extraClrScheme>
      <a:clrScheme name="U.S. Consulting Report Template_022307 11">
        <a:dk1>
          <a:srgbClr val="AFAFAF"/>
        </a:dk1>
        <a:lt1>
          <a:srgbClr val="FFFFFF"/>
        </a:lt1>
        <a:dk2>
          <a:srgbClr val="F1EDE1"/>
        </a:dk2>
        <a:lt2>
          <a:srgbClr val="091D5D"/>
        </a:lt2>
        <a:accent1>
          <a:srgbClr val="85C2FE"/>
        </a:accent1>
        <a:accent2>
          <a:srgbClr val="ADD6FF"/>
        </a:accent2>
        <a:accent3>
          <a:srgbClr val="FFFFFF"/>
        </a:accent3>
        <a:accent4>
          <a:srgbClr val="959595"/>
        </a:accent4>
        <a:accent5>
          <a:srgbClr val="C2DDFE"/>
        </a:accent5>
        <a:accent6>
          <a:srgbClr val="9CC2E7"/>
        </a:accent6>
        <a:hlink>
          <a:srgbClr val="C6C1D6"/>
        </a:hlink>
        <a:folHlink>
          <a:srgbClr val="F1EDE1"/>
        </a:folHlink>
      </a:clrScheme>
      <a:clrMap bg1="lt1" tx1="dk1" bg2="lt2" tx2="dk2" accent1="accent1" accent2="accent2" accent3="accent3" accent4="accent4" accent5="accent5" accent6="accent6" hlink="hlink" folHlink="folHlink"/>
    </a:extraClrScheme>
    <a:extraClrScheme>
      <a:clrScheme name="U.S. Consulting Report Template_022307 12">
        <a:dk1>
          <a:srgbClr val="000000"/>
        </a:dk1>
        <a:lt1>
          <a:srgbClr val="FFFFFF"/>
        </a:lt1>
        <a:dk2>
          <a:srgbClr val="F1EDE1"/>
        </a:dk2>
        <a:lt2>
          <a:srgbClr val="091D5D"/>
        </a:lt2>
        <a:accent1>
          <a:srgbClr val="85C2FE"/>
        </a:accent1>
        <a:accent2>
          <a:srgbClr val="ADD6FF"/>
        </a:accent2>
        <a:accent3>
          <a:srgbClr val="FFFFFF"/>
        </a:accent3>
        <a:accent4>
          <a:srgbClr val="000000"/>
        </a:accent4>
        <a:accent5>
          <a:srgbClr val="C2DDFE"/>
        </a:accent5>
        <a:accent6>
          <a:srgbClr val="9CC2E7"/>
        </a:accent6>
        <a:hlink>
          <a:srgbClr val="C6C1D6"/>
        </a:hlink>
        <a:folHlink>
          <a:srgbClr val="F1EDE1"/>
        </a:folHlink>
      </a:clrScheme>
      <a:clrMap bg1="lt1" tx1="dk1" bg2="lt2" tx2="dk2" accent1="accent1" accent2="accent2" accent3="accent3" accent4="accent4" accent5="accent5" accent6="accent6" hlink="hlink" folHlink="folHlink"/>
    </a:extraClrScheme>
    <a:extraClrScheme>
      <a:clrScheme name="U.S. Consulting Report Template_022307 13">
        <a:dk1>
          <a:srgbClr val="000000"/>
        </a:dk1>
        <a:lt1>
          <a:srgbClr val="FFFFFF"/>
        </a:lt1>
        <a:dk2>
          <a:srgbClr val="F1EDE1"/>
        </a:dk2>
        <a:lt2>
          <a:srgbClr val="091D5D"/>
        </a:lt2>
        <a:accent1>
          <a:srgbClr val="85C2FE"/>
        </a:accent1>
        <a:accent2>
          <a:srgbClr val="ADD6FF"/>
        </a:accent2>
        <a:accent3>
          <a:srgbClr val="FFFFFF"/>
        </a:accent3>
        <a:accent4>
          <a:srgbClr val="000000"/>
        </a:accent4>
        <a:accent5>
          <a:srgbClr val="C2DDFE"/>
        </a:accent5>
        <a:accent6>
          <a:srgbClr val="9CC2E7"/>
        </a:accent6>
        <a:hlink>
          <a:srgbClr val="C6C1D6"/>
        </a:hlink>
        <a:folHlink>
          <a:srgbClr val="D6EBFF"/>
        </a:folHlink>
      </a:clrScheme>
      <a:clrMap bg1="lt1" tx1="dk1" bg2="lt2" tx2="dk2" accent1="accent1" accent2="accent2" accent3="accent3" accent4="accent4" accent5="accent5" accent6="accent6" hlink="hlink" folHlink="folHlink"/>
    </a:extraClrScheme>
    <a:extraClrScheme>
      <a:clrScheme name="U.S. Consulting Report Template_022307 14">
        <a:dk1>
          <a:srgbClr val="000000"/>
        </a:dk1>
        <a:lt1>
          <a:srgbClr val="FFFFFF"/>
        </a:lt1>
        <a:dk2>
          <a:srgbClr val="CCD6EB"/>
        </a:dk2>
        <a:lt2>
          <a:srgbClr val="000066"/>
        </a:lt2>
        <a:accent1>
          <a:srgbClr val="40B3B3"/>
        </a:accent1>
        <a:accent2>
          <a:srgbClr val="B2C1E0"/>
        </a:accent2>
        <a:accent3>
          <a:srgbClr val="FFFFFF"/>
        </a:accent3>
        <a:accent4>
          <a:srgbClr val="000000"/>
        </a:accent4>
        <a:accent5>
          <a:srgbClr val="AFD6D6"/>
        </a:accent5>
        <a:accent6>
          <a:srgbClr val="A1AFCB"/>
        </a:accent6>
        <a:hlink>
          <a:srgbClr val="66C2C2"/>
        </a:hlink>
        <a:folHlink>
          <a:srgbClr val="8CA3D1"/>
        </a:folHlink>
      </a:clrScheme>
      <a:clrMap bg1="lt1" tx1="dk1" bg2="lt2" tx2="dk2" accent1="accent1" accent2="accent2" accent3="accent3" accent4="accent4" accent5="accent5" accent6="accent6" hlink="hlink" folHlink="folHlink"/>
    </a:extraClrScheme>
    <a:extraClrScheme>
      <a:clrScheme name="U.S. Consulting Report Template_022307 15">
        <a:dk1>
          <a:srgbClr val="000000"/>
        </a:dk1>
        <a:lt1>
          <a:srgbClr val="FFFFFF"/>
        </a:lt1>
        <a:dk2>
          <a:srgbClr val="4066B2"/>
        </a:dk2>
        <a:lt2>
          <a:srgbClr val="000066"/>
        </a:lt2>
        <a:accent1>
          <a:srgbClr val="003399"/>
        </a:accent1>
        <a:accent2>
          <a:srgbClr val="80CCCC"/>
        </a:accent2>
        <a:accent3>
          <a:srgbClr val="FFFFFF"/>
        </a:accent3>
        <a:accent4>
          <a:srgbClr val="000000"/>
        </a:accent4>
        <a:accent5>
          <a:srgbClr val="AAADCA"/>
        </a:accent5>
        <a:accent6>
          <a:srgbClr val="73B9B9"/>
        </a:accent6>
        <a:hlink>
          <a:srgbClr val="8099CC"/>
        </a:hlink>
        <a:folHlink>
          <a:srgbClr val="009999"/>
        </a:folHlink>
      </a:clrScheme>
      <a:clrMap bg1="lt1" tx1="dk1" bg2="lt2" tx2="dk2" accent1="accent1" accent2="accent2" accent3="accent3" accent4="accent4" accent5="accent5" accent6="accent6" hlink="hlink" folHlink="folHlink"/>
    </a:extraClrScheme>
    <a:extraClrScheme>
      <a:clrScheme name="U.S. Consulting Report Template_022307 16">
        <a:dk1>
          <a:srgbClr val="000000"/>
        </a:dk1>
        <a:lt1>
          <a:srgbClr val="FFFFFF"/>
        </a:lt1>
        <a:dk2>
          <a:srgbClr val="4066B2"/>
        </a:dk2>
        <a:lt2>
          <a:srgbClr val="000066"/>
        </a:lt2>
        <a:accent1>
          <a:srgbClr val="003399"/>
        </a:accent1>
        <a:accent2>
          <a:srgbClr val="8099CC"/>
        </a:accent2>
        <a:accent3>
          <a:srgbClr val="FFFFFF"/>
        </a:accent3>
        <a:accent4>
          <a:srgbClr val="000000"/>
        </a:accent4>
        <a:accent5>
          <a:srgbClr val="AAADCA"/>
        </a:accent5>
        <a:accent6>
          <a:srgbClr val="738AB9"/>
        </a:accent6>
        <a:hlink>
          <a:srgbClr val="80CCCC"/>
        </a:hlink>
        <a:folHlink>
          <a:srgbClr val="4066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uke MBA - Rethinking Boundaries 14">
    <a:dk1>
      <a:srgbClr val="000000"/>
    </a:dk1>
    <a:lt1>
      <a:srgbClr val="FFFFFF"/>
    </a:lt1>
    <a:dk2>
      <a:srgbClr val="000099"/>
    </a:dk2>
    <a:lt2>
      <a:srgbClr val="666666"/>
    </a:lt2>
    <a:accent1>
      <a:srgbClr val="CCCCCC"/>
    </a:accent1>
    <a:accent2>
      <a:srgbClr val="FFFF00"/>
    </a:accent2>
    <a:accent3>
      <a:srgbClr val="FFFFFF"/>
    </a:accent3>
    <a:accent4>
      <a:srgbClr val="000000"/>
    </a:accent4>
    <a:accent5>
      <a:srgbClr val="E2E2E2"/>
    </a:accent5>
    <a:accent6>
      <a:srgbClr val="E7E700"/>
    </a:accent6>
    <a:hlink>
      <a:srgbClr val="3A4AA0"/>
    </a:hlink>
    <a:folHlink>
      <a:srgbClr val="929BC5"/>
    </a:folHlink>
  </a:clrScheme>
  <a:fontScheme name="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Duke MBA - Rethinking Boundaries 14">
    <a:dk1>
      <a:srgbClr val="000000"/>
    </a:dk1>
    <a:lt1>
      <a:srgbClr val="FFFFFF"/>
    </a:lt1>
    <a:dk2>
      <a:srgbClr val="000099"/>
    </a:dk2>
    <a:lt2>
      <a:srgbClr val="666666"/>
    </a:lt2>
    <a:accent1>
      <a:srgbClr val="CCCCCC"/>
    </a:accent1>
    <a:accent2>
      <a:srgbClr val="FFFF00"/>
    </a:accent2>
    <a:accent3>
      <a:srgbClr val="FFFFFF"/>
    </a:accent3>
    <a:accent4>
      <a:srgbClr val="000000"/>
    </a:accent4>
    <a:accent5>
      <a:srgbClr val="E2E2E2"/>
    </a:accent5>
    <a:accent6>
      <a:srgbClr val="E7E700"/>
    </a:accent6>
    <a:hlink>
      <a:srgbClr val="3A4AA0"/>
    </a:hlink>
    <a:folHlink>
      <a:srgbClr val="929BC5"/>
    </a:folHlink>
  </a:clrScheme>
  <a:fontScheme name="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Duke MBA - Rethinking Boundaries 14">
    <a:dk1>
      <a:srgbClr val="000000"/>
    </a:dk1>
    <a:lt1>
      <a:srgbClr val="FFFFFF"/>
    </a:lt1>
    <a:dk2>
      <a:srgbClr val="000099"/>
    </a:dk2>
    <a:lt2>
      <a:srgbClr val="666666"/>
    </a:lt2>
    <a:accent1>
      <a:srgbClr val="CCCCCC"/>
    </a:accent1>
    <a:accent2>
      <a:srgbClr val="FFFF00"/>
    </a:accent2>
    <a:accent3>
      <a:srgbClr val="FFFFFF"/>
    </a:accent3>
    <a:accent4>
      <a:srgbClr val="000000"/>
    </a:accent4>
    <a:accent5>
      <a:srgbClr val="E2E2E2"/>
    </a:accent5>
    <a:accent6>
      <a:srgbClr val="E7E700"/>
    </a:accent6>
    <a:hlink>
      <a:srgbClr val="3A4AA0"/>
    </a:hlink>
    <a:folHlink>
      <a:srgbClr val="929BC5"/>
    </a:folHlink>
  </a:clrScheme>
  <a:fontScheme name="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Duke MBA - Rethinking Boundaries 14">
    <a:dk1>
      <a:srgbClr val="000000"/>
    </a:dk1>
    <a:lt1>
      <a:srgbClr val="FFFFFF"/>
    </a:lt1>
    <a:dk2>
      <a:srgbClr val="000099"/>
    </a:dk2>
    <a:lt2>
      <a:srgbClr val="666666"/>
    </a:lt2>
    <a:accent1>
      <a:srgbClr val="CCCCCC"/>
    </a:accent1>
    <a:accent2>
      <a:srgbClr val="FFFF00"/>
    </a:accent2>
    <a:accent3>
      <a:srgbClr val="FFFFFF"/>
    </a:accent3>
    <a:accent4>
      <a:srgbClr val="000000"/>
    </a:accent4>
    <a:accent5>
      <a:srgbClr val="E2E2E2"/>
    </a:accent5>
    <a:accent6>
      <a:srgbClr val="E7E700"/>
    </a:accent6>
    <a:hlink>
      <a:srgbClr val="3A4AA0"/>
    </a:hlink>
    <a:folHlink>
      <a:srgbClr val="929BC5"/>
    </a:folHlink>
  </a:clrScheme>
  <a:fontScheme name="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Default Design 13">
    <a:dk1>
      <a:srgbClr val="000000"/>
    </a:dk1>
    <a:lt1>
      <a:srgbClr val="FFFFFF"/>
    </a:lt1>
    <a:dk2>
      <a:srgbClr val="000000"/>
    </a:dk2>
    <a:lt2>
      <a:srgbClr val="808080"/>
    </a:lt2>
    <a:accent1>
      <a:srgbClr val="336699"/>
    </a:accent1>
    <a:accent2>
      <a:srgbClr val="99CCFF"/>
    </a:accent2>
    <a:accent3>
      <a:srgbClr val="FFFFFF"/>
    </a:accent3>
    <a:accent4>
      <a:srgbClr val="000000"/>
    </a:accent4>
    <a:accent5>
      <a:srgbClr val="ADB8CA"/>
    </a:accent5>
    <a:accent6>
      <a:srgbClr val="8AB9E7"/>
    </a:accent6>
    <a:hlink>
      <a:srgbClr val="339933"/>
    </a:hlink>
    <a:folHlink>
      <a:srgbClr val="A50021"/>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Duke MBA - Rethinking Boundaries</Template>
  <TotalTime>0</TotalTime>
  <Words>32892</Words>
  <Application>Microsoft Macintosh PowerPoint</Application>
  <PresentationFormat>Letter Paper (8.5x11 in)</PresentationFormat>
  <Paragraphs>5107</Paragraphs>
  <Slides>177</Slides>
  <Notes>31</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177</vt:i4>
      </vt:variant>
    </vt:vector>
  </HeadingPairs>
  <TitlesOfParts>
    <vt:vector size="180" baseType="lpstr">
      <vt:lpstr>Duke MBA - Rethinking Boundaries</vt:lpstr>
      <vt:lpstr>14_U.S. Consulting Report Template_022307</vt:lpstr>
      <vt:lpstr>Worksheet</vt:lpstr>
      <vt:lpstr>DMCC 2013-2014 Casebook</vt:lpstr>
      <vt:lpstr>DMCC 2013-2014 Sponsors</vt:lpstr>
      <vt:lpstr>Editor’s Note</vt:lpstr>
      <vt:lpstr>PowerPoint Presentation</vt:lpstr>
      <vt:lpstr>The Firms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Basics</vt:lpstr>
      <vt:lpstr>PowerPoint Presentation</vt:lpstr>
      <vt:lpstr>PowerPoint Presentation</vt:lpstr>
      <vt:lpstr>PowerPoint Presentation</vt:lpstr>
      <vt:lpstr>The Cases</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Deloitte Cases  The  following cases are real Deloitte cases. To get the most out of these cases, save them for once you have mastered the basics. </vt:lpstr>
      <vt:lpstr>MBA Case Interviews</vt:lpstr>
      <vt:lpstr>PowerPoint Presentation</vt:lpstr>
      <vt:lpstr>Brand Carve Out – Case Overview</vt:lpstr>
      <vt:lpstr>Brand Carve Out – Data Sheet</vt:lpstr>
      <vt:lpstr>Brand Carve Out – Isolate Revenues for Sell &amp; Hold Scenarios</vt:lpstr>
      <vt:lpstr>Brand Carve Out – Isolate Revenues for Sell &amp; Hold Scenarios</vt:lpstr>
      <vt:lpstr>Brand Carve Out – Value Hold &amp; Sale Scenario</vt:lpstr>
      <vt:lpstr>Brand Carve Out – Value Hold &amp; Sale Scenario</vt:lpstr>
      <vt:lpstr>Brand Carve Out – Value Hold &amp; Sale Scenario</vt:lpstr>
      <vt:lpstr>Brand Carve Out – Recommendation &amp; Other Issues</vt:lpstr>
      <vt:lpstr>Brand Carve Out – Recommendation &amp; Other Issues</vt:lpstr>
      <vt:lpstr>Brand Carve Out</vt:lpstr>
      <vt:lpstr>PowerPoint Presentation</vt:lpstr>
      <vt:lpstr>Profitable Growth Strategy: Business Unit of National Health Insurance Company</vt:lpstr>
      <vt:lpstr>Profitable Growth Strategy: Business Unit of National Health Insurance Company</vt:lpstr>
      <vt:lpstr>Profitable Growth Strategy: Business Unit of National Health Insurance Company</vt:lpstr>
      <vt:lpstr>Profitable Growth Strategy: Business Unit of National Health Insurance Company</vt:lpstr>
      <vt:lpstr>Profitable Growth Strategy: Business Unit of National Health Insurance Company</vt:lpstr>
      <vt:lpstr>Profitable Growth Strategy: Business Unit of National Health Insurance Company</vt:lpstr>
      <vt:lpstr>Profitable Growth Strategy: Business Unit of National Health Insurance Company</vt:lpstr>
      <vt:lpstr>Profitable Growth Strategy: Business Unit of National Health Insurance Company</vt:lpstr>
      <vt:lpstr>Profitable Growth Strategy: Business Unit of National Health Insurance Company</vt:lpstr>
      <vt:lpstr>Profitable Growth Strategy: Business Unit of National Health Insurance Company</vt:lpstr>
      <vt:lpstr>Profitable Growth Strategy: Business Unit of National Health Insurance Company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
  <cp:revision>7</cp:revision>
  <cp:lastPrinted>1901-01-01T05:00:00Z</cp:lastPrinted>
  <dcterms:created xsi:type="dcterms:W3CDTF">2010-09-08T00:14:50Z</dcterms:created>
  <dcterms:modified xsi:type="dcterms:W3CDTF">2014-01-27T17:08:20Z</dcterms:modified>
</cp:coreProperties>
</file>